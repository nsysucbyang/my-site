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7"/>
  </p:notesMasterIdLst>
  <p:sldIdLst>
    <p:sldId id="256" r:id="rId2"/>
    <p:sldId id="257" r:id="rId3"/>
    <p:sldId id="299" r:id="rId4"/>
    <p:sldId id="282" r:id="rId5"/>
    <p:sldId id="283" r:id="rId6"/>
    <p:sldId id="291" r:id="rId7"/>
    <p:sldId id="292" r:id="rId8"/>
    <p:sldId id="301" r:id="rId9"/>
    <p:sldId id="290" r:id="rId10"/>
    <p:sldId id="293" r:id="rId11"/>
    <p:sldId id="296" r:id="rId12"/>
    <p:sldId id="298" r:id="rId13"/>
    <p:sldId id="295" r:id="rId14"/>
    <p:sldId id="281" r:id="rId15"/>
    <p:sldId id="300"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snapToObjects="1">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2022/5/18</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2022/5/18</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2022/5/18</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2022/5/18</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2022/5/18</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2022/5/18</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2022/5/18</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2022/5/18</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2022/5/18</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2022/5/18</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2022/5/18</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2022/5/18</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03047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2022/5/18</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7.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997075" y="813442"/>
            <a:ext cx="10197851" cy="2387600"/>
          </a:xfrm>
        </p:spPr>
        <p:txBody>
          <a:bodyPr>
            <a:normAutofit fontScale="90000"/>
          </a:bodyPr>
          <a:lstStyle/>
          <a:p>
            <a:r>
              <a:rPr kumimoji="1" lang="en-US" altLang="zh-TW" dirty="0"/>
              <a:t>Semi-Local Longest Common Subsequences in </a:t>
            </a:r>
            <a:r>
              <a:rPr kumimoji="1" lang="en-US" altLang="zh-TW" dirty="0" err="1"/>
              <a:t>Subquadratic</a:t>
            </a:r>
            <a:r>
              <a:rPr kumimoji="1" lang="en-US" altLang="zh-TW" dirty="0"/>
              <a:t> Time</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US" altLang="zh-TW" dirty="0">
                <a:latin typeface="Times New Roman" panose="02020603050405020304" pitchFamily="18" charset="0"/>
                <a:cs typeface="Times New Roman" panose="02020603050405020304" pitchFamily="18" charset="0"/>
              </a:rPr>
              <a:t>Alexander </a:t>
            </a:r>
            <a:r>
              <a:rPr kumimoji="1" lang="en-US" altLang="zh-TW" dirty="0" err="1">
                <a:latin typeface="Times New Roman" panose="02020603050405020304" pitchFamily="18" charset="0"/>
                <a:cs typeface="Times New Roman" panose="02020603050405020304" pitchFamily="18" charset="0"/>
              </a:rPr>
              <a:t>Tiskin</a:t>
            </a:r>
            <a:endParaRPr kumimoji="1" lang="en-US"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Journal of Discrete Algorithms</a:t>
            </a:r>
            <a:r>
              <a:rPr kumimoji="1" lang="en" altLang="zh-TW" dirty="0">
                <a:latin typeface="Times New Roman" panose="02020603050405020304" pitchFamily="18" charset="0"/>
                <a:cs typeface="Times New Roman" panose="02020603050405020304" pitchFamily="18" charset="0"/>
              </a:rPr>
              <a:t>, 2008</a:t>
            </a:r>
          </a:p>
          <a:p>
            <a:r>
              <a:rPr kumimoji="1" lang="en" altLang="zh-TW" dirty="0">
                <a:latin typeface="Times New Roman" panose="02020603050405020304" pitchFamily="18" charset="0"/>
                <a:cs typeface="Times New Roman" panose="02020603050405020304" pitchFamily="18" charset="0"/>
              </a:rPr>
              <a:t>Volume 6</a:t>
            </a:r>
            <a:r>
              <a:rPr lang="en-US" altLang="zh-TW" dirty="0">
                <a:latin typeface="Times New Roman" panose="02020603050405020304" pitchFamily="18" charset="0"/>
                <a:cs typeface="Times New Roman" panose="02020603050405020304" pitchFamily="18" charset="0"/>
              </a:rPr>
              <a:t> , Issue 4</a:t>
            </a:r>
            <a:r>
              <a:rPr kumimoji="1" lang="en" altLang="zh-TW" dirty="0">
                <a:latin typeface="Times New Roman" panose="02020603050405020304" pitchFamily="18" charset="0"/>
                <a:cs typeface="Times New Roman" panose="02020603050405020304" pitchFamily="18" charset="0"/>
              </a:rPr>
              <a:t>, pp. 570-581</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May 18,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458097"/>
                <a:ext cx="10515600" cy="5034778"/>
              </a:xfrm>
            </p:spPr>
            <p:txBody>
              <a:bodyPr>
                <a:noAutofit/>
              </a:bodyPr>
              <a:lstStyle/>
              <a:p>
                <a:pPr marL="0" indent="0" algn="just">
                  <a:lnSpc>
                    <a:spcPct val="150000"/>
                  </a:lnSpc>
                  <a:buNone/>
                </a:pPr>
                <a:r>
                  <a:rPr lang="en-US" altLang="zh-TW" sz="2000" dirty="0">
                    <a:latin typeface="Times New Roman" panose="02020603050405020304" pitchFamily="18" charset="0"/>
                    <a:cs typeface="Times New Roman" panose="02020603050405020304" pitchFamily="18" charset="0"/>
                  </a:rPr>
                  <a:t>For two strings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𝑎</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𝑏</m:t>
                    </m:r>
                  </m:oMath>
                </a14:m>
                <a:r>
                  <a:rPr lang="en-US" altLang="zh-TW" sz="2000" dirty="0">
                    <a:latin typeface="Times New Roman" panose="02020603050405020304" pitchFamily="18" charset="0"/>
                    <a:cs typeface="Times New Roman" panose="02020603050405020304" pitchFamily="18" charset="0"/>
                  </a:rPr>
                  <a:t> of lengths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𝑚</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𝑛</m:t>
                    </m:r>
                  </m:oMath>
                </a14:m>
                <a:r>
                  <a:rPr lang="en-US" altLang="zh-TW" sz="2000" dirty="0">
                    <a:latin typeface="Times New Roman" panose="02020603050405020304" pitchFamily="18" charset="0"/>
                    <a:cs typeface="Times New Roman" panose="02020603050405020304" pitchFamily="18" charset="0"/>
                  </a:rPr>
                  <a:t>, respectively, the longest common subsequence(LCS) problem consists in comparing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𝑎</m:t>
                    </m:r>
                  </m:oMath>
                </a14:m>
                <a:r>
                  <a:rPr lang="en-US" altLang="zh-TW" sz="2000"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𝑏</m:t>
                    </m:r>
                  </m:oMath>
                </a14:m>
                <a:r>
                  <a:rPr lang="en-US" altLang="zh-TW" sz="2000" dirty="0">
                    <a:latin typeface="Times New Roman" panose="02020603050405020304" pitchFamily="18" charset="0"/>
                    <a:cs typeface="Times New Roman" panose="02020603050405020304" pitchFamily="18" charset="0"/>
                  </a:rPr>
                  <a:t> by computing the length of their LCS. In this paper, we define a </a:t>
                </a:r>
                <a:r>
                  <a:rPr lang="en-US" altLang="zh-TW" sz="2000" dirty="0" err="1">
                    <a:latin typeface="Times New Roman" panose="02020603050405020304" pitchFamily="18" charset="0"/>
                    <a:cs typeface="Times New Roman" panose="02020603050405020304" pitchFamily="18" charset="0"/>
                  </a:rPr>
                  <a:t>generalisation</a:t>
                </a:r>
                <a:r>
                  <a:rPr lang="en-US" altLang="zh-TW" sz="2000" dirty="0">
                    <a:latin typeface="Times New Roman" panose="02020603050405020304" pitchFamily="18" charset="0"/>
                    <a:cs typeface="Times New Roman" panose="02020603050405020304" pitchFamily="18" charset="0"/>
                  </a:rPr>
                  <a:t>, called “</a:t>
                </a:r>
                <a:r>
                  <a:rPr lang="en-US" altLang="zh-TW" sz="2000" b="1" dirty="0">
                    <a:latin typeface="Times New Roman" panose="02020603050405020304" pitchFamily="18" charset="0"/>
                    <a:cs typeface="Times New Roman" panose="02020603050405020304" pitchFamily="18" charset="0"/>
                  </a:rPr>
                  <a:t>the all semi-local LCS problem</a:t>
                </a:r>
                <a:r>
                  <a:rPr lang="en-US" altLang="zh-TW" sz="2000" dirty="0">
                    <a:latin typeface="Times New Roman" panose="02020603050405020304" pitchFamily="18" charset="0"/>
                    <a:cs typeface="Times New Roman" panose="02020603050405020304" pitchFamily="18" charset="0"/>
                  </a:rPr>
                  <a:t>”, where each string is compared against all substrings of the other string, and all prefixes of each string are compared against all suffixes of the other string. An explicit representation of the output lengths is of size </a:t>
                </a:r>
                <a14:m>
                  <m:oMath xmlns:m="http://schemas.openxmlformats.org/officeDocument/2006/math">
                    <m:r>
                      <m:rPr>
                        <m:sty m:val="p"/>
                      </m:rPr>
                      <a:rPr lang="el-GR" altLang="zh-TW" sz="2000" i="1" dirty="0">
                        <a:latin typeface="Cambria Math" panose="02040503050406030204" pitchFamily="18" charset="0"/>
                        <a:ea typeface="Cambria Math" panose="02040503050406030204" pitchFamily="18" charset="0"/>
                        <a:cs typeface="Times New Roman" panose="02020603050405020304" pitchFamily="18" charset="0"/>
                      </a:rPr>
                      <m:t>Θ</m:t>
                    </m:r>
                    <m:r>
                      <a:rPr lang="en-US" altLang="zh-TW" sz="2000" i="1" dirty="0">
                        <a:latin typeface="Cambria Math" panose="02040503050406030204" pitchFamily="18" charset="0"/>
                        <a:cs typeface="Times New Roman" panose="02020603050405020304" pitchFamily="18" charset="0"/>
                      </a:rPr>
                      <m:t>(</m:t>
                    </m:r>
                    <m:sSup>
                      <m:sSupPr>
                        <m:ctrlPr>
                          <a:rPr lang="en-US" altLang="zh-TW" sz="2000" i="1" dirty="0">
                            <a:latin typeface="Cambria Math" panose="02040503050406030204" pitchFamily="18" charset="0"/>
                            <a:cs typeface="Times New Roman" panose="02020603050405020304" pitchFamily="18" charset="0"/>
                          </a:rPr>
                        </m:ctrlPr>
                      </m:sSupPr>
                      <m:e>
                        <m:r>
                          <a:rPr lang="en-US" altLang="zh-TW" sz="2000" i="1" dirty="0">
                            <a:latin typeface="Cambria Math" panose="02040503050406030204" pitchFamily="18" charset="0"/>
                            <a:cs typeface="Times New Roman" panose="02020603050405020304" pitchFamily="18" charset="0"/>
                          </a:rPr>
                          <m:t>(</m:t>
                        </m:r>
                        <m:r>
                          <a:rPr lang="en-US" altLang="zh-TW" sz="2000" i="1" dirty="0">
                            <a:latin typeface="Cambria Math" panose="02040503050406030204" pitchFamily="18" charset="0"/>
                            <a:cs typeface="Times New Roman" panose="02020603050405020304" pitchFamily="18" charset="0"/>
                          </a:rPr>
                          <m:t>𝑚</m:t>
                        </m:r>
                        <m:r>
                          <a:rPr lang="en-US" altLang="zh-TW" sz="2000" i="1" dirty="0">
                            <a:latin typeface="Cambria Math" panose="02040503050406030204" pitchFamily="18" charset="0"/>
                            <a:cs typeface="Times New Roman" panose="02020603050405020304" pitchFamily="18" charset="0"/>
                          </a:rPr>
                          <m:t>+</m:t>
                        </m:r>
                        <m:r>
                          <a:rPr lang="en-US" altLang="zh-TW" sz="2000" i="1" dirty="0">
                            <a:latin typeface="Cambria Math" panose="02040503050406030204" pitchFamily="18" charset="0"/>
                            <a:cs typeface="Times New Roman" panose="02020603050405020304" pitchFamily="18" charset="0"/>
                          </a:rPr>
                          <m:t>𝑛</m:t>
                        </m:r>
                        <m:r>
                          <a:rPr lang="en-US" altLang="zh-TW" sz="2000" i="1" dirty="0">
                            <a:latin typeface="Cambria Math" panose="02040503050406030204" pitchFamily="18" charset="0"/>
                            <a:cs typeface="Times New Roman" panose="02020603050405020304" pitchFamily="18" charset="0"/>
                          </a:rPr>
                          <m:t>)</m:t>
                        </m:r>
                      </m:e>
                      <m:sup>
                        <m:r>
                          <a:rPr lang="en-US" altLang="zh-TW" sz="2000" i="1" dirty="0">
                            <a:latin typeface="Cambria Math" panose="02040503050406030204" pitchFamily="18" charset="0"/>
                            <a:cs typeface="Times New Roman" panose="02020603050405020304" pitchFamily="18" charset="0"/>
                          </a:rPr>
                          <m:t>2</m:t>
                        </m:r>
                      </m:sup>
                    </m:sSup>
                    <m:r>
                      <a:rPr lang="en-US" altLang="zh-TW" sz="2000" i="1" dirty="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We show that the output can be represented implicitly by a geometric data structure of size </a:t>
                </a:r>
                <a14:m>
                  <m:oMath xmlns:m="http://schemas.openxmlformats.org/officeDocument/2006/math">
                    <m:r>
                      <a:rPr lang="en-US" altLang="zh-TW" sz="2000" b="1" i="1" dirty="0">
                        <a:latin typeface="Cambria Math" panose="02040503050406030204" pitchFamily="18" charset="0"/>
                        <a:cs typeface="Times New Roman" panose="02020603050405020304" pitchFamily="18" charset="0"/>
                      </a:rPr>
                      <m:t>𝑶</m:t>
                    </m:r>
                    <m:r>
                      <a:rPr lang="en-US" altLang="zh-TW" sz="2000" b="1" i="1" dirty="0">
                        <a:latin typeface="Cambria Math" panose="02040503050406030204" pitchFamily="18" charset="0"/>
                        <a:cs typeface="Times New Roman" panose="02020603050405020304" pitchFamily="18" charset="0"/>
                      </a:rPr>
                      <m:t>(</m:t>
                    </m:r>
                    <m:r>
                      <a:rPr lang="en-US" altLang="zh-TW" sz="2000" b="1" i="1" dirty="0" err="1">
                        <a:latin typeface="Cambria Math" panose="02040503050406030204" pitchFamily="18" charset="0"/>
                        <a:cs typeface="Times New Roman" panose="02020603050405020304" pitchFamily="18" charset="0"/>
                      </a:rPr>
                      <m:t>𝒎</m:t>
                    </m:r>
                    <m:r>
                      <a:rPr lang="en-US" altLang="zh-TW" sz="2000" b="1" i="1" dirty="0" err="1">
                        <a:latin typeface="Cambria Math" panose="02040503050406030204" pitchFamily="18" charset="0"/>
                        <a:cs typeface="Times New Roman" panose="02020603050405020304" pitchFamily="18" charset="0"/>
                      </a:rPr>
                      <m:t>+</m:t>
                    </m:r>
                    <m:r>
                      <a:rPr lang="en-US" altLang="zh-TW" sz="2000" b="1" i="1" dirty="0" err="1">
                        <a:latin typeface="Cambria Math" panose="02040503050406030204" pitchFamily="18" charset="0"/>
                        <a:cs typeface="Times New Roman" panose="02020603050405020304" pitchFamily="18" charset="0"/>
                      </a:rPr>
                      <m:t>𝒏</m:t>
                    </m:r>
                    <m:r>
                      <a:rPr lang="en-US" altLang="zh-TW" sz="2000" b="1" i="1" dirty="0">
                        <a:latin typeface="Cambria Math" panose="02040503050406030204" pitchFamily="18" charset="0"/>
                        <a:cs typeface="Times New Roman" panose="02020603050405020304" pitchFamily="18" charset="0"/>
                      </a:rPr>
                      <m:t>)</m:t>
                    </m:r>
                  </m:oMath>
                </a14:m>
                <a:r>
                  <a:rPr lang="en-US" altLang="zh-TW" sz="2000" b="1"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allowing efficient queries of the individual output lengths. We also develop the first all semi-local LCS algorithm, running in time </a:t>
                </a:r>
                <a14:m>
                  <m:oMath xmlns:m="http://schemas.openxmlformats.org/officeDocument/2006/math">
                    <m:r>
                      <a:rPr lang="en-US" altLang="zh-TW" sz="2000" b="1" i="1" dirty="0">
                        <a:latin typeface="Cambria Math" panose="02040503050406030204" pitchFamily="18" charset="0"/>
                        <a:cs typeface="Times New Roman" panose="02020603050405020304" pitchFamily="18" charset="0"/>
                      </a:rPr>
                      <m:t>𝒐</m:t>
                    </m:r>
                    <m:r>
                      <a:rPr lang="en-US" altLang="zh-TW" sz="2000" b="1" i="1" dirty="0">
                        <a:latin typeface="Cambria Math" panose="02040503050406030204" pitchFamily="18" charset="0"/>
                        <a:cs typeface="Times New Roman" panose="02020603050405020304" pitchFamily="18" charset="0"/>
                      </a:rPr>
                      <m:t>(</m:t>
                    </m:r>
                    <m:r>
                      <a:rPr lang="en-US" altLang="zh-TW" sz="2000" b="1" i="1" dirty="0" err="1">
                        <a:latin typeface="Cambria Math" panose="02040503050406030204" pitchFamily="18" charset="0"/>
                        <a:cs typeface="Times New Roman" panose="02020603050405020304" pitchFamily="18" charset="0"/>
                      </a:rPr>
                      <m:t>𝒎𝒏</m:t>
                    </m:r>
                    <m:r>
                      <a:rPr lang="en-US" altLang="zh-TW" sz="2000" b="1" i="1" dirty="0">
                        <a:latin typeface="Cambria Math" panose="02040503050406030204" pitchFamily="18" charset="0"/>
                        <a:cs typeface="Times New Roman" panose="02020603050405020304" pitchFamily="18" charset="0"/>
                      </a:rPr>
                      <m:t>)</m:t>
                    </m:r>
                  </m:oMath>
                </a14:m>
                <a:r>
                  <a:rPr lang="en-US" altLang="zh-TW" sz="2000" b="1"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where m and n are reasonably close. Compared to a number of previous results, our approach presents an improvement in algorithm functionality, output representation efficiency, and/or running time.</a:t>
                </a:r>
              </a:p>
            </p:txBody>
          </p:sp>
        </mc:Choice>
        <mc:Fallback xmlns="">
          <p:sp>
            <p:nvSpPr>
              <p:cNvPr id="3" name="內容版面配置區 2">
                <a:extLst>
                  <a:ext uri="{FF2B5EF4-FFF2-40B4-BE49-F238E27FC236}">
                    <a16:creationId xmlns:a16="http://schemas.microsoft.com/office/drawing/2014/main" id="{98C395C6-3EBC-4D47-9C22-52A1E36DD1C0}"/>
                  </a:ext>
                </a:extLst>
              </p:cNvPr>
              <p:cNvSpPr>
                <a:spLocks noGrp="1" noRot="1" noChangeAspect="1" noMove="1" noResize="1" noEditPoints="1" noAdjustHandles="1" noChangeArrowheads="1" noChangeShapeType="1" noTextEdit="1"/>
              </p:cNvSpPr>
              <p:nvPr>
                <p:ph idx="1"/>
              </p:nvPr>
            </p:nvSpPr>
            <p:spPr>
              <a:xfrm>
                <a:off x="838200" y="1458097"/>
                <a:ext cx="10515600" cy="5034778"/>
              </a:xfrm>
              <a:blipFill>
                <a:blip r:embed="rId2"/>
                <a:stretch>
                  <a:fillRect l="-724" r="-603"/>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5712912" cy="4351338"/>
          </a:xfrm>
        </p:spPr>
        <p:txBody>
          <a:bodyPr/>
          <a:lstStyle/>
          <a:p>
            <a:r>
              <a:rPr kumimoji="1" lang="en-US" altLang="zh-TW" dirty="0">
                <a:latin typeface="Times New Roman" panose="02020603050405020304" pitchFamily="18" charset="0"/>
                <a:cs typeface="Times New Roman" panose="02020603050405020304" pitchFamily="18" charset="0"/>
              </a:rPr>
              <a:t>Semi-Local LCS Problem</a:t>
            </a:r>
          </a:p>
          <a:p>
            <a:r>
              <a:rPr kumimoji="1" lang="en-US" altLang="zh-TW" dirty="0">
                <a:latin typeface="Times New Roman" panose="02020603050405020304" pitchFamily="18" charset="0"/>
                <a:cs typeface="Times New Roman" panose="02020603050405020304" pitchFamily="18" charset="0"/>
              </a:rPr>
              <a:t>Extended Highest-Score Matrix</a:t>
            </a:r>
          </a:p>
          <a:p>
            <a:r>
              <a:rPr kumimoji="1" lang="en-US" altLang="zh-TW" dirty="0">
                <a:latin typeface="Times New Roman" panose="02020603050405020304" pitchFamily="18" charset="0"/>
                <a:cs typeface="Times New Roman" panose="02020603050405020304" pitchFamily="18" charset="0"/>
              </a:rPr>
              <a:t>Critical Point</a:t>
            </a:r>
          </a:p>
          <a:p>
            <a:r>
              <a:rPr kumimoji="1" lang="en-US" altLang="zh-TW" dirty="0">
                <a:latin typeface="Times New Roman" panose="02020603050405020304" pitchFamily="18" charset="0"/>
                <a:cs typeface="Times New Roman" panose="02020603050405020304" pitchFamily="18" charset="0"/>
              </a:rPr>
              <a:t>Concatenation of </a:t>
            </a:r>
            <a:r>
              <a:rPr kumimoji="1" lang="en-US" altLang="zh-TW" i="1"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And </a:t>
            </a:r>
            <a:r>
              <a:rPr kumimoji="1" lang="en-US" altLang="zh-TW" i="1" dirty="0">
                <a:latin typeface="Times New Roman" panose="02020603050405020304" pitchFamily="18" charset="0"/>
                <a:cs typeface="Times New Roman" panose="02020603050405020304" pitchFamily="18" charset="0"/>
              </a:rPr>
              <a:t>B</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Algorithm1: Divide And Conquer</a:t>
            </a:r>
          </a:p>
          <a:p>
            <a:r>
              <a:rPr kumimoji="1" lang="en-US" altLang="zh-TW" dirty="0">
                <a:latin typeface="Times New Roman" panose="02020603050405020304" pitchFamily="18" charset="0"/>
                <a:cs typeface="Times New Roman" panose="02020603050405020304" pitchFamily="18" charset="0"/>
              </a:rPr>
              <a:t>Algorithm2: Iteration</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
        <p:nvSpPr>
          <p:cNvPr id="7" name="內容版面配置區 2">
            <a:extLst>
              <a:ext uri="{FF2B5EF4-FFF2-40B4-BE49-F238E27FC236}">
                <a16:creationId xmlns:a16="http://schemas.microsoft.com/office/drawing/2014/main" id="{8A8937D3-A634-D593-7A36-423DFAA03223}"/>
              </a:ext>
            </a:extLst>
          </p:cNvPr>
          <p:cNvSpPr txBox="1">
            <a:spLocks/>
          </p:cNvSpPr>
          <p:nvPr/>
        </p:nvSpPr>
        <p:spPr>
          <a:xfrm>
            <a:off x="6135665" y="1825625"/>
            <a:ext cx="571291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kumimoji="1" lang="en-US" altLang="zh-TW" dirty="0">
                <a:latin typeface="Times New Roman" panose="02020603050405020304" pitchFamily="18" charset="0"/>
                <a:cs typeface="Times New Roman" panose="02020603050405020304" pitchFamily="18" charset="0"/>
              </a:rPr>
              <a:t>2020/11/10 </a:t>
            </a:r>
            <a:r>
              <a:rPr kumimoji="1" lang="zh-TW" altLang="en-US" dirty="0">
                <a:latin typeface="Times New Roman" panose="02020603050405020304" pitchFamily="18" charset="0"/>
                <a:cs typeface="Times New Roman" panose="02020603050405020304" pitchFamily="18" charset="0"/>
              </a:rPr>
              <a:t>李紹瑄學姊報告過一次</a:t>
            </a:r>
            <a:endParaRPr kumimoji="1" lang="en-US" altLang="zh-TW" dirty="0">
              <a:latin typeface="Times New Roman" panose="02020603050405020304" pitchFamily="18" charset="0"/>
              <a:cs typeface="Times New Roman" panose="02020603050405020304" pitchFamily="18" charset="0"/>
            </a:endParaRPr>
          </a:p>
          <a:p>
            <a:pPr algn="just"/>
            <a:r>
              <a:rPr kumimoji="1" lang="en-US" altLang="zh-TW" dirty="0">
                <a:latin typeface="Times New Roman" panose="02020603050405020304" pitchFamily="18" charset="0"/>
                <a:cs typeface="Times New Roman" panose="02020603050405020304" pitchFamily="18" charset="0"/>
              </a:rPr>
              <a:t>Critical Point</a:t>
            </a:r>
            <a:r>
              <a:rPr kumimoji="1" lang="zh-TW" altLang="en-US" dirty="0">
                <a:latin typeface="Times New Roman" panose="02020603050405020304" pitchFamily="18" charset="0"/>
                <a:cs typeface="Times New Roman" panose="02020603050405020304" pitchFamily="18" charset="0"/>
              </a:rPr>
              <a:t>和</a:t>
            </a:r>
            <a:r>
              <a:rPr kumimoji="1" lang="en-US" altLang="zh-TW" dirty="0">
                <a:latin typeface="Times New Roman" panose="02020603050405020304" pitchFamily="18" charset="0"/>
                <a:cs typeface="Times New Roman" panose="02020603050405020304" pitchFamily="18" charset="0"/>
              </a:rPr>
              <a:t>Monge</a:t>
            </a:r>
            <a:r>
              <a:rPr kumimoji="1" lang="zh-TW" altLang="en-US" dirty="0">
                <a:latin typeface="Times New Roman" panose="02020603050405020304" pitchFamily="18" charset="0"/>
                <a:cs typeface="Times New Roman" panose="02020603050405020304" pitchFamily="18" charset="0"/>
              </a:rPr>
              <a:t>的關係</a:t>
            </a:r>
            <a:endParaRPr kumimoji="1" lang="en-US" altLang="zh-TW" dirty="0">
              <a:latin typeface="Times New Roman" panose="02020603050405020304" pitchFamily="18" charset="0"/>
              <a:cs typeface="Times New Roman" panose="02020603050405020304" pitchFamily="18" charset="0"/>
            </a:endParaRPr>
          </a:p>
          <a:p>
            <a:pPr algn="just"/>
            <a:r>
              <a:rPr kumimoji="1" lang="zh-TW" altLang="en-US" dirty="0">
                <a:latin typeface="Times New Roman" panose="02020603050405020304" pitchFamily="18" charset="0"/>
                <a:cs typeface="Times New Roman" panose="02020603050405020304" pitchFamily="18" charset="0"/>
              </a:rPr>
              <a:t>這篇將</a:t>
            </a:r>
            <a:r>
              <a:rPr kumimoji="1" lang="en-US" altLang="zh-TW" dirty="0">
                <a:latin typeface="Times New Roman" panose="02020603050405020304" pitchFamily="18" charset="0"/>
                <a:cs typeface="Times New Roman" panose="02020603050405020304" pitchFamily="18" charset="0"/>
              </a:rPr>
              <a:t>All substring-string</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LCS</a:t>
            </a:r>
            <a:r>
              <a:rPr kumimoji="1" lang="zh-TW" altLang="en-US" dirty="0">
                <a:latin typeface="Times New Roman" panose="02020603050405020304" pitchFamily="18" charset="0"/>
                <a:cs typeface="Times New Roman" panose="02020603050405020304" pitchFamily="18" charset="0"/>
              </a:rPr>
              <a:t>更廣義化</a:t>
            </a:r>
            <a:endParaRPr kumimoji="1"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030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Semi-Local LCS Problem (1/2)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933893" y="1690688"/>
            <a:ext cx="10515600" cy="4351338"/>
          </a:xfrm>
          <a:ln>
            <a:noFill/>
          </a:ln>
        </p:spPr>
        <p:txBody>
          <a:bodyPr/>
          <a:lstStyle/>
          <a:p>
            <a:r>
              <a:rPr kumimoji="1" lang="en-US" altLang="zh-TW" dirty="0">
                <a:latin typeface="Times New Roman" panose="02020603050405020304" pitchFamily="18" charset="0"/>
                <a:cs typeface="Times New Roman" panose="02020603050405020304" pitchFamily="18" charset="0"/>
              </a:rPr>
              <a:t>The all </a:t>
            </a:r>
            <a:r>
              <a:rPr kumimoji="1" lang="en-US" altLang="zh-TW" b="1" dirty="0">
                <a:solidFill>
                  <a:schemeClr val="accent2"/>
                </a:solidFill>
                <a:latin typeface="Times New Roman" panose="02020603050405020304" pitchFamily="18" charset="0"/>
                <a:cs typeface="Times New Roman" panose="02020603050405020304" pitchFamily="18" charset="0"/>
              </a:rPr>
              <a:t>string–substring </a:t>
            </a:r>
            <a:r>
              <a:rPr kumimoji="1" lang="en-US" altLang="zh-TW" dirty="0">
                <a:latin typeface="Times New Roman" panose="02020603050405020304" pitchFamily="18" charset="0"/>
                <a:cs typeface="Times New Roman" panose="02020603050405020304" pitchFamily="18" charset="0"/>
              </a:rPr>
              <a:t>LCS problem: a against every substring of b</a:t>
            </a:r>
          </a:p>
          <a:p>
            <a:r>
              <a:rPr kumimoji="1" lang="en-US" altLang="zh-TW" dirty="0">
                <a:latin typeface="Times New Roman" panose="02020603050405020304" pitchFamily="18" charset="0"/>
                <a:cs typeface="Times New Roman" panose="02020603050405020304" pitchFamily="18" charset="0"/>
              </a:rPr>
              <a:t>The all </a:t>
            </a:r>
            <a:r>
              <a:rPr kumimoji="1" lang="en-US" altLang="zh-TW" b="1" dirty="0">
                <a:solidFill>
                  <a:schemeClr val="accent5"/>
                </a:solidFill>
                <a:latin typeface="Times New Roman" panose="02020603050405020304" pitchFamily="18" charset="0"/>
                <a:cs typeface="Times New Roman" panose="02020603050405020304" pitchFamily="18" charset="0"/>
              </a:rPr>
              <a:t>prefix–suffix </a:t>
            </a:r>
            <a:r>
              <a:rPr kumimoji="1" lang="en-US" altLang="zh-TW" dirty="0">
                <a:latin typeface="Times New Roman" panose="02020603050405020304" pitchFamily="18" charset="0"/>
                <a:cs typeface="Times New Roman" panose="02020603050405020304" pitchFamily="18" charset="0"/>
              </a:rPr>
              <a:t>LCS problem: every prefix of a against every suffix of b</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pic>
        <p:nvPicPr>
          <p:cNvPr id="5" name="圖片 4">
            <a:extLst>
              <a:ext uri="{FF2B5EF4-FFF2-40B4-BE49-F238E27FC236}">
                <a16:creationId xmlns:a16="http://schemas.microsoft.com/office/drawing/2014/main" id="{AC6F0D46-A4FF-3A85-9C31-1AF003F3CE5F}"/>
              </a:ext>
            </a:extLst>
          </p:cNvPr>
          <p:cNvPicPr>
            <a:picLocks noChangeAspect="1"/>
          </p:cNvPicPr>
          <p:nvPr/>
        </p:nvPicPr>
        <p:blipFill>
          <a:blip r:embed="rId2"/>
          <a:stretch>
            <a:fillRect/>
          </a:stretch>
        </p:blipFill>
        <p:spPr>
          <a:xfrm>
            <a:off x="2846640" y="2670566"/>
            <a:ext cx="5938140" cy="3758511"/>
          </a:xfrm>
          <a:prstGeom prst="rect">
            <a:avLst/>
          </a:prstGeom>
        </p:spPr>
      </p:pic>
      <p:sp>
        <p:nvSpPr>
          <p:cNvPr id="4" name="文字方塊 3">
            <a:extLst>
              <a:ext uri="{FF2B5EF4-FFF2-40B4-BE49-F238E27FC236}">
                <a16:creationId xmlns:a16="http://schemas.microsoft.com/office/drawing/2014/main" id="{DC6AA0C8-BEDB-BFB6-6172-865C47368588}"/>
              </a:ext>
            </a:extLst>
          </p:cNvPr>
          <p:cNvSpPr txBox="1"/>
          <p:nvPr/>
        </p:nvSpPr>
        <p:spPr>
          <a:xfrm>
            <a:off x="3258922" y="6286943"/>
            <a:ext cx="530792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 An alignment DAG. </a:t>
            </a:r>
            <a:r>
              <a:rPr kumimoji="1" lang="en-US" altLang="zh-TW" i="1"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baabcbca</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B</a:t>
            </a:r>
            <a:r>
              <a:rPr kumimoji="1"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baabcabcabaca</a:t>
            </a:r>
            <a:endParaRPr lang="en-US" altLang="zh-TW" dirty="0">
              <a:latin typeface="Times New Roman" panose="02020603050405020304" pitchFamily="18" charset="0"/>
              <a:cs typeface="Times New Roman" panose="02020603050405020304" pitchFamily="18" charset="0"/>
            </a:endParaRPr>
          </a:p>
        </p:txBody>
      </p:sp>
      <p:cxnSp>
        <p:nvCxnSpPr>
          <p:cNvPr id="9" name="直線接點 8">
            <a:extLst>
              <a:ext uri="{FF2B5EF4-FFF2-40B4-BE49-F238E27FC236}">
                <a16:creationId xmlns:a16="http://schemas.microsoft.com/office/drawing/2014/main" id="{4ECB5060-8F65-F58F-84C0-951B73D95F18}"/>
              </a:ext>
            </a:extLst>
          </p:cNvPr>
          <p:cNvCxnSpPr/>
          <p:nvPr/>
        </p:nvCxnSpPr>
        <p:spPr>
          <a:xfrm>
            <a:off x="4975412" y="3089701"/>
            <a:ext cx="412376" cy="0"/>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0" name="直線接點 9">
            <a:extLst>
              <a:ext uri="{FF2B5EF4-FFF2-40B4-BE49-F238E27FC236}">
                <a16:creationId xmlns:a16="http://schemas.microsoft.com/office/drawing/2014/main" id="{1551403C-4A04-6B11-027E-B463F72C2749}"/>
              </a:ext>
            </a:extLst>
          </p:cNvPr>
          <p:cNvCxnSpPr/>
          <p:nvPr/>
        </p:nvCxnSpPr>
        <p:spPr>
          <a:xfrm>
            <a:off x="6526306" y="5044007"/>
            <a:ext cx="412376" cy="0"/>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1" name="直線接點 10">
            <a:extLst>
              <a:ext uri="{FF2B5EF4-FFF2-40B4-BE49-F238E27FC236}">
                <a16:creationId xmlns:a16="http://schemas.microsoft.com/office/drawing/2014/main" id="{46993338-0FBF-1E29-E97D-542B8AB8860B}"/>
              </a:ext>
            </a:extLst>
          </p:cNvPr>
          <p:cNvCxnSpPr>
            <a:cxnSpLocks/>
          </p:cNvCxnSpPr>
          <p:nvPr/>
        </p:nvCxnSpPr>
        <p:spPr>
          <a:xfrm>
            <a:off x="5387788" y="3089701"/>
            <a:ext cx="0" cy="389965"/>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2" name="直線接點 11">
            <a:extLst>
              <a:ext uri="{FF2B5EF4-FFF2-40B4-BE49-F238E27FC236}">
                <a16:creationId xmlns:a16="http://schemas.microsoft.com/office/drawing/2014/main" id="{9047CAD8-E2D0-7340-9F85-EBCA9B679FFD}"/>
              </a:ext>
            </a:extLst>
          </p:cNvPr>
          <p:cNvCxnSpPr>
            <a:cxnSpLocks/>
          </p:cNvCxnSpPr>
          <p:nvPr/>
        </p:nvCxnSpPr>
        <p:spPr>
          <a:xfrm>
            <a:off x="5773271" y="3842736"/>
            <a:ext cx="0" cy="389965"/>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3" name="直線接點 12">
            <a:extLst>
              <a:ext uri="{FF2B5EF4-FFF2-40B4-BE49-F238E27FC236}">
                <a16:creationId xmlns:a16="http://schemas.microsoft.com/office/drawing/2014/main" id="{7ACBB553-3780-AA64-C769-3E4F44EAF2DB}"/>
              </a:ext>
            </a:extLst>
          </p:cNvPr>
          <p:cNvCxnSpPr>
            <a:cxnSpLocks/>
          </p:cNvCxnSpPr>
          <p:nvPr/>
        </p:nvCxnSpPr>
        <p:spPr>
          <a:xfrm>
            <a:off x="7342094" y="5429489"/>
            <a:ext cx="0" cy="389965"/>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4" name="直線接點 13">
            <a:extLst>
              <a:ext uri="{FF2B5EF4-FFF2-40B4-BE49-F238E27FC236}">
                <a16:creationId xmlns:a16="http://schemas.microsoft.com/office/drawing/2014/main" id="{91873BFB-252A-370A-7D43-1509B300C66B}"/>
              </a:ext>
            </a:extLst>
          </p:cNvPr>
          <p:cNvCxnSpPr>
            <a:cxnSpLocks/>
          </p:cNvCxnSpPr>
          <p:nvPr/>
        </p:nvCxnSpPr>
        <p:spPr>
          <a:xfrm>
            <a:off x="5387788" y="3479666"/>
            <a:ext cx="385483" cy="389965"/>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5" name="直線接點 14">
            <a:extLst>
              <a:ext uri="{FF2B5EF4-FFF2-40B4-BE49-F238E27FC236}">
                <a16:creationId xmlns:a16="http://schemas.microsoft.com/office/drawing/2014/main" id="{CCF12258-1A8A-0DBE-26AD-8895F3959160}"/>
              </a:ext>
            </a:extLst>
          </p:cNvPr>
          <p:cNvCxnSpPr>
            <a:cxnSpLocks/>
          </p:cNvCxnSpPr>
          <p:nvPr/>
        </p:nvCxnSpPr>
        <p:spPr>
          <a:xfrm>
            <a:off x="5728447" y="4232701"/>
            <a:ext cx="427921" cy="424382"/>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6" name="直線接點 15">
            <a:extLst>
              <a:ext uri="{FF2B5EF4-FFF2-40B4-BE49-F238E27FC236}">
                <a16:creationId xmlns:a16="http://schemas.microsoft.com/office/drawing/2014/main" id="{8AEE139A-7AC4-77BD-7608-17B4A6171494}"/>
              </a:ext>
            </a:extLst>
          </p:cNvPr>
          <p:cNvCxnSpPr>
            <a:cxnSpLocks/>
          </p:cNvCxnSpPr>
          <p:nvPr/>
        </p:nvCxnSpPr>
        <p:spPr>
          <a:xfrm>
            <a:off x="6156368" y="4680937"/>
            <a:ext cx="385483" cy="363070"/>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7" name="直線接點 16">
            <a:extLst>
              <a:ext uri="{FF2B5EF4-FFF2-40B4-BE49-F238E27FC236}">
                <a16:creationId xmlns:a16="http://schemas.microsoft.com/office/drawing/2014/main" id="{34C37EE3-D812-2C83-2E24-69745CA99FD4}"/>
              </a:ext>
            </a:extLst>
          </p:cNvPr>
          <p:cNvCxnSpPr>
            <a:cxnSpLocks/>
          </p:cNvCxnSpPr>
          <p:nvPr/>
        </p:nvCxnSpPr>
        <p:spPr>
          <a:xfrm>
            <a:off x="6938682" y="5066419"/>
            <a:ext cx="385483" cy="363070"/>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8" name="直線接點 17">
            <a:extLst>
              <a:ext uri="{FF2B5EF4-FFF2-40B4-BE49-F238E27FC236}">
                <a16:creationId xmlns:a16="http://schemas.microsoft.com/office/drawing/2014/main" id="{0F64BE21-70F4-058C-1A7A-C135C72C128A}"/>
              </a:ext>
            </a:extLst>
          </p:cNvPr>
          <p:cNvCxnSpPr>
            <a:cxnSpLocks/>
          </p:cNvCxnSpPr>
          <p:nvPr/>
        </p:nvCxnSpPr>
        <p:spPr>
          <a:xfrm>
            <a:off x="7315200" y="5787044"/>
            <a:ext cx="421341" cy="449269"/>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9" name="直線接點 18">
            <a:extLst>
              <a:ext uri="{FF2B5EF4-FFF2-40B4-BE49-F238E27FC236}">
                <a16:creationId xmlns:a16="http://schemas.microsoft.com/office/drawing/2014/main" id="{1544EC2E-5052-C919-EAA8-6259DB9010B4}"/>
              </a:ext>
            </a:extLst>
          </p:cNvPr>
          <p:cNvCxnSpPr>
            <a:cxnSpLocks/>
          </p:cNvCxnSpPr>
          <p:nvPr/>
        </p:nvCxnSpPr>
        <p:spPr>
          <a:xfrm>
            <a:off x="3395942" y="4260541"/>
            <a:ext cx="385483" cy="38996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0" name="直線接點 19">
            <a:extLst>
              <a:ext uri="{FF2B5EF4-FFF2-40B4-BE49-F238E27FC236}">
                <a16:creationId xmlns:a16="http://schemas.microsoft.com/office/drawing/2014/main" id="{B30E428D-6F24-8709-30A9-D19E8B114EA5}"/>
              </a:ext>
            </a:extLst>
          </p:cNvPr>
          <p:cNvCxnSpPr>
            <a:cxnSpLocks/>
          </p:cNvCxnSpPr>
          <p:nvPr/>
        </p:nvCxnSpPr>
        <p:spPr>
          <a:xfrm>
            <a:off x="4606178" y="5050156"/>
            <a:ext cx="385483" cy="38996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1" name="直線接點 20">
            <a:extLst>
              <a:ext uri="{FF2B5EF4-FFF2-40B4-BE49-F238E27FC236}">
                <a16:creationId xmlns:a16="http://schemas.microsoft.com/office/drawing/2014/main" id="{3E372DC1-B46B-CBBD-B501-4543DA1D25A3}"/>
              </a:ext>
            </a:extLst>
          </p:cNvPr>
          <p:cNvCxnSpPr>
            <a:cxnSpLocks/>
          </p:cNvCxnSpPr>
          <p:nvPr/>
        </p:nvCxnSpPr>
        <p:spPr>
          <a:xfrm>
            <a:off x="4991659" y="5433884"/>
            <a:ext cx="385483" cy="38996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2" name="直線接點 21">
            <a:extLst>
              <a:ext uri="{FF2B5EF4-FFF2-40B4-BE49-F238E27FC236}">
                <a16:creationId xmlns:a16="http://schemas.microsoft.com/office/drawing/2014/main" id="{A1E6F31D-DC05-046A-3166-FA1009DB9475}"/>
              </a:ext>
            </a:extLst>
          </p:cNvPr>
          <p:cNvCxnSpPr>
            <a:cxnSpLocks/>
          </p:cNvCxnSpPr>
          <p:nvPr/>
        </p:nvCxnSpPr>
        <p:spPr>
          <a:xfrm>
            <a:off x="3781425" y="4650506"/>
            <a:ext cx="0" cy="42654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3" name="直線接點 22">
            <a:extLst>
              <a:ext uri="{FF2B5EF4-FFF2-40B4-BE49-F238E27FC236}">
                <a16:creationId xmlns:a16="http://schemas.microsoft.com/office/drawing/2014/main" id="{40DB17D5-0D05-8858-27CA-FFB35BDA5936}"/>
              </a:ext>
            </a:extLst>
          </p:cNvPr>
          <p:cNvCxnSpPr>
            <a:cxnSpLocks/>
          </p:cNvCxnSpPr>
          <p:nvPr/>
        </p:nvCxnSpPr>
        <p:spPr>
          <a:xfrm>
            <a:off x="5387788" y="5797676"/>
            <a:ext cx="0" cy="42654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4" name="直線接點 23">
            <a:extLst>
              <a:ext uri="{FF2B5EF4-FFF2-40B4-BE49-F238E27FC236}">
                <a16:creationId xmlns:a16="http://schemas.microsoft.com/office/drawing/2014/main" id="{723C38DB-F7DB-1A74-4236-C14AE83B5E99}"/>
              </a:ext>
            </a:extLst>
          </p:cNvPr>
          <p:cNvCxnSpPr>
            <a:cxnSpLocks/>
          </p:cNvCxnSpPr>
          <p:nvPr/>
        </p:nvCxnSpPr>
        <p:spPr>
          <a:xfrm>
            <a:off x="3781425" y="5077051"/>
            <a:ext cx="824753" cy="0"/>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sp>
        <p:nvSpPr>
          <p:cNvPr id="25" name="矩形 24">
            <a:extLst>
              <a:ext uri="{FF2B5EF4-FFF2-40B4-BE49-F238E27FC236}">
                <a16:creationId xmlns:a16="http://schemas.microsoft.com/office/drawing/2014/main" id="{D89C032A-FEC7-054D-B3DD-1C0CF1153BC1}"/>
              </a:ext>
            </a:extLst>
          </p:cNvPr>
          <p:cNvSpPr/>
          <p:nvPr/>
        </p:nvSpPr>
        <p:spPr>
          <a:xfrm>
            <a:off x="2899805" y="2720369"/>
            <a:ext cx="603050" cy="369332"/>
          </a:xfrm>
          <a:prstGeom prst="rect">
            <a:avLst/>
          </a:prstGeom>
        </p:spPr>
        <p:txBody>
          <a:bodyPr wrap="none">
            <a:spAutoFit/>
          </a:bodyPr>
          <a:lstStyle/>
          <a:p>
            <a:r>
              <a:rPr lang="en-US" altLang="zh-TW" b="1" dirty="0">
                <a:solidFill>
                  <a:srgbClr val="000000"/>
                </a:solidFill>
                <a:latin typeface="Menlo" panose="020B0609030804020204" pitchFamily="49" charset="0"/>
              </a:rPr>
              <a:t>A\B</a:t>
            </a:r>
            <a:endParaRPr lang="en-US" altLang="zh-TW"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123049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Semi-Local LCS Problem (2/2)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5" name="圖片 4">
            <a:extLst>
              <a:ext uri="{FF2B5EF4-FFF2-40B4-BE49-F238E27FC236}">
                <a16:creationId xmlns:a16="http://schemas.microsoft.com/office/drawing/2014/main" id="{1731FD04-7138-5004-4AA9-643063EC329E}"/>
              </a:ext>
            </a:extLst>
          </p:cNvPr>
          <p:cNvPicPr>
            <a:picLocks noChangeAspect="1"/>
          </p:cNvPicPr>
          <p:nvPr/>
        </p:nvPicPr>
        <p:blipFill>
          <a:blip r:embed="rId2"/>
          <a:stretch>
            <a:fillRect/>
          </a:stretch>
        </p:blipFill>
        <p:spPr>
          <a:xfrm>
            <a:off x="3904423" y="1297363"/>
            <a:ext cx="5411823" cy="1695520"/>
          </a:xfrm>
          <a:prstGeom prst="rect">
            <a:avLst/>
          </a:prstGeom>
        </p:spPr>
      </p:pic>
      <p:graphicFrame>
        <p:nvGraphicFramePr>
          <p:cNvPr id="8" name="表格 6">
            <a:extLst>
              <a:ext uri="{FF2B5EF4-FFF2-40B4-BE49-F238E27FC236}">
                <a16:creationId xmlns:a16="http://schemas.microsoft.com/office/drawing/2014/main" id="{EA7F7974-D0E8-D985-5FCA-8AFD0D505E73}"/>
              </a:ext>
            </a:extLst>
          </p:cNvPr>
          <p:cNvGraphicFramePr>
            <a:graphicFrameLocks noGrp="1"/>
          </p:cNvGraphicFramePr>
          <p:nvPr>
            <p:extLst>
              <p:ext uri="{D42A27DB-BD31-4B8C-83A1-F6EECF244321}">
                <p14:modId xmlns:p14="http://schemas.microsoft.com/office/powerpoint/2010/main" val="1348581198"/>
              </p:ext>
            </p:extLst>
          </p:nvPr>
        </p:nvGraphicFramePr>
        <p:xfrm>
          <a:off x="1966693" y="3271222"/>
          <a:ext cx="7871010" cy="3330480"/>
        </p:xfrm>
        <a:graphic>
          <a:graphicData uri="http://schemas.openxmlformats.org/drawingml/2006/table">
            <a:tbl>
              <a:tblPr firstRow="1" bandRow="1">
                <a:tableStyleId>{5940675A-B579-460E-94D1-54222C63F5DA}</a:tableStyleId>
              </a:tblPr>
              <a:tblGrid>
                <a:gridCol w="787101">
                  <a:extLst>
                    <a:ext uri="{9D8B030D-6E8A-4147-A177-3AD203B41FA5}">
                      <a16:colId xmlns:a16="http://schemas.microsoft.com/office/drawing/2014/main" val="3582644406"/>
                    </a:ext>
                  </a:extLst>
                </a:gridCol>
                <a:gridCol w="787101">
                  <a:extLst>
                    <a:ext uri="{9D8B030D-6E8A-4147-A177-3AD203B41FA5}">
                      <a16:colId xmlns:a16="http://schemas.microsoft.com/office/drawing/2014/main" val="3432789961"/>
                    </a:ext>
                  </a:extLst>
                </a:gridCol>
                <a:gridCol w="787101">
                  <a:extLst>
                    <a:ext uri="{9D8B030D-6E8A-4147-A177-3AD203B41FA5}">
                      <a16:colId xmlns:a16="http://schemas.microsoft.com/office/drawing/2014/main" val="1175871002"/>
                    </a:ext>
                  </a:extLst>
                </a:gridCol>
                <a:gridCol w="787101">
                  <a:extLst>
                    <a:ext uri="{9D8B030D-6E8A-4147-A177-3AD203B41FA5}">
                      <a16:colId xmlns:a16="http://schemas.microsoft.com/office/drawing/2014/main" val="10503038"/>
                    </a:ext>
                  </a:extLst>
                </a:gridCol>
                <a:gridCol w="787101">
                  <a:extLst>
                    <a:ext uri="{9D8B030D-6E8A-4147-A177-3AD203B41FA5}">
                      <a16:colId xmlns:a16="http://schemas.microsoft.com/office/drawing/2014/main" val="1546427624"/>
                    </a:ext>
                  </a:extLst>
                </a:gridCol>
                <a:gridCol w="787101">
                  <a:extLst>
                    <a:ext uri="{9D8B030D-6E8A-4147-A177-3AD203B41FA5}">
                      <a16:colId xmlns:a16="http://schemas.microsoft.com/office/drawing/2014/main" val="1933916000"/>
                    </a:ext>
                  </a:extLst>
                </a:gridCol>
                <a:gridCol w="787101">
                  <a:extLst>
                    <a:ext uri="{9D8B030D-6E8A-4147-A177-3AD203B41FA5}">
                      <a16:colId xmlns:a16="http://schemas.microsoft.com/office/drawing/2014/main" val="2453387150"/>
                    </a:ext>
                  </a:extLst>
                </a:gridCol>
                <a:gridCol w="787101">
                  <a:extLst>
                    <a:ext uri="{9D8B030D-6E8A-4147-A177-3AD203B41FA5}">
                      <a16:colId xmlns:a16="http://schemas.microsoft.com/office/drawing/2014/main" val="3151185847"/>
                    </a:ext>
                  </a:extLst>
                </a:gridCol>
                <a:gridCol w="787101">
                  <a:extLst>
                    <a:ext uri="{9D8B030D-6E8A-4147-A177-3AD203B41FA5}">
                      <a16:colId xmlns:a16="http://schemas.microsoft.com/office/drawing/2014/main" val="4161002384"/>
                    </a:ext>
                  </a:extLst>
                </a:gridCol>
                <a:gridCol w="787101">
                  <a:extLst>
                    <a:ext uri="{9D8B030D-6E8A-4147-A177-3AD203B41FA5}">
                      <a16:colId xmlns:a16="http://schemas.microsoft.com/office/drawing/2014/main" val="2294325834"/>
                    </a:ext>
                  </a:extLst>
                </a:gridCol>
              </a:tblGrid>
              <a:tr h="55508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1316579863"/>
                  </a:ext>
                </a:extLst>
              </a:tr>
              <a:tr h="55508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tc>
                <a:tc>
                  <a:txBody>
                    <a:bodyPr/>
                    <a:lstStyle/>
                    <a:p>
                      <a:endParaRPr lang="zh-TW" altLang="en-US" dirty="0"/>
                    </a:p>
                  </a:txBody>
                  <a:tcPr>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a:txBody>
                    <a:bodyPr/>
                    <a:lstStyle/>
                    <a:p>
                      <a:endParaRPr lang="zh-TW" altLang="en-US" dirty="0"/>
                    </a:p>
                  </a:txBody>
                  <a:tcPr/>
                </a:tc>
                <a:tc>
                  <a:txBody>
                    <a:bodyPr/>
                    <a:lstStyle/>
                    <a:p>
                      <a:endParaRPr lang="zh-TW" altLang="en-US"/>
                    </a:p>
                  </a:txBody>
                  <a:tcPr>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3334404971"/>
                  </a:ext>
                </a:extLst>
              </a:tr>
              <a:tr h="555080">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R w="12700" cap="flat" cmpd="sng" algn="ctr">
                      <a:solidFill>
                        <a:schemeClr val="tx1"/>
                      </a:solidFill>
                      <a:prstDash val="solid"/>
                      <a:round/>
                      <a:headEnd type="none" w="med" len="med"/>
                      <a:tailEnd type="none" w="med" len="med"/>
                    </a:ln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endParaRPr lang="zh-TW" altLang="en-US" dirty="0"/>
                    </a:p>
                  </a:txBody>
                  <a:tcPr>
                    <a:lnL w="12700" cap="flat" cmpd="sng" algn="ctr">
                      <a:solidFill>
                        <a:schemeClr val="tx1"/>
                      </a:solidFill>
                      <a:prstDash val="solid"/>
                      <a:round/>
                      <a:headEnd type="none" w="med" len="med"/>
                      <a:tailEnd type="none" w="med" len="med"/>
                    </a:lnL>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256436498"/>
                  </a:ext>
                </a:extLst>
              </a:tr>
              <a:tr h="555080">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tc>
                <a:tc>
                  <a:txBody>
                    <a:bodyPr/>
                    <a:lstStyle/>
                    <a:p>
                      <a:endParaRPr lang="zh-TW" altLang="en-US" dirty="0"/>
                    </a:p>
                  </a:txBody>
                  <a:tcPr>
                    <a:lnT w="12700" cap="flat" cmpd="sng" algn="ctr">
                      <a:solidFill>
                        <a:schemeClr val="tx1"/>
                      </a:solidFill>
                      <a:prstDash val="solid"/>
                      <a:round/>
                      <a:headEnd type="none" w="med" len="med"/>
                      <a:tailEnd type="none" w="med" len="med"/>
                    </a:lnT>
                    <a:lnTlToBr w="12700" cap="flat" cmpd="sng" algn="ctr">
                      <a:solidFill>
                        <a:schemeClr val="tx1"/>
                      </a:solidFill>
                      <a:prstDash val="solid"/>
                      <a:round/>
                      <a:headEnd type="none" w="med" len="med"/>
                      <a:tailEnd type="none" w="med" len="med"/>
                    </a:lnTlToBr>
                  </a:tcPr>
                </a:tc>
                <a:tc>
                  <a:txBody>
                    <a:bodyPr/>
                    <a:lstStyle/>
                    <a:p>
                      <a:endParaRPr lang="zh-TW" altLang="en-US"/>
                    </a:p>
                  </a:txBody>
                  <a:tcPr/>
                </a:tc>
                <a:tc>
                  <a:txBody>
                    <a:bodyPr/>
                    <a:lstStyle/>
                    <a:p>
                      <a:endParaRPr lang="zh-TW" altLang="en-US" dirty="0"/>
                    </a:p>
                  </a:txBody>
                  <a:tcPr>
                    <a:lnT w="12700" cap="flat" cmpd="sng" algn="ctr">
                      <a:solidFill>
                        <a:schemeClr val="tx1"/>
                      </a:solidFill>
                      <a:prstDash val="solid"/>
                      <a:round/>
                      <a:headEnd type="none" w="med" len="med"/>
                      <a:tailEnd type="none" w="med" len="med"/>
                    </a:lnT>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796255170"/>
                  </a:ext>
                </a:extLst>
              </a:tr>
              <a:tr h="555080">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3422463479"/>
                  </a:ext>
                </a:extLst>
              </a:tr>
              <a:tr h="555080">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tc>
                <a:tc>
                  <a:txBody>
                    <a:bodyPr/>
                    <a:lstStyle/>
                    <a:p>
                      <a:endParaRPr lang="zh-TW" altLang="en-US"/>
                    </a:p>
                  </a:txBody>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1864631501"/>
                  </a:ext>
                </a:extLst>
              </a:tr>
            </a:tbl>
          </a:graphicData>
        </a:graphic>
      </p:graphicFrame>
      <p:sp>
        <p:nvSpPr>
          <p:cNvPr id="9" name="矩形 8">
            <a:extLst>
              <a:ext uri="{FF2B5EF4-FFF2-40B4-BE49-F238E27FC236}">
                <a16:creationId xmlns:a16="http://schemas.microsoft.com/office/drawing/2014/main" id="{119543B8-39A8-C67B-2581-B650ABA90E4B}"/>
              </a:ext>
            </a:extLst>
          </p:cNvPr>
          <p:cNvSpPr/>
          <p:nvPr/>
        </p:nvSpPr>
        <p:spPr>
          <a:xfrm>
            <a:off x="4298576" y="3271221"/>
            <a:ext cx="3151095" cy="333047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3CF745A3-6C94-B953-3E5E-54E672AC5EDF}"/>
              </a:ext>
            </a:extLst>
          </p:cNvPr>
          <p:cNvSpPr txBox="1"/>
          <p:nvPr/>
        </p:nvSpPr>
        <p:spPr>
          <a:xfrm>
            <a:off x="797860" y="4656286"/>
            <a:ext cx="397866" cy="461665"/>
          </a:xfrm>
          <a:prstGeom prst="rect">
            <a:avLst/>
          </a:prstGeom>
          <a:noFill/>
        </p:spPr>
        <p:txBody>
          <a:bodyPr wrap="none" rtlCol="0">
            <a:spAutoFit/>
          </a:bodyPr>
          <a:lstStyle/>
          <a:p>
            <a:r>
              <a:rPr lang="en-US" altLang="zh-TW" sz="2400" dirty="0"/>
              <a:t>…</a:t>
            </a:r>
            <a:endParaRPr lang="zh-TW" altLang="en-US" sz="2400" dirty="0"/>
          </a:p>
        </p:txBody>
      </p:sp>
      <p:sp>
        <p:nvSpPr>
          <p:cNvPr id="11" name="文字方塊 10">
            <a:extLst>
              <a:ext uri="{FF2B5EF4-FFF2-40B4-BE49-F238E27FC236}">
                <a16:creationId xmlns:a16="http://schemas.microsoft.com/office/drawing/2014/main" id="{1F431592-8D4B-AE7B-1948-E9E4CCFCBEB7}"/>
              </a:ext>
            </a:extLst>
          </p:cNvPr>
          <p:cNvSpPr txBox="1"/>
          <p:nvPr/>
        </p:nvSpPr>
        <p:spPr>
          <a:xfrm>
            <a:off x="10479742" y="4656286"/>
            <a:ext cx="397866" cy="461665"/>
          </a:xfrm>
          <a:prstGeom prst="rect">
            <a:avLst/>
          </a:prstGeom>
          <a:noFill/>
        </p:spPr>
        <p:txBody>
          <a:bodyPr wrap="none" rtlCol="0">
            <a:spAutoFit/>
          </a:bodyPr>
          <a:lstStyle/>
          <a:p>
            <a:r>
              <a:rPr lang="en-US" altLang="zh-TW" sz="2400" dirty="0"/>
              <a:t>…</a:t>
            </a:r>
            <a:endParaRPr lang="zh-TW" altLang="en-US" sz="2400" dirty="0"/>
          </a:p>
        </p:txBody>
      </p:sp>
      <p:sp>
        <p:nvSpPr>
          <p:cNvPr id="12" name="文字方塊 11">
            <a:extLst>
              <a:ext uri="{FF2B5EF4-FFF2-40B4-BE49-F238E27FC236}">
                <a16:creationId xmlns:a16="http://schemas.microsoft.com/office/drawing/2014/main" id="{56510EF7-E5A9-411D-4D80-5C6F6BAEE456}"/>
              </a:ext>
            </a:extLst>
          </p:cNvPr>
          <p:cNvSpPr txBox="1"/>
          <p:nvPr/>
        </p:nvSpPr>
        <p:spPr>
          <a:xfrm>
            <a:off x="4143726" y="2901887"/>
            <a:ext cx="309700"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0</a:t>
            </a:r>
            <a:endParaRPr kumimoji="1" lang="zh-TW" altLang="en-US"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F6B0747-88B1-17E8-1204-A75ABDE74968}"/>
              </a:ext>
            </a:extLst>
          </p:cNvPr>
          <p:cNvSpPr txBox="1"/>
          <p:nvPr/>
        </p:nvSpPr>
        <p:spPr>
          <a:xfrm>
            <a:off x="7294821" y="2901887"/>
            <a:ext cx="300082"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n</a:t>
            </a:r>
            <a:endParaRPr kumimoji="1" lang="zh-TW" altLang="en-US"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BF06506A-98EC-B69D-DEF5-F63146D6CA79}"/>
              </a:ext>
            </a:extLst>
          </p:cNvPr>
          <p:cNvSpPr txBox="1"/>
          <p:nvPr/>
        </p:nvSpPr>
        <p:spPr>
          <a:xfrm>
            <a:off x="10397990" y="2901887"/>
            <a:ext cx="47961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7EC351C5-E311-4735-4536-967E5411C6AA}"/>
              </a:ext>
            </a:extLst>
          </p:cNvPr>
          <p:cNvSpPr txBox="1"/>
          <p:nvPr/>
        </p:nvSpPr>
        <p:spPr>
          <a:xfrm>
            <a:off x="797860" y="2901887"/>
            <a:ext cx="426720"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BC320597-3A2D-0B6F-DB34-C8BEF6E09722}"/>
              </a:ext>
            </a:extLst>
          </p:cNvPr>
          <p:cNvSpPr txBox="1"/>
          <p:nvPr/>
        </p:nvSpPr>
        <p:spPr>
          <a:xfrm>
            <a:off x="1955291" y="1262149"/>
            <a:ext cx="2498135" cy="2120004"/>
          </a:xfrm>
          <a:prstGeom prst="rect">
            <a:avLst/>
          </a:prstGeom>
          <a:noFill/>
        </p:spPr>
        <p:txBody>
          <a:bodyPr wrap="square" rtlCol="0">
            <a:spAutoFit/>
          </a:bodyPr>
          <a:lstStyle/>
          <a:p>
            <a:pPr marL="342900" indent="-342900">
              <a:lnSpc>
                <a:spcPct val="150000"/>
              </a:lnSpc>
              <a:buAutoNum type="arabicPeriod"/>
            </a:pPr>
            <a:r>
              <a:rPr kumimoji="1" lang="en-US" altLang="zh-TW" b="1" dirty="0">
                <a:solidFill>
                  <a:schemeClr val="accent6"/>
                </a:solidFill>
                <a:latin typeface="Times New Roman" panose="02020603050405020304" pitchFamily="18" charset="0"/>
                <a:cs typeface="Times New Roman" panose="02020603050405020304" pitchFamily="18" charset="0"/>
              </a:rPr>
              <a:t>string </a:t>
            </a:r>
            <a:r>
              <a:rPr kumimoji="1" lang="en-US" altLang="zh-TW" b="1" dirty="0">
                <a:latin typeface="Times New Roman" panose="02020603050405020304" pitchFamily="18" charset="0"/>
                <a:cs typeface="Times New Roman" panose="02020603050405020304" pitchFamily="18" charset="0"/>
              </a:rPr>
              <a:t>-</a:t>
            </a:r>
            <a:r>
              <a:rPr kumimoji="1" lang="en-US" altLang="zh-TW" b="1" dirty="0">
                <a:solidFill>
                  <a:schemeClr val="accent6"/>
                </a:solidFill>
                <a:latin typeface="Times New Roman" panose="02020603050405020304" pitchFamily="18" charset="0"/>
                <a:cs typeface="Times New Roman" panose="02020603050405020304" pitchFamily="18" charset="0"/>
              </a:rPr>
              <a:t> </a:t>
            </a:r>
            <a:r>
              <a:rPr kumimoji="1" lang="en-US" altLang="zh-TW" b="1" dirty="0">
                <a:solidFill>
                  <a:srgbClr val="FF0000"/>
                </a:solidFill>
                <a:latin typeface="Times New Roman" panose="02020603050405020304" pitchFamily="18" charset="0"/>
                <a:cs typeface="Times New Roman" panose="02020603050405020304" pitchFamily="18" charset="0"/>
              </a:rPr>
              <a:t>substring</a:t>
            </a:r>
          </a:p>
          <a:p>
            <a:pPr marL="342900" indent="-342900">
              <a:lnSpc>
                <a:spcPct val="150000"/>
              </a:lnSpc>
              <a:buFontTx/>
              <a:buAutoNum type="arabicPeriod"/>
            </a:pPr>
            <a:r>
              <a:rPr kumimoji="1" lang="en-US" altLang="zh-TW" b="1" dirty="0">
                <a:solidFill>
                  <a:schemeClr val="accent2"/>
                </a:solidFill>
                <a:latin typeface="Times New Roman" panose="02020603050405020304" pitchFamily="18" charset="0"/>
                <a:cs typeface="Times New Roman" panose="02020603050405020304" pitchFamily="18" charset="0"/>
              </a:rPr>
              <a:t>suffix</a:t>
            </a:r>
            <a:r>
              <a:rPr kumimoji="1" lang="en-US" altLang="zh-TW" b="1" dirty="0">
                <a:latin typeface="Times New Roman" panose="02020603050405020304" pitchFamily="18" charset="0"/>
                <a:cs typeface="Times New Roman" panose="02020603050405020304" pitchFamily="18" charset="0"/>
              </a:rPr>
              <a:t>-</a:t>
            </a:r>
            <a:r>
              <a:rPr kumimoji="1" lang="en-US" altLang="zh-TW" b="1" dirty="0">
                <a:solidFill>
                  <a:schemeClr val="accent2"/>
                </a:solidFill>
                <a:latin typeface="Times New Roman" panose="02020603050405020304" pitchFamily="18" charset="0"/>
                <a:cs typeface="Times New Roman" panose="02020603050405020304" pitchFamily="18" charset="0"/>
              </a:rPr>
              <a:t> </a:t>
            </a:r>
            <a:r>
              <a:rPr kumimoji="1" lang="en-US" altLang="zh-TW" b="1" dirty="0">
                <a:solidFill>
                  <a:srgbClr val="FF0000"/>
                </a:solidFill>
                <a:latin typeface="Times New Roman" panose="02020603050405020304" pitchFamily="18" charset="0"/>
                <a:cs typeface="Times New Roman" panose="02020603050405020304" pitchFamily="18" charset="0"/>
              </a:rPr>
              <a:t>prefix</a:t>
            </a:r>
          </a:p>
          <a:p>
            <a:pPr marL="342900" indent="-342900">
              <a:lnSpc>
                <a:spcPct val="150000"/>
              </a:lnSpc>
              <a:buFontTx/>
              <a:buAutoNum type="arabicPeriod"/>
            </a:pPr>
            <a:r>
              <a:rPr kumimoji="1" lang="en-US" altLang="zh-TW" b="1" dirty="0">
                <a:solidFill>
                  <a:schemeClr val="accent6"/>
                </a:solidFill>
                <a:latin typeface="Times New Roman" panose="02020603050405020304" pitchFamily="18" charset="0"/>
                <a:cs typeface="Times New Roman" panose="02020603050405020304" pitchFamily="18" charset="0"/>
              </a:rPr>
              <a:t>prefix</a:t>
            </a:r>
            <a:r>
              <a:rPr kumimoji="1" lang="en-US" altLang="zh-TW" b="1" dirty="0">
                <a:latin typeface="Times New Roman" panose="02020603050405020304" pitchFamily="18" charset="0"/>
                <a:cs typeface="Times New Roman" panose="02020603050405020304" pitchFamily="18" charset="0"/>
              </a:rPr>
              <a:t> - </a:t>
            </a:r>
            <a:r>
              <a:rPr kumimoji="1" lang="en-US" altLang="zh-TW" b="1" dirty="0">
                <a:solidFill>
                  <a:schemeClr val="accent1"/>
                </a:solidFill>
                <a:latin typeface="Times New Roman" panose="02020603050405020304" pitchFamily="18" charset="0"/>
                <a:cs typeface="Times New Roman" panose="02020603050405020304" pitchFamily="18" charset="0"/>
              </a:rPr>
              <a:t>suffix</a:t>
            </a:r>
          </a:p>
          <a:p>
            <a:pPr marL="342900" indent="-342900">
              <a:lnSpc>
                <a:spcPct val="150000"/>
              </a:lnSpc>
              <a:buFontTx/>
              <a:buAutoNum type="arabicPeriod"/>
            </a:pPr>
            <a:r>
              <a:rPr kumimoji="1" lang="en-US" altLang="zh-TW" b="1" dirty="0">
                <a:solidFill>
                  <a:schemeClr val="accent2"/>
                </a:solidFill>
                <a:latin typeface="Times New Roman" panose="02020603050405020304" pitchFamily="18" charset="0"/>
                <a:cs typeface="Times New Roman" panose="02020603050405020304" pitchFamily="18" charset="0"/>
              </a:rPr>
              <a:t>substring</a:t>
            </a:r>
            <a:r>
              <a:rPr kumimoji="1" lang="en-US" altLang="zh-TW" b="1" dirty="0">
                <a:latin typeface="Times New Roman" panose="02020603050405020304" pitchFamily="18" charset="0"/>
                <a:cs typeface="Times New Roman" panose="02020603050405020304" pitchFamily="18" charset="0"/>
              </a:rPr>
              <a:t> - </a:t>
            </a:r>
            <a:r>
              <a:rPr kumimoji="1" lang="en-US" altLang="zh-TW" b="1" dirty="0">
                <a:solidFill>
                  <a:schemeClr val="accent1"/>
                </a:solidFill>
                <a:latin typeface="Times New Roman" panose="02020603050405020304" pitchFamily="18" charset="0"/>
                <a:cs typeface="Times New Roman" panose="02020603050405020304" pitchFamily="18" charset="0"/>
              </a:rPr>
              <a:t>string</a:t>
            </a:r>
          </a:p>
          <a:p>
            <a:pPr marL="342900" indent="-342900">
              <a:lnSpc>
                <a:spcPct val="150000"/>
              </a:lnSpc>
              <a:buAutoNum type="arabicPeriod"/>
            </a:pPr>
            <a:endParaRPr kumimoji="1" lang="zh-TW" altLang="en-US" b="1" dirty="0">
              <a:latin typeface="Times New Roman" panose="02020603050405020304" pitchFamily="18" charset="0"/>
              <a:cs typeface="Times New Roman" panose="02020603050405020304" pitchFamily="18" charset="0"/>
            </a:endParaRPr>
          </a:p>
        </p:txBody>
      </p:sp>
      <p:sp>
        <p:nvSpPr>
          <p:cNvPr id="17" name="橢圓 16">
            <a:extLst>
              <a:ext uri="{FF2B5EF4-FFF2-40B4-BE49-F238E27FC236}">
                <a16:creationId xmlns:a16="http://schemas.microsoft.com/office/drawing/2014/main" id="{8FCB42A6-A790-767A-3271-94C6F31603C8}"/>
              </a:ext>
            </a:extLst>
          </p:cNvPr>
          <p:cNvSpPr/>
          <p:nvPr/>
        </p:nvSpPr>
        <p:spPr>
          <a:xfrm>
            <a:off x="4204447" y="4297765"/>
            <a:ext cx="197224" cy="188258"/>
          </a:xfrm>
          <a:prstGeom prst="ellipse">
            <a:avLst/>
          </a:prstGeom>
          <a:solidFill>
            <a:schemeClr val="accent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0BF4A96B-AD17-048A-A243-272E79B975D6}"/>
              </a:ext>
            </a:extLst>
          </p:cNvPr>
          <p:cNvSpPr/>
          <p:nvPr/>
        </p:nvSpPr>
        <p:spPr>
          <a:xfrm>
            <a:off x="5786082" y="6515415"/>
            <a:ext cx="197224" cy="188258"/>
          </a:xfrm>
          <a:prstGeom prst="ellipse">
            <a:avLst/>
          </a:prstGeom>
          <a:solidFill>
            <a:srgbClr val="FF00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9" name="橢圓 18">
            <a:extLst>
              <a:ext uri="{FF2B5EF4-FFF2-40B4-BE49-F238E27FC236}">
                <a16:creationId xmlns:a16="http://schemas.microsoft.com/office/drawing/2014/main" id="{33BBB5E1-BCF9-EDD5-AA3F-439FAB75A0E1}"/>
              </a:ext>
            </a:extLst>
          </p:cNvPr>
          <p:cNvSpPr/>
          <p:nvPr/>
        </p:nvSpPr>
        <p:spPr>
          <a:xfrm>
            <a:off x="7349674" y="4855763"/>
            <a:ext cx="197224" cy="188258"/>
          </a:xfrm>
          <a:prstGeom prst="ellipse">
            <a:avLst/>
          </a:prstGeom>
          <a:solidFill>
            <a:schemeClr val="accent5"/>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78E2FEB5-5E43-3A0E-1351-1DD891734DC5}"/>
              </a:ext>
            </a:extLst>
          </p:cNvPr>
          <p:cNvSpPr/>
          <p:nvPr/>
        </p:nvSpPr>
        <p:spPr>
          <a:xfrm>
            <a:off x="5012713" y="3198356"/>
            <a:ext cx="197224" cy="188258"/>
          </a:xfrm>
          <a:prstGeom prst="ellipse">
            <a:avLst/>
          </a:prstGeom>
          <a:solidFill>
            <a:schemeClr val="accent6"/>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1" name="橢圓 20">
            <a:extLst>
              <a:ext uri="{FF2B5EF4-FFF2-40B4-BE49-F238E27FC236}">
                <a16:creationId xmlns:a16="http://schemas.microsoft.com/office/drawing/2014/main" id="{083C98BE-75DA-B07D-3C21-5A7D4CA54D68}"/>
              </a:ext>
            </a:extLst>
          </p:cNvPr>
          <p:cNvSpPr/>
          <p:nvPr/>
        </p:nvSpPr>
        <p:spPr>
          <a:xfrm>
            <a:off x="2654246" y="3153107"/>
            <a:ext cx="197224" cy="188258"/>
          </a:xfrm>
          <a:prstGeom prst="ellipse">
            <a:avLst/>
          </a:prstGeom>
          <a:solidFill>
            <a:schemeClr val="accent2"/>
          </a:solidFill>
          <a:ln>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2" name="橢圓 21">
            <a:extLst>
              <a:ext uri="{FF2B5EF4-FFF2-40B4-BE49-F238E27FC236}">
                <a16:creationId xmlns:a16="http://schemas.microsoft.com/office/drawing/2014/main" id="{BE4869D0-5E48-7F68-4A60-F212A9CE8F4E}"/>
              </a:ext>
            </a:extLst>
          </p:cNvPr>
          <p:cNvSpPr/>
          <p:nvPr/>
        </p:nvSpPr>
        <p:spPr>
          <a:xfrm>
            <a:off x="9721886" y="6508705"/>
            <a:ext cx="197224" cy="188258"/>
          </a:xfrm>
          <a:prstGeom prst="ellipse">
            <a:avLst/>
          </a:prstGeom>
          <a:solidFill>
            <a:schemeClr val="accent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0FB4932B-44B0-4959-09ED-7EC14B8F31B4}"/>
              </a:ext>
            </a:extLst>
          </p:cNvPr>
          <p:cNvSpPr/>
          <p:nvPr/>
        </p:nvSpPr>
        <p:spPr>
          <a:xfrm>
            <a:off x="132993" y="6000300"/>
            <a:ext cx="1901291" cy="646331"/>
          </a:xfrm>
          <a:prstGeom prst="rect">
            <a:avLst/>
          </a:prstGeom>
        </p:spPr>
        <p:txBody>
          <a:bodyPr wrap="square">
            <a:spAutoFit/>
          </a:bodyPr>
          <a:lstStyle/>
          <a:p>
            <a:r>
              <a:rPr lang="en-US" altLang="zh-TW" dirty="0">
                <a:solidFill>
                  <a:srgbClr val="000000"/>
                </a:solidFill>
                <a:latin typeface="Times New Roman" panose="02020603050405020304" pitchFamily="18" charset="0"/>
                <a:cs typeface="Times New Roman" panose="02020603050405020304" pitchFamily="18" charset="0"/>
              </a:rPr>
              <a:t>(a) An extended alignment DAG</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6952B6D0-72AA-B139-DCF4-D4D75BF9CEBE}"/>
              </a:ext>
            </a:extLst>
          </p:cNvPr>
          <p:cNvSpPr/>
          <p:nvPr/>
        </p:nvSpPr>
        <p:spPr>
          <a:xfrm>
            <a:off x="8210571" y="778195"/>
            <a:ext cx="3022630" cy="1200329"/>
          </a:xfrm>
          <a:prstGeom prst="rect">
            <a:avLst/>
          </a:prstGeom>
        </p:spPr>
        <p:txBody>
          <a:bodyPr wrap="square">
            <a:spAutoFit/>
          </a:bodyPr>
          <a:lstStyle/>
          <a:p>
            <a:pPr algn="just"/>
            <a:r>
              <a:rPr lang="en-US" altLang="zh-TW" dirty="0">
                <a:solidFill>
                  <a:srgbClr val="000000"/>
                </a:solidFill>
                <a:latin typeface="Times" pitchFamily="2" charset="0"/>
              </a:rPr>
              <a:t>By using </a:t>
            </a:r>
            <a:r>
              <a:rPr lang="en-US" altLang="zh-TW" dirty="0">
                <a:solidFill>
                  <a:srgbClr val="000000"/>
                </a:solidFill>
                <a:latin typeface="Times New Roman" panose="02020603050405020304" pitchFamily="18" charset="0"/>
                <a:cs typeface="Times New Roman" panose="02020603050405020304" pitchFamily="18" charset="0"/>
              </a:rPr>
              <a:t>the</a:t>
            </a:r>
            <a:r>
              <a:rPr lang="en-US" altLang="zh-TW" dirty="0">
                <a:solidFill>
                  <a:srgbClr val="000000"/>
                </a:solidFill>
                <a:latin typeface="Times" pitchFamily="2" charset="0"/>
              </a:rPr>
              <a:t> extended alignment DAG representation, the four path types</a:t>
            </a:r>
            <a:r>
              <a:rPr lang="en-US" altLang="zh-TW" dirty="0">
                <a:solidFill>
                  <a:srgbClr val="000051"/>
                </a:solidFill>
                <a:latin typeface="Times" pitchFamily="2" charset="0"/>
              </a:rPr>
              <a:t> </a:t>
            </a:r>
            <a:r>
              <a:rPr lang="en-US" altLang="zh-TW" dirty="0">
                <a:solidFill>
                  <a:srgbClr val="000000"/>
                </a:solidFill>
                <a:latin typeface="Times" pitchFamily="2" charset="0"/>
              </a:rPr>
              <a:t>can be reduced to a single type.</a:t>
            </a:r>
            <a:endParaRPr lang="en-US" altLang="zh-TW" dirty="0">
              <a:solidFill>
                <a:srgbClr val="000000"/>
              </a:solidFill>
              <a:effectLst/>
              <a:latin typeface="Times" pitchFamily="2" charset="0"/>
            </a:endParaRPr>
          </a:p>
        </p:txBody>
      </p:sp>
    </p:spTree>
    <p:extLst>
      <p:ext uri="{BB962C8B-B14F-4D97-AF65-F5344CB8AC3E}">
        <p14:creationId xmlns:p14="http://schemas.microsoft.com/office/powerpoint/2010/main" val="2351219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lang="en-US" altLang="zh-TW" dirty="0"/>
              <a:t>Extended Highest-Score Matrix</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pic>
        <p:nvPicPr>
          <p:cNvPr id="7" name="圖片 6">
            <a:extLst>
              <a:ext uri="{FF2B5EF4-FFF2-40B4-BE49-F238E27FC236}">
                <a16:creationId xmlns:a16="http://schemas.microsoft.com/office/drawing/2014/main" id="{9B7BDE3A-187A-A359-FE13-C6C39CC2EF37}"/>
              </a:ext>
            </a:extLst>
          </p:cNvPr>
          <p:cNvPicPr>
            <a:picLocks noChangeAspect="1"/>
          </p:cNvPicPr>
          <p:nvPr/>
        </p:nvPicPr>
        <p:blipFill>
          <a:blip r:embed="rId2"/>
          <a:stretch>
            <a:fillRect/>
          </a:stretch>
        </p:blipFill>
        <p:spPr>
          <a:xfrm>
            <a:off x="838200" y="1602711"/>
            <a:ext cx="6426200" cy="1993900"/>
          </a:xfrm>
          <a:prstGeom prst="rect">
            <a:avLst/>
          </a:prstGeom>
        </p:spPr>
      </p:pic>
      <p:pic>
        <p:nvPicPr>
          <p:cNvPr id="8" name="圖片 7">
            <a:extLst>
              <a:ext uri="{FF2B5EF4-FFF2-40B4-BE49-F238E27FC236}">
                <a16:creationId xmlns:a16="http://schemas.microsoft.com/office/drawing/2014/main" id="{8C0C66D7-11AF-9355-EF35-12881A8E291C}"/>
              </a:ext>
            </a:extLst>
          </p:cNvPr>
          <p:cNvPicPr>
            <a:picLocks noChangeAspect="1"/>
          </p:cNvPicPr>
          <p:nvPr/>
        </p:nvPicPr>
        <p:blipFill>
          <a:blip r:embed="rId3"/>
          <a:stretch>
            <a:fillRect/>
          </a:stretch>
        </p:blipFill>
        <p:spPr>
          <a:xfrm>
            <a:off x="838200" y="3981450"/>
            <a:ext cx="6515100" cy="2095500"/>
          </a:xfrm>
          <a:prstGeom prst="rect">
            <a:avLst/>
          </a:prstGeom>
        </p:spPr>
      </p:pic>
      <p:sp>
        <p:nvSpPr>
          <p:cNvPr id="11" name="矩形 10">
            <a:extLst>
              <a:ext uri="{FF2B5EF4-FFF2-40B4-BE49-F238E27FC236}">
                <a16:creationId xmlns:a16="http://schemas.microsoft.com/office/drawing/2014/main" id="{61A864C7-7242-0886-1FE5-8FD077C73795}"/>
              </a:ext>
            </a:extLst>
          </p:cNvPr>
          <p:cNvSpPr/>
          <p:nvPr/>
        </p:nvSpPr>
        <p:spPr>
          <a:xfrm>
            <a:off x="7575697" y="2378296"/>
            <a:ext cx="4616303" cy="3046988"/>
          </a:xfrm>
          <a:prstGeom prst="rect">
            <a:avLst/>
          </a:prstGeom>
        </p:spPr>
        <p:txBody>
          <a:bodyPr wrap="square">
            <a:spAutoFit/>
          </a:bodyPr>
          <a:lstStyle/>
          <a:p>
            <a:r>
              <a:rPr lang="en-US" altLang="zh-TW" sz="1200" b="1" dirty="0">
                <a:solidFill>
                  <a:srgbClr val="000000"/>
                </a:solidFill>
                <a:latin typeface="Menlo" panose="020B0609030804020204" pitchFamily="49" charset="0"/>
              </a:rPr>
              <a:t>Highest-Score Matrix :</a:t>
            </a:r>
            <a:endParaRPr lang="en-US" altLang="zh-TW" sz="1200" dirty="0">
              <a:solidFill>
                <a:srgbClr val="000000"/>
              </a:solidFill>
              <a:latin typeface="Menlo" panose="020B0609030804020204" pitchFamily="49" charset="0"/>
            </a:endParaRPr>
          </a:p>
          <a:p>
            <a:r>
              <a:rPr lang="en-US" altLang="zh-TW" sz="1200" b="1" dirty="0" err="1">
                <a:solidFill>
                  <a:srgbClr val="000000"/>
                </a:solidFill>
                <a:latin typeface="Menlo" panose="020B0609030804020204" pitchFamily="49" charset="0"/>
              </a:rPr>
              <a:t>i</a:t>
            </a:r>
            <a:r>
              <a:rPr lang="en-US" altLang="zh-TW" sz="1200" b="1" dirty="0">
                <a:solidFill>
                  <a:srgbClr val="000000"/>
                </a:solidFill>
                <a:latin typeface="Menlo" panose="020B0609030804020204" pitchFamily="49" charset="0"/>
              </a:rPr>
              <a:t>\j 0  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0  0  1  2  3  4  5  6  6  7  8  8  8  8  8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  0  0  1  2  3  4  5  5  6  7  7  7  7  7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2  </a:t>
            </a:r>
            <a:r>
              <a:rPr lang="en-US" altLang="zh-TW" sz="1200" b="1" dirty="0">
                <a:solidFill>
                  <a:schemeClr val="accent6"/>
                </a:solidFill>
                <a:latin typeface="Menlo" panose="020B0609030804020204" pitchFamily="49" charset="0"/>
              </a:rPr>
              <a:t>0  0  0  1  2  3  4  4  5  6  6  </a:t>
            </a:r>
            <a:r>
              <a:rPr lang="en-US" altLang="zh-TW" sz="1200" b="1" dirty="0">
                <a:solidFill>
                  <a:schemeClr val="accent2"/>
                </a:solidFill>
                <a:latin typeface="Menlo" panose="020B0609030804020204" pitchFamily="49" charset="0"/>
              </a:rPr>
              <a:t>6  6  7 </a:t>
            </a:r>
            <a:endParaRPr lang="en-US" altLang="zh-TW" sz="1200" dirty="0">
              <a:solidFill>
                <a:schemeClr val="accent2"/>
              </a:solidFill>
              <a:latin typeface="Menlo" panose="020B0609030804020204" pitchFamily="49" charset="0"/>
            </a:endParaRPr>
          </a:p>
          <a:p>
            <a:r>
              <a:rPr lang="en-US" altLang="zh-TW" sz="1200" b="1" dirty="0">
                <a:solidFill>
                  <a:schemeClr val="accent6"/>
                </a:solidFill>
                <a:latin typeface="Menlo" panose="020B0609030804020204" pitchFamily="49" charset="0"/>
              </a:rPr>
              <a:t> </a:t>
            </a:r>
            <a:r>
              <a:rPr lang="en-US" altLang="zh-TW" sz="1200" b="1" dirty="0">
                <a:latin typeface="Menlo" panose="020B0609030804020204" pitchFamily="49" charset="0"/>
              </a:rPr>
              <a:t>3</a:t>
            </a:r>
            <a:r>
              <a:rPr lang="en-US" altLang="zh-TW" sz="1200" b="1" dirty="0">
                <a:solidFill>
                  <a:schemeClr val="accent6"/>
                </a:solidFill>
                <a:latin typeface="Menlo" panose="020B0609030804020204" pitchFamily="49" charset="0"/>
              </a:rPr>
              <a:t>  0  0  0  0  1  2  3  3  4  5  5  </a:t>
            </a:r>
            <a:r>
              <a:rPr lang="en-US" altLang="zh-TW" sz="1200" b="1" dirty="0">
                <a:solidFill>
                  <a:schemeClr val="accent2"/>
                </a:solidFill>
                <a:latin typeface="Menlo" panose="020B0609030804020204" pitchFamily="49" charset="0"/>
              </a:rPr>
              <a:t>6  6  7 </a:t>
            </a:r>
          </a:p>
          <a:p>
            <a:r>
              <a:rPr lang="en-US" altLang="zh-TW" sz="1200" b="1" dirty="0">
                <a:solidFill>
                  <a:srgbClr val="000000"/>
                </a:solidFill>
                <a:latin typeface="Menlo" panose="020B0609030804020204" pitchFamily="49" charset="0"/>
              </a:rPr>
              <a:t> </a:t>
            </a:r>
            <a:r>
              <a:rPr lang="en-US" altLang="zh-TW" sz="1200" b="1" dirty="0">
                <a:latin typeface="Menlo" panose="020B0609030804020204" pitchFamily="49" charset="0"/>
              </a:rPr>
              <a:t>4 </a:t>
            </a:r>
            <a:r>
              <a:rPr lang="en-US" altLang="zh-TW" sz="1200" b="1" dirty="0">
                <a:solidFill>
                  <a:schemeClr val="accent6"/>
                </a:solidFill>
                <a:latin typeface="Menlo" panose="020B0609030804020204" pitchFamily="49" charset="0"/>
              </a:rPr>
              <a:t> </a:t>
            </a:r>
            <a:r>
              <a:rPr lang="en-US" altLang="zh-TW" sz="1200" b="1" dirty="0">
                <a:latin typeface="Menlo" panose="020B0609030804020204" pitchFamily="49" charset="0"/>
              </a:rPr>
              <a:t>0  0  0  0  0  1  2  2  3  4  4  5  5  6 </a:t>
            </a:r>
            <a:endParaRPr lang="en-US" altLang="zh-TW" sz="1200" dirty="0">
              <a:latin typeface="Menlo" panose="020B0609030804020204" pitchFamily="49" charset="0"/>
            </a:endParaRPr>
          </a:p>
          <a:p>
            <a:r>
              <a:rPr lang="en-US" altLang="zh-TW" sz="1200" b="1" dirty="0">
                <a:solidFill>
                  <a:srgbClr val="000000"/>
                </a:solidFill>
                <a:latin typeface="Menlo" panose="020B0609030804020204" pitchFamily="49" charset="0"/>
              </a:rPr>
              <a:t> 5  0  0  0  0  0  0  1  2  3  4  </a:t>
            </a:r>
            <a:r>
              <a:rPr lang="en-US" altLang="zh-TW" sz="1200" b="1" dirty="0">
                <a:solidFill>
                  <a:srgbClr val="FF0000"/>
                </a:solidFill>
                <a:latin typeface="Menlo" panose="020B0609030804020204" pitchFamily="49" charset="0"/>
              </a:rPr>
              <a:t>4  5</a:t>
            </a:r>
            <a:r>
              <a:rPr lang="en-US" altLang="zh-TW" sz="1200" b="1" dirty="0">
                <a:solidFill>
                  <a:srgbClr val="000000"/>
                </a:solidFill>
                <a:latin typeface="Menlo" panose="020B0609030804020204" pitchFamily="49" charset="0"/>
              </a:rPr>
              <a:t>  5  6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6  0  0  0  0  0  0  0  1  2  3  </a:t>
            </a:r>
            <a:r>
              <a:rPr lang="en-US" altLang="zh-TW" sz="1200" b="1" dirty="0">
                <a:solidFill>
                  <a:srgbClr val="FF0000"/>
                </a:solidFill>
                <a:latin typeface="Menlo" panose="020B0609030804020204" pitchFamily="49" charset="0"/>
              </a:rPr>
              <a:t>3  4  </a:t>
            </a:r>
            <a:r>
              <a:rPr lang="en-US" altLang="zh-TW" sz="1200" b="1" dirty="0">
                <a:solidFill>
                  <a:srgbClr val="000000"/>
                </a:solidFill>
                <a:latin typeface="Menlo" panose="020B0609030804020204" pitchFamily="49" charset="0"/>
              </a:rPr>
              <a:t>4  5 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7  0  0  0  0  0  0  0  0  1  2  2  3  3  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8  0  0  0  0  0  0  0  0  0  1  2  3  3  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9  0  0  0  0  0  0  0  0  0  0  1  2  3  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10  0  0  0  0  0  0  0  0  0  0  0  1  2  3 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11  0  0  0  0  0  0  0  0  0  0  0  0  1  2 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12  0  0  0  0  0  0  0  0  0  0  0  0  0  1 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13  0  0  0  0  0  0  0  0  0  0  0  0  0  0</a:t>
            </a:r>
            <a:endParaRPr lang="en-US" altLang="zh-TW" sz="1200" dirty="0">
              <a:solidFill>
                <a:srgbClr val="000000"/>
              </a:solidFill>
              <a:latin typeface="Menlo" panose="020B0609030804020204" pitchFamily="49" charset="0"/>
            </a:endParaRPr>
          </a:p>
        </p:txBody>
      </p:sp>
      <p:sp>
        <p:nvSpPr>
          <p:cNvPr id="12" name="矩形 11">
            <a:extLst>
              <a:ext uri="{FF2B5EF4-FFF2-40B4-BE49-F238E27FC236}">
                <a16:creationId xmlns:a16="http://schemas.microsoft.com/office/drawing/2014/main" id="{61E4B943-65EF-F9A0-4430-9F538681E326}"/>
              </a:ext>
            </a:extLst>
          </p:cNvPr>
          <p:cNvSpPr/>
          <p:nvPr/>
        </p:nvSpPr>
        <p:spPr>
          <a:xfrm>
            <a:off x="7575697" y="1602711"/>
            <a:ext cx="2353340" cy="584775"/>
          </a:xfrm>
          <a:prstGeom prst="rect">
            <a:avLst/>
          </a:prstGeom>
        </p:spPr>
        <p:txBody>
          <a:bodyPr wrap="square">
            <a:spAutoFit/>
          </a:bodyPr>
          <a:lstStyle/>
          <a:p>
            <a:r>
              <a:rPr lang="en-US" altLang="zh-TW" sz="1600" b="1" dirty="0">
                <a:solidFill>
                  <a:srgbClr val="000000"/>
                </a:solidFill>
                <a:latin typeface="Menlo" panose="020B0609030804020204" pitchFamily="49" charset="0"/>
              </a:rPr>
              <a:t>A : </a:t>
            </a:r>
            <a:r>
              <a:rPr lang="en-US" altLang="zh-TW" sz="1600" b="1" dirty="0" err="1">
                <a:solidFill>
                  <a:srgbClr val="000000"/>
                </a:solidFill>
                <a:latin typeface="Menlo" panose="020B0609030804020204" pitchFamily="49" charset="0"/>
              </a:rPr>
              <a:t>baabcbca</a:t>
            </a:r>
            <a:endParaRPr lang="en-US" altLang="zh-TW" sz="1600" dirty="0">
              <a:solidFill>
                <a:srgbClr val="000000"/>
              </a:solidFill>
              <a:latin typeface="Menlo" panose="020B0609030804020204" pitchFamily="49" charset="0"/>
            </a:endParaRPr>
          </a:p>
          <a:p>
            <a:r>
              <a:rPr lang="en-US" altLang="zh-TW" sz="1600" b="1" dirty="0">
                <a:solidFill>
                  <a:srgbClr val="000000"/>
                </a:solidFill>
                <a:latin typeface="Menlo" panose="020B0609030804020204" pitchFamily="49" charset="0"/>
              </a:rPr>
              <a:t>B : </a:t>
            </a:r>
            <a:r>
              <a:rPr lang="en-US" altLang="zh-TW" sz="1600" b="1" dirty="0" err="1">
                <a:solidFill>
                  <a:srgbClr val="000000"/>
                </a:solidFill>
                <a:latin typeface="Menlo" panose="020B0609030804020204" pitchFamily="49" charset="0"/>
              </a:rPr>
              <a:t>baabcabcabaca</a:t>
            </a:r>
            <a:endParaRPr lang="en-US" altLang="zh-TW" sz="1600" dirty="0">
              <a:solidFill>
                <a:srgbClr val="000000"/>
              </a:solidFill>
              <a:latin typeface="Menlo" panose="020B0609030804020204" pitchFamily="49" charset="0"/>
            </a:endParaRPr>
          </a:p>
        </p:txBody>
      </p:sp>
      <p:sp>
        <p:nvSpPr>
          <p:cNvPr id="13" name="橢圓 12">
            <a:extLst>
              <a:ext uri="{FF2B5EF4-FFF2-40B4-BE49-F238E27FC236}">
                <a16:creationId xmlns:a16="http://schemas.microsoft.com/office/drawing/2014/main" id="{8B3252B4-1477-652B-6366-0E7DA20DF449}"/>
              </a:ext>
            </a:extLst>
          </p:cNvPr>
          <p:cNvSpPr/>
          <p:nvPr/>
        </p:nvSpPr>
        <p:spPr>
          <a:xfrm>
            <a:off x="1201478" y="4572001"/>
            <a:ext cx="170121" cy="170121"/>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橢圓 13">
            <a:extLst>
              <a:ext uri="{FF2B5EF4-FFF2-40B4-BE49-F238E27FC236}">
                <a16:creationId xmlns:a16="http://schemas.microsoft.com/office/drawing/2014/main" id="{F7D2309C-2D3C-4440-5F15-B0273073562C}"/>
              </a:ext>
            </a:extLst>
          </p:cNvPr>
          <p:cNvSpPr/>
          <p:nvPr/>
        </p:nvSpPr>
        <p:spPr>
          <a:xfrm>
            <a:off x="1201477" y="5022112"/>
            <a:ext cx="170121" cy="17012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文字方塊 14">
            <a:extLst>
              <a:ext uri="{FF2B5EF4-FFF2-40B4-BE49-F238E27FC236}">
                <a16:creationId xmlns:a16="http://schemas.microsoft.com/office/drawing/2014/main" id="{C3005865-F972-06B1-F6BE-1A4BE75B94F6}"/>
              </a:ext>
            </a:extLst>
          </p:cNvPr>
          <p:cNvSpPr txBox="1"/>
          <p:nvPr/>
        </p:nvSpPr>
        <p:spPr>
          <a:xfrm>
            <a:off x="3306726" y="2075527"/>
            <a:ext cx="915635" cy="369332"/>
          </a:xfrm>
          <a:prstGeom prst="rect">
            <a:avLst/>
          </a:prstGeom>
          <a:noFill/>
        </p:spPr>
        <p:txBody>
          <a:bodyPr wrap="none" rtlCol="0">
            <a:spAutoFit/>
          </a:bodyPr>
          <a:lstStyle/>
          <a:p>
            <a:r>
              <a:rPr kumimoji="1" lang="zh-TW" altLang="en-US" dirty="0">
                <a:solidFill>
                  <a:srgbClr val="FF0000"/>
                </a:solidFill>
              </a:rPr>
              <a:t>下</a:t>
            </a:r>
            <a:r>
              <a:rPr kumimoji="1" lang="en-US" altLang="zh-TW" dirty="0">
                <a:solidFill>
                  <a:srgbClr val="FF0000"/>
                </a:solidFill>
              </a:rPr>
              <a:t> ≤ </a:t>
            </a:r>
            <a:r>
              <a:rPr kumimoji="1" lang="zh-TW" altLang="en-US" dirty="0">
                <a:solidFill>
                  <a:srgbClr val="FF0000"/>
                </a:solidFill>
              </a:rPr>
              <a:t>上</a:t>
            </a:r>
          </a:p>
        </p:txBody>
      </p:sp>
      <p:sp>
        <p:nvSpPr>
          <p:cNvPr id="16" name="文字方塊 15">
            <a:extLst>
              <a:ext uri="{FF2B5EF4-FFF2-40B4-BE49-F238E27FC236}">
                <a16:creationId xmlns:a16="http://schemas.microsoft.com/office/drawing/2014/main" id="{B1175E9E-EBD9-FF36-A7BA-68689A369A72}"/>
              </a:ext>
            </a:extLst>
          </p:cNvPr>
          <p:cNvSpPr txBox="1"/>
          <p:nvPr/>
        </p:nvSpPr>
        <p:spPr>
          <a:xfrm>
            <a:off x="3306726" y="2414995"/>
            <a:ext cx="915635" cy="369332"/>
          </a:xfrm>
          <a:prstGeom prst="rect">
            <a:avLst/>
          </a:prstGeom>
          <a:noFill/>
        </p:spPr>
        <p:txBody>
          <a:bodyPr wrap="none" rtlCol="0">
            <a:spAutoFit/>
          </a:bodyPr>
          <a:lstStyle/>
          <a:p>
            <a:r>
              <a:rPr kumimoji="1" lang="zh-TW" altLang="en-US" dirty="0">
                <a:solidFill>
                  <a:srgbClr val="FF0000"/>
                </a:solidFill>
              </a:rPr>
              <a:t>左</a:t>
            </a:r>
            <a:r>
              <a:rPr kumimoji="1" lang="en-US" altLang="zh-TW" dirty="0">
                <a:solidFill>
                  <a:srgbClr val="FF0000"/>
                </a:solidFill>
              </a:rPr>
              <a:t> ≤ </a:t>
            </a:r>
            <a:r>
              <a:rPr kumimoji="1" lang="zh-TW" altLang="en-US" dirty="0">
                <a:solidFill>
                  <a:srgbClr val="FF0000"/>
                </a:solidFill>
              </a:rPr>
              <a:t>右</a:t>
            </a:r>
          </a:p>
        </p:txBody>
      </p:sp>
      <p:sp>
        <p:nvSpPr>
          <p:cNvPr id="17" name="橢圓 16">
            <a:extLst>
              <a:ext uri="{FF2B5EF4-FFF2-40B4-BE49-F238E27FC236}">
                <a16:creationId xmlns:a16="http://schemas.microsoft.com/office/drawing/2014/main" id="{0CF3F491-89F1-8EA7-C32A-D0A8434D8C1E}"/>
              </a:ext>
            </a:extLst>
          </p:cNvPr>
          <p:cNvSpPr/>
          <p:nvPr/>
        </p:nvSpPr>
        <p:spPr>
          <a:xfrm>
            <a:off x="1201477" y="2926612"/>
            <a:ext cx="170121" cy="17012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E8A3CF52-3573-8C1D-4AB7-8BCF83879A23}"/>
              </a:ext>
            </a:extLst>
          </p:cNvPr>
          <p:cNvSpPr/>
          <p:nvPr/>
        </p:nvSpPr>
        <p:spPr>
          <a:xfrm>
            <a:off x="10744200" y="3119593"/>
            <a:ext cx="452494" cy="412277"/>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915530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Critical Point (1/2)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pic>
        <p:nvPicPr>
          <p:cNvPr id="5" name="圖片 4">
            <a:extLst>
              <a:ext uri="{FF2B5EF4-FFF2-40B4-BE49-F238E27FC236}">
                <a16:creationId xmlns:a16="http://schemas.microsoft.com/office/drawing/2014/main" id="{B07700BB-23DE-AD1C-7DB5-FCC96FA2EECF}"/>
              </a:ext>
            </a:extLst>
          </p:cNvPr>
          <p:cNvPicPr>
            <a:picLocks noChangeAspect="1"/>
          </p:cNvPicPr>
          <p:nvPr/>
        </p:nvPicPr>
        <p:blipFill>
          <a:blip r:embed="rId2"/>
          <a:stretch>
            <a:fillRect/>
          </a:stretch>
        </p:blipFill>
        <p:spPr>
          <a:xfrm>
            <a:off x="755329" y="1817188"/>
            <a:ext cx="6417554" cy="4721724"/>
          </a:xfrm>
          <a:prstGeom prst="rect">
            <a:avLst/>
          </a:prstGeom>
        </p:spPr>
      </p:pic>
      <p:sp>
        <p:nvSpPr>
          <p:cNvPr id="8" name="矩形 7">
            <a:extLst>
              <a:ext uri="{FF2B5EF4-FFF2-40B4-BE49-F238E27FC236}">
                <a16:creationId xmlns:a16="http://schemas.microsoft.com/office/drawing/2014/main" id="{23D78A78-4F4D-9D0B-FEEC-33972189C9B6}"/>
              </a:ext>
            </a:extLst>
          </p:cNvPr>
          <p:cNvSpPr/>
          <p:nvPr/>
        </p:nvSpPr>
        <p:spPr>
          <a:xfrm>
            <a:off x="7172882" y="3013382"/>
            <a:ext cx="4458587" cy="3046988"/>
          </a:xfrm>
          <a:prstGeom prst="rect">
            <a:avLst/>
          </a:prstGeom>
        </p:spPr>
        <p:txBody>
          <a:bodyPr wrap="square">
            <a:spAutoFit/>
          </a:bodyPr>
          <a:lstStyle/>
          <a:p>
            <a:r>
              <a:rPr lang="en-US" altLang="zh-TW" sz="1200" b="1" dirty="0">
                <a:solidFill>
                  <a:srgbClr val="000000"/>
                </a:solidFill>
                <a:latin typeface="Menlo" panose="020B0609030804020204" pitchFamily="49" charset="0"/>
              </a:rPr>
              <a:t>Density Matrix (D) :</a:t>
            </a:r>
            <a:r>
              <a:rPr lang="zh-TW" altLang="en-US" sz="1200" b="1" dirty="0">
                <a:solidFill>
                  <a:srgbClr val="000000"/>
                </a:solidFill>
                <a:latin typeface="Menlo" panose="020B0609030804020204" pitchFamily="49" charset="0"/>
              </a:rPr>
              <a:t> （</a:t>
            </a:r>
            <a:r>
              <a:rPr lang="zh-TW" altLang="en-US" sz="1200" b="1" dirty="0">
                <a:solidFill>
                  <a:schemeClr val="accent5"/>
                </a:solidFill>
                <a:latin typeface="Menlo" panose="020B0609030804020204" pitchFamily="49" charset="0"/>
              </a:rPr>
              <a:t>對角和</a:t>
            </a:r>
            <a:r>
              <a:rPr lang="en-US" altLang="zh-TW" sz="1200" b="1" dirty="0">
                <a:solidFill>
                  <a:schemeClr val="accent5"/>
                </a:solidFill>
                <a:latin typeface="Menlo" panose="020B0609030804020204" pitchFamily="49" charset="0"/>
              </a:rPr>
              <a:t>-</a:t>
            </a:r>
            <a:r>
              <a:rPr lang="zh-TW" altLang="en-US" sz="1200" b="1" dirty="0">
                <a:solidFill>
                  <a:schemeClr val="accent5"/>
                </a:solidFill>
                <a:latin typeface="Menlo" panose="020B0609030804020204" pitchFamily="49" charset="0"/>
              </a:rPr>
              <a:t>反對角和</a:t>
            </a:r>
            <a:r>
              <a:rPr lang="zh-TW" altLang="en-US" sz="1200" b="1" dirty="0">
                <a:solidFill>
                  <a:srgbClr val="000000"/>
                </a:solidFill>
                <a:latin typeface="Menlo" panose="020B0609030804020204" pitchFamily="49" charset="0"/>
              </a:rPr>
              <a:t>）</a:t>
            </a:r>
            <a:endParaRPr lang="en-US" altLang="zh-TW" sz="1200" dirty="0">
              <a:solidFill>
                <a:srgbClr val="000000"/>
              </a:solidFill>
              <a:latin typeface="Menlo" panose="020B0609030804020204" pitchFamily="49" charset="0"/>
            </a:endParaRPr>
          </a:p>
          <a:p>
            <a:r>
              <a:rPr lang="en-US" altLang="zh-TW" sz="1200" b="1" dirty="0" err="1">
                <a:solidFill>
                  <a:srgbClr val="000000"/>
                </a:solidFill>
                <a:latin typeface="Menlo" panose="020B0609030804020204" pitchFamily="49" charset="0"/>
              </a:rPr>
              <a:t>i</a:t>
            </a:r>
            <a:r>
              <a:rPr lang="en-US" altLang="zh-TW" sz="1200" b="1" dirty="0">
                <a:solidFill>
                  <a:srgbClr val="000000"/>
                </a:solidFill>
                <a:latin typeface="Menlo" panose="020B0609030804020204" pitchFamily="49" charset="0"/>
              </a:rPr>
              <a:t>\k 0  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0  0  1  2  3  4  5  6  6  7  8  8  8  8  8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  0  ∞  0  0  0  0  0  0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2  0  0  ∞  0  0  0  0  0  0  0  0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3  0  0  0  ∞  0  0  0  0  0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4  0  0  0  0  ∞  0  0  0  0  0  0 </a:t>
            </a:r>
            <a:r>
              <a:rPr lang="en-US" altLang="zh-TW" sz="1200" b="1" dirty="0">
                <a:solidFill>
                  <a:schemeClr val="accent6"/>
                </a:solidFill>
                <a:highlight>
                  <a:srgbClr val="FFFF00"/>
                </a:highlight>
                <a:latin typeface="Menlo" panose="020B0609030804020204" pitchFamily="49" charset="0"/>
              </a:rPr>
              <a:t> 0</a:t>
            </a:r>
            <a:r>
              <a:rPr lang="en-US" altLang="zh-TW" sz="1200" b="1" dirty="0">
                <a:solidFill>
                  <a:schemeClr val="accent6"/>
                </a:solidFill>
                <a:latin typeface="Menlo" panose="020B0609030804020204" pitchFamily="49" charset="0"/>
              </a:rPr>
              <a:t>  </a:t>
            </a:r>
            <a:r>
              <a:rPr lang="en-US" altLang="zh-TW" sz="1200" b="1" dirty="0">
                <a:solidFill>
                  <a:srgbClr val="000000"/>
                </a:solidFill>
                <a:latin typeface="Menlo" panose="020B0609030804020204" pitchFamily="49" charset="0"/>
              </a:rPr>
              <a:t>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5  0  0  0  0  0  ∞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6  0  0  0  0  0  0  ∞  0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7  0  0  0  0  0  0  0  ∞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8  0  0  0  0  0  0  0  0  ∞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9  0  0  0  0  0  0  0  0  0  ∞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10  0  0  0  0  0  0  0  0  0  0  ∞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11  0  0  0  0  0  0  0  0  0  0  0  ∞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12  0  0  0  0  0  0  0  0  0  0  0  0  ∞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13  0  0  0  0  0  0  0  0  0  0  0  0  0  ∞ </a:t>
            </a:r>
            <a:endParaRPr lang="en-US" altLang="zh-TW" sz="1200" dirty="0">
              <a:solidFill>
                <a:srgbClr val="000000"/>
              </a:solidFill>
              <a:latin typeface="Menlo" panose="020B0609030804020204" pitchFamily="49" charset="0"/>
            </a:endParaRPr>
          </a:p>
        </p:txBody>
      </p:sp>
      <p:sp>
        <p:nvSpPr>
          <p:cNvPr id="9" name="矩形 8">
            <a:extLst>
              <a:ext uri="{FF2B5EF4-FFF2-40B4-BE49-F238E27FC236}">
                <a16:creationId xmlns:a16="http://schemas.microsoft.com/office/drawing/2014/main" id="{1FF09BDF-6708-2BDE-B55D-231F2947D5A1}"/>
              </a:ext>
            </a:extLst>
          </p:cNvPr>
          <p:cNvSpPr/>
          <p:nvPr/>
        </p:nvSpPr>
        <p:spPr>
          <a:xfrm>
            <a:off x="7172883" y="47953"/>
            <a:ext cx="4458587" cy="3046988"/>
          </a:xfrm>
          <a:prstGeom prst="rect">
            <a:avLst/>
          </a:prstGeom>
        </p:spPr>
        <p:txBody>
          <a:bodyPr wrap="square">
            <a:spAutoFit/>
          </a:bodyPr>
          <a:lstStyle/>
          <a:p>
            <a:r>
              <a:rPr lang="en-US" altLang="zh-TW" sz="1200" b="1" dirty="0">
                <a:solidFill>
                  <a:srgbClr val="000000"/>
                </a:solidFill>
                <a:latin typeface="Menlo" panose="020B0609030804020204" pitchFamily="49" charset="0"/>
              </a:rPr>
              <a:t>Highest-Score Matrix (A):</a:t>
            </a:r>
            <a:endParaRPr lang="en-US" altLang="zh-TW" sz="1200" dirty="0">
              <a:solidFill>
                <a:srgbClr val="000000"/>
              </a:solidFill>
              <a:latin typeface="Menlo" panose="020B0609030804020204" pitchFamily="49" charset="0"/>
            </a:endParaRPr>
          </a:p>
          <a:p>
            <a:r>
              <a:rPr lang="en-US" altLang="zh-TW" sz="1200" b="1" dirty="0" err="1">
                <a:solidFill>
                  <a:srgbClr val="000000"/>
                </a:solidFill>
                <a:latin typeface="Menlo" panose="020B0609030804020204" pitchFamily="49" charset="0"/>
              </a:rPr>
              <a:t>i</a:t>
            </a:r>
            <a:r>
              <a:rPr lang="en-US" altLang="zh-TW" sz="1200" b="1" dirty="0">
                <a:solidFill>
                  <a:srgbClr val="000000"/>
                </a:solidFill>
                <a:latin typeface="Menlo" panose="020B0609030804020204" pitchFamily="49" charset="0"/>
              </a:rPr>
              <a:t>\j 0  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0  0  1  2  3  4  5  6  6  7  8  8  8  8  8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  0  0  1  2  3  4  5  5  6  7  7  7  </a:t>
            </a:r>
            <a:r>
              <a:rPr lang="en-US" altLang="zh-TW" sz="1200" b="1" dirty="0">
                <a:solidFill>
                  <a:srgbClr val="FF0000"/>
                </a:solidFill>
                <a:latin typeface="Menlo" panose="020B0609030804020204" pitchFamily="49" charset="0"/>
              </a:rPr>
              <a:t>7  7</a:t>
            </a:r>
            <a:r>
              <a:rPr lang="en-US" altLang="zh-TW" sz="1200" b="1" dirty="0">
                <a:solidFill>
                  <a:srgbClr val="000000"/>
                </a:solidFill>
                <a:latin typeface="Menlo" panose="020B0609030804020204" pitchFamily="49" charset="0"/>
              </a:rPr>
              <a:t>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2  0  0  0  1  2  3  4  4  5  6  </a:t>
            </a:r>
            <a:r>
              <a:rPr lang="en-US" altLang="zh-TW" sz="1200" b="1" dirty="0">
                <a:solidFill>
                  <a:srgbClr val="FF0000"/>
                </a:solidFill>
                <a:latin typeface="Menlo" panose="020B0609030804020204" pitchFamily="49" charset="0"/>
              </a:rPr>
              <a:t>6  6</a:t>
            </a:r>
            <a:r>
              <a:rPr lang="en-US" altLang="zh-TW" sz="1200" b="1" dirty="0">
                <a:solidFill>
                  <a:srgbClr val="000000"/>
                </a:solidFill>
                <a:latin typeface="Menlo" panose="020B0609030804020204" pitchFamily="49" charset="0"/>
              </a:rPr>
              <a:t>  </a:t>
            </a:r>
            <a:r>
              <a:rPr lang="en-US" altLang="zh-TW" sz="1200" b="1" dirty="0">
                <a:solidFill>
                  <a:srgbClr val="FF0000"/>
                </a:solidFill>
                <a:latin typeface="Menlo" panose="020B0609030804020204" pitchFamily="49" charset="0"/>
              </a:rPr>
              <a:t>6  7</a:t>
            </a:r>
            <a:r>
              <a:rPr lang="en-US" altLang="zh-TW" sz="1200" b="1" dirty="0">
                <a:solidFill>
                  <a:srgbClr val="000000"/>
                </a:solidFill>
                <a:latin typeface="Menlo" panose="020B0609030804020204" pitchFamily="49" charset="0"/>
              </a:rPr>
              <a:t>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3  0  0  0  0  1  2  3  3  4  5  </a:t>
            </a:r>
            <a:r>
              <a:rPr lang="en-US" altLang="zh-TW" sz="1200" b="1" dirty="0">
                <a:solidFill>
                  <a:srgbClr val="FF0000"/>
                </a:solidFill>
                <a:latin typeface="Menlo" panose="020B0609030804020204" pitchFamily="49" charset="0"/>
              </a:rPr>
              <a:t>5  6  </a:t>
            </a:r>
            <a:r>
              <a:rPr lang="en-US" altLang="zh-TW" sz="1200" b="1" dirty="0">
                <a:solidFill>
                  <a:srgbClr val="000000"/>
                </a:solidFill>
                <a:latin typeface="Menlo" panose="020B0609030804020204" pitchFamily="49" charset="0"/>
              </a:rPr>
              <a:t>6  7 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4  0  0  0  0  0  1  </a:t>
            </a:r>
            <a:r>
              <a:rPr lang="en-US" altLang="zh-TW" sz="1200" b="1" dirty="0">
                <a:solidFill>
                  <a:srgbClr val="FF0000"/>
                </a:solidFill>
                <a:latin typeface="Menlo" panose="020B0609030804020204" pitchFamily="49" charset="0"/>
              </a:rPr>
              <a:t>2  2  </a:t>
            </a:r>
            <a:r>
              <a:rPr lang="en-US" altLang="zh-TW" sz="1200" b="1" dirty="0">
                <a:solidFill>
                  <a:srgbClr val="000000"/>
                </a:solidFill>
                <a:latin typeface="Menlo" panose="020B0609030804020204" pitchFamily="49" charset="0"/>
              </a:rPr>
              <a:t>3  4  4 </a:t>
            </a:r>
            <a:r>
              <a:rPr lang="en-US" altLang="zh-TW" sz="1200" b="1" dirty="0">
                <a:solidFill>
                  <a:srgbClr val="000000"/>
                </a:solidFill>
                <a:highlight>
                  <a:srgbClr val="FFFF00"/>
                </a:highlight>
                <a:latin typeface="Menlo" panose="020B0609030804020204" pitchFamily="49" charset="0"/>
              </a:rPr>
              <a:t> </a:t>
            </a:r>
            <a:r>
              <a:rPr lang="en-US" altLang="zh-TW" sz="1200" dirty="0">
                <a:solidFill>
                  <a:schemeClr val="accent6"/>
                </a:solidFill>
                <a:highlight>
                  <a:srgbClr val="FFFF00"/>
                </a:highlight>
                <a:latin typeface="Menlo" panose="020B0609030804020204" pitchFamily="49" charset="0"/>
              </a:rPr>
              <a:t>5</a:t>
            </a:r>
            <a:r>
              <a:rPr lang="en-US" altLang="zh-TW" sz="1200" b="1" dirty="0">
                <a:solidFill>
                  <a:srgbClr val="000000"/>
                </a:solidFill>
                <a:latin typeface="Menlo" panose="020B0609030804020204" pitchFamily="49" charset="0"/>
              </a:rPr>
              <a:t>  5  6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5  0  0  0  0  0  0  </a:t>
            </a:r>
            <a:r>
              <a:rPr lang="en-US" altLang="zh-TW" sz="1200" b="1" dirty="0">
                <a:solidFill>
                  <a:srgbClr val="FF0000"/>
                </a:solidFill>
                <a:latin typeface="Menlo" panose="020B0609030804020204" pitchFamily="49" charset="0"/>
              </a:rPr>
              <a:t>1  2  </a:t>
            </a:r>
            <a:r>
              <a:rPr lang="en-US" altLang="zh-TW" sz="1200" b="1" dirty="0">
                <a:solidFill>
                  <a:srgbClr val="000000"/>
                </a:solidFill>
                <a:latin typeface="Menlo" panose="020B0609030804020204" pitchFamily="49" charset="0"/>
              </a:rPr>
              <a:t>3  4  4  5  5  6 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6  0  0  0  0  0  0  0  1  2  3  3  4  4  5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7  0  0  0  0  0  0  0  0  1  </a:t>
            </a:r>
            <a:r>
              <a:rPr lang="en-US" altLang="zh-TW" sz="1200" b="1" dirty="0">
                <a:solidFill>
                  <a:srgbClr val="FF0000"/>
                </a:solidFill>
                <a:latin typeface="Menlo" panose="020B0609030804020204" pitchFamily="49" charset="0"/>
              </a:rPr>
              <a:t>2  2</a:t>
            </a:r>
            <a:r>
              <a:rPr lang="en-US" altLang="zh-TW" sz="1200" b="1" dirty="0">
                <a:solidFill>
                  <a:srgbClr val="000000"/>
                </a:solidFill>
                <a:latin typeface="Menlo" panose="020B0609030804020204" pitchFamily="49" charset="0"/>
              </a:rPr>
              <a:t>  3  3  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8  0  0  0  0  0  0  0  0  0  </a:t>
            </a:r>
            <a:r>
              <a:rPr lang="en-US" altLang="zh-TW" sz="1200" b="1" dirty="0">
                <a:solidFill>
                  <a:srgbClr val="FF0000"/>
                </a:solidFill>
                <a:latin typeface="Menlo" panose="020B0609030804020204" pitchFamily="49" charset="0"/>
              </a:rPr>
              <a:t>1  2  </a:t>
            </a:r>
            <a:r>
              <a:rPr lang="en-US" altLang="zh-TW" sz="1200" b="1" dirty="0">
                <a:solidFill>
                  <a:srgbClr val="000000"/>
                </a:solidFill>
                <a:latin typeface="Menlo" panose="020B0609030804020204" pitchFamily="49" charset="0"/>
              </a:rPr>
              <a:t>3  3  4 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9  0  0  0  0  0  0  0  0  0  0  1  </a:t>
            </a:r>
            <a:r>
              <a:rPr lang="en-US" altLang="zh-TW" sz="1200" b="1" dirty="0">
                <a:solidFill>
                  <a:srgbClr val="FF0000"/>
                </a:solidFill>
                <a:latin typeface="Menlo" panose="020B0609030804020204" pitchFamily="49" charset="0"/>
              </a:rPr>
              <a:t>2  3  </a:t>
            </a:r>
            <a:r>
              <a:rPr lang="en-US" altLang="zh-TW" sz="1200" b="1" dirty="0">
                <a:solidFill>
                  <a:srgbClr val="000000"/>
                </a:solidFill>
                <a:latin typeface="Menlo" panose="020B0609030804020204" pitchFamily="49" charset="0"/>
              </a:rPr>
              <a:t>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10  0  0  0  0  0  0  0  0  0  0  0  </a:t>
            </a:r>
            <a:r>
              <a:rPr lang="en-US" altLang="zh-TW" sz="1200" b="1" dirty="0">
                <a:solidFill>
                  <a:srgbClr val="FF0000"/>
                </a:solidFill>
                <a:latin typeface="Menlo" panose="020B0609030804020204" pitchFamily="49" charset="0"/>
              </a:rPr>
              <a:t>1  2</a:t>
            </a:r>
            <a:r>
              <a:rPr lang="en-US" altLang="zh-TW" sz="1200" b="1" dirty="0">
                <a:solidFill>
                  <a:srgbClr val="000000"/>
                </a:solidFill>
                <a:latin typeface="Menlo" panose="020B0609030804020204" pitchFamily="49" charset="0"/>
              </a:rPr>
              <a:t>  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11  0  0  0  0  0  0  0  0  0  0  0  0  1  2 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12  0  0  0  0  0  0  0  0  0  0  0  0  0  1 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13  0  0  0  0  0  0  0  0  0  0  0  0  0  0</a:t>
            </a:r>
            <a:endParaRPr lang="en-US" altLang="zh-TW" sz="1200" dirty="0">
              <a:solidFill>
                <a:srgbClr val="000000"/>
              </a:solidFill>
              <a:latin typeface="Menlo" panose="020B0609030804020204" pitchFamily="49" charset="0"/>
            </a:endParaRPr>
          </a:p>
        </p:txBody>
      </p:sp>
      <p:sp>
        <p:nvSpPr>
          <p:cNvPr id="11" name="矩形 10">
            <a:extLst>
              <a:ext uri="{FF2B5EF4-FFF2-40B4-BE49-F238E27FC236}">
                <a16:creationId xmlns:a16="http://schemas.microsoft.com/office/drawing/2014/main" id="{4732D8A1-E19C-0D07-1A6E-3A006F47E4B0}"/>
              </a:ext>
            </a:extLst>
          </p:cNvPr>
          <p:cNvSpPr/>
          <p:nvPr/>
        </p:nvSpPr>
        <p:spPr>
          <a:xfrm>
            <a:off x="1419448" y="1422665"/>
            <a:ext cx="4205176" cy="338554"/>
          </a:xfrm>
          <a:prstGeom prst="rect">
            <a:avLst/>
          </a:prstGeom>
        </p:spPr>
        <p:txBody>
          <a:bodyPr wrap="square">
            <a:spAutoFit/>
          </a:bodyPr>
          <a:lstStyle/>
          <a:p>
            <a:r>
              <a:rPr lang="en-US" altLang="zh-TW" sz="1600" b="1" dirty="0">
                <a:solidFill>
                  <a:srgbClr val="000000"/>
                </a:solidFill>
                <a:latin typeface="Menlo" panose="020B0609030804020204" pitchFamily="49" charset="0"/>
              </a:rPr>
              <a:t>A : </a:t>
            </a:r>
            <a:r>
              <a:rPr lang="en-US" altLang="zh-TW" sz="1600" b="1" dirty="0" err="1">
                <a:solidFill>
                  <a:srgbClr val="000000"/>
                </a:solidFill>
                <a:latin typeface="Menlo" panose="020B0609030804020204" pitchFamily="49" charset="0"/>
              </a:rPr>
              <a:t>baabcbca</a:t>
            </a:r>
            <a:r>
              <a:rPr lang="en-US" altLang="zh-TW" sz="1600" b="1" dirty="0">
                <a:solidFill>
                  <a:srgbClr val="000000"/>
                </a:solidFill>
                <a:latin typeface="Menlo" panose="020B0609030804020204" pitchFamily="49" charset="0"/>
              </a:rPr>
              <a:t>,</a:t>
            </a:r>
            <a:r>
              <a:rPr lang="en-US" altLang="zh-TW" sz="1600" dirty="0">
                <a:solidFill>
                  <a:srgbClr val="000000"/>
                </a:solidFill>
                <a:latin typeface="Menlo" panose="020B0609030804020204" pitchFamily="49" charset="0"/>
              </a:rPr>
              <a:t> </a:t>
            </a:r>
            <a:r>
              <a:rPr lang="en-US" altLang="zh-TW" sz="1600" b="1" dirty="0">
                <a:solidFill>
                  <a:srgbClr val="000000"/>
                </a:solidFill>
                <a:latin typeface="Menlo" panose="020B0609030804020204" pitchFamily="49" charset="0"/>
              </a:rPr>
              <a:t>B : </a:t>
            </a:r>
            <a:r>
              <a:rPr lang="en-US" altLang="zh-TW" sz="1600" b="1" dirty="0" err="1">
                <a:solidFill>
                  <a:srgbClr val="000000"/>
                </a:solidFill>
                <a:latin typeface="Menlo" panose="020B0609030804020204" pitchFamily="49" charset="0"/>
              </a:rPr>
              <a:t>baabcabcabaca</a:t>
            </a:r>
            <a:endParaRPr lang="en-US" altLang="zh-TW" sz="1600" dirty="0">
              <a:solidFill>
                <a:srgbClr val="000000"/>
              </a:solidFill>
              <a:latin typeface="Menlo" panose="020B0609030804020204" pitchFamily="49" charset="0"/>
            </a:endParaRPr>
          </a:p>
        </p:txBody>
      </p:sp>
      <p:pic>
        <p:nvPicPr>
          <p:cNvPr id="14" name="圖片 13">
            <a:extLst>
              <a:ext uri="{FF2B5EF4-FFF2-40B4-BE49-F238E27FC236}">
                <a16:creationId xmlns:a16="http://schemas.microsoft.com/office/drawing/2014/main" id="{F618C99C-BAA7-575A-48C4-DE51119F6793}"/>
              </a:ext>
            </a:extLst>
          </p:cNvPr>
          <p:cNvPicPr>
            <a:picLocks noChangeAspect="1"/>
          </p:cNvPicPr>
          <p:nvPr/>
        </p:nvPicPr>
        <p:blipFill rotWithShape="1">
          <a:blip r:embed="rId3"/>
          <a:srcRect l="13958" t="49600" r="1494" b="6195"/>
          <a:stretch/>
        </p:blipFill>
        <p:spPr>
          <a:xfrm>
            <a:off x="1234307" y="6402498"/>
            <a:ext cx="3202174" cy="385222"/>
          </a:xfrm>
          <a:prstGeom prst="rect">
            <a:avLst/>
          </a:prstGeom>
        </p:spPr>
      </p:pic>
      <p:sp>
        <p:nvSpPr>
          <p:cNvPr id="15" name="矩形 14">
            <a:extLst>
              <a:ext uri="{FF2B5EF4-FFF2-40B4-BE49-F238E27FC236}">
                <a16:creationId xmlns:a16="http://schemas.microsoft.com/office/drawing/2014/main" id="{D8725556-52C7-D12E-A5DC-EE40372B2589}"/>
              </a:ext>
            </a:extLst>
          </p:cNvPr>
          <p:cNvSpPr/>
          <p:nvPr/>
        </p:nvSpPr>
        <p:spPr>
          <a:xfrm>
            <a:off x="932782" y="1854766"/>
            <a:ext cx="603050" cy="369332"/>
          </a:xfrm>
          <a:prstGeom prst="rect">
            <a:avLst/>
          </a:prstGeom>
        </p:spPr>
        <p:txBody>
          <a:bodyPr wrap="none">
            <a:spAutoFit/>
          </a:bodyPr>
          <a:lstStyle/>
          <a:p>
            <a:r>
              <a:rPr lang="en-US" altLang="zh-TW" b="1" dirty="0">
                <a:solidFill>
                  <a:srgbClr val="000000"/>
                </a:solidFill>
                <a:latin typeface="Menlo" panose="020B0609030804020204" pitchFamily="49" charset="0"/>
              </a:rPr>
              <a:t>A\B</a:t>
            </a:r>
            <a:endParaRPr lang="en-US" altLang="zh-TW" dirty="0">
              <a:solidFill>
                <a:srgbClr val="000000"/>
              </a:solidFill>
              <a:effectLst/>
              <a:latin typeface="Menlo" panose="020B0609030804020204" pitchFamily="49" charset="0"/>
            </a:endParaRPr>
          </a:p>
        </p:txBody>
      </p:sp>
      <p:sp>
        <p:nvSpPr>
          <p:cNvPr id="16" name="矩形 15">
            <a:extLst>
              <a:ext uri="{FF2B5EF4-FFF2-40B4-BE49-F238E27FC236}">
                <a16:creationId xmlns:a16="http://schemas.microsoft.com/office/drawing/2014/main" id="{89624051-7FE6-2A74-34CE-ED11F10D78D7}"/>
              </a:ext>
            </a:extLst>
          </p:cNvPr>
          <p:cNvSpPr/>
          <p:nvPr/>
        </p:nvSpPr>
        <p:spPr>
          <a:xfrm>
            <a:off x="7172880" y="6074012"/>
            <a:ext cx="4180919" cy="646331"/>
          </a:xfrm>
          <a:prstGeom prst="rect">
            <a:avLst/>
          </a:prstGeom>
        </p:spPr>
        <p:txBody>
          <a:bodyPr wrap="square">
            <a:spAutoFit/>
          </a:bodyPr>
          <a:lstStyle/>
          <a:p>
            <a:r>
              <a:rPr lang="en-US" altLang="zh-TW" sz="1200" b="1" dirty="0">
                <a:solidFill>
                  <a:srgbClr val="000000"/>
                </a:solidFill>
                <a:latin typeface="Menlo" panose="020B0609030804020204" pitchFamily="49" charset="0"/>
              </a:rPr>
              <a:t>Linear s-table (implicit representation)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13 11  ∞  7  ∞  ∞ 10 12  ∞  ∞  ∞  ∞</a:t>
            </a:r>
            <a:endParaRPr lang="en-US" altLang="zh-TW" sz="1200" dirty="0">
              <a:solidFill>
                <a:srgbClr val="000000"/>
              </a:solidFill>
              <a:effectLst/>
              <a:latin typeface="Menlo" panose="020B0609030804020204" pitchFamily="49" charset="0"/>
            </a:endParaRPr>
          </a:p>
        </p:txBody>
      </p:sp>
      <p:cxnSp>
        <p:nvCxnSpPr>
          <p:cNvPr id="18" name="直線接點 17">
            <a:extLst>
              <a:ext uri="{FF2B5EF4-FFF2-40B4-BE49-F238E27FC236}">
                <a16:creationId xmlns:a16="http://schemas.microsoft.com/office/drawing/2014/main" id="{B14F1525-C730-4463-539E-EA5F0E015727}"/>
              </a:ext>
            </a:extLst>
          </p:cNvPr>
          <p:cNvCxnSpPr/>
          <p:nvPr/>
        </p:nvCxnSpPr>
        <p:spPr>
          <a:xfrm>
            <a:off x="3131820" y="1965960"/>
            <a:ext cx="0" cy="3840480"/>
          </a:xfrm>
          <a:prstGeom prst="line">
            <a:avLst/>
          </a:prstGeom>
          <a:ln w="76200">
            <a:solidFill>
              <a:schemeClr val="accent6"/>
            </a:solidFill>
          </a:ln>
        </p:spPr>
        <p:style>
          <a:lnRef idx="3">
            <a:schemeClr val="accent2"/>
          </a:lnRef>
          <a:fillRef idx="0">
            <a:schemeClr val="accent2"/>
          </a:fillRef>
          <a:effectRef idx="2">
            <a:schemeClr val="accent2"/>
          </a:effectRef>
          <a:fontRef idx="minor">
            <a:schemeClr val="tx1"/>
          </a:fontRef>
        </p:style>
      </p:cxnSp>
      <p:cxnSp>
        <p:nvCxnSpPr>
          <p:cNvPr id="19" name="直線接點 18">
            <a:extLst>
              <a:ext uri="{FF2B5EF4-FFF2-40B4-BE49-F238E27FC236}">
                <a16:creationId xmlns:a16="http://schemas.microsoft.com/office/drawing/2014/main" id="{2B8995E2-DD92-C5E7-33E1-AE17B0C57FB9}"/>
              </a:ext>
            </a:extLst>
          </p:cNvPr>
          <p:cNvCxnSpPr/>
          <p:nvPr/>
        </p:nvCxnSpPr>
        <p:spPr>
          <a:xfrm>
            <a:off x="6096000" y="1965960"/>
            <a:ext cx="0" cy="3840480"/>
          </a:xfrm>
          <a:prstGeom prst="line">
            <a:avLst/>
          </a:prstGeom>
          <a:ln w="76200">
            <a:solidFill>
              <a:schemeClr val="accent6"/>
            </a:solidFill>
          </a:ln>
        </p:spPr>
        <p:style>
          <a:lnRef idx="3">
            <a:schemeClr val="accent2"/>
          </a:lnRef>
          <a:fillRef idx="0">
            <a:schemeClr val="accent2"/>
          </a:fillRef>
          <a:effectRef idx="2">
            <a:schemeClr val="accent2"/>
          </a:effectRef>
          <a:fontRef idx="minor">
            <a:schemeClr val="tx1"/>
          </a:fontRef>
        </p:style>
      </p:cxnSp>
      <p:sp>
        <p:nvSpPr>
          <p:cNvPr id="20" name="文字方塊 19">
            <a:extLst>
              <a:ext uri="{FF2B5EF4-FFF2-40B4-BE49-F238E27FC236}">
                <a16:creationId xmlns:a16="http://schemas.microsoft.com/office/drawing/2014/main" id="{987EB0C1-D3FD-E319-BBF4-F4A42D8DD60D}"/>
              </a:ext>
            </a:extLst>
          </p:cNvPr>
          <p:cNvSpPr txBox="1"/>
          <p:nvPr/>
        </p:nvSpPr>
        <p:spPr>
          <a:xfrm>
            <a:off x="2976970" y="5755900"/>
            <a:ext cx="309700"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4</a:t>
            </a:r>
            <a:endParaRPr kumimoji="1" lang="zh-TW" altLang="en-US" b="1" dirty="0">
              <a:solidFill>
                <a:schemeClr val="accent6"/>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DFCC57DB-A907-FBA3-3DCC-CE292D23EC23}"/>
              </a:ext>
            </a:extLst>
          </p:cNvPr>
          <p:cNvSpPr txBox="1"/>
          <p:nvPr/>
        </p:nvSpPr>
        <p:spPr>
          <a:xfrm>
            <a:off x="5930183" y="5755900"/>
            <a:ext cx="402739"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11</a:t>
            </a:r>
            <a:endParaRPr kumimoji="1" lang="zh-TW" altLang="en-US" b="1" dirty="0">
              <a:solidFill>
                <a:schemeClr val="accent6"/>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14AEF5CB-FC5F-AA27-831A-6439AA09AEF2}"/>
              </a:ext>
            </a:extLst>
          </p:cNvPr>
          <p:cNvSpPr txBox="1"/>
          <p:nvPr/>
        </p:nvSpPr>
        <p:spPr>
          <a:xfrm>
            <a:off x="4331597" y="6376420"/>
            <a:ext cx="2421304"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A(4,11) </a:t>
            </a:r>
            <a:r>
              <a:rPr kumimoji="1" lang="en-US" altLang="zh-TW" dirty="0">
                <a:latin typeface="Times New Roman" panose="02020603050405020304" pitchFamily="18" charset="0"/>
                <a:cs typeface="Times New Roman" panose="02020603050405020304" pitchFamily="18" charset="0"/>
              </a:rPr>
              <a:t>= 11 – 4 – 2 = 5</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7891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Critical Point (1/2)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pic>
        <p:nvPicPr>
          <p:cNvPr id="5" name="圖片 4">
            <a:extLst>
              <a:ext uri="{FF2B5EF4-FFF2-40B4-BE49-F238E27FC236}">
                <a16:creationId xmlns:a16="http://schemas.microsoft.com/office/drawing/2014/main" id="{B07700BB-23DE-AD1C-7DB5-FCC96FA2EECF}"/>
              </a:ext>
            </a:extLst>
          </p:cNvPr>
          <p:cNvPicPr>
            <a:picLocks noChangeAspect="1"/>
          </p:cNvPicPr>
          <p:nvPr/>
        </p:nvPicPr>
        <p:blipFill>
          <a:blip r:embed="rId2"/>
          <a:stretch>
            <a:fillRect/>
          </a:stretch>
        </p:blipFill>
        <p:spPr>
          <a:xfrm>
            <a:off x="755329" y="1817188"/>
            <a:ext cx="6417554" cy="4721724"/>
          </a:xfrm>
          <a:prstGeom prst="rect">
            <a:avLst/>
          </a:prstGeom>
        </p:spPr>
      </p:pic>
      <p:sp>
        <p:nvSpPr>
          <p:cNvPr id="8" name="矩形 7">
            <a:extLst>
              <a:ext uri="{FF2B5EF4-FFF2-40B4-BE49-F238E27FC236}">
                <a16:creationId xmlns:a16="http://schemas.microsoft.com/office/drawing/2014/main" id="{23D78A78-4F4D-9D0B-FEEC-33972189C9B6}"/>
              </a:ext>
            </a:extLst>
          </p:cNvPr>
          <p:cNvSpPr/>
          <p:nvPr/>
        </p:nvSpPr>
        <p:spPr>
          <a:xfrm>
            <a:off x="7172882" y="3013382"/>
            <a:ext cx="4458587" cy="3046988"/>
          </a:xfrm>
          <a:prstGeom prst="rect">
            <a:avLst/>
          </a:prstGeom>
        </p:spPr>
        <p:txBody>
          <a:bodyPr wrap="square">
            <a:spAutoFit/>
          </a:bodyPr>
          <a:lstStyle/>
          <a:p>
            <a:r>
              <a:rPr lang="en-US" altLang="zh-TW" sz="1200" b="1" dirty="0">
                <a:solidFill>
                  <a:srgbClr val="000000"/>
                </a:solidFill>
                <a:latin typeface="Menlo" panose="020B0609030804020204" pitchFamily="49" charset="0"/>
              </a:rPr>
              <a:t>Density Matrix (D) :</a:t>
            </a:r>
            <a:r>
              <a:rPr lang="zh-TW" altLang="en-US" sz="1200" b="1" dirty="0">
                <a:solidFill>
                  <a:srgbClr val="000000"/>
                </a:solidFill>
                <a:latin typeface="Menlo" panose="020B0609030804020204" pitchFamily="49" charset="0"/>
              </a:rPr>
              <a:t> （</a:t>
            </a:r>
            <a:r>
              <a:rPr lang="zh-TW" altLang="en-US" sz="1200" b="1" dirty="0">
                <a:solidFill>
                  <a:schemeClr val="accent5"/>
                </a:solidFill>
                <a:latin typeface="Menlo" panose="020B0609030804020204" pitchFamily="49" charset="0"/>
              </a:rPr>
              <a:t>對角和</a:t>
            </a:r>
            <a:r>
              <a:rPr lang="en-US" altLang="zh-TW" sz="1200" b="1" dirty="0">
                <a:solidFill>
                  <a:schemeClr val="accent5"/>
                </a:solidFill>
                <a:latin typeface="Menlo" panose="020B0609030804020204" pitchFamily="49" charset="0"/>
              </a:rPr>
              <a:t>-</a:t>
            </a:r>
            <a:r>
              <a:rPr lang="zh-TW" altLang="en-US" sz="1200" b="1" dirty="0">
                <a:solidFill>
                  <a:schemeClr val="accent5"/>
                </a:solidFill>
                <a:latin typeface="Menlo" panose="020B0609030804020204" pitchFamily="49" charset="0"/>
              </a:rPr>
              <a:t>反對角和</a:t>
            </a:r>
            <a:r>
              <a:rPr lang="zh-TW" altLang="en-US" sz="1200" b="1" dirty="0">
                <a:solidFill>
                  <a:srgbClr val="000000"/>
                </a:solidFill>
                <a:latin typeface="Menlo" panose="020B0609030804020204" pitchFamily="49" charset="0"/>
              </a:rPr>
              <a:t>）</a:t>
            </a:r>
            <a:endParaRPr lang="en-US" altLang="zh-TW" sz="1200" dirty="0">
              <a:solidFill>
                <a:srgbClr val="000000"/>
              </a:solidFill>
              <a:latin typeface="Menlo" panose="020B0609030804020204" pitchFamily="49" charset="0"/>
            </a:endParaRPr>
          </a:p>
          <a:p>
            <a:r>
              <a:rPr lang="en-US" altLang="zh-TW" sz="1200" b="1" dirty="0" err="1">
                <a:solidFill>
                  <a:srgbClr val="000000"/>
                </a:solidFill>
                <a:latin typeface="Menlo" panose="020B0609030804020204" pitchFamily="49" charset="0"/>
              </a:rPr>
              <a:t>i</a:t>
            </a:r>
            <a:r>
              <a:rPr lang="en-US" altLang="zh-TW" sz="1200" b="1" dirty="0">
                <a:solidFill>
                  <a:srgbClr val="000000"/>
                </a:solidFill>
                <a:latin typeface="Menlo" panose="020B0609030804020204" pitchFamily="49" charset="0"/>
              </a:rPr>
              <a:t>\k 0  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0  0  1  2  3  4  5  6  6  7  8  8  8  8  8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  0  ∞  0  0  0  0  0  0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2  0  0  ∞  0  0  0  0  0  0  0  0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3  0  0  0  ∞  0  0  0  0  0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4  0  0  0  0  ∞  0  0  0  0  0  0 </a:t>
            </a:r>
            <a:r>
              <a:rPr lang="en-US" altLang="zh-TW" sz="1200" b="1" dirty="0">
                <a:solidFill>
                  <a:schemeClr val="accent6"/>
                </a:solidFill>
                <a:highlight>
                  <a:srgbClr val="FFFF00"/>
                </a:highlight>
                <a:latin typeface="Menlo" panose="020B0609030804020204" pitchFamily="49" charset="0"/>
              </a:rPr>
              <a:t> 0</a:t>
            </a:r>
            <a:r>
              <a:rPr lang="en-US" altLang="zh-TW" sz="1200" b="1" dirty="0">
                <a:solidFill>
                  <a:schemeClr val="accent6"/>
                </a:solidFill>
                <a:latin typeface="Menlo" panose="020B0609030804020204" pitchFamily="49" charset="0"/>
              </a:rPr>
              <a:t>  </a:t>
            </a:r>
            <a:r>
              <a:rPr lang="en-US" altLang="zh-TW" sz="1200" b="1" dirty="0">
                <a:solidFill>
                  <a:srgbClr val="000000"/>
                </a:solidFill>
                <a:latin typeface="Menlo" panose="020B0609030804020204" pitchFamily="49" charset="0"/>
              </a:rPr>
              <a:t>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5  0  0  0  0  0  ∞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6  0  0  0  0  0  0  ∞  0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7  0  0  0  0  0  0  0  ∞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8  0  0  0  0  0  0  0  0  ∞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9  0  0  0  0  0  0  0  0  0  ∞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10  0  0  0  0  0  0  0  0  0  0  ∞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11  0  0  0  0  0  0  0  0  0  0  0  ∞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12  0  0  0  0  0  0  0  0  0  0  0  0  ∞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13  0  0  0  0  0  0  0  0  0  0  0  0  0  ∞ </a:t>
            </a:r>
            <a:endParaRPr lang="en-US" altLang="zh-TW" sz="1200" dirty="0">
              <a:solidFill>
                <a:srgbClr val="000000"/>
              </a:solidFill>
              <a:latin typeface="Menlo" panose="020B0609030804020204" pitchFamily="49" charset="0"/>
            </a:endParaRPr>
          </a:p>
        </p:txBody>
      </p:sp>
      <p:sp>
        <p:nvSpPr>
          <p:cNvPr id="9" name="矩形 8">
            <a:extLst>
              <a:ext uri="{FF2B5EF4-FFF2-40B4-BE49-F238E27FC236}">
                <a16:creationId xmlns:a16="http://schemas.microsoft.com/office/drawing/2014/main" id="{1FF09BDF-6708-2BDE-B55D-231F2947D5A1}"/>
              </a:ext>
            </a:extLst>
          </p:cNvPr>
          <p:cNvSpPr/>
          <p:nvPr/>
        </p:nvSpPr>
        <p:spPr>
          <a:xfrm>
            <a:off x="7172883" y="47953"/>
            <a:ext cx="4458587" cy="3046988"/>
          </a:xfrm>
          <a:prstGeom prst="rect">
            <a:avLst/>
          </a:prstGeom>
        </p:spPr>
        <p:txBody>
          <a:bodyPr wrap="square">
            <a:spAutoFit/>
          </a:bodyPr>
          <a:lstStyle/>
          <a:p>
            <a:r>
              <a:rPr lang="en-US" altLang="zh-TW" sz="1200" b="1" dirty="0">
                <a:latin typeface="Menlo" panose="020B0609030804020204" pitchFamily="49" charset="0"/>
                <a:ea typeface="Menlo" panose="020B0609030804020204" pitchFamily="49" charset="0"/>
                <a:cs typeface="Menlo" panose="020B0609030804020204" pitchFamily="49" charset="0"/>
              </a:rPr>
              <a:t>CG horizontal different : l = 8</a:t>
            </a:r>
          </a:p>
          <a:p>
            <a:r>
              <a:rPr lang="en-US" altLang="zh-TW" sz="1200" b="1" dirty="0" err="1">
                <a:latin typeface="Menlo" panose="020B0609030804020204" pitchFamily="49" charset="0"/>
                <a:ea typeface="Menlo" panose="020B0609030804020204" pitchFamily="49" charset="0"/>
                <a:cs typeface="Menlo" panose="020B0609030804020204" pitchFamily="49" charset="0"/>
              </a:rPr>
              <a:t>i</a:t>
            </a:r>
            <a:r>
              <a:rPr lang="en-US" altLang="zh-TW" sz="1200" b="1" dirty="0">
                <a:latin typeface="Menlo" panose="020B0609030804020204" pitchFamily="49" charset="0"/>
                <a:ea typeface="Menlo" panose="020B0609030804020204" pitchFamily="49" charset="0"/>
                <a:cs typeface="Menlo" panose="020B0609030804020204" pitchFamily="49" charset="0"/>
              </a:rPr>
              <a:t>\j 0  1  2  3  4  5  6  7  8  9 10 11 12 13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0  0  1  1  1  1  1  1  0  1  1  0  0  0  0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1  0  0  1  1  1  1  1  0  1  1  0  0  0  0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2  0  0  0  1  1  1  1  0  1  1  0  0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3  0  0  0  0  1  1  1  0  1  1  0  1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4  0  0  0  0  0  1  1  0  1  1  0 </a:t>
            </a:r>
            <a:r>
              <a:rPr lang="en-US" altLang="zh-TW" sz="1200" b="1"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altLang="zh-TW" sz="1200" b="1" dirty="0">
                <a:solidFill>
                  <a:schemeClr val="accent6"/>
                </a:solidFill>
                <a:highlight>
                  <a:srgbClr val="FFFF00"/>
                </a:highlight>
                <a:latin typeface="Menlo" panose="020B0609030804020204" pitchFamily="49" charset="0"/>
                <a:ea typeface="Menlo" panose="020B0609030804020204" pitchFamily="49" charset="0"/>
                <a:cs typeface="Menlo" panose="020B0609030804020204" pitchFamily="49" charset="0"/>
              </a:rPr>
              <a:t>1</a:t>
            </a:r>
            <a:r>
              <a:rPr lang="en-US" altLang="zh-TW" sz="1200" b="1" dirty="0">
                <a:latin typeface="Menlo" panose="020B0609030804020204" pitchFamily="49" charset="0"/>
                <a:ea typeface="Menlo" panose="020B0609030804020204" pitchFamily="49" charset="0"/>
                <a:cs typeface="Menlo" panose="020B0609030804020204" pitchFamily="49" charset="0"/>
              </a:rPr>
              <a:t>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5  0  0  0  0  0  0  1  1  1  1  0  1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6  0  0  0  0  0  0  0  1  1  1  0  1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7  0  0  0  0  0  0  0  0  1  1  0  1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8  0  0  0  0  0  0  0  0  0  1  1  1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9  0  0  0  0  0  0  0  0  0  0  1  1  1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10  0  0  0  0  0  0  0  0  0  0  0  1  1  1 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11  0  0  0  0  0  0  0  0  0  0  0  0  1  1 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12  0  0  0  0  0  0  0  0  0  0  0  0  0  1 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13  0  0  0  0  0  0  0  0  0  0  0  0  0  0 </a:t>
            </a:r>
            <a:endParaRPr lang="en-US" altLang="zh-TW" sz="1200" dirty="0">
              <a:latin typeface="Menlo" panose="020B0609030804020204" pitchFamily="49" charset="0"/>
              <a:ea typeface="Menlo" panose="020B0609030804020204" pitchFamily="49" charset="0"/>
              <a:cs typeface="Menlo" panose="020B0609030804020204" pitchFamily="49" charset="0"/>
            </a:endParaRPr>
          </a:p>
        </p:txBody>
      </p:sp>
      <p:sp>
        <p:nvSpPr>
          <p:cNvPr id="11" name="矩形 10">
            <a:extLst>
              <a:ext uri="{FF2B5EF4-FFF2-40B4-BE49-F238E27FC236}">
                <a16:creationId xmlns:a16="http://schemas.microsoft.com/office/drawing/2014/main" id="{4732D8A1-E19C-0D07-1A6E-3A006F47E4B0}"/>
              </a:ext>
            </a:extLst>
          </p:cNvPr>
          <p:cNvSpPr/>
          <p:nvPr/>
        </p:nvSpPr>
        <p:spPr>
          <a:xfrm>
            <a:off x="1419448" y="1422665"/>
            <a:ext cx="4205176" cy="338554"/>
          </a:xfrm>
          <a:prstGeom prst="rect">
            <a:avLst/>
          </a:prstGeom>
        </p:spPr>
        <p:txBody>
          <a:bodyPr wrap="square">
            <a:spAutoFit/>
          </a:bodyPr>
          <a:lstStyle/>
          <a:p>
            <a:r>
              <a:rPr lang="en-US" altLang="zh-TW" sz="1600" b="1" dirty="0">
                <a:solidFill>
                  <a:srgbClr val="000000"/>
                </a:solidFill>
                <a:latin typeface="Menlo" panose="020B0609030804020204" pitchFamily="49" charset="0"/>
              </a:rPr>
              <a:t>A : </a:t>
            </a:r>
            <a:r>
              <a:rPr lang="en-US" altLang="zh-TW" sz="1600" b="1" dirty="0" err="1">
                <a:solidFill>
                  <a:srgbClr val="000000"/>
                </a:solidFill>
                <a:latin typeface="Menlo" panose="020B0609030804020204" pitchFamily="49" charset="0"/>
              </a:rPr>
              <a:t>baabcbca</a:t>
            </a:r>
            <a:r>
              <a:rPr lang="en-US" altLang="zh-TW" sz="1600" b="1" dirty="0">
                <a:solidFill>
                  <a:srgbClr val="000000"/>
                </a:solidFill>
                <a:latin typeface="Menlo" panose="020B0609030804020204" pitchFamily="49" charset="0"/>
              </a:rPr>
              <a:t>,</a:t>
            </a:r>
            <a:r>
              <a:rPr lang="en-US" altLang="zh-TW" sz="1600" dirty="0">
                <a:solidFill>
                  <a:srgbClr val="000000"/>
                </a:solidFill>
                <a:latin typeface="Menlo" panose="020B0609030804020204" pitchFamily="49" charset="0"/>
              </a:rPr>
              <a:t> </a:t>
            </a:r>
            <a:r>
              <a:rPr lang="en-US" altLang="zh-TW" sz="1600" b="1" dirty="0">
                <a:solidFill>
                  <a:srgbClr val="000000"/>
                </a:solidFill>
                <a:latin typeface="Menlo" panose="020B0609030804020204" pitchFamily="49" charset="0"/>
              </a:rPr>
              <a:t>B : </a:t>
            </a:r>
            <a:r>
              <a:rPr lang="en-US" altLang="zh-TW" sz="1600" b="1" dirty="0" err="1">
                <a:solidFill>
                  <a:srgbClr val="000000"/>
                </a:solidFill>
                <a:latin typeface="Menlo" panose="020B0609030804020204" pitchFamily="49" charset="0"/>
              </a:rPr>
              <a:t>baabcabcabaca</a:t>
            </a:r>
            <a:endParaRPr lang="en-US" altLang="zh-TW" sz="1600" dirty="0">
              <a:solidFill>
                <a:srgbClr val="000000"/>
              </a:solidFill>
              <a:latin typeface="Menlo" panose="020B0609030804020204" pitchFamily="49" charset="0"/>
            </a:endParaRPr>
          </a:p>
        </p:txBody>
      </p:sp>
      <p:pic>
        <p:nvPicPr>
          <p:cNvPr id="14" name="圖片 13">
            <a:extLst>
              <a:ext uri="{FF2B5EF4-FFF2-40B4-BE49-F238E27FC236}">
                <a16:creationId xmlns:a16="http://schemas.microsoft.com/office/drawing/2014/main" id="{F618C99C-BAA7-575A-48C4-DE51119F6793}"/>
              </a:ext>
            </a:extLst>
          </p:cNvPr>
          <p:cNvPicPr>
            <a:picLocks noChangeAspect="1"/>
          </p:cNvPicPr>
          <p:nvPr/>
        </p:nvPicPr>
        <p:blipFill rotWithShape="1">
          <a:blip r:embed="rId3"/>
          <a:srcRect l="13958" t="49600" r="1494" b="6195"/>
          <a:stretch/>
        </p:blipFill>
        <p:spPr>
          <a:xfrm>
            <a:off x="1234307" y="6402498"/>
            <a:ext cx="3202174" cy="385222"/>
          </a:xfrm>
          <a:prstGeom prst="rect">
            <a:avLst/>
          </a:prstGeom>
        </p:spPr>
      </p:pic>
      <p:sp>
        <p:nvSpPr>
          <p:cNvPr id="15" name="矩形 14">
            <a:extLst>
              <a:ext uri="{FF2B5EF4-FFF2-40B4-BE49-F238E27FC236}">
                <a16:creationId xmlns:a16="http://schemas.microsoft.com/office/drawing/2014/main" id="{D8725556-52C7-D12E-A5DC-EE40372B2589}"/>
              </a:ext>
            </a:extLst>
          </p:cNvPr>
          <p:cNvSpPr/>
          <p:nvPr/>
        </p:nvSpPr>
        <p:spPr>
          <a:xfrm>
            <a:off x="932782" y="1854766"/>
            <a:ext cx="603050" cy="369332"/>
          </a:xfrm>
          <a:prstGeom prst="rect">
            <a:avLst/>
          </a:prstGeom>
        </p:spPr>
        <p:txBody>
          <a:bodyPr wrap="none">
            <a:spAutoFit/>
          </a:bodyPr>
          <a:lstStyle/>
          <a:p>
            <a:r>
              <a:rPr lang="en-US" altLang="zh-TW" b="1" dirty="0">
                <a:solidFill>
                  <a:srgbClr val="000000"/>
                </a:solidFill>
                <a:latin typeface="Menlo" panose="020B0609030804020204" pitchFamily="49" charset="0"/>
              </a:rPr>
              <a:t>A\B</a:t>
            </a:r>
            <a:endParaRPr lang="en-US" altLang="zh-TW" dirty="0">
              <a:solidFill>
                <a:srgbClr val="000000"/>
              </a:solidFill>
              <a:effectLst/>
              <a:latin typeface="Menlo" panose="020B0609030804020204" pitchFamily="49" charset="0"/>
            </a:endParaRPr>
          </a:p>
        </p:txBody>
      </p:sp>
      <p:sp>
        <p:nvSpPr>
          <p:cNvPr id="16" name="矩形 15">
            <a:extLst>
              <a:ext uri="{FF2B5EF4-FFF2-40B4-BE49-F238E27FC236}">
                <a16:creationId xmlns:a16="http://schemas.microsoft.com/office/drawing/2014/main" id="{89624051-7FE6-2A74-34CE-ED11F10D78D7}"/>
              </a:ext>
            </a:extLst>
          </p:cNvPr>
          <p:cNvSpPr/>
          <p:nvPr/>
        </p:nvSpPr>
        <p:spPr>
          <a:xfrm>
            <a:off x="7172880" y="6074012"/>
            <a:ext cx="4180919" cy="646331"/>
          </a:xfrm>
          <a:prstGeom prst="rect">
            <a:avLst/>
          </a:prstGeom>
        </p:spPr>
        <p:txBody>
          <a:bodyPr wrap="square">
            <a:spAutoFit/>
          </a:bodyPr>
          <a:lstStyle/>
          <a:p>
            <a:r>
              <a:rPr lang="en-US" altLang="zh-TW" sz="1200" b="1" dirty="0">
                <a:solidFill>
                  <a:srgbClr val="000000"/>
                </a:solidFill>
                <a:latin typeface="Menlo" panose="020B0609030804020204" pitchFamily="49" charset="0"/>
              </a:rPr>
              <a:t>Linear s-table (implicit representation)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13 11  ∞  7  ∞  ∞ 10 12  ∞  ∞  ∞  ∞</a:t>
            </a:r>
            <a:endParaRPr lang="en-US" altLang="zh-TW" sz="1200" dirty="0">
              <a:solidFill>
                <a:srgbClr val="000000"/>
              </a:solidFill>
              <a:effectLst/>
              <a:latin typeface="Menlo" panose="020B0609030804020204" pitchFamily="49" charset="0"/>
            </a:endParaRPr>
          </a:p>
        </p:txBody>
      </p:sp>
      <p:cxnSp>
        <p:nvCxnSpPr>
          <p:cNvPr id="18" name="直線接點 17">
            <a:extLst>
              <a:ext uri="{FF2B5EF4-FFF2-40B4-BE49-F238E27FC236}">
                <a16:creationId xmlns:a16="http://schemas.microsoft.com/office/drawing/2014/main" id="{B14F1525-C730-4463-539E-EA5F0E015727}"/>
              </a:ext>
            </a:extLst>
          </p:cNvPr>
          <p:cNvCxnSpPr/>
          <p:nvPr/>
        </p:nvCxnSpPr>
        <p:spPr>
          <a:xfrm>
            <a:off x="3131820" y="1965960"/>
            <a:ext cx="0" cy="3840480"/>
          </a:xfrm>
          <a:prstGeom prst="line">
            <a:avLst/>
          </a:prstGeom>
          <a:ln w="76200">
            <a:solidFill>
              <a:schemeClr val="accent6"/>
            </a:solidFill>
          </a:ln>
        </p:spPr>
        <p:style>
          <a:lnRef idx="3">
            <a:schemeClr val="accent2"/>
          </a:lnRef>
          <a:fillRef idx="0">
            <a:schemeClr val="accent2"/>
          </a:fillRef>
          <a:effectRef idx="2">
            <a:schemeClr val="accent2"/>
          </a:effectRef>
          <a:fontRef idx="minor">
            <a:schemeClr val="tx1"/>
          </a:fontRef>
        </p:style>
      </p:cxnSp>
      <p:cxnSp>
        <p:nvCxnSpPr>
          <p:cNvPr id="19" name="直線接點 18">
            <a:extLst>
              <a:ext uri="{FF2B5EF4-FFF2-40B4-BE49-F238E27FC236}">
                <a16:creationId xmlns:a16="http://schemas.microsoft.com/office/drawing/2014/main" id="{2B8995E2-DD92-C5E7-33E1-AE17B0C57FB9}"/>
              </a:ext>
            </a:extLst>
          </p:cNvPr>
          <p:cNvCxnSpPr/>
          <p:nvPr/>
        </p:nvCxnSpPr>
        <p:spPr>
          <a:xfrm>
            <a:off x="6096000" y="1965960"/>
            <a:ext cx="0" cy="3840480"/>
          </a:xfrm>
          <a:prstGeom prst="line">
            <a:avLst/>
          </a:prstGeom>
          <a:ln w="76200">
            <a:solidFill>
              <a:schemeClr val="accent6"/>
            </a:solidFill>
          </a:ln>
        </p:spPr>
        <p:style>
          <a:lnRef idx="3">
            <a:schemeClr val="accent2"/>
          </a:lnRef>
          <a:fillRef idx="0">
            <a:schemeClr val="accent2"/>
          </a:fillRef>
          <a:effectRef idx="2">
            <a:schemeClr val="accent2"/>
          </a:effectRef>
          <a:fontRef idx="minor">
            <a:schemeClr val="tx1"/>
          </a:fontRef>
        </p:style>
      </p:cxnSp>
      <p:sp>
        <p:nvSpPr>
          <p:cNvPr id="20" name="文字方塊 19">
            <a:extLst>
              <a:ext uri="{FF2B5EF4-FFF2-40B4-BE49-F238E27FC236}">
                <a16:creationId xmlns:a16="http://schemas.microsoft.com/office/drawing/2014/main" id="{987EB0C1-D3FD-E319-BBF4-F4A42D8DD60D}"/>
              </a:ext>
            </a:extLst>
          </p:cNvPr>
          <p:cNvSpPr txBox="1"/>
          <p:nvPr/>
        </p:nvSpPr>
        <p:spPr>
          <a:xfrm>
            <a:off x="2976970" y="5755900"/>
            <a:ext cx="309700"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4</a:t>
            </a:r>
            <a:endParaRPr kumimoji="1" lang="zh-TW" altLang="en-US" b="1" dirty="0">
              <a:solidFill>
                <a:schemeClr val="accent6"/>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DFCC57DB-A907-FBA3-3DCC-CE292D23EC23}"/>
              </a:ext>
            </a:extLst>
          </p:cNvPr>
          <p:cNvSpPr txBox="1"/>
          <p:nvPr/>
        </p:nvSpPr>
        <p:spPr>
          <a:xfrm>
            <a:off x="5930183" y="5755900"/>
            <a:ext cx="402739"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11</a:t>
            </a:r>
            <a:endParaRPr kumimoji="1" lang="zh-TW" altLang="en-US" b="1" dirty="0">
              <a:solidFill>
                <a:schemeClr val="accent6"/>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14AEF5CB-FC5F-AA27-831A-6439AA09AEF2}"/>
              </a:ext>
            </a:extLst>
          </p:cNvPr>
          <p:cNvSpPr txBox="1"/>
          <p:nvPr/>
        </p:nvSpPr>
        <p:spPr>
          <a:xfrm>
            <a:off x="4331597" y="6376420"/>
            <a:ext cx="2421304"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A(4,11) </a:t>
            </a:r>
            <a:r>
              <a:rPr kumimoji="1" lang="en-US" altLang="zh-TW" dirty="0">
                <a:latin typeface="Times New Roman" panose="02020603050405020304" pitchFamily="18" charset="0"/>
                <a:cs typeface="Times New Roman" panose="02020603050405020304" pitchFamily="18" charset="0"/>
              </a:rPr>
              <a:t>= 11 – 4 – 2 = 5</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821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Critical Point (2/2)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7" name="圖片 6">
            <a:extLst>
              <a:ext uri="{FF2B5EF4-FFF2-40B4-BE49-F238E27FC236}">
                <a16:creationId xmlns:a16="http://schemas.microsoft.com/office/drawing/2014/main" id="{AFAC9DB6-4580-85FE-D901-EEDAAF7D26F7}"/>
              </a:ext>
            </a:extLst>
          </p:cNvPr>
          <p:cNvPicPr>
            <a:picLocks noChangeAspect="1"/>
          </p:cNvPicPr>
          <p:nvPr/>
        </p:nvPicPr>
        <p:blipFill>
          <a:blip r:embed="rId2"/>
          <a:stretch>
            <a:fillRect/>
          </a:stretch>
        </p:blipFill>
        <p:spPr>
          <a:xfrm>
            <a:off x="455426" y="1555769"/>
            <a:ext cx="7675432" cy="888205"/>
          </a:xfrm>
          <a:prstGeom prst="rect">
            <a:avLst/>
          </a:prstGeom>
        </p:spPr>
      </p:pic>
      <p:pic>
        <p:nvPicPr>
          <p:cNvPr id="8" name="圖片 7">
            <a:extLst>
              <a:ext uri="{FF2B5EF4-FFF2-40B4-BE49-F238E27FC236}">
                <a16:creationId xmlns:a16="http://schemas.microsoft.com/office/drawing/2014/main" id="{048B74F7-254B-C55D-B0BF-33E0DF8DB895}"/>
              </a:ext>
            </a:extLst>
          </p:cNvPr>
          <p:cNvPicPr>
            <a:picLocks noChangeAspect="1"/>
          </p:cNvPicPr>
          <p:nvPr/>
        </p:nvPicPr>
        <p:blipFill>
          <a:blip r:embed="rId3"/>
          <a:stretch>
            <a:fillRect/>
          </a:stretch>
        </p:blipFill>
        <p:spPr>
          <a:xfrm>
            <a:off x="455426" y="2394525"/>
            <a:ext cx="11630460" cy="569792"/>
          </a:xfrm>
          <a:prstGeom prst="rect">
            <a:avLst/>
          </a:prstGeom>
        </p:spPr>
      </p:pic>
      <p:pic>
        <p:nvPicPr>
          <p:cNvPr id="9" name="圖片 8">
            <a:extLst>
              <a:ext uri="{FF2B5EF4-FFF2-40B4-BE49-F238E27FC236}">
                <a16:creationId xmlns:a16="http://schemas.microsoft.com/office/drawing/2014/main" id="{5B9CA581-31EA-F404-D2F0-A15692F01007}"/>
              </a:ext>
            </a:extLst>
          </p:cNvPr>
          <p:cNvPicPr>
            <a:picLocks noChangeAspect="1"/>
          </p:cNvPicPr>
          <p:nvPr/>
        </p:nvPicPr>
        <p:blipFill>
          <a:blip r:embed="rId4"/>
          <a:stretch>
            <a:fillRect/>
          </a:stretch>
        </p:blipFill>
        <p:spPr>
          <a:xfrm>
            <a:off x="455426" y="2991979"/>
            <a:ext cx="6736952" cy="485999"/>
          </a:xfrm>
          <a:prstGeom prst="rect">
            <a:avLst/>
          </a:prstGeom>
        </p:spPr>
      </p:pic>
      <p:pic>
        <p:nvPicPr>
          <p:cNvPr id="10" name="圖片 9">
            <a:extLst>
              <a:ext uri="{FF2B5EF4-FFF2-40B4-BE49-F238E27FC236}">
                <a16:creationId xmlns:a16="http://schemas.microsoft.com/office/drawing/2014/main" id="{C3A5E79C-9E44-28DF-2CDB-9D7F5E85252A}"/>
              </a:ext>
            </a:extLst>
          </p:cNvPr>
          <p:cNvPicPr>
            <a:picLocks noChangeAspect="1"/>
          </p:cNvPicPr>
          <p:nvPr/>
        </p:nvPicPr>
        <p:blipFill>
          <a:blip r:embed="rId5"/>
          <a:stretch>
            <a:fillRect/>
          </a:stretch>
        </p:blipFill>
        <p:spPr>
          <a:xfrm>
            <a:off x="455426" y="3525935"/>
            <a:ext cx="3787438" cy="871446"/>
          </a:xfrm>
          <a:prstGeom prst="rect">
            <a:avLst/>
          </a:prstGeom>
        </p:spPr>
      </p:pic>
      <p:pic>
        <p:nvPicPr>
          <p:cNvPr id="11" name="圖片 10">
            <a:extLst>
              <a:ext uri="{FF2B5EF4-FFF2-40B4-BE49-F238E27FC236}">
                <a16:creationId xmlns:a16="http://schemas.microsoft.com/office/drawing/2014/main" id="{FA7DDDAA-56D1-66A4-5C49-30FBF6A272F7}"/>
              </a:ext>
            </a:extLst>
          </p:cNvPr>
          <p:cNvPicPr>
            <a:picLocks noChangeAspect="1"/>
          </p:cNvPicPr>
          <p:nvPr/>
        </p:nvPicPr>
        <p:blipFill>
          <a:blip r:embed="rId6"/>
          <a:stretch>
            <a:fillRect/>
          </a:stretch>
        </p:blipFill>
        <p:spPr>
          <a:xfrm>
            <a:off x="455425" y="4351989"/>
            <a:ext cx="9435079" cy="435723"/>
          </a:xfrm>
          <a:prstGeom prst="rect">
            <a:avLst/>
          </a:prstGeom>
        </p:spPr>
      </p:pic>
      <p:pic>
        <p:nvPicPr>
          <p:cNvPr id="12" name="圖片 11">
            <a:extLst>
              <a:ext uri="{FF2B5EF4-FFF2-40B4-BE49-F238E27FC236}">
                <a16:creationId xmlns:a16="http://schemas.microsoft.com/office/drawing/2014/main" id="{7B747CC3-257C-E75B-C26B-7F530F59B110}"/>
              </a:ext>
            </a:extLst>
          </p:cNvPr>
          <p:cNvPicPr>
            <a:picLocks noChangeAspect="1"/>
          </p:cNvPicPr>
          <p:nvPr/>
        </p:nvPicPr>
        <p:blipFill>
          <a:blip r:embed="rId7"/>
          <a:stretch>
            <a:fillRect/>
          </a:stretch>
        </p:blipFill>
        <p:spPr>
          <a:xfrm>
            <a:off x="455426" y="4847845"/>
            <a:ext cx="7809504" cy="452482"/>
          </a:xfrm>
          <a:prstGeom prst="rect">
            <a:avLst/>
          </a:prstGeom>
        </p:spPr>
      </p:pic>
      <p:pic>
        <p:nvPicPr>
          <p:cNvPr id="13" name="圖片 12">
            <a:extLst>
              <a:ext uri="{FF2B5EF4-FFF2-40B4-BE49-F238E27FC236}">
                <a16:creationId xmlns:a16="http://schemas.microsoft.com/office/drawing/2014/main" id="{BAFC723D-EFA0-677D-B479-4B2DCE801318}"/>
              </a:ext>
            </a:extLst>
          </p:cNvPr>
          <p:cNvPicPr>
            <a:picLocks noChangeAspect="1"/>
          </p:cNvPicPr>
          <p:nvPr/>
        </p:nvPicPr>
        <p:blipFill>
          <a:blip r:embed="rId8"/>
          <a:stretch>
            <a:fillRect/>
          </a:stretch>
        </p:blipFill>
        <p:spPr>
          <a:xfrm>
            <a:off x="455426" y="5356400"/>
            <a:ext cx="6083366" cy="402206"/>
          </a:xfrm>
          <a:prstGeom prst="rect">
            <a:avLst/>
          </a:prstGeom>
        </p:spPr>
      </p:pic>
      <p:pic>
        <p:nvPicPr>
          <p:cNvPr id="14" name="圖片 13">
            <a:extLst>
              <a:ext uri="{FF2B5EF4-FFF2-40B4-BE49-F238E27FC236}">
                <a16:creationId xmlns:a16="http://schemas.microsoft.com/office/drawing/2014/main" id="{BEA994BC-303F-31FB-E54A-19E1D0577E53}"/>
              </a:ext>
            </a:extLst>
          </p:cNvPr>
          <p:cNvPicPr>
            <a:picLocks noChangeAspect="1"/>
          </p:cNvPicPr>
          <p:nvPr/>
        </p:nvPicPr>
        <p:blipFill>
          <a:blip r:embed="rId9"/>
          <a:stretch>
            <a:fillRect/>
          </a:stretch>
        </p:blipFill>
        <p:spPr>
          <a:xfrm>
            <a:off x="410976" y="5826854"/>
            <a:ext cx="6854258" cy="435723"/>
          </a:xfrm>
          <a:prstGeom prst="rect">
            <a:avLst/>
          </a:prstGeom>
        </p:spPr>
      </p:pic>
      <p:sp>
        <p:nvSpPr>
          <p:cNvPr id="16" name="文字方塊 15">
            <a:extLst>
              <a:ext uri="{FF2B5EF4-FFF2-40B4-BE49-F238E27FC236}">
                <a16:creationId xmlns:a16="http://schemas.microsoft.com/office/drawing/2014/main" id="{8AA6209F-8B02-8296-4860-A22DB1237666}"/>
              </a:ext>
            </a:extLst>
          </p:cNvPr>
          <p:cNvSpPr txBox="1"/>
          <p:nvPr/>
        </p:nvSpPr>
        <p:spPr>
          <a:xfrm>
            <a:off x="7551979" y="2015192"/>
            <a:ext cx="4358886" cy="369332"/>
          </a:xfrm>
          <a:prstGeom prst="rect">
            <a:avLst/>
          </a:prstGeom>
          <a:noFill/>
        </p:spPr>
        <p:txBody>
          <a:bodyPr wrap="non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Critical point </a:t>
            </a:r>
            <a:r>
              <a:rPr kumimoji="1" lang="zh-TW" altLang="en-US" dirty="0">
                <a:solidFill>
                  <a:srgbClr val="FF0000"/>
                </a:solidFill>
                <a:latin typeface="Times New Roman" panose="02020603050405020304" pitchFamily="18" charset="0"/>
                <a:cs typeface="Times New Roman" panose="02020603050405020304" pitchFamily="18" charset="0"/>
              </a:rPr>
              <a:t>即為</a:t>
            </a:r>
            <a:r>
              <a:rPr kumimoji="1" lang="en-US" altLang="zh-TW" dirty="0">
                <a:solidFill>
                  <a:srgbClr val="FF0000"/>
                </a:solidFill>
                <a:latin typeface="Times New Roman" panose="02020603050405020304" pitchFamily="18" charset="0"/>
                <a:cs typeface="Times New Roman" panose="02020603050405020304" pitchFamily="18" charset="0"/>
              </a:rPr>
              <a:t>Density</a:t>
            </a:r>
            <a:r>
              <a:rPr kumimoji="1" lang="zh-TW" altLang="en-US" dirty="0">
                <a:solidFill>
                  <a:srgbClr val="FF0000"/>
                </a:solidFill>
                <a:latin typeface="Times New Roman" panose="02020603050405020304" pitchFamily="18" charset="0"/>
                <a:cs typeface="Times New Roman" panose="02020603050405020304" pitchFamily="18" charset="0"/>
              </a:rPr>
              <a:t> </a:t>
            </a:r>
            <a:r>
              <a:rPr kumimoji="1" lang="en-US" altLang="zh-TW" dirty="0">
                <a:solidFill>
                  <a:srgbClr val="FF0000"/>
                </a:solidFill>
                <a:latin typeface="Times New Roman" panose="02020603050405020304" pitchFamily="18" charset="0"/>
                <a:cs typeface="Times New Roman" panose="02020603050405020304" pitchFamily="18" charset="0"/>
              </a:rPr>
              <a:t>matrix</a:t>
            </a:r>
            <a:r>
              <a:rPr kumimoji="1" lang="zh-TW" altLang="en-US" dirty="0">
                <a:solidFill>
                  <a:srgbClr val="FF0000"/>
                </a:solidFill>
                <a:latin typeface="Times New Roman" panose="02020603050405020304" pitchFamily="18" charset="0"/>
                <a:cs typeface="Times New Roman" panose="02020603050405020304" pitchFamily="18" charset="0"/>
              </a:rPr>
              <a:t>為</a:t>
            </a:r>
            <a:r>
              <a:rPr kumimoji="1" lang="en-US" altLang="zh-TW" dirty="0">
                <a:solidFill>
                  <a:srgbClr val="FF0000"/>
                </a:solidFill>
                <a:latin typeface="Times New Roman" panose="02020603050405020304" pitchFamily="18" charset="0"/>
                <a:cs typeface="Times New Roman" panose="02020603050405020304" pitchFamily="18" charset="0"/>
              </a:rPr>
              <a:t>1</a:t>
            </a:r>
            <a:r>
              <a:rPr kumimoji="1" lang="zh-TW" altLang="en-US" dirty="0">
                <a:solidFill>
                  <a:srgbClr val="FF0000"/>
                </a:solidFill>
                <a:latin typeface="Times New Roman" panose="02020603050405020304" pitchFamily="18" charset="0"/>
                <a:cs typeface="Times New Roman" panose="02020603050405020304" pitchFamily="18" charset="0"/>
              </a:rPr>
              <a:t>的位置</a:t>
            </a:r>
          </a:p>
        </p:txBody>
      </p:sp>
      <p:graphicFrame>
        <p:nvGraphicFramePr>
          <p:cNvPr id="17" name="表格 17">
            <a:extLst>
              <a:ext uri="{FF2B5EF4-FFF2-40B4-BE49-F238E27FC236}">
                <a16:creationId xmlns:a16="http://schemas.microsoft.com/office/drawing/2014/main" id="{463DEA98-4C6D-2680-9D81-FC3FCC66650B}"/>
              </a:ext>
            </a:extLst>
          </p:cNvPr>
          <p:cNvGraphicFramePr>
            <a:graphicFrameLocks noGrp="1"/>
          </p:cNvGraphicFramePr>
          <p:nvPr>
            <p:extLst>
              <p:ext uri="{D42A27DB-BD31-4B8C-83A1-F6EECF244321}">
                <p14:modId xmlns:p14="http://schemas.microsoft.com/office/powerpoint/2010/main" val="3095018642"/>
              </p:ext>
            </p:extLst>
          </p:nvPr>
        </p:nvGraphicFramePr>
        <p:xfrm>
          <a:off x="8130858" y="697424"/>
          <a:ext cx="2117652" cy="1112520"/>
        </p:xfrm>
        <a:graphic>
          <a:graphicData uri="http://schemas.openxmlformats.org/drawingml/2006/table">
            <a:tbl>
              <a:tblPr firstRow="1" bandRow="1">
                <a:tableStyleId>{5940675A-B579-460E-94D1-54222C63F5DA}</a:tableStyleId>
              </a:tblPr>
              <a:tblGrid>
                <a:gridCol w="705884">
                  <a:extLst>
                    <a:ext uri="{9D8B030D-6E8A-4147-A177-3AD203B41FA5}">
                      <a16:colId xmlns:a16="http://schemas.microsoft.com/office/drawing/2014/main" val="132495782"/>
                    </a:ext>
                  </a:extLst>
                </a:gridCol>
                <a:gridCol w="705884">
                  <a:extLst>
                    <a:ext uri="{9D8B030D-6E8A-4147-A177-3AD203B41FA5}">
                      <a16:colId xmlns:a16="http://schemas.microsoft.com/office/drawing/2014/main" val="1362840722"/>
                    </a:ext>
                  </a:extLst>
                </a:gridCol>
                <a:gridCol w="705884">
                  <a:extLst>
                    <a:ext uri="{9D8B030D-6E8A-4147-A177-3AD203B41FA5}">
                      <a16:colId xmlns:a16="http://schemas.microsoft.com/office/drawing/2014/main" val="3049373327"/>
                    </a:ext>
                  </a:extLst>
                </a:gridCol>
              </a:tblGrid>
              <a:tr h="370840">
                <a:tc>
                  <a:txBody>
                    <a:bodyPr/>
                    <a:lstStyle/>
                    <a:p>
                      <a:pPr algn="ct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j-1/2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j+1/2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40000"/>
                        <a:lumOff val="60000"/>
                      </a:schemeClr>
                    </a:solidFill>
                  </a:tcPr>
                </a:tc>
                <a:extLst>
                  <a:ext uri="{0D108BD9-81ED-4DB2-BD59-A6C34878D82A}">
                    <a16:rowId xmlns:a16="http://schemas.microsoft.com/office/drawing/2014/main" val="2072468198"/>
                  </a:ext>
                </a:extLst>
              </a:tr>
              <a:tr h="370840">
                <a:tc>
                  <a:txBody>
                    <a:bodyPr/>
                    <a:lstStyle/>
                    <a:p>
                      <a:pPr algn="ctr"/>
                      <a:r>
                        <a:rPr lang="en-US" altLang="zh-TW" dirty="0">
                          <a:latin typeface="Times New Roman" panose="02020603050405020304" pitchFamily="18" charset="0"/>
                          <a:cs typeface="Times New Roman" panose="02020603050405020304" pitchFamily="18" charset="0"/>
                        </a:rPr>
                        <a:t>i-1/2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x</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x</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04879804"/>
                  </a:ext>
                </a:extLst>
              </a:tr>
              <a:tr h="370840">
                <a:tc>
                  <a:txBody>
                    <a:bodyPr/>
                    <a:lstStyle/>
                    <a:p>
                      <a:pPr algn="ctr"/>
                      <a:r>
                        <a:rPr lang="en-US" altLang="zh-TW" dirty="0">
                          <a:latin typeface="Times New Roman" panose="02020603050405020304" pitchFamily="18" charset="0"/>
                          <a:cs typeface="Times New Roman" panose="02020603050405020304" pitchFamily="18" charset="0"/>
                        </a:rPr>
                        <a:t>i+1/2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x-1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x</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34103376"/>
                  </a:ext>
                </a:extLst>
              </a:tr>
            </a:tbl>
          </a:graphicData>
        </a:graphic>
      </p:graphicFrame>
      <p:sp>
        <p:nvSpPr>
          <p:cNvPr id="18" name="文字方塊 17">
            <a:extLst>
              <a:ext uri="{FF2B5EF4-FFF2-40B4-BE49-F238E27FC236}">
                <a16:creationId xmlns:a16="http://schemas.microsoft.com/office/drawing/2014/main" id="{E0A56736-A4D1-6033-3378-B6CA487618BF}"/>
              </a:ext>
            </a:extLst>
          </p:cNvPr>
          <p:cNvSpPr txBox="1"/>
          <p:nvPr/>
        </p:nvSpPr>
        <p:spPr>
          <a:xfrm>
            <a:off x="10248510" y="1466088"/>
            <a:ext cx="172835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t>
            </a:r>
            <a:r>
              <a:rPr kumimoji="1" lang="en-US" altLang="zh-TW" dirty="0" err="1">
                <a:latin typeface="Times New Roman" panose="02020603050405020304" pitchFamily="18" charset="0"/>
                <a:cs typeface="Times New Roman" panose="02020603050405020304" pitchFamily="18" charset="0"/>
              </a:rPr>
              <a:t>x+x</a:t>
            </a:r>
            <a:r>
              <a:rPr kumimoji="1" lang="en-US" altLang="zh-TW" dirty="0">
                <a:latin typeface="Times New Roman" panose="02020603050405020304" pitchFamily="18" charset="0"/>
                <a:cs typeface="Times New Roman" panose="02020603050405020304" pitchFamily="18" charset="0"/>
              </a:rPr>
              <a:t>)-(x+x-1)=1</a:t>
            </a:r>
            <a:endParaRPr kumimoji="1" lang="zh-TW" altLang="en-US"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3C81F93A-2D65-683F-9356-4674D188A5B4}"/>
              </a:ext>
            </a:extLst>
          </p:cNvPr>
          <p:cNvSpPr txBox="1"/>
          <p:nvPr/>
        </p:nvSpPr>
        <p:spPr>
          <a:xfrm>
            <a:off x="1552336" y="2663233"/>
            <a:ext cx="3499676"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每列</a:t>
            </a:r>
            <a:r>
              <a:rPr kumimoji="1" lang="en-US" altLang="zh-TW" dirty="0">
                <a:solidFill>
                  <a:srgbClr val="FF0000"/>
                </a:solidFill>
                <a:latin typeface="Times New Roman" panose="02020603050405020304" pitchFamily="18" charset="0"/>
                <a:cs typeface="Times New Roman" panose="02020603050405020304" pitchFamily="18" charset="0"/>
              </a:rPr>
              <a:t>/</a:t>
            </a:r>
            <a:r>
              <a:rPr kumimoji="1" lang="zh-TW" altLang="en-US" dirty="0">
                <a:solidFill>
                  <a:srgbClr val="FF0000"/>
                </a:solidFill>
                <a:latin typeface="Times New Roman" panose="02020603050405020304" pitchFamily="18" charset="0"/>
                <a:cs typeface="Times New Roman" panose="02020603050405020304" pitchFamily="18" charset="0"/>
              </a:rPr>
              <a:t>行只會存在一個</a:t>
            </a:r>
            <a:r>
              <a:rPr kumimoji="1" lang="en-US" altLang="zh-TW" dirty="0">
                <a:solidFill>
                  <a:srgbClr val="FF0000"/>
                </a:solidFill>
                <a:latin typeface="Times New Roman" panose="02020603050405020304" pitchFamily="18" charset="0"/>
                <a:cs typeface="Times New Roman" panose="02020603050405020304" pitchFamily="18" charset="0"/>
              </a:rPr>
              <a:t>critical point</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B98ED4C9-C92D-77DE-D9C1-7E4FE0EC205D}"/>
              </a:ext>
            </a:extLst>
          </p:cNvPr>
          <p:cNvSpPr txBox="1"/>
          <p:nvPr/>
        </p:nvSpPr>
        <p:spPr>
          <a:xfrm>
            <a:off x="7192378" y="3017909"/>
            <a:ext cx="2262158"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點會支配左下方的點</a:t>
            </a:r>
          </a:p>
        </p:txBody>
      </p:sp>
      <p:pic>
        <p:nvPicPr>
          <p:cNvPr id="22" name="圖片 21">
            <a:extLst>
              <a:ext uri="{FF2B5EF4-FFF2-40B4-BE49-F238E27FC236}">
                <a16:creationId xmlns:a16="http://schemas.microsoft.com/office/drawing/2014/main" id="{3457BF2F-3B14-FC92-2144-99EE8250C61F}"/>
              </a:ext>
            </a:extLst>
          </p:cNvPr>
          <p:cNvPicPr>
            <a:picLocks noChangeAspect="1"/>
          </p:cNvPicPr>
          <p:nvPr/>
        </p:nvPicPr>
        <p:blipFill>
          <a:blip r:embed="rId10"/>
          <a:stretch>
            <a:fillRect/>
          </a:stretch>
        </p:blipFill>
        <p:spPr>
          <a:xfrm>
            <a:off x="2701956" y="3565963"/>
            <a:ext cx="3568700" cy="342900"/>
          </a:xfrm>
          <a:prstGeom prst="rect">
            <a:avLst/>
          </a:prstGeom>
        </p:spPr>
      </p:pic>
      <p:sp>
        <p:nvSpPr>
          <p:cNvPr id="23" name="文字方塊 22">
            <a:extLst>
              <a:ext uri="{FF2B5EF4-FFF2-40B4-BE49-F238E27FC236}">
                <a16:creationId xmlns:a16="http://schemas.microsoft.com/office/drawing/2014/main" id="{1F155394-3CFA-E264-581D-4B4E183DA8E2}"/>
              </a:ext>
            </a:extLst>
          </p:cNvPr>
          <p:cNvSpPr txBox="1"/>
          <p:nvPr/>
        </p:nvSpPr>
        <p:spPr>
          <a:xfrm>
            <a:off x="6348442" y="3520278"/>
            <a:ext cx="3629520" cy="369332"/>
          </a:xfrm>
          <a:prstGeom prst="rect">
            <a:avLst/>
          </a:prstGeom>
          <a:noFill/>
        </p:spPr>
        <p:txBody>
          <a:bodyPr wrap="none" rtlCol="0">
            <a:spAutoFit/>
          </a:bodyPr>
          <a:lstStyle/>
          <a:p>
            <a:r>
              <a:rPr kumimoji="1" lang="en-US" altLang="zh-TW" dirty="0" err="1">
                <a:solidFill>
                  <a:srgbClr val="FF0000"/>
                </a:solidFill>
                <a:latin typeface="Times New Roman" panose="02020603050405020304" pitchFamily="18" charset="0"/>
                <a:cs typeface="Times New Roman" panose="02020603050405020304" pitchFamily="18" charset="0"/>
              </a:rPr>
              <a:t>d</a:t>
            </a:r>
            <a:r>
              <a:rPr kumimoji="1" lang="en-US" altLang="zh-TW" baseline="-25000" dirty="0" err="1">
                <a:solidFill>
                  <a:srgbClr val="FF0000"/>
                </a:solidFill>
                <a:latin typeface="Times New Roman" panose="02020603050405020304" pitchFamily="18" charset="0"/>
                <a:cs typeface="Times New Roman" panose="02020603050405020304" pitchFamily="18" charset="0"/>
              </a:rPr>
              <a:t>A</a:t>
            </a:r>
            <a:r>
              <a:rPr kumimoji="1" lang="en-US" altLang="zh-TW" dirty="0">
                <a:solidFill>
                  <a:srgbClr val="FF0000"/>
                </a:solidFill>
                <a:latin typeface="Times New Roman" panose="02020603050405020304" pitchFamily="18" charset="0"/>
                <a:cs typeface="Times New Roman" panose="02020603050405020304" pitchFamily="18" charset="0"/>
              </a:rPr>
              <a:t>(i</a:t>
            </a:r>
            <a:r>
              <a:rPr kumimoji="1" lang="en-US" altLang="zh-TW" baseline="-25000" dirty="0">
                <a:solidFill>
                  <a:srgbClr val="FF0000"/>
                </a:solidFill>
                <a:latin typeface="Times New Roman" panose="02020603050405020304" pitchFamily="18" charset="0"/>
                <a:cs typeface="Times New Roman" panose="02020603050405020304" pitchFamily="18" charset="0"/>
              </a:rPr>
              <a:t>0</a:t>
            </a:r>
            <a:r>
              <a:rPr kumimoji="1" lang="en-US" altLang="zh-TW" dirty="0">
                <a:solidFill>
                  <a:srgbClr val="FF0000"/>
                </a:solidFill>
                <a:latin typeface="Times New Roman" panose="02020603050405020304" pitchFamily="18" charset="0"/>
                <a:cs typeface="Times New Roman" panose="02020603050405020304" pitchFamily="18" charset="0"/>
              </a:rPr>
              <a:t>, j</a:t>
            </a:r>
            <a:r>
              <a:rPr kumimoji="1" lang="en-US" altLang="zh-TW" baseline="-25000" dirty="0">
                <a:solidFill>
                  <a:srgbClr val="FF0000"/>
                </a:solidFill>
                <a:latin typeface="Times New Roman" panose="02020603050405020304" pitchFamily="18" charset="0"/>
                <a:cs typeface="Times New Roman" panose="02020603050405020304" pitchFamily="18" charset="0"/>
              </a:rPr>
              <a:t>0</a:t>
            </a:r>
            <a:r>
              <a:rPr kumimoji="1" lang="en-US" altLang="zh-TW" dirty="0">
                <a:solidFill>
                  <a:srgbClr val="FF0000"/>
                </a:solidFill>
                <a:latin typeface="Times New Roman" panose="02020603050405020304" pitchFamily="18" charset="0"/>
                <a:cs typeface="Times New Roman" panose="02020603050405020304" pitchFamily="18" charset="0"/>
              </a:rPr>
              <a:t>)</a:t>
            </a:r>
            <a:r>
              <a:rPr kumimoji="1" lang="zh-TW" altLang="en-US" dirty="0">
                <a:solidFill>
                  <a:srgbClr val="FF0000"/>
                </a:solidFill>
                <a:latin typeface="Times New Roman" panose="02020603050405020304" pitchFamily="18" charset="0"/>
                <a:cs typeface="Times New Roman" panose="02020603050405020304" pitchFamily="18" charset="0"/>
              </a:rPr>
              <a:t>為</a:t>
            </a:r>
            <a:r>
              <a:rPr kumimoji="1" lang="en-US" altLang="zh-TW" dirty="0">
                <a:solidFill>
                  <a:srgbClr val="FF0000"/>
                </a:solidFill>
                <a:latin typeface="Times New Roman" panose="02020603050405020304" pitchFamily="18" charset="0"/>
                <a:cs typeface="Times New Roman" panose="02020603050405020304" pitchFamily="18" charset="0"/>
              </a:rPr>
              <a:t>(i</a:t>
            </a:r>
            <a:r>
              <a:rPr kumimoji="1" lang="en-US" altLang="zh-TW" baseline="-25000" dirty="0">
                <a:solidFill>
                  <a:srgbClr val="FF0000"/>
                </a:solidFill>
                <a:latin typeface="Times New Roman" panose="02020603050405020304" pitchFamily="18" charset="0"/>
                <a:cs typeface="Times New Roman" panose="02020603050405020304" pitchFamily="18" charset="0"/>
              </a:rPr>
              <a:t>0</a:t>
            </a:r>
            <a:r>
              <a:rPr kumimoji="1" lang="en-US" altLang="zh-TW" dirty="0">
                <a:solidFill>
                  <a:srgbClr val="FF0000"/>
                </a:solidFill>
                <a:latin typeface="Times New Roman" panose="02020603050405020304" pitchFamily="18" charset="0"/>
                <a:cs typeface="Times New Roman" panose="02020603050405020304" pitchFamily="18" charset="0"/>
              </a:rPr>
              <a:t>. j</a:t>
            </a:r>
            <a:r>
              <a:rPr kumimoji="1" lang="en-US" altLang="zh-TW" baseline="-25000" dirty="0">
                <a:solidFill>
                  <a:srgbClr val="FF0000"/>
                </a:solidFill>
                <a:latin typeface="Times New Roman" panose="02020603050405020304" pitchFamily="18" charset="0"/>
                <a:cs typeface="Times New Roman" panose="02020603050405020304" pitchFamily="18" charset="0"/>
              </a:rPr>
              <a:t>0</a:t>
            </a:r>
            <a:r>
              <a:rPr kumimoji="1" lang="en-US" altLang="zh-TW" dirty="0">
                <a:solidFill>
                  <a:srgbClr val="FF0000"/>
                </a:solidFill>
                <a:latin typeface="Times New Roman" panose="02020603050405020304" pitchFamily="18" charset="0"/>
                <a:cs typeface="Times New Roman" panose="02020603050405020304" pitchFamily="18" charset="0"/>
              </a:rPr>
              <a:t>)</a:t>
            </a:r>
            <a:r>
              <a:rPr kumimoji="1" lang="zh-TW" altLang="en-US" dirty="0">
                <a:solidFill>
                  <a:srgbClr val="FF0000"/>
                </a:solidFill>
                <a:latin typeface="Times New Roman" panose="02020603050405020304" pitchFamily="18" charset="0"/>
                <a:cs typeface="Times New Roman" panose="02020603050405020304" pitchFamily="18" charset="0"/>
              </a:rPr>
              <a:t>所支配的所有點數</a:t>
            </a:r>
          </a:p>
        </p:txBody>
      </p:sp>
      <p:sp>
        <p:nvSpPr>
          <p:cNvPr id="25" name="文字方塊 24">
            <a:extLst>
              <a:ext uri="{FF2B5EF4-FFF2-40B4-BE49-F238E27FC236}">
                <a16:creationId xmlns:a16="http://schemas.microsoft.com/office/drawing/2014/main" id="{39517E6C-81B2-E677-A2D4-819138002CFB}"/>
              </a:ext>
            </a:extLst>
          </p:cNvPr>
          <p:cNvSpPr txBox="1"/>
          <p:nvPr/>
        </p:nvSpPr>
        <p:spPr>
          <a:xfrm>
            <a:off x="3986502" y="3896117"/>
            <a:ext cx="4278428" cy="369332"/>
          </a:xfrm>
          <a:prstGeom prst="rect">
            <a:avLst/>
          </a:prstGeom>
          <a:noFill/>
        </p:spPr>
        <p:txBody>
          <a:bodyPr wrap="square" rtlCol="0">
            <a:spAutoFit/>
          </a:bodyPr>
          <a:lstStyle/>
          <a:p>
            <a:r>
              <a:rPr kumimoji="1" lang="en-US" altLang="zh-TW" dirty="0" err="1">
                <a:solidFill>
                  <a:srgbClr val="FF0000"/>
                </a:solidFill>
                <a:latin typeface="Times New Roman" panose="02020603050405020304" pitchFamily="18" charset="0"/>
                <a:cs typeface="Times New Roman" panose="02020603050405020304" pitchFamily="18" charset="0"/>
              </a:rPr>
              <a:t>d</a:t>
            </a:r>
            <a:r>
              <a:rPr kumimoji="1" lang="en-US" altLang="zh-TW" baseline="-25000" dirty="0" err="1">
                <a:solidFill>
                  <a:srgbClr val="FF0000"/>
                </a:solidFill>
                <a:latin typeface="Times New Roman" panose="02020603050405020304" pitchFamily="18" charset="0"/>
                <a:cs typeface="Times New Roman" panose="02020603050405020304" pitchFamily="18" charset="0"/>
              </a:rPr>
              <a:t>A</a:t>
            </a:r>
            <a:r>
              <a:rPr kumimoji="1" lang="en-US" altLang="zh-TW" dirty="0">
                <a:solidFill>
                  <a:srgbClr val="FF0000"/>
                </a:solidFill>
                <a:latin typeface="Times New Roman" panose="02020603050405020304" pitchFamily="18" charset="0"/>
                <a:cs typeface="Times New Roman" panose="02020603050405020304" pitchFamily="18" charset="0"/>
              </a:rPr>
              <a:t> -&gt; A</a:t>
            </a:r>
            <a:r>
              <a:rPr kumimoji="1" lang="zh-TW" altLang="en-US" dirty="0">
                <a:solidFill>
                  <a:srgbClr val="FF0000"/>
                </a:solidFill>
                <a:latin typeface="Times New Roman" panose="02020603050405020304" pitchFamily="18" charset="0"/>
                <a:cs typeface="Times New Roman" panose="02020603050405020304" pitchFamily="18" charset="0"/>
              </a:rPr>
              <a:t>，有</a:t>
            </a:r>
            <a:r>
              <a:rPr kumimoji="1" lang="en-US" altLang="zh-TW" dirty="0">
                <a:solidFill>
                  <a:srgbClr val="FF0000"/>
                </a:solidFill>
                <a:latin typeface="Times New Roman" panose="02020603050405020304" pitchFamily="18" charset="0"/>
                <a:cs typeface="Times New Roman" panose="02020603050405020304" pitchFamily="18" charset="0"/>
              </a:rPr>
              <a:t>critical point</a:t>
            </a:r>
            <a:r>
              <a:rPr kumimoji="1" lang="zh-TW" altLang="en-US" dirty="0">
                <a:solidFill>
                  <a:srgbClr val="FF0000"/>
                </a:solidFill>
                <a:latin typeface="Times New Roman" panose="02020603050405020304" pitchFamily="18" charset="0"/>
                <a:cs typeface="Times New Roman" panose="02020603050405020304" pitchFamily="18" charset="0"/>
              </a:rPr>
              <a:t>的地方就無法</a:t>
            </a:r>
            <a:r>
              <a:rPr kumimoji="1" lang="en-US" altLang="zh-TW" dirty="0">
                <a:solidFill>
                  <a:srgbClr val="FF0000"/>
                </a:solidFill>
                <a:latin typeface="Times New Roman" panose="02020603050405020304" pitchFamily="18" charset="0"/>
                <a:cs typeface="Times New Roman" panose="02020603050405020304" pitchFamily="18" charset="0"/>
              </a:rPr>
              <a:t>+1</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52CBA4FB-C43F-9D76-39F4-1FBA42CFDB6A}"/>
              </a:ext>
            </a:extLst>
          </p:cNvPr>
          <p:cNvSpPr txBox="1"/>
          <p:nvPr/>
        </p:nvSpPr>
        <p:spPr>
          <a:xfrm>
            <a:off x="9874858" y="4379158"/>
            <a:ext cx="2262158"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超界的點是不重要的</a:t>
            </a:r>
          </a:p>
        </p:txBody>
      </p:sp>
      <p:sp>
        <p:nvSpPr>
          <p:cNvPr id="27" name="文字方塊 26">
            <a:extLst>
              <a:ext uri="{FF2B5EF4-FFF2-40B4-BE49-F238E27FC236}">
                <a16:creationId xmlns:a16="http://schemas.microsoft.com/office/drawing/2014/main" id="{85A0E6BA-5900-21DB-3456-98664881C659}"/>
              </a:ext>
            </a:extLst>
          </p:cNvPr>
          <p:cNvSpPr txBox="1"/>
          <p:nvPr/>
        </p:nvSpPr>
        <p:spPr>
          <a:xfrm>
            <a:off x="8264930" y="4889420"/>
            <a:ext cx="3217547"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界內的點是重要的 </a:t>
            </a:r>
            <a:r>
              <a:rPr kumimoji="1" lang="en-US" altLang="zh-TW" dirty="0">
                <a:solidFill>
                  <a:srgbClr val="FF0000"/>
                </a:solidFill>
                <a:latin typeface="Times New Roman" panose="02020603050405020304" pitchFamily="18" charset="0"/>
                <a:cs typeface="Times New Roman" panose="02020603050405020304" pitchFamily="18" charset="0"/>
              </a:rPr>
              <a:t>(non-trivial)</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F07FEB09-5633-8CCC-3D79-E38FF1753403}"/>
              </a:ext>
            </a:extLst>
          </p:cNvPr>
          <p:cNvSpPr txBox="1"/>
          <p:nvPr/>
        </p:nvSpPr>
        <p:spPr>
          <a:xfrm>
            <a:off x="6454137" y="5321689"/>
            <a:ext cx="2610010"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重要的點只會有</a:t>
            </a:r>
            <a:r>
              <a:rPr kumimoji="1" lang="en-US" altLang="zh-TW" dirty="0">
                <a:solidFill>
                  <a:srgbClr val="FF0000"/>
                </a:solidFill>
                <a:latin typeface="Times New Roman" panose="02020603050405020304" pitchFamily="18" charset="0"/>
                <a:cs typeface="Times New Roman" panose="02020603050405020304" pitchFamily="18" charset="0"/>
              </a:rPr>
              <a:t>(</a:t>
            </a:r>
            <a:r>
              <a:rPr kumimoji="1" lang="en-US" altLang="zh-TW" dirty="0" err="1">
                <a:solidFill>
                  <a:srgbClr val="FF0000"/>
                </a:solidFill>
                <a:latin typeface="Times New Roman" panose="02020603050405020304" pitchFamily="18" charset="0"/>
                <a:cs typeface="Times New Roman" panose="02020603050405020304" pitchFamily="18" charset="0"/>
              </a:rPr>
              <a:t>m+n</a:t>
            </a:r>
            <a:r>
              <a:rPr kumimoji="1" lang="en-US" altLang="zh-TW" dirty="0">
                <a:solidFill>
                  <a:srgbClr val="FF0000"/>
                </a:solidFill>
                <a:latin typeface="Times New Roman" panose="02020603050405020304" pitchFamily="18" charset="0"/>
                <a:cs typeface="Times New Roman" panose="02020603050405020304" pitchFamily="18" charset="0"/>
              </a:rPr>
              <a:t>)</a:t>
            </a:r>
            <a:r>
              <a:rPr kumimoji="1" lang="zh-TW" altLang="en-US" dirty="0">
                <a:solidFill>
                  <a:srgbClr val="FF0000"/>
                </a:solidFill>
                <a:latin typeface="Times New Roman" panose="02020603050405020304" pitchFamily="18" charset="0"/>
                <a:cs typeface="Times New Roman" panose="02020603050405020304" pitchFamily="18" charset="0"/>
              </a:rPr>
              <a:t>個</a:t>
            </a:r>
          </a:p>
        </p:txBody>
      </p:sp>
      <p:sp>
        <p:nvSpPr>
          <p:cNvPr id="29" name="文字方塊 28">
            <a:extLst>
              <a:ext uri="{FF2B5EF4-FFF2-40B4-BE49-F238E27FC236}">
                <a16:creationId xmlns:a16="http://schemas.microsoft.com/office/drawing/2014/main" id="{C8A16D7A-669F-56F5-34F3-2E6149273450}"/>
              </a:ext>
            </a:extLst>
          </p:cNvPr>
          <p:cNvSpPr txBox="1"/>
          <p:nvPr/>
        </p:nvSpPr>
        <p:spPr>
          <a:xfrm>
            <a:off x="7192378" y="5826854"/>
            <a:ext cx="2698126" cy="369332"/>
          </a:xfrm>
          <a:prstGeom prst="rect">
            <a:avLst/>
          </a:prstGeom>
          <a:noFill/>
        </p:spPr>
        <p:txBody>
          <a:bodyPr wrap="squar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Critical point</a:t>
            </a:r>
            <a:r>
              <a:rPr kumimoji="1" lang="zh-TW" altLang="en-US" dirty="0">
                <a:solidFill>
                  <a:srgbClr val="FF0000"/>
                </a:solidFill>
                <a:latin typeface="Times New Roman" panose="02020603050405020304" pitchFamily="18" charset="0"/>
                <a:cs typeface="Times New Roman" panose="02020603050405020304" pitchFamily="18" charset="0"/>
              </a:rPr>
              <a:t>的對稱轉換</a:t>
            </a:r>
          </a:p>
        </p:txBody>
      </p:sp>
    </p:spTree>
    <p:extLst>
      <p:ext uri="{BB962C8B-B14F-4D97-AF65-F5344CB8AC3E}">
        <p14:creationId xmlns:p14="http://schemas.microsoft.com/office/powerpoint/2010/main" val="2097813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Concatenation of </a:t>
            </a:r>
            <a:r>
              <a:rPr kumimoji="1" lang="en-US" altLang="zh-TW" i="1" dirty="0"/>
              <a:t>A</a:t>
            </a:r>
            <a:r>
              <a:rPr kumimoji="1" lang="en-US" altLang="zh-TW" dirty="0"/>
              <a:t> And </a:t>
            </a:r>
            <a:r>
              <a:rPr kumimoji="1" lang="en-US" altLang="zh-TW" i="1" dirty="0"/>
              <a:t>B</a:t>
            </a:r>
            <a:endParaRPr kumimoji="1" lang="zh-TW" altLang="en-US" i="1"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7" name="圖片 6">
            <a:extLst>
              <a:ext uri="{FF2B5EF4-FFF2-40B4-BE49-F238E27FC236}">
                <a16:creationId xmlns:a16="http://schemas.microsoft.com/office/drawing/2014/main" id="{B4098F10-E6CB-447B-FB06-B9D96F3220E8}"/>
              </a:ext>
            </a:extLst>
          </p:cNvPr>
          <p:cNvPicPr>
            <a:picLocks noChangeAspect="1"/>
          </p:cNvPicPr>
          <p:nvPr/>
        </p:nvPicPr>
        <p:blipFill>
          <a:blip r:embed="rId2"/>
          <a:stretch>
            <a:fillRect/>
          </a:stretch>
        </p:blipFill>
        <p:spPr>
          <a:xfrm>
            <a:off x="782970" y="1371600"/>
            <a:ext cx="10540781" cy="826128"/>
          </a:xfrm>
          <a:prstGeom prst="rect">
            <a:avLst/>
          </a:prstGeom>
        </p:spPr>
      </p:pic>
      <p:pic>
        <p:nvPicPr>
          <p:cNvPr id="8" name="圖片 7">
            <a:extLst>
              <a:ext uri="{FF2B5EF4-FFF2-40B4-BE49-F238E27FC236}">
                <a16:creationId xmlns:a16="http://schemas.microsoft.com/office/drawing/2014/main" id="{F8F2DEED-B2CA-632D-DBCA-690883F6E3B9}"/>
              </a:ext>
            </a:extLst>
          </p:cNvPr>
          <p:cNvPicPr>
            <a:picLocks noChangeAspect="1"/>
          </p:cNvPicPr>
          <p:nvPr/>
        </p:nvPicPr>
        <p:blipFill>
          <a:blip r:embed="rId3"/>
          <a:stretch>
            <a:fillRect/>
          </a:stretch>
        </p:blipFill>
        <p:spPr>
          <a:xfrm>
            <a:off x="782970" y="2645933"/>
            <a:ext cx="10494882" cy="1040309"/>
          </a:xfrm>
          <a:prstGeom prst="rect">
            <a:avLst/>
          </a:prstGeom>
        </p:spPr>
      </p:pic>
      <p:sp>
        <p:nvSpPr>
          <p:cNvPr id="13" name="文字方塊 12">
            <a:extLst>
              <a:ext uri="{FF2B5EF4-FFF2-40B4-BE49-F238E27FC236}">
                <a16:creationId xmlns:a16="http://schemas.microsoft.com/office/drawing/2014/main" id="{7F327B36-5637-57A0-4FFA-2513904D3414}"/>
              </a:ext>
            </a:extLst>
          </p:cNvPr>
          <p:cNvSpPr txBox="1"/>
          <p:nvPr/>
        </p:nvSpPr>
        <p:spPr>
          <a:xfrm>
            <a:off x="838200" y="2129167"/>
            <a:ext cx="8111516"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使用</a:t>
            </a:r>
            <a:r>
              <a:rPr lang="en-US" altLang="zh-TW" dirty="0">
                <a:solidFill>
                  <a:srgbClr val="FF0000"/>
                </a:solidFill>
                <a:latin typeface="Times New Roman" panose="02020603050405020304" pitchFamily="18" charset="0"/>
                <a:cs typeface="Times New Roman" panose="02020603050405020304" pitchFamily="18" charset="0"/>
              </a:rPr>
              <a:t>Alves</a:t>
            </a:r>
            <a:r>
              <a:rPr kumimoji="1" lang="zh-TW" altLang="en-US" dirty="0">
                <a:solidFill>
                  <a:srgbClr val="FF0000"/>
                </a:solidFill>
                <a:latin typeface="Times New Roman" panose="02020603050405020304" pitchFamily="18" charset="0"/>
                <a:cs typeface="Times New Roman" panose="02020603050405020304" pitchFamily="18" charset="0"/>
              </a:rPr>
              <a:t> </a:t>
            </a:r>
            <a:r>
              <a:rPr kumimoji="1" lang="en-US" altLang="zh-TW" i="1" dirty="0">
                <a:solidFill>
                  <a:srgbClr val="FF0000"/>
                </a:solidFill>
                <a:latin typeface="Times New Roman" panose="02020603050405020304" pitchFamily="18" charset="0"/>
                <a:cs typeface="Times New Roman" panose="02020603050405020304" pitchFamily="18" charset="0"/>
              </a:rPr>
              <a:t>et. al </a:t>
            </a:r>
            <a:r>
              <a:rPr kumimoji="1" lang="en-US" altLang="zh-TW" dirty="0">
                <a:solidFill>
                  <a:srgbClr val="FF0000"/>
                </a:solidFill>
                <a:latin typeface="Times New Roman" panose="02020603050405020304" pitchFamily="18" charset="0"/>
                <a:cs typeface="Times New Roman" panose="02020603050405020304" pitchFamily="18" charset="0"/>
              </a:rPr>
              <a:t>(2008)</a:t>
            </a:r>
            <a:r>
              <a:rPr kumimoji="1" lang="zh-TW" altLang="en-US" dirty="0">
                <a:solidFill>
                  <a:srgbClr val="FF0000"/>
                </a:solidFill>
                <a:latin typeface="Times New Roman" panose="02020603050405020304" pitchFamily="18" charset="0"/>
                <a:cs typeface="Times New Roman" panose="02020603050405020304" pitchFamily="18" charset="0"/>
              </a:rPr>
              <a:t>的方法（</a:t>
            </a:r>
            <a:r>
              <a:rPr kumimoji="1" lang="en-US" altLang="zh-TW" dirty="0">
                <a:solidFill>
                  <a:srgbClr val="FF0000"/>
                </a:solidFill>
                <a:latin typeface="Times New Roman" panose="02020603050405020304" pitchFamily="18" charset="0"/>
                <a:cs typeface="Times New Roman" panose="02020603050405020304" pitchFamily="18" charset="0"/>
              </a:rPr>
              <a:t>s-table</a:t>
            </a:r>
            <a:r>
              <a:rPr kumimoji="1" lang="zh-TW" altLang="en-US" dirty="0">
                <a:solidFill>
                  <a:srgbClr val="FF0000"/>
                </a:solidFill>
                <a:latin typeface="Times New Roman" panose="02020603050405020304" pitchFamily="18" charset="0"/>
                <a:cs typeface="Times New Roman" panose="02020603050405020304" pitchFamily="18" charset="0"/>
              </a:rPr>
              <a:t>的作者）將</a:t>
            </a:r>
            <a:r>
              <a:rPr kumimoji="1" lang="en-US" altLang="zh-TW" dirty="0">
                <a:solidFill>
                  <a:srgbClr val="FF0000"/>
                </a:solidFill>
                <a:latin typeface="Times New Roman" panose="02020603050405020304" pitchFamily="18" charset="0"/>
                <a:cs typeface="Times New Roman" panose="02020603050405020304" pitchFamily="18" charset="0"/>
              </a:rPr>
              <a:t>A</a:t>
            </a:r>
            <a:r>
              <a:rPr kumimoji="1" lang="zh-TW" altLang="en-US" dirty="0">
                <a:solidFill>
                  <a:srgbClr val="FF0000"/>
                </a:solidFill>
                <a:latin typeface="Times New Roman" panose="02020603050405020304" pitchFamily="18" charset="0"/>
                <a:cs typeface="Times New Roman" panose="02020603050405020304" pitchFamily="18" charset="0"/>
              </a:rPr>
              <a:t>和</a:t>
            </a:r>
            <a:r>
              <a:rPr kumimoji="1" lang="en-US" altLang="zh-TW" dirty="0">
                <a:solidFill>
                  <a:srgbClr val="FF0000"/>
                </a:solidFill>
                <a:latin typeface="Times New Roman" panose="02020603050405020304" pitchFamily="18" charset="0"/>
                <a:cs typeface="Times New Roman" panose="02020603050405020304" pitchFamily="18" charset="0"/>
              </a:rPr>
              <a:t>B</a:t>
            </a:r>
            <a:r>
              <a:rPr kumimoji="1" lang="zh-TW" altLang="en-US" dirty="0">
                <a:solidFill>
                  <a:srgbClr val="FF0000"/>
                </a:solidFill>
                <a:latin typeface="Times New Roman" panose="02020603050405020304" pitchFamily="18" charset="0"/>
                <a:cs typeface="Times New Roman" panose="02020603050405020304" pitchFamily="18" charset="0"/>
              </a:rPr>
              <a:t>串接成</a:t>
            </a:r>
            <a:r>
              <a:rPr kumimoji="1" lang="en-US" altLang="zh-TW" dirty="0">
                <a:solidFill>
                  <a:srgbClr val="FF0000"/>
                </a:solidFill>
                <a:latin typeface="Times New Roman" panose="02020603050405020304" pitchFamily="18" charset="0"/>
                <a:cs typeface="Times New Roman" panose="02020603050405020304" pitchFamily="18" charset="0"/>
              </a:rPr>
              <a:t>C</a:t>
            </a:r>
            <a:r>
              <a:rPr kumimoji="1" lang="zh-TW" altLang="en-US" dirty="0">
                <a:solidFill>
                  <a:srgbClr val="FF0000"/>
                </a:solidFill>
                <a:latin typeface="Times New Roman" panose="02020603050405020304" pitchFamily="18" charset="0"/>
                <a:cs typeface="Times New Roman" panose="02020603050405020304" pitchFamily="18" charset="0"/>
              </a:rPr>
              <a:t>，需花</a:t>
            </a:r>
            <a:r>
              <a:rPr kumimoji="1" lang="en-US" altLang="zh-TW" dirty="0">
                <a:solidFill>
                  <a:srgbClr val="FF0000"/>
                </a:solidFill>
                <a:latin typeface="Times New Roman" panose="02020603050405020304" pitchFamily="18" charset="0"/>
                <a:cs typeface="Times New Roman" panose="02020603050405020304" pitchFamily="18" charset="0"/>
              </a:rPr>
              <a:t>O(</a:t>
            </a:r>
            <a:r>
              <a:rPr kumimoji="1" lang="en-US" altLang="zh-TW" dirty="0" err="1">
                <a:solidFill>
                  <a:srgbClr val="FF0000"/>
                </a:solidFill>
                <a:latin typeface="Times New Roman" panose="02020603050405020304" pitchFamily="18" charset="0"/>
                <a:cs typeface="Times New Roman" panose="02020603050405020304" pitchFamily="18" charset="0"/>
              </a:rPr>
              <a:t>M+mn</a:t>
            </a:r>
            <a:r>
              <a:rPr kumimoji="1" lang="en-US" altLang="zh-TW" dirty="0">
                <a:solidFill>
                  <a:srgbClr val="FF0000"/>
                </a:solidFill>
                <a:latin typeface="Times New Roman" panose="02020603050405020304" pitchFamily="18" charset="0"/>
                <a:cs typeface="Times New Roman" panose="02020603050405020304" pitchFamily="18" charset="0"/>
              </a:rPr>
              <a:t>)</a:t>
            </a:r>
            <a:endParaRPr lang="en-US" altLang="zh-TW"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291390E3-F235-0C67-F9B1-E4B5FB92C0B2}"/>
              </a:ext>
            </a:extLst>
          </p:cNvPr>
          <p:cNvSpPr txBox="1"/>
          <p:nvPr/>
        </p:nvSpPr>
        <p:spPr>
          <a:xfrm>
            <a:off x="7289260" y="2959335"/>
            <a:ext cx="3988592" cy="369332"/>
          </a:xfrm>
          <a:prstGeom prst="rect">
            <a:avLst/>
          </a:prstGeom>
          <a:noFill/>
        </p:spPr>
        <p:txBody>
          <a:bodyPr wrap="none" rtlCol="0">
            <a:spAutoFit/>
          </a:bodyPr>
          <a:lstStyle/>
          <a:p>
            <a:r>
              <a:rPr lang="zh-TW" altLang="en-US" dirty="0">
                <a:solidFill>
                  <a:srgbClr val="FF0000"/>
                </a:solidFill>
                <a:latin typeface="Times New Roman" panose="02020603050405020304" pitchFamily="18" charset="0"/>
                <a:cs typeface="Times New Roman" panose="02020603050405020304" pitchFamily="18" charset="0"/>
              </a:rPr>
              <a:t>利用</a:t>
            </a:r>
            <a:r>
              <a:rPr lang="en-US" altLang="zh-TW" dirty="0">
                <a:solidFill>
                  <a:srgbClr val="FF0000"/>
                </a:solidFill>
                <a:latin typeface="Times New Roman" panose="02020603050405020304" pitchFamily="18" charset="0"/>
                <a:cs typeface="Times New Roman" panose="02020603050405020304" pitchFamily="18" charset="0"/>
              </a:rPr>
              <a:t>(min,+)-product</a:t>
            </a:r>
            <a:r>
              <a:rPr lang="zh-TW" altLang="en-US" dirty="0">
                <a:solidFill>
                  <a:srgbClr val="FF0000"/>
                </a:solidFill>
                <a:latin typeface="Times New Roman" panose="02020603050405020304" pitchFamily="18" charset="0"/>
                <a:cs typeface="Times New Roman" panose="02020603050405020304" pitchFamily="18" charset="0"/>
              </a:rPr>
              <a:t>，將</a:t>
            </a:r>
            <a:r>
              <a:rPr kumimoji="1" lang="en-US" altLang="zh-TW" dirty="0">
                <a:solidFill>
                  <a:srgbClr val="FF0000"/>
                </a:solidFill>
                <a:latin typeface="Times New Roman" panose="02020603050405020304" pitchFamily="18" charset="0"/>
                <a:cs typeface="Times New Roman" panose="02020603050405020304" pitchFamily="18" charset="0"/>
              </a:rPr>
              <a:t>A</a:t>
            </a:r>
            <a:r>
              <a:rPr kumimoji="1" lang="zh-TW" altLang="en-US" dirty="0">
                <a:solidFill>
                  <a:srgbClr val="FF0000"/>
                </a:solidFill>
                <a:latin typeface="Times New Roman" panose="02020603050405020304" pitchFamily="18" charset="0"/>
                <a:cs typeface="Times New Roman" panose="02020603050405020304" pitchFamily="18" charset="0"/>
              </a:rPr>
              <a:t>和</a:t>
            </a:r>
            <a:r>
              <a:rPr kumimoji="1" lang="en-US" altLang="zh-TW" dirty="0">
                <a:solidFill>
                  <a:srgbClr val="FF0000"/>
                </a:solidFill>
                <a:latin typeface="Times New Roman" panose="02020603050405020304" pitchFamily="18" charset="0"/>
                <a:cs typeface="Times New Roman" panose="02020603050405020304" pitchFamily="18" charset="0"/>
              </a:rPr>
              <a:t>B</a:t>
            </a:r>
            <a:r>
              <a:rPr kumimoji="1" lang="zh-TW" altLang="en-US" dirty="0">
                <a:solidFill>
                  <a:srgbClr val="FF0000"/>
                </a:solidFill>
                <a:latin typeface="Times New Roman" panose="02020603050405020304" pitchFamily="18" charset="0"/>
                <a:cs typeface="Times New Roman" panose="02020603050405020304" pitchFamily="18" charset="0"/>
              </a:rPr>
              <a:t>串接成</a:t>
            </a:r>
            <a:r>
              <a:rPr kumimoji="1" lang="en-US" altLang="zh-TW" dirty="0">
                <a:solidFill>
                  <a:srgbClr val="FF0000"/>
                </a:solidFill>
                <a:latin typeface="Times New Roman" panose="02020603050405020304" pitchFamily="18" charset="0"/>
                <a:cs typeface="Times New Roman" panose="02020603050405020304" pitchFamily="18" charset="0"/>
              </a:rPr>
              <a:t>C</a:t>
            </a:r>
            <a:endParaRPr lang="en-US" altLang="zh-TW" dirty="0">
              <a:solidFill>
                <a:srgbClr val="FF0000"/>
              </a:solidFill>
              <a:latin typeface="Times New Roman" panose="02020603050405020304" pitchFamily="18" charset="0"/>
              <a:cs typeface="Times New Roman" panose="02020603050405020304" pitchFamily="18" charset="0"/>
            </a:endParaRPr>
          </a:p>
        </p:txBody>
      </p:sp>
      <p:pic>
        <p:nvPicPr>
          <p:cNvPr id="16" name="圖片 15">
            <a:extLst>
              <a:ext uri="{FF2B5EF4-FFF2-40B4-BE49-F238E27FC236}">
                <a16:creationId xmlns:a16="http://schemas.microsoft.com/office/drawing/2014/main" id="{29F01FF7-2248-D3CD-AA03-07E3DA25663C}"/>
              </a:ext>
            </a:extLst>
          </p:cNvPr>
          <p:cNvPicPr>
            <a:picLocks noChangeAspect="1"/>
          </p:cNvPicPr>
          <p:nvPr/>
        </p:nvPicPr>
        <p:blipFill>
          <a:blip r:embed="rId4"/>
          <a:stretch>
            <a:fillRect/>
          </a:stretch>
        </p:blipFill>
        <p:spPr>
          <a:xfrm>
            <a:off x="6743347" y="3686242"/>
            <a:ext cx="5295900" cy="2781300"/>
          </a:xfrm>
          <a:prstGeom prst="rect">
            <a:avLst/>
          </a:prstGeom>
        </p:spPr>
      </p:pic>
      <p:sp>
        <p:nvSpPr>
          <p:cNvPr id="17" name="矩形 16">
            <a:extLst>
              <a:ext uri="{FF2B5EF4-FFF2-40B4-BE49-F238E27FC236}">
                <a16:creationId xmlns:a16="http://schemas.microsoft.com/office/drawing/2014/main" id="{A6BE413A-9905-37EC-C602-947AAF05C6A7}"/>
              </a:ext>
            </a:extLst>
          </p:cNvPr>
          <p:cNvSpPr/>
          <p:nvPr/>
        </p:nvSpPr>
        <p:spPr>
          <a:xfrm>
            <a:off x="5488055" y="3244334"/>
            <a:ext cx="1254061" cy="369332"/>
          </a:xfrm>
          <a:prstGeom prst="rect">
            <a:avLst/>
          </a:prstGeom>
        </p:spPr>
        <p:txBody>
          <a:bodyPr wrap="none">
            <a:spAutoFit/>
          </a:bodyPr>
          <a:lstStyle/>
          <a:p>
            <a:r>
              <a:rPr lang="en-US" altLang="zh-TW" dirty="0">
                <a:solidFill>
                  <a:srgbClr val="FF0000"/>
                </a:solidFill>
                <a:latin typeface="Times" pitchFamily="2" charset="0"/>
              </a:rPr>
              <a:t>A </a:t>
            </a:r>
            <a:r>
              <a:rPr lang="en-US" altLang="zh-TW" dirty="0">
                <a:solidFill>
                  <a:srgbClr val="FF0000"/>
                </a:solidFill>
                <a:latin typeface="Helvetica" pitchFamily="2" charset="0"/>
              </a:rPr>
              <a:t>⊙ </a:t>
            </a:r>
            <a:r>
              <a:rPr lang="en-US" altLang="zh-TW" dirty="0">
                <a:solidFill>
                  <a:srgbClr val="FF0000"/>
                </a:solidFill>
                <a:latin typeface="Times" pitchFamily="2" charset="0"/>
              </a:rPr>
              <a:t>B </a:t>
            </a:r>
            <a:r>
              <a:rPr lang="en-US" altLang="zh-TW" dirty="0">
                <a:solidFill>
                  <a:srgbClr val="FF0000"/>
                </a:solidFill>
                <a:latin typeface="Helvetica" pitchFamily="2" charset="0"/>
              </a:rPr>
              <a:t>= </a:t>
            </a:r>
            <a:r>
              <a:rPr lang="en-US" altLang="zh-TW" dirty="0">
                <a:solidFill>
                  <a:srgbClr val="FF0000"/>
                </a:solidFill>
                <a:latin typeface="Times" pitchFamily="2" charset="0"/>
              </a:rPr>
              <a:t>C</a:t>
            </a:r>
            <a:endParaRPr lang="en-US" altLang="zh-TW" dirty="0">
              <a:solidFill>
                <a:srgbClr val="FF0000"/>
              </a:solidFill>
              <a:effectLst/>
              <a:latin typeface="Times" pitchFamily="2" charset="0"/>
            </a:endParaRPr>
          </a:p>
        </p:txBody>
      </p:sp>
      <p:sp>
        <p:nvSpPr>
          <p:cNvPr id="19" name="矩形 18">
            <a:extLst>
              <a:ext uri="{FF2B5EF4-FFF2-40B4-BE49-F238E27FC236}">
                <a16:creationId xmlns:a16="http://schemas.microsoft.com/office/drawing/2014/main" id="{197BE836-5F44-7B2F-EBA7-C83A163293E1}"/>
              </a:ext>
            </a:extLst>
          </p:cNvPr>
          <p:cNvSpPr/>
          <p:nvPr/>
        </p:nvSpPr>
        <p:spPr>
          <a:xfrm>
            <a:off x="782970" y="5142728"/>
            <a:ext cx="4872395" cy="1323439"/>
          </a:xfrm>
          <a:prstGeom prst="rect">
            <a:avLst/>
          </a:prstGeom>
        </p:spPr>
        <p:txBody>
          <a:bodyPr wrap="square">
            <a:spAutoFit/>
          </a:bodyPr>
          <a:lstStyle/>
          <a:p>
            <a:pPr marL="285750" indent="-285750">
              <a:buFont typeface="Arial" panose="020B0604020202020204" pitchFamily="34" charset="0"/>
              <a:buChar char="•"/>
            </a:pPr>
            <a:r>
              <a:rPr lang="en-US" altLang="zh-TW" sz="2000" dirty="0">
                <a:solidFill>
                  <a:srgbClr val="000000"/>
                </a:solidFill>
                <a:latin typeface="Times" pitchFamily="2" charset="0"/>
              </a:rPr>
              <a:t>Highest-score matrix multiplication</a:t>
            </a:r>
          </a:p>
          <a:p>
            <a:pPr marL="742950" lvl="1" indent="-285750">
              <a:buFont typeface="Arial" panose="020B0604020202020204" pitchFamily="34" charset="0"/>
              <a:buChar char="•"/>
            </a:pPr>
            <a:r>
              <a:rPr lang="en-US" altLang="zh-TW" sz="2000" dirty="0" err="1">
                <a:solidFill>
                  <a:srgbClr val="000000"/>
                </a:solidFill>
                <a:latin typeface="Times" pitchFamily="2" charset="0"/>
              </a:rPr>
              <a:t>Naived</a:t>
            </a:r>
            <a:r>
              <a:rPr lang="en-US" altLang="zh-TW" sz="2000" dirty="0">
                <a:solidFill>
                  <a:srgbClr val="000000"/>
                </a:solidFill>
                <a:latin typeface="Times" pitchFamily="2" charset="0"/>
              </a:rPr>
              <a:t>: O((</a:t>
            </a:r>
            <a:r>
              <a:rPr lang="en-US" altLang="zh-TW" sz="2000" dirty="0" err="1">
                <a:solidFill>
                  <a:srgbClr val="000000"/>
                </a:solidFill>
                <a:latin typeface="Times" pitchFamily="2" charset="0"/>
              </a:rPr>
              <a:t>M+n</a:t>
            </a:r>
            <a:r>
              <a:rPr lang="en-US" altLang="zh-TW" sz="2000" dirty="0">
                <a:solidFill>
                  <a:srgbClr val="000000"/>
                </a:solidFill>
                <a:latin typeface="Times" pitchFamily="2" charset="0"/>
              </a:rPr>
              <a:t>)</a:t>
            </a:r>
            <a:r>
              <a:rPr lang="en-US" altLang="zh-TW" sz="2000" baseline="30000" dirty="0">
                <a:solidFill>
                  <a:srgbClr val="000000"/>
                </a:solidFill>
                <a:latin typeface="Times" pitchFamily="2" charset="0"/>
              </a:rPr>
              <a:t>3</a:t>
            </a:r>
            <a:r>
              <a:rPr lang="en-US" altLang="zh-TW" sz="2000" dirty="0">
                <a:solidFill>
                  <a:srgbClr val="000000"/>
                </a:solidFill>
                <a:latin typeface="Times" pitchFamily="2" charset="0"/>
              </a:rPr>
              <a:t>)</a:t>
            </a:r>
          </a:p>
          <a:p>
            <a:pPr marL="742950" lvl="1" indent="-285750">
              <a:buFont typeface="Arial" panose="020B0604020202020204" pitchFamily="34" charset="0"/>
              <a:buChar char="•"/>
            </a:pPr>
            <a:r>
              <a:rPr lang="en-US" altLang="zh-TW" sz="2000" dirty="0">
                <a:solidFill>
                  <a:srgbClr val="000000"/>
                </a:solidFill>
                <a:latin typeface="Times" pitchFamily="2" charset="0"/>
              </a:rPr>
              <a:t>Using Monge property: O((</a:t>
            </a:r>
            <a:r>
              <a:rPr lang="en-US" altLang="zh-TW" sz="2000" dirty="0" err="1">
                <a:solidFill>
                  <a:srgbClr val="000000"/>
                </a:solidFill>
                <a:latin typeface="Times" pitchFamily="2" charset="0"/>
              </a:rPr>
              <a:t>M+n</a:t>
            </a:r>
            <a:r>
              <a:rPr lang="en-US" altLang="zh-TW" sz="2000" dirty="0">
                <a:solidFill>
                  <a:srgbClr val="000000"/>
                </a:solidFill>
                <a:latin typeface="Times" pitchFamily="2" charset="0"/>
              </a:rPr>
              <a:t>)</a:t>
            </a:r>
            <a:r>
              <a:rPr lang="en-US" altLang="zh-TW" sz="2000" baseline="30000" dirty="0">
                <a:solidFill>
                  <a:srgbClr val="000000"/>
                </a:solidFill>
                <a:latin typeface="Times" pitchFamily="2" charset="0"/>
              </a:rPr>
              <a:t>2</a:t>
            </a:r>
            <a:r>
              <a:rPr lang="en-US" altLang="zh-TW" sz="2000" dirty="0">
                <a:solidFill>
                  <a:srgbClr val="000000"/>
                </a:solidFill>
                <a:latin typeface="Times" pitchFamily="2" charset="0"/>
              </a:rPr>
              <a:t>)</a:t>
            </a:r>
          </a:p>
          <a:p>
            <a:pPr marL="742950" lvl="1" indent="-285750">
              <a:buFont typeface="Arial" panose="020B0604020202020204" pitchFamily="34" charset="0"/>
              <a:buChar char="•"/>
            </a:pPr>
            <a:r>
              <a:rPr lang="en-US" altLang="zh-TW" sz="2000" dirty="0">
                <a:solidFill>
                  <a:srgbClr val="000000"/>
                </a:solidFill>
                <a:latin typeface="Times" pitchFamily="2" charset="0"/>
              </a:rPr>
              <a:t>This paper: O(n</a:t>
            </a:r>
            <a:r>
              <a:rPr lang="en-US" altLang="zh-TW" sz="2000" baseline="30000" dirty="0">
                <a:solidFill>
                  <a:srgbClr val="000000"/>
                </a:solidFill>
                <a:latin typeface="Times" pitchFamily="2" charset="0"/>
              </a:rPr>
              <a:t>1.5</a:t>
            </a:r>
            <a:r>
              <a:rPr lang="en-US" altLang="zh-TW" sz="2000" dirty="0">
                <a:solidFill>
                  <a:srgbClr val="000000"/>
                </a:solidFill>
                <a:latin typeface="Times" pitchFamily="2" charset="0"/>
              </a:rPr>
              <a:t>)</a:t>
            </a:r>
          </a:p>
        </p:txBody>
      </p:sp>
      <p:sp>
        <p:nvSpPr>
          <p:cNvPr id="21" name="矩形 20">
            <a:extLst>
              <a:ext uri="{FF2B5EF4-FFF2-40B4-BE49-F238E27FC236}">
                <a16:creationId xmlns:a16="http://schemas.microsoft.com/office/drawing/2014/main" id="{1AAD666A-7CE8-C9F9-3D22-71AE95030641}"/>
              </a:ext>
            </a:extLst>
          </p:cNvPr>
          <p:cNvSpPr/>
          <p:nvPr/>
        </p:nvSpPr>
        <p:spPr>
          <a:xfrm>
            <a:off x="891801" y="3725997"/>
            <a:ext cx="1841460" cy="1323439"/>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bc</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t>
            </a:r>
            <a:endParaRPr lang="en-US" altLang="zh-TW" sz="1000" dirty="0">
              <a:solidFill>
                <a:srgbClr val="000000"/>
              </a:solidFill>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\j 0  1  2  3  4  5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0  0  1  1  1  1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1  0  0  0  0  1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2  0  0  0  0  1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3  0  0  0  0  1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4  0  0  0  0  0  1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5  0  0  0  0  0  0</a:t>
            </a:r>
            <a:endParaRPr lang="en-US" altLang="zh-TW" sz="1000" dirty="0">
              <a:solidFill>
                <a:srgbClr val="000000"/>
              </a:solidFill>
              <a:effectLst/>
              <a:latin typeface="Menlo" panose="020B0609030804020204" pitchFamily="49" charset="0"/>
            </a:endParaRPr>
          </a:p>
        </p:txBody>
      </p:sp>
      <p:sp>
        <p:nvSpPr>
          <p:cNvPr id="22" name="矩形 21">
            <a:extLst>
              <a:ext uri="{FF2B5EF4-FFF2-40B4-BE49-F238E27FC236}">
                <a16:creationId xmlns:a16="http://schemas.microsoft.com/office/drawing/2014/main" id="{1820B2DA-6606-1D4E-F093-835C5140D5E6}"/>
              </a:ext>
            </a:extLst>
          </p:cNvPr>
          <p:cNvSpPr/>
          <p:nvPr/>
        </p:nvSpPr>
        <p:spPr>
          <a:xfrm>
            <a:off x="2787677" y="3725997"/>
            <a:ext cx="1841460" cy="1323439"/>
          </a:xfrm>
          <a:prstGeom prst="rect">
            <a:avLst/>
          </a:prstGeom>
        </p:spPr>
        <p:txBody>
          <a:bodyPr wrap="square">
            <a:spAutoFit/>
          </a:bodyPr>
          <a:lstStyle/>
          <a:p>
            <a:r>
              <a:rPr lang="en-US" altLang="zh-TW" sz="1000" b="1" dirty="0">
                <a:solidFill>
                  <a:srgbClr val="000000"/>
                </a:solidFill>
                <a:latin typeface="Menlo" panose="020B0609030804020204" pitchFamily="49" charset="0"/>
              </a:rPr>
              <a:t>A : a, B : </a:t>
            </a:r>
            <a:r>
              <a:rPr lang="en-US" altLang="zh-TW" sz="1000" b="1" dirty="0" err="1">
                <a:solidFill>
                  <a:srgbClr val="000000"/>
                </a:solidFill>
                <a:latin typeface="Menlo" panose="020B0609030804020204" pitchFamily="49" charset="0"/>
              </a:rPr>
              <a:t>baabc</a:t>
            </a:r>
            <a:endParaRPr lang="en-US" altLang="zh-TW" sz="1000" dirty="0">
              <a:solidFill>
                <a:srgbClr val="000000"/>
              </a:solidFill>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\j 0  1  2  3  4  5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0  0  0  1  1  1  1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1  0  0  1  1  1  1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2  0  0  0  1  1  1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3  0  0  0  0  0  0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4  0  0  0  0  0  0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5  0  0  0  0  0  0</a:t>
            </a:r>
            <a:endParaRPr lang="en-US" altLang="zh-TW" sz="1000" dirty="0">
              <a:solidFill>
                <a:srgbClr val="000000"/>
              </a:solidFill>
              <a:effectLst/>
              <a:latin typeface="Menlo" panose="020B0609030804020204" pitchFamily="49" charset="0"/>
            </a:endParaRPr>
          </a:p>
        </p:txBody>
      </p:sp>
      <p:sp>
        <p:nvSpPr>
          <p:cNvPr id="23" name="矩形 22">
            <a:extLst>
              <a:ext uri="{FF2B5EF4-FFF2-40B4-BE49-F238E27FC236}">
                <a16:creationId xmlns:a16="http://schemas.microsoft.com/office/drawing/2014/main" id="{AF96D5CA-8F08-C194-F575-79229272CDC5}"/>
              </a:ext>
            </a:extLst>
          </p:cNvPr>
          <p:cNvSpPr/>
          <p:nvPr/>
        </p:nvSpPr>
        <p:spPr>
          <a:xfrm>
            <a:off x="4683552" y="3725997"/>
            <a:ext cx="1945848" cy="1323439"/>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bca</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t>
            </a:r>
            <a:endParaRPr lang="en-US" altLang="zh-TW" sz="1000" dirty="0">
              <a:solidFill>
                <a:srgbClr val="000000"/>
              </a:solidFill>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\j 0  1  2  3  4  5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0  0  1  2  2  2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1  0  0  1  1  1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2  0  0  0  1  1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3  0  0  0  0  1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4  0  0  0  0  0  1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5  0  0  0  0  0  0</a:t>
            </a:r>
            <a:endParaRPr lang="en-US" altLang="zh-TW" sz="1000" dirty="0">
              <a:solidFill>
                <a:srgbClr val="000000"/>
              </a:solidFill>
              <a:effectLst/>
              <a:latin typeface="Menlo" panose="020B0609030804020204" pitchFamily="49" charset="0"/>
            </a:endParaRPr>
          </a:p>
        </p:txBody>
      </p:sp>
      <p:sp>
        <p:nvSpPr>
          <p:cNvPr id="24" name="矩形 23">
            <a:extLst>
              <a:ext uri="{FF2B5EF4-FFF2-40B4-BE49-F238E27FC236}">
                <a16:creationId xmlns:a16="http://schemas.microsoft.com/office/drawing/2014/main" id="{EE811990-5F2A-165B-1FEF-F5D0CA6FE387}"/>
              </a:ext>
            </a:extLst>
          </p:cNvPr>
          <p:cNvSpPr/>
          <p:nvPr/>
        </p:nvSpPr>
        <p:spPr>
          <a:xfrm>
            <a:off x="5188440" y="5049436"/>
            <a:ext cx="1352916" cy="646331"/>
          </a:xfrm>
          <a:prstGeom prst="rect">
            <a:avLst/>
          </a:prstGeom>
        </p:spPr>
        <p:txBody>
          <a:bodyPr wrap="square">
            <a:spAutoFit/>
          </a:bodyPr>
          <a:lstStyle/>
          <a:p>
            <a:r>
              <a:rPr lang="zh-TW" altLang="en-US" dirty="0">
                <a:solidFill>
                  <a:srgbClr val="FF0000"/>
                </a:solidFill>
                <a:latin typeface="Times" pitchFamily="2" charset="0"/>
              </a:rPr>
              <a:t>依照上例，</a:t>
            </a:r>
            <a:r>
              <a:rPr lang="en-US" altLang="zh-TW" dirty="0">
                <a:solidFill>
                  <a:srgbClr val="FF0000"/>
                </a:solidFill>
                <a:latin typeface="Times" pitchFamily="2" charset="0"/>
              </a:rPr>
              <a:t>A </a:t>
            </a:r>
            <a:r>
              <a:rPr lang="en-US" altLang="zh-TW" dirty="0">
                <a:solidFill>
                  <a:srgbClr val="FF0000"/>
                </a:solidFill>
                <a:latin typeface="Helvetica" pitchFamily="2" charset="0"/>
              </a:rPr>
              <a:t>⊙ </a:t>
            </a:r>
            <a:r>
              <a:rPr lang="en-US" altLang="zh-TW" dirty="0">
                <a:solidFill>
                  <a:srgbClr val="FF0000"/>
                </a:solidFill>
                <a:latin typeface="Times" pitchFamily="2" charset="0"/>
              </a:rPr>
              <a:t>B </a:t>
            </a:r>
            <a:r>
              <a:rPr lang="en-US" altLang="zh-TW" dirty="0">
                <a:solidFill>
                  <a:srgbClr val="FF0000"/>
                </a:solidFill>
                <a:latin typeface="Helvetica" pitchFamily="2" charset="0"/>
              </a:rPr>
              <a:t>≠ </a:t>
            </a:r>
            <a:r>
              <a:rPr lang="en-US" altLang="zh-TW" dirty="0">
                <a:solidFill>
                  <a:srgbClr val="FF0000"/>
                </a:solidFill>
                <a:latin typeface="Times" pitchFamily="2" charset="0"/>
              </a:rPr>
              <a:t>C</a:t>
            </a:r>
            <a:endParaRPr lang="en-US" altLang="zh-TW" dirty="0">
              <a:solidFill>
                <a:srgbClr val="FF0000"/>
              </a:solidFill>
              <a:effectLst/>
              <a:latin typeface="Times" pitchFamily="2" charset="0"/>
            </a:endParaRPr>
          </a:p>
        </p:txBody>
      </p:sp>
    </p:spTree>
    <p:extLst>
      <p:ext uri="{BB962C8B-B14F-4D97-AF65-F5344CB8AC3E}">
        <p14:creationId xmlns:p14="http://schemas.microsoft.com/office/powerpoint/2010/main" val="3752278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Algorithm1: Divide And Conquer (1/2)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pic>
        <p:nvPicPr>
          <p:cNvPr id="9" name="圖片 8">
            <a:extLst>
              <a:ext uri="{FF2B5EF4-FFF2-40B4-BE49-F238E27FC236}">
                <a16:creationId xmlns:a16="http://schemas.microsoft.com/office/drawing/2014/main" id="{CDB999E7-F19B-DCD8-B4E6-789289893CD7}"/>
              </a:ext>
            </a:extLst>
          </p:cNvPr>
          <p:cNvPicPr>
            <a:picLocks noChangeAspect="1"/>
          </p:cNvPicPr>
          <p:nvPr/>
        </p:nvPicPr>
        <p:blipFill>
          <a:blip r:embed="rId2"/>
          <a:stretch>
            <a:fillRect/>
          </a:stretch>
        </p:blipFill>
        <p:spPr>
          <a:xfrm>
            <a:off x="782971" y="1505556"/>
            <a:ext cx="8712200" cy="647700"/>
          </a:xfrm>
          <a:prstGeom prst="rect">
            <a:avLst/>
          </a:prstGeom>
        </p:spPr>
      </p:pic>
      <p:pic>
        <p:nvPicPr>
          <p:cNvPr id="3" name="圖片 2">
            <a:extLst>
              <a:ext uri="{FF2B5EF4-FFF2-40B4-BE49-F238E27FC236}">
                <a16:creationId xmlns:a16="http://schemas.microsoft.com/office/drawing/2014/main" id="{D18C92AF-14A9-D49A-A934-116571865380}"/>
              </a:ext>
            </a:extLst>
          </p:cNvPr>
          <p:cNvPicPr>
            <a:picLocks noChangeAspect="1"/>
          </p:cNvPicPr>
          <p:nvPr/>
        </p:nvPicPr>
        <p:blipFill>
          <a:blip r:embed="rId3"/>
          <a:stretch>
            <a:fillRect/>
          </a:stretch>
        </p:blipFill>
        <p:spPr>
          <a:xfrm>
            <a:off x="1360557" y="3426511"/>
            <a:ext cx="5892800" cy="342900"/>
          </a:xfrm>
          <a:prstGeom prst="rect">
            <a:avLst/>
          </a:prstGeom>
        </p:spPr>
      </p:pic>
      <p:pic>
        <p:nvPicPr>
          <p:cNvPr id="4" name="圖片 3">
            <a:extLst>
              <a:ext uri="{FF2B5EF4-FFF2-40B4-BE49-F238E27FC236}">
                <a16:creationId xmlns:a16="http://schemas.microsoft.com/office/drawing/2014/main" id="{D7D787E8-98F7-3694-C53D-F310AEB8AD4E}"/>
              </a:ext>
            </a:extLst>
          </p:cNvPr>
          <p:cNvPicPr>
            <a:picLocks noChangeAspect="1"/>
          </p:cNvPicPr>
          <p:nvPr/>
        </p:nvPicPr>
        <p:blipFill>
          <a:blip r:embed="rId4"/>
          <a:stretch>
            <a:fillRect/>
          </a:stretch>
        </p:blipFill>
        <p:spPr>
          <a:xfrm>
            <a:off x="1360557" y="3880101"/>
            <a:ext cx="3708400" cy="685800"/>
          </a:xfrm>
          <a:prstGeom prst="rect">
            <a:avLst/>
          </a:prstGeom>
        </p:spPr>
      </p:pic>
      <p:pic>
        <p:nvPicPr>
          <p:cNvPr id="5" name="圖片 4">
            <a:extLst>
              <a:ext uri="{FF2B5EF4-FFF2-40B4-BE49-F238E27FC236}">
                <a16:creationId xmlns:a16="http://schemas.microsoft.com/office/drawing/2014/main" id="{E00665F3-6E24-767B-D194-046251846F96}"/>
              </a:ext>
            </a:extLst>
          </p:cNvPr>
          <p:cNvPicPr>
            <a:picLocks noChangeAspect="1"/>
          </p:cNvPicPr>
          <p:nvPr/>
        </p:nvPicPr>
        <p:blipFill>
          <a:blip r:embed="rId5"/>
          <a:stretch>
            <a:fillRect/>
          </a:stretch>
        </p:blipFill>
        <p:spPr>
          <a:xfrm>
            <a:off x="1360556" y="4817639"/>
            <a:ext cx="4292600" cy="1397000"/>
          </a:xfrm>
          <a:prstGeom prst="rect">
            <a:avLst/>
          </a:prstGeom>
        </p:spPr>
      </p:pic>
      <p:pic>
        <p:nvPicPr>
          <p:cNvPr id="12" name="圖片 11">
            <a:extLst>
              <a:ext uri="{FF2B5EF4-FFF2-40B4-BE49-F238E27FC236}">
                <a16:creationId xmlns:a16="http://schemas.microsoft.com/office/drawing/2014/main" id="{8314FAD9-9C86-54D9-D77B-17EFDEC82DE1}"/>
              </a:ext>
            </a:extLst>
          </p:cNvPr>
          <p:cNvPicPr>
            <a:picLocks noChangeAspect="1"/>
          </p:cNvPicPr>
          <p:nvPr/>
        </p:nvPicPr>
        <p:blipFill>
          <a:blip r:embed="rId6"/>
          <a:stretch>
            <a:fillRect/>
          </a:stretch>
        </p:blipFill>
        <p:spPr>
          <a:xfrm>
            <a:off x="1360555" y="2797526"/>
            <a:ext cx="4191000" cy="495300"/>
          </a:xfrm>
          <a:prstGeom prst="rect">
            <a:avLst/>
          </a:prstGeom>
        </p:spPr>
      </p:pic>
      <p:sp>
        <p:nvSpPr>
          <p:cNvPr id="13" name="矩形 12">
            <a:extLst>
              <a:ext uri="{FF2B5EF4-FFF2-40B4-BE49-F238E27FC236}">
                <a16:creationId xmlns:a16="http://schemas.microsoft.com/office/drawing/2014/main" id="{4F596022-6351-F3D0-E6F6-D4A3979B4E23}"/>
              </a:ext>
            </a:extLst>
          </p:cNvPr>
          <p:cNvSpPr/>
          <p:nvPr/>
        </p:nvSpPr>
        <p:spPr>
          <a:xfrm>
            <a:off x="5571435" y="2722018"/>
            <a:ext cx="1522789" cy="369332"/>
          </a:xfrm>
          <a:prstGeom prst="rect">
            <a:avLst/>
          </a:prstGeom>
        </p:spPr>
        <p:txBody>
          <a:bodyPr wrap="none">
            <a:spAutoFit/>
          </a:bodyPr>
          <a:lstStyle/>
          <a:p>
            <a:r>
              <a:rPr lang="en-US" altLang="zh-TW" dirty="0" err="1">
                <a:solidFill>
                  <a:srgbClr val="FF0000"/>
                </a:solidFill>
                <a:latin typeface="Times" pitchFamily="2" charset="0"/>
              </a:rPr>
              <a:t>d</a:t>
            </a:r>
            <a:r>
              <a:rPr lang="en-US" altLang="zh-TW" baseline="-25000" dirty="0" err="1">
                <a:solidFill>
                  <a:srgbClr val="FF0000"/>
                </a:solidFill>
                <a:latin typeface="Times" pitchFamily="2" charset="0"/>
              </a:rPr>
              <a:t>A</a:t>
            </a:r>
            <a:r>
              <a:rPr lang="en-US" altLang="zh-TW" dirty="0">
                <a:solidFill>
                  <a:srgbClr val="FF0000"/>
                </a:solidFill>
                <a:latin typeface="Times" pitchFamily="2" charset="0"/>
              </a:rPr>
              <a:t> </a:t>
            </a:r>
            <a:r>
              <a:rPr lang="en-US" altLang="zh-TW" dirty="0">
                <a:solidFill>
                  <a:srgbClr val="FF0000"/>
                </a:solidFill>
                <a:latin typeface="Helvetica" pitchFamily="2" charset="0"/>
              </a:rPr>
              <a:t>⊙ d</a:t>
            </a:r>
            <a:r>
              <a:rPr lang="en-US" altLang="zh-TW" baseline="-25000" dirty="0">
                <a:solidFill>
                  <a:srgbClr val="FF0000"/>
                </a:solidFill>
                <a:latin typeface="Times" pitchFamily="2" charset="0"/>
              </a:rPr>
              <a:t>B</a:t>
            </a:r>
            <a:r>
              <a:rPr lang="en-US" altLang="zh-TW" dirty="0">
                <a:solidFill>
                  <a:srgbClr val="FF0000"/>
                </a:solidFill>
                <a:latin typeface="Times" pitchFamily="2" charset="0"/>
              </a:rPr>
              <a:t> </a:t>
            </a:r>
            <a:r>
              <a:rPr lang="en-US" altLang="zh-TW" dirty="0">
                <a:solidFill>
                  <a:srgbClr val="FF0000"/>
                </a:solidFill>
                <a:latin typeface="Helvetica" pitchFamily="2" charset="0"/>
              </a:rPr>
              <a:t>= </a:t>
            </a:r>
            <a:r>
              <a:rPr lang="en-US" altLang="zh-TW" dirty="0" err="1">
                <a:solidFill>
                  <a:srgbClr val="FF0000"/>
                </a:solidFill>
                <a:latin typeface="Helvetica" pitchFamily="2" charset="0"/>
              </a:rPr>
              <a:t>d</a:t>
            </a:r>
            <a:r>
              <a:rPr lang="en-US" altLang="zh-TW" baseline="-25000" dirty="0" err="1">
                <a:solidFill>
                  <a:srgbClr val="FF0000"/>
                </a:solidFill>
                <a:latin typeface="Times" pitchFamily="2" charset="0"/>
              </a:rPr>
              <a:t>C</a:t>
            </a:r>
            <a:endParaRPr lang="en-US" altLang="zh-TW" baseline="-25000" dirty="0">
              <a:solidFill>
                <a:srgbClr val="FF0000"/>
              </a:solidFill>
              <a:effectLst/>
              <a:latin typeface="Times" pitchFamily="2" charset="0"/>
            </a:endParaRPr>
          </a:p>
        </p:txBody>
      </p:sp>
      <p:cxnSp>
        <p:nvCxnSpPr>
          <p:cNvPr id="15" name="直線接點 14">
            <a:extLst>
              <a:ext uri="{FF2B5EF4-FFF2-40B4-BE49-F238E27FC236}">
                <a16:creationId xmlns:a16="http://schemas.microsoft.com/office/drawing/2014/main" id="{3BA0B126-8973-9018-8851-1047238A337B}"/>
              </a:ext>
            </a:extLst>
          </p:cNvPr>
          <p:cNvCxnSpPr/>
          <p:nvPr/>
        </p:nvCxnSpPr>
        <p:spPr>
          <a:xfrm>
            <a:off x="1360557" y="3263009"/>
            <a:ext cx="5733667" cy="0"/>
          </a:xfrm>
          <a:prstGeom prst="line">
            <a:avLst/>
          </a:prstGeom>
        </p:spPr>
        <p:style>
          <a:lnRef idx="3">
            <a:schemeClr val="dk1"/>
          </a:lnRef>
          <a:fillRef idx="0">
            <a:schemeClr val="dk1"/>
          </a:fillRef>
          <a:effectRef idx="2">
            <a:schemeClr val="dk1"/>
          </a:effectRef>
          <a:fontRef idx="minor">
            <a:schemeClr val="tx1"/>
          </a:fontRef>
        </p:style>
      </p:cxnSp>
      <p:graphicFrame>
        <p:nvGraphicFramePr>
          <p:cNvPr id="16" name="表格 16">
            <a:extLst>
              <a:ext uri="{FF2B5EF4-FFF2-40B4-BE49-F238E27FC236}">
                <a16:creationId xmlns:a16="http://schemas.microsoft.com/office/drawing/2014/main" id="{162C6FE9-7C63-4F75-5FA0-891ED760FD69}"/>
              </a:ext>
            </a:extLst>
          </p:cNvPr>
          <p:cNvGraphicFramePr>
            <a:graphicFrameLocks noGrp="1"/>
          </p:cNvGraphicFramePr>
          <p:nvPr>
            <p:extLst>
              <p:ext uri="{D42A27DB-BD31-4B8C-83A1-F6EECF244321}">
                <p14:modId xmlns:p14="http://schemas.microsoft.com/office/powerpoint/2010/main" val="1106510530"/>
              </p:ext>
            </p:extLst>
          </p:nvPr>
        </p:nvGraphicFramePr>
        <p:xfrm>
          <a:off x="7335079" y="2087428"/>
          <a:ext cx="2848416" cy="1097280"/>
        </p:xfrm>
        <a:graphic>
          <a:graphicData uri="http://schemas.openxmlformats.org/drawingml/2006/table">
            <a:tbl>
              <a:tblPr firstRow="1" bandRow="1">
                <a:tableStyleId>{5940675A-B579-460E-94D1-54222C63F5DA}</a:tableStyleId>
              </a:tblPr>
              <a:tblGrid>
                <a:gridCol w="712104">
                  <a:extLst>
                    <a:ext uri="{9D8B030D-6E8A-4147-A177-3AD203B41FA5}">
                      <a16:colId xmlns:a16="http://schemas.microsoft.com/office/drawing/2014/main" val="4140956450"/>
                    </a:ext>
                  </a:extLst>
                </a:gridCol>
                <a:gridCol w="712104">
                  <a:extLst>
                    <a:ext uri="{9D8B030D-6E8A-4147-A177-3AD203B41FA5}">
                      <a16:colId xmlns:a16="http://schemas.microsoft.com/office/drawing/2014/main" val="2484653756"/>
                    </a:ext>
                  </a:extLst>
                </a:gridCol>
                <a:gridCol w="712104">
                  <a:extLst>
                    <a:ext uri="{9D8B030D-6E8A-4147-A177-3AD203B41FA5}">
                      <a16:colId xmlns:a16="http://schemas.microsoft.com/office/drawing/2014/main" val="850732065"/>
                    </a:ext>
                  </a:extLst>
                </a:gridCol>
                <a:gridCol w="712104">
                  <a:extLst>
                    <a:ext uri="{9D8B030D-6E8A-4147-A177-3AD203B41FA5}">
                      <a16:colId xmlns:a16="http://schemas.microsoft.com/office/drawing/2014/main" val="3267296549"/>
                    </a:ext>
                  </a:extLst>
                </a:gridCol>
              </a:tblGrid>
              <a:tr h="337913">
                <a:tc>
                  <a:txBody>
                    <a:bodyPr/>
                    <a:lstStyle/>
                    <a:p>
                      <a:pPr algn="ctr"/>
                      <a:r>
                        <a:rPr lang="en-US" altLang="zh-TW" dirty="0">
                          <a:latin typeface="Times New Roman" panose="02020603050405020304" pitchFamily="18" charset="0"/>
                          <a:cs typeface="Times New Roman" panose="02020603050405020304" pitchFamily="18" charset="0"/>
                        </a:rPr>
                        <a:t>i</a:t>
                      </a:r>
                      <a:r>
                        <a:rPr lang="en-US" altLang="zh-TW" baseline="-25000" dirty="0">
                          <a:latin typeface="Times New Roman" panose="02020603050405020304" pitchFamily="18" charset="0"/>
                          <a:cs typeface="Times New Roman" panose="02020603050405020304" pitchFamily="18" charset="0"/>
                        </a:rPr>
                        <a:t>0</a:t>
                      </a:r>
                      <a:r>
                        <a:rPr lang="en-US" altLang="zh-TW" dirty="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i</a:t>
                      </a:r>
                      <a:r>
                        <a:rPr lang="en-US" altLang="zh-TW" baseline="-25000" dirty="0">
                          <a:latin typeface="Times New Roman" panose="02020603050405020304" pitchFamily="18" charset="0"/>
                          <a:cs typeface="Times New Roman" panose="02020603050405020304" pitchFamily="18" charset="0"/>
                        </a:rPr>
                        <a:t>0</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9011959"/>
                  </a:ext>
                </a:extLst>
              </a:tr>
              <a:tr h="337913">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12620599"/>
                  </a:ext>
                </a:extLst>
              </a:tr>
              <a:tr h="337913">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k</a:t>
                      </a:r>
                      <a:r>
                        <a:rPr lang="en-US" altLang="zh-TW" baseline="-25000" dirty="0">
                          <a:latin typeface="Times New Roman" panose="02020603050405020304" pitchFamily="18" charset="0"/>
                          <a:cs typeface="Times New Roman" panose="02020603050405020304" pitchFamily="18" charset="0"/>
                        </a:rPr>
                        <a:t>0</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k</a:t>
                      </a:r>
                      <a:r>
                        <a:rPr lang="en-US" altLang="zh-TW" baseline="-25000" dirty="0">
                          <a:latin typeface="Times New Roman" panose="02020603050405020304" pitchFamily="18" charset="0"/>
                          <a:cs typeface="Times New Roman" panose="02020603050405020304" pitchFamily="18" charset="0"/>
                        </a:rPr>
                        <a:t>0</a:t>
                      </a:r>
                      <a:r>
                        <a:rPr lang="en-US" altLang="zh-TW" dirty="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19996339"/>
                  </a:ext>
                </a:extLst>
              </a:tr>
            </a:tbl>
          </a:graphicData>
        </a:graphic>
      </p:graphicFrame>
      <p:sp>
        <p:nvSpPr>
          <p:cNvPr id="17" name="矩形 16">
            <a:extLst>
              <a:ext uri="{FF2B5EF4-FFF2-40B4-BE49-F238E27FC236}">
                <a16:creationId xmlns:a16="http://schemas.microsoft.com/office/drawing/2014/main" id="{5DD63617-52EA-7EEE-6A25-45197F9171D7}"/>
              </a:ext>
            </a:extLst>
          </p:cNvPr>
          <p:cNvSpPr/>
          <p:nvPr/>
        </p:nvSpPr>
        <p:spPr>
          <a:xfrm>
            <a:off x="7335079" y="3208805"/>
            <a:ext cx="3564835" cy="646331"/>
          </a:xfrm>
          <a:prstGeom prst="rect">
            <a:avLst/>
          </a:prstGeom>
        </p:spPr>
        <p:txBody>
          <a:bodyPr wrap="square">
            <a:spAutoFit/>
          </a:bodyPr>
          <a:lstStyle/>
          <a:p>
            <a:r>
              <a:rPr lang="el-GR" altLang="zh-TW" dirty="0">
                <a:solidFill>
                  <a:srgbClr val="000000"/>
                </a:solidFill>
                <a:latin typeface="Times New Roman" panose="02020603050405020304" pitchFamily="18" charset="0"/>
                <a:cs typeface="Times New Roman" panose="02020603050405020304" pitchFamily="18" charset="0"/>
              </a:rPr>
              <a:t>δ</a:t>
            </a:r>
            <a:r>
              <a:rPr lang="en-US" altLang="zh-TW" baseline="-25000" dirty="0">
                <a:solidFill>
                  <a:srgbClr val="000000"/>
                </a:solidFill>
                <a:latin typeface="Times New Roman" panose="02020603050405020304" pitchFamily="18" charset="0"/>
                <a:cs typeface="Times New Roman" panose="02020603050405020304" pitchFamily="18" charset="0"/>
              </a:rPr>
              <a:t>A</a:t>
            </a:r>
            <a:r>
              <a:rPr lang="en-US" altLang="zh-TW" dirty="0">
                <a:solidFill>
                  <a:srgbClr val="000000"/>
                </a:solidFill>
                <a:latin typeface="Times New Roman" panose="02020603050405020304" pitchFamily="18" charset="0"/>
                <a:cs typeface="Times New Roman" panose="02020603050405020304" pitchFamily="18" charset="0"/>
              </a:rPr>
              <a:t>(j) denote the number of relevant </a:t>
            </a:r>
            <a:r>
              <a:rPr lang="en-US" altLang="zh-TW" dirty="0" err="1">
                <a:solidFill>
                  <a:srgbClr val="000000"/>
                </a:solidFill>
                <a:latin typeface="Times New Roman" panose="02020603050405020304" pitchFamily="18" charset="0"/>
                <a:cs typeface="Times New Roman" panose="02020603050405020304" pitchFamily="18" charset="0"/>
              </a:rPr>
              <a:t>nonzeros</a:t>
            </a:r>
            <a:r>
              <a:rPr lang="en-US" altLang="zh-TW" dirty="0">
                <a:solidFill>
                  <a:srgbClr val="000000"/>
                </a:solidFill>
                <a:latin typeface="Times New Roman" panose="02020603050405020304" pitchFamily="18" charset="0"/>
                <a:cs typeface="Times New Roman" panose="02020603050405020304" pitchFamily="18" charset="0"/>
              </a:rPr>
              <a:t> of D</a:t>
            </a:r>
            <a:r>
              <a:rPr lang="en-US" altLang="zh-TW" baseline="-25000" dirty="0">
                <a:solidFill>
                  <a:srgbClr val="000000"/>
                </a:solidFill>
                <a:latin typeface="Times New Roman" panose="02020603050405020304" pitchFamily="18" charset="0"/>
                <a:cs typeface="Times New Roman" panose="02020603050405020304" pitchFamily="18" charset="0"/>
              </a:rPr>
              <a:t>A</a:t>
            </a:r>
            <a:r>
              <a:rPr lang="en-US" altLang="zh-TW" dirty="0">
                <a:solidFill>
                  <a:srgbClr val="000000"/>
                </a:solidFill>
                <a:latin typeface="Times New Roman" panose="02020603050405020304" pitchFamily="18" charset="0"/>
                <a:cs typeface="Times New Roman" panose="02020603050405020304" pitchFamily="18" charset="0"/>
              </a:rPr>
              <a:t> in ⟨i</a:t>
            </a:r>
            <a:r>
              <a:rPr lang="en-US" altLang="zh-TW" baseline="-25000" dirty="0">
                <a:solidFill>
                  <a:srgbClr val="000000"/>
                </a:solidFill>
                <a:latin typeface="Times New Roman" panose="02020603050405020304" pitchFamily="18" charset="0"/>
                <a:cs typeface="Times New Roman" panose="02020603050405020304" pitchFamily="18" charset="0"/>
              </a:rPr>
              <a:t>0</a:t>
            </a:r>
            <a:r>
              <a:rPr lang="en-US" altLang="zh-TW" dirty="0">
                <a:solidFill>
                  <a:srgbClr val="000000"/>
                </a:solidFill>
                <a:latin typeface="Times New Roman" panose="02020603050405020304" pitchFamily="18" charset="0"/>
                <a:cs typeface="Times New Roman" panose="02020603050405020304" pitchFamily="18" charset="0"/>
              </a:rPr>
              <a:t>−h:i</a:t>
            </a:r>
            <a:r>
              <a:rPr lang="en-US" altLang="zh-TW" baseline="-25000" dirty="0">
                <a:solidFill>
                  <a:srgbClr val="000000"/>
                </a:solidFill>
                <a:latin typeface="Times New Roman" panose="02020603050405020304" pitchFamily="18" charset="0"/>
                <a:cs typeface="Times New Roman" panose="02020603050405020304" pitchFamily="18" charset="0"/>
              </a:rPr>
              <a:t>0</a:t>
            </a:r>
            <a:r>
              <a:rPr lang="en-US" altLang="zh-TW" dirty="0">
                <a:solidFill>
                  <a:srgbClr val="000000"/>
                </a:solidFill>
                <a:latin typeface="Times New Roman" panose="02020603050405020304" pitchFamily="18" charset="0"/>
                <a:cs typeface="Times New Roman" panose="02020603050405020304" pitchFamily="18" charset="0"/>
              </a:rPr>
              <a:t>⟩×⟨0: j⟩</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2E8A78A3-863E-F107-2540-71D1128E0F64}"/>
              </a:ext>
            </a:extLst>
          </p:cNvPr>
          <p:cNvSpPr/>
          <p:nvPr/>
        </p:nvSpPr>
        <p:spPr>
          <a:xfrm>
            <a:off x="5178328" y="3827882"/>
            <a:ext cx="1245854" cy="369332"/>
          </a:xfrm>
          <a:prstGeom prst="rect">
            <a:avLst/>
          </a:prstGeom>
        </p:spPr>
        <p:txBody>
          <a:bodyPr wrap="none">
            <a:spAutoFit/>
          </a:bodyPr>
          <a:lstStyle/>
          <a:p>
            <a:r>
              <a:rPr lang="en-US" altLang="zh-TW" i="1" dirty="0">
                <a:solidFill>
                  <a:srgbClr val="000000"/>
                </a:solidFill>
                <a:latin typeface="Times New Roman" panose="02020603050405020304" pitchFamily="18" charset="0"/>
                <a:cs typeface="Times New Roman" panose="02020603050405020304" pitchFamily="18" charset="0"/>
              </a:rPr>
              <a:t>d</a:t>
            </a:r>
            <a:r>
              <a:rPr lang="en-US" altLang="zh-TW" dirty="0">
                <a:solidFill>
                  <a:srgbClr val="000000"/>
                </a:solidFill>
                <a:latin typeface="Times New Roman" panose="02020603050405020304" pitchFamily="18" charset="0"/>
                <a:cs typeface="Times New Roman" panose="02020603050405020304" pitchFamily="18" charset="0"/>
              </a:rPr>
              <a:t> ∈ [−</a:t>
            </a:r>
            <a:r>
              <a:rPr lang="en-US" altLang="zh-TW" i="1" dirty="0">
                <a:solidFill>
                  <a:srgbClr val="000000"/>
                </a:solidFill>
                <a:latin typeface="Times New Roman" panose="02020603050405020304" pitchFamily="18" charset="0"/>
                <a:cs typeface="Times New Roman" panose="02020603050405020304" pitchFamily="18" charset="0"/>
              </a:rPr>
              <a:t>h</a:t>
            </a:r>
            <a:r>
              <a:rPr lang="en-US" altLang="zh-TW" dirty="0">
                <a:solidFill>
                  <a:srgbClr val="000000"/>
                </a:solidFill>
                <a:latin typeface="Times New Roman" panose="02020603050405020304" pitchFamily="18" charset="0"/>
                <a:cs typeface="Times New Roman" panose="02020603050405020304" pitchFamily="18" charset="0"/>
              </a:rPr>
              <a:t> : </a:t>
            </a:r>
            <a:r>
              <a:rPr lang="en-US" altLang="zh-TW" i="1" dirty="0">
                <a:solidFill>
                  <a:srgbClr val="000000"/>
                </a:solidFill>
                <a:latin typeface="Times New Roman" panose="02020603050405020304" pitchFamily="18" charset="0"/>
                <a:cs typeface="Times New Roman" panose="02020603050405020304" pitchFamily="18" charset="0"/>
              </a:rPr>
              <a:t>h</a:t>
            </a:r>
            <a:r>
              <a:rPr lang="en-US" altLang="zh-TW" dirty="0">
                <a:solidFill>
                  <a:srgbClr val="000000"/>
                </a:solidFill>
                <a:latin typeface="Times New Roman" panose="02020603050405020304" pitchFamily="18" charset="0"/>
                <a:cs typeface="Times New Roman" panose="02020603050405020304" pitchFamily="18" charset="0"/>
              </a:rPr>
              <a:t>]</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cxnSp>
        <p:nvCxnSpPr>
          <p:cNvPr id="19" name="直線接點 18">
            <a:extLst>
              <a:ext uri="{FF2B5EF4-FFF2-40B4-BE49-F238E27FC236}">
                <a16:creationId xmlns:a16="http://schemas.microsoft.com/office/drawing/2014/main" id="{1DF9F12C-8C55-9C4C-63D6-FA8A0C29324A}"/>
              </a:ext>
            </a:extLst>
          </p:cNvPr>
          <p:cNvCxnSpPr/>
          <p:nvPr/>
        </p:nvCxnSpPr>
        <p:spPr>
          <a:xfrm>
            <a:off x="1360556" y="4665291"/>
            <a:ext cx="5733667" cy="0"/>
          </a:xfrm>
          <a:prstGeom prst="line">
            <a:avLst/>
          </a:prstGeom>
        </p:spPr>
        <p:style>
          <a:lnRef idx="3">
            <a:schemeClr val="dk1"/>
          </a:lnRef>
          <a:fillRef idx="0">
            <a:schemeClr val="dk1"/>
          </a:fillRef>
          <a:effectRef idx="2">
            <a:schemeClr val="dk1"/>
          </a:effectRef>
          <a:fontRef idx="minor">
            <a:schemeClr val="tx1"/>
          </a:fontRef>
        </p:style>
      </p:cxnSp>
      <p:sp>
        <p:nvSpPr>
          <p:cNvPr id="20" name="文字方塊 19">
            <a:extLst>
              <a:ext uri="{FF2B5EF4-FFF2-40B4-BE49-F238E27FC236}">
                <a16:creationId xmlns:a16="http://schemas.microsoft.com/office/drawing/2014/main" id="{CF791BFD-EAA7-3DF7-F01F-36BEE6EFB9C7}"/>
              </a:ext>
            </a:extLst>
          </p:cNvPr>
          <p:cNvSpPr txBox="1"/>
          <p:nvPr/>
        </p:nvSpPr>
        <p:spPr>
          <a:xfrm>
            <a:off x="4659377" y="4723762"/>
            <a:ext cx="2593980" cy="369332"/>
          </a:xfrm>
          <a:prstGeom prst="rect">
            <a:avLst/>
          </a:prstGeom>
          <a:noFill/>
        </p:spPr>
        <p:txBody>
          <a:bodyPr wrap="none" rtlCol="0">
            <a:spAutoFit/>
          </a:bodyPr>
          <a:lstStyle/>
          <a:p>
            <a:r>
              <a:rPr kumimoji="1" lang="zh-TW" altLang="en-US" dirty="0">
                <a:solidFill>
                  <a:srgbClr val="FF0000"/>
                </a:solidFill>
              </a:rPr>
              <a:t>利用</a:t>
            </a:r>
            <a:r>
              <a:rPr kumimoji="1" lang="en-US" altLang="zh-TW" dirty="0">
                <a:solidFill>
                  <a:srgbClr val="FF0000"/>
                </a:solidFill>
              </a:rPr>
              <a:t>∆</a:t>
            </a:r>
            <a:r>
              <a:rPr kumimoji="1" lang="en-US" altLang="zh-TW" baseline="-25000" dirty="0">
                <a:solidFill>
                  <a:srgbClr val="FF0000"/>
                </a:solidFill>
              </a:rPr>
              <a:t>A</a:t>
            </a:r>
            <a:r>
              <a:rPr kumimoji="1" lang="zh-TW" altLang="en-US" dirty="0">
                <a:solidFill>
                  <a:srgbClr val="FF0000"/>
                </a:solidFill>
              </a:rPr>
              <a:t>、</a:t>
            </a:r>
            <a:r>
              <a:rPr kumimoji="1" lang="en-US" altLang="zh-TW" dirty="0">
                <a:solidFill>
                  <a:srgbClr val="FF0000"/>
                </a:solidFill>
              </a:rPr>
              <a:t> ∆ </a:t>
            </a:r>
            <a:r>
              <a:rPr lang="en-US" altLang="zh-TW" baseline="-25000" dirty="0">
                <a:solidFill>
                  <a:srgbClr val="FF0000"/>
                </a:solidFill>
              </a:rPr>
              <a:t>B</a:t>
            </a:r>
            <a:r>
              <a:rPr kumimoji="1" lang="zh-TW" altLang="en-US" dirty="0">
                <a:solidFill>
                  <a:srgbClr val="FF0000"/>
                </a:solidFill>
              </a:rPr>
              <a:t>、</a:t>
            </a:r>
            <a:r>
              <a:rPr kumimoji="1" lang="en-US" altLang="zh-TW" dirty="0">
                <a:solidFill>
                  <a:srgbClr val="FF0000"/>
                </a:solidFill>
              </a:rPr>
              <a:t>M</a:t>
            </a:r>
            <a:r>
              <a:rPr kumimoji="1" lang="zh-TW" altLang="en-US" dirty="0">
                <a:solidFill>
                  <a:srgbClr val="FF0000"/>
                </a:solidFill>
              </a:rPr>
              <a:t>更新</a:t>
            </a:r>
            <a:r>
              <a:rPr kumimoji="1" lang="en-US" altLang="zh-TW" dirty="0">
                <a:solidFill>
                  <a:srgbClr val="FF0000"/>
                </a:solidFill>
              </a:rPr>
              <a:t>d</a:t>
            </a:r>
            <a:r>
              <a:rPr kumimoji="1" lang="en-US" altLang="zh-TW" baseline="-25000" dirty="0">
                <a:solidFill>
                  <a:srgbClr val="FF0000"/>
                </a:solidFill>
              </a:rPr>
              <a:t>c</a:t>
            </a:r>
            <a:endParaRPr kumimoji="1" lang="zh-TW" altLang="en-US" baseline="-25000" dirty="0">
              <a:solidFill>
                <a:srgbClr val="FF0000"/>
              </a:solidFill>
            </a:endParaRPr>
          </a:p>
        </p:txBody>
      </p:sp>
      <p:sp>
        <p:nvSpPr>
          <p:cNvPr id="21" name="矩形 20">
            <a:extLst>
              <a:ext uri="{FF2B5EF4-FFF2-40B4-BE49-F238E27FC236}">
                <a16:creationId xmlns:a16="http://schemas.microsoft.com/office/drawing/2014/main" id="{3EEC1229-31D8-DC9C-BCA1-4B845AD99B8A}"/>
              </a:ext>
            </a:extLst>
          </p:cNvPr>
          <p:cNvSpPr/>
          <p:nvPr/>
        </p:nvSpPr>
        <p:spPr>
          <a:xfrm>
            <a:off x="1360555" y="2141615"/>
            <a:ext cx="6093793" cy="646331"/>
          </a:xfrm>
          <a:prstGeom prst="rect">
            <a:avLst/>
          </a:prstGeom>
        </p:spPr>
        <p:txBody>
          <a:bodyPr wrap="square">
            <a:spAutoFit/>
          </a:bodyPr>
          <a:lstStyle/>
          <a:p>
            <a:r>
              <a:rPr lang="en-US" altLang="zh-TW" dirty="0">
                <a:solidFill>
                  <a:srgbClr val="000000"/>
                </a:solidFill>
                <a:latin typeface="Times New Roman" panose="02020603050405020304" pitchFamily="18" charset="0"/>
                <a:cs typeface="Times New Roman" panose="02020603050405020304" pitchFamily="18" charset="0"/>
              </a:rPr>
              <a:t>We proceed by partitioning the square index pair range ⟨0 : n⟩</a:t>
            </a:r>
            <a:r>
              <a:rPr lang="en-US" altLang="zh-TW" baseline="30000" dirty="0">
                <a:solidFill>
                  <a:srgbClr val="000000"/>
                </a:solidFill>
                <a:latin typeface="Times New Roman" panose="02020603050405020304" pitchFamily="18" charset="0"/>
                <a:cs typeface="Times New Roman" panose="02020603050405020304" pitchFamily="18" charset="0"/>
              </a:rPr>
              <a:t>2</a:t>
            </a:r>
            <a:r>
              <a:rPr lang="en-US" altLang="zh-TW" dirty="0">
                <a:solidFill>
                  <a:srgbClr val="000000"/>
                </a:solidFill>
                <a:latin typeface="Times New Roman" panose="02020603050405020304" pitchFamily="18" charset="0"/>
                <a:cs typeface="Times New Roman" panose="02020603050405020304" pitchFamily="18" charset="0"/>
              </a:rPr>
              <a:t> recursively into regular half-sized square blocks.</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05CB088D-90C8-EC2E-3380-C39601BCA97F}"/>
              </a:ext>
            </a:extLst>
          </p:cNvPr>
          <p:cNvSpPr/>
          <p:nvPr/>
        </p:nvSpPr>
        <p:spPr>
          <a:xfrm>
            <a:off x="7422431" y="4005018"/>
            <a:ext cx="4405134" cy="646331"/>
          </a:xfrm>
          <a:prstGeom prst="rect">
            <a:avLst/>
          </a:prstGeom>
        </p:spPr>
        <p:txBody>
          <a:bodyPr wrap="square">
            <a:spAutoFit/>
          </a:bodyPr>
          <a:lstStyle/>
          <a:p>
            <a:pPr marL="285750" indent="-285750">
              <a:buFont typeface="Arial" panose="020B0604020202020204" pitchFamily="34" charset="0"/>
              <a:buChar char="•"/>
            </a:pPr>
            <a:r>
              <a:rPr lang="en-US" altLang="zh-TW" dirty="0">
                <a:solidFill>
                  <a:srgbClr val="000000"/>
                </a:solidFill>
                <a:latin typeface="Times New Roman" panose="02020603050405020304" pitchFamily="18" charset="0"/>
                <a:cs typeface="Times New Roman" panose="02020603050405020304" pitchFamily="18" charset="0"/>
              </a:rPr>
              <a:t>Recursion tree : max degree 4, height </a:t>
            </a:r>
            <a:r>
              <a:rPr lang="en-US" altLang="zh-TW" dirty="0" err="1">
                <a:solidFill>
                  <a:srgbClr val="000000"/>
                </a:solidFill>
                <a:latin typeface="Times New Roman" panose="02020603050405020304" pitchFamily="18" charset="0"/>
                <a:cs typeface="Times New Roman" panose="02020603050405020304" pitchFamily="18" charset="0"/>
              </a:rPr>
              <a:t>logn</a:t>
            </a:r>
            <a:r>
              <a:rPr lang="en-US" altLang="zh-TW" dirty="0">
                <a:solidFill>
                  <a:srgbClr val="000000"/>
                </a:solidFill>
                <a:latin typeface="Times New Roman" panose="02020603050405020304" pitchFamily="18" charset="0"/>
                <a:cs typeface="Times New Roman" panose="02020603050405020304" pitchFamily="18" charset="0"/>
              </a:rPr>
              <a:t>, and n leaves</a:t>
            </a:r>
          </a:p>
        </p:txBody>
      </p:sp>
      <p:sp>
        <p:nvSpPr>
          <p:cNvPr id="23" name="文字方塊 22">
            <a:extLst>
              <a:ext uri="{FF2B5EF4-FFF2-40B4-BE49-F238E27FC236}">
                <a16:creationId xmlns:a16="http://schemas.microsoft.com/office/drawing/2014/main" id="{ED7F11DC-FFC9-6091-8108-F97E896D8A13}"/>
              </a:ext>
            </a:extLst>
          </p:cNvPr>
          <p:cNvSpPr txBox="1"/>
          <p:nvPr/>
        </p:nvSpPr>
        <p:spPr>
          <a:xfrm>
            <a:off x="7422431" y="4651734"/>
            <a:ext cx="540469"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Top</a:t>
            </a:r>
            <a:endParaRPr kumimoji="1" lang="zh-TW" altLang="en-US" dirty="0">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804BE3E1-F45B-7EED-9ED0-54D20176D974}"/>
              </a:ext>
            </a:extLst>
          </p:cNvPr>
          <p:cNvSpPr txBox="1"/>
          <p:nvPr/>
        </p:nvSpPr>
        <p:spPr>
          <a:xfrm>
            <a:off x="7422431" y="5351658"/>
            <a:ext cx="1653017"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Middle (</a:t>
            </a:r>
            <a:r>
              <a:rPr kumimoji="1" lang="en-US" altLang="zh-TW" dirty="0" err="1">
                <a:latin typeface="Times New Roman" panose="02020603050405020304" pitchFamily="18" charset="0"/>
                <a:cs typeface="Times New Roman" panose="02020603050405020304" pitchFamily="18" charset="0"/>
              </a:rPr>
              <a:t>logn</a:t>
            </a:r>
            <a:r>
              <a:rPr kumimoji="1" lang="en-US" altLang="zh-TW" dirty="0">
                <a:latin typeface="Times New Roman" panose="02020603050405020304" pitchFamily="18" charset="0"/>
                <a:cs typeface="Times New Roman" panose="02020603050405020304" pitchFamily="18" charset="0"/>
              </a:rPr>
              <a:t>/2)</a:t>
            </a:r>
            <a:endParaRPr kumimoji="1" lang="zh-TW" altLang="en-US" dirty="0">
              <a:latin typeface="Times New Roman" panose="02020603050405020304" pitchFamily="18" charset="0"/>
              <a:cs typeface="Times New Roman" panose="02020603050405020304" pitchFamily="18" charset="0"/>
            </a:endParaRPr>
          </a:p>
        </p:txBody>
      </p:sp>
      <p:sp>
        <p:nvSpPr>
          <p:cNvPr id="27" name="文字方塊 26">
            <a:extLst>
              <a:ext uri="{FF2B5EF4-FFF2-40B4-BE49-F238E27FC236}">
                <a16:creationId xmlns:a16="http://schemas.microsoft.com/office/drawing/2014/main" id="{40DDD58A-85D3-171D-6CA1-C8405D20ADD4}"/>
              </a:ext>
            </a:extLst>
          </p:cNvPr>
          <p:cNvSpPr txBox="1"/>
          <p:nvPr/>
        </p:nvSpPr>
        <p:spPr>
          <a:xfrm>
            <a:off x="7422431" y="6071463"/>
            <a:ext cx="149912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Bottom (</a:t>
            </a:r>
            <a:r>
              <a:rPr kumimoji="1" lang="en-US" altLang="zh-TW" dirty="0" err="1">
                <a:latin typeface="Times New Roman" panose="02020603050405020304" pitchFamily="18" charset="0"/>
                <a:cs typeface="Times New Roman" panose="02020603050405020304" pitchFamily="18" charset="0"/>
              </a:rPr>
              <a:t>logn</a:t>
            </a:r>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7F6E0540-13B6-0FB3-01DA-95DE39A14696}"/>
              </a:ext>
            </a:extLst>
          </p:cNvPr>
          <p:cNvSpPr txBox="1"/>
          <p:nvPr/>
        </p:nvSpPr>
        <p:spPr>
          <a:xfrm>
            <a:off x="8139934" y="4891889"/>
            <a:ext cx="3060261"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Nodes ×4, Work per node ÷2</a:t>
            </a:r>
            <a:endParaRPr kumimoji="1" lang="zh-TW" altLang="en-US" dirty="0">
              <a:latin typeface="Times New Roman" panose="02020603050405020304" pitchFamily="18" charset="0"/>
              <a:cs typeface="Times New Roman" panose="02020603050405020304" pitchFamily="18" charset="0"/>
            </a:endParaRPr>
          </a:p>
        </p:txBody>
      </p:sp>
      <p:sp>
        <p:nvSpPr>
          <p:cNvPr id="29" name="文字方塊 28">
            <a:extLst>
              <a:ext uri="{FF2B5EF4-FFF2-40B4-BE49-F238E27FC236}">
                <a16:creationId xmlns:a16="http://schemas.microsoft.com/office/drawing/2014/main" id="{E03D7409-BFBD-D451-59B6-D1CC2346C321}"/>
              </a:ext>
            </a:extLst>
          </p:cNvPr>
          <p:cNvSpPr txBox="1"/>
          <p:nvPr/>
        </p:nvSpPr>
        <p:spPr>
          <a:xfrm>
            <a:off x="8139934" y="5783686"/>
            <a:ext cx="1955151"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Work per node ÷2</a:t>
            </a:r>
            <a:endParaRPr kumimoji="1" lang="zh-TW" altLang="en-US" dirty="0">
              <a:latin typeface="Times New Roman" panose="02020603050405020304" pitchFamily="18" charset="0"/>
              <a:cs typeface="Times New Roman" panose="02020603050405020304" pitchFamily="18" charset="0"/>
            </a:endParaRPr>
          </a:p>
        </p:txBody>
      </p:sp>
      <p:sp>
        <p:nvSpPr>
          <p:cNvPr id="30" name="文字方塊 29">
            <a:extLst>
              <a:ext uri="{FF2B5EF4-FFF2-40B4-BE49-F238E27FC236}">
                <a16:creationId xmlns:a16="http://schemas.microsoft.com/office/drawing/2014/main" id="{9D87FAE9-6D06-2A81-94D4-121F8A2E6A23}"/>
              </a:ext>
            </a:extLst>
          </p:cNvPr>
          <p:cNvSpPr txBox="1"/>
          <p:nvPr/>
        </p:nvSpPr>
        <p:spPr>
          <a:xfrm>
            <a:off x="9320660" y="5352558"/>
            <a:ext cx="2010487" cy="369332"/>
          </a:xfrm>
          <a:prstGeom prst="rect">
            <a:avLst/>
          </a:prstGeom>
          <a:noFill/>
        </p:spPr>
        <p:txBody>
          <a:bodyPr wrap="none" rtlCol="0">
            <a:spAutoFit/>
          </a:bodyPr>
          <a:lstStyle/>
          <a:p>
            <a:r>
              <a:rPr kumimoji="1" lang="en-US" altLang="zh-TW" b="1" dirty="0">
                <a:latin typeface="Times New Roman" panose="02020603050405020304" pitchFamily="18" charset="0"/>
                <a:cs typeface="Times New Roman" panose="02020603050405020304" pitchFamily="18" charset="0"/>
              </a:rPr>
              <a:t>O(n)/2</a:t>
            </a:r>
            <a:r>
              <a:rPr kumimoji="1" lang="en-US" altLang="zh-TW" b="1" baseline="30000" dirty="0">
                <a:latin typeface="Times New Roman" panose="02020603050405020304" pitchFamily="18" charset="0"/>
                <a:cs typeface="Times New Roman" panose="02020603050405020304" pitchFamily="18" charset="0"/>
              </a:rPr>
              <a:t>logn/2</a:t>
            </a:r>
            <a:r>
              <a:rPr kumimoji="1" lang="en-US" altLang="zh-TW" b="1" dirty="0">
                <a:latin typeface="Times New Roman" panose="02020603050405020304" pitchFamily="18" charset="0"/>
                <a:cs typeface="Times New Roman" panose="02020603050405020304" pitchFamily="18" charset="0"/>
              </a:rPr>
              <a:t>=O(n</a:t>
            </a:r>
            <a:r>
              <a:rPr kumimoji="1" lang="en-US" altLang="zh-TW" b="1" baseline="30000" dirty="0">
                <a:latin typeface="Times New Roman" panose="02020603050405020304" pitchFamily="18" charset="0"/>
                <a:cs typeface="Times New Roman" panose="02020603050405020304" pitchFamily="18" charset="0"/>
              </a:rPr>
              <a:t>0.5</a:t>
            </a:r>
            <a:r>
              <a:rPr kumimoji="1" lang="en-US" altLang="zh-TW" b="1" dirty="0">
                <a:latin typeface="Times New Roman" panose="02020603050405020304" pitchFamily="18" charset="0"/>
                <a:cs typeface="Times New Roman" panose="02020603050405020304" pitchFamily="18" charset="0"/>
              </a:rPr>
              <a:t>)</a:t>
            </a:r>
            <a:endParaRPr kumimoji="1" lang="zh-TW" altLang="en-US" b="1" baseline="30000" dirty="0">
              <a:latin typeface="Times New Roman" panose="02020603050405020304" pitchFamily="18" charset="0"/>
              <a:cs typeface="Times New Roman" panose="02020603050405020304" pitchFamily="18" charset="0"/>
            </a:endParaRPr>
          </a:p>
        </p:txBody>
      </p:sp>
      <p:sp>
        <p:nvSpPr>
          <p:cNvPr id="31" name="文字方塊 30">
            <a:extLst>
              <a:ext uri="{FF2B5EF4-FFF2-40B4-BE49-F238E27FC236}">
                <a16:creationId xmlns:a16="http://schemas.microsoft.com/office/drawing/2014/main" id="{6E5DA96C-F0F4-46F3-0512-1E3AD9F36B23}"/>
              </a:ext>
            </a:extLst>
          </p:cNvPr>
          <p:cNvSpPr txBox="1"/>
          <p:nvPr/>
        </p:nvSpPr>
        <p:spPr>
          <a:xfrm>
            <a:off x="9320659" y="6139136"/>
            <a:ext cx="2733441" cy="369332"/>
          </a:xfrm>
          <a:prstGeom prst="rect">
            <a:avLst/>
          </a:prstGeom>
          <a:noFill/>
        </p:spPr>
        <p:txBody>
          <a:bodyPr wrap="none" rtlCol="0">
            <a:spAutoFit/>
          </a:bodyPr>
          <a:lstStyle/>
          <a:p>
            <a:r>
              <a:rPr kumimoji="1" lang="en-US" altLang="zh-TW" b="1" dirty="0">
                <a:latin typeface="Times New Roman" panose="02020603050405020304" pitchFamily="18" charset="0"/>
                <a:cs typeface="Times New Roman" panose="02020603050405020304" pitchFamily="18" charset="0"/>
              </a:rPr>
              <a:t>Overall: n * O(n)=O(n</a:t>
            </a:r>
            <a:r>
              <a:rPr kumimoji="1" lang="en-US" altLang="zh-TW" b="1" baseline="30000" dirty="0">
                <a:latin typeface="Times New Roman" panose="02020603050405020304" pitchFamily="18" charset="0"/>
                <a:cs typeface="Times New Roman" panose="02020603050405020304" pitchFamily="18" charset="0"/>
              </a:rPr>
              <a:t>1.5</a:t>
            </a:r>
            <a:r>
              <a:rPr kumimoji="1" lang="en-US" altLang="zh-TW" b="1" dirty="0">
                <a:latin typeface="Times New Roman" panose="02020603050405020304" pitchFamily="18" charset="0"/>
                <a:cs typeface="Times New Roman" panose="02020603050405020304" pitchFamily="18" charset="0"/>
              </a:rPr>
              <a:t>)</a:t>
            </a:r>
            <a:endParaRPr kumimoji="1" lang="zh-TW" altLang="en-US" b="1" baseline="30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859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Algorithm1: Divide And Conquer (2/2)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pic>
        <p:nvPicPr>
          <p:cNvPr id="10" name="圖片 9">
            <a:extLst>
              <a:ext uri="{FF2B5EF4-FFF2-40B4-BE49-F238E27FC236}">
                <a16:creationId xmlns:a16="http://schemas.microsoft.com/office/drawing/2014/main" id="{2A092AB3-34B0-EC49-68D2-42DB5A3C7D84}"/>
              </a:ext>
            </a:extLst>
          </p:cNvPr>
          <p:cNvPicPr>
            <a:picLocks noChangeAspect="1"/>
          </p:cNvPicPr>
          <p:nvPr/>
        </p:nvPicPr>
        <p:blipFill>
          <a:blip r:embed="rId2"/>
          <a:stretch>
            <a:fillRect/>
          </a:stretch>
        </p:blipFill>
        <p:spPr>
          <a:xfrm>
            <a:off x="838200" y="1690688"/>
            <a:ext cx="6718300" cy="1854200"/>
          </a:xfrm>
          <a:prstGeom prst="rect">
            <a:avLst/>
          </a:prstGeom>
        </p:spPr>
      </p:pic>
      <p:pic>
        <p:nvPicPr>
          <p:cNvPr id="11" name="圖片 10">
            <a:extLst>
              <a:ext uri="{FF2B5EF4-FFF2-40B4-BE49-F238E27FC236}">
                <a16:creationId xmlns:a16="http://schemas.microsoft.com/office/drawing/2014/main" id="{BB878D23-F641-CB9D-C727-2EB1046FCEBB}"/>
              </a:ext>
            </a:extLst>
          </p:cNvPr>
          <p:cNvPicPr>
            <a:picLocks noChangeAspect="1"/>
          </p:cNvPicPr>
          <p:nvPr/>
        </p:nvPicPr>
        <p:blipFill>
          <a:blip r:embed="rId3"/>
          <a:stretch>
            <a:fillRect/>
          </a:stretch>
        </p:blipFill>
        <p:spPr>
          <a:xfrm>
            <a:off x="838200" y="3596918"/>
            <a:ext cx="8712200" cy="495300"/>
          </a:xfrm>
          <a:prstGeom prst="rect">
            <a:avLst/>
          </a:prstGeom>
        </p:spPr>
      </p:pic>
      <p:sp>
        <p:nvSpPr>
          <p:cNvPr id="3" name="文字方塊 2">
            <a:extLst>
              <a:ext uri="{FF2B5EF4-FFF2-40B4-BE49-F238E27FC236}">
                <a16:creationId xmlns:a16="http://schemas.microsoft.com/office/drawing/2014/main" id="{53BE51AA-E772-A28F-EC7C-902E1266579C}"/>
              </a:ext>
            </a:extLst>
          </p:cNvPr>
          <p:cNvSpPr txBox="1"/>
          <p:nvPr/>
        </p:nvSpPr>
        <p:spPr>
          <a:xfrm>
            <a:off x="7556500" y="1638658"/>
            <a:ext cx="1800493" cy="369332"/>
          </a:xfrm>
          <a:prstGeom prst="rect">
            <a:avLst/>
          </a:prstGeom>
          <a:noFill/>
        </p:spPr>
        <p:txBody>
          <a:bodyPr wrap="none" rtlCol="0">
            <a:spAutoFit/>
          </a:bodyPr>
          <a:lstStyle/>
          <a:p>
            <a:r>
              <a:rPr kumimoji="1" lang="zh-TW" altLang="en-US" dirty="0">
                <a:solidFill>
                  <a:srgbClr val="FF0000"/>
                </a:solidFill>
              </a:rPr>
              <a:t>更新超界的部分</a:t>
            </a:r>
          </a:p>
        </p:txBody>
      </p:sp>
      <p:graphicFrame>
        <p:nvGraphicFramePr>
          <p:cNvPr id="16" name="表格 16">
            <a:extLst>
              <a:ext uri="{FF2B5EF4-FFF2-40B4-BE49-F238E27FC236}">
                <a16:creationId xmlns:a16="http://schemas.microsoft.com/office/drawing/2014/main" id="{C984CF31-5EC4-5536-1C8B-92B694B34EA8}"/>
              </a:ext>
            </a:extLst>
          </p:cNvPr>
          <p:cNvGraphicFramePr>
            <a:graphicFrameLocks noGrp="1"/>
          </p:cNvGraphicFramePr>
          <p:nvPr>
            <p:extLst>
              <p:ext uri="{D42A27DB-BD31-4B8C-83A1-F6EECF244321}">
                <p14:modId xmlns:p14="http://schemas.microsoft.com/office/powerpoint/2010/main" val="546798096"/>
              </p:ext>
            </p:extLst>
          </p:nvPr>
        </p:nvGraphicFramePr>
        <p:xfrm>
          <a:off x="1022931" y="4565610"/>
          <a:ext cx="8127999" cy="1112520"/>
        </p:xfrm>
        <a:graphic>
          <a:graphicData uri="http://schemas.openxmlformats.org/drawingml/2006/table">
            <a:tbl>
              <a:tblPr firstRow="1" bandRow="1">
                <a:tableStyleId>{5940675A-B579-460E-94D1-54222C63F5DA}</a:tableStyleId>
              </a:tblPr>
              <a:tblGrid>
                <a:gridCol w="2835413">
                  <a:extLst>
                    <a:ext uri="{9D8B030D-6E8A-4147-A177-3AD203B41FA5}">
                      <a16:colId xmlns:a16="http://schemas.microsoft.com/office/drawing/2014/main" val="4059780603"/>
                    </a:ext>
                  </a:extLst>
                </a:gridCol>
                <a:gridCol w="3846443">
                  <a:extLst>
                    <a:ext uri="{9D8B030D-6E8A-4147-A177-3AD203B41FA5}">
                      <a16:colId xmlns:a16="http://schemas.microsoft.com/office/drawing/2014/main" val="652284725"/>
                    </a:ext>
                  </a:extLst>
                </a:gridCol>
                <a:gridCol w="1446143">
                  <a:extLst>
                    <a:ext uri="{9D8B030D-6E8A-4147-A177-3AD203B41FA5}">
                      <a16:colId xmlns:a16="http://schemas.microsoft.com/office/drawing/2014/main" val="276858282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dirty="0">
                          <a:latin typeface="Times New Roman" panose="02020603050405020304" pitchFamily="18" charset="0"/>
                          <a:cs typeface="Times New Roman" panose="02020603050405020304" pitchFamily="18" charset="0"/>
                        </a:rPr>
                        <a:t>Time complexity</a:t>
                      </a:r>
                      <a:endParaRPr kumimoji="1" lang="zh-TW" altLang="en-US"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Detail</a:t>
                      </a:r>
                      <a:endParaRPr lang="zh-TW" altLang="en-US"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Overall</a:t>
                      </a:r>
                      <a:endParaRPr lang="zh-TW" altLang="en-US"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extLst>
                  <a:ext uri="{0D108BD9-81ED-4DB2-BD59-A6C34878D82A}">
                    <a16:rowId xmlns:a16="http://schemas.microsoft.com/office/drawing/2014/main" val="3116575847"/>
                  </a:ext>
                </a:extLst>
              </a:tr>
              <a:tr h="370840">
                <a:tc>
                  <a:txBody>
                    <a:bodyPr/>
                    <a:lstStyle/>
                    <a:p>
                      <a:pPr algn="ctr"/>
                      <a:r>
                        <a:rPr lang="en-US" altLang="zh-TW" dirty="0">
                          <a:latin typeface="Times New Roman" panose="02020603050405020304" pitchFamily="18" charset="0"/>
                          <a:cs typeface="Times New Roman" panose="02020603050405020304" pitchFamily="18" charset="0"/>
                        </a:rPr>
                        <a:t>Top log(m/n) levels</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log(m/n) * O(n) + (m/n) * O(n0.5)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31152156"/>
                  </a:ext>
                </a:extLst>
              </a:tr>
              <a:tr h="370840">
                <a:tc>
                  <a:txBody>
                    <a:bodyPr/>
                    <a:lstStyle/>
                    <a:p>
                      <a:pPr algn="ctr"/>
                      <a:r>
                        <a:rPr lang="en-US" altLang="zh-TW" dirty="0">
                          <a:latin typeface="Times New Roman" panose="02020603050405020304" pitchFamily="18" charset="0"/>
                          <a:cs typeface="Times New Roman" panose="02020603050405020304" pitchFamily="18" charset="0"/>
                        </a:rPr>
                        <a:t>Remaining 2logn levels </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 * O(1)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36461621"/>
                  </a:ext>
                </a:extLst>
              </a:tr>
            </a:tbl>
          </a:graphicData>
        </a:graphic>
      </p:graphicFrame>
    </p:spTree>
    <p:extLst>
      <p:ext uri="{BB962C8B-B14F-4D97-AF65-F5344CB8AC3E}">
        <p14:creationId xmlns:p14="http://schemas.microsoft.com/office/powerpoint/2010/main" val="4271431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Algorithm2: Iteration</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Initialized as a shifted identity matrix: </a:t>
            </a:r>
          </a:p>
          <a:p>
            <a:pPr lvl="1"/>
            <a:r>
              <a:rPr kumimoji="1" lang="en-US" altLang="zh-TW" i="1" dirty="0">
                <a:latin typeface="Times New Roman" panose="02020603050405020304" pitchFamily="18" charset="0"/>
                <a:cs typeface="Times New Roman" panose="02020603050405020304" pitchFamily="18" charset="0"/>
              </a:rPr>
              <a:t>D</a:t>
            </a:r>
            <a:r>
              <a:rPr kumimoji="1" lang="en-US" altLang="zh-TW" dirty="0">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 = </a:t>
            </a:r>
            <a:r>
              <a:rPr kumimoji="1" lang="en-US" altLang="zh-TW" i="1"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 − m</a:t>
            </a:r>
            <a:r>
              <a:rPr kumimoji="1" lang="en-US" altLang="zh-TW" dirty="0">
                <a:latin typeface="Times New Roman" panose="02020603050405020304" pitchFamily="18" charset="0"/>
                <a:cs typeface="Times New Roman" panose="02020603050405020304" pitchFamily="18" charset="0"/>
              </a:rPr>
              <a:t>) for all </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 ∈ ⟨−∞ : +∞⟩</a:t>
            </a:r>
          </a:p>
          <a:p>
            <a:r>
              <a:rPr kumimoji="1" lang="en-US" altLang="zh-TW" dirty="0">
                <a:latin typeface="Times New Roman" panose="02020603050405020304" pitchFamily="18" charset="0"/>
                <a:cs typeface="Times New Roman" panose="02020603050405020304" pitchFamily="18" charset="0"/>
              </a:rPr>
              <a:t>Perform a sequence of incremental transformations and scan the DAG from top to bottom and from left to right</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pic>
        <p:nvPicPr>
          <p:cNvPr id="7" name="圖片 6">
            <a:extLst>
              <a:ext uri="{FF2B5EF4-FFF2-40B4-BE49-F238E27FC236}">
                <a16:creationId xmlns:a16="http://schemas.microsoft.com/office/drawing/2014/main" id="{EB778AB5-4AAD-2982-5F7D-28148561065C}"/>
              </a:ext>
            </a:extLst>
          </p:cNvPr>
          <p:cNvPicPr>
            <a:picLocks noChangeAspect="1"/>
          </p:cNvPicPr>
          <p:nvPr/>
        </p:nvPicPr>
        <p:blipFill>
          <a:blip r:embed="rId2"/>
          <a:stretch>
            <a:fillRect/>
          </a:stretch>
        </p:blipFill>
        <p:spPr>
          <a:xfrm>
            <a:off x="1182755" y="4934511"/>
            <a:ext cx="8532745" cy="1333241"/>
          </a:xfrm>
          <a:prstGeom prst="rect">
            <a:avLst/>
          </a:prstGeom>
        </p:spPr>
      </p:pic>
      <p:sp>
        <p:nvSpPr>
          <p:cNvPr id="8" name="矩形 7">
            <a:extLst>
              <a:ext uri="{FF2B5EF4-FFF2-40B4-BE49-F238E27FC236}">
                <a16:creationId xmlns:a16="http://schemas.microsoft.com/office/drawing/2014/main" id="{468140AA-29EB-C2F1-73FE-E224E9C4A0EF}"/>
              </a:ext>
            </a:extLst>
          </p:cNvPr>
          <p:cNvSpPr/>
          <p:nvPr/>
        </p:nvSpPr>
        <p:spPr>
          <a:xfrm>
            <a:off x="1182755" y="3588536"/>
            <a:ext cx="8014251" cy="1323439"/>
          </a:xfrm>
          <a:prstGeom prst="rect">
            <a:avLst/>
          </a:prstGeom>
        </p:spPr>
        <p:txBody>
          <a:bodyPr wrap="square">
            <a:spAutoFit/>
          </a:bodyPr>
          <a:lstStyle/>
          <a:p>
            <a:r>
              <a:rPr lang="en-US" altLang="zh-TW" sz="2000" dirty="0">
                <a:solidFill>
                  <a:srgbClr val="000000"/>
                </a:solidFill>
                <a:latin typeface="Times New Roman" panose="02020603050405020304" pitchFamily="18" charset="0"/>
                <a:cs typeface="Times New Roman" panose="02020603050405020304" pitchFamily="18" charset="0"/>
              </a:rPr>
              <a:t>Let </a:t>
            </a:r>
            <a:r>
              <a:rPr lang="en-US" altLang="zh-TW" sz="2000" i="1" dirty="0">
                <a:solidFill>
                  <a:srgbClr val="000000"/>
                </a:solidFill>
                <a:latin typeface="Times New Roman" panose="02020603050405020304" pitchFamily="18" charset="0"/>
                <a:cs typeface="Times New Roman" panose="02020603050405020304" pitchFamily="18" charset="0"/>
              </a:rPr>
              <a:t>D</a:t>
            </a:r>
            <a:r>
              <a:rPr lang="en-US" altLang="zh-TW" sz="2000" dirty="0">
                <a:solidFill>
                  <a:srgbClr val="000000"/>
                </a:solidFill>
                <a:latin typeface="Times New Roman" panose="02020603050405020304" pitchFamily="18" charset="0"/>
                <a:cs typeface="Times New Roman" panose="02020603050405020304" pitchFamily="18" charset="0"/>
              </a:rPr>
              <a:t> be the implicit highest-score matrix</a:t>
            </a:r>
          </a:p>
          <a:p>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l</a:t>
            </a:r>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err="1">
                <a:solidFill>
                  <a:srgbClr val="000000"/>
                </a:solidFill>
                <a:latin typeface="Times New Roman" panose="02020603050405020304" pitchFamily="18" charset="0"/>
                <a:cs typeface="Times New Roman" panose="02020603050405020304" pitchFamily="18" charset="0"/>
              </a:rPr>
              <a:t>i</a:t>
            </a:r>
            <a:r>
              <a:rPr lang="en-US" altLang="zh-TW" sz="2000" dirty="0">
                <a:solidFill>
                  <a:srgbClr val="000000"/>
                </a:solidFill>
                <a:latin typeface="Times New Roman" panose="02020603050405020304" pitchFamily="18" charset="0"/>
                <a:cs typeface="Times New Roman" panose="02020603050405020304" pitchFamily="18" charset="0"/>
              </a:rPr>
              <a:t> ∈ [1 : n]</a:t>
            </a:r>
          </a:p>
          <a:p>
            <a:r>
              <a:rPr lang="en-US" altLang="zh-TW" sz="2000" i="1" dirty="0">
                <a:solidFill>
                  <a:srgbClr val="000000"/>
                </a:solidFill>
                <a:latin typeface="Times New Roman" panose="02020603050405020304" pitchFamily="18" charset="0"/>
                <a:cs typeface="Times New Roman" panose="02020603050405020304" pitchFamily="18" charset="0"/>
              </a:rPr>
              <a:t>       j</a:t>
            </a:r>
            <a:r>
              <a:rPr lang="en-US" altLang="zh-TW" sz="2000" baseline="-25000" dirty="0">
                <a:solidFill>
                  <a:srgbClr val="000000"/>
                </a:solidFill>
                <a:latin typeface="Times New Roman" panose="02020603050405020304" pitchFamily="18" charset="0"/>
                <a:cs typeface="Times New Roman" panose="02020603050405020304" pitchFamily="18" charset="0"/>
              </a:rPr>
              <a:t>0</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err="1">
                <a:solidFill>
                  <a:srgbClr val="000000"/>
                </a:solidFill>
                <a:latin typeface="Times New Roman" panose="02020603050405020304" pitchFamily="18" charset="0"/>
                <a:cs typeface="Times New Roman" panose="02020603050405020304" pitchFamily="18" charset="0"/>
              </a:rPr>
              <a:t>i</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a:solidFill>
                  <a:srgbClr val="000000"/>
                </a:solidFill>
                <a:latin typeface="Times New Roman" panose="02020603050405020304" pitchFamily="18" charset="0"/>
                <a:cs typeface="Times New Roman" panose="02020603050405020304" pitchFamily="18" charset="0"/>
              </a:rPr>
              <a:t>m</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a:solidFill>
                  <a:srgbClr val="000000"/>
                </a:solidFill>
                <a:latin typeface="Times New Roman" panose="02020603050405020304" pitchFamily="18" charset="0"/>
                <a:cs typeface="Times New Roman" panose="02020603050405020304" pitchFamily="18" charset="0"/>
              </a:rPr>
              <a:t>l</a:t>
            </a:r>
            <a:r>
              <a:rPr lang="en-US" altLang="zh-TW" sz="2000" dirty="0">
                <a:solidFill>
                  <a:srgbClr val="000000"/>
                </a:solidFill>
                <a:latin typeface="Times New Roman" panose="02020603050405020304" pitchFamily="18" charset="0"/>
                <a:cs typeface="Times New Roman" panose="02020603050405020304" pitchFamily="18" charset="0"/>
              </a:rPr>
              <a:t> - 1/2 and </a:t>
            </a:r>
            <a:r>
              <a:rPr lang="en-US" altLang="zh-TW" sz="2000" i="1" dirty="0">
                <a:solidFill>
                  <a:srgbClr val="000000"/>
                </a:solidFill>
                <a:latin typeface="Times New Roman" panose="02020603050405020304" pitchFamily="18" charset="0"/>
                <a:cs typeface="Times New Roman" panose="02020603050405020304" pitchFamily="18" charset="0"/>
              </a:rPr>
              <a:t>j</a:t>
            </a:r>
            <a:r>
              <a:rPr lang="en-US" altLang="zh-TW" sz="2000" baseline="-25000" dirty="0">
                <a:solidFill>
                  <a:srgbClr val="000000"/>
                </a:solidFill>
                <a:latin typeface="Times New Roman" panose="02020603050405020304" pitchFamily="18" charset="0"/>
                <a:cs typeface="Times New Roman" panose="02020603050405020304" pitchFamily="18" charset="0"/>
              </a:rPr>
              <a:t>1</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err="1">
                <a:solidFill>
                  <a:srgbClr val="000000"/>
                </a:solidFill>
                <a:latin typeface="Times New Roman" panose="02020603050405020304" pitchFamily="18" charset="0"/>
                <a:cs typeface="Times New Roman" panose="02020603050405020304" pitchFamily="18" charset="0"/>
              </a:rPr>
              <a:t>i</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a:solidFill>
                  <a:srgbClr val="000000"/>
                </a:solidFill>
                <a:latin typeface="Times New Roman" panose="02020603050405020304" pitchFamily="18" charset="0"/>
                <a:cs typeface="Times New Roman" panose="02020603050405020304" pitchFamily="18" charset="0"/>
              </a:rPr>
              <a:t>m</a:t>
            </a:r>
            <a:r>
              <a:rPr lang="en-US" altLang="zh-TW" sz="2000" dirty="0">
                <a:solidFill>
                  <a:srgbClr val="000000"/>
                </a:solidFill>
                <a:latin typeface="Times New Roman" panose="02020603050405020304" pitchFamily="18" charset="0"/>
                <a:cs typeface="Times New Roman" panose="02020603050405020304" pitchFamily="18" charset="0"/>
              </a:rPr>
              <a:t> - l + 1/2</a:t>
            </a:r>
          </a:p>
          <a:p>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i</a:t>
            </a:r>
            <a:r>
              <a:rPr lang="en-US" altLang="zh-TW" sz="2000" baseline="-25000" dirty="0">
                <a:solidFill>
                  <a:srgbClr val="000000"/>
                </a:solidFill>
                <a:latin typeface="Times New Roman" panose="02020603050405020304" pitchFamily="18" charset="0"/>
                <a:cs typeface="Times New Roman" panose="02020603050405020304" pitchFamily="18" charset="0"/>
              </a:rPr>
              <a:t>0</a:t>
            </a:r>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i</a:t>
            </a:r>
            <a:r>
              <a:rPr lang="en-US" altLang="zh-TW" sz="2000" baseline="-25000" dirty="0">
                <a:solidFill>
                  <a:srgbClr val="000000"/>
                </a:solidFill>
                <a:latin typeface="Times New Roman" panose="02020603050405020304" pitchFamily="18" charset="0"/>
                <a:cs typeface="Times New Roman" panose="02020603050405020304" pitchFamily="18" charset="0"/>
              </a:rPr>
              <a:t>1</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a:solidFill>
                  <a:srgbClr val="000000"/>
                </a:solidFill>
                <a:latin typeface="Times New Roman" panose="02020603050405020304" pitchFamily="18" charset="0"/>
                <a:cs typeface="Times New Roman" panose="02020603050405020304" pitchFamily="18" charset="0"/>
              </a:rPr>
              <a:t>m</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a:solidFill>
                  <a:srgbClr val="000000"/>
                </a:solidFill>
                <a:latin typeface="Times New Roman" panose="02020603050405020304" pitchFamily="18" charset="0"/>
                <a:cs typeface="Times New Roman" panose="02020603050405020304" pitchFamily="18" charset="0"/>
              </a:rPr>
              <a:t>m </a:t>
            </a:r>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n</a:t>
            </a:r>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i</a:t>
            </a:r>
            <a:r>
              <a:rPr lang="en-US" altLang="zh-TW" sz="2000" baseline="-25000" dirty="0">
                <a:solidFill>
                  <a:srgbClr val="000000"/>
                </a:solidFill>
                <a:latin typeface="Times New Roman" panose="02020603050405020304" pitchFamily="18" charset="0"/>
                <a:cs typeface="Times New Roman" panose="02020603050405020304" pitchFamily="18" charset="0"/>
              </a:rPr>
              <a:t>0</a:t>
            </a:r>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i</a:t>
            </a:r>
            <a:r>
              <a:rPr lang="en-US" altLang="zh-TW" sz="2000" baseline="-25000" dirty="0">
                <a:solidFill>
                  <a:srgbClr val="000000"/>
                </a:solidFill>
                <a:latin typeface="Times New Roman" panose="02020603050405020304" pitchFamily="18" charset="0"/>
                <a:cs typeface="Times New Roman" panose="02020603050405020304" pitchFamily="18" charset="0"/>
              </a:rPr>
              <a:t>1</a:t>
            </a:r>
            <a:r>
              <a:rPr lang="en-US" altLang="zh-TW" sz="2000" dirty="0">
                <a:solidFill>
                  <a:srgbClr val="000000"/>
                </a:solidFill>
                <a:latin typeface="Times New Roman" panose="02020603050405020304" pitchFamily="18" charset="0"/>
                <a:cs typeface="Times New Roman" panose="02020603050405020304" pitchFamily="18" charset="0"/>
              </a:rPr>
              <a:t> </a:t>
            </a:r>
            <a:r>
              <a:rPr lang="zh-TW" altLang="en-US" sz="2000" dirty="0">
                <a:solidFill>
                  <a:srgbClr val="000000"/>
                </a:solidFill>
                <a:latin typeface="Times New Roman" panose="02020603050405020304" pitchFamily="18" charset="0"/>
                <a:cs typeface="Times New Roman" panose="02020603050405020304" pitchFamily="18" charset="0"/>
              </a:rPr>
              <a:t>分別為</a:t>
            </a:r>
            <a:r>
              <a:rPr lang="en-US" altLang="zh-TW" sz="2000" i="1" dirty="0">
                <a:solidFill>
                  <a:srgbClr val="000000"/>
                </a:solidFill>
                <a:latin typeface="Times New Roman" panose="02020603050405020304" pitchFamily="18" charset="0"/>
                <a:cs typeface="Times New Roman" panose="02020603050405020304" pitchFamily="18" charset="0"/>
              </a:rPr>
              <a:t>j</a:t>
            </a:r>
            <a:r>
              <a:rPr lang="en-US" altLang="zh-TW" sz="2000" baseline="-25000" dirty="0">
                <a:solidFill>
                  <a:srgbClr val="000000"/>
                </a:solidFill>
                <a:latin typeface="Times New Roman" panose="02020603050405020304" pitchFamily="18" charset="0"/>
                <a:cs typeface="Times New Roman" panose="02020603050405020304" pitchFamily="18" charset="0"/>
              </a:rPr>
              <a:t>0</a:t>
            </a:r>
            <a:r>
              <a:rPr lang="zh-TW" altLang="en-US" sz="2000" dirty="0">
                <a:solidFill>
                  <a:srgbClr val="000000"/>
                </a:solidFill>
                <a:latin typeface="Times New Roman" panose="02020603050405020304" pitchFamily="18" charset="0"/>
                <a:cs typeface="Times New Roman" panose="02020603050405020304" pitchFamily="18" charset="0"/>
              </a:rPr>
              <a:t>和</a:t>
            </a:r>
            <a:r>
              <a:rPr lang="en-US" altLang="zh-TW" sz="2000" i="1" dirty="0">
                <a:solidFill>
                  <a:srgbClr val="000000"/>
                </a:solidFill>
                <a:latin typeface="Times New Roman" panose="02020603050405020304" pitchFamily="18" charset="0"/>
                <a:cs typeface="Times New Roman" panose="02020603050405020304" pitchFamily="18" charset="0"/>
              </a:rPr>
              <a:t>j</a:t>
            </a:r>
            <a:r>
              <a:rPr lang="en-US" altLang="zh-TW" sz="2000" baseline="-25000" dirty="0">
                <a:solidFill>
                  <a:srgbClr val="000000"/>
                </a:solidFill>
                <a:latin typeface="Times New Roman" panose="02020603050405020304" pitchFamily="18" charset="0"/>
                <a:cs typeface="Times New Roman" panose="02020603050405020304" pitchFamily="18" charset="0"/>
              </a:rPr>
              <a:t>1</a:t>
            </a:r>
            <a:r>
              <a:rPr lang="zh-TW" altLang="en-US" sz="2000" dirty="0">
                <a:solidFill>
                  <a:srgbClr val="000000"/>
                </a:solidFill>
                <a:latin typeface="Times New Roman" panose="02020603050405020304" pitchFamily="18" charset="0"/>
                <a:cs typeface="Times New Roman" panose="02020603050405020304" pitchFamily="18" charset="0"/>
              </a:rPr>
              <a:t>非零值的列索引</a:t>
            </a:r>
            <a:r>
              <a:rPr lang="en-US" altLang="zh-TW" sz="2000" dirty="0">
                <a:solidFill>
                  <a:srgbClr val="000000"/>
                </a:solidFill>
                <a:latin typeface="Times New Roman" panose="02020603050405020304" pitchFamily="18" charset="0"/>
                <a:cs typeface="Times New Roman" panose="02020603050405020304" pitchFamily="18" charset="0"/>
              </a:rPr>
              <a:t>)</a:t>
            </a:r>
            <a:endParaRPr lang="en-US" altLang="zh-TW" sz="2000" dirty="0">
              <a:solidFill>
                <a:srgbClr val="000000"/>
              </a:solidFill>
              <a:effectLst/>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DF2554A6-4539-7260-7F1B-E0EE75D6EE22}"/>
              </a:ext>
            </a:extLst>
          </p:cNvPr>
          <p:cNvSpPr txBox="1"/>
          <p:nvPr/>
        </p:nvSpPr>
        <p:spPr>
          <a:xfrm>
            <a:off x="838200" y="6379826"/>
            <a:ext cx="7684091" cy="276999"/>
          </a:xfrm>
          <a:prstGeom prst="rect">
            <a:avLst/>
          </a:prstGeom>
          <a:noFill/>
        </p:spPr>
        <p:txBody>
          <a:bodyPr wrap="none" rtlCol="0">
            <a:spAutoFit/>
          </a:bodyPr>
          <a:lstStyle/>
          <a:p>
            <a:r>
              <a:rPr kumimoji="1" lang="en-US" altLang="zh-TW" sz="1200" dirty="0" err="1">
                <a:latin typeface="Times New Roman" panose="02020603050405020304" pitchFamily="18" charset="0"/>
                <a:cs typeface="Times New Roman" panose="02020603050405020304" pitchFamily="18" charset="0"/>
              </a:rPr>
              <a:t>Tiskin</a:t>
            </a:r>
            <a:r>
              <a:rPr kumimoji="1" lang="en-US" altLang="zh-TW" sz="1200" dirty="0">
                <a:latin typeface="Times New Roman" panose="02020603050405020304" pitchFamily="18" charset="0"/>
                <a:cs typeface="Times New Roman" panose="02020603050405020304" pitchFamily="18" charset="0"/>
              </a:rPr>
              <a:t>, A. Semi-local String Comparison: Algorithmic Techniques and Applications. </a:t>
            </a:r>
            <a:r>
              <a:rPr kumimoji="1" lang="en-US" altLang="zh-TW" sz="1200" dirty="0" err="1">
                <a:latin typeface="Times New Roman" panose="02020603050405020304" pitchFamily="18" charset="0"/>
                <a:cs typeface="Times New Roman" panose="02020603050405020304" pitchFamily="18" charset="0"/>
              </a:rPr>
              <a:t>Math.comput.sci</a:t>
            </a:r>
            <a:r>
              <a:rPr kumimoji="1" lang="en-US" altLang="zh-TW" sz="1200" dirty="0">
                <a:latin typeface="Times New Roman" panose="02020603050405020304" pitchFamily="18" charset="0"/>
                <a:cs typeface="Times New Roman" panose="02020603050405020304" pitchFamily="18" charset="0"/>
              </a:rPr>
              <a:t>. 1, 571–603 (2008)</a:t>
            </a:r>
            <a:endParaRPr kumimoji="1"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6845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13</a:t>
            </a:f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14</a:t>
            </a:fld>
            <a:endParaRPr kumimoji="1" lang="zh-TW" altLang="en-US"/>
          </a:p>
        </p:txBody>
      </p:sp>
    </p:spTree>
    <p:extLst>
      <p:ext uri="{BB962C8B-B14F-4D97-AF65-F5344CB8AC3E}">
        <p14:creationId xmlns:p14="http://schemas.microsoft.com/office/powerpoint/2010/main" val="368900822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1938</TotalTime>
  <Words>2528</Words>
  <Application>Microsoft Macintosh PowerPoint</Application>
  <PresentationFormat>寬螢幕</PresentationFormat>
  <Paragraphs>255</Paragraphs>
  <Slides>15</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15</vt:i4>
      </vt:variant>
    </vt:vector>
  </HeadingPairs>
  <TitlesOfParts>
    <vt:vector size="24" baseType="lpstr">
      <vt:lpstr>Arial</vt:lpstr>
      <vt:lpstr>Calibri</vt:lpstr>
      <vt:lpstr>Cambria Math</vt:lpstr>
      <vt:lpstr>Helvetica</vt:lpstr>
      <vt:lpstr>Menlo</vt:lpstr>
      <vt:lpstr>Rockwell</vt:lpstr>
      <vt:lpstr>Times</vt:lpstr>
      <vt:lpstr>Times New Roman</vt:lpstr>
      <vt:lpstr>Office 佈景主題</vt:lpstr>
      <vt:lpstr>Semi-Local Longest Common Subsequences in Subquadratic Time</vt:lpstr>
      <vt:lpstr>Abstract</vt:lpstr>
      <vt:lpstr>Outline</vt:lpstr>
      <vt:lpstr>Semi-Local LCS Problem (1/2)</vt:lpstr>
      <vt:lpstr>Semi-Local LCS Problem (2/2)</vt:lpstr>
      <vt:lpstr>Extended Highest-Score Matrix</vt:lpstr>
      <vt:lpstr>Critical Point (1/2)</vt:lpstr>
      <vt:lpstr>Critical Point (1/2)</vt:lpstr>
      <vt:lpstr>Critical Point (2/2)</vt:lpstr>
      <vt:lpstr>Concatenation of A And B</vt:lpstr>
      <vt:lpstr>Algorithm1: Divide And Conquer (1/2)</vt:lpstr>
      <vt:lpstr>Algorithm1: Divide And Conquer (2/2)</vt:lpstr>
      <vt:lpstr>Algorithm2: Iteration</vt:lpstr>
      <vt:lpstr>Thank you for listening</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宗霖 呂</cp:lastModifiedBy>
  <cp:revision>27</cp:revision>
  <dcterms:created xsi:type="dcterms:W3CDTF">2021-03-28T03:57:23Z</dcterms:created>
  <dcterms:modified xsi:type="dcterms:W3CDTF">2022-05-18T10:30:36Z</dcterms:modified>
</cp:coreProperties>
</file>