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2">
  <p:sldMasterIdLst>
    <p:sldMasterId id="2147483648" r:id="rId1"/>
  </p:sldMasterIdLst>
  <p:notesMasterIdLst>
    <p:notesMasterId r:id="rId28"/>
  </p:notesMasterIdLst>
  <p:sldIdLst>
    <p:sldId id="256" r:id="rId2"/>
    <p:sldId id="386" r:id="rId3"/>
    <p:sldId id="387" r:id="rId4"/>
    <p:sldId id="391" r:id="rId5"/>
    <p:sldId id="388" r:id="rId6"/>
    <p:sldId id="484" r:id="rId7"/>
    <p:sldId id="286" r:id="rId8"/>
    <p:sldId id="392" r:id="rId9"/>
    <p:sldId id="385" r:id="rId10"/>
    <p:sldId id="465" r:id="rId11"/>
    <p:sldId id="470" r:id="rId12"/>
    <p:sldId id="475" r:id="rId13"/>
    <p:sldId id="476" r:id="rId14"/>
    <p:sldId id="477" r:id="rId15"/>
    <p:sldId id="474" r:id="rId16"/>
    <p:sldId id="472" r:id="rId17"/>
    <p:sldId id="402" r:id="rId18"/>
    <p:sldId id="485" r:id="rId19"/>
    <p:sldId id="299" r:id="rId20"/>
    <p:sldId id="300" r:id="rId21"/>
    <p:sldId id="480" r:id="rId22"/>
    <p:sldId id="397" r:id="rId23"/>
    <p:sldId id="483" r:id="rId24"/>
    <p:sldId id="481" r:id="rId25"/>
    <p:sldId id="482" r:id="rId26"/>
    <p:sldId id="285" r:id="rId27"/>
  </p:sldIdLst>
  <p:sldSz cx="9144000" cy="6858000" type="screen4x3"/>
  <p:notesSz cx="9939338" cy="68072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子旭 李" initials="子旭" lastIdx="1" clrIdx="0">
    <p:extLst>
      <p:ext uri="{19B8F6BF-5375-455C-9EA6-DF929625EA0E}">
        <p15:presenceInfo xmlns:p15="http://schemas.microsoft.com/office/powerpoint/2012/main" userId="e0481f161318bfc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0066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64871" autoAdjust="0"/>
  </p:normalViewPr>
  <p:slideViewPr>
    <p:cSldViewPr>
      <p:cViewPr varScale="1">
        <p:scale>
          <a:sx n="51" d="100"/>
          <a:sy n="51" d="100"/>
        </p:scale>
        <p:origin x="2323" y="4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07046" cy="34036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29992" y="0"/>
            <a:ext cx="4307046" cy="340360"/>
          </a:xfrm>
          <a:prstGeom prst="rect">
            <a:avLst/>
          </a:prstGeom>
        </p:spPr>
        <p:txBody>
          <a:bodyPr vert="horz" lIns="91440" tIns="45720" rIns="91440" bIns="45720" rtlCol="0"/>
          <a:lstStyle>
            <a:lvl1pPr algn="r">
              <a:defRPr sz="1200"/>
            </a:lvl1pPr>
          </a:lstStyle>
          <a:p>
            <a:fld id="{F720EDCC-A796-4EC7-AF06-212CFB973AF2}" type="datetimeFigureOut">
              <a:rPr lang="zh-TW" altLang="en-US" smtClean="0"/>
              <a:pPr/>
              <a:t>2022/5/18</a:t>
            </a:fld>
            <a:endParaRPr lang="zh-TW" altLang="en-US"/>
          </a:p>
        </p:txBody>
      </p:sp>
      <p:sp>
        <p:nvSpPr>
          <p:cNvPr id="4" name="投影片圖像版面配置區 3"/>
          <p:cNvSpPr>
            <a:spLocks noGrp="1" noRot="1" noChangeAspect="1"/>
          </p:cNvSpPr>
          <p:nvPr>
            <p:ph type="sldImg" idx="2"/>
          </p:nvPr>
        </p:nvSpPr>
        <p:spPr>
          <a:xfrm>
            <a:off x="3267075" y="511175"/>
            <a:ext cx="3405188" cy="25527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3934" y="3233420"/>
            <a:ext cx="7951470" cy="306324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6465659"/>
            <a:ext cx="4307046" cy="34036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29992" y="6465659"/>
            <a:ext cx="4307046" cy="340360"/>
          </a:xfrm>
          <a:prstGeom prst="rect">
            <a:avLst/>
          </a:prstGeom>
        </p:spPr>
        <p:txBody>
          <a:bodyPr vert="horz" lIns="91440" tIns="45720" rIns="91440" bIns="45720" rtlCol="0" anchor="b"/>
          <a:lstStyle>
            <a:lvl1pPr algn="r">
              <a:defRPr sz="1200"/>
            </a:lvl1pPr>
          </a:lstStyle>
          <a:p>
            <a:fld id="{1E6DD3CC-7343-481E-A744-2F043A041743}" type="slidenum">
              <a:rPr lang="zh-TW" altLang="en-US" smtClean="0"/>
              <a:pPr/>
              <a:t>‹#›</a:t>
            </a:fld>
            <a:endParaRPr lang="zh-TW" altLang="en-US"/>
          </a:p>
        </p:txBody>
      </p:sp>
    </p:spTree>
    <p:extLst>
      <p:ext uri="{BB962C8B-B14F-4D97-AF65-F5344CB8AC3E}">
        <p14:creationId xmlns:p14="http://schemas.microsoft.com/office/powerpoint/2010/main" val="338388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0</a:t>
            </a:fld>
            <a:endParaRPr lang="zh-TW" altLang="en-US"/>
          </a:p>
        </p:txBody>
      </p:sp>
    </p:spTree>
    <p:extLst>
      <p:ext uri="{BB962C8B-B14F-4D97-AF65-F5344CB8AC3E}">
        <p14:creationId xmlns:p14="http://schemas.microsoft.com/office/powerpoint/2010/main" val="3268431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首先我們要介紹的是同源檢測，生物的同源檢測大多都是以</a:t>
            </a:r>
            <a:r>
              <a:rPr lang="en-US" altLang="zh-TW" dirty="0"/>
              <a:t>DNA</a:t>
            </a:r>
            <a:r>
              <a:rPr lang="zh-TW" altLang="en-US" dirty="0"/>
              <a:t>以及蛋白質序列來作同源檢測，兩序列具有高相似度通常代表具有同源關係，但並不表示只要相似度是高的，就具有同源關係。</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a:t>
            </a:fld>
            <a:endParaRPr lang="zh-TW" altLang="en-US"/>
          </a:p>
        </p:txBody>
      </p:sp>
    </p:spTree>
    <p:extLst>
      <p:ext uri="{BB962C8B-B14F-4D97-AF65-F5344CB8AC3E}">
        <p14:creationId xmlns:p14="http://schemas.microsoft.com/office/powerpoint/2010/main" val="3530224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b="0" i="0" dirty="0">
                <a:effectLst/>
                <a:latin typeface="arial" panose="020B0604020202020204" pitchFamily="34" charset="0"/>
              </a:rPr>
              <a:t>內在非結構</a:t>
            </a:r>
            <a:r>
              <a:rPr lang="en-US" altLang="zh-TW" b="0" i="0" dirty="0">
                <a:effectLst/>
                <a:latin typeface="arial" panose="020B0604020202020204" pitchFamily="34" charset="0"/>
              </a:rPr>
              <a:t>(</a:t>
            </a:r>
            <a:r>
              <a:rPr lang="zh-TW" altLang="en-US" b="0" i="0" dirty="0">
                <a:effectLst/>
                <a:latin typeface="arial" panose="020B0604020202020204" pitchFamily="34" charset="0"/>
              </a:rPr>
              <a:t>無序</a:t>
            </a:r>
            <a:r>
              <a:rPr lang="en-US" altLang="zh-TW" b="0" i="0" dirty="0">
                <a:effectLst/>
                <a:latin typeface="arial" panose="020B0604020202020204" pitchFamily="34" charset="0"/>
              </a:rPr>
              <a:t>)</a:t>
            </a:r>
            <a:r>
              <a:rPr lang="zh-TW" altLang="en-US" b="0" i="0" dirty="0">
                <a:effectLst/>
                <a:latin typeface="arial" panose="020B0604020202020204" pitchFamily="34" charset="0"/>
              </a:rPr>
              <a:t>蛋白</a:t>
            </a:r>
            <a:endParaRPr lang="en-US" altLang="zh-TW" b="0" i="0"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effectLst/>
                <a:latin typeface="arial" panose="020B0604020202020204" pitchFamily="34" charset="0"/>
              </a:rPr>
              <a:t>接下來要介紹的是內在非結構</a:t>
            </a:r>
            <a:r>
              <a:rPr lang="en-US" altLang="zh-TW" b="0" i="0" dirty="0">
                <a:effectLst/>
                <a:latin typeface="arial" panose="020B0604020202020204" pitchFamily="34" charset="0"/>
              </a:rPr>
              <a:t>(</a:t>
            </a:r>
            <a:r>
              <a:rPr lang="zh-TW" altLang="en-US" b="0" i="0" dirty="0">
                <a:effectLst/>
                <a:latin typeface="arial" panose="020B0604020202020204" pitchFamily="34" charset="0"/>
              </a:rPr>
              <a:t>無序</a:t>
            </a:r>
            <a:r>
              <a:rPr lang="en-US" altLang="zh-TW" b="0" i="0" dirty="0">
                <a:effectLst/>
                <a:latin typeface="arial" panose="020B0604020202020204" pitchFamily="34" charset="0"/>
              </a:rPr>
              <a:t>)</a:t>
            </a:r>
            <a:r>
              <a:rPr lang="zh-TW" altLang="en-US" b="0" i="0" dirty="0">
                <a:effectLst/>
                <a:latin typeface="arial" panose="020B0604020202020204" pitchFamily="34" charset="0"/>
              </a:rPr>
              <a:t>蛋白，</a:t>
            </a:r>
            <a:r>
              <a:rPr lang="en-US" altLang="zh-TW" b="0" i="0" dirty="0">
                <a:effectLst/>
                <a:latin typeface="arial" panose="020B0604020202020204" pitchFamily="34" charset="0"/>
              </a:rPr>
              <a:t>IDPs</a:t>
            </a:r>
            <a:r>
              <a:rPr lang="zh-TW" altLang="en-US" b="0" i="0" dirty="0">
                <a:effectLst/>
                <a:latin typeface="arial" panose="020B0604020202020204" pitchFamily="34" charset="0"/>
              </a:rPr>
              <a:t>，</a:t>
            </a:r>
            <a:r>
              <a:rPr lang="en-US" altLang="zh-TW" b="0" i="0" dirty="0">
                <a:effectLst/>
                <a:latin typeface="arial" panose="020B0604020202020204" pitchFamily="34" charset="0"/>
              </a:rPr>
              <a:t>IDPs</a:t>
            </a:r>
            <a:r>
              <a:rPr lang="zh-TW" altLang="en-US" b="0" i="0" dirty="0">
                <a:effectLst/>
                <a:latin typeface="arial" panose="020B0604020202020204" pitchFamily="34" charset="0"/>
              </a:rPr>
              <a:t>是一種缺乏穩定或有序三級結構的蛋白質，而蛋白質的三級結構能了解蛋白質的生物功能或是蛋白質和鹼基之間的相互作用，由於內在非結構</a:t>
            </a:r>
            <a:r>
              <a:rPr lang="en-US" altLang="zh-TW" b="0" i="0" dirty="0">
                <a:effectLst/>
                <a:latin typeface="arial" panose="020B0604020202020204" pitchFamily="34" charset="0"/>
              </a:rPr>
              <a:t>(</a:t>
            </a:r>
            <a:r>
              <a:rPr lang="zh-TW" altLang="en-US" b="0" i="0" dirty="0">
                <a:effectLst/>
                <a:latin typeface="arial" panose="020B0604020202020204" pitchFamily="34" charset="0"/>
              </a:rPr>
              <a:t>無序</a:t>
            </a:r>
            <a:r>
              <a:rPr lang="en-US" altLang="zh-TW" b="0" i="0" dirty="0">
                <a:effectLst/>
                <a:latin typeface="arial" panose="020B0604020202020204" pitchFamily="34" charset="0"/>
              </a:rPr>
              <a:t>)</a:t>
            </a:r>
            <a:r>
              <a:rPr lang="zh-TW" altLang="en-US" b="0" i="0" dirty="0">
                <a:effectLst/>
                <a:latin typeface="arial" panose="020B0604020202020204" pitchFamily="34" charset="0"/>
              </a:rPr>
              <a:t>蛋白的不穩定性，</a:t>
            </a:r>
            <a:br>
              <a:rPr lang="en-US" altLang="zh-TW" b="0" i="0" dirty="0">
                <a:effectLst/>
                <a:latin typeface="arial" panose="020B0604020202020204" pitchFamily="34" charset="0"/>
              </a:rPr>
            </a:br>
            <a:r>
              <a:rPr lang="zh-TW" altLang="en-US" b="0" i="0" dirty="0">
                <a:effectLst/>
                <a:latin typeface="arial" panose="020B0604020202020204" pitchFamily="34" charset="0"/>
              </a:rPr>
              <a:t>他們再與其他蛋白質結合時，有可能會改變自身的結構來作結合，所以內在非結構</a:t>
            </a:r>
            <a:r>
              <a:rPr lang="en-US" altLang="zh-TW" b="0" i="0" dirty="0">
                <a:effectLst/>
                <a:latin typeface="arial" panose="020B0604020202020204" pitchFamily="34" charset="0"/>
              </a:rPr>
              <a:t>(</a:t>
            </a:r>
            <a:r>
              <a:rPr lang="zh-TW" altLang="en-US" b="0" i="0" dirty="0">
                <a:effectLst/>
                <a:latin typeface="arial" panose="020B0604020202020204" pitchFamily="34" charset="0"/>
              </a:rPr>
              <a:t>無序</a:t>
            </a:r>
            <a:r>
              <a:rPr lang="en-US" altLang="zh-TW" b="0" i="0" dirty="0">
                <a:effectLst/>
                <a:latin typeface="arial" panose="020B0604020202020204" pitchFamily="34" charset="0"/>
              </a:rPr>
              <a:t>)</a:t>
            </a:r>
            <a:r>
              <a:rPr lang="zh-TW" altLang="en-US" b="0" i="0" dirty="0">
                <a:effectLst/>
                <a:latin typeface="arial" panose="020B0604020202020204" pitchFamily="34" charset="0"/>
              </a:rPr>
              <a:t>蛋白會影響蛋白質序列對齊的準確度</a:t>
            </a:r>
            <a:endParaRPr lang="en-US" altLang="zh-TW" b="0" i="0"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effectLst/>
              <a:latin typeface="arial" panose="020B0604020202020204" pitchFamily="34" charset="0"/>
            </a:endParaRP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a:t>
            </a:fld>
            <a:endParaRPr lang="zh-TW" altLang="en-US"/>
          </a:p>
        </p:txBody>
      </p:sp>
    </p:spTree>
    <p:extLst>
      <p:ext uri="{BB962C8B-B14F-4D97-AF65-F5344CB8AC3E}">
        <p14:creationId xmlns:p14="http://schemas.microsoft.com/office/powerpoint/2010/main" val="2211467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這邊是要介紹在常見的蛋白質氨基酸中，在圖中，</a:t>
            </a:r>
            <a:r>
              <a:rPr lang="en-US" altLang="zh-TW" sz="1200" dirty="0">
                <a:solidFill>
                  <a:srgbClr val="222222"/>
                </a:solidFill>
                <a:latin typeface="Courier New" panose="02070309020205020404" pitchFamily="49" charset="0"/>
                <a:cs typeface="Courier New" panose="02070309020205020404" pitchFamily="49" charset="0"/>
              </a:rPr>
              <a:t>A,G,Q,S,P,E </a:t>
            </a:r>
            <a:r>
              <a:rPr lang="en-US" altLang="zh-TW" sz="1200" dirty="0">
                <a:solidFill>
                  <a:srgbClr val="222222"/>
                </a:solidFill>
                <a:latin typeface="Times New Roman" panose="02020603050405020304" pitchFamily="18" charset="0"/>
                <a:cs typeface="Times New Roman" panose="02020603050405020304" pitchFamily="18" charset="0"/>
              </a:rPr>
              <a:t>and </a:t>
            </a:r>
            <a:r>
              <a:rPr lang="en-US" altLang="zh-TW" sz="1200" dirty="0">
                <a:solidFill>
                  <a:srgbClr val="222222"/>
                </a:solidFill>
                <a:latin typeface="Courier New" panose="02070309020205020404" pitchFamily="49" charset="0"/>
                <a:cs typeface="Courier New" panose="02070309020205020404" pitchFamily="49" charset="0"/>
              </a:rPr>
              <a:t>K</a:t>
            </a:r>
            <a:r>
              <a:rPr lang="zh-TW" altLang="en-US" sz="1200" dirty="0">
                <a:solidFill>
                  <a:srgbClr val="222222"/>
                </a:solidFill>
                <a:latin typeface="Courier New" panose="02070309020205020404" pitchFamily="49" charset="0"/>
                <a:cs typeface="Courier New" panose="02070309020205020404" pitchFamily="49" charset="0"/>
              </a:rPr>
              <a:t> 在無序的區域中占有比較高的</a:t>
            </a:r>
            <a:r>
              <a:rPr lang="en-US" altLang="zh-TW" sz="1200" dirty="0">
                <a:solidFill>
                  <a:srgbClr val="222222"/>
                </a:solidFill>
                <a:latin typeface="Courier New" panose="02070309020205020404" pitchFamily="49" charset="0"/>
                <a:cs typeface="Courier New" panose="02070309020205020404" pitchFamily="49" charset="0"/>
              </a:rPr>
              <a:t>percent</a:t>
            </a:r>
            <a:r>
              <a:rPr lang="zh-TW" altLang="en-US" sz="1200" dirty="0">
                <a:solidFill>
                  <a:srgbClr val="222222"/>
                </a:solidFill>
                <a:latin typeface="Courier New" panose="02070309020205020404" pitchFamily="49" charset="0"/>
                <a:cs typeface="Courier New" panose="02070309020205020404" pitchFamily="49" charset="0"/>
              </a:rPr>
              <a:t>，而</a:t>
            </a:r>
            <a:r>
              <a:rPr lang="en-US" altLang="zh-TW" sz="1200" dirty="0">
                <a:solidFill>
                  <a:srgbClr val="222222"/>
                </a:solidFill>
                <a:latin typeface="Courier New" panose="02070309020205020404" pitchFamily="49" charset="0"/>
                <a:cs typeface="Courier New" panose="02070309020205020404" pitchFamily="49" charset="0"/>
              </a:rPr>
              <a:t>M,H,W,C,F,I,Y,V,L </a:t>
            </a:r>
            <a:r>
              <a:rPr lang="en-US" altLang="zh-TW" sz="1200" dirty="0">
                <a:solidFill>
                  <a:srgbClr val="222222"/>
                </a:solidFill>
                <a:latin typeface="Times New Roman" panose="02020603050405020304" pitchFamily="18" charset="0"/>
                <a:cs typeface="Times New Roman" panose="02020603050405020304" pitchFamily="18" charset="0"/>
              </a:rPr>
              <a:t>and </a:t>
            </a:r>
            <a:r>
              <a:rPr lang="en-US" altLang="zh-TW" sz="1200" dirty="0">
                <a:solidFill>
                  <a:srgbClr val="222222"/>
                </a:solidFill>
                <a:latin typeface="Courier New" panose="02070309020205020404" pitchFamily="49" charset="0"/>
                <a:cs typeface="Courier New" panose="02070309020205020404" pitchFamily="49" charset="0"/>
              </a:rPr>
              <a:t>N</a:t>
            </a:r>
            <a:r>
              <a:rPr lang="zh-TW" altLang="en-US" sz="1200" dirty="0">
                <a:solidFill>
                  <a:srgbClr val="222222"/>
                </a:solidFill>
                <a:latin typeface="Courier New" panose="02070309020205020404" pitchFamily="49" charset="0"/>
                <a:cs typeface="Courier New" panose="02070309020205020404" pitchFamily="49" charset="0"/>
              </a:rPr>
              <a:t>則比較低，</a:t>
            </a:r>
            <a:r>
              <a:rPr lang="en-US" altLang="zh-TW" sz="1200" dirty="0" err="1">
                <a:solidFill>
                  <a:srgbClr val="222222"/>
                </a:solidFill>
                <a:latin typeface="Courier New" panose="02070309020205020404" pitchFamily="49" charset="0"/>
                <a:cs typeface="Courier New" panose="02070309020205020404" pitchFamily="49" charset="0"/>
              </a:rPr>
              <a:t>Disprot</a:t>
            </a:r>
            <a:r>
              <a:rPr lang="zh-TW" altLang="en-US" sz="1200" dirty="0">
                <a:solidFill>
                  <a:srgbClr val="222222"/>
                </a:solidFill>
                <a:latin typeface="Courier New" panose="02070309020205020404" pitchFamily="49" charset="0"/>
                <a:cs typeface="Courier New" panose="02070309020205020404" pitchFamily="49" charset="0"/>
              </a:rPr>
              <a:t>是內在無序蛋白的資料庫，而</a:t>
            </a:r>
            <a:r>
              <a:rPr lang="en-US" altLang="zh-TW" sz="1200" dirty="0">
                <a:solidFill>
                  <a:srgbClr val="222222"/>
                </a:solidFill>
                <a:latin typeface="Courier New" panose="02070309020205020404" pitchFamily="49" charset="0"/>
                <a:cs typeface="Courier New" panose="02070309020205020404" pitchFamily="49" charset="0"/>
              </a:rPr>
              <a:t>PDB</a:t>
            </a:r>
            <a:r>
              <a:rPr lang="zh-TW" altLang="en-US" sz="1200" dirty="0">
                <a:solidFill>
                  <a:srgbClr val="222222"/>
                </a:solidFill>
                <a:latin typeface="Courier New" panose="02070309020205020404" pitchFamily="49" charset="0"/>
                <a:cs typeface="Courier New" panose="02070309020205020404" pitchFamily="49" charset="0"/>
              </a:rPr>
              <a:t>是</a:t>
            </a:r>
            <a:r>
              <a:rPr lang="en-US" altLang="zh-TW" sz="1200" dirty="0">
                <a:solidFill>
                  <a:srgbClr val="222222"/>
                </a:solidFill>
                <a:latin typeface="Courier New" panose="02070309020205020404" pitchFamily="49" charset="0"/>
                <a:cs typeface="Courier New" panose="02070309020205020404" pitchFamily="49" charset="0"/>
              </a:rPr>
              <a:t>protein data bank</a:t>
            </a:r>
            <a:r>
              <a:rPr lang="zh-TW" altLang="en-US" sz="1200" dirty="0">
                <a:solidFill>
                  <a:srgbClr val="222222"/>
                </a:solidFill>
                <a:latin typeface="Courier New" panose="02070309020205020404" pitchFamily="49" charset="0"/>
                <a:cs typeface="Courier New" panose="02070309020205020404" pitchFamily="49" charset="0"/>
              </a:rPr>
              <a:t>，蛋白質資料庫</a:t>
            </a:r>
            <a:endParaRPr lang="en-US" altLang="zh-TW" sz="1200" dirty="0">
              <a:solidFill>
                <a:srgbClr val="222222"/>
              </a:solidFill>
              <a:latin typeface="Courier New" panose="02070309020205020404" pitchFamily="49" charset="0"/>
              <a:cs typeface="Courier New" panose="02070309020205020404" pitchFamily="49" charset="0"/>
            </a:endParaRPr>
          </a:p>
          <a:p>
            <a:endParaRPr lang="en-US" altLang="zh-TW" sz="1200" dirty="0">
              <a:solidFill>
                <a:srgbClr val="222222"/>
              </a:solidFill>
              <a:latin typeface="Courier New" panose="02070309020205020404" pitchFamily="49" charset="0"/>
              <a:cs typeface="Courier New" panose="02070309020205020404" pitchFamily="49" charset="0"/>
            </a:endParaRPr>
          </a:p>
          <a:p>
            <a:r>
              <a:rPr lang="en-US" altLang="zh-TW" sz="1200" dirty="0">
                <a:solidFill>
                  <a:srgbClr val="222222"/>
                </a:solidFill>
                <a:latin typeface="Courier New" panose="02070309020205020404" pitchFamily="49" charset="0"/>
                <a:cs typeface="Courier New" panose="02070309020205020404" pitchFamily="49" charset="0"/>
              </a:rPr>
              <a:t>C</a:t>
            </a:r>
            <a:r>
              <a:rPr lang="zh-TW" altLang="en-US" sz="1200" dirty="0">
                <a:solidFill>
                  <a:srgbClr val="222222"/>
                </a:solidFill>
                <a:latin typeface="Courier New" panose="02070309020205020404" pitchFamily="49" charset="0"/>
                <a:cs typeface="Courier New" panose="02070309020205020404" pitchFamily="49" charset="0"/>
              </a:rPr>
              <a:t> </a:t>
            </a:r>
            <a:r>
              <a:rPr lang="en-US" altLang="zh-TW" sz="1200" dirty="0">
                <a:solidFill>
                  <a:srgbClr val="222222"/>
                </a:solidFill>
                <a:latin typeface="Courier New" panose="02070309020205020404" pitchFamily="49" charset="0"/>
                <a:cs typeface="Courier New" panose="02070309020205020404" pitchFamily="49" charset="0"/>
              </a:rPr>
              <a:t>=</a:t>
            </a:r>
            <a:r>
              <a:rPr lang="zh-TW" altLang="en-US" sz="1200" dirty="0">
                <a:solidFill>
                  <a:srgbClr val="222222"/>
                </a:solidFill>
                <a:latin typeface="Courier New" panose="02070309020205020404" pitchFamily="49" charset="0"/>
                <a:cs typeface="Courier New" panose="02070309020205020404" pitchFamily="49" charset="0"/>
              </a:rPr>
              <a:t> 比例，所以是每個蛋白質胺基酸在該資料庫中的比例</a:t>
            </a:r>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a:t>
            </a:fld>
            <a:endParaRPr lang="zh-TW" altLang="en-US"/>
          </a:p>
        </p:txBody>
      </p:sp>
    </p:spTree>
    <p:extLst>
      <p:ext uri="{BB962C8B-B14F-4D97-AF65-F5344CB8AC3E}">
        <p14:creationId xmlns:p14="http://schemas.microsoft.com/office/powerpoint/2010/main" val="156760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根據我們剛剛所介紹的知識，對於序列同源，我們必須進行序列比對來得到相似度，而序列比對需要一個實質上的數值來描述兩序列的相似度，所以使用</a:t>
            </a:r>
            <a:r>
              <a:rPr lang="en-US" altLang="zh-TW" sz="1200" dirty="0">
                <a:latin typeface="Times New Roman" panose="02020603050405020304" pitchFamily="18" charset="0"/>
                <a:cs typeface="Times New Roman" panose="02020603050405020304" pitchFamily="18" charset="0"/>
              </a:rPr>
              <a:t>scoring matrices</a:t>
            </a:r>
            <a:r>
              <a:rPr lang="zh-TW" altLang="en-US" sz="1200" dirty="0">
                <a:latin typeface="Times New Roman" panose="02020603050405020304" pitchFamily="18" charset="0"/>
                <a:cs typeface="Times New Roman" panose="02020603050405020304" pitchFamily="18" charset="0"/>
              </a:rPr>
              <a:t>來輔助，但現今常用的</a:t>
            </a:r>
            <a:r>
              <a:rPr lang="en-US" altLang="zh-TW" sz="1200" dirty="0">
                <a:latin typeface="Times New Roman" panose="02020603050405020304" pitchFamily="18" charset="0"/>
                <a:cs typeface="Times New Roman" panose="02020603050405020304" pitchFamily="18" charset="0"/>
              </a:rPr>
              <a:t>scoring matrices</a:t>
            </a:r>
            <a:br>
              <a:rPr lang="en-US" altLang="zh-TW" sz="1200" dirty="0">
                <a:latin typeface="Times New Roman" panose="02020603050405020304" pitchFamily="18" charset="0"/>
                <a:cs typeface="Times New Roman" panose="02020603050405020304" pitchFamily="18" charset="0"/>
              </a:rPr>
            </a:br>
            <a:r>
              <a:rPr lang="zh-TW" altLang="en-US" sz="1200" dirty="0">
                <a:latin typeface="Times New Roman" panose="02020603050405020304" pitchFamily="18" charset="0"/>
                <a:cs typeface="Times New Roman" panose="02020603050405020304" pitchFamily="18" charset="0"/>
              </a:rPr>
              <a:t>像是</a:t>
            </a:r>
            <a:r>
              <a:rPr lang="en-US" altLang="zh-TW" sz="1200" dirty="0" err="1">
                <a:latin typeface="Times New Roman" panose="02020603050405020304" pitchFamily="18" charset="0"/>
                <a:cs typeface="Times New Roman" panose="02020603050405020304" pitchFamily="18" charset="0"/>
              </a:rPr>
              <a:t>blosum</a:t>
            </a:r>
            <a:r>
              <a:rPr lang="zh-TW" altLang="en-US" sz="1200" dirty="0">
                <a:latin typeface="Times New Roman" panose="02020603050405020304" pitchFamily="18" charset="0"/>
                <a:cs typeface="Times New Roman" panose="02020603050405020304" pitchFamily="18" charset="0"/>
              </a:rPr>
              <a:t>或是</a:t>
            </a:r>
            <a:r>
              <a:rPr lang="en-US" altLang="zh-TW" sz="1200" dirty="0">
                <a:latin typeface="Times New Roman" panose="02020603050405020304" pitchFamily="18" charset="0"/>
                <a:cs typeface="Times New Roman" panose="02020603050405020304" pitchFamily="18" charset="0"/>
              </a:rPr>
              <a:t>pam</a:t>
            </a:r>
            <a:r>
              <a:rPr lang="zh-TW" altLang="en-US" sz="1200" dirty="0">
                <a:latin typeface="Times New Roman" panose="02020603050405020304" pitchFamily="18" charset="0"/>
                <a:cs typeface="Times New Roman" panose="02020603050405020304" pitchFamily="18" charset="0"/>
              </a:rPr>
              <a:t>，僅針對一般的蛋白質，沒有針對</a:t>
            </a:r>
            <a:r>
              <a:rPr lang="en-US" altLang="zh-TW" sz="1200" dirty="0">
                <a:latin typeface="Times New Roman" panose="02020603050405020304" pitchFamily="18" charset="0"/>
                <a:cs typeface="Times New Roman" panose="02020603050405020304" pitchFamily="18" charset="0"/>
              </a:rPr>
              <a:t>IDPs</a:t>
            </a:r>
            <a:r>
              <a:rPr lang="zh-TW" altLang="en-US" sz="1200" dirty="0">
                <a:latin typeface="Times New Roman" panose="02020603050405020304" pitchFamily="18" charset="0"/>
                <a:cs typeface="Times New Roman" panose="02020603050405020304" pitchFamily="18" charset="0"/>
              </a:rPr>
              <a:t>，所以不適合用在含有高無序區域的蛋白質同源檢測。</a:t>
            </a:r>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4</a:t>
            </a:fld>
            <a:endParaRPr lang="zh-TW" altLang="en-US"/>
          </a:p>
        </p:txBody>
      </p:sp>
    </p:spTree>
    <p:extLst>
      <p:ext uri="{BB962C8B-B14F-4D97-AF65-F5344CB8AC3E}">
        <p14:creationId xmlns:p14="http://schemas.microsoft.com/office/powerpoint/2010/main" val="981896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sz="1200" b="0" i="0" kern="1200" dirty="0">
                <a:solidFill>
                  <a:schemeClr val="tx1"/>
                </a:solidFill>
                <a:effectLst/>
                <a:latin typeface="+mn-lt"/>
                <a:ea typeface="+mn-ea"/>
                <a:cs typeface="+mn-cs"/>
              </a:rPr>
              <a:t>那這邊是一個利用</a:t>
            </a:r>
            <a:r>
              <a:rPr lang="en-US" altLang="zh-TW" sz="1200" b="0" i="0" kern="1200" dirty="0">
                <a:solidFill>
                  <a:schemeClr val="tx1"/>
                </a:solidFill>
                <a:effectLst/>
                <a:latin typeface="+mn-lt"/>
                <a:ea typeface="+mn-ea"/>
                <a:cs typeface="+mn-cs"/>
              </a:rPr>
              <a:t>scoring matrix</a:t>
            </a:r>
            <a:r>
              <a:rPr lang="zh-TW" altLang="en-US" sz="1200" b="0" i="0" kern="1200" dirty="0">
                <a:solidFill>
                  <a:schemeClr val="tx1"/>
                </a:solidFill>
                <a:effectLst/>
                <a:latin typeface="+mn-lt"/>
                <a:ea typeface="+mn-ea"/>
                <a:cs typeface="+mn-cs"/>
              </a:rPr>
              <a:t>來進行序列對齊的範例，我們所使用的是</a:t>
            </a:r>
            <a:r>
              <a:rPr lang="en-US" altLang="zh-TW" sz="1200" b="0" i="0" kern="1200" dirty="0">
                <a:solidFill>
                  <a:schemeClr val="tx1"/>
                </a:solidFill>
                <a:effectLst/>
                <a:latin typeface="+mn-lt"/>
                <a:ea typeface="+mn-ea"/>
                <a:cs typeface="+mn-cs"/>
              </a:rPr>
              <a:t>blosum62</a:t>
            </a:r>
            <a:r>
              <a:rPr lang="zh-TW" altLang="en-US" sz="1200" b="0" i="0" kern="1200" dirty="0">
                <a:solidFill>
                  <a:schemeClr val="tx1"/>
                </a:solidFill>
                <a:effectLst/>
                <a:latin typeface="+mn-lt"/>
                <a:ea typeface="+mn-ea"/>
                <a:cs typeface="+mn-cs"/>
              </a:rPr>
              <a:t>，進行比對的序列是</a:t>
            </a:r>
            <a:r>
              <a:rPr lang="en-US" altLang="zh-TW" sz="1200" b="0" i="0" kern="1200" dirty="0">
                <a:solidFill>
                  <a:schemeClr val="tx1"/>
                </a:solidFill>
                <a:effectLst/>
                <a:latin typeface="+mn-lt"/>
                <a:ea typeface="+mn-ea"/>
                <a:cs typeface="+mn-cs"/>
              </a:rPr>
              <a:t>A=</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B=</a:t>
            </a:r>
            <a:r>
              <a:rPr lang="zh-TW" altLang="en-US" sz="1200" b="0" i="0" kern="1200" dirty="0">
                <a:solidFill>
                  <a:schemeClr val="tx1"/>
                </a:solidFill>
                <a:effectLst/>
                <a:latin typeface="+mn-lt"/>
                <a:ea typeface="+mn-ea"/>
                <a:cs typeface="+mn-cs"/>
              </a:rPr>
              <a:t>，</a:t>
            </a:r>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5</a:t>
            </a:fld>
            <a:endParaRPr lang="zh-TW" altLang="en-US"/>
          </a:p>
        </p:txBody>
      </p:sp>
    </p:spTree>
    <p:extLst>
      <p:ext uri="{BB962C8B-B14F-4D97-AF65-F5344CB8AC3E}">
        <p14:creationId xmlns:p14="http://schemas.microsoft.com/office/powerpoint/2010/main" val="3452336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這邊是我們如何判斷這</a:t>
            </a:r>
            <a:r>
              <a:rPr lang="en-US" altLang="zh-TW" dirty="0"/>
              <a:t>2</a:t>
            </a:r>
            <a:r>
              <a:rPr lang="zh-TW" altLang="en-US" dirty="0"/>
              <a:t>個蛋白質序列是否具有實質上的同源，就是看</a:t>
            </a:r>
            <a:r>
              <a:rPr lang="en-US" altLang="zh-TW" dirty="0"/>
              <a:t>SCOP</a:t>
            </a:r>
            <a:r>
              <a:rPr lang="zh-TW" altLang="en-US" dirty="0"/>
              <a:t>，越往上相似度越低，往下的話相似度越高</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6</a:t>
            </a:fld>
            <a:endParaRPr lang="zh-TW" altLang="en-US"/>
          </a:p>
        </p:txBody>
      </p:sp>
    </p:spTree>
    <p:extLst>
      <p:ext uri="{BB962C8B-B14F-4D97-AF65-F5344CB8AC3E}">
        <p14:creationId xmlns:p14="http://schemas.microsoft.com/office/powerpoint/2010/main" val="2236342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E-value:</a:t>
            </a:r>
          </a:p>
          <a:p>
            <a:r>
              <a:rPr lang="zh-TW" altLang="en-US" dirty="0"/>
              <a:t>這是統計結果。根據 </a:t>
            </a:r>
            <a:r>
              <a:rPr lang="en-US" altLang="zh-TW" dirty="0"/>
              <a:t>database </a:t>
            </a:r>
            <a:r>
              <a:rPr lang="zh-TW" altLang="en-US" dirty="0"/>
              <a:t>大小以及 </a:t>
            </a:r>
            <a:r>
              <a:rPr lang="en-US" altLang="zh-TW" dirty="0"/>
              <a:t>alignment </a:t>
            </a:r>
            <a:r>
              <a:rPr lang="zh-TW" altLang="en-US" dirty="0"/>
              <a:t>長短而定。</a:t>
            </a:r>
          </a:p>
          <a:p>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7</a:t>
            </a:fld>
            <a:endParaRPr lang="zh-TW" altLang="en-US"/>
          </a:p>
        </p:txBody>
      </p:sp>
    </p:spTree>
    <p:extLst>
      <p:ext uri="{BB962C8B-B14F-4D97-AF65-F5344CB8AC3E}">
        <p14:creationId xmlns:p14="http://schemas.microsoft.com/office/powerpoint/2010/main" val="1099739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Q</a:t>
            </a:r>
            <a:r>
              <a:rPr lang="zh-TW" altLang="en-US" dirty="0"/>
              <a:t>的意義</a:t>
            </a:r>
            <a:endParaRPr lang="en-US" altLang="zh-TW"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8</a:t>
            </a:fld>
            <a:endParaRPr lang="zh-TW" altLang="en-US"/>
          </a:p>
        </p:txBody>
      </p:sp>
    </p:spTree>
    <p:extLst>
      <p:ext uri="{BB962C8B-B14F-4D97-AF65-F5344CB8AC3E}">
        <p14:creationId xmlns:p14="http://schemas.microsoft.com/office/powerpoint/2010/main" val="769310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9</a:t>
            </a:fld>
            <a:endParaRPr lang="zh-TW" altLang="en-US"/>
          </a:p>
        </p:txBody>
      </p:sp>
    </p:spTree>
    <p:extLst>
      <p:ext uri="{BB962C8B-B14F-4D97-AF65-F5344CB8AC3E}">
        <p14:creationId xmlns:p14="http://schemas.microsoft.com/office/powerpoint/2010/main" val="2272473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10</a:t>
            </a:fld>
            <a:endParaRPr lang="zh-TW" altLang="en-US"/>
          </a:p>
        </p:txBody>
      </p:sp>
    </p:spTree>
    <p:extLst>
      <p:ext uri="{BB962C8B-B14F-4D97-AF65-F5344CB8AC3E}">
        <p14:creationId xmlns:p14="http://schemas.microsoft.com/office/powerpoint/2010/main" val="544340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11</a:t>
            </a:fld>
            <a:endParaRPr lang="zh-TW" altLang="en-US"/>
          </a:p>
        </p:txBody>
      </p:sp>
    </p:spTree>
    <p:extLst>
      <p:ext uri="{BB962C8B-B14F-4D97-AF65-F5344CB8AC3E}">
        <p14:creationId xmlns:p14="http://schemas.microsoft.com/office/powerpoint/2010/main" val="1505636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12</a:t>
            </a:fld>
            <a:endParaRPr lang="zh-TW" altLang="en-US"/>
          </a:p>
        </p:txBody>
      </p:sp>
    </p:spTree>
    <p:extLst>
      <p:ext uri="{BB962C8B-B14F-4D97-AF65-F5344CB8AC3E}">
        <p14:creationId xmlns:p14="http://schemas.microsoft.com/office/powerpoint/2010/main" val="1397796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13</a:t>
            </a:fld>
            <a:endParaRPr lang="zh-TW" altLang="en-US"/>
          </a:p>
        </p:txBody>
      </p:sp>
    </p:spTree>
    <p:extLst>
      <p:ext uri="{BB962C8B-B14F-4D97-AF65-F5344CB8AC3E}">
        <p14:creationId xmlns:p14="http://schemas.microsoft.com/office/powerpoint/2010/main" val="77973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14</a:t>
            </a:fld>
            <a:endParaRPr lang="zh-TW" altLang="en-US"/>
          </a:p>
        </p:txBody>
      </p:sp>
    </p:spTree>
    <p:extLst>
      <p:ext uri="{BB962C8B-B14F-4D97-AF65-F5344CB8AC3E}">
        <p14:creationId xmlns:p14="http://schemas.microsoft.com/office/powerpoint/2010/main" val="2315457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15</a:t>
            </a:fld>
            <a:endParaRPr lang="zh-TW" altLang="en-US"/>
          </a:p>
        </p:txBody>
      </p:sp>
    </p:spTree>
    <p:extLst>
      <p:ext uri="{BB962C8B-B14F-4D97-AF65-F5344CB8AC3E}">
        <p14:creationId xmlns:p14="http://schemas.microsoft.com/office/powerpoint/2010/main" val="3744434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16</a:t>
            </a:fld>
            <a:endParaRPr lang="zh-TW" altLang="en-US"/>
          </a:p>
        </p:txBody>
      </p:sp>
    </p:spTree>
    <p:extLst>
      <p:ext uri="{BB962C8B-B14F-4D97-AF65-F5344CB8AC3E}">
        <p14:creationId xmlns:p14="http://schemas.microsoft.com/office/powerpoint/2010/main" val="2511913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17</a:t>
            </a:fld>
            <a:endParaRPr lang="zh-TW" altLang="en-US"/>
          </a:p>
        </p:txBody>
      </p:sp>
    </p:spTree>
    <p:extLst>
      <p:ext uri="{BB962C8B-B14F-4D97-AF65-F5344CB8AC3E}">
        <p14:creationId xmlns:p14="http://schemas.microsoft.com/office/powerpoint/2010/main" val="2853525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Bootstrap</a:t>
            </a:r>
            <a:r>
              <a:rPr lang="zh-TW" altLang="en-US" dirty="0"/>
              <a:t>是現代統計學較為流行的一種統計方法，在小樣本時效果很好。通過方差的估計可以構造信賴區間等，其運用範圍得到進一步延伸。</a:t>
            </a:r>
          </a:p>
        </p:txBody>
      </p:sp>
      <p:sp>
        <p:nvSpPr>
          <p:cNvPr id="4" name="投影片編號版面配置區 3"/>
          <p:cNvSpPr>
            <a:spLocks noGrp="1"/>
          </p:cNvSpPr>
          <p:nvPr>
            <p:ph type="sldNum" sz="quarter" idx="5"/>
          </p:nvPr>
        </p:nvSpPr>
        <p:spPr/>
        <p:txBody>
          <a:bodyPr/>
          <a:lstStyle/>
          <a:p>
            <a:fld id="{1E6DD3CC-7343-481E-A744-2F043A041743}" type="slidenum">
              <a:rPr lang="zh-TW" altLang="en-US" smtClean="0"/>
              <a:pPr/>
              <a:t>18</a:t>
            </a:fld>
            <a:endParaRPr lang="zh-TW" altLang="en-US"/>
          </a:p>
        </p:txBody>
      </p:sp>
    </p:spTree>
    <p:extLst>
      <p:ext uri="{BB962C8B-B14F-4D97-AF65-F5344CB8AC3E}">
        <p14:creationId xmlns:p14="http://schemas.microsoft.com/office/powerpoint/2010/main" val="1183181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20</a:t>
            </a:fld>
            <a:endParaRPr lang="zh-TW" altLang="en-US"/>
          </a:p>
        </p:txBody>
      </p:sp>
    </p:spTree>
    <p:extLst>
      <p:ext uri="{BB962C8B-B14F-4D97-AF65-F5344CB8AC3E}">
        <p14:creationId xmlns:p14="http://schemas.microsoft.com/office/powerpoint/2010/main" val="3897399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介紹</a:t>
            </a:r>
            <a:r>
              <a:rPr lang="en-US" altLang="zh-TW" dirty="0"/>
              <a:t>primitive </a:t>
            </a:r>
            <a:br>
              <a:rPr lang="en-US" altLang="zh-TW" dirty="0"/>
            </a:br>
            <a:r>
              <a:rPr lang="zh-TW" altLang="en-US" dirty="0"/>
              <a:t>實驗目的</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21</a:t>
            </a:fld>
            <a:endParaRPr lang="zh-TW" altLang="en-US"/>
          </a:p>
        </p:txBody>
      </p:sp>
    </p:spTree>
    <p:extLst>
      <p:ext uri="{BB962C8B-B14F-4D97-AF65-F5344CB8AC3E}">
        <p14:creationId xmlns:p14="http://schemas.microsoft.com/office/powerpoint/2010/main" val="291474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22</a:t>
            </a:fld>
            <a:endParaRPr lang="zh-TW" altLang="en-US"/>
          </a:p>
        </p:txBody>
      </p:sp>
    </p:spTree>
    <p:extLst>
      <p:ext uri="{BB962C8B-B14F-4D97-AF65-F5344CB8AC3E}">
        <p14:creationId xmlns:p14="http://schemas.microsoft.com/office/powerpoint/2010/main" val="2790515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23</a:t>
            </a:fld>
            <a:endParaRPr lang="zh-TW" altLang="en-US"/>
          </a:p>
        </p:txBody>
      </p:sp>
    </p:spTree>
    <p:extLst>
      <p:ext uri="{BB962C8B-B14F-4D97-AF65-F5344CB8AC3E}">
        <p14:creationId xmlns:p14="http://schemas.microsoft.com/office/powerpoint/2010/main" val="3855381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24</a:t>
            </a:fld>
            <a:endParaRPr lang="zh-TW" altLang="en-US"/>
          </a:p>
        </p:txBody>
      </p:sp>
    </p:spTree>
    <p:extLst>
      <p:ext uri="{BB962C8B-B14F-4D97-AF65-F5344CB8AC3E}">
        <p14:creationId xmlns:p14="http://schemas.microsoft.com/office/powerpoint/2010/main" val="5052855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25</a:t>
            </a:fld>
            <a:endParaRPr lang="zh-TW" altLang="en-US"/>
          </a:p>
        </p:txBody>
      </p:sp>
    </p:spTree>
    <p:extLst>
      <p:ext uri="{BB962C8B-B14F-4D97-AF65-F5344CB8AC3E}">
        <p14:creationId xmlns:p14="http://schemas.microsoft.com/office/powerpoint/2010/main" val="3599960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DFEBA5F0-4581-4EEE-A021-BDF1976D5A41}" type="datetime1">
              <a:rPr lang="zh-TW" altLang="en-US" smtClean="0"/>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17483AB-2F3A-494C-AD20-953942F2D6A0}" type="datetime1">
              <a:rPr lang="zh-TW" altLang="en-US" smtClean="0"/>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EC91287C-39CA-4992-AF29-A5ED525DB7AC}" type="datetime1">
              <a:rPr lang="zh-TW" altLang="en-US" smtClean="0"/>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C156A0AE-D057-4126-B4D0-1F31AD2DCF0E}" type="datetime1">
              <a:rPr lang="zh-TW" altLang="en-US" smtClean="0"/>
              <a:t>2022/5/18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1E221A3-323D-428D-9151-AFFBCE76ADCA}" type="datetime1">
              <a:rPr lang="zh-TW" altLang="en-US" smtClean="0"/>
              <a:t>2022/5/18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53A9A96-5A32-46BC-95DF-AE5C7955F373}" type="datetime1">
              <a:rPr lang="zh-TW" altLang="en-US" smtClean="0"/>
              <a:t>2022/5/18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06DC63D-E477-4E0A-918E-DCA1735A73CB}" type="datetime1">
              <a:rPr lang="zh-TW" altLang="en-US" smtClean="0"/>
              <a:t>2022/5/18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63897C2-0DCC-4C0F-8E4E-586CFEEAB597}" type="datetime1">
              <a:rPr lang="zh-TW" altLang="en-US" smtClean="0"/>
              <a:t>2022/5/18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3FE719E-9BED-4D9E-BA40-0EAB17E19DC8}" type="datetime1">
              <a:rPr lang="zh-TW" altLang="en-US" smtClean="0"/>
              <a:t>2022/5/18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40126D0-D63F-44E1-8F0B-792546A55A61}" type="datetime1">
              <a:rPr lang="zh-TW" altLang="en-US" smtClean="0"/>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43C52AD-D12F-49CB-A15D-5FD829730A88}" type="datetime1">
              <a:rPr lang="zh-TW" altLang="en-US" smtClean="0"/>
              <a:t>2022/5/18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E6A5B6-2F2B-4B16-B89D-BC857233E8B9}" type="datetime1">
              <a:rPr lang="zh-TW" altLang="en-US" smtClean="0"/>
              <a:t>2022/5/18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C04D6A-2E29-441A-A244-9F1014899F6D}"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42900" y="908720"/>
            <a:ext cx="8458200" cy="2331691"/>
          </a:xfrm>
        </p:spPr>
        <p:txBody>
          <a:bodyPr>
            <a:normAutofit fontScale="90000"/>
          </a:bodyPr>
          <a:lstStyle/>
          <a:p>
            <a:r>
              <a:rPr lang="en-US" dirty="0">
                <a:latin typeface="Times New Roman" pitchFamily="18" charset="0"/>
                <a:cs typeface="Times New Roman" pitchFamily="18" charset="0"/>
              </a:rPr>
              <a:t>Refining the Amino Acid Scoring Matrix for Intrinsically Disordered Proteins with Meta-heuristic Algorithms</a:t>
            </a:r>
            <a:endParaRPr lang="zh-TW" altLang="en-US" dirty="0">
              <a:latin typeface="Times New Roman" pitchFamily="18" charset="0"/>
              <a:cs typeface="Times New Roman" pitchFamily="18" charset="0"/>
            </a:endParaRPr>
          </a:p>
        </p:txBody>
      </p:sp>
      <p:sp>
        <p:nvSpPr>
          <p:cNvPr id="3" name="副標題 2"/>
          <p:cNvSpPr>
            <a:spLocks noGrp="1"/>
          </p:cNvSpPr>
          <p:nvPr>
            <p:ph type="subTitle" idx="1"/>
          </p:nvPr>
        </p:nvSpPr>
        <p:spPr>
          <a:xfrm>
            <a:off x="1943708" y="4196427"/>
            <a:ext cx="5256584" cy="1752600"/>
          </a:xfrm>
        </p:spPr>
        <p:txBody>
          <a:bodyPr>
            <a:normAutofit fontScale="70000" lnSpcReduction="20000"/>
          </a:bodyPr>
          <a:lstStyle/>
          <a:p>
            <a:pPr algn="l"/>
            <a:r>
              <a:rPr lang="en-US" altLang="zh-TW" b="1" dirty="0">
                <a:solidFill>
                  <a:schemeClr val="tx1"/>
                </a:solidFill>
                <a:latin typeface="Times New Roman" pitchFamily="18" charset="0"/>
                <a:cs typeface="Times New Roman" pitchFamily="18" charset="0"/>
              </a:rPr>
              <a:t>Authors:</a:t>
            </a:r>
            <a:r>
              <a:rPr lang="en-US" altLang="zh-TW" dirty="0">
                <a:solidFill>
                  <a:schemeClr val="tx1"/>
                </a:solidFill>
                <a:latin typeface="Times New Roman" pitchFamily="18" charset="0"/>
                <a:cs typeface="Times New Roman" pitchFamily="18" charset="0"/>
              </a:rPr>
              <a:t> 	</a:t>
            </a:r>
            <a:r>
              <a:rPr lang="en-US" altLang="zh-TW" dirty="0" err="1">
                <a:solidFill>
                  <a:schemeClr val="tx1"/>
                </a:solidFill>
                <a:latin typeface="Times New Roman" pitchFamily="18" charset="0"/>
                <a:cs typeface="Times New Roman" pitchFamily="18" charset="0"/>
              </a:rPr>
              <a:t>Tz</a:t>
            </a:r>
            <a:r>
              <a:rPr lang="en-US" altLang="zh-TW" dirty="0">
                <a:solidFill>
                  <a:schemeClr val="tx1"/>
                </a:solidFill>
                <a:latin typeface="Times New Roman" pitchFamily="18" charset="0"/>
                <a:cs typeface="Times New Roman" pitchFamily="18" charset="0"/>
              </a:rPr>
              <a:t>-Hsu Lee (</a:t>
            </a:r>
            <a:r>
              <a:rPr lang="zh-TW" altLang="en-US" dirty="0">
                <a:solidFill>
                  <a:schemeClr val="tx1"/>
                </a:solidFill>
                <a:latin typeface="標楷體" pitchFamily="65" charset="-120"/>
                <a:ea typeface="標楷體" pitchFamily="65" charset="-120"/>
                <a:cs typeface="Times New Roman" pitchFamily="18" charset="0"/>
              </a:rPr>
              <a:t>李子旭</a:t>
            </a:r>
            <a:r>
              <a:rPr lang="en-US" altLang="zh-TW" dirty="0">
                <a:solidFill>
                  <a:schemeClr val="tx1"/>
                </a:solidFill>
                <a:latin typeface="Times New Roman" pitchFamily="18" charset="0"/>
                <a:cs typeface="Times New Roman" pitchFamily="18" charset="0"/>
              </a:rPr>
              <a:t>),</a:t>
            </a:r>
          </a:p>
          <a:p>
            <a:pPr algn="l"/>
            <a:r>
              <a:rPr lang="en-US" altLang="zh-TW" dirty="0">
                <a:solidFill>
                  <a:schemeClr val="tx1"/>
                </a:solidFill>
                <a:latin typeface="Times New Roman" pitchFamily="18" charset="0"/>
                <a:cs typeface="Times New Roman" pitchFamily="18" charset="0"/>
              </a:rPr>
              <a:t>		Chang-</a:t>
            </a:r>
            <a:r>
              <a:rPr lang="en-US" altLang="zh-TW" dirty="0" err="1">
                <a:solidFill>
                  <a:schemeClr val="tx1"/>
                </a:solidFill>
                <a:latin typeface="Times New Roman" pitchFamily="18" charset="0"/>
                <a:cs typeface="Times New Roman" pitchFamily="18" charset="0"/>
              </a:rPr>
              <a:t>Biau</a:t>
            </a:r>
            <a:r>
              <a:rPr lang="en-US" altLang="zh-TW" dirty="0">
                <a:solidFill>
                  <a:schemeClr val="tx1"/>
                </a:solidFill>
                <a:latin typeface="Times New Roman" pitchFamily="18" charset="0"/>
                <a:cs typeface="Times New Roman" pitchFamily="18" charset="0"/>
              </a:rPr>
              <a:t> Yang (</a:t>
            </a:r>
            <a:r>
              <a:rPr lang="zh-TW" altLang="en-US" dirty="0">
                <a:solidFill>
                  <a:schemeClr val="tx1"/>
                </a:solidFill>
                <a:latin typeface="標楷體" pitchFamily="65" charset="-120"/>
                <a:ea typeface="標楷體" pitchFamily="65" charset="-120"/>
                <a:cs typeface="Times New Roman" pitchFamily="18" charset="0"/>
              </a:rPr>
              <a:t>楊昌彪</a:t>
            </a:r>
            <a:r>
              <a:rPr lang="en-US" altLang="zh-TW" dirty="0">
                <a:solidFill>
                  <a:schemeClr val="tx1"/>
                </a:solidFill>
                <a:latin typeface="Times New Roman" pitchFamily="18" charset="0"/>
                <a:cs typeface="Times New Roman" pitchFamily="18" charset="0"/>
              </a:rPr>
              <a:t>),</a:t>
            </a:r>
          </a:p>
          <a:p>
            <a:pPr algn="l"/>
            <a:r>
              <a:rPr lang="en-US" altLang="zh-TW" dirty="0">
                <a:solidFill>
                  <a:schemeClr val="tx1"/>
                </a:solidFill>
                <a:latin typeface="Times New Roman" pitchFamily="18" charset="0"/>
                <a:cs typeface="Times New Roman" pitchFamily="18" charset="0"/>
              </a:rPr>
              <a:t>		</a:t>
            </a:r>
            <a:r>
              <a:rPr lang="en-US" altLang="zh-TW" dirty="0" err="1">
                <a:solidFill>
                  <a:schemeClr val="tx1"/>
                </a:solidFill>
                <a:latin typeface="Times New Roman" pitchFamily="18" charset="0"/>
                <a:cs typeface="Times New Roman" pitchFamily="18" charset="0"/>
              </a:rPr>
              <a:t>Kuo</a:t>
            </a:r>
            <a:r>
              <a:rPr lang="en-US" altLang="zh-TW" dirty="0">
                <a:solidFill>
                  <a:schemeClr val="tx1"/>
                </a:solidFill>
                <a:latin typeface="Times New Roman" pitchFamily="18" charset="0"/>
                <a:cs typeface="Times New Roman" pitchFamily="18" charset="0"/>
              </a:rPr>
              <a:t>-Si Huang (</a:t>
            </a:r>
            <a:r>
              <a:rPr lang="zh-TW" altLang="en-US" dirty="0">
                <a:solidFill>
                  <a:schemeClr val="tx1"/>
                </a:solidFill>
                <a:latin typeface="標楷體" panose="03000509000000000000" pitchFamily="65" charset="-120"/>
                <a:ea typeface="標楷體" panose="03000509000000000000" pitchFamily="65" charset="-120"/>
                <a:cs typeface="Times New Roman" pitchFamily="18" charset="0"/>
              </a:rPr>
              <a:t>黃國璽</a:t>
            </a:r>
            <a:r>
              <a:rPr lang="en-US" altLang="zh-TW" dirty="0">
                <a:solidFill>
                  <a:schemeClr val="tx1"/>
                </a:solidFill>
                <a:latin typeface="Times New Roman" pitchFamily="18" charset="0"/>
                <a:cs typeface="Times New Roman" pitchFamily="18" charset="0"/>
              </a:rPr>
              <a:t>)</a:t>
            </a:r>
          </a:p>
          <a:p>
            <a:pPr algn="l"/>
            <a:r>
              <a:rPr lang="en-US" altLang="zh-TW" b="1" dirty="0">
                <a:solidFill>
                  <a:schemeClr val="tx1"/>
                </a:solidFill>
                <a:latin typeface="Times New Roman" pitchFamily="18" charset="0"/>
                <a:cs typeface="Times New Roman" pitchFamily="18" charset="0"/>
              </a:rPr>
              <a:t>Presenter:</a:t>
            </a:r>
            <a:r>
              <a:rPr lang="en-US" altLang="zh-TW" dirty="0">
                <a:solidFill>
                  <a:schemeClr val="tx1"/>
                </a:solidFill>
                <a:latin typeface="Times New Roman" pitchFamily="18" charset="0"/>
                <a:cs typeface="Times New Roman" pitchFamily="18" charset="0"/>
              </a:rPr>
              <a:t> 	Jing-Ping Jan (</a:t>
            </a:r>
            <a:r>
              <a:rPr lang="zh-TW" altLang="en-US" dirty="0">
                <a:solidFill>
                  <a:schemeClr val="tx1"/>
                </a:solidFill>
                <a:latin typeface="標楷體" panose="03000509000000000000" pitchFamily="65" charset="-120"/>
                <a:ea typeface="標楷體" panose="03000509000000000000" pitchFamily="65" charset="-120"/>
                <a:cs typeface="Times New Roman" pitchFamily="18" charset="0"/>
              </a:rPr>
              <a:t>詹敬平</a:t>
            </a:r>
            <a:r>
              <a:rPr lang="en-US" altLang="zh-TW" dirty="0">
                <a:solidFill>
                  <a:schemeClr val="tx1"/>
                </a:solidFill>
                <a:latin typeface="Times New Roman" pitchFamily="18" charset="0"/>
                <a:cs typeface="Times New Roman" pitchFamily="18" charset="0"/>
              </a:rPr>
              <a:t>)</a:t>
            </a:r>
          </a:p>
          <a:p>
            <a:pPr algn="l"/>
            <a:r>
              <a:rPr lang="en-US" altLang="zh-TW" b="1" dirty="0">
                <a:solidFill>
                  <a:schemeClr val="tx1"/>
                </a:solidFill>
                <a:latin typeface="Times New Roman" pitchFamily="18" charset="0"/>
                <a:cs typeface="Times New Roman" pitchFamily="18" charset="0"/>
              </a:rPr>
              <a:t>Date:</a:t>
            </a:r>
            <a:r>
              <a:rPr lang="en-US" altLang="zh-TW" dirty="0">
                <a:solidFill>
                  <a:schemeClr val="tx1"/>
                </a:solidFill>
                <a:latin typeface="Times New Roman" pitchFamily="18" charset="0"/>
                <a:cs typeface="Times New Roman" pitchFamily="18" charset="0"/>
              </a:rPr>
              <a:t> 		May 28, 2022</a:t>
            </a:r>
            <a:endParaRPr lang="zh-TW" altLang="en-US" dirty="0">
              <a:solidFill>
                <a:schemeClr val="tx1"/>
              </a:solidFill>
              <a:latin typeface="Times New Roman" pitchFamily="18" charset="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539552" y="188452"/>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Sequence Homology </a:t>
            </a:r>
            <a:endParaRPr lang="zh-TW" altLang="en-US" sz="4000" b="1"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527E1C93-FCFE-4838-88ED-BFD53015DC28}"/>
              </a:ext>
            </a:extLst>
          </p:cNvPr>
          <p:cNvSpPr/>
          <p:nvPr/>
        </p:nvSpPr>
        <p:spPr>
          <a:xfrm>
            <a:off x="323528" y="1196752"/>
            <a:ext cx="8127800" cy="3785652"/>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Sequence homology indicates that two or more proteins or DNA sequences have the same ancestry. Homologous sequences are also likely to have similar functions.</a:t>
            </a:r>
          </a:p>
          <a:p>
            <a:pPr marL="342900" indent="-342900">
              <a:buFont typeface="Arial" panose="020B0604020202020204" pitchFamily="34" charset="0"/>
              <a:buChar char="•"/>
            </a:pPr>
            <a:endParaRPr lang="en-US" altLang="zh-TW" sz="2400" dirty="0">
              <a:solidFill>
                <a:srgbClr val="222222"/>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The homology of protein and DNA is often judged by the similarity of their sequences.</a:t>
            </a:r>
          </a:p>
          <a:p>
            <a:pPr marL="342900" indent="-342900">
              <a:buFont typeface="Arial" panose="020B0604020202020204" pitchFamily="34" charset="0"/>
              <a:buChar char="•"/>
            </a:pPr>
            <a:endParaRPr lang="en-US" altLang="zh-TW"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Sequences with high similarity often have a homology relationship, but it does not mean that as long as the similarity is high, it is homology.</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33A4142E-B24F-428E-AB9A-7F0B1679B77F}"/>
              </a:ext>
            </a:extLst>
          </p:cNvPr>
          <p:cNvSpPr>
            <a:spLocks noGrp="1"/>
          </p:cNvSpPr>
          <p:nvPr>
            <p:ph type="sldNum" sz="quarter" idx="12"/>
          </p:nvPr>
        </p:nvSpPr>
        <p:spPr/>
        <p:txBody>
          <a:bodyPr/>
          <a:lstStyle/>
          <a:p>
            <a:fld id="{04C04D6A-2E29-441A-A244-9F1014899F6D}" type="slidenum">
              <a:rPr lang="zh-TW" altLang="en-US" smtClean="0"/>
              <a:pPr/>
              <a:t>1</a:t>
            </a:fld>
            <a:endParaRPr lang="zh-TW" altLang="en-US"/>
          </a:p>
        </p:txBody>
      </p:sp>
    </p:spTree>
    <p:extLst>
      <p:ext uri="{BB962C8B-B14F-4D97-AF65-F5344CB8AC3E}">
        <p14:creationId xmlns:p14="http://schemas.microsoft.com/office/powerpoint/2010/main" val="1376543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Intrinsically Disordered Proteins (IDPs)</a:t>
            </a:r>
            <a:endParaRPr lang="zh-TW" altLang="en-US" sz="4000" b="1"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527E1C93-FCFE-4838-88ED-BFD53015DC28}"/>
              </a:ext>
            </a:extLst>
          </p:cNvPr>
          <p:cNvSpPr/>
          <p:nvPr/>
        </p:nvSpPr>
        <p:spPr>
          <a:xfrm>
            <a:off x="323528" y="1340412"/>
            <a:ext cx="8127800" cy="1200329"/>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An intrinsically disordered protein (IDP) is a protein that lacks a fixed or ordered three-dimensional structure, but IDPs are a very large and functionally important class of proteins.</a:t>
            </a:r>
            <a:endParaRPr lang="zh-TW" altLang="en-US" sz="2400"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AA9298C2-15D6-41BC-8D85-C2835D35B5F5}"/>
              </a:ext>
            </a:extLst>
          </p:cNvPr>
          <p:cNvSpPr/>
          <p:nvPr/>
        </p:nvSpPr>
        <p:spPr>
          <a:xfrm>
            <a:off x="2550297" y="5286755"/>
            <a:ext cx="4032448" cy="461665"/>
          </a:xfrm>
          <a:prstGeom prst="rect">
            <a:avLst/>
          </a:prstGeom>
        </p:spPr>
        <p:txBody>
          <a:bodyPr wrap="square">
            <a:spAutoFit/>
          </a:bodyPr>
          <a:lstStyle/>
          <a:p>
            <a:r>
              <a:rPr lang="en-US" altLang="zh-TW" sz="1200" dirty="0">
                <a:latin typeface="Times New Roman" panose="02020603050405020304" pitchFamily="18" charset="0"/>
                <a:cs typeface="Times New Roman" panose="02020603050405020304" pitchFamily="18" charset="0"/>
              </a:rPr>
              <a:t>Sanjeev, A., Kaushik, S., </a:t>
            </a:r>
            <a:r>
              <a:rPr lang="en-US" altLang="zh-TW" sz="1200" dirty="0" err="1">
                <a:latin typeface="Times New Roman" panose="02020603050405020304" pitchFamily="18" charset="0"/>
                <a:cs typeface="Times New Roman" panose="02020603050405020304" pitchFamily="18" charset="0"/>
              </a:rPr>
              <a:t>Meher</a:t>
            </a:r>
            <a:r>
              <a:rPr lang="en-US" altLang="zh-TW" sz="1200" dirty="0">
                <a:latin typeface="Times New Roman" panose="02020603050405020304" pitchFamily="18" charset="0"/>
                <a:cs typeface="Times New Roman" panose="02020603050405020304" pitchFamily="18" charset="0"/>
              </a:rPr>
              <a:t>, B. R. and </a:t>
            </a:r>
            <a:r>
              <a:rPr lang="en-US" altLang="zh-TW" sz="1200" dirty="0" err="1">
                <a:latin typeface="Times New Roman" panose="02020603050405020304" pitchFamily="18" charset="0"/>
                <a:cs typeface="Times New Roman" panose="02020603050405020304" pitchFamily="18" charset="0"/>
              </a:rPr>
              <a:t>Mattaparthi</a:t>
            </a:r>
            <a:r>
              <a:rPr lang="en-US" altLang="zh-TW" sz="1200" dirty="0">
                <a:latin typeface="Times New Roman" panose="02020603050405020304" pitchFamily="18" charset="0"/>
                <a:cs typeface="Times New Roman" panose="02020603050405020304" pitchFamily="18" charset="0"/>
              </a:rPr>
              <a:t>, V. S. Disorder in Proteins, 2018, pages 9.</a:t>
            </a:r>
            <a:endParaRPr lang="zh-TW" altLang="en-US" sz="12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5A1B0916-021B-482C-807E-F458A89A3CAC}"/>
              </a:ext>
            </a:extLst>
          </p:cNvPr>
          <p:cNvPicPr>
            <a:picLocks noChangeAspect="1"/>
          </p:cNvPicPr>
          <p:nvPr/>
        </p:nvPicPr>
        <p:blipFill>
          <a:blip r:embed="rId3"/>
          <a:stretch>
            <a:fillRect/>
          </a:stretch>
        </p:blipFill>
        <p:spPr>
          <a:xfrm>
            <a:off x="2067968" y="3148671"/>
            <a:ext cx="4997106" cy="1800200"/>
          </a:xfrm>
          <a:prstGeom prst="rect">
            <a:avLst/>
          </a:prstGeom>
        </p:spPr>
      </p:pic>
      <p:sp>
        <p:nvSpPr>
          <p:cNvPr id="5" name="投影片編號版面配置區 4">
            <a:extLst>
              <a:ext uri="{FF2B5EF4-FFF2-40B4-BE49-F238E27FC236}">
                <a16:creationId xmlns:a16="http://schemas.microsoft.com/office/drawing/2014/main" id="{8761C83C-67CF-4DDD-B5A4-B3666F8DDF27}"/>
              </a:ext>
            </a:extLst>
          </p:cNvPr>
          <p:cNvSpPr>
            <a:spLocks noGrp="1"/>
          </p:cNvSpPr>
          <p:nvPr>
            <p:ph type="sldNum" sz="quarter" idx="12"/>
          </p:nvPr>
        </p:nvSpPr>
        <p:spPr/>
        <p:txBody>
          <a:bodyPr/>
          <a:lstStyle/>
          <a:p>
            <a:fld id="{04C04D6A-2E29-441A-A244-9F1014899F6D}" type="slidenum">
              <a:rPr lang="zh-TW" altLang="en-US" smtClean="0"/>
              <a:pPr/>
              <a:t>2</a:t>
            </a:fld>
            <a:endParaRPr lang="zh-TW" altLang="en-US"/>
          </a:p>
        </p:txBody>
      </p:sp>
    </p:spTree>
    <p:extLst>
      <p:ext uri="{BB962C8B-B14F-4D97-AF65-F5344CB8AC3E}">
        <p14:creationId xmlns:p14="http://schemas.microsoft.com/office/powerpoint/2010/main" val="25235507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Intrinsically Disordered Proteins (IDPs)</a:t>
            </a:r>
            <a:endParaRPr lang="zh-TW" altLang="en-US" sz="4000" b="1"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527E1C93-FCFE-4838-88ED-BFD53015DC28}"/>
              </a:ext>
            </a:extLst>
          </p:cNvPr>
          <p:cNvSpPr/>
          <p:nvPr/>
        </p:nvSpPr>
        <p:spPr>
          <a:xfrm>
            <a:off x="317895" y="813358"/>
            <a:ext cx="8127800" cy="1569660"/>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In disordered regions, the residues (</a:t>
            </a:r>
            <a:r>
              <a:rPr lang="en-US" altLang="zh-TW" sz="2400" dirty="0">
                <a:solidFill>
                  <a:srgbClr val="222222"/>
                </a:solidFill>
                <a:latin typeface="Courier New" panose="02070309020205020404" pitchFamily="49" charset="0"/>
                <a:cs typeface="Courier New" panose="02070309020205020404" pitchFamily="49" charset="0"/>
              </a:rPr>
              <a:t>A,G,Q,S,P,E </a:t>
            </a:r>
            <a:r>
              <a:rPr lang="en-US" altLang="zh-TW" sz="2400" dirty="0">
                <a:solidFill>
                  <a:srgbClr val="222222"/>
                </a:solidFill>
                <a:latin typeface="Times New Roman" panose="02020603050405020304" pitchFamily="18" charset="0"/>
                <a:cs typeface="Times New Roman" panose="02020603050405020304" pitchFamily="18" charset="0"/>
              </a:rPr>
              <a:t>and </a:t>
            </a:r>
            <a:r>
              <a:rPr lang="en-US" altLang="zh-TW" sz="2400" dirty="0">
                <a:solidFill>
                  <a:srgbClr val="222222"/>
                </a:solidFill>
                <a:latin typeface="Courier New" panose="02070309020205020404" pitchFamily="49" charset="0"/>
                <a:cs typeface="Courier New" panose="02070309020205020404" pitchFamily="49" charset="0"/>
              </a:rPr>
              <a:t>K</a:t>
            </a:r>
            <a:r>
              <a:rPr lang="en-US" altLang="zh-TW" sz="2400" dirty="0">
                <a:solidFill>
                  <a:srgbClr val="222222"/>
                </a:solidFill>
                <a:latin typeface="Times New Roman" panose="02020603050405020304" pitchFamily="18" charset="0"/>
                <a:cs typeface="Times New Roman" panose="02020603050405020304" pitchFamily="18" charset="0"/>
              </a:rPr>
              <a:t>) have higher percentage than ordered regions or ordered proteins; the residues (</a:t>
            </a:r>
            <a:r>
              <a:rPr lang="en-US" altLang="zh-TW" sz="2400" dirty="0">
                <a:solidFill>
                  <a:srgbClr val="222222"/>
                </a:solidFill>
                <a:latin typeface="Courier New" panose="02070309020205020404" pitchFamily="49" charset="0"/>
                <a:cs typeface="Courier New" panose="02070309020205020404" pitchFamily="49" charset="0"/>
              </a:rPr>
              <a:t>M,H,W,C,F,I,Y,V,L </a:t>
            </a:r>
            <a:r>
              <a:rPr lang="en-US" altLang="zh-TW" sz="2400" dirty="0">
                <a:solidFill>
                  <a:srgbClr val="222222"/>
                </a:solidFill>
                <a:latin typeface="Times New Roman" panose="02020603050405020304" pitchFamily="18" charset="0"/>
                <a:cs typeface="Times New Roman" panose="02020603050405020304" pitchFamily="18" charset="0"/>
              </a:rPr>
              <a:t>and </a:t>
            </a:r>
            <a:r>
              <a:rPr lang="en-US" altLang="zh-TW" sz="2400" dirty="0">
                <a:solidFill>
                  <a:srgbClr val="222222"/>
                </a:solidFill>
                <a:latin typeface="Courier New" panose="02070309020205020404" pitchFamily="49" charset="0"/>
                <a:cs typeface="Courier New" panose="02070309020205020404" pitchFamily="49" charset="0"/>
              </a:rPr>
              <a:t>N</a:t>
            </a:r>
            <a:r>
              <a:rPr lang="en-US" altLang="zh-TW" sz="2400" dirty="0">
                <a:solidFill>
                  <a:srgbClr val="222222"/>
                </a:solidFill>
                <a:latin typeface="Times New Roman" panose="02020603050405020304" pitchFamily="18" charset="0"/>
                <a:cs typeface="Times New Roman" panose="02020603050405020304" pitchFamily="18" charset="0"/>
              </a:rPr>
              <a:t>) have lower percentage in disordered proteins.</a:t>
            </a:r>
            <a:endParaRPr lang="zh-TW" altLang="en-US" sz="24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178D3330-89AF-4446-A70F-D882C8C31F75}"/>
              </a:ext>
            </a:extLst>
          </p:cNvPr>
          <p:cNvPicPr>
            <a:picLocks noChangeAspect="1"/>
          </p:cNvPicPr>
          <p:nvPr/>
        </p:nvPicPr>
        <p:blipFill>
          <a:blip r:embed="rId3"/>
          <a:stretch>
            <a:fillRect/>
          </a:stretch>
        </p:blipFill>
        <p:spPr>
          <a:xfrm>
            <a:off x="188616" y="2452048"/>
            <a:ext cx="6266611" cy="4269427"/>
          </a:xfrm>
          <a:prstGeom prst="rect">
            <a:avLst/>
          </a:prstGeom>
        </p:spPr>
      </p:pic>
      <p:sp>
        <p:nvSpPr>
          <p:cNvPr id="9" name="矩形 8">
            <a:extLst>
              <a:ext uri="{FF2B5EF4-FFF2-40B4-BE49-F238E27FC236}">
                <a16:creationId xmlns:a16="http://schemas.microsoft.com/office/drawing/2014/main" id="{AA9298C2-15D6-41BC-8D85-C2835D35B5F5}"/>
              </a:ext>
            </a:extLst>
          </p:cNvPr>
          <p:cNvSpPr/>
          <p:nvPr/>
        </p:nvSpPr>
        <p:spPr>
          <a:xfrm>
            <a:off x="6461829" y="5229200"/>
            <a:ext cx="2688773" cy="1200329"/>
          </a:xfrm>
          <a:prstGeom prst="rect">
            <a:avLst/>
          </a:prstGeom>
        </p:spPr>
        <p:txBody>
          <a:bodyPr wrap="square">
            <a:spAutoFit/>
          </a:bodyPr>
          <a:lstStyle/>
          <a:p>
            <a:r>
              <a:rPr lang="en-US" altLang="zh-TW" sz="1200" dirty="0" err="1">
                <a:latin typeface="Times New Roman" panose="02020603050405020304" pitchFamily="18" charset="0"/>
                <a:cs typeface="Times New Roman" panose="02020603050405020304" pitchFamily="18" charset="0"/>
              </a:rPr>
              <a:t>Uversky</a:t>
            </a:r>
            <a:r>
              <a:rPr lang="en-US" altLang="zh-TW" sz="1200" dirty="0">
                <a:latin typeface="Times New Roman" panose="02020603050405020304" pitchFamily="18" charset="0"/>
                <a:cs typeface="Times New Roman" panose="02020603050405020304" pitchFamily="18" charset="0"/>
              </a:rPr>
              <a:t>, V. N. The alphabet of intrinsic disorder: II. Various roles of glutamic acid in ordered and intrinsically disordered proteins, 2013, Intrinsically disordered proteins, Vol. 1, No. 1, pp. e24684.</a:t>
            </a:r>
            <a:endParaRPr lang="zh-TW" altLang="en-US" sz="12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B33D2F71-C692-4586-B603-3EF823F58773}"/>
              </a:ext>
            </a:extLst>
          </p:cNvPr>
          <p:cNvSpPr>
            <a:spLocks noGrp="1"/>
          </p:cNvSpPr>
          <p:nvPr>
            <p:ph type="sldNum" sz="quarter" idx="12"/>
          </p:nvPr>
        </p:nvSpPr>
        <p:spPr/>
        <p:txBody>
          <a:bodyPr/>
          <a:lstStyle/>
          <a:p>
            <a:fld id="{04C04D6A-2E29-441A-A244-9F1014899F6D}" type="slidenum">
              <a:rPr lang="zh-TW" altLang="en-US" smtClean="0"/>
              <a:pPr/>
              <a:t>3</a:t>
            </a:fld>
            <a:endParaRPr lang="zh-TW" altLang="en-US"/>
          </a:p>
        </p:txBody>
      </p:sp>
    </p:spTree>
    <p:extLst>
      <p:ext uri="{BB962C8B-B14F-4D97-AF65-F5344CB8AC3E}">
        <p14:creationId xmlns:p14="http://schemas.microsoft.com/office/powerpoint/2010/main" val="207886595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539552" y="33265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Motivation</a:t>
            </a:r>
            <a:endParaRPr lang="zh-TW" altLang="en-US" sz="4000"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FEA0FFB9-217D-4A99-B793-4C02518DD04A}"/>
              </a:ext>
            </a:extLst>
          </p:cNvPr>
          <p:cNvSpPr/>
          <p:nvPr/>
        </p:nvSpPr>
        <p:spPr>
          <a:xfrm>
            <a:off x="405880" y="1412776"/>
            <a:ext cx="8280920" cy="2677656"/>
          </a:xfrm>
          <a:prstGeom prst="rect">
            <a:avLst/>
          </a:prstGeom>
        </p:spPr>
        <p:txBody>
          <a:bodyPr wrap="square">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In sequence alignments, it needs a quantified value to describe the relevance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 similarity of two sequences.</a:t>
            </a:r>
          </a:p>
          <a:p>
            <a:pPr marL="342900" indent="-342900">
              <a:buFont typeface="Arial" panose="020B0604020202020204" pitchFamily="34" charset="0"/>
              <a:buChar char="•"/>
            </a:pPr>
            <a:endParaRPr lang="en-US" altLang="zh-TW"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Widely used substitution scoring matrices, such as BLOSUM and PAM are not suitable for homology searches involving proteins enriched with disordered regions</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A9EE8DB-90B9-4795-A03A-2F17555C7BDE}"/>
              </a:ext>
            </a:extLst>
          </p:cNvPr>
          <p:cNvSpPr>
            <a:spLocks noGrp="1"/>
          </p:cNvSpPr>
          <p:nvPr>
            <p:ph type="sldNum" sz="quarter" idx="12"/>
          </p:nvPr>
        </p:nvSpPr>
        <p:spPr/>
        <p:txBody>
          <a:bodyPr/>
          <a:lstStyle/>
          <a:p>
            <a:fld id="{04C04D6A-2E29-441A-A244-9F1014899F6D}" type="slidenum">
              <a:rPr lang="zh-TW" altLang="en-US" smtClean="0"/>
              <a:pPr/>
              <a:t>4</a:t>
            </a:fld>
            <a:endParaRPr lang="zh-TW" altLang="en-US"/>
          </a:p>
        </p:txBody>
      </p:sp>
    </p:spTree>
    <p:extLst>
      <p:ext uri="{BB962C8B-B14F-4D97-AF65-F5344CB8AC3E}">
        <p14:creationId xmlns:p14="http://schemas.microsoft.com/office/powerpoint/2010/main" val="79292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188640"/>
            <a:ext cx="8755811" cy="646331"/>
          </a:xfrm>
          <a:prstGeom prst="rect">
            <a:avLst/>
          </a:prstGeom>
          <a:noFill/>
        </p:spPr>
        <p:txBody>
          <a:bodyPr wrap="square" rtlCol="0">
            <a:spAutoFit/>
          </a:bodyPr>
          <a:lstStyle/>
          <a:p>
            <a:r>
              <a:rPr lang="en-US" altLang="zh-TW" sz="3600" b="1" dirty="0">
                <a:latin typeface="Times New Roman" panose="02020603050405020304" pitchFamily="18" charset="0"/>
                <a:cs typeface="Times New Roman" panose="02020603050405020304" pitchFamily="18" charset="0"/>
              </a:rPr>
              <a:t>The Example of Sequence Alignment</a:t>
            </a:r>
            <a:endParaRPr lang="zh-TW" altLang="en-US" sz="3600" b="1" dirty="0">
              <a:latin typeface="Times New Roman" panose="02020603050405020304" pitchFamily="18" charset="0"/>
              <a:cs typeface="Times New Roman" panose="02020603050405020304" pitchFamily="18" charset="0"/>
            </a:endParaRPr>
          </a:p>
        </p:txBody>
      </p:sp>
      <p:sp>
        <p:nvSpPr>
          <p:cNvPr id="6" name="投影片編號版面配置區 3">
            <a:extLst>
              <a:ext uri="{FF2B5EF4-FFF2-40B4-BE49-F238E27FC236}">
                <a16:creationId xmlns:a16="http://schemas.microsoft.com/office/drawing/2014/main" id="{97CC8D41-B3D0-4BD7-9C1C-3BF4D6D2E0CD}"/>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mtClean="0">
                <a:latin typeface="Times New Roman" panose="02020603050405020304" pitchFamily="18" charset="0"/>
                <a:cs typeface="Times New Roman" panose="02020603050405020304" pitchFamily="18" charset="0"/>
              </a:rPr>
              <a:pPr/>
              <a:t>5</a:t>
            </a:fld>
            <a:endParaRPr lang="zh-TW" altLang="en-US" dirty="0">
              <a:latin typeface="Times New Roman" panose="02020603050405020304" pitchFamily="18" charset="0"/>
              <a:cs typeface="Times New Roman" panose="02020603050405020304" pitchFamily="18" charset="0"/>
            </a:endParaRPr>
          </a:p>
        </p:txBody>
      </p:sp>
      <p:cxnSp>
        <p:nvCxnSpPr>
          <p:cNvPr id="8" name="AutoShape 5">
            <a:extLst>
              <a:ext uri="{FF2B5EF4-FFF2-40B4-BE49-F238E27FC236}">
                <a16:creationId xmlns:a16="http://schemas.microsoft.com/office/drawing/2014/main" id="{B9E3BD0D-5D88-4300-BE8D-591B860699ED}"/>
              </a:ext>
            </a:extLst>
          </p:cNvPr>
          <p:cNvCxnSpPr>
            <a:cxnSpLocks noChangeShapeType="1"/>
            <a:stCxn id="86" idx="6"/>
            <a:endCxn id="102" idx="2"/>
          </p:cNvCxnSpPr>
          <p:nvPr/>
        </p:nvCxnSpPr>
        <p:spPr bwMode="auto">
          <a:xfrm>
            <a:off x="5683250" y="1441450"/>
            <a:ext cx="257175" cy="79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 name="AutoShape 6">
            <a:extLst>
              <a:ext uri="{FF2B5EF4-FFF2-40B4-BE49-F238E27FC236}">
                <a16:creationId xmlns:a16="http://schemas.microsoft.com/office/drawing/2014/main" id="{E89BEA5E-2FFD-4BB8-89BB-408A27D8AC33}"/>
              </a:ext>
            </a:extLst>
          </p:cNvPr>
          <p:cNvCxnSpPr>
            <a:cxnSpLocks noChangeShapeType="1"/>
            <a:stCxn id="87" idx="6"/>
            <a:endCxn id="103" idx="2"/>
          </p:cNvCxnSpPr>
          <p:nvPr/>
        </p:nvCxnSpPr>
        <p:spPr bwMode="auto">
          <a:xfrm>
            <a:off x="5664200" y="20018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 name="AutoShape 7">
            <a:extLst>
              <a:ext uri="{FF2B5EF4-FFF2-40B4-BE49-F238E27FC236}">
                <a16:creationId xmlns:a16="http://schemas.microsoft.com/office/drawing/2014/main" id="{37E70175-4466-4CC4-8D91-C1F2D657BF01}"/>
              </a:ext>
            </a:extLst>
          </p:cNvPr>
          <p:cNvCxnSpPr>
            <a:cxnSpLocks noChangeShapeType="1"/>
            <a:stCxn id="88" idx="6"/>
            <a:endCxn id="104" idx="2"/>
          </p:cNvCxnSpPr>
          <p:nvPr/>
        </p:nvCxnSpPr>
        <p:spPr bwMode="auto">
          <a:xfrm>
            <a:off x="5664200" y="2552700"/>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 name="AutoShape 8">
            <a:extLst>
              <a:ext uri="{FF2B5EF4-FFF2-40B4-BE49-F238E27FC236}">
                <a16:creationId xmlns:a16="http://schemas.microsoft.com/office/drawing/2014/main" id="{1A72AD9E-F9BE-4A00-97E9-A1021F64D4C7}"/>
              </a:ext>
            </a:extLst>
          </p:cNvPr>
          <p:cNvCxnSpPr>
            <a:cxnSpLocks noChangeShapeType="1"/>
            <a:stCxn id="89" idx="6"/>
            <a:endCxn id="105" idx="2"/>
          </p:cNvCxnSpPr>
          <p:nvPr/>
        </p:nvCxnSpPr>
        <p:spPr bwMode="auto">
          <a:xfrm>
            <a:off x="5664200" y="3103563"/>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 name="AutoShape 9">
            <a:extLst>
              <a:ext uri="{FF2B5EF4-FFF2-40B4-BE49-F238E27FC236}">
                <a16:creationId xmlns:a16="http://schemas.microsoft.com/office/drawing/2014/main" id="{D1F672EE-5770-4E22-B475-4CB238E6F718}"/>
              </a:ext>
            </a:extLst>
          </p:cNvPr>
          <p:cNvCxnSpPr>
            <a:cxnSpLocks noChangeShapeType="1"/>
            <a:stCxn id="86" idx="5"/>
            <a:endCxn id="103" idx="1"/>
          </p:cNvCxnSpPr>
          <p:nvPr/>
        </p:nvCxnSpPr>
        <p:spPr bwMode="auto">
          <a:xfrm>
            <a:off x="5635625" y="1557338"/>
            <a:ext cx="352425" cy="32702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AutoShape 10">
            <a:extLst>
              <a:ext uri="{FF2B5EF4-FFF2-40B4-BE49-F238E27FC236}">
                <a16:creationId xmlns:a16="http://schemas.microsoft.com/office/drawing/2014/main" id="{2618AAB2-206D-4044-9624-DAA31E3FAC10}"/>
              </a:ext>
            </a:extLst>
          </p:cNvPr>
          <p:cNvCxnSpPr>
            <a:cxnSpLocks noChangeShapeType="1"/>
            <a:stCxn id="104" idx="1"/>
            <a:endCxn id="87" idx="5"/>
          </p:cNvCxnSpPr>
          <p:nvPr/>
        </p:nvCxnSpPr>
        <p:spPr bwMode="auto">
          <a:xfrm flipH="1" flipV="1">
            <a:off x="5616308" y="2115871"/>
            <a:ext cx="372241" cy="319853"/>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 name="AutoShape 11">
            <a:extLst>
              <a:ext uri="{FF2B5EF4-FFF2-40B4-BE49-F238E27FC236}">
                <a16:creationId xmlns:a16="http://schemas.microsoft.com/office/drawing/2014/main" id="{42602BA2-96C3-4A24-803C-26895E4D7FF5}"/>
              </a:ext>
            </a:extLst>
          </p:cNvPr>
          <p:cNvCxnSpPr>
            <a:cxnSpLocks noChangeShapeType="1"/>
            <a:stCxn id="88" idx="5"/>
            <a:endCxn id="105" idx="1"/>
          </p:cNvCxnSpPr>
          <p:nvPr/>
        </p:nvCxnSpPr>
        <p:spPr bwMode="auto">
          <a:xfrm>
            <a:off x="5614988" y="2668588"/>
            <a:ext cx="373062"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AutoShape 12">
            <a:extLst>
              <a:ext uri="{FF2B5EF4-FFF2-40B4-BE49-F238E27FC236}">
                <a16:creationId xmlns:a16="http://schemas.microsoft.com/office/drawing/2014/main" id="{4394B866-D56D-4431-94E0-DEA9FE374992}"/>
              </a:ext>
            </a:extLst>
          </p:cNvPr>
          <p:cNvCxnSpPr>
            <a:cxnSpLocks noChangeShapeType="1"/>
            <a:stCxn id="102" idx="6"/>
            <a:endCxn id="119" idx="2"/>
          </p:cNvCxnSpPr>
          <p:nvPr/>
        </p:nvCxnSpPr>
        <p:spPr bwMode="auto">
          <a:xfrm>
            <a:off x="6269038" y="1450975"/>
            <a:ext cx="274637"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 name="AutoShape 13">
            <a:extLst>
              <a:ext uri="{FF2B5EF4-FFF2-40B4-BE49-F238E27FC236}">
                <a16:creationId xmlns:a16="http://schemas.microsoft.com/office/drawing/2014/main" id="{DC0270B3-0363-45EA-9ED8-AF11A56744ED}"/>
              </a:ext>
            </a:extLst>
          </p:cNvPr>
          <p:cNvCxnSpPr>
            <a:cxnSpLocks noChangeShapeType="1"/>
            <a:stCxn id="103" idx="6"/>
            <a:endCxn id="120" idx="2"/>
          </p:cNvCxnSpPr>
          <p:nvPr/>
        </p:nvCxnSpPr>
        <p:spPr bwMode="auto">
          <a:xfrm>
            <a:off x="6269038" y="2001838"/>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AutoShape 14">
            <a:extLst>
              <a:ext uri="{FF2B5EF4-FFF2-40B4-BE49-F238E27FC236}">
                <a16:creationId xmlns:a16="http://schemas.microsoft.com/office/drawing/2014/main" id="{5175F797-B368-4EE3-B3B6-D9F7D98E4270}"/>
              </a:ext>
            </a:extLst>
          </p:cNvPr>
          <p:cNvCxnSpPr>
            <a:cxnSpLocks noChangeShapeType="1"/>
            <a:stCxn id="104" idx="6"/>
            <a:endCxn id="121" idx="2"/>
          </p:cNvCxnSpPr>
          <p:nvPr/>
        </p:nvCxnSpPr>
        <p:spPr bwMode="auto">
          <a:xfrm>
            <a:off x="6269038" y="2552700"/>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AutoShape 15">
            <a:extLst>
              <a:ext uri="{FF2B5EF4-FFF2-40B4-BE49-F238E27FC236}">
                <a16:creationId xmlns:a16="http://schemas.microsoft.com/office/drawing/2014/main" id="{5F79D25A-68F3-43CC-8D48-AFA0E2EE74A3}"/>
              </a:ext>
            </a:extLst>
          </p:cNvPr>
          <p:cNvCxnSpPr>
            <a:cxnSpLocks noChangeShapeType="1"/>
            <a:stCxn id="105" idx="6"/>
            <a:endCxn id="122" idx="2"/>
          </p:cNvCxnSpPr>
          <p:nvPr/>
        </p:nvCxnSpPr>
        <p:spPr bwMode="auto">
          <a:xfrm>
            <a:off x="6269038" y="3103563"/>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1" name="AutoShape 16">
            <a:extLst>
              <a:ext uri="{FF2B5EF4-FFF2-40B4-BE49-F238E27FC236}">
                <a16:creationId xmlns:a16="http://schemas.microsoft.com/office/drawing/2014/main" id="{AAF77623-6FA2-43CF-A297-A214B5CBA619}"/>
              </a:ext>
            </a:extLst>
          </p:cNvPr>
          <p:cNvCxnSpPr>
            <a:cxnSpLocks noChangeShapeType="1"/>
            <a:stCxn id="102" idx="5"/>
            <a:endCxn id="120" idx="1"/>
          </p:cNvCxnSpPr>
          <p:nvPr/>
        </p:nvCxnSpPr>
        <p:spPr bwMode="auto">
          <a:xfrm>
            <a:off x="6221413" y="1566863"/>
            <a:ext cx="369887" cy="31908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AutoShape 17">
            <a:extLst>
              <a:ext uri="{FF2B5EF4-FFF2-40B4-BE49-F238E27FC236}">
                <a16:creationId xmlns:a16="http://schemas.microsoft.com/office/drawing/2014/main" id="{CDFAB136-256F-426D-94AA-02EBF888AF0A}"/>
              </a:ext>
            </a:extLst>
          </p:cNvPr>
          <p:cNvCxnSpPr>
            <a:cxnSpLocks noChangeShapeType="1"/>
            <a:stCxn id="103" idx="5"/>
            <a:endCxn id="121" idx="1"/>
          </p:cNvCxnSpPr>
          <p:nvPr/>
        </p:nvCxnSpPr>
        <p:spPr bwMode="auto">
          <a:xfrm>
            <a:off x="6221413" y="2117725"/>
            <a:ext cx="369887"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3" name="AutoShape 18">
            <a:extLst>
              <a:ext uri="{FF2B5EF4-FFF2-40B4-BE49-F238E27FC236}">
                <a16:creationId xmlns:a16="http://schemas.microsoft.com/office/drawing/2014/main" id="{2DB52E0D-E6E9-4F99-BDE0-A4FD3455DF7F}"/>
              </a:ext>
            </a:extLst>
          </p:cNvPr>
          <p:cNvCxnSpPr>
            <a:cxnSpLocks noChangeShapeType="1"/>
            <a:stCxn id="122" idx="1"/>
            <a:endCxn id="104" idx="5"/>
          </p:cNvCxnSpPr>
          <p:nvPr/>
        </p:nvCxnSpPr>
        <p:spPr bwMode="auto">
          <a:xfrm flipH="1" flipV="1">
            <a:off x="6220914" y="2668089"/>
            <a:ext cx="370885" cy="318498"/>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4" name="AutoShape 19">
            <a:extLst>
              <a:ext uri="{FF2B5EF4-FFF2-40B4-BE49-F238E27FC236}">
                <a16:creationId xmlns:a16="http://schemas.microsoft.com/office/drawing/2014/main" id="{5AC789AB-1106-48DE-8460-1E4E3BA794EB}"/>
              </a:ext>
            </a:extLst>
          </p:cNvPr>
          <p:cNvCxnSpPr>
            <a:cxnSpLocks noChangeShapeType="1"/>
            <a:stCxn id="93" idx="6"/>
            <a:endCxn id="109" idx="2"/>
          </p:cNvCxnSpPr>
          <p:nvPr/>
        </p:nvCxnSpPr>
        <p:spPr bwMode="auto">
          <a:xfrm>
            <a:off x="5664200" y="3654425"/>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5" name="AutoShape 20">
            <a:extLst>
              <a:ext uri="{FF2B5EF4-FFF2-40B4-BE49-F238E27FC236}">
                <a16:creationId xmlns:a16="http://schemas.microsoft.com/office/drawing/2014/main" id="{60162325-B103-4F21-BC34-06AA1057A546}"/>
              </a:ext>
            </a:extLst>
          </p:cNvPr>
          <p:cNvCxnSpPr>
            <a:cxnSpLocks noChangeShapeType="1"/>
            <a:stCxn id="89" idx="5"/>
            <a:endCxn id="109" idx="1"/>
          </p:cNvCxnSpPr>
          <p:nvPr/>
        </p:nvCxnSpPr>
        <p:spPr bwMode="auto">
          <a:xfrm>
            <a:off x="5614988" y="3219450"/>
            <a:ext cx="373062"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6" name="AutoShape 21">
            <a:extLst>
              <a:ext uri="{FF2B5EF4-FFF2-40B4-BE49-F238E27FC236}">
                <a16:creationId xmlns:a16="http://schemas.microsoft.com/office/drawing/2014/main" id="{A8925C41-711B-4FCA-AA75-AF0A89B018B0}"/>
              </a:ext>
            </a:extLst>
          </p:cNvPr>
          <p:cNvCxnSpPr>
            <a:cxnSpLocks noChangeShapeType="1"/>
            <a:stCxn id="109" idx="6"/>
            <a:endCxn id="126" idx="2"/>
          </p:cNvCxnSpPr>
          <p:nvPr/>
        </p:nvCxnSpPr>
        <p:spPr bwMode="auto">
          <a:xfrm>
            <a:off x="6269038" y="3654425"/>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7" name="AutoShape 22">
            <a:extLst>
              <a:ext uri="{FF2B5EF4-FFF2-40B4-BE49-F238E27FC236}">
                <a16:creationId xmlns:a16="http://schemas.microsoft.com/office/drawing/2014/main" id="{8449D96E-0F59-4292-9521-12D938301FF6}"/>
              </a:ext>
            </a:extLst>
          </p:cNvPr>
          <p:cNvCxnSpPr>
            <a:cxnSpLocks noChangeShapeType="1"/>
            <a:stCxn id="105" idx="5"/>
            <a:endCxn id="126" idx="1"/>
          </p:cNvCxnSpPr>
          <p:nvPr/>
        </p:nvCxnSpPr>
        <p:spPr bwMode="auto">
          <a:xfrm>
            <a:off x="6221413" y="3219450"/>
            <a:ext cx="369887"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8" name="AutoShape 23">
            <a:extLst>
              <a:ext uri="{FF2B5EF4-FFF2-40B4-BE49-F238E27FC236}">
                <a16:creationId xmlns:a16="http://schemas.microsoft.com/office/drawing/2014/main" id="{6261787B-49AF-4FBF-A0C3-B0453239CCA4}"/>
              </a:ext>
            </a:extLst>
          </p:cNvPr>
          <p:cNvCxnSpPr>
            <a:cxnSpLocks noChangeShapeType="1"/>
            <a:stCxn id="119" idx="6"/>
            <a:endCxn id="136" idx="2"/>
          </p:cNvCxnSpPr>
          <p:nvPr/>
        </p:nvCxnSpPr>
        <p:spPr bwMode="auto">
          <a:xfrm>
            <a:off x="6872288" y="1450975"/>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9" name="AutoShape 24">
            <a:extLst>
              <a:ext uri="{FF2B5EF4-FFF2-40B4-BE49-F238E27FC236}">
                <a16:creationId xmlns:a16="http://schemas.microsoft.com/office/drawing/2014/main" id="{CBB08918-07E9-414E-AC3F-EEC62E66FF46}"/>
              </a:ext>
            </a:extLst>
          </p:cNvPr>
          <p:cNvCxnSpPr>
            <a:cxnSpLocks noChangeShapeType="1"/>
            <a:stCxn id="120" idx="6"/>
            <a:endCxn id="137" idx="2"/>
          </p:cNvCxnSpPr>
          <p:nvPr/>
        </p:nvCxnSpPr>
        <p:spPr bwMode="auto">
          <a:xfrm>
            <a:off x="6872288" y="2001838"/>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0" name="AutoShape 25">
            <a:extLst>
              <a:ext uri="{FF2B5EF4-FFF2-40B4-BE49-F238E27FC236}">
                <a16:creationId xmlns:a16="http://schemas.microsoft.com/office/drawing/2014/main" id="{0C6B2E52-2AA2-45BD-A39D-E7BBCBCFB877}"/>
              </a:ext>
            </a:extLst>
          </p:cNvPr>
          <p:cNvCxnSpPr>
            <a:cxnSpLocks noChangeShapeType="1"/>
            <a:stCxn id="121" idx="6"/>
            <a:endCxn id="138" idx="2"/>
          </p:cNvCxnSpPr>
          <p:nvPr/>
        </p:nvCxnSpPr>
        <p:spPr bwMode="auto">
          <a:xfrm>
            <a:off x="6872288" y="2552700"/>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1" name="AutoShape 26">
            <a:extLst>
              <a:ext uri="{FF2B5EF4-FFF2-40B4-BE49-F238E27FC236}">
                <a16:creationId xmlns:a16="http://schemas.microsoft.com/office/drawing/2014/main" id="{4E90F572-28D0-40B6-AC0F-530B394F0796}"/>
              </a:ext>
            </a:extLst>
          </p:cNvPr>
          <p:cNvCxnSpPr>
            <a:cxnSpLocks noChangeShapeType="1"/>
            <a:stCxn id="122" idx="6"/>
            <a:endCxn id="139" idx="2"/>
          </p:cNvCxnSpPr>
          <p:nvPr/>
        </p:nvCxnSpPr>
        <p:spPr bwMode="auto">
          <a:xfrm>
            <a:off x="6872288" y="3103563"/>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2" name="AutoShape 27">
            <a:extLst>
              <a:ext uri="{FF2B5EF4-FFF2-40B4-BE49-F238E27FC236}">
                <a16:creationId xmlns:a16="http://schemas.microsoft.com/office/drawing/2014/main" id="{612CD722-1AFA-4913-ACB9-DB2619571018}"/>
              </a:ext>
            </a:extLst>
          </p:cNvPr>
          <p:cNvCxnSpPr>
            <a:cxnSpLocks noChangeShapeType="1"/>
            <a:stCxn id="119" idx="5"/>
            <a:endCxn id="137" idx="1"/>
          </p:cNvCxnSpPr>
          <p:nvPr/>
        </p:nvCxnSpPr>
        <p:spPr bwMode="auto">
          <a:xfrm>
            <a:off x="6824663" y="1566863"/>
            <a:ext cx="371475" cy="31908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3" name="AutoShape 28">
            <a:extLst>
              <a:ext uri="{FF2B5EF4-FFF2-40B4-BE49-F238E27FC236}">
                <a16:creationId xmlns:a16="http://schemas.microsoft.com/office/drawing/2014/main" id="{ED7D29FE-EF0D-4BAA-80F5-4A4AD73679AD}"/>
              </a:ext>
            </a:extLst>
          </p:cNvPr>
          <p:cNvCxnSpPr>
            <a:cxnSpLocks noChangeShapeType="1"/>
            <a:stCxn id="120" idx="5"/>
            <a:endCxn id="138" idx="1"/>
          </p:cNvCxnSpPr>
          <p:nvPr/>
        </p:nvCxnSpPr>
        <p:spPr bwMode="auto">
          <a:xfrm>
            <a:off x="6824663" y="2117725"/>
            <a:ext cx="371475"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4" name="AutoShape 29">
            <a:extLst>
              <a:ext uri="{FF2B5EF4-FFF2-40B4-BE49-F238E27FC236}">
                <a16:creationId xmlns:a16="http://schemas.microsoft.com/office/drawing/2014/main" id="{EC3F4D8E-DCE9-476F-AEBF-C000A4DE4C64}"/>
              </a:ext>
            </a:extLst>
          </p:cNvPr>
          <p:cNvCxnSpPr>
            <a:cxnSpLocks noChangeShapeType="1"/>
            <a:stCxn id="121" idx="5"/>
            <a:endCxn id="139" idx="1"/>
          </p:cNvCxnSpPr>
          <p:nvPr/>
        </p:nvCxnSpPr>
        <p:spPr bwMode="auto">
          <a:xfrm>
            <a:off x="6824663" y="2668588"/>
            <a:ext cx="371475"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5" name="AutoShape 30">
            <a:extLst>
              <a:ext uri="{FF2B5EF4-FFF2-40B4-BE49-F238E27FC236}">
                <a16:creationId xmlns:a16="http://schemas.microsoft.com/office/drawing/2014/main" id="{9C64031A-2712-4CE8-A375-C60CA680A885}"/>
              </a:ext>
            </a:extLst>
          </p:cNvPr>
          <p:cNvCxnSpPr>
            <a:cxnSpLocks noChangeShapeType="1"/>
            <a:stCxn id="136" idx="6"/>
            <a:endCxn id="153" idx="2"/>
          </p:cNvCxnSpPr>
          <p:nvPr/>
        </p:nvCxnSpPr>
        <p:spPr bwMode="auto">
          <a:xfrm>
            <a:off x="7477125" y="1450975"/>
            <a:ext cx="276225"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6" name="AutoShape 31">
            <a:extLst>
              <a:ext uri="{FF2B5EF4-FFF2-40B4-BE49-F238E27FC236}">
                <a16:creationId xmlns:a16="http://schemas.microsoft.com/office/drawing/2014/main" id="{D5A97112-BD69-41EF-9F38-50932EEB103B}"/>
              </a:ext>
            </a:extLst>
          </p:cNvPr>
          <p:cNvCxnSpPr>
            <a:cxnSpLocks noChangeShapeType="1"/>
            <a:stCxn id="137" idx="6"/>
            <a:endCxn id="154" idx="2"/>
          </p:cNvCxnSpPr>
          <p:nvPr/>
        </p:nvCxnSpPr>
        <p:spPr bwMode="auto">
          <a:xfrm>
            <a:off x="7477125" y="20018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7" name="AutoShape 32">
            <a:extLst>
              <a:ext uri="{FF2B5EF4-FFF2-40B4-BE49-F238E27FC236}">
                <a16:creationId xmlns:a16="http://schemas.microsoft.com/office/drawing/2014/main" id="{6D85D282-AA13-4754-A057-5B14051EFF8B}"/>
              </a:ext>
            </a:extLst>
          </p:cNvPr>
          <p:cNvCxnSpPr>
            <a:cxnSpLocks noChangeShapeType="1"/>
            <a:stCxn id="138" idx="6"/>
            <a:endCxn id="155" idx="2"/>
          </p:cNvCxnSpPr>
          <p:nvPr/>
        </p:nvCxnSpPr>
        <p:spPr bwMode="auto">
          <a:xfrm>
            <a:off x="7477125" y="2552700"/>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8" name="AutoShape 33">
            <a:extLst>
              <a:ext uri="{FF2B5EF4-FFF2-40B4-BE49-F238E27FC236}">
                <a16:creationId xmlns:a16="http://schemas.microsoft.com/office/drawing/2014/main" id="{A2F3654C-0C31-420A-B3EE-46423238169B}"/>
              </a:ext>
            </a:extLst>
          </p:cNvPr>
          <p:cNvCxnSpPr>
            <a:cxnSpLocks noChangeShapeType="1"/>
            <a:stCxn id="139" idx="6"/>
            <a:endCxn id="156" idx="2"/>
          </p:cNvCxnSpPr>
          <p:nvPr/>
        </p:nvCxnSpPr>
        <p:spPr bwMode="auto">
          <a:xfrm>
            <a:off x="7477125" y="3103563"/>
            <a:ext cx="276225"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9" name="AutoShape 34">
            <a:extLst>
              <a:ext uri="{FF2B5EF4-FFF2-40B4-BE49-F238E27FC236}">
                <a16:creationId xmlns:a16="http://schemas.microsoft.com/office/drawing/2014/main" id="{9114C290-E7B8-4CBD-BC69-7E715CFF2D5A}"/>
              </a:ext>
            </a:extLst>
          </p:cNvPr>
          <p:cNvCxnSpPr>
            <a:cxnSpLocks noChangeShapeType="1"/>
            <a:stCxn id="136" idx="5"/>
            <a:endCxn id="154" idx="1"/>
          </p:cNvCxnSpPr>
          <p:nvPr/>
        </p:nvCxnSpPr>
        <p:spPr bwMode="auto">
          <a:xfrm>
            <a:off x="7427913" y="1566863"/>
            <a:ext cx="373062" cy="31908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0" name="AutoShape 35">
            <a:extLst>
              <a:ext uri="{FF2B5EF4-FFF2-40B4-BE49-F238E27FC236}">
                <a16:creationId xmlns:a16="http://schemas.microsoft.com/office/drawing/2014/main" id="{85F809DA-515A-4CA9-9902-CD76631082F9}"/>
              </a:ext>
            </a:extLst>
          </p:cNvPr>
          <p:cNvCxnSpPr>
            <a:cxnSpLocks noChangeShapeType="1"/>
            <a:stCxn id="137" idx="5"/>
            <a:endCxn id="155" idx="1"/>
          </p:cNvCxnSpPr>
          <p:nvPr/>
        </p:nvCxnSpPr>
        <p:spPr bwMode="auto">
          <a:xfrm>
            <a:off x="7427913" y="2117725"/>
            <a:ext cx="373062"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1" name="AutoShape 36">
            <a:extLst>
              <a:ext uri="{FF2B5EF4-FFF2-40B4-BE49-F238E27FC236}">
                <a16:creationId xmlns:a16="http://schemas.microsoft.com/office/drawing/2014/main" id="{D63E97C5-044A-4C78-9A40-D0F3872EB75B}"/>
              </a:ext>
            </a:extLst>
          </p:cNvPr>
          <p:cNvCxnSpPr>
            <a:cxnSpLocks noChangeShapeType="1"/>
            <a:stCxn id="138" idx="5"/>
            <a:endCxn id="156" idx="1"/>
          </p:cNvCxnSpPr>
          <p:nvPr/>
        </p:nvCxnSpPr>
        <p:spPr bwMode="auto">
          <a:xfrm>
            <a:off x="7427913" y="2668588"/>
            <a:ext cx="373062"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2" name="AutoShape 37">
            <a:extLst>
              <a:ext uri="{FF2B5EF4-FFF2-40B4-BE49-F238E27FC236}">
                <a16:creationId xmlns:a16="http://schemas.microsoft.com/office/drawing/2014/main" id="{D92304A7-4297-459D-9DFE-D6B9B2D6A53C}"/>
              </a:ext>
            </a:extLst>
          </p:cNvPr>
          <p:cNvCxnSpPr>
            <a:cxnSpLocks noChangeShapeType="1"/>
            <a:stCxn id="126" idx="6"/>
            <a:endCxn id="143" idx="2"/>
          </p:cNvCxnSpPr>
          <p:nvPr/>
        </p:nvCxnSpPr>
        <p:spPr bwMode="auto">
          <a:xfrm>
            <a:off x="6872288" y="3654425"/>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3" name="AutoShape 38">
            <a:extLst>
              <a:ext uri="{FF2B5EF4-FFF2-40B4-BE49-F238E27FC236}">
                <a16:creationId xmlns:a16="http://schemas.microsoft.com/office/drawing/2014/main" id="{EF261390-AF2D-4C73-B32B-A0418E89D576}"/>
              </a:ext>
            </a:extLst>
          </p:cNvPr>
          <p:cNvCxnSpPr>
            <a:cxnSpLocks noChangeShapeType="1"/>
            <a:stCxn id="122" idx="5"/>
            <a:endCxn id="143" idx="1"/>
          </p:cNvCxnSpPr>
          <p:nvPr/>
        </p:nvCxnSpPr>
        <p:spPr bwMode="auto">
          <a:xfrm>
            <a:off x="6824663" y="3219450"/>
            <a:ext cx="371475"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4" name="AutoShape 39">
            <a:extLst>
              <a:ext uri="{FF2B5EF4-FFF2-40B4-BE49-F238E27FC236}">
                <a16:creationId xmlns:a16="http://schemas.microsoft.com/office/drawing/2014/main" id="{5DFC63AB-6EF5-4206-8897-E6C0998E3493}"/>
              </a:ext>
            </a:extLst>
          </p:cNvPr>
          <p:cNvCxnSpPr>
            <a:cxnSpLocks noChangeShapeType="1"/>
            <a:stCxn id="143" idx="6"/>
            <a:endCxn id="160" idx="2"/>
          </p:cNvCxnSpPr>
          <p:nvPr/>
        </p:nvCxnSpPr>
        <p:spPr bwMode="auto">
          <a:xfrm>
            <a:off x="7477125" y="3654425"/>
            <a:ext cx="276225" cy="0"/>
          </a:xfrm>
          <a:prstGeom prst="straightConnector1">
            <a:avLst/>
          </a:prstGeom>
          <a:noFill/>
          <a:ln w="28575">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5" name="AutoShape 40">
            <a:extLst>
              <a:ext uri="{FF2B5EF4-FFF2-40B4-BE49-F238E27FC236}">
                <a16:creationId xmlns:a16="http://schemas.microsoft.com/office/drawing/2014/main" id="{558DFA46-E34C-43B1-B03F-E1C85BC8EA51}"/>
              </a:ext>
            </a:extLst>
          </p:cNvPr>
          <p:cNvCxnSpPr>
            <a:cxnSpLocks noChangeShapeType="1"/>
            <a:stCxn id="139" idx="5"/>
            <a:endCxn id="160" idx="1"/>
          </p:cNvCxnSpPr>
          <p:nvPr/>
        </p:nvCxnSpPr>
        <p:spPr bwMode="auto">
          <a:xfrm>
            <a:off x="7427913" y="3219450"/>
            <a:ext cx="373062"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6" name="AutoShape 41">
            <a:extLst>
              <a:ext uri="{FF2B5EF4-FFF2-40B4-BE49-F238E27FC236}">
                <a16:creationId xmlns:a16="http://schemas.microsoft.com/office/drawing/2014/main" id="{15E58121-5A13-44A8-9E9E-AE725E761A45}"/>
              </a:ext>
            </a:extLst>
          </p:cNvPr>
          <p:cNvCxnSpPr>
            <a:cxnSpLocks noChangeShapeType="1"/>
            <a:stCxn id="95" idx="6"/>
            <a:endCxn id="111" idx="2"/>
          </p:cNvCxnSpPr>
          <p:nvPr/>
        </p:nvCxnSpPr>
        <p:spPr bwMode="auto">
          <a:xfrm>
            <a:off x="5664200" y="4208463"/>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7" name="AutoShape 42">
            <a:extLst>
              <a:ext uri="{FF2B5EF4-FFF2-40B4-BE49-F238E27FC236}">
                <a16:creationId xmlns:a16="http://schemas.microsoft.com/office/drawing/2014/main" id="{85DCD1BF-CF38-418B-B9AE-3840847A27A2}"/>
              </a:ext>
            </a:extLst>
          </p:cNvPr>
          <p:cNvCxnSpPr>
            <a:cxnSpLocks noChangeShapeType="1"/>
            <a:stCxn id="93" idx="5"/>
            <a:endCxn id="111" idx="1"/>
          </p:cNvCxnSpPr>
          <p:nvPr/>
        </p:nvCxnSpPr>
        <p:spPr bwMode="auto">
          <a:xfrm>
            <a:off x="5614988" y="3770313"/>
            <a:ext cx="373062"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8" name="AutoShape 43">
            <a:extLst>
              <a:ext uri="{FF2B5EF4-FFF2-40B4-BE49-F238E27FC236}">
                <a16:creationId xmlns:a16="http://schemas.microsoft.com/office/drawing/2014/main" id="{42B79FC6-523D-4A2B-B3B3-D8F628D3D52F}"/>
              </a:ext>
            </a:extLst>
          </p:cNvPr>
          <p:cNvCxnSpPr>
            <a:cxnSpLocks noChangeShapeType="1"/>
            <a:stCxn id="111" idx="6"/>
            <a:endCxn id="128" idx="2"/>
          </p:cNvCxnSpPr>
          <p:nvPr/>
        </p:nvCxnSpPr>
        <p:spPr bwMode="auto">
          <a:xfrm>
            <a:off x="6269038" y="4208463"/>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9" name="AutoShape 44">
            <a:extLst>
              <a:ext uri="{FF2B5EF4-FFF2-40B4-BE49-F238E27FC236}">
                <a16:creationId xmlns:a16="http://schemas.microsoft.com/office/drawing/2014/main" id="{47E798B0-9E2D-4CB6-A4EA-F03247139CAA}"/>
              </a:ext>
            </a:extLst>
          </p:cNvPr>
          <p:cNvCxnSpPr>
            <a:cxnSpLocks noChangeShapeType="1"/>
            <a:stCxn id="109" idx="5"/>
            <a:endCxn id="128" idx="1"/>
          </p:cNvCxnSpPr>
          <p:nvPr/>
        </p:nvCxnSpPr>
        <p:spPr bwMode="auto">
          <a:xfrm>
            <a:off x="6221413" y="3770313"/>
            <a:ext cx="369887" cy="32067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50" name="AutoShape 45">
            <a:extLst>
              <a:ext uri="{FF2B5EF4-FFF2-40B4-BE49-F238E27FC236}">
                <a16:creationId xmlns:a16="http://schemas.microsoft.com/office/drawing/2014/main" id="{39BA9502-2FD4-4352-8C27-840A766F7D45}"/>
              </a:ext>
            </a:extLst>
          </p:cNvPr>
          <p:cNvCxnSpPr>
            <a:cxnSpLocks noChangeShapeType="1"/>
            <a:stCxn id="128" idx="6"/>
            <a:endCxn id="145" idx="2"/>
          </p:cNvCxnSpPr>
          <p:nvPr/>
        </p:nvCxnSpPr>
        <p:spPr bwMode="auto">
          <a:xfrm>
            <a:off x="6872288" y="4208463"/>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51" name="AutoShape 46">
            <a:extLst>
              <a:ext uri="{FF2B5EF4-FFF2-40B4-BE49-F238E27FC236}">
                <a16:creationId xmlns:a16="http://schemas.microsoft.com/office/drawing/2014/main" id="{A32961E4-57A6-4D49-A5F8-8ABD51EA8871}"/>
              </a:ext>
            </a:extLst>
          </p:cNvPr>
          <p:cNvCxnSpPr>
            <a:cxnSpLocks noChangeShapeType="1"/>
            <a:stCxn id="126" idx="5"/>
            <a:endCxn id="145" idx="1"/>
          </p:cNvCxnSpPr>
          <p:nvPr/>
        </p:nvCxnSpPr>
        <p:spPr bwMode="auto">
          <a:xfrm>
            <a:off x="6824663" y="3770313"/>
            <a:ext cx="371475"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52" name="AutoShape 47">
            <a:extLst>
              <a:ext uri="{FF2B5EF4-FFF2-40B4-BE49-F238E27FC236}">
                <a16:creationId xmlns:a16="http://schemas.microsoft.com/office/drawing/2014/main" id="{447A22AD-34B1-4B32-BF6F-E488B0AE8036}"/>
              </a:ext>
            </a:extLst>
          </p:cNvPr>
          <p:cNvCxnSpPr>
            <a:cxnSpLocks noChangeShapeType="1"/>
            <a:stCxn id="145" idx="6"/>
            <a:endCxn id="162" idx="2"/>
          </p:cNvCxnSpPr>
          <p:nvPr/>
        </p:nvCxnSpPr>
        <p:spPr bwMode="auto">
          <a:xfrm>
            <a:off x="7477125" y="4208463"/>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53" name="AutoShape 48">
            <a:extLst>
              <a:ext uri="{FF2B5EF4-FFF2-40B4-BE49-F238E27FC236}">
                <a16:creationId xmlns:a16="http://schemas.microsoft.com/office/drawing/2014/main" id="{EDD3AB14-D2B3-4C01-AA9A-DF3B55EAA647}"/>
              </a:ext>
            </a:extLst>
          </p:cNvPr>
          <p:cNvCxnSpPr>
            <a:cxnSpLocks noChangeShapeType="1"/>
            <a:stCxn id="143" idx="5"/>
            <a:endCxn id="162" idx="1"/>
          </p:cNvCxnSpPr>
          <p:nvPr/>
        </p:nvCxnSpPr>
        <p:spPr bwMode="auto">
          <a:xfrm>
            <a:off x="7427913" y="3770313"/>
            <a:ext cx="373062"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4" name="Text Box 49">
            <a:extLst>
              <a:ext uri="{FF2B5EF4-FFF2-40B4-BE49-F238E27FC236}">
                <a16:creationId xmlns:a16="http://schemas.microsoft.com/office/drawing/2014/main" id="{00E030A0-4329-4909-B444-E45179A6E894}"/>
              </a:ext>
            </a:extLst>
          </p:cNvPr>
          <p:cNvSpPr txBox="1">
            <a:spLocks noChangeArrowheads="1"/>
          </p:cNvSpPr>
          <p:nvPr/>
        </p:nvSpPr>
        <p:spPr bwMode="auto">
          <a:xfrm>
            <a:off x="5910694" y="913517"/>
            <a:ext cx="32733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S</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55" name="Text Box 50">
            <a:extLst>
              <a:ext uri="{FF2B5EF4-FFF2-40B4-BE49-F238E27FC236}">
                <a16:creationId xmlns:a16="http://schemas.microsoft.com/office/drawing/2014/main" id="{D503D929-AD76-4DC8-8753-BDDD4B935D9F}"/>
              </a:ext>
            </a:extLst>
          </p:cNvPr>
          <p:cNvSpPr txBox="1">
            <a:spLocks noChangeArrowheads="1"/>
          </p:cNvSpPr>
          <p:nvPr/>
        </p:nvSpPr>
        <p:spPr bwMode="auto">
          <a:xfrm>
            <a:off x="6501244" y="913517"/>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V</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56" name="Text Box 51">
            <a:extLst>
              <a:ext uri="{FF2B5EF4-FFF2-40B4-BE49-F238E27FC236}">
                <a16:creationId xmlns:a16="http://schemas.microsoft.com/office/drawing/2014/main" id="{A691F15E-CD9A-4DFF-BA45-192BE1D0E4B0}"/>
              </a:ext>
            </a:extLst>
          </p:cNvPr>
          <p:cNvSpPr txBox="1">
            <a:spLocks noChangeArrowheads="1"/>
          </p:cNvSpPr>
          <p:nvPr/>
        </p:nvSpPr>
        <p:spPr bwMode="auto">
          <a:xfrm>
            <a:off x="7104494" y="913517"/>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E</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7" name="Text Box 52">
            <a:extLst>
              <a:ext uri="{FF2B5EF4-FFF2-40B4-BE49-F238E27FC236}">
                <a16:creationId xmlns:a16="http://schemas.microsoft.com/office/drawing/2014/main" id="{435D0FFD-2A8D-4D0E-B52D-9B148CDEB000}"/>
              </a:ext>
            </a:extLst>
          </p:cNvPr>
          <p:cNvSpPr txBox="1">
            <a:spLocks noChangeArrowheads="1"/>
          </p:cNvSpPr>
          <p:nvPr/>
        </p:nvSpPr>
        <p:spPr bwMode="auto">
          <a:xfrm>
            <a:off x="7714094" y="913517"/>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T</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8" name="Text Box 53">
            <a:extLst>
              <a:ext uri="{FF2B5EF4-FFF2-40B4-BE49-F238E27FC236}">
                <a16:creationId xmlns:a16="http://schemas.microsoft.com/office/drawing/2014/main" id="{35784960-E310-4569-92A6-757C80DAB239}"/>
              </a:ext>
            </a:extLst>
          </p:cNvPr>
          <p:cNvSpPr txBox="1">
            <a:spLocks noChangeArrowheads="1"/>
          </p:cNvSpPr>
          <p:nvPr/>
        </p:nvSpPr>
        <p:spPr bwMode="auto">
          <a:xfrm>
            <a:off x="8337981" y="913517"/>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D</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9" name="Text Box 54">
            <a:extLst>
              <a:ext uri="{FF2B5EF4-FFF2-40B4-BE49-F238E27FC236}">
                <a16:creationId xmlns:a16="http://schemas.microsoft.com/office/drawing/2014/main" id="{E2688F52-65FF-479C-9A1D-88DBCCB7B608}"/>
              </a:ext>
            </a:extLst>
          </p:cNvPr>
          <p:cNvSpPr txBox="1">
            <a:spLocks noChangeArrowheads="1"/>
          </p:cNvSpPr>
          <p:nvPr/>
        </p:nvSpPr>
        <p:spPr bwMode="auto">
          <a:xfrm>
            <a:off x="4966911" y="1807045"/>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T</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60" name="Text Box 55">
            <a:extLst>
              <a:ext uri="{FF2B5EF4-FFF2-40B4-BE49-F238E27FC236}">
                <a16:creationId xmlns:a16="http://schemas.microsoft.com/office/drawing/2014/main" id="{974D3AEE-7D12-47AC-A814-62B3E0DF5378}"/>
              </a:ext>
            </a:extLst>
          </p:cNvPr>
          <p:cNvSpPr txBox="1">
            <a:spLocks noChangeArrowheads="1"/>
          </p:cNvSpPr>
          <p:nvPr/>
        </p:nvSpPr>
        <p:spPr bwMode="auto">
          <a:xfrm>
            <a:off x="4966911" y="2356320"/>
            <a:ext cx="32733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S</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61" name="Text Box 56">
            <a:extLst>
              <a:ext uri="{FF2B5EF4-FFF2-40B4-BE49-F238E27FC236}">
                <a16:creationId xmlns:a16="http://schemas.microsoft.com/office/drawing/2014/main" id="{E359D185-A841-4A18-83D1-1A7FA86C8DC7}"/>
              </a:ext>
            </a:extLst>
          </p:cNvPr>
          <p:cNvSpPr txBox="1">
            <a:spLocks noChangeArrowheads="1"/>
          </p:cNvSpPr>
          <p:nvPr/>
        </p:nvSpPr>
        <p:spPr bwMode="auto">
          <a:xfrm>
            <a:off x="4966911" y="2908770"/>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V</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62" name="Text Box 57">
            <a:extLst>
              <a:ext uri="{FF2B5EF4-FFF2-40B4-BE49-F238E27FC236}">
                <a16:creationId xmlns:a16="http://schemas.microsoft.com/office/drawing/2014/main" id="{AA491FC0-2BA4-4A19-ACD8-A1ED6EC265B6}"/>
              </a:ext>
            </a:extLst>
          </p:cNvPr>
          <p:cNvSpPr txBox="1">
            <a:spLocks noChangeArrowheads="1"/>
          </p:cNvSpPr>
          <p:nvPr/>
        </p:nvSpPr>
        <p:spPr bwMode="auto">
          <a:xfrm>
            <a:off x="4966911" y="3459633"/>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N</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63" name="Text Box 58">
            <a:extLst>
              <a:ext uri="{FF2B5EF4-FFF2-40B4-BE49-F238E27FC236}">
                <a16:creationId xmlns:a16="http://schemas.microsoft.com/office/drawing/2014/main" id="{ECB29A3E-4A17-4F00-84BE-E92A2A58B70F}"/>
              </a:ext>
            </a:extLst>
          </p:cNvPr>
          <p:cNvSpPr txBox="1">
            <a:spLocks noChangeArrowheads="1"/>
          </p:cNvSpPr>
          <p:nvPr/>
        </p:nvSpPr>
        <p:spPr bwMode="auto">
          <a:xfrm>
            <a:off x="4966911" y="4013670"/>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Q</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64" name="Text Box 59">
            <a:extLst>
              <a:ext uri="{FF2B5EF4-FFF2-40B4-BE49-F238E27FC236}">
                <a16:creationId xmlns:a16="http://schemas.microsoft.com/office/drawing/2014/main" id="{4F7BE7EB-9DDA-47B2-A432-EF17FE16F6EA}"/>
              </a:ext>
            </a:extLst>
          </p:cNvPr>
          <p:cNvSpPr txBox="1">
            <a:spLocks noChangeArrowheads="1"/>
          </p:cNvSpPr>
          <p:nvPr/>
        </p:nvSpPr>
        <p:spPr bwMode="auto">
          <a:xfrm>
            <a:off x="4966911" y="4562945"/>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E</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65" name="Text Box 60">
            <a:extLst>
              <a:ext uri="{FF2B5EF4-FFF2-40B4-BE49-F238E27FC236}">
                <a16:creationId xmlns:a16="http://schemas.microsoft.com/office/drawing/2014/main" id="{539AD5E3-F513-421E-86D5-F92C9D55E9A0}"/>
              </a:ext>
            </a:extLst>
          </p:cNvPr>
          <p:cNvSpPr txBox="1">
            <a:spLocks noChangeArrowheads="1"/>
          </p:cNvSpPr>
          <p:nvPr/>
        </p:nvSpPr>
        <p:spPr bwMode="auto">
          <a:xfrm>
            <a:off x="4966911" y="5113808"/>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T</a:t>
            </a:r>
            <a:endParaRPr lang="en-US" sz="2000">
              <a:latin typeface="Times New Roman" panose="02020603050405020304" pitchFamily="18" charset="0"/>
              <a:ea typeface="ＭＳ Ｐゴシック" charset="0"/>
              <a:cs typeface="Times New Roman" panose="02020603050405020304" pitchFamily="18" charset="0"/>
            </a:endParaRPr>
          </a:p>
        </p:txBody>
      </p:sp>
      <p:cxnSp>
        <p:nvCxnSpPr>
          <p:cNvPr id="66" name="AutoShape 61">
            <a:extLst>
              <a:ext uri="{FF2B5EF4-FFF2-40B4-BE49-F238E27FC236}">
                <a16:creationId xmlns:a16="http://schemas.microsoft.com/office/drawing/2014/main" id="{068F2180-B0DA-4B2B-9E78-E538A2D31B33}"/>
              </a:ext>
            </a:extLst>
          </p:cNvPr>
          <p:cNvCxnSpPr>
            <a:cxnSpLocks noChangeShapeType="1"/>
            <a:stCxn id="153" idx="6"/>
            <a:endCxn id="171" idx="2"/>
          </p:cNvCxnSpPr>
          <p:nvPr/>
        </p:nvCxnSpPr>
        <p:spPr bwMode="auto">
          <a:xfrm>
            <a:off x="8081963" y="1450975"/>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7" name="AutoShape 62">
            <a:extLst>
              <a:ext uri="{FF2B5EF4-FFF2-40B4-BE49-F238E27FC236}">
                <a16:creationId xmlns:a16="http://schemas.microsoft.com/office/drawing/2014/main" id="{3AD7F1CC-CE07-426F-8477-353D74E5A2C7}"/>
              </a:ext>
            </a:extLst>
          </p:cNvPr>
          <p:cNvCxnSpPr>
            <a:cxnSpLocks noChangeShapeType="1"/>
            <a:stCxn id="154" idx="6"/>
            <a:endCxn id="172" idx="2"/>
          </p:cNvCxnSpPr>
          <p:nvPr/>
        </p:nvCxnSpPr>
        <p:spPr bwMode="auto">
          <a:xfrm>
            <a:off x="8081963" y="2001838"/>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8" name="AutoShape 63">
            <a:extLst>
              <a:ext uri="{FF2B5EF4-FFF2-40B4-BE49-F238E27FC236}">
                <a16:creationId xmlns:a16="http://schemas.microsoft.com/office/drawing/2014/main" id="{20AC3D44-2D7D-4756-90C3-526E82F9FEF4}"/>
              </a:ext>
            </a:extLst>
          </p:cNvPr>
          <p:cNvCxnSpPr>
            <a:cxnSpLocks noChangeShapeType="1"/>
            <a:stCxn id="155" idx="6"/>
            <a:endCxn id="173" idx="2"/>
          </p:cNvCxnSpPr>
          <p:nvPr/>
        </p:nvCxnSpPr>
        <p:spPr bwMode="auto">
          <a:xfrm>
            <a:off x="8081963" y="2552700"/>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9" name="AutoShape 64">
            <a:extLst>
              <a:ext uri="{FF2B5EF4-FFF2-40B4-BE49-F238E27FC236}">
                <a16:creationId xmlns:a16="http://schemas.microsoft.com/office/drawing/2014/main" id="{0450B5D2-505E-44EB-8289-1DF407A8BAC8}"/>
              </a:ext>
            </a:extLst>
          </p:cNvPr>
          <p:cNvCxnSpPr>
            <a:cxnSpLocks noChangeShapeType="1"/>
            <a:stCxn id="156" idx="6"/>
            <a:endCxn id="174" idx="2"/>
          </p:cNvCxnSpPr>
          <p:nvPr/>
        </p:nvCxnSpPr>
        <p:spPr bwMode="auto">
          <a:xfrm>
            <a:off x="8081963" y="3103563"/>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AutoShape 65">
            <a:extLst>
              <a:ext uri="{FF2B5EF4-FFF2-40B4-BE49-F238E27FC236}">
                <a16:creationId xmlns:a16="http://schemas.microsoft.com/office/drawing/2014/main" id="{00CA0774-C824-4D78-9B8F-A323C09B384C}"/>
              </a:ext>
            </a:extLst>
          </p:cNvPr>
          <p:cNvCxnSpPr>
            <a:cxnSpLocks noChangeShapeType="1"/>
            <a:stCxn id="153" idx="5"/>
            <a:endCxn id="172" idx="1"/>
          </p:cNvCxnSpPr>
          <p:nvPr/>
        </p:nvCxnSpPr>
        <p:spPr bwMode="auto">
          <a:xfrm>
            <a:off x="8034338" y="1566863"/>
            <a:ext cx="371475" cy="31908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1" name="AutoShape 66">
            <a:extLst>
              <a:ext uri="{FF2B5EF4-FFF2-40B4-BE49-F238E27FC236}">
                <a16:creationId xmlns:a16="http://schemas.microsoft.com/office/drawing/2014/main" id="{88437FFE-C12D-4655-9E09-2DD8D3F48C6B}"/>
              </a:ext>
            </a:extLst>
          </p:cNvPr>
          <p:cNvCxnSpPr>
            <a:cxnSpLocks noChangeShapeType="1"/>
            <a:stCxn id="154" idx="5"/>
            <a:endCxn id="173" idx="1"/>
          </p:cNvCxnSpPr>
          <p:nvPr/>
        </p:nvCxnSpPr>
        <p:spPr bwMode="auto">
          <a:xfrm>
            <a:off x="8034338" y="2117725"/>
            <a:ext cx="371475"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2" name="AutoShape 67">
            <a:extLst>
              <a:ext uri="{FF2B5EF4-FFF2-40B4-BE49-F238E27FC236}">
                <a16:creationId xmlns:a16="http://schemas.microsoft.com/office/drawing/2014/main" id="{11894644-ED6A-4A5E-BE4B-620C89EFB324}"/>
              </a:ext>
            </a:extLst>
          </p:cNvPr>
          <p:cNvCxnSpPr>
            <a:cxnSpLocks noChangeShapeType="1"/>
            <a:stCxn id="155" idx="5"/>
            <a:endCxn id="174" idx="1"/>
          </p:cNvCxnSpPr>
          <p:nvPr/>
        </p:nvCxnSpPr>
        <p:spPr bwMode="auto">
          <a:xfrm>
            <a:off x="8034338" y="2668588"/>
            <a:ext cx="371475"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3" name="AutoShape 68">
            <a:extLst>
              <a:ext uri="{FF2B5EF4-FFF2-40B4-BE49-F238E27FC236}">
                <a16:creationId xmlns:a16="http://schemas.microsoft.com/office/drawing/2014/main" id="{DE983AB0-9531-4305-978C-7E0242771E85}"/>
              </a:ext>
            </a:extLst>
          </p:cNvPr>
          <p:cNvCxnSpPr>
            <a:cxnSpLocks noChangeShapeType="1"/>
            <a:stCxn id="160" idx="6"/>
            <a:endCxn id="178" idx="2"/>
          </p:cNvCxnSpPr>
          <p:nvPr/>
        </p:nvCxnSpPr>
        <p:spPr bwMode="auto">
          <a:xfrm>
            <a:off x="8081963" y="3654425"/>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4" name="AutoShape 69">
            <a:extLst>
              <a:ext uri="{FF2B5EF4-FFF2-40B4-BE49-F238E27FC236}">
                <a16:creationId xmlns:a16="http://schemas.microsoft.com/office/drawing/2014/main" id="{D3AFED4C-250D-410B-8AF3-A83DF018B7AC}"/>
              </a:ext>
            </a:extLst>
          </p:cNvPr>
          <p:cNvCxnSpPr>
            <a:cxnSpLocks noChangeShapeType="1"/>
            <a:stCxn id="156" idx="5"/>
            <a:endCxn id="178" idx="1"/>
          </p:cNvCxnSpPr>
          <p:nvPr/>
        </p:nvCxnSpPr>
        <p:spPr bwMode="auto">
          <a:xfrm>
            <a:off x="8034338" y="3219450"/>
            <a:ext cx="371475"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5" name="AutoShape 70">
            <a:extLst>
              <a:ext uri="{FF2B5EF4-FFF2-40B4-BE49-F238E27FC236}">
                <a16:creationId xmlns:a16="http://schemas.microsoft.com/office/drawing/2014/main" id="{F4FE63F0-F699-42CE-B985-F9624490C39C}"/>
              </a:ext>
            </a:extLst>
          </p:cNvPr>
          <p:cNvCxnSpPr>
            <a:cxnSpLocks noChangeShapeType="1"/>
            <a:stCxn id="162" idx="6"/>
            <a:endCxn id="180" idx="2"/>
          </p:cNvCxnSpPr>
          <p:nvPr/>
        </p:nvCxnSpPr>
        <p:spPr bwMode="auto">
          <a:xfrm>
            <a:off x="8081963" y="4208463"/>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6" name="AutoShape 71">
            <a:extLst>
              <a:ext uri="{FF2B5EF4-FFF2-40B4-BE49-F238E27FC236}">
                <a16:creationId xmlns:a16="http://schemas.microsoft.com/office/drawing/2014/main" id="{C4AE07F0-57A7-49A4-AAB4-68FC272D198B}"/>
              </a:ext>
            </a:extLst>
          </p:cNvPr>
          <p:cNvCxnSpPr>
            <a:cxnSpLocks noChangeShapeType="1"/>
            <a:stCxn id="160" idx="5"/>
            <a:endCxn id="180" idx="1"/>
          </p:cNvCxnSpPr>
          <p:nvPr/>
        </p:nvCxnSpPr>
        <p:spPr bwMode="auto">
          <a:xfrm>
            <a:off x="8034338" y="3770313"/>
            <a:ext cx="371475"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7" name="AutoShape 72">
            <a:extLst>
              <a:ext uri="{FF2B5EF4-FFF2-40B4-BE49-F238E27FC236}">
                <a16:creationId xmlns:a16="http://schemas.microsoft.com/office/drawing/2014/main" id="{07FD9285-5C11-4B50-B3F1-FA0C388D3B86}"/>
              </a:ext>
            </a:extLst>
          </p:cNvPr>
          <p:cNvCxnSpPr>
            <a:cxnSpLocks noChangeShapeType="1"/>
            <a:stCxn id="95" idx="5"/>
            <a:endCxn id="114" idx="1"/>
          </p:cNvCxnSpPr>
          <p:nvPr/>
        </p:nvCxnSpPr>
        <p:spPr bwMode="auto">
          <a:xfrm>
            <a:off x="5614988" y="4322763"/>
            <a:ext cx="373062" cy="3302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8" name="AutoShape 73">
            <a:extLst>
              <a:ext uri="{FF2B5EF4-FFF2-40B4-BE49-F238E27FC236}">
                <a16:creationId xmlns:a16="http://schemas.microsoft.com/office/drawing/2014/main" id="{4255B2D6-88FC-469D-B578-A0B33D700B0E}"/>
              </a:ext>
            </a:extLst>
          </p:cNvPr>
          <p:cNvCxnSpPr>
            <a:cxnSpLocks noChangeShapeType="1"/>
            <a:stCxn id="111" idx="5"/>
            <a:endCxn id="131" idx="1"/>
          </p:cNvCxnSpPr>
          <p:nvPr/>
        </p:nvCxnSpPr>
        <p:spPr bwMode="auto">
          <a:xfrm>
            <a:off x="6221413" y="4322763"/>
            <a:ext cx="369887" cy="3302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9" name="AutoShape 74">
            <a:extLst>
              <a:ext uri="{FF2B5EF4-FFF2-40B4-BE49-F238E27FC236}">
                <a16:creationId xmlns:a16="http://schemas.microsoft.com/office/drawing/2014/main" id="{5164B021-BD4F-4F1F-9989-6C3B0A2F9093}"/>
              </a:ext>
            </a:extLst>
          </p:cNvPr>
          <p:cNvCxnSpPr>
            <a:cxnSpLocks noChangeShapeType="1"/>
          </p:cNvCxnSpPr>
          <p:nvPr/>
        </p:nvCxnSpPr>
        <p:spPr bwMode="auto">
          <a:xfrm flipH="1" flipV="1">
            <a:off x="6819135" y="4322380"/>
            <a:ext cx="373828" cy="330966"/>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0" name="AutoShape 75">
            <a:extLst>
              <a:ext uri="{FF2B5EF4-FFF2-40B4-BE49-F238E27FC236}">
                <a16:creationId xmlns:a16="http://schemas.microsoft.com/office/drawing/2014/main" id="{C42B6585-F7D1-4618-A6B2-38B6AF0B70D2}"/>
              </a:ext>
            </a:extLst>
          </p:cNvPr>
          <p:cNvCxnSpPr>
            <a:cxnSpLocks noChangeShapeType="1"/>
            <a:stCxn id="145" idx="5"/>
            <a:endCxn id="165" idx="1"/>
          </p:cNvCxnSpPr>
          <p:nvPr/>
        </p:nvCxnSpPr>
        <p:spPr bwMode="auto">
          <a:xfrm>
            <a:off x="7427913" y="4322763"/>
            <a:ext cx="373062" cy="3302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1" name="AutoShape 76">
            <a:extLst>
              <a:ext uri="{FF2B5EF4-FFF2-40B4-BE49-F238E27FC236}">
                <a16:creationId xmlns:a16="http://schemas.microsoft.com/office/drawing/2014/main" id="{7DCFD7E1-2ED7-4015-AE84-B96EB8E3A8ED}"/>
              </a:ext>
            </a:extLst>
          </p:cNvPr>
          <p:cNvCxnSpPr>
            <a:cxnSpLocks noChangeShapeType="1"/>
            <a:stCxn id="162" idx="5"/>
            <a:endCxn id="183" idx="1"/>
          </p:cNvCxnSpPr>
          <p:nvPr/>
        </p:nvCxnSpPr>
        <p:spPr bwMode="auto">
          <a:xfrm>
            <a:off x="8034338" y="4322763"/>
            <a:ext cx="371475" cy="3302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2" name="AutoShape 77">
            <a:extLst>
              <a:ext uri="{FF2B5EF4-FFF2-40B4-BE49-F238E27FC236}">
                <a16:creationId xmlns:a16="http://schemas.microsoft.com/office/drawing/2014/main" id="{A030F628-E234-4B56-9A1E-1DE115078D9E}"/>
              </a:ext>
            </a:extLst>
          </p:cNvPr>
          <p:cNvCxnSpPr>
            <a:cxnSpLocks noChangeShapeType="1"/>
            <a:stCxn id="98" idx="6"/>
            <a:endCxn id="114" idx="2"/>
          </p:cNvCxnSpPr>
          <p:nvPr/>
        </p:nvCxnSpPr>
        <p:spPr bwMode="auto">
          <a:xfrm>
            <a:off x="5664200" y="47704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3" name="AutoShape 78">
            <a:extLst>
              <a:ext uri="{FF2B5EF4-FFF2-40B4-BE49-F238E27FC236}">
                <a16:creationId xmlns:a16="http://schemas.microsoft.com/office/drawing/2014/main" id="{7DB3AA52-4366-4C4A-9079-3E3CE9D97569}"/>
              </a:ext>
            </a:extLst>
          </p:cNvPr>
          <p:cNvCxnSpPr>
            <a:cxnSpLocks noChangeShapeType="1"/>
            <a:stCxn id="114" idx="6"/>
            <a:endCxn id="131" idx="2"/>
          </p:cNvCxnSpPr>
          <p:nvPr/>
        </p:nvCxnSpPr>
        <p:spPr bwMode="auto">
          <a:xfrm>
            <a:off x="6269038" y="4770438"/>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4" name="AutoShape 79">
            <a:extLst>
              <a:ext uri="{FF2B5EF4-FFF2-40B4-BE49-F238E27FC236}">
                <a16:creationId xmlns:a16="http://schemas.microsoft.com/office/drawing/2014/main" id="{C8890191-0D7E-42C3-9B1D-ADB2A6EB6981}"/>
              </a:ext>
            </a:extLst>
          </p:cNvPr>
          <p:cNvCxnSpPr>
            <a:cxnSpLocks noChangeShapeType="1"/>
            <a:stCxn id="131" idx="6"/>
            <a:endCxn id="148" idx="2"/>
          </p:cNvCxnSpPr>
          <p:nvPr/>
        </p:nvCxnSpPr>
        <p:spPr bwMode="auto">
          <a:xfrm>
            <a:off x="6872288" y="4770438"/>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5" name="AutoShape 80">
            <a:extLst>
              <a:ext uri="{FF2B5EF4-FFF2-40B4-BE49-F238E27FC236}">
                <a16:creationId xmlns:a16="http://schemas.microsoft.com/office/drawing/2014/main" id="{0BE8A910-522A-42F3-9370-EE79962554D7}"/>
              </a:ext>
            </a:extLst>
          </p:cNvPr>
          <p:cNvCxnSpPr>
            <a:cxnSpLocks noChangeShapeType="1"/>
            <a:stCxn id="148" idx="6"/>
            <a:endCxn id="165" idx="2"/>
          </p:cNvCxnSpPr>
          <p:nvPr/>
        </p:nvCxnSpPr>
        <p:spPr bwMode="auto">
          <a:xfrm>
            <a:off x="7477125" y="47704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86" name="Oval 81">
            <a:extLst>
              <a:ext uri="{FF2B5EF4-FFF2-40B4-BE49-F238E27FC236}">
                <a16:creationId xmlns:a16="http://schemas.microsoft.com/office/drawing/2014/main" id="{23CF5326-8BE5-43C8-8D52-D0BAFDB77B76}"/>
              </a:ext>
            </a:extLst>
          </p:cNvPr>
          <p:cNvSpPr>
            <a:spLocks noChangeArrowheads="1"/>
          </p:cNvSpPr>
          <p:nvPr/>
        </p:nvSpPr>
        <p:spPr bwMode="auto">
          <a:xfrm>
            <a:off x="5357813" y="1277938"/>
            <a:ext cx="325437"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87" name="Oval 82">
            <a:extLst>
              <a:ext uri="{FF2B5EF4-FFF2-40B4-BE49-F238E27FC236}">
                <a16:creationId xmlns:a16="http://schemas.microsoft.com/office/drawing/2014/main" id="{BF0B2FD4-1204-410F-B7D7-76EBB8C4531C}"/>
              </a:ext>
            </a:extLst>
          </p:cNvPr>
          <p:cNvSpPr>
            <a:spLocks noChangeArrowheads="1"/>
          </p:cNvSpPr>
          <p:nvPr/>
        </p:nvSpPr>
        <p:spPr bwMode="auto">
          <a:xfrm>
            <a:off x="5337175" y="1836738"/>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88" name="Oval 83">
            <a:extLst>
              <a:ext uri="{FF2B5EF4-FFF2-40B4-BE49-F238E27FC236}">
                <a16:creationId xmlns:a16="http://schemas.microsoft.com/office/drawing/2014/main" id="{491504CF-73BC-42E1-9503-FB3E09BF992C}"/>
              </a:ext>
            </a:extLst>
          </p:cNvPr>
          <p:cNvSpPr>
            <a:spLocks noChangeArrowheads="1"/>
          </p:cNvSpPr>
          <p:nvPr/>
        </p:nvSpPr>
        <p:spPr bwMode="auto">
          <a:xfrm>
            <a:off x="5337175" y="2387600"/>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89" name="Oval 84">
            <a:extLst>
              <a:ext uri="{FF2B5EF4-FFF2-40B4-BE49-F238E27FC236}">
                <a16:creationId xmlns:a16="http://schemas.microsoft.com/office/drawing/2014/main" id="{D9F6B2ED-EB08-48AC-990C-800034226F93}"/>
              </a:ext>
            </a:extLst>
          </p:cNvPr>
          <p:cNvSpPr>
            <a:spLocks noChangeArrowheads="1"/>
          </p:cNvSpPr>
          <p:nvPr/>
        </p:nvSpPr>
        <p:spPr bwMode="auto">
          <a:xfrm>
            <a:off x="5337175" y="2938463"/>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90" name="AutoShape 85">
            <a:extLst>
              <a:ext uri="{FF2B5EF4-FFF2-40B4-BE49-F238E27FC236}">
                <a16:creationId xmlns:a16="http://schemas.microsoft.com/office/drawing/2014/main" id="{30FBE8B7-CE9D-4DFD-9706-90CBD99CE143}"/>
              </a:ext>
            </a:extLst>
          </p:cNvPr>
          <p:cNvCxnSpPr>
            <a:cxnSpLocks noChangeShapeType="1"/>
            <a:stCxn id="86" idx="4"/>
            <a:endCxn id="87" idx="0"/>
          </p:cNvCxnSpPr>
          <p:nvPr/>
        </p:nvCxnSpPr>
        <p:spPr bwMode="auto">
          <a:xfrm flipH="1">
            <a:off x="5500688" y="1604963"/>
            <a:ext cx="20637" cy="2317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1" name="AutoShape 86">
            <a:extLst>
              <a:ext uri="{FF2B5EF4-FFF2-40B4-BE49-F238E27FC236}">
                <a16:creationId xmlns:a16="http://schemas.microsoft.com/office/drawing/2014/main" id="{A2643608-BD32-4252-9366-A031F2764C99}"/>
              </a:ext>
            </a:extLst>
          </p:cNvPr>
          <p:cNvCxnSpPr>
            <a:cxnSpLocks noChangeShapeType="1"/>
            <a:stCxn id="87" idx="4"/>
            <a:endCxn id="88" idx="0"/>
          </p:cNvCxnSpPr>
          <p:nvPr/>
        </p:nvCxnSpPr>
        <p:spPr bwMode="auto">
          <a:xfrm>
            <a:off x="5499100" y="2163763"/>
            <a:ext cx="0" cy="22383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2" name="AutoShape 87">
            <a:extLst>
              <a:ext uri="{FF2B5EF4-FFF2-40B4-BE49-F238E27FC236}">
                <a16:creationId xmlns:a16="http://schemas.microsoft.com/office/drawing/2014/main" id="{F84EA97D-DBB7-4559-8E50-9A5D8D02DD05}"/>
              </a:ext>
            </a:extLst>
          </p:cNvPr>
          <p:cNvCxnSpPr>
            <a:cxnSpLocks noChangeShapeType="1"/>
            <a:stCxn id="88" idx="4"/>
            <a:endCxn id="89" idx="0"/>
          </p:cNvCxnSpPr>
          <p:nvPr/>
        </p:nvCxnSpPr>
        <p:spPr bwMode="auto">
          <a:xfrm>
            <a:off x="5499100" y="2716213"/>
            <a:ext cx="0" cy="2222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3" name="Oval 88">
            <a:extLst>
              <a:ext uri="{FF2B5EF4-FFF2-40B4-BE49-F238E27FC236}">
                <a16:creationId xmlns:a16="http://schemas.microsoft.com/office/drawing/2014/main" id="{EE4A84E6-8B69-48A3-ADAB-D45B14BFFE70}"/>
              </a:ext>
            </a:extLst>
          </p:cNvPr>
          <p:cNvSpPr>
            <a:spLocks noChangeArrowheads="1"/>
          </p:cNvSpPr>
          <p:nvPr/>
        </p:nvSpPr>
        <p:spPr bwMode="auto">
          <a:xfrm>
            <a:off x="5337175" y="3489325"/>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94" name="AutoShape 89">
            <a:extLst>
              <a:ext uri="{FF2B5EF4-FFF2-40B4-BE49-F238E27FC236}">
                <a16:creationId xmlns:a16="http://schemas.microsoft.com/office/drawing/2014/main" id="{B7D4219C-889B-4614-BDD6-FB4B2B787268}"/>
              </a:ext>
            </a:extLst>
          </p:cNvPr>
          <p:cNvCxnSpPr>
            <a:cxnSpLocks noChangeShapeType="1"/>
            <a:stCxn id="89" idx="4"/>
            <a:endCxn id="93" idx="0"/>
          </p:cNvCxnSpPr>
          <p:nvPr/>
        </p:nvCxnSpPr>
        <p:spPr bwMode="auto">
          <a:xfrm>
            <a:off x="5499100" y="3267075"/>
            <a:ext cx="0" cy="2222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5" name="Oval 90">
            <a:extLst>
              <a:ext uri="{FF2B5EF4-FFF2-40B4-BE49-F238E27FC236}">
                <a16:creationId xmlns:a16="http://schemas.microsoft.com/office/drawing/2014/main" id="{4B63BEC2-257C-4090-90F9-F960C32F2DEA}"/>
              </a:ext>
            </a:extLst>
          </p:cNvPr>
          <p:cNvSpPr>
            <a:spLocks noChangeArrowheads="1"/>
          </p:cNvSpPr>
          <p:nvPr/>
        </p:nvSpPr>
        <p:spPr bwMode="auto">
          <a:xfrm>
            <a:off x="5337175" y="4043363"/>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b="1">
                <a:latin typeface="Times New Roman" panose="02020603050405020304" pitchFamily="18" charset="0"/>
                <a:ea typeface="ＭＳ Ｐゴシック" charset="0"/>
                <a:cs typeface="Times New Roman" panose="02020603050405020304" pitchFamily="18" charset="0"/>
              </a:rPr>
              <a:t>0</a:t>
            </a:r>
          </a:p>
        </p:txBody>
      </p:sp>
      <p:cxnSp>
        <p:nvCxnSpPr>
          <p:cNvPr id="96" name="AutoShape 91">
            <a:extLst>
              <a:ext uri="{FF2B5EF4-FFF2-40B4-BE49-F238E27FC236}">
                <a16:creationId xmlns:a16="http://schemas.microsoft.com/office/drawing/2014/main" id="{B7E40DD7-A811-4C7B-9824-9CF9098251D0}"/>
              </a:ext>
            </a:extLst>
          </p:cNvPr>
          <p:cNvCxnSpPr>
            <a:cxnSpLocks noChangeShapeType="1"/>
            <a:stCxn id="93" idx="4"/>
            <a:endCxn id="95" idx="0"/>
          </p:cNvCxnSpPr>
          <p:nvPr/>
        </p:nvCxnSpPr>
        <p:spPr bwMode="auto">
          <a:xfrm>
            <a:off x="5499100" y="3817938"/>
            <a:ext cx="0" cy="22542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7" name="AutoShape 92">
            <a:extLst>
              <a:ext uri="{FF2B5EF4-FFF2-40B4-BE49-F238E27FC236}">
                <a16:creationId xmlns:a16="http://schemas.microsoft.com/office/drawing/2014/main" id="{05A730E3-0C7E-445E-9968-0BCDB59C6CCF}"/>
              </a:ext>
            </a:extLst>
          </p:cNvPr>
          <p:cNvCxnSpPr>
            <a:cxnSpLocks noChangeShapeType="1"/>
            <a:stCxn id="95" idx="4"/>
            <a:endCxn id="98" idx="0"/>
          </p:cNvCxnSpPr>
          <p:nvPr/>
        </p:nvCxnSpPr>
        <p:spPr bwMode="auto">
          <a:xfrm>
            <a:off x="5499100" y="4370388"/>
            <a:ext cx="0" cy="2349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8" name="Oval 93">
            <a:extLst>
              <a:ext uri="{FF2B5EF4-FFF2-40B4-BE49-F238E27FC236}">
                <a16:creationId xmlns:a16="http://schemas.microsoft.com/office/drawing/2014/main" id="{105F4963-EE4F-4E04-8EB7-CA5ADDE2B9F0}"/>
              </a:ext>
            </a:extLst>
          </p:cNvPr>
          <p:cNvSpPr>
            <a:spLocks noChangeArrowheads="1"/>
          </p:cNvSpPr>
          <p:nvPr/>
        </p:nvSpPr>
        <p:spPr bwMode="auto">
          <a:xfrm>
            <a:off x="5337175" y="460533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b="1">
                <a:latin typeface="Times New Roman" panose="02020603050405020304" pitchFamily="18" charset="0"/>
                <a:ea typeface="ＭＳ Ｐゴシック" charset="0"/>
                <a:cs typeface="Times New Roman" panose="02020603050405020304" pitchFamily="18" charset="0"/>
              </a:rPr>
              <a:t>0</a:t>
            </a:r>
          </a:p>
        </p:txBody>
      </p:sp>
      <p:sp>
        <p:nvSpPr>
          <p:cNvPr id="99" name="Oval 94">
            <a:extLst>
              <a:ext uri="{FF2B5EF4-FFF2-40B4-BE49-F238E27FC236}">
                <a16:creationId xmlns:a16="http://schemas.microsoft.com/office/drawing/2014/main" id="{3E4C6A04-428B-4BF9-8365-07C06B61B915}"/>
              </a:ext>
            </a:extLst>
          </p:cNvPr>
          <p:cNvSpPr>
            <a:spLocks noChangeArrowheads="1"/>
          </p:cNvSpPr>
          <p:nvPr/>
        </p:nvSpPr>
        <p:spPr bwMode="auto">
          <a:xfrm>
            <a:off x="5337175" y="515778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b="1">
                <a:latin typeface="Times New Roman" panose="02020603050405020304" pitchFamily="18" charset="0"/>
                <a:ea typeface="ＭＳ Ｐゴシック" charset="0"/>
                <a:cs typeface="Times New Roman" panose="02020603050405020304" pitchFamily="18" charset="0"/>
              </a:rPr>
              <a:t>0</a:t>
            </a:r>
          </a:p>
        </p:txBody>
      </p:sp>
      <p:cxnSp>
        <p:nvCxnSpPr>
          <p:cNvPr id="100" name="AutoShape 95">
            <a:extLst>
              <a:ext uri="{FF2B5EF4-FFF2-40B4-BE49-F238E27FC236}">
                <a16:creationId xmlns:a16="http://schemas.microsoft.com/office/drawing/2014/main" id="{A79B7DFB-FF50-4807-A760-F19564B65E0B}"/>
              </a:ext>
            </a:extLst>
          </p:cNvPr>
          <p:cNvCxnSpPr>
            <a:cxnSpLocks noChangeShapeType="1"/>
            <a:stCxn id="98" idx="4"/>
            <a:endCxn id="99" idx="0"/>
          </p:cNvCxnSpPr>
          <p:nvPr/>
        </p:nvCxnSpPr>
        <p:spPr bwMode="auto">
          <a:xfrm>
            <a:off x="5499100" y="4933950"/>
            <a:ext cx="0" cy="2238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1" name="AutoShape 96">
            <a:extLst>
              <a:ext uri="{FF2B5EF4-FFF2-40B4-BE49-F238E27FC236}">
                <a16:creationId xmlns:a16="http://schemas.microsoft.com/office/drawing/2014/main" id="{3B4700C3-BB3A-410E-A040-297202694E6F}"/>
              </a:ext>
            </a:extLst>
          </p:cNvPr>
          <p:cNvCxnSpPr>
            <a:cxnSpLocks noChangeShapeType="1"/>
            <a:stCxn id="99" idx="6"/>
            <a:endCxn id="115" idx="2"/>
          </p:cNvCxnSpPr>
          <p:nvPr/>
        </p:nvCxnSpPr>
        <p:spPr bwMode="auto">
          <a:xfrm>
            <a:off x="5664200" y="5324475"/>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2" name="Oval 97">
            <a:extLst>
              <a:ext uri="{FF2B5EF4-FFF2-40B4-BE49-F238E27FC236}">
                <a16:creationId xmlns:a16="http://schemas.microsoft.com/office/drawing/2014/main" id="{6D440EC6-D1EA-447E-A310-48BA7120BD09}"/>
              </a:ext>
            </a:extLst>
          </p:cNvPr>
          <p:cNvSpPr>
            <a:spLocks noChangeArrowheads="1"/>
          </p:cNvSpPr>
          <p:nvPr/>
        </p:nvSpPr>
        <p:spPr bwMode="auto">
          <a:xfrm>
            <a:off x="5940425" y="1285875"/>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03" name="Oval 98">
            <a:extLst>
              <a:ext uri="{FF2B5EF4-FFF2-40B4-BE49-F238E27FC236}">
                <a16:creationId xmlns:a16="http://schemas.microsoft.com/office/drawing/2014/main" id="{B633A4E8-FD80-4ABE-9876-67151BCBB6E2}"/>
              </a:ext>
            </a:extLst>
          </p:cNvPr>
          <p:cNvSpPr>
            <a:spLocks noChangeArrowheads="1"/>
          </p:cNvSpPr>
          <p:nvPr/>
        </p:nvSpPr>
        <p:spPr bwMode="auto">
          <a:xfrm>
            <a:off x="5940425" y="1836738"/>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sp>
        <p:nvSpPr>
          <p:cNvPr id="104" name="Oval 99">
            <a:extLst>
              <a:ext uri="{FF2B5EF4-FFF2-40B4-BE49-F238E27FC236}">
                <a16:creationId xmlns:a16="http://schemas.microsoft.com/office/drawing/2014/main" id="{BF0BA230-7471-4E03-9E18-0C5696182BBE}"/>
              </a:ext>
            </a:extLst>
          </p:cNvPr>
          <p:cNvSpPr>
            <a:spLocks noChangeArrowheads="1"/>
          </p:cNvSpPr>
          <p:nvPr/>
        </p:nvSpPr>
        <p:spPr bwMode="auto">
          <a:xfrm>
            <a:off x="5940425" y="2387600"/>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4</a:t>
            </a:r>
          </a:p>
        </p:txBody>
      </p:sp>
      <p:sp>
        <p:nvSpPr>
          <p:cNvPr id="105" name="Oval 100">
            <a:extLst>
              <a:ext uri="{FF2B5EF4-FFF2-40B4-BE49-F238E27FC236}">
                <a16:creationId xmlns:a16="http://schemas.microsoft.com/office/drawing/2014/main" id="{DCA14B95-BC6D-48D7-AC35-562F43545C3F}"/>
              </a:ext>
            </a:extLst>
          </p:cNvPr>
          <p:cNvSpPr>
            <a:spLocks noChangeArrowheads="1"/>
          </p:cNvSpPr>
          <p:nvPr/>
        </p:nvSpPr>
        <p:spPr bwMode="auto">
          <a:xfrm>
            <a:off x="5940425" y="2938463"/>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106" name="AutoShape 101">
            <a:extLst>
              <a:ext uri="{FF2B5EF4-FFF2-40B4-BE49-F238E27FC236}">
                <a16:creationId xmlns:a16="http://schemas.microsoft.com/office/drawing/2014/main" id="{D33BE52D-A227-430D-8976-F1A984C82B6C}"/>
              </a:ext>
            </a:extLst>
          </p:cNvPr>
          <p:cNvCxnSpPr>
            <a:cxnSpLocks noChangeShapeType="1"/>
            <a:stCxn id="102" idx="4"/>
            <a:endCxn id="103" idx="0"/>
          </p:cNvCxnSpPr>
          <p:nvPr/>
        </p:nvCxnSpPr>
        <p:spPr bwMode="auto">
          <a:xfrm>
            <a:off x="6103938"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7" name="AutoShape 102">
            <a:extLst>
              <a:ext uri="{FF2B5EF4-FFF2-40B4-BE49-F238E27FC236}">
                <a16:creationId xmlns:a16="http://schemas.microsoft.com/office/drawing/2014/main" id="{21F559AB-5F15-4F3B-8E7A-C75CF496C958}"/>
              </a:ext>
            </a:extLst>
          </p:cNvPr>
          <p:cNvCxnSpPr>
            <a:cxnSpLocks noChangeShapeType="1"/>
            <a:stCxn id="103" idx="4"/>
            <a:endCxn id="104" idx="0"/>
          </p:cNvCxnSpPr>
          <p:nvPr/>
        </p:nvCxnSpPr>
        <p:spPr bwMode="auto">
          <a:xfrm>
            <a:off x="6103938"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8" name="AutoShape 103">
            <a:extLst>
              <a:ext uri="{FF2B5EF4-FFF2-40B4-BE49-F238E27FC236}">
                <a16:creationId xmlns:a16="http://schemas.microsoft.com/office/drawing/2014/main" id="{31667D20-473C-48B3-B843-59F07E48911E}"/>
              </a:ext>
            </a:extLst>
          </p:cNvPr>
          <p:cNvCxnSpPr>
            <a:cxnSpLocks noChangeShapeType="1"/>
            <a:stCxn id="104" idx="4"/>
            <a:endCxn id="105" idx="0"/>
          </p:cNvCxnSpPr>
          <p:nvPr/>
        </p:nvCxnSpPr>
        <p:spPr bwMode="auto">
          <a:xfrm>
            <a:off x="6103938" y="2716213"/>
            <a:ext cx="0" cy="2222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9" name="Oval 104">
            <a:extLst>
              <a:ext uri="{FF2B5EF4-FFF2-40B4-BE49-F238E27FC236}">
                <a16:creationId xmlns:a16="http://schemas.microsoft.com/office/drawing/2014/main" id="{702812D1-9351-45BE-83FA-40A64FF591C4}"/>
              </a:ext>
            </a:extLst>
          </p:cNvPr>
          <p:cNvSpPr>
            <a:spLocks noChangeArrowheads="1"/>
          </p:cNvSpPr>
          <p:nvPr/>
        </p:nvSpPr>
        <p:spPr bwMode="auto">
          <a:xfrm>
            <a:off x="5940425" y="3489325"/>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cxnSp>
        <p:nvCxnSpPr>
          <p:cNvPr id="110" name="AutoShape 105">
            <a:extLst>
              <a:ext uri="{FF2B5EF4-FFF2-40B4-BE49-F238E27FC236}">
                <a16:creationId xmlns:a16="http://schemas.microsoft.com/office/drawing/2014/main" id="{6A51AAFD-B774-4642-9162-BB4BA46BCA79}"/>
              </a:ext>
            </a:extLst>
          </p:cNvPr>
          <p:cNvCxnSpPr>
            <a:cxnSpLocks noChangeShapeType="1"/>
            <a:stCxn id="105" idx="4"/>
            <a:endCxn id="109" idx="0"/>
          </p:cNvCxnSpPr>
          <p:nvPr/>
        </p:nvCxnSpPr>
        <p:spPr bwMode="auto">
          <a:xfrm>
            <a:off x="6103938" y="3267075"/>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1" name="Oval 106">
            <a:extLst>
              <a:ext uri="{FF2B5EF4-FFF2-40B4-BE49-F238E27FC236}">
                <a16:creationId xmlns:a16="http://schemas.microsoft.com/office/drawing/2014/main" id="{2C0B0EE5-AD45-4255-90B5-B2673F0733A1}"/>
              </a:ext>
            </a:extLst>
          </p:cNvPr>
          <p:cNvSpPr>
            <a:spLocks noChangeArrowheads="1"/>
          </p:cNvSpPr>
          <p:nvPr/>
        </p:nvSpPr>
        <p:spPr bwMode="auto">
          <a:xfrm>
            <a:off x="5940425" y="4043363"/>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112" name="AutoShape 107">
            <a:extLst>
              <a:ext uri="{FF2B5EF4-FFF2-40B4-BE49-F238E27FC236}">
                <a16:creationId xmlns:a16="http://schemas.microsoft.com/office/drawing/2014/main" id="{A2BCB6EB-EE6B-4FB3-881C-FED82AFD4A1E}"/>
              </a:ext>
            </a:extLst>
          </p:cNvPr>
          <p:cNvCxnSpPr>
            <a:cxnSpLocks noChangeShapeType="1"/>
            <a:stCxn id="109" idx="4"/>
            <a:endCxn id="111" idx="0"/>
          </p:cNvCxnSpPr>
          <p:nvPr/>
        </p:nvCxnSpPr>
        <p:spPr bwMode="auto">
          <a:xfrm>
            <a:off x="6103938"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3" name="AutoShape 108">
            <a:extLst>
              <a:ext uri="{FF2B5EF4-FFF2-40B4-BE49-F238E27FC236}">
                <a16:creationId xmlns:a16="http://schemas.microsoft.com/office/drawing/2014/main" id="{5874D95C-5FF1-4BD2-891A-987AADBDB295}"/>
              </a:ext>
            </a:extLst>
          </p:cNvPr>
          <p:cNvCxnSpPr>
            <a:cxnSpLocks noChangeShapeType="1"/>
            <a:stCxn id="111" idx="4"/>
            <a:endCxn id="114" idx="0"/>
          </p:cNvCxnSpPr>
          <p:nvPr/>
        </p:nvCxnSpPr>
        <p:spPr bwMode="auto">
          <a:xfrm>
            <a:off x="6103938"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4" name="Oval 109">
            <a:extLst>
              <a:ext uri="{FF2B5EF4-FFF2-40B4-BE49-F238E27FC236}">
                <a16:creationId xmlns:a16="http://schemas.microsoft.com/office/drawing/2014/main" id="{CB062650-87EC-4764-92FE-4470670A3083}"/>
              </a:ext>
            </a:extLst>
          </p:cNvPr>
          <p:cNvSpPr>
            <a:spLocks noChangeArrowheads="1"/>
          </p:cNvSpPr>
          <p:nvPr/>
        </p:nvSpPr>
        <p:spPr bwMode="auto">
          <a:xfrm>
            <a:off x="5940425" y="460533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15" name="Oval 110">
            <a:extLst>
              <a:ext uri="{FF2B5EF4-FFF2-40B4-BE49-F238E27FC236}">
                <a16:creationId xmlns:a16="http://schemas.microsoft.com/office/drawing/2014/main" id="{7231199F-2592-4F22-9AFF-E516C214D9F1}"/>
              </a:ext>
            </a:extLst>
          </p:cNvPr>
          <p:cNvSpPr>
            <a:spLocks noChangeArrowheads="1"/>
          </p:cNvSpPr>
          <p:nvPr/>
        </p:nvSpPr>
        <p:spPr bwMode="auto">
          <a:xfrm>
            <a:off x="5940425" y="515778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cxnSp>
        <p:nvCxnSpPr>
          <p:cNvPr id="116" name="AutoShape 111">
            <a:extLst>
              <a:ext uri="{FF2B5EF4-FFF2-40B4-BE49-F238E27FC236}">
                <a16:creationId xmlns:a16="http://schemas.microsoft.com/office/drawing/2014/main" id="{E696E96C-A9B4-4990-8BA1-E618DFCB552D}"/>
              </a:ext>
            </a:extLst>
          </p:cNvPr>
          <p:cNvCxnSpPr>
            <a:cxnSpLocks noChangeShapeType="1"/>
            <a:stCxn id="114" idx="4"/>
            <a:endCxn id="115" idx="0"/>
          </p:cNvCxnSpPr>
          <p:nvPr/>
        </p:nvCxnSpPr>
        <p:spPr bwMode="auto">
          <a:xfrm>
            <a:off x="6103938"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7" name="AutoShape 112">
            <a:extLst>
              <a:ext uri="{FF2B5EF4-FFF2-40B4-BE49-F238E27FC236}">
                <a16:creationId xmlns:a16="http://schemas.microsoft.com/office/drawing/2014/main" id="{19956A94-A6E3-40FD-BC8E-5FD69387E124}"/>
              </a:ext>
            </a:extLst>
          </p:cNvPr>
          <p:cNvCxnSpPr>
            <a:cxnSpLocks noChangeShapeType="1"/>
            <a:stCxn id="98" idx="5"/>
            <a:endCxn id="115" idx="1"/>
          </p:cNvCxnSpPr>
          <p:nvPr/>
        </p:nvCxnSpPr>
        <p:spPr bwMode="auto">
          <a:xfrm>
            <a:off x="5614988" y="4886325"/>
            <a:ext cx="373062"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8" name="AutoShape 113">
            <a:extLst>
              <a:ext uri="{FF2B5EF4-FFF2-40B4-BE49-F238E27FC236}">
                <a16:creationId xmlns:a16="http://schemas.microsoft.com/office/drawing/2014/main" id="{BE8BA03D-AFD0-452C-8008-C4FC89BB3206}"/>
              </a:ext>
            </a:extLst>
          </p:cNvPr>
          <p:cNvCxnSpPr>
            <a:cxnSpLocks noChangeShapeType="1"/>
            <a:stCxn id="115" idx="6"/>
            <a:endCxn id="132" idx="2"/>
          </p:cNvCxnSpPr>
          <p:nvPr/>
        </p:nvCxnSpPr>
        <p:spPr bwMode="auto">
          <a:xfrm>
            <a:off x="6269038" y="5324475"/>
            <a:ext cx="274637"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9" name="Oval 114">
            <a:extLst>
              <a:ext uri="{FF2B5EF4-FFF2-40B4-BE49-F238E27FC236}">
                <a16:creationId xmlns:a16="http://schemas.microsoft.com/office/drawing/2014/main" id="{BB6F5ADF-8FFF-4444-BD56-70DC71F8051E}"/>
              </a:ext>
            </a:extLst>
          </p:cNvPr>
          <p:cNvSpPr>
            <a:spLocks noChangeArrowheads="1"/>
          </p:cNvSpPr>
          <p:nvPr/>
        </p:nvSpPr>
        <p:spPr bwMode="auto">
          <a:xfrm>
            <a:off x="6543675" y="1285875"/>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fr-FR" sz="2000">
                <a:latin typeface="Times New Roman" panose="02020603050405020304" pitchFamily="18" charset="0"/>
                <a:ea typeface="ＭＳ Ｐゴシック" charset="0"/>
                <a:cs typeface="Times New Roman" panose="02020603050405020304" pitchFamily="18" charset="0"/>
              </a:rPr>
              <a:t>0</a:t>
            </a:r>
          </a:p>
        </p:txBody>
      </p:sp>
      <p:sp>
        <p:nvSpPr>
          <p:cNvPr id="120" name="Oval 115">
            <a:extLst>
              <a:ext uri="{FF2B5EF4-FFF2-40B4-BE49-F238E27FC236}">
                <a16:creationId xmlns:a16="http://schemas.microsoft.com/office/drawing/2014/main" id="{5CA3BD94-A696-4E41-8DDB-0E1B83E37233}"/>
              </a:ext>
            </a:extLst>
          </p:cNvPr>
          <p:cNvSpPr>
            <a:spLocks noChangeArrowheads="1"/>
          </p:cNvSpPr>
          <p:nvPr/>
        </p:nvSpPr>
        <p:spPr bwMode="auto">
          <a:xfrm>
            <a:off x="6543675" y="1836738"/>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0</a:t>
            </a:r>
          </a:p>
        </p:txBody>
      </p:sp>
      <p:sp>
        <p:nvSpPr>
          <p:cNvPr id="121" name="Oval 116">
            <a:extLst>
              <a:ext uri="{FF2B5EF4-FFF2-40B4-BE49-F238E27FC236}">
                <a16:creationId xmlns:a16="http://schemas.microsoft.com/office/drawing/2014/main" id="{69D3200A-B0CE-4E55-AC0B-006A1BF3B5FF}"/>
              </a:ext>
            </a:extLst>
          </p:cNvPr>
          <p:cNvSpPr>
            <a:spLocks noChangeArrowheads="1"/>
          </p:cNvSpPr>
          <p:nvPr/>
        </p:nvSpPr>
        <p:spPr bwMode="auto">
          <a:xfrm>
            <a:off x="6543675" y="2387600"/>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22" name="Oval 117">
            <a:extLst>
              <a:ext uri="{FF2B5EF4-FFF2-40B4-BE49-F238E27FC236}">
                <a16:creationId xmlns:a16="http://schemas.microsoft.com/office/drawing/2014/main" id="{6B133DE3-972B-42ED-B9EC-2D356C4F8594}"/>
              </a:ext>
            </a:extLst>
          </p:cNvPr>
          <p:cNvSpPr>
            <a:spLocks noChangeArrowheads="1"/>
          </p:cNvSpPr>
          <p:nvPr/>
        </p:nvSpPr>
        <p:spPr bwMode="auto">
          <a:xfrm>
            <a:off x="6543675" y="2938463"/>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8</a:t>
            </a:r>
          </a:p>
        </p:txBody>
      </p:sp>
      <p:cxnSp>
        <p:nvCxnSpPr>
          <p:cNvPr id="123" name="AutoShape 118">
            <a:extLst>
              <a:ext uri="{FF2B5EF4-FFF2-40B4-BE49-F238E27FC236}">
                <a16:creationId xmlns:a16="http://schemas.microsoft.com/office/drawing/2014/main" id="{1908C2BA-50FB-4541-BFD5-C2AFE7EA58FC}"/>
              </a:ext>
            </a:extLst>
          </p:cNvPr>
          <p:cNvCxnSpPr>
            <a:cxnSpLocks noChangeShapeType="1"/>
            <a:stCxn id="119" idx="4"/>
            <a:endCxn id="120" idx="0"/>
          </p:cNvCxnSpPr>
          <p:nvPr/>
        </p:nvCxnSpPr>
        <p:spPr bwMode="auto">
          <a:xfrm>
            <a:off x="6708775"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4" name="AutoShape 119">
            <a:extLst>
              <a:ext uri="{FF2B5EF4-FFF2-40B4-BE49-F238E27FC236}">
                <a16:creationId xmlns:a16="http://schemas.microsoft.com/office/drawing/2014/main" id="{91A84AA5-F13D-464E-8592-96EBB514FC23}"/>
              </a:ext>
            </a:extLst>
          </p:cNvPr>
          <p:cNvCxnSpPr>
            <a:cxnSpLocks noChangeShapeType="1"/>
            <a:stCxn id="120" idx="4"/>
            <a:endCxn id="121" idx="0"/>
          </p:cNvCxnSpPr>
          <p:nvPr/>
        </p:nvCxnSpPr>
        <p:spPr bwMode="auto">
          <a:xfrm>
            <a:off x="6708775"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5" name="AutoShape 120">
            <a:extLst>
              <a:ext uri="{FF2B5EF4-FFF2-40B4-BE49-F238E27FC236}">
                <a16:creationId xmlns:a16="http://schemas.microsoft.com/office/drawing/2014/main" id="{31F9560F-4DBD-4E73-9BC2-C12F8E1C23C6}"/>
              </a:ext>
            </a:extLst>
          </p:cNvPr>
          <p:cNvCxnSpPr>
            <a:cxnSpLocks noChangeShapeType="1"/>
            <a:stCxn id="121" idx="4"/>
            <a:endCxn id="122" idx="0"/>
          </p:cNvCxnSpPr>
          <p:nvPr/>
        </p:nvCxnSpPr>
        <p:spPr bwMode="auto">
          <a:xfrm>
            <a:off x="6708775" y="2716213"/>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6" name="Oval 121">
            <a:extLst>
              <a:ext uri="{FF2B5EF4-FFF2-40B4-BE49-F238E27FC236}">
                <a16:creationId xmlns:a16="http://schemas.microsoft.com/office/drawing/2014/main" id="{33843C9A-3256-4694-AFCE-3904AA435DFF}"/>
              </a:ext>
            </a:extLst>
          </p:cNvPr>
          <p:cNvSpPr>
            <a:spLocks noChangeArrowheads="1"/>
          </p:cNvSpPr>
          <p:nvPr/>
        </p:nvSpPr>
        <p:spPr bwMode="auto">
          <a:xfrm>
            <a:off x="6543675" y="3489325"/>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2</a:t>
            </a:r>
          </a:p>
        </p:txBody>
      </p:sp>
      <p:cxnSp>
        <p:nvCxnSpPr>
          <p:cNvPr id="127" name="AutoShape 122">
            <a:extLst>
              <a:ext uri="{FF2B5EF4-FFF2-40B4-BE49-F238E27FC236}">
                <a16:creationId xmlns:a16="http://schemas.microsoft.com/office/drawing/2014/main" id="{727371BF-12C3-4048-89CE-82D898BB85B8}"/>
              </a:ext>
            </a:extLst>
          </p:cNvPr>
          <p:cNvCxnSpPr>
            <a:cxnSpLocks noChangeShapeType="1"/>
            <a:stCxn id="126" idx="0"/>
            <a:endCxn id="122" idx="4"/>
          </p:cNvCxnSpPr>
          <p:nvPr/>
        </p:nvCxnSpPr>
        <p:spPr bwMode="auto">
          <a:xfrm flipV="1">
            <a:off x="6707982" y="3267075"/>
            <a:ext cx="0" cy="222250"/>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8" name="Oval 123">
            <a:extLst>
              <a:ext uri="{FF2B5EF4-FFF2-40B4-BE49-F238E27FC236}">
                <a16:creationId xmlns:a16="http://schemas.microsoft.com/office/drawing/2014/main" id="{792B6EA5-378A-4BCA-8AD3-2BB4A2562A38}"/>
              </a:ext>
            </a:extLst>
          </p:cNvPr>
          <p:cNvSpPr>
            <a:spLocks noChangeArrowheads="1"/>
          </p:cNvSpPr>
          <p:nvPr/>
        </p:nvSpPr>
        <p:spPr bwMode="auto">
          <a:xfrm>
            <a:off x="6543675" y="4043363"/>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29" name="AutoShape 124">
            <a:extLst>
              <a:ext uri="{FF2B5EF4-FFF2-40B4-BE49-F238E27FC236}">
                <a16:creationId xmlns:a16="http://schemas.microsoft.com/office/drawing/2014/main" id="{A3D78D32-F7D7-451C-816E-F006815EEAB3}"/>
              </a:ext>
            </a:extLst>
          </p:cNvPr>
          <p:cNvCxnSpPr>
            <a:cxnSpLocks noChangeShapeType="1"/>
            <a:stCxn id="128" idx="0"/>
            <a:endCxn id="126" idx="4"/>
          </p:cNvCxnSpPr>
          <p:nvPr/>
        </p:nvCxnSpPr>
        <p:spPr bwMode="auto">
          <a:xfrm flipV="1">
            <a:off x="6707982" y="3817938"/>
            <a:ext cx="0" cy="225425"/>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0" name="AutoShape 125">
            <a:extLst>
              <a:ext uri="{FF2B5EF4-FFF2-40B4-BE49-F238E27FC236}">
                <a16:creationId xmlns:a16="http://schemas.microsoft.com/office/drawing/2014/main" id="{09FFF523-7066-4F4E-AB9B-20F992AE576A}"/>
              </a:ext>
            </a:extLst>
          </p:cNvPr>
          <p:cNvCxnSpPr>
            <a:cxnSpLocks noChangeShapeType="1"/>
            <a:stCxn id="128" idx="4"/>
            <a:endCxn id="131" idx="0"/>
          </p:cNvCxnSpPr>
          <p:nvPr/>
        </p:nvCxnSpPr>
        <p:spPr bwMode="auto">
          <a:xfrm>
            <a:off x="6708775" y="4370388"/>
            <a:ext cx="0" cy="2349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1" name="Oval 126">
            <a:extLst>
              <a:ext uri="{FF2B5EF4-FFF2-40B4-BE49-F238E27FC236}">
                <a16:creationId xmlns:a16="http://schemas.microsoft.com/office/drawing/2014/main" id="{8811E021-2C40-4F5C-AE92-CE433516DCB6}"/>
              </a:ext>
            </a:extLst>
          </p:cNvPr>
          <p:cNvSpPr>
            <a:spLocks noChangeArrowheads="1"/>
          </p:cNvSpPr>
          <p:nvPr/>
        </p:nvSpPr>
        <p:spPr bwMode="auto">
          <a:xfrm>
            <a:off x="6543675" y="460533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32" name="Oval 127">
            <a:extLst>
              <a:ext uri="{FF2B5EF4-FFF2-40B4-BE49-F238E27FC236}">
                <a16:creationId xmlns:a16="http://schemas.microsoft.com/office/drawing/2014/main" id="{551FF59B-6D75-4B28-B227-51C87F244379}"/>
              </a:ext>
            </a:extLst>
          </p:cNvPr>
          <p:cNvSpPr>
            <a:spLocks noChangeArrowheads="1"/>
          </p:cNvSpPr>
          <p:nvPr/>
        </p:nvSpPr>
        <p:spPr bwMode="auto">
          <a:xfrm>
            <a:off x="6543675" y="515778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0</a:t>
            </a:r>
          </a:p>
        </p:txBody>
      </p:sp>
      <p:cxnSp>
        <p:nvCxnSpPr>
          <p:cNvPr id="133" name="AutoShape 128">
            <a:extLst>
              <a:ext uri="{FF2B5EF4-FFF2-40B4-BE49-F238E27FC236}">
                <a16:creationId xmlns:a16="http://schemas.microsoft.com/office/drawing/2014/main" id="{32B79E55-1872-4E00-A368-E01D5CA62D0F}"/>
              </a:ext>
            </a:extLst>
          </p:cNvPr>
          <p:cNvCxnSpPr>
            <a:cxnSpLocks noChangeShapeType="1"/>
            <a:stCxn id="131" idx="4"/>
            <a:endCxn id="132" idx="0"/>
          </p:cNvCxnSpPr>
          <p:nvPr/>
        </p:nvCxnSpPr>
        <p:spPr bwMode="auto">
          <a:xfrm>
            <a:off x="6708775"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4" name="AutoShape 129">
            <a:extLst>
              <a:ext uri="{FF2B5EF4-FFF2-40B4-BE49-F238E27FC236}">
                <a16:creationId xmlns:a16="http://schemas.microsoft.com/office/drawing/2014/main" id="{A327E61D-76D9-4EDC-BD24-D6460A0B6CB8}"/>
              </a:ext>
            </a:extLst>
          </p:cNvPr>
          <p:cNvCxnSpPr>
            <a:cxnSpLocks noChangeShapeType="1"/>
            <a:stCxn id="114" idx="5"/>
            <a:endCxn id="132" idx="1"/>
          </p:cNvCxnSpPr>
          <p:nvPr/>
        </p:nvCxnSpPr>
        <p:spPr bwMode="auto">
          <a:xfrm>
            <a:off x="6221413" y="4886325"/>
            <a:ext cx="369887" cy="31908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5" name="AutoShape 130">
            <a:extLst>
              <a:ext uri="{FF2B5EF4-FFF2-40B4-BE49-F238E27FC236}">
                <a16:creationId xmlns:a16="http://schemas.microsoft.com/office/drawing/2014/main" id="{F6840791-FC4C-4D4A-AEBE-0C7976A0FF80}"/>
              </a:ext>
            </a:extLst>
          </p:cNvPr>
          <p:cNvCxnSpPr>
            <a:cxnSpLocks noChangeShapeType="1"/>
            <a:stCxn id="132" idx="6"/>
            <a:endCxn id="149" idx="2"/>
          </p:cNvCxnSpPr>
          <p:nvPr/>
        </p:nvCxnSpPr>
        <p:spPr bwMode="auto">
          <a:xfrm>
            <a:off x="6872288" y="5324475"/>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6" name="Oval 131">
            <a:extLst>
              <a:ext uri="{FF2B5EF4-FFF2-40B4-BE49-F238E27FC236}">
                <a16:creationId xmlns:a16="http://schemas.microsoft.com/office/drawing/2014/main" id="{A698DE7A-E406-42D9-92A6-9C76A66D857F}"/>
              </a:ext>
            </a:extLst>
          </p:cNvPr>
          <p:cNvSpPr>
            <a:spLocks noChangeArrowheads="1"/>
          </p:cNvSpPr>
          <p:nvPr/>
        </p:nvSpPr>
        <p:spPr bwMode="auto">
          <a:xfrm>
            <a:off x="7150100" y="1285875"/>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37" name="Oval 132">
            <a:extLst>
              <a:ext uri="{FF2B5EF4-FFF2-40B4-BE49-F238E27FC236}">
                <a16:creationId xmlns:a16="http://schemas.microsoft.com/office/drawing/2014/main" id="{3EB7E98F-18E0-4BE4-977D-7C1EB1F9D0F4}"/>
              </a:ext>
            </a:extLst>
          </p:cNvPr>
          <p:cNvSpPr>
            <a:spLocks noChangeArrowheads="1"/>
          </p:cNvSpPr>
          <p:nvPr/>
        </p:nvSpPr>
        <p:spPr bwMode="auto">
          <a:xfrm>
            <a:off x="7150100" y="1836738"/>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38" name="Oval 133">
            <a:extLst>
              <a:ext uri="{FF2B5EF4-FFF2-40B4-BE49-F238E27FC236}">
                <a16:creationId xmlns:a16="http://schemas.microsoft.com/office/drawing/2014/main" id="{D012C727-F8DB-4926-949F-D4B1FFD4B83A}"/>
              </a:ext>
            </a:extLst>
          </p:cNvPr>
          <p:cNvSpPr>
            <a:spLocks noChangeArrowheads="1"/>
          </p:cNvSpPr>
          <p:nvPr/>
        </p:nvSpPr>
        <p:spPr bwMode="auto">
          <a:xfrm>
            <a:off x="7150100" y="2387600"/>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39" name="Oval 134">
            <a:extLst>
              <a:ext uri="{FF2B5EF4-FFF2-40B4-BE49-F238E27FC236}">
                <a16:creationId xmlns:a16="http://schemas.microsoft.com/office/drawing/2014/main" id="{3C53FBF4-72E7-4FDA-A580-A41EA4E615BB}"/>
              </a:ext>
            </a:extLst>
          </p:cNvPr>
          <p:cNvSpPr>
            <a:spLocks noChangeArrowheads="1"/>
          </p:cNvSpPr>
          <p:nvPr/>
        </p:nvSpPr>
        <p:spPr bwMode="auto">
          <a:xfrm>
            <a:off x="7150100" y="2938463"/>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2</a:t>
            </a:r>
          </a:p>
        </p:txBody>
      </p:sp>
      <p:cxnSp>
        <p:nvCxnSpPr>
          <p:cNvPr id="140" name="AutoShape 135">
            <a:extLst>
              <a:ext uri="{FF2B5EF4-FFF2-40B4-BE49-F238E27FC236}">
                <a16:creationId xmlns:a16="http://schemas.microsoft.com/office/drawing/2014/main" id="{6804A608-C64A-4164-A19B-2DC3BCE15EAA}"/>
              </a:ext>
            </a:extLst>
          </p:cNvPr>
          <p:cNvCxnSpPr>
            <a:cxnSpLocks noChangeShapeType="1"/>
            <a:stCxn id="136" idx="4"/>
            <a:endCxn id="137" idx="0"/>
          </p:cNvCxnSpPr>
          <p:nvPr/>
        </p:nvCxnSpPr>
        <p:spPr bwMode="auto">
          <a:xfrm>
            <a:off x="7312025"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1" name="AutoShape 136">
            <a:extLst>
              <a:ext uri="{FF2B5EF4-FFF2-40B4-BE49-F238E27FC236}">
                <a16:creationId xmlns:a16="http://schemas.microsoft.com/office/drawing/2014/main" id="{864C01E0-D43D-4437-B9DC-2AA5764AF970}"/>
              </a:ext>
            </a:extLst>
          </p:cNvPr>
          <p:cNvCxnSpPr>
            <a:cxnSpLocks noChangeShapeType="1"/>
            <a:stCxn id="137" idx="4"/>
            <a:endCxn id="138" idx="0"/>
          </p:cNvCxnSpPr>
          <p:nvPr/>
        </p:nvCxnSpPr>
        <p:spPr bwMode="auto">
          <a:xfrm>
            <a:off x="7312025"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2" name="AutoShape 137">
            <a:extLst>
              <a:ext uri="{FF2B5EF4-FFF2-40B4-BE49-F238E27FC236}">
                <a16:creationId xmlns:a16="http://schemas.microsoft.com/office/drawing/2014/main" id="{B7BCC79C-1D09-4B55-828B-64B916118047}"/>
              </a:ext>
            </a:extLst>
          </p:cNvPr>
          <p:cNvCxnSpPr>
            <a:cxnSpLocks noChangeShapeType="1"/>
            <a:stCxn id="138" idx="4"/>
            <a:endCxn id="139" idx="0"/>
          </p:cNvCxnSpPr>
          <p:nvPr/>
        </p:nvCxnSpPr>
        <p:spPr bwMode="auto">
          <a:xfrm>
            <a:off x="7312025" y="2716213"/>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3" name="Oval 138">
            <a:extLst>
              <a:ext uri="{FF2B5EF4-FFF2-40B4-BE49-F238E27FC236}">
                <a16:creationId xmlns:a16="http://schemas.microsoft.com/office/drawing/2014/main" id="{89021996-AD0E-4291-AB90-8B31D040A728}"/>
              </a:ext>
            </a:extLst>
          </p:cNvPr>
          <p:cNvSpPr>
            <a:spLocks noChangeArrowheads="1"/>
          </p:cNvSpPr>
          <p:nvPr/>
        </p:nvSpPr>
        <p:spPr bwMode="auto">
          <a:xfrm>
            <a:off x="7150100" y="3489325"/>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8</a:t>
            </a:r>
          </a:p>
        </p:txBody>
      </p:sp>
      <p:cxnSp>
        <p:nvCxnSpPr>
          <p:cNvPr id="144" name="AutoShape 139">
            <a:extLst>
              <a:ext uri="{FF2B5EF4-FFF2-40B4-BE49-F238E27FC236}">
                <a16:creationId xmlns:a16="http://schemas.microsoft.com/office/drawing/2014/main" id="{96F776EB-DC26-4B57-9E05-5BCE910D02D6}"/>
              </a:ext>
            </a:extLst>
          </p:cNvPr>
          <p:cNvCxnSpPr>
            <a:cxnSpLocks noChangeShapeType="1"/>
            <a:stCxn id="139" idx="4"/>
            <a:endCxn id="143" idx="0"/>
          </p:cNvCxnSpPr>
          <p:nvPr/>
        </p:nvCxnSpPr>
        <p:spPr bwMode="auto">
          <a:xfrm>
            <a:off x="7312025" y="3267075"/>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5" name="Oval 140">
            <a:extLst>
              <a:ext uri="{FF2B5EF4-FFF2-40B4-BE49-F238E27FC236}">
                <a16:creationId xmlns:a16="http://schemas.microsoft.com/office/drawing/2014/main" id="{4C81D009-7513-4DEC-8EB6-B69221FDEB8F}"/>
              </a:ext>
            </a:extLst>
          </p:cNvPr>
          <p:cNvSpPr>
            <a:spLocks noChangeArrowheads="1"/>
          </p:cNvSpPr>
          <p:nvPr/>
        </p:nvSpPr>
        <p:spPr bwMode="auto">
          <a:xfrm>
            <a:off x="7150100" y="4043363"/>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4</a:t>
            </a:r>
          </a:p>
        </p:txBody>
      </p:sp>
      <p:cxnSp>
        <p:nvCxnSpPr>
          <p:cNvPr id="146" name="AutoShape 141">
            <a:extLst>
              <a:ext uri="{FF2B5EF4-FFF2-40B4-BE49-F238E27FC236}">
                <a16:creationId xmlns:a16="http://schemas.microsoft.com/office/drawing/2014/main" id="{6F02483F-3415-43AE-80EA-68CC46805DB5}"/>
              </a:ext>
            </a:extLst>
          </p:cNvPr>
          <p:cNvCxnSpPr>
            <a:cxnSpLocks noChangeShapeType="1"/>
            <a:stCxn id="143" idx="4"/>
            <a:endCxn id="145" idx="0"/>
          </p:cNvCxnSpPr>
          <p:nvPr/>
        </p:nvCxnSpPr>
        <p:spPr bwMode="auto">
          <a:xfrm>
            <a:off x="7312025"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7" name="AutoShape 142">
            <a:extLst>
              <a:ext uri="{FF2B5EF4-FFF2-40B4-BE49-F238E27FC236}">
                <a16:creationId xmlns:a16="http://schemas.microsoft.com/office/drawing/2014/main" id="{60E0F6EA-4639-4BB6-B52B-2689A750423C}"/>
              </a:ext>
            </a:extLst>
          </p:cNvPr>
          <p:cNvCxnSpPr>
            <a:cxnSpLocks noChangeShapeType="1"/>
            <a:stCxn id="145" idx="4"/>
            <a:endCxn id="148" idx="0"/>
          </p:cNvCxnSpPr>
          <p:nvPr/>
        </p:nvCxnSpPr>
        <p:spPr bwMode="auto">
          <a:xfrm>
            <a:off x="7312025"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8" name="Oval 143">
            <a:extLst>
              <a:ext uri="{FF2B5EF4-FFF2-40B4-BE49-F238E27FC236}">
                <a16:creationId xmlns:a16="http://schemas.microsoft.com/office/drawing/2014/main" id="{62DC714E-984F-4BC5-A044-8D6E55C74DEA}"/>
              </a:ext>
            </a:extLst>
          </p:cNvPr>
          <p:cNvSpPr>
            <a:spLocks noChangeArrowheads="1"/>
          </p:cNvSpPr>
          <p:nvPr/>
        </p:nvSpPr>
        <p:spPr bwMode="auto">
          <a:xfrm>
            <a:off x="7150100" y="460533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6</a:t>
            </a:r>
          </a:p>
        </p:txBody>
      </p:sp>
      <p:sp>
        <p:nvSpPr>
          <p:cNvPr id="149" name="Oval 144">
            <a:extLst>
              <a:ext uri="{FF2B5EF4-FFF2-40B4-BE49-F238E27FC236}">
                <a16:creationId xmlns:a16="http://schemas.microsoft.com/office/drawing/2014/main" id="{95272AB9-6063-4295-ADBF-6211DCFA7A6E}"/>
              </a:ext>
            </a:extLst>
          </p:cNvPr>
          <p:cNvSpPr>
            <a:spLocks noChangeArrowheads="1"/>
          </p:cNvSpPr>
          <p:nvPr/>
        </p:nvSpPr>
        <p:spPr bwMode="auto">
          <a:xfrm>
            <a:off x="7150100" y="515778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0</a:t>
            </a:r>
          </a:p>
        </p:txBody>
      </p:sp>
      <p:cxnSp>
        <p:nvCxnSpPr>
          <p:cNvPr id="150" name="AutoShape 145">
            <a:extLst>
              <a:ext uri="{FF2B5EF4-FFF2-40B4-BE49-F238E27FC236}">
                <a16:creationId xmlns:a16="http://schemas.microsoft.com/office/drawing/2014/main" id="{B00E1721-0916-458C-8CBD-EF6BDDC743B6}"/>
              </a:ext>
            </a:extLst>
          </p:cNvPr>
          <p:cNvCxnSpPr>
            <a:cxnSpLocks noChangeShapeType="1"/>
            <a:stCxn id="148" idx="4"/>
            <a:endCxn id="149" idx="0"/>
          </p:cNvCxnSpPr>
          <p:nvPr/>
        </p:nvCxnSpPr>
        <p:spPr bwMode="auto">
          <a:xfrm>
            <a:off x="7312025" y="4933950"/>
            <a:ext cx="0" cy="2238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1" name="AutoShape 146">
            <a:extLst>
              <a:ext uri="{FF2B5EF4-FFF2-40B4-BE49-F238E27FC236}">
                <a16:creationId xmlns:a16="http://schemas.microsoft.com/office/drawing/2014/main" id="{5F2A17A0-9C02-4268-898A-1950684921E4}"/>
              </a:ext>
            </a:extLst>
          </p:cNvPr>
          <p:cNvCxnSpPr>
            <a:cxnSpLocks noChangeShapeType="1"/>
            <a:stCxn id="131" idx="5"/>
            <a:endCxn id="149" idx="1"/>
          </p:cNvCxnSpPr>
          <p:nvPr/>
        </p:nvCxnSpPr>
        <p:spPr bwMode="auto">
          <a:xfrm>
            <a:off x="6824663" y="4886325"/>
            <a:ext cx="371475" cy="31908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2" name="AutoShape 147">
            <a:extLst>
              <a:ext uri="{FF2B5EF4-FFF2-40B4-BE49-F238E27FC236}">
                <a16:creationId xmlns:a16="http://schemas.microsoft.com/office/drawing/2014/main" id="{B658BBA4-D45A-434D-B2DE-2A0D389FCB6C}"/>
              </a:ext>
            </a:extLst>
          </p:cNvPr>
          <p:cNvCxnSpPr>
            <a:cxnSpLocks noChangeShapeType="1"/>
            <a:stCxn id="149" idx="6"/>
            <a:endCxn id="166" idx="2"/>
          </p:cNvCxnSpPr>
          <p:nvPr/>
        </p:nvCxnSpPr>
        <p:spPr bwMode="auto">
          <a:xfrm>
            <a:off x="7477125" y="5324475"/>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3" name="Oval 148">
            <a:extLst>
              <a:ext uri="{FF2B5EF4-FFF2-40B4-BE49-F238E27FC236}">
                <a16:creationId xmlns:a16="http://schemas.microsoft.com/office/drawing/2014/main" id="{2BCF42EE-A78E-4A3F-A949-66B900336CE0}"/>
              </a:ext>
            </a:extLst>
          </p:cNvPr>
          <p:cNvSpPr>
            <a:spLocks noChangeArrowheads="1"/>
          </p:cNvSpPr>
          <p:nvPr/>
        </p:nvSpPr>
        <p:spPr bwMode="auto">
          <a:xfrm>
            <a:off x="7753350" y="1285875"/>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fr-FR" sz="2000">
                <a:latin typeface="Times New Roman" panose="02020603050405020304" pitchFamily="18" charset="0"/>
                <a:ea typeface="ＭＳ Ｐゴシック" charset="0"/>
                <a:cs typeface="Times New Roman" panose="02020603050405020304" pitchFamily="18" charset="0"/>
              </a:rPr>
              <a:t>0</a:t>
            </a:r>
          </a:p>
        </p:txBody>
      </p:sp>
      <p:sp>
        <p:nvSpPr>
          <p:cNvPr id="154" name="Oval 149">
            <a:extLst>
              <a:ext uri="{FF2B5EF4-FFF2-40B4-BE49-F238E27FC236}">
                <a16:creationId xmlns:a16="http://schemas.microsoft.com/office/drawing/2014/main" id="{D3CA8E8E-EFD6-44C7-B50B-8042D0B6DE15}"/>
              </a:ext>
            </a:extLst>
          </p:cNvPr>
          <p:cNvSpPr>
            <a:spLocks noChangeArrowheads="1"/>
          </p:cNvSpPr>
          <p:nvPr/>
        </p:nvSpPr>
        <p:spPr bwMode="auto">
          <a:xfrm>
            <a:off x="7753350" y="1836738"/>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5</a:t>
            </a:r>
          </a:p>
        </p:txBody>
      </p:sp>
      <p:sp>
        <p:nvSpPr>
          <p:cNvPr id="155" name="Oval 150">
            <a:extLst>
              <a:ext uri="{FF2B5EF4-FFF2-40B4-BE49-F238E27FC236}">
                <a16:creationId xmlns:a16="http://schemas.microsoft.com/office/drawing/2014/main" id="{5872B97E-BFF8-4932-871E-772C2C01265D}"/>
              </a:ext>
            </a:extLst>
          </p:cNvPr>
          <p:cNvSpPr>
            <a:spLocks noChangeArrowheads="1"/>
          </p:cNvSpPr>
          <p:nvPr/>
        </p:nvSpPr>
        <p:spPr bwMode="auto">
          <a:xfrm>
            <a:off x="7753350" y="2387600"/>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sp>
        <p:nvSpPr>
          <p:cNvPr id="156" name="Oval 151">
            <a:extLst>
              <a:ext uri="{FF2B5EF4-FFF2-40B4-BE49-F238E27FC236}">
                <a16:creationId xmlns:a16="http://schemas.microsoft.com/office/drawing/2014/main" id="{7C05797B-F380-443D-A20E-2921B862EF95}"/>
              </a:ext>
            </a:extLst>
          </p:cNvPr>
          <p:cNvSpPr>
            <a:spLocks noChangeArrowheads="1"/>
          </p:cNvSpPr>
          <p:nvPr/>
        </p:nvSpPr>
        <p:spPr bwMode="auto">
          <a:xfrm>
            <a:off x="7753350" y="2938463"/>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57" name="AutoShape 152">
            <a:extLst>
              <a:ext uri="{FF2B5EF4-FFF2-40B4-BE49-F238E27FC236}">
                <a16:creationId xmlns:a16="http://schemas.microsoft.com/office/drawing/2014/main" id="{B638DCE8-5EE5-4763-8955-5ED5B3DBAC68}"/>
              </a:ext>
            </a:extLst>
          </p:cNvPr>
          <p:cNvCxnSpPr>
            <a:cxnSpLocks noChangeShapeType="1"/>
            <a:stCxn id="153" idx="4"/>
            <a:endCxn id="154" idx="0"/>
          </p:cNvCxnSpPr>
          <p:nvPr/>
        </p:nvCxnSpPr>
        <p:spPr bwMode="auto">
          <a:xfrm>
            <a:off x="7916863"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8" name="AutoShape 153">
            <a:extLst>
              <a:ext uri="{FF2B5EF4-FFF2-40B4-BE49-F238E27FC236}">
                <a16:creationId xmlns:a16="http://schemas.microsoft.com/office/drawing/2014/main" id="{CE3372DD-3D4B-4A92-8866-3EF2D664174B}"/>
              </a:ext>
            </a:extLst>
          </p:cNvPr>
          <p:cNvCxnSpPr>
            <a:cxnSpLocks noChangeShapeType="1"/>
            <a:stCxn id="154" idx="4"/>
            <a:endCxn id="155" idx="0"/>
          </p:cNvCxnSpPr>
          <p:nvPr/>
        </p:nvCxnSpPr>
        <p:spPr bwMode="auto">
          <a:xfrm>
            <a:off x="7916863"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9" name="AutoShape 154">
            <a:extLst>
              <a:ext uri="{FF2B5EF4-FFF2-40B4-BE49-F238E27FC236}">
                <a16:creationId xmlns:a16="http://schemas.microsoft.com/office/drawing/2014/main" id="{FE671FDF-A470-46EC-875A-9429BFC3A51F}"/>
              </a:ext>
            </a:extLst>
          </p:cNvPr>
          <p:cNvCxnSpPr>
            <a:cxnSpLocks noChangeShapeType="1"/>
            <a:stCxn id="155" idx="4"/>
            <a:endCxn id="156" idx="0"/>
          </p:cNvCxnSpPr>
          <p:nvPr/>
        </p:nvCxnSpPr>
        <p:spPr bwMode="auto">
          <a:xfrm>
            <a:off x="7916863" y="2716213"/>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0" name="Oval 155">
            <a:extLst>
              <a:ext uri="{FF2B5EF4-FFF2-40B4-BE49-F238E27FC236}">
                <a16:creationId xmlns:a16="http://schemas.microsoft.com/office/drawing/2014/main" id="{A1FF967A-F137-44AA-A1A4-688EC6394E9F}"/>
              </a:ext>
            </a:extLst>
          </p:cNvPr>
          <p:cNvSpPr>
            <a:spLocks noChangeArrowheads="1"/>
          </p:cNvSpPr>
          <p:nvPr/>
        </p:nvSpPr>
        <p:spPr bwMode="auto">
          <a:xfrm>
            <a:off x="7753350" y="3489325"/>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61" name="AutoShape 156">
            <a:extLst>
              <a:ext uri="{FF2B5EF4-FFF2-40B4-BE49-F238E27FC236}">
                <a16:creationId xmlns:a16="http://schemas.microsoft.com/office/drawing/2014/main" id="{D55B7F9F-7771-4019-98D8-272E40DC6EDA}"/>
              </a:ext>
            </a:extLst>
          </p:cNvPr>
          <p:cNvCxnSpPr>
            <a:cxnSpLocks noChangeShapeType="1"/>
            <a:stCxn id="156" idx="4"/>
            <a:endCxn id="160" idx="0"/>
          </p:cNvCxnSpPr>
          <p:nvPr/>
        </p:nvCxnSpPr>
        <p:spPr bwMode="auto">
          <a:xfrm>
            <a:off x="7916863" y="3267075"/>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2" name="Oval 157">
            <a:extLst>
              <a:ext uri="{FF2B5EF4-FFF2-40B4-BE49-F238E27FC236}">
                <a16:creationId xmlns:a16="http://schemas.microsoft.com/office/drawing/2014/main" id="{419FFD50-58CA-4781-96EC-03DDA85E92DE}"/>
              </a:ext>
            </a:extLst>
          </p:cNvPr>
          <p:cNvSpPr>
            <a:spLocks noChangeArrowheads="1"/>
          </p:cNvSpPr>
          <p:nvPr/>
        </p:nvSpPr>
        <p:spPr bwMode="auto">
          <a:xfrm>
            <a:off x="7753350" y="4043363"/>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7</a:t>
            </a:r>
          </a:p>
        </p:txBody>
      </p:sp>
      <p:cxnSp>
        <p:nvCxnSpPr>
          <p:cNvPr id="163" name="AutoShape 158">
            <a:extLst>
              <a:ext uri="{FF2B5EF4-FFF2-40B4-BE49-F238E27FC236}">
                <a16:creationId xmlns:a16="http://schemas.microsoft.com/office/drawing/2014/main" id="{1FABE0B1-5316-4227-917C-7543A8D51C7D}"/>
              </a:ext>
            </a:extLst>
          </p:cNvPr>
          <p:cNvCxnSpPr>
            <a:cxnSpLocks noChangeShapeType="1"/>
            <a:stCxn id="160" idx="4"/>
            <a:endCxn id="162" idx="0"/>
          </p:cNvCxnSpPr>
          <p:nvPr/>
        </p:nvCxnSpPr>
        <p:spPr bwMode="auto">
          <a:xfrm>
            <a:off x="7918450"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4" name="AutoShape 159">
            <a:extLst>
              <a:ext uri="{FF2B5EF4-FFF2-40B4-BE49-F238E27FC236}">
                <a16:creationId xmlns:a16="http://schemas.microsoft.com/office/drawing/2014/main" id="{F29E4BE3-A22E-40AE-8650-35BE8AFB31CE}"/>
              </a:ext>
            </a:extLst>
          </p:cNvPr>
          <p:cNvCxnSpPr>
            <a:cxnSpLocks noChangeShapeType="1"/>
            <a:stCxn id="162" idx="4"/>
            <a:endCxn id="165" idx="0"/>
          </p:cNvCxnSpPr>
          <p:nvPr/>
        </p:nvCxnSpPr>
        <p:spPr bwMode="auto">
          <a:xfrm>
            <a:off x="7916863"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5" name="Oval 160">
            <a:extLst>
              <a:ext uri="{FF2B5EF4-FFF2-40B4-BE49-F238E27FC236}">
                <a16:creationId xmlns:a16="http://schemas.microsoft.com/office/drawing/2014/main" id="{17F27013-7BCC-4552-9FB8-0B827EF022F7}"/>
              </a:ext>
            </a:extLst>
          </p:cNvPr>
          <p:cNvSpPr>
            <a:spLocks noChangeArrowheads="1"/>
          </p:cNvSpPr>
          <p:nvPr/>
        </p:nvSpPr>
        <p:spPr bwMode="auto">
          <a:xfrm>
            <a:off x="7753350" y="460533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3</a:t>
            </a:r>
          </a:p>
        </p:txBody>
      </p:sp>
      <p:sp>
        <p:nvSpPr>
          <p:cNvPr id="166" name="Oval 161">
            <a:extLst>
              <a:ext uri="{FF2B5EF4-FFF2-40B4-BE49-F238E27FC236}">
                <a16:creationId xmlns:a16="http://schemas.microsoft.com/office/drawing/2014/main" id="{E7EBBB45-46C6-4625-A787-1669CA1274ED}"/>
              </a:ext>
            </a:extLst>
          </p:cNvPr>
          <p:cNvSpPr>
            <a:spLocks noChangeArrowheads="1"/>
          </p:cNvSpPr>
          <p:nvPr/>
        </p:nvSpPr>
        <p:spPr bwMode="auto">
          <a:xfrm>
            <a:off x="7753350" y="5157788"/>
            <a:ext cx="328613" cy="328612"/>
          </a:xfrm>
          <a:prstGeom prst="ellipse">
            <a:avLst/>
          </a:prstGeom>
          <a:solidFill>
            <a:srgbClr val="FFFF00"/>
          </a:solid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11</a:t>
            </a:r>
          </a:p>
        </p:txBody>
      </p:sp>
      <p:cxnSp>
        <p:nvCxnSpPr>
          <p:cNvPr id="167" name="AutoShape 162">
            <a:extLst>
              <a:ext uri="{FF2B5EF4-FFF2-40B4-BE49-F238E27FC236}">
                <a16:creationId xmlns:a16="http://schemas.microsoft.com/office/drawing/2014/main" id="{31D57821-0C3B-48AB-AF1D-C20B41514BFF}"/>
              </a:ext>
            </a:extLst>
          </p:cNvPr>
          <p:cNvCxnSpPr>
            <a:cxnSpLocks noChangeShapeType="1"/>
            <a:stCxn id="165" idx="4"/>
            <a:endCxn id="166" idx="0"/>
          </p:cNvCxnSpPr>
          <p:nvPr/>
        </p:nvCxnSpPr>
        <p:spPr bwMode="auto">
          <a:xfrm>
            <a:off x="7918450"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8" name="AutoShape 163">
            <a:extLst>
              <a:ext uri="{FF2B5EF4-FFF2-40B4-BE49-F238E27FC236}">
                <a16:creationId xmlns:a16="http://schemas.microsoft.com/office/drawing/2014/main" id="{B70B6CA2-245B-40F0-A290-5890B95B132D}"/>
              </a:ext>
            </a:extLst>
          </p:cNvPr>
          <p:cNvCxnSpPr>
            <a:cxnSpLocks noChangeShapeType="1"/>
            <a:stCxn id="166" idx="1"/>
          </p:cNvCxnSpPr>
          <p:nvPr/>
        </p:nvCxnSpPr>
        <p:spPr bwMode="auto">
          <a:xfrm flipH="1" flipV="1">
            <a:off x="7428897" y="4884739"/>
            <a:ext cx="372577" cy="321173"/>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9" name="AutoShape 164">
            <a:extLst>
              <a:ext uri="{FF2B5EF4-FFF2-40B4-BE49-F238E27FC236}">
                <a16:creationId xmlns:a16="http://schemas.microsoft.com/office/drawing/2014/main" id="{B58FCE70-6973-4E6F-871F-18928F4A0C36}"/>
              </a:ext>
            </a:extLst>
          </p:cNvPr>
          <p:cNvCxnSpPr>
            <a:cxnSpLocks noChangeShapeType="1"/>
            <a:stCxn id="165" idx="6"/>
            <a:endCxn id="183" idx="2"/>
          </p:cNvCxnSpPr>
          <p:nvPr/>
        </p:nvCxnSpPr>
        <p:spPr bwMode="auto">
          <a:xfrm>
            <a:off x="8081963" y="4770438"/>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0" name="AutoShape 165">
            <a:extLst>
              <a:ext uri="{FF2B5EF4-FFF2-40B4-BE49-F238E27FC236}">
                <a16:creationId xmlns:a16="http://schemas.microsoft.com/office/drawing/2014/main" id="{6A863CC5-47A0-4968-AC0A-38598AEB7F95}"/>
              </a:ext>
            </a:extLst>
          </p:cNvPr>
          <p:cNvCxnSpPr>
            <a:cxnSpLocks noChangeShapeType="1"/>
            <a:stCxn id="166" idx="6"/>
            <a:endCxn id="184" idx="2"/>
          </p:cNvCxnSpPr>
          <p:nvPr/>
        </p:nvCxnSpPr>
        <p:spPr bwMode="auto">
          <a:xfrm>
            <a:off x="8081963" y="5324475"/>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71" name="Oval 166">
            <a:extLst>
              <a:ext uri="{FF2B5EF4-FFF2-40B4-BE49-F238E27FC236}">
                <a16:creationId xmlns:a16="http://schemas.microsoft.com/office/drawing/2014/main" id="{A347308B-C372-42F4-BF7F-0D8D2D26A2AE}"/>
              </a:ext>
            </a:extLst>
          </p:cNvPr>
          <p:cNvSpPr>
            <a:spLocks noChangeArrowheads="1"/>
          </p:cNvSpPr>
          <p:nvPr/>
        </p:nvSpPr>
        <p:spPr bwMode="auto">
          <a:xfrm>
            <a:off x="8359775" y="1285875"/>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fr-FR" sz="2000" dirty="0">
                <a:latin typeface="Times New Roman" panose="02020603050405020304" pitchFamily="18" charset="0"/>
                <a:ea typeface="ＭＳ Ｐゴシック" charset="0"/>
                <a:cs typeface="Times New Roman" panose="02020603050405020304" pitchFamily="18" charset="0"/>
              </a:rPr>
              <a:t>0</a:t>
            </a:r>
          </a:p>
        </p:txBody>
      </p:sp>
      <p:sp>
        <p:nvSpPr>
          <p:cNvPr id="172" name="Oval 167">
            <a:extLst>
              <a:ext uri="{FF2B5EF4-FFF2-40B4-BE49-F238E27FC236}">
                <a16:creationId xmlns:a16="http://schemas.microsoft.com/office/drawing/2014/main" id="{35997484-3F21-45E1-B19E-C25684632668}"/>
              </a:ext>
            </a:extLst>
          </p:cNvPr>
          <p:cNvSpPr>
            <a:spLocks noChangeArrowheads="1"/>
          </p:cNvSpPr>
          <p:nvPr/>
        </p:nvSpPr>
        <p:spPr bwMode="auto">
          <a:xfrm>
            <a:off x="8359775" y="1836738"/>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73" name="Oval 168">
            <a:extLst>
              <a:ext uri="{FF2B5EF4-FFF2-40B4-BE49-F238E27FC236}">
                <a16:creationId xmlns:a16="http://schemas.microsoft.com/office/drawing/2014/main" id="{0D7A5ABC-9871-462B-BAA9-F184F027EF45}"/>
              </a:ext>
            </a:extLst>
          </p:cNvPr>
          <p:cNvSpPr>
            <a:spLocks noChangeArrowheads="1"/>
          </p:cNvSpPr>
          <p:nvPr/>
        </p:nvSpPr>
        <p:spPr bwMode="auto">
          <a:xfrm>
            <a:off x="8359775" y="2387600"/>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5</a:t>
            </a:r>
          </a:p>
        </p:txBody>
      </p:sp>
      <p:sp>
        <p:nvSpPr>
          <p:cNvPr id="174" name="Oval 169">
            <a:extLst>
              <a:ext uri="{FF2B5EF4-FFF2-40B4-BE49-F238E27FC236}">
                <a16:creationId xmlns:a16="http://schemas.microsoft.com/office/drawing/2014/main" id="{8A64C68A-88A7-41F9-BFEB-5D0AA15E9E4A}"/>
              </a:ext>
            </a:extLst>
          </p:cNvPr>
          <p:cNvSpPr>
            <a:spLocks noChangeArrowheads="1"/>
          </p:cNvSpPr>
          <p:nvPr/>
        </p:nvSpPr>
        <p:spPr bwMode="auto">
          <a:xfrm>
            <a:off x="8359775" y="2938463"/>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0</a:t>
            </a:r>
          </a:p>
        </p:txBody>
      </p:sp>
      <p:cxnSp>
        <p:nvCxnSpPr>
          <p:cNvPr id="175" name="AutoShape 170">
            <a:extLst>
              <a:ext uri="{FF2B5EF4-FFF2-40B4-BE49-F238E27FC236}">
                <a16:creationId xmlns:a16="http://schemas.microsoft.com/office/drawing/2014/main" id="{0F11D7C1-B8AF-4A82-951F-4F4D5E541A21}"/>
              </a:ext>
            </a:extLst>
          </p:cNvPr>
          <p:cNvCxnSpPr>
            <a:cxnSpLocks noChangeShapeType="1"/>
            <a:stCxn id="171" idx="4"/>
            <a:endCxn id="172" idx="0"/>
          </p:cNvCxnSpPr>
          <p:nvPr/>
        </p:nvCxnSpPr>
        <p:spPr bwMode="auto">
          <a:xfrm>
            <a:off x="8524875" y="1612900"/>
            <a:ext cx="0" cy="2238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6" name="AutoShape 171">
            <a:extLst>
              <a:ext uri="{FF2B5EF4-FFF2-40B4-BE49-F238E27FC236}">
                <a16:creationId xmlns:a16="http://schemas.microsoft.com/office/drawing/2014/main" id="{A4FD88B3-DA82-4CE1-9A00-094ABA033F52}"/>
              </a:ext>
            </a:extLst>
          </p:cNvPr>
          <p:cNvCxnSpPr>
            <a:cxnSpLocks noChangeShapeType="1"/>
            <a:stCxn id="172" idx="4"/>
            <a:endCxn id="173" idx="0"/>
          </p:cNvCxnSpPr>
          <p:nvPr/>
        </p:nvCxnSpPr>
        <p:spPr bwMode="auto">
          <a:xfrm>
            <a:off x="8524875"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7" name="AutoShape 172">
            <a:extLst>
              <a:ext uri="{FF2B5EF4-FFF2-40B4-BE49-F238E27FC236}">
                <a16:creationId xmlns:a16="http://schemas.microsoft.com/office/drawing/2014/main" id="{E0E70B29-C7DA-4067-9370-3BA787920FBE}"/>
              </a:ext>
            </a:extLst>
          </p:cNvPr>
          <p:cNvCxnSpPr>
            <a:cxnSpLocks noChangeShapeType="1"/>
            <a:stCxn id="173" idx="4"/>
            <a:endCxn id="174" idx="0"/>
          </p:cNvCxnSpPr>
          <p:nvPr/>
        </p:nvCxnSpPr>
        <p:spPr bwMode="auto">
          <a:xfrm>
            <a:off x="8524875" y="2716213"/>
            <a:ext cx="0" cy="222250"/>
          </a:xfrm>
          <a:prstGeom prst="straightConnector1">
            <a:avLst/>
          </a:prstGeom>
          <a:noFill/>
          <a:ln w="9525">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78" name="Oval 173">
            <a:extLst>
              <a:ext uri="{FF2B5EF4-FFF2-40B4-BE49-F238E27FC236}">
                <a16:creationId xmlns:a16="http://schemas.microsoft.com/office/drawing/2014/main" id="{53ED5C41-2CE8-43F8-B4B3-2E2014863017}"/>
              </a:ext>
            </a:extLst>
          </p:cNvPr>
          <p:cNvSpPr>
            <a:spLocks noChangeArrowheads="1"/>
          </p:cNvSpPr>
          <p:nvPr/>
        </p:nvSpPr>
        <p:spPr bwMode="auto">
          <a:xfrm>
            <a:off x="8359775" y="3489325"/>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2</a:t>
            </a:r>
          </a:p>
        </p:txBody>
      </p:sp>
      <p:cxnSp>
        <p:nvCxnSpPr>
          <p:cNvPr id="179" name="AutoShape 174">
            <a:extLst>
              <a:ext uri="{FF2B5EF4-FFF2-40B4-BE49-F238E27FC236}">
                <a16:creationId xmlns:a16="http://schemas.microsoft.com/office/drawing/2014/main" id="{DC1B0E9D-5ADE-425A-9B62-A3B289437A20}"/>
              </a:ext>
            </a:extLst>
          </p:cNvPr>
          <p:cNvCxnSpPr>
            <a:cxnSpLocks noChangeShapeType="1"/>
            <a:stCxn id="174" idx="4"/>
            <a:endCxn id="178" idx="0"/>
          </p:cNvCxnSpPr>
          <p:nvPr/>
        </p:nvCxnSpPr>
        <p:spPr bwMode="auto">
          <a:xfrm>
            <a:off x="8524875" y="3267075"/>
            <a:ext cx="0" cy="222250"/>
          </a:xfrm>
          <a:prstGeom prst="straightConnector1">
            <a:avLst/>
          </a:prstGeom>
          <a:noFill/>
          <a:ln w="9525">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80" name="Oval 175">
            <a:extLst>
              <a:ext uri="{FF2B5EF4-FFF2-40B4-BE49-F238E27FC236}">
                <a16:creationId xmlns:a16="http://schemas.microsoft.com/office/drawing/2014/main" id="{206345C0-7517-46AE-91B4-C28AE0F7E5A3}"/>
              </a:ext>
            </a:extLst>
          </p:cNvPr>
          <p:cNvSpPr>
            <a:spLocks noChangeArrowheads="1"/>
          </p:cNvSpPr>
          <p:nvPr/>
        </p:nvSpPr>
        <p:spPr bwMode="auto">
          <a:xfrm>
            <a:off x="8359775" y="4043363"/>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81" name="AutoShape 176">
            <a:extLst>
              <a:ext uri="{FF2B5EF4-FFF2-40B4-BE49-F238E27FC236}">
                <a16:creationId xmlns:a16="http://schemas.microsoft.com/office/drawing/2014/main" id="{747A5050-CB2B-4464-8698-B06D728B421E}"/>
              </a:ext>
            </a:extLst>
          </p:cNvPr>
          <p:cNvCxnSpPr>
            <a:cxnSpLocks noChangeShapeType="1"/>
            <a:stCxn id="178" idx="4"/>
            <a:endCxn id="180" idx="0"/>
          </p:cNvCxnSpPr>
          <p:nvPr/>
        </p:nvCxnSpPr>
        <p:spPr bwMode="auto">
          <a:xfrm>
            <a:off x="8523288"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2" name="AutoShape 177">
            <a:extLst>
              <a:ext uri="{FF2B5EF4-FFF2-40B4-BE49-F238E27FC236}">
                <a16:creationId xmlns:a16="http://schemas.microsoft.com/office/drawing/2014/main" id="{56DD13B1-1073-485B-B88E-F79799A8D9DD}"/>
              </a:ext>
            </a:extLst>
          </p:cNvPr>
          <p:cNvCxnSpPr>
            <a:cxnSpLocks noChangeShapeType="1"/>
            <a:stCxn id="180" idx="4"/>
            <a:endCxn id="183" idx="0"/>
          </p:cNvCxnSpPr>
          <p:nvPr/>
        </p:nvCxnSpPr>
        <p:spPr bwMode="auto">
          <a:xfrm>
            <a:off x="8524875"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83" name="Oval 178">
            <a:extLst>
              <a:ext uri="{FF2B5EF4-FFF2-40B4-BE49-F238E27FC236}">
                <a16:creationId xmlns:a16="http://schemas.microsoft.com/office/drawing/2014/main" id="{B49ECD22-3FF8-4A4B-94E2-527F4EFCC1DC}"/>
              </a:ext>
            </a:extLst>
          </p:cNvPr>
          <p:cNvSpPr>
            <a:spLocks noChangeArrowheads="1"/>
          </p:cNvSpPr>
          <p:nvPr/>
        </p:nvSpPr>
        <p:spPr bwMode="auto">
          <a:xfrm>
            <a:off x="8359775" y="460533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9</a:t>
            </a:r>
          </a:p>
        </p:txBody>
      </p:sp>
      <p:sp>
        <p:nvSpPr>
          <p:cNvPr id="184" name="Oval 179">
            <a:extLst>
              <a:ext uri="{FF2B5EF4-FFF2-40B4-BE49-F238E27FC236}">
                <a16:creationId xmlns:a16="http://schemas.microsoft.com/office/drawing/2014/main" id="{8D169F59-DB9D-416C-8572-C59194EC9146}"/>
              </a:ext>
            </a:extLst>
          </p:cNvPr>
          <p:cNvSpPr>
            <a:spLocks noChangeArrowheads="1"/>
          </p:cNvSpPr>
          <p:nvPr/>
        </p:nvSpPr>
        <p:spPr bwMode="auto">
          <a:xfrm>
            <a:off x="8359775" y="515778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5</a:t>
            </a:r>
          </a:p>
        </p:txBody>
      </p:sp>
      <p:cxnSp>
        <p:nvCxnSpPr>
          <p:cNvPr id="185" name="AutoShape 180">
            <a:extLst>
              <a:ext uri="{FF2B5EF4-FFF2-40B4-BE49-F238E27FC236}">
                <a16:creationId xmlns:a16="http://schemas.microsoft.com/office/drawing/2014/main" id="{7A04D07C-E2F4-42E4-84A9-21B051C27C4C}"/>
              </a:ext>
            </a:extLst>
          </p:cNvPr>
          <p:cNvCxnSpPr>
            <a:cxnSpLocks noChangeShapeType="1"/>
            <a:stCxn id="183" idx="4"/>
            <a:endCxn id="184" idx="0"/>
          </p:cNvCxnSpPr>
          <p:nvPr/>
        </p:nvCxnSpPr>
        <p:spPr bwMode="auto">
          <a:xfrm>
            <a:off x="8523288"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6" name="AutoShape 181">
            <a:extLst>
              <a:ext uri="{FF2B5EF4-FFF2-40B4-BE49-F238E27FC236}">
                <a16:creationId xmlns:a16="http://schemas.microsoft.com/office/drawing/2014/main" id="{76486163-8B60-4A1A-81F5-CD7B0B22505F}"/>
              </a:ext>
            </a:extLst>
          </p:cNvPr>
          <p:cNvCxnSpPr>
            <a:cxnSpLocks noChangeShapeType="1"/>
            <a:stCxn id="165" idx="5"/>
            <a:endCxn id="184" idx="1"/>
          </p:cNvCxnSpPr>
          <p:nvPr/>
        </p:nvCxnSpPr>
        <p:spPr bwMode="auto">
          <a:xfrm>
            <a:off x="8034338" y="4886325"/>
            <a:ext cx="371475" cy="31908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aphicFrame>
        <p:nvGraphicFramePr>
          <p:cNvPr id="187" name="Object 184">
            <a:extLst>
              <a:ext uri="{FF2B5EF4-FFF2-40B4-BE49-F238E27FC236}">
                <a16:creationId xmlns:a16="http://schemas.microsoft.com/office/drawing/2014/main" id="{B622A8ED-1B00-42B4-9A41-0EAFC39D5C48}"/>
              </a:ext>
            </a:extLst>
          </p:cNvPr>
          <p:cNvGraphicFramePr>
            <a:graphicFrameLocks noChangeAspect="1"/>
          </p:cNvGraphicFramePr>
          <p:nvPr/>
        </p:nvGraphicFramePr>
        <p:xfrm>
          <a:off x="-42423" y="1787509"/>
          <a:ext cx="5049838" cy="3033712"/>
        </p:xfrm>
        <a:graphic>
          <a:graphicData uri="http://schemas.openxmlformats.org/presentationml/2006/ole">
            <mc:AlternateContent xmlns:mc="http://schemas.openxmlformats.org/markup-compatibility/2006">
              <mc:Choice xmlns:v="urn:schemas-microsoft-com:vml" Requires="v">
                <p:oleObj spid="_x0000_s2050" name="工作表" r:id="rId4" imgW="6111209" imgH="3672882" progId="Excel.Sheet.8">
                  <p:embed/>
                </p:oleObj>
              </mc:Choice>
              <mc:Fallback>
                <p:oleObj name="工作表" r:id="rId4" imgW="6111209" imgH="3672882" progId="Excel.Sheet.8">
                  <p:embed/>
                  <p:pic>
                    <p:nvPicPr>
                      <p:cNvPr id="187" name="Object 184">
                        <a:extLst>
                          <a:ext uri="{FF2B5EF4-FFF2-40B4-BE49-F238E27FC236}">
                            <a16:creationId xmlns:a16="http://schemas.microsoft.com/office/drawing/2014/main" id="{B622A8ED-1B00-42B4-9A41-0EAFC39D5C48}"/>
                          </a:ext>
                        </a:extLst>
                      </p:cNvPr>
                      <p:cNvPicPr>
                        <a:picLocks noChangeAspect="1" noChangeArrowheads="1"/>
                      </p:cNvPicPr>
                      <p:nvPr/>
                    </p:nvPicPr>
                    <p:blipFill>
                      <a:blip r:embed="rId5"/>
                      <a:srcRect/>
                      <a:stretch>
                        <a:fillRect/>
                      </a:stretch>
                    </p:blipFill>
                    <p:spPr bwMode="auto">
                      <a:xfrm>
                        <a:off x="-42423" y="1787509"/>
                        <a:ext cx="5049838" cy="3033712"/>
                      </a:xfrm>
                      <a:prstGeom prst="rect">
                        <a:avLst/>
                      </a:prstGeom>
                      <a:noFill/>
                      <a:ln>
                        <a:noFill/>
                      </a:ln>
                      <a:effectLst/>
                    </p:spPr>
                  </p:pic>
                </p:oleObj>
              </mc:Fallback>
            </mc:AlternateContent>
          </a:graphicData>
        </a:graphic>
      </p:graphicFrame>
      <p:sp>
        <p:nvSpPr>
          <p:cNvPr id="188" name="Rectangle 183">
            <a:extLst>
              <a:ext uri="{FF2B5EF4-FFF2-40B4-BE49-F238E27FC236}">
                <a16:creationId xmlns:a16="http://schemas.microsoft.com/office/drawing/2014/main" id="{6D8AEA93-E5E6-4BA0-836D-D301C6D67A90}"/>
              </a:ext>
            </a:extLst>
          </p:cNvPr>
          <p:cNvSpPr>
            <a:spLocks noChangeArrowheads="1"/>
          </p:cNvSpPr>
          <p:nvPr/>
        </p:nvSpPr>
        <p:spPr bwMode="auto">
          <a:xfrm>
            <a:off x="6028196" y="5572125"/>
            <a:ext cx="2053767" cy="11079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993300"/>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defRPr/>
            </a:pPr>
            <a:r>
              <a:rPr lang="en-GB" sz="2200" b="1" dirty="0">
                <a:latin typeface="Courier"/>
                <a:ea typeface="ＭＳ Ｐゴシック" charset="0"/>
                <a:cs typeface="Times New Roman" panose="02020603050405020304" pitchFamily="18" charset="0"/>
              </a:rPr>
              <a:t>S V </a:t>
            </a:r>
            <a:r>
              <a:rPr lang="en-GB" sz="2200" b="1" dirty="0">
                <a:latin typeface="Courier"/>
                <a:ea typeface="ＭＳ Ｐゴシック" charset="0"/>
              </a:rPr>
              <a:t>- - </a:t>
            </a:r>
            <a:r>
              <a:rPr lang="en-GB" sz="2200" b="1" dirty="0">
                <a:latin typeface="Courier"/>
                <a:ea typeface="ＭＳ Ｐゴシック" charset="0"/>
                <a:cs typeface="Times New Roman" panose="02020603050405020304" pitchFamily="18" charset="0"/>
              </a:rPr>
              <a:t>E T</a:t>
            </a:r>
          </a:p>
          <a:p>
            <a:pPr>
              <a:defRPr/>
            </a:pPr>
            <a:r>
              <a:rPr lang="en-GB" sz="2200" b="1" dirty="0">
                <a:latin typeface="Courier"/>
                <a:ea typeface="ＭＳ Ｐゴシック" charset="0"/>
              </a:rPr>
              <a:t>| </a:t>
            </a:r>
            <a:r>
              <a:rPr lang="en-GB" altLang="zh-TW" sz="2200" b="1" dirty="0">
                <a:latin typeface="Courier"/>
                <a:ea typeface="ＭＳ Ｐゴシック" charset="0"/>
              </a:rPr>
              <a:t>|</a:t>
            </a:r>
            <a:r>
              <a:rPr lang="en-GB" sz="2200" b="1" dirty="0">
                <a:latin typeface="Courier"/>
                <a:ea typeface="ＭＳ Ｐゴシック" charset="0"/>
              </a:rPr>
              <a:t> - - | |</a:t>
            </a:r>
          </a:p>
          <a:p>
            <a:pPr>
              <a:defRPr/>
            </a:pPr>
            <a:r>
              <a:rPr lang="en-GB" sz="2200" b="1" dirty="0">
                <a:latin typeface="Courier"/>
                <a:ea typeface="ＭＳ Ｐゴシック" charset="0"/>
                <a:cs typeface="Times New Roman" panose="02020603050405020304" pitchFamily="18" charset="0"/>
              </a:rPr>
              <a:t>S V N Q E T</a:t>
            </a:r>
          </a:p>
        </p:txBody>
      </p:sp>
      <p:sp>
        <p:nvSpPr>
          <p:cNvPr id="189" name="矩形 188">
            <a:extLst>
              <a:ext uri="{FF2B5EF4-FFF2-40B4-BE49-F238E27FC236}">
                <a16:creationId xmlns:a16="http://schemas.microsoft.com/office/drawing/2014/main" id="{59DCBD58-FAA5-49F9-B003-9E5D187DCD36}"/>
              </a:ext>
            </a:extLst>
          </p:cNvPr>
          <p:cNvSpPr/>
          <p:nvPr/>
        </p:nvSpPr>
        <p:spPr>
          <a:xfrm>
            <a:off x="1233064" y="4856261"/>
            <a:ext cx="3060453" cy="400110"/>
          </a:xfrm>
          <a:prstGeom prst="rect">
            <a:avLst/>
          </a:prstGeom>
        </p:spPr>
        <p:txBody>
          <a:bodyPr wrap="none">
            <a:spAutoFit/>
          </a:bodyPr>
          <a:lstStyle/>
          <a:p>
            <a:r>
              <a:rPr lang="en-GB" altLang="zh-TW" sz="2000" dirty="0">
                <a:latin typeface="Times New Roman" panose="02020603050405020304" pitchFamily="18" charset="0"/>
                <a:cs typeface="Times New Roman" panose="02020603050405020304" pitchFamily="18" charset="0"/>
              </a:rPr>
              <a:t>BLOSUM62 scoring matrix</a:t>
            </a:r>
            <a:endParaRPr lang="zh-TW" altLang="en-US" sz="2000" dirty="0">
              <a:latin typeface="Times New Roman" panose="02020603050405020304" pitchFamily="18" charset="0"/>
              <a:cs typeface="Times New Roman" panose="02020603050405020304" pitchFamily="18" charset="0"/>
            </a:endParaRPr>
          </a:p>
        </p:txBody>
      </p:sp>
      <p:sp>
        <p:nvSpPr>
          <p:cNvPr id="190" name="矩形 189">
            <a:extLst>
              <a:ext uri="{FF2B5EF4-FFF2-40B4-BE49-F238E27FC236}">
                <a16:creationId xmlns:a16="http://schemas.microsoft.com/office/drawing/2014/main" id="{7308B7A6-E48E-42A9-9F9C-5376A248EE65}"/>
              </a:ext>
            </a:extLst>
          </p:cNvPr>
          <p:cNvSpPr/>
          <p:nvPr/>
        </p:nvSpPr>
        <p:spPr>
          <a:xfrm>
            <a:off x="1239837" y="5649069"/>
            <a:ext cx="4572000" cy="954107"/>
          </a:xfrm>
          <a:prstGeom prst="rect">
            <a:avLst/>
          </a:prstGeom>
        </p:spPr>
        <p:txBody>
          <a:bodyPr>
            <a:spAutoFit/>
          </a:bodyPr>
          <a:lstStyle/>
          <a:p>
            <a:r>
              <a:rPr lang="en-US" altLang="zh-TW" sz="2800" i="1" dirty="0">
                <a:latin typeface="Times New Roman" panose="02020603050405020304" pitchFamily="18" charset="0"/>
                <a:cs typeface="Times New Roman" panose="02020603050405020304" pitchFamily="18" charset="0"/>
              </a:rPr>
              <a:t>A</a:t>
            </a:r>
            <a:r>
              <a:rPr lang="en-US" altLang="zh-TW" sz="2800" dirty="0">
                <a:latin typeface="Times New Roman" panose="02020603050405020304" pitchFamily="18" charset="0"/>
                <a:cs typeface="Times New Roman" panose="02020603050405020304" pitchFamily="18" charset="0"/>
              </a:rPr>
              <a:t> = </a:t>
            </a:r>
            <a:r>
              <a:rPr lang="en-US" altLang="zh-TW" sz="2800" dirty="0">
                <a:latin typeface="Courier New" panose="02070309020205020404" pitchFamily="49" charset="0"/>
                <a:cs typeface="Courier New" panose="02070309020205020404" pitchFamily="49" charset="0"/>
              </a:rPr>
              <a:t>TSVNQET</a:t>
            </a:r>
          </a:p>
          <a:p>
            <a:r>
              <a:rPr lang="en-US" altLang="zh-TW" sz="2800" i="1" dirty="0">
                <a:latin typeface="Times New Roman" panose="02020603050405020304" pitchFamily="18" charset="0"/>
                <a:cs typeface="Times New Roman" panose="02020603050405020304" pitchFamily="18" charset="0"/>
              </a:rPr>
              <a:t>B</a:t>
            </a:r>
            <a:r>
              <a:rPr lang="en-US" altLang="zh-TW" sz="2800" dirty="0">
                <a:latin typeface="Times New Roman" panose="02020603050405020304" pitchFamily="18" charset="0"/>
                <a:cs typeface="Times New Roman" panose="02020603050405020304" pitchFamily="18" charset="0"/>
              </a:rPr>
              <a:t> = </a:t>
            </a:r>
            <a:r>
              <a:rPr lang="en-US" altLang="zh-TW" sz="2800" dirty="0">
                <a:latin typeface="Courier New" panose="02070309020205020404" pitchFamily="49" charset="0"/>
                <a:cs typeface="Courier New" panose="02070309020205020404" pitchFamily="49" charset="0"/>
              </a:rPr>
              <a:t>SVETD</a:t>
            </a:r>
            <a:endParaRPr lang="zh-TW" altLang="en-US" sz="2800" dirty="0">
              <a:latin typeface="Courier New" panose="02070309020205020404" pitchFamily="49" charset="0"/>
              <a:cs typeface="Courier New" panose="02070309020205020404" pitchFamily="49" charset="0"/>
            </a:endParaRPr>
          </a:p>
        </p:txBody>
      </p:sp>
      <p:sp>
        <p:nvSpPr>
          <p:cNvPr id="2" name="文字方塊 1">
            <a:extLst>
              <a:ext uri="{FF2B5EF4-FFF2-40B4-BE49-F238E27FC236}">
                <a16:creationId xmlns:a16="http://schemas.microsoft.com/office/drawing/2014/main" id="{D7A97FD2-FCB6-CDD1-6641-25188CD9AABF}"/>
              </a:ext>
            </a:extLst>
          </p:cNvPr>
          <p:cNvSpPr txBox="1"/>
          <p:nvPr/>
        </p:nvSpPr>
        <p:spPr>
          <a:xfrm>
            <a:off x="44173" y="1113572"/>
            <a:ext cx="2166516" cy="923330"/>
          </a:xfrm>
          <a:prstGeom prst="rect">
            <a:avLst/>
          </a:prstGeom>
          <a:noFill/>
        </p:spPr>
        <p:txBody>
          <a:bodyPr wrap="square" rtlCol="0">
            <a:spAutoFit/>
          </a:bodyPr>
          <a:lstStyle/>
          <a:p>
            <a:r>
              <a:rPr lang="en-US" altLang="zh-TW" sz="1800" dirty="0">
                <a:latin typeface="Times New Roman" panose="02020603050405020304" pitchFamily="18" charset="0"/>
                <a:cs typeface="Times New Roman" panose="02020603050405020304" pitchFamily="18" charset="0"/>
              </a:rPr>
              <a:t>Gap open = 6</a:t>
            </a:r>
          </a:p>
          <a:p>
            <a:r>
              <a:rPr lang="en-US" altLang="zh-TW" sz="1800" dirty="0">
                <a:latin typeface="Times New Roman" panose="02020603050405020304" pitchFamily="18" charset="0"/>
                <a:cs typeface="Times New Roman" panose="02020603050405020304" pitchFamily="18" charset="0"/>
              </a:rPr>
              <a:t>Gap extension = 1 </a:t>
            </a:r>
          </a:p>
          <a:p>
            <a:endParaRPr lang="zh-TW" altLang="en-US" dirty="0"/>
          </a:p>
        </p:txBody>
      </p:sp>
    </p:spTree>
    <p:extLst>
      <p:ext uri="{BB962C8B-B14F-4D97-AF65-F5344CB8AC3E}">
        <p14:creationId xmlns:p14="http://schemas.microsoft.com/office/powerpoint/2010/main" val="38789096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51286" y="56619"/>
            <a:ext cx="8755811" cy="707886"/>
          </a:xfrm>
          <a:prstGeom prst="rect">
            <a:avLst/>
          </a:prstGeom>
          <a:noFill/>
        </p:spPr>
        <p:txBody>
          <a:bodyPr wrap="square" rtlCol="0">
            <a:spAutoFit/>
          </a:bodyPr>
          <a:lstStyle/>
          <a:p>
            <a:pPr algn="ctr"/>
            <a:r>
              <a:rPr lang="en-US" altLang="zh-TW" sz="4000" b="1" dirty="0">
                <a:latin typeface="Times New Roman" panose="02020603050405020304" pitchFamily="18" charset="0"/>
                <a:ea typeface="PMingLiU" panose="02020500000000000000" pitchFamily="18" charset="-120"/>
                <a:cs typeface="Times New Roman" panose="02020603050405020304" pitchFamily="18" charset="0"/>
              </a:rPr>
              <a:t>An Example of the SCOP Hierarchy</a:t>
            </a:r>
          </a:p>
        </p:txBody>
      </p:sp>
      <p:sp>
        <p:nvSpPr>
          <p:cNvPr id="4" name="矩形 3">
            <a:extLst>
              <a:ext uri="{FF2B5EF4-FFF2-40B4-BE49-F238E27FC236}">
                <a16:creationId xmlns:a16="http://schemas.microsoft.com/office/drawing/2014/main" id="{2BC2C18E-BCD4-4AAD-99A3-5CB215900D9D}"/>
              </a:ext>
            </a:extLst>
          </p:cNvPr>
          <p:cNvSpPr/>
          <p:nvPr/>
        </p:nvSpPr>
        <p:spPr>
          <a:xfrm>
            <a:off x="726727" y="5800248"/>
            <a:ext cx="7690545" cy="738664"/>
          </a:xfrm>
          <a:prstGeom prst="rect">
            <a:avLst/>
          </a:prstGeom>
        </p:spPr>
        <p:txBody>
          <a:bodyPr wrap="square">
            <a:spAutoFit/>
          </a:bodyPr>
          <a:lstStyle/>
          <a:p>
            <a:r>
              <a:rPr lang="zh-TW" altLang="en-US" sz="1400" dirty="0">
                <a:latin typeface="Times New Roman" panose="02020603050405020304" pitchFamily="18" charset="0"/>
                <a:cs typeface="Times New Roman" panose="02020603050405020304" pitchFamily="18" charset="0"/>
              </a:rPr>
              <a:t>Fox NK, Brenner SE, Chandonia JM. 2014. SCOPe: Structural Classification of Proteins—extended, integrating SCOP and ASTRAL data and classification of new structures. Nucleic Acids Research 42:D304-309.</a:t>
            </a:r>
          </a:p>
        </p:txBody>
      </p:sp>
      <p:pic>
        <p:nvPicPr>
          <p:cNvPr id="3" name="圖片 2">
            <a:extLst>
              <a:ext uri="{FF2B5EF4-FFF2-40B4-BE49-F238E27FC236}">
                <a16:creationId xmlns:a16="http://schemas.microsoft.com/office/drawing/2014/main" id="{323BB95A-766E-40F2-B66B-5B84E2EA2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15648"/>
            <a:ext cx="9144000" cy="3829181"/>
          </a:xfrm>
          <a:prstGeom prst="rect">
            <a:avLst/>
          </a:prstGeom>
        </p:spPr>
      </p:pic>
      <p:sp>
        <p:nvSpPr>
          <p:cNvPr id="69" name="文字方塊 68">
            <a:extLst>
              <a:ext uri="{FF2B5EF4-FFF2-40B4-BE49-F238E27FC236}">
                <a16:creationId xmlns:a16="http://schemas.microsoft.com/office/drawing/2014/main" id="{DB5B71A5-1A78-4996-9C03-65EC77C14C51}"/>
              </a:ext>
            </a:extLst>
          </p:cNvPr>
          <p:cNvSpPr txBox="1"/>
          <p:nvPr/>
        </p:nvSpPr>
        <p:spPr>
          <a:xfrm>
            <a:off x="3347864" y="1772816"/>
            <a:ext cx="432048" cy="523220"/>
          </a:xfrm>
          <a:prstGeom prst="rect">
            <a:avLst/>
          </a:prstGeom>
          <a:noFill/>
        </p:spPr>
        <p:txBody>
          <a:bodyPr wrap="square">
            <a:spAutoFit/>
          </a:bodyPr>
          <a:lstStyle/>
          <a:p>
            <a:r>
              <a:rPr lang="en-US" altLang="zh-TW" sz="2800" b="1" dirty="0">
                <a:solidFill>
                  <a:srgbClr val="FF0000"/>
                </a:solidFill>
              </a:rPr>
              <a:t>C</a:t>
            </a:r>
            <a:endParaRPr lang="zh-TW" altLang="en-US" sz="2800" b="1" dirty="0">
              <a:solidFill>
                <a:srgbClr val="FF0000"/>
              </a:solidFill>
            </a:endParaRPr>
          </a:p>
        </p:txBody>
      </p:sp>
      <p:sp>
        <p:nvSpPr>
          <p:cNvPr id="70" name="文字方塊 69">
            <a:extLst>
              <a:ext uri="{FF2B5EF4-FFF2-40B4-BE49-F238E27FC236}">
                <a16:creationId xmlns:a16="http://schemas.microsoft.com/office/drawing/2014/main" id="{7823F27E-202A-48D0-9A3A-76C16F315D59}"/>
              </a:ext>
            </a:extLst>
          </p:cNvPr>
          <p:cNvSpPr txBox="1"/>
          <p:nvPr/>
        </p:nvSpPr>
        <p:spPr>
          <a:xfrm>
            <a:off x="4571999" y="2296036"/>
            <a:ext cx="936104" cy="523220"/>
          </a:xfrm>
          <a:prstGeom prst="rect">
            <a:avLst/>
          </a:prstGeom>
          <a:noFill/>
        </p:spPr>
        <p:txBody>
          <a:bodyPr wrap="square">
            <a:spAutoFit/>
          </a:bodyPr>
          <a:lstStyle/>
          <a:p>
            <a:r>
              <a:rPr lang="en-US" altLang="zh-TW" sz="2800" b="1" dirty="0">
                <a:solidFill>
                  <a:srgbClr val="FF0000"/>
                </a:solidFill>
              </a:rPr>
              <a:t>C.1</a:t>
            </a:r>
            <a:endParaRPr lang="zh-TW" altLang="en-US" sz="2800" b="1" dirty="0">
              <a:solidFill>
                <a:srgbClr val="FF0000"/>
              </a:solidFill>
            </a:endParaRPr>
          </a:p>
        </p:txBody>
      </p:sp>
      <p:sp>
        <p:nvSpPr>
          <p:cNvPr id="71" name="文字方塊 70">
            <a:extLst>
              <a:ext uri="{FF2B5EF4-FFF2-40B4-BE49-F238E27FC236}">
                <a16:creationId xmlns:a16="http://schemas.microsoft.com/office/drawing/2014/main" id="{9752E88B-63A2-4403-8C0F-83885D031602}"/>
              </a:ext>
            </a:extLst>
          </p:cNvPr>
          <p:cNvSpPr txBox="1"/>
          <p:nvPr/>
        </p:nvSpPr>
        <p:spPr>
          <a:xfrm>
            <a:off x="3463622" y="2653204"/>
            <a:ext cx="936104" cy="523220"/>
          </a:xfrm>
          <a:prstGeom prst="rect">
            <a:avLst/>
          </a:prstGeom>
          <a:noFill/>
        </p:spPr>
        <p:txBody>
          <a:bodyPr wrap="square">
            <a:spAutoFit/>
          </a:bodyPr>
          <a:lstStyle/>
          <a:p>
            <a:r>
              <a:rPr lang="en-US" altLang="zh-TW" sz="2800" b="1" dirty="0">
                <a:solidFill>
                  <a:srgbClr val="FF0000"/>
                </a:solidFill>
              </a:rPr>
              <a:t>C.1.8</a:t>
            </a:r>
            <a:endParaRPr lang="zh-TW" altLang="en-US" sz="2800" b="1" dirty="0">
              <a:solidFill>
                <a:srgbClr val="FF0000"/>
              </a:solidFill>
            </a:endParaRPr>
          </a:p>
        </p:txBody>
      </p:sp>
      <p:sp>
        <p:nvSpPr>
          <p:cNvPr id="76" name="文字方塊 75">
            <a:extLst>
              <a:ext uri="{FF2B5EF4-FFF2-40B4-BE49-F238E27FC236}">
                <a16:creationId xmlns:a16="http://schemas.microsoft.com/office/drawing/2014/main" id="{D47957FE-D86C-4443-8B8C-2B2AB5F3A846}"/>
              </a:ext>
            </a:extLst>
          </p:cNvPr>
          <p:cNvSpPr txBox="1"/>
          <p:nvPr/>
        </p:nvSpPr>
        <p:spPr>
          <a:xfrm>
            <a:off x="3347864" y="3565957"/>
            <a:ext cx="1488472" cy="523220"/>
          </a:xfrm>
          <a:prstGeom prst="rect">
            <a:avLst/>
          </a:prstGeom>
          <a:noFill/>
        </p:spPr>
        <p:txBody>
          <a:bodyPr wrap="square">
            <a:spAutoFit/>
          </a:bodyPr>
          <a:lstStyle/>
          <a:p>
            <a:r>
              <a:rPr lang="en-US" altLang="zh-TW" sz="2800" b="1" dirty="0">
                <a:solidFill>
                  <a:srgbClr val="FF0000"/>
                </a:solidFill>
              </a:rPr>
              <a:t>C.1.8.1</a:t>
            </a:r>
            <a:endParaRPr lang="zh-TW" altLang="en-US" sz="2800" b="1" dirty="0">
              <a:solidFill>
                <a:srgbClr val="FF0000"/>
              </a:solidFill>
            </a:endParaRPr>
          </a:p>
        </p:txBody>
      </p:sp>
      <p:sp>
        <p:nvSpPr>
          <p:cNvPr id="6" name="投影片編號版面配置區 5">
            <a:extLst>
              <a:ext uri="{FF2B5EF4-FFF2-40B4-BE49-F238E27FC236}">
                <a16:creationId xmlns:a16="http://schemas.microsoft.com/office/drawing/2014/main" id="{828384EB-525A-4AC7-A70B-827D11426DE1}"/>
              </a:ext>
            </a:extLst>
          </p:cNvPr>
          <p:cNvSpPr>
            <a:spLocks noGrp="1"/>
          </p:cNvSpPr>
          <p:nvPr>
            <p:ph type="sldNum" sz="quarter" idx="12"/>
          </p:nvPr>
        </p:nvSpPr>
        <p:spPr/>
        <p:txBody>
          <a:bodyPr/>
          <a:lstStyle/>
          <a:p>
            <a:fld id="{04C04D6A-2E29-441A-A244-9F1014899F6D}" type="slidenum">
              <a:rPr lang="zh-TW" altLang="en-US" smtClean="0"/>
              <a:pPr/>
              <a:t>6</a:t>
            </a:fld>
            <a:endParaRPr lang="zh-TW" altLang="en-US"/>
          </a:p>
        </p:txBody>
      </p:sp>
    </p:spTree>
    <p:extLst>
      <p:ext uri="{BB962C8B-B14F-4D97-AF65-F5344CB8AC3E}">
        <p14:creationId xmlns:p14="http://schemas.microsoft.com/office/powerpoint/2010/main" val="42772558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23528" y="136525"/>
            <a:ext cx="8755811" cy="707886"/>
          </a:xfrm>
          <a:prstGeom prst="rect">
            <a:avLst/>
          </a:prstGeom>
          <a:noFill/>
        </p:spPr>
        <p:txBody>
          <a:bodyPr wrap="square" rtlCol="0">
            <a:spAutoFit/>
          </a:bodyPr>
          <a:lstStyle/>
          <a:p>
            <a:r>
              <a:rPr lang="en-US" altLang="zh-TW" sz="4000" b="1" dirty="0">
                <a:latin typeface="Times New Roman" panose="02020603050405020304" pitchFamily="18" charset="0"/>
                <a:ea typeface="PMingLiU" panose="02020500000000000000" pitchFamily="18" charset="-120"/>
                <a:cs typeface="Times New Roman" panose="02020603050405020304" pitchFamily="18" charset="0"/>
              </a:rPr>
              <a:t>An Example of  </a:t>
            </a:r>
            <a:r>
              <a:rPr lang="en-US" altLang="zh-TW" sz="4000" b="1" dirty="0">
                <a:latin typeface="Times New Roman" panose="02020603050405020304" pitchFamily="18" charset="0"/>
                <a:cs typeface="Times New Roman" panose="02020603050405020304" pitchFamily="18" charset="0"/>
              </a:rPr>
              <a:t>SSEARCH Results</a:t>
            </a:r>
            <a:endParaRPr lang="zh-TW" alt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3D3232E4-7217-48F9-833C-980239CA5E25}"/>
                  </a:ext>
                </a:extLst>
              </p:cNvPr>
              <p:cNvGraphicFramePr>
                <a:graphicFrameLocks noGrp="1"/>
              </p:cNvGraphicFramePr>
              <p:nvPr>
                <p:extLst>
                  <p:ext uri="{D42A27DB-BD31-4B8C-83A1-F6EECF244321}">
                    <p14:modId xmlns:p14="http://schemas.microsoft.com/office/powerpoint/2010/main" val="219605629"/>
                  </p:ext>
                </p:extLst>
              </p:nvPr>
            </p:nvGraphicFramePr>
            <p:xfrm>
              <a:off x="2411760" y="1017655"/>
              <a:ext cx="6498987" cy="5538478"/>
            </p:xfrm>
            <a:graphic>
              <a:graphicData uri="http://schemas.openxmlformats.org/drawingml/2006/table">
                <a:tbl>
                  <a:tblPr firstRow="1" bandRow="1">
                    <a:tableStyleId>{5940675A-B579-460E-94D1-54222C63F5DA}</a:tableStyleId>
                  </a:tblPr>
                  <a:tblGrid>
                    <a:gridCol w="1047176">
                      <a:extLst>
                        <a:ext uri="{9D8B030D-6E8A-4147-A177-3AD203B41FA5}">
                          <a16:colId xmlns:a16="http://schemas.microsoft.com/office/drawing/2014/main" val="20001"/>
                        </a:ext>
                      </a:extLst>
                    </a:gridCol>
                    <a:gridCol w="1256612">
                      <a:extLst>
                        <a:ext uri="{9D8B030D-6E8A-4147-A177-3AD203B41FA5}">
                          <a16:colId xmlns:a16="http://schemas.microsoft.com/office/drawing/2014/main" val="2225489132"/>
                        </a:ext>
                      </a:extLst>
                    </a:gridCol>
                    <a:gridCol w="977364">
                      <a:extLst>
                        <a:ext uri="{9D8B030D-6E8A-4147-A177-3AD203B41FA5}">
                          <a16:colId xmlns:a16="http://schemas.microsoft.com/office/drawing/2014/main" val="520871759"/>
                        </a:ext>
                      </a:extLst>
                    </a:gridCol>
                    <a:gridCol w="917602">
                      <a:extLst>
                        <a:ext uri="{9D8B030D-6E8A-4147-A177-3AD203B41FA5}">
                          <a16:colId xmlns:a16="http://schemas.microsoft.com/office/drawing/2014/main" val="3347006223"/>
                        </a:ext>
                      </a:extLst>
                    </a:gridCol>
                    <a:gridCol w="1057593">
                      <a:extLst>
                        <a:ext uri="{9D8B030D-6E8A-4147-A177-3AD203B41FA5}">
                          <a16:colId xmlns:a16="http://schemas.microsoft.com/office/drawing/2014/main" val="1671103619"/>
                        </a:ext>
                      </a:extLst>
                    </a:gridCol>
                    <a:gridCol w="1242640">
                      <a:extLst>
                        <a:ext uri="{9D8B030D-6E8A-4147-A177-3AD203B41FA5}">
                          <a16:colId xmlns:a16="http://schemas.microsoft.com/office/drawing/2014/main" val="1686943872"/>
                        </a:ext>
                      </a:extLst>
                    </a:gridCol>
                  </a:tblGrid>
                  <a:tr h="415784">
                    <a:tc gridSpan="3">
                      <a:txBody>
                        <a:bodyPr/>
                        <a:lstStyle/>
                        <a:p>
                          <a:pPr algn="ctr"/>
                          <a:r>
                            <a:rPr lang="en-US" altLang="zh-TW" sz="1600" b="1" dirty="0">
                              <a:latin typeface="Times New Roman" panose="02020603050405020304" pitchFamily="18" charset="0"/>
                              <a:cs typeface="Times New Roman" panose="02020603050405020304" pitchFamily="18" charset="0"/>
                            </a:rPr>
                            <a:t>SSEARCH results</a:t>
                          </a:r>
                          <a:endParaRPr lang="zh-TW" altLang="en-US" sz="1600" b="1"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hMerge="1">
                      <a:txBody>
                        <a:bodyPr/>
                        <a:lstStyle/>
                        <a:p>
                          <a:endParaRPr lang="zh-TW" altLang="en-US"/>
                        </a:p>
                      </a:txBody>
                      <a:tcPr/>
                    </a:tc>
                    <a:tc gridSpan="3">
                      <a:txBody>
                        <a:bodyPr/>
                        <a:lstStyle/>
                        <a:p>
                          <a:pPr algn="ctr"/>
                          <a:r>
                            <a:rPr lang="en-US" altLang="zh-TW" sz="1600" b="1" dirty="0">
                              <a:latin typeface="Times New Roman" panose="02020603050405020304" pitchFamily="18" charset="0"/>
                              <a:cs typeface="Times New Roman" panose="02020603050405020304" pitchFamily="18" charset="0"/>
                            </a:rPr>
                            <a:t>Analysis</a:t>
                          </a:r>
                          <a:endParaRPr lang="zh-TW" altLang="en-US" sz="1600" b="1"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hMerge="1">
                      <a:txBody>
                        <a:bodyPr/>
                        <a:lstStyle/>
                        <a:p>
                          <a:pPr algn="ctr"/>
                          <a:endParaRPr lang="zh-TW"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15784">
                    <a:tc>
                      <a:txBody>
                        <a:bodyPr/>
                        <a:lstStyle/>
                        <a:p>
                          <a:pPr algn="ctr"/>
                          <a:r>
                            <a:rPr lang="en-US" altLang="zh-TW" sz="1600" b="1" dirty="0">
                              <a:latin typeface="Times New Roman" panose="02020603050405020304" pitchFamily="18" charset="0"/>
                              <a:cs typeface="Times New Roman" panose="02020603050405020304" pitchFamily="18" charset="0"/>
                            </a:rPr>
                            <a:t>Query</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Target</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E-value</a:t>
                          </a:r>
                        </a:p>
                        <a:p>
                          <a:pPr algn="ctr"/>
                          <a:r>
                            <a:rPr lang="en-US" altLang="zh-TW" sz="1600" b="1" dirty="0">
                              <a:latin typeface="Times New Roman" panose="02020603050405020304" pitchFamily="18" charset="0"/>
                              <a:cs typeface="Times New Roman" panose="02020603050405020304" pitchFamily="18" charset="0"/>
                            </a:rPr>
                            <a:t>(&lt;</a:t>
                          </a:r>
                          <a14:m>
                            <m:oMath xmlns:m="http://schemas.openxmlformats.org/officeDocument/2006/math">
                              <m:sSup>
                                <m:sSupPr>
                                  <m:ctrlPr>
                                    <a:rPr lang="en-US" altLang="zh-TW" sz="1600" b="1" i="1" smtClean="0">
                                      <a:solidFill>
                                        <a:srgbClr val="836967"/>
                                      </a:solidFill>
                                      <a:latin typeface="Cambria Math" panose="02040503050406030204" pitchFamily="18" charset="0"/>
                                    </a:rPr>
                                  </m:ctrlPr>
                                </m:sSupPr>
                                <m:e>
                                  <m:r>
                                    <a:rPr lang="en-US" altLang="zh-TW" sz="1600" b="1" i="1" smtClean="0">
                                      <a:latin typeface="Cambria Math" panose="02040503050406030204" pitchFamily="18" charset="0"/>
                                    </a:rPr>
                                    <m:t>𝟏𝟎</m:t>
                                  </m:r>
                                </m:e>
                                <m:sup>
                                  <m:r>
                                    <a:rPr lang="en-US" altLang="zh-TW" sz="1600" b="1" i="0" smtClean="0">
                                      <a:latin typeface="Cambria Math" panose="02040503050406030204" pitchFamily="18" charset="0"/>
                                    </a:rPr>
                                    <m:t>−</m:t>
                                  </m:r>
                                  <m:r>
                                    <a:rPr lang="en-US" altLang="zh-TW" sz="1600" b="1" i="0" smtClean="0">
                                      <a:latin typeface="Cambria Math" panose="02040503050406030204" pitchFamily="18" charset="0"/>
                                    </a:rPr>
                                    <m:t>𝟓</m:t>
                                  </m:r>
                                </m:sup>
                              </m:sSup>
                            </m:oMath>
                          </a14:m>
                          <a:r>
                            <a:rPr lang="en-US" altLang="zh-TW" sz="1600" b="1" dirty="0">
                              <a:latin typeface="Times New Roman" panose="02020603050405020304" pitchFamily="18" charset="0"/>
                              <a:cs typeface="Times New Roman" panose="02020603050405020304" pitchFamily="18" charset="0"/>
                            </a:rPr>
                            <a:t>)</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Related</a:t>
                          </a:r>
                        </a:p>
                        <a:p>
                          <a:pPr algn="ctr"/>
                          <a:r>
                            <a:rPr lang="en-US" altLang="zh-TW" sz="1600" b="1" dirty="0">
                              <a:latin typeface="Times New Roman" panose="02020603050405020304" pitchFamily="18" charset="0"/>
                              <a:cs typeface="Times New Roman" panose="02020603050405020304" pitchFamily="18" charset="0"/>
                            </a:rPr>
                            <a:t>in SCOP</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a:latin typeface="Times New Roman" panose="02020603050405020304" pitchFamily="18" charset="0"/>
                              <a:cs typeface="Times New Roman" panose="02020603050405020304" pitchFamily="18" charset="0"/>
                            </a:rPr>
                            <a:t>Coverage</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Errors per</a:t>
                          </a:r>
                        </a:p>
                        <a:p>
                          <a:pPr algn="ctr"/>
                          <a:r>
                            <a:rPr lang="en-US" altLang="zh-TW" sz="1600" b="1" dirty="0">
                              <a:latin typeface="Times New Roman" panose="02020603050405020304" pitchFamily="18" charset="0"/>
                              <a:cs typeface="Times New Roman" panose="02020603050405020304" pitchFamily="18" charset="0"/>
                            </a:rPr>
                            <a:t>query</a:t>
                          </a:r>
                        </a:p>
                      </a:txBody>
                      <a:tcPr anchor="ctr"/>
                    </a:tc>
                    <a:extLst>
                      <a:ext uri="{0D108BD9-81ED-4DB2-BD59-A6C34878D82A}">
                        <a16:rowId xmlns:a16="http://schemas.microsoft.com/office/drawing/2014/main" val="10001"/>
                      </a:ext>
                    </a:extLst>
                  </a:tr>
                  <a:tr h="8129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Q7Z2Z1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Q8BQ33</a:t>
                          </a:r>
                          <a:r>
                            <a:rPr lang="zh-TW" altLang="en-US" sz="1600" dirty="0">
                              <a:latin typeface="Times New Roman" panose="02020603050405020304" pitchFamily="18" charset="0"/>
                              <a:cs typeface="Times New Roman" panose="02020603050405020304" pitchFamily="18" charset="0"/>
                            </a:rPr>
                            <a:t> </a:t>
                          </a:r>
                          <a:r>
                            <a:rPr lang="en-US" altLang="zh-TW" sz="1600" b="1" dirty="0">
                              <a:solidFill>
                                <a:srgbClr val="FF0000"/>
                              </a:solidFill>
                              <a:latin typeface="Times New Roman" panose="02020603050405020304" pitchFamily="18" charset="0"/>
                              <a:cs typeface="Times New Roman" panose="02020603050405020304" pitchFamily="18" charset="0"/>
                            </a:rPr>
                            <a:t>c.1.10.2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latin typeface="Times New Roman" panose="02020603050405020304" pitchFamily="18" charset="0"/>
                              <a:cs typeface="Times New Roman" panose="02020603050405020304" pitchFamily="18" charset="0"/>
                            </a:rPr>
                            <a:t>3.3e-35</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Yes</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0.055</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0</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3"/>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Q7Z2Z1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D3IUT5 </a:t>
                          </a:r>
                          <a:r>
                            <a:rPr lang="en-US" altLang="zh-TW" sz="1600" b="1" dirty="0">
                              <a:solidFill>
                                <a:srgbClr val="FF0000"/>
                              </a:solidFill>
                              <a:latin typeface="Times New Roman" panose="02020603050405020304" pitchFamily="18" charset="0"/>
                              <a:cs typeface="Times New Roman" panose="02020603050405020304" pitchFamily="18" charset="0"/>
                            </a:rPr>
                            <a:t>c.1.10.3</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3.3e-24</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a:latin typeface="Times New Roman" panose="02020603050405020304" pitchFamily="18" charset="0"/>
                              <a:cs typeface="Times New Roman" panose="02020603050405020304" pitchFamily="18" charset="0"/>
                            </a:rPr>
                            <a:t>Yes</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0.111</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0</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4"/>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a:solidFill>
                                <a:srgbClr val="FF0000"/>
                              </a:solidFill>
                              <a:latin typeface="Times New Roman" panose="02020603050405020304" pitchFamily="18" charset="0"/>
                              <a:cs typeface="Times New Roman" panose="02020603050405020304" pitchFamily="18" charset="0"/>
                            </a:rPr>
                            <a:t>1.6e-20</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No</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0.111</a:t>
                          </a:r>
                          <a:endParaRPr lang="zh-TW" altLang="en-US" sz="16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1</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70710400"/>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P38990 </a:t>
                          </a:r>
                          <a:r>
                            <a:rPr lang="en-US" altLang="zh-TW" sz="1600" b="1" dirty="0">
                              <a:solidFill>
                                <a:srgbClr val="00B050"/>
                              </a:solidFill>
                              <a:latin typeface="Times New Roman" panose="02020603050405020304" pitchFamily="18" charset="0"/>
                              <a:cs typeface="Times New Roman" panose="02020603050405020304" pitchFamily="18" charset="0"/>
                            </a:rPr>
                            <a:t>c.1.699.4</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5.0e-19</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Yes</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0.166</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434054792"/>
                      </a:ext>
                    </a:extLst>
                  </a:tr>
                  <a:tr h="695433">
                    <a:tc gridSpan="6">
                      <a:txBody>
                        <a:bodyPr/>
                        <a:lstStyle/>
                        <a:p>
                          <a:pPr algn="ctr"/>
                          <a:r>
                            <a:rPr lang="en-US" altLang="zh-TW" sz="3200" dirty="0">
                              <a:latin typeface="Times New Roman" panose="02020603050405020304" pitchFamily="18" charset="0"/>
                              <a:cs typeface="Times New Roman" panose="02020603050405020304" pitchFamily="18" charset="0"/>
                            </a:rPr>
                            <a:t>…</a:t>
                          </a:r>
                        </a:p>
                      </a:txBody>
                      <a:tcPr vert="eaVert"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pPr algn="ctr"/>
                          <a:endParaRPr lang="en-US" altLang="zh-TW" sz="3200" dirty="0">
                            <a:latin typeface="Times New Roman" panose="02020603050405020304" pitchFamily="18" charset="0"/>
                            <a:cs typeface="Times New Roman" panose="02020603050405020304" pitchFamily="18" charset="0"/>
                          </a:endParaRPr>
                        </a:p>
                      </a:txBody>
                      <a:tcPr vert="eaVert" anchor="ctr"/>
                    </a:tc>
                    <a:extLst>
                      <a:ext uri="{0D108BD9-81ED-4DB2-BD59-A6C34878D82A}">
                        <a16:rowId xmlns:a16="http://schemas.microsoft.com/office/drawing/2014/main" val="10005"/>
                      </a:ext>
                    </a:extLst>
                  </a:tr>
                  <a:tr h="636867">
                    <a:tc>
                      <a:txBody>
                        <a:bodyPr/>
                        <a:lstStyle/>
                        <a:p>
                          <a:pPr algn="ctr"/>
                          <a:r>
                            <a:rPr lang="en-US" altLang="zh-TW" sz="1600" dirty="0">
                              <a:latin typeface="Times New Roman" panose="02020603050405020304" pitchFamily="18" charset="0"/>
                              <a:cs typeface="Times New Roman" panose="02020603050405020304" pitchFamily="18" charset="0"/>
                            </a:rPr>
                            <a:t>Q70E73 </a:t>
                          </a:r>
                          <a:r>
                            <a:rPr lang="en-US" altLang="zh-TW" sz="1600" b="1" dirty="0">
                              <a:solidFill>
                                <a:srgbClr val="00B0F0"/>
                              </a:solidFill>
                              <a:latin typeface="Times New Roman" panose="02020603050405020304" pitchFamily="18" charset="0"/>
                              <a:cs typeface="Times New Roman" panose="02020603050405020304" pitchFamily="18" charset="0"/>
                            </a:rPr>
                            <a:t>c.1.532.1</a:t>
                          </a:r>
                          <a:endParaRPr lang="zh-TW" altLang="en-US" sz="1600" b="1" dirty="0">
                            <a:solidFill>
                              <a:srgbClr val="00B0F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chemeClr val="tx1"/>
                              </a:solidFill>
                              <a:latin typeface="Times New Roman" panose="02020603050405020304" pitchFamily="18" charset="0"/>
                              <a:cs typeface="Times New Roman" panose="02020603050405020304" pitchFamily="18" charset="0"/>
                            </a:rPr>
                            <a:t>a.1.1881.1</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solidFill>
                                <a:srgbClr val="FF0000"/>
                              </a:solidFill>
                              <a:latin typeface="Times New Roman" panose="02020603050405020304" pitchFamily="18" charset="0"/>
                              <a:cs typeface="Times New Roman" panose="02020603050405020304" pitchFamily="18" charset="0"/>
                            </a:rPr>
                            <a:t>1.6e-02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No</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0.385</a:t>
                          </a:r>
                          <a:endParaRPr lang="zh-TW" altLang="en-US" sz="16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chemeClr val="tx1"/>
                              </a:solidFill>
                              <a:latin typeface="Times New Roman" panose="02020603050405020304" pitchFamily="18" charset="0"/>
                              <a:cs typeface="Times New Roman" panose="02020603050405020304" pitchFamily="18" charset="0"/>
                            </a:rPr>
                            <a:t>99</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mc:Choice>
        <mc:Fallback xmlns="">
          <p:graphicFrame>
            <p:nvGraphicFramePr>
              <p:cNvPr id="7" name="表格 6">
                <a:extLst>
                  <a:ext uri="{FF2B5EF4-FFF2-40B4-BE49-F238E27FC236}">
                    <a16:creationId xmlns:a16="http://schemas.microsoft.com/office/drawing/2014/main" id="{3D3232E4-7217-48F9-833C-980239CA5E25}"/>
                  </a:ext>
                </a:extLst>
              </p:cNvPr>
              <p:cNvGraphicFramePr>
                <a:graphicFrameLocks noGrp="1"/>
              </p:cNvGraphicFramePr>
              <p:nvPr>
                <p:extLst>
                  <p:ext uri="{D42A27DB-BD31-4B8C-83A1-F6EECF244321}">
                    <p14:modId xmlns:p14="http://schemas.microsoft.com/office/powerpoint/2010/main" val="219605629"/>
                  </p:ext>
                </p:extLst>
              </p:nvPr>
            </p:nvGraphicFramePr>
            <p:xfrm>
              <a:off x="2411760" y="1017655"/>
              <a:ext cx="6498987" cy="5538478"/>
            </p:xfrm>
            <a:graphic>
              <a:graphicData uri="http://schemas.openxmlformats.org/drawingml/2006/table">
                <a:tbl>
                  <a:tblPr firstRow="1" bandRow="1">
                    <a:tableStyleId>{5940675A-B579-460E-94D1-54222C63F5DA}</a:tableStyleId>
                  </a:tblPr>
                  <a:tblGrid>
                    <a:gridCol w="1047176">
                      <a:extLst>
                        <a:ext uri="{9D8B030D-6E8A-4147-A177-3AD203B41FA5}">
                          <a16:colId xmlns:a16="http://schemas.microsoft.com/office/drawing/2014/main" val="20001"/>
                        </a:ext>
                      </a:extLst>
                    </a:gridCol>
                    <a:gridCol w="1256612">
                      <a:extLst>
                        <a:ext uri="{9D8B030D-6E8A-4147-A177-3AD203B41FA5}">
                          <a16:colId xmlns:a16="http://schemas.microsoft.com/office/drawing/2014/main" val="2225489132"/>
                        </a:ext>
                      </a:extLst>
                    </a:gridCol>
                    <a:gridCol w="977364">
                      <a:extLst>
                        <a:ext uri="{9D8B030D-6E8A-4147-A177-3AD203B41FA5}">
                          <a16:colId xmlns:a16="http://schemas.microsoft.com/office/drawing/2014/main" val="520871759"/>
                        </a:ext>
                      </a:extLst>
                    </a:gridCol>
                    <a:gridCol w="917602">
                      <a:extLst>
                        <a:ext uri="{9D8B030D-6E8A-4147-A177-3AD203B41FA5}">
                          <a16:colId xmlns:a16="http://schemas.microsoft.com/office/drawing/2014/main" val="3347006223"/>
                        </a:ext>
                      </a:extLst>
                    </a:gridCol>
                    <a:gridCol w="1057593">
                      <a:extLst>
                        <a:ext uri="{9D8B030D-6E8A-4147-A177-3AD203B41FA5}">
                          <a16:colId xmlns:a16="http://schemas.microsoft.com/office/drawing/2014/main" val="1671103619"/>
                        </a:ext>
                      </a:extLst>
                    </a:gridCol>
                    <a:gridCol w="1242640">
                      <a:extLst>
                        <a:ext uri="{9D8B030D-6E8A-4147-A177-3AD203B41FA5}">
                          <a16:colId xmlns:a16="http://schemas.microsoft.com/office/drawing/2014/main" val="1686943872"/>
                        </a:ext>
                      </a:extLst>
                    </a:gridCol>
                  </a:tblGrid>
                  <a:tr h="415784">
                    <a:tc gridSpan="3">
                      <a:txBody>
                        <a:bodyPr/>
                        <a:lstStyle/>
                        <a:p>
                          <a:pPr algn="ctr"/>
                          <a:r>
                            <a:rPr lang="en-US" altLang="zh-TW" sz="1600" b="1" dirty="0">
                              <a:latin typeface="Times New Roman" panose="02020603050405020304" pitchFamily="18" charset="0"/>
                              <a:cs typeface="Times New Roman" panose="02020603050405020304" pitchFamily="18" charset="0"/>
                            </a:rPr>
                            <a:t>SSEARCH results</a:t>
                          </a:r>
                          <a:endParaRPr lang="zh-TW" altLang="en-US" sz="1600" b="1"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hMerge="1">
                      <a:txBody>
                        <a:bodyPr/>
                        <a:lstStyle/>
                        <a:p>
                          <a:endParaRPr lang="zh-TW" altLang="en-US"/>
                        </a:p>
                      </a:txBody>
                      <a:tcPr/>
                    </a:tc>
                    <a:tc gridSpan="3">
                      <a:txBody>
                        <a:bodyPr/>
                        <a:lstStyle/>
                        <a:p>
                          <a:pPr algn="ctr"/>
                          <a:r>
                            <a:rPr lang="en-US" altLang="zh-TW" sz="1600" b="1" dirty="0">
                              <a:latin typeface="Times New Roman" panose="02020603050405020304" pitchFamily="18" charset="0"/>
                              <a:cs typeface="Times New Roman" panose="02020603050405020304" pitchFamily="18" charset="0"/>
                            </a:rPr>
                            <a:t>Analysis</a:t>
                          </a:r>
                          <a:endParaRPr lang="zh-TW" altLang="en-US" sz="1600" b="1"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hMerge="1">
                      <a:txBody>
                        <a:bodyPr/>
                        <a:lstStyle/>
                        <a:p>
                          <a:pPr algn="ctr"/>
                          <a:endParaRPr lang="zh-TW"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822960">
                    <a:tc>
                      <a:txBody>
                        <a:bodyPr/>
                        <a:lstStyle/>
                        <a:p>
                          <a:pPr algn="ctr"/>
                          <a:r>
                            <a:rPr lang="en-US" altLang="zh-TW" sz="1600" b="1" dirty="0">
                              <a:latin typeface="Times New Roman" panose="02020603050405020304" pitchFamily="18" charset="0"/>
                              <a:cs typeface="Times New Roman" panose="02020603050405020304" pitchFamily="18" charset="0"/>
                            </a:rPr>
                            <a:t>Query</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Target</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3"/>
                          <a:stretch>
                            <a:fillRect l="-235404" t="-50735" r="-329193" b="-525000"/>
                          </a:stretch>
                        </a:blipFill>
                      </a:tcPr>
                    </a:tc>
                    <a:tc>
                      <a:txBody>
                        <a:bodyPr/>
                        <a:lstStyle/>
                        <a:p>
                          <a:pPr algn="ctr"/>
                          <a:r>
                            <a:rPr lang="en-US" altLang="zh-TW" sz="1600" b="1" dirty="0">
                              <a:latin typeface="Times New Roman" panose="02020603050405020304" pitchFamily="18" charset="0"/>
                              <a:cs typeface="Times New Roman" panose="02020603050405020304" pitchFamily="18" charset="0"/>
                            </a:rPr>
                            <a:t>Related</a:t>
                          </a:r>
                        </a:p>
                        <a:p>
                          <a:pPr algn="ctr"/>
                          <a:r>
                            <a:rPr lang="en-US" altLang="zh-TW" sz="1600" b="1" dirty="0">
                              <a:latin typeface="Times New Roman" panose="02020603050405020304" pitchFamily="18" charset="0"/>
                              <a:cs typeface="Times New Roman" panose="02020603050405020304" pitchFamily="18" charset="0"/>
                            </a:rPr>
                            <a:t>in SCOP</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a:latin typeface="Times New Roman" panose="02020603050405020304" pitchFamily="18" charset="0"/>
                              <a:cs typeface="Times New Roman" panose="02020603050405020304" pitchFamily="18" charset="0"/>
                            </a:rPr>
                            <a:t>Coverage</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Errors per</a:t>
                          </a:r>
                        </a:p>
                        <a:p>
                          <a:pPr algn="ctr"/>
                          <a:r>
                            <a:rPr lang="en-US" altLang="zh-TW" sz="1600" b="1" dirty="0">
                              <a:latin typeface="Times New Roman" panose="02020603050405020304" pitchFamily="18" charset="0"/>
                              <a:cs typeface="Times New Roman" panose="02020603050405020304" pitchFamily="18" charset="0"/>
                            </a:rPr>
                            <a:t>query</a:t>
                          </a:r>
                        </a:p>
                      </a:txBody>
                      <a:tcPr anchor="ctr"/>
                    </a:tc>
                    <a:extLst>
                      <a:ext uri="{0D108BD9-81ED-4DB2-BD59-A6C34878D82A}">
                        <a16:rowId xmlns:a16="http://schemas.microsoft.com/office/drawing/2014/main" val="10001"/>
                      </a:ext>
                    </a:extLst>
                  </a:tr>
                  <a:tr h="8129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Q7Z2Z1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Q8BQ33</a:t>
                          </a:r>
                          <a:r>
                            <a:rPr lang="zh-TW" altLang="en-US" sz="1600" dirty="0">
                              <a:latin typeface="Times New Roman" panose="02020603050405020304" pitchFamily="18" charset="0"/>
                              <a:cs typeface="Times New Roman" panose="02020603050405020304" pitchFamily="18" charset="0"/>
                            </a:rPr>
                            <a:t> </a:t>
                          </a:r>
                          <a:r>
                            <a:rPr lang="en-US" altLang="zh-TW" sz="1600" b="1" dirty="0">
                              <a:solidFill>
                                <a:srgbClr val="FF0000"/>
                              </a:solidFill>
                              <a:latin typeface="Times New Roman" panose="02020603050405020304" pitchFamily="18" charset="0"/>
                              <a:cs typeface="Times New Roman" panose="02020603050405020304" pitchFamily="18" charset="0"/>
                            </a:rPr>
                            <a:t>c.1.10.2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latin typeface="Times New Roman" panose="02020603050405020304" pitchFamily="18" charset="0"/>
                              <a:cs typeface="Times New Roman" panose="02020603050405020304" pitchFamily="18" charset="0"/>
                            </a:rPr>
                            <a:t>3.3e-35</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Yes</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0.055</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0</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3"/>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Q7Z2Z1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D3IUT5 </a:t>
                          </a:r>
                          <a:r>
                            <a:rPr lang="en-US" altLang="zh-TW" sz="1600" b="1" dirty="0">
                              <a:solidFill>
                                <a:srgbClr val="FF0000"/>
                              </a:solidFill>
                              <a:latin typeface="Times New Roman" panose="02020603050405020304" pitchFamily="18" charset="0"/>
                              <a:cs typeface="Times New Roman" panose="02020603050405020304" pitchFamily="18" charset="0"/>
                            </a:rPr>
                            <a:t>c.1.10.3</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3.3e-24</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a:latin typeface="Times New Roman" panose="02020603050405020304" pitchFamily="18" charset="0"/>
                              <a:cs typeface="Times New Roman" panose="02020603050405020304" pitchFamily="18" charset="0"/>
                            </a:rPr>
                            <a:t>Yes</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0.111</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0</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4"/>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a:solidFill>
                                <a:srgbClr val="FF0000"/>
                              </a:solidFill>
                              <a:latin typeface="Times New Roman" panose="02020603050405020304" pitchFamily="18" charset="0"/>
                              <a:cs typeface="Times New Roman" panose="02020603050405020304" pitchFamily="18" charset="0"/>
                            </a:rPr>
                            <a:t>1.6e-20</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No</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0.111</a:t>
                          </a:r>
                          <a:endParaRPr lang="zh-TW" altLang="en-US" sz="16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1</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70710400"/>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P38990 </a:t>
                          </a:r>
                          <a:r>
                            <a:rPr lang="en-US" altLang="zh-TW" sz="1600" b="1" dirty="0">
                              <a:solidFill>
                                <a:srgbClr val="00B050"/>
                              </a:solidFill>
                              <a:latin typeface="Times New Roman" panose="02020603050405020304" pitchFamily="18" charset="0"/>
                              <a:cs typeface="Times New Roman" panose="02020603050405020304" pitchFamily="18" charset="0"/>
                            </a:rPr>
                            <a:t>c.1.699.4</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5.0e-19</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Yes</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0.166</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434054792"/>
                      </a:ext>
                    </a:extLst>
                  </a:tr>
                  <a:tr h="695433">
                    <a:tc gridSpan="6">
                      <a:txBody>
                        <a:bodyPr/>
                        <a:lstStyle/>
                        <a:p>
                          <a:pPr algn="ctr"/>
                          <a:r>
                            <a:rPr lang="en-US" altLang="zh-TW" sz="3200" dirty="0">
                              <a:latin typeface="Times New Roman" panose="02020603050405020304" pitchFamily="18" charset="0"/>
                              <a:cs typeface="Times New Roman" panose="02020603050405020304" pitchFamily="18" charset="0"/>
                            </a:rPr>
                            <a:t>…</a:t>
                          </a:r>
                        </a:p>
                      </a:txBody>
                      <a:tcPr vert="eaVert"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pPr algn="ctr"/>
                          <a:endParaRPr lang="en-US" altLang="zh-TW" sz="3200" dirty="0">
                            <a:latin typeface="Times New Roman" panose="02020603050405020304" pitchFamily="18" charset="0"/>
                            <a:cs typeface="Times New Roman" panose="02020603050405020304" pitchFamily="18" charset="0"/>
                          </a:endParaRPr>
                        </a:p>
                      </a:txBody>
                      <a:tcPr vert="eaVert" anchor="ctr"/>
                    </a:tc>
                    <a:extLst>
                      <a:ext uri="{0D108BD9-81ED-4DB2-BD59-A6C34878D82A}">
                        <a16:rowId xmlns:a16="http://schemas.microsoft.com/office/drawing/2014/main" val="10005"/>
                      </a:ext>
                    </a:extLst>
                  </a:tr>
                  <a:tr h="636867">
                    <a:tc>
                      <a:txBody>
                        <a:bodyPr/>
                        <a:lstStyle/>
                        <a:p>
                          <a:pPr algn="ctr"/>
                          <a:r>
                            <a:rPr lang="en-US" altLang="zh-TW" sz="1600" dirty="0">
                              <a:latin typeface="Times New Roman" panose="02020603050405020304" pitchFamily="18" charset="0"/>
                              <a:cs typeface="Times New Roman" panose="02020603050405020304" pitchFamily="18" charset="0"/>
                            </a:rPr>
                            <a:t>Q70E73 </a:t>
                          </a:r>
                          <a:r>
                            <a:rPr lang="en-US" altLang="zh-TW" sz="1600" b="1" dirty="0">
                              <a:solidFill>
                                <a:srgbClr val="00B0F0"/>
                              </a:solidFill>
                              <a:latin typeface="Times New Roman" panose="02020603050405020304" pitchFamily="18" charset="0"/>
                              <a:cs typeface="Times New Roman" panose="02020603050405020304" pitchFamily="18" charset="0"/>
                            </a:rPr>
                            <a:t>c.1.532.1</a:t>
                          </a:r>
                          <a:endParaRPr lang="zh-TW" altLang="en-US" sz="1600" b="1" dirty="0">
                            <a:solidFill>
                              <a:srgbClr val="00B0F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chemeClr val="tx1"/>
                              </a:solidFill>
                              <a:latin typeface="Times New Roman" panose="02020603050405020304" pitchFamily="18" charset="0"/>
                              <a:cs typeface="Times New Roman" panose="02020603050405020304" pitchFamily="18" charset="0"/>
                            </a:rPr>
                            <a:t>a.1.1881.1</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solidFill>
                                <a:srgbClr val="FF0000"/>
                              </a:solidFill>
                              <a:latin typeface="Times New Roman" panose="02020603050405020304" pitchFamily="18" charset="0"/>
                              <a:cs typeface="Times New Roman" panose="02020603050405020304" pitchFamily="18" charset="0"/>
                            </a:rPr>
                            <a:t>1.6e-02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No</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0.385</a:t>
                          </a:r>
                          <a:endParaRPr lang="zh-TW" altLang="en-US" sz="16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chemeClr val="tx1"/>
                              </a:solidFill>
                              <a:latin typeface="Times New Roman" panose="02020603050405020304" pitchFamily="18" charset="0"/>
                              <a:cs typeface="Times New Roman" panose="02020603050405020304" pitchFamily="18" charset="0"/>
                            </a:rPr>
                            <a:t>99</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E671C253-ED36-45F1-8F25-E8EBFFDD2A1C}"/>
                  </a:ext>
                </a:extLst>
              </p:cNvPr>
              <p:cNvSpPr/>
              <p:nvPr/>
            </p:nvSpPr>
            <p:spPr>
              <a:xfrm>
                <a:off x="179512" y="1236572"/>
                <a:ext cx="5310336" cy="4384855"/>
              </a:xfrm>
              <a:prstGeom prst="rect">
                <a:avLst/>
              </a:prstGeom>
            </p:spPr>
            <p:txBody>
              <a:bodyPr wrap="square">
                <a:spAutoFit/>
              </a:bodyPr>
              <a:lstStyle/>
              <a:p>
                <a:r>
                  <a:rPr lang="zh-TW" altLang="en-US" dirty="0">
                    <a:latin typeface="Times New Roman" panose="02020603050405020304" pitchFamily="18" charset="0"/>
                    <a:cs typeface="Times New Roman" panose="02020603050405020304" pitchFamily="18" charset="0"/>
                  </a:rPr>
                  <a:t>Superfamily c.1.10:</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sequences</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zh-TW" altLang="en-US" dirty="0">
                    <a:latin typeface="Times New Roman" panose="02020603050405020304" pitchFamily="18" charset="0"/>
                    <a:cs typeface="Times New Roman" panose="02020603050405020304" pitchFamily="18" charset="0"/>
                  </a:rPr>
                  <a:t>Superfamily </a:t>
                </a:r>
                <a:r>
                  <a:rPr lang="en-US" altLang="zh-TW" dirty="0">
                    <a:latin typeface="Times New Roman" panose="02020603050405020304" pitchFamily="18" charset="0"/>
                    <a:cs typeface="Times New Roman" panose="02020603050405020304" pitchFamily="18" charset="0"/>
                  </a:rPr>
                  <a:t>c.1.699</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sequences</a:t>
                </a:r>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a:p>
                <a:r>
                  <a:rPr lang="zh-TW" altLang="en-US" dirty="0">
                    <a:latin typeface="Times New Roman" panose="02020603050405020304" pitchFamily="18" charset="0"/>
                    <a:cs typeface="Times New Roman" panose="02020603050405020304" pitchFamily="18" charset="0"/>
                  </a:rPr>
                  <a:t>Superfamily </a:t>
                </a:r>
                <a:r>
                  <a:rPr lang="en-US" altLang="zh-TW" dirty="0">
                    <a:latin typeface="Times New Roman" panose="02020603050405020304" pitchFamily="18" charset="0"/>
                    <a:cs typeface="Times New Roman" panose="02020603050405020304" pitchFamily="18" charset="0"/>
                  </a:rPr>
                  <a:t>c.1.532</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sequences</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100 sequences in </a:t>
                </a:r>
              </a:p>
              <a:p>
                <a:r>
                  <a:rPr lang="en-US" altLang="zh-TW" dirty="0">
                    <a:latin typeface="Times New Roman" panose="02020603050405020304" pitchFamily="18" charset="0"/>
                    <a:cs typeface="Times New Roman" panose="02020603050405020304" pitchFamily="18" charset="0"/>
                  </a:rPr>
                  <a:t>dataset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EPQ = 0.01</a:t>
                </a:r>
              </a:p>
              <a:p>
                <a:endParaRPr lang="en-US" altLang="zh-TW" dirty="0">
                  <a:latin typeface="Times New Roman" panose="02020603050405020304" pitchFamily="18" charset="0"/>
                  <a:cs typeface="Times New Roman" panose="02020603050405020304" pitchFamily="18" charset="0"/>
                </a:endParaRPr>
              </a:p>
              <a:p>
                <a:r>
                  <a:rPr lang="en-US" altLang="zh-TW" dirty="0">
                    <a:cs typeface="Times New Roman" panose="02020603050405020304" pitchFamily="18" charset="0"/>
                  </a:rPr>
                  <a:t>2</a:t>
                </a:r>
                <a14:m>
                  <m:oMath xmlns:m="http://schemas.openxmlformats.org/officeDocument/2006/math">
                    <m:d>
                      <m:dPr>
                        <m:ctrlPr>
                          <a:rPr lang="en-US" altLang="zh-TW" i="1" dirty="0" smtClean="0">
                            <a:latin typeface="Cambria Math" panose="02040503050406030204" pitchFamily="18" charset="0"/>
                            <a:cs typeface="Times New Roman" panose="02020603050405020304" pitchFamily="18" charset="0"/>
                          </a:rPr>
                        </m:ctrlPr>
                      </m:dPr>
                      <m:e>
                        <m:f>
                          <m:fPr>
                            <m:type m:val="noBar"/>
                            <m:ctrlPr>
                              <a:rPr lang="en-US" altLang="zh-TW" i="1" dirty="0" smtClean="0">
                                <a:latin typeface="Cambria Math" panose="02040503050406030204" pitchFamily="18" charset="0"/>
                                <a:cs typeface="Times New Roman" panose="02020603050405020304" pitchFamily="18" charset="0"/>
                              </a:rPr>
                            </m:ctrlPr>
                          </m:fPr>
                          <m:num>
                            <m:r>
                              <a:rPr lang="en-US" altLang="zh-TW" b="0" i="1" dirty="0" smtClean="0">
                                <a:latin typeface="Cambria Math" panose="02040503050406030204" pitchFamily="18" charset="0"/>
                                <a:cs typeface="Times New Roman" panose="02020603050405020304" pitchFamily="18" charset="0"/>
                              </a:rPr>
                              <m:t>100</m:t>
                            </m:r>
                          </m:num>
                          <m:den>
                            <m:r>
                              <a:rPr lang="en-US" altLang="zh-TW" b="0" i="1" dirty="0" smtClean="0">
                                <a:latin typeface="Cambria Math" panose="02040503050406030204" pitchFamily="18" charset="0"/>
                                <a:cs typeface="Times New Roman" panose="02020603050405020304" pitchFamily="18" charset="0"/>
                              </a:rPr>
                              <m:t>2</m:t>
                            </m:r>
                          </m:den>
                        </m:f>
                      </m:e>
                    </m:d>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800" i="1" smtClean="0">
                        <a:latin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0.01 = 99 </a:t>
                </a:r>
                <a:endParaRPr lang="zh-TW" altLang="en-US" dirty="0">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E671C253-ED36-45F1-8F25-E8EBFFDD2A1C}"/>
                  </a:ext>
                </a:extLst>
              </p:cNvPr>
              <p:cNvSpPr>
                <a:spLocks noRot="1" noChangeAspect="1" noMove="1" noResize="1" noEditPoints="1" noAdjustHandles="1" noChangeArrowheads="1" noChangeShapeType="1" noTextEdit="1"/>
              </p:cNvSpPr>
              <p:nvPr/>
            </p:nvSpPr>
            <p:spPr>
              <a:xfrm>
                <a:off x="179512" y="1236572"/>
                <a:ext cx="5310336" cy="4384855"/>
              </a:xfrm>
              <a:prstGeom prst="rect">
                <a:avLst/>
              </a:prstGeom>
              <a:blipFill>
                <a:blip r:embed="rId4"/>
                <a:stretch>
                  <a:fillRect l="-917" t="-83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36406A00-90F5-4973-BCCD-D62ADE56BD25}"/>
              </a:ext>
            </a:extLst>
          </p:cNvPr>
          <p:cNvSpPr>
            <a:spLocks noGrp="1"/>
          </p:cNvSpPr>
          <p:nvPr>
            <p:ph type="sldNum" sz="quarter" idx="12"/>
          </p:nvPr>
        </p:nvSpPr>
        <p:spPr>
          <a:xfrm>
            <a:off x="6945739" y="6467691"/>
            <a:ext cx="2133600" cy="365125"/>
          </a:xfrm>
        </p:spPr>
        <p:txBody>
          <a:bodyPr/>
          <a:lstStyle/>
          <a:p>
            <a:fld id="{04C04D6A-2E29-441A-A244-9F1014899F6D}" type="slidenum">
              <a:rPr lang="zh-TW" altLang="en-US" smtClean="0"/>
              <a:pPr/>
              <a:t>7</a:t>
            </a:fld>
            <a:endParaRPr lang="zh-TW" altLang="en-US" dirty="0"/>
          </a:p>
        </p:txBody>
      </p:sp>
    </p:spTree>
    <p:extLst>
      <p:ext uri="{BB962C8B-B14F-4D97-AF65-F5344CB8AC3E}">
        <p14:creationId xmlns:p14="http://schemas.microsoft.com/office/powerpoint/2010/main" val="90785168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93917" y="6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Calculating Coverage Q</a:t>
            </a:r>
            <a:endParaRPr lang="zh-TW" alt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B5407A0-D644-4DDB-B620-5C5BAE7AFD52}"/>
                  </a:ext>
                </a:extLst>
              </p:cNvPr>
              <p:cNvSpPr/>
              <p:nvPr/>
            </p:nvSpPr>
            <p:spPr>
              <a:xfrm>
                <a:off x="107504" y="908949"/>
                <a:ext cx="8064896" cy="3521413"/>
              </a:xfrm>
              <a:prstGeom prst="rect">
                <a:avLst/>
              </a:prstGeom>
            </p:spPr>
            <p:txBody>
              <a:bodyPr wrap="square">
                <a:spAutoFit/>
              </a:bodyPr>
              <a:lstStyle/>
              <a:p>
                <a:endParaRPr lang="en-US" altLang="zh-TW"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14:m>
                  <m:oMath xmlns:m="http://schemas.openxmlformats.org/officeDocument/2006/math">
                    <m:r>
                      <a:rPr lang="en-US" altLang="zh-TW" sz="2800" i="1" dirty="0">
                        <a:latin typeface="Cambria Math" panose="02040503050406030204" pitchFamily="18" charset="0"/>
                      </a:rPr>
                      <m:t>𝑄</m:t>
                    </m:r>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cs typeface="Times New Roman" panose="02020603050405020304" pitchFamily="18" charset="0"/>
                          </a:rPr>
                          <m:t>𝑆</m:t>
                        </m:r>
                      </m:den>
                    </m:f>
                    <m:nary>
                      <m:naryPr>
                        <m:chr m:val="∑"/>
                        <m:ctrlPr>
                          <a:rPr lang="en-US" altLang="zh-TW" sz="2800" i="1" smtClean="0">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=1</m:t>
                        </m:r>
                      </m:sub>
                      <m:sup>
                        <m:r>
                          <a:rPr lang="zh-TW" altLang="en-US" sz="2800" i="1">
                            <a:latin typeface="Cambria Math" panose="02040503050406030204" pitchFamily="18" charset="0"/>
                          </a:rPr>
                          <m:t>𝑆</m:t>
                        </m:r>
                      </m:sup>
                      <m:e>
                        <m:f>
                          <m:fPr>
                            <m:ctrlPr>
                              <a:rPr lang="en-US" altLang="zh-TW" sz="2800" i="1">
                                <a:latin typeface="Cambria Math" panose="02040503050406030204" pitchFamily="18" charset="0"/>
                              </a:rPr>
                            </m:ctrlPr>
                          </m:fPr>
                          <m:num>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𝑇</m:t>
                                </m:r>
                              </m:e>
                              <m:sub>
                                <m:r>
                                  <a:rPr lang="en-US" altLang="zh-TW" sz="2800" i="1">
                                    <a:latin typeface="Cambria Math" panose="02040503050406030204" pitchFamily="18" charset="0"/>
                                  </a:rPr>
                                  <m:t>𝑖</m:t>
                                </m:r>
                              </m:sub>
                            </m:sSub>
                          </m:num>
                          <m:den>
                            <m:r>
                              <a:rPr lang="en-US" altLang="zh-TW" sz="2800" i="1">
                                <a:latin typeface="Cambria Math" panose="02040503050406030204" pitchFamily="18" charset="0"/>
                              </a:rPr>
                              <m:t>2</m:t>
                            </m:r>
                            <m:d>
                              <m:dPr>
                                <m:ctrlPr>
                                  <a:rPr lang="en-US" altLang="zh-TW" sz="2800" i="1">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𝑑</m:t>
                                          </m:r>
                                        </m:e>
                                        <m:sub>
                                          <m:r>
                                            <a:rPr lang="en-US" altLang="zh-TW" sz="2800" i="1">
                                              <a:latin typeface="Cambria Math" panose="02040503050406030204" pitchFamily="18" charset="0"/>
                                            </a:rPr>
                                            <m:t>𝑖</m:t>
                                          </m:r>
                                        </m:sub>
                                      </m:sSub>
                                    </m:e>
                                  </m:mr>
                                  <m:mr>
                                    <m:e>
                                      <m:r>
                                        <a:rPr lang="en-US" altLang="zh-TW" sz="2800" i="1">
                                          <a:latin typeface="Cambria Math" panose="02040503050406030204" pitchFamily="18" charset="0"/>
                                        </a:rPr>
                                        <m:t>2</m:t>
                                      </m:r>
                                    </m:e>
                                  </m:mr>
                                </m:m>
                              </m:e>
                            </m:d>
                          </m:den>
                        </m:f>
                      </m:e>
                    </m:nary>
                  </m:oMath>
                </a14:m>
                <a:r>
                  <a:rPr lang="en-US" altLang="zh-TW" sz="2800" dirty="0">
                    <a:latin typeface="Times New Roman" panose="02020603050405020304" pitchFamily="18" charset="0"/>
                    <a:cs typeface="Times New Roman" panose="02020603050405020304" pitchFamily="18" charset="0"/>
                  </a:rPr>
                  <a:t> </a:t>
                </a:r>
              </a:p>
              <a:p>
                <a:endParaRPr lang="en-US" altLang="zh-TW" sz="2400"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sz="2400" i="1">
                        <a:latin typeface="Cambria Math" panose="02040503050406030204" pitchFamily="18" charset="0"/>
                      </a:rPr>
                      <m:t>𝑆</m:t>
                    </m:r>
                    <m:r>
                      <a:rPr lang="en-US" altLang="zh-TW" sz="2400" i="1">
                        <a:latin typeface="Cambria Math" panose="02040503050406030204" pitchFamily="18" charset="0"/>
                      </a:rPr>
                      <m:t>:</m:t>
                    </m:r>
                  </m:oMath>
                </a14:m>
                <a:r>
                  <a:rPr lang="zh-TW" altLang="en-US"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 of superfamilies.</a:t>
                </a:r>
              </a:p>
              <a:p>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𝑇</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r>
                      <a:rPr lang="zh-TW" altLang="en-US" sz="2400" i="1">
                        <a:latin typeface="Cambria Math" panose="02040503050406030204" pitchFamily="18" charset="0"/>
                      </a:rPr>
                      <m:t> </m:t>
                    </m:r>
                  </m:oMath>
                </a14:m>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of </a:t>
                </a:r>
                <a:r>
                  <a:rPr lang="zh-TW" altLang="en-US" sz="2400" dirty="0">
                    <a:latin typeface="Times New Roman" panose="02020603050405020304" pitchFamily="18" charset="0"/>
                    <a:cs typeface="Times New Roman" panose="02020603050405020304" pitchFamily="18" charset="0"/>
                  </a:rPr>
                  <a:t>true positive </a:t>
                </a:r>
                <a:endParaRPr lang="en-US" altLang="zh-TW" sz="2400" dirty="0">
                  <a:latin typeface="Times New Roman" panose="02020603050405020304" pitchFamily="18" charset="0"/>
                  <a:cs typeface="Times New Roman" panose="02020603050405020304" pitchFamily="18" charset="0"/>
                </a:endParaRPr>
              </a:p>
              <a:p>
                <a:r>
                  <a:rPr lang="zh-TW" altLang="en-US" sz="2400" dirty="0">
                    <a:latin typeface="Times New Roman" panose="02020603050405020304" pitchFamily="18" charset="0"/>
                    <a:cs typeface="Times New Roman" panose="02020603050405020304" pitchFamily="18" charset="0"/>
                  </a:rPr>
                  <a:t>relations </a:t>
                </a:r>
                <a:r>
                  <a:rPr lang="en-US" altLang="zh-TW" sz="2400" dirty="0">
                    <a:latin typeface="Times New Roman" panose="02020603050405020304" pitchFamily="18" charset="0"/>
                    <a:cs typeface="Times New Roman" panose="02020603050405020304" pitchFamily="18" charset="0"/>
                  </a:rPr>
                  <a:t>in superfamily </a:t>
                </a:r>
                <a14:m>
                  <m:oMath xmlns:m="http://schemas.openxmlformats.org/officeDocument/2006/math">
                    <m:r>
                      <a:rPr lang="en-US" altLang="zh-TW" sz="2400" i="1" kern="100">
                        <a:latin typeface="Cambria Math" panose="02040503050406030204" pitchFamily="18" charset="0"/>
                        <a:cs typeface="Times New Roman" panose="02020603050405020304" pitchFamily="18" charset="0"/>
                      </a:rPr>
                      <m:t>𝑖</m:t>
                    </m:r>
                  </m:oMath>
                </a14:m>
                <a:r>
                  <a:rPr lang="en-US" altLang="zh-TW" sz="2400" dirty="0">
                    <a:latin typeface="Times New Roman" panose="02020603050405020304" pitchFamily="18" charset="0"/>
                    <a:cs typeface="Times New Roman" panose="02020603050405020304" pitchFamily="18" charset="0"/>
                  </a:rPr>
                  <a:t>.</a:t>
                </a:r>
              </a:p>
              <a:p>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𝑑</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of </a:t>
                </a:r>
                <a:r>
                  <a:rPr lang="zh-TW" altLang="en-US" sz="2400" dirty="0">
                    <a:latin typeface="Times New Roman" panose="02020603050405020304" pitchFamily="18" charset="0"/>
                    <a:cs typeface="Times New Roman" panose="02020603050405020304" pitchFamily="18" charset="0"/>
                  </a:rPr>
                  <a:t>sequences </a:t>
                </a:r>
                <a:r>
                  <a:rPr lang="en-US" altLang="zh-TW" sz="2400" dirty="0">
                    <a:latin typeface="Times New Roman" panose="02020603050405020304" pitchFamily="18" charset="0"/>
                    <a:cs typeface="Times New Roman" panose="02020603050405020304" pitchFamily="18" charset="0"/>
                  </a:rPr>
                  <a:t>in </a:t>
                </a:r>
              </a:p>
              <a:p>
                <a:r>
                  <a:rPr lang="en-US" altLang="zh-TW" sz="2400" dirty="0">
                    <a:latin typeface="Times New Roman" panose="02020603050405020304" pitchFamily="18" charset="0"/>
                    <a:cs typeface="Times New Roman" panose="02020603050405020304" pitchFamily="18" charset="0"/>
                  </a:rPr>
                  <a:t>superfamily </a:t>
                </a:r>
                <a14:m>
                  <m:oMath xmlns:m="http://schemas.openxmlformats.org/officeDocument/2006/math">
                    <m:r>
                      <a:rPr lang="en-US" altLang="zh-TW" sz="2400" i="1" kern="100">
                        <a:latin typeface="Cambria Math" panose="02040503050406030204" pitchFamily="18" charset="0"/>
                        <a:cs typeface="Times New Roman" panose="02020603050405020304" pitchFamily="18" charset="0"/>
                      </a:rPr>
                      <m:t>𝑖</m:t>
                    </m:r>
                  </m:oMath>
                </a14:m>
                <a:r>
                  <a:rPr lang="en-US" altLang="zh-TW" sz="2400" dirty="0">
                    <a:latin typeface="Times New Roman" panose="02020603050405020304" pitchFamily="18" charset="0"/>
                    <a:cs typeface="Times New Roman" panose="02020603050405020304" pitchFamily="18" charset="0"/>
                  </a:rPr>
                  <a:t>.</a:t>
                </a:r>
              </a:p>
            </p:txBody>
          </p:sp>
        </mc:Choice>
        <mc:Fallback xmlns="">
          <p:sp>
            <p:nvSpPr>
              <p:cNvPr id="5" name="矩形 4">
                <a:extLst>
                  <a:ext uri="{FF2B5EF4-FFF2-40B4-BE49-F238E27FC236}">
                    <a16:creationId xmlns:a16="http://schemas.microsoft.com/office/drawing/2014/main" id="{EB5407A0-D644-4DDB-B620-5C5BAE7AFD52}"/>
                  </a:ext>
                </a:extLst>
              </p:cNvPr>
              <p:cNvSpPr>
                <a:spLocks noRot="1" noChangeAspect="1" noMove="1" noResize="1" noEditPoints="1" noAdjustHandles="1" noChangeArrowheads="1" noChangeShapeType="1" noTextEdit="1"/>
              </p:cNvSpPr>
              <p:nvPr/>
            </p:nvSpPr>
            <p:spPr>
              <a:xfrm>
                <a:off x="107504" y="908949"/>
                <a:ext cx="8064896" cy="3521413"/>
              </a:xfrm>
              <a:prstGeom prst="rect">
                <a:avLst/>
              </a:prstGeom>
              <a:blipFill>
                <a:blip r:embed="rId3"/>
                <a:stretch>
                  <a:fillRect l="-1209" b="-294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44C0212-DCEE-44E5-AE52-6D8C770C64C8}"/>
              </a:ext>
            </a:extLst>
          </p:cNvPr>
          <p:cNvSpPr>
            <a:spLocks noGrp="1"/>
          </p:cNvSpPr>
          <p:nvPr>
            <p:ph type="sldNum" sz="quarter" idx="12"/>
          </p:nvPr>
        </p:nvSpPr>
        <p:spPr/>
        <p:txBody>
          <a:bodyPr/>
          <a:lstStyle/>
          <a:p>
            <a:fld id="{04C04D6A-2E29-441A-A244-9F1014899F6D}" type="slidenum">
              <a:rPr lang="zh-TW" altLang="en-US" smtClean="0"/>
              <a:pPr/>
              <a:t>8</a:t>
            </a:fld>
            <a:endParaRPr lang="zh-TW" altLang="en-US"/>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FFD1E94B-930F-4E7C-A0FB-88918526D3BC}"/>
                  </a:ext>
                </a:extLst>
              </p:cNvPr>
              <p:cNvGraphicFramePr>
                <a:graphicFrameLocks noGrp="1"/>
              </p:cNvGraphicFramePr>
              <p:nvPr>
                <p:extLst>
                  <p:ext uri="{D42A27DB-BD31-4B8C-83A1-F6EECF244321}">
                    <p14:modId xmlns:p14="http://schemas.microsoft.com/office/powerpoint/2010/main" val="2717548209"/>
                  </p:ext>
                </p:extLst>
              </p:nvPr>
            </p:nvGraphicFramePr>
            <p:xfrm>
              <a:off x="3394712" y="1052736"/>
              <a:ext cx="5616624" cy="5142146"/>
            </p:xfrm>
            <a:graphic>
              <a:graphicData uri="http://schemas.openxmlformats.org/drawingml/2006/table">
                <a:tbl>
                  <a:tblPr firstRow="1" bandRow="1">
                    <a:tableStyleId>{5940675A-B579-460E-94D1-54222C63F5DA}</a:tableStyleId>
                  </a:tblPr>
                  <a:tblGrid>
                    <a:gridCol w="1080120">
                      <a:extLst>
                        <a:ext uri="{9D8B030D-6E8A-4147-A177-3AD203B41FA5}">
                          <a16:colId xmlns:a16="http://schemas.microsoft.com/office/drawing/2014/main" val="20001"/>
                        </a:ext>
                      </a:extLst>
                    </a:gridCol>
                    <a:gridCol w="1105280">
                      <a:extLst>
                        <a:ext uri="{9D8B030D-6E8A-4147-A177-3AD203B41FA5}">
                          <a16:colId xmlns:a16="http://schemas.microsoft.com/office/drawing/2014/main" val="2225489132"/>
                        </a:ext>
                      </a:extLst>
                    </a:gridCol>
                    <a:gridCol w="3431224">
                      <a:extLst>
                        <a:ext uri="{9D8B030D-6E8A-4147-A177-3AD203B41FA5}">
                          <a16:colId xmlns:a16="http://schemas.microsoft.com/office/drawing/2014/main" val="957291811"/>
                        </a:ext>
                      </a:extLst>
                    </a:gridCol>
                  </a:tblGrid>
                  <a:tr h="415784">
                    <a:tc gridSpan="2">
                      <a:txBody>
                        <a:bodyPr/>
                        <a:lstStyle/>
                        <a:p>
                          <a:pPr algn="ctr"/>
                          <a:r>
                            <a:rPr lang="en-US" altLang="zh-TW" sz="1600" b="1" dirty="0">
                              <a:latin typeface="Times New Roman" panose="02020603050405020304" pitchFamily="18" charset="0"/>
                              <a:cs typeface="Times New Roman" panose="02020603050405020304" pitchFamily="18" charset="0"/>
                            </a:rPr>
                            <a:t>SSEARCH results</a:t>
                          </a:r>
                          <a:endParaRPr lang="zh-TW" altLang="en-US" sz="1600" b="1"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rowSpan="2">
                      <a:txBody>
                        <a:bodyPr/>
                        <a:lstStyle/>
                        <a:p>
                          <a:pPr algn="ctr"/>
                          <a:r>
                            <a:rPr lang="en-US" altLang="zh-TW" sz="1600" b="1">
                              <a:latin typeface="Times New Roman" panose="02020603050405020304" pitchFamily="18" charset="0"/>
                              <a:cs typeface="Times New Roman" panose="02020603050405020304" pitchFamily="18" charset="0"/>
                            </a:rPr>
                            <a:t>Coverage</a:t>
                          </a:r>
                          <a:endParaRPr lang="zh-TW" altLang="en-US"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334121">
                    <a:tc>
                      <a:txBody>
                        <a:bodyPr/>
                        <a:lstStyle/>
                        <a:p>
                          <a:pPr algn="ctr"/>
                          <a:r>
                            <a:rPr lang="en-US" altLang="zh-TW" sz="1600" b="1" dirty="0">
                              <a:latin typeface="Times New Roman" panose="02020603050405020304" pitchFamily="18" charset="0"/>
                              <a:cs typeface="Times New Roman" panose="02020603050405020304" pitchFamily="18" charset="0"/>
                            </a:rPr>
                            <a:t>Query</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Target</a:t>
                          </a:r>
                          <a:endParaRPr lang="zh-TW" altLang="en-US" sz="1600" b="1" dirty="0">
                            <a:latin typeface="Times New Roman" panose="02020603050405020304" pitchFamily="18" charset="0"/>
                            <a:cs typeface="Times New Roman" panose="02020603050405020304" pitchFamily="18" charset="0"/>
                          </a:endParaRPr>
                        </a:p>
                      </a:txBody>
                      <a:tcPr anchor="ctr"/>
                    </a:tc>
                    <a:tc vMerge="1">
                      <a:txBody>
                        <a:bodyPr/>
                        <a:lstStyle/>
                        <a:p>
                          <a:endParaRPr lang="zh-TW" altLang="en-US"/>
                        </a:p>
                      </a:txBody>
                      <a:tcPr/>
                    </a:tc>
                    <a:extLst>
                      <a:ext uri="{0D108BD9-81ED-4DB2-BD59-A6C34878D82A}">
                        <a16:rowId xmlns:a16="http://schemas.microsoft.com/office/drawing/2014/main" val="10001"/>
                      </a:ext>
                    </a:extLst>
                  </a:tr>
                  <a:tr h="6637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Q7Z2Z1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Q8BQ33</a:t>
                          </a:r>
                          <a:r>
                            <a:rPr lang="zh-TW" altLang="en-US" sz="1600" dirty="0">
                              <a:latin typeface="Times New Roman" panose="02020603050405020304" pitchFamily="18" charset="0"/>
                              <a:cs typeface="Times New Roman" panose="02020603050405020304" pitchFamily="18" charset="0"/>
                            </a:rPr>
                            <a:t> </a:t>
                          </a:r>
                          <a:r>
                            <a:rPr lang="en-US" altLang="zh-TW" sz="1600" b="1" dirty="0">
                              <a:solidFill>
                                <a:srgbClr val="FF0000"/>
                              </a:solidFill>
                              <a:latin typeface="Times New Roman" panose="02020603050405020304" pitchFamily="18" charset="0"/>
                              <a:cs typeface="Times New Roman" panose="02020603050405020304" pitchFamily="18" charset="0"/>
                            </a:rPr>
                            <a:t>c.1.10.2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1800" i="1" smtClean="0">
                                      <a:solidFill>
                                        <a:srgbClr val="FF0000"/>
                                      </a:solidFill>
                                      <a:latin typeface="Cambria Math" panose="02040503050406030204" pitchFamily="18" charset="0"/>
                                    </a:rPr>
                                  </m:ctrlPr>
                                </m:fPr>
                                <m:num>
                                  <m:r>
                                    <a:rPr lang="en-US" altLang="zh-TW" sz="1800" i="1">
                                      <a:solidFill>
                                        <a:srgbClr val="FF0000"/>
                                      </a:solidFill>
                                      <a:latin typeface="Cambria Math" panose="02040503050406030204" pitchFamily="18" charset="0"/>
                                    </a:rPr>
                                    <m:t>1</m:t>
                                  </m:r>
                                </m:num>
                                <m:den>
                                  <m:r>
                                    <a:rPr lang="en-US" altLang="zh-TW" sz="1800" i="1" smtClean="0">
                                      <a:solidFill>
                                        <a:srgbClr val="FF0000"/>
                                      </a:solidFill>
                                      <a:latin typeface="Cambria Math" panose="02040503050406030204" pitchFamily="18" charset="0"/>
                                    </a:rPr>
                                    <m:t>2</m:t>
                                  </m:r>
                                  <m:d>
                                    <m:dPr>
                                      <m:ctrlPr>
                                        <a:rPr lang="en-US" altLang="zh-TW" sz="1800" i="1">
                                          <a:solidFill>
                                            <a:srgbClr val="FF0000"/>
                                          </a:solidFill>
                                          <a:latin typeface="Cambria Math" panose="02040503050406030204" pitchFamily="18" charset="0"/>
                                        </a:rPr>
                                      </m:ctrlPr>
                                    </m:dPr>
                                    <m:e>
                                      <m:m>
                                        <m:mPr>
                                          <m:mcs>
                                            <m:mc>
                                              <m:mcPr>
                                                <m:count m:val="1"/>
                                                <m:mcJc m:val="center"/>
                                              </m:mcPr>
                                            </m:mc>
                                          </m:mcs>
                                          <m:ctrlPr>
                                            <a:rPr lang="en-US" altLang="zh-TW" sz="1800" i="1">
                                              <a:solidFill>
                                                <a:srgbClr val="FF0000"/>
                                              </a:solidFill>
                                              <a:latin typeface="Cambria Math" panose="02040503050406030204" pitchFamily="18" charset="0"/>
                                            </a:rPr>
                                          </m:ctrlPr>
                                        </m:mPr>
                                        <m:mr>
                                          <m:e>
                                            <m:r>
                                              <m:rPr>
                                                <m:brk m:alnAt="7"/>
                                              </m:rPr>
                                              <a:rPr lang="en-US" altLang="zh-TW" sz="1800" b="0" i="1" smtClean="0">
                                                <a:solidFill>
                                                  <a:srgbClr val="FF0000"/>
                                                </a:solidFill>
                                                <a:latin typeface="Cambria Math" panose="02040503050406030204" pitchFamily="18" charset="0"/>
                                              </a:rPr>
                                              <m:t>3</m:t>
                                            </m:r>
                                          </m:e>
                                        </m:mr>
                                        <m:mr>
                                          <m:e>
                                            <m:r>
                                              <a:rPr lang="en-US" altLang="zh-TW" sz="1800" i="1">
                                                <a:solidFill>
                                                  <a:srgbClr val="FF0000"/>
                                                </a:solidFill>
                                                <a:latin typeface="Cambria Math" panose="02040503050406030204" pitchFamily="18" charset="0"/>
                                              </a:rPr>
                                              <m:t>2</m:t>
                                            </m:r>
                                          </m:e>
                                        </m:mr>
                                      </m:m>
                                    </m:e>
                                  </m:d>
                                </m:den>
                              </m:f>
                            </m:oMath>
                          </a14:m>
                          <a:r>
                            <a:rPr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f>
                                <m:fPr>
                                  <m:ctrlPr>
                                    <a:rPr lang="en-US" altLang="zh-TW" sz="1800" i="1" smtClean="0">
                                      <a:solidFill>
                                        <a:srgbClr val="FF0000"/>
                                      </a:solidFill>
                                      <a:latin typeface="Cambria Math" panose="02040503050406030204" pitchFamily="18" charset="0"/>
                                    </a:rPr>
                                  </m:ctrlPr>
                                </m:fPr>
                                <m:num>
                                  <m:r>
                                    <a:rPr lang="en-US" altLang="zh-TW" sz="1800" i="1">
                                      <a:solidFill>
                                        <a:srgbClr val="FF0000"/>
                                      </a:solidFill>
                                      <a:latin typeface="Cambria Math" panose="02040503050406030204" pitchFamily="18" charset="0"/>
                                    </a:rPr>
                                    <m:t>1</m:t>
                                  </m:r>
                                </m:num>
                                <m:den>
                                  <m:r>
                                    <a:rPr lang="en-US" altLang="zh-TW" sz="1800" b="0" i="1" smtClean="0">
                                      <a:solidFill>
                                        <a:srgbClr val="FF0000"/>
                                      </a:solidFill>
                                      <a:latin typeface="Cambria Math" panose="02040503050406030204" pitchFamily="18" charset="0"/>
                                    </a:rPr>
                                    <m:t>6</m:t>
                                  </m:r>
                                </m:den>
                              </m:f>
                              <m:r>
                                <a:rPr lang="en-US" altLang="zh-TW" sz="1800" b="0" i="1" smtClean="0">
                                  <a:latin typeface="Cambria Math" panose="02040503050406030204" pitchFamily="18" charset="0"/>
                                </a:rPr>
                                <m:t>=</m:t>
                              </m:r>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18</m:t>
                                  </m:r>
                                </m:den>
                              </m:f>
                            </m:oMath>
                          </a14:m>
                          <a:r>
                            <a:rPr lang="en-US" altLang="zh-TW" sz="1800" dirty="0">
                              <a:latin typeface="Times New Roman" panose="02020603050405020304" pitchFamily="18" charset="0"/>
                              <a:cs typeface="Times New Roman" panose="02020603050405020304" pitchFamily="18" charset="0"/>
                            </a:rPr>
                            <a:t> = 0.055</a:t>
                          </a:r>
                          <a:endParaRPr lang="zh-TW" altLang="en-US" sz="1800" b="1"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3"/>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Q7Z2Z1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D3IUT5 </a:t>
                          </a:r>
                          <a:r>
                            <a:rPr lang="en-US" altLang="zh-TW" sz="1600" b="1" dirty="0">
                              <a:solidFill>
                                <a:srgbClr val="FF0000"/>
                              </a:solidFill>
                              <a:latin typeface="Times New Roman" panose="02020603050405020304" pitchFamily="18" charset="0"/>
                              <a:cs typeface="Times New Roman" panose="02020603050405020304" pitchFamily="18" charset="0"/>
                            </a:rPr>
                            <a:t>c.1.10.3</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1800" i="1" smtClean="0">
                                      <a:solidFill>
                                        <a:srgbClr val="FF0000"/>
                                      </a:solidFill>
                                      <a:latin typeface="Cambria Math" panose="02040503050406030204" pitchFamily="18" charset="0"/>
                                    </a:rPr>
                                  </m:ctrlPr>
                                </m:fPr>
                                <m:num>
                                  <m:r>
                                    <a:rPr lang="en-US" altLang="zh-TW" sz="1800" b="0" i="1" smtClean="0">
                                      <a:solidFill>
                                        <a:srgbClr val="FF0000"/>
                                      </a:solidFill>
                                      <a:latin typeface="Cambria Math" panose="02040503050406030204" pitchFamily="18" charset="0"/>
                                    </a:rPr>
                                    <m:t>2</m:t>
                                  </m:r>
                                </m:num>
                                <m:den>
                                  <m:r>
                                    <a:rPr lang="en-US" altLang="zh-TW" sz="1800" i="1" smtClean="0">
                                      <a:solidFill>
                                        <a:srgbClr val="FF0000"/>
                                      </a:solidFill>
                                      <a:latin typeface="Cambria Math" panose="02040503050406030204" pitchFamily="18" charset="0"/>
                                    </a:rPr>
                                    <m:t>2</m:t>
                                  </m:r>
                                  <m:d>
                                    <m:dPr>
                                      <m:ctrlPr>
                                        <a:rPr lang="en-US" altLang="zh-TW" sz="1800" i="1">
                                          <a:solidFill>
                                            <a:srgbClr val="FF0000"/>
                                          </a:solidFill>
                                          <a:latin typeface="Cambria Math" panose="02040503050406030204" pitchFamily="18" charset="0"/>
                                        </a:rPr>
                                      </m:ctrlPr>
                                    </m:dPr>
                                    <m:e>
                                      <m:m>
                                        <m:mPr>
                                          <m:mcs>
                                            <m:mc>
                                              <m:mcPr>
                                                <m:count m:val="1"/>
                                                <m:mcJc m:val="center"/>
                                              </m:mcPr>
                                            </m:mc>
                                          </m:mcs>
                                          <m:ctrlPr>
                                            <a:rPr lang="en-US" altLang="zh-TW" sz="1800" i="1">
                                              <a:solidFill>
                                                <a:srgbClr val="FF0000"/>
                                              </a:solidFill>
                                              <a:latin typeface="Cambria Math" panose="02040503050406030204" pitchFamily="18" charset="0"/>
                                            </a:rPr>
                                          </m:ctrlPr>
                                        </m:mPr>
                                        <m:mr>
                                          <m:e>
                                            <m:r>
                                              <m:rPr>
                                                <m:brk m:alnAt="7"/>
                                              </m:rPr>
                                              <a:rPr lang="en-US" altLang="zh-TW" sz="1800" b="0" i="1" smtClean="0">
                                                <a:solidFill>
                                                  <a:srgbClr val="FF0000"/>
                                                </a:solidFill>
                                                <a:latin typeface="Cambria Math" panose="02040503050406030204" pitchFamily="18" charset="0"/>
                                              </a:rPr>
                                              <m:t>3</m:t>
                                            </m:r>
                                          </m:e>
                                        </m:mr>
                                        <m:mr>
                                          <m:e>
                                            <m:r>
                                              <a:rPr lang="en-US" altLang="zh-TW" sz="1800" i="1">
                                                <a:solidFill>
                                                  <a:srgbClr val="FF0000"/>
                                                </a:solidFill>
                                                <a:latin typeface="Cambria Math" panose="02040503050406030204" pitchFamily="18" charset="0"/>
                                              </a:rPr>
                                              <m:t>2</m:t>
                                            </m:r>
                                          </m:e>
                                        </m:mr>
                                      </m:m>
                                    </m:e>
                                  </m:d>
                                </m:den>
                              </m:f>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f>
                                <m:fPr>
                                  <m:ctrlPr>
                                    <a:rPr lang="en-US" altLang="zh-TW" sz="1800" i="1" smtClean="0">
                                      <a:solidFill>
                                        <a:srgbClr val="FF0000"/>
                                      </a:solidFill>
                                      <a:latin typeface="Cambria Math" panose="02040503050406030204" pitchFamily="18" charset="0"/>
                                    </a:rPr>
                                  </m:ctrlPr>
                                </m:fPr>
                                <m:num>
                                  <m:r>
                                    <a:rPr lang="en-US" altLang="zh-TW" sz="1800" b="0" i="1" smtClean="0">
                                      <a:solidFill>
                                        <a:srgbClr val="FF0000"/>
                                      </a:solidFill>
                                      <a:latin typeface="Cambria Math" panose="02040503050406030204" pitchFamily="18" charset="0"/>
                                    </a:rPr>
                                    <m:t>2</m:t>
                                  </m:r>
                                </m:num>
                                <m:den>
                                  <m:r>
                                    <a:rPr lang="en-US" altLang="zh-TW" sz="1800" b="0" i="1" smtClean="0">
                                      <a:solidFill>
                                        <a:srgbClr val="FF0000"/>
                                      </a:solidFill>
                                      <a:latin typeface="Cambria Math" panose="02040503050406030204" pitchFamily="18" charset="0"/>
                                    </a:rPr>
                                    <m:t>6</m:t>
                                  </m:r>
                                </m:den>
                              </m:f>
                              <m:r>
                                <a:rPr lang="en-US" altLang="zh-TW" sz="1800" b="0" i="1" smtClean="0">
                                  <a:latin typeface="Cambria Math" panose="02040503050406030204" pitchFamily="18" charset="0"/>
                                </a:rPr>
                                <m:t>=</m:t>
                              </m:r>
                              <m:f>
                                <m:fPr>
                                  <m:ctrlPr>
                                    <a:rPr lang="en-US" altLang="zh-TW" sz="1800" i="1" smtClean="0">
                                      <a:latin typeface="Cambria Math" panose="02040503050406030204" pitchFamily="18" charset="0"/>
                                    </a:rPr>
                                  </m:ctrlPr>
                                </m:fPr>
                                <m:num>
                                  <m:r>
                                    <a:rPr lang="en-US" altLang="zh-TW" sz="1800" b="0" i="1" smtClean="0">
                                      <a:latin typeface="Cambria Math" panose="02040503050406030204" pitchFamily="18" charset="0"/>
                                    </a:rPr>
                                    <m:t>2</m:t>
                                  </m:r>
                                </m:num>
                                <m:den>
                                  <m:r>
                                    <a:rPr lang="en-US" altLang="zh-TW" sz="1800" b="0" i="1" smtClean="0">
                                      <a:latin typeface="Cambria Math" panose="02040503050406030204" pitchFamily="18" charset="0"/>
                                    </a:rPr>
                                    <m:t>18</m:t>
                                  </m:r>
                                </m:den>
                              </m:f>
                            </m:oMath>
                          </a14:m>
                          <a:r>
                            <a:rPr lang="en-US" altLang="zh-TW" sz="1800" dirty="0">
                              <a:latin typeface="Times New Roman" panose="02020603050405020304" pitchFamily="18" charset="0"/>
                              <a:cs typeface="Times New Roman" panose="02020603050405020304" pitchFamily="18" charset="0"/>
                            </a:rPr>
                            <a:t> = 0.111</a:t>
                          </a:r>
                          <a:endParaRPr lang="zh-TW" altLang="en-US" sz="1800" b="1"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4"/>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oMath>
                          </a14:m>
                          <a:r>
                            <a:rPr lang="en-US" altLang="zh-TW" sz="1800" dirty="0">
                              <a:latin typeface="Times New Roman" panose="02020603050405020304" pitchFamily="18" charset="0"/>
                              <a:cs typeface="Times New Roman" panose="02020603050405020304" pitchFamily="18" charset="0"/>
                            </a:rPr>
                            <a:t> (</a:t>
                          </a:r>
                          <a:r>
                            <a:rPr lang="zh-TW" altLang="en-US" sz="1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1800" i="1" smtClean="0">
                                      <a:solidFill>
                                        <a:srgbClr val="FF0000"/>
                                      </a:solidFill>
                                      <a:latin typeface="Cambria Math" panose="02040503050406030204" pitchFamily="18" charset="0"/>
                                    </a:rPr>
                                  </m:ctrlPr>
                                </m:fPr>
                                <m:num>
                                  <m:r>
                                    <a:rPr lang="en-US" altLang="zh-TW" sz="1800" b="0" i="1" smtClean="0">
                                      <a:solidFill>
                                        <a:srgbClr val="FF0000"/>
                                      </a:solidFill>
                                      <a:latin typeface="Cambria Math" panose="02040503050406030204" pitchFamily="18" charset="0"/>
                                    </a:rPr>
                                    <m:t>2</m:t>
                                  </m:r>
                                </m:num>
                                <m:den>
                                  <m:r>
                                    <a:rPr lang="en-US" altLang="zh-TW" sz="1800" i="1" smtClean="0">
                                      <a:solidFill>
                                        <a:srgbClr val="FF0000"/>
                                      </a:solidFill>
                                      <a:latin typeface="Cambria Math" panose="02040503050406030204" pitchFamily="18" charset="0"/>
                                    </a:rPr>
                                    <m:t>2</m:t>
                                  </m:r>
                                  <m:d>
                                    <m:dPr>
                                      <m:ctrlPr>
                                        <a:rPr lang="en-US" altLang="zh-TW" sz="1800" i="1">
                                          <a:solidFill>
                                            <a:srgbClr val="FF0000"/>
                                          </a:solidFill>
                                          <a:latin typeface="Cambria Math" panose="02040503050406030204" pitchFamily="18" charset="0"/>
                                        </a:rPr>
                                      </m:ctrlPr>
                                    </m:dPr>
                                    <m:e>
                                      <m:m>
                                        <m:mPr>
                                          <m:mcs>
                                            <m:mc>
                                              <m:mcPr>
                                                <m:count m:val="1"/>
                                                <m:mcJc m:val="center"/>
                                              </m:mcPr>
                                            </m:mc>
                                          </m:mcs>
                                          <m:ctrlPr>
                                            <a:rPr lang="en-US" altLang="zh-TW" sz="1800" i="1">
                                              <a:solidFill>
                                                <a:srgbClr val="FF0000"/>
                                              </a:solidFill>
                                              <a:latin typeface="Cambria Math" panose="02040503050406030204" pitchFamily="18" charset="0"/>
                                            </a:rPr>
                                          </m:ctrlPr>
                                        </m:mPr>
                                        <m:mr>
                                          <m:e>
                                            <m:r>
                                              <m:rPr>
                                                <m:brk m:alnAt="7"/>
                                              </m:rPr>
                                              <a:rPr lang="en-US" altLang="zh-TW" sz="1800" b="0" i="1" smtClean="0">
                                                <a:solidFill>
                                                  <a:srgbClr val="FF0000"/>
                                                </a:solidFill>
                                                <a:latin typeface="Cambria Math" panose="02040503050406030204" pitchFamily="18" charset="0"/>
                                              </a:rPr>
                                              <m:t>3</m:t>
                                            </m:r>
                                          </m:e>
                                        </m:mr>
                                        <m:mr>
                                          <m:e>
                                            <m:r>
                                              <a:rPr lang="en-US" altLang="zh-TW" sz="1800" i="1">
                                                <a:solidFill>
                                                  <a:srgbClr val="FF0000"/>
                                                </a:solidFill>
                                                <a:latin typeface="Cambria Math" panose="02040503050406030204" pitchFamily="18" charset="0"/>
                                              </a:rPr>
                                              <m:t>2</m:t>
                                            </m:r>
                                          </m:e>
                                        </m:mr>
                                      </m:m>
                                    </m:e>
                                  </m:d>
                                </m:den>
                              </m:f>
                            </m:oMath>
                          </a14:m>
                          <a:r>
                            <a:rPr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1800" i="1" smtClean="0">
                                      <a:solidFill>
                                        <a:srgbClr val="00B050"/>
                                      </a:solidFill>
                                      <a:latin typeface="Cambria Math" panose="02040503050406030204" pitchFamily="18" charset="0"/>
                                    </a:rPr>
                                  </m:ctrlPr>
                                </m:fPr>
                                <m:num>
                                  <m:r>
                                    <a:rPr lang="en-US" altLang="zh-TW" sz="1800" b="0" i="1" smtClean="0">
                                      <a:solidFill>
                                        <a:srgbClr val="00B050"/>
                                      </a:solidFill>
                                      <a:latin typeface="Cambria Math" panose="02040503050406030204" pitchFamily="18" charset="0"/>
                                    </a:rPr>
                                    <m:t>0</m:t>
                                  </m:r>
                                </m:num>
                                <m:den>
                                  <m:r>
                                    <a:rPr lang="en-US" altLang="zh-TW" sz="1800" i="1" smtClean="0">
                                      <a:solidFill>
                                        <a:srgbClr val="00B050"/>
                                      </a:solidFill>
                                      <a:latin typeface="Cambria Math" panose="02040503050406030204" pitchFamily="18" charset="0"/>
                                    </a:rPr>
                                    <m:t>2</m:t>
                                  </m:r>
                                  <m:d>
                                    <m:dPr>
                                      <m:ctrlPr>
                                        <a:rPr lang="en-US" altLang="zh-TW" sz="1800" i="1">
                                          <a:solidFill>
                                            <a:srgbClr val="00B050"/>
                                          </a:solidFill>
                                          <a:latin typeface="Cambria Math" panose="02040503050406030204" pitchFamily="18" charset="0"/>
                                        </a:rPr>
                                      </m:ctrlPr>
                                    </m:dPr>
                                    <m:e>
                                      <m:m>
                                        <m:mPr>
                                          <m:mcs>
                                            <m:mc>
                                              <m:mcPr>
                                                <m:count m:val="1"/>
                                                <m:mcJc m:val="center"/>
                                              </m:mcPr>
                                            </m:mc>
                                          </m:mcs>
                                          <m:ctrlPr>
                                            <a:rPr lang="en-US" altLang="zh-TW" sz="1800" i="1">
                                              <a:solidFill>
                                                <a:srgbClr val="00B050"/>
                                              </a:solidFill>
                                              <a:latin typeface="Cambria Math" panose="02040503050406030204" pitchFamily="18" charset="0"/>
                                            </a:rPr>
                                          </m:ctrlPr>
                                        </m:mPr>
                                        <m:mr>
                                          <m:e>
                                            <m:r>
                                              <m:rPr>
                                                <m:brk m:alnAt="7"/>
                                              </m:rPr>
                                              <a:rPr lang="en-US" altLang="zh-TW" sz="1800" b="0" i="1" smtClean="0">
                                                <a:solidFill>
                                                  <a:srgbClr val="00B050"/>
                                                </a:solidFill>
                                                <a:latin typeface="Cambria Math" panose="02040503050406030204" pitchFamily="18" charset="0"/>
                                              </a:rPr>
                                              <m:t>3</m:t>
                                            </m:r>
                                          </m:e>
                                        </m:mr>
                                        <m:mr>
                                          <m:e>
                                            <m:r>
                                              <a:rPr lang="en-US" altLang="zh-TW" sz="1800" i="1">
                                                <a:solidFill>
                                                  <a:srgbClr val="00B050"/>
                                                </a:solidFill>
                                                <a:latin typeface="Cambria Math" panose="02040503050406030204" pitchFamily="18" charset="0"/>
                                              </a:rPr>
                                              <m:t>2</m:t>
                                            </m:r>
                                          </m:e>
                                        </m:mr>
                                      </m:m>
                                    </m:e>
                                  </m:d>
                                </m:den>
                              </m:f>
                              <m:r>
                                <a:rPr lang="en-US" altLang="zh-TW" sz="1800" b="0" i="0" smtClean="0">
                                  <a:latin typeface="Cambria Math" panose="02040503050406030204" pitchFamily="18" charset="0"/>
                                </a:rPr>
                                <m:t> </m:t>
                              </m:r>
                            </m:oMath>
                          </a14:m>
                          <a:r>
                            <a:rPr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1800" i="1" smtClean="0">
                                      <a:solidFill>
                                        <a:srgbClr val="FF0000"/>
                                      </a:solidFill>
                                      <a:latin typeface="Cambria Math" panose="02040503050406030204" pitchFamily="18" charset="0"/>
                                    </a:rPr>
                                  </m:ctrlPr>
                                </m:fPr>
                                <m:num>
                                  <m:r>
                                    <a:rPr lang="en-US" altLang="zh-TW" sz="1800" b="0" i="1" smtClean="0">
                                      <a:solidFill>
                                        <a:srgbClr val="FF0000"/>
                                      </a:solidFill>
                                      <a:latin typeface="Cambria Math" panose="02040503050406030204" pitchFamily="18" charset="0"/>
                                    </a:rPr>
                                    <m:t>2</m:t>
                                  </m:r>
                                </m:num>
                                <m:den>
                                  <m:r>
                                    <a:rPr lang="en-US" altLang="zh-TW" sz="1800" b="0" i="1" smtClean="0">
                                      <a:solidFill>
                                        <a:srgbClr val="FF0000"/>
                                      </a:solidFill>
                                      <a:latin typeface="Cambria Math" panose="02040503050406030204" pitchFamily="18" charset="0"/>
                                    </a:rPr>
                                    <m:t>6</m:t>
                                  </m:r>
                                </m:den>
                              </m:f>
                            </m:oMath>
                          </a14:m>
                          <a:r>
                            <a:rPr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1800" i="1" smtClean="0">
                                      <a:solidFill>
                                        <a:srgbClr val="00B050"/>
                                      </a:solidFill>
                                      <a:latin typeface="Cambria Math" panose="02040503050406030204" pitchFamily="18" charset="0"/>
                                    </a:rPr>
                                  </m:ctrlPr>
                                </m:fPr>
                                <m:num>
                                  <m:r>
                                    <a:rPr lang="en-US" altLang="zh-TW" sz="1800" b="0" i="1" smtClean="0">
                                      <a:solidFill>
                                        <a:srgbClr val="00B050"/>
                                      </a:solidFill>
                                      <a:latin typeface="Cambria Math" panose="02040503050406030204" pitchFamily="18" charset="0"/>
                                    </a:rPr>
                                    <m:t>0</m:t>
                                  </m:r>
                                </m:num>
                                <m:den>
                                  <m:r>
                                    <a:rPr lang="en-US" altLang="zh-TW" sz="1800" b="0" i="1" smtClean="0">
                                      <a:solidFill>
                                        <a:srgbClr val="00B050"/>
                                      </a:solidFill>
                                      <a:latin typeface="Cambria Math" panose="02040503050406030204" pitchFamily="18" charset="0"/>
                                    </a:rPr>
                                    <m:t>6</m:t>
                                  </m:r>
                                </m:den>
                              </m:f>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800" b="0" i="1" smtClean="0">
                                  <a:latin typeface="Cambria Math" panose="02040503050406030204" pitchFamily="18" charset="0"/>
                                </a:rPr>
                                <m:t>=</m:t>
                              </m:r>
                              <m:f>
                                <m:fPr>
                                  <m:ctrlPr>
                                    <a:rPr lang="en-US" altLang="zh-TW" sz="1800" i="1" smtClean="0">
                                      <a:latin typeface="Cambria Math" panose="02040503050406030204" pitchFamily="18" charset="0"/>
                                    </a:rPr>
                                  </m:ctrlPr>
                                </m:fPr>
                                <m:num>
                                  <m:r>
                                    <a:rPr lang="en-US" altLang="zh-TW" sz="1800" b="0" i="1" smtClean="0">
                                      <a:latin typeface="Cambria Math" panose="02040503050406030204" pitchFamily="18" charset="0"/>
                                    </a:rPr>
                                    <m:t>2</m:t>
                                  </m:r>
                                </m:num>
                                <m:den>
                                  <m:r>
                                    <a:rPr lang="en-US" altLang="zh-TW" sz="1800" b="0" i="1" smtClean="0">
                                      <a:latin typeface="Cambria Math" panose="02040503050406030204" pitchFamily="18" charset="0"/>
                                    </a:rPr>
                                    <m:t>18</m:t>
                                  </m:r>
                                </m:den>
                              </m:f>
                            </m:oMath>
                          </a14:m>
                          <a:r>
                            <a:rPr lang="en-US" altLang="zh-TW" sz="1800" dirty="0">
                              <a:latin typeface="Times New Roman" panose="02020603050405020304" pitchFamily="18" charset="0"/>
                              <a:cs typeface="Times New Roman" panose="02020603050405020304" pitchFamily="18" charset="0"/>
                            </a:rPr>
                            <a:t> = 0.111</a:t>
                          </a:r>
                          <a:endParaRPr lang="zh-TW" altLang="en-US" sz="1800" b="1"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70710400"/>
                      </a:ext>
                    </a:extLst>
                  </a:tr>
                  <a:tr h="663843">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P38990 </a:t>
                          </a:r>
                          <a:r>
                            <a:rPr lang="en-US" altLang="zh-TW" sz="1600" b="1" dirty="0">
                              <a:solidFill>
                                <a:srgbClr val="00B050"/>
                              </a:solidFill>
                              <a:latin typeface="Times New Roman" panose="02020603050405020304" pitchFamily="18" charset="0"/>
                              <a:cs typeface="Times New Roman" panose="02020603050405020304" pitchFamily="18" charset="0"/>
                            </a:rPr>
                            <a:t>c.1.699.4</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oMath>
                          </a14:m>
                          <a:r>
                            <a:rPr lang="en-US" altLang="zh-TW" sz="1800" dirty="0">
                              <a:latin typeface="Times New Roman" panose="02020603050405020304" pitchFamily="18" charset="0"/>
                              <a:cs typeface="Times New Roman" panose="02020603050405020304" pitchFamily="18" charset="0"/>
                            </a:rPr>
                            <a:t> (</a:t>
                          </a:r>
                          <a:r>
                            <a:rPr lang="zh-TW" altLang="en-US" sz="1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1800" i="1" smtClean="0">
                                      <a:solidFill>
                                        <a:srgbClr val="FF0000"/>
                                      </a:solidFill>
                                      <a:latin typeface="Cambria Math" panose="02040503050406030204" pitchFamily="18" charset="0"/>
                                    </a:rPr>
                                  </m:ctrlPr>
                                </m:fPr>
                                <m:num>
                                  <m:r>
                                    <a:rPr lang="en-US" altLang="zh-TW" sz="1800" b="0" i="1" smtClean="0">
                                      <a:solidFill>
                                        <a:srgbClr val="FF0000"/>
                                      </a:solidFill>
                                      <a:latin typeface="Cambria Math" panose="02040503050406030204" pitchFamily="18" charset="0"/>
                                    </a:rPr>
                                    <m:t>2</m:t>
                                  </m:r>
                                </m:num>
                                <m:den>
                                  <m:r>
                                    <a:rPr lang="en-US" altLang="zh-TW" sz="1800" i="1" smtClean="0">
                                      <a:solidFill>
                                        <a:srgbClr val="FF0000"/>
                                      </a:solidFill>
                                      <a:latin typeface="Cambria Math" panose="02040503050406030204" pitchFamily="18" charset="0"/>
                                    </a:rPr>
                                    <m:t>2</m:t>
                                  </m:r>
                                  <m:d>
                                    <m:dPr>
                                      <m:ctrlPr>
                                        <a:rPr lang="en-US" altLang="zh-TW" sz="1800" i="1">
                                          <a:solidFill>
                                            <a:srgbClr val="FF0000"/>
                                          </a:solidFill>
                                          <a:latin typeface="Cambria Math" panose="02040503050406030204" pitchFamily="18" charset="0"/>
                                        </a:rPr>
                                      </m:ctrlPr>
                                    </m:dPr>
                                    <m:e>
                                      <m:m>
                                        <m:mPr>
                                          <m:mcs>
                                            <m:mc>
                                              <m:mcPr>
                                                <m:count m:val="1"/>
                                                <m:mcJc m:val="center"/>
                                              </m:mcPr>
                                            </m:mc>
                                          </m:mcs>
                                          <m:ctrlPr>
                                            <a:rPr lang="en-US" altLang="zh-TW" sz="1800" i="1">
                                              <a:solidFill>
                                                <a:srgbClr val="FF0000"/>
                                              </a:solidFill>
                                              <a:latin typeface="Cambria Math" panose="02040503050406030204" pitchFamily="18" charset="0"/>
                                            </a:rPr>
                                          </m:ctrlPr>
                                        </m:mPr>
                                        <m:mr>
                                          <m:e>
                                            <m:r>
                                              <m:rPr>
                                                <m:brk m:alnAt="7"/>
                                              </m:rPr>
                                              <a:rPr lang="en-US" altLang="zh-TW" sz="1800" b="0" i="1" smtClean="0">
                                                <a:solidFill>
                                                  <a:srgbClr val="FF0000"/>
                                                </a:solidFill>
                                                <a:latin typeface="Cambria Math" panose="02040503050406030204" pitchFamily="18" charset="0"/>
                                              </a:rPr>
                                              <m:t>3</m:t>
                                            </m:r>
                                          </m:e>
                                        </m:mr>
                                        <m:mr>
                                          <m:e>
                                            <m:r>
                                              <a:rPr lang="en-US" altLang="zh-TW" sz="1800" i="1">
                                                <a:solidFill>
                                                  <a:srgbClr val="FF0000"/>
                                                </a:solidFill>
                                                <a:latin typeface="Cambria Math" panose="02040503050406030204" pitchFamily="18" charset="0"/>
                                              </a:rPr>
                                              <m:t>2</m:t>
                                            </m:r>
                                          </m:e>
                                        </m:mr>
                                      </m:m>
                                    </m:e>
                                  </m:d>
                                </m:den>
                              </m:f>
                            </m:oMath>
                          </a14:m>
                          <a:r>
                            <a:rPr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1800" i="1" smtClean="0">
                                      <a:solidFill>
                                        <a:srgbClr val="00B050"/>
                                      </a:solidFill>
                                      <a:latin typeface="Cambria Math" panose="02040503050406030204" pitchFamily="18" charset="0"/>
                                    </a:rPr>
                                  </m:ctrlPr>
                                </m:fPr>
                                <m:num>
                                  <m:r>
                                    <a:rPr lang="en-US" altLang="zh-TW" sz="1800" b="0" i="1" smtClean="0">
                                      <a:solidFill>
                                        <a:srgbClr val="00B050"/>
                                      </a:solidFill>
                                      <a:latin typeface="Cambria Math" panose="02040503050406030204" pitchFamily="18" charset="0"/>
                                    </a:rPr>
                                    <m:t>1</m:t>
                                  </m:r>
                                </m:num>
                                <m:den>
                                  <m:r>
                                    <a:rPr lang="en-US" altLang="zh-TW" sz="1800" i="1" smtClean="0">
                                      <a:solidFill>
                                        <a:srgbClr val="00B050"/>
                                      </a:solidFill>
                                      <a:latin typeface="Cambria Math" panose="02040503050406030204" pitchFamily="18" charset="0"/>
                                    </a:rPr>
                                    <m:t>2</m:t>
                                  </m:r>
                                  <m:d>
                                    <m:dPr>
                                      <m:ctrlPr>
                                        <a:rPr lang="en-US" altLang="zh-TW" sz="1800" i="1">
                                          <a:solidFill>
                                            <a:srgbClr val="00B050"/>
                                          </a:solidFill>
                                          <a:latin typeface="Cambria Math" panose="02040503050406030204" pitchFamily="18" charset="0"/>
                                        </a:rPr>
                                      </m:ctrlPr>
                                    </m:dPr>
                                    <m:e>
                                      <m:m>
                                        <m:mPr>
                                          <m:mcs>
                                            <m:mc>
                                              <m:mcPr>
                                                <m:count m:val="1"/>
                                                <m:mcJc m:val="center"/>
                                              </m:mcPr>
                                            </m:mc>
                                          </m:mcs>
                                          <m:ctrlPr>
                                            <a:rPr lang="en-US" altLang="zh-TW" sz="1800" i="1">
                                              <a:solidFill>
                                                <a:srgbClr val="00B050"/>
                                              </a:solidFill>
                                              <a:latin typeface="Cambria Math" panose="02040503050406030204" pitchFamily="18" charset="0"/>
                                            </a:rPr>
                                          </m:ctrlPr>
                                        </m:mPr>
                                        <m:mr>
                                          <m:e>
                                            <m:r>
                                              <m:rPr>
                                                <m:brk m:alnAt="7"/>
                                              </m:rPr>
                                              <a:rPr lang="en-US" altLang="zh-TW" sz="1800" b="0" i="1" smtClean="0">
                                                <a:solidFill>
                                                  <a:srgbClr val="00B050"/>
                                                </a:solidFill>
                                                <a:latin typeface="Cambria Math" panose="02040503050406030204" pitchFamily="18" charset="0"/>
                                              </a:rPr>
                                              <m:t>3</m:t>
                                            </m:r>
                                          </m:e>
                                        </m:mr>
                                        <m:mr>
                                          <m:e>
                                            <m:r>
                                              <a:rPr lang="en-US" altLang="zh-TW" sz="1800" i="1">
                                                <a:solidFill>
                                                  <a:srgbClr val="00B050"/>
                                                </a:solidFill>
                                                <a:latin typeface="Cambria Math" panose="02040503050406030204" pitchFamily="18" charset="0"/>
                                              </a:rPr>
                                              <m:t>2</m:t>
                                            </m:r>
                                          </m:e>
                                        </m:mr>
                                      </m:m>
                                    </m:e>
                                  </m:d>
                                </m:den>
                              </m:f>
                              <m:r>
                                <a:rPr lang="en-US" altLang="zh-TW" sz="1800" b="0" i="0" smtClean="0">
                                  <a:latin typeface="Cambria Math" panose="02040503050406030204" pitchFamily="18" charset="0"/>
                                </a:rPr>
                                <m:t> </m:t>
                              </m:r>
                            </m:oMath>
                          </a14:m>
                          <a:r>
                            <a:rPr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r>
                                    <a:rPr lang="en-US" altLang="zh-TW" sz="1800" b="0" i="1" smtClean="0">
                                      <a:latin typeface="Cambria Math" panose="02040503050406030204" pitchFamily="18" charset="0"/>
                                    </a:rPr>
                                    <m:t>3</m:t>
                                  </m:r>
                                </m:den>
                              </m:f>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1800" i="1" smtClean="0">
                                      <a:solidFill>
                                        <a:srgbClr val="FF0000"/>
                                      </a:solidFill>
                                      <a:latin typeface="Cambria Math" panose="02040503050406030204" pitchFamily="18" charset="0"/>
                                    </a:rPr>
                                  </m:ctrlPr>
                                </m:fPr>
                                <m:num>
                                  <m:r>
                                    <a:rPr lang="en-US" altLang="zh-TW" sz="1800" b="0" i="1" smtClean="0">
                                      <a:solidFill>
                                        <a:srgbClr val="FF0000"/>
                                      </a:solidFill>
                                      <a:latin typeface="Cambria Math" panose="02040503050406030204" pitchFamily="18" charset="0"/>
                                    </a:rPr>
                                    <m:t>2</m:t>
                                  </m:r>
                                </m:num>
                                <m:den>
                                  <m:r>
                                    <a:rPr lang="en-US" altLang="zh-TW" sz="1800" b="0" i="1" smtClean="0">
                                      <a:solidFill>
                                        <a:srgbClr val="FF0000"/>
                                      </a:solidFill>
                                      <a:latin typeface="Cambria Math" panose="02040503050406030204" pitchFamily="18" charset="0"/>
                                    </a:rPr>
                                    <m:t>6</m:t>
                                  </m:r>
                                </m:den>
                              </m:f>
                            </m:oMath>
                          </a14:m>
                          <a:r>
                            <a:rPr lang="en-US" altLang="zh-TW"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1800" i="1" smtClean="0">
                                      <a:solidFill>
                                        <a:srgbClr val="00B050"/>
                                      </a:solidFill>
                                      <a:latin typeface="Cambria Math" panose="02040503050406030204" pitchFamily="18" charset="0"/>
                                    </a:rPr>
                                  </m:ctrlPr>
                                </m:fPr>
                                <m:num>
                                  <m:r>
                                    <a:rPr lang="en-US" altLang="zh-TW" sz="1800" b="0" i="1" smtClean="0">
                                      <a:solidFill>
                                        <a:srgbClr val="00B050"/>
                                      </a:solidFill>
                                      <a:latin typeface="Cambria Math" panose="02040503050406030204" pitchFamily="18" charset="0"/>
                                    </a:rPr>
                                    <m:t>1</m:t>
                                  </m:r>
                                </m:num>
                                <m:den>
                                  <m:r>
                                    <a:rPr lang="en-US" altLang="zh-TW" sz="1800" b="0" i="1" smtClean="0">
                                      <a:solidFill>
                                        <a:srgbClr val="00B050"/>
                                      </a:solidFill>
                                      <a:latin typeface="Cambria Math" panose="02040503050406030204" pitchFamily="18" charset="0"/>
                                    </a:rPr>
                                    <m:t>6</m:t>
                                  </m:r>
                                </m:den>
                              </m:f>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800" b="0" i="1" smtClean="0">
                                  <a:latin typeface="Cambria Math" panose="02040503050406030204" pitchFamily="18" charset="0"/>
                                </a:rPr>
                                <m:t>=</m:t>
                              </m:r>
                              <m:f>
                                <m:fPr>
                                  <m:ctrlPr>
                                    <a:rPr lang="en-US" altLang="zh-TW" sz="1800" i="1" smtClean="0">
                                      <a:latin typeface="Cambria Math" panose="02040503050406030204" pitchFamily="18" charset="0"/>
                                    </a:rPr>
                                  </m:ctrlPr>
                                </m:fPr>
                                <m:num>
                                  <m:r>
                                    <a:rPr lang="en-US" altLang="zh-TW" sz="1800" i="1" smtClean="0">
                                      <a:latin typeface="Cambria Math" panose="02040503050406030204" pitchFamily="18" charset="0"/>
                                    </a:rPr>
                                    <m:t>3</m:t>
                                  </m:r>
                                </m:num>
                                <m:den>
                                  <m:r>
                                    <a:rPr lang="en-US" altLang="zh-TW" sz="1800" b="0" i="1" smtClean="0">
                                      <a:latin typeface="Cambria Math" panose="02040503050406030204" pitchFamily="18" charset="0"/>
                                    </a:rPr>
                                    <m:t>18</m:t>
                                  </m:r>
                                </m:den>
                              </m:f>
                            </m:oMath>
                          </a14:m>
                          <a:r>
                            <a:rPr lang="en-US" altLang="zh-TW" sz="1800" dirty="0">
                              <a:latin typeface="Times New Roman" panose="02020603050405020304" pitchFamily="18" charset="0"/>
                              <a:cs typeface="Times New Roman" panose="02020603050405020304" pitchFamily="18" charset="0"/>
                            </a:rPr>
                            <a:t> = 0.166</a:t>
                          </a:r>
                          <a:endParaRPr lang="zh-TW" altLang="en-US" sz="1800" b="1" dirty="0">
                            <a:solidFill>
                              <a:srgbClr val="00B050"/>
                            </a:solidFill>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434054792"/>
                      </a:ext>
                    </a:extLst>
                  </a:tr>
                  <a:tr h="579676">
                    <a:tc gridSpan="3">
                      <a:txBody>
                        <a:bodyPr/>
                        <a:lstStyle/>
                        <a:p>
                          <a:pPr algn="ctr"/>
                          <a:r>
                            <a:rPr lang="en-US" altLang="zh-TW" sz="3200" dirty="0">
                              <a:latin typeface="Times New Roman" panose="02020603050405020304" pitchFamily="18" charset="0"/>
                              <a:cs typeface="Times New Roman" panose="02020603050405020304" pitchFamily="18" charset="0"/>
                            </a:rPr>
                            <a:t>…</a:t>
                          </a:r>
                        </a:p>
                      </a:txBody>
                      <a:tcPr vert="eaVert" anchor="ctr"/>
                    </a:tc>
                    <a:tc hMerge="1">
                      <a:txBody>
                        <a:bodyPr/>
                        <a:lstStyle/>
                        <a:p>
                          <a:endParaRPr lang="zh-TW" altLang="en-US"/>
                        </a:p>
                      </a:txBody>
                      <a:tcPr/>
                    </a:tc>
                    <a:tc hMerge="1">
                      <a:txBody>
                        <a:bodyPr/>
                        <a:lstStyle/>
                        <a:p>
                          <a:pPr algn="ctr"/>
                          <a:endParaRPr lang="en-US" altLang="zh-TW" sz="3200" dirty="0">
                            <a:latin typeface="Times New Roman" panose="02020603050405020304" pitchFamily="18" charset="0"/>
                            <a:cs typeface="Times New Roman" panose="02020603050405020304" pitchFamily="18" charset="0"/>
                          </a:endParaRPr>
                        </a:p>
                      </a:txBody>
                      <a:tcPr vert="eaVert" anchor="ctr"/>
                    </a:tc>
                    <a:extLst>
                      <a:ext uri="{0D108BD9-81ED-4DB2-BD59-A6C34878D82A}">
                        <a16:rowId xmlns:a16="http://schemas.microsoft.com/office/drawing/2014/main" val="10005"/>
                      </a:ext>
                    </a:extLst>
                  </a:tr>
                  <a:tr h="636867">
                    <a:tc>
                      <a:txBody>
                        <a:bodyPr/>
                        <a:lstStyle/>
                        <a:p>
                          <a:pPr algn="ctr"/>
                          <a:r>
                            <a:rPr lang="en-US" altLang="zh-TW" sz="1600" dirty="0">
                              <a:latin typeface="Times New Roman" panose="02020603050405020304" pitchFamily="18" charset="0"/>
                              <a:cs typeface="Times New Roman" panose="02020603050405020304" pitchFamily="18" charset="0"/>
                            </a:rPr>
                            <a:t>Q70E73 </a:t>
                          </a:r>
                          <a:r>
                            <a:rPr lang="en-US" altLang="zh-TW" sz="1600" b="1" dirty="0">
                              <a:solidFill>
                                <a:srgbClr val="00B0F0"/>
                              </a:solidFill>
                              <a:latin typeface="Times New Roman" panose="02020603050405020304" pitchFamily="18" charset="0"/>
                              <a:cs typeface="Times New Roman" panose="02020603050405020304" pitchFamily="18" charset="0"/>
                            </a:rPr>
                            <a:t>c.1.532.1</a:t>
                          </a:r>
                          <a:endParaRPr lang="zh-TW" altLang="en-US" sz="1600" b="1" dirty="0">
                            <a:solidFill>
                              <a:srgbClr val="00B0F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chemeClr val="tx1"/>
                              </a:solidFill>
                              <a:latin typeface="Times New Roman" panose="02020603050405020304" pitchFamily="18" charset="0"/>
                              <a:cs typeface="Times New Roman" panose="02020603050405020304" pitchFamily="18" charset="0"/>
                            </a:rPr>
                            <a:t>a.1.1881.1</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800" dirty="0">
                              <a:latin typeface="Times New Roman" panose="02020603050405020304" pitchFamily="18" charset="0"/>
                              <a:cs typeface="Times New Roman" panose="02020603050405020304" pitchFamily="18" charset="0"/>
                            </a:rPr>
                            <a:t>0.385</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mc:Choice>
        <mc:Fallback xmlns="">
          <p:graphicFrame>
            <p:nvGraphicFramePr>
              <p:cNvPr id="6" name="表格 5">
                <a:extLst>
                  <a:ext uri="{FF2B5EF4-FFF2-40B4-BE49-F238E27FC236}">
                    <a16:creationId xmlns:a16="http://schemas.microsoft.com/office/drawing/2014/main" id="{FFD1E94B-930F-4E7C-A0FB-88918526D3BC}"/>
                  </a:ext>
                </a:extLst>
              </p:cNvPr>
              <p:cNvGraphicFramePr>
                <a:graphicFrameLocks noGrp="1"/>
              </p:cNvGraphicFramePr>
              <p:nvPr>
                <p:extLst>
                  <p:ext uri="{D42A27DB-BD31-4B8C-83A1-F6EECF244321}">
                    <p14:modId xmlns:p14="http://schemas.microsoft.com/office/powerpoint/2010/main" val="2717548209"/>
                  </p:ext>
                </p:extLst>
              </p:nvPr>
            </p:nvGraphicFramePr>
            <p:xfrm>
              <a:off x="3394712" y="1052736"/>
              <a:ext cx="5616624" cy="5142146"/>
            </p:xfrm>
            <a:graphic>
              <a:graphicData uri="http://schemas.openxmlformats.org/drawingml/2006/table">
                <a:tbl>
                  <a:tblPr firstRow="1" bandRow="1">
                    <a:tableStyleId>{5940675A-B579-460E-94D1-54222C63F5DA}</a:tableStyleId>
                  </a:tblPr>
                  <a:tblGrid>
                    <a:gridCol w="1080120">
                      <a:extLst>
                        <a:ext uri="{9D8B030D-6E8A-4147-A177-3AD203B41FA5}">
                          <a16:colId xmlns:a16="http://schemas.microsoft.com/office/drawing/2014/main" val="20001"/>
                        </a:ext>
                      </a:extLst>
                    </a:gridCol>
                    <a:gridCol w="1105280">
                      <a:extLst>
                        <a:ext uri="{9D8B030D-6E8A-4147-A177-3AD203B41FA5}">
                          <a16:colId xmlns:a16="http://schemas.microsoft.com/office/drawing/2014/main" val="2225489132"/>
                        </a:ext>
                      </a:extLst>
                    </a:gridCol>
                    <a:gridCol w="3431224">
                      <a:extLst>
                        <a:ext uri="{9D8B030D-6E8A-4147-A177-3AD203B41FA5}">
                          <a16:colId xmlns:a16="http://schemas.microsoft.com/office/drawing/2014/main" val="957291811"/>
                        </a:ext>
                      </a:extLst>
                    </a:gridCol>
                  </a:tblGrid>
                  <a:tr h="415784">
                    <a:tc gridSpan="2">
                      <a:txBody>
                        <a:bodyPr/>
                        <a:lstStyle/>
                        <a:p>
                          <a:pPr algn="ctr"/>
                          <a:r>
                            <a:rPr lang="en-US" altLang="zh-TW" sz="1600" b="1" dirty="0">
                              <a:latin typeface="Times New Roman" panose="02020603050405020304" pitchFamily="18" charset="0"/>
                              <a:cs typeface="Times New Roman" panose="02020603050405020304" pitchFamily="18" charset="0"/>
                            </a:rPr>
                            <a:t>SSEARCH results</a:t>
                          </a:r>
                          <a:endParaRPr lang="zh-TW" altLang="en-US" sz="1600" b="1"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rowSpan="2">
                      <a:txBody>
                        <a:bodyPr/>
                        <a:lstStyle/>
                        <a:p>
                          <a:pPr algn="ctr"/>
                          <a:r>
                            <a:rPr lang="en-US" altLang="zh-TW" sz="1600" b="1">
                              <a:latin typeface="Times New Roman" panose="02020603050405020304" pitchFamily="18" charset="0"/>
                              <a:cs typeface="Times New Roman" panose="02020603050405020304" pitchFamily="18" charset="0"/>
                            </a:rPr>
                            <a:t>Coverage</a:t>
                          </a:r>
                          <a:endParaRPr lang="zh-TW" altLang="en-US"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335280">
                    <a:tc>
                      <a:txBody>
                        <a:bodyPr/>
                        <a:lstStyle/>
                        <a:p>
                          <a:pPr algn="ctr"/>
                          <a:r>
                            <a:rPr lang="en-US" altLang="zh-TW" sz="1600" b="1" dirty="0">
                              <a:latin typeface="Times New Roman" panose="02020603050405020304" pitchFamily="18" charset="0"/>
                              <a:cs typeface="Times New Roman" panose="02020603050405020304" pitchFamily="18" charset="0"/>
                            </a:rPr>
                            <a:t>Query</a:t>
                          </a:r>
                          <a:endParaRPr lang="zh-TW" alt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cs typeface="Times New Roman" panose="02020603050405020304" pitchFamily="18" charset="0"/>
                            </a:rPr>
                            <a:t>Target</a:t>
                          </a:r>
                          <a:endParaRPr lang="zh-TW" altLang="en-US" sz="1600" b="1" dirty="0">
                            <a:latin typeface="Times New Roman" panose="02020603050405020304" pitchFamily="18" charset="0"/>
                            <a:cs typeface="Times New Roman" panose="02020603050405020304" pitchFamily="18" charset="0"/>
                          </a:endParaRPr>
                        </a:p>
                      </a:txBody>
                      <a:tcPr anchor="ctr"/>
                    </a:tc>
                    <a:tc vMerge="1">
                      <a:txBody>
                        <a:bodyPr/>
                        <a:lstStyle/>
                        <a:p>
                          <a:endParaRPr lang="zh-TW" altLang="en-US"/>
                        </a:p>
                      </a:txBody>
                      <a:tcPr/>
                    </a:tc>
                    <a:extLst>
                      <a:ext uri="{0D108BD9-81ED-4DB2-BD59-A6C34878D82A}">
                        <a16:rowId xmlns:a16="http://schemas.microsoft.com/office/drawing/2014/main" val="10001"/>
                      </a:ext>
                    </a:extLst>
                  </a:tr>
                  <a:tr h="6637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Q7Z2Z1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Q8BQ33</a:t>
                          </a:r>
                          <a:r>
                            <a:rPr lang="zh-TW" altLang="en-US" sz="1600" dirty="0">
                              <a:latin typeface="Times New Roman" panose="02020603050405020304" pitchFamily="18" charset="0"/>
                              <a:cs typeface="Times New Roman" panose="02020603050405020304" pitchFamily="18" charset="0"/>
                            </a:rPr>
                            <a:t> </a:t>
                          </a:r>
                          <a:r>
                            <a:rPr lang="en-US" altLang="zh-TW" sz="1600" b="1" dirty="0">
                              <a:solidFill>
                                <a:srgbClr val="FF0000"/>
                              </a:solidFill>
                              <a:latin typeface="Times New Roman" panose="02020603050405020304" pitchFamily="18" charset="0"/>
                              <a:cs typeface="Times New Roman" panose="02020603050405020304" pitchFamily="18" charset="0"/>
                            </a:rPr>
                            <a:t>c.1.10.2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63830" t="-113761" r="-355" b="-565138"/>
                          </a:stretch>
                        </a:blipFill>
                      </a:tcPr>
                    </a:tc>
                    <a:extLst>
                      <a:ext uri="{0D108BD9-81ED-4DB2-BD59-A6C34878D82A}">
                        <a16:rowId xmlns:a16="http://schemas.microsoft.com/office/drawing/2014/main" val="10003"/>
                      </a:ext>
                    </a:extLst>
                  </a:tr>
                  <a:tr h="718171">
                    <a:tc>
                      <a:txBody>
                        <a:bodyPr/>
                        <a:lstStyle/>
                        <a:p>
                          <a:pPr algn="ctr"/>
                          <a:r>
                            <a:rPr lang="en-US" altLang="zh-TW" sz="1600" dirty="0">
                              <a:latin typeface="Times New Roman" panose="02020603050405020304" pitchFamily="18" charset="0"/>
                              <a:cs typeface="Times New Roman" panose="02020603050405020304" pitchFamily="18" charset="0"/>
                            </a:rPr>
                            <a:t>Q7Z2Z1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D3IUT5 </a:t>
                          </a:r>
                          <a:r>
                            <a:rPr lang="en-US" altLang="zh-TW" sz="1600" b="1" dirty="0">
                              <a:solidFill>
                                <a:srgbClr val="FF0000"/>
                              </a:solidFill>
                              <a:latin typeface="Times New Roman" panose="02020603050405020304" pitchFamily="18" charset="0"/>
                              <a:cs typeface="Times New Roman" panose="02020603050405020304" pitchFamily="18" charset="0"/>
                            </a:rPr>
                            <a:t>c.1.10.3</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63830" t="-195798" r="-355" b="-417647"/>
                          </a:stretch>
                        </a:blipFill>
                      </a:tcPr>
                    </a:tc>
                    <a:extLst>
                      <a:ext uri="{0D108BD9-81ED-4DB2-BD59-A6C34878D82A}">
                        <a16:rowId xmlns:a16="http://schemas.microsoft.com/office/drawing/2014/main" val="10004"/>
                      </a:ext>
                    </a:extLst>
                  </a:tr>
                  <a:tr h="896303">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63830" t="-239456" r="-355" b="-238095"/>
                          </a:stretch>
                        </a:blipFill>
                      </a:tcPr>
                    </a:tc>
                    <a:extLst>
                      <a:ext uri="{0D108BD9-81ED-4DB2-BD59-A6C34878D82A}">
                        <a16:rowId xmlns:a16="http://schemas.microsoft.com/office/drawing/2014/main" val="870710400"/>
                      </a:ext>
                    </a:extLst>
                  </a:tr>
                  <a:tr h="896303">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00B050"/>
                              </a:solidFill>
                              <a:latin typeface="Times New Roman" panose="02020603050405020304" pitchFamily="18" charset="0"/>
                              <a:cs typeface="Times New Roman" panose="02020603050405020304" pitchFamily="18" charset="0"/>
                            </a:rPr>
                            <a:t>c.1.699.2</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P38990 </a:t>
                          </a:r>
                          <a:r>
                            <a:rPr lang="en-US" altLang="zh-TW" sz="1600" b="1" dirty="0">
                              <a:solidFill>
                                <a:srgbClr val="00B050"/>
                              </a:solidFill>
                              <a:latin typeface="Times New Roman" panose="02020603050405020304" pitchFamily="18" charset="0"/>
                              <a:cs typeface="Times New Roman" panose="02020603050405020304" pitchFamily="18" charset="0"/>
                            </a:rPr>
                            <a:t>c.1.699.4</a:t>
                          </a:r>
                          <a:endParaRPr lang="zh-TW" altLang="en-US" sz="1600" b="1"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63830" t="-339456" r="-355" b="-138095"/>
                          </a:stretch>
                        </a:blipFill>
                      </a:tcPr>
                    </a:tc>
                    <a:extLst>
                      <a:ext uri="{0D108BD9-81ED-4DB2-BD59-A6C34878D82A}">
                        <a16:rowId xmlns:a16="http://schemas.microsoft.com/office/drawing/2014/main" val="1434054792"/>
                      </a:ext>
                    </a:extLst>
                  </a:tr>
                  <a:tr h="579676">
                    <a:tc gridSpan="3">
                      <a:txBody>
                        <a:bodyPr/>
                        <a:lstStyle/>
                        <a:p>
                          <a:pPr algn="ctr"/>
                          <a:r>
                            <a:rPr lang="en-US" altLang="zh-TW" sz="3200" dirty="0">
                              <a:latin typeface="Times New Roman" panose="02020603050405020304" pitchFamily="18" charset="0"/>
                              <a:cs typeface="Times New Roman" panose="02020603050405020304" pitchFamily="18" charset="0"/>
                            </a:rPr>
                            <a:t>…</a:t>
                          </a:r>
                        </a:p>
                      </a:txBody>
                      <a:tcPr vert="eaVert" anchor="ctr"/>
                    </a:tc>
                    <a:tc hMerge="1">
                      <a:txBody>
                        <a:bodyPr/>
                        <a:lstStyle/>
                        <a:p>
                          <a:endParaRPr lang="zh-TW" altLang="en-US"/>
                        </a:p>
                      </a:txBody>
                      <a:tcPr/>
                    </a:tc>
                    <a:tc hMerge="1">
                      <a:txBody>
                        <a:bodyPr/>
                        <a:lstStyle/>
                        <a:p>
                          <a:pPr algn="ctr"/>
                          <a:endParaRPr lang="en-US" altLang="zh-TW" sz="3200" dirty="0">
                            <a:latin typeface="Times New Roman" panose="02020603050405020304" pitchFamily="18" charset="0"/>
                            <a:cs typeface="Times New Roman" panose="02020603050405020304" pitchFamily="18" charset="0"/>
                          </a:endParaRPr>
                        </a:p>
                      </a:txBody>
                      <a:tcPr vert="eaVert" anchor="ctr"/>
                    </a:tc>
                    <a:extLst>
                      <a:ext uri="{0D108BD9-81ED-4DB2-BD59-A6C34878D82A}">
                        <a16:rowId xmlns:a16="http://schemas.microsoft.com/office/drawing/2014/main" val="10005"/>
                      </a:ext>
                    </a:extLst>
                  </a:tr>
                  <a:tr h="636867">
                    <a:tc>
                      <a:txBody>
                        <a:bodyPr/>
                        <a:lstStyle/>
                        <a:p>
                          <a:pPr algn="ctr"/>
                          <a:r>
                            <a:rPr lang="en-US" altLang="zh-TW" sz="1600" dirty="0">
                              <a:latin typeface="Times New Roman" panose="02020603050405020304" pitchFamily="18" charset="0"/>
                              <a:cs typeface="Times New Roman" panose="02020603050405020304" pitchFamily="18" charset="0"/>
                            </a:rPr>
                            <a:t>Q70E73 </a:t>
                          </a:r>
                          <a:r>
                            <a:rPr lang="en-US" altLang="zh-TW" sz="1600" b="1" dirty="0">
                              <a:solidFill>
                                <a:srgbClr val="00B0F0"/>
                              </a:solidFill>
                              <a:latin typeface="Times New Roman" panose="02020603050405020304" pitchFamily="18" charset="0"/>
                              <a:cs typeface="Times New Roman" panose="02020603050405020304" pitchFamily="18" charset="0"/>
                            </a:rPr>
                            <a:t>c.1.532.1</a:t>
                          </a:r>
                          <a:endParaRPr lang="zh-TW" altLang="en-US" sz="1600" b="1" dirty="0">
                            <a:solidFill>
                              <a:srgbClr val="00B0F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chemeClr val="tx1"/>
                              </a:solidFill>
                              <a:latin typeface="Times New Roman" panose="02020603050405020304" pitchFamily="18" charset="0"/>
                              <a:cs typeface="Times New Roman" panose="02020603050405020304" pitchFamily="18" charset="0"/>
                            </a:rPr>
                            <a:t>a.1.1881.1</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800" dirty="0">
                              <a:latin typeface="Times New Roman" panose="02020603050405020304" pitchFamily="18" charset="0"/>
                              <a:cs typeface="Times New Roman" panose="02020603050405020304" pitchFamily="18" charset="0"/>
                            </a:rPr>
                            <a:t>0.385</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mc:Fallback>
      </mc:AlternateContent>
    </p:spTree>
    <p:extLst>
      <p:ext uri="{BB962C8B-B14F-4D97-AF65-F5344CB8AC3E}">
        <p14:creationId xmlns:p14="http://schemas.microsoft.com/office/powerpoint/2010/main" val="11030766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88189" y="188640"/>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Our Method</a:t>
            </a:r>
            <a:endParaRPr lang="zh-TW" altLang="en-US" sz="4000" b="1"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6957907B-E4DD-4A65-B368-0DD6439FE9ED}"/>
              </a:ext>
            </a:extLst>
          </p:cNvPr>
          <p:cNvSpPr/>
          <p:nvPr/>
        </p:nvSpPr>
        <p:spPr>
          <a:xfrm>
            <a:off x="433799" y="1412776"/>
            <a:ext cx="8127800" cy="461665"/>
          </a:xfrm>
          <a:prstGeom prst="rect">
            <a:avLst/>
          </a:prstGeom>
        </p:spPr>
        <p:txBody>
          <a:bodyPr wrap="square">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PSO+TLBO with diversity-guided</a:t>
            </a:r>
          </a:p>
        </p:txBody>
      </p:sp>
      <p:sp>
        <p:nvSpPr>
          <p:cNvPr id="4" name="投影片編號版面配置區 3">
            <a:extLst>
              <a:ext uri="{FF2B5EF4-FFF2-40B4-BE49-F238E27FC236}">
                <a16:creationId xmlns:a16="http://schemas.microsoft.com/office/drawing/2014/main" id="{F0A8EC47-7565-4F40-82E8-4EFA471DAE7E}"/>
              </a:ext>
            </a:extLst>
          </p:cNvPr>
          <p:cNvSpPr>
            <a:spLocks noGrp="1"/>
          </p:cNvSpPr>
          <p:nvPr>
            <p:ph type="sldNum" sz="quarter" idx="12"/>
          </p:nvPr>
        </p:nvSpPr>
        <p:spPr/>
        <p:txBody>
          <a:bodyPr/>
          <a:lstStyle/>
          <a:p>
            <a:fld id="{04C04D6A-2E29-441A-A244-9F1014899F6D}" type="slidenum">
              <a:rPr lang="zh-TW" altLang="en-US" smtClean="0"/>
              <a:pPr/>
              <a:t>9</a:t>
            </a:fld>
            <a:endParaRPr lang="zh-TW" altLang="en-US"/>
          </a:p>
        </p:txBody>
      </p:sp>
    </p:spTree>
    <p:extLst>
      <p:ext uri="{BB962C8B-B14F-4D97-AF65-F5344CB8AC3E}">
        <p14:creationId xmlns:p14="http://schemas.microsoft.com/office/powerpoint/2010/main" val="29569381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88189" y="186384"/>
            <a:ext cx="8755811" cy="1077218"/>
          </a:xfrm>
          <a:prstGeom prst="rect">
            <a:avLst/>
          </a:prstGeom>
          <a:noFill/>
        </p:spPr>
        <p:txBody>
          <a:bodyPr wrap="square" rtlCol="0">
            <a:spAutoFit/>
          </a:bodyPr>
          <a:lstStyle/>
          <a:p>
            <a:r>
              <a:rPr lang="en-US" altLang="zh-TW" sz="3200" b="1" dirty="0">
                <a:latin typeface="Times New Roman" panose="02020603050405020304" pitchFamily="18" charset="0"/>
                <a:cs typeface="Times New Roman" panose="02020603050405020304" pitchFamily="18" charset="0"/>
              </a:rPr>
              <a:t>The Transformation of a Scoring Matrix to a Chromosome</a:t>
            </a:r>
            <a:endParaRPr lang="zh-TW" altLang="en-US" sz="3200"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FC004A39-C569-46EB-B7BA-0DC56AE8D9E5}"/>
              </a:ext>
            </a:extLst>
          </p:cNvPr>
          <p:cNvSpPr>
            <a:spLocks noGrp="1"/>
          </p:cNvSpPr>
          <p:nvPr>
            <p:ph type="sldNum" sz="quarter" idx="12"/>
          </p:nvPr>
        </p:nvSpPr>
        <p:spPr/>
        <p:txBody>
          <a:bodyPr/>
          <a:lstStyle/>
          <a:p>
            <a:fld id="{04C04D6A-2E29-441A-A244-9F1014899F6D}" type="slidenum">
              <a:rPr lang="zh-TW" altLang="en-US" smtClean="0"/>
              <a:pPr/>
              <a:t>10</a:t>
            </a:fld>
            <a:endParaRPr lang="zh-TW" altLang="en-US"/>
          </a:p>
        </p:txBody>
      </p:sp>
      <p:pic>
        <p:nvPicPr>
          <p:cNvPr id="4" name="圖形 3">
            <a:extLst>
              <a:ext uri="{FF2B5EF4-FFF2-40B4-BE49-F238E27FC236}">
                <a16:creationId xmlns:a16="http://schemas.microsoft.com/office/drawing/2014/main" id="{A0EB95D6-D5BA-44F7-A4CB-7619652849A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3508" y="1401743"/>
            <a:ext cx="8856984" cy="5267617"/>
          </a:xfrm>
          <a:prstGeom prst="rect">
            <a:avLst/>
          </a:prstGeom>
        </p:spPr>
      </p:pic>
    </p:spTree>
    <p:extLst>
      <p:ext uri="{BB962C8B-B14F-4D97-AF65-F5344CB8AC3E}">
        <p14:creationId xmlns:p14="http://schemas.microsoft.com/office/powerpoint/2010/main" val="31125392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71061" y="201580"/>
            <a:ext cx="8755811" cy="707886"/>
          </a:xfrm>
          <a:prstGeom prst="rect">
            <a:avLst/>
          </a:prstGeom>
          <a:noFill/>
        </p:spPr>
        <p:txBody>
          <a:bodyPr wrap="square" rtlCol="0">
            <a:spAutoFit/>
          </a:bodyPr>
          <a:lstStyle/>
          <a:p>
            <a:r>
              <a:rPr lang="en-US" altLang="zh-TW" sz="4000" b="1" dirty="0">
                <a:latin typeface="Times New Roman" panose="02020603050405020304" pitchFamily="18" charset="0"/>
                <a:ea typeface="PMingLiU" panose="02020500000000000000" pitchFamily="18" charset="-120"/>
                <a:cs typeface="Times New Roman" panose="02020603050405020304" pitchFamily="18" charset="0"/>
              </a:rPr>
              <a:t>PSO+TLBO with Diversity-guided</a:t>
            </a:r>
          </a:p>
        </p:txBody>
      </p:sp>
      <p:sp>
        <p:nvSpPr>
          <p:cNvPr id="19" name="矩形 18">
            <a:extLst>
              <a:ext uri="{FF2B5EF4-FFF2-40B4-BE49-F238E27FC236}">
                <a16:creationId xmlns:a16="http://schemas.microsoft.com/office/drawing/2014/main" id="{534371C4-03C0-4252-B62F-6AAF7C71A20F}"/>
              </a:ext>
            </a:extLst>
          </p:cNvPr>
          <p:cNvSpPr/>
          <p:nvPr/>
        </p:nvSpPr>
        <p:spPr>
          <a:xfrm>
            <a:off x="1547664" y="2033920"/>
            <a:ext cx="2307745" cy="603678"/>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Calculating fitness</a:t>
            </a:r>
          </a:p>
        </p:txBody>
      </p:sp>
      <p:sp>
        <p:nvSpPr>
          <p:cNvPr id="20" name="矩形 19">
            <a:extLst>
              <a:ext uri="{FF2B5EF4-FFF2-40B4-BE49-F238E27FC236}">
                <a16:creationId xmlns:a16="http://schemas.microsoft.com/office/drawing/2014/main" id="{4F201157-25B2-4F97-90E6-213966855882}"/>
              </a:ext>
            </a:extLst>
          </p:cNvPr>
          <p:cNvSpPr/>
          <p:nvPr/>
        </p:nvSpPr>
        <p:spPr>
          <a:xfrm>
            <a:off x="5196247" y="5087281"/>
            <a:ext cx="2065193" cy="608670"/>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Output</a:t>
            </a:r>
            <a:endParaRPr lang="zh-TW" altLang="en-US" sz="1600" dirty="0">
              <a:ln w="0"/>
              <a:solidFill>
                <a:schemeClr val="tx1"/>
              </a:solidFill>
              <a:latin typeface="Times New Roman" panose="02020603050405020304" pitchFamily="18" charset="0"/>
              <a:ea typeface="標楷體" panose="03000509000000000000" pitchFamily="65" charset="-120"/>
            </a:endParaRPr>
          </a:p>
        </p:txBody>
      </p:sp>
      <p:sp>
        <p:nvSpPr>
          <p:cNvPr id="21" name="文字方塊 20">
            <a:extLst>
              <a:ext uri="{FF2B5EF4-FFF2-40B4-BE49-F238E27FC236}">
                <a16:creationId xmlns:a16="http://schemas.microsoft.com/office/drawing/2014/main" id="{F0175B65-31E7-4EEA-87AB-FE26DCF93C34}"/>
              </a:ext>
            </a:extLst>
          </p:cNvPr>
          <p:cNvSpPr txBox="1"/>
          <p:nvPr/>
        </p:nvSpPr>
        <p:spPr>
          <a:xfrm>
            <a:off x="6228844" y="4620493"/>
            <a:ext cx="478219" cy="338554"/>
          </a:xfrm>
          <a:prstGeom prst="rect">
            <a:avLst/>
          </a:prstGeom>
          <a:noFill/>
        </p:spPr>
        <p:txBody>
          <a:bodyPr wrap="square" rtlCol="0">
            <a:spAutoFit/>
          </a:bodyPr>
          <a:lstStyle/>
          <a:p>
            <a:r>
              <a:rPr lang="en-US" altLang="zh-TW" sz="1600" b="1" dirty="0">
                <a:latin typeface="Times New Roman" panose="02020603050405020304" pitchFamily="18" charset="0"/>
                <a:ea typeface="標楷體" panose="03000509000000000000" pitchFamily="65" charset="-120"/>
              </a:rPr>
              <a:t>Yes</a:t>
            </a:r>
            <a:endParaRPr lang="zh-TW" altLang="en-US" sz="1600" b="1" dirty="0">
              <a:latin typeface="Times New Roman" panose="02020603050405020304" pitchFamily="18" charset="0"/>
              <a:ea typeface="標楷體" panose="03000509000000000000" pitchFamily="65" charset="-120"/>
            </a:endParaRPr>
          </a:p>
        </p:txBody>
      </p:sp>
      <p:sp>
        <p:nvSpPr>
          <p:cNvPr id="22" name="文字方塊 21">
            <a:extLst>
              <a:ext uri="{FF2B5EF4-FFF2-40B4-BE49-F238E27FC236}">
                <a16:creationId xmlns:a16="http://schemas.microsoft.com/office/drawing/2014/main" id="{E8834ECC-E39F-4B46-8B03-3964548F4111}"/>
              </a:ext>
            </a:extLst>
          </p:cNvPr>
          <p:cNvSpPr txBox="1"/>
          <p:nvPr/>
        </p:nvSpPr>
        <p:spPr>
          <a:xfrm>
            <a:off x="7884368" y="3009426"/>
            <a:ext cx="562391" cy="360318"/>
          </a:xfrm>
          <a:prstGeom prst="rect">
            <a:avLst/>
          </a:prstGeom>
          <a:noFill/>
        </p:spPr>
        <p:txBody>
          <a:bodyPr wrap="square" rtlCol="0">
            <a:spAutoFit/>
          </a:bodyPr>
          <a:lstStyle/>
          <a:p>
            <a:r>
              <a:rPr lang="en-US" altLang="zh-TW" sz="1600" b="1" dirty="0">
                <a:latin typeface="Times New Roman" panose="02020603050405020304" pitchFamily="18" charset="0"/>
                <a:ea typeface="標楷體" panose="03000509000000000000" pitchFamily="65" charset="-120"/>
              </a:rPr>
              <a:t>No</a:t>
            </a:r>
            <a:endParaRPr lang="zh-TW" altLang="en-US" sz="1600" b="1" dirty="0">
              <a:latin typeface="Times New Roman" panose="02020603050405020304" pitchFamily="18" charset="0"/>
              <a:ea typeface="標楷體" panose="03000509000000000000" pitchFamily="65" charset="-120"/>
            </a:endParaRPr>
          </a:p>
        </p:txBody>
      </p:sp>
      <p:cxnSp>
        <p:nvCxnSpPr>
          <p:cNvPr id="27" name="直線單箭頭接點 26">
            <a:extLst>
              <a:ext uri="{FF2B5EF4-FFF2-40B4-BE49-F238E27FC236}">
                <a16:creationId xmlns:a16="http://schemas.microsoft.com/office/drawing/2014/main" id="{C4DED6E4-3F5A-4B23-9B58-956699125659}"/>
              </a:ext>
            </a:extLst>
          </p:cNvPr>
          <p:cNvCxnSpPr>
            <a:cxnSpLocks/>
          </p:cNvCxnSpPr>
          <p:nvPr/>
        </p:nvCxnSpPr>
        <p:spPr>
          <a:xfrm>
            <a:off x="2675076" y="2637598"/>
            <a:ext cx="0" cy="360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1339C18-0D67-490E-AF17-FA9E43D16393}"/>
              </a:ext>
            </a:extLst>
          </p:cNvPr>
          <p:cNvSpPr/>
          <p:nvPr/>
        </p:nvSpPr>
        <p:spPr>
          <a:xfrm>
            <a:off x="1547664" y="1052736"/>
            <a:ext cx="2307745" cy="608669"/>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Initial 27 populations</a:t>
            </a:r>
          </a:p>
          <a:p>
            <a:pPr algn="ctr"/>
            <a:r>
              <a:rPr lang="en-US" altLang="zh-TW" sz="1600" dirty="0">
                <a:ln w="0"/>
                <a:solidFill>
                  <a:schemeClr val="tx1"/>
                </a:solidFill>
                <a:latin typeface="Times New Roman" panose="02020603050405020304" pitchFamily="18" charset="0"/>
                <a:ea typeface="標楷體" panose="03000509000000000000" pitchFamily="65" charset="-120"/>
              </a:rPr>
              <a:t>(scoring matrix)</a:t>
            </a:r>
          </a:p>
        </p:txBody>
      </p:sp>
      <p:sp>
        <p:nvSpPr>
          <p:cNvPr id="29" name="矩形 28">
            <a:extLst>
              <a:ext uri="{FF2B5EF4-FFF2-40B4-BE49-F238E27FC236}">
                <a16:creationId xmlns:a16="http://schemas.microsoft.com/office/drawing/2014/main" id="{D2614803-BD87-46DF-B713-DE2CC6DFBBE8}"/>
              </a:ext>
            </a:extLst>
          </p:cNvPr>
          <p:cNvSpPr/>
          <p:nvPr/>
        </p:nvSpPr>
        <p:spPr>
          <a:xfrm>
            <a:off x="1573881" y="3009426"/>
            <a:ext cx="2307745" cy="608670"/>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PSO</a:t>
            </a:r>
          </a:p>
        </p:txBody>
      </p:sp>
      <p:cxnSp>
        <p:nvCxnSpPr>
          <p:cNvPr id="34" name="直線單箭頭接點 33">
            <a:extLst>
              <a:ext uri="{FF2B5EF4-FFF2-40B4-BE49-F238E27FC236}">
                <a16:creationId xmlns:a16="http://schemas.microsoft.com/office/drawing/2014/main" id="{1954172F-8DE5-497E-AE86-2B6837921ED4}"/>
              </a:ext>
            </a:extLst>
          </p:cNvPr>
          <p:cNvCxnSpPr>
            <a:cxnSpLocks/>
          </p:cNvCxnSpPr>
          <p:nvPr/>
        </p:nvCxnSpPr>
        <p:spPr>
          <a:xfrm>
            <a:off x="2675079" y="3618096"/>
            <a:ext cx="0" cy="360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8AF18A6D-9019-4D59-B36F-8CD31016FC67}"/>
              </a:ext>
            </a:extLst>
          </p:cNvPr>
          <p:cNvSpPr/>
          <p:nvPr/>
        </p:nvSpPr>
        <p:spPr>
          <a:xfrm>
            <a:off x="1521200" y="4953602"/>
            <a:ext cx="2307745" cy="608670"/>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TLBO learning</a:t>
            </a:r>
            <a:endParaRPr lang="zh-TW" altLang="en-US" sz="1600" dirty="0">
              <a:ln w="0"/>
              <a:solidFill>
                <a:schemeClr val="tx1"/>
              </a:solidFill>
              <a:latin typeface="Times New Roman" panose="02020603050405020304" pitchFamily="18" charset="0"/>
              <a:ea typeface="標楷體" panose="03000509000000000000" pitchFamily="65" charset="-120"/>
            </a:endParaRPr>
          </a:p>
        </p:txBody>
      </p:sp>
      <p:cxnSp>
        <p:nvCxnSpPr>
          <p:cNvPr id="37" name="直線單箭頭接點 36">
            <a:extLst>
              <a:ext uri="{FF2B5EF4-FFF2-40B4-BE49-F238E27FC236}">
                <a16:creationId xmlns:a16="http://schemas.microsoft.com/office/drawing/2014/main" id="{A36EAF2E-253A-4429-938C-482A7914022A}"/>
              </a:ext>
            </a:extLst>
          </p:cNvPr>
          <p:cNvCxnSpPr>
            <a:cxnSpLocks/>
          </p:cNvCxnSpPr>
          <p:nvPr/>
        </p:nvCxnSpPr>
        <p:spPr>
          <a:xfrm>
            <a:off x="2675078" y="1665062"/>
            <a:ext cx="0" cy="360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A8823E5F-E2F5-44AD-92B9-2AF94C8071AC}"/>
              </a:ext>
            </a:extLst>
          </p:cNvPr>
          <p:cNvCxnSpPr>
            <a:cxnSpLocks/>
            <a:stCxn id="44" idx="2"/>
            <a:endCxn id="20" idx="0"/>
          </p:cNvCxnSpPr>
          <p:nvPr/>
        </p:nvCxnSpPr>
        <p:spPr>
          <a:xfrm flipH="1">
            <a:off x="6228844" y="4586806"/>
            <a:ext cx="1" cy="5004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D7E7C415-2B1B-4601-8119-8DF8D471F1CB}"/>
              </a:ext>
            </a:extLst>
          </p:cNvPr>
          <p:cNvSpPr/>
          <p:nvPr/>
        </p:nvSpPr>
        <p:spPr>
          <a:xfrm>
            <a:off x="1521206" y="3978136"/>
            <a:ext cx="2307745" cy="608670"/>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TLBO teaching</a:t>
            </a:r>
            <a:endParaRPr lang="zh-TW" altLang="en-US" sz="1600" dirty="0">
              <a:ln w="0"/>
              <a:solidFill>
                <a:schemeClr val="tx1"/>
              </a:solidFill>
              <a:latin typeface="Times New Roman" panose="02020603050405020304" pitchFamily="18" charset="0"/>
              <a:ea typeface="標楷體" panose="03000509000000000000" pitchFamily="65" charset="-120"/>
            </a:endParaRPr>
          </a:p>
        </p:txBody>
      </p:sp>
      <p:cxnSp>
        <p:nvCxnSpPr>
          <p:cNvPr id="43" name="直線單箭頭接點 42">
            <a:extLst>
              <a:ext uri="{FF2B5EF4-FFF2-40B4-BE49-F238E27FC236}">
                <a16:creationId xmlns:a16="http://schemas.microsoft.com/office/drawing/2014/main" id="{C4ABF631-1E9C-4139-B373-B4B78B438FEC}"/>
              </a:ext>
            </a:extLst>
          </p:cNvPr>
          <p:cNvCxnSpPr>
            <a:cxnSpLocks/>
          </p:cNvCxnSpPr>
          <p:nvPr/>
        </p:nvCxnSpPr>
        <p:spPr>
          <a:xfrm>
            <a:off x="2675073" y="4586806"/>
            <a:ext cx="0" cy="360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流程圖: 決策 43">
            <a:extLst>
              <a:ext uri="{FF2B5EF4-FFF2-40B4-BE49-F238E27FC236}">
                <a16:creationId xmlns:a16="http://schemas.microsoft.com/office/drawing/2014/main" id="{139B4C59-B75F-47B1-85FB-FCB93905BC0E}"/>
              </a:ext>
            </a:extLst>
          </p:cNvPr>
          <p:cNvSpPr/>
          <p:nvPr/>
        </p:nvSpPr>
        <p:spPr>
          <a:xfrm>
            <a:off x="4965772" y="3609481"/>
            <a:ext cx="2526146" cy="977325"/>
          </a:xfrm>
          <a:prstGeom prst="flowChartDecision">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Termination condition?</a:t>
            </a:r>
            <a:endParaRPr lang="zh-TW" altLang="en-US"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7" name="接點: 肘形 16">
            <a:extLst>
              <a:ext uri="{FF2B5EF4-FFF2-40B4-BE49-F238E27FC236}">
                <a16:creationId xmlns:a16="http://schemas.microsoft.com/office/drawing/2014/main" id="{96DAF007-96E9-4FB5-A21D-CB68B4547109}"/>
              </a:ext>
            </a:extLst>
          </p:cNvPr>
          <p:cNvCxnSpPr>
            <a:cxnSpLocks/>
            <a:stCxn id="44" idx="3"/>
            <a:endCxn id="19" idx="3"/>
          </p:cNvCxnSpPr>
          <p:nvPr/>
        </p:nvCxnSpPr>
        <p:spPr>
          <a:xfrm flipH="1" flipV="1">
            <a:off x="3855409" y="2335759"/>
            <a:ext cx="3636509" cy="1762385"/>
          </a:xfrm>
          <a:prstGeom prst="bentConnector3">
            <a:avLst>
              <a:gd name="adj1" fmla="val -6286"/>
            </a:avLst>
          </a:prstGeom>
          <a:ln>
            <a:tailEnd type="triangle"/>
          </a:ln>
        </p:spPr>
        <p:style>
          <a:lnRef idx="2">
            <a:schemeClr val="dk1"/>
          </a:lnRef>
          <a:fillRef idx="0">
            <a:schemeClr val="dk1"/>
          </a:fillRef>
          <a:effectRef idx="1">
            <a:schemeClr val="dk1"/>
          </a:effectRef>
          <a:fontRef idx="minor">
            <a:schemeClr val="tx1"/>
          </a:fontRef>
        </p:style>
      </p:cxnSp>
      <p:sp>
        <p:nvSpPr>
          <p:cNvPr id="4" name="投影片編號版面配置區 3">
            <a:extLst>
              <a:ext uri="{FF2B5EF4-FFF2-40B4-BE49-F238E27FC236}">
                <a16:creationId xmlns:a16="http://schemas.microsoft.com/office/drawing/2014/main" id="{E732BEE7-1C80-4B45-8772-AF0DFC8D967D}"/>
              </a:ext>
            </a:extLst>
          </p:cNvPr>
          <p:cNvSpPr>
            <a:spLocks noGrp="1"/>
          </p:cNvSpPr>
          <p:nvPr>
            <p:ph type="sldNum" sz="quarter" idx="12"/>
          </p:nvPr>
        </p:nvSpPr>
        <p:spPr/>
        <p:txBody>
          <a:bodyPr/>
          <a:lstStyle/>
          <a:p>
            <a:fld id="{04C04D6A-2E29-441A-A244-9F1014899F6D}" type="slidenum">
              <a:rPr lang="zh-TW" altLang="en-US" smtClean="0"/>
              <a:pPr/>
              <a:t>11</a:t>
            </a:fld>
            <a:endParaRPr lang="zh-TW" altLang="en-US"/>
          </a:p>
        </p:txBody>
      </p:sp>
      <p:sp>
        <p:nvSpPr>
          <p:cNvPr id="26" name="矩形 25">
            <a:extLst>
              <a:ext uri="{FF2B5EF4-FFF2-40B4-BE49-F238E27FC236}">
                <a16:creationId xmlns:a16="http://schemas.microsoft.com/office/drawing/2014/main" id="{26BBA179-1E3C-42A3-9F1D-FCFB619419C5}"/>
              </a:ext>
            </a:extLst>
          </p:cNvPr>
          <p:cNvSpPr/>
          <p:nvPr/>
        </p:nvSpPr>
        <p:spPr>
          <a:xfrm>
            <a:off x="1521200" y="5922272"/>
            <a:ext cx="2307745" cy="608670"/>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Diversity-guided </a:t>
            </a:r>
          </a:p>
          <a:p>
            <a:pPr algn="ctr"/>
            <a:r>
              <a:rPr lang="en-US" altLang="zh-TW" sz="1600" dirty="0">
                <a:ln w="0"/>
                <a:solidFill>
                  <a:schemeClr val="tx1"/>
                </a:solidFill>
                <a:latin typeface="Times New Roman" panose="02020603050405020304" pitchFamily="18" charset="0"/>
                <a:ea typeface="標楷體" panose="03000509000000000000" pitchFamily="65" charset="-120"/>
              </a:rPr>
              <a:t>mutation</a:t>
            </a:r>
            <a:endParaRPr lang="zh-TW" altLang="en-US" sz="1600" dirty="0">
              <a:ln w="0"/>
              <a:solidFill>
                <a:schemeClr val="tx1"/>
              </a:solidFill>
              <a:latin typeface="Times New Roman" panose="02020603050405020304" pitchFamily="18" charset="0"/>
              <a:ea typeface="標楷體" panose="03000509000000000000" pitchFamily="65" charset="-120"/>
            </a:endParaRPr>
          </a:p>
        </p:txBody>
      </p:sp>
      <p:cxnSp>
        <p:nvCxnSpPr>
          <p:cNvPr id="30" name="直線單箭頭接點 29">
            <a:extLst>
              <a:ext uri="{FF2B5EF4-FFF2-40B4-BE49-F238E27FC236}">
                <a16:creationId xmlns:a16="http://schemas.microsoft.com/office/drawing/2014/main" id="{BB1323D0-AD35-4208-B4C6-67D5A02DC820}"/>
              </a:ext>
            </a:extLst>
          </p:cNvPr>
          <p:cNvCxnSpPr>
            <a:cxnSpLocks/>
          </p:cNvCxnSpPr>
          <p:nvPr/>
        </p:nvCxnSpPr>
        <p:spPr>
          <a:xfrm>
            <a:off x="2675073" y="5562272"/>
            <a:ext cx="0" cy="360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接點: 肘形 30">
            <a:extLst>
              <a:ext uri="{FF2B5EF4-FFF2-40B4-BE49-F238E27FC236}">
                <a16:creationId xmlns:a16="http://schemas.microsoft.com/office/drawing/2014/main" id="{DE16E84E-30E1-9604-84F6-0FB6DF6EBE6A}"/>
              </a:ext>
            </a:extLst>
          </p:cNvPr>
          <p:cNvCxnSpPr>
            <a:cxnSpLocks/>
            <a:stCxn id="26" idx="3"/>
            <a:endCxn id="44" idx="1"/>
          </p:cNvCxnSpPr>
          <p:nvPr/>
        </p:nvCxnSpPr>
        <p:spPr>
          <a:xfrm flipV="1">
            <a:off x="3828945" y="4098144"/>
            <a:ext cx="1136827" cy="212846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256101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539552" y="252703"/>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PSO</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文字方塊 1">
                <a:extLst>
                  <a:ext uri="{FF2B5EF4-FFF2-40B4-BE49-F238E27FC236}">
                    <a16:creationId xmlns:a16="http://schemas.microsoft.com/office/drawing/2014/main" id="{13564813-89A3-4B7B-9894-3E0AE83C2D5E}"/>
                  </a:ext>
                </a:extLst>
              </p:cNvPr>
              <p:cNvSpPr txBox="1"/>
              <p:nvPr/>
            </p:nvSpPr>
            <p:spPr>
              <a:xfrm>
                <a:off x="611559" y="1146660"/>
                <a:ext cx="8352928" cy="5023619"/>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altLang="zh-TW" sz="2000" dirty="0">
                    <a:solidFill>
                      <a:schemeClr val="tx1"/>
                    </a:solidFill>
                    <a:latin typeface="Times New Roman" panose="02020603050405020304" pitchFamily="18" charset="0"/>
                    <a:cs typeface="Times New Roman" panose="02020603050405020304" pitchFamily="18" charset="0"/>
                  </a:rPr>
                  <a:t>Preserve self-best and group-best</a:t>
                </a:r>
              </a:p>
              <a:p>
                <a:pPr marL="285750" indent="-285750">
                  <a:lnSpc>
                    <a:spcPct val="150000"/>
                  </a:lnSpc>
                  <a:buFont typeface="Arial" panose="020B0604020202020204" pitchFamily="34" charset="0"/>
                  <a:buChar char="•"/>
                </a:pPr>
                <a:r>
                  <a:rPr lang="en-US" altLang="zh-TW" sz="2000" dirty="0">
                    <a:solidFill>
                      <a:schemeClr val="tx1"/>
                    </a:solidFill>
                    <a:latin typeface="Times New Roman" panose="02020603050405020304" pitchFamily="18" charset="0"/>
                    <a:cs typeface="Times New Roman" panose="02020603050405020304" pitchFamily="18" charset="0"/>
                  </a:rPr>
                  <a:t>E</a:t>
                </a:r>
                <a:r>
                  <a:rPr lang="en-US" altLang="zh-TW" sz="2000" dirty="0">
                    <a:latin typeface="Times New Roman" panose="02020603050405020304" pitchFamily="18" charset="0"/>
                    <a:cs typeface="Times New Roman" panose="02020603050405020304" pitchFamily="18" charset="0"/>
                  </a:rPr>
                  <a:t>volution of PSO:</a:t>
                </a:r>
              </a:p>
              <a:p>
                <a:pPr>
                  <a:lnSpc>
                    <a:spcPct val="150000"/>
                  </a:lnSpc>
                </a:pPr>
                <a:r>
                  <a:rPr lang="en-US" altLang="zh-TW" sz="2000"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2000" i="1" smtClean="0">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𝑣</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Sub>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+1</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𝑤</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𝑣</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Sub>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𝑐</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1</m:t>
                        </m:r>
                      </m:sub>
                    </m:s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r>
                      <m:rPr>
                        <m:nor/>
                      </m:rPr>
                      <a:rPr lang="en-US" altLang="zh-TW" sz="2000">
                        <a:effectLst/>
                        <a:latin typeface="Times New Roman" panose="02020603050405020304" pitchFamily="18" charset="0"/>
                        <a:ea typeface="新細明體" panose="02020500000000000000" pitchFamily="18" charset="-120"/>
                        <a:cs typeface="Times New Roman" panose="02020603050405020304" pitchFamily="18" charset="0"/>
                      </a:rPr>
                      <m:t>rand</m:t>
                    </m:r>
                    <m:d>
                      <m:dPr>
                        <m:begChr m:val="["/>
                        <m:endChr m:val="]"/>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0,1</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d>
                      <m:dPr>
                        <m:begChr m:val="["/>
                        <m:endChr m:val="]"/>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sSubSup>
                          <m:sSubSupPr>
                            <m:ctrlPr>
                              <a:rPr lang="zh-TW" altLang="zh-TW" sz="2000" i="1">
                                <a:effectLst/>
                                <a:latin typeface="Cambria Math" panose="02040503050406030204" pitchFamily="18" charset="0"/>
                                <a:ea typeface="Cambria Math" panose="02040503050406030204" pitchFamily="18" charset="0"/>
                              </a:rPr>
                            </m:ctrlPr>
                          </m:sSubSup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up>
                        </m:sSubSup>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Sub>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𝑐</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2</m:t>
                        </m:r>
                      </m:sub>
                    </m:s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r>
                      <m:rPr>
                        <m:nor/>
                      </m:rPr>
                      <a:rPr lang="en-US" altLang="zh-TW" sz="2000">
                        <a:effectLst/>
                        <a:latin typeface="Times New Roman" panose="02020603050405020304" pitchFamily="18" charset="0"/>
                        <a:ea typeface="新細明體" panose="02020500000000000000" pitchFamily="18" charset="-120"/>
                        <a:cs typeface="Times New Roman" panose="02020603050405020304" pitchFamily="18" charset="0"/>
                      </a:rPr>
                      <m:t>rand</m:t>
                    </m:r>
                    <m:d>
                      <m:dPr>
                        <m:begChr m:val="["/>
                        <m:endChr m:val="]"/>
                        <m:ctrlPr>
                          <a:rPr lang="en-US" altLang="zh-TW" sz="2000" i="1" smtClean="0">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0,1</m:t>
                        </m:r>
                      </m:e>
                    </m:d>
                  </m:oMath>
                </a14:m>
                <a:endParaRPr lang="en-US" altLang="zh-TW" sz="2000" i="1" dirty="0">
                  <a:effectLst/>
                  <a:latin typeface="Times New Roman" panose="02020603050405020304" pitchFamily="18" charset="0"/>
                  <a:ea typeface="新細明體" panose="02020500000000000000" pitchFamily="18" charset="-120"/>
                  <a:cs typeface="Times New Roman" panose="02020603050405020304" pitchFamily="18" charset="0"/>
                </a:endParaRPr>
              </a:p>
              <a:p>
                <a:pPr>
                  <a:lnSpc>
                    <a:spcPct val="150000"/>
                  </a:lnSpc>
                </a:pPr>
                <a:r>
                  <a:rPr lang="en-US" altLang="zh-TW" sz="2000" dirty="0">
                    <a:effectLst/>
                    <a:latin typeface="Times New Roman" panose="02020603050405020304" pitchFamily="18" charset="0"/>
                    <a:ea typeface="新細明體" panose="02020500000000000000" pitchFamily="18" charset="-120"/>
                    <a:cs typeface="Times New Roman" panose="02020603050405020304" pitchFamily="18" charset="0"/>
                  </a:rPr>
                  <a:t>                            </a:t>
                </a:r>
                <a14:m>
                  <m:oMath xmlns:m="http://schemas.openxmlformats.org/officeDocument/2006/math">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d>
                      <m:dPr>
                        <m:begChr m:val="["/>
                        <m:endChr m:val="]"/>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sSup>
                          <m:sSupPr>
                            <m:ctrlPr>
                              <a:rPr lang="zh-TW" altLang="zh-TW" sz="2000" i="1">
                                <a:effectLst/>
                                <a:latin typeface="Cambria Math" panose="02040503050406030204" pitchFamily="18" charset="0"/>
                                <a:ea typeface="Cambria Math" panose="02040503050406030204" pitchFamily="18" charset="0"/>
                              </a:rPr>
                            </m:ctrlPr>
                          </m:sSup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up>
                        </m:sSup>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Sub>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oMath>
                </a14:m>
                <a:endParaRPr lang="en-US" altLang="zh-TW" sz="2000" i="1" dirty="0">
                  <a:effectLst/>
                  <a:latin typeface="Times New Roman" panose="02020603050405020304" pitchFamily="18" charset="0"/>
                  <a:ea typeface="新細明體" panose="02020500000000000000" pitchFamily="18" charset="-120"/>
                  <a:cs typeface="Times New Roman" panose="02020603050405020304" pitchFamily="18" charset="0"/>
                </a:endParaRPr>
              </a:p>
              <a:p>
                <a:pPr>
                  <a:lnSpc>
                    <a:spcPct val="150000"/>
                  </a:lnSpc>
                </a:pPr>
                <a:r>
                  <a:rPr lang="en-US" altLang="zh-TW" sz="2000" dirty="0">
                    <a:effectLst/>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2000" i="1" smtClean="0">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Sub>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+1</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Sub>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𝑣</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Sub>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+1</m:t>
                        </m:r>
                      </m:e>
                    </m:d>
                    <m:r>
                      <a:rPr lang="en-US" altLang="zh-TW" sz="2000" b="0" i="1" smtClean="0">
                        <a:effectLst/>
                        <a:latin typeface="Cambria Math" panose="02040503050406030204" pitchFamily="18" charset="0"/>
                        <a:ea typeface="新細明體" panose="02020500000000000000" pitchFamily="18" charset="-120"/>
                        <a:cs typeface="Times New Roman" panose="02020603050405020304" pitchFamily="18" charset="0"/>
                      </a:rPr>
                      <m:t>.</m:t>
                    </m:r>
                  </m:oMath>
                </a14:m>
                <a:endParaRPr lang="en-US" altLang="zh-TW" sz="20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altLang="zh-TW" sz="20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zh-TW" altLang="zh-TW" sz="2000" i="1" smtClean="0">
                            <a:effectLst/>
                            <a:latin typeface="Cambria Math" panose="02040503050406030204" pitchFamily="18" charset="0"/>
                            <a:ea typeface="Cambria Math" panose="02040503050406030204" pitchFamily="18" charset="0"/>
                          </a:rPr>
                        </m:ctrlPr>
                      </m:sSubSup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up>
                    </m:sSubSup>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b="0" i="1" smtClean="0">
                        <a:effectLst/>
                        <a:latin typeface="Cambria Math" panose="02040503050406030204" pitchFamily="18" charset="0"/>
                        <a:ea typeface="新細明體" panose="02020500000000000000" pitchFamily="18" charset="-120"/>
                        <a:cs typeface="Times New Roman" panose="02020603050405020304" pitchFamily="18" charset="0"/>
                      </a:rPr>
                      <m:t>:</m:t>
                    </m:r>
                  </m:oMath>
                </a14:m>
                <a:r>
                  <a:rPr lang="en-US" altLang="zh-TW" sz="2000" dirty="0">
                    <a:solidFill>
                      <a:schemeClr val="tx1"/>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a:t>
                </a:r>
                <a:r>
                  <a:rPr lang="en-US" altLang="zh-TW" sz="2000" dirty="0">
                    <a:solidFill>
                      <a:schemeClr val="tx1"/>
                    </a:solidFill>
                    <a:latin typeface="Times New Roman" panose="02020603050405020304" pitchFamily="18" charset="0"/>
                    <a:cs typeface="Times New Roman" panose="02020603050405020304" pitchFamily="18" charset="0"/>
                  </a:rPr>
                  <a:t>he best fitness of chromosome </a:t>
                </a:r>
                <a14:m>
                  <m:oMath xmlns:m="http://schemas.openxmlformats.org/officeDocument/2006/math">
                    <m:r>
                      <a:rPr lang="en-US" altLang="zh-TW" sz="2000" i="1" kern="100">
                        <a:latin typeface="Cambria Math" panose="02040503050406030204" pitchFamily="18" charset="0"/>
                        <a:cs typeface="Times New Roman" panose="02020603050405020304" pitchFamily="18" charset="0"/>
                      </a:rPr>
                      <m:t>𝑖</m:t>
                    </m:r>
                    <m:r>
                      <a:rPr lang="en-US" altLang="zh-TW" sz="2000" b="0" i="0" kern="100" smtClean="0">
                        <a:latin typeface="Cambria Math" panose="02040503050406030204" pitchFamily="18" charset="0"/>
                        <a:cs typeface="Times New Roman" panose="02020603050405020304" pitchFamily="18" charset="0"/>
                      </a:rPr>
                      <m:t>.</m:t>
                    </m:r>
                  </m:oMath>
                </a14:m>
                <a:endParaRPr lang="en-US" altLang="zh-TW" sz="2000" b="0" kern="100" dirty="0">
                  <a:latin typeface="Times New Roman" panose="02020603050405020304" pitchFamily="18" charset="0"/>
                  <a:cs typeface="Times New Roman" panose="02020603050405020304" pitchFamily="18" charset="0"/>
                </a:endParaRPr>
              </a:p>
              <a:p>
                <a:pPr>
                  <a:lnSpc>
                    <a:spcPct val="150000"/>
                  </a:lnSpc>
                </a:pPr>
                <a:r>
                  <a:rPr lang="en-US" altLang="zh-TW" sz="2000" dirty="0">
                    <a:solidFill>
                      <a:srgbClr val="222222"/>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zh-TW" altLang="zh-TW" sz="2000" i="1" smtClean="0">
                            <a:effectLst/>
                            <a:latin typeface="Cambria Math" panose="02040503050406030204" pitchFamily="18" charset="0"/>
                            <a:ea typeface="Cambria Math" panose="02040503050406030204" pitchFamily="18" charset="0"/>
                          </a:rPr>
                        </m:ctrlPr>
                      </m:sSup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up>
                    </m:sSup>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b="0" i="1" smtClean="0">
                        <a:effectLst/>
                        <a:latin typeface="Cambria Math" panose="02040503050406030204" pitchFamily="18" charset="0"/>
                        <a:ea typeface="新細明體" panose="02020500000000000000" pitchFamily="18" charset="-12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The best fitness of all chromosomes</a:t>
                </a:r>
                <a14:m>
                  <m:oMath xmlns:m="http://schemas.openxmlformats.org/officeDocument/2006/math">
                    <m:r>
                      <a:rPr lang="en-US" altLang="zh-TW" sz="2000" kern="100">
                        <a:latin typeface="Cambria Math" panose="02040503050406030204" pitchFamily="18" charset="0"/>
                        <a:cs typeface="Times New Roman" panose="02020603050405020304" pitchFamily="18" charset="0"/>
                      </a:rPr>
                      <m:t>.</m:t>
                    </m:r>
                  </m:oMath>
                </a14:m>
                <a:endParaRPr lang="en-US" altLang="zh-TW" sz="2000" dirty="0">
                  <a:solidFill>
                    <a:srgbClr val="222222"/>
                  </a:solidFill>
                  <a:latin typeface="Times New Roman" panose="02020603050405020304" pitchFamily="18" charset="0"/>
                  <a:cs typeface="Times New Roman" panose="02020603050405020304" pitchFamily="18" charset="0"/>
                </a:endParaRPr>
              </a:p>
              <a:p>
                <a:pPr>
                  <a:lnSpc>
                    <a:spcPct val="150000"/>
                  </a:lnSpc>
                </a:pPr>
                <a:r>
                  <a:rPr lang="en-US" altLang="zh-TW" sz="2000" dirty="0">
                    <a:solidFill>
                      <a:srgbClr val="222222"/>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TW" sz="2000">
                        <a:latin typeface="Cambria Math" panose="02040503050406030204" pitchFamily="18" charset="0"/>
                      </a:rPr>
                      <m:t>𝑤</m:t>
                    </m:r>
                  </m:oMath>
                </a14:m>
                <a:r>
                  <a:rPr lang="en-US" altLang="zh-TW" sz="2000" dirty="0">
                    <a:solidFill>
                      <a:srgbClr val="222222"/>
                    </a:solidFill>
                    <a:latin typeface="Times New Roman" panose="02020603050405020304" pitchFamily="18" charset="0"/>
                    <a:cs typeface="Times New Roman" panose="02020603050405020304" pitchFamily="18" charset="0"/>
                  </a:rPr>
                  <a:t>:</a:t>
                </a:r>
                <a:r>
                  <a:rPr lang="zh-TW" altLang="en-US" sz="2000" dirty="0">
                    <a:solidFill>
                      <a:srgbClr val="222222"/>
                    </a:solidFill>
                    <a:latin typeface="Times New Roman" panose="02020603050405020304" pitchFamily="18" charset="0"/>
                    <a:cs typeface="Times New Roman" panose="02020603050405020304" pitchFamily="18" charset="0"/>
                  </a:rPr>
                  <a:t> </a:t>
                </a:r>
                <a:r>
                  <a:rPr lang="en-US" altLang="zh-TW" sz="2000" dirty="0">
                    <a:solidFill>
                      <a:srgbClr val="222222"/>
                    </a:solidFill>
                    <a:latin typeface="Times New Roman" panose="02020603050405020304" pitchFamily="18" charset="0"/>
                    <a:cs typeface="Times New Roman" panose="02020603050405020304" pitchFamily="18" charset="0"/>
                  </a:rPr>
                  <a:t>Inertia weight. </a:t>
                </a:r>
              </a:p>
              <a:p>
                <a:pPr>
                  <a:lnSpc>
                    <a:spcPct val="150000"/>
                  </a:lnSpc>
                </a:pPr>
                <a:r>
                  <a:rPr lang="en-US" altLang="zh-TW" sz="2000" dirty="0">
                    <a:solidFill>
                      <a:srgbClr val="222222"/>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en-US" sz="2000" i="1">
                            <a:latin typeface="Cambria Math" panose="02040503050406030204" pitchFamily="18" charset="0"/>
                          </a:rPr>
                        </m:ctrlPr>
                      </m:sSubPr>
                      <m:e>
                        <m:r>
                          <a:rPr lang="en-US" altLang="zh-TW" sz="2000" i="1">
                            <a:latin typeface="Cambria Math" panose="02040503050406030204" pitchFamily="18" charset="0"/>
                          </a:rPr>
                          <m:t>𝑐</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oMath>
                </a14:m>
                <a:r>
                  <a:rPr lang="en-US" altLang="zh-TW" sz="2000" i="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Group-learning weight.</a:t>
                </a:r>
              </a:p>
              <a:p>
                <a:pPr>
                  <a:lnSpc>
                    <a:spcPct val="150000"/>
                  </a:lnSpc>
                </a:pPr>
                <a:r>
                  <a:rPr lang="zh-TW" altLang="en-US"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en-US" sz="2000" i="1" dirty="0">
                            <a:latin typeface="Cambria Math" panose="02040503050406030204" pitchFamily="18" charset="0"/>
                          </a:rPr>
                        </m:ctrlPr>
                      </m:sSubPr>
                      <m:e>
                        <m:r>
                          <a:rPr lang="zh-TW" altLang="en-US" sz="2000" i="1" dirty="0">
                            <a:latin typeface="Cambria Math" panose="02040503050406030204" pitchFamily="18" charset="0"/>
                          </a:rPr>
                          <m:t>𝑐</m:t>
                        </m:r>
                      </m:e>
                      <m:sub>
                        <m:r>
                          <a:rPr lang="zh-TW" altLang="en-US" sz="2000" dirty="0">
                            <a:latin typeface="Cambria Math" panose="02040503050406030204" pitchFamily="18" charset="0"/>
                          </a:rPr>
                          <m:t>2</m:t>
                        </m:r>
                      </m:sub>
                    </m:sSub>
                  </m:oMath>
                </a14:m>
                <a:r>
                  <a:rPr lang="en-US" altLang="zh-TW" sz="2000" dirty="0">
                    <a:latin typeface="Times New Roman" panose="02020603050405020304" pitchFamily="18" charset="0"/>
                    <a:cs typeface="Times New Roman" panose="02020603050405020304" pitchFamily="18" charset="0"/>
                  </a:rPr>
                  <a:t>: Self-learning weight.</a:t>
                </a:r>
                <a:endParaRPr lang="en-US" altLang="zh-TW"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2" name="文字方塊 1">
                <a:extLst>
                  <a:ext uri="{FF2B5EF4-FFF2-40B4-BE49-F238E27FC236}">
                    <a16:creationId xmlns:a16="http://schemas.microsoft.com/office/drawing/2014/main" id="{13564813-89A3-4B7B-9894-3E0AE83C2D5E}"/>
                  </a:ext>
                </a:extLst>
              </p:cNvPr>
              <p:cNvSpPr txBox="1">
                <a:spLocks noRot="1" noChangeAspect="1" noMove="1" noResize="1" noEditPoints="1" noAdjustHandles="1" noChangeArrowheads="1" noChangeShapeType="1" noTextEdit="1"/>
              </p:cNvSpPr>
              <p:nvPr/>
            </p:nvSpPr>
            <p:spPr>
              <a:xfrm>
                <a:off x="611559" y="1146660"/>
                <a:ext cx="8352928" cy="5023619"/>
              </a:xfrm>
              <a:prstGeom prst="rect">
                <a:avLst/>
              </a:prstGeom>
              <a:blipFill>
                <a:blip r:embed="rId3"/>
                <a:stretch>
                  <a:fillRect l="-1751" b="-2184"/>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1988FFB8-90FB-4825-8057-5572C5F8D796}"/>
              </a:ext>
            </a:extLst>
          </p:cNvPr>
          <p:cNvSpPr>
            <a:spLocks noGrp="1"/>
          </p:cNvSpPr>
          <p:nvPr>
            <p:ph type="sldNum" sz="quarter" idx="12"/>
          </p:nvPr>
        </p:nvSpPr>
        <p:spPr/>
        <p:txBody>
          <a:bodyPr/>
          <a:lstStyle/>
          <a:p>
            <a:fld id="{04C04D6A-2E29-441A-A244-9F1014899F6D}" type="slidenum">
              <a:rPr lang="zh-TW" altLang="en-US" smtClean="0"/>
              <a:pPr/>
              <a:t>12</a:t>
            </a:fld>
            <a:endParaRPr lang="zh-TW" altLang="en-US"/>
          </a:p>
        </p:txBody>
      </p:sp>
    </p:spTree>
    <p:extLst>
      <p:ext uri="{BB962C8B-B14F-4D97-AF65-F5344CB8AC3E}">
        <p14:creationId xmlns:p14="http://schemas.microsoft.com/office/powerpoint/2010/main" val="7929422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88189" y="260648"/>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TLBO Teaching and Learning </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13564813-89A3-4B7B-9894-3E0AE83C2D5E}"/>
                  </a:ext>
                </a:extLst>
              </p:cNvPr>
              <p:cNvSpPr txBox="1"/>
              <p:nvPr/>
            </p:nvSpPr>
            <p:spPr>
              <a:xfrm>
                <a:off x="611558" y="1196752"/>
                <a:ext cx="8352928" cy="6013249"/>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altLang="zh-TW" sz="2000" dirty="0">
                    <a:solidFill>
                      <a:schemeClr val="tx1"/>
                    </a:solidFill>
                    <a:latin typeface="Times New Roman" panose="02020603050405020304" pitchFamily="18" charset="0"/>
                    <a:cs typeface="Times New Roman" panose="02020603050405020304" pitchFamily="18" charset="0"/>
                  </a:rPr>
                  <a:t>Teaching formula</a:t>
                </a:r>
                <a:r>
                  <a:rPr lang="en-US" altLang="zh-TW" sz="2000" dirty="0">
                    <a:latin typeface="Times New Roman" panose="02020603050405020304" pitchFamily="18" charset="0"/>
                    <a:cs typeface="Times New Roman" panose="02020603050405020304" pitchFamily="18" charset="0"/>
                  </a:rPr>
                  <a:t>:</a:t>
                </a:r>
              </a:p>
              <a:p>
                <a:pPr>
                  <a:lnSpc>
                    <a:spcPct val="150000"/>
                  </a:lnSpc>
                </a:pPr>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𝑖</m:t>
                        </m:r>
                      </m:sub>
                    </m:sSub>
                    <m:d>
                      <m:dPr>
                        <m:ctrlPr>
                          <a:rPr lang="en-US" altLang="zh-TW" sz="2000" i="1">
                            <a:latin typeface="Cambria Math" panose="02040503050406030204" pitchFamily="18" charset="0"/>
                          </a:rPr>
                        </m:ctrlPr>
                      </m:dPr>
                      <m:e>
                        <m:r>
                          <a:rPr lang="en-US" altLang="zh-TW" sz="2000" i="1">
                            <a:latin typeface="Cambria Math" panose="02040503050406030204" pitchFamily="18" charset="0"/>
                          </a:rPr>
                          <m:t>𝑡</m:t>
                        </m:r>
                        <m:r>
                          <a:rPr lang="en-US" altLang="zh-TW" sz="2000" i="1">
                            <a:latin typeface="Cambria Math" panose="02040503050406030204" pitchFamily="18" charset="0"/>
                          </a:rPr>
                          <m:t>+1</m:t>
                        </m:r>
                      </m:e>
                    </m:d>
                    <m:r>
                      <a:rPr lang="en-US" altLang="zh-TW" sz="2000" i="1">
                        <a:latin typeface="Cambria Math" panose="02040503050406030204" pitchFamily="18" charset="0"/>
                      </a:rPr>
                      <m:t>=</m:t>
                    </m:r>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𝑖</m:t>
                        </m:r>
                      </m:sub>
                    </m:sSub>
                    <m:d>
                      <m:dPr>
                        <m:ctrlPr>
                          <a:rPr lang="en-US" altLang="zh-TW" sz="2000" i="1">
                            <a:latin typeface="Cambria Math" panose="02040503050406030204" pitchFamily="18" charset="0"/>
                          </a:rPr>
                        </m:ctrlPr>
                      </m:dPr>
                      <m:e>
                        <m:r>
                          <a:rPr lang="en-US" altLang="zh-TW" sz="2000" i="1">
                            <a:latin typeface="Cambria Math" panose="02040503050406030204" pitchFamily="18" charset="0"/>
                          </a:rPr>
                          <m:t>𝑡</m:t>
                        </m:r>
                      </m:e>
                    </m:d>
                    <m:r>
                      <a:rPr lang="en-US" altLang="zh-TW" sz="2000" i="1">
                        <a:latin typeface="Cambria Math" panose="02040503050406030204" pitchFamily="18" charset="0"/>
                      </a:rPr>
                      <m:t>+</m:t>
                    </m:r>
                    <m:r>
                      <m:rPr>
                        <m:nor/>
                      </m:rPr>
                      <a:rPr lang="en-US" altLang="zh-TW" sz="2000">
                        <a:latin typeface="Times New Roman" panose="02020603050405020304" pitchFamily="18" charset="0"/>
                        <a:cs typeface="Times New Roman" panose="02020603050405020304" pitchFamily="18" charset="0"/>
                      </a:rPr>
                      <m:t>rand</m:t>
                    </m:r>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rPr>
                          <m:t>0,1</m:t>
                        </m:r>
                      </m:e>
                    </m:d>
                    <m:r>
                      <a:rPr lang="en-US" altLang="zh-TW" sz="2000" i="1">
                        <a:latin typeface="Cambria Math" panose="02040503050406030204" pitchFamily="18" charset="0"/>
                      </a:rPr>
                      <m:t>×</m:t>
                    </m:r>
                    <m:d>
                      <m:dPr>
                        <m:begChr m:val="["/>
                        <m:endChr m:val="]"/>
                        <m:ctrlPr>
                          <a:rPr lang="en-US" altLang="zh-TW" sz="2000" i="1">
                            <a:latin typeface="Cambria Math" panose="02040503050406030204" pitchFamily="18" charset="0"/>
                          </a:rPr>
                        </m:ctrlPr>
                      </m:dPr>
                      <m:e>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𝑥</m:t>
                            </m:r>
                          </m:e>
                          <m:sub>
                            <m:r>
                              <m:rPr>
                                <m:sty m:val="p"/>
                              </m:rPr>
                              <a:rPr lang="en-US" altLang="zh-TW" sz="2000" i="1">
                                <a:latin typeface="Cambria Math" panose="02040503050406030204" pitchFamily="18" charset="0"/>
                              </a:rPr>
                              <m:t>T</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rPr>
                              <m:t>𝑡</m:t>
                            </m:r>
                          </m:e>
                        </m:d>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𝐹</m:t>
                            </m:r>
                          </m:e>
                          <m:sub>
                            <m:r>
                              <m:rPr>
                                <m:sty m:val="p"/>
                              </m:rPr>
                              <a:rPr lang="en-US" altLang="zh-TW" sz="2000">
                                <a:latin typeface="Cambria Math" panose="02040503050406030204" pitchFamily="18" charset="0"/>
                              </a:rPr>
                              <m:t>TLBO</m:t>
                            </m:r>
                          </m:sub>
                        </m:sSub>
                        <m:r>
                          <a:rPr lang="en-US" altLang="zh-TW" sz="2000" i="1">
                            <a:latin typeface="Cambria Math" panose="02040503050406030204" pitchFamily="18" charset="0"/>
                          </a:rPr>
                          <m:t>×</m:t>
                        </m:r>
                        <m:bar>
                          <m:barPr>
                            <m:pos m:val="top"/>
                            <m:ctrlPr>
                              <a:rPr lang="zh-TW" altLang="zh-TW" sz="2000" i="1">
                                <a:latin typeface="Cambria Math" panose="02040503050406030204" pitchFamily="18" charset="0"/>
                              </a:rPr>
                            </m:ctrlPr>
                          </m:barPr>
                          <m:e>
                            <m:r>
                              <a:rPr lang="en-US" altLang="zh-TW" sz="2000" i="1">
                                <a:latin typeface="Cambria Math" panose="02040503050406030204" pitchFamily="18" charset="0"/>
                              </a:rPr>
                              <m:t>𝑥</m:t>
                            </m:r>
                          </m:e>
                        </m:bar>
                      </m:e>
                    </m:d>
                    <m:r>
                      <a:rPr lang="en-US" altLang="zh-TW" sz="2000" i="1">
                        <a:latin typeface="Cambria Math" panose="02040503050406030204" pitchFamily="18" charset="0"/>
                      </a:rPr>
                      <m:t>,</m:t>
                    </m:r>
                  </m:oMath>
                </a14:m>
                <a:endParaRPr lang="en-US" altLang="zh-TW" sz="2000" i="1" dirty="0">
                  <a:latin typeface="Times New Roman" panose="02020603050405020304" pitchFamily="18" charset="0"/>
                  <a:cs typeface="Times New Roman" panose="02020603050405020304" pitchFamily="18" charset="0"/>
                </a:endParaRPr>
              </a:p>
              <a:p>
                <a:pPr>
                  <a:lnSpc>
                    <a:spcPct val="150000"/>
                  </a:lnSpc>
                </a:pPr>
                <a:endParaRPr lang="en-US" altLang="zh-TW" sz="2000" i="1" dirty="0">
                  <a:latin typeface="Times New Roman" panose="02020603050405020304" pitchFamily="18" charset="0"/>
                  <a:cs typeface="Times New Roman" panose="02020603050405020304" pitchFamily="18" charset="0"/>
                </a:endParaRPr>
              </a:p>
              <a:p>
                <a:pPr>
                  <a:lnSpc>
                    <a:spcPct val="150000"/>
                  </a:lnSpc>
                </a:pPr>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m:rPr>
                            <m:sty m:val="p"/>
                          </m:rPr>
                          <a:rPr lang="en-US" altLang="zh-TW" sz="2000" i="0">
                            <a:latin typeface="Cambria Math" panose="02040503050406030204" pitchFamily="18" charset="0"/>
                          </a:rPr>
                          <m:t>T</m:t>
                        </m:r>
                      </m:sub>
                    </m:sSub>
                    <m:d>
                      <m:dPr>
                        <m:ctrlPr>
                          <a:rPr lang="en-US" altLang="zh-TW" sz="2000" i="1">
                            <a:latin typeface="Cambria Math" panose="02040503050406030204" pitchFamily="18" charset="0"/>
                          </a:rPr>
                        </m:ctrlPr>
                      </m:dPr>
                      <m:e>
                        <m:r>
                          <a:rPr lang="en-US" altLang="zh-TW" sz="2000" i="1">
                            <a:latin typeface="Cambria Math" panose="02040503050406030204" pitchFamily="18" charset="0"/>
                          </a:rPr>
                          <m:t>𝑡</m:t>
                        </m:r>
                      </m:e>
                    </m:d>
                    <m:r>
                      <a:rPr lang="en-US" altLang="zh-TW" sz="2000" b="0" i="0" smtClean="0">
                        <a:latin typeface="Cambria Math" panose="02040503050406030204" pitchFamily="18" charset="0"/>
                      </a:rPr>
                      <m:t>:</m:t>
                    </m:r>
                  </m:oMath>
                </a14:m>
                <a:r>
                  <a:rPr lang="en-US" altLang="zh-TW" sz="2000" dirty="0">
                    <a:latin typeface="Times New Roman" panose="02020603050405020304" pitchFamily="18" charset="0"/>
                    <a:cs typeface="Times New Roman" panose="02020603050405020304" pitchFamily="18" charset="0"/>
                  </a:rPr>
                  <a:t> The best fitness of all chromosomes.</a:t>
                </a:r>
              </a:p>
              <a:p>
                <a:pPr>
                  <a:lnSpc>
                    <a:spcPct val="150000"/>
                  </a:lnSpc>
                </a:pPr>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zh-TW" altLang="zh-TW" sz="2000" i="1">
                            <a:latin typeface="Cambria Math" panose="02040503050406030204" pitchFamily="18" charset="0"/>
                          </a:rPr>
                        </m:ctrlPr>
                      </m:barPr>
                      <m:e>
                        <m:r>
                          <a:rPr lang="en-US" altLang="zh-TW" sz="2000" i="1">
                            <a:latin typeface="Cambria Math" panose="02040503050406030204" pitchFamily="18" charset="0"/>
                          </a:rPr>
                          <m:t>𝑥</m:t>
                        </m:r>
                      </m:e>
                    </m:bar>
                    <m:d>
                      <m:dPr>
                        <m:ctrlPr>
                          <a:rPr lang="en-US" altLang="zh-TW" sz="2000" i="1">
                            <a:latin typeface="Cambria Math" panose="02040503050406030204" pitchFamily="18" charset="0"/>
                          </a:rPr>
                        </m:ctrlPr>
                      </m:dPr>
                      <m:e>
                        <m:r>
                          <a:rPr lang="en-US" altLang="zh-TW" sz="2000" i="1">
                            <a:latin typeface="Cambria Math" panose="02040503050406030204" pitchFamily="18" charset="0"/>
                          </a:rPr>
                          <m:t>𝑡</m:t>
                        </m:r>
                      </m:e>
                    </m:d>
                    <m:r>
                      <a:rPr lang="en-US" altLang="zh-TW" sz="2000" b="0" i="1" smtClean="0">
                        <a:latin typeface="Cambria Math" panose="02040503050406030204" pitchFamily="18" charset="0"/>
                      </a:rPr>
                      <m:t>:</m:t>
                    </m:r>
                  </m:oMath>
                </a14:m>
                <a:r>
                  <a:rPr lang="en-US" altLang="zh-TW" sz="2000" dirty="0">
                    <a:solidFill>
                      <a:srgbClr val="222222"/>
                    </a:solidFill>
                    <a:latin typeface="Times New Roman" panose="02020603050405020304" pitchFamily="18" charset="0"/>
                    <a:cs typeface="Times New Roman" panose="02020603050405020304" pitchFamily="18" charset="0"/>
                  </a:rPr>
                  <a:t> The mean chromosome of all chromosomes. </a:t>
                </a:r>
              </a:p>
              <a:p>
                <a:pPr>
                  <a:lnSpc>
                    <a:spcPct val="150000"/>
                  </a:lnSpc>
                </a:pPr>
                <a:r>
                  <a:rPr lang="en-US" altLang="zh-TW" sz="2000" dirty="0">
                    <a:solidFill>
                      <a:srgbClr val="222222"/>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𝐹</m:t>
                        </m:r>
                      </m:e>
                      <m:sub>
                        <m:r>
                          <m:rPr>
                            <m:sty m:val="p"/>
                          </m:rPr>
                          <a:rPr lang="en-US" altLang="zh-TW" sz="2000">
                            <a:latin typeface="Cambria Math" panose="02040503050406030204" pitchFamily="18" charset="0"/>
                          </a:rPr>
                          <m:t>TLBO</m:t>
                        </m:r>
                      </m:sub>
                    </m:sSub>
                  </m:oMath>
                </a14:m>
                <a:r>
                  <a:rPr lang="en-US" altLang="zh-TW" sz="2000" dirty="0">
                    <a:latin typeface="Times New Roman" panose="02020603050405020304" pitchFamily="18" charset="0"/>
                    <a:cs typeface="Times New Roman" panose="02020603050405020304" pitchFamily="18" charset="0"/>
                  </a:rPr>
                  <a:t>: Teaching factor.</a:t>
                </a:r>
              </a:p>
              <a:p>
                <a:pPr>
                  <a:lnSpc>
                    <a:spcPct val="150000"/>
                  </a:lnSpc>
                </a:pPr>
                <a:endPar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marL="285750" indent="-285750">
                  <a:lnSpc>
                    <a:spcPct val="150000"/>
                  </a:lnSpc>
                  <a:buFont typeface="Arial" panose="020B0604020202020204" pitchFamily="34" charset="0"/>
                  <a:buChar char="•"/>
                </a:pP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Learning formula:</a:t>
                </a:r>
                <a:endParaRPr lang="en-US" altLang="zh-TW" sz="2000" kern="100" dirty="0">
                  <a:latin typeface="Times New Roman" panose="02020603050405020304" pitchFamily="18" charset="0"/>
                  <a:ea typeface="新細明體" panose="02020500000000000000" pitchFamily="18" charset="-120"/>
                  <a:cs typeface="Times New Roman" panose="02020603050405020304" pitchFamily="18" charset="0"/>
                </a:endParaRPr>
              </a:p>
              <a:p>
                <a:pPr>
                  <a:lnSpc>
                    <a:spcPct val="150000"/>
                  </a:lnSpc>
                </a:pP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     </a:t>
                </a:r>
                <a14:m>
                  <m:oMath xmlns:m="http://schemas.openxmlformats.org/officeDocument/2006/math">
                    <m:sSub>
                      <m:sSubPr>
                        <m:ctrlPr>
                          <a:rPr lang="zh-TW" altLang="zh-TW" sz="20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𝑖</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+1)=</m:t>
                    </m:r>
                    <m:sSub>
                      <m:sSubPr>
                        <m:ctrlPr>
                          <a:rPr lang="zh-TW" altLang="zh-TW"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𝑖</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m:rPr>
                        <m:nor/>
                      </m:rPr>
                      <a:rPr lang="en-US" altLang="zh-TW" sz="2000" kern="100">
                        <a:effectLst/>
                        <a:latin typeface="Times New Roman" panose="02020603050405020304" pitchFamily="18" charset="0"/>
                        <a:ea typeface="新細明體" panose="02020500000000000000" pitchFamily="18" charset="-120"/>
                        <a:cs typeface="Times New Roman" panose="02020603050405020304" pitchFamily="18" charset="0"/>
                      </a:rPr>
                      <m:t>rand</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[0,1]×|</m:t>
                    </m:r>
                    <m:sSub>
                      <m:sSubPr>
                        <m:ctrlPr>
                          <a:rPr lang="zh-TW" altLang="zh-TW"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𝑖</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𝑥</m:t>
                        </m:r>
                      </m:e>
                      <m:sub>
                        <m:r>
                          <m:rPr>
                            <m:nor/>
                          </m:rPr>
                          <a:rPr lang="en-US" altLang="zh-TW" sz="2000" kern="100">
                            <a:effectLst/>
                            <a:latin typeface="Times New Roman" panose="02020603050405020304" pitchFamily="18" charset="0"/>
                            <a:ea typeface="新細明體" panose="02020500000000000000" pitchFamily="18" charset="-120"/>
                            <a:cs typeface="Times New Roman" panose="02020603050405020304" pitchFamily="18" charset="0"/>
                          </a:rPr>
                          <m:t>rand</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oMath>
                </a14:m>
                <a:endPar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a:lnSpc>
                    <a:spcPct val="150000"/>
                  </a:lnSpc>
                </a:pPr>
                <a:endPar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a:lnSpc>
                    <a:spcPct val="150000"/>
                  </a:lnSpc>
                </a:pPr>
                <a:r>
                  <a:rPr lang="en-US" altLang="zh-TW" sz="2000" kern="100" dirty="0">
                    <a:latin typeface="Times New Roman" panose="02020603050405020304" pitchFamily="18" charset="0"/>
                    <a:ea typeface="新細明體" panose="02020500000000000000" pitchFamily="18" charset="-120"/>
                    <a:cs typeface="Times New Roman" panose="02020603050405020304" pitchFamily="18" charset="0"/>
                  </a:rPr>
                  <a:t>     </a:t>
                </a:r>
                <a14:m>
                  <m:oMath xmlns:m="http://schemas.openxmlformats.org/officeDocument/2006/math">
                    <m:sSub>
                      <m:sSubPr>
                        <m:ctrlPr>
                          <a:rPr lang="zh-TW" altLang="zh-TW" sz="20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𝑥</m:t>
                        </m:r>
                      </m:e>
                      <m:sub>
                        <m:r>
                          <m:rPr>
                            <m:nor/>
                          </m:rPr>
                          <a:rPr lang="en-US" altLang="zh-TW" sz="2000" b="0" i="0" kern="100" smtClean="0">
                            <a:effectLst/>
                            <a:latin typeface="Times New Roman" panose="02020603050405020304" pitchFamily="18" charset="0"/>
                            <a:ea typeface="新細明體" panose="02020500000000000000" pitchFamily="18" charset="-120"/>
                            <a:cs typeface="Times New Roman" panose="02020603050405020304" pitchFamily="18" charset="0"/>
                          </a:rPr>
                          <m:t>rand</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b="0" i="1" kern="100" smtClean="0">
                        <a:effectLst/>
                        <a:latin typeface="Cambria Math" panose="02040503050406030204" pitchFamily="18" charset="0"/>
                        <a:ea typeface="新細明體" panose="02020500000000000000" pitchFamily="18" charset="-120"/>
                        <a:cs typeface="Times New Roman" panose="02020603050405020304" pitchFamily="18" charset="0"/>
                      </a:rPr>
                      <m:t>)</m:t>
                    </m:r>
                  </m:oMath>
                </a14:m>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 T</a:t>
                </a:r>
                <a:r>
                  <a:rPr lang="en-US" altLang="zh-TW" sz="2000" dirty="0">
                    <a:latin typeface="Times New Roman" panose="02020603050405020304" pitchFamily="18" charset="0"/>
                    <a:cs typeface="Times New Roman" panose="02020603050405020304" pitchFamily="18" charset="0"/>
                  </a:rPr>
                  <a:t>he chromosome chosen randomly.</a:t>
                </a:r>
                <a:endParaRPr lang="zh-TW"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marL="285750" indent="-285750">
                  <a:lnSpc>
                    <a:spcPct val="150000"/>
                  </a:lnSpc>
                  <a:buFont typeface="Arial" panose="020B0604020202020204" pitchFamily="34" charset="0"/>
                  <a:buChar char="•"/>
                </a:pPr>
                <a:endParaRPr lang="zh-TW"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a:lnSpc>
                    <a:spcPct val="150000"/>
                  </a:lnSpc>
                </a:pPr>
                <a:endParaRPr lang="en-US" altLang="zh-TW" sz="2000" i="1"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mc:Choice>
        <mc:Fallback xmlns="">
          <p:sp>
            <p:nvSpPr>
              <p:cNvPr id="2" name="文字方塊 1">
                <a:extLst>
                  <a:ext uri="{FF2B5EF4-FFF2-40B4-BE49-F238E27FC236}">
                    <a16:creationId xmlns:a16="http://schemas.microsoft.com/office/drawing/2014/main" id="{13564813-89A3-4B7B-9894-3E0AE83C2D5E}"/>
                  </a:ext>
                </a:extLst>
              </p:cNvPr>
              <p:cNvSpPr txBox="1">
                <a:spLocks noRot="1" noChangeAspect="1" noMove="1" noResize="1" noEditPoints="1" noAdjustHandles="1" noChangeArrowheads="1" noChangeShapeType="1" noTextEdit="1"/>
              </p:cNvSpPr>
              <p:nvPr/>
            </p:nvSpPr>
            <p:spPr>
              <a:xfrm>
                <a:off x="611558" y="1196752"/>
                <a:ext cx="8352928" cy="6013249"/>
              </a:xfrm>
              <a:prstGeom prst="rect">
                <a:avLst/>
              </a:prstGeom>
              <a:blipFill>
                <a:blip r:embed="rId3"/>
                <a:stretch>
                  <a:fillRect l="-1751"/>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E2A20D3A-24FF-430E-917E-A96AE879656E}"/>
              </a:ext>
            </a:extLst>
          </p:cNvPr>
          <p:cNvSpPr>
            <a:spLocks noGrp="1"/>
          </p:cNvSpPr>
          <p:nvPr>
            <p:ph type="sldNum" sz="quarter" idx="12"/>
          </p:nvPr>
        </p:nvSpPr>
        <p:spPr/>
        <p:txBody>
          <a:bodyPr/>
          <a:lstStyle/>
          <a:p>
            <a:fld id="{04C04D6A-2E29-441A-A244-9F1014899F6D}" type="slidenum">
              <a:rPr lang="zh-TW" altLang="en-US" smtClean="0"/>
              <a:pPr/>
              <a:t>13</a:t>
            </a:fld>
            <a:endParaRPr lang="zh-TW" altLang="en-US"/>
          </a:p>
        </p:txBody>
      </p:sp>
    </p:spTree>
    <p:extLst>
      <p:ext uri="{BB962C8B-B14F-4D97-AF65-F5344CB8AC3E}">
        <p14:creationId xmlns:p14="http://schemas.microsoft.com/office/powerpoint/2010/main" val="21926272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88189" y="14831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Diversity-guided Mutation</a:t>
            </a:r>
          </a:p>
        </p:txBody>
      </p:sp>
      <p:sp>
        <p:nvSpPr>
          <p:cNvPr id="2" name="文字方塊 1">
            <a:extLst>
              <a:ext uri="{FF2B5EF4-FFF2-40B4-BE49-F238E27FC236}">
                <a16:creationId xmlns:a16="http://schemas.microsoft.com/office/drawing/2014/main" id="{13564813-89A3-4B7B-9894-3E0AE83C2D5E}"/>
              </a:ext>
            </a:extLst>
          </p:cNvPr>
          <p:cNvSpPr txBox="1"/>
          <p:nvPr/>
        </p:nvSpPr>
        <p:spPr>
          <a:xfrm>
            <a:off x="499619" y="795256"/>
            <a:ext cx="8532950" cy="487634"/>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Major and minor mutation </a:t>
            </a:r>
            <a:endParaRPr lang="en-US" altLang="zh-TW" sz="2400" kern="100" dirty="0">
              <a:effectLst/>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D5B05B5D-E66B-496F-9C14-36DD2B3A02FF}"/>
              </a:ext>
            </a:extLst>
          </p:cNvPr>
          <p:cNvSpPr>
            <a:spLocks noChangeArrowheads="1"/>
          </p:cNvSpPr>
          <p:nvPr/>
        </p:nvSpPr>
        <p:spPr bwMode="auto">
          <a:xfrm>
            <a:off x="0" y="-298749"/>
            <a:ext cx="65" cy="5974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4" name="圖形 3">
            <a:extLst>
              <a:ext uri="{FF2B5EF4-FFF2-40B4-BE49-F238E27FC236}">
                <a16:creationId xmlns:a16="http://schemas.microsoft.com/office/drawing/2014/main" id="{AAFD1B65-69EB-436F-B1B7-352EF7CF93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3804" y="1433892"/>
            <a:ext cx="8676391" cy="3202070"/>
          </a:xfrm>
          <a:prstGeom prst="rect">
            <a:avLst/>
          </a:prstGeom>
        </p:spPr>
      </p:pic>
      <p:sp>
        <p:nvSpPr>
          <p:cNvPr id="6" name="投影片編號版面配置區 5">
            <a:extLst>
              <a:ext uri="{FF2B5EF4-FFF2-40B4-BE49-F238E27FC236}">
                <a16:creationId xmlns:a16="http://schemas.microsoft.com/office/drawing/2014/main" id="{C9A77ADA-0450-4F62-82C7-13E238510E36}"/>
              </a:ext>
            </a:extLst>
          </p:cNvPr>
          <p:cNvSpPr>
            <a:spLocks noGrp="1"/>
          </p:cNvSpPr>
          <p:nvPr>
            <p:ph type="sldNum" sz="quarter" idx="12"/>
          </p:nvPr>
        </p:nvSpPr>
        <p:spPr/>
        <p:txBody>
          <a:bodyPr/>
          <a:lstStyle/>
          <a:p>
            <a:fld id="{04C04D6A-2E29-441A-A244-9F1014899F6D}" type="slidenum">
              <a:rPr lang="zh-TW" altLang="en-US" smtClean="0"/>
              <a:pPr/>
              <a:t>14</a:t>
            </a:fld>
            <a:endParaRPr lang="zh-TW" altLang="en-US" dirty="0"/>
          </a:p>
        </p:txBody>
      </p:sp>
      <p:sp>
        <p:nvSpPr>
          <p:cNvPr id="7" name="文字方塊 6">
            <a:extLst>
              <a:ext uri="{FF2B5EF4-FFF2-40B4-BE49-F238E27FC236}">
                <a16:creationId xmlns:a16="http://schemas.microsoft.com/office/drawing/2014/main" id="{7E596304-A81A-4DE2-B33A-B7D3E4CFB668}"/>
              </a:ext>
            </a:extLst>
          </p:cNvPr>
          <p:cNvSpPr txBox="1"/>
          <p:nvPr/>
        </p:nvSpPr>
        <p:spPr>
          <a:xfrm>
            <a:off x="7020272" y="2299642"/>
            <a:ext cx="1666528" cy="406330"/>
          </a:xfrm>
          <a:prstGeom prst="rect">
            <a:avLst/>
          </a:prstGeom>
          <a:noFill/>
        </p:spPr>
        <p:txBody>
          <a:bodyPr wrap="square" lIns="0" tIns="0" rIns="0" bIns="0" rtlCol="0">
            <a:spAutoFit/>
          </a:bodyPr>
          <a:lstStyle/>
          <a:p>
            <a:pPr>
              <a:lnSpc>
                <a:spcPct val="150000"/>
              </a:lnSpc>
            </a:pPr>
            <a:r>
              <a:rPr lang="en-US" altLang="zh-TW" sz="2000" dirty="0">
                <a:solidFill>
                  <a:srgbClr val="222222"/>
                </a:solidFill>
                <a:latin typeface="Times New Roman" panose="02020603050405020304" pitchFamily="18" charset="0"/>
                <a:cs typeface="Times New Roman" panose="02020603050405020304" pitchFamily="18" charset="0"/>
              </a:rPr>
              <a:t>Major mutation </a:t>
            </a:r>
            <a:endParaRPr lang="en-US" altLang="zh-TW" sz="2000" kern="100" dirty="0">
              <a:effectLst/>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0EF5F856-52D0-491A-AF4D-DE72F6F81055}"/>
              </a:ext>
            </a:extLst>
          </p:cNvPr>
          <p:cNvSpPr txBox="1"/>
          <p:nvPr/>
        </p:nvSpPr>
        <p:spPr>
          <a:xfrm>
            <a:off x="7020272" y="4161188"/>
            <a:ext cx="1666528" cy="406330"/>
          </a:xfrm>
          <a:prstGeom prst="rect">
            <a:avLst/>
          </a:prstGeom>
          <a:noFill/>
        </p:spPr>
        <p:txBody>
          <a:bodyPr wrap="square" lIns="0" tIns="0" rIns="0" bIns="0" rtlCol="0">
            <a:spAutoFit/>
          </a:bodyPr>
          <a:lstStyle/>
          <a:p>
            <a:pPr>
              <a:lnSpc>
                <a:spcPct val="150000"/>
              </a:lnSpc>
            </a:pPr>
            <a:r>
              <a:rPr lang="en-US" altLang="zh-TW" sz="2000" dirty="0">
                <a:solidFill>
                  <a:srgbClr val="222222"/>
                </a:solidFill>
                <a:latin typeface="Times New Roman" panose="02020603050405020304" pitchFamily="18" charset="0"/>
                <a:cs typeface="Times New Roman" panose="02020603050405020304" pitchFamily="18" charset="0"/>
              </a:rPr>
              <a:t>Minor mutation </a:t>
            </a:r>
            <a:endParaRPr lang="en-US" altLang="zh-TW" sz="2000" kern="100" dirty="0">
              <a:effectLst/>
              <a:latin typeface="Times New Roman" panose="02020603050405020304" pitchFamily="18" charset="0"/>
              <a:ea typeface="Cambria Math" panose="020405030504060302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C63EACC-F2A9-4D37-BEF5-F49CFCEF7857}"/>
                  </a:ext>
                </a:extLst>
              </p:cNvPr>
              <p:cNvSpPr txBox="1"/>
              <p:nvPr/>
            </p:nvSpPr>
            <p:spPr>
              <a:xfrm>
                <a:off x="2915816" y="4635962"/>
                <a:ext cx="3168352" cy="365741"/>
              </a:xfrm>
              <a:prstGeom prst="rect">
                <a:avLst/>
              </a:prstGeom>
              <a:noFill/>
            </p:spPr>
            <p:txBody>
              <a:bodyPr wrap="square" lIns="0" tIns="0" rIns="0" bIns="0" rtlCol="0">
                <a:spAutoFit/>
              </a:bodyPr>
              <a:lstStyle/>
              <a:p>
                <a:pPr>
                  <a:lnSpc>
                    <a:spcPct val="150000"/>
                  </a:lnSpc>
                </a:pPr>
                <a:r>
                  <a:rPr lang="en-US" altLang="zh-TW" dirty="0">
                    <a:solidFill>
                      <a:srgbClr val="222222"/>
                    </a:solidFill>
                    <a:latin typeface="Times New Roman" panose="02020603050405020304" pitchFamily="18" charset="0"/>
                    <a:cs typeface="Times New Roman" panose="02020603050405020304" pitchFamily="18" charset="0"/>
                  </a:rPr>
                  <a:t>Avg:   3   -5    7   </a:t>
                </a:r>
                <a14:m>
                  <m:oMath xmlns:m="http://schemas.openxmlformats.org/officeDocument/2006/math">
                    <m:r>
                      <a:rPr lang="en-US" altLang="zh-TW" b="0" i="0" dirty="0" smtClean="0">
                        <a:solidFill>
                          <a:schemeClr val="tx1"/>
                        </a:solidFill>
                        <a:latin typeface="Cambria Math" panose="02040503050406030204" pitchFamily="18" charset="0"/>
                      </a:rPr>
                      <m:t> </m:t>
                    </m:r>
                    <m:r>
                      <a:rPr lang="zh-TW" altLang="en-US" dirty="0" smtClean="0">
                        <a:solidFill>
                          <a:schemeClr val="tx1"/>
                        </a:solidFill>
                        <a:latin typeface="Cambria Math" panose="02040503050406030204" pitchFamily="18" charset="0"/>
                      </a:rPr>
                      <m:t>⋯</m:t>
                    </m:r>
                  </m:oMath>
                </a14:m>
                <a:r>
                  <a:rPr lang="en-US" altLang="zh-TW" dirty="0">
                    <a:solidFill>
                      <a:srgbClr val="222222"/>
                    </a:solidFill>
                    <a:latin typeface="Times New Roman" panose="02020603050405020304" pitchFamily="18" charset="0"/>
                    <a:cs typeface="Times New Roman" panose="02020603050405020304" pitchFamily="18" charset="0"/>
                  </a:rPr>
                  <a:t>   -8    3     2 </a:t>
                </a:r>
                <a:endParaRPr lang="en-US" altLang="zh-TW" kern="100" dirty="0">
                  <a:effectLst/>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18" name="文字方塊 17">
                <a:extLst>
                  <a:ext uri="{FF2B5EF4-FFF2-40B4-BE49-F238E27FC236}">
                    <a16:creationId xmlns:a16="http://schemas.microsoft.com/office/drawing/2014/main" id="{CC63EACC-F2A9-4D37-BEF5-F49CFCEF7857}"/>
                  </a:ext>
                </a:extLst>
              </p:cNvPr>
              <p:cNvSpPr txBox="1">
                <a:spLocks noRot="1" noChangeAspect="1" noMove="1" noResize="1" noEditPoints="1" noAdjustHandles="1" noChangeArrowheads="1" noChangeShapeType="1" noTextEdit="1"/>
              </p:cNvSpPr>
              <p:nvPr/>
            </p:nvSpPr>
            <p:spPr>
              <a:xfrm>
                <a:off x="2915816" y="4635962"/>
                <a:ext cx="3168352" cy="365741"/>
              </a:xfrm>
              <a:prstGeom prst="rect">
                <a:avLst/>
              </a:prstGeom>
              <a:blipFill>
                <a:blip r:embed="rId5"/>
                <a:stretch>
                  <a:fillRect l="-4423" b="-4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94A10920-B866-4250-8DAA-AE649DB023C1}"/>
                  </a:ext>
                </a:extLst>
              </p:cNvPr>
              <p:cNvSpPr txBox="1"/>
              <p:nvPr/>
            </p:nvSpPr>
            <p:spPr>
              <a:xfrm>
                <a:off x="233804" y="5081145"/>
                <a:ext cx="7632848" cy="389594"/>
              </a:xfrm>
              <a:prstGeom prst="rect">
                <a:avLst/>
              </a:prstGeom>
              <a:noFill/>
            </p:spPr>
            <p:txBody>
              <a:bodyPr wrap="square" lIns="0" tIns="0" rIns="0" bIns="0" rtlCol="0">
                <a:spAutoFit/>
              </a:bodyPr>
              <a:lstStyle/>
              <a:p>
                <a:pPr>
                  <a:lnSpc>
                    <a:spcPct val="150000"/>
                  </a:lnSpc>
                </a:pPr>
                <a14:m>
                  <m:oMath xmlns:m="http://schemas.openxmlformats.org/officeDocument/2006/math">
                    <m:r>
                      <a:rPr lang="en-US" altLang="zh-TW" sz="1600" i="1" dirty="0" smtClean="0">
                        <a:solidFill>
                          <a:srgbClr val="222222"/>
                        </a:solidFill>
                        <a:latin typeface="Cambria Math" panose="02040503050406030204" pitchFamily="18" charset="0"/>
                      </a:rPr>
                      <m:t>ⅆ</m:t>
                    </m:r>
                    <m:d>
                      <m:dPr>
                        <m:ctrlPr>
                          <a:rPr lang="en-US" altLang="zh-TW" sz="1600" i="1" dirty="0" smtClean="0">
                            <a:solidFill>
                              <a:srgbClr val="222222"/>
                            </a:solidFill>
                            <a:latin typeface="Cambria Math" panose="02040503050406030204" pitchFamily="18" charset="0"/>
                          </a:rPr>
                        </m:ctrlPr>
                      </m:dPr>
                      <m:e>
                        <m:r>
                          <m:rPr>
                            <m:nor/>
                          </m:rPr>
                          <a:rPr lang="en-US" altLang="zh-TW" sz="1600" i="1" dirty="0">
                            <a:solidFill>
                              <a:srgbClr val="222222"/>
                            </a:solidFill>
                            <a:latin typeface="Times New Roman" panose="02020603050405020304" pitchFamily="18" charset="0"/>
                            <a:cs typeface="Times New Roman" panose="02020603050405020304" pitchFamily="18" charset="0"/>
                          </a:rPr>
                          <m:t>Chromosome</m:t>
                        </m:r>
                        <m:r>
                          <m:rPr>
                            <m:nor/>
                          </m:rPr>
                          <a:rPr lang="en-US" altLang="zh-TW" sz="1600" i="1" dirty="0">
                            <a:solidFill>
                              <a:srgbClr val="222222"/>
                            </a:solidFill>
                            <a:latin typeface="Times New Roman" panose="02020603050405020304" pitchFamily="18" charset="0"/>
                            <a:cs typeface="Times New Roman" panose="02020603050405020304" pitchFamily="18" charset="0"/>
                          </a:rPr>
                          <m:t> 1 − </m:t>
                        </m:r>
                        <m:r>
                          <m:rPr>
                            <m:nor/>
                          </m:rPr>
                          <a:rPr lang="en-US" altLang="zh-TW" sz="1600" i="1" dirty="0">
                            <a:solidFill>
                              <a:srgbClr val="222222"/>
                            </a:solidFill>
                            <a:latin typeface="Times New Roman" panose="02020603050405020304" pitchFamily="18" charset="0"/>
                            <a:cs typeface="Times New Roman" panose="02020603050405020304" pitchFamily="18" charset="0"/>
                          </a:rPr>
                          <m:t>Avg</m:t>
                        </m:r>
                      </m:e>
                    </m:d>
                    <m:r>
                      <a:rPr lang="en-US" altLang="zh-TW" sz="1600" b="0" i="0" dirty="0" smtClean="0">
                        <a:solidFill>
                          <a:srgbClr val="222222"/>
                        </a:solidFill>
                        <a:latin typeface="Cambria Math" panose="02040503050406030204" pitchFamily="18" charset="0"/>
                      </a:rPr>
                      <m:t>=</m:t>
                    </m:r>
                  </m:oMath>
                </a14:m>
                <a:r>
                  <a:rPr lang="en-US" altLang="zh-TW" sz="1600" dirty="0">
                    <a:solidFill>
                      <a:srgbClr val="222222"/>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altLang="zh-TW" sz="1600" i="1" dirty="0" smtClean="0">
                            <a:solidFill>
                              <a:srgbClr val="222222"/>
                            </a:solidFill>
                            <a:latin typeface="Cambria Math" panose="02040503050406030204" pitchFamily="18" charset="0"/>
                          </a:rPr>
                        </m:ctrlPr>
                      </m:radPr>
                      <m:deg/>
                      <m:e>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−8</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12</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−7</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r>
                          <a:rPr lang="zh-TW" altLang="en-US" sz="1600" dirty="0">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r>
                          <a:rPr lang="en-US" altLang="zh-TW" sz="1600" i="1" dirty="0">
                            <a:solidFill>
                              <a:srgbClr val="222222"/>
                            </a:solidFill>
                            <a:latin typeface="Cambria Math" panose="020405030504060302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−5</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7</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1</m:t>
                                </m:r>
                              </m:e>
                            </m:d>
                          </m:e>
                          <m:sup>
                            <m:r>
                              <a:rPr lang="en-US" altLang="zh-TW" sz="1600" dirty="0">
                                <a:solidFill>
                                  <a:srgbClr val="222222"/>
                                </a:solidFill>
                                <a:latin typeface="Cambria Math" panose="02040503050406030204" pitchFamily="18" charset="0"/>
                              </a:rPr>
                              <m:t>2</m:t>
                            </m:r>
                          </m:sup>
                        </m:sSup>
                      </m:e>
                    </m:rad>
                  </m:oMath>
                </a14:m>
                <a:endParaRPr lang="en-US" altLang="zh-TW" sz="1600" kern="100" dirty="0">
                  <a:effectLst/>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94A10920-B866-4250-8DAA-AE649DB023C1}"/>
                  </a:ext>
                </a:extLst>
              </p:cNvPr>
              <p:cNvSpPr txBox="1">
                <a:spLocks noRot="1" noChangeAspect="1" noMove="1" noResize="1" noEditPoints="1" noAdjustHandles="1" noChangeArrowheads="1" noChangeShapeType="1" noTextEdit="1"/>
              </p:cNvSpPr>
              <p:nvPr/>
            </p:nvSpPr>
            <p:spPr>
              <a:xfrm>
                <a:off x="233804" y="5081145"/>
                <a:ext cx="7632848" cy="389594"/>
              </a:xfrm>
              <a:prstGeom prst="rect">
                <a:avLst/>
              </a:prstGeom>
              <a:blipFill>
                <a:blip r:embed="rId6"/>
                <a:stretch>
                  <a:fillRect l="-958" b="-22222"/>
                </a:stretch>
              </a:blipFill>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CF3AB28B-CC02-450C-8848-0ED5F9A88ADD}"/>
              </a:ext>
            </a:extLst>
          </p:cNvPr>
          <p:cNvSpPr txBox="1"/>
          <p:nvPr/>
        </p:nvSpPr>
        <p:spPr>
          <a:xfrm rot="5400000">
            <a:off x="3969117" y="5533865"/>
            <a:ext cx="782962" cy="461665"/>
          </a:xfrm>
          <a:prstGeom prst="rect">
            <a:avLst/>
          </a:prstGeom>
          <a:noFill/>
        </p:spPr>
        <p:txBody>
          <a:bodyPr wrap="square">
            <a:spAutoFit/>
          </a:bodyPr>
          <a:lstStyle/>
          <a:p>
            <a:pPr algn="ctr"/>
            <a:r>
              <a:rPr lang="en-US" altLang="zh-TW"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6B9C6747-054B-44C1-BEC4-5D337704913F}"/>
                  </a:ext>
                </a:extLst>
              </p:cNvPr>
              <p:cNvSpPr txBox="1"/>
              <p:nvPr/>
            </p:nvSpPr>
            <p:spPr>
              <a:xfrm>
                <a:off x="179512" y="5898452"/>
                <a:ext cx="7632848" cy="389594"/>
              </a:xfrm>
              <a:prstGeom prst="rect">
                <a:avLst/>
              </a:prstGeom>
              <a:noFill/>
            </p:spPr>
            <p:txBody>
              <a:bodyPr wrap="square" lIns="0" tIns="0" rIns="0" bIns="0" rtlCol="0">
                <a:spAutoFit/>
              </a:bodyPr>
              <a:lstStyle/>
              <a:p>
                <a:pPr>
                  <a:lnSpc>
                    <a:spcPct val="150000"/>
                  </a:lnSpc>
                </a:pPr>
                <a14:m>
                  <m:oMath xmlns:m="http://schemas.openxmlformats.org/officeDocument/2006/math">
                    <m:r>
                      <a:rPr lang="en-US" altLang="zh-TW" sz="1600" i="1" dirty="0" smtClean="0">
                        <a:solidFill>
                          <a:srgbClr val="222222"/>
                        </a:solidFill>
                        <a:latin typeface="Cambria Math" panose="02040503050406030204" pitchFamily="18" charset="0"/>
                      </a:rPr>
                      <m:t>ⅆ</m:t>
                    </m:r>
                    <m:d>
                      <m:dPr>
                        <m:ctrlPr>
                          <a:rPr lang="en-US" altLang="zh-TW" sz="1600" i="1" dirty="0" smtClean="0">
                            <a:solidFill>
                              <a:srgbClr val="222222"/>
                            </a:solidFill>
                            <a:latin typeface="Cambria Math" panose="02040503050406030204" pitchFamily="18" charset="0"/>
                          </a:rPr>
                        </m:ctrlPr>
                      </m:dPr>
                      <m:e>
                        <m:r>
                          <m:rPr>
                            <m:nor/>
                          </m:rPr>
                          <a:rPr lang="en-US" altLang="zh-TW" sz="1600" i="1" dirty="0">
                            <a:solidFill>
                              <a:srgbClr val="222222"/>
                            </a:solidFill>
                            <a:latin typeface="Times New Roman" panose="02020603050405020304" pitchFamily="18" charset="0"/>
                            <a:cs typeface="Times New Roman" panose="02020603050405020304" pitchFamily="18" charset="0"/>
                          </a:rPr>
                          <m:t>Chromosome</m:t>
                        </m:r>
                        <m:r>
                          <m:rPr>
                            <m:nor/>
                          </m:rPr>
                          <a:rPr lang="en-US" altLang="zh-TW" sz="1600" i="1" dirty="0">
                            <a:solidFill>
                              <a:srgbClr val="222222"/>
                            </a:solidFill>
                            <a:latin typeface="Times New Roman" panose="02020603050405020304" pitchFamily="18" charset="0"/>
                            <a:cs typeface="Times New Roman" panose="02020603050405020304" pitchFamily="18" charset="0"/>
                          </a:rPr>
                          <m:t> 27 − </m:t>
                        </m:r>
                        <m:r>
                          <m:rPr>
                            <m:nor/>
                          </m:rPr>
                          <a:rPr lang="en-US" altLang="zh-TW" sz="1600" i="1" dirty="0">
                            <a:solidFill>
                              <a:srgbClr val="222222"/>
                            </a:solidFill>
                            <a:latin typeface="Times New Roman" panose="02020603050405020304" pitchFamily="18" charset="0"/>
                            <a:cs typeface="Times New Roman" panose="02020603050405020304" pitchFamily="18" charset="0"/>
                          </a:rPr>
                          <m:t>Avg</m:t>
                        </m:r>
                      </m:e>
                    </m:d>
                    <m:r>
                      <a:rPr lang="en-US" altLang="zh-TW" sz="1600" b="0" i="0" dirty="0" smtClean="0">
                        <a:solidFill>
                          <a:srgbClr val="222222"/>
                        </a:solidFill>
                        <a:latin typeface="Cambria Math" panose="02040503050406030204" pitchFamily="18" charset="0"/>
                      </a:rPr>
                      <m:t>=</m:t>
                    </m:r>
                  </m:oMath>
                </a14:m>
                <a:r>
                  <a:rPr lang="en-US" altLang="zh-TW" sz="1600" dirty="0">
                    <a:solidFill>
                      <a:srgbClr val="222222"/>
                    </a:solidFill>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altLang="zh-TW" sz="1600" i="1" dirty="0" smtClean="0">
                            <a:solidFill>
                              <a:srgbClr val="222222"/>
                            </a:solidFill>
                            <a:latin typeface="Cambria Math" panose="02040503050406030204" pitchFamily="18" charset="0"/>
                          </a:rPr>
                        </m:ctrlPr>
                      </m:radPr>
                      <m:deg/>
                      <m:e>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m:t>
                                </m:r>
                                <m:r>
                                  <a:rPr lang="en-US" altLang="zh-TW" sz="1600" b="0" i="0" dirty="0" smtClean="0">
                                    <a:solidFill>
                                      <a:srgbClr val="222222"/>
                                    </a:solidFill>
                                    <a:latin typeface="Cambria Math" panose="02040503050406030204" pitchFamily="18" charset="0"/>
                                  </a:rPr>
                                  <m:t>1</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b="0" i="0" dirty="0" smtClean="0">
                                    <a:solidFill>
                                      <a:srgbClr val="222222"/>
                                    </a:solidFill>
                                    <a:latin typeface="Cambria Math" panose="02040503050406030204" pitchFamily="18" charset="0"/>
                                  </a:rPr>
                                  <m:t>5</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m:t>
                                </m:r>
                                <m:r>
                                  <a:rPr lang="en-US" altLang="zh-TW" sz="1600" b="0" i="1" dirty="0" smtClean="0">
                                    <a:solidFill>
                                      <a:srgbClr val="222222"/>
                                    </a:solidFill>
                                    <a:latin typeface="Cambria Math" panose="02040503050406030204" pitchFamily="18" charset="0"/>
                                  </a:rPr>
                                  <m:t>8</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r>
                          <a:rPr lang="zh-TW" altLang="en-US" sz="1600" dirty="0">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r>
                          <a:rPr lang="en-US" altLang="zh-TW" sz="1600" i="1" dirty="0">
                            <a:solidFill>
                              <a:srgbClr val="222222"/>
                            </a:solidFill>
                            <a:latin typeface="Cambria Math" panose="020405030504060302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dirty="0">
                                    <a:solidFill>
                                      <a:srgbClr val="222222"/>
                                    </a:solidFill>
                                    <a:latin typeface="Cambria Math" panose="02040503050406030204" pitchFamily="18" charset="0"/>
                                  </a:rPr>
                                  <m:t>−</m:t>
                                </m:r>
                                <m:r>
                                  <a:rPr lang="en-US" altLang="zh-TW" sz="1600" b="0" i="1" dirty="0" smtClean="0">
                                    <a:solidFill>
                                      <a:srgbClr val="222222"/>
                                    </a:solidFill>
                                    <a:latin typeface="Cambria Math" panose="02040503050406030204" pitchFamily="18" charset="0"/>
                                  </a:rPr>
                                  <m:t>1</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b="0" i="0" dirty="0" smtClean="0">
                                    <a:solidFill>
                                      <a:srgbClr val="222222"/>
                                    </a:solidFill>
                                    <a:latin typeface="Cambria Math" panose="02040503050406030204" pitchFamily="18" charset="0"/>
                                  </a:rPr>
                                  <m:t>3</m:t>
                                </m:r>
                              </m:e>
                            </m:d>
                          </m:e>
                          <m:sup>
                            <m:r>
                              <a:rPr lang="en-US" altLang="zh-TW" sz="1600" dirty="0">
                                <a:solidFill>
                                  <a:srgbClr val="222222"/>
                                </a:solidFill>
                                <a:latin typeface="Cambria Math" panose="02040503050406030204" pitchFamily="18" charset="0"/>
                              </a:rPr>
                              <m:t>2</m:t>
                            </m:r>
                          </m:sup>
                        </m:sSup>
                        <m:r>
                          <a:rPr lang="en-US" altLang="zh-TW" sz="1600" i="1" dirty="0">
                            <a:solidFill>
                              <a:srgbClr val="222222"/>
                            </a:solidFill>
                            <a:latin typeface="Cambria Math" panose="02040503050406030204" pitchFamily="18" charset="0"/>
                          </a:rPr>
                          <m:t>+</m:t>
                        </m:r>
                        <m:r>
                          <m:rPr>
                            <m:nor/>
                          </m:rPr>
                          <a:rPr lang="en-US" altLang="zh-TW" sz="1600" dirty="0">
                            <a:solidFill>
                              <a:srgbClr val="222222"/>
                            </a:solidFill>
                            <a:latin typeface="Times New Roman" panose="02020603050405020304" pitchFamily="18" charset="0"/>
                            <a:cs typeface="Times New Roman" panose="02020603050405020304" pitchFamily="18" charset="0"/>
                          </a:rPr>
                          <m:t> </m:t>
                        </m:r>
                        <m:sSup>
                          <m:sSupPr>
                            <m:ctrlPr>
                              <a:rPr lang="en-US" altLang="zh-TW" sz="1600" i="1" dirty="0">
                                <a:solidFill>
                                  <a:srgbClr val="222222"/>
                                </a:solidFill>
                                <a:latin typeface="Cambria Math" panose="02040503050406030204" pitchFamily="18" charset="0"/>
                              </a:rPr>
                            </m:ctrlPr>
                          </m:sSupPr>
                          <m:e>
                            <m:d>
                              <m:dPr>
                                <m:ctrlPr>
                                  <a:rPr lang="en-US" altLang="zh-TW" sz="1600" i="1" dirty="0">
                                    <a:solidFill>
                                      <a:srgbClr val="222222"/>
                                    </a:solidFill>
                                    <a:latin typeface="Cambria Math" panose="02040503050406030204" pitchFamily="18" charset="0"/>
                                  </a:rPr>
                                </m:ctrlPr>
                              </m:dPr>
                              <m:e>
                                <m:r>
                                  <a:rPr lang="en-US" altLang="zh-TW" sz="1600" b="0" i="0" dirty="0" smtClean="0">
                                    <a:solidFill>
                                      <a:srgbClr val="222222"/>
                                    </a:solidFill>
                                    <a:latin typeface="Cambria Math" panose="02040503050406030204" pitchFamily="18" charset="0"/>
                                  </a:rPr>
                                  <m:t>5</m:t>
                                </m:r>
                              </m:e>
                            </m:d>
                          </m:e>
                          <m:sup>
                            <m:r>
                              <a:rPr lang="en-US" altLang="zh-TW" sz="1600" dirty="0">
                                <a:solidFill>
                                  <a:srgbClr val="222222"/>
                                </a:solidFill>
                                <a:latin typeface="Cambria Math" panose="02040503050406030204" pitchFamily="18" charset="0"/>
                              </a:rPr>
                              <m:t>2</m:t>
                            </m:r>
                          </m:sup>
                        </m:sSup>
                      </m:e>
                    </m:rad>
                  </m:oMath>
                </a14:m>
                <a:endParaRPr lang="en-US" altLang="zh-TW" sz="1600" kern="100" dirty="0">
                  <a:effectLst/>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6B9C6747-054B-44C1-BEC4-5D337704913F}"/>
                  </a:ext>
                </a:extLst>
              </p:cNvPr>
              <p:cNvSpPr txBox="1">
                <a:spLocks noRot="1" noChangeAspect="1" noMove="1" noResize="1" noEditPoints="1" noAdjustHandles="1" noChangeArrowheads="1" noChangeShapeType="1" noTextEdit="1"/>
              </p:cNvSpPr>
              <p:nvPr/>
            </p:nvSpPr>
            <p:spPr>
              <a:xfrm>
                <a:off x="179512" y="5898452"/>
                <a:ext cx="7632848" cy="389594"/>
              </a:xfrm>
              <a:prstGeom prst="rect">
                <a:avLst/>
              </a:prstGeom>
              <a:blipFill>
                <a:blip r:embed="rId7"/>
                <a:stretch>
                  <a:fillRect l="-958" b="-2031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541503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88189" y="259172"/>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Diversity-guided Mutation</a:t>
            </a:r>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13564813-89A3-4B7B-9894-3E0AE83C2D5E}"/>
                  </a:ext>
                </a:extLst>
              </p:cNvPr>
              <p:cNvSpPr txBox="1"/>
              <p:nvPr/>
            </p:nvSpPr>
            <p:spPr>
              <a:xfrm>
                <a:off x="503548" y="1107187"/>
                <a:ext cx="8136904" cy="2340897"/>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altLang="zh-TW" sz="2000" dirty="0">
                    <a:solidFill>
                      <a:srgbClr val="222222"/>
                    </a:solidFill>
                    <a:latin typeface="Times New Roman" panose="02020603050405020304" pitchFamily="18" charset="0"/>
                    <a:cs typeface="Times New Roman" panose="02020603050405020304" pitchFamily="18" charset="0"/>
                  </a:rPr>
                  <a:t>Population diversity:</a:t>
                </a:r>
              </a:p>
              <a:p>
                <a:pPr>
                  <a:lnSpc>
                    <a:spcPct val="150000"/>
                  </a:lnSpc>
                </a:pPr>
                <a:r>
                  <a:rPr lang="en-US" altLang="zh-TW" sz="2000" dirty="0">
                    <a:effectLst/>
                    <a:latin typeface="Times New Roman" panose="02020603050405020304" pitchFamily="18" charset="0"/>
                    <a:ea typeface="新細明體" panose="02020500000000000000" pitchFamily="18" charset="-120"/>
                    <a:cs typeface="Times New Roman" panose="02020603050405020304" pitchFamily="18" charset="0"/>
                  </a:rPr>
                  <a:t>     </a:t>
                </a:r>
                <a14:m>
                  <m:oMath xmlns:m="http://schemas.openxmlformats.org/officeDocument/2006/math">
                    <m:r>
                      <a:rPr lang="en-US" altLang="zh-TW" sz="2000" i="1" smtClean="0">
                        <a:effectLst/>
                        <a:latin typeface="Cambria Math" panose="02040503050406030204" pitchFamily="18" charset="0"/>
                        <a:ea typeface="新細明體" panose="02020500000000000000" pitchFamily="18" charset="-120"/>
                        <a:cs typeface="Times New Roman" panose="02020603050405020304" pitchFamily="18" charset="0"/>
                      </a:rPr>
                      <m:t>𝐷</m:t>
                    </m:r>
                    <m:d>
                      <m:dPr>
                        <m:ctrlPr>
                          <a:rPr lang="en-US" altLang="zh-TW" sz="2000" i="1" smtClean="0">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smtClean="0">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i="1" smtClean="0">
                        <a:effectLst/>
                        <a:latin typeface="Cambria Math" panose="02040503050406030204" pitchFamily="18" charset="0"/>
                        <a:ea typeface="新細明體" panose="02020500000000000000" pitchFamily="18" charset="-120"/>
                        <a:cs typeface="Times New Roman" panose="02020603050405020304" pitchFamily="18" charset="0"/>
                      </a:rPr>
                      <m:t>=</m:t>
                    </m:r>
                    <m:f>
                      <m:fPr>
                        <m:ctrlPr>
                          <a:rPr lang="zh-TW" altLang="zh-TW" sz="2000" i="1">
                            <a:effectLst/>
                            <a:latin typeface="Cambria Math" panose="02040503050406030204" pitchFamily="18" charset="0"/>
                            <a:ea typeface="Cambria Math" panose="02040503050406030204" pitchFamily="18" charset="0"/>
                          </a:rPr>
                        </m:ctrlPr>
                      </m:fPr>
                      <m:num>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1</m:t>
                        </m:r>
                      </m:num>
                      <m:den>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𝑃</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000" i="1">
                                <a:effectLst/>
                                <a:latin typeface="Cambria Math" panose="02040503050406030204" pitchFamily="18" charset="0"/>
                                <a:ea typeface="Cambria Math" panose="02040503050406030204" pitchFamily="18" charset="0"/>
                              </a:rPr>
                            </m:ctrlPr>
                          </m:sSub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𝐿</m:t>
                            </m:r>
                          </m:e>
                          <m:sub>
                            <m:r>
                              <m:rPr>
                                <m:sty m:val="p"/>
                              </m:rPr>
                              <a:rPr lang="en-US" altLang="zh-TW" sz="2000" b="0" i="0" smtClean="0">
                                <a:effectLst/>
                                <a:latin typeface="Cambria Math" panose="02040503050406030204" pitchFamily="18" charset="0"/>
                                <a:ea typeface="新細明體" panose="02020500000000000000" pitchFamily="18" charset="-120"/>
                                <a:cs typeface="Times New Roman" panose="02020603050405020304" pitchFamily="18" charset="0"/>
                              </a:rPr>
                              <m:t>diag</m:t>
                            </m:r>
                          </m:sub>
                        </m:sSub>
                      </m:den>
                    </m:f>
                    <m:nary>
                      <m:naryPr>
                        <m:chr m:val="∑"/>
                        <m:limLoc m:val="undOvr"/>
                        <m:grow m:val="on"/>
                        <m:ctrlPr>
                          <a:rPr lang="zh-TW" altLang="zh-TW" sz="2000" i="1">
                            <a:effectLst/>
                            <a:latin typeface="Cambria Math" panose="02040503050406030204" pitchFamily="18" charset="0"/>
                            <a:ea typeface="Cambria Math" panose="02040503050406030204" pitchFamily="18" charset="0"/>
                          </a:rPr>
                        </m:ctrlPr>
                      </m:naryPr>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𝑃</m:t>
                        </m:r>
                      </m:sup>
                      <m:e>
                        <m:r>
                          <a:rPr lang="en-US" altLang="zh-TW" sz="2000" b="0" i="1" smtClean="0">
                            <a:effectLst/>
                            <a:latin typeface="Cambria Math" panose="02040503050406030204" pitchFamily="18" charset="0"/>
                            <a:ea typeface="新細明體" panose="02020500000000000000" pitchFamily="18" charset="-120"/>
                            <a:cs typeface="Times New Roman" panose="02020603050405020304" pitchFamily="18" charset="0"/>
                          </a:rPr>
                          <m:t> </m:t>
                        </m:r>
                      </m:e>
                    </m:nary>
                    <m:rad>
                      <m:radPr>
                        <m:degHide m:val="on"/>
                        <m:ctrlPr>
                          <a:rPr lang="zh-TW" altLang="zh-TW" sz="2000" i="1">
                            <a:effectLst/>
                            <a:latin typeface="Cambria Math" panose="02040503050406030204" pitchFamily="18" charset="0"/>
                            <a:ea typeface="Cambria Math" panose="02040503050406030204" pitchFamily="18" charset="0"/>
                          </a:rPr>
                        </m:ctrlPr>
                      </m:radPr>
                      <m:deg/>
                      <m:e>
                        <m:nary>
                          <m:naryPr>
                            <m:chr m:val="∑"/>
                            <m:limLoc m:val="undOvr"/>
                            <m:grow m:val="on"/>
                            <m:ctrlPr>
                              <a:rPr lang="zh-TW" altLang="zh-TW" sz="2000" i="1">
                                <a:effectLst/>
                                <a:latin typeface="Cambria Math" panose="02040503050406030204" pitchFamily="18" charset="0"/>
                                <a:ea typeface="Cambria Math" panose="02040503050406030204" pitchFamily="18" charset="0"/>
                              </a:rPr>
                            </m:ctrlPr>
                          </m:naryPr>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𝑗</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𝑑</m:t>
                            </m:r>
                          </m:sup>
                          <m:e>
                            <m:r>
                              <a:rPr lang="en-US" altLang="zh-TW" sz="2000" b="0" i="1" smtClean="0">
                                <a:effectLst/>
                                <a:latin typeface="Cambria Math" panose="02040503050406030204" pitchFamily="18" charset="0"/>
                                <a:ea typeface="新細明體" panose="02020500000000000000" pitchFamily="18" charset="-120"/>
                                <a:cs typeface="Times New Roman" panose="02020603050405020304" pitchFamily="18" charset="0"/>
                              </a:rPr>
                              <m:t> </m:t>
                            </m:r>
                          </m:e>
                        </m:nary>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bSup>
                          <m:sSubSupPr>
                            <m:ctrlPr>
                              <a:rPr lang="zh-TW" altLang="zh-TW" sz="2000" i="1">
                                <a:effectLst/>
                                <a:latin typeface="Cambria Math" panose="02040503050406030204" pitchFamily="18" charset="0"/>
                                <a:ea typeface="Cambria Math" panose="02040503050406030204" pitchFamily="18" charset="0"/>
                              </a:rPr>
                            </m:ctrlPr>
                          </m:sSubSup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𝑖</m:t>
                            </m:r>
                          </m:sub>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𝑗</m:t>
                            </m:r>
                          </m:sup>
                        </m:sSubSup>
                        <m:d>
                          <m:dPr>
                            <m:ctrlP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2000" b="0" i="1" smtClean="0">
                            <a:effectLst/>
                            <a:latin typeface="Cambria Math" panose="02040503050406030204" pitchFamily="18" charset="0"/>
                            <a:ea typeface="新細明體" panose="02020500000000000000" pitchFamily="18" charset="-120"/>
                            <a:cs typeface="Times New Roman" panose="02020603050405020304" pitchFamily="18" charset="0"/>
                          </a:rPr>
                          <m:t>−</m:t>
                        </m:r>
                        <m:sSup>
                          <m:sSupPr>
                            <m:ctrlPr>
                              <a:rPr lang="zh-TW" altLang="zh-TW" sz="2000" i="1">
                                <a:effectLst/>
                                <a:latin typeface="Cambria Math" panose="02040503050406030204" pitchFamily="18" charset="0"/>
                                <a:ea typeface="Cambria Math" panose="02040503050406030204" pitchFamily="18" charset="0"/>
                              </a:rPr>
                            </m:ctrlPr>
                          </m:sSupPr>
                          <m:e>
                            <m:bar>
                              <m:barPr>
                                <m:pos m:val="top"/>
                                <m:ctrlPr>
                                  <a:rPr lang="zh-TW" altLang="zh-TW" sz="2000" i="1">
                                    <a:effectLst/>
                                    <a:latin typeface="Cambria Math" panose="02040503050406030204" pitchFamily="18" charset="0"/>
                                    <a:ea typeface="Cambria Math" panose="02040503050406030204" pitchFamily="18" charset="0"/>
                                  </a:rPr>
                                </m:ctrlPr>
                              </m:bar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𝑥</m:t>
                                </m:r>
                              </m:e>
                            </m:bar>
                          </m:e>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𝑗</m:t>
                            </m:r>
                          </m:sup>
                        </m:s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sSup>
                          <m:sSupPr>
                            <m:ctrlPr>
                              <a:rPr lang="zh-TW" altLang="zh-TW" sz="2000" i="1">
                                <a:effectLst/>
                                <a:latin typeface="Cambria Math" panose="02040503050406030204" pitchFamily="18" charset="0"/>
                                <a:ea typeface="Cambria Math" panose="02040503050406030204" pitchFamily="18" charset="0"/>
                              </a:rPr>
                            </m:ctrlPr>
                          </m:sSupPr>
                          <m:e>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e>
                          <m:sup>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2</m:t>
                            </m:r>
                          </m:sup>
                        </m:sSup>
                      </m:e>
                    </m:rad>
                  </m:oMath>
                </a14:m>
                <a:endParaRPr lang="en-US" altLang="zh-TW" sz="2000" i="1" dirty="0">
                  <a:effectLst/>
                  <a:latin typeface="Times New Roman" panose="02020603050405020304" pitchFamily="18" charset="0"/>
                  <a:ea typeface="新細明體" panose="02020500000000000000" pitchFamily="18" charset="-120"/>
                  <a:cs typeface="Times New Roman" panose="02020603050405020304" pitchFamily="18" charset="0"/>
                </a:endParaRPr>
              </a:p>
              <a:p>
                <a:pPr>
                  <a:lnSpc>
                    <a:spcPct val="150000"/>
                  </a:lnSpc>
                </a:pPr>
                <a:r>
                  <a:rPr lang="en-US" altLang="zh-TW" sz="2000" dirty="0">
                    <a:effectLst/>
                    <a:latin typeface="Times New Roman" panose="02020603050405020304" pitchFamily="18" charset="0"/>
                    <a:ea typeface="新細明體" panose="02020500000000000000" pitchFamily="18" charset="-120"/>
                    <a:cs typeface="Times New Roman" panose="02020603050405020304" pitchFamily="18" charset="0"/>
                  </a:rPr>
                  <a:t>   </a:t>
                </a:r>
                <a:r>
                  <a:rPr lang="zh-TW" altLang="en-US" sz="2000" dirty="0">
                    <a:effectLst/>
                    <a:latin typeface="Times New Roman" panose="02020603050405020304" pitchFamily="18" charset="0"/>
                    <a:ea typeface="新細明體" panose="02020500000000000000" pitchFamily="18" charset="-120"/>
                    <a:cs typeface="Times New Roman" panose="02020603050405020304" pitchFamily="18" charset="0"/>
                  </a:rPr>
                  <a:t> </a:t>
                </a:r>
                <a:r>
                  <a:rPr lang="zh-TW" altLang="en-US" sz="2000" dirty="0">
                    <a:effectLst/>
                    <a:ea typeface="新細明體" panose="02020500000000000000" pitchFamily="18" charset="-120"/>
                    <a:cs typeface="Times New Roman" panose="02020603050405020304" pitchFamily="18" charset="0"/>
                  </a:rPr>
                  <a:t> </a:t>
                </a:r>
                <a14:m>
                  <m:oMath xmlns:m="http://schemas.openxmlformats.org/officeDocument/2006/math">
                    <m:r>
                      <a:rPr lang="en-US" altLang="zh-TW" sz="2000" i="1" smtClean="0">
                        <a:effectLst/>
                        <a:latin typeface="Cambria Math" panose="02040503050406030204" pitchFamily="18" charset="0"/>
                        <a:ea typeface="新細明體" panose="02020500000000000000" pitchFamily="18" charset="-120"/>
                        <a:cs typeface="Times New Roman" panose="02020603050405020304" pitchFamily="18" charset="0"/>
                      </a:rPr>
                      <m:t>𝑑</m:t>
                    </m:r>
                  </m:oMath>
                </a14:m>
                <a:r>
                  <a:rPr lang="en-US" altLang="zh-TW" sz="2000" dirty="0">
                    <a:solidFill>
                      <a:srgbClr val="222222"/>
                    </a:solidFill>
                    <a:latin typeface="Times New Roman" panose="02020603050405020304" pitchFamily="18" charset="0"/>
                    <a:cs typeface="Times New Roman" panose="02020603050405020304" pitchFamily="18" charset="0"/>
                  </a:rPr>
                  <a:t>: The dimension. </a:t>
                </a:r>
              </a:p>
              <a:p>
                <a:pPr>
                  <a:lnSpc>
                    <a:spcPct val="150000"/>
                  </a:lnSpc>
                </a:pPr>
                <a:r>
                  <a:rPr lang="en-US" altLang="zh-TW" sz="2000" dirty="0">
                    <a:solidFill>
                      <a:srgbClr val="222222"/>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zh-TW" sz="2000" i="1" smtClean="0">
                            <a:latin typeface="Cambria Math" panose="02040503050406030204" pitchFamily="18" charset="0"/>
                          </a:rPr>
                        </m:ctrlPr>
                      </m:sSubPr>
                      <m:e>
                        <m:r>
                          <a:rPr lang="en-US" altLang="zh-TW" sz="2000" i="1">
                            <a:latin typeface="Cambria Math" panose="02040503050406030204" pitchFamily="18" charset="0"/>
                          </a:rPr>
                          <m:t>𝐿</m:t>
                        </m:r>
                      </m:e>
                      <m:sub>
                        <m:r>
                          <m:rPr>
                            <m:sty m:val="p"/>
                          </m:rPr>
                          <a:rPr lang="en-US" altLang="zh-TW" sz="2000" b="0" i="0" smtClean="0">
                            <a:latin typeface="Cambria Math" panose="02040503050406030204" pitchFamily="18" charset="0"/>
                          </a:rPr>
                          <m:t>diag</m:t>
                        </m:r>
                      </m:sub>
                    </m:sSub>
                  </m:oMath>
                </a14:m>
                <a:r>
                  <a:rPr lang="en-US" altLang="zh-TW" sz="2000" dirty="0">
                    <a:solidFill>
                      <a:srgbClr val="222222"/>
                    </a:solidFill>
                    <a:latin typeface="Times New Roman" panose="02020603050405020304" pitchFamily="18" charset="0"/>
                    <a:cs typeface="Times New Roman" panose="02020603050405020304" pitchFamily="18" charset="0"/>
                  </a:rPr>
                  <a:t>: The longest length of diagonal. </a:t>
                </a:r>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 name="文字方塊 1">
                <a:extLst>
                  <a:ext uri="{FF2B5EF4-FFF2-40B4-BE49-F238E27FC236}">
                    <a16:creationId xmlns:a16="http://schemas.microsoft.com/office/drawing/2014/main" id="{13564813-89A3-4B7B-9894-3E0AE83C2D5E}"/>
                  </a:ext>
                </a:extLst>
              </p:cNvPr>
              <p:cNvSpPr txBox="1">
                <a:spLocks noRot="1" noChangeAspect="1" noMove="1" noResize="1" noEditPoints="1" noAdjustHandles="1" noChangeArrowheads="1" noChangeShapeType="1" noTextEdit="1"/>
              </p:cNvSpPr>
              <p:nvPr/>
            </p:nvSpPr>
            <p:spPr>
              <a:xfrm>
                <a:off x="503548" y="1107187"/>
                <a:ext cx="8136904" cy="2340897"/>
              </a:xfrm>
              <a:prstGeom prst="rect">
                <a:avLst/>
              </a:prstGeom>
              <a:blipFill>
                <a:blip r:embed="rId3"/>
                <a:stretch>
                  <a:fillRect l="-1799" b="-4688"/>
                </a:stretch>
              </a:blipFill>
            </p:spPr>
            <p:txBody>
              <a:bodyPr/>
              <a:lstStyle/>
              <a:p>
                <a:r>
                  <a:rPr lang="zh-TW" altLang="en-US">
                    <a:noFill/>
                  </a:rPr>
                  <a:t> </a:t>
                </a:r>
              </a:p>
            </p:txBody>
          </p:sp>
        </mc:Fallback>
      </mc:AlternateContent>
      <p:sp>
        <p:nvSpPr>
          <p:cNvPr id="9" name="Rectangle 1">
            <a:extLst>
              <a:ext uri="{FF2B5EF4-FFF2-40B4-BE49-F238E27FC236}">
                <a16:creationId xmlns:a16="http://schemas.microsoft.com/office/drawing/2014/main" id="{D5B05B5D-E66B-496F-9C14-36DD2B3A02FF}"/>
              </a:ext>
            </a:extLst>
          </p:cNvPr>
          <p:cNvSpPr>
            <a:spLocks noChangeArrowheads="1"/>
          </p:cNvSpPr>
          <p:nvPr/>
        </p:nvSpPr>
        <p:spPr bwMode="auto">
          <a:xfrm>
            <a:off x="0" y="-298749"/>
            <a:ext cx="65" cy="5974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sp>
        <p:nvSpPr>
          <p:cNvPr id="5" name="投影片編號版面配置區 4">
            <a:extLst>
              <a:ext uri="{FF2B5EF4-FFF2-40B4-BE49-F238E27FC236}">
                <a16:creationId xmlns:a16="http://schemas.microsoft.com/office/drawing/2014/main" id="{048CB88E-6C49-46F6-976D-4130D449523F}"/>
              </a:ext>
            </a:extLst>
          </p:cNvPr>
          <p:cNvSpPr>
            <a:spLocks noGrp="1"/>
          </p:cNvSpPr>
          <p:nvPr>
            <p:ph type="sldNum" sz="quarter" idx="12"/>
          </p:nvPr>
        </p:nvSpPr>
        <p:spPr/>
        <p:txBody>
          <a:bodyPr/>
          <a:lstStyle/>
          <a:p>
            <a:fld id="{04C04D6A-2E29-441A-A244-9F1014899F6D}" type="slidenum">
              <a:rPr lang="zh-TW" altLang="en-US" smtClean="0"/>
              <a:pPr/>
              <a:t>15</a:t>
            </a:fld>
            <a:endParaRPr lang="zh-TW" altLang="en-US"/>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16ADEBE5-0B56-4846-ACBC-334184067DE8}"/>
                  </a:ext>
                </a:extLst>
              </p:cNvPr>
              <p:cNvSpPr txBox="1"/>
              <p:nvPr/>
            </p:nvSpPr>
            <p:spPr>
              <a:xfrm>
                <a:off x="457200" y="3645024"/>
                <a:ext cx="8755811" cy="266983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TW" sz="2000" dirty="0">
                    <a:solidFill>
                      <a:srgbClr val="222222"/>
                    </a:solidFill>
                    <a:latin typeface="Times New Roman" panose="02020603050405020304" pitchFamily="18" charset="0"/>
                    <a:cs typeface="Times New Roman" panose="02020603050405020304" pitchFamily="18" charset="0"/>
                  </a:rPr>
                  <a:t>Mutation rate:</a:t>
                </a:r>
                <a:endParaRPr lang="en-US" altLang="zh-TW" sz="2000" i="1" kern="100" dirty="0">
                  <a:latin typeface="Times New Roman" panose="02020603050405020304" pitchFamily="18" charset="0"/>
                  <a:cs typeface="Times New Roman" panose="02020603050405020304" pitchFamily="18" charset="0"/>
                </a:endParaRPr>
              </a:p>
              <a:p>
                <a:pPr>
                  <a:lnSpc>
                    <a:spcPct val="150000"/>
                  </a:lnSpc>
                </a:pPr>
                <a:r>
                  <a:rPr lang="en-US" altLang="zh-TW" sz="2000"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𝑟</m:t>
                        </m:r>
                      </m:e>
                      <m:sub>
                        <m:r>
                          <m:rPr>
                            <m:nor/>
                          </m:rPr>
                          <a:rPr lang="en-US" altLang="zh-TW" sz="2000" kern="100">
                            <a:latin typeface="Times New Roman" panose="02020603050405020304" pitchFamily="18" charset="0"/>
                            <a:cs typeface="Times New Roman" panose="02020603050405020304" pitchFamily="18" charset="0"/>
                          </a:rPr>
                          <m:t>mu</m:t>
                        </m:r>
                      </m:sub>
                    </m:sSub>
                    <m:d>
                      <m:dPr>
                        <m:ctrlPr>
                          <a:rPr lang="en-US" altLang="zh-TW" sz="2000" i="1" kern="100">
                            <a:latin typeface="Cambria Math" panose="02040503050406030204" pitchFamily="18" charset="0"/>
                            <a:cs typeface="Times New Roman" panose="02020603050405020304" pitchFamily="18" charset="0"/>
                          </a:rPr>
                        </m:ctrlPr>
                      </m:dPr>
                      <m:e>
                        <m:r>
                          <a:rPr lang="en-US" altLang="zh-TW" sz="2000" i="1" kern="100">
                            <a:latin typeface="Cambria Math" panose="02040503050406030204" pitchFamily="18" charset="0"/>
                            <a:cs typeface="Times New Roman" panose="02020603050405020304" pitchFamily="18" charset="0"/>
                          </a:rPr>
                          <m:t>𝑖</m:t>
                        </m:r>
                      </m:e>
                    </m:d>
                    <m:r>
                      <a:rPr lang="en-US" altLang="zh-TW" sz="2000" i="1">
                        <a:effectLst/>
                        <a:latin typeface="Cambria Math" panose="02040503050406030204" pitchFamily="18" charset="0"/>
                        <a:ea typeface="新細明體" panose="02020500000000000000" pitchFamily="18" charset="-120"/>
                        <a:cs typeface="Times New Roman" panose="02020603050405020304" pitchFamily="18" charset="0"/>
                      </a:rPr>
                      <m:t>=</m:t>
                    </m:r>
                    <m:d>
                      <m:dPr>
                        <m:begChr m:val="{"/>
                        <m:endChr m:val=""/>
                        <m:ctrlPr>
                          <a:rPr lang="en-US" altLang="zh-TW" sz="2000" i="1">
                            <a:solidFill>
                              <a:srgbClr val="222222"/>
                            </a:solidFill>
                            <a:latin typeface="Cambria Math" panose="02040503050406030204" pitchFamily="18" charset="0"/>
                            <a:cs typeface="Times New Roman" panose="02020603050405020304" pitchFamily="18" charset="0"/>
                          </a:rPr>
                        </m:ctrlPr>
                      </m:dPr>
                      <m:e>
                        <m:eqArr>
                          <m:eqArrPr>
                            <m:ctrlPr>
                              <a:rPr lang="en-US" altLang="zh-TW" sz="2000" i="1">
                                <a:solidFill>
                                  <a:srgbClr val="222222"/>
                                </a:solidFill>
                                <a:latin typeface="Cambria Math" panose="02040503050406030204" pitchFamily="18" charset="0"/>
                                <a:cs typeface="Times New Roman" panose="02020603050405020304" pitchFamily="18" charset="0"/>
                              </a:rPr>
                            </m:ctrlPr>
                          </m:eqArrPr>
                          <m:e>
                            <m:sSub>
                              <m:sSubPr>
                                <m:ctrlPr>
                                  <a:rPr lang="zh-TW" altLang="zh-TW" sz="2000" i="1">
                                    <a:latin typeface="Cambria Math" panose="02040503050406030204" pitchFamily="18" charset="0"/>
                                    <a:ea typeface="Cambria Math" panose="02040503050406030204" pitchFamily="18" charset="0"/>
                                  </a:rPr>
                                </m:ctrlPr>
                              </m:sSubPr>
                              <m:e>
                                <m:r>
                                  <a:rPr lang="en-US" altLang="zh-TW" sz="2000" i="1">
                                    <a:latin typeface="Cambria Math" panose="02040503050406030204" pitchFamily="18" charset="0"/>
                                    <a:cs typeface="Times New Roman" panose="02020603050405020304" pitchFamily="18" charset="0"/>
                                  </a:rPr>
                                  <m:t>𝑅</m:t>
                                </m:r>
                              </m:e>
                              <m:sub>
                                <m:r>
                                  <a:rPr lang="en-US" altLang="zh-TW" sz="2000" b="0" i="1" smtClean="0">
                                    <a:latin typeface="Cambria Math" panose="02040503050406030204" pitchFamily="18" charset="0"/>
                                    <a:cs typeface="Times New Roman" panose="02020603050405020304" pitchFamily="18" charset="0"/>
                                  </a:rPr>
                                  <m:t>2</m:t>
                                </m:r>
                              </m:sub>
                            </m:sSub>
                            <m:r>
                              <a:rPr lang="en-US" altLang="zh-TW" sz="2000" i="1" smtClean="0">
                                <a:latin typeface="Cambria Math" panose="02040503050406030204" pitchFamily="18" charset="0"/>
                                <a:cs typeface="Times New Roman" panose="02020603050405020304" pitchFamily="18" charset="0"/>
                              </a:rPr>
                              <m:t>,</m:t>
                            </m:r>
                            <m:r>
                              <m:rPr>
                                <m:nor/>
                              </m:rPr>
                              <a:rPr lang="en-US" altLang="zh-TW" sz="2000" b="0" i="0" smtClean="0">
                                <a:latin typeface="Cambria Math" panose="02040503050406030204" pitchFamily="18" charset="0"/>
                                <a:cs typeface="Times New Roman" panose="02020603050405020304" pitchFamily="18" charset="0"/>
                              </a:rPr>
                              <m:t>                            </m:t>
                            </m:r>
                            <m:r>
                              <m:rPr>
                                <m:nor/>
                              </m:rPr>
                              <a:rPr lang="en-US" altLang="zh-TW" sz="2000">
                                <a:latin typeface="Times New Roman" panose="02020603050405020304" pitchFamily="18" charset="0"/>
                                <a:cs typeface="Times New Roman" panose="02020603050405020304" pitchFamily="18" charset="0"/>
                              </a:rPr>
                              <m:t>if</m:t>
                            </m:r>
                            <m:r>
                              <a:rPr lang="en-US" altLang="zh-TW" sz="2000" b="0" i="1" smtClean="0">
                                <a:latin typeface="Cambria Math" panose="02040503050406030204" pitchFamily="18" charset="0"/>
                                <a:cs typeface="Times New Roman" panose="02020603050405020304" pitchFamily="18" charset="0"/>
                              </a:rPr>
                              <m:t> </m:t>
                            </m:r>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a:rPr lang="en-US" altLang="zh-TW" sz="2000" i="1" kern="100">
                                    <a:latin typeface="Cambria Math" panose="02040503050406030204" pitchFamily="18" charset="0"/>
                                    <a:cs typeface="Times New Roman" panose="02020603050405020304" pitchFamily="18" charset="0"/>
                                  </a:rPr>
                                  <m:t>𝑖</m:t>
                                </m:r>
                              </m:sub>
                            </m:sSub>
                            <m:r>
                              <a:rPr lang="en-US" altLang="zh-TW" sz="2000" i="1" kern="100">
                                <a:latin typeface="Cambria Math" panose="02040503050406030204" pitchFamily="18" charset="0"/>
                                <a:cs typeface="Times New Roman" panose="02020603050405020304" pitchFamily="18" charset="0"/>
                              </a:rPr>
                              <m:t>&lt;</m:t>
                            </m:r>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m:rPr>
                                    <m:nor/>
                                  </m:rPr>
                                  <a:rPr lang="en-US" altLang="zh-TW" sz="2000" kern="100">
                                    <a:latin typeface="Times New Roman" panose="02020603050405020304" pitchFamily="18" charset="0"/>
                                    <a:cs typeface="Times New Roman" panose="02020603050405020304" pitchFamily="18" charset="0"/>
                                  </a:rPr>
                                  <m:t>avg</m:t>
                                </m:r>
                              </m:sub>
                            </m:sSub>
                            <m:r>
                              <a:rPr lang="en-US" altLang="zh-TW" sz="2000" b="0" i="1" smtClean="0">
                                <a:latin typeface="Cambria Math" panose="02040503050406030204" pitchFamily="18" charset="0"/>
                                <a:cs typeface="Times New Roman" panose="02020603050405020304" pitchFamily="18" charset="0"/>
                              </a:rPr>
                              <m:t>;</m:t>
                            </m:r>
                          </m:e>
                          <m:e>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𝑅</m:t>
                                </m:r>
                              </m:e>
                              <m:sub>
                                <m:r>
                                  <a:rPr lang="en-US" altLang="zh-TW" sz="2000" i="1" kern="100">
                                    <a:latin typeface="Cambria Math" panose="02040503050406030204" pitchFamily="18" charset="0"/>
                                    <a:cs typeface="Times New Roman" panose="02020603050405020304" pitchFamily="18" charset="0"/>
                                  </a:rPr>
                                  <m:t>2</m:t>
                                </m:r>
                              </m:sub>
                            </m:sSub>
                            <m:r>
                              <a:rPr lang="en-US" altLang="zh-TW" sz="2000" i="1" kern="100">
                                <a:latin typeface="Cambria Math" panose="02040503050406030204" pitchFamily="18" charset="0"/>
                                <a:cs typeface="Times New Roman" panose="02020603050405020304" pitchFamily="18" charset="0"/>
                              </a:rPr>
                              <m:t>×</m:t>
                            </m:r>
                            <m:f>
                              <m:f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m:rPr>
                                        <m:sty m:val="p"/>
                                      </m:rPr>
                                      <a:rPr lang="en-US" altLang="zh-TW" sz="2000" i="0" kern="100">
                                        <a:latin typeface="Cambria Math" panose="02040503050406030204" pitchFamily="18" charset="0"/>
                                        <a:cs typeface="Times New Roman" panose="02020603050405020304" pitchFamily="18" charset="0"/>
                                      </a:rPr>
                                      <m:t>max</m:t>
                                    </m:r>
                                  </m:sub>
                                </m:sSub>
                                <m:r>
                                  <a:rPr lang="en-US" altLang="zh-TW" sz="2000" i="1" kern="100">
                                    <a:latin typeface="Cambria Math" panose="02040503050406030204" pitchFamily="18" charset="0"/>
                                    <a:cs typeface="Times New Roman" panose="02020603050405020304" pitchFamily="18" charset="0"/>
                                  </a:rPr>
                                  <m:t>−</m:t>
                                </m:r>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a:rPr lang="en-US" altLang="zh-TW" sz="2000" i="1" kern="100">
                                        <a:latin typeface="Cambria Math" panose="02040503050406030204" pitchFamily="18" charset="0"/>
                                        <a:cs typeface="Times New Roman" panose="02020603050405020304" pitchFamily="18" charset="0"/>
                                      </a:rPr>
                                      <m:t>𝑖</m:t>
                                    </m:r>
                                  </m:sub>
                                </m:sSub>
                              </m:num>
                              <m:den>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m:rPr>
                                        <m:sty m:val="p"/>
                                      </m:rPr>
                                      <a:rPr lang="en-US" altLang="zh-TW" sz="2000" i="0" kern="100">
                                        <a:latin typeface="Cambria Math" panose="02040503050406030204" pitchFamily="18" charset="0"/>
                                        <a:cs typeface="Times New Roman" panose="02020603050405020304" pitchFamily="18" charset="0"/>
                                      </a:rPr>
                                      <m:t>max</m:t>
                                    </m:r>
                                  </m:sub>
                                </m:sSub>
                                <m:r>
                                  <a:rPr lang="en-US" altLang="zh-TW" sz="2000" i="1" kern="100">
                                    <a:latin typeface="Cambria Math" panose="02040503050406030204" pitchFamily="18" charset="0"/>
                                    <a:cs typeface="Times New Roman" panose="02020603050405020304" pitchFamily="18" charset="0"/>
                                  </a:rPr>
                                  <m:t>−</m:t>
                                </m:r>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m:rPr>
                                        <m:nor/>
                                      </m:rPr>
                                      <a:rPr lang="en-US" altLang="zh-TW" sz="2000" kern="100">
                                        <a:latin typeface="Times New Roman" panose="02020603050405020304" pitchFamily="18" charset="0"/>
                                        <a:cs typeface="Times New Roman" panose="02020603050405020304" pitchFamily="18" charset="0"/>
                                      </a:rPr>
                                      <m:t>avg</m:t>
                                    </m:r>
                                  </m:sub>
                                </m:sSub>
                              </m:den>
                            </m:f>
                            <m:r>
                              <a:rPr lang="en-US" altLang="zh-TW" sz="2000" i="1">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     </m:t>
                            </m:r>
                            <m:r>
                              <m:rPr>
                                <m:nor/>
                              </m:rPr>
                              <a:rPr lang="en-US" altLang="zh-TW" sz="2000">
                                <a:latin typeface="Times New Roman" panose="02020603050405020304" pitchFamily="18" charset="0"/>
                                <a:cs typeface="Times New Roman" panose="02020603050405020304" pitchFamily="18" charset="0"/>
                              </a:rPr>
                              <m:t>if</m:t>
                            </m:r>
                            <m:r>
                              <a:rPr lang="en-US" altLang="zh-TW" sz="2000" b="0" i="1" smtClean="0">
                                <a:latin typeface="Cambria Math" panose="02040503050406030204" pitchFamily="18" charset="0"/>
                                <a:cs typeface="Times New Roman" panose="02020603050405020304" pitchFamily="18" charset="0"/>
                              </a:rPr>
                              <m:t> </m:t>
                            </m:r>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a:rPr lang="en-US" altLang="zh-TW" sz="2000" i="1" kern="100">
                                    <a:latin typeface="Cambria Math" panose="02040503050406030204" pitchFamily="18" charset="0"/>
                                    <a:cs typeface="Times New Roman" panose="02020603050405020304" pitchFamily="18" charset="0"/>
                                  </a:rPr>
                                  <m:t>𝑖</m:t>
                                </m:r>
                              </m:sub>
                            </m:sSub>
                            <m:r>
                              <a:rPr lang="en-US" altLang="zh-TW" sz="2000" i="1" kern="100">
                                <a:latin typeface="Cambria Math" panose="02040503050406030204" pitchFamily="18" charset="0"/>
                                <a:cs typeface="Times New Roman" panose="02020603050405020304" pitchFamily="18" charset="0"/>
                              </a:rPr>
                              <m:t>≥</m:t>
                            </m:r>
                            <m:sSub>
                              <m:sSubPr>
                                <m:ctrlPr>
                                  <a:rPr lang="zh-TW" altLang="zh-TW"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latin typeface="Cambria Math" panose="02040503050406030204" pitchFamily="18" charset="0"/>
                                    <a:cs typeface="Times New Roman" panose="02020603050405020304" pitchFamily="18" charset="0"/>
                                  </a:rPr>
                                  <m:t>𝑓</m:t>
                                </m:r>
                              </m:e>
                              <m:sub>
                                <m:r>
                                  <m:rPr>
                                    <m:nor/>
                                  </m:rPr>
                                  <a:rPr lang="en-US" altLang="zh-TW" sz="2000" kern="100">
                                    <a:latin typeface="Times New Roman" panose="02020603050405020304" pitchFamily="18" charset="0"/>
                                    <a:cs typeface="Times New Roman" panose="02020603050405020304" pitchFamily="18" charset="0"/>
                                  </a:rPr>
                                  <m:t>avg</m:t>
                                </m:r>
                              </m:sub>
                            </m:sSub>
                            <m:r>
                              <a:rPr lang="en-US" altLang="zh-TW" sz="2000" b="0" i="1" kern="100" smtClean="0">
                                <a:latin typeface="Cambria Math" panose="02040503050406030204" pitchFamily="18" charset="0"/>
                                <a:cs typeface="Times New Roman" panose="02020603050405020304" pitchFamily="18" charset="0"/>
                              </a:rPr>
                              <m:t>;</m:t>
                            </m:r>
                          </m:e>
                        </m:eqArr>
                      </m:e>
                    </m:d>
                  </m:oMath>
                </a14:m>
                <a:r>
                  <a:rPr lang="en-US" altLang="zh-TW" sz="2000" kern="100" dirty="0">
                    <a:effectLst/>
                    <a:latin typeface="Times New Roman" panose="02020603050405020304" pitchFamily="18" charset="0"/>
                    <a:ea typeface="Cambria Math" panose="02040503050406030204" pitchFamily="18" charset="0"/>
                    <a:cs typeface="Times New Roman" panose="02020603050405020304" pitchFamily="18" charset="0"/>
                  </a:rPr>
                  <a:t>      </a:t>
                </a:r>
              </a:p>
              <a:p>
                <a:pPr>
                  <a:lnSpc>
                    <a:spcPct val="150000"/>
                  </a:lnSpc>
                </a:pPr>
                <a:r>
                  <a:rPr lang="en-US" altLang="zh-TW" sz="2000" kern="100" dirty="0">
                    <a:effectLst/>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20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𝑅</m:t>
                        </m:r>
                      </m:e>
                      <m: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2</m:t>
                        </m:r>
                      </m:sub>
                    </m:sSub>
                    <m:r>
                      <a:rPr lang="en-US" altLang="zh-TW" sz="2000" b="0" i="1" kern="100" smtClean="0">
                        <a:effectLst/>
                        <a:latin typeface="Cambria Math" panose="02040503050406030204" pitchFamily="18" charset="0"/>
                        <a:ea typeface="新細明體" panose="02020500000000000000" pitchFamily="18" charset="-120"/>
                        <a:cs typeface="Times New Roman" panose="02020603050405020304" pitchFamily="18" charset="0"/>
                      </a:rPr>
                      <m:t>:</m:t>
                    </m:r>
                  </m:oMath>
                </a14:m>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2000" kern="100" dirty="0">
                    <a:latin typeface="Times New Roman" panose="02020603050405020304" pitchFamily="18" charset="0"/>
                    <a:ea typeface="新細明體" panose="02020500000000000000" pitchFamily="18" charset="-120"/>
                    <a:cs typeface="Times New Roman" panose="02020603050405020304" pitchFamily="18" charset="0"/>
                  </a:rPr>
                  <a:t>T</a:t>
                </a: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he predefined mutation rate.</a:t>
                </a:r>
                <a:endParaRPr lang="zh-TW"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mc:Choice>
        <mc:Fallback xmlns="">
          <p:sp>
            <p:nvSpPr>
              <p:cNvPr id="7" name="文字方塊 6">
                <a:extLst>
                  <a:ext uri="{FF2B5EF4-FFF2-40B4-BE49-F238E27FC236}">
                    <a16:creationId xmlns:a16="http://schemas.microsoft.com/office/drawing/2014/main" id="{16ADEBE5-0B56-4846-ACBC-334184067DE8}"/>
                  </a:ext>
                </a:extLst>
              </p:cNvPr>
              <p:cNvSpPr txBox="1">
                <a:spLocks noRot="1" noChangeAspect="1" noMove="1" noResize="1" noEditPoints="1" noAdjustHandles="1" noChangeArrowheads="1" noChangeShapeType="1" noTextEdit="1"/>
              </p:cNvSpPr>
              <p:nvPr/>
            </p:nvSpPr>
            <p:spPr>
              <a:xfrm>
                <a:off x="457200" y="3645024"/>
                <a:ext cx="8755811" cy="2669833"/>
              </a:xfrm>
              <a:prstGeom prst="rect">
                <a:avLst/>
              </a:prstGeom>
              <a:blipFill>
                <a:blip r:embed="rId4"/>
                <a:stretch>
                  <a:fillRect l="-627" b="-31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758933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79596" y="26072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76D51E34-1300-4970-8EFF-345DE1035DC5}"/>
              </a:ext>
            </a:extLst>
          </p:cNvPr>
          <p:cNvSpPr/>
          <p:nvPr/>
        </p:nvSpPr>
        <p:spPr>
          <a:xfrm>
            <a:off x="379596" y="1196752"/>
            <a:ext cx="8127800" cy="1938992"/>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Database: EUMAT</a:t>
            </a:r>
          </a:p>
          <a:p>
            <a:pPr marL="342900" indent="-342900">
              <a:buFont typeface="Arial" panose="020B0604020202020204" pitchFamily="34" charset="0"/>
              <a:buChar char="•"/>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Disorder percentage is mean fraction of residues that was</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predicted to be disordered by the disordered protein predictors</a:t>
            </a:r>
            <a:r>
              <a:rPr lang="en-US" altLang="zh-TW" sz="2400" dirty="0">
                <a:latin typeface="Times New Roman" panose="02020603050405020304" pitchFamily="18" charset="0"/>
                <a:cs typeface="Times New Roman" panose="02020603050405020304" pitchFamily="18" charset="0"/>
              </a:rPr>
              <a:t>.</a:t>
            </a:r>
            <a:endParaRPr lang="en-US" altLang="zh-TW" sz="2400" dirty="0">
              <a:solidFill>
                <a:srgbClr val="222222"/>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400" dirty="0">
              <a:solidFill>
                <a:srgbClr val="222222"/>
              </a:solidFill>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567385FD-2DF6-488D-914D-B066D9AA156C}"/>
              </a:ext>
            </a:extLst>
          </p:cNvPr>
          <p:cNvPicPr>
            <a:picLocks noChangeAspect="1"/>
          </p:cNvPicPr>
          <p:nvPr/>
        </p:nvPicPr>
        <p:blipFill>
          <a:blip r:embed="rId3"/>
          <a:stretch>
            <a:fillRect/>
          </a:stretch>
        </p:blipFill>
        <p:spPr>
          <a:xfrm>
            <a:off x="1395809" y="3020440"/>
            <a:ext cx="6352381" cy="2590476"/>
          </a:xfrm>
          <a:prstGeom prst="rect">
            <a:avLst/>
          </a:prstGeom>
        </p:spPr>
      </p:pic>
      <p:sp>
        <p:nvSpPr>
          <p:cNvPr id="9" name="矩形 8">
            <a:extLst>
              <a:ext uri="{FF2B5EF4-FFF2-40B4-BE49-F238E27FC236}">
                <a16:creationId xmlns:a16="http://schemas.microsoft.com/office/drawing/2014/main" id="{E95D3D9E-E471-41B8-B2F6-05C54898DD08}"/>
              </a:ext>
            </a:extLst>
          </p:cNvPr>
          <p:cNvSpPr/>
          <p:nvPr/>
        </p:nvSpPr>
        <p:spPr>
          <a:xfrm>
            <a:off x="683568" y="6021288"/>
            <a:ext cx="6696080" cy="461665"/>
          </a:xfrm>
          <a:prstGeom prst="rect">
            <a:avLst/>
          </a:prstGeom>
        </p:spPr>
        <p:txBody>
          <a:bodyPr wrap="square">
            <a:spAutoFit/>
          </a:bodyPr>
          <a:lstStyle/>
          <a:p>
            <a:r>
              <a:rPr lang="zh-TW" altLang="en-US" sz="1200" dirty="0">
                <a:latin typeface="Times New Roman" panose="02020603050405020304" pitchFamily="18" charset="0"/>
                <a:cs typeface="Times New Roman" panose="02020603050405020304" pitchFamily="18" charset="0"/>
              </a:rPr>
              <a:t>R. Trivedi and H. A. Nagarajaram, </a:t>
            </a:r>
            <a:r>
              <a:rPr lang="zh-TW" altLang="en-US" sz="1200" b="1" dirty="0">
                <a:latin typeface="Times New Roman" panose="02020603050405020304" pitchFamily="18" charset="0"/>
                <a:cs typeface="Times New Roman" panose="02020603050405020304" pitchFamily="18" charset="0"/>
              </a:rPr>
              <a:t>Amino acid substitution scoring matrices speciﬁc to intrinsically disordered regions in proteins</a:t>
            </a:r>
            <a:r>
              <a:rPr lang="zh-TW" altLang="en-US" sz="1200" dirty="0">
                <a:latin typeface="Times New Roman" panose="02020603050405020304" pitchFamily="18" charset="0"/>
                <a:cs typeface="Times New Roman" panose="02020603050405020304" pitchFamily="18" charset="0"/>
              </a:rPr>
              <a:t>, Scientiﬁc reports, Vol. 9, No. 1, pp. 1–12, 2019.</a:t>
            </a:r>
          </a:p>
        </p:txBody>
      </p:sp>
      <p:sp>
        <p:nvSpPr>
          <p:cNvPr id="5" name="投影片編號版面配置區 4">
            <a:extLst>
              <a:ext uri="{FF2B5EF4-FFF2-40B4-BE49-F238E27FC236}">
                <a16:creationId xmlns:a16="http://schemas.microsoft.com/office/drawing/2014/main" id="{83E61C61-7B9E-4E87-A275-33C30918EB4B}"/>
              </a:ext>
            </a:extLst>
          </p:cNvPr>
          <p:cNvSpPr>
            <a:spLocks noGrp="1"/>
          </p:cNvSpPr>
          <p:nvPr>
            <p:ph type="sldNum" sz="quarter" idx="12"/>
          </p:nvPr>
        </p:nvSpPr>
        <p:spPr/>
        <p:txBody>
          <a:bodyPr/>
          <a:lstStyle/>
          <a:p>
            <a:fld id="{04C04D6A-2E29-441A-A244-9F1014899F6D}" type="slidenum">
              <a:rPr lang="zh-TW" altLang="en-US" smtClean="0"/>
              <a:pPr/>
              <a:t>16</a:t>
            </a:fld>
            <a:endParaRPr lang="zh-TW" altLang="en-US"/>
          </a:p>
        </p:txBody>
      </p:sp>
    </p:spTree>
    <p:extLst>
      <p:ext uri="{BB962C8B-B14F-4D97-AF65-F5344CB8AC3E}">
        <p14:creationId xmlns:p14="http://schemas.microsoft.com/office/powerpoint/2010/main" val="7097909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83E61C61-7B9E-4E87-A275-33C30918EB4B}"/>
              </a:ext>
            </a:extLst>
          </p:cNvPr>
          <p:cNvSpPr>
            <a:spLocks noGrp="1"/>
          </p:cNvSpPr>
          <p:nvPr>
            <p:ph type="sldNum" sz="quarter" idx="12"/>
          </p:nvPr>
        </p:nvSpPr>
        <p:spPr/>
        <p:txBody>
          <a:bodyPr/>
          <a:lstStyle/>
          <a:p>
            <a:fld id="{04C04D6A-2E29-441A-A244-9F1014899F6D}" type="slidenum">
              <a:rPr lang="zh-TW" altLang="en-US" smtClean="0"/>
              <a:pPr/>
              <a:t>17</a:t>
            </a:fld>
            <a:endParaRPr lang="zh-TW" altLang="en-US"/>
          </a:p>
        </p:txBody>
      </p:sp>
      <p:pic>
        <p:nvPicPr>
          <p:cNvPr id="4" name="圖片 3">
            <a:extLst>
              <a:ext uri="{FF2B5EF4-FFF2-40B4-BE49-F238E27FC236}">
                <a16:creationId xmlns:a16="http://schemas.microsoft.com/office/drawing/2014/main" id="{1AE1FEAC-1BF9-8E92-9996-ED2B669DEA8A}"/>
              </a:ext>
            </a:extLst>
          </p:cNvPr>
          <p:cNvPicPr>
            <a:picLocks noChangeAspect="1"/>
          </p:cNvPicPr>
          <p:nvPr/>
        </p:nvPicPr>
        <p:blipFill>
          <a:blip r:embed="rId3"/>
          <a:stretch>
            <a:fillRect/>
          </a:stretch>
        </p:blipFill>
        <p:spPr>
          <a:xfrm>
            <a:off x="601879" y="0"/>
            <a:ext cx="8311243" cy="6858000"/>
          </a:xfrm>
          <a:prstGeom prst="rect">
            <a:avLst/>
          </a:prstGeom>
        </p:spPr>
      </p:pic>
    </p:spTree>
    <p:extLst>
      <p:ext uri="{BB962C8B-B14F-4D97-AF65-F5344CB8AC3E}">
        <p14:creationId xmlns:p14="http://schemas.microsoft.com/office/powerpoint/2010/main" val="21976917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12776" y="160337"/>
            <a:ext cx="8229600" cy="1143000"/>
          </a:xfrm>
        </p:spPr>
        <p:txBody>
          <a:bodyPr/>
          <a:lstStyle/>
          <a:p>
            <a:r>
              <a:rPr lang="en-US" altLang="zh-TW" b="1" dirty="0">
                <a:latin typeface="Times New Roman" pitchFamily="18" charset="0"/>
                <a:cs typeface="Times New Roman" pitchFamily="18" charset="0"/>
              </a:rPr>
              <a:t>Conclusion</a:t>
            </a:r>
            <a:endParaRPr lang="zh-TW" altLang="en-US" b="1" dirty="0">
              <a:latin typeface="Times New Roman" pitchFamily="18" charset="0"/>
              <a:cs typeface="Times New Roman" pitchFamily="18" charset="0"/>
            </a:endParaRPr>
          </a:p>
        </p:txBody>
      </p:sp>
      <p:sp>
        <p:nvSpPr>
          <p:cNvPr id="3" name="內容版面配置區 2"/>
          <p:cNvSpPr>
            <a:spLocks noGrp="1"/>
          </p:cNvSpPr>
          <p:nvPr>
            <p:ph idx="1"/>
          </p:nvPr>
        </p:nvSpPr>
        <p:spPr>
          <a:xfrm>
            <a:off x="395536" y="1303337"/>
            <a:ext cx="8535892" cy="4525963"/>
          </a:xfrm>
        </p:spPr>
        <p:txBody>
          <a:bodyPr>
            <a:noAutofit/>
          </a:bodyPr>
          <a:lstStyle/>
          <a:p>
            <a:pPr>
              <a:lnSpc>
                <a:spcPct val="150000"/>
              </a:lnSpc>
            </a:pPr>
            <a:r>
              <a:rPr lang="en-US" sz="2800" dirty="0">
                <a:latin typeface="Times New Roman" pitchFamily="18" charset="0"/>
                <a:cs typeface="Times New Roman" pitchFamily="18" charset="0"/>
              </a:rPr>
              <a:t>PSO+TLBO with diversity-guided (</a:t>
            </a:r>
            <a:r>
              <a:rPr lang="en-US" sz="2800" dirty="0" err="1">
                <a:latin typeface="Times New Roman" pitchFamily="18" charset="0"/>
                <a:cs typeface="Times New Roman" pitchFamily="18" charset="0"/>
              </a:rPr>
              <a:t>PTd</a:t>
            </a:r>
            <a:r>
              <a:rPr lang="en-US" sz="2800" dirty="0">
                <a:latin typeface="Times New Roman" pitchFamily="18" charset="0"/>
                <a:cs typeface="Times New Roman" pitchFamily="18" charset="0"/>
              </a:rPr>
              <a:t>).</a:t>
            </a:r>
          </a:p>
          <a:p>
            <a:pPr>
              <a:lnSpc>
                <a:spcPct val="150000"/>
              </a:lnSpc>
            </a:pPr>
            <a:r>
              <a:rPr lang="en-US" altLang="zh-TW" sz="2800" dirty="0">
                <a:latin typeface="Times New Roman" panose="02020603050405020304" pitchFamily="18" charset="0"/>
                <a:cs typeface="Times New Roman" panose="02020603050405020304" pitchFamily="18" charset="0"/>
              </a:rPr>
              <a:t>As the results, our method can get the higher coverage than other matrices in the HD dataset.</a:t>
            </a:r>
          </a:p>
          <a:p>
            <a:pPr>
              <a:lnSpc>
                <a:spcPct val="150000"/>
              </a:lnSpc>
            </a:pPr>
            <a:r>
              <a:rPr lang="en-US" altLang="zh-TW" sz="2800" dirty="0">
                <a:latin typeface="Times New Roman" panose="02020603050405020304" pitchFamily="18" charset="0"/>
                <a:cs typeface="Times New Roman" panose="02020603050405020304" pitchFamily="18" charset="0"/>
              </a:rPr>
              <a:t>I</a:t>
            </a:r>
            <a:r>
              <a:rPr lang="en-US" sz="2800" dirty="0">
                <a:latin typeface="Times New Roman" pitchFamily="18" charset="0"/>
                <a:cs typeface="Times New Roman" pitchFamily="18" charset="0"/>
              </a:rPr>
              <a:t>t requiring a large amount of computational time on the sequence alignment</a:t>
            </a:r>
            <a:r>
              <a:rPr lang="en-US" altLang="zh-TW" sz="2800" dirty="0">
                <a:latin typeface="Times New Roman" pitchFamily="18" charset="0"/>
                <a:cs typeface="Times New Roman" pitchFamily="18" charset="0"/>
              </a:rPr>
              <a:t>.</a:t>
            </a:r>
          </a:p>
          <a:p>
            <a:pPr>
              <a:lnSpc>
                <a:spcPct val="150000"/>
              </a:lnSpc>
            </a:pPr>
            <a:r>
              <a:rPr lang="en-US" altLang="zh-TW" sz="2800" dirty="0">
                <a:latin typeface="Times New Roman" pitchFamily="18" charset="0"/>
                <a:cs typeface="Times New Roman" pitchFamily="18" charset="0"/>
              </a:rPr>
              <a:t>We can try to perform a rough sequence alignment.</a:t>
            </a:r>
            <a:endParaRPr lang="en-US" sz="2800" dirty="0">
              <a:latin typeface="Times New Roman" pitchFamily="18" charset="0"/>
              <a:cs typeface="Times New Roman" pitchFamily="18" charset="0"/>
            </a:endParaRPr>
          </a:p>
        </p:txBody>
      </p:sp>
      <p:sp>
        <p:nvSpPr>
          <p:cNvPr id="7" name="投影片編號版面配置區 6">
            <a:extLst>
              <a:ext uri="{FF2B5EF4-FFF2-40B4-BE49-F238E27FC236}">
                <a16:creationId xmlns:a16="http://schemas.microsoft.com/office/drawing/2014/main" id="{190969D3-5048-43BC-8F78-A95BA86ACA64}"/>
              </a:ext>
            </a:extLst>
          </p:cNvPr>
          <p:cNvSpPr>
            <a:spLocks noGrp="1"/>
          </p:cNvSpPr>
          <p:nvPr>
            <p:ph type="sldNum" sz="quarter" idx="12"/>
          </p:nvPr>
        </p:nvSpPr>
        <p:spPr/>
        <p:txBody>
          <a:bodyPr/>
          <a:lstStyle/>
          <a:p>
            <a:fld id="{04C04D6A-2E29-441A-A244-9F1014899F6D}" type="slidenum">
              <a:rPr lang="zh-TW" altLang="en-US" smtClean="0"/>
              <a:pPr/>
              <a:t>18</a:t>
            </a:fld>
            <a:endParaRPr lang="zh-TW" altLang="en-US"/>
          </a:p>
        </p:txBody>
      </p:sp>
    </p:spTree>
    <p:extLst>
      <p:ext uri="{BB962C8B-B14F-4D97-AF65-F5344CB8AC3E}">
        <p14:creationId xmlns:p14="http://schemas.microsoft.com/office/powerpoint/2010/main" val="6339719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a:spLocks noGrp="1"/>
          </p:cNvSpPr>
          <p:nvPr/>
        </p:nvSpPr>
        <p:spPr>
          <a:xfrm>
            <a:off x="457200" y="1166019"/>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sz="3600" dirty="0">
              <a:latin typeface="Times New Roman" panose="02020603050405020304" pitchFamily="18" charset="0"/>
              <a:cs typeface="Times New Roman" panose="02020603050405020304" pitchFamily="18" charset="0"/>
            </a:endParaRPr>
          </a:p>
          <a:p>
            <a:endParaRPr lang="en-US" altLang="zh-TW" sz="3600" dirty="0">
              <a:latin typeface="Times New Roman" panose="02020603050405020304" pitchFamily="18" charset="0"/>
              <a:cs typeface="Times New Roman" panose="02020603050405020304" pitchFamily="18" charset="0"/>
            </a:endParaRPr>
          </a:p>
          <a:p>
            <a:endParaRPr lang="en-US" altLang="zh-TW" sz="3600" dirty="0">
              <a:latin typeface="Times New Roman" panose="02020603050405020304" pitchFamily="18" charset="0"/>
              <a:cs typeface="Times New Roman" panose="02020603050405020304" pitchFamily="18" charset="0"/>
            </a:endParaRPr>
          </a:p>
          <a:p>
            <a:pPr algn="ctr">
              <a:buNone/>
            </a:pPr>
            <a:r>
              <a:rPr lang="en-US" altLang="zh-TW" sz="3600" dirty="0">
                <a:latin typeface="Times New Roman" panose="02020603050405020304" pitchFamily="18" charset="0"/>
                <a:cs typeface="Times New Roman" panose="02020603050405020304" pitchFamily="18" charset="0"/>
              </a:rPr>
              <a:t>Thanks for your listening.</a:t>
            </a:r>
            <a:endParaRPr lang="zh-TW" altLang="en-US" sz="3600"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5E430283-492A-4FA4-A438-6F834CEB549E}"/>
              </a:ext>
            </a:extLst>
          </p:cNvPr>
          <p:cNvSpPr>
            <a:spLocks noGrp="1"/>
          </p:cNvSpPr>
          <p:nvPr>
            <p:ph type="sldNum" sz="quarter" idx="12"/>
          </p:nvPr>
        </p:nvSpPr>
        <p:spPr/>
        <p:txBody>
          <a:bodyPr/>
          <a:lstStyle/>
          <a:p>
            <a:fld id="{04C04D6A-2E29-441A-A244-9F1014899F6D}" type="slidenum">
              <a:rPr lang="zh-TW" altLang="en-US" smtClean="0"/>
              <a:pPr/>
              <a:t>19</a:t>
            </a:fld>
            <a:endParaRPr lang="zh-TW" altLang="en-US"/>
          </a:p>
        </p:txBody>
      </p:sp>
    </p:spTree>
    <p:extLst>
      <p:ext uri="{BB962C8B-B14F-4D97-AF65-F5344CB8AC3E}">
        <p14:creationId xmlns:p14="http://schemas.microsoft.com/office/powerpoint/2010/main" val="2952058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79596" y="26072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76D51E34-1300-4970-8EFF-345DE1035DC5}"/>
              </a:ext>
            </a:extLst>
          </p:cNvPr>
          <p:cNvSpPr/>
          <p:nvPr/>
        </p:nvSpPr>
        <p:spPr>
          <a:xfrm>
            <a:off x="397900" y="1157843"/>
            <a:ext cx="8127800" cy="830997"/>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Primitive e</a:t>
            </a:r>
            <a:r>
              <a:rPr lang="en-US" altLang="zh-TW" sz="2400" dirty="0">
                <a:latin typeface="Times New Roman" panose="02020603050405020304" pitchFamily="18" charset="0"/>
                <a:cs typeface="Times New Roman" panose="02020603050405020304" pitchFamily="18" charset="0"/>
              </a:rPr>
              <a:t>xperiment</a:t>
            </a:r>
            <a:r>
              <a:rPr lang="en-US" altLang="zh-TW" sz="2400" b="1" dirty="0">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parameter settings</a:t>
            </a:r>
          </a:p>
          <a:p>
            <a:pPr marL="342900" indent="-342900">
              <a:buFont typeface="Arial" panose="020B0604020202020204" pitchFamily="34" charset="0"/>
              <a:buChar char="•"/>
            </a:pPr>
            <a:endParaRPr lang="en-US" altLang="zh-TW" sz="2400" dirty="0">
              <a:solidFill>
                <a:srgbClr val="22222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表格 2">
                <a:extLst>
                  <a:ext uri="{FF2B5EF4-FFF2-40B4-BE49-F238E27FC236}">
                    <a16:creationId xmlns:a16="http://schemas.microsoft.com/office/drawing/2014/main" id="{EF58BC10-F412-45B2-B9B7-4FA37487D309}"/>
                  </a:ext>
                </a:extLst>
              </p:cNvPr>
              <p:cNvGraphicFramePr>
                <a:graphicFrameLocks noGrp="1"/>
              </p:cNvGraphicFramePr>
              <p:nvPr>
                <p:extLst>
                  <p:ext uri="{D42A27DB-BD31-4B8C-83A1-F6EECF244321}">
                    <p14:modId xmlns:p14="http://schemas.microsoft.com/office/powerpoint/2010/main" val="342379559"/>
                  </p:ext>
                </p:extLst>
              </p:nvPr>
            </p:nvGraphicFramePr>
            <p:xfrm>
              <a:off x="194094" y="1797914"/>
              <a:ext cx="8755811" cy="4529884"/>
            </p:xfrm>
            <a:graphic>
              <a:graphicData uri="http://schemas.openxmlformats.org/drawingml/2006/table">
                <a:tbl>
                  <a:tblPr firstRow="1" bandRow="1">
                    <a:tableStyleId>{5C22544A-7EE6-4342-B048-85BDC9FD1C3A}</a:tableStyleId>
                  </a:tblPr>
                  <a:tblGrid>
                    <a:gridCol w="1751162">
                      <a:extLst>
                        <a:ext uri="{9D8B030D-6E8A-4147-A177-3AD203B41FA5}">
                          <a16:colId xmlns:a16="http://schemas.microsoft.com/office/drawing/2014/main" val="4288372547"/>
                        </a:ext>
                      </a:extLst>
                    </a:gridCol>
                    <a:gridCol w="1352002">
                      <a:extLst>
                        <a:ext uri="{9D8B030D-6E8A-4147-A177-3AD203B41FA5}">
                          <a16:colId xmlns:a16="http://schemas.microsoft.com/office/drawing/2014/main" val="3322664056"/>
                        </a:ext>
                      </a:extLst>
                    </a:gridCol>
                    <a:gridCol w="1296144">
                      <a:extLst>
                        <a:ext uri="{9D8B030D-6E8A-4147-A177-3AD203B41FA5}">
                          <a16:colId xmlns:a16="http://schemas.microsoft.com/office/drawing/2014/main" val="234104698"/>
                        </a:ext>
                      </a:extLst>
                    </a:gridCol>
                    <a:gridCol w="2700980">
                      <a:extLst>
                        <a:ext uri="{9D8B030D-6E8A-4147-A177-3AD203B41FA5}">
                          <a16:colId xmlns:a16="http://schemas.microsoft.com/office/drawing/2014/main" val="2559713900"/>
                        </a:ext>
                      </a:extLst>
                    </a:gridCol>
                    <a:gridCol w="1655523">
                      <a:extLst>
                        <a:ext uri="{9D8B030D-6E8A-4147-A177-3AD203B41FA5}">
                          <a16:colId xmlns:a16="http://schemas.microsoft.com/office/drawing/2014/main" val="3590374534"/>
                        </a:ext>
                      </a:extLst>
                    </a:gridCol>
                  </a:tblGrid>
                  <a:tr h="736146">
                    <a:tc>
                      <a:txBody>
                        <a:bodyPr/>
                        <a:lstStyle/>
                        <a:p>
                          <a:pPr algn="ctr"/>
                          <a:r>
                            <a:rPr lang="en-US" altLang="zh-TW" sz="2000" b="0" dirty="0">
                              <a:solidFill>
                                <a:sysClr val="windowText" lastClr="000000"/>
                              </a:solidFill>
                              <a:latin typeface="Times New Roman" panose="02020603050405020304" pitchFamily="18" charset="0"/>
                              <a:cs typeface="Times New Roman" panose="02020603050405020304" pitchFamily="18" charset="0"/>
                            </a:rPr>
                            <a:t>Algorithm</a:t>
                          </a:r>
                          <a:endParaRPr lang="zh-TW" altLang="en-US" sz="2000" b="0"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Generation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Population size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Parameters</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Termination</a:t>
                          </a:r>
                        </a:p>
                        <a:p>
                          <a:pPr algn="ctr"/>
                          <a:r>
                            <a:rPr lang="en-US" altLang="zh-TW" sz="2000" b="0" dirty="0">
                              <a:solidFill>
                                <a:schemeClr val="tx1"/>
                              </a:solidFill>
                              <a:latin typeface="Times New Roman" panose="02020603050405020304" pitchFamily="18" charset="0"/>
                              <a:cs typeface="Times New Roman" panose="02020603050405020304" pitchFamily="18" charset="0"/>
                            </a:rPr>
                            <a:t>condition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328334"/>
                      </a:ext>
                    </a:extLst>
                  </a:tr>
                  <a:tr h="4160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latin typeface="Times New Roman" panose="02020603050405020304" pitchFamily="18" charset="0"/>
                              <a:cs typeface="Times New Roman" panose="02020603050405020304" pitchFamily="18" charset="0"/>
                            </a:rPr>
                            <a:t>EGA+TLBO</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dirty="0">
                              <a:solidFill>
                                <a:schemeClr val="tx1"/>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dynamic,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i="1" smtClean="0">
                                      <a:latin typeface="Cambria Math" panose="02040503050406030204" pitchFamily="18" charset="0"/>
                                    </a:rPr>
                                    <m:t>𝐹</m:t>
                                  </m:r>
                                </m:e>
                                <m:sub>
                                  <m:r>
                                    <m:rPr>
                                      <m:sty m:val="p"/>
                                    </m:rPr>
                                    <a:rPr lang="en-US" altLang="zh-TW" sz="2000" smtClean="0">
                                      <a:latin typeface="Cambria Math" panose="02040503050406030204" pitchFamily="18" charset="0"/>
                                    </a:rPr>
                                    <m:t>TLBO</m:t>
                                  </m:r>
                                </m:sub>
                              </m:sSub>
                              <m:r>
                                <a:rPr lang="zh-TW" altLang="en-US" sz="2000" i="1" dirty="0" smtClean="0">
                                  <a:solidFill>
                                    <a:schemeClr val="tx1"/>
                                  </a:solidFill>
                                  <a:latin typeface="Cambria Math" panose="02040503050406030204" pitchFamily="18" charset="0"/>
                                </a:rPr>
                                <m:t>∈</m:t>
                              </m:r>
                              <m:d>
                                <m:dPr>
                                  <m:begChr m:val="{"/>
                                  <m:endChr m:val="}"/>
                                  <m:ctrlPr>
                                    <a:rPr lang="zh-TW" altLang="en-US" sz="2000" i="1" dirty="0">
                                      <a:solidFill>
                                        <a:schemeClr val="tx1"/>
                                      </a:solidFill>
                                      <a:latin typeface="Cambria Math" panose="02040503050406030204" pitchFamily="18" charset="0"/>
                                    </a:rPr>
                                  </m:ctrlPr>
                                </m:dPr>
                                <m:e>
                                  <m:r>
                                    <a:rPr lang="zh-TW" altLang="en-US" sz="2000" i="0" dirty="0">
                                      <a:solidFill>
                                        <a:schemeClr val="tx1"/>
                                      </a:solidFill>
                                      <a:latin typeface="Cambria Math" panose="02040503050406030204" pitchFamily="18" charset="0"/>
                                    </a:rPr>
                                    <m:t>1,2</m:t>
                                  </m:r>
                                </m:e>
                              </m:d>
                            </m:oMath>
                          </a14:m>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dirty="0">
                              <a:solidFill>
                                <a:schemeClr val="tx1"/>
                              </a:solidFill>
                              <a:latin typeface="Times New Roman" panose="02020603050405020304" pitchFamily="18" charset="0"/>
                              <a:cs typeface="Times New Roman" panose="02020603050405020304" pitchFamily="18" charset="0"/>
                            </a:rPr>
                            <a:t>number of generations is reached</a:t>
                          </a:r>
                          <a:endParaRPr lang="zh-TW" altLang="en-US" sz="2000" dirty="0">
                            <a:solidFill>
                              <a:schemeClr val="tx1"/>
                            </a:solidFill>
                            <a:latin typeface="Times New Roman" panose="02020603050405020304" pitchFamily="18" charset="0"/>
                            <a:cs typeface="Times New Roman" panose="02020603050405020304" pitchFamily="18" charset="0"/>
                          </a:endParaRPr>
                        </a:p>
                        <a:p>
                          <a:pPr algn="ct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2809314"/>
                      </a:ext>
                    </a:extLst>
                  </a:tr>
                  <a:tr h="736146">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GA+TLBO</a:t>
                          </a: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tc>
                    <a:tc vMerge="1">
                      <a:txBody>
                        <a:bodyPr/>
                        <a:lstStyle/>
                        <a:p>
                          <a:endParaRPr lang="zh-TW" altLang="en-US"/>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zh-TW" altLang="zh-TW" sz="2000" i="1" smtClean="0">
                                        <a:effectLst/>
                                        <a:latin typeface="Cambria Math" panose="02040503050406030204" pitchFamily="18" charset="0"/>
                                      </a:rPr>
                                    </m:ctrlPr>
                                  </m:sSubPr>
                                  <m:e>
                                    <m:r>
                                      <a:rPr lang="en-US" altLang="zh-TW" sz="2000" b="0" i="1" smtClean="0">
                                        <a:effectLst/>
                                        <a:latin typeface="Cambria Math" panose="02040503050406030204" pitchFamily="18" charset="0"/>
                                        <a:ea typeface="Cambria Math" panose="02040503050406030204" pitchFamily="18" charset="0"/>
                                      </a:rPr>
                                      <m:t>𝑅</m:t>
                                    </m:r>
                                  </m:e>
                                  <m:sub>
                                    <m:r>
                                      <m:rPr>
                                        <m:nor/>
                                      </m:rPr>
                                      <a:rPr lang="en-US" altLang="zh-TW" sz="2000" smtClean="0">
                                        <a:effectLst/>
                                        <a:latin typeface="Times New Roman" panose="02020603050405020304" pitchFamily="18" charset="0"/>
                                        <a:ea typeface="+mn-ea"/>
                                        <a:cs typeface="Times New Roman" panose="02020603050405020304" pitchFamily="18" charset="0"/>
                                      </a:rPr>
                                      <m:t>cr</m:t>
                                    </m:r>
                                  </m:sub>
                                </m:sSub>
                                <m:r>
                                  <a:rPr lang="en-US" altLang="zh-TW" sz="2000" b="0" i="1" smtClean="0">
                                    <a:effectLst/>
                                    <a:latin typeface="Cambria Math" panose="02040503050406030204" pitchFamily="18" charset="0"/>
                                    <a:ea typeface="+mn-ea"/>
                                    <a:cs typeface="Times New Roman" panose="02020603050405020304" pitchFamily="18" charset="0"/>
                                  </a:rPr>
                                  <m:t>=0.9,</m:t>
                                </m:r>
                                <m:sSub>
                                  <m:sSubPr>
                                    <m:ctrlPr>
                                      <a:rPr lang="zh-TW" altLang="zh-TW" sz="2000" i="1" smtClean="0">
                                        <a:effectLst/>
                                        <a:latin typeface="Cambria Math" panose="02040503050406030204" pitchFamily="18" charset="0"/>
                                      </a:rPr>
                                    </m:ctrlPr>
                                  </m:sSubPr>
                                  <m:e>
                                    <m:r>
                                      <a:rPr lang="en-US" altLang="zh-TW" sz="2000" b="0" i="1" smtClean="0">
                                        <a:effectLst/>
                                        <a:latin typeface="Cambria Math" panose="02040503050406030204" pitchFamily="18" charset="0"/>
                                        <a:ea typeface="Cambria Math" panose="02040503050406030204" pitchFamily="18" charset="0"/>
                                      </a:rPr>
                                      <m:t>𝑅</m:t>
                                    </m:r>
                                  </m:e>
                                  <m:sub>
                                    <m:r>
                                      <m:rPr>
                                        <m:nor/>
                                      </m:rPr>
                                      <a:rPr lang="en-US" altLang="zh-TW" sz="2000" b="0" i="0" smtClean="0">
                                        <a:effectLst/>
                                        <a:latin typeface="Times New Roman" panose="02020603050405020304" pitchFamily="18" charset="0"/>
                                        <a:ea typeface="Cambria Math" panose="02040503050406030204" pitchFamily="18" charset="0"/>
                                        <a:cs typeface="Times New Roman" panose="02020603050405020304" pitchFamily="18" charset="0"/>
                                      </a:rPr>
                                      <m:t>mu</m:t>
                                    </m:r>
                                  </m:sub>
                                </m:sSub>
                                <m:r>
                                  <a:rPr lang="en-US" altLang="zh-TW" sz="2000" b="0" i="1" smtClean="0">
                                    <a:effectLst/>
                                    <a:latin typeface="Cambria Math" panose="02040503050406030204" pitchFamily="18" charset="0"/>
                                    <a:ea typeface="+mn-ea"/>
                                    <a:cs typeface="Times New Roman" panose="02020603050405020304" pitchFamily="18" charset="0"/>
                                  </a:rPr>
                                  <m:t>=0.3 </m:t>
                                </m:r>
                              </m:oMath>
                            </m:oMathPara>
                          </a14:m>
                          <a:endParaRPr lang="en-US" altLang="zh-TW" sz="2000" b="0" i="1" dirty="0">
                            <a:effectLst/>
                            <a:latin typeface="Cambria Math" panose="02040503050406030204" pitchFamily="18" charset="0"/>
                            <a:ea typeface="+mn-ea"/>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altLang="zh-TW" sz="2000" b="0" i="1" smtClean="0">
                                    <a:effectLst/>
                                    <a:latin typeface="Cambria Math" panose="02040503050406030204" pitchFamily="18" charset="0"/>
                                    <a:ea typeface="+mn-ea"/>
                                    <a:cs typeface="Times New Roman" panose="02020603050405020304" pitchFamily="18" charset="0"/>
                                  </a:rPr>
                                  <m:t>𝑎𝑛𝑑</m:t>
                                </m:r>
                                <m:r>
                                  <a:rPr lang="en-US" altLang="zh-TW" sz="2000" b="0" i="1" smtClean="0">
                                    <a:effectLst/>
                                    <a:latin typeface="Cambria Math" panose="02040503050406030204" pitchFamily="18" charset="0"/>
                                    <a:ea typeface="+mn-ea"/>
                                    <a:cs typeface="Times New Roman" panose="02020603050405020304" pitchFamily="18" charset="0"/>
                                  </a:rPr>
                                  <m:t> </m:t>
                                </m:r>
                                <m:sSub>
                                  <m:sSubPr>
                                    <m:ctrlPr>
                                      <a:rPr lang="en-US" altLang="zh-TW" sz="2000" i="1" smtClean="0">
                                        <a:latin typeface="Cambria Math" panose="02040503050406030204" pitchFamily="18" charset="0"/>
                                      </a:rPr>
                                    </m:ctrlPr>
                                  </m:sSubPr>
                                  <m:e>
                                    <m:r>
                                      <a:rPr lang="en-US" altLang="zh-TW" sz="2000" i="1" smtClean="0">
                                        <a:latin typeface="Cambria Math" panose="02040503050406030204" pitchFamily="18" charset="0"/>
                                      </a:rPr>
                                      <m:t>𝐹</m:t>
                                    </m:r>
                                  </m:e>
                                  <m:sub>
                                    <m:r>
                                      <m:rPr>
                                        <m:sty m:val="p"/>
                                      </m:rPr>
                                      <a:rPr lang="en-US" altLang="zh-TW" sz="2000" smtClean="0">
                                        <a:latin typeface="Cambria Math" panose="02040503050406030204" pitchFamily="18" charset="0"/>
                                      </a:rPr>
                                      <m:t>TLBO</m:t>
                                    </m:r>
                                  </m:sub>
                                </m:sSub>
                                <m:r>
                                  <a:rPr lang="zh-TW" altLang="en-US" sz="2000" i="1" dirty="0" smtClean="0">
                                    <a:solidFill>
                                      <a:schemeClr val="tx1"/>
                                    </a:solidFill>
                                    <a:latin typeface="Cambria Math" panose="02040503050406030204" pitchFamily="18" charset="0"/>
                                  </a:rPr>
                                  <m:t>∈</m:t>
                                </m:r>
                                <m:d>
                                  <m:dPr>
                                    <m:begChr m:val="{"/>
                                    <m:endChr m:val="}"/>
                                    <m:ctrlPr>
                                      <a:rPr lang="zh-TW" altLang="en-US" sz="2000" i="1" dirty="0">
                                        <a:solidFill>
                                          <a:schemeClr val="tx1"/>
                                        </a:solidFill>
                                        <a:latin typeface="Cambria Math" panose="02040503050406030204" pitchFamily="18" charset="0"/>
                                      </a:rPr>
                                    </m:ctrlPr>
                                  </m:dPr>
                                  <m:e>
                                    <m:r>
                                      <a:rPr lang="zh-TW" altLang="en-US" sz="2000" i="0" dirty="0">
                                        <a:solidFill>
                                          <a:schemeClr val="tx1"/>
                                        </a:solidFill>
                                        <a:latin typeface="Cambria Math" panose="02040503050406030204" pitchFamily="18" charset="0"/>
                                      </a:rPr>
                                      <m:t>1,2</m:t>
                                    </m:r>
                                  </m:e>
                                </m:d>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tc>
                    <a:extLst>
                      <a:ext uri="{0D108BD9-81ED-4DB2-BD59-A6C34878D82A}">
                        <a16:rowId xmlns:a16="http://schemas.microsoft.com/office/drawing/2014/main" val="2681536065"/>
                      </a:ext>
                    </a:extLst>
                  </a:tr>
                  <a:tr h="736146">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PSO+TLBO</a:t>
                          </a: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tcPr>
                    </a:tc>
                    <a:tc vMerge="1">
                      <a:txBody>
                        <a:bodyPr/>
                        <a:lstStyle/>
                        <a:p>
                          <a:endParaRPr lang="zh-TW" altLang="en-US"/>
                        </a:p>
                      </a:txBody>
                      <a:tcPr/>
                    </a:tc>
                    <a:tc>
                      <a:txBody>
                        <a:bodyPr/>
                        <a:lstStyle/>
                        <a:p>
                          <a:pPr/>
                          <a14:m>
                            <m:oMathPara xmlns:m="http://schemas.openxmlformats.org/officeDocument/2006/math">
                              <m:oMathParaPr>
                                <m:jc m:val="centerGroup"/>
                              </m:oMathParaPr>
                              <m:oMath xmlns:m="http://schemas.openxmlformats.org/officeDocument/2006/math">
                                <m:sSub>
                                  <m:sSubPr>
                                    <m:ctrlPr>
                                      <a:rPr lang="zh-TW" altLang="en-US" sz="2000" i="1" smtClean="0">
                                        <a:latin typeface="Cambria Math" panose="02040503050406030204" pitchFamily="18" charset="0"/>
                                      </a:rPr>
                                    </m:ctrlPr>
                                  </m:sSubPr>
                                  <m:e>
                                    <m:r>
                                      <a:rPr lang="en-US" altLang="zh-TW" sz="2000" i="1">
                                        <a:latin typeface="Cambria Math" panose="02040503050406030204" pitchFamily="18" charset="0"/>
                                      </a:rPr>
                                      <m:t>𝑐</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=2,</m:t>
                                </m:r>
                                <m:sSub>
                                  <m:sSubPr>
                                    <m:ctrlPr>
                                      <a:rPr lang="zh-TW" altLang="en-US" sz="2000" i="1" smtClean="0">
                                        <a:latin typeface="Cambria Math" panose="02040503050406030204" pitchFamily="18" charset="0"/>
                                      </a:rPr>
                                    </m:ctrlPr>
                                  </m:sSubPr>
                                  <m:e>
                                    <m:r>
                                      <a:rPr lang="en-US" altLang="zh-TW" sz="2000" i="1">
                                        <a:latin typeface="Cambria Math" panose="02040503050406030204" pitchFamily="18" charset="0"/>
                                      </a:rPr>
                                      <m:t>𝑐</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=1, </m:t>
                                </m:r>
                                <m:r>
                                  <a:rPr lang="en-US" altLang="zh-TW" sz="2000" b="0" i="1" smtClean="0">
                                    <a:latin typeface="Cambria Math" panose="02040503050406030204" pitchFamily="18" charset="0"/>
                                  </a:rPr>
                                  <m:t>𝑤</m:t>
                                </m:r>
                                <m:r>
                                  <a:rPr lang="en-US" altLang="zh-TW" sz="2000" b="0" i="1" smtClean="0">
                                    <a:latin typeface="Cambria Math" panose="02040503050406030204" pitchFamily="18" charset="0"/>
                                  </a:rPr>
                                  <m:t>=0.9</m:t>
                                </m:r>
                              </m:oMath>
                            </m:oMathPara>
                          </a14:m>
                          <a:endParaRPr lang="en-US" altLang="zh-TW" sz="2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000" b="0" i="1" smtClean="0">
                                    <a:effectLst/>
                                    <a:latin typeface="Cambria Math" panose="02040503050406030204" pitchFamily="18" charset="0"/>
                                    <a:ea typeface="+mn-ea"/>
                                    <a:cs typeface="Times New Roman" panose="02020603050405020304" pitchFamily="18" charset="0"/>
                                  </a:rPr>
                                  <m:t>𝑎𝑛𝑑</m:t>
                                </m:r>
                                <m:r>
                                  <a:rPr lang="en-US" altLang="zh-TW" sz="2000" b="0" i="1" smtClean="0">
                                    <a:effectLst/>
                                    <a:latin typeface="Cambria Math" panose="02040503050406030204" pitchFamily="18" charset="0"/>
                                    <a:ea typeface="+mn-ea"/>
                                    <a:cs typeface="Times New Roman" panose="02020603050405020304" pitchFamily="18" charset="0"/>
                                  </a:rPr>
                                  <m:t> </m:t>
                                </m:r>
                                <m:sSub>
                                  <m:sSubPr>
                                    <m:ctrlPr>
                                      <a:rPr lang="en-US" altLang="zh-TW" sz="2000" i="1" smtClean="0">
                                        <a:latin typeface="Cambria Math" panose="02040503050406030204" pitchFamily="18" charset="0"/>
                                      </a:rPr>
                                    </m:ctrlPr>
                                  </m:sSubPr>
                                  <m:e>
                                    <m:r>
                                      <a:rPr lang="en-US" altLang="zh-TW" sz="2000" i="1" smtClean="0">
                                        <a:latin typeface="Cambria Math" panose="02040503050406030204" pitchFamily="18" charset="0"/>
                                      </a:rPr>
                                      <m:t>𝐹</m:t>
                                    </m:r>
                                  </m:e>
                                  <m:sub>
                                    <m:r>
                                      <m:rPr>
                                        <m:sty m:val="p"/>
                                      </m:rPr>
                                      <a:rPr lang="en-US" altLang="zh-TW" sz="2000" smtClean="0">
                                        <a:latin typeface="Cambria Math" panose="02040503050406030204" pitchFamily="18" charset="0"/>
                                      </a:rPr>
                                      <m:t>TLBO</m:t>
                                    </m:r>
                                  </m:sub>
                                </m:sSub>
                                <m:r>
                                  <a:rPr lang="zh-TW" altLang="en-US" sz="2000" i="1" dirty="0" smtClean="0">
                                    <a:solidFill>
                                      <a:schemeClr val="tx1"/>
                                    </a:solidFill>
                                    <a:latin typeface="Cambria Math" panose="02040503050406030204" pitchFamily="18" charset="0"/>
                                  </a:rPr>
                                  <m:t>∈</m:t>
                                </m:r>
                                <m:d>
                                  <m:dPr>
                                    <m:begChr m:val="{"/>
                                    <m:endChr m:val="}"/>
                                    <m:ctrlPr>
                                      <a:rPr lang="zh-TW" altLang="en-US" sz="2000" i="1" dirty="0">
                                        <a:solidFill>
                                          <a:schemeClr val="tx1"/>
                                        </a:solidFill>
                                        <a:latin typeface="Cambria Math" panose="02040503050406030204" pitchFamily="18" charset="0"/>
                                      </a:rPr>
                                    </m:ctrlPr>
                                  </m:dPr>
                                  <m:e>
                                    <m:r>
                                      <a:rPr lang="zh-TW" altLang="en-US" sz="2000" i="0" dirty="0">
                                        <a:solidFill>
                                          <a:schemeClr val="tx1"/>
                                        </a:solidFill>
                                        <a:latin typeface="Cambria Math" panose="02040503050406030204" pitchFamily="18" charset="0"/>
                                      </a:rPr>
                                      <m:t>1,2</m:t>
                                    </m:r>
                                  </m:e>
                                </m:d>
                              </m:oMath>
                            </m:oMathPara>
                          </a14:m>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209319483"/>
                      </a:ext>
                    </a:extLst>
                  </a:tr>
                  <a:tr h="8491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latin typeface="Times New Roman" panose="02020603050405020304" pitchFamily="18" charset="0"/>
                              <a:cs typeface="Times New Roman" panose="02020603050405020304" pitchFamily="18" charset="0"/>
                            </a:rPr>
                            <a:t>TLBO-based PSO+GA</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a:txBody>
                        <a:bodyPr/>
                        <a:lstStyle/>
                        <a:p>
                          <a:pPr/>
                          <a14:m>
                            <m:oMathPara xmlns:m="http://schemas.openxmlformats.org/officeDocument/2006/math">
                              <m:oMathParaPr>
                                <m:jc m:val="centerGroup"/>
                              </m:oMathParaPr>
                              <m:oMath xmlns:m="http://schemas.openxmlformats.org/officeDocument/2006/math">
                                <m:sSub>
                                  <m:sSubPr>
                                    <m:ctrlPr>
                                      <a:rPr lang="zh-TW" altLang="en-US" sz="2000" i="1" smtClean="0">
                                        <a:latin typeface="Cambria Math" panose="02040503050406030204" pitchFamily="18" charset="0"/>
                                      </a:rPr>
                                    </m:ctrlPr>
                                  </m:sSubPr>
                                  <m:e>
                                    <m:r>
                                      <a:rPr lang="en-US" altLang="zh-TW" sz="2000" i="1">
                                        <a:latin typeface="Cambria Math" panose="02040503050406030204" pitchFamily="18" charset="0"/>
                                      </a:rPr>
                                      <m:t>𝑐</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=2,</m:t>
                                </m:r>
                                <m:sSub>
                                  <m:sSubPr>
                                    <m:ctrlPr>
                                      <a:rPr lang="zh-TW" altLang="en-US" sz="2000" i="1" smtClean="0">
                                        <a:latin typeface="Cambria Math" panose="02040503050406030204" pitchFamily="18" charset="0"/>
                                      </a:rPr>
                                    </m:ctrlPr>
                                  </m:sSubPr>
                                  <m:e>
                                    <m:r>
                                      <a:rPr lang="en-US" altLang="zh-TW" sz="2000" i="1">
                                        <a:latin typeface="Cambria Math" panose="02040503050406030204" pitchFamily="18" charset="0"/>
                                      </a:rPr>
                                      <m:t>𝑐</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=1, </m:t>
                                </m:r>
                                <m:r>
                                  <a:rPr lang="en-US" altLang="zh-TW" sz="2000" b="0" i="1" smtClean="0">
                                    <a:latin typeface="Cambria Math" panose="02040503050406030204" pitchFamily="18" charset="0"/>
                                  </a:rPr>
                                  <m:t>𝑤</m:t>
                                </m:r>
                                <m:r>
                                  <a:rPr lang="en-US" altLang="zh-TW" sz="2000" b="0" i="1" smtClean="0">
                                    <a:latin typeface="Cambria Math" panose="02040503050406030204" pitchFamily="18" charset="0"/>
                                  </a:rPr>
                                  <m:t>=0.9</m:t>
                                </m:r>
                              </m:oMath>
                            </m:oMathPara>
                          </a14:m>
                          <a:endParaRPr lang="en-US" altLang="zh-TW" sz="2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000" b="0" i="1" smtClean="0">
                                    <a:effectLst/>
                                    <a:latin typeface="Cambria Math" panose="02040503050406030204" pitchFamily="18" charset="0"/>
                                    <a:ea typeface="+mn-ea"/>
                                    <a:cs typeface="Times New Roman" panose="02020603050405020304" pitchFamily="18" charset="0"/>
                                  </a:rPr>
                                  <m:t>𝑎𝑛𝑑</m:t>
                                </m:r>
                                <m:r>
                                  <a:rPr lang="en-US" altLang="zh-TW" sz="2000" b="0" i="1" smtClean="0">
                                    <a:effectLst/>
                                    <a:latin typeface="Cambria Math" panose="02040503050406030204" pitchFamily="18" charset="0"/>
                                    <a:ea typeface="+mn-ea"/>
                                    <a:cs typeface="Times New Roman" panose="02020603050405020304" pitchFamily="18" charset="0"/>
                                  </a:rPr>
                                  <m:t> </m:t>
                                </m:r>
                                <m:sSub>
                                  <m:sSubPr>
                                    <m:ctrlPr>
                                      <a:rPr lang="en-US" altLang="zh-TW" sz="2000" i="1" smtClean="0">
                                        <a:latin typeface="Cambria Math" panose="02040503050406030204" pitchFamily="18" charset="0"/>
                                      </a:rPr>
                                    </m:ctrlPr>
                                  </m:sSubPr>
                                  <m:e>
                                    <m:r>
                                      <a:rPr lang="en-US" altLang="zh-TW" sz="2000" i="1" smtClean="0">
                                        <a:latin typeface="Cambria Math" panose="02040503050406030204" pitchFamily="18" charset="0"/>
                                      </a:rPr>
                                      <m:t>𝐹</m:t>
                                    </m:r>
                                  </m:e>
                                  <m:sub>
                                    <m:r>
                                      <m:rPr>
                                        <m:sty m:val="p"/>
                                      </m:rPr>
                                      <a:rPr lang="en-US" altLang="zh-TW" sz="2000" smtClean="0">
                                        <a:latin typeface="Cambria Math" panose="02040503050406030204" pitchFamily="18" charset="0"/>
                                      </a:rPr>
                                      <m:t>TLBO</m:t>
                                    </m:r>
                                  </m:sub>
                                </m:sSub>
                                <m:r>
                                  <a:rPr lang="zh-TW" altLang="en-US" sz="2000" i="1" dirty="0" smtClean="0">
                                    <a:solidFill>
                                      <a:schemeClr val="tx1"/>
                                    </a:solidFill>
                                    <a:latin typeface="Cambria Math" panose="02040503050406030204" pitchFamily="18" charset="0"/>
                                  </a:rPr>
                                  <m:t>∈</m:t>
                                </m:r>
                                <m:d>
                                  <m:dPr>
                                    <m:begChr m:val="{"/>
                                    <m:endChr m:val="}"/>
                                    <m:ctrlPr>
                                      <a:rPr lang="zh-TW" altLang="en-US" sz="2000" i="1" dirty="0">
                                        <a:solidFill>
                                          <a:schemeClr val="tx1"/>
                                        </a:solidFill>
                                        <a:latin typeface="Cambria Math" panose="02040503050406030204" pitchFamily="18" charset="0"/>
                                      </a:rPr>
                                    </m:ctrlPr>
                                  </m:dPr>
                                  <m:e>
                                    <m:r>
                                      <a:rPr lang="zh-TW" altLang="en-US" sz="2000" i="0" dirty="0">
                                        <a:solidFill>
                                          <a:schemeClr val="tx1"/>
                                        </a:solidFill>
                                        <a:latin typeface="Cambria Math" panose="02040503050406030204" pitchFamily="18" charset="0"/>
                                      </a:rPr>
                                      <m:t>1,2</m:t>
                                    </m:r>
                                  </m:e>
                                </m:d>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14901458"/>
                      </a:ext>
                    </a:extLst>
                  </a:tr>
                  <a:tr h="10562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latin typeface="Times New Roman" panose="02020603050405020304" pitchFamily="18" charset="0"/>
                              <a:cs typeface="Times New Roman" panose="02020603050405020304" pitchFamily="18" charset="0"/>
                            </a:rPr>
                            <a:t>PSO+TLBO with diversity-guided</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14:m>
                            <m:oMathPara xmlns:m="http://schemas.openxmlformats.org/officeDocument/2006/math">
                              <m:oMathParaPr>
                                <m:jc m:val="centerGroup"/>
                              </m:oMathParaPr>
                              <m:oMath xmlns:m="http://schemas.openxmlformats.org/officeDocument/2006/math">
                                <m:sSub>
                                  <m:sSubPr>
                                    <m:ctrlPr>
                                      <a:rPr lang="zh-TW" altLang="en-US" sz="2000" i="1" smtClean="0">
                                        <a:latin typeface="Cambria Math" panose="02040503050406030204" pitchFamily="18" charset="0"/>
                                      </a:rPr>
                                    </m:ctrlPr>
                                  </m:sSubPr>
                                  <m:e>
                                    <m:r>
                                      <a:rPr lang="en-US" altLang="zh-TW" sz="2000" i="1">
                                        <a:latin typeface="Cambria Math" panose="02040503050406030204" pitchFamily="18" charset="0"/>
                                      </a:rPr>
                                      <m:t>𝑐</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=2,</m:t>
                                </m:r>
                                <m:sSub>
                                  <m:sSubPr>
                                    <m:ctrlPr>
                                      <a:rPr lang="zh-TW" altLang="en-US" sz="2000" i="1" smtClean="0">
                                        <a:latin typeface="Cambria Math" panose="02040503050406030204" pitchFamily="18" charset="0"/>
                                      </a:rPr>
                                    </m:ctrlPr>
                                  </m:sSubPr>
                                  <m:e>
                                    <m:r>
                                      <a:rPr lang="en-US" altLang="zh-TW" sz="2000" i="1">
                                        <a:latin typeface="Cambria Math" panose="02040503050406030204" pitchFamily="18" charset="0"/>
                                      </a:rPr>
                                      <m:t>𝑐</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=1, </m:t>
                                </m:r>
                                <m:r>
                                  <a:rPr lang="en-US" altLang="zh-TW" sz="2000" b="0" i="1" smtClean="0">
                                    <a:latin typeface="Cambria Math" panose="02040503050406030204" pitchFamily="18" charset="0"/>
                                  </a:rPr>
                                  <m:t>𝑤</m:t>
                                </m:r>
                                <m:r>
                                  <a:rPr lang="en-US" altLang="zh-TW" sz="2000" b="0" i="1" smtClean="0">
                                    <a:latin typeface="Cambria Math" panose="02040503050406030204" pitchFamily="18" charset="0"/>
                                  </a:rPr>
                                  <m:t>=0.9</m:t>
                                </m:r>
                              </m:oMath>
                            </m:oMathPara>
                          </a14:m>
                          <a:endParaRPr lang="en-US" altLang="zh-TW" sz="2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000" b="0" i="1" smtClean="0">
                                    <a:effectLst/>
                                    <a:latin typeface="Cambria Math" panose="02040503050406030204" pitchFamily="18" charset="0"/>
                                    <a:ea typeface="+mn-ea"/>
                                    <a:cs typeface="Times New Roman" panose="02020603050405020304" pitchFamily="18" charset="0"/>
                                  </a:rPr>
                                  <m:t>𝑎𝑛𝑑</m:t>
                                </m:r>
                                <m:r>
                                  <a:rPr lang="en-US" altLang="zh-TW" sz="2000" b="0" i="1" smtClean="0">
                                    <a:effectLst/>
                                    <a:latin typeface="Cambria Math" panose="02040503050406030204" pitchFamily="18" charset="0"/>
                                    <a:ea typeface="+mn-ea"/>
                                    <a:cs typeface="Times New Roman" panose="02020603050405020304" pitchFamily="18" charset="0"/>
                                  </a:rPr>
                                  <m:t> </m:t>
                                </m:r>
                                <m:sSub>
                                  <m:sSubPr>
                                    <m:ctrlPr>
                                      <a:rPr lang="en-US" altLang="zh-TW" sz="2000" i="1" smtClean="0">
                                        <a:latin typeface="Cambria Math" panose="02040503050406030204" pitchFamily="18" charset="0"/>
                                      </a:rPr>
                                    </m:ctrlPr>
                                  </m:sSubPr>
                                  <m:e>
                                    <m:r>
                                      <a:rPr lang="en-US" altLang="zh-TW" sz="2000" i="1" smtClean="0">
                                        <a:latin typeface="Cambria Math" panose="02040503050406030204" pitchFamily="18" charset="0"/>
                                      </a:rPr>
                                      <m:t>𝐹</m:t>
                                    </m:r>
                                  </m:e>
                                  <m:sub>
                                    <m:r>
                                      <m:rPr>
                                        <m:sty m:val="p"/>
                                      </m:rPr>
                                      <a:rPr lang="en-US" altLang="zh-TW" sz="2000" smtClean="0">
                                        <a:latin typeface="Cambria Math" panose="02040503050406030204" pitchFamily="18" charset="0"/>
                                      </a:rPr>
                                      <m:t>TLBO</m:t>
                                    </m:r>
                                  </m:sub>
                                </m:sSub>
                                <m:r>
                                  <a:rPr lang="zh-TW" altLang="en-US" sz="2000" i="1" dirty="0" smtClean="0">
                                    <a:solidFill>
                                      <a:schemeClr val="tx1"/>
                                    </a:solidFill>
                                    <a:latin typeface="Cambria Math" panose="02040503050406030204" pitchFamily="18" charset="0"/>
                                  </a:rPr>
                                  <m:t>∈</m:t>
                                </m:r>
                                <m:d>
                                  <m:dPr>
                                    <m:begChr m:val="{"/>
                                    <m:endChr m:val="}"/>
                                    <m:ctrlPr>
                                      <a:rPr lang="zh-TW" altLang="en-US" sz="2000" i="1" dirty="0">
                                        <a:solidFill>
                                          <a:schemeClr val="tx1"/>
                                        </a:solidFill>
                                        <a:latin typeface="Cambria Math" panose="02040503050406030204" pitchFamily="18" charset="0"/>
                                      </a:rPr>
                                    </m:ctrlPr>
                                  </m:dPr>
                                  <m:e>
                                    <m:r>
                                      <a:rPr lang="zh-TW" altLang="en-US" sz="2000" i="0" dirty="0">
                                        <a:solidFill>
                                          <a:schemeClr val="tx1"/>
                                        </a:solidFill>
                                        <a:latin typeface="Cambria Math" panose="02040503050406030204" pitchFamily="18" charset="0"/>
                                      </a:rPr>
                                      <m:t>1,2</m:t>
                                    </m:r>
                                  </m:e>
                                </m:d>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01020701"/>
                      </a:ext>
                    </a:extLst>
                  </a:tr>
                </a:tbl>
              </a:graphicData>
            </a:graphic>
          </p:graphicFrame>
        </mc:Choice>
        <mc:Fallback xmlns="">
          <p:graphicFrame>
            <p:nvGraphicFramePr>
              <p:cNvPr id="2" name="表格 2">
                <a:extLst>
                  <a:ext uri="{FF2B5EF4-FFF2-40B4-BE49-F238E27FC236}">
                    <a16:creationId xmlns:a16="http://schemas.microsoft.com/office/drawing/2014/main" id="{EF58BC10-F412-45B2-B9B7-4FA37487D309}"/>
                  </a:ext>
                </a:extLst>
              </p:cNvPr>
              <p:cNvGraphicFramePr>
                <a:graphicFrameLocks noGrp="1"/>
              </p:cNvGraphicFramePr>
              <p:nvPr>
                <p:extLst>
                  <p:ext uri="{D42A27DB-BD31-4B8C-83A1-F6EECF244321}">
                    <p14:modId xmlns:p14="http://schemas.microsoft.com/office/powerpoint/2010/main" val="342379559"/>
                  </p:ext>
                </p:extLst>
              </p:nvPr>
            </p:nvGraphicFramePr>
            <p:xfrm>
              <a:off x="194094" y="1797914"/>
              <a:ext cx="8755811" cy="4529884"/>
            </p:xfrm>
            <a:graphic>
              <a:graphicData uri="http://schemas.openxmlformats.org/drawingml/2006/table">
                <a:tbl>
                  <a:tblPr firstRow="1" bandRow="1">
                    <a:tableStyleId>{5C22544A-7EE6-4342-B048-85BDC9FD1C3A}</a:tableStyleId>
                  </a:tblPr>
                  <a:tblGrid>
                    <a:gridCol w="1751162">
                      <a:extLst>
                        <a:ext uri="{9D8B030D-6E8A-4147-A177-3AD203B41FA5}">
                          <a16:colId xmlns:a16="http://schemas.microsoft.com/office/drawing/2014/main" val="4288372547"/>
                        </a:ext>
                      </a:extLst>
                    </a:gridCol>
                    <a:gridCol w="1352002">
                      <a:extLst>
                        <a:ext uri="{9D8B030D-6E8A-4147-A177-3AD203B41FA5}">
                          <a16:colId xmlns:a16="http://schemas.microsoft.com/office/drawing/2014/main" val="3322664056"/>
                        </a:ext>
                      </a:extLst>
                    </a:gridCol>
                    <a:gridCol w="1296144">
                      <a:extLst>
                        <a:ext uri="{9D8B030D-6E8A-4147-A177-3AD203B41FA5}">
                          <a16:colId xmlns:a16="http://schemas.microsoft.com/office/drawing/2014/main" val="234104698"/>
                        </a:ext>
                      </a:extLst>
                    </a:gridCol>
                    <a:gridCol w="2700980">
                      <a:extLst>
                        <a:ext uri="{9D8B030D-6E8A-4147-A177-3AD203B41FA5}">
                          <a16:colId xmlns:a16="http://schemas.microsoft.com/office/drawing/2014/main" val="2559713900"/>
                        </a:ext>
                      </a:extLst>
                    </a:gridCol>
                    <a:gridCol w="1655523">
                      <a:extLst>
                        <a:ext uri="{9D8B030D-6E8A-4147-A177-3AD203B41FA5}">
                          <a16:colId xmlns:a16="http://schemas.microsoft.com/office/drawing/2014/main" val="3590374534"/>
                        </a:ext>
                      </a:extLst>
                    </a:gridCol>
                  </a:tblGrid>
                  <a:tr h="736146">
                    <a:tc>
                      <a:txBody>
                        <a:bodyPr/>
                        <a:lstStyle/>
                        <a:p>
                          <a:pPr algn="ctr"/>
                          <a:r>
                            <a:rPr lang="en-US" altLang="zh-TW" sz="2000" b="0" dirty="0">
                              <a:solidFill>
                                <a:sysClr val="windowText" lastClr="000000"/>
                              </a:solidFill>
                              <a:latin typeface="Times New Roman" panose="02020603050405020304" pitchFamily="18" charset="0"/>
                              <a:cs typeface="Times New Roman" panose="02020603050405020304" pitchFamily="18" charset="0"/>
                            </a:rPr>
                            <a:t>Algorithm</a:t>
                          </a:r>
                          <a:endParaRPr lang="zh-TW" altLang="en-US" sz="2000" b="0"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Generation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Population size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Parameters</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Termination</a:t>
                          </a:r>
                        </a:p>
                        <a:p>
                          <a:pPr algn="ctr"/>
                          <a:r>
                            <a:rPr lang="en-US" altLang="zh-TW" sz="2000" b="0" dirty="0">
                              <a:solidFill>
                                <a:schemeClr val="tx1"/>
                              </a:solidFill>
                              <a:latin typeface="Times New Roman" panose="02020603050405020304" pitchFamily="18" charset="0"/>
                              <a:cs typeface="Times New Roman" panose="02020603050405020304" pitchFamily="18" charset="0"/>
                            </a:rPr>
                            <a:t>condition</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328334"/>
                      </a:ext>
                    </a:extLst>
                  </a:tr>
                  <a:tr h="4160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latin typeface="Times New Roman" panose="02020603050405020304" pitchFamily="18" charset="0"/>
                              <a:cs typeface="Times New Roman" panose="02020603050405020304" pitchFamily="18" charset="0"/>
                            </a:rPr>
                            <a:t>EGA+TLBO</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dirty="0">
                              <a:solidFill>
                                <a:schemeClr val="tx1"/>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3431" t="-180882" r="-61851" b="-836765"/>
                          </a:stretch>
                        </a:blip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dirty="0">
                              <a:solidFill>
                                <a:schemeClr val="tx1"/>
                              </a:solidFill>
                              <a:latin typeface="Times New Roman" panose="02020603050405020304" pitchFamily="18" charset="0"/>
                              <a:cs typeface="Times New Roman" panose="02020603050405020304" pitchFamily="18" charset="0"/>
                            </a:rPr>
                            <a:t>number of generations is reached</a:t>
                          </a:r>
                          <a:endParaRPr lang="zh-TW" altLang="en-US" sz="2000" dirty="0">
                            <a:solidFill>
                              <a:schemeClr val="tx1"/>
                            </a:solidFill>
                            <a:latin typeface="Times New Roman" panose="02020603050405020304" pitchFamily="18" charset="0"/>
                            <a:cs typeface="Times New Roman" panose="02020603050405020304" pitchFamily="18" charset="0"/>
                          </a:endParaRPr>
                        </a:p>
                        <a:p>
                          <a:pPr algn="ctr"/>
                          <a:endParaRPr lang="zh-TW" alt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2809314"/>
                      </a:ext>
                    </a:extLst>
                  </a:tr>
                  <a:tr h="736146">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GA+TLBO</a:t>
                          </a: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tc>
                    <a:tc vMerge="1">
                      <a:txBody>
                        <a:bodyPr/>
                        <a:lstStyle/>
                        <a:p>
                          <a:endParaRPr lang="zh-TW" altLang="en-US"/>
                        </a:p>
                      </a:txBody>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3431" t="-156557" r="-61851" b="-366393"/>
                          </a:stretch>
                        </a:blipFill>
                      </a:tcPr>
                    </a:tc>
                    <a:tc vMerge="1">
                      <a:txBody>
                        <a:bodyPr/>
                        <a:lstStyle/>
                        <a:p>
                          <a:endParaRPr lang="zh-TW" altLang="en-US"/>
                        </a:p>
                      </a:txBody>
                      <a:tcPr/>
                    </a:tc>
                    <a:extLst>
                      <a:ext uri="{0D108BD9-81ED-4DB2-BD59-A6C34878D82A}">
                        <a16:rowId xmlns:a16="http://schemas.microsoft.com/office/drawing/2014/main" val="2681536065"/>
                      </a:ext>
                    </a:extLst>
                  </a:tr>
                  <a:tr h="736146">
                    <a:tc>
                      <a:txBody>
                        <a:bodyPr/>
                        <a:lstStyle/>
                        <a:p>
                          <a:pPr algn="ctr"/>
                          <a:r>
                            <a:rPr lang="en-US" altLang="zh-TW" sz="2000" b="0" dirty="0">
                              <a:solidFill>
                                <a:schemeClr val="tx1"/>
                              </a:solidFill>
                              <a:latin typeface="Times New Roman" panose="02020603050405020304" pitchFamily="18" charset="0"/>
                              <a:cs typeface="Times New Roman" panose="02020603050405020304" pitchFamily="18" charset="0"/>
                            </a:rPr>
                            <a:t>PSO+TLBO</a:t>
                          </a: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tcPr>
                    </a:tc>
                    <a:tc vMerge="1">
                      <a:txBody>
                        <a:bodyPr/>
                        <a:lstStyle/>
                        <a:p>
                          <a:endParaRPr lang="zh-TW" altLang="en-US"/>
                        </a:p>
                      </a:txBody>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3431" t="-258678" r="-61851" b="-269421"/>
                          </a:stretch>
                        </a:blipFill>
                      </a:tcPr>
                    </a:tc>
                    <a:tc vMerge="1">
                      <a:txBody>
                        <a:bodyPr/>
                        <a:lstStyle/>
                        <a:p>
                          <a:endParaRPr lang="zh-TW"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209319483"/>
                      </a:ext>
                    </a:extLst>
                  </a:tr>
                  <a:tr h="8491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latin typeface="Times New Roman" panose="02020603050405020304" pitchFamily="18" charset="0"/>
                              <a:cs typeface="Times New Roman" panose="02020603050405020304" pitchFamily="18" charset="0"/>
                            </a:rPr>
                            <a:t>TLBO-based PSO+GA</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zh-TW" altLang="en-US"/>
                        </a:p>
                      </a:txBody>
                      <a:tcPr>
                        <a:lnT w="12700" cap="flat" cmpd="sng" algn="ctr">
                          <a:solidFill>
                            <a:schemeClr val="tx1"/>
                          </a:solidFill>
                          <a:prstDash val="solid"/>
                          <a:round/>
                          <a:headEnd type="none" w="med" len="med"/>
                          <a:tailEnd type="none" w="med" len="med"/>
                        </a:lnT>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3431" t="-312230" r="-61851" b="-134532"/>
                          </a:stretch>
                        </a:blip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14901458"/>
                      </a:ext>
                    </a:extLst>
                  </a:tr>
                  <a:tr h="10562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latin typeface="Times New Roman" panose="02020603050405020304" pitchFamily="18" charset="0"/>
                              <a:cs typeface="Times New Roman" panose="02020603050405020304" pitchFamily="18" charset="0"/>
                            </a:rPr>
                            <a:t>PSO+TLBO with diversity-guided</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3431" t="-329310" r="-61851" b="-7471"/>
                          </a:stretch>
                        </a:blipFill>
                      </a:tcPr>
                    </a:tc>
                    <a:tc v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01020701"/>
                      </a:ext>
                    </a:extLst>
                  </a:tr>
                </a:tbl>
              </a:graphicData>
            </a:graphic>
          </p:graphicFrame>
        </mc:Fallback>
      </mc:AlternateContent>
      <p:sp>
        <p:nvSpPr>
          <p:cNvPr id="5" name="投影片編號版面配置區 4">
            <a:extLst>
              <a:ext uri="{FF2B5EF4-FFF2-40B4-BE49-F238E27FC236}">
                <a16:creationId xmlns:a16="http://schemas.microsoft.com/office/drawing/2014/main" id="{D6E3DD1E-5639-4DEA-89E3-4BD5A50133D6}"/>
              </a:ext>
            </a:extLst>
          </p:cNvPr>
          <p:cNvSpPr>
            <a:spLocks noGrp="1"/>
          </p:cNvSpPr>
          <p:nvPr>
            <p:ph type="sldNum" sz="quarter" idx="12"/>
          </p:nvPr>
        </p:nvSpPr>
        <p:spPr/>
        <p:txBody>
          <a:bodyPr/>
          <a:lstStyle/>
          <a:p>
            <a:fld id="{04C04D6A-2E29-441A-A244-9F1014899F6D}" type="slidenum">
              <a:rPr lang="zh-TW" altLang="en-US" smtClean="0"/>
              <a:pPr/>
              <a:t>20</a:t>
            </a:fld>
            <a:endParaRPr lang="zh-TW" altLang="en-US"/>
          </a:p>
        </p:txBody>
      </p:sp>
    </p:spTree>
    <p:extLst>
      <p:ext uri="{BB962C8B-B14F-4D97-AF65-F5344CB8AC3E}">
        <p14:creationId xmlns:p14="http://schemas.microsoft.com/office/powerpoint/2010/main" val="41213469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E1424F0-FF02-48AC-B1E6-82FE0F6A28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2408" y="957164"/>
            <a:ext cx="7279183" cy="5955696"/>
          </a:xfrm>
          <a:prstGeom prst="rect">
            <a:avLst/>
          </a:prstGeom>
        </p:spPr>
      </p:pic>
      <p:sp>
        <p:nvSpPr>
          <p:cNvPr id="11" name="文字方塊 10">
            <a:extLst>
              <a:ext uri="{FF2B5EF4-FFF2-40B4-BE49-F238E27FC236}">
                <a16:creationId xmlns:a16="http://schemas.microsoft.com/office/drawing/2014/main" id="{F7024DF5-78FF-4A3F-B7F4-E9879D39926E}"/>
              </a:ext>
            </a:extLst>
          </p:cNvPr>
          <p:cNvSpPr txBox="1"/>
          <p:nvPr/>
        </p:nvSpPr>
        <p:spPr>
          <a:xfrm>
            <a:off x="379596" y="19630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69240B1A-B940-491E-879C-BB8B2134FBED}"/>
              </a:ext>
            </a:extLst>
          </p:cNvPr>
          <p:cNvSpPr/>
          <p:nvPr/>
        </p:nvSpPr>
        <p:spPr>
          <a:xfrm>
            <a:off x="379596" y="908720"/>
            <a:ext cx="8127800" cy="830997"/>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Primitive e</a:t>
            </a:r>
            <a:r>
              <a:rPr lang="en-US" altLang="zh-TW" sz="2400" dirty="0">
                <a:latin typeface="Times New Roman" panose="02020603050405020304" pitchFamily="18" charset="0"/>
                <a:cs typeface="Times New Roman" panose="02020603050405020304" pitchFamily="18" charset="0"/>
              </a:rPr>
              <a:t>xperiment</a:t>
            </a:r>
            <a:r>
              <a:rPr lang="en-US" altLang="zh-TW" sz="2400" b="1" dirty="0">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result (30 disjointed small datasets)</a:t>
            </a:r>
          </a:p>
          <a:p>
            <a:pPr marL="342900" indent="-342900">
              <a:buFont typeface="Arial" panose="020B0604020202020204" pitchFamily="34" charset="0"/>
              <a:buChar char="•"/>
            </a:pPr>
            <a:endParaRPr lang="en-US" altLang="zh-TW" sz="2400" dirty="0">
              <a:solidFill>
                <a:srgbClr val="222222"/>
              </a:solidFill>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36928F8B-8F06-4282-AEF2-B701ECEDC71B}"/>
              </a:ext>
            </a:extLst>
          </p:cNvPr>
          <p:cNvSpPr>
            <a:spLocks noGrp="1"/>
          </p:cNvSpPr>
          <p:nvPr>
            <p:ph type="sldNum" sz="quarter" idx="12"/>
          </p:nvPr>
        </p:nvSpPr>
        <p:spPr/>
        <p:txBody>
          <a:bodyPr/>
          <a:lstStyle/>
          <a:p>
            <a:fld id="{04C04D6A-2E29-441A-A244-9F1014899F6D}" type="slidenum">
              <a:rPr lang="zh-TW" altLang="en-US" smtClean="0"/>
              <a:pPr/>
              <a:t>21</a:t>
            </a:fld>
            <a:endParaRPr lang="zh-TW" altLang="en-US"/>
          </a:p>
        </p:txBody>
      </p:sp>
    </p:spTree>
    <p:extLst>
      <p:ext uri="{BB962C8B-B14F-4D97-AF65-F5344CB8AC3E}">
        <p14:creationId xmlns:p14="http://schemas.microsoft.com/office/powerpoint/2010/main" val="1975423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79596" y="26072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76D51E34-1300-4970-8EFF-345DE1035DC5}"/>
              </a:ext>
            </a:extLst>
          </p:cNvPr>
          <p:cNvSpPr/>
          <p:nvPr/>
        </p:nvSpPr>
        <p:spPr>
          <a:xfrm>
            <a:off x="379596" y="1221049"/>
            <a:ext cx="8127800" cy="461665"/>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10-fold cross-validation for 5 times</a:t>
            </a:r>
          </a:p>
        </p:txBody>
      </p:sp>
      <p:sp>
        <p:nvSpPr>
          <p:cNvPr id="4" name="投影片編號版面配置區 3">
            <a:extLst>
              <a:ext uri="{FF2B5EF4-FFF2-40B4-BE49-F238E27FC236}">
                <a16:creationId xmlns:a16="http://schemas.microsoft.com/office/drawing/2014/main" id="{2C4A467E-49A1-4C47-AD53-4E4D01DC3BD5}"/>
              </a:ext>
            </a:extLst>
          </p:cNvPr>
          <p:cNvSpPr>
            <a:spLocks noGrp="1"/>
          </p:cNvSpPr>
          <p:nvPr>
            <p:ph type="sldNum" sz="quarter" idx="12"/>
          </p:nvPr>
        </p:nvSpPr>
        <p:spPr/>
        <p:txBody>
          <a:bodyPr/>
          <a:lstStyle/>
          <a:p>
            <a:fld id="{04C04D6A-2E29-441A-A244-9F1014899F6D}" type="slidenum">
              <a:rPr lang="zh-TW" altLang="en-US" smtClean="0"/>
              <a:pPr/>
              <a:t>22</a:t>
            </a:fld>
            <a:endParaRPr lang="zh-TW" altLang="en-US"/>
          </a:p>
        </p:txBody>
      </p:sp>
      <p:graphicFrame>
        <p:nvGraphicFramePr>
          <p:cNvPr id="8" name="表格 7">
            <a:extLst>
              <a:ext uri="{FF2B5EF4-FFF2-40B4-BE49-F238E27FC236}">
                <a16:creationId xmlns:a16="http://schemas.microsoft.com/office/drawing/2014/main" id="{2B755477-14D4-4572-BC06-BB15389CF7FF}"/>
              </a:ext>
            </a:extLst>
          </p:cNvPr>
          <p:cNvGraphicFramePr>
            <a:graphicFrameLocks noGrp="1"/>
          </p:cNvGraphicFramePr>
          <p:nvPr>
            <p:extLst>
              <p:ext uri="{D42A27DB-BD31-4B8C-83A1-F6EECF244321}">
                <p14:modId xmlns:p14="http://schemas.microsoft.com/office/powerpoint/2010/main" val="1443109795"/>
              </p:ext>
            </p:extLst>
          </p:nvPr>
        </p:nvGraphicFramePr>
        <p:xfrm>
          <a:off x="1331640" y="1935151"/>
          <a:ext cx="6336705" cy="547337"/>
        </p:xfrm>
        <a:graphic>
          <a:graphicData uri="http://schemas.openxmlformats.org/drawingml/2006/table">
            <a:tbl>
              <a:tblPr firstRow="1" bandRow="1">
                <a:tableStyleId>{5C22544A-7EE6-4342-B048-85BDC9FD1C3A}</a:tableStyleId>
              </a:tblPr>
              <a:tblGrid>
                <a:gridCol w="2566767">
                  <a:extLst>
                    <a:ext uri="{9D8B030D-6E8A-4147-A177-3AD203B41FA5}">
                      <a16:colId xmlns:a16="http://schemas.microsoft.com/office/drawing/2014/main" val="3504849097"/>
                    </a:ext>
                  </a:extLst>
                </a:gridCol>
                <a:gridCol w="2165709">
                  <a:extLst>
                    <a:ext uri="{9D8B030D-6E8A-4147-A177-3AD203B41FA5}">
                      <a16:colId xmlns:a16="http://schemas.microsoft.com/office/drawing/2014/main" val="621468811"/>
                    </a:ext>
                  </a:extLst>
                </a:gridCol>
                <a:gridCol w="1604229">
                  <a:extLst>
                    <a:ext uri="{9D8B030D-6E8A-4147-A177-3AD203B41FA5}">
                      <a16:colId xmlns:a16="http://schemas.microsoft.com/office/drawing/2014/main" val="3995943756"/>
                    </a:ext>
                  </a:extLst>
                </a:gridCol>
              </a:tblGrid>
              <a:tr h="5473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LD</a:t>
                      </a:r>
                      <a:r>
                        <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400" dirty="0">
                          <a:solidFill>
                            <a:schemeClr val="tx1"/>
                          </a:solidFill>
                          <a:latin typeface="Times New Roman" panose="02020603050405020304" pitchFamily="18" charset="0"/>
                          <a:cs typeface="Times New Roman" panose="02020603050405020304" pitchFamily="18" charset="0"/>
                        </a:rPr>
                        <a:t>27832</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MD</a:t>
                      </a:r>
                      <a:r>
                        <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400" dirty="0">
                          <a:solidFill>
                            <a:schemeClr val="tx1"/>
                          </a:solidFill>
                          <a:latin typeface="Times New Roman" panose="02020603050405020304" pitchFamily="18" charset="0"/>
                          <a:cs typeface="Times New Roman" panose="02020603050405020304" pitchFamily="18" charset="0"/>
                        </a:rPr>
                        <a:t>5029</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HD</a:t>
                      </a:r>
                      <a:r>
                        <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400" dirty="0">
                          <a:solidFill>
                            <a:schemeClr val="tx1"/>
                          </a:solidFill>
                          <a:latin typeface="Times New Roman" panose="02020603050405020304" pitchFamily="18" charset="0"/>
                          <a:cs typeface="Times New Roman" panose="02020603050405020304" pitchFamily="18" charset="0"/>
                        </a:rPr>
                        <a:t>3637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lumMod val="85000"/>
                      </a:schemeClr>
                    </a:solidFill>
                  </a:tcPr>
                </a:tc>
                <a:extLst>
                  <a:ext uri="{0D108BD9-81ED-4DB2-BD59-A6C34878D82A}">
                    <a16:rowId xmlns:a16="http://schemas.microsoft.com/office/drawing/2014/main" val="4037527113"/>
                  </a:ext>
                </a:extLst>
              </a:tr>
            </a:tbl>
          </a:graphicData>
        </a:graphic>
      </p:graphicFrame>
      <p:sp>
        <p:nvSpPr>
          <p:cNvPr id="2" name="箭號: 向右 1">
            <a:extLst>
              <a:ext uri="{FF2B5EF4-FFF2-40B4-BE49-F238E27FC236}">
                <a16:creationId xmlns:a16="http://schemas.microsoft.com/office/drawing/2014/main" id="{3E309512-764F-4011-BBBE-955F07E10EA0}"/>
              </a:ext>
            </a:extLst>
          </p:cNvPr>
          <p:cNvSpPr/>
          <p:nvPr/>
        </p:nvSpPr>
        <p:spPr>
          <a:xfrm rot="5400000">
            <a:off x="4340306" y="2650803"/>
            <a:ext cx="390904" cy="29947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3" name="表格 9">
            <a:extLst>
              <a:ext uri="{FF2B5EF4-FFF2-40B4-BE49-F238E27FC236}">
                <a16:creationId xmlns:a16="http://schemas.microsoft.com/office/drawing/2014/main" id="{FF67893B-C108-4A53-A4C6-EF1013DF47B9}"/>
              </a:ext>
            </a:extLst>
          </p:cNvPr>
          <p:cNvGraphicFramePr>
            <a:graphicFrameLocks noGrp="1"/>
          </p:cNvGraphicFramePr>
          <p:nvPr>
            <p:extLst>
              <p:ext uri="{D42A27DB-BD31-4B8C-83A1-F6EECF244321}">
                <p14:modId xmlns:p14="http://schemas.microsoft.com/office/powerpoint/2010/main" val="4019300584"/>
              </p:ext>
            </p:extLst>
          </p:nvPr>
        </p:nvGraphicFramePr>
        <p:xfrm>
          <a:off x="1331639" y="3165944"/>
          <a:ext cx="6336710" cy="370840"/>
        </p:xfrm>
        <a:graphic>
          <a:graphicData uri="http://schemas.openxmlformats.org/drawingml/2006/table">
            <a:tbl>
              <a:tblPr firstRow="1" bandRow="1">
                <a:tableStyleId>{5C22544A-7EE6-4342-B048-85BDC9FD1C3A}</a:tableStyleId>
              </a:tblPr>
              <a:tblGrid>
                <a:gridCol w="633671">
                  <a:extLst>
                    <a:ext uri="{9D8B030D-6E8A-4147-A177-3AD203B41FA5}">
                      <a16:colId xmlns:a16="http://schemas.microsoft.com/office/drawing/2014/main" val="3119303618"/>
                    </a:ext>
                  </a:extLst>
                </a:gridCol>
                <a:gridCol w="633671">
                  <a:extLst>
                    <a:ext uri="{9D8B030D-6E8A-4147-A177-3AD203B41FA5}">
                      <a16:colId xmlns:a16="http://schemas.microsoft.com/office/drawing/2014/main" val="3973133582"/>
                    </a:ext>
                  </a:extLst>
                </a:gridCol>
                <a:gridCol w="633671">
                  <a:extLst>
                    <a:ext uri="{9D8B030D-6E8A-4147-A177-3AD203B41FA5}">
                      <a16:colId xmlns:a16="http://schemas.microsoft.com/office/drawing/2014/main" val="2795490448"/>
                    </a:ext>
                  </a:extLst>
                </a:gridCol>
                <a:gridCol w="633671">
                  <a:extLst>
                    <a:ext uri="{9D8B030D-6E8A-4147-A177-3AD203B41FA5}">
                      <a16:colId xmlns:a16="http://schemas.microsoft.com/office/drawing/2014/main" val="3912470882"/>
                    </a:ext>
                  </a:extLst>
                </a:gridCol>
                <a:gridCol w="633671">
                  <a:extLst>
                    <a:ext uri="{9D8B030D-6E8A-4147-A177-3AD203B41FA5}">
                      <a16:colId xmlns:a16="http://schemas.microsoft.com/office/drawing/2014/main" val="3457733941"/>
                    </a:ext>
                  </a:extLst>
                </a:gridCol>
                <a:gridCol w="633671">
                  <a:extLst>
                    <a:ext uri="{9D8B030D-6E8A-4147-A177-3AD203B41FA5}">
                      <a16:colId xmlns:a16="http://schemas.microsoft.com/office/drawing/2014/main" val="4186301698"/>
                    </a:ext>
                  </a:extLst>
                </a:gridCol>
                <a:gridCol w="633671">
                  <a:extLst>
                    <a:ext uri="{9D8B030D-6E8A-4147-A177-3AD203B41FA5}">
                      <a16:colId xmlns:a16="http://schemas.microsoft.com/office/drawing/2014/main" val="3130138473"/>
                    </a:ext>
                  </a:extLst>
                </a:gridCol>
                <a:gridCol w="633671">
                  <a:extLst>
                    <a:ext uri="{9D8B030D-6E8A-4147-A177-3AD203B41FA5}">
                      <a16:colId xmlns:a16="http://schemas.microsoft.com/office/drawing/2014/main" val="3851966815"/>
                    </a:ext>
                  </a:extLst>
                </a:gridCol>
                <a:gridCol w="633671">
                  <a:extLst>
                    <a:ext uri="{9D8B030D-6E8A-4147-A177-3AD203B41FA5}">
                      <a16:colId xmlns:a16="http://schemas.microsoft.com/office/drawing/2014/main" val="2131619690"/>
                    </a:ext>
                  </a:extLst>
                </a:gridCol>
                <a:gridCol w="633671">
                  <a:extLst>
                    <a:ext uri="{9D8B030D-6E8A-4147-A177-3AD203B41FA5}">
                      <a16:colId xmlns:a16="http://schemas.microsoft.com/office/drawing/2014/main" val="1789325710"/>
                    </a:ext>
                  </a:extLst>
                </a:gridCol>
              </a:tblGrid>
              <a:tr h="370840">
                <a:tc>
                  <a:txBody>
                    <a:bodyPr/>
                    <a:lstStyle/>
                    <a:p>
                      <a:pPr algn="ctr"/>
                      <a:r>
                        <a:rPr lang="en-US" altLang="zh-TW" dirty="0">
                          <a:solidFill>
                            <a:schemeClr val="tx1"/>
                          </a:solidFill>
                        </a:rPr>
                        <a:t>D1</a:t>
                      </a:r>
                      <a:endParaRPr lang="zh-TW" altLang="en-US" dirty="0">
                        <a:solidFill>
                          <a:schemeClr val="tx1"/>
                        </a:solidFill>
                      </a:endParaRPr>
                    </a:p>
                  </a:txBody>
                  <a:tcPr>
                    <a:solidFill>
                      <a:srgbClr val="D9D9D9"/>
                    </a:solidFill>
                  </a:tcPr>
                </a:tc>
                <a:tc>
                  <a:txBody>
                    <a:bodyPr/>
                    <a:lstStyle/>
                    <a:p>
                      <a:pPr algn="ctr"/>
                      <a:r>
                        <a:rPr lang="en-US" altLang="zh-TW" dirty="0">
                          <a:solidFill>
                            <a:schemeClr val="tx1"/>
                          </a:solidFill>
                        </a:rPr>
                        <a:t>D2</a:t>
                      </a:r>
                      <a:endParaRPr lang="zh-TW" altLang="en-US" dirty="0"/>
                    </a:p>
                  </a:txBody>
                  <a:tcPr>
                    <a:solidFill>
                      <a:srgbClr val="D9D9D9"/>
                    </a:solidFill>
                  </a:tcPr>
                </a:tc>
                <a:tc>
                  <a:txBody>
                    <a:bodyPr/>
                    <a:lstStyle/>
                    <a:p>
                      <a:pPr algn="ctr"/>
                      <a:r>
                        <a:rPr lang="en-US" altLang="zh-TW" dirty="0">
                          <a:solidFill>
                            <a:schemeClr val="tx1"/>
                          </a:solidFill>
                        </a:rPr>
                        <a:t>D3</a:t>
                      </a:r>
                      <a:endParaRPr lang="zh-TW" altLang="en-US" dirty="0"/>
                    </a:p>
                  </a:txBody>
                  <a:tcPr>
                    <a:solidFill>
                      <a:srgbClr val="D9D9D9"/>
                    </a:solidFill>
                  </a:tcPr>
                </a:tc>
                <a:tc>
                  <a:txBody>
                    <a:bodyPr/>
                    <a:lstStyle/>
                    <a:p>
                      <a:pPr algn="ctr"/>
                      <a:r>
                        <a:rPr lang="en-US" altLang="zh-TW" dirty="0">
                          <a:solidFill>
                            <a:schemeClr val="tx1"/>
                          </a:solidFill>
                        </a:rPr>
                        <a:t>D4</a:t>
                      </a:r>
                      <a:endParaRPr lang="zh-TW" altLang="en-US" dirty="0"/>
                    </a:p>
                  </a:txBody>
                  <a:tcPr>
                    <a:solidFill>
                      <a:srgbClr val="D9D9D9"/>
                    </a:solidFill>
                  </a:tcPr>
                </a:tc>
                <a:tc>
                  <a:txBody>
                    <a:bodyPr/>
                    <a:lstStyle/>
                    <a:p>
                      <a:pPr algn="ctr"/>
                      <a:r>
                        <a:rPr lang="en-US" altLang="zh-TW" dirty="0">
                          <a:solidFill>
                            <a:schemeClr val="tx1"/>
                          </a:solidFill>
                        </a:rPr>
                        <a:t>D5</a:t>
                      </a:r>
                      <a:endParaRPr lang="zh-TW" altLang="en-US" dirty="0"/>
                    </a:p>
                  </a:txBody>
                  <a:tcPr>
                    <a:solidFill>
                      <a:srgbClr val="D9D9D9"/>
                    </a:solidFill>
                  </a:tcPr>
                </a:tc>
                <a:tc>
                  <a:txBody>
                    <a:bodyPr/>
                    <a:lstStyle/>
                    <a:p>
                      <a:pPr algn="ctr"/>
                      <a:r>
                        <a:rPr lang="en-US" altLang="zh-TW" dirty="0">
                          <a:solidFill>
                            <a:schemeClr val="tx1"/>
                          </a:solidFill>
                        </a:rPr>
                        <a:t>D6</a:t>
                      </a:r>
                      <a:endParaRPr lang="zh-TW" altLang="en-US" dirty="0"/>
                    </a:p>
                  </a:txBody>
                  <a:tcPr>
                    <a:solidFill>
                      <a:srgbClr val="D9D9D9"/>
                    </a:solidFill>
                  </a:tcPr>
                </a:tc>
                <a:tc>
                  <a:txBody>
                    <a:bodyPr/>
                    <a:lstStyle/>
                    <a:p>
                      <a:pPr algn="ctr"/>
                      <a:r>
                        <a:rPr lang="en-US" altLang="zh-TW" dirty="0">
                          <a:solidFill>
                            <a:schemeClr val="tx1"/>
                          </a:solidFill>
                        </a:rPr>
                        <a:t>D7</a:t>
                      </a:r>
                      <a:endParaRPr lang="zh-TW" altLang="en-US" dirty="0"/>
                    </a:p>
                  </a:txBody>
                  <a:tcPr>
                    <a:solidFill>
                      <a:srgbClr val="D9D9D9"/>
                    </a:solidFill>
                  </a:tcPr>
                </a:tc>
                <a:tc>
                  <a:txBody>
                    <a:bodyPr/>
                    <a:lstStyle/>
                    <a:p>
                      <a:pPr algn="ctr"/>
                      <a:r>
                        <a:rPr lang="en-US" altLang="zh-TW" dirty="0">
                          <a:solidFill>
                            <a:schemeClr val="tx1"/>
                          </a:solidFill>
                        </a:rPr>
                        <a:t>D8</a:t>
                      </a:r>
                      <a:endParaRPr lang="zh-TW" altLang="en-US" dirty="0"/>
                    </a:p>
                  </a:txBody>
                  <a:tcPr>
                    <a:solidFill>
                      <a:srgbClr val="D9D9D9"/>
                    </a:solidFill>
                  </a:tcPr>
                </a:tc>
                <a:tc>
                  <a:txBody>
                    <a:bodyPr/>
                    <a:lstStyle/>
                    <a:p>
                      <a:pPr algn="ctr"/>
                      <a:r>
                        <a:rPr lang="en-US" altLang="zh-TW" dirty="0">
                          <a:solidFill>
                            <a:schemeClr val="tx1"/>
                          </a:solidFill>
                        </a:rPr>
                        <a:t>D9</a:t>
                      </a:r>
                      <a:endParaRPr lang="zh-TW" altLang="en-US" dirty="0"/>
                    </a:p>
                  </a:txBody>
                  <a:tcPr>
                    <a:solidFill>
                      <a:srgbClr val="D9D9D9"/>
                    </a:solidFill>
                  </a:tcPr>
                </a:tc>
                <a:tc>
                  <a:txBody>
                    <a:bodyPr/>
                    <a:lstStyle/>
                    <a:p>
                      <a:pPr algn="ctr"/>
                      <a:r>
                        <a:rPr lang="en-US" altLang="zh-TW" dirty="0">
                          <a:solidFill>
                            <a:schemeClr val="tx1"/>
                          </a:solidFill>
                        </a:rPr>
                        <a:t>D10</a:t>
                      </a:r>
                      <a:endParaRPr lang="zh-TW" altLang="en-US" dirty="0"/>
                    </a:p>
                  </a:txBody>
                  <a:tcPr>
                    <a:solidFill>
                      <a:srgbClr val="FFC000"/>
                    </a:solidFill>
                  </a:tcPr>
                </a:tc>
                <a:extLst>
                  <a:ext uri="{0D108BD9-81ED-4DB2-BD59-A6C34878D82A}">
                    <a16:rowId xmlns:a16="http://schemas.microsoft.com/office/drawing/2014/main" val="2300767415"/>
                  </a:ext>
                </a:extLst>
              </a:tr>
            </a:tbl>
          </a:graphicData>
        </a:graphic>
      </p:graphicFrame>
      <p:graphicFrame>
        <p:nvGraphicFramePr>
          <p:cNvPr id="12" name="表格 9">
            <a:extLst>
              <a:ext uri="{FF2B5EF4-FFF2-40B4-BE49-F238E27FC236}">
                <a16:creationId xmlns:a16="http://schemas.microsoft.com/office/drawing/2014/main" id="{DF5EB04C-041F-4CD0-8D00-B0776F77F31F}"/>
              </a:ext>
            </a:extLst>
          </p:cNvPr>
          <p:cNvGraphicFramePr>
            <a:graphicFrameLocks noGrp="1"/>
          </p:cNvGraphicFramePr>
          <p:nvPr>
            <p:extLst>
              <p:ext uri="{D42A27DB-BD31-4B8C-83A1-F6EECF244321}">
                <p14:modId xmlns:p14="http://schemas.microsoft.com/office/powerpoint/2010/main" val="1255746411"/>
              </p:ext>
            </p:extLst>
          </p:nvPr>
        </p:nvGraphicFramePr>
        <p:xfrm>
          <a:off x="1322499" y="3753279"/>
          <a:ext cx="6336710" cy="370840"/>
        </p:xfrm>
        <a:graphic>
          <a:graphicData uri="http://schemas.openxmlformats.org/drawingml/2006/table">
            <a:tbl>
              <a:tblPr firstRow="1" bandRow="1">
                <a:tableStyleId>{5C22544A-7EE6-4342-B048-85BDC9FD1C3A}</a:tableStyleId>
              </a:tblPr>
              <a:tblGrid>
                <a:gridCol w="633671">
                  <a:extLst>
                    <a:ext uri="{9D8B030D-6E8A-4147-A177-3AD203B41FA5}">
                      <a16:colId xmlns:a16="http://schemas.microsoft.com/office/drawing/2014/main" val="3119303618"/>
                    </a:ext>
                  </a:extLst>
                </a:gridCol>
                <a:gridCol w="633671">
                  <a:extLst>
                    <a:ext uri="{9D8B030D-6E8A-4147-A177-3AD203B41FA5}">
                      <a16:colId xmlns:a16="http://schemas.microsoft.com/office/drawing/2014/main" val="3973133582"/>
                    </a:ext>
                  </a:extLst>
                </a:gridCol>
                <a:gridCol w="633671">
                  <a:extLst>
                    <a:ext uri="{9D8B030D-6E8A-4147-A177-3AD203B41FA5}">
                      <a16:colId xmlns:a16="http://schemas.microsoft.com/office/drawing/2014/main" val="2795490448"/>
                    </a:ext>
                  </a:extLst>
                </a:gridCol>
                <a:gridCol w="633671">
                  <a:extLst>
                    <a:ext uri="{9D8B030D-6E8A-4147-A177-3AD203B41FA5}">
                      <a16:colId xmlns:a16="http://schemas.microsoft.com/office/drawing/2014/main" val="3912470882"/>
                    </a:ext>
                  </a:extLst>
                </a:gridCol>
                <a:gridCol w="633671">
                  <a:extLst>
                    <a:ext uri="{9D8B030D-6E8A-4147-A177-3AD203B41FA5}">
                      <a16:colId xmlns:a16="http://schemas.microsoft.com/office/drawing/2014/main" val="3457733941"/>
                    </a:ext>
                  </a:extLst>
                </a:gridCol>
                <a:gridCol w="633671">
                  <a:extLst>
                    <a:ext uri="{9D8B030D-6E8A-4147-A177-3AD203B41FA5}">
                      <a16:colId xmlns:a16="http://schemas.microsoft.com/office/drawing/2014/main" val="4186301698"/>
                    </a:ext>
                  </a:extLst>
                </a:gridCol>
                <a:gridCol w="633671">
                  <a:extLst>
                    <a:ext uri="{9D8B030D-6E8A-4147-A177-3AD203B41FA5}">
                      <a16:colId xmlns:a16="http://schemas.microsoft.com/office/drawing/2014/main" val="3130138473"/>
                    </a:ext>
                  </a:extLst>
                </a:gridCol>
                <a:gridCol w="633671">
                  <a:extLst>
                    <a:ext uri="{9D8B030D-6E8A-4147-A177-3AD203B41FA5}">
                      <a16:colId xmlns:a16="http://schemas.microsoft.com/office/drawing/2014/main" val="3851966815"/>
                    </a:ext>
                  </a:extLst>
                </a:gridCol>
                <a:gridCol w="633671">
                  <a:extLst>
                    <a:ext uri="{9D8B030D-6E8A-4147-A177-3AD203B41FA5}">
                      <a16:colId xmlns:a16="http://schemas.microsoft.com/office/drawing/2014/main" val="2131619690"/>
                    </a:ext>
                  </a:extLst>
                </a:gridCol>
                <a:gridCol w="633671">
                  <a:extLst>
                    <a:ext uri="{9D8B030D-6E8A-4147-A177-3AD203B41FA5}">
                      <a16:colId xmlns:a16="http://schemas.microsoft.com/office/drawing/2014/main" val="1789325710"/>
                    </a:ext>
                  </a:extLst>
                </a:gridCol>
              </a:tblGrid>
              <a:tr h="370840">
                <a:tc>
                  <a:txBody>
                    <a:bodyPr/>
                    <a:lstStyle/>
                    <a:p>
                      <a:pPr algn="ctr"/>
                      <a:r>
                        <a:rPr lang="en-US" altLang="zh-TW" dirty="0">
                          <a:solidFill>
                            <a:schemeClr val="tx1"/>
                          </a:solidFill>
                        </a:rPr>
                        <a:t>D1</a:t>
                      </a:r>
                      <a:endParaRPr lang="zh-TW" altLang="en-US" dirty="0">
                        <a:solidFill>
                          <a:schemeClr val="tx1"/>
                        </a:solidFill>
                      </a:endParaRPr>
                    </a:p>
                  </a:txBody>
                  <a:tcPr>
                    <a:solidFill>
                      <a:srgbClr val="D9D9D9"/>
                    </a:solidFill>
                  </a:tcPr>
                </a:tc>
                <a:tc>
                  <a:txBody>
                    <a:bodyPr/>
                    <a:lstStyle/>
                    <a:p>
                      <a:pPr algn="ctr"/>
                      <a:r>
                        <a:rPr lang="en-US" altLang="zh-TW" dirty="0">
                          <a:solidFill>
                            <a:schemeClr val="tx1"/>
                          </a:solidFill>
                        </a:rPr>
                        <a:t>D2</a:t>
                      </a:r>
                      <a:endParaRPr lang="zh-TW" altLang="en-US" dirty="0"/>
                    </a:p>
                  </a:txBody>
                  <a:tcPr>
                    <a:solidFill>
                      <a:srgbClr val="D9D9D9"/>
                    </a:solidFill>
                  </a:tcPr>
                </a:tc>
                <a:tc>
                  <a:txBody>
                    <a:bodyPr/>
                    <a:lstStyle/>
                    <a:p>
                      <a:pPr algn="ctr"/>
                      <a:r>
                        <a:rPr lang="en-US" altLang="zh-TW" dirty="0">
                          <a:solidFill>
                            <a:schemeClr val="tx1"/>
                          </a:solidFill>
                        </a:rPr>
                        <a:t>D3</a:t>
                      </a:r>
                      <a:endParaRPr lang="zh-TW" altLang="en-US" dirty="0"/>
                    </a:p>
                  </a:txBody>
                  <a:tcPr>
                    <a:solidFill>
                      <a:srgbClr val="D9D9D9"/>
                    </a:solidFill>
                  </a:tcPr>
                </a:tc>
                <a:tc>
                  <a:txBody>
                    <a:bodyPr/>
                    <a:lstStyle/>
                    <a:p>
                      <a:pPr algn="ctr"/>
                      <a:r>
                        <a:rPr lang="en-US" altLang="zh-TW" dirty="0">
                          <a:solidFill>
                            <a:schemeClr val="tx1"/>
                          </a:solidFill>
                        </a:rPr>
                        <a:t>D4</a:t>
                      </a:r>
                      <a:endParaRPr lang="zh-TW" altLang="en-US" dirty="0"/>
                    </a:p>
                  </a:txBody>
                  <a:tcPr>
                    <a:solidFill>
                      <a:srgbClr val="D9D9D9"/>
                    </a:solidFill>
                  </a:tcPr>
                </a:tc>
                <a:tc>
                  <a:txBody>
                    <a:bodyPr/>
                    <a:lstStyle/>
                    <a:p>
                      <a:pPr algn="ctr"/>
                      <a:r>
                        <a:rPr lang="en-US" altLang="zh-TW" dirty="0">
                          <a:solidFill>
                            <a:schemeClr val="tx1"/>
                          </a:solidFill>
                        </a:rPr>
                        <a:t>D5</a:t>
                      </a:r>
                      <a:endParaRPr lang="zh-TW" altLang="en-US" dirty="0"/>
                    </a:p>
                  </a:txBody>
                  <a:tcPr>
                    <a:solidFill>
                      <a:srgbClr val="D9D9D9"/>
                    </a:solidFill>
                  </a:tcPr>
                </a:tc>
                <a:tc>
                  <a:txBody>
                    <a:bodyPr/>
                    <a:lstStyle/>
                    <a:p>
                      <a:pPr algn="ctr"/>
                      <a:r>
                        <a:rPr lang="en-US" altLang="zh-TW" dirty="0">
                          <a:solidFill>
                            <a:schemeClr val="tx1"/>
                          </a:solidFill>
                        </a:rPr>
                        <a:t>D6</a:t>
                      </a:r>
                      <a:endParaRPr lang="zh-TW" altLang="en-US" dirty="0"/>
                    </a:p>
                  </a:txBody>
                  <a:tcPr>
                    <a:solidFill>
                      <a:srgbClr val="D9D9D9"/>
                    </a:solidFill>
                  </a:tcPr>
                </a:tc>
                <a:tc>
                  <a:txBody>
                    <a:bodyPr/>
                    <a:lstStyle/>
                    <a:p>
                      <a:pPr algn="ctr"/>
                      <a:r>
                        <a:rPr lang="en-US" altLang="zh-TW" dirty="0">
                          <a:solidFill>
                            <a:schemeClr val="tx1"/>
                          </a:solidFill>
                        </a:rPr>
                        <a:t>D7</a:t>
                      </a:r>
                      <a:endParaRPr lang="zh-TW" altLang="en-US" dirty="0"/>
                    </a:p>
                  </a:txBody>
                  <a:tcPr>
                    <a:solidFill>
                      <a:srgbClr val="D9D9D9"/>
                    </a:solidFill>
                  </a:tcPr>
                </a:tc>
                <a:tc>
                  <a:txBody>
                    <a:bodyPr/>
                    <a:lstStyle/>
                    <a:p>
                      <a:pPr algn="ctr"/>
                      <a:r>
                        <a:rPr lang="en-US" altLang="zh-TW" dirty="0">
                          <a:solidFill>
                            <a:schemeClr val="tx1"/>
                          </a:solidFill>
                        </a:rPr>
                        <a:t>D8</a:t>
                      </a:r>
                      <a:endParaRPr lang="zh-TW" altLang="en-US" dirty="0"/>
                    </a:p>
                  </a:txBody>
                  <a:tcPr>
                    <a:solidFill>
                      <a:srgbClr val="D9D9D9"/>
                    </a:solidFill>
                  </a:tcPr>
                </a:tc>
                <a:tc>
                  <a:txBody>
                    <a:bodyPr/>
                    <a:lstStyle/>
                    <a:p>
                      <a:pPr algn="ctr"/>
                      <a:r>
                        <a:rPr lang="en-US" altLang="zh-TW" dirty="0">
                          <a:solidFill>
                            <a:schemeClr val="tx1"/>
                          </a:solidFill>
                        </a:rPr>
                        <a:t>D10</a:t>
                      </a:r>
                      <a:endParaRPr lang="zh-TW" altLang="en-US" dirty="0"/>
                    </a:p>
                  </a:txBody>
                  <a:tcPr>
                    <a:solidFill>
                      <a:srgbClr val="D9D9D9"/>
                    </a:solidFill>
                  </a:tcPr>
                </a:tc>
                <a:tc>
                  <a:txBody>
                    <a:bodyPr/>
                    <a:lstStyle/>
                    <a:p>
                      <a:pPr algn="ctr"/>
                      <a:r>
                        <a:rPr lang="en-US" altLang="zh-TW" dirty="0">
                          <a:solidFill>
                            <a:schemeClr val="tx1"/>
                          </a:solidFill>
                        </a:rPr>
                        <a:t>D9</a:t>
                      </a:r>
                      <a:endParaRPr lang="zh-TW" altLang="en-US" dirty="0"/>
                    </a:p>
                  </a:txBody>
                  <a:tcPr>
                    <a:solidFill>
                      <a:srgbClr val="FFC000"/>
                    </a:solidFill>
                  </a:tcPr>
                </a:tc>
                <a:extLst>
                  <a:ext uri="{0D108BD9-81ED-4DB2-BD59-A6C34878D82A}">
                    <a16:rowId xmlns:a16="http://schemas.microsoft.com/office/drawing/2014/main" val="2300767415"/>
                  </a:ext>
                </a:extLst>
              </a:tr>
            </a:tbl>
          </a:graphicData>
        </a:graphic>
      </p:graphicFrame>
      <p:graphicFrame>
        <p:nvGraphicFramePr>
          <p:cNvPr id="20" name="表格 9">
            <a:extLst>
              <a:ext uri="{FF2B5EF4-FFF2-40B4-BE49-F238E27FC236}">
                <a16:creationId xmlns:a16="http://schemas.microsoft.com/office/drawing/2014/main" id="{892ABE53-B242-4228-848A-72CFAE9A92A1}"/>
              </a:ext>
            </a:extLst>
          </p:cNvPr>
          <p:cNvGraphicFramePr>
            <a:graphicFrameLocks noGrp="1"/>
          </p:cNvGraphicFramePr>
          <p:nvPr>
            <p:extLst>
              <p:ext uri="{D42A27DB-BD31-4B8C-83A1-F6EECF244321}">
                <p14:modId xmlns:p14="http://schemas.microsoft.com/office/powerpoint/2010/main" val="3806311029"/>
              </p:ext>
            </p:extLst>
          </p:nvPr>
        </p:nvGraphicFramePr>
        <p:xfrm>
          <a:off x="1322499" y="4976444"/>
          <a:ext cx="6336710" cy="370840"/>
        </p:xfrm>
        <a:graphic>
          <a:graphicData uri="http://schemas.openxmlformats.org/drawingml/2006/table">
            <a:tbl>
              <a:tblPr firstRow="1" bandRow="1">
                <a:tableStyleId>{5C22544A-7EE6-4342-B048-85BDC9FD1C3A}</a:tableStyleId>
              </a:tblPr>
              <a:tblGrid>
                <a:gridCol w="633671">
                  <a:extLst>
                    <a:ext uri="{9D8B030D-6E8A-4147-A177-3AD203B41FA5}">
                      <a16:colId xmlns:a16="http://schemas.microsoft.com/office/drawing/2014/main" val="3119303618"/>
                    </a:ext>
                  </a:extLst>
                </a:gridCol>
                <a:gridCol w="633671">
                  <a:extLst>
                    <a:ext uri="{9D8B030D-6E8A-4147-A177-3AD203B41FA5}">
                      <a16:colId xmlns:a16="http://schemas.microsoft.com/office/drawing/2014/main" val="3973133582"/>
                    </a:ext>
                  </a:extLst>
                </a:gridCol>
                <a:gridCol w="633671">
                  <a:extLst>
                    <a:ext uri="{9D8B030D-6E8A-4147-A177-3AD203B41FA5}">
                      <a16:colId xmlns:a16="http://schemas.microsoft.com/office/drawing/2014/main" val="2795490448"/>
                    </a:ext>
                  </a:extLst>
                </a:gridCol>
                <a:gridCol w="633671">
                  <a:extLst>
                    <a:ext uri="{9D8B030D-6E8A-4147-A177-3AD203B41FA5}">
                      <a16:colId xmlns:a16="http://schemas.microsoft.com/office/drawing/2014/main" val="3912470882"/>
                    </a:ext>
                  </a:extLst>
                </a:gridCol>
                <a:gridCol w="633671">
                  <a:extLst>
                    <a:ext uri="{9D8B030D-6E8A-4147-A177-3AD203B41FA5}">
                      <a16:colId xmlns:a16="http://schemas.microsoft.com/office/drawing/2014/main" val="3457733941"/>
                    </a:ext>
                  </a:extLst>
                </a:gridCol>
                <a:gridCol w="633671">
                  <a:extLst>
                    <a:ext uri="{9D8B030D-6E8A-4147-A177-3AD203B41FA5}">
                      <a16:colId xmlns:a16="http://schemas.microsoft.com/office/drawing/2014/main" val="4186301698"/>
                    </a:ext>
                  </a:extLst>
                </a:gridCol>
                <a:gridCol w="633671">
                  <a:extLst>
                    <a:ext uri="{9D8B030D-6E8A-4147-A177-3AD203B41FA5}">
                      <a16:colId xmlns:a16="http://schemas.microsoft.com/office/drawing/2014/main" val="3130138473"/>
                    </a:ext>
                  </a:extLst>
                </a:gridCol>
                <a:gridCol w="633671">
                  <a:extLst>
                    <a:ext uri="{9D8B030D-6E8A-4147-A177-3AD203B41FA5}">
                      <a16:colId xmlns:a16="http://schemas.microsoft.com/office/drawing/2014/main" val="3851966815"/>
                    </a:ext>
                  </a:extLst>
                </a:gridCol>
                <a:gridCol w="633671">
                  <a:extLst>
                    <a:ext uri="{9D8B030D-6E8A-4147-A177-3AD203B41FA5}">
                      <a16:colId xmlns:a16="http://schemas.microsoft.com/office/drawing/2014/main" val="2131619690"/>
                    </a:ext>
                  </a:extLst>
                </a:gridCol>
                <a:gridCol w="633671">
                  <a:extLst>
                    <a:ext uri="{9D8B030D-6E8A-4147-A177-3AD203B41FA5}">
                      <a16:colId xmlns:a16="http://schemas.microsoft.com/office/drawing/2014/main" val="1789325710"/>
                    </a:ext>
                  </a:extLst>
                </a:gridCol>
              </a:tblGrid>
              <a:tr h="370840">
                <a:tc>
                  <a:txBody>
                    <a:bodyPr/>
                    <a:lstStyle/>
                    <a:p>
                      <a:pPr algn="ctr"/>
                      <a:r>
                        <a:rPr lang="en-US" altLang="zh-TW" dirty="0">
                          <a:solidFill>
                            <a:schemeClr val="tx1"/>
                          </a:solidFill>
                        </a:rPr>
                        <a:t>D2</a:t>
                      </a:r>
                      <a:endParaRPr lang="zh-TW" altLang="en-US" dirty="0">
                        <a:solidFill>
                          <a:schemeClr val="tx1"/>
                        </a:solidFill>
                      </a:endParaRPr>
                    </a:p>
                  </a:txBody>
                  <a:tcPr>
                    <a:solidFill>
                      <a:srgbClr val="D9D9D9"/>
                    </a:solidFill>
                  </a:tcPr>
                </a:tc>
                <a:tc>
                  <a:txBody>
                    <a:bodyPr/>
                    <a:lstStyle/>
                    <a:p>
                      <a:pPr algn="ctr"/>
                      <a:r>
                        <a:rPr lang="en-US" altLang="zh-TW" dirty="0">
                          <a:solidFill>
                            <a:schemeClr val="tx1"/>
                          </a:solidFill>
                        </a:rPr>
                        <a:t>D3</a:t>
                      </a:r>
                      <a:endParaRPr lang="zh-TW" altLang="en-US" dirty="0"/>
                    </a:p>
                  </a:txBody>
                  <a:tcPr>
                    <a:solidFill>
                      <a:srgbClr val="D9D9D9"/>
                    </a:solidFill>
                  </a:tcPr>
                </a:tc>
                <a:tc>
                  <a:txBody>
                    <a:bodyPr/>
                    <a:lstStyle/>
                    <a:p>
                      <a:pPr algn="ctr"/>
                      <a:r>
                        <a:rPr lang="en-US" altLang="zh-TW" dirty="0">
                          <a:solidFill>
                            <a:schemeClr val="tx1"/>
                          </a:solidFill>
                        </a:rPr>
                        <a:t>D4</a:t>
                      </a:r>
                      <a:endParaRPr lang="zh-TW" altLang="en-US" dirty="0"/>
                    </a:p>
                  </a:txBody>
                  <a:tcPr>
                    <a:solidFill>
                      <a:srgbClr val="D9D9D9"/>
                    </a:solidFill>
                  </a:tcPr>
                </a:tc>
                <a:tc>
                  <a:txBody>
                    <a:bodyPr/>
                    <a:lstStyle/>
                    <a:p>
                      <a:pPr algn="ctr"/>
                      <a:r>
                        <a:rPr lang="en-US" altLang="zh-TW" dirty="0">
                          <a:solidFill>
                            <a:schemeClr val="tx1"/>
                          </a:solidFill>
                        </a:rPr>
                        <a:t>D5</a:t>
                      </a:r>
                      <a:endParaRPr lang="zh-TW" altLang="en-US" dirty="0"/>
                    </a:p>
                  </a:txBody>
                  <a:tcPr>
                    <a:solidFill>
                      <a:srgbClr val="D9D9D9"/>
                    </a:solidFill>
                  </a:tcPr>
                </a:tc>
                <a:tc>
                  <a:txBody>
                    <a:bodyPr/>
                    <a:lstStyle/>
                    <a:p>
                      <a:pPr algn="ctr"/>
                      <a:r>
                        <a:rPr lang="en-US" altLang="zh-TW" dirty="0">
                          <a:solidFill>
                            <a:schemeClr val="tx1"/>
                          </a:solidFill>
                        </a:rPr>
                        <a:t>D6</a:t>
                      </a:r>
                      <a:endParaRPr lang="zh-TW" altLang="en-US" dirty="0"/>
                    </a:p>
                  </a:txBody>
                  <a:tcPr>
                    <a:solidFill>
                      <a:srgbClr val="D9D9D9"/>
                    </a:solidFill>
                  </a:tcPr>
                </a:tc>
                <a:tc>
                  <a:txBody>
                    <a:bodyPr/>
                    <a:lstStyle/>
                    <a:p>
                      <a:pPr algn="ctr"/>
                      <a:r>
                        <a:rPr lang="en-US" altLang="zh-TW" dirty="0">
                          <a:solidFill>
                            <a:schemeClr val="tx1"/>
                          </a:solidFill>
                        </a:rPr>
                        <a:t>D7</a:t>
                      </a:r>
                      <a:endParaRPr lang="zh-TW" altLang="en-US" dirty="0"/>
                    </a:p>
                  </a:txBody>
                  <a:tcPr>
                    <a:solidFill>
                      <a:srgbClr val="D9D9D9"/>
                    </a:solidFill>
                  </a:tcPr>
                </a:tc>
                <a:tc>
                  <a:txBody>
                    <a:bodyPr/>
                    <a:lstStyle/>
                    <a:p>
                      <a:pPr algn="ctr"/>
                      <a:r>
                        <a:rPr lang="en-US" altLang="zh-TW" dirty="0">
                          <a:solidFill>
                            <a:schemeClr val="tx1"/>
                          </a:solidFill>
                        </a:rPr>
                        <a:t>D8</a:t>
                      </a:r>
                      <a:endParaRPr lang="zh-TW" altLang="en-US" dirty="0"/>
                    </a:p>
                  </a:txBody>
                  <a:tcPr>
                    <a:solidFill>
                      <a:srgbClr val="D9D9D9"/>
                    </a:solidFill>
                  </a:tcPr>
                </a:tc>
                <a:tc>
                  <a:txBody>
                    <a:bodyPr/>
                    <a:lstStyle/>
                    <a:p>
                      <a:pPr algn="ctr"/>
                      <a:r>
                        <a:rPr lang="en-US" altLang="zh-TW" dirty="0">
                          <a:solidFill>
                            <a:schemeClr val="tx1"/>
                          </a:solidFill>
                        </a:rPr>
                        <a:t>D9</a:t>
                      </a:r>
                      <a:endParaRPr lang="zh-TW" altLang="en-US" dirty="0"/>
                    </a:p>
                  </a:txBody>
                  <a:tcPr>
                    <a:solidFill>
                      <a:srgbClr val="D9D9D9"/>
                    </a:solidFill>
                  </a:tcPr>
                </a:tc>
                <a:tc>
                  <a:txBody>
                    <a:bodyPr/>
                    <a:lstStyle/>
                    <a:p>
                      <a:pPr algn="ctr"/>
                      <a:r>
                        <a:rPr lang="en-US" altLang="zh-TW" dirty="0">
                          <a:solidFill>
                            <a:schemeClr val="tx1"/>
                          </a:solidFill>
                        </a:rPr>
                        <a:t>D10</a:t>
                      </a:r>
                      <a:endParaRPr lang="zh-TW" altLang="en-US" dirty="0"/>
                    </a:p>
                  </a:txBody>
                  <a:tcPr>
                    <a:solidFill>
                      <a:srgbClr val="D9D9D9"/>
                    </a:solidFill>
                  </a:tcPr>
                </a:tc>
                <a:tc>
                  <a:txBody>
                    <a:bodyPr/>
                    <a:lstStyle/>
                    <a:p>
                      <a:pPr algn="ctr"/>
                      <a:r>
                        <a:rPr lang="en-US" altLang="zh-TW" dirty="0">
                          <a:solidFill>
                            <a:schemeClr val="tx1"/>
                          </a:solidFill>
                        </a:rPr>
                        <a:t>D1</a:t>
                      </a:r>
                      <a:endParaRPr lang="zh-TW" altLang="en-US" dirty="0"/>
                    </a:p>
                  </a:txBody>
                  <a:tcPr>
                    <a:solidFill>
                      <a:srgbClr val="FFC000"/>
                    </a:solidFill>
                  </a:tcPr>
                </a:tc>
                <a:extLst>
                  <a:ext uri="{0D108BD9-81ED-4DB2-BD59-A6C34878D82A}">
                    <a16:rowId xmlns:a16="http://schemas.microsoft.com/office/drawing/2014/main" val="2300767415"/>
                  </a:ext>
                </a:extLst>
              </a:tr>
            </a:tbl>
          </a:graphicData>
        </a:graphic>
      </p:graphicFrame>
      <p:sp>
        <p:nvSpPr>
          <p:cNvPr id="21" name="文字方塊 20">
            <a:extLst>
              <a:ext uri="{FF2B5EF4-FFF2-40B4-BE49-F238E27FC236}">
                <a16:creationId xmlns:a16="http://schemas.microsoft.com/office/drawing/2014/main" id="{B25F1E06-ABCA-41D0-9EB1-E96D3D177F76}"/>
              </a:ext>
            </a:extLst>
          </p:cNvPr>
          <p:cNvSpPr txBox="1"/>
          <p:nvPr/>
        </p:nvSpPr>
        <p:spPr>
          <a:xfrm rot="5400000">
            <a:off x="2452247" y="4110335"/>
            <a:ext cx="4572000" cy="923330"/>
          </a:xfrm>
          <a:prstGeom prst="rect">
            <a:avLst/>
          </a:prstGeom>
          <a:noFill/>
        </p:spPr>
        <p:txBody>
          <a:bodyPr wrap="square">
            <a:spAutoFit/>
          </a:bodyPr>
          <a:lstStyle/>
          <a:p>
            <a:pPr algn="ctr"/>
            <a:r>
              <a:rPr lang="en-US" altLang="zh-TW" sz="5400" dirty="0">
                <a:latin typeface="Times New Roman" panose="02020603050405020304" pitchFamily="18" charset="0"/>
                <a:cs typeface="Times New Roman" panose="02020603050405020304" pitchFamily="18" charset="0"/>
              </a:rPr>
              <a:t>…</a:t>
            </a:r>
          </a:p>
        </p:txBody>
      </p:sp>
      <p:cxnSp>
        <p:nvCxnSpPr>
          <p:cNvPr id="23" name="直線接點 22">
            <a:extLst>
              <a:ext uri="{FF2B5EF4-FFF2-40B4-BE49-F238E27FC236}">
                <a16:creationId xmlns:a16="http://schemas.microsoft.com/office/drawing/2014/main" id="{2F39BBBB-F0ED-47F3-BFBD-B5D1265A1BFB}"/>
              </a:ext>
            </a:extLst>
          </p:cNvPr>
          <p:cNvCxnSpPr>
            <a:cxnSpLocks/>
            <a:endCxn id="26" idx="2"/>
          </p:cNvCxnSpPr>
          <p:nvPr/>
        </p:nvCxnSpPr>
        <p:spPr>
          <a:xfrm flipV="1">
            <a:off x="7690264" y="3066752"/>
            <a:ext cx="594197" cy="169953"/>
          </a:xfrm>
          <a:prstGeom prst="line">
            <a:avLst/>
          </a:prstGeom>
        </p:spPr>
        <p:style>
          <a:lnRef idx="1">
            <a:schemeClr val="dk1"/>
          </a:lnRef>
          <a:fillRef idx="0">
            <a:schemeClr val="dk1"/>
          </a:fillRef>
          <a:effectRef idx="0">
            <a:schemeClr val="dk1"/>
          </a:effectRef>
          <a:fontRef idx="minor">
            <a:schemeClr val="tx1"/>
          </a:fontRef>
        </p:style>
      </p:cxnSp>
      <p:sp>
        <p:nvSpPr>
          <p:cNvPr id="26" name="文字方塊 25">
            <a:extLst>
              <a:ext uri="{FF2B5EF4-FFF2-40B4-BE49-F238E27FC236}">
                <a16:creationId xmlns:a16="http://schemas.microsoft.com/office/drawing/2014/main" id="{F0053D57-BA74-49F1-B7CB-F10A1213752C}"/>
              </a:ext>
            </a:extLst>
          </p:cNvPr>
          <p:cNvSpPr txBox="1"/>
          <p:nvPr/>
        </p:nvSpPr>
        <p:spPr>
          <a:xfrm>
            <a:off x="7437786" y="2605087"/>
            <a:ext cx="1693350" cy="461665"/>
          </a:xfrm>
          <a:prstGeom prst="rect">
            <a:avLst/>
          </a:prstGeom>
          <a:noFill/>
        </p:spPr>
        <p:txBody>
          <a:bodyPr wrap="square">
            <a:spAutoFit/>
          </a:bodyPr>
          <a:lstStyle/>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Test dataset</a:t>
            </a:r>
          </a:p>
        </p:txBody>
      </p:sp>
      <p:cxnSp>
        <p:nvCxnSpPr>
          <p:cNvPr id="31" name="直線接點 30">
            <a:extLst>
              <a:ext uri="{FF2B5EF4-FFF2-40B4-BE49-F238E27FC236}">
                <a16:creationId xmlns:a16="http://schemas.microsoft.com/office/drawing/2014/main" id="{F4F2CF6E-D22B-4CE5-99EF-6E114308EF4F}"/>
              </a:ext>
            </a:extLst>
          </p:cNvPr>
          <p:cNvCxnSpPr>
            <a:cxnSpLocks/>
          </p:cNvCxnSpPr>
          <p:nvPr/>
        </p:nvCxnSpPr>
        <p:spPr>
          <a:xfrm>
            <a:off x="971600" y="3042405"/>
            <a:ext cx="504051" cy="249236"/>
          </a:xfrm>
          <a:prstGeom prst="line">
            <a:avLst/>
          </a:prstGeom>
        </p:spPr>
        <p:style>
          <a:lnRef idx="1">
            <a:schemeClr val="dk1"/>
          </a:lnRef>
          <a:fillRef idx="0">
            <a:schemeClr val="dk1"/>
          </a:fillRef>
          <a:effectRef idx="0">
            <a:schemeClr val="dk1"/>
          </a:effectRef>
          <a:fontRef idx="minor">
            <a:schemeClr val="tx1"/>
          </a:fontRef>
        </p:style>
      </p:cxnSp>
      <p:sp>
        <p:nvSpPr>
          <p:cNvPr id="33" name="文字方塊 32">
            <a:extLst>
              <a:ext uri="{FF2B5EF4-FFF2-40B4-BE49-F238E27FC236}">
                <a16:creationId xmlns:a16="http://schemas.microsoft.com/office/drawing/2014/main" id="{1BA1B199-F334-4879-839D-1080CEF84E90}"/>
              </a:ext>
            </a:extLst>
          </p:cNvPr>
          <p:cNvSpPr txBox="1"/>
          <p:nvPr/>
        </p:nvSpPr>
        <p:spPr>
          <a:xfrm>
            <a:off x="-63542" y="2580740"/>
            <a:ext cx="2501840" cy="461665"/>
          </a:xfrm>
          <a:prstGeom prst="rect">
            <a:avLst/>
          </a:prstGeom>
          <a:noFill/>
        </p:spPr>
        <p:txBody>
          <a:bodyPr wrap="square">
            <a:spAutoFit/>
          </a:bodyPr>
          <a:lstStyle/>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Training dataset</a:t>
            </a:r>
          </a:p>
        </p:txBody>
      </p:sp>
      <p:graphicFrame>
        <p:nvGraphicFramePr>
          <p:cNvPr id="37" name="表格 36">
            <a:extLst>
              <a:ext uri="{FF2B5EF4-FFF2-40B4-BE49-F238E27FC236}">
                <a16:creationId xmlns:a16="http://schemas.microsoft.com/office/drawing/2014/main" id="{974D71B5-C16D-495F-85A7-25C13EE5A23F}"/>
              </a:ext>
            </a:extLst>
          </p:cNvPr>
          <p:cNvGraphicFramePr>
            <a:graphicFrameLocks noGrp="1"/>
          </p:cNvGraphicFramePr>
          <p:nvPr>
            <p:extLst>
              <p:ext uri="{D42A27DB-BD31-4B8C-83A1-F6EECF244321}">
                <p14:modId xmlns:p14="http://schemas.microsoft.com/office/powerpoint/2010/main" val="2094165730"/>
              </p:ext>
            </p:extLst>
          </p:nvPr>
        </p:nvGraphicFramePr>
        <p:xfrm>
          <a:off x="2438298" y="5925940"/>
          <a:ext cx="3676567" cy="547337"/>
        </p:xfrm>
        <a:graphic>
          <a:graphicData uri="http://schemas.openxmlformats.org/drawingml/2006/table">
            <a:tbl>
              <a:tblPr firstRow="1" bandRow="1">
                <a:tableStyleId>{5C22544A-7EE6-4342-B048-85BDC9FD1C3A}</a:tableStyleId>
              </a:tblPr>
              <a:tblGrid>
                <a:gridCol w="1384950">
                  <a:extLst>
                    <a:ext uri="{9D8B030D-6E8A-4147-A177-3AD203B41FA5}">
                      <a16:colId xmlns:a16="http://schemas.microsoft.com/office/drawing/2014/main" val="3504849097"/>
                    </a:ext>
                  </a:extLst>
                </a:gridCol>
                <a:gridCol w="1192960">
                  <a:extLst>
                    <a:ext uri="{9D8B030D-6E8A-4147-A177-3AD203B41FA5}">
                      <a16:colId xmlns:a16="http://schemas.microsoft.com/office/drawing/2014/main" val="621468811"/>
                    </a:ext>
                  </a:extLst>
                </a:gridCol>
                <a:gridCol w="1098657">
                  <a:extLst>
                    <a:ext uri="{9D8B030D-6E8A-4147-A177-3AD203B41FA5}">
                      <a16:colId xmlns:a16="http://schemas.microsoft.com/office/drawing/2014/main" val="3995943756"/>
                    </a:ext>
                  </a:extLst>
                </a:gridCol>
              </a:tblGrid>
              <a:tr h="5473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2783</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MD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503</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HD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364</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extLst>
                  <a:ext uri="{0D108BD9-81ED-4DB2-BD59-A6C34878D82A}">
                    <a16:rowId xmlns:a16="http://schemas.microsoft.com/office/drawing/2014/main" val="4037527113"/>
                  </a:ext>
                </a:extLst>
              </a:tr>
            </a:tbl>
          </a:graphicData>
        </a:graphic>
      </p:graphicFrame>
      <p:cxnSp>
        <p:nvCxnSpPr>
          <p:cNvPr id="41" name="直線接點 40">
            <a:extLst>
              <a:ext uri="{FF2B5EF4-FFF2-40B4-BE49-F238E27FC236}">
                <a16:creationId xmlns:a16="http://schemas.microsoft.com/office/drawing/2014/main" id="{3EC6052B-9E62-483B-BAD8-82DE32C105B8}"/>
              </a:ext>
            </a:extLst>
          </p:cNvPr>
          <p:cNvCxnSpPr>
            <a:cxnSpLocks/>
          </p:cNvCxnSpPr>
          <p:nvPr/>
        </p:nvCxnSpPr>
        <p:spPr>
          <a:xfrm flipH="1">
            <a:off x="3265110" y="5347284"/>
            <a:ext cx="873777" cy="578656"/>
          </a:xfrm>
          <a:prstGeom prst="line">
            <a:avLst/>
          </a:prstGeom>
        </p:spPr>
        <p:style>
          <a:lnRef idx="1">
            <a:schemeClr val="dk1"/>
          </a:lnRef>
          <a:fillRef idx="0">
            <a:schemeClr val="dk1"/>
          </a:fillRef>
          <a:effectRef idx="0">
            <a:schemeClr val="dk1"/>
          </a:effectRef>
          <a:fontRef idx="minor">
            <a:schemeClr val="tx1"/>
          </a:fontRef>
        </p:style>
      </p:cxnSp>
      <p:cxnSp>
        <p:nvCxnSpPr>
          <p:cNvPr id="44" name="直線接點 43">
            <a:extLst>
              <a:ext uri="{FF2B5EF4-FFF2-40B4-BE49-F238E27FC236}">
                <a16:creationId xmlns:a16="http://schemas.microsoft.com/office/drawing/2014/main" id="{74547C08-A1C1-42CE-BC26-A9893E9326E5}"/>
              </a:ext>
            </a:extLst>
          </p:cNvPr>
          <p:cNvCxnSpPr>
            <a:cxnSpLocks/>
          </p:cNvCxnSpPr>
          <p:nvPr/>
        </p:nvCxnSpPr>
        <p:spPr>
          <a:xfrm>
            <a:off x="4166939" y="5347284"/>
            <a:ext cx="219083" cy="578656"/>
          </a:xfrm>
          <a:prstGeom prst="line">
            <a:avLst/>
          </a:prstGeom>
        </p:spPr>
        <p:style>
          <a:lnRef idx="1">
            <a:schemeClr val="dk1"/>
          </a:lnRef>
          <a:fillRef idx="0">
            <a:schemeClr val="dk1"/>
          </a:fillRef>
          <a:effectRef idx="0">
            <a:schemeClr val="dk1"/>
          </a:effectRef>
          <a:fontRef idx="minor">
            <a:schemeClr val="tx1"/>
          </a:fontRef>
        </p:style>
      </p:cxnSp>
      <p:cxnSp>
        <p:nvCxnSpPr>
          <p:cNvPr id="46" name="直線接點 45">
            <a:extLst>
              <a:ext uri="{FF2B5EF4-FFF2-40B4-BE49-F238E27FC236}">
                <a16:creationId xmlns:a16="http://schemas.microsoft.com/office/drawing/2014/main" id="{2922E59D-2D91-4787-A574-AE4CAEF2DB14}"/>
              </a:ext>
            </a:extLst>
          </p:cNvPr>
          <p:cNvCxnSpPr>
            <a:cxnSpLocks/>
          </p:cNvCxnSpPr>
          <p:nvPr/>
        </p:nvCxnSpPr>
        <p:spPr>
          <a:xfrm>
            <a:off x="4208624" y="5347284"/>
            <a:ext cx="1196739" cy="57865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844999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79596" y="26072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76D51E34-1300-4970-8EFF-345DE1035DC5}"/>
              </a:ext>
            </a:extLst>
          </p:cNvPr>
          <p:cNvSpPr/>
          <p:nvPr/>
        </p:nvSpPr>
        <p:spPr>
          <a:xfrm>
            <a:off x="379596" y="1221049"/>
            <a:ext cx="8127800" cy="461665"/>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10-fold cross-validation for 5 times</a:t>
            </a: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55607D83-3FB1-4745-B96D-F9D4D8AE8596}"/>
                  </a:ext>
                </a:extLst>
              </p:cNvPr>
              <p:cNvGraphicFramePr>
                <a:graphicFrameLocks noGrp="1"/>
              </p:cNvGraphicFramePr>
              <p:nvPr>
                <p:extLst>
                  <p:ext uri="{D42A27DB-BD31-4B8C-83A1-F6EECF244321}">
                    <p14:modId xmlns:p14="http://schemas.microsoft.com/office/powerpoint/2010/main" val="3221762758"/>
                  </p:ext>
                </p:extLst>
              </p:nvPr>
            </p:nvGraphicFramePr>
            <p:xfrm>
              <a:off x="251520" y="2204864"/>
              <a:ext cx="8550478" cy="3097002"/>
            </p:xfrm>
            <a:graphic>
              <a:graphicData uri="http://schemas.openxmlformats.org/drawingml/2006/table">
                <a:tbl>
                  <a:tblPr firstRow="1" bandRow="1">
                    <a:tableStyleId>{5940675A-B579-460E-94D1-54222C63F5DA}</a:tableStyleId>
                  </a:tblPr>
                  <a:tblGrid>
                    <a:gridCol w="1299052">
                      <a:extLst>
                        <a:ext uri="{9D8B030D-6E8A-4147-A177-3AD203B41FA5}">
                          <a16:colId xmlns:a16="http://schemas.microsoft.com/office/drawing/2014/main" val="20000"/>
                        </a:ext>
                      </a:extLst>
                    </a:gridCol>
                    <a:gridCol w="1208571">
                      <a:extLst>
                        <a:ext uri="{9D8B030D-6E8A-4147-A177-3AD203B41FA5}">
                          <a16:colId xmlns:a16="http://schemas.microsoft.com/office/drawing/2014/main" val="1090817593"/>
                        </a:ext>
                      </a:extLst>
                    </a:gridCol>
                    <a:gridCol w="1208571">
                      <a:extLst>
                        <a:ext uri="{9D8B030D-6E8A-4147-A177-3AD203B41FA5}">
                          <a16:colId xmlns:a16="http://schemas.microsoft.com/office/drawing/2014/main" val="20001"/>
                        </a:ext>
                      </a:extLst>
                    </a:gridCol>
                    <a:gridCol w="1208571">
                      <a:extLst>
                        <a:ext uri="{9D8B030D-6E8A-4147-A177-3AD203B41FA5}">
                          <a16:colId xmlns:a16="http://schemas.microsoft.com/office/drawing/2014/main" val="3242960352"/>
                        </a:ext>
                      </a:extLst>
                    </a:gridCol>
                    <a:gridCol w="1208571">
                      <a:extLst>
                        <a:ext uri="{9D8B030D-6E8A-4147-A177-3AD203B41FA5}">
                          <a16:colId xmlns:a16="http://schemas.microsoft.com/office/drawing/2014/main" val="176215867"/>
                        </a:ext>
                      </a:extLst>
                    </a:gridCol>
                    <a:gridCol w="1208571">
                      <a:extLst>
                        <a:ext uri="{9D8B030D-6E8A-4147-A177-3AD203B41FA5}">
                          <a16:colId xmlns:a16="http://schemas.microsoft.com/office/drawing/2014/main" val="2859968244"/>
                        </a:ext>
                      </a:extLst>
                    </a:gridCol>
                    <a:gridCol w="1208571">
                      <a:extLst>
                        <a:ext uri="{9D8B030D-6E8A-4147-A177-3AD203B41FA5}">
                          <a16:colId xmlns:a16="http://schemas.microsoft.com/office/drawing/2014/main" val="324101211"/>
                        </a:ext>
                      </a:extLst>
                    </a:gridCol>
                  </a:tblGrid>
                  <a:tr h="749800">
                    <a:tc gridSpan="2">
                      <a:txBody>
                        <a:bodyPr/>
                        <a:lstStyle/>
                        <a:p>
                          <a:pPr algn="ct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TlToBr w="12700" cap="flat" cmpd="sng" algn="ctr">
                          <a:solidFill>
                            <a:schemeClr val="tx1"/>
                          </a:solidFill>
                          <a:prstDash val="solid"/>
                          <a:round/>
                          <a:headEnd type="none" w="med" len="med"/>
                          <a:tailEnd type="none" w="med" len="med"/>
                        </a:lnTlToBr>
                        <a:solidFill>
                          <a:schemeClr val="bg1"/>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800" b="1" dirty="0">
                              <a:latin typeface="Times New Roman" panose="02020603050405020304" pitchFamily="18" charset="0"/>
                              <a:ea typeface="新細明體" panose="02020500000000000000" pitchFamily="18" charset="-120"/>
                              <a:cs typeface="Times New Roman" panose="02020603050405020304" pitchFamily="18" charset="0"/>
                            </a:rPr>
                            <a:t>PTd1-5</a:t>
                          </a:r>
                        </a:p>
                      </a:txBody>
                      <a:tcPr anchor="ctr">
                        <a:solidFill>
                          <a:schemeClr val="bg1"/>
                        </a:solidFill>
                      </a:tcPr>
                    </a:tc>
                    <a:tc>
                      <a:txBody>
                        <a:bodyPr/>
                        <a:lstStyle/>
                        <a:p>
                          <a:pPr algn="ctr"/>
                          <a:r>
                            <a:rPr lang="en-US" altLang="zh-TW" sz="1800" b="1" dirty="0">
                              <a:latin typeface="Times New Roman" panose="02020603050405020304" pitchFamily="18" charset="0"/>
                              <a:ea typeface="+mn-ea"/>
                              <a:cs typeface="Times New Roman" panose="02020603050405020304" pitchFamily="18" charset="0"/>
                            </a:rPr>
                            <a:t>PTd2-10</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tc>
                      <a:txBody>
                        <a:bodyPr/>
                        <a:lstStyle/>
                        <a:p>
                          <a:pPr algn="ctr"/>
                          <a:r>
                            <a:rPr lang="en-US" altLang="zh-TW" sz="1800" b="1" dirty="0">
                              <a:latin typeface="Times New Roman" panose="02020603050405020304" pitchFamily="18" charset="0"/>
                              <a:ea typeface="+mn-ea"/>
                              <a:cs typeface="Times New Roman" panose="02020603050405020304" pitchFamily="18" charset="0"/>
                            </a:rPr>
                            <a:t>PTd3-6</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tc>
                      <a:txBody>
                        <a:bodyPr/>
                        <a:lstStyle/>
                        <a:p>
                          <a:pPr algn="ctr"/>
                          <a:r>
                            <a:rPr lang="en-US" altLang="zh-TW" sz="1800" b="1" dirty="0" err="1">
                              <a:latin typeface="Times New Roman" panose="02020603050405020304" pitchFamily="18" charset="0"/>
                              <a:ea typeface="+mn-ea"/>
                              <a:cs typeface="Times New Roman" panose="02020603050405020304" pitchFamily="18" charset="0"/>
                            </a:rPr>
                            <a:t>PTd</a:t>
                          </a:r>
                          <a:endParaRPr lang="en-US" altLang="zh-TW" sz="1800" b="1" dirty="0">
                            <a:latin typeface="Times New Roman" panose="02020603050405020304" pitchFamily="18" charset="0"/>
                            <a:ea typeface="+mn-ea"/>
                            <a:cs typeface="Times New Roman" panose="02020603050405020304" pitchFamily="18" charset="0"/>
                          </a:endParaRPr>
                        </a:p>
                      </a:txBody>
                      <a:tcPr anchor="ctr">
                        <a:solidFill>
                          <a:schemeClr val="bg1"/>
                        </a:solidFill>
                      </a:tcPr>
                    </a:tc>
                    <a:tc>
                      <a:txBody>
                        <a:bodyPr/>
                        <a:lstStyle/>
                        <a:p>
                          <a:pPr algn="ctr"/>
                          <a:r>
                            <a:rPr lang="en-US" altLang="zh-TW" sz="1800" b="1" dirty="0">
                              <a:latin typeface="Times New Roman" panose="02020603050405020304" pitchFamily="18" charset="0"/>
                              <a:ea typeface="+mn-ea"/>
                              <a:cs typeface="Times New Roman" panose="02020603050405020304" pitchFamily="18" charset="0"/>
                            </a:rPr>
                            <a:t>PTd4-9</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0"/>
                      </a:ext>
                    </a:extLst>
                  </a:tr>
                  <a:tr h="749800">
                    <a:tc rowSpan="3">
                      <a:txBody>
                        <a:bodyPr/>
                        <a:lstStyle/>
                        <a:p>
                          <a:pPr algn="ctr"/>
                          <a:r>
                            <a:rPr lang="en-US" altLang="zh-TW" sz="1800" b="1" dirty="0">
                              <a:latin typeface="Times New Roman" panose="02020603050405020304" pitchFamily="18" charset="0"/>
                              <a:ea typeface="+mn-ea"/>
                              <a:cs typeface="Times New Roman" panose="02020603050405020304" pitchFamily="18" charset="0"/>
                            </a:rPr>
                            <a:t> Highly disordered (HD)</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tc>
                      <a:txBody>
                        <a:bodyPr/>
                        <a:lstStyle/>
                        <a:p>
                          <a:pPr algn="ctr"/>
                          <a:r>
                            <a:rPr lang="en-US" altLang="zh-TW" sz="1800" b="1" dirty="0">
                              <a:latin typeface="Times New Roman" panose="02020603050405020304" pitchFamily="18" charset="0"/>
                              <a:cs typeface="Times New Roman" panose="02020603050405020304" pitchFamily="18" charset="0"/>
                            </a:rPr>
                            <a:t>Gap </a:t>
                          </a:r>
                        </a:p>
                        <a:p>
                          <a:pPr algn="ctr"/>
                          <a:r>
                            <a:rPr lang="en-US" altLang="zh-TW" sz="1800" b="1" dirty="0">
                              <a:latin typeface="Times New Roman" panose="02020603050405020304" pitchFamily="18" charset="0"/>
                              <a:cs typeface="Times New Roman" panose="02020603050405020304" pitchFamily="18" charset="0"/>
                            </a:rPr>
                            <a:t>Open </a:t>
                          </a:r>
                          <a:endParaRPr lang="en-US" altLang="zh-TW" sz="18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-13</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-12</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rowSpan="3">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p>
                      </a:txBody>
                      <a:tcPr anchor="ctr">
                        <a:solidFill>
                          <a:schemeClr val="bg1"/>
                        </a:solidFill>
                      </a:tcPr>
                    </a:tc>
                    <a:extLst>
                      <a:ext uri="{0D108BD9-81ED-4DB2-BD59-A6C34878D82A}">
                        <a16:rowId xmlns:a16="http://schemas.microsoft.com/office/drawing/2014/main" val="10001"/>
                      </a:ext>
                    </a:extLst>
                  </a:tr>
                  <a:tr h="749800">
                    <a:tc vMerge="1">
                      <a:txBody>
                        <a:bodyPr/>
                        <a:lstStyle/>
                        <a:p>
                          <a:endParaRPr lang="zh-TW" altLang="en-US"/>
                        </a:p>
                      </a:txBody>
                      <a:tcPr/>
                    </a:tc>
                    <a:tc>
                      <a:txBody>
                        <a:bodyPr/>
                        <a:lstStyle/>
                        <a:p>
                          <a:pPr algn="ctr"/>
                          <a:r>
                            <a:rPr lang="en-US" altLang="zh-TW" sz="1800" b="1" dirty="0">
                              <a:latin typeface="Times New Roman" panose="02020603050405020304" pitchFamily="18" charset="0"/>
                              <a:cs typeface="Times New Roman" panose="02020603050405020304" pitchFamily="18" charset="0"/>
                            </a:rPr>
                            <a:t>Gap Extension</a:t>
                          </a:r>
                          <a:endParaRPr lang="en-US" altLang="zh-TW" sz="18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vMerge="1">
                      <a:txBody>
                        <a:bodyPr/>
                        <a:lstStyle/>
                        <a:p>
                          <a:pPr algn="ct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solidFill>
                          <a:schemeClr val="bg1"/>
                        </a:solidFill>
                      </a:tcPr>
                    </a:tc>
                    <a:extLst>
                      <a:ext uri="{0D108BD9-81ED-4DB2-BD59-A6C34878D82A}">
                        <a16:rowId xmlns:a16="http://schemas.microsoft.com/office/drawing/2014/main" val="3566930230"/>
                      </a:ext>
                    </a:extLst>
                  </a:tr>
                  <a:tr h="847602">
                    <a:tc vMerge="1">
                      <a:txBody>
                        <a:bodyPr/>
                        <a:lstStyle/>
                        <a:p>
                          <a:endParaRPr lang="zh-TW" altLang="en-US"/>
                        </a:p>
                      </a:txBody>
                      <a:tcPr/>
                    </a:tc>
                    <a:tc>
                      <a:txBody>
                        <a:bodyPr/>
                        <a:lstStyle/>
                        <a:p>
                          <a:pPr algn="ctr"/>
                          <a:r>
                            <a:rPr lang="en-US" altLang="zh-TW" sz="1800" b="1" dirty="0">
                              <a:latin typeface="Times New Roman" panose="02020603050405020304" pitchFamily="18" charset="0"/>
                              <a:cs typeface="Times New Roman" panose="02020603050405020304" pitchFamily="18" charset="0"/>
                            </a:rPr>
                            <a:t>Coverage</a:t>
                          </a:r>
                          <a:endParaRPr lang="en-US" altLang="zh-TW" sz="18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0.6658</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0.06</a:t>
                          </a: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0.6595</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0.06</a:t>
                          </a: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0.6539</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0.06</a:t>
                          </a:r>
                        </a:p>
                      </a:txBody>
                      <a:tcPr anchor="ctr">
                        <a:solidFill>
                          <a:schemeClr val="bg1"/>
                        </a:solidFill>
                      </a:tcPr>
                    </a:tc>
                    <a:tc vMerge="1">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0.6021</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0.08</a:t>
                          </a:r>
                        </a:p>
                      </a:txBody>
                      <a:tcPr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6564253"/>
                      </a:ext>
                    </a:extLst>
                  </a:tr>
                </a:tbl>
              </a:graphicData>
            </a:graphic>
          </p:graphicFrame>
        </mc:Choice>
        <mc:Fallback xmlns="">
          <p:graphicFrame>
            <p:nvGraphicFramePr>
              <p:cNvPr id="5" name="表格 4">
                <a:extLst>
                  <a:ext uri="{FF2B5EF4-FFF2-40B4-BE49-F238E27FC236}">
                    <a16:creationId xmlns:a16="http://schemas.microsoft.com/office/drawing/2014/main" id="{55607D83-3FB1-4745-B96D-F9D4D8AE8596}"/>
                  </a:ext>
                </a:extLst>
              </p:cNvPr>
              <p:cNvGraphicFramePr>
                <a:graphicFrameLocks noGrp="1"/>
              </p:cNvGraphicFramePr>
              <p:nvPr>
                <p:extLst>
                  <p:ext uri="{D42A27DB-BD31-4B8C-83A1-F6EECF244321}">
                    <p14:modId xmlns:p14="http://schemas.microsoft.com/office/powerpoint/2010/main" val="3221762758"/>
                  </p:ext>
                </p:extLst>
              </p:nvPr>
            </p:nvGraphicFramePr>
            <p:xfrm>
              <a:off x="251520" y="2204864"/>
              <a:ext cx="8550478" cy="3097002"/>
            </p:xfrm>
            <a:graphic>
              <a:graphicData uri="http://schemas.openxmlformats.org/drawingml/2006/table">
                <a:tbl>
                  <a:tblPr firstRow="1" bandRow="1">
                    <a:tableStyleId>{5940675A-B579-460E-94D1-54222C63F5DA}</a:tableStyleId>
                  </a:tblPr>
                  <a:tblGrid>
                    <a:gridCol w="1299052">
                      <a:extLst>
                        <a:ext uri="{9D8B030D-6E8A-4147-A177-3AD203B41FA5}">
                          <a16:colId xmlns:a16="http://schemas.microsoft.com/office/drawing/2014/main" val="20000"/>
                        </a:ext>
                      </a:extLst>
                    </a:gridCol>
                    <a:gridCol w="1208571">
                      <a:extLst>
                        <a:ext uri="{9D8B030D-6E8A-4147-A177-3AD203B41FA5}">
                          <a16:colId xmlns:a16="http://schemas.microsoft.com/office/drawing/2014/main" val="1090817593"/>
                        </a:ext>
                      </a:extLst>
                    </a:gridCol>
                    <a:gridCol w="1208571">
                      <a:extLst>
                        <a:ext uri="{9D8B030D-6E8A-4147-A177-3AD203B41FA5}">
                          <a16:colId xmlns:a16="http://schemas.microsoft.com/office/drawing/2014/main" val="20001"/>
                        </a:ext>
                      </a:extLst>
                    </a:gridCol>
                    <a:gridCol w="1208571">
                      <a:extLst>
                        <a:ext uri="{9D8B030D-6E8A-4147-A177-3AD203B41FA5}">
                          <a16:colId xmlns:a16="http://schemas.microsoft.com/office/drawing/2014/main" val="3242960352"/>
                        </a:ext>
                      </a:extLst>
                    </a:gridCol>
                    <a:gridCol w="1208571">
                      <a:extLst>
                        <a:ext uri="{9D8B030D-6E8A-4147-A177-3AD203B41FA5}">
                          <a16:colId xmlns:a16="http://schemas.microsoft.com/office/drawing/2014/main" val="176215867"/>
                        </a:ext>
                      </a:extLst>
                    </a:gridCol>
                    <a:gridCol w="1208571">
                      <a:extLst>
                        <a:ext uri="{9D8B030D-6E8A-4147-A177-3AD203B41FA5}">
                          <a16:colId xmlns:a16="http://schemas.microsoft.com/office/drawing/2014/main" val="2859968244"/>
                        </a:ext>
                      </a:extLst>
                    </a:gridCol>
                    <a:gridCol w="1208571">
                      <a:extLst>
                        <a:ext uri="{9D8B030D-6E8A-4147-A177-3AD203B41FA5}">
                          <a16:colId xmlns:a16="http://schemas.microsoft.com/office/drawing/2014/main" val="324101211"/>
                        </a:ext>
                      </a:extLst>
                    </a:gridCol>
                  </a:tblGrid>
                  <a:tr h="749800">
                    <a:tc gridSpan="2">
                      <a:txBody>
                        <a:bodyPr/>
                        <a:lstStyle/>
                        <a:p>
                          <a:pPr algn="ct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TlToBr w="12700" cap="flat" cmpd="sng" algn="ctr">
                          <a:solidFill>
                            <a:schemeClr val="tx1"/>
                          </a:solidFill>
                          <a:prstDash val="solid"/>
                          <a:round/>
                          <a:headEnd type="none" w="med" len="med"/>
                          <a:tailEnd type="none" w="med" len="med"/>
                        </a:lnTlToBr>
                        <a:solidFill>
                          <a:schemeClr val="bg1"/>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800" b="1" dirty="0">
                              <a:latin typeface="Times New Roman" panose="02020603050405020304" pitchFamily="18" charset="0"/>
                              <a:ea typeface="新細明體" panose="02020500000000000000" pitchFamily="18" charset="-120"/>
                              <a:cs typeface="Times New Roman" panose="02020603050405020304" pitchFamily="18" charset="0"/>
                            </a:rPr>
                            <a:t>PTd1-5</a:t>
                          </a:r>
                        </a:p>
                      </a:txBody>
                      <a:tcPr anchor="ctr">
                        <a:solidFill>
                          <a:schemeClr val="bg1"/>
                        </a:solidFill>
                      </a:tcPr>
                    </a:tc>
                    <a:tc>
                      <a:txBody>
                        <a:bodyPr/>
                        <a:lstStyle/>
                        <a:p>
                          <a:pPr algn="ctr"/>
                          <a:r>
                            <a:rPr lang="en-US" altLang="zh-TW" sz="1800" b="1" dirty="0">
                              <a:latin typeface="Times New Roman" panose="02020603050405020304" pitchFamily="18" charset="0"/>
                              <a:ea typeface="+mn-ea"/>
                              <a:cs typeface="Times New Roman" panose="02020603050405020304" pitchFamily="18" charset="0"/>
                            </a:rPr>
                            <a:t>PTd2-10</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tc>
                      <a:txBody>
                        <a:bodyPr/>
                        <a:lstStyle/>
                        <a:p>
                          <a:pPr algn="ctr"/>
                          <a:r>
                            <a:rPr lang="en-US" altLang="zh-TW" sz="1800" b="1" dirty="0">
                              <a:latin typeface="Times New Roman" panose="02020603050405020304" pitchFamily="18" charset="0"/>
                              <a:ea typeface="+mn-ea"/>
                              <a:cs typeface="Times New Roman" panose="02020603050405020304" pitchFamily="18" charset="0"/>
                            </a:rPr>
                            <a:t>PTd3-6</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tc>
                      <a:txBody>
                        <a:bodyPr/>
                        <a:lstStyle/>
                        <a:p>
                          <a:pPr algn="ctr"/>
                          <a:r>
                            <a:rPr lang="en-US" altLang="zh-TW" sz="1800" b="1" dirty="0" err="1">
                              <a:latin typeface="Times New Roman" panose="02020603050405020304" pitchFamily="18" charset="0"/>
                              <a:ea typeface="+mn-ea"/>
                              <a:cs typeface="Times New Roman" panose="02020603050405020304" pitchFamily="18" charset="0"/>
                            </a:rPr>
                            <a:t>PTd</a:t>
                          </a:r>
                          <a:endParaRPr lang="en-US" altLang="zh-TW" sz="1800" b="1" dirty="0">
                            <a:latin typeface="Times New Roman" panose="02020603050405020304" pitchFamily="18" charset="0"/>
                            <a:ea typeface="+mn-ea"/>
                            <a:cs typeface="Times New Roman" panose="02020603050405020304" pitchFamily="18" charset="0"/>
                          </a:endParaRPr>
                        </a:p>
                      </a:txBody>
                      <a:tcPr anchor="ctr">
                        <a:solidFill>
                          <a:schemeClr val="bg1"/>
                        </a:solidFill>
                      </a:tcPr>
                    </a:tc>
                    <a:tc>
                      <a:txBody>
                        <a:bodyPr/>
                        <a:lstStyle/>
                        <a:p>
                          <a:pPr algn="ctr"/>
                          <a:r>
                            <a:rPr lang="en-US" altLang="zh-TW" sz="1800" b="1" dirty="0">
                              <a:latin typeface="Times New Roman" panose="02020603050405020304" pitchFamily="18" charset="0"/>
                              <a:ea typeface="+mn-ea"/>
                              <a:cs typeface="Times New Roman" panose="02020603050405020304" pitchFamily="18" charset="0"/>
                            </a:rPr>
                            <a:t>PTd4-9</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0"/>
                      </a:ext>
                    </a:extLst>
                  </a:tr>
                  <a:tr h="749800">
                    <a:tc rowSpan="3">
                      <a:txBody>
                        <a:bodyPr/>
                        <a:lstStyle/>
                        <a:p>
                          <a:pPr algn="ctr"/>
                          <a:r>
                            <a:rPr lang="en-US" altLang="zh-TW" sz="1800" b="1" dirty="0">
                              <a:latin typeface="Times New Roman" panose="02020603050405020304" pitchFamily="18" charset="0"/>
                              <a:ea typeface="+mn-ea"/>
                              <a:cs typeface="Times New Roman" panose="02020603050405020304" pitchFamily="18" charset="0"/>
                            </a:rPr>
                            <a:t> Highly disordered (HD)</a:t>
                          </a:r>
                          <a:endParaRPr lang="zh-TW" altLang="en-US" sz="18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solidFill>
                      </a:tcPr>
                    </a:tc>
                    <a:tc>
                      <a:txBody>
                        <a:bodyPr/>
                        <a:lstStyle/>
                        <a:p>
                          <a:pPr algn="ctr"/>
                          <a:r>
                            <a:rPr lang="en-US" altLang="zh-TW" sz="1800" b="1" dirty="0">
                              <a:latin typeface="Times New Roman" panose="02020603050405020304" pitchFamily="18" charset="0"/>
                              <a:cs typeface="Times New Roman" panose="02020603050405020304" pitchFamily="18" charset="0"/>
                            </a:rPr>
                            <a:t>Gap </a:t>
                          </a:r>
                        </a:p>
                        <a:p>
                          <a:pPr algn="ctr"/>
                          <a:r>
                            <a:rPr lang="en-US" altLang="zh-TW" sz="1800" b="1" dirty="0">
                              <a:latin typeface="Times New Roman" panose="02020603050405020304" pitchFamily="18" charset="0"/>
                              <a:cs typeface="Times New Roman" panose="02020603050405020304" pitchFamily="18" charset="0"/>
                            </a:rPr>
                            <a:t>Open </a:t>
                          </a:r>
                          <a:endParaRPr lang="en-US" altLang="zh-TW" sz="18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-13</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-12</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rowSpan="3">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p>
                      </a:txBody>
                      <a:tcPr anchor="ctr">
                        <a:solidFill>
                          <a:schemeClr val="bg1"/>
                        </a:solidFill>
                      </a:tcPr>
                    </a:tc>
                    <a:extLst>
                      <a:ext uri="{0D108BD9-81ED-4DB2-BD59-A6C34878D82A}">
                        <a16:rowId xmlns:a16="http://schemas.microsoft.com/office/drawing/2014/main" val="10001"/>
                      </a:ext>
                    </a:extLst>
                  </a:tr>
                  <a:tr h="749800">
                    <a:tc vMerge="1">
                      <a:txBody>
                        <a:bodyPr/>
                        <a:lstStyle/>
                        <a:p>
                          <a:endParaRPr lang="zh-TW" altLang="en-US"/>
                        </a:p>
                      </a:txBody>
                      <a:tcPr/>
                    </a:tc>
                    <a:tc>
                      <a:txBody>
                        <a:bodyPr/>
                        <a:lstStyle/>
                        <a:p>
                          <a:pPr algn="ctr"/>
                          <a:r>
                            <a:rPr lang="en-US" altLang="zh-TW" sz="1800" b="1" dirty="0">
                              <a:latin typeface="Times New Roman" panose="02020603050405020304" pitchFamily="18" charset="0"/>
                              <a:cs typeface="Times New Roman" panose="02020603050405020304" pitchFamily="18" charset="0"/>
                            </a:rPr>
                            <a:t>Gap Extension</a:t>
                          </a:r>
                          <a:endParaRPr lang="en-US" altLang="zh-TW" sz="18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vMerge="1">
                      <a:txBody>
                        <a:bodyPr/>
                        <a:lstStyle/>
                        <a:p>
                          <a:pPr algn="ct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solidFill>
                          <a:schemeClr val="bg1"/>
                        </a:solidFill>
                      </a:tcPr>
                    </a:tc>
                    <a:extLst>
                      <a:ext uri="{0D108BD9-81ED-4DB2-BD59-A6C34878D82A}">
                        <a16:rowId xmlns:a16="http://schemas.microsoft.com/office/drawing/2014/main" val="3566930230"/>
                      </a:ext>
                    </a:extLst>
                  </a:tr>
                  <a:tr h="847602">
                    <a:tc vMerge="1">
                      <a:txBody>
                        <a:bodyPr/>
                        <a:lstStyle/>
                        <a:p>
                          <a:endParaRPr lang="zh-TW" altLang="en-US"/>
                        </a:p>
                      </a:txBody>
                      <a:tcPr/>
                    </a:tc>
                    <a:tc>
                      <a:txBody>
                        <a:bodyPr/>
                        <a:lstStyle/>
                        <a:p>
                          <a:pPr algn="ctr"/>
                          <a:r>
                            <a:rPr lang="en-US" altLang="zh-TW" sz="1800" b="1" dirty="0">
                              <a:latin typeface="Times New Roman" panose="02020603050405020304" pitchFamily="18" charset="0"/>
                              <a:cs typeface="Times New Roman" panose="02020603050405020304" pitchFamily="18" charset="0"/>
                            </a:rPr>
                            <a:t>Coverage</a:t>
                          </a:r>
                          <a:endParaRPr lang="en-US" altLang="zh-TW" sz="18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solidFill>
                      </a:tcPr>
                    </a:tc>
                    <a:tc>
                      <a:txBody>
                        <a:bodyPr/>
                        <a:lstStyle/>
                        <a:p>
                          <a:endParaRPr lang="zh-TW"/>
                        </a:p>
                      </a:txBody>
                      <a:tcPr anchor="ctr">
                        <a:blipFill>
                          <a:blip r:embed="rId3"/>
                          <a:stretch>
                            <a:fillRect l="-207035" t="-266906" r="-399497" b="-4317"/>
                          </a:stretch>
                        </a:blipFill>
                      </a:tcPr>
                    </a:tc>
                    <a:tc>
                      <a:txBody>
                        <a:bodyPr/>
                        <a:lstStyle/>
                        <a:p>
                          <a:endParaRPr lang="zh-TW"/>
                        </a:p>
                      </a:txBody>
                      <a:tcPr anchor="ctr">
                        <a:blipFill>
                          <a:blip r:embed="rId3"/>
                          <a:stretch>
                            <a:fillRect l="-308586" t="-266906" r="-301515" b="-4317"/>
                          </a:stretch>
                        </a:blipFill>
                      </a:tcPr>
                    </a:tc>
                    <a:tc>
                      <a:txBody>
                        <a:bodyPr/>
                        <a:lstStyle/>
                        <a:p>
                          <a:endParaRPr lang="zh-TW"/>
                        </a:p>
                      </a:txBody>
                      <a:tcPr anchor="ctr">
                        <a:blipFill>
                          <a:blip r:embed="rId3"/>
                          <a:stretch>
                            <a:fillRect l="-408586" t="-266906" r="-201515" b="-4317"/>
                          </a:stretch>
                        </a:blipFill>
                      </a:tcPr>
                    </a:tc>
                    <a:tc vMerge="1">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609091" t="-266906" r="-1010" b="-4317"/>
                          </a:stretch>
                        </a:blipFill>
                      </a:tcPr>
                    </a:tc>
                    <a:extLst>
                      <a:ext uri="{0D108BD9-81ED-4DB2-BD59-A6C34878D82A}">
                        <a16:rowId xmlns:a16="http://schemas.microsoft.com/office/drawing/2014/main" val="2276564253"/>
                      </a:ext>
                    </a:extLst>
                  </a:tr>
                </a:tbl>
              </a:graphicData>
            </a:graphic>
          </p:graphicFrame>
        </mc:Fallback>
      </mc:AlternateContent>
      <p:sp>
        <p:nvSpPr>
          <p:cNvPr id="7" name="矩形 6">
            <a:extLst>
              <a:ext uri="{FF2B5EF4-FFF2-40B4-BE49-F238E27FC236}">
                <a16:creationId xmlns:a16="http://schemas.microsoft.com/office/drawing/2014/main" id="{C0BE10DE-F1D4-427B-B91A-78B32FE97EAD}"/>
              </a:ext>
            </a:extLst>
          </p:cNvPr>
          <p:cNvSpPr/>
          <p:nvPr/>
        </p:nvSpPr>
        <p:spPr>
          <a:xfrm>
            <a:off x="6732240" y="3861048"/>
            <a:ext cx="559770" cy="523220"/>
          </a:xfrm>
          <a:prstGeom prst="rect">
            <a:avLst/>
          </a:prstGeom>
        </p:spPr>
        <p:txBody>
          <a:bodyPr wrap="none">
            <a:spAutoFit/>
          </a:bodyPr>
          <a:lstStyle/>
          <a:p>
            <a:pPr algn="ctr"/>
            <a:r>
              <a:rPr lang="en-US" altLang="zh-TW" sz="28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C4A467E-49A1-4C47-AD53-4E4D01DC3BD5}"/>
              </a:ext>
            </a:extLst>
          </p:cNvPr>
          <p:cNvSpPr>
            <a:spLocks noGrp="1"/>
          </p:cNvSpPr>
          <p:nvPr>
            <p:ph type="sldNum" sz="quarter" idx="12"/>
          </p:nvPr>
        </p:nvSpPr>
        <p:spPr/>
        <p:txBody>
          <a:bodyPr/>
          <a:lstStyle/>
          <a:p>
            <a:fld id="{04C04D6A-2E29-441A-A244-9F1014899F6D}" type="slidenum">
              <a:rPr lang="zh-TW" altLang="en-US" smtClean="0"/>
              <a:pPr/>
              <a:t>23</a:t>
            </a:fld>
            <a:endParaRPr lang="zh-TW" altLang="en-US"/>
          </a:p>
        </p:txBody>
      </p:sp>
    </p:spTree>
    <p:extLst>
      <p:ext uri="{BB962C8B-B14F-4D97-AF65-F5344CB8AC3E}">
        <p14:creationId xmlns:p14="http://schemas.microsoft.com/office/powerpoint/2010/main" val="319763145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79596" y="260726"/>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76D51E34-1300-4970-8EFF-345DE1035DC5}"/>
              </a:ext>
            </a:extLst>
          </p:cNvPr>
          <p:cNvSpPr/>
          <p:nvPr/>
        </p:nvSpPr>
        <p:spPr>
          <a:xfrm>
            <a:off x="362460" y="968612"/>
            <a:ext cx="8127800" cy="830997"/>
          </a:xfrm>
          <a:prstGeom prst="rect">
            <a:avLst/>
          </a:prstGeom>
        </p:spPr>
        <p:txBody>
          <a:bodyPr wrap="square">
            <a:spAutoFit/>
          </a:bodyPr>
          <a:lstStyle/>
          <a:p>
            <a:pPr marL="342900" indent="-342900">
              <a:buFont typeface="Arial" panose="020B0604020202020204" pitchFamily="34" charset="0"/>
              <a:buChar char="•"/>
            </a:pPr>
            <a:r>
              <a:rPr lang="en-US" altLang="zh-TW" sz="2400" dirty="0">
                <a:solidFill>
                  <a:srgbClr val="222222"/>
                </a:solidFill>
                <a:latin typeface="Times New Roman" panose="02020603050405020304" pitchFamily="18" charset="0"/>
                <a:cs typeface="Times New Roman" panose="02020603050405020304" pitchFamily="18" charset="0"/>
              </a:rPr>
              <a:t>10-fold cross-validation for 5 times (t-value &gt; 2.0096 and p-value &lt; 0.05 correspond to the 95% confidence)</a:t>
            </a:r>
          </a:p>
        </p:txBody>
      </p:sp>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1F818A88-CA68-4B6E-8D6C-5989E4060A29}"/>
                  </a:ext>
                </a:extLst>
              </p:cNvPr>
              <p:cNvGraphicFramePr>
                <a:graphicFrameLocks noGrp="1"/>
              </p:cNvGraphicFramePr>
              <p:nvPr>
                <p:extLst>
                  <p:ext uri="{D42A27DB-BD31-4B8C-83A1-F6EECF244321}">
                    <p14:modId xmlns:p14="http://schemas.microsoft.com/office/powerpoint/2010/main" val="4228538864"/>
                  </p:ext>
                </p:extLst>
              </p:nvPr>
            </p:nvGraphicFramePr>
            <p:xfrm>
              <a:off x="202064" y="1892822"/>
              <a:ext cx="8739872" cy="4493264"/>
            </p:xfrm>
            <a:graphic>
              <a:graphicData uri="http://schemas.openxmlformats.org/drawingml/2006/table">
                <a:tbl>
                  <a:tblPr firstRow="1" bandRow="1">
                    <a:tableStyleId>{5940675A-B579-460E-94D1-54222C63F5DA}</a:tableStyleId>
                  </a:tblPr>
                  <a:tblGrid>
                    <a:gridCol w="1153135">
                      <a:extLst>
                        <a:ext uri="{9D8B030D-6E8A-4147-A177-3AD203B41FA5}">
                          <a16:colId xmlns:a16="http://schemas.microsoft.com/office/drawing/2014/main" val="20000"/>
                        </a:ext>
                      </a:extLst>
                    </a:gridCol>
                    <a:gridCol w="1031833">
                      <a:extLst>
                        <a:ext uri="{9D8B030D-6E8A-4147-A177-3AD203B41FA5}">
                          <a16:colId xmlns:a16="http://schemas.microsoft.com/office/drawing/2014/main" val="1090817593"/>
                        </a:ext>
                      </a:extLst>
                    </a:gridCol>
                    <a:gridCol w="1176856">
                      <a:extLst>
                        <a:ext uri="{9D8B030D-6E8A-4147-A177-3AD203B41FA5}">
                          <a16:colId xmlns:a16="http://schemas.microsoft.com/office/drawing/2014/main" val="20001"/>
                        </a:ext>
                      </a:extLst>
                    </a:gridCol>
                    <a:gridCol w="864096">
                      <a:extLst>
                        <a:ext uri="{9D8B030D-6E8A-4147-A177-3AD203B41FA5}">
                          <a16:colId xmlns:a16="http://schemas.microsoft.com/office/drawing/2014/main" val="3242960352"/>
                        </a:ext>
                      </a:extLst>
                    </a:gridCol>
                    <a:gridCol w="822933">
                      <a:extLst>
                        <a:ext uri="{9D8B030D-6E8A-4147-A177-3AD203B41FA5}">
                          <a16:colId xmlns:a16="http://schemas.microsoft.com/office/drawing/2014/main" val="176215867"/>
                        </a:ext>
                      </a:extLst>
                    </a:gridCol>
                    <a:gridCol w="903301">
                      <a:extLst>
                        <a:ext uri="{9D8B030D-6E8A-4147-A177-3AD203B41FA5}">
                          <a16:colId xmlns:a16="http://schemas.microsoft.com/office/drawing/2014/main" val="2859968244"/>
                        </a:ext>
                      </a:extLst>
                    </a:gridCol>
                    <a:gridCol w="1054812">
                      <a:extLst>
                        <a:ext uri="{9D8B030D-6E8A-4147-A177-3AD203B41FA5}">
                          <a16:colId xmlns:a16="http://schemas.microsoft.com/office/drawing/2014/main" val="669471148"/>
                        </a:ext>
                      </a:extLst>
                    </a:gridCol>
                    <a:gridCol w="904125">
                      <a:extLst>
                        <a:ext uri="{9D8B030D-6E8A-4147-A177-3AD203B41FA5}">
                          <a16:colId xmlns:a16="http://schemas.microsoft.com/office/drawing/2014/main" val="324101211"/>
                        </a:ext>
                      </a:extLst>
                    </a:gridCol>
                    <a:gridCol w="828781">
                      <a:extLst>
                        <a:ext uri="{9D8B030D-6E8A-4147-A177-3AD203B41FA5}">
                          <a16:colId xmlns:a16="http://schemas.microsoft.com/office/drawing/2014/main" val="3814488870"/>
                        </a:ext>
                      </a:extLst>
                    </a:gridCol>
                  </a:tblGrid>
                  <a:tr h="792904">
                    <a:tc gridSpan="2">
                      <a:txBody>
                        <a:bodyPr/>
                        <a:lstStyle/>
                        <a:p>
                          <a:pPr algn="ct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BLOSUM62</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PAM</a:t>
                          </a:r>
                        </a:p>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120</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mn-ea"/>
                              <a:cs typeface="Times New Roman" panose="02020603050405020304" pitchFamily="18" charset="0"/>
                            </a:rPr>
                            <a:t>MDM</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400" b="1" dirty="0">
                              <a:latin typeface="Times New Roman" panose="02020603050405020304" pitchFamily="18" charset="0"/>
                              <a:ea typeface="+mn-ea"/>
                              <a:cs typeface="Times New Roman" panose="02020603050405020304" pitchFamily="18" charset="0"/>
                            </a:rPr>
                            <a:t>40</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VTML</a:t>
                          </a:r>
                        </a:p>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120</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err="1">
                              <a:latin typeface="Times New Roman" panose="02020603050405020304" pitchFamily="18" charset="0"/>
                              <a:cs typeface="Times New Roman" panose="02020603050405020304" pitchFamily="18" charset="0"/>
                            </a:rPr>
                            <a:t>EDSSMat</a:t>
                          </a:r>
                          <a:endParaRPr lang="en-US" altLang="zh-TW" sz="1400" b="1" dirty="0">
                            <a:latin typeface="Times New Roman" panose="02020603050405020304" pitchFamily="18" charset="0"/>
                            <a:cs typeface="Times New Roman" panose="02020603050405020304" pitchFamily="18" charset="0"/>
                          </a:endParaRPr>
                        </a:p>
                        <a:p>
                          <a:pPr algn="ctr"/>
                          <a:r>
                            <a:rPr lang="en-US" altLang="zh-TW" sz="1400" b="1" dirty="0">
                              <a:latin typeface="Times New Roman" panose="02020603050405020304" pitchFamily="18" charset="0"/>
                              <a:ea typeface="+mn-ea"/>
                              <a:cs typeface="Times New Roman" panose="02020603050405020304" pitchFamily="18" charset="0"/>
                            </a:rPr>
                            <a:t>75</a:t>
                          </a:r>
                          <a:endParaRPr lang="zh-TW" altLang="en-US" sz="1400" b="1"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GASH</a:t>
                          </a:r>
                        </a:p>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PTd1-5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92904">
                    <a:tc rowSpan="5">
                      <a:txBody>
                        <a:bodyPr/>
                        <a:lstStyle/>
                        <a:p>
                          <a:pPr algn="ctr"/>
                          <a:r>
                            <a:rPr lang="en-US" altLang="zh-TW" sz="1400" b="1" dirty="0">
                              <a:latin typeface="Times New Roman" panose="02020603050405020304" pitchFamily="18" charset="0"/>
                              <a:ea typeface="+mn-ea"/>
                              <a:cs typeface="Times New Roman" panose="02020603050405020304" pitchFamily="18" charset="0"/>
                            </a:rPr>
                            <a:t> Highly disordered </a:t>
                          </a:r>
                        </a:p>
                        <a:p>
                          <a:pPr algn="ctr"/>
                          <a:r>
                            <a:rPr lang="en-US" altLang="zh-TW" sz="1400" b="1" dirty="0">
                              <a:latin typeface="Times New Roman" panose="02020603050405020304" pitchFamily="18" charset="0"/>
                              <a:ea typeface="+mn-ea"/>
                              <a:cs typeface="Times New Roman" panose="02020603050405020304" pitchFamily="18" charset="0"/>
                            </a:rPr>
                            <a:t>(HD)</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cs typeface="Times New Roman" panose="02020603050405020304" pitchFamily="18" charset="0"/>
                            </a:rPr>
                            <a:t>Gap </a:t>
                          </a:r>
                        </a:p>
                        <a:p>
                          <a:pPr algn="ctr"/>
                          <a:r>
                            <a:rPr lang="en-US" altLang="zh-TW" sz="1400" b="1" dirty="0">
                              <a:latin typeface="Times New Roman" panose="02020603050405020304" pitchFamily="18" charset="0"/>
                              <a:cs typeface="Times New Roman" panose="02020603050405020304" pitchFamily="18" charset="0"/>
                            </a:rPr>
                            <a:t>Open </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-14</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-7</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-20</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92904">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Gap Extension</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-3</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 </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6930230"/>
                      </a:ext>
                    </a:extLst>
                  </a:tr>
                  <a:tr h="896328">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Coverage</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0.6019</a:t>
                          </a:r>
                        </a:p>
                        <a:p>
                          <a:pPr algn="ctr"/>
                          <a14:m>
                            <m:oMath xmlns:m="http://schemas.openxmlformats.org/officeDocument/2006/math">
                              <m:r>
                                <a:rPr lang="en-US" altLang="zh-TW" sz="1600" dirty="0" smtClean="0">
                                  <a:ln w="0"/>
                                  <a:solidFill>
                                    <a:schemeClr val="tx1"/>
                                  </a:solidFill>
                                  <a:effectLst/>
                                  <a:latin typeface="Cambria Math" panose="02040503050406030204" pitchFamily="18" charset="0"/>
                                </a:rPr>
                                <m:t>±</m:t>
                              </m:r>
                            </m:oMath>
                          </a14:m>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0.6094</a:t>
                          </a:r>
                        </a:p>
                        <a:p>
                          <a:pPr algn="ctr"/>
                          <a14:m>
                            <m:oMath xmlns:m="http://schemas.openxmlformats.org/officeDocument/2006/math">
                              <m:r>
                                <a:rPr lang="en-US" altLang="zh-TW" sz="1600" dirty="0" smtClean="0">
                                  <a:ln w="0"/>
                                  <a:solidFill>
                                    <a:schemeClr val="tx1"/>
                                  </a:solidFill>
                                  <a:effectLst/>
                                  <a:latin typeface="Cambria Math" panose="02040503050406030204" pitchFamily="18" charset="0"/>
                                </a:rPr>
                                <m:t>±</m:t>
                              </m:r>
                            </m:oMath>
                          </a14:m>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0.5994</a:t>
                          </a:r>
                        </a:p>
                        <a:p>
                          <a:pPr algn="ctr"/>
                          <a14:m>
                            <m:oMath xmlns:m="http://schemas.openxmlformats.org/officeDocument/2006/math">
                              <m:r>
                                <a:rPr lang="en-US" altLang="zh-TW" sz="1600" dirty="0" smtClean="0">
                                  <a:ln w="0"/>
                                  <a:solidFill>
                                    <a:schemeClr val="tx1"/>
                                  </a:solidFill>
                                  <a:effectLst/>
                                  <a:latin typeface="Cambria Math" panose="02040503050406030204" pitchFamily="18" charset="0"/>
                                </a:rPr>
                                <m:t>±</m:t>
                              </m:r>
                            </m:oMath>
                          </a14:m>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0.6075</a:t>
                          </a:r>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sz="1600" dirty="0" smtClean="0">
                                  <a:ln w="0"/>
                                  <a:solidFill>
                                    <a:schemeClr val="tx1"/>
                                  </a:solidFill>
                                  <a:effectLst/>
                                  <a:latin typeface="Cambria Math" panose="02040503050406030204" pitchFamily="18" charset="0"/>
                                </a:rPr>
                                <m:t>±</m:t>
                              </m:r>
                            </m:oMath>
                          </a14:m>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0.6179</a:t>
                          </a:r>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sz="1600" dirty="0" smtClean="0">
                                  <a:ln w="0"/>
                                  <a:solidFill>
                                    <a:schemeClr val="tx1"/>
                                  </a:solidFill>
                                  <a:effectLst/>
                                  <a:latin typeface="Cambria Math" panose="02040503050406030204" pitchFamily="18" charset="0"/>
                                </a:rPr>
                                <m:t>±</m:t>
                              </m:r>
                            </m:oMath>
                          </a14:m>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0.6482</a:t>
                          </a:r>
                        </a:p>
                        <a:p>
                          <a:pPr algn="ctr"/>
                          <a14:m>
                            <m:oMath xmlns:m="http://schemas.openxmlformats.org/officeDocument/2006/math">
                              <m:r>
                                <a:rPr lang="en-US" altLang="zh-TW" sz="1600" dirty="0" smtClean="0">
                                  <a:ln w="0"/>
                                  <a:solidFill>
                                    <a:schemeClr val="tx1"/>
                                  </a:solidFill>
                                  <a:effectLst/>
                                  <a:latin typeface="Cambria Math" panose="02040503050406030204" pitchFamily="18" charset="0"/>
                                </a:rPr>
                                <m:t>±</m:t>
                              </m:r>
                            </m:oMath>
                          </a14:m>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0.6658</a:t>
                          </a:r>
                        </a:p>
                        <a:p>
                          <a:pPr algn="ctr"/>
                          <a14:m>
                            <m:oMath xmlns:m="http://schemas.openxmlformats.org/officeDocument/2006/math">
                              <m:r>
                                <a:rPr lang="en-US" altLang="zh-TW" sz="1600" dirty="0" smtClean="0">
                                  <a:ln w="0"/>
                                  <a:solidFill>
                                    <a:schemeClr val="tx1"/>
                                  </a:solidFill>
                                  <a:effectLst/>
                                  <a:latin typeface="Cambria Math" panose="02040503050406030204" pitchFamily="18" charset="0"/>
                                </a:rPr>
                                <m:t>±</m:t>
                              </m:r>
                            </m:oMath>
                          </a14:m>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6564253"/>
                      </a:ext>
                    </a:extLst>
                  </a:tr>
                  <a:tr h="609112">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400" b="0" i="1" dirty="0">
                              <a:latin typeface="Times New Roman" panose="02020603050405020304" pitchFamily="18" charset="0"/>
                              <a:cs typeface="Times New Roman" panose="02020603050405020304" pitchFamily="18" charset="0"/>
                            </a:rPr>
                            <a:t>t</a:t>
                          </a:r>
                          <a:r>
                            <a:rPr lang="en-US" altLang="zh-TW" sz="1400" b="0" dirty="0">
                              <a:latin typeface="Times New Roman" panose="02020603050405020304" pitchFamily="18" charset="0"/>
                              <a:cs typeface="Times New Roman" panose="02020603050405020304" pitchFamily="18" charset="0"/>
                            </a:rPr>
                            <a:t>-value</a:t>
                          </a:r>
                          <a:endParaRPr lang="en-US" altLang="zh-TW" sz="14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11.984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6.156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10.718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10.626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8.784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2.904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5458573"/>
                      </a:ext>
                    </a:extLst>
                  </a:tr>
                  <a:tr h="609112">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400" b="0" i="1" dirty="0">
                              <a:latin typeface="Times New Roman" panose="02020603050405020304" pitchFamily="18" charset="0"/>
                              <a:cs typeface="Times New Roman" panose="02020603050405020304" pitchFamily="18" charset="0"/>
                            </a:rPr>
                            <a:t>p</a:t>
                          </a:r>
                          <a:r>
                            <a:rPr lang="en-US" altLang="zh-TW" sz="1400" b="0" dirty="0">
                              <a:latin typeface="Times New Roman" panose="02020603050405020304" pitchFamily="18" charset="0"/>
                              <a:cs typeface="Times New Roman" panose="02020603050405020304" pitchFamily="18" charset="0"/>
                            </a:rPr>
                            <a:t>-value</a:t>
                          </a:r>
                          <a:endParaRPr lang="en-US" altLang="zh-TW" sz="14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3.55e-16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1.34e-07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1.91e-14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2.58e-14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1.24e-11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5.51e-03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2617769"/>
                      </a:ext>
                    </a:extLst>
                  </a:tr>
                </a:tbl>
              </a:graphicData>
            </a:graphic>
          </p:graphicFrame>
        </mc:Choice>
        <mc:Fallback xmlns="">
          <p:graphicFrame>
            <p:nvGraphicFramePr>
              <p:cNvPr id="10" name="表格 9">
                <a:extLst>
                  <a:ext uri="{FF2B5EF4-FFF2-40B4-BE49-F238E27FC236}">
                    <a16:creationId xmlns:a16="http://schemas.microsoft.com/office/drawing/2014/main" id="{1F818A88-CA68-4B6E-8D6C-5989E4060A29}"/>
                  </a:ext>
                </a:extLst>
              </p:cNvPr>
              <p:cNvGraphicFramePr>
                <a:graphicFrameLocks noGrp="1"/>
              </p:cNvGraphicFramePr>
              <p:nvPr>
                <p:extLst>
                  <p:ext uri="{D42A27DB-BD31-4B8C-83A1-F6EECF244321}">
                    <p14:modId xmlns:p14="http://schemas.microsoft.com/office/powerpoint/2010/main" val="4228538864"/>
                  </p:ext>
                </p:extLst>
              </p:nvPr>
            </p:nvGraphicFramePr>
            <p:xfrm>
              <a:off x="202064" y="1892822"/>
              <a:ext cx="8739872" cy="4493264"/>
            </p:xfrm>
            <a:graphic>
              <a:graphicData uri="http://schemas.openxmlformats.org/drawingml/2006/table">
                <a:tbl>
                  <a:tblPr firstRow="1" bandRow="1">
                    <a:tableStyleId>{5940675A-B579-460E-94D1-54222C63F5DA}</a:tableStyleId>
                  </a:tblPr>
                  <a:tblGrid>
                    <a:gridCol w="1153135">
                      <a:extLst>
                        <a:ext uri="{9D8B030D-6E8A-4147-A177-3AD203B41FA5}">
                          <a16:colId xmlns:a16="http://schemas.microsoft.com/office/drawing/2014/main" val="20000"/>
                        </a:ext>
                      </a:extLst>
                    </a:gridCol>
                    <a:gridCol w="1031833">
                      <a:extLst>
                        <a:ext uri="{9D8B030D-6E8A-4147-A177-3AD203B41FA5}">
                          <a16:colId xmlns:a16="http://schemas.microsoft.com/office/drawing/2014/main" val="1090817593"/>
                        </a:ext>
                      </a:extLst>
                    </a:gridCol>
                    <a:gridCol w="1176856">
                      <a:extLst>
                        <a:ext uri="{9D8B030D-6E8A-4147-A177-3AD203B41FA5}">
                          <a16:colId xmlns:a16="http://schemas.microsoft.com/office/drawing/2014/main" val="20001"/>
                        </a:ext>
                      </a:extLst>
                    </a:gridCol>
                    <a:gridCol w="864096">
                      <a:extLst>
                        <a:ext uri="{9D8B030D-6E8A-4147-A177-3AD203B41FA5}">
                          <a16:colId xmlns:a16="http://schemas.microsoft.com/office/drawing/2014/main" val="3242960352"/>
                        </a:ext>
                      </a:extLst>
                    </a:gridCol>
                    <a:gridCol w="822933">
                      <a:extLst>
                        <a:ext uri="{9D8B030D-6E8A-4147-A177-3AD203B41FA5}">
                          <a16:colId xmlns:a16="http://schemas.microsoft.com/office/drawing/2014/main" val="176215867"/>
                        </a:ext>
                      </a:extLst>
                    </a:gridCol>
                    <a:gridCol w="903301">
                      <a:extLst>
                        <a:ext uri="{9D8B030D-6E8A-4147-A177-3AD203B41FA5}">
                          <a16:colId xmlns:a16="http://schemas.microsoft.com/office/drawing/2014/main" val="2859968244"/>
                        </a:ext>
                      </a:extLst>
                    </a:gridCol>
                    <a:gridCol w="1054812">
                      <a:extLst>
                        <a:ext uri="{9D8B030D-6E8A-4147-A177-3AD203B41FA5}">
                          <a16:colId xmlns:a16="http://schemas.microsoft.com/office/drawing/2014/main" val="669471148"/>
                        </a:ext>
                      </a:extLst>
                    </a:gridCol>
                    <a:gridCol w="904125">
                      <a:extLst>
                        <a:ext uri="{9D8B030D-6E8A-4147-A177-3AD203B41FA5}">
                          <a16:colId xmlns:a16="http://schemas.microsoft.com/office/drawing/2014/main" val="324101211"/>
                        </a:ext>
                      </a:extLst>
                    </a:gridCol>
                    <a:gridCol w="828781">
                      <a:extLst>
                        <a:ext uri="{9D8B030D-6E8A-4147-A177-3AD203B41FA5}">
                          <a16:colId xmlns:a16="http://schemas.microsoft.com/office/drawing/2014/main" val="3814488870"/>
                        </a:ext>
                      </a:extLst>
                    </a:gridCol>
                  </a:tblGrid>
                  <a:tr h="792904">
                    <a:tc gridSpan="2">
                      <a:txBody>
                        <a:bodyPr/>
                        <a:lstStyle/>
                        <a:p>
                          <a:pPr algn="ct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BLOSUM62</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PAM</a:t>
                          </a:r>
                        </a:p>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120</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mn-ea"/>
                              <a:cs typeface="Times New Roman" panose="02020603050405020304" pitchFamily="18" charset="0"/>
                            </a:rPr>
                            <a:t>MDM</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400" b="1" dirty="0">
                              <a:latin typeface="Times New Roman" panose="02020603050405020304" pitchFamily="18" charset="0"/>
                              <a:ea typeface="+mn-ea"/>
                              <a:cs typeface="Times New Roman" panose="02020603050405020304" pitchFamily="18" charset="0"/>
                            </a:rPr>
                            <a:t>40</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VTML</a:t>
                          </a:r>
                        </a:p>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120</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err="1">
                              <a:latin typeface="Times New Roman" panose="02020603050405020304" pitchFamily="18" charset="0"/>
                              <a:cs typeface="Times New Roman" panose="02020603050405020304" pitchFamily="18" charset="0"/>
                            </a:rPr>
                            <a:t>EDSSMat</a:t>
                          </a:r>
                          <a:endParaRPr lang="en-US" altLang="zh-TW" sz="1400" b="1" dirty="0">
                            <a:latin typeface="Times New Roman" panose="02020603050405020304" pitchFamily="18" charset="0"/>
                            <a:cs typeface="Times New Roman" panose="02020603050405020304" pitchFamily="18" charset="0"/>
                          </a:endParaRPr>
                        </a:p>
                        <a:p>
                          <a:pPr algn="ctr"/>
                          <a:r>
                            <a:rPr lang="en-US" altLang="zh-TW" sz="1400" b="1" dirty="0">
                              <a:latin typeface="Times New Roman" panose="02020603050405020304" pitchFamily="18" charset="0"/>
                              <a:ea typeface="+mn-ea"/>
                              <a:cs typeface="Times New Roman" panose="02020603050405020304" pitchFamily="18" charset="0"/>
                            </a:rPr>
                            <a:t>75</a:t>
                          </a:r>
                          <a:endParaRPr lang="zh-TW" altLang="en-US" sz="1400" b="1"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GASH</a:t>
                          </a:r>
                        </a:p>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ea typeface="新細明體" panose="02020500000000000000" pitchFamily="18" charset="-120"/>
                              <a:cs typeface="Times New Roman" panose="02020603050405020304" pitchFamily="18" charset="0"/>
                            </a:rPr>
                            <a:t>PTd1-5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92904">
                    <a:tc rowSpan="5">
                      <a:txBody>
                        <a:bodyPr/>
                        <a:lstStyle/>
                        <a:p>
                          <a:pPr algn="ctr"/>
                          <a:r>
                            <a:rPr lang="en-US" altLang="zh-TW" sz="1400" b="1" dirty="0">
                              <a:latin typeface="Times New Roman" panose="02020603050405020304" pitchFamily="18" charset="0"/>
                              <a:ea typeface="+mn-ea"/>
                              <a:cs typeface="Times New Roman" panose="02020603050405020304" pitchFamily="18" charset="0"/>
                            </a:rPr>
                            <a:t> Highly disordered </a:t>
                          </a:r>
                        </a:p>
                        <a:p>
                          <a:pPr algn="ctr"/>
                          <a:r>
                            <a:rPr lang="en-US" altLang="zh-TW" sz="1400" b="1" dirty="0">
                              <a:latin typeface="Times New Roman" panose="02020603050405020304" pitchFamily="18" charset="0"/>
                              <a:ea typeface="+mn-ea"/>
                              <a:cs typeface="Times New Roman" panose="02020603050405020304" pitchFamily="18" charset="0"/>
                            </a:rPr>
                            <a:t>(HD)</a:t>
                          </a:r>
                          <a:endParaRPr lang="zh-TW" altLang="en-US" sz="1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1" dirty="0">
                              <a:latin typeface="Times New Roman" panose="02020603050405020304" pitchFamily="18" charset="0"/>
                              <a:cs typeface="Times New Roman" panose="02020603050405020304" pitchFamily="18" charset="0"/>
                            </a:rPr>
                            <a:t>Gap </a:t>
                          </a:r>
                        </a:p>
                        <a:p>
                          <a:pPr algn="ctr"/>
                          <a:r>
                            <a:rPr lang="en-US" altLang="zh-TW" sz="1400" b="1" dirty="0">
                              <a:latin typeface="Times New Roman" panose="02020603050405020304" pitchFamily="18" charset="0"/>
                              <a:cs typeface="Times New Roman" panose="02020603050405020304" pitchFamily="18" charset="0"/>
                            </a:rPr>
                            <a:t>Open </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-14</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-7</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-20</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92904">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Gap Extension</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-3</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atin typeface="Times New Roman" panose="02020603050405020304" pitchFamily="18" charset="0"/>
                              <a:cs typeface="Times New Roman" panose="02020603050405020304" pitchFamily="18" charset="0"/>
                            </a:rPr>
                            <a:t>-1 </a:t>
                          </a: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6930230"/>
                      </a:ext>
                    </a:extLst>
                  </a:tr>
                  <a:tr h="896328">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Coverage</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6528" t="-266667" r="-458031" b="-14285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2199" t="-266667" r="-526950" b="-14285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4074" t="-266667" r="-450370" b="-14285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56376" t="-266667" r="-308054" b="-14285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5318" t="-266667" r="-165318" b="-14285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77703" t="-266667" r="-93243" b="-14285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5147" t="-266667" r="-1471" b="-142857"/>
                          </a:stretch>
                        </a:blipFill>
                      </a:tcPr>
                    </a:tc>
                    <a:extLst>
                      <a:ext uri="{0D108BD9-81ED-4DB2-BD59-A6C34878D82A}">
                        <a16:rowId xmlns:a16="http://schemas.microsoft.com/office/drawing/2014/main" val="2276564253"/>
                      </a:ext>
                    </a:extLst>
                  </a:tr>
                  <a:tr h="609112">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400" b="0" i="1" dirty="0">
                              <a:latin typeface="Times New Roman" panose="02020603050405020304" pitchFamily="18" charset="0"/>
                              <a:cs typeface="Times New Roman" panose="02020603050405020304" pitchFamily="18" charset="0"/>
                            </a:rPr>
                            <a:t>t</a:t>
                          </a:r>
                          <a:r>
                            <a:rPr lang="en-US" altLang="zh-TW" sz="1400" b="0" dirty="0">
                              <a:latin typeface="Times New Roman" panose="02020603050405020304" pitchFamily="18" charset="0"/>
                              <a:cs typeface="Times New Roman" panose="02020603050405020304" pitchFamily="18" charset="0"/>
                            </a:rPr>
                            <a:t>-value</a:t>
                          </a:r>
                          <a:endParaRPr lang="en-US" altLang="zh-TW" sz="14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11.984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6.156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10.718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10.626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8.784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2.904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5458573"/>
                      </a:ext>
                    </a:extLst>
                  </a:tr>
                  <a:tr h="609112">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400" b="0" i="1" dirty="0">
                              <a:latin typeface="Times New Roman" panose="02020603050405020304" pitchFamily="18" charset="0"/>
                              <a:cs typeface="Times New Roman" panose="02020603050405020304" pitchFamily="18" charset="0"/>
                            </a:rPr>
                            <a:t>p</a:t>
                          </a:r>
                          <a:r>
                            <a:rPr lang="en-US" altLang="zh-TW" sz="1400" b="0" dirty="0">
                              <a:latin typeface="Times New Roman" panose="02020603050405020304" pitchFamily="18" charset="0"/>
                              <a:cs typeface="Times New Roman" panose="02020603050405020304" pitchFamily="18" charset="0"/>
                            </a:rPr>
                            <a:t>-value</a:t>
                          </a:r>
                          <a:endParaRPr lang="en-US" altLang="zh-TW" sz="14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3.55e-16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1.34e-07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1.91e-14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2.58e-14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1.24e-11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5.51e-03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ltLang="zh-TW" sz="16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2617769"/>
                      </a:ext>
                    </a:extLst>
                  </a:tr>
                </a:tbl>
              </a:graphicData>
            </a:graphic>
          </p:graphicFrame>
        </mc:Fallback>
      </mc:AlternateContent>
      <p:sp>
        <p:nvSpPr>
          <p:cNvPr id="4" name="投影片編號版面配置區 3">
            <a:extLst>
              <a:ext uri="{FF2B5EF4-FFF2-40B4-BE49-F238E27FC236}">
                <a16:creationId xmlns:a16="http://schemas.microsoft.com/office/drawing/2014/main" id="{89CA31F2-C39F-44D2-A340-5F136D4BD472}"/>
              </a:ext>
            </a:extLst>
          </p:cNvPr>
          <p:cNvSpPr>
            <a:spLocks noGrp="1"/>
          </p:cNvSpPr>
          <p:nvPr>
            <p:ph type="sldNum" sz="quarter" idx="12"/>
          </p:nvPr>
        </p:nvSpPr>
        <p:spPr/>
        <p:txBody>
          <a:bodyPr/>
          <a:lstStyle/>
          <a:p>
            <a:fld id="{04C04D6A-2E29-441A-A244-9F1014899F6D}" type="slidenum">
              <a:rPr lang="zh-TW" altLang="en-US" smtClean="0"/>
              <a:pPr/>
              <a:t>24</a:t>
            </a:fld>
            <a:endParaRPr lang="zh-TW" altLang="en-US"/>
          </a:p>
        </p:txBody>
      </p:sp>
    </p:spTree>
    <p:extLst>
      <p:ext uri="{BB962C8B-B14F-4D97-AF65-F5344CB8AC3E}">
        <p14:creationId xmlns:p14="http://schemas.microsoft.com/office/powerpoint/2010/main" val="31790125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3853" y="118373"/>
            <a:ext cx="9146659" cy="646331"/>
          </a:xfrm>
          <a:prstGeom prst="rect">
            <a:avLst/>
          </a:prstGeom>
          <a:noFill/>
        </p:spPr>
        <p:txBody>
          <a:bodyPr wrap="square" rtlCol="0">
            <a:spAutoFit/>
          </a:bodyPr>
          <a:lstStyle/>
          <a:p>
            <a:r>
              <a:rPr lang="en-US" altLang="zh-TW" sz="3600" b="1" dirty="0">
                <a:latin typeface="Times New Roman" panose="02020603050405020304" pitchFamily="18" charset="0"/>
                <a:cs typeface="Times New Roman" panose="02020603050405020304" pitchFamily="18" charset="0"/>
              </a:rPr>
              <a:t>Flow Chart of Scoring Matrix </a:t>
            </a:r>
            <a:r>
              <a:rPr lang="en-US" altLang="zh-TW" sz="3600" b="1" dirty="0" err="1">
                <a:latin typeface="Times New Roman" panose="02020603050405020304" pitchFamily="18" charset="0"/>
                <a:cs typeface="Times New Roman" panose="02020603050405020304" pitchFamily="18" charset="0"/>
              </a:rPr>
              <a:t>Refination</a:t>
            </a:r>
            <a:endParaRPr lang="zh-TW" altLang="en-US" sz="3600" b="1"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A031880E-39FB-42CE-BA9D-A9DB4330A101}"/>
              </a:ext>
            </a:extLst>
          </p:cNvPr>
          <p:cNvPicPr>
            <a:picLocks noChangeAspect="1"/>
          </p:cNvPicPr>
          <p:nvPr/>
        </p:nvPicPr>
        <p:blipFill>
          <a:blip r:embed="rId3"/>
          <a:stretch>
            <a:fillRect/>
          </a:stretch>
        </p:blipFill>
        <p:spPr>
          <a:xfrm>
            <a:off x="1352820" y="908720"/>
            <a:ext cx="5209524" cy="5495238"/>
          </a:xfrm>
          <a:prstGeom prst="rect">
            <a:avLst/>
          </a:prstGeom>
        </p:spPr>
      </p:pic>
      <p:sp>
        <p:nvSpPr>
          <p:cNvPr id="4" name="投影片編號版面配置區 3">
            <a:extLst>
              <a:ext uri="{FF2B5EF4-FFF2-40B4-BE49-F238E27FC236}">
                <a16:creationId xmlns:a16="http://schemas.microsoft.com/office/drawing/2014/main" id="{CF06F830-223A-48D0-A596-FC16E28A7535}"/>
              </a:ext>
            </a:extLst>
          </p:cNvPr>
          <p:cNvSpPr>
            <a:spLocks noGrp="1"/>
          </p:cNvSpPr>
          <p:nvPr>
            <p:ph type="sldNum" sz="quarter" idx="12"/>
          </p:nvPr>
        </p:nvSpPr>
        <p:spPr/>
        <p:txBody>
          <a:bodyPr/>
          <a:lstStyle/>
          <a:p>
            <a:fld id="{04C04D6A-2E29-441A-A244-9F1014899F6D}" type="slidenum">
              <a:rPr lang="zh-TW" altLang="en-US" smtClean="0"/>
              <a:pPr/>
              <a:t>25</a:t>
            </a:fld>
            <a:endParaRPr lang="zh-TW" altLang="en-US"/>
          </a:p>
        </p:txBody>
      </p:sp>
    </p:spTree>
    <p:extLst>
      <p:ext uri="{BB962C8B-B14F-4D97-AF65-F5344CB8AC3E}">
        <p14:creationId xmlns:p14="http://schemas.microsoft.com/office/powerpoint/2010/main" val="36421635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9777</TotalTime>
  <Words>2035</Words>
  <Application>Microsoft Office PowerPoint</Application>
  <PresentationFormat>如螢幕大小 (4:3)</PresentationFormat>
  <Paragraphs>481</Paragraphs>
  <Slides>26</Slides>
  <Notes>25</Notes>
  <HiddenSlides>0</HiddenSlides>
  <MMClips>0</MMClips>
  <ScaleCrop>false</ScaleCrop>
  <HeadingPairs>
    <vt:vector size="8" baseType="variant">
      <vt:variant>
        <vt:lpstr>使用字型</vt:lpstr>
      </vt:variant>
      <vt:variant>
        <vt:i4>8</vt:i4>
      </vt:variant>
      <vt:variant>
        <vt:lpstr>佈景主題</vt:lpstr>
      </vt:variant>
      <vt:variant>
        <vt:i4>1</vt:i4>
      </vt:variant>
      <vt:variant>
        <vt:lpstr>內嵌 OLE 伺服程式</vt:lpstr>
      </vt:variant>
      <vt:variant>
        <vt:i4>1</vt:i4>
      </vt:variant>
      <vt:variant>
        <vt:lpstr>投影片標題</vt:lpstr>
      </vt:variant>
      <vt:variant>
        <vt:i4>26</vt:i4>
      </vt:variant>
    </vt:vector>
  </HeadingPairs>
  <TitlesOfParts>
    <vt:vector size="36" baseType="lpstr">
      <vt:lpstr>Courier</vt:lpstr>
      <vt:lpstr>標楷體</vt:lpstr>
      <vt:lpstr>Arial</vt:lpstr>
      <vt:lpstr>Arial</vt:lpstr>
      <vt:lpstr>Calibri</vt:lpstr>
      <vt:lpstr>Cambria Math</vt:lpstr>
      <vt:lpstr>Courier New</vt:lpstr>
      <vt:lpstr>Times New Roman</vt:lpstr>
      <vt:lpstr>Office 佈景主題</vt:lpstr>
      <vt:lpstr>工作表</vt:lpstr>
      <vt:lpstr>Refining the Amino Acid Scoring Matrix for Intrinsically Disordered Proteins with Meta-heuristic Algorithms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Conclusion</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AthenaHo</dc:creator>
  <cp:lastModifiedBy>M093040098</cp:lastModifiedBy>
  <cp:revision>847</cp:revision>
  <cp:lastPrinted>2021-03-25T04:24:26Z</cp:lastPrinted>
  <dcterms:created xsi:type="dcterms:W3CDTF">2016-03-06T05:42:18Z</dcterms:created>
  <dcterms:modified xsi:type="dcterms:W3CDTF">2022-05-18T09:58:22Z</dcterms:modified>
</cp:coreProperties>
</file>