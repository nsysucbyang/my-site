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62" r:id="rId3"/>
    <p:sldId id="266" r:id="rId4"/>
    <p:sldId id="258" r:id="rId5"/>
    <p:sldId id="298" r:id="rId6"/>
    <p:sldId id="292" r:id="rId7"/>
    <p:sldId id="300" r:id="rId8"/>
    <p:sldId id="299" r:id="rId9"/>
    <p:sldId id="301" r:id="rId10"/>
    <p:sldId id="296" r:id="rId11"/>
    <p:sldId id="283" r:id="rId12"/>
    <p:sldId id="302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4890" autoAdjust="0"/>
    <p:restoredTop sz="84615" autoAdjust="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232" d="100"/>
        <a:sy n="232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C2939-B1A7-4514-8535-C0FA2719FDF5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C87CB-DD22-4F6F-BC7E-D0042601E3D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63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986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O(|T|(|A|+|B|)(</a:t>
            </a:r>
            <a:r>
              <a:rPr lang="el-GR" altLang="zh-TW" dirty="0"/>
              <a:t>α+β))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592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k,s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是一個集合 裡面的放置的元素為 可以使得目標字船長度為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的情況下，最後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MLCS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的長度為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時，被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的兩個字串的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  <a:p>
            <a:pPr marL="0" indent="0">
              <a:buFont typeface="Arial" pitchFamily="34" charset="0"/>
              <a:buNone/>
            </a:pP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因為我們要找最長的，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集合處理完之後，下一個就是找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，所以當然是多看一個目標字元，看能否使長度多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3836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k,s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是一個集合 裡面的放置的元素為 可以使得目標字船長度為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的情況下，最後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MLCS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的長度為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時，被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的兩個字串的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  <a:p>
            <a:pPr marL="0" indent="0">
              <a:buFont typeface="Arial" pitchFamily="34" charset="0"/>
              <a:buNone/>
            </a:pP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因為我們要找最長的，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集合處理完之後，下一個就是找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r>
              <a:rPr lang="zh-TW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，所以當然是多看一個目標字元，看能否使長度多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856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TW" sz="1200" dirty="0"/>
              <a:t>n|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pt-BR" altLang="zh-TW" sz="1200" dirty="0"/>
              <a:t>| </a:t>
            </a:r>
            <a:r>
              <a:rPr lang="zh-TW" altLang="en-US" sz="1200" dirty="0"/>
              <a:t>為</a:t>
            </a:r>
            <a:r>
              <a:rPr lang="en-US" altLang="zh-TW" dirty="0"/>
              <a:t>Successor table</a:t>
            </a:r>
          </a:p>
          <a:p>
            <a:r>
              <a:rPr lang="zh-TW" altLang="en-US" dirty="0"/>
              <a:t>迴圈最多</a:t>
            </a:r>
            <a:r>
              <a:rPr lang="en-US" altLang="zh-TW" dirty="0"/>
              <a:t>(r − L +1) times</a:t>
            </a:r>
            <a:r>
              <a:rPr lang="zh-TW" altLang="en-US" dirty="0"/>
              <a:t> </a:t>
            </a:r>
            <a:r>
              <a:rPr lang="en-US" altLang="zh-TW" dirty="0"/>
              <a:t>6-5+1=2</a:t>
            </a:r>
          </a:p>
          <a:p>
            <a:r>
              <a:rPr lang="en-US" altLang="zh-TW" dirty="0"/>
              <a:t>L</a:t>
            </a:r>
            <a:r>
              <a:rPr lang="zh-TW" altLang="en-US" dirty="0"/>
              <a:t>為</a:t>
            </a:r>
            <a:r>
              <a:rPr lang="en-US" altLang="zh-TW" dirty="0"/>
              <a:t>MLCS</a:t>
            </a:r>
            <a:r>
              <a:rPr lang="zh-TW" altLang="en-US" dirty="0"/>
              <a:t>長度</a:t>
            </a:r>
            <a:endParaRPr lang="en-US" altLang="zh-TW" dirty="0"/>
          </a:p>
          <a:p>
            <a:r>
              <a:rPr lang="pt-BR" altLang="zh-TW" sz="1200" dirty="0"/>
              <a:t>m</a:t>
            </a:r>
            <a:r>
              <a:rPr lang="zh-TW" altLang="en-US" sz="1200" dirty="0"/>
              <a:t>為</a:t>
            </a:r>
            <a:r>
              <a:rPr lang="en-US" altLang="zh-TW" dirty="0"/>
              <a:t>Dominate</a:t>
            </a:r>
            <a:r>
              <a:rPr lang="zh-TW" altLang="en-US" dirty="0"/>
              <a:t> 時間</a:t>
            </a:r>
            <a:endParaRPr lang="pt-BR" altLang="zh-TW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475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TW" sz="1200" dirty="0"/>
              <a:t>n|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pt-BR" altLang="zh-TW" sz="1200" dirty="0"/>
              <a:t>| </a:t>
            </a:r>
            <a:r>
              <a:rPr lang="zh-TW" altLang="en-US" sz="1200" dirty="0"/>
              <a:t>為</a:t>
            </a:r>
            <a:r>
              <a:rPr lang="en-US" altLang="zh-TW" dirty="0"/>
              <a:t>Successor table</a:t>
            </a:r>
          </a:p>
          <a:p>
            <a:r>
              <a:rPr lang="zh-TW" altLang="en-US" dirty="0"/>
              <a:t>迴圈最多</a:t>
            </a:r>
            <a:r>
              <a:rPr lang="en-US" altLang="zh-TW" dirty="0"/>
              <a:t>(r − L +1) times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L</a:t>
            </a:r>
            <a:r>
              <a:rPr lang="zh-TW" altLang="en-US" dirty="0"/>
              <a:t>為</a:t>
            </a:r>
            <a:r>
              <a:rPr lang="en-US" altLang="zh-TW" dirty="0"/>
              <a:t>MLCS</a:t>
            </a:r>
            <a:r>
              <a:rPr lang="zh-TW" altLang="en-US" dirty="0"/>
              <a:t>長度</a:t>
            </a:r>
            <a:endParaRPr lang="en-US" altLang="zh-TW" dirty="0"/>
          </a:p>
          <a:p>
            <a:r>
              <a:rPr lang="el-GR" altLang="zh-TW" dirty="0"/>
              <a:t>δ</a:t>
            </a:r>
            <a:r>
              <a:rPr lang="zh-TW" altLang="en-US" sz="1200" dirty="0"/>
              <a:t>為</a:t>
            </a:r>
            <a:r>
              <a:rPr lang="en-US" altLang="zh-TW" dirty="0"/>
              <a:t>larger number of blocks of A and B</a:t>
            </a:r>
            <a:endParaRPr lang="pt-BR" altLang="zh-TW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046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(T</a:t>
            </a:r>
            <a:r>
              <a:rPr lang="zh-TW" altLang="en-US" dirty="0"/>
              <a:t>長度</a:t>
            </a:r>
            <a:r>
              <a:rPr lang="en-US" altLang="zh-TW" dirty="0"/>
              <a:t>,</a:t>
            </a:r>
            <a:r>
              <a:rPr lang="zh-TW" altLang="en-US" dirty="0"/>
              <a:t>相似度字串</a:t>
            </a:r>
            <a:r>
              <a:rPr lang="en-US" altLang="zh-TW" dirty="0"/>
              <a:t>A</a:t>
            </a:r>
            <a:r>
              <a:rPr lang="zh-TW" altLang="en-US" dirty="0"/>
              <a:t>與目標字串</a:t>
            </a:r>
            <a:r>
              <a:rPr lang="en-US" altLang="zh-TW" dirty="0"/>
              <a:t>T</a:t>
            </a:r>
            <a:r>
              <a:rPr lang="zh-TW" altLang="en-US" dirty="0"/>
              <a:t>數量比例</a:t>
            </a:r>
            <a:r>
              <a:rPr lang="en-US" altLang="zh-TW" dirty="0"/>
              <a:t>,</a:t>
            </a:r>
            <a:r>
              <a:rPr lang="zh-TW" altLang="en-US" dirty="0"/>
              <a:t>字母種類</a:t>
            </a:r>
            <a:r>
              <a:rPr lang="en-US" altLang="zh-TW" dirty="0"/>
              <a:t>,algorithm</a:t>
            </a:r>
            <a:r>
              <a:rPr lang="zh-TW" altLang="en-US" dirty="0"/>
              <a:t>名稱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similarity</a:t>
            </a:r>
            <a:r>
              <a:rPr lang="zh-TW" altLang="en-US" dirty="0"/>
              <a:t>解與原字串相似度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234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(T</a:t>
            </a:r>
            <a:r>
              <a:rPr lang="zh-TW" altLang="en-US" dirty="0"/>
              <a:t>長度</a:t>
            </a:r>
            <a:r>
              <a:rPr lang="en-US" altLang="zh-TW" dirty="0"/>
              <a:t>,</a:t>
            </a:r>
            <a:r>
              <a:rPr lang="zh-TW" altLang="en-US" dirty="0"/>
              <a:t>相似度字串</a:t>
            </a:r>
            <a:r>
              <a:rPr lang="en-US" altLang="zh-TW" dirty="0"/>
              <a:t>A</a:t>
            </a:r>
            <a:r>
              <a:rPr lang="zh-TW" altLang="en-US" dirty="0"/>
              <a:t>與目標字串</a:t>
            </a:r>
            <a:r>
              <a:rPr lang="en-US" altLang="zh-TW" dirty="0"/>
              <a:t>T</a:t>
            </a:r>
            <a:r>
              <a:rPr lang="zh-TW" altLang="en-US" dirty="0"/>
              <a:t>數量比例</a:t>
            </a:r>
            <a:r>
              <a:rPr lang="en-US" altLang="zh-TW" dirty="0"/>
              <a:t>,</a:t>
            </a:r>
            <a:r>
              <a:rPr lang="zh-TW" altLang="en-US" dirty="0"/>
              <a:t>字母種類</a:t>
            </a:r>
            <a:r>
              <a:rPr lang="en-US" altLang="zh-TW" dirty="0"/>
              <a:t>,algorithm</a:t>
            </a:r>
            <a:r>
              <a:rPr lang="zh-TW" altLang="en-US" dirty="0"/>
              <a:t>名稱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similarity</a:t>
            </a:r>
            <a:r>
              <a:rPr lang="zh-TW" altLang="en-US" dirty="0"/>
              <a:t>解與原字串相似度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altLang="zh-TW" dirty="0"/>
              <a:t>O(n|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pt-BR" altLang="zh-TW" dirty="0"/>
              <a:t>|+(r − L +1)Lm)</a:t>
            </a:r>
          </a:p>
          <a:p>
            <a:r>
              <a:rPr lang="en-US" altLang="zh-TW" dirty="0"/>
              <a:t>L = r/2 , whose similarity is 50%</a:t>
            </a:r>
          </a:p>
          <a:p>
            <a:r>
              <a:rPr lang="en-US" altLang="zh-TW" dirty="0"/>
              <a:t>https://www.geogebra.org/graphing?lang=zh-TW</a:t>
            </a:r>
          </a:p>
          <a:p>
            <a:r>
              <a:rPr lang="en-US" altLang="zh-TW" dirty="0"/>
              <a:t>f(x)=x (1-x)</a:t>
            </a:r>
          </a:p>
          <a:p>
            <a:r>
              <a:rPr lang="zh-TW" altLang="en-US" dirty="0"/>
              <a:t>解釋為何會凸起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211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7A5FF-B09D-4861-A15A-3127FCDEB20B}" type="datetimeFigureOut">
              <a:rPr lang="zh-TW" altLang="en-US" smtClean="0"/>
              <a:pPr/>
              <a:t>2022/3/23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020BB-2F3A-40BC-8D8D-94312CEA4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20" y="672353"/>
            <a:ext cx="8671576" cy="2328019"/>
          </a:xfrm>
        </p:spPr>
        <p:txBody>
          <a:bodyPr anchor="t">
            <a:no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Merged Longest Common Subsequence </a:t>
            </a:r>
            <a:r>
              <a:rPr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Sequences </a:t>
            </a:r>
            <a:br>
              <a:rPr lang="af-ZA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f-ZA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af-ZA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014221-E47C-4C31-898A-DB1330B1B844}"/>
              </a:ext>
            </a:extLst>
          </p:cNvPr>
          <p:cNvSpPr txBox="1"/>
          <p:nvPr/>
        </p:nvSpPr>
        <p:spPr>
          <a:xfrm>
            <a:off x="6084168" y="5862481"/>
            <a:ext cx="2775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Presenter:</a:t>
            </a:r>
            <a:r>
              <a:rPr lang="zh-TW" altLang="en-US" dirty="0"/>
              <a:t> </a:t>
            </a:r>
            <a:r>
              <a:rPr lang="en-US" altLang="zh-TW" dirty="0" err="1"/>
              <a:t>Chien</a:t>
            </a:r>
            <a:r>
              <a:rPr lang="en-US" altLang="zh-TW" dirty="0"/>
              <a:t>-Ting Lee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altLang="zh-TW" dirty="0"/>
              <a:t>Date:</a:t>
            </a:r>
            <a:r>
              <a:rPr lang="zh-TW" altLang="en-US" dirty="0"/>
              <a:t> </a:t>
            </a:r>
            <a:r>
              <a:rPr lang="en-US" altLang="zh-TW" dirty="0"/>
              <a:t>Mar</a:t>
            </a:r>
            <a:r>
              <a:rPr lang="x-none" altLang="zh-TW" dirty="0"/>
              <a:t>. </a:t>
            </a:r>
            <a:r>
              <a:rPr lang="en-US" altLang="zh-TW" dirty="0"/>
              <a:t>23</a:t>
            </a:r>
            <a:r>
              <a:rPr lang="x-none" altLang="zh-TW" dirty="0"/>
              <a:t>, 202</a:t>
            </a:r>
            <a:r>
              <a:rPr lang="en-US" altLang="zh-TW" dirty="0"/>
              <a:t>2</a:t>
            </a:r>
            <a:endParaRPr lang="x-none" altLang="zh-TW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C2097824-8D05-480F-BF6D-DD8BBC3EF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71810"/>
            <a:ext cx="9144000" cy="207927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Kuo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-Tsung Tseng, De-Sheng Chan, Chang-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Biau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and Shou-Fu Lo</a:t>
            </a:r>
          </a:p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Theoretical Computer Science</a:t>
            </a:r>
          </a:p>
          <a:p>
            <a:pPr>
              <a:spcBef>
                <a:spcPts val="10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Volume 708, 17 January 2018, Pages 75-90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br>
              <a:rPr lang="en-US" altLang="zh-TW" sz="3200" b="0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63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pair of merging sequences A, B and a target sequence T , the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merged longest common subsequence (MLCS) problem is to find out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longest common subsequence (LCS) between sequences E(A, B)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 , where E(A, B) is obtained from merging two subsequences of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and B. In this paper, we first propose an algorithm for solving the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MLCS problem in O(n|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+ (r − L + 1)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O(n|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+ 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space, where r and L denote the lengths of T and MLCS, respectively,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 and n denote the shorter and longer lengths of A and B,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respectively. From the time complexity, it is clear that our algorithm is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efficient when T and E(A, B) are very similar.</a:t>
            </a:r>
            <a:r>
              <a:rPr lang="en-US" altLang="zh-TW" sz="1400" dirty="0"/>
              <a:t> </a:t>
            </a: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slight modification, our algorithm can also solve another merged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LCS problem variant, the block-merged LCS (BMLCS) problem, in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O(n|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|+(r − L +1)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Lδ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O(n|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|+ 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Lδ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space, where δ denotes the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larger number of blocks of A and B. Experimental results show that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algorithms are faster than other previously published MLCS and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BMLCS algorithms for sequences with high similarities.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MLCS</a:t>
            </a:r>
            <a:br>
              <a:rPr lang="en-US" altLang="zh-TW" dirty="0"/>
            </a:br>
            <a:r>
              <a:rPr lang="en-US" altLang="zh-TW" dirty="0"/>
              <a:t>(merged LCS)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CF6E69C-58DC-48B1-82AA-20F395045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Target:aba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A:dda         B:bac</a:t>
            </a: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                          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E4B0CE-6FBF-4C9C-85CD-036AE0B88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6" y="2786058"/>
            <a:ext cx="2266950" cy="25717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DBB08F5-ADCF-44BB-A8DE-5B446D39D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554" y="2786058"/>
            <a:ext cx="2228850" cy="25622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5A87CC5-B433-4935-A700-22A01957B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8" y="2786058"/>
            <a:ext cx="2247900" cy="2562225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5B5994C6-92E5-4E2E-AC2B-89CA60AD33A9}"/>
              </a:ext>
            </a:extLst>
          </p:cNvPr>
          <p:cNvSpPr txBox="1"/>
          <p:nvPr/>
        </p:nvSpPr>
        <p:spPr>
          <a:xfrm>
            <a:off x="457200" y="5301208"/>
            <a:ext cx="77152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rnm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|T | = r   |A| = m    |B| = n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    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BMLCS</a:t>
            </a:r>
            <a:br>
              <a:rPr lang="en-US" altLang="zh-TW" dirty="0"/>
            </a:br>
            <a:r>
              <a:rPr lang="en-US" altLang="zh-TW" dirty="0"/>
              <a:t>(block-merged LCS)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6CF6E69C-58DC-48B1-82AA-20F3950455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56792"/>
                <a:ext cx="8229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T:actcg 	</a:t>
                </a:r>
                <a:r>
                  <a:rPr lang="pt-BR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A:A1 A2=a#cg# 	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B:B1 B2=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ccc#a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 B) = A1 A2 B1 B2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acgccca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 B) = A1 B1 A2 B2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accccga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 B) = A1 B1 B2 A2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acccacg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 B) = B1 B2 A1 A2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cccaacg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 B) = B1 A1 B2 A2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cccaacg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 B) = B1 A1 A2 B2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cccacga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answer of BMLCS(A, B, T ) is LCS(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 B), T ) or LCS(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 B), T ), whose content is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accg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rn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δ)δ =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max{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α, β}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α, β: number of blocks in A and B</a:t>
                </a: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xmlns="" id="{6CF6E69C-58DC-48B1-82AA-20F395045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56792"/>
                <a:ext cx="8229600" cy="4525963"/>
              </a:xfrm>
              <a:blipFill>
                <a:blip r:embed="rId3"/>
                <a:stretch>
                  <a:fillRect l="-1333" t="-2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505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MLCS</a:t>
            </a:r>
            <a:r>
              <a:rPr lang="zh-TW" altLang="en-US" dirty="0"/>
              <a:t> </a:t>
            </a:r>
            <a:r>
              <a:rPr lang="en-US" altLang="zh-TW" dirty="0"/>
              <a:t>in this paper</a:t>
            </a:r>
            <a:endParaRPr lang="zh-TW" altLang="en-US" dirty="0"/>
          </a:p>
        </p:txBody>
      </p:sp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8CE5921C-40B4-41B4-A0D7-42E5B284DC0A}"/>
              </a:ext>
            </a:extLst>
          </p:cNvPr>
          <p:cNvSpPr txBox="1">
            <a:spLocks/>
          </p:cNvSpPr>
          <p:nvPr/>
        </p:nvSpPr>
        <p:spPr>
          <a:xfrm>
            <a:off x="457200" y="1417638"/>
            <a:ext cx="8229600" cy="5165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where k, s ≥ 0, denote the dominating set {i2, j2 | MLCS(A1..i2 , B1.. j2 , T1..k) = s, and for any &lt;i1, j1&gt; that dominates &lt;i2, j2&gt; , MLCS(A1..i1 , B1.. j1 , T1..k) ≤ s − 1}.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</a:p>
          <a:p>
            <a:pPr marL="0" indent="0">
              <a:buNone/>
            </a:pPr>
            <a:r>
              <a:rPr lang="en-US" altLang="zh-TW" sz="2400" dirty="0"/>
              <a:t>A = </a:t>
            </a:r>
            <a:r>
              <a:rPr lang="en-US" altLang="zh-TW" sz="2400" dirty="0" err="1"/>
              <a:t>acg</a:t>
            </a:r>
            <a:r>
              <a:rPr lang="en-US" altLang="zh-TW" sz="2400" dirty="0"/>
              <a:t>  B = </a:t>
            </a:r>
            <a:r>
              <a:rPr lang="en-US" altLang="zh-TW" sz="2400" dirty="0" err="1"/>
              <a:t>ccca</a:t>
            </a:r>
            <a:r>
              <a:rPr lang="en-US" altLang="zh-TW" sz="2400" dirty="0"/>
              <a:t> T = </a:t>
            </a:r>
            <a:r>
              <a:rPr lang="en-US" altLang="zh-TW" sz="2400" dirty="0" err="1"/>
              <a:t>actcgc</a:t>
            </a:r>
            <a:r>
              <a:rPr lang="en-US" altLang="zh-TW" sz="2400" dirty="0"/>
              <a:t>. D</a:t>
            </a:r>
            <a:r>
              <a:rPr lang="en-US" altLang="zh-TW" sz="2400" baseline="-25000" dirty="0"/>
              <a:t>1,1</a:t>
            </a:r>
            <a:r>
              <a:rPr lang="en-US" altLang="zh-TW" sz="2400" dirty="0"/>
              <a:t> = {&lt;1, 0&gt;,&lt;0, 4&gt;}</a:t>
            </a:r>
          </a:p>
          <a:p>
            <a:pPr marL="0" indent="0">
              <a:buNone/>
            </a:pPr>
            <a:r>
              <a:rPr lang="en-US" altLang="zh-TW" sz="2400" dirty="0"/>
              <a:t>&lt;2,0&gt;</a:t>
            </a:r>
            <a:r>
              <a:rPr lang="zh-TW" altLang="en-US" sz="2400" dirty="0"/>
              <a:t> </a:t>
            </a:r>
            <a:r>
              <a:rPr lang="en-US" altLang="zh-TW" sz="2400" dirty="0"/>
              <a:t>dominate &lt;2,4&gt; </a:t>
            </a:r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 err="1"/>
              <a:t>Dominate:Merge</a:t>
            </a:r>
            <a:r>
              <a:rPr lang="en-US" altLang="zh-TW" sz="2400" dirty="0"/>
              <a:t> two sets of 2-tuples and to remove all 2-tuples that are dominated by others.</a:t>
            </a:r>
          </a:p>
          <a:p>
            <a:pPr marL="0" indent="0">
              <a:buNone/>
            </a:pPr>
            <a:r>
              <a:rPr lang="en-US" altLang="zh-TW" sz="2400" dirty="0"/>
              <a:t>EX:</a:t>
            </a:r>
          </a:p>
          <a:p>
            <a:pPr marL="0" indent="0">
              <a:buNone/>
            </a:pPr>
            <a:r>
              <a:rPr lang="en-US" altLang="zh-TW" sz="2400" dirty="0"/>
              <a:t>W = {&lt;1,1&gt; ,&lt;2,0&gt; ,&lt;2,4&gt;}. We get Dominate(W) = {&lt;1,1&gt; ,&lt;2,0&gt;}, since &lt;2,4&gt; is dominated by &lt;2,0&gt; .</a:t>
            </a:r>
          </a:p>
        </p:txBody>
      </p:sp>
    </p:spTree>
    <p:extLst>
      <p:ext uri="{BB962C8B-B14F-4D97-AF65-F5344CB8AC3E}">
        <p14:creationId xmlns:p14="http://schemas.microsoft.com/office/powerpoint/2010/main" val="3912718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MLCS in this paper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4">
                <a:extLst>
                  <a:ext uri="{FF2B5EF4-FFF2-40B4-BE49-F238E27FC236}">
                    <a16:creationId xmlns:a16="http://schemas.microsoft.com/office/drawing/2014/main" id="{8CE5921C-40B4-41B4-A0D7-42E5B284DC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417638"/>
                <a:ext cx="8229600" cy="51657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ExtA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dirty="0"/>
                  <a:t>D</a:t>
                </a:r>
                <a:r>
                  <a:rPr lang="en-US" altLang="zh-TW" sz="2400" baseline="-25000" dirty="0"/>
                  <a:t>X,Y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dirty="0"/>
                  <a:t>D</a:t>
                </a:r>
                <a:r>
                  <a:rPr lang="en-US" altLang="zh-TW" sz="2400" baseline="-25000" dirty="0"/>
                  <a:t>X,Y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D</a:t>
                </a:r>
                <a:r>
                  <a:rPr lang="en-US" altLang="zh-TW" sz="2400" baseline="-25000" dirty="0"/>
                  <a:t>X,Y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TW" sz="2400" dirty="0"/>
                  <a:t> D</a:t>
                </a:r>
                <a:r>
                  <a:rPr lang="en-US" altLang="zh-TW" sz="2400" baseline="-25000" dirty="0"/>
                  <a:t>X+1,Y+1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's  elements</a:t>
                </a:r>
              </a:p>
              <a:p>
                <a:pPr marL="0" indent="0">
                  <a:buNone/>
                </a:pPr>
                <a:r>
                  <a:rPr lang="pt-BR" altLang="zh-TW" sz="2400" dirty="0"/>
                  <a:t>ExtA(</a:t>
                </a:r>
                <a:r>
                  <a:rPr lang="en-US" altLang="zh-TW" sz="2400" dirty="0"/>
                  <a:t>D</a:t>
                </a:r>
                <a:r>
                  <a:rPr lang="en-US" altLang="zh-TW" sz="2400" baseline="-25000" dirty="0"/>
                  <a:t>1,1</a:t>
                </a:r>
                <a:r>
                  <a:rPr lang="pt-BR" altLang="zh-TW" sz="2400" dirty="0"/>
                  <a:t>) = {&lt;2, 0&gt;,&lt;2, 4&gt; }</a:t>
                </a:r>
              </a:p>
              <a:p>
                <a:pPr marL="0" indent="0">
                  <a:buNone/>
                </a:pPr>
                <a:r>
                  <a:rPr lang="en-US" altLang="zh-TW" sz="2400" dirty="0" err="1"/>
                  <a:t>ExtB</a:t>
                </a:r>
                <a:r>
                  <a:rPr lang="en-US" altLang="zh-TW" sz="2400" dirty="0"/>
                  <a:t>(D</a:t>
                </a:r>
                <a:r>
                  <a:rPr lang="en-US" altLang="zh-TW" sz="2400" baseline="-25000" dirty="0"/>
                  <a:t>1,1</a:t>
                </a:r>
                <a:r>
                  <a:rPr lang="en-US" altLang="zh-TW" sz="2400" dirty="0"/>
                  <a:t>) = {&lt;1, 1&gt;}</a:t>
                </a:r>
              </a:p>
            </p:txBody>
          </p:sp>
        </mc:Choice>
        <mc:Fallback xmlns="">
          <p:sp>
            <p:nvSpPr>
              <p:cNvPr id="11" name="內容版面配置區 4">
                <a:extLst>
                  <a:ext uri="{FF2B5EF4-FFF2-40B4-BE49-F238E27FC236}">
                    <a16:creationId xmlns:a16="http://schemas.microsoft.com/office/drawing/2014/main" xmlns="" id="{8CE5921C-40B4-41B4-A0D7-42E5B284D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7638"/>
                <a:ext cx="8229600" cy="5165724"/>
              </a:xfrm>
              <a:prstGeom prst="rect">
                <a:avLst/>
              </a:prstGeom>
              <a:blipFill>
                <a:blip r:embed="rId3"/>
                <a:stretch>
                  <a:fillRect l="-1111" t="-10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112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D73F31A-D9CB-428C-A25F-C2FF4544B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682104"/>
            <a:ext cx="8147248" cy="490713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MLCS in this paper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B35589-6359-47F2-BD2B-676475CC9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8264C4-78FC-485F-BE29-624E4F7E4BAE}"/>
              </a:ext>
            </a:extLst>
          </p:cNvPr>
          <p:cNvSpPr txBox="1"/>
          <p:nvPr/>
        </p:nvSpPr>
        <p:spPr>
          <a:xfrm>
            <a:off x="457200" y="5550625"/>
            <a:ext cx="7715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TW" sz="2400" dirty="0"/>
              <a:t>O(n|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pt-BR" altLang="zh-TW" sz="2400" dirty="0"/>
              <a:t>| + (r − L + 1)Lm)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  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9692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FD456BF-A6AC-471A-9055-869725AC8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012132"/>
            <a:ext cx="7416824" cy="45611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BMLCS in this paper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B35589-6359-47F2-BD2B-676475CC9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104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D19F57E-443D-4C0A-AF26-6189BE233153}"/>
              </a:ext>
            </a:extLst>
          </p:cNvPr>
          <p:cNvSpPr txBox="1"/>
          <p:nvPr/>
        </p:nvSpPr>
        <p:spPr>
          <a:xfrm>
            <a:off x="428650" y="5373217"/>
            <a:ext cx="7715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BExtA</a:t>
            </a:r>
            <a:r>
              <a:rPr lang="pt-BR" altLang="zh-TW" sz="2400" dirty="0"/>
              <a:t>(</a:t>
            </a:r>
            <a:r>
              <a:rPr lang="en-US" altLang="zh-TW" sz="2400" dirty="0"/>
              <a:t>1,1</a:t>
            </a:r>
            <a:r>
              <a:rPr lang="pt-BR" altLang="zh-TW" sz="2400" dirty="0"/>
              <a:t>)</a:t>
            </a:r>
            <a:r>
              <a:rPr lang="en-US" altLang="zh-TW" sz="2400" dirty="0"/>
              <a:t>=</a:t>
            </a:r>
            <a:r>
              <a:rPr lang="zh-TW" alt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∅</a:t>
            </a:r>
            <a:r>
              <a:rPr lang="en-US" altLang="zh-TW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			</a:t>
            </a:r>
            <a:r>
              <a:rPr lang="en-US" altLang="zh-TW" sz="2400" dirty="0" err="1"/>
              <a:t>BExtA</a:t>
            </a:r>
            <a:r>
              <a:rPr lang="pt-BR" altLang="zh-TW" sz="2400" dirty="0"/>
              <a:t>(</a:t>
            </a:r>
            <a:r>
              <a:rPr lang="en-US" altLang="zh-TW" sz="2400" dirty="0"/>
              <a:t>2,0</a:t>
            </a:r>
            <a:r>
              <a:rPr lang="pt-BR" altLang="zh-TW" sz="2400" dirty="0"/>
              <a:t>)</a:t>
            </a:r>
            <a:r>
              <a:rPr lang="en-US" altLang="zh-TW" sz="2400" dirty="0"/>
              <a:t>=</a:t>
            </a:r>
            <a:r>
              <a:rPr lang="zh-TW" alt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∅</a:t>
            </a:r>
            <a:endParaRPr lang="en-US" altLang="zh-TW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 sz="2400" dirty="0" err="1"/>
              <a:t>BExtB</a:t>
            </a:r>
            <a:r>
              <a:rPr lang="pt-BR" altLang="zh-TW" sz="2400" dirty="0"/>
              <a:t>(</a:t>
            </a:r>
            <a:r>
              <a:rPr lang="en-US" altLang="zh-TW" sz="2400" dirty="0"/>
              <a:t>1,1</a:t>
            </a:r>
            <a:r>
              <a:rPr lang="pt-BR" altLang="zh-TW" sz="2400" dirty="0"/>
              <a:t>)</a:t>
            </a:r>
            <a:r>
              <a:rPr lang="en-US" altLang="zh-TW" sz="2400" dirty="0"/>
              <a:t>=&lt;1,2&gt;		</a:t>
            </a:r>
            <a:r>
              <a:rPr lang="en-US" altLang="zh-TW" sz="2400" dirty="0" err="1"/>
              <a:t>BExtB</a:t>
            </a:r>
            <a:r>
              <a:rPr lang="pt-BR" altLang="zh-TW" sz="2400" dirty="0"/>
              <a:t>(</a:t>
            </a:r>
            <a:r>
              <a:rPr lang="en-US" altLang="zh-TW" sz="2400" dirty="0"/>
              <a:t>2,0</a:t>
            </a:r>
            <a:r>
              <a:rPr lang="pt-BR" altLang="zh-TW" sz="2400" dirty="0"/>
              <a:t>)</a:t>
            </a:r>
            <a:r>
              <a:rPr lang="en-US" altLang="zh-TW" sz="2400" dirty="0"/>
              <a:t>=&lt;3,1&gt;</a:t>
            </a:r>
          </a:p>
          <a:p>
            <a:r>
              <a:rPr lang="pt-BR" altLang="zh-TW" sz="2400" dirty="0"/>
              <a:t>O(n|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pt-BR" altLang="zh-TW" sz="2400" dirty="0"/>
              <a:t>| + (r − L + 1)</a:t>
            </a:r>
            <a:r>
              <a:rPr lang="en-US" altLang="zh-TW" sz="2400" dirty="0"/>
              <a:t> L</a:t>
            </a:r>
            <a:r>
              <a:rPr lang="el-GR" altLang="zh-TW" sz="2400" dirty="0"/>
              <a:t>δ</a:t>
            </a:r>
            <a:r>
              <a:rPr lang="pt-BR" altLang="zh-TW" sz="2400" dirty="0"/>
              <a:t>)</a:t>
            </a:r>
          </a:p>
          <a:p>
            <a:endParaRPr lang="pt-BR" altLang="zh-TW" sz="2400" dirty="0"/>
          </a:p>
          <a:p>
            <a:endParaRPr lang="pt-BR" altLang="zh-TW" sz="2400" dirty="0"/>
          </a:p>
          <a:p>
            <a:endParaRPr lang="en-US" altLang="zh-TW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  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4738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F90EEF-4B13-4966-97FE-8F031D71A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18" y="1357298"/>
            <a:ext cx="5824007" cy="478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2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51BBC58-F005-4CC2-A055-24C4291CE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1600200"/>
            <a:ext cx="5832648" cy="47093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E7CB79-75E1-4AF0-99D4-F21AB5D83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1589916"/>
            <a:ext cx="583882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09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2883</TotalTime>
  <Words>1155</Words>
  <Application>Microsoft Office PowerPoint</Application>
  <PresentationFormat>如螢幕大小 (4:3)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佈景主題</vt:lpstr>
      <vt:lpstr>Efficient Merged Longest Common Subsequence Algorithms for Similar Sequences  ​  </vt:lpstr>
      <vt:lpstr>Abstract(1/2)</vt:lpstr>
      <vt:lpstr>Abstract(2/2)</vt:lpstr>
      <vt:lpstr>MLCS (merged LCS)</vt:lpstr>
      <vt:lpstr>BMLCS (block-merged LCS)</vt:lpstr>
      <vt:lpstr>MLCS in this paper</vt:lpstr>
      <vt:lpstr>MLCS in this paper</vt:lpstr>
      <vt:lpstr>MLCS in this paper</vt:lpstr>
      <vt:lpstr>BMLCS in this paper</vt:lpstr>
      <vt:lpstr>Experimental results</vt:lpstr>
      <vt:lpstr>Experimental results</vt:lpstr>
      <vt:lpstr>Experimental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李健廷</dc:creator>
  <cp:lastModifiedBy>pplab</cp:lastModifiedBy>
  <cp:revision>180</cp:revision>
  <dcterms:created xsi:type="dcterms:W3CDTF">2022-02-04T17:32:31Z</dcterms:created>
  <dcterms:modified xsi:type="dcterms:W3CDTF">2022-03-23T11:37:38Z</dcterms:modified>
</cp:coreProperties>
</file>