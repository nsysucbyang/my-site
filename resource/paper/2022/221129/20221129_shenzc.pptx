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沈之承" initials="沈之承" lastIdx="2" clrIdx="0">
    <p:extLst>
      <p:ext uri="{19B8F6BF-5375-455C-9EA6-DF929625EA0E}">
        <p15:presenceInfo xmlns:p15="http://schemas.microsoft.com/office/powerpoint/2012/main" userId="25d5769b3392efd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0" d="100"/>
          <a:sy n="80" d="100"/>
        </p:scale>
        <p:origin x="1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DF010-EF5C-48E9-9776-09CCBA18C21D}" type="datetimeFigureOut">
              <a:rPr lang="zh-TW" altLang="en-US" smtClean="0"/>
              <a:t>2022/11/29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63C8B-65B0-48D4-AA1B-FAF23CF2A812}" type="slidenum">
              <a:rPr lang="zh-TW" altLang="en-US" smtClean="0"/>
              <a:t>‹#›</a:t>
            </a:fld>
            <a:endParaRPr lang="zh-TW" altLang="en-US"/>
          </a:p>
        </p:txBody>
      </p:sp>
    </p:spTree>
    <p:extLst>
      <p:ext uri="{BB962C8B-B14F-4D97-AF65-F5344CB8AC3E}">
        <p14:creationId xmlns:p14="http://schemas.microsoft.com/office/powerpoint/2010/main" val="4025125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F83CD1D-2912-4D1A-BD7F-05D8030CD23E}" type="datetime1">
              <a:rPr lang="zh-TW" altLang="en-US" smtClean="0"/>
              <a:t>2022/11/29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911343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E6283DF-2779-45CA-B3AC-FC8E0F2C4632}" type="datetime1">
              <a:rPr lang="zh-TW" altLang="en-US" smtClean="0"/>
              <a:t>2022/11/29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56056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DB69A9F6-DEB7-4D7F-9B0E-B14EC202A4DC}" type="datetime1">
              <a:rPr lang="zh-TW" altLang="en-US" smtClean="0"/>
              <a:t>2022/11/29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261296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0AE708C-B6C3-4A8A-B5EE-17FAF9AFFC04}" type="datetime1">
              <a:rPr lang="zh-TW" altLang="en-US" smtClean="0"/>
              <a:t>2022/11/29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1518779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86BBBF3-4B6C-48A8-BDF7-1C4D7EA43953}" type="datetime1">
              <a:rPr lang="zh-TW" altLang="en-US" smtClean="0"/>
              <a:t>2022/11/29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73663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854525E-1B16-4251-AD98-DF27D4862225}" type="datetime1">
              <a:rPr lang="zh-TW" altLang="en-US" smtClean="0"/>
              <a:t>2022/11/29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81319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844E37D-20C0-479C-9AF5-50C9E833BDE5}" type="datetime1">
              <a:rPr lang="zh-TW" altLang="en-US" smtClean="0"/>
              <a:t>2022/11/29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316105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CFEC245D-FA6B-4306-A9DF-5F2B317F53D5}" type="datetime1">
              <a:rPr lang="zh-TW" altLang="en-US" smtClean="0"/>
              <a:t>2022/11/29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137725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FECFE312-39B1-411E-A967-C5A02055E425}" type="datetime1">
              <a:rPr lang="zh-TW" altLang="en-US" smtClean="0"/>
              <a:t>2022/11/29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3721096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06DC573-127D-448C-99FB-1FE637FE1F96}" type="datetime1">
              <a:rPr lang="zh-TW" altLang="en-US" smtClean="0"/>
              <a:t>2022/11/29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206720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EC53C09-0A82-4EA9-9A48-CA14D178FE99}" type="datetime1">
              <a:rPr lang="zh-TW" altLang="en-US" smtClean="0"/>
              <a:t>2022/11/29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2079559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E7EBD0-79BF-4771-80B4-5E9525DD5227}" type="datetime1">
              <a:rPr lang="zh-TW" altLang="en-US" smtClean="0"/>
              <a:t>2022/11/29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73F47-13E3-4C24-896B-9F6E401FCE72}" type="slidenum">
              <a:rPr lang="zh-TW" altLang="en-US" smtClean="0"/>
              <a:t>‹#›</a:t>
            </a:fld>
            <a:endParaRPr lang="zh-TW" altLang="en-US"/>
          </a:p>
        </p:txBody>
      </p:sp>
    </p:spTree>
    <p:extLst>
      <p:ext uri="{BB962C8B-B14F-4D97-AF65-F5344CB8AC3E}">
        <p14:creationId xmlns:p14="http://schemas.microsoft.com/office/powerpoint/2010/main" val="2927786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829800" cy="1135807"/>
          </a:xfrm>
        </p:spPr>
        <p:txBody>
          <a:bodyPr>
            <a:noAutofit/>
          </a:bodyPr>
          <a:lstStyle/>
          <a:p>
            <a:r>
              <a:rPr lang="en-US" altLang="zh-TW" sz="4800" dirty="0" smtClean="0">
                <a:latin typeface="Times New Roman" panose="02020603050405020304" pitchFamily="18" charset="0"/>
                <a:cs typeface="Times New Roman" panose="02020603050405020304" pitchFamily="18" charset="0"/>
              </a:rPr>
              <a:t>Parallel Research on KMP Algorithm</a:t>
            </a:r>
            <a:endParaRPr lang="zh-TW" altLang="en-US" sz="48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24000" y="2854518"/>
            <a:ext cx="9144000" cy="2472856"/>
          </a:xfrm>
        </p:spPr>
        <p:txBody>
          <a:bodyPr/>
          <a:lstStyle/>
          <a:p>
            <a:r>
              <a:rPr lang="en-US" altLang="zh-TW" dirty="0" err="1" smtClean="0">
                <a:latin typeface="Times New Roman" panose="02020603050405020304" pitchFamily="18" charset="0"/>
                <a:cs typeface="Times New Roman" panose="02020603050405020304" pitchFamily="18" charset="0"/>
              </a:rPr>
              <a:t>Panwei</a:t>
            </a:r>
            <a:r>
              <a:rPr lang="en-US" altLang="zh-TW" dirty="0" smtClean="0">
                <a:latin typeface="Times New Roman" panose="02020603050405020304" pitchFamily="18" charset="0"/>
                <a:cs typeface="Times New Roman" panose="02020603050405020304" pitchFamily="18" charset="0"/>
              </a:rPr>
              <a:t> Cao, </a:t>
            </a:r>
            <a:r>
              <a:rPr lang="en-US" altLang="zh-TW" dirty="0" err="1" smtClean="0">
                <a:latin typeface="Times New Roman" panose="02020603050405020304" pitchFamily="18" charset="0"/>
                <a:cs typeface="Times New Roman" panose="02020603050405020304" pitchFamily="18" charset="0"/>
              </a:rPr>
              <a:t>Suping</a:t>
            </a:r>
            <a:r>
              <a:rPr lang="en-US" altLang="zh-TW" dirty="0" smtClean="0">
                <a:latin typeface="Times New Roman" panose="02020603050405020304" pitchFamily="18" charset="0"/>
                <a:cs typeface="Times New Roman" panose="02020603050405020304" pitchFamily="18" charset="0"/>
              </a:rPr>
              <a:t> Wu</a:t>
            </a:r>
          </a:p>
          <a:p>
            <a:r>
              <a:rPr lang="en-US" altLang="zh-TW" dirty="0" smtClean="0">
                <a:latin typeface="Times New Roman" panose="02020603050405020304" pitchFamily="18" charset="0"/>
                <a:cs typeface="Times New Roman" panose="02020603050405020304" pitchFamily="18" charset="0"/>
              </a:rPr>
              <a:t>2011 </a:t>
            </a:r>
            <a:r>
              <a:rPr lang="en-US" altLang="zh-TW" dirty="0">
                <a:latin typeface="Times New Roman" panose="02020603050405020304" pitchFamily="18" charset="0"/>
                <a:cs typeface="Times New Roman" panose="02020603050405020304" pitchFamily="18" charset="0"/>
              </a:rPr>
              <a:t>International Conference on Consumer Electronics, Communications and Networks (</a:t>
            </a:r>
            <a:r>
              <a:rPr lang="en-US" altLang="zh-TW" dirty="0" err="1">
                <a:latin typeface="Times New Roman" panose="02020603050405020304" pitchFamily="18" charset="0"/>
                <a:cs typeface="Times New Roman" panose="02020603050405020304" pitchFamily="18" charset="0"/>
              </a:rPr>
              <a:t>CECNet</a:t>
            </a:r>
            <a:r>
              <a:rPr lang="en-US" altLang="zh-TW" dirty="0" smtClean="0">
                <a:latin typeface="Times New Roman" panose="02020603050405020304" pitchFamily="18" charset="0"/>
                <a:cs typeface="Times New Roman" panose="02020603050405020304" pitchFamily="18" charset="0"/>
              </a:rPr>
              <a:t>),</a:t>
            </a:r>
          </a:p>
          <a:p>
            <a:r>
              <a:rPr lang="en-US" altLang="zh-TW" dirty="0" err="1" smtClean="0">
                <a:latin typeface="Times New Roman" panose="02020603050405020304" pitchFamily="18" charset="0"/>
                <a:cs typeface="Times New Roman" panose="02020603050405020304" pitchFamily="18" charset="0"/>
              </a:rPr>
              <a:t>Kirchberg</a:t>
            </a:r>
            <a:r>
              <a:rPr lang="en-US" altLang="zh-TW" dirty="0" smtClean="0">
                <a:latin typeface="Times New Roman" panose="02020603050405020304" pitchFamily="18" charset="0"/>
                <a:cs typeface="Times New Roman" panose="02020603050405020304" pitchFamily="18" charset="0"/>
              </a:rPr>
              <a:t>, Luxembourg</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1</a:t>
            </a:fld>
            <a:endParaRPr lang="zh-TW" altLang="en-US"/>
          </a:p>
        </p:txBody>
      </p:sp>
      <p:sp>
        <p:nvSpPr>
          <p:cNvPr id="7" name="文字方塊 6"/>
          <p:cNvSpPr txBox="1"/>
          <p:nvPr/>
        </p:nvSpPr>
        <p:spPr>
          <a:xfrm>
            <a:off x="7942690" y="5253077"/>
            <a:ext cx="4079019" cy="1107996"/>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Presenter</a:t>
            </a:r>
            <a:r>
              <a:rPr lang="en-US" altLang="zh-TW" sz="2400" dirty="0">
                <a:latin typeface="Times New Roman" panose="02020603050405020304" pitchFamily="18" charset="0"/>
                <a:cs typeface="Times New Roman" panose="02020603050405020304" pitchFamily="18" charset="0"/>
              </a:rPr>
              <a:t>: ZHI-CHENG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SHEN</a:t>
            </a:r>
          </a:p>
          <a:p>
            <a:r>
              <a:rPr lang="en-US" altLang="zh-TW" sz="2400" dirty="0">
                <a:latin typeface="Times New Roman" panose="02020603050405020304" pitchFamily="18" charset="0"/>
                <a:cs typeface="Times New Roman" panose="02020603050405020304" pitchFamily="18" charset="0"/>
              </a:rPr>
              <a:t>Date: </a:t>
            </a:r>
            <a:r>
              <a:rPr lang="en-US" altLang="zh-TW" sz="2400" dirty="0" smtClean="0">
                <a:latin typeface="Times New Roman" panose="02020603050405020304" pitchFamily="18" charset="0"/>
                <a:cs typeface="Times New Roman" panose="02020603050405020304" pitchFamily="18" charset="0"/>
              </a:rPr>
              <a:t>Nov.29 </a:t>
            </a:r>
            <a:r>
              <a:rPr lang="en-US" altLang="zh-TW" sz="2400" dirty="0">
                <a:latin typeface="Times New Roman" panose="02020603050405020304" pitchFamily="18" charset="0"/>
                <a:cs typeface="Times New Roman" panose="02020603050405020304" pitchFamily="18" charset="0"/>
              </a:rPr>
              <a:t>, 2022</a:t>
            </a:r>
          </a:p>
          <a:p>
            <a:endParaRPr lang="zh-TW" altLang="en-US" dirty="0"/>
          </a:p>
        </p:txBody>
      </p:sp>
    </p:spTree>
    <p:extLst>
      <p:ext uri="{BB962C8B-B14F-4D97-AF65-F5344CB8AC3E}">
        <p14:creationId xmlns:p14="http://schemas.microsoft.com/office/powerpoint/2010/main" val="25651712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690689"/>
            <a:ext cx="10515600" cy="4486274"/>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The tradition pattern matching algorithm need backtrack and compare repeatedly, so that affects efficiency of algorithm . Knuth and others put forward KMP algorithm in order to promote efficiency of the pattern matching. Parallel KMP algorithm based on MPI is provided in this paper, which can get higher efficiency.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2</a:t>
            </a:fld>
            <a:endParaRPr lang="zh-TW" altLang="en-US"/>
          </a:p>
        </p:txBody>
      </p:sp>
    </p:spTree>
    <p:extLst>
      <p:ext uri="{BB962C8B-B14F-4D97-AF65-F5344CB8AC3E}">
        <p14:creationId xmlns:p14="http://schemas.microsoft.com/office/powerpoint/2010/main" val="4324120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Introduction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Pattern matching algorithm is applied extensively in text editing, information retrieval, spell checking, dictionary-based language translation, WWW search engines, computer virus signature matching, data compression, DNA sequence matching and other computer application system.</a:t>
            </a:r>
          </a:p>
          <a:p>
            <a:pPr marL="0" indent="0">
              <a:buNone/>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3</a:t>
            </a:fld>
            <a:endParaRPr lang="zh-TW" altLang="en-US"/>
          </a:p>
        </p:txBody>
      </p:sp>
    </p:spTree>
    <p:extLst>
      <p:ext uri="{BB962C8B-B14F-4D97-AF65-F5344CB8AC3E}">
        <p14:creationId xmlns:p14="http://schemas.microsoft.com/office/powerpoint/2010/main" val="2859123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MPI</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大量的平行運算對電腦而言，實際上是個非常複雜及花時間的過程，因此發展了</a:t>
            </a: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MPI(Message Passing Interface </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訊息傳輸介面</a:t>
            </a: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 </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，才得以標準化平行處理計算。</a:t>
            </a:r>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MPI</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是一個函式庫，而不是一門語言，所以直接</a:t>
            </a: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include</a:t>
            </a:r>
            <a:r>
              <a:rPr lang="zh-TW" altLang="en-US" dirty="0">
                <a:latin typeface="標楷體" panose="03000509000000000000" pitchFamily="65" charset="-120"/>
                <a:ea typeface="標楷體" panose="03000509000000000000" pitchFamily="65" charset="-120"/>
                <a:cs typeface="Times New Roman" panose="02020603050405020304" pitchFamily="18" charset="0"/>
              </a:rPr>
              <a:t>進</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來即可使用</a:t>
            </a:r>
            <a:endParaRPr lang="zh-TW" altLang="en-US"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4</a:t>
            </a:fld>
            <a:endParaRPr lang="zh-TW" altLang="en-US"/>
          </a:p>
        </p:txBody>
      </p:sp>
    </p:spTree>
    <p:extLst>
      <p:ext uri="{BB962C8B-B14F-4D97-AF65-F5344CB8AC3E}">
        <p14:creationId xmlns:p14="http://schemas.microsoft.com/office/powerpoint/2010/main" val="1572212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Simple Pattern </a:t>
            </a:r>
            <a:r>
              <a:rPr lang="en-US" altLang="zh-TW" dirty="0">
                <a:latin typeface="Times New Roman" panose="02020603050405020304" pitchFamily="18" charset="0"/>
                <a:cs typeface="Times New Roman" panose="02020603050405020304" pitchFamily="18" charset="0"/>
              </a:rPr>
              <a:t>M</a:t>
            </a:r>
            <a:r>
              <a:rPr lang="en-US" altLang="zh-TW" dirty="0" smtClean="0">
                <a:latin typeface="Times New Roman" panose="02020603050405020304" pitchFamily="18" charset="0"/>
                <a:cs typeface="Times New Roman" panose="02020603050405020304" pitchFamily="18" charset="0"/>
              </a:rPr>
              <a:t>atching </a:t>
            </a:r>
            <a:r>
              <a:rPr lang="en-US" altLang="zh-TW" dirty="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t = a b </a:t>
            </a:r>
            <a:r>
              <a:rPr lang="en-US" altLang="zh-TW" dirty="0" err="1" smtClean="0">
                <a:latin typeface="Times New Roman" panose="02020603050405020304" pitchFamily="18" charset="0"/>
                <a:cs typeface="Times New Roman" panose="02020603050405020304" pitchFamily="18" charset="0"/>
              </a:rPr>
              <a:t>b</a:t>
            </a:r>
            <a:r>
              <a:rPr lang="en-US" altLang="zh-TW" dirty="0" smtClean="0">
                <a:latin typeface="Times New Roman" panose="02020603050405020304" pitchFamily="18" charset="0"/>
                <a:cs typeface="Times New Roman" panose="02020603050405020304" pitchFamily="18" charset="0"/>
              </a:rPr>
              <a:t> a b a</a:t>
            </a:r>
          </a:p>
          <a:p>
            <a:pPr marL="0" indent="0">
              <a:buNone/>
            </a:pPr>
            <a:r>
              <a:rPr lang="en-US" altLang="zh-TW" dirty="0" smtClean="0">
                <a:latin typeface="Times New Roman" panose="02020603050405020304" pitchFamily="18" charset="0"/>
                <a:cs typeface="Times New Roman" panose="02020603050405020304" pitchFamily="18" charset="0"/>
              </a:rPr>
              <a:t>p = a b a</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Length(t) = n</a:t>
            </a:r>
          </a:p>
          <a:p>
            <a:pPr marL="0" indent="0">
              <a:buNone/>
            </a:pPr>
            <a:r>
              <a:rPr lang="en-US" altLang="zh-TW" dirty="0" smtClean="0">
                <a:latin typeface="Times New Roman" panose="02020603050405020304" pitchFamily="18" charset="0"/>
                <a:cs typeface="Times New Roman" panose="02020603050405020304" pitchFamily="18" charset="0"/>
              </a:rPr>
              <a:t>Length(p) = 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5</a:t>
            </a:fld>
            <a:endParaRPr lang="zh-TW" altLang="en-US"/>
          </a:p>
        </p:txBody>
      </p:sp>
    </p:spTree>
    <p:extLst>
      <p:ext uri="{BB962C8B-B14F-4D97-AF65-F5344CB8AC3E}">
        <p14:creationId xmlns:p14="http://schemas.microsoft.com/office/powerpoint/2010/main" val="38738017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65915"/>
            <a:ext cx="10515600" cy="1325563"/>
          </a:xfrm>
        </p:spPr>
        <p:txBody>
          <a:bodyPr/>
          <a:lstStyle/>
          <a:p>
            <a:r>
              <a:rPr lang="en-US" altLang="zh-TW" dirty="0" smtClean="0">
                <a:latin typeface="Times New Roman" panose="02020603050405020304" pitchFamily="18" charset="0"/>
                <a:cs typeface="Times New Roman" panose="02020603050405020304" pitchFamily="18" charset="0"/>
              </a:rPr>
              <a:t>KMP</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91478"/>
            <a:ext cx="10515600" cy="4785485"/>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t = a </a:t>
            </a:r>
            <a:r>
              <a:rPr lang="en-US" altLang="zh-TW" dirty="0" err="1" smtClean="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 b a </a:t>
            </a:r>
            <a:r>
              <a:rPr lang="en-US" altLang="zh-TW" dirty="0" err="1" smtClean="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 b a </a:t>
            </a:r>
            <a:r>
              <a:rPr lang="en-US" altLang="zh-TW" dirty="0" err="1" smtClean="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 f</a:t>
            </a:r>
          </a:p>
          <a:p>
            <a:pPr marL="0" indent="0">
              <a:buNone/>
            </a:pPr>
            <a:r>
              <a:rPr lang="en-US" altLang="zh-TW" dirty="0" smtClean="0">
                <a:latin typeface="Times New Roman" panose="02020603050405020304" pitchFamily="18" charset="0"/>
                <a:cs typeface="Times New Roman" panose="02020603050405020304" pitchFamily="18" charset="0"/>
              </a:rPr>
              <a:t>p = a </a:t>
            </a:r>
            <a:r>
              <a:rPr lang="en-US" altLang="zh-TW" dirty="0" err="1" smtClean="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 b a </a:t>
            </a:r>
            <a:r>
              <a:rPr lang="en-US" altLang="zh-TW" dirty="0" err="1" smtClean="0">
                <a:latin typeface="Times New Roman" panose="02020603050405020304" pitchFamily="18" charset="0"/>
                <a:cs typeface="Times New Roman" panose="02020603050405020304" pitchFamily="18" charset="0"/>
              </a:rPr>
              <a:t>a</a:t>
            </a:r>
            <a:r>
              <a:rPr lang="en-US" altLang="zh-TW" dirty="0" smtClean="0">
                <a:latin typeface="Times New Roman" panose="02020603050405020304" pitchFamily="18" charset="0"/>
                <a:cs typeface="Times New Roman" panose="02020603050405020304" pitchFamily="18" charset="0"/>
              </a:rPr>
              <a:t> f</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next[] = 0 1 0 1 2 0</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When </a:t>
            </a:r>
            <a:r>
              <a:rPr lang="en-US" altLang="zh-TW" dirty="0">
                <a:latin typeface="Times New Roman" panose="02020603050405020304" pitchFamily="18" charset="0"/>
                <a:cs typeface="Times New Roman" panose="02020603050405020304" pitchFamily="18" charset="0"/>
              </a:rPr>
              <a:t>the string is very </a:t>
            </a:r>
            <a:r>
              <a:rPr lang="en-US" altLang="zh-TW" dirty="0" smtClean="0">
                <a:latin typeface="Times New Roman" panose="02020603050405020304" pitchFamily="18" charset="0"/>
                <a:cs typeface="Times New Roman" panose="02020603050405020304" pitchFamily="18" charset="0"/>
              </a:rPr>
              <a:t>long </a:t>
            </a:r>
            <a:r>
              <a:rPr lang="en-US" altLang="zh-TW" dirty="0" smtClean="0">
                <a:solidFill>
                  <a:srgbClr val="FF0000"/>
                </a:solidFill>
                <a:latin typeface="Times New Roman" panose="02020603050405020304" pitchFamily="18" charset="0"/>
                <a:cs typeface="Times New Roman" panose="02020603050405020304" pitchFamily="18" charset="0"/>
              </a:rPr>
              <a:t>-&gt;</a:t>
            </a:r>
            <a:r>
              <a:rPr lang="en-US" altLang="zh-TW" dirty="0" smtClean="0">
                <a:latin typeface="Times New Roman" panose="02020603050405020304" pitchFamily="18" charset="0"/>
                <a:cs typeface="Times New Roman" panose="02020603050405020304" pitchFamily="18" charset="0"/>
              </a:rPr>
              <a:t> behind </a:t>
            </a:r>
            <a:r>
              <a:rPr lang="en-US" altLang="zh-TW" dirty="0">
                <a:latin typeface="Times New Roman" panose="02020603050405020304" pitchFamily="18" charset="0"/>
                <a:cs typeface="Times New Roman" panose="02020603050405020304" pitchFamily="18" charset="0"/>
              </a:rPr>
              <a:t>the </a:t>
            </a:r>
            <a:r>
              <a:rPr lang="en-US" altLang="zh-TW" dirty="0" smtClean="0">
                <a:latin typeface="Times New Roman" panose="02020603050405020304" pitchFamily="18" charset="0"/>
                <a:cs typeface="Times New Roman" panose="02020603050405020304" pitchFamily="18" charset="0"/>
              </a:rPr>
              <a:t>characters comparing </a:t>
            </a:r>
            <a:r>
              <a:rPr lang="en-US" altLang="zh-TW" dirty="0">
                <a:latin typeface="Times New Roman" panose="02020603050405020304" pitchFamily="18" charset="0"/>
                <a:cs typeface="Times New Roman" panose="02020603050405020304" pitchFamily="18" charset="0"/>
              </a:rPr>
              <a:t>of the string t need </a:t>
            </a:r>
            <a:r>
              <a:rPr lang="en-US" altLang="zh-TW" dirty="0" smtClean="0">
                <a:latin typeface="Times New Roman" panose="02020603050405020304" pitchFamily="18" charset="0"/>
                <a:cs typeface="Times New Roman" panose="02020603050405020304" pitchFamily="18" charset="0"/>
              </a:rPr>
              <a:t>waiting </a:t>
            </a:r>
            <a:r>
              <a:rPr lang="en-US" altLang="zh-TW" dirty="0" smtClean="0">
                <a:solidFill>
                  <a:srgbClr val="FF0000"/>
                </a:solidFill>
                <a:latin typeface="Times New Roman" panose="02020603050405020304" pitchFamily="18" charset="0"/>
                <a:cs typeface="Times New Roman" panose="02020603050405020304" pitchFamily="18" charset="0"/>
              </a:rPr>
              <a:t>-&gt; </a:t>
            </a:r>
            <a:r>
              <a:rPr lang="en-US" altLang="zh-TW" dirty="0" smtClean="0">
                <a:latin typeface="Times New Roman" panose="02020603050405020304" pitchFamily="18" charset="0"/>
                <a:cs typeface="Times New Roman" panose="02020603050405020304" pitchFamily="18" charset="0"/>
              </a:rPr>
              <a:t>but </a:t>
            </a:r>
            <a:r>
              <a:rPr lang="en-US" altLang="zh-TW" dirty="0">
                <a:latin typeface="Times New Roman" panose="02020603050405020304" pitchFamily="18" charset="0"/>
                <a:cs typeface="Times New Roman" panose="02020603050405020304" pitchFamily="18" charset="0"/>
              </a:rPr>
              <a:t>the front </a:t>
            </a:r>
            <a:r>
              <a:rPr lang="en-US" altLang="zh-TW" dirty="0" smtClean="0">
                <a:latin typeface="Times New Roman" panose="02020603050405020304" pitchFamily="18" charset="0"/>
                <a:cs typeface="Times New Roman" panose="02020603050405020304" pitchFamily="18" charset="0"/>
              </a:rPr>
              <a:t>characters comparing </a:t>
            </a:r>
            <a:r>
              <a:rPr lang="en-US" altLang="zh-TW" dirty="0">
                <a:latin typeface="Times New Roman" panose="02020603050405020304" pitchFamily="18" charset="0"/>
                <a:cs typeface="Times New Roman" panose="02020603050405020304" pitchFamily="18" charset="0"/>
              </a:rPr>
              <a:t>has no irrelevant with behind the </a:t>
            </a:r>
            <a:r>
              <a:rPr lang="en-US" altLang="zh-TW" dirty="0" smtClean="0">
                <a:latin typeface="Times New Roman" panose="02020603050405020304" pitchFamily="18" charset="0"/>
                <a:cs typeface="Times New Roman" panose="02020603050405020304" pitchFamily="18" charset="0"/>
              </a:rPr>
              <a:t>characters comparing </a:t>
            </a:r>
            <a:r>
              <a:rPr lang="en-US" altLang="zh-TW" dirty="0" smtClean="0">
                <a:solidFill>
                  <a:srgbClr val="FF0000"/>
                </a:solidFill>
                <a:latin typeface="Times New Roman" panose="02020603050405020304" pitchFamily="18" charset="0"/>
                <a:cs typeface="Times New Roman" panose="02020603050405020304" pitchFamily="18" charset="0"/>
              </a:rPr>
              <a:t>-&gt;</a:t>
            </a:r>
            <a:r>
              <a:rPr lang="en-US" altLang="zh-TW" dirty="0" smtClean="0">
                <a:latin typeface="Times New Roman" panose="02020603050405020304" pitchFamily="18" charset="0"/>
                <a:cs typeface="Times New Roman" panose="02020603050405020304" pitchFamily="18" charset="0"/>
              </a:rPr>
              <a:t> means </a:t>
            </a:r>
            <a:r>
              <a:rPr lang="en-US" altLang="zh-TW" dirty="0">
                <a:latin typeface="Times New Roman" panose="02020603050405020304" pitchFamily="18" charset="0"/>
                <a:cs typeface="Times New Roman" panose="02020603050405020304" pitchFamily="18" charset="0"/>
              </a:rPr>
              <a:t>we spend a lot of time in the queue.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6</a:t>
            </a:fld>
            <a:endParaRPr lang="zh-TW" altLang="en-US"/>
          </a:p>
        </p:txBody>
      </p:sp>
    </p:spTree>
    <p:extLst>
      <p:ext uri="{BB962C8B-B14F-4D97-AF65-F5344CB8AC3E}">
        <p14:creationId xmlns:p14="http://schemas.microsoft.com/office/powerpoint/2010/main" val="3986977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0"/>
            <a:ext cx="10515600" cy="1340831"/>
          </a:xfrm>
        </p:spPr>
        <p:txBody>
          <a:bodyPr/>
          <a:lstStyle/>
          <a:p>
            <a:r>
              <a:rPr lang="en-US" altLang="zh-TW" dirty="0" smtClean="0">
                <a:latin typeface="Times New Roman" panose="02020603050405020304" pitchFamily="18" charset="0"/>
                <a:cs typeface="Times New Roman" panose="02020603050405020304" pitchFamily="18" charset="0"/>
              </a:rPr>
              <a:t>Parallel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740228" y="1039918"/>
            <a:ext cx="10515600" cy="5818082"/>
          </a:xfrm>
        </p:spPr>
        <p:txBody>
          <a:bodyPr>
            <a:normAutofit fontScale="92500" lnSpcReduction="20000"/>
          </a:bodyPr>
          <a:lstStyle/>
          <a:p>
            <a:pPr marL="0" indent="0">
              <a:buNone/>
            </a:pPr>
            <a:r>
              <a:rPr lang="en-US" altLang="zh-TW" dirty="0" smtClean="0">
                <a:latin typeface="Times New Roman" panose="02020603050405020304" pitchFamily="18" charset="0"/>
                <a:cs typeface="Times New Roman" panose="02020603050405020304" pitchFamily="18" charset="0"/>
              </a:rPr>
              <a:t>The consideration of solving this problem is to create ‘</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process and divide string t into ‘</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parts. Then each process is distributed ‘ (n/</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characters.</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limiting conditions:</a:t>
            </a: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The length of the string p should be less than or equal to the length of  string t. </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i.e.  Length(p) &lt;= Length(t</a:t>
            </a:r>
            <a:r>
              <a:rPr lang="en-US" altLang="zh-TW" dirty="0">
                <a:latin typeface="Times New Roman" panose="02020603050405020304" pitchFamily="18" charset="0"/>
                <a:cs typeface="Times New Roman" panose="02020603050405020304" pitchFamily="18" charset="0"/>
              </a:rPr>
              <a:t>)</a:t>
            </a:r>
            <a:endParaRPr lang="en-US" altLang="zh-TW" dirty="0" smtClean="0">
              <a:latin typeface="Times New Roman" panose="02020603050405020304" pitchFamily="18" charset="0"/>
              <a:cs typeface="Times New Roman" panose="02020603050405020304" pitchFamily="18" charset="0"/>
            </a:endParaRPr>
          </a:p>
          <a:p>
            <a:pPr marL="514350" indent="-514350">
              <a:buAutoNum type="arabicPeriod" startAt="2"/>
            </a:pPr>
            <a:r>
              <a:rPr lang="en-US" altLang="zh-TW" dirty="0" smtClean="0">
                <a:latin typeface="Times New Roman" panose="02020603050405020304" pitchFamily="18" charset="0"/>
                <a:cs typeface="Times New Roman" panose="02020603050405020304" pitchFamily="18" charset="0"/>
              </a:rPr>
              <a:t>The length of string which is distributed to each process should be larger than </a:t>
            </a:r>
          </a:p>
          <a:p>
            <a:pPr marL="0" indent="0">
              <a:buNone/>
            </a:pPr>
            <a:r>
              <a:rPr lang="en-US" altLang="zh-TW" dirty="0" smtClean="0">
                <a:latin typeface="Times New Roman" panose="02020603050405020304" pitchFamily="18" charset="0"/>
                <a:cs typeface="Times New Roman" panose="02020603050405020304" pitchFamily="18" charset="0"/>
              </a:rPr>
              <a:t>       the length of p.</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i.e. </a:t>
            </a:r>
            <a:r>
              <a:rPr lang="en-US" altLang="zh-TW" dirty="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n/</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&gt;= m</a:t>
            </a:r>
          </a:p>
          <a:p>
            <a:pPr marL="514350" indent="-514350">
              <a:buAutoNum type="arabicPeriod" startAt="2"/>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Ex. </a:t>
            </a:r>
            <a:r>
              <a:rPr lang="en-US" altLang="zh-TW" dirty="0">
                <a:latin typeface="Times New Roman" panose="02020603050405020304" pitchFamily="18" charset="0"/>
                <a:cs typeface="Times New Roman" panose="02020603050405020304" pitchFamily="18" charset="0"/>
              </a:rPr>
              <a:t>t</a:t>
            </a:r>
            <a:r>
              <a:rPr lang="en-US" altLang="zh-TW" dirty="0" smtClean="0">
                <a:latin typeface="Times New Roman" panose="02020603050405020304" pitchFamily="18" charset="0"/>
                <a:cs typeface="Times New Roman" panose="02020603050405020304" pitchFamily="18" charset="0"/>
              </a:rPr>
              <a:t> =  a b </a:t>
            </a:r>
            <a:r>
              <a:rPr lang="en-US" altLang="zh-TW" dirty="0" err="1" smtClean="0">
                <a:latin typeface="Times New Roman" panose="02020603050405020304" pitchFamily="18" charset="0"/>
                <a:cs typeface="Times New Roman" panose="02020603050405020304" pitchFamily="18" charset="0"/>
              </a:rPr>
              <a:t>b</a:t>
            </a:r>
            <a:r>
              <a:rPr lang="en-US" altLang="zh-TW" dirty="0" smtClean="0">
                <a:latin typeface="Times New Roman" panose="02020603050405020304" pitchFamily="18" charset="0"/>
                <a:cs typeface="Times New Roman" panose="02020603050405020304" pitchFamily="18" charset="0"/>
              </a:rPr>
              <a:t> a b a                </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 2</a:t>
            </a:r>
          </a:p>
          <a:p>
            <a:pPr marL="0" indent="0">
              <a:buNone/>
            </a:pPr>
            <a:r>
              <a:rPr lang="en-US" altLang="zh-TW" dirty="0" smtClean="0">
                <a:latin typeface="Times New Roman" panose="02020603050405020304" pitchFamily="18" charset="0"/>
                <a:cs typeface="Times New Roman" panose="02020603050405020304" pitchFamily="18" charset="0"/>
              </a:rPr>
              <a:t>      p = a b a                         t0 = </a:t>
            </a:r>
            <a:r>
              <a:rPr lang="en-US" altLang="zh-TW" dirty="0" err="1" smtClean="0">
                <a:latin typeface="Times New Roman" panose="02020603050405020304" pitchFamily="18" charset="0"/>
                <a:cs typeface="Times New Roman" panose="02020603050405020304" pitchFamily="18" charset="0"/>
              </a:rPr>
              <a:t>abb</a:t>
            </a:r>
            <a:r>
              <a:rPr lang="en-US" altLang="zh-TW" dirty="0" smtClean="0">
                <a:latin typeface="Times New Roman" panose="02020603050405020304" pitchFamily="18" charset="0"/>
                <a:cs typeface="Times New Roman" panose="02020603050405020304" pitchFamily="18" charset="0"/>
              </a:rPr>
              <a:t>,   t1 = aba</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zh-TW" altLang="en-US" dirty="0" smtClean="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7</a:t>
            </a:fld>
            <a:endParaRPr lang="zh-TW" altLang="en-US"/>
          </a:p>
        </p:txBody>
      </p:sp>
    </p:spTree>
    <p:extLst>
      <p:ext uri="{BB962C8B-B14F-4D97-AF65-F5344CB8AC3E}">
        <p14:creationId xmlns:p14="http://schemas.microsoft.com/office/powerpoint/2010/main" val="119134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72494" y="246491"/>
            <a:ext cx="10781306" cy="6002034"/>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When we disaggregate data, we encountered two problems:</a:t>
            </a:r>
            <a:endParaRPr lang="en-US" altLang="zh-TW" dirty="0">
              <a:latin typeface="Times New Roman" panose="02020603050405020304" pitchFamily="18" charset="0"/>
              <a:cs typeface="Times New Roman" panose="02020603050405020304" pitchFamily="18" charset="0"/>
            </a:endParaRP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After we segment the string t, we may distribute the successful matching string to the adjacent process.</a:t>
            </a:r>
          </a:p>
          <a:p>
            <a:pPr marL="0" indent="0">
              <a:buNone/>
            </a:pPr>
            <a:r>
              <a:rPr lang="en-US" altLang="zh-TW" dirty="0" smtClean="0">
                <a:latin typeface="Times New Roman" panose="02020603050405020304" pitchFamily="18" charset="0"/>
                <a:cs typeface="Times New Roman" panose="02020603050405020304" pitchFamily="18" charset="0"/>
              </a:rPr>
              <a:t>Ex. </a:t>
            </a:r>
            <a:r>
              <a:rPr lang="de-DE" altLang="zh-TW" dirty="0" smtClean="0">
                <a:latin typeface="Times New Roman" panose="02020603050405020304" pitchFamily="18" charset="0"/>
                <a:cs typeface="Times New Roman" panose="02020603050405020304" pitchFamily="18" charset="0"/>
              </a:rPr>
              <a:t>t = cdefabghij,  p = ab, n = 10, m = 2,  num = 2</a:t>
            </a:r>
          </a:p>
          <a:p>
            <a:pPr marL="0" indent="0">
              <a:buNone/>
            </a:pPr>
            <a:r>
              <a:rPr lang="de-DE" altLang="zh-TW" dirty="0">
                <a:latin typeface="Times New Roman" panose="02020603050405020304" pitchFamily="18" charset="0"/>
                <a:cs typeface="Times New Roman" panose="02020603050405020304" pitchFamily="18" charset="0"/>
              </a:rPr>
              <a:t> </a:t>
            </a:r>
            <a:r>
              <a:rPr lang="de-DE" altLang="zh-TW" dirty="0" smtClean="0">
                <a:latin typeface="Times New Roman" panose="02020603050405020304" pitchFamily="18" charset="0"/>
                <a:cs typeface="Times New Roman" panose="02020603050405020304" pitchFamily="18" charset="0"/>
              </a:rPr>
              <a:t>     t1 = cdefa</a:t>
            </a:r>
          </a:p>
          <a:p>
            <a:pPr marL="0" indent="0">
              <a:buNone/>
            </a:pPr>
            <a:r>
              <a:rPr lang="de-DE" altLang="zh-TW" dirty="0">
                <a:latin typeface="Times New Roman" panose="02020603050405020304" pitchFamily="18" charset="0"/>
                <a:cs typeface="Times New Roman" panose="02020603050405020304" pitchFamily="18" charset="0"/>
              </a:rPr>
              <a:t> </a:t>
            </a:r>
            <a:r>
              <a:rPr lang="de-DE" altLang="zh-TW" dirty="0" smtClean="0">
                <a:latin typeface="Times New Roman" panose="02020603050405020304" pitchFamily="18" charset="0"/>
                <a:cs typeface="Times New Roman" panose="02020603050405020304" pitchFamily="18" charset="0"/>
              </a:rPr>
              <a:t>     t2 = bghij</a:t>
            </a:r>
          </a:p>
          <a:p>
            <a:pPr marL="0" indent="0">
              <a:buNone/>
            </a:pPr>
            <a:endParaRPr lang="de-DE"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Solution: </a:t>
            </a:r>
            <a:r>
              <a:rPr lang="en-US" altLang="zh-TW" dirty="0">
                <a:latin typeface="Times New Roman" panose="02020603050405020304" pitchFamily="18" charset="0"/>
                <a:cs typeface="Times New Roman" panose="02020603050405020304" pitchFamily="18" charset="0"/>
              </a:rPr>
              <a:t>add m-1 to the length </a:t>
            </a:r>
            <a:r>
              <a:rPr lang="en-US" altLang="zh-TW" dirty="0" smtClean="0">
                <a:latin typeface="Times New Roman" panose="02020603050405020304" pitchFamily="18" charset="0"/>
                <a:cs typeface="Times New Roman" panose="02020603050405020304" pitchFamily="18" charset="0"/>
              </a:rPr>
              <a:t>of all processes(except last process), the     </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length of each process is (n/</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)+m-1.</a:t>
            </a:r>
          </a:p>
          <a:p>
            <a:pPr marL="0" indent="0">
              <a:buNone/>
            </a:pPr>
            <a:r>
              <a:rPr lang="en-US" altLang="zh-TW" dirty="0">
                <a:latin typeface="Times New Roman" panose="02020603050405020304" pitchFamily="18" charset="0"/>
                <a:cs typeface="Times New Roman" panose="02020603050405020304" pitchFamily="18" charset="0"/>
              </a:rPr>
              <a:t>n</a:t>
            </a:r>
            <a:r>
              <a:rPr lang="en-US" altLang="zh-TW" dirty="0" smtClean="0">
                <a:latin typeface="Times New Roman" panose="02020603050405020304" pitchFamily="18" charset="0"/>
                <a:cs typeface="Times New Roman" panose="02020603050405020304" pitchFamily="18" charset="0"/>
              </a:rPr>
              <a:t>ew t1 = </a:t>
            </a:r>
            <a:r>
              <a:rPr lang="en-US" altLang="zh-TW" dirty="0" err="1" smtClean="0">
                <a:latin typeface="Times New Roman" panose="02020603050405020304" pitchFamily="18" charset="0"/>
                <a:cs typeface="Times New Roman" panose="02020603050405020304" pitchFamily="18" charset="0"/>
              </a:rPr>
              <a:t>cdefab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new t2 = </a:t>
            </a:r>
            <a:r>
              <a:rPr lang="en-US" altLang="zh-TW" dirty="0" err="1" smtClean="0">
                <a:latin typeface="Times New Roman" panose="02020603050405020304" pitchFamily="18" charset="0"/>
                <a:cs typeface="Times New Roman" panose="02020603050405020304" pitchFamily="18" charset="0"/>
              </a:rPr>
              <a:t>bghij</a:t>
            </a:r>
            <a:endParaRPr lang="en-US" altLang="zh-TW"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8</a:t>
            </a:fld>
            <a:endParaRPr lang="zh-TW" altLang="en-US"/>
          </a:p>
        </p:txBody>
      </p:sp>
    </p:spTree>
    <p:extLst>
      <p:ext uri="{BB962C8B-B14F-4D97-AF65-F5344CB8AC3E}">
        <p14:creationId xmlns:p14="http://schemas.microsoft.com/office/powerpoint/2010/main" val="817945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143123"/>
            <a:ext cx="10515600" cy="6033840"/>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2. If n is not a multiple of </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a:t>
            </a:r>
          </a:p>
          <a:p>
            <a:pPr marL="0" indent="0">
              <a:buNone/>
            </a:pPr>
            <a:r>
              <a:rPr lang="en-US" altLang="zh-TW" dirty="0" smtClean="0">
                <a:latin typeface="Times New Roman" panose="02020603050405020304" pitchFamily="18" charset="0"/>
                <a:cs typeface="Times New Roman" panose="02020603050405020304" pitchFamily="18" charset="0"/>
              </a:rPr>
              <a:t>Ex. n = 1024, </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 = 10, 1024/10 = 102…4</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In this paper, we first assign n/</a:t>
            </a:r>
            <a:r>
              <a:rPr lang="en-US" altLang="zh-TW" dirty="0" err="1" smtClean="0">
                <a:latin typeface="Times New Roman" panose="02020603050405020304" pitchFamily="18" charset="0"/>
                <a:cs typeface="Times New Roman" panose="02020603050405020304" pitchFamily="18" charset="0"/>
              </a:rPr>
              <a:t>num</a:t>
            </a:r>
            <a:r>
              <a:rPr lang="en-US" altLang="zh-TW" dirty="0" smtClean="0">
                <a:latin typeface="Times New Roman" panose="02020603050405020304" pitchFamily="18" charset="0"/>
                <a:cs typeface="Times New Roman" panose="02020603050405020304" pitchFamily="18" charset="0"/>
              </a:rPr>
              <a:t>=102 characters to each process, and then assign one more character to former four process, so now the string length of four former process is 103, and the string length of remaining process is 102.</a:t>
            </a:r>
          </a:p>
          <a:p>
            <a:pPr marL="0" indent="0">
              <a:buNone/>
            </a:pPr>
            <a:r>
              <a:rPr lang="en-US" altLang="zh-TW" dirty="0" smtClean="0">
                <a:latin typeface="Times New Roman" panose="02020603050405020304" pitchFamily="18" charset="0"/>
                <a:cs typeface="Times New Roman" panose="02020603050405020304" pitchFamily="18" charset="0"/>
              </a:rPr>
              <a:t>i.e. </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前四組每組有</a:t>
            </a: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103</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個字元，剩下的六組每組維持</a:t>
            </a:r>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102</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個字元</a:t>
            </a:r>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endParaRPr lang="zh-TW" altLang="en-US"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9</a:t>
            </a:fld>
            <a:endParaRPr lang="zh-TW" altLang="en-US"/>
          </a:p>
        </p:txBody>
      </p:sp>
    </p:spTree>
    <p:extLst>
      <p:ext uri="{BB962C8B-B14F-4D97-AF65-F5344CB8AC3E}">
        <p14:creationId xmlns:p14="http://schemas.microsoft.com/office/powerpoint/2010/main" val="1042519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634"/>
            <a:ext cx="10515600" cy="922986"/>
          </a:xfrm>
        </p:spPr>
        <p:txBody>
          <a:bodyPr/>
          <a:lstStyle/>
          <a:p>
            <a:r>
              <a:rPr lang="en-US" altLang="zh-TW" dirty="0" smtClean="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922352"/>
            <a:ext cx="10515600" cy="5254612"/>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Operation </a:t>
            </a:r>
            <a:r>
              <a:rPr lang="en-US" altLang="zh-TW" dirty="0" err="1" smtClean="0">
                <a:latin typeface="Times New Roman" panose="02020603050405020304" pitchFamily="18" charset="0"/>
                <a:cs typeface="Times New Roman" panose="02020603050405020304" pitchFamily="18" charset="0"/>
              </a:rPr>
              <a:t>platform:Intel</a:t>
            </a:r>
            <a:r>
              <a:rPr lang="en-US" altLang="zh-TW" dirty="0" smtClean="0">
                <a:latin typeface="Times New Roman" panose="02020603050405020304" pitchFamily="18" charset="0"/>
                <a:cs typeface="Times New Roman" panose="02020603050405020304" pitchFamily="18" charset="0"/>
              </a:rPr>
              <a:t>® Core™2 Quad-cores</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processors.4G</a:t>
            </a:r>
            <a:r>
              <a:rPr lang="zh-TW" altLang="en-US"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memory.Software</a:t>
            </a:r>
            <a:r>
              <a:rPr lang="zh-TW" altLang="en-US"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environment:Windows</a:t>
            </a:r>
            <a:r>
              <a:rPr lang="en-US" altLang="zh-TW" dirty="0" smtClean="0">
                <a:latin typeface="Times New Roman" panose="02020603050405020304" pitchFamily="18" charset="0"/>
                <a:cs typeface="Times New Roman" panose="02020603050405020304" pitchFamily="18" charset="0"/>
              </a:rPr>
              <a:t> XP.</a:t>
            </a:r>
          </a:p>
          <a:p>
            <a:pPr marL="0" indent="0">
              <a:buNone/>
            </a:pPr>
            <a:endParaRPr lang="en-US" altLang="zh-TW" dirty="0"/>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10</a:t>
            </a:fld>
            <a:endParaRPr lang="zh-TW" altLang="en-US"/>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70614"/>
            <a:ext cx="5618259" cy="3632387"/>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949" y="1707750"/>
            <a:ext cx="4898003" cy="4719843"/>
          </a:xfrm>
          <a:prstGeom prst="rect">
            <a:avLst/>
          </a:prstGeom>
        </p:spPr>
      </p:pic>
    </p:spTree>
    <p:extLst>
      <p:ext uri="{BB962C8B-B14F-4D97-AF65-F5344CB8AC3E}">
        <p14:creationId xmlns:p14="http://schemas.microsoft.com/office/powerpoint/2010/main" val="4968183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Results analysis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With the increasing of search process number, the time</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for searching the target string is reduced. Actually, the</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speedup is not unlimited as the process increases. Under</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hardware conditions of this paper, we can achieve satisfactory</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results within 40 processes, but if more than 50</a:t>
            </a:r>
          </a:p>
          <a:p>
            <a:pPr marL="0" indent="0">
              <a:buNone/>
            </a:pPr>
            <a:r>
              <a:rPr lang="en-US" altLang="zh-TW" dirty="0" err="1" smtClean="0">
                <a:latin typeface="Times New Roman" panose="02020603050405020304" pitchFamily="18" charset="0"/>
                <a:cs typeface="Times New Roman" panose="02020603050405020304" pitchFamily="18" charset="0"/>
              </a:rPr>
              <a:t>processes,communication</a:t>
            </a:r>
            <a:r>
              <a:rPr lang="en-US" altLang="zh-TW" dirty="0" smtClean="0">
                <a:latin typeface="Times New Roman" panose="02020603050405020304" pitchFamily="18" charset="0"/>
                <a:cs typeface="Times New Roman" panose="02020603050405020304" pitchFamily="18" charset="0"/>
              </a:rPr>
              <a:t> error will occur.</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11</a:t>
            </a:fld>
            <a:endParaRPr lang="zh-TW" altLang="en-US"/>
          </a:p>
        </p:txBody>
      </p:sp>
    </p:spTree>
    <p:extLst>
      <p:ext uri="{BB962C8B-B14F-4D97-AF65-F5344CB8AC3E}">
        <p14:creationId xmlns:p14="http://schemas.microsoft.com/office/powerpoint/2010/main" val="38588223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We combine with MPI and KMP algorithm in this paper, using MPI's Multi-process to parallel KMP algorithm. By reducing the time waiting for matching, to improves the string matching efficiency.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12</a:t>
            </a:fld>
            <a:endParaRPr lang="zh-TW" altLang="en-US"/>
          </a:p>
        </p:txBody>
      </p:sp>
    </p:spTree>
    <p:extLst>
      <p:ext uri="{BB962C8B-B14F-4D97-AF65-F5344CB8AC3E}">
        <p14:creationId xmlns:p14="http://schemas.microsoft.com/office/powerpoint/2010/main" val="1168595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Thanks~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5E73F47-13E3-4C24-896B-9F6E401FCE72}" type="slidenum">
              <a:rPr lang="zh-TW" altLang="en-US" smtClean="0"/>
              <a:t>13</a:t>
            </a:fld>
            <a:endParaRPr lang="zh-TW" altLang="en-US"/>
          </a:p>
        </p:txBody>
      </p:sp>
    </p:spTree>
    <p:extLst>
      <p:ext uri="{BB962C8B-B14F-4D97-AF65-F5344CB8AC3E}">
        <p14:creationId xmlns:p14="http://schemas.microsoft.com/office/powerpoint/2010/main" val="132827281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708</Words>
  <Application>Microsoft Office PowerPoint</Application>
  <PresentationFormat>寬螢幕</PresentationFormat>
  <Paragraphs>76</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標楷體</vt:lpstr>
      <vt:lpstr>Arial</vt:lpstr>
      <vt:lpstr>Calibri</vt:lpstr>
      <vt:lpstr>Calibri Light</vt:lpstr>
      <vt:lpstr>Times New Roman</vt:lpstr>
      <vt:lpstr>Office 佈景主題</vt:lpstr>
      <vt:lpstr>Parallel Research on KMP Algorithm</vt:lpstr>
      <vt:lpstr>Abstract</vt:lpstr>
      <vt:lpstr>Introduction</vt:lpstr>
      <vt:lpstr>MPI</vt:lpstr>
      <vt:lpstr>Simple Pattern Matching Algorithm</vt:lpstr>
      <vt:lpstr>KMP</vt:lpstr>
      <vt:lpstr>Parallel Algorithm</vt:lpstr>
      <vt:lpstr>PowerPoint 簡報</vt:lpstr>
      <vt:lpstr>PowerPoint 簡報</vt:lpstr>
      <vt:lpstr>Experimental Results</vt:lpstr>
      <vt:lpstr>Results analysis</vt:lpstr>
      <vt:lpstr>Conclusion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Research on KMP Algorithm</dc:title>
  <dc:creator>沈之承</dc:creator>
  <cp:lastModifiedBy>沈之承</cp:lastModifiedBy>
  <cp:revision>19</cp:revision>
  <dcterms:created xsi:type="dcterms:W3CDTF">2022-11-27T15:21:14Z</dcterms:created>
  <dcterms:modified xsi:type="dcterms:W3CDTF">2022-11-29T10:24:12Z</dcterms:modified>
</cp:coreProperties>
</file>