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75" r:id="rId3"/>
    <p:sldId id="291" r:id="rId4"/>
    <p:sldId id="358" r:id="rId5"/>
    <p:sldId id="376" r:id="rId6"/>
    <p:sldId id="377" r:id="rId7"/>
    <p:sldId id="387" r:id="rId8"/>
    <p:sldId id="389" r:id="rId9"/>
    <p:sldId id="390" r:id="rId10"/>
    <p:sldId id="391" r:id="rId11"/>
    <p:sldId id="397" r:id="rId12"/>
    <p:sldId id="394" r:id="rId13"/>
    <p:sldId id="396" r:id="rId14"/>
    <p:sldId id="374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淺色樣式 1 - 輔色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59" autoAdjust="0"/>
    <p:restoredTop sz="92275" autoAdjust="0"/>
  </p:normalViewPr>
  <p:slideViewPr>
    <p:cSldViewPr snapToGrid="0">
      <p:cViewPr varScale="1">
        <p:scale>
          <a:sx n="67" d="100"/>
          <a:sy n="67" d="100"/>
        </p:scale>
        <p:origin x="8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5354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4708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4290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13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14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8512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5289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111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4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136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8025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1E1DC-9B0B-4445-BE92-0FA02D7ED6E3}" type="datetimeFigureOut">
              <a:rPr lang="zh-TW" altLang="en-US" smtClean="0"/>
              <a:t>2022/11/29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2D488F-C669-486C-8259-33525C253B4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842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52450" y="1101342"/>
            <a:ext cx="11430000" cy="1299561"/>
          </a:xfrm>
        </p:spPr>
        <p:txBody>
          <a:bodyPr>
            <a:normAutofit fontScale="90000"/>
          </a:bodyPr>
          <a:lstStyle/>
          <a:p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eﬃcient algorithm for the longest common palindromic subsequence problem</a:t>
            </a:r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269506" cy="2156012"/>
          </a:xfrm>
        </p:spPr>
        <p:txBody>
          <a:bodyPr>
            <a:normAutofit/>
          </a:bodyPr>
          <a:lstStyle/>
          <a:p>
            <a:r>
              <a:rPr lang="nn-NO" altLang="zh-TW" sz="2800" dirty="0">
                <a:cs typeface="Times New Roman" panose="02020603050405020304" pitchFamily="18" charset="0"/>
              </a:rPr>
              <a:t>Ting-Wei Liang, Chang-Biau Yang, Kuo-Si Huang</a:t>
            </a:r>
          </a:p>
          <a:p>
            <a:endParaRPr lang="it-IT" altLang="zh-TW" sz="2800" dirty="0">
              <a:cs typeface="Times New Roman" panose="02020603050405020304" pitchFamily="18" charset="0"/>
            </a:endParaRPr>
          </a:p>
          <a:p>
            <a:pPr>
              <a:spcBef>
                <a:spcPts val="479"/>
              </a:spcBef>
              <a:tabLst>
                <a:tab pos="0" algn="l"/>
              </a:tabLst>
            </a:pPr>
            <a:r>
              <a:rPr lang="en-US" altLang="zh-TW" sz="2800" dirty="0"/>
              <a:t>Theoretical Computer Science 922 (2022) 475–485</a:t>
            </a:r>
            <a:endParaRPr lang="en-US" altLang="zh-TW" sz="2800" dirty="0">
              <a:cs typeface="Times New Roman" panose="02020603050405020304" pitchFamily="18" charset="0"/>
            </a:endParaRPr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883004" y="5876925"/>
            <a:ext cx="288858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Ho</a:t>
            </a:r>
          </a:p>
          <a:p>
            <a:pPr>
              <a:lnSpc>
                <a:spcPct val="90000"/>
              </a:lnSpc>
              <a:spcBef>
                <a:spcPct val="0"/>
              </a:spcBef>
              <a:buNone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Nov. 28, 2022</a:t>
            </a:r>
          </a:p>
        </p:txBody>
      </p:sp>
    </p:spTree>
    <p:extLst>
      <p:ext uri="{BB962C8B-B14F-4D97-AF65-F5344CB8AC3E}">
        <p14:creationId xmlns:p14="http://schemas.microsoft.com/office/powerpoint/2010/main" val="3662505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(1/2)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520"/>
            <a:ext cx="11029950" cy="5110480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The longest common palindromic subsequence (LCPS) problem is a variant of the longest common subsequence (LCS) problem. Given two input sequences A and B, the LCPS problem is to ﬁnd the common subsequence of A and B such that the answer is a palindrome with the maximal length. The LCPS problem was ﬁrst proposed by Chowdhury et al. (2014) , who proposed a dynamic programming algorithm with O(m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n</a:t>
            </a:r>
            <a:r>
              <a:rPr lang="en-US" altLang="zh-TW" sz="3200" baseline="30000" dirty="0"/>
              <a:t>2</a:t>
            </a:r>
            <a:r>
              <a:rPr lang="en-US" altLang="zh-TW" sz="3200" dirty="0"/>
              <a:t>) time, where m and n denote the lengths of A and B, respectively. </a:t>
            </a:r>
          </a:p>
        </p:txBody>
      </p:sp>
    </p:spTree>
    <p:extLst>
      <p:ext uri="{BB962C8B-B14F-4D97-AF65-F5344CB8AC3E}">
        <p14:creationId xmlns:p14="http://schemas.microsoft.com/office/powerpoint/2010/main" val="77334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ED0E71-14AD-4E62-972C-221C5E86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82395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A93AAD-D6B7-4CD4-AC92-2D3922F8C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520"/>
            <a:ext cx="10515600" cy="4745355"/>
          </a:xfrm>
        </p:spPr>
        <p:txBody>
          <a:bodyPr>
            <a:normAutofit/>
          </a:bodyPr>
          <a:lstStyle/>
          <a:p>
            <a:r>
              <a:rPr lang="en-US" altLang="zh-TW" sz="3200" dirty="0"/>
              <a:t>This paper proposes a diagonal-based algorithm for solving the LCPS problem with O(L(m − L)R </a:t>
            </a:r>
            <a:r>
              <a:rPr lang="en-US" altLang="zh-TW" sz="3200" dirty="0" err="1"/>
              <a:t>logn</a:t>
            </a:r>
            <a:r>
              <a:rPr lang="en-US" altLang="zh-TW" sz="3200" dirty="0"/>
              <a:t>) time and O(RL) space, where R denotes the number of match pairs between A and B, and L denotes the LCPS length. In our algorithm, the 3-dimensional minima ﬁnding algorithm is invoked to  overcome the domination problem. As experimental results show, our algorithm is eﬃcient practically compared with some previously published algorithms.</a:t>
            </a:r>
            <a:endParaRPr lang="en-US" altLang="zh-TW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67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pc="-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Palindrome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TW" b="0" i="1" spc="-1" baseline="-250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b="0" i="0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̃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spc="-1" baseline="-25000" dirty="0">
                    <a:solidFill>
                      <a:srgbClr val="000000"/>
                    </a:solidFill>
                    <a:latin typeface="Times New Roman"/>
                  </a:rPr>
                  <a:t>1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2720">
                  <a:spcBef>
                    <a:spcPts val="56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zh-TW" b="0" i="1" spc="-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w</a:t>
                </a:r>
                <a:r>
                  <a:rPr lang="en-US" altLang="zh-TW" baseline="-25000" dirty="0">
                    <a:latin typeface="Times New Roman" panose="02020603050405020304" pitchFamily="18" charset="0"/>
                  </a:rPr>
                  <a:t>1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is a p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alindrome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349B4AB5-226B-50ED-5B04-DEE597C527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52571" y="1825625"/>
                <a:ext cx="5060309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spc="-1" baseline="-25000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457560" indent="-45720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14:m>
                  <m:oMath xmlns:m="http://schemas.openxmlformats.org/officeDocument/2006/math">
                    <m:r>
                      <a:rPr lang="en-US" altLang="zh-TW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acc>
                      <m:accPr>
                        <m:chr m:val="̃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en-US" altLang="zh-TW" spc="-1" baseline="-25000" dirty="0">
                    <a:solidFill>
                      <a:srgbClr val="000000"/>
                    </a:solidFill>
                    <a:latin typeface="Times New Roman"/>
                  </a:rPr>
                  <a:t>2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/>
                  </a:rPr>
                  <a:t> = </a:t>
                </a:r>
                <a:r>
                  <a:rPr lang="en-US" altLang="zh-TW" spc="-1" dirty="0" err="1">
                    <a:solidFill>
                      <a:srgbClr val="000000"/>
                    </a:solidFill>
                    <a:latin typeface="Times New Roman"/>
                  </a:rPr>
                  <a:t>aabbaa</a:t>
                </a: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60">
                  <a:spcBef>
                    <a:spcPts val="561"/>
                  </a:spcBef>
                  <a:buClr>
                    <a:srgbClr val="000000"/>
                  </a:buClr>
                </a:pPr>
                <a:endParaRPr lang="en-US" altLang="zh-TW" spc="-1" dirty="0">
                  <a:solidFill>
                    <a:srgbClr val="000000"/>
                  </a:solidFill>
                  <a:latin typeface="Times New Roman"/>
                </a:endParaRPr>
              </a:p>
              <a:p>
                <a:pPr marL="343080" indent="-342720">
                  <a:spcBef>
                    <a:spcPts val="561"/>
                  </a:spcBef>
                  <a:buClr>
                    <a:srgbClr val="000000"/>
                  </a:buClr>
                  <a:buFont typeface="Arial"/>
                  <a:buChar char="•"/>
                </a:pPr>
                <a:r>
                  <a:rPr lang="en-US" altLang="zh-TW" spc="-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i="1" spc="-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TW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a:rPr lang="en-US" altLang="zh-TW" b="0" i="1" spc="-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</a:rPr>
                  <a:t> </a:t>
                </a:r>
                <a:r>
                  <a:rPr lang="zh-TW" altLang="en-US" dirty="0">
                    <a:latin typeface="Times New Roman" panose="02020603050405020304" pitchFamily="18" charset="0"/>
                  </a:rPr>
                  <a:t>，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w</a:t>
                </a:r>
                <a:r>
                  <a:rPr lang="en-US" altLang="zh-TW" baseline="-25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TW" dirty="0">
                    <a:latin typeface="Times New Roman" panose="02020603050405020304" pitchFamily="18" charset="0"/>
                  </a:rPr>
                  <a:t> is a p</a:t>
                </a:r>
                <a:r>
                  <a:rPr lang="en-US" altLang="zh-TW" spc="-1" dirty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alindrome</a:t>
                </a:r>
                <a:endParaRPr lang="en-US" altLang="zh-TW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內容版面配置區 2">
                <a:extLst>
                  <a:ext uri="{FF2B5EF4-FFF2-40B4-BE49-F238E27FC236}">
                    <a16:creationId xmlns:a16="http://schemas.microsoft.com/office/drawing/2014/main" id="{349B4AB5-226B-50ED-5B04-DEE597C52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571" y="1825625"/>
                <a:ext cx="5060309" cy="4351338"/>
              </a:xfrm>
              <a:prstGeom prst="rect">
                <a:avLst/>
              </a:prstGeom>
              <a:blipFill>
                <a:blip r:embed="rId3"/>
                <a:stretch>
                  <a:fillRect l="-2169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62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E1661-CC09-64CE-E583-FA778D5B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676" y="365125"/>
            <a:ext cx="11350650" cy="1325563"/>
          </a:xfrm>
        </p:spPr>
        <p:txBody>
          <a:bodyPr/>
          <a:lstStyle/>
          <a:p>
            <a:r>
              <a:rPr lang="en-US" altLang="zh-TW" dirty="0"/>
              <a:t>LCPS(longest common palindromic subsequence)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512228-FF6A-BFC2-9882-884165B0D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 = </a:t>
            </a:r>
            <a:r>
              <a:rPr lang="en-US" altLang="zh-TW" dirty="0" err="1"/>
              <a:t>cbccbaabb</a:t>
            </a:r>
            <a:endParaRPr lang="en-US" altLang="zh-TW" dirty="0"/>
          </a:p>
          <a:p>
            <a:r>
              <a:rPr lang="en-US" altLang="zh-TW" dirty="0"/>
              <a:t>B = </a:t>
            </a:r>
            <a:r>
              <a:rPr lang="en-US" altLang="zh-TW" dirty="0" err="1"/>
              <a:t>bbccabbca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LCPS(A, B) = </a:t>
            </a:r>
            <a:r>
              <a:rPr lang="en-US" altLang="zh-TW" dirty="0" err="1"/>
              <a:t>bbabb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E065815-418D-0FB0-AF35-1266ECF8F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71533"/>
            <a:ext cx="5382386" cy="490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39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BFA40C-7F08-D59B-3E78-9C17642D2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LCPS solved by FLCS (LCS with four strings)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3EA6DCA-F7AE-A7AE-7479-E9E3FA1E71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/>
              </a:p>
              <a:p>
                <a:r>
                  <a:rPr lang="en-US" altLang="zh-TW" dirty="0"/>
                  <a:t>A,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b="0" i="0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lang="en-US" altLang="zh-TW" dirty="0"/>
                  <a:t>, B,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altLang="zh-TW" i="1" spc="-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TW" b="0" i="0" spc="-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U(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x, y, z)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3EA6DCA-F7AE-A7AE-7479-E9E3FA1E7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035A64C-7A14-11C7-DBA8-FCFCAA448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21" y="4691838"/>
            <a:ext cx="10596201" cy="1220916"/>
          </a:xfrm>
          <a:prstGeom prst="rect">
            <a:avLst/>
          </a:prstGeom>
        </p:spPr>
      </p:pic>
      <p:grpSp>
        <p:nvGrpSpPr>
          <p:cNvPr id="7" name="群組 6">
            <a:extLst>
              <a:ext uri="{FF2B5EF4-FFF2-40B4-BE49-F238E27FC236}">
                <a16:creationId xmlns:a16="http://schemas.microsoft.com/office/drawing/2014/main" id="{72DC0F85-D887-F163-23C3-7153FCA1FFC3}"/>
              </a:ext>
            </a:extLst>
          </p:cNvPr>
          <p:cNvGrpSpPr/>
          <p:nvPr/>
        </p:nvGrpSpPr>
        <p:grpSpPr>
          <a:xfrm>
            <a:off x="4450663" y="2036586"/>
            <a:ext cx="6989198" cy="2437900"/>
            <a:chOff x="4452729" y="2992211"/>
            <a:chExt cx="6989198" cy="2437900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4D176A5A-A5ED-C77E-089A-267F6E53E477}"/>
                </a:ext>
              </a:extLst>
            </p:cNvPr>
            <p:cNvGrpSpPr/>
            <p:nvPr/>
          </p:nvGrpSpPr>
          <p:grpSpPr>
            <a:xfrm>
              <a:off x="4452730" y="2992211"/>
              <a:ext cx="6989197" cy="835424"/>
              <a:chOff x="4452730" y="2992211"/>
              <a:chExt cx="6989197" cy="835424"/>
            </a:xfrm>
          </p:grpSpPr>
          <p:grpSp>
            <p:nvGrpSpPr>
              <p:cNvPr id="16" name="群組 15">
                <a:extLst>
                  <a:ext uri="{FF2B5EF4-FFF2-40B4-BE49-F238E27FC236}">
                    <a16:creationId xmlns:a16="http://schemas.microsoft.com/office/drawing/2014/main" id="{748BD96D-F69A-ED21-524C-A68B0716ECED}"/>
                  </a:ext>
                </a:extLst>
              </p:cNvPr>
              <p:cNvGrpSpPr/>
              <p:nvPr/>
            </p:nvGrpSpPr>
            <p:grpSpPr>
              <a:xfrm>
                <a:off x="4913184" y="3429000"/>
                <a:ext cx="6007836" cy="398635"/>
                <a:chOff x="3823855" y="3516363"/>
                <a:chExt cx="6007836" cy="398635"/>
              </a:xfrm>
            </p:grpSpPr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C4569DE7-E024-DA45-C4AB-2A2ACC5DD0F4}"/>
                    </a:ext>
                  </a:extLst>
                </p:cNvPr>
                <p:cNvSpPr/>
                <p:nvPr/>
              </p:nvSpPr>
              <p:spPr>
                <a:xfrm>
                  <a:off x="3823855" y="3516363"/>
                  <a:ext cx="2002612" cy="3986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A738B46A-ED17-DBBD-503C-CC7D9A42FE7C}"/>
                    </a:ext>
                  </a:extLst>
                </p:cNvPr>
                <p:cNvSpPr/>
                <p:nvPr/>
              </p:nvSpPr>
              <p:spPr>
                <a:xfrm>
                  <a:off x="5826467" y="3516364"/>
                  <a:ext cx="2002612" cy="3986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D71CA2B9-18EC-18A4-6307-8953D9A3508C}"/>
                    </a:ext>
                  </a:extLst>
                </p:cNvPr>
                <p:cNvSpPr/>
                <p:nvPr/>
              </p:nvSpPr>
              <p:spPr>
                <a:xfrm>
                  <a:off x="7829079" y="3516365"/>
                  <a:ext cx="2002612" cy="398633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D475E31-87D1-7F36-0801-BF83C621AFEC}"/>
                  </a:ext>
                </a:extLst>
              </p:cNvPr>
              <p:cNvSpPr txBox="1"/>
              <p:nvPr/>
            </p:nvSpPr>
            <p:spPr>
              <a:xfrm>
                <a:off x="4452730" y="2992211"/>
                <a:ext cx="6989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/>
                  <a:t>     1                                 </a:t>
                </a:r>
                <a:r>
                  <a:rPr lang="en-US" altLang="zh-TW" b="1" dirty="0" err="1"/>
                  <a:t>i</a:t>
                </a:r>
                <a:r>
                  <a:rPr lang="en-US" altLang="zh-TW" b="1" dirty="0"/>
                  <a:t>                                   x                                 m         </a:t>
                </a:r>
                <a:endParaRPr lang="zh-TW" altLang="en-US" b="1" dirty="0"/>
              </a:p>
            </p:txBody>
          </p:sp>
        </p:grpSp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95A2B07C-F7A1-41EE-BE8E-94C3B123014B}"/>
                </a:ext>
              </a:extLst>
            </p:cNvPr>
            <p:cNvGrpSpPr/>
            <p:nvPr/>
          </p:nvGrpSpPr>
          <p:grpSpPr>
            <a:xfrm>
              <a:off x="4452729" y="4266565"/>
              <a:ext cx="6989197" cy="835424"/>
              <a:chOff x="4452730" y="3363686"/>
              <a:chExt cx="6989197" cy="835424"/>
            </a:xfrm>
          </p:grpSpPr>
          <p:grpSp>
            <p:nvGrpSpPr>
              <p:cNvPr id="11" name="群組 10">
                <a:extLst>
                  <a:ext uri="{FF2B5EF4-FFF2-40B4-BE49-F238E27FC236}">
                    <a16:creationId xmlns:a16="http://schemas.microsoft.com/office/drawing/2014/main" id="{A5725354-0F47-7A3F-DF85-35B644A6D588}"/>
                  </a:ext>
                </a:extLst>
              </p:cNvPr>
              <p:cNvGrpSpPr/>
              <p:nvPr/>
            </p:nvGrpSpPr>
            <p:grpSpPr>
              <a:xfrm>
                <a:off x="4913184" y="3800475"/>
                <a:ext cx="6007836" cy="398635"/>
                <a:chOff x="3823855" y="3887838"/>
                <a:chExt cx="6007836" cy="398635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32013E2A-C4A9-5F05-2BF6-0CBBB2CE5166}"/>
                    </a:ext>
                  </a:extLst>
                </p:cNvPr>
                <p:cNvSpPr/>
                <p:nvPr/>
              </p:nvSpPr>
              <p:spPr>
                <a:xfrm>
                  <a:off x="3823855" y="3887838"/>
                  <a:ext cx="2002612" cy="398633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8749CAB-11EE-B37B-CBAD-7D654F18FC46}"/>
                    </a:ext>
                  </a:extLst>
                </p:cNvPr>
                <p:cNvSpPr/>
                <p:nvPr/>
              </p:nvSpPr>
              <p:spPr>
                <a:xfrm>
                  <a:off x="5826467" y="3887839"/>
                  <a:ext cx="2002612" cy="398633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A332BBA6-FCB2-8F5B-3227-389BDC1F360C}"/>
                    </a:ext>
                  </a:extLst>
                </p:cNvPr>
                <p:cNvSpPr/>
                <p:nvPr/>
              </p:nvSpPr>
              <p:spPr>
                <a:xfrm>
                  <a:off x="7829079" y="3887840"/>
                  <a:ext cx="2002612" cy="398633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3EC882E-F85D-6255-2D40-427379AC6FA9}"/>
                  </a:ext>
                </a:extLst>
              </p:cNvPr>
              <p:cNvSpPr txBox="1"/>
              <p:nvPr/>
            </p:nvSpPr>
            <p:spPr>
              <a:xfrm>
                <a:off x="4452730" y="3363686"/>
                <a:ext cx="6989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/>
                  <a:t>     1                                 y                                  z                                 n         </a:t>
                </a:r>
                <a:endParaRPr lang="zh-TW" altLang="en-US" b="1" dirty="0"/>
              </a:p>
            </p:txBody>
          </p:sp>
        </p:grp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AC025F4-AC3A-AFF3-2F10-7A42DCB6198E}"/>
                </a:ext>
              </a:extLst>
            </p:cNvPr>
            <p:cNvSpPr txBox="1"/>
            <p:nvPr/>
          </p:nvSpPr>
          <p:spPr>
            <a:xfrm>
              <a:off x="4452730" y="3121787"/>
              <a:ext cx="1060746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TW" dirty="0"/>
            </a:p>
            <a:p>
              <a:r>
                <a:rPr lang="en-US" altLang="zh-TW" dirty="0"/>
                <a:t>A</a:t>
              </a:r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endParaRPr lang="en-US" altLang="zh-TW" dirty="0"/>
            </a:p>
            <a:p>
              <a:r>
                <a:rPr lang="en-US" altLang="zh-TW" dirty="0"/>
                <a:t>B</a:t>
              </a:r>
            </a:p>
            <a:p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7836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>
                <a:solidFill>
                  <a:srgbClr val="FF0000"/>
                </a:solidFill>
              </a:rPr>
              <a:t>cc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141221"/>
              </p:ext>
            </p:extLst>
          </p:nvPr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06547"/>
              </p:ext>
            </p:extLst>
          </p:nvPr>
        </p:nvGraphicFramePr>
        <p:xfrm>
          <a:off x="3434885" y="3295650"/>
          <a:ext cx="8128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529FA3C-416F-BC31-18A5-30988D202C85}"/>
              </a:ext>
            </a:extLst>
          </p:cNvPr>
          <p:cNvSpPr txBox="1"/>
          <p:nvPr/>
        </p:nvSpPr>
        <p:spPr>
          <a:xfrm>
            <a:off x="3267074" y="5420985"/>
            <a:ext cx="37052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/>
              <a:t>           </a:t>
            </a:r>
            <a:r>
              <a:rPr lang="en-US" altLang="zh-TW" sz="2400" b="1" dirty="0" err="1"/>
              <a:t>i</a:t>
            </a:r>
            <a:r>
              <a:rPr lang="en-US" altLang="zh-TW" sz="2400" b="1" dirty="0"/>
              <a:t>              &lt;x, y, z&gt; 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72340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 err="1"/>
              <a:t>c</a:t>
            </a:r>
            <a:r>
              <a:rPr lang="en-US" altLang="zh-TW" dirty="0" err="1">
                <a:solidFill>
                  <a:srgbClr val="FF0000"/>
                </a:solidFill>
              </a:rPr>
              <a:t>b</a:t>
            </a:r>
            <a:r>
              <a:rPr lang="en-US" altLang="zh-TW" dirty="0" err="1"/>
              <a:t>c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438197"/>
              </p:ext>
            </p:extLst>
          </p:nvPr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574477"/>
              </p:ext>
            </p:extLst>
          </p:nvPr>
        </p:nvGraphicFramePr>
        <p:xfrm>
          <a:off x="3434885" y="3295650"/>
          <a:ext cx="8128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83028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>
                <a:solidFill>
                  <a:srgbClr val="FF0000"/>
                </a:solidFill>
              </a:rPr>
              <a:t>bb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9242461"/>
              </p:ext>
            </p:extLst>
          </p:nvPr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553180"/>
              </p:ext>
            </p:extLst>
          </p:nvPr>
        </p:nvGraphicFramePr>
        <p:xfrm>
          <a:off x="3434885" y="3295650"/>
          <a:ext cx="8128000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142671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c</a:t>
            </a:r>
            <a:r>
              <a:rPr lang="en-US" altLang="zh-TW" dirty="0">
                <a:solidFill>
                  <a:srgbClr val="FF0000"/>
                </a:solidFill>
              </a:rPr>
              <a:t>c</a:t>
            </a:r>
            <a:r>
              <a:rPr lang="en-US" altLang="zh-TW" dirty="0"/>
              <a:t>c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007005"/>
              </p:ext>
            </p:extLst>
          </p:nvPr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554509"/>
              </p:ext>
            </p:extLst>
          </p:nvPr>
        </p:nvGraphicFramePr>
        <p:xfrm>
          <a:off x="3434885" y="3295650"/>
          <a:ext cx="812800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strike="noStrike" dirty="0">
                          <a:solidFill>
                            <a:srgbClr val="FF0000"/>
                          </a:solidFill>
                        </a:rPr>
                        <a:t>&lt;7, 4, 6&gt;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303690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 err="1"/>
              <a:t>b</a:t>
            </a:r>
            <a:r>
              <a:rPr lang="en-US" altLang="zh-TW" dirty="0" err="1">
                <a:solidFill>
                  <a:srgbClr val="FF0000"/>
                </a:solidFill>
              </a:rPr>
              <a:t>cc</a:t>
            </a:r>
            <a:r>
              <a:rPr lang="en-US" altLang="zh-TW" dirty="0" err="1"/>
              <a:t>b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/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487889"/>
              </p:ext>
            </p:extLst>
          </p:nvPr>
        </p:nvGraphicFramePr>
        <p:xfrm>
          <a:off x="3434885" y="3295650"/>
          <a:ext cx="812800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strike="sngStrike" dirty="0">
                          <a:solidFill>
                            <a:schemeClr val="tx1"/>
                          </a:solidFill>
                        </a:rPr>
                        <a:t>&lt;7, 4, 6&gt;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&lt;6, 3, 6&gt;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16323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 err="1"/>
              <a:t>b</a:t>
            </a:r>
            <a:r>
              <a:rPr lang="en-US" altLang="zh-TW" dirty="0" err="1">
                <a:solidFill>
                  <a:srgbClr val="FF0000"/>
                </a:solidFill>
              </a:rPr>
              <a:t>bb</a:t>
            </a:r>
            <a:r>
              <a:rPr lang="en-US" altLang="zh-TW" dirty="0" err="1"/>
              <a:t>b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148490"/>
              </p:ext>
            </p:extLst>
          </p:nvPr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402451"/>
              </p:ext>
            </p:extLst>
          </p:nvPr>
        </p:nvGraphicFramePr>
        <p:xfrm>
          <a:off x="3434885" y="3295650"/>
          <a:ext cx="81280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en-US" altLang="zh-TW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strike="sngStrike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&lt;2, 2, 4&gt;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&lt;3, 5, 5&gt;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018767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3106C4-54D6-CFAF-F20B-45DE959FE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CPS = </a:t>
            </a:r>
            <a:r>
              <a:rPr lang="en-US" altLang="zh-TW" dirty="0" err="1"/>
              <a:t>bb</a:t>
            </a:r>
            <a:r>
              <a:rPr lang="en-US" altLang="zh-TW" dirty="0" err="1">
                <a:solidFill>
                  <a:srgbClr val="FF0000"/>
                </a:solidFill>
              </a:rPr>
              <a:t>a</a:t>
            </a:r>
            <a:r>
              <a:rPr lang="en-US" altLang="zh-TW" dirty="0" err="1"/>
              <a:t>bb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LCPS = </a:t>
            </a:r>
            <a:r>
              <a:rPr lang="en-US" altLang="zh-TW" dirty="0" err="1"/>
              <a:t>bbabb</a:t>
            </a:r>
            <a:endParaRPr lang="zh-TW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AEFD7F-6A7C-8E4B-A012-968453D8BBAB}"/>
              </a:ext>
            </a:extLst>
          </p:cNvPr>
          <p:cNvGraphicFramePr>
            <a:graphicFrameLocks noGrp="1"/>
          </p:cNvGraphicFramePr>
          <p:nvPr/>
        </p:nvGraphicFramePr>
        <p:xfrm>
          <a:off x="3434885" y="1165850"/>
          <a:ext cx="8194210" cy="187200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19421">
                  <a:extLst>
                    <a:ext uri="{9D8B030D-6E8A-4147-A177-3AD203B41FA5}">
                      <a16:colId xmlns:a16="http://schemas.microsoft.com/office/drawing/2014/main" val="3687563117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3458925501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03083206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72443859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209229924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90839031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002060645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2341577556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476296480"/>
                    </a:ext>
                  </a:extLst>
                </a:gridCol>
                <a:gridCol w="819421">
                  <a:extLst>
                    <a:ext uri="{9D8B030D-6E8A-4147-A177-3AD203B41FA5}">
                      <a16:colId xmlns:a16="http://schemas.microsoft.com/office/drawing/2014/main" val="1461677071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err="1"/>
                        <a:t>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3111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81037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spc="-1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b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c</a:t>
                      </a:r>
                      <a:endParaRPr lang="zh-TW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a</a:t>
                      </a:r>
                      <a:endParaRPr lang="zh-TW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6251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9-i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9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8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7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6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5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4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3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2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/>
                        <a:t>1</a:t>
                      </a:r>
                      <a:endParaRPr lang="zh-TW" altLang="en-US" sz="2400" b="0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295209"/>
                  </a:ext>
                </a:extLst>
              </a:tr>
            </a:tbl>
          </a:graphicData>
        </a:graphic>
      </p:graphicFrame>
      <p:graphicFrame>
        <p:nvGraphicFramePr>
          <p:cNvPr id="2" name="表格 4">
            <a:extLst>
              <a:ext uri="{FF2B5EF4-FFF2-40B4-BE49-F238E27FC236}">
                <a16:creationId xmlns:a16="http://schemas.microsoft.com/office/drawing/2014/main" id="{A696FA2B-CFEA-F851-2767-4C1A3A9F1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32728"/>
              </p:ext>
            </p:extLst>
          </p:nvPr>
        </p:nvGraphicFramePr>
        <p:xfrm>
          <a:off x="3434885" y="3295650"/>
          <a:ext cx="81280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en-US" altLang="zh-TW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&lt;2, 2, 4&gt;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&lt;3, 5, 5&gt;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標題 1">
            <a:extLst>
              <a:ext uri="{FF2B5EF4-FFF2-40B4-BE49-F238E27FC236}">
                <a16:creationId xmlns:a16="http://schemas.microsoft.com/office/drawing/2014/main" id="{60079D9F-22EA-3A2B-18AE-042964BA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625"/>
            <a:ext cx="10515600" cy="974725"/>
          </a:xfrm>
        </p:spPr>
        <p:txBody>
          <a:bodyPr/>
          <a:lstStyle/>
          <a:p>
            <a:r>
              <a:rPr lang="en-US" altLang="zh-TW" dirty="0"/>
              <a:t>diagonal-based algorithm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AF3D386-9183-D2C0-7053-127D85E4C4DF}"/>
              </a:ext>
            </a:extLst>
          </p:cNvPr>
          <p:cNvSpPr txBox="1"/>
          <p:nvPr/>
        </p:nvSpPr>
        <p:spPr>
          <a:xfrm>
            <a:off x="3524249" y="3241794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1970648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A2D2D7-9727-97A4-FC80-0B9A9D78D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22106" cy="1325563"/>
          </a:xfrm>
        </p:spPr>
        <p:txBody>
          <a:bodyPr/>
          <a:lstStyle/>
          <a:p>
            <a:r>
              <a:rPr lang="en-US" altLang="zh-TW"/>
              <a:t>Time Complexity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19C88F-F1C9-95B6-6D86-23C5334A4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altLang="zh-TW" dirty="0"/>
              <a:t>O(L(m − L)R logn)</a:t>
            </a:r>
            <a:endParaRPr lang="en-US" altLang="zh-TW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9148382-3B22-F91A-125F-577C1A55C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50056"/>
              </p:ext>
            </p:extLst>
          </p:nvPr>
        </p:nvGraphicFramePr>
        <p:xfrm>
          <a:off x="3596810" y="3095625"/>
          <a:ext cx="812800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79850348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656548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64172463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2215698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83000295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endParaRPr lang="en-US" altLang="zh-TW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074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250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7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6&gt;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624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&lt;0, 0, 0&gt;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&lt;6, 3, 2&gt;</a:t>
                      </a: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&lt;1, 1, 3&gt;</a:t>
                      </a:r>
                      <a:endParaRPr lang="zh-TW" altLang="en-US" strike="sngStrike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&lt;8, 6, 3&gt;</a:t>
                      </a:r>
                      <a:endParaRPr lang="en-US" altLang="zh-TW" strike="sngStrike" dirty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&lt;2, 2, 4&gt;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&lt;3, 5, 5&gt;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2770583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595E53-804E-9B02-8E34-B6DB17A7F8F4}"/>
              </a:ext>
            </a:extLst>
          </p:cNvPr>
          <p:cNvSpPr txBox="1"/>
          <p:nvPr/>
        </p:nvSpPr>
        <p:spPr>
          <a:xfrm>
            <a:off x="3686174" y="3041769"/>
            <a:ext cx="1704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/>
              <a:t>            length</a:t>
            </a:r>
          </a:p>
          <a:p>
            <a:r>
              <a:rPr lang="en-US" altLang="zh-TW" b="1" dirty="0"/>
              <a:t>round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370483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1">
      <a:majorFont>
        <a:latin typeface="Times New Roman"/>
        <a:ea typeface="微軟正黑體"/>
        <a:cs typeface=""/>
      </a:majorFont>
      <a:minorFont>
        <a:latin typeface="Times New Roman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13487</TotalTime>
  <Words>1365</Words>
  <Application>Microsoft Office PowerPoint</Application>
  <PresentationFormat>寬螢幕</PresentationFormat>
  <Paragraphs>506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Arial</vt:lpstr>
      <vt:lpstr>Cambria Math</vt:lpstr>
      <vt:lpstr>Times New Roman</vt:lpstr>
      <vt:lpstr>Office 佈景主題</vt:lpstr>
      <vt:lpstr>An eﬃcient algorithm for the longest common palindromic subsequence problem</vt:lpstr>
      <vt:lpstr>Abstract (1/2) </vt:lpstr>
      <vt:lpstr>Abstract (2/2)</vt:lpstr>
      <vt:lpstr>Palindrome</vt:lpstr>
      <vt:lpstr>LCPS(longest common palindromic subsequence)</vt:lpstr>
      <vt:lpstr>LCPS solved by FLCS (LCS with four strings)</vt:lpstr>
      <vt:lpstr>diagonal-based algorithm</vt:lpstr>
      <vt:lpstr>diagonal-based algorithm</vt:lpstr>
      <vt:lpstr>diagonal-based algorithm</vt:lpstr>
      <vt:lpstr>diagonal-based algorithm</vt:lpstr>
      <vt:lpstr>diagonal-based algorithm</vt:lpstr>
      <vt:lpstr>diagonal-based algorithm</vt:lpstr>
      <vt:lpstr>diagonal-based algorithm</vt:lpstr>
      <vt:lpstr>Time Complexity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Alex</dc:creator>
  <cp:lastModifiedBy>M103040056</cp:lastModifiedBy>
  <cp:revision>453</cp:revision>
  <dcterms:created xsi:type="dcterms:W3CDTF">2021-01-03T09:53:04Z</dcterms:created>
  <dcterms:modified xsi:type="dcterms:W3CDTF">2022-11-29T10:01:33Z</dcterms:modified>
</cp:coreProperties>
</file>