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77" r:id="rId3"/>
    <p:sldId id="279" r:id="rId4"/>
    <p:sldId id="280" r:id="rId5"/>
    <p:sldId id="278" r:id="rId6"/>
    <p:sldId id="282" r:id="rId7"/>
    <p:sldId id="283" r:id="rId8"/>
    <p:sldId id="284" r:id="rId9"/>
    <p:sldId id="276" r:id="rId10"/>
    <p:sldId id="259" r:id="rId11"/>
    <p:sldId id="268" r:id="rId12"/>
    <p:sldId id="269" r:id="rId13"/>
    <p:sldId id="270" r:id="rId14"/>
    <p:sldId id="271" r:id="rId15"/>
    <p:sldId id="272" r:id="rId16"/>
    <p:sldId id="273" r:id="rId17"/>
    <p:sldId id="274" r:id="rId18"/>
    <p:sldId id="285"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3" d="100"/>
          <a:sy n="83" d="100"/>
        </p:scale>
        <p:origin x="25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18CF69-B94F-41EF-B44B-5A23E69EE08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694E246-5B84-40A5-9198-A6478B53D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1EC9A6A-81D9-4024-8732-81AD65077381}"/>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5" name="頁尾版面配置區 4">
            <a:extLst>
              <a:ext uri="{FF2B5EF4-FFF2-40B4-BE49-F238E27FC236}">
                <a16:creationId xmlns:a16="http://schemas.microsoft.com/office/drawing/2014/main" id="{8130DAD2-5F2F-477A-933C-533FC70E2DF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6A92E9-2EC9-4E85-A2F5-22556455289B}"/>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4117833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22540F-DED7-457A-80AB-31055F78768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0592121-7306-4FF5-BC1E-2E3C5CBE0E0E}"/>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2981BAE-3011-41AB-8F71-019D69C97619}"/>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5" name="頁尾版面配置區 4">
            <a:extLst>
              <a:ext uri="{FF2B5EF4-FFF2-40B4-BE49-F238E27FC236}">
                <a16:creationId xmlns:a16="http://schemas.microsoft.com/office/drawing/2014/main" id="{061EB8D7-5BB0-4DA4-91DC-94A162F617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6AC93A1-955E-43AC-888B-B961ABB26D4A}"/>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152436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BE3D72-F1B6-454B-95E8-658A7A02920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6528AABC-6381-4A08-A34B-9775E7CAF2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C4CAAA9C-33BB-4FB2-BED3-BC7D9323EC1A}"/>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5" name="頁尾版面配置區 4">
            <a:extLst>
              <a:ext uri="{FF2B5EF4-FFF2-40B4-BE49-F238E27FC236}">
                <a16:creationId xmlns:a16="http://schemas.microsoft.com/office/drawing/2014/main" id="{8927D4F8-53BF-4473-9B99-4C8E6F8CF6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76C0F19-61B3-4F06-B453-872D9D5E8C3A}"/>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162828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DBA689-797E-40E7-9EDB-5EDB08C781A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52653EE-84F0-4CB2-A6D1-70ECB696DFEB}"/>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7FA3A2B-693F-4492-99C6-0C8FC6BA27B1}"/>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FD31AE8-99C0-43FB-B941-AD2B9251909A}"/>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6" name="頁尾版面配置區 5">
            <a:extLst>
              <a:ext uri="{FF2B5EF4-FFF2-40B4-BE49-F238E27FC236}">
                <a16:creationId xmlns:a16="http://schemas.microsoft.com/office/drawing/2014/main" id="{936224B4-684C-46B7-BBF1-931F646DD61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5CC215-AE48-442C-B3C7-A05DA3D209F2}"/>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3672477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8377E4-D784-4175-A078-E0BE59E8F5E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515F7BB-FF4C-4A58-B308-031D2BD238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40221E4-3D33-46C5-9454-CFE7BCF65D9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025487A-E8A1-4109-B68A-4BC8FE8185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4B2B406-6511-443F-B0E6-C33BAEC718C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84ACC6-C42F-45F3-BE11-E53C8E2A8114}"/>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8" name="頁尾版面配置區 7">
            <a:extLst>
              <a:ext uri="{FF2B5EF4-FFF2-40B4-BE49-F238E27FC236}">
                <a16:creationId xmlns:a16="http://schemas.microsoft.com/office/drawing/2014/main" id="{219A6C5F-EF9B-49B4-8955-2443396EE26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6F790E7-CBD5-4484-A32F-FEF48BB3ABB1}"/>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485530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2A7656-D8C4-4701-89D9-F6B0EB1C6EF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C85F66E-3E02-445B-B1D6-9F7F2B97E065}"/>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4" name="頁尾版面配置區 3">
            <a:extLst>
              <a:ext uri="{FF2B5EF4-FFF2-40B4-BE49-F238E27FC236}">
                <a16:creationId xmlns:a16="http://schemas.microsoft.com/office/drawing/2014/main" id="{CDC0B5C4-F60F-472B-877C-D558F28D58B0}"/>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15AF58D9-56FD-47B2-AFA4-E191E86CDBB1}"/>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1509146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3D15556-2C7C-43E9-BEE7-2F931FDAD8E9}"/>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3" name="頁尾版面配置區 2">
            <a:extLst>
              <a:ext uri="{FF2B5EF4-FFF2-40B4-BE49-F238E27FC236}">
                <a16:creationId xmlns:a16="http://schemas.microsoft.com/office/drawing/2014/main" id="{BC3A5585-BC54-43DC-AF3A-A0CD372DFBC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7BF090F-6470-4F86-9004-6B7FDBD204E3}"/>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443160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F103F5-9E97-4826-B0D2-95F4564CD4A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F746CFE7-EA93-4D37-81E5-AA67D27F63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3FDF5F1-BC00-46C5-8A6D-53247EAAB4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30FA9920-036B-4577-A0AA-EA9558A0A321}"/>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6" name="頁尾版面配置區 5">
            <a:extLst>
              <a:ext uri="{FF2B5EF4-FFF2-40B4-BE49-F238E27FC236}">
                <a16:creationId xmlns:a16="http://schemas.microsoft.com/office/drawing/2014/main" id="{647DF8B8-6B05-4919-B114-D5663C227DE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3666E5C-95E4-4050-9140-1FCCC0B954CB}"/>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3318232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97E922-EA1A-435F-870D-682421C5CC8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18B7BE4-C689-4096-AD49-68F6034EA9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AD295FF-4A20-40FD-AC66-98CEC5850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E219DCA-585C-43B6-9552-4EE13F760C74}"/>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6" name="頁尾版面配置區 5">
            <a:extLst>
              <a:ext uri="{FF2B5EF4-FFF2-40B4-BE49-F238E27FC236}">
                <a16:creationId xmlns:a16="http://schemas.microsoft.com/office/drawing/2014/main" id="{77D0F041-3794-4C18-8470-1E81B0B8F04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0689843-4105-446B-A08B-BA8F5DD6481F}"/>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144225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2EB34D-E993-49B7-A454-C7F5A388554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9D361F5-F0E1-4F67-B5F9-593DA8F073A4}"/>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E843757-966E-48DA-9D3F-7BCB94269088}"/>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5" name="頁尾版面配置區 4">
            <a:extLst>
              <a:ext uri="{FF2B5EF4-FFF2-40B4-BE49-F238E27FC236}">
                <a16:creationId xmlns:a16="http://schemas.microsoft.com/office/drawing/2014/main" id="{A8A665A4-0D51-44C3-83A1-6B3FEA681DC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AAF5088-2FDA-45E4-A2C5-6563CE3360C5}"/>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2652771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B180085-65E4-4ED8-943A-8E4E7DCD727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A358ABA-23C5-47E8-9CA9-2449B434229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6EEC609-328B-4C6E-97B9-64C473DA5B8C}"/>
              </a:ext>
            </a:extLst>
          </p:cNvPr>
          <p:cNvSpPr>
            <a:spLocks noGrp="1"/>
          </p:cNvSpPr>
          <p:nvPr>
            <p:ph type="dt" sz="half" idx="10"/>
          </p:nvPr>
        </p:nvSpPr>
        <p:spPr/>
        <p:txBody>
          <a:bodyPr/>
          <a:lstStyle/>
          <a:p>
            <a:fld id="{CB42E98C-ACD1-4F21-B7D7-C715BE9B2230}" type="datetimeFigureOut">
              <a:rPr lang="zh-TW" altLang="en-US" smtClean="0"/>
              <a:t>2022/2/8</a:t>
            </a:fld>
            <a:endParaRPr lang="zh-TW" altLang="en-US"/>
          </a:p>
        </p:txBody>
      </p:sp>
      <p:sp>
        <p:nvSpPr>
          <p:cNvPr id="5" name="頁尾版面配置區 4">
            <a:extLst>
              <a:ext uri="{FF2B5EF4-FFF2-40B4-BE49-F238E27FC236}">
                <a16:creationId xmlns:a16="http://schemas.microsoft.com/office/drawing/2014/main" id="{1FA8800A-57CD-4691-8E11-40185134009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871209D-6627-4CFC-8CFF-DE25AA4FCCB1}"/>
              </a:ext>
            </a:extLst>
          </p:cNvPr>
          <p:cNvSpPr>
            <a:spLocks noGrp="1"/>
          </p:cNvSpPr>
          <p:nvPr>
            <p:ph type="sldNum" sz="quarter" idx="12"/>
          </p:nvPr>
        </p:nvSpPr>
        <p:spPr/>
        <p:txBody>
          <a:body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458970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F173FCB-AF51-413B-9EA7-940E652F84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57623B9-D996-4B18-863A-AF24B34F5C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6610FA5-96C9-43C2-9118-EF308B50C3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42E98C-ACD1-4F21-B7D7-C715BE9B2230}" type="datetimeFigureOut">
              <a:rPr lang="zh-TW" altLang="en-US" smtClean="0"/>
              <a:t>2022/2/8</a:t>
            </a:fld>
            <a:endParaRPr lang="zh-TW" altLang="en-US"/>
          </a:p>
        </p:txBody>
      </p:sp>
      <p:sp>
        <p:nvSpPr>
          <p:cNvPr id="5" name="頁尾版面配置區 4">
            <a:extLst>
              <a:ext uri="{FF2B5EF4-FFF2-40B4-BE49-F238E27FC236}">
                <a16:creationId xmlns:a16="http://schemas.microsoft.com/office/drawing/2014/main" id="{E1A6CC33-55D8-4EFE-8365-9373248900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E3263F0-2185-4819-9FD7-AB6DE2AA71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FEAFCD-048C-4D4E-8433-74C544C87E0F}" type="slidenum">
              <a:rPr lang="zh-TW" altLang="en-US" smtClean="0"/>
              <a:t>‹#›</a:t>
            </a:fld>
            <a:endParaRPr lang="zh-TW" altLang="en-US"/>
          </a:p>
        </p:txBody>
      </p:sp>
    </p:spTree>
    <p:extLst>
      <p:ext uri="{BB962C8B-B14F-4D97-AF65-F5344CB8AC3E}">
        <p14:creationId xmlns:p14="http://schemas.microsoft.com/office/powerpoint/2010/main" val="765916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0CA1336C-440D-2E43-904F-AABB45E64E1E}"/>
              </a:ext>
            </a:extLst>
          </p:cNvPr>
          <p:cNvSpPr>
            <a:spLocks noGrp="1"/>
          </p:cNvSpPr>
          <p:nvPr/>
        </p:nvSpPr>
        <p:spPr>
          <a:xfrm>
            <a:off x="762001" y="1720670"/>
            <a:ext cx="10525124" cy="1344073"/>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a:lnSpc>
                <a:spcPct val="120000"/>
              </a:lnSpc>
            </a:pPr>
            <a:r>
              <a:rPr kumimoji="1" lang="en-US" altLang="zh-TW" dirty="0"/>
              <a:t>Contract Bridge Bidding by Learning </a:t>
            </a:r>
          </a:p>
        </p:txBody>
      </p:sp>
      <p:sp>
        <p:nvSpPr>
          <p:cNvPr id="5" name="副標題 2">
            <a:extLst>
              <a:ext uri="{FF2B5EF4-FFF2-40B4-BE49-F238E27FC236}">
                <a16:creationId xmlns:a16="http://schemas.microsoft.com/office/drawing/2014/main" id="{FD611AA7-209A-4449-AB65-A25622930A66}"/>
              </a:ext>
            </a:extLst>
          </p:cNvPr>
          <p:cNvSpPr>
            <a:spLocks noGrp="1"/>
          </p:cNvSpPr>
          <p:nvPr/>
        </p:nvSpPr>
        <p:spPr>
          <a:xfrm>
            <a:off x="666107" y="3866102"/>
            <a:ext cx="9870558" cy="13440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Chun-Yen Ho and </a:t>
            </a:r>
            <a:r>
              <a:rPr kumimoji="1" lang="en-US" altLang="zh-TW" dirty="0" err="1">
                <a:latin typeface="Times New Roman" panose="02020603050405020304" pitchFamily="18" charset="0"/>
                <a:cs typeface="Times New Roman" panose="02020603050405020304" pitchFamily="18" charset="0"/>
              </a:rPr>
              <a:t>Hsuan</a:t>
            </a:r>
            <a:r>
              <a:rPr kumimoji="1" lang="en-US" altLang="zh-TW" dirty="0">
                <a:latin typeface="Times New Roman" panose="02020603050405020304" pitchFamily="18" charset="0"/>
                <a:cs typeface="Times New Roman" panose="02020603050405020304" pitchFamily="18" charset="0"/>
              </a:rPr>
              <a:t>-Tien Lin</a:t>
            </a:r>
          </a:p>
          <a:p>
            <a:r>
              <a:rPr kumimoji="1" lang="en-US" altLang="zh-TW" dirty="0">
                <a:latin typeface="Times New Roman" panose="02020603050405020304" pitchFamily="18" charset="0"/>
                <a:cs typeface="Times New Roman" panose="02020603050405020304" pitchFamily="18" charset="0"/>
              </a:rPr>
              <a:t> </a:t>
            </a:r>
            <a:r>
              <a:rPr lang="en" altLang="zh-TW" dirty="0"/>
              <a:t>AAAI Workshop: Computer Poker and Imperfect Information</a:t>
            </a:r>
            <a:r>
              <a:rPr kumimoji="1" lang="en-US" altLang="zh-TW" dirty="0">
                <a:latin typeface="Times New Roman" panose="02020603050405020304" pitchFamily="18" charset="0"/>
                <a:cs typeface="Times New Roman" panose="02020603050405020304" pitchFamily="18" charset="0"/>
              </a:rPr>
              <a:t>, 2015</a:t>
            </a:r>
          </a:p>
        </p:txBody>
      </p:sp>
      <p:sp>
        <p:nvSpPr>
          <p:cNvPr id="6" name="文字方塊 3">
            <a:extLst>
              <a:ext uri="{FF2B5EF4-FFF2-40B4-BE49-F238E27FC236}">
                <a16:creationId xmlns:a16="http://schemas.microsoft.com/office/drawing/2014/main" id="{BF1141FC-B145-834E-9139-2A899AB73EAA}"/>
              </a:ext>
            </a:extLst>
          </p:cNvPr>
          <p:cNvSpPr txBox="1"/>
          <p:nvPr/>
        </p:nvSpPr>
        <p:spPr>
          <a:xfrm>
            <a:off x="9150372" y="5471581"/>
            <a:ext cx="2375522" cy="646331"/>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 altLang="zh-TW" dirty="0">
                <a:latin typeface="Times New Roman" panose="02020603050405020304" pitchFamily="18" charset="0"/>
                <a:cs typeface="Times New Roman" panose="02020603050405020304" pitchFamily="18" charset="0"/>
              </a:rPr>
              <a:t>Presenter:  Ying-Yu Lin</a:t>
            </a:r>
          </a:p>
          <a:p>
            <a:pPr algn="r"/>
            <a:r>
              <a:rPr kumimoji="1" lang="en" altLang="zh-TW" dirty="0">
                <a:latin typeface="Times New Roman" panose="02020603050405020304" pitchFamily="18" charset="0"/>
                <a:cs typeface="Times New Roman" panose="02020603050405020304" pitchFamily="18" charset="0"/>
              </a:rPr>
              <a:t>Date: </a:t>
            </a:r>
            <a:r>
              <a:rPr kumimoji="1" lang="en-US" altLang="zh-TW" dirty="0">
                <a:latin typeface="Times New Roman" panose="02020603050405020304" pitchFamily="18" charset="0"/>
                <a:cs typeface="Times New Roman" panose="02020603050405020304" pitchFamily="18" charset="0"/>
              </a:rPr>
              <a:t>Feb</a:t>
            </a:r>
            <a:r>
              <a:rPr kumimoji="1" lang="en" altLang="zh-TW" dirty="0">
                <a:latin typeface="Times New Roman" panose="02020603050405020304" pitchFamily="18" charset="0"/>
                <a:cs typeface="Times New Roman" panose="02020603050405020304" pitchFamily="18" charset="0"/>
              </a:rPr>
              <a:t>.8,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1751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5206554"/>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Abstract:</a:t>
            </a:r>
          </a:p>
          <a:p>
            <a:pPr>
              <a:spcBef>
                <a:spcPts val="1000"/>
              </a:spcBef>
            </a:pPr>
            <a:r>
              <a:rPr lang="en-US" altLang="zh-TW" sz="2400" dirty="0">
                <a:solidFill>
                  <a:srgbClr val="303030"/>
                </a:solidFill>
                <a:latin typeface="-apple-system"/>
              </a:rPr>
              <a:t>Contract bridge is an example of an incomplete information game for which computers typically do not perform better than expert human bridge players. In particular, the typical bidding decisions of human bridge players are difficult to mimic with a computer program, and thus automatic bridge bidding remains to be a challenging research problem. Currently, the possibility of automatic bidding without mimicking human players has not been fully studied. In this work, we take an initiative to study such a possibility for the specific problem of bidding without competition. We propose a novel learning framework to let a computer program learn its own bidding decisions. The framework transforms the bidding problem into a learning problem, and then solves the problem with a carefully designed model that consists of cost-sensitive classifiers and upper-confidence-bound algorithms. We validate the proposed model and find that it performs competitively to the champion computer bridge program that mimics human bidding decisions. </a:t>
            </a:r>
          </a:p>
        </p:txBody>
      </p:sp>
    </p:spTree>
    <p:extLst>
      <p:ext uri="{BB962C8B-B14F-4D97-AF65-F5344CB8AC3E}">
        <p14:creationId xmlns:p14="http://schemas.microsoft.com/office/powerpoint/2010/main" val="353192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Baseline method</a:t>
            </a:r>
          </a:p>
        </p:txBody>
      </p:sp>
      <p:sp>
        <p:nvSpPr>
          <p:cNvPr id="3" name="文字方塊 2">
            <a:extLst>
              <a:ext uri="{FF2B5EF4-FFF2-40B4-BE49-F238E27FC236}">
                <a16:creationId xmlns:a16="http://schemas.microsoft.com/office/drawing/2014/main" id="{FBA24D45-52FA-BC40-9D75-ED70242720E3}"/>
              </a:ext>
            </a:extLst>
          </p:cNvPr>
          <p:cNvSpPr txBox="1"/>
          <p:nvPr/>
        </p:nvSpPr>
        <p:spPr>
          <a:xfrm>
            <a:off x="376238" y="1035597"/>
            <a:ext cx="11439524" cy="4996240"/>
          </a:xfrm>
          <a:prstGeom prst="rect">
            <a:avLst/>
          </a:prstGeom>
          <a:noFill/>
        </p:spPr>
        <p:txBody>
          <a:bodyPr wrap="square">
            <a:spAutoFit/>
          </a:bodyPr>
          <a:lstStyle/>
          <a:p>
            <a:pPr>
              <a:spcBef>
                <a:spcPts val="1000"/>
              </a:spcBef>
            </a:pPr>
            <a:r>
              <a:rPr lang="en-US" altLang="zh-TW" sz="2800" dirty="0">
                <a:solidFill>
                  <a:srgbClr val="303030"/>
                </a:solidFill>
                <a:latin typeface="-apple-system"/>
              </a:rPr>
              <a:t>let g(x</a:t>
            </a:r>
            <a:r>
              <a:rPr lang="en-US" altLang="zh-TW" sz="2800" baseline="-25000" dirty="0">
                <a:solidFill>
                  <a:srgbClr val="303030"/>
                </a:solidFill>
                <a:latin typeface="-apple-system"/>
              </a:rPr>
              <a:t>s</a:t>
            </a:r>
            <a:r>
              <a:rPr lang="en-US" altLang="zh-TW" sz="2800" dirty="0">
                <a:solidFill>
                  <a:srgbClr val="303030"/>
                </a:solidFill>
                <a:latin typeface="-apple-system"/>
              </a:rPr>
              <a:t>,b</a:t>
            </a:r>
            <a:r>
              <a:rPr lang="en-US" altLang="zh-TW" sz="2800" baseline="30000" dirty="0">
                <a:solidFill>
                  <a:srgbClr val="303030"/>
                </a:solidFill>
                <a:latin typeface="-apple-system"/>
              </a:rPr>
              <a:t>1</a:t>
            </a:r>
            <a:r>
              <a:rPr lang="en-US" altLang="zh-TW" sz="2800" dirty="0">
                <a:solidFill>
                  <a:srgbClr val="303030"/>
                </a:solidFill>
                <a:latin typeface="-apple-system"/>
              </a:rPr>
              <a:t>) = PASS , x </a:t>
            </a:r>
            <a:r>
              <a:rPr lang="en-US" altLang="zh-TW" sz="2800" baseline="-25000" dirty="0">
                <a:solidFill>
                  <a:srgbClr val="303030"/>
                </a:solidFill>
                <a:latin typeface="-apple-system"/>
              </a:rPr>
              <a:t>s</a:t>
            </a:r>
            <a:r>
              <a:rPr lang="en-US" altLang="zh-TW" sz="2800" dirty="0">
                <a:solidFill>
                  <a:srgbClr val="303030"/>
                </a:solidFill>
                <a:latin typeface="-apple-system"/>
              </a:rPr>
              <a:t> is not needed </a:t>
            </a:r>
          </a:p>
          <a:p>
            <a:pPr>
              <a:spcBef>
                <a:spcPts val="1000"/>
              </a:spcBef>
            </a:pPr>
            <a:r>
              <a:rPr lang="en-US" altLang="zh-TW" sz="2800" dirty="0">
                <a:solidFill>
                  <a:srgbClr val="303030"/>
                </a:solidFill>
                <a:latin typeface="-apple-system"/>
              </a:rPr>
              <a:t> objective function is reduced to minimize</a:t>
            </a:r>
          </a:p>
          <a:p>
            <a:pPr>
              <a:spcBef>
                <a:spcPts val="1000"/>
              </a:spcBef>
            </a:pPr>
            <a:endParaRPr lang="en-US" altLang="zh-TW" sz="2800" dirty="0">
              <a:solidFill>
                <a:srgbClr val="303030"/>
              </a:solidFill>
              <a:latin typeface="-apple-system"/>
            </a:endParaRPr>
          </a:p>
          <a:p>
            <a:pPr>
              <a:spcBef>
                <a:spcPts val="1000"/>
              </a:spcBef>
            </a:pPr>
            <a:r>
              <a:rPr lang="en-US" altLang="zh-TW" sz="2800" dirty="0">
                <a:solidFill>
                  <a:srgbClr val="303030"/>
                </a:solidFill>
                <a:latin typeface="-apple-system"/>
              </a:rPr>
              <a:t>Lower bound</a:t>
            </a:r>
          </a:p>
          <a:p>
            <a:pPr>
              <a:spcBef>
                <a:spcPts val="1000"/>
              </a:spcBef>
            </a:pPr>
            <a:r>
              <a:rPr lang="en-US" altLang="zh-TW" sz="2800" dirty="0">
                <a:solidFill>
                  <a:srgbClr val="303030"/>
                </a:solidFill>
                <a:latin typeface="-apple-system"/>
              </a:rPr>
              <a:t>Cost-sensitive classification:</a:t>
            </a:r>
          </a:p>
          <a:p>
            <a:pPr>
              <a:spcBef>
                <a:spcPts val="1000"/>
              </a:spcBef>
            </a:pPr>
            <a:endParaRPr lang="en-US" altLang="zh-TW" sz="2800" dirty="0">
              <a:solidFill>
                <a:srgbClr val="303030"/>
              </a:solidFill>
              <a:latin typeface="-apple-system"/>
            </a:endParaRPr>
          </a:p>
          <a:p>
            <a:pPr>
              <a:spcBef>
                <a:spcPts val="1000"/>
              </a:spcBef>
            </a:pPr>
            <a:r>
              <a:rPr lang="en-US" altLang="zh-TW" sz="2800" dirty="0">
                <a:solidFill>
                  <a:srgbClr val="303030"/>
                </a:solidFill>
                <a:latin typeface="-apple-system"/>
              </a:rPr>
              <a:t>Upper bound</a:t>
            </a:r>
          </a:p>
          <a:p>
            <a:pPr>
              <a:spcBef>
                <a:spcPts val="1000"/>
              </a:spcBef>
            </a:pPr>
            <a:r>
              <a:rPr lang="en-US" altLang="zh-TW" sz="2800" dirty="0">
                <a:solidFill>
                  <a:srgbClr val="303030"/>
                </a:solidFill>
                <a:latin typeface="-apple-system"/>
              </a:rPr>
              <a:t>Cost-sensitive classification:  </a:t>
            </a:r>
          </a:p>
          <a:p>
            <a:pPr>
              <a:spcBef>
                <a:spcPts val="1000"/>
              </a:spcBef>
            </a:pPr>
            <a:endParaRPr lang="en-US" altLang="zh-TW" sz="2800" dirty="0">
              <a:solidFill>
                <a:srgbClr val="303030"/>
              </a:solidFill>
              <a:latin typeface="-apple-system"/>
            </a:endParaRPr>
          </a:p>
        </p:txBody>
      </p:sp>
      <p:pic>
        <p:nvPicPr>
          <p:cNvPr id="4" name="圖片 3">
            <a:extLst>
              <a:ext uri="{FF2B5EF4-FFF2-40B4-BE49-F238E27FC236}">
                <a16:creationId xmlns:a16="http://schemas.microsoft.com/office/drawing/2014/main" id="{04FA9B26-2AC3-BB45-8F15-498505375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2986" y="1564234"/>
            <a:ext cx="2870200" cy="584200"/>
          </a:xfrm>
          <a:prstGeom prst="rect">
            <a:avLst/>
          </a:prstGeom>
        </p:spPr>
      </p:pic>
      <p:pic>
        <p:nvPicPr>
          <p:cNvPr id="7" name="圖片 6">
            <a:extLst>
              <a:ext uri="{FF2B5EF4-FFF2-40B4-BE49-F238E27FC236}">
                <a16:creationId xmlns:a16="http://schemas.microsoft.com/office/drawing/2014/main" id="{A5A3EECE-E440-0A46-ABCA-AC2CA515CD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6535" y="3245258"/>
            <a:ext cx="3975100" cy="571500"/>
          </a:xfrm>
          <a:prstGeom prst="rect">
            <a:avLst/>
          </a:prstGeom>
        </p:spPr>
      </p:pic>
      <p:pic>
        <p:nvPicPr>
          <p:cNvPr id="11" name="圖片 10">
            <a:extLst>
              <a:ext uri="{FF2B5EF4-FFF2-40B4-BE49-F238E27FC236}">
                <a16:creationId xmlns:a16="http://schemas.microsoft.com/office/drawing/2014/main" id="{EAB482C4-6FF5-1C4A-87C1-897142DDD495}"/>
              </a:ext>
            </a:extLst>
          </p:cNvPr>
          <p:cNvPicPr>
            <a:picLocks noChangeAspect="1"/>
          </p:cNvPicPr>
          <p:nvPr/>
        </p:nvPicPr>
        <p:blipFill rotWithShape="1">
          <a:blip r:embed="rId4">
            <a:extLst>
              <a:ext uri="{28A0092B-C50C-407E-A947-70E740481C1C}">
                <a14:useLocalDpi xmlns:a14="http://schemas.microsoft.com/office/drawing/2010/main" val="0"/>
              </a:ext>
            </a:extLst>
          </a:blip>
          <a:srcRect b="10977"/>
          <a:stretch/>
        </p:blipFill>
        <p:spPr>
          <a:xfrm>
            <a:off x="4576535" y="4913582"/>
            <a:ext cx="4889500" cy="474847"/>
          </a:xfrm>
          <a:prstGeom prst="rect">
            <a:avLst/>
          </a:prstGeom>
        </p:spPr>
      </p:pic>
    </p:spTree>
    <p:extLst>
      <p:ext uri="{BB962C8B-B14F-4D97-AF65-F5344CB8AC3E}">
        <p14:creationId xmlns:p14="http://schemas.microsoft.com/office/powerpoint/2010/main" val="2357006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The multi-layer bandit model</a:t>
            </a:r>
          </a:p>
        </p:txBody>
      </p:sp>
      <p:sp>
        <p:nvSpPr>
          <p:cNvPr id="3" name="文字方塊 2">
            <a:extLst>
              <a:ext uri="{FF2B5EF4-FFF2-40B4-BE49-F238E27FC236}">
                <a16:creationId xmlns:a16="http://schemas.microsoft.com/office/drawing/2014/main" id="{FBA24D45-52FA-BC40-9D75-ED70242720E3}"/>
              </a:ext>
            </a:extLst>
          </p:cNvPr>
          <p:cNvSpPr txBox="1"/>
          <p:nvPr/>
        </p:nvSpPr>
        <p:spPr>
          <a:xfrm>
            <a:off x="376238" y="1035597"/>
            <a:ext cx="11439524" cy="3318857"/>
          </a:xfrm>
          <a:prstGeom prst="rect">
            <a:avLst/>
          </a:prstGeom>
          <a:noFill/>
        </p:spPr>
        <p:txBody>
          <a:bodyPr wrap="square">
            <a:spAutoFit/>
          </a:bodyPr>
          <a:lstStyle/>
          <a:p>
            <a:pPr>
              <a:spcBef>
                <a:spcPts val="1000"/>
              </a:spcBef>
            </a:pPr>
            <a:r>
              <a:rPr lang="en-US" altLang="zh-TW" sz="2800" dirty="0">
                <a:solidFill>
                  <a:srgbClr val="303030"/>
                </a:solidFill>
                <a:latin typeface="-apple-system"/>
              </a:rPr>
              <a:t>extending the base- line methods to produce sequences b of length two </a:t>
            </a:r>
          </a:p>
          <a:p>
            <a:pPr>
              <a:spcBef>
                <a:spcPts val="1000"/>
              </a:spcBef>
            </a:pPr>
            <a:endParaRPr lang="en-US" altLang="zh-TW" sz="2800" dirty="0">
              <a:solidFill>
                <a:srgbClr val="303030"/>
              </a:solidFill>
              <a:latin typeface="-apple-system"/>
            </a:endParaRPr>
          </a:p>
          <a:p>
            <a:pPr>
              <a:spcBef>
                <a:spcPts val="1000"/>
              </a:spcBef>
            </a:pPr>
            <a:endParaRPr lang="en-US" altLang="zh-TW" sz="2800" dirty="0">
              <a:solidFill>
                <a:srgbClr val="303030"/>
              </a:solidFill>
              <a:latin typeface="-apple-system"/>
            </a:endParaRPr>
          </a:p>
          <a:p>
            <a:pPr>
              <a:spcBef>
                <a:spcPts val="1000"/>
              </a:spcBef>
            </a:pPr>
            <a:r>
              <a:rPr lang="en-US" altLang="zh-TW" sz="2800" dirty="0">
                <a:solidFill>
                  <a:srgbClr val="303030"/>
                </a:solidFill>
                <a:latin typeface="-apple-system"/>
              </a:rPr>
              <a:t>South player can now improve her strategy </a:t>
            </a:r>
            <a:r>
              <a:rPr lang="en-US" altLang="zh-TW" sz="2800" dirty="0" err="1">
                <a:solidFill>
                  <a:srgbClr val="303030"/>
                </a:solidFill>
                <a:latin typeface="-apple-system"/>
              </a:rPr>
              <a:t>g</a:t>
            </a:r>
            <a:r>
              <a:rPr lang="en-US" altLang="zh-TW" sz="2800" baseline="-25000" dirty="0" err="1">
                <a:solidFill>
                  <a:srgbClr val="303030"/>
                </a:solidFill>
                <a:latin typeface="-apple-system"/>
              </a:rPr>
              <a:t>s</a:t>
            </a:r>
            <a:r>
              <a:rPr lang="en-US" altLang="zh-TW" sz="2800" dirty="0">
                <a:solidFill>
                  <a:srgbClr val="303030"/>
                </a:solidFill>
                <a:latin typeface="-apple-system"/>
              </a:rPr>
              <a:t> with ((</a:t>
            </a:r>
            <a:r>
              <a:rPr lang="en-US" altLang="zh-TW" sz="2800" dirty="0" err="1">
                <a:solidFill>
                  <a:srgbClr val="303030"/>
                </a:solidFill>
                <a:latin typeface="-apple-system"/>
              </a:rPr>
              <a:t>x</a:t>
            </a:r>
            <a:r>
              <a:rPr lang="en-US" altLang="zh-TW" sz="2800" baseline="-25000" dirty="0" err="1">
                <a:solidFill>
                  <a:srgbClr val="303030"/>
                </a:solidFill>
                <a:latin typeface="-apple-system"/>
              </a:rPr>
              <a:t>s</a:t>
            </a:r>
            <a:r>
              <a:rPr lang="en-US" altLang="zh-TW" sz="2800" dirty="0">
                <a:solidFill>
                  <a:srgbClr val="303030"/>
                </a:solidFill>
                <a:latin typeface="-apple-system"/>
              </a:rPr>
              <a:t> , b[1]), b[2], c) </a:t>
            </a:r>
          </a:p>
          <a:p>
            <a:pPr>
              <a:spcBef>
                <a:spcPts val="1000"/>
              </a:spcBef>
            </a:pPr>
            <a:r>
              <a:rPr lang="en-US" altLang="zh-TW" sz="2800" dirty="0" err="1">
                <a:solidFill>
                  <a:srgbClr val="303030"/>
                </a:solidFill>
                <a:latin typeface="-apple-system"/>
              </a:rPr>
              <a:t>g</a:t>
            </a:r>
            <a:r>
              <a:rPr lang="en-US" altLang="zh-TW" sz="2800" baseline="-25000" dirty="0" err="1">
                <a:solidFill>
                  <a:srgbClr val="303030"/>
                </a:solidFill>
                <a:latin typeface="-apple-system"/>
              </a:rPr>
              <a:t>n</a:t>
            </a:r>
            <a:r>
              <a:rPr lang="en-US" altLang="zh-TW" sz="2800" dirty="0">
                <a:solidFill>
                  <a:srgbClr val="303030"/>
                </a:solidFill>
                <a:latin typeface="-apple-system"/>
              </a:rPr>
              <a:t> can improve his strategy with ((</a:t>
            </a:r>
            <a:r>
              <a:rPr lang="en-US" altLang="zh-TW" sz="2800" dirty="0" err="1">
                <a:solidFill>
                  <a:srgbClr val="303030"/>
                </a:solidFill>
                <a:latin typeface="-apple-system"/>
              </a:rPr>
              <a:t>x</a:t>
            </a:r>
            <a:r>
              <a:rPr lang="en-US" altLang="zh-TW" sz="2800" baseline="-25000" dirty="0" err="1">
                <a:solidFill>
                  <a:srgbClr val="303030"/>
                </a:solidFill>
                <a:latin typeface="-apple-system"/>
              </a:rPr>
              <a:t>n</a:t>
            </a:r>
            <a:r>
              <a:rPr lang="en-US" altLang="zh-TW" sz="2800" dirty="0">
                <a:solidFill>
                  <a:srgbClr val="303030"/>
                </a:solidFill>
                <a:latin typeface="-apple-system"/>
              </a:rPr>
              <a:t> , ∅), b[1], c) </a:t>
            </a:r>
          </a:p>
          <a:p>
            <a:pPr>
              <a:spcBef>
                <a:spcPts val="1000"/>
              </a:spcBef>
            </a:pPr>
            <a:endParaRPr lang="en-US" altLang="zh-TW" sz="2800" dirty="0">
              <a:solidFill>
                <a:srgbClr val="303030"/>
              </a:solidFill>
              <a:latin typeface="-apple-system"/>
            </a:endParaRPr>
          </a:p>
        </p:txBody>
      </p:sp>
      <p:pic>
        <p:nvPicPr>
          <p:cNvPr id="6" name="圖片 5">
            <a:extLst>
              <a:ext uri="{FF2B5EF4-FFF2-40B4-BE49-F238E27FC236}">
                <a16:creationId xmlns:a16="http://schemas.microsoft.com/office/drawing/2014/main" id="{D3E1AEAF-4B47-6F48-AA64-7153B8F24305}"/>
              </a:ext>
            </a:extLst>
          </p:cNvPr>
          <p:cNvPicPr>
            <a:picLocks noChangeAspect="1"/>
          </p:cNvPicPr>
          <p:nvPr/>
        </p:nvPicPr>
        <p:blipFill rotWithShape="1">
          <a:blip r:embed="rId2">
            <a:extLst>
              <a:ext uri="{28A0092B-C50C-407E-A947-70E740481C1C}">
                <a14:useLocalDpi xmlns:a14="http://schemas.microsoft.com/office/drawing/2010/main" val="0"/>
              </a:ext>
            </a:extLst>
          </a:blip>
          <a:srcRect t="4786"/>
          <a:stretch/>
        </p:blipFill>
        <p:spPr>
          <a:xfrm>
            <a:off x="827315" y="1801519"/>
            <a:ext cx="9601200" cy="495778"/>
          </a:xfrm>
          <a:prstGeom prst="rect">
            <a:avLst/>
          </a:prstGeom>
        </p:spPr>
      </p:pic>
    </p:spTree>
    <p:extLst>
      <p:ext uri="{BB962C8B-B14F-4D97-AF65-F5344CB8AC3E}">
        <p14:creationId xmlns:p14="http://schemas.microsoft.com/office/powerpoint/2010/main" val="204825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The Proposed Learning Algorithm</a:t>
            </a:r>
          </a:p>
        </p:txBody>
      </p:sp>
      <p:pic>
        <p:nvPicPr>
          <p:cNvPr id="3" name="圖片 2">
            <a:extLst>
              <a:ext uri="{FF2B5EF4-FFF2-40B4-BE49-F238E27FC236}">
                <a16:creationId xmlns:a16="http://schemas.microsoft.com/office/drawing/2014/main" id="{FF5E2DA0-A318-B44A-B1D4-F36F9907B2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9394" y="952584"/>
            <a:ext cx="5267779" cy="5587731"/>
          </a:xfrm>
          <a:prstGeom prst="rect">
            <a:avLst/>
          </a:prstGeom>
        </p:spPr>
      </p:pic>
      <p:sp>
        <p:nvSpPr>
          <p:cNvPr id="6" name="文字方塊 5">
            <a:extLst>
              <a:ext uri="{FF2B5EF4-FFF2-40B4-BE49-F238E27FC236}">
                <a16:creationId xmlns:a16="http://schemas.microsoft.com/office/drawing/2014/main" id="{DB51A3CB-9D82-FD4E-9CB6-672A67A51944}"/>
              </a:ext>
            </a:extLst>
          </p:cNvPr>
          <p:cNvSpPr txBox="1"/>
          <p:nvPr/>
        </p:nvSpPr>
        <p:spPr>
          <a:xfrm>
            <a:off x="6639005" y="1942827"/>
            <a:ext cx="5552995" cy="461665"/>
          </a:xfrm>
          <a:prstGeom prst="rect">
            <a:avLst/>
          </a:prstGeom>
          <a:noFill/>
        </p:spPr>
        <p:txBody>
          <a:bodyPr wrap="none" rtlCol="0">
            <a:spAutoFit/>
          </a:bodyPr>
          <a:lstStyle/>
          <a:p>
            <a:r>
              <a:rPr lang="en" altLang="zh-TW" sz="2400" dirty="0"/>
              <a:t>weight vector </a:t>
            </a:r>
            <a:r>
              <a:rPr lang="en" altLang="zh-TW" sz="2400" dirty="0" err="1"/>
              <a:t>w</a:t>
            </a:r>
            <a:r>
              <a:rPr lang="en" altLang="zh-TW" sz="2400" baseline="-25000" dirty="0" err="1"/>
              <a:t>m</a:t>
            </a:r>
            <a:r>
              <a:rPr lang="en" altLang="zh-TW" sz="2400" dirty="0"/>
              <a:t> = (</a:t>
            </a:r>
            <a:r>
              <a:rPr lang="en" altLang="zh-TW" sz="2400" dirty="0" err="1"/>
              <a:t>X</a:t>
            </a:r>
            <a:r>
              <a:rPr lang="en" altLang="zh-TW" sz="2400" baseline="30000" dirty="0" err="1"/>
              <a:t>T</a:t>
            </a:r>
            <a:r>
              <a:rPr lang="en" altLang="zh-TW" sz="2400" baseline="-25000" dirty="0" err="1"/>
              <a:t>m</a:t>
            </a:r>
            <a:r>
              <a:rPr lang="en" altLang="zh-TW" sz="2400" dirty="0"/>
              <a:t> </a:t>
            </a:r>
            <a:r>
              <a:rPr lang="en" altLang="zh-TW" sz="2400" dirty="0" err="1"/>
              <a:t>X</a:t>
            </a:r>
            <a:r>
              <a:rPr lang="en" altLang="zh-TW" sz="2400" baseline="-25000" dirty="0" err="1"/>
              <a:t>m</a:t>
            </a:r>
            <a:r>
              <a:rPr lang="en" altLang="zh-TW" sz="2400" dirty="0"/>
              <a:t> + </a:t>
            </a:r>
            <a:r>
              <a:rPr lang="el-GR" altLang="zh-TW" sz="2400" dirty="0"/>
              <a:t>λ</a:t>
            </a:r>
            <a:r>
              <a:rPr lang="en" altLang="zh-TW" sz="2400" dirty="0"/>
              <a:t>I )</a:t>
            </a:r>
            <a:r>
              <a:rPr lang="en" altLang="zh-TW" sz="2400" baseline="30000" dirty="0"/>
              <a:t>−1</a:t>
            </a:r>
            <a:r>
              <a:rPr lang="en" altLang="zh-TW" sz="2400" dirty="0"/>
              <a:t> (</a:t>
            </a:r>
            <a:r>
              <a:rPr lang="en" altLang="zh-TW" sz="2400" dirty="0" err="1"/>
              <a:t>X</a:t>
            </a:r>
            <a:r>
              <a:rPr lang="en" altLang="zh-TW" sz="2400" baseline="30000" dirty="0" err="1"/>
              <a:t>T</a:t>
            </a:r>
            <a:r>
              <a:rPr lang="en" altLang="zh-TW" sz="2400" baseline="-25000" dirty="0" err="1"/>
              <a:t>m</a:t>
            </a:r>
            <a:r>
              <a:rPr lang="en" altLang="zh-TW" sz="2400" dirty="0"/>
              <a:t> </a:t>
            </a:r>
            <a:r>
              <a:rPr lang="en" altLang="zh-TW" sz="2400" dirty="0" err="1"/>
              <a:t>r</a:t>
            </a:r>
            <a:r>
              <a:rPr lang="en" altLang="zh-TW" sz="2400" baseline="-25000" dirty="0" err="1"/>
              <a:t>m</a:t>
            </a:r>
            <a:r>
              <a:rPr lang="en" altLang="zh-TW" sz="2400" dirty="0"/>
              <a:t> ) </a:t>
            </a:r>
          </a:p>
        </p:txBody>
      </p:sp>
      <p:sp>
        <p:nvSpPr>
          <p:cNvPr id="7" name="文字方塊 6">
            <a:extLst>
              <a:ext uri="{FF2B5EF4-FFF2-40B4-BE49-F238E27FC236}">
                <a16:creationId xmlns:a16="http://schemas.microsoft.com/office/drawing/2014/main" id="{E27846BC-ADF0-2F49-9294-C2129321038E}"/>
              </a:ext>
            </a:extLst>
          </p:cNvPr>
          <p:cNvSpPr txBox="1"/>
          <p:nvPr/>
        </p:nvSpPr>
        <p:spPr>
          <a:xfrm>
            <a:off x="6639004" y="2487113"/>
            <a:ext cx="5049909" cy="461665"/>
          </a:xfrm>
          <a:prstGeom prst="rect">
            <a:avLst/>
          </a:prstGeom>
          <a:noFill/>
        </p:spPr>
        <p:txBody>
          <a:bodyPr wrap="none" rtlCol="0">
            <a:spAutoFit/>
          </a:bodyPr>
          <a:lstStyle/>
          <a:p>
            <a:r>
              <a:rPr lang="en" altLang="zh-TW" sz="2400" dirty="0"/>
              <a:t>cost vector </a:t>
            </a:r>
            <a:r>
              <a:rPr lang="en-US" altLang="zh-TW" sz="2400" dirty="0"/>
              <a:t>c = best score -  those score</a:t>
            </a:r>
            <a:endParaRPr lang="en" altLang="zh-TW" sz="2400" dirty="0"/>
          </a:p>
        </p:txBody>
      </p:sp>
      <p:sp>
        <p:nvSpPr>
          <p:cNvPr id="8" name="文字方塊 7">
            <a:extLst>
              <a:ext uri="{FF2B5EF4-FFF2-40B4-BE49-F238E27FC236}">
                <a16:creationId xmlns:a16="http://schemas.microsoft.com/office/drawing/2014/main" id="{1DC42C6B-B210-8948-B2B7-0F605A1C90BD}"/>
              </a:ext>
            </a:extLst>
          </p:cNvPr>
          <p:cNvSpPr txBox="1"/>
          <p:nvPr/>
        </p:nvSpPr>
        <p:spPr>
          <a:xfrm>
            <a:off x="6639004" y="4368734"/>
            <a:ext cx="5191549" cy="461665"/>
          </a:xfrm>
          <a:prstGeom prst="rect">
            <a:avLst/>
          </a:prstGeom>
          <a:noFill/>
        </p:spPr>
        <p:txBody>
          <a:bodyPr wrap="none" rtlCol="0">
            <a:spAutoFit/>
          </a:bodyPr>
          <a:lstStyle/>
          <a:p>
            <a:r>
              <a:rPr lang="en-US" altLang="zh-TW" sz="2400" dirty="0"/>
              <a:t>reward r = maximum possible cost - cost</a:t>
            </a:r>
            <a:endParaRPr lang="en" altLang="zh-TW" sz="2400" dirty="0"/>
          </a:p>
        </p:txBody>
      </p:sp>
    </p:spTree>
    <p:extLst>
      <p:ext uri="{BB962C8B-B14F-4D97-AF65-F5344CB8AC3E}">
        <p14:creationId xmlns:p14="http://schemas.microsoft.com/office/powerpoint/2010/main" val="2858658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Experiments</a:t>
            </a:r>
          </a:p>
        </p:txBody>
      </p:sp>
      <p:pic>
        <p:nvPicPr>
          <p:cNvPr id="3" name="圖片 2">
            <a:extLst>
              <a:ext uri="{FF2B5EF4-FFF2-40B4-BE49-F238E27FC236}">
                <a16:creationId xmlns:a16="http://schemas.microsoft.com/office/drawing/2014/main" id="{6BD0D4A2-BFD5-6C46-AD39-AC32C148CD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005" y="1734458"/>
            <a:ext cx="9007989" cy="3316514"/>
          </a:xfrm>
          <a:prstGeom prst="rect">
            <a:avLst/>
          </a:prstGeom>
        </p:spPr>
      </p:pic>
    </p:spTree>
    <p:extLst>
      <p:ext uri="{BB962C8B-B14F-4D97-AF65-F5344CB8AC3E}">
        <p14:creationId xmlns:p14="http://schemas.microsoft.com/office/powerpoint/2010/main" val="454894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Experiments</a:t>
            </a:r>
          </a:p>
        </p:txBody>
      </p:sp>
      <p:pic>
        <p:nvPicPr>
          <p:cNvPr id="4" name="圖片 3">
            <a:extLst>
              <a:ext uri="{FF2B5EF4-FFF2-40B4-BE49-F238E27FC236}">
                <a16:creationId xmlns:a16="http://schemas.microsoft.com/office/drawing/2014/main" id="{5508C221-2B34-6344-858B-5EDBF135B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4350" y="1484086"/>
            <a:ext cx="8623300" cy="4521200"/>
          </a:xfrm>
          <a:prstGeom prst="rect">
            <a:avLst/>
          </a:prstGeom>
        </p:spPr>
      </p:pic>
    </p:spTree>
    <p:extLst>
      <p:ext uri="{BB962C8B-B14F-4D97-AF65-F5344CB8AC3E}">
        <p14:creationId xmlns:p14="http://schemas.microsoft.com/office/powerpoint/2010/main" val="482736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Experiments</a:t>
            </a:r>
          </a:p>
        </p:txBody>
      </p:sp>
      <p:pic>
        <p:nvPicPr>
          <p:cNvPr id="4" name="圖片 3">
            <a:extLst>
              <a:ext uri="{FF2B5EF4-FFF2-40B4-BE49-F238E27FC236}">
                <a16:creationId xmlns:a16="http://schemas.microsoft.com/office/drawing/2014/main" id="{802A19A0-0DDB-DE40-BFD0-3ABFDF9AE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550" y="1709363"/>
            <a:ext cx="10756900" cy="4343400"/>
          </a:xfrm>
          <a:prstGeom prst="rect">
            <a:avLst/>
          </a:prstGeom>
        </p:spPr>
      </p:pic>
      <p:sp>
        <p:nvSpPr>
          <p:cNvPr id="6" name="矩形 5">
            <a:extLst>
              <a:ext uri="{FF2B5EF4-FFF2-40B4-BE49-F238E27FC236}">
                <a16:creationId xmlns:a16="http://schemas.microsoft.com/office/drawing/2014/main" id="{19DBA862-C1F7-E04E-98B5-5AD7C45F9D32}"/>
              </a:ext>
            </a:extLst>
          </p:cNvPr>
          <p:cNvSpPr/>
          <p:nvPr/>
        </p:nvSpPr>
        <p:spPr>
          <a:xfrm>
            <a:off x="3298004" y="2691829"/>
            <a:ext cx="7880279" cy="297951"/>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矩形 6">
            <a:extLst>
              <a:ext uri="{FF2B5EF4-FFF2-40B4-BE49-F238E27FC236}">
                <a16:creationId xmlns:a16="http://schemas.microsoft.com/office/drawing/2014/main" id="{49607828-FF89-1146-A156-5F6398E508B0}"/>
              </a:ext>
            </a:extLst>
          </p:cNvPr>
          <p:cNvSpPr/>
          <p:nvPr/>
        </p:nvSpPr>
        <p:spPr>
          <a:xfrm>
            <a:off x="3298004" y="3255194"/>
            <a:ext cx="7880279" cy="297951"/>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646322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0CA1336C-440D-2E43-904F-AABB45E64E1E}"/>
              </a:ext>
            </a:extLst>
          </p:cNvPr>
          <p:cNvSpPr>
            <a:spLocks noGrp="1"/>
          </p:cNvSpPr>
          <p:nvPr/>
        </p:nvSpPr>
        <p:spPr>
          <a:xfrm>
            <a:off x="762001" y="1720670"/>
            <a:ext cx="10525124" cy="1344073"/>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a:lnSpc>
                <a:spcPct val="120000"/>
              </a:lnSpc>
            </a:pPr>
            <a:r>
              <a:rPr kumimoji="1" lang="en-US" altLang="zh-TW" dirty="0"/>
              <a:t>Recursive Monte Carlo Search for Bridge Card Play </a:t>
            </a:r>
          </a:p>
        </p:txBody>
      </p:sp>
      <p:sp>
        <p:nvSpPr>
          <p:cNvPr id="5" name="副標題 2">
            <a:extLst>
              <a:ext uri="{FF2B5EF4-FFF2-40B4-BE49-F238E27FC236}">
                <a16:creationId xmlns:a16="http://schemas.microsoft.com/office/drawing/2014/main" id="{FD611AA7-209A-4449-AB65-A25622930A66}"/>
              </a:ext>
            </a:extLst>
          </p:cNvPr>
          <p:cNvSpPr>
            <a:spLocks noGrp="1"/>
          </p:cNvSpPr>
          <p:nvPr/>
        </p:nvSpPr>
        <p:spPr>
          <a:xfrm>
            <a:off x="666107" y="3866102"/>
            <a:ext cx="9870558" cy="134407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Bruno </a:t>
            </a:r>
            <a:r>
              <a:rPr kumimoji="1" lang="en-US" altLang="zh-TW" dirty="0" err="1">
                <a:latin typeface="Times New Roman" panose="02020603050405020304" pitchFamily="18" charset="0"/>
                <a:cs typeface="Times New Roman" panose="02020603050405020304" pitchFamily="18" charset="0"/>
              </a:rPr>
              <a:t>Bouzy</a:t>
            </a:r>
            <a:r>
              <a:rPr kumimoji="1" lang="en-US" altLang="zh-TW" dirty="0">
                <a:latin typeface="Times New Roman" panose="02020603050405020304" pitchFamily="18" charset="0"/>
                <a:cs typeface="Times New Roman" panose="02020603050405020304" pitchFamily="18" charset="0"/>
              </a:rPr>
              <a:t>, Alexis Rimbaud and </a:t>
            </a:r>
            <a:r>
              <a:rPr kumimoji="1" lang="en-US" altLang="zh-TW" dirty="0" err="1">
                <a:latin typeface="Times New Roman" panose="02020603050405020304" pitchFamily="18" charset="0"/>
                <a:cs typeface="Times New Roman" panose="02020603050405020304" pitchFamily="18" charset="0"/>
              </a:rPr>
              <a:t>Véronique</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Ventos</a:t>
            </a:r>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 2020 IEEE Conference on Games (</a:t>
            </a:r>
            <a:r>
              <a:rPr kumimoji="1" lang="en-US" altLang="zh-TW" dirty="0" err="1">
                <a:latin typeface="Times New Roman" panose="02020603050405020304" pitchFamily="18" charset="0"/>
                <a:cs typeface="Times New Roman" panose="02020603050405020304" pitchFamily="18" charset="0"/>
              </a:rPr>
              <a:t>CoG</a:t>
            </a:r>
            <a:r>
              <a:rPr kumimoji="1" lang="en-US" altLang="zh-TW" dirty="0">
                <a:latin typeface="Times New Roman" panose="02020603050405020304" pitchFamily="18" charset="0"/>
                <a:cs typeface="Times New Roman" panose="02020603050405020304" pitchFamily="18" charset="0"/>
              </a:rPr>
              <a:t>),  Aug.24-27, 2020</a:t>
            </a:r>
          </a:p>
        </p:txBody>
      </p:sp>
      <p:sp>
        <p:nvSpPr>
          <p:cNvPr id="6" name="文字方塊 3">
            <a:extLst>
              <a:ext uri="{FF2B5EF4-FFF2-40B4-BE49-F238E27FC236}">
                <a16:creationId xmlns:a16="http://schemas.microsoft.com/office/drawing/2014/main" id="{BF1141FC-B145-834E-9139-2A899AB73EAA}"/>
              </a:ext>
            </a:extLst>
          </p:cNvPr>
          <p:cNvSpPr txBox="1"/>
          <p:nvPr/>
        </p:nvSpPr>
        <p:spPr>
          <a:xfrm>
            <a:off x="9150372" y="5471581"/>
            <a:ext cx="2375522" cy="646331"/>
          </a:xfrm>
          <a:prstGeom prst="rect">
            <a:avLst/>
          </a:prstGeom>
          <a:noFill/>
        </p:spPr>
        <p:txBody>
          <a:bodyPr wrap="non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 altLang="zh-TW" dirty="0">
                <a:latin typeface="Times New Roman" panose="02020603050405020304" pitchFamily="18" charset="0"/>
                <a:cs typeface="Times New Roman" panose="02020603050405020304" pitchFamily="18" charset="0"/>
              </a:rPr>
              <a:t>Presenter:  Ying-Yu Lin</a:t>
            </a:r>
          </a:p>
          <a:p>
            <a:pPr algn="r"/>
            <a:r>
              <a:rPr kumimoji="1" lang="en" altLang="zh-TW" dirty="0">
                <a:latin typeface="Times New Roman" panose="02020603050405020304" pitchFamily="18" charset="0"/>
                <a:cs typeface="Times New Roman" panose="02020603050405020304" pitchFamily="18" charset="0"/>
              </a:rPr>
              <a:t>Date: </a:t>
            </a:r>
            <a:r>
              <a:rPr kumimoji="1" lang="en-US" altLang="zh-TW" dirty="0">
                <a:latin typeface="Times New Roman" panose="02020603050405020304" pitchFamily="18" charset="0"/>
                <a:cs typeface="Times New Roman" panose="02020603050405020304" pitchFamily="18" charset="0"/>
              </a:rPr>
              <a:t>Feb</a:t>
            </a:r>
            <a:r>
              <a:rPr kumimoji="1" lang="en" altLang="zh-TW" dirty="0">
                <a:latin typeface="Times New Roman" panose="02020603050405020304" pitchFamily="18" charset="0"/>
                <a:cs typeface="Times New Roman" panose="02020603050405020304" pitchFamily="18" charset="0"/>
              </a:rPr>
              <a:t>.8,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313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5083443"/>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Abstract:</a:t>
            </a:r>
          </a:p>
          <a:p>
            <a:pPr>
              <a:spcBef>
                <a:spcPts val="1000"/>
              </a:spcBef>
            </a:pPr>
            <a:r>
              <a:rPr lang="en-US" altLang="zh-TW" sz="2800" dirty="0">
                <a:solidFill>
                  <a:srgbClr val="303030"/>
                </a:solidFill>
                <a:latin typeface="-apple-system"/>
              </a:rPr>
              <a:t>Computer Bridge remains a challenging obstacle for Artificial Intelligence. For the last twenty years, the state-of-the- art playing programs have been using a depth-one Monte Carlo (MC) search approach, associated with an open card solver called Double Dummy Solver (DDS). When increasing the computing resources, the MC approach reaches a plateau, and its playing level cannot be improved. In this work, we study Recursive MC (RMC) for Bridge card play. We show that, with more computing resources, this approach performs better than MC. Rather than using DDS or any domain-dependent simulator, a level N + 1 RMC consists in using a level N RMC playing program as simulator, level-zero RMC being MC. </a:t>
            </a:r>
          </a:p>
        </p:txBody>
      </p:sp>
    </p:spTree>
    <p:extLst>
      <p:ext uri="{BB962C8B-B14F-4D97-AF65-F5344CB8AC3E}">
        <p14:creationId xmlns:p14="http://schemas.microsoft.com/office/powerpoint/2010/main" val="1715932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379078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Abstract:</a:t>
            </a:r>
          </a:p>
          <a:p>
            <a:pPr>
              <a:spcBef>
                <a:spcPts val="1000"/>
              </a:spcBef>
            </a:pPr>
            <a:r>
              <a:rPr lang="en-US" altLang="zh-TW" sz="2800" dirty="0">
                <a:solidFill>
                  <a:srgbClr val="303030"/>
                </a:solidFill>
                <a:latin typeface="-apple-system"/>
              </a:rPr>
              <a:t>This recursion mechanism can be iterated several times at the cost of increasing the computing time, each time a recursion level is added. This work focusses on card play with no trump in duplicate with either 13 cards per player or 5 cards per player. With 13 cards per player, level-one RMC is superior to MC with a margin of 0.5 trick per card distribution on average, which is statistically significant. This is the first time RMC is applied with success to computer Bridge card play.</a:t>
            </a:r>
            <a:endParaRPr kumimoji="1"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185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The Monte Carlo procedure for card play</a:t>
            </a:r>
          </a:p>
        </p:txBody>
      </p:sp>
      <p:pic>
        <p:nvPicPr>
          <p:cNvPr id="4" name="圖片 3">
            <a:extLst>
              <a:ext uri="{FF2B5EF4-FFF2-40B4-BE49-F238E27FC236}">
                <a16:creationId xmlns:a16="http://schemas.microsoft.com/office/drawing/2014/main" id="{9DE2DF7E-0A9E-FA42-8FDB-11349BAF3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5665" y="1043320"/>
            <a:ext cx="4867729" cy="5652847"/>
          </a:xfrm>
          <a:prstGeom prst="rect">
            <a:avLst/>
          </a:prstGeom>
        </p:spPr>
      </p:pic>
      <p:sp>
        <p:nvSpPr>
          <p:cNvPr id="7" name="矩形 6">
            <a:extLst>
              <a:ext uri="{FF2B5EF4-FFF2-40B4-BE49-F238E27FC236}">
                <a16:creationId xmlns:a16="http://schemas.microsoft.com/office/drawing/2014/main" id="{BFFB2DDD-6D28-044B-800B-BB995461DB7F}"/>
              </a:ext>
            </a:extLst>
          </p:cNvPr>
          <p:cNvSpPr/>
          <p:nvPr/>
        </p:nvSpPr>
        <p:spPr>
          <a:xfrm>
            <a:off x="6937376" y="1312793"/>
            <a:ext cx="4508350" cy="369332"/>
          </a:xfrm>
          <a:prstGeom prst="rect">
            <a:avLst/>
          </a:prstGeom>
        </p:spPr>
        <p:txBody>
          <a:bodyPr wrap="none">
            <a:spAutoFit/>
          </a:bodyPr>
          <a:lstStyle/>
          <a:p>
            <a:r>
              <a:rPr lang="en" altLang="zh-TW" dirty="0"/>
              <a:t>NCD is the number of card distributions used. </a:t>
            </a:r>
          </a:p>
        </p:txBody>
      </p:sp>
      <p:sp>
        <p:nvSpPr>
          <p:cNvPr id="8" name="矩形 7">
            <a:extLst>
              <a:ext uri="{FF2B5EF4-FFF2-40B4-BE49-F238E27FC236}">
                <a16:creationId xmlns:a16="http://schemas.microsoft.com/office/drawing/2014/main" id="{9F601C5D-C976-DC4E-A238-58D1634E19C9}"/>
              </a:ext>
            </a:extLst>
          </p:cNvPr>
          <p:cNvSpPr/>
          <p:nvPr/>
        </p:nvSpPr>
        <p:spPr>
          <a:xfrm>
            <a:off x="6143551" y="4400379"/>
            <a:ext cx="6096000" cy="646331"/>
          </a:xfrm>
          <a:prstGeom prst="rect">
            <a:avLst/>
          </a:prstGeom>
        </p:spPr>
        <p:txBody>
          <a:bodyPr>
            <a:spAutoFit/>
          </a:bodyPr>
          <a:lstStyle/>
          <a:p>
            <a:r>
              <a:rPr lang="en" altLang="zh-TW" dirty="0">
                <a:latin typeface="CMMI10"/>
              </a:rPr>
              <a:t>S playout A </a:t>
            </a:r>
            <a:r>
              <a:rPr lang="en" altLang="zh-TW" dirty="0">
                <a:latin typeface="NimbusRomNo9L"/>
              </a:rPr>
              <a:t>: play the game starting on </a:t>
            </a:r>
            <a:r>
              <a:rPr lang="en" altLang="zh-TW" dirty="0">
                <a:latin typeface="CMMI10"/>
              </a:rPr>
              <a:t>A </a:t>
            </a:r>
            <a:r>
              <a:rPr lang="en" altLang="zh-TW" dirty="0">
                <a:latin typeface="NimbusRomNo9L"/>
              </a:rPr>
              <a:t>until the end with simulator </a:t>
            </a:r>
            <a:r>
              <a:rPr lang="en" altLang="zh-TW" dirty="0">
                <a:latin typeface="CMMI10"/>
              </a:rPr>
              <a:t>S </a:t>
            </a:r>
            <a:r>
              <a:rPr lang="en" altLang="zh-TW" dirty="0">
                <a:latin typeface="NimbusRomNo9L"/>
              </a:rPr>
              <a:t>and give the end value </a:t>
            </a:r>
            <a:endParaRPr lang="en" altLang="zh-TW" dirty="0"/>
          </a:p>
        </p:txBody>
      </p:sp>
    </p:spTree>
    <p:extLst>
      <p:ext uri="{BB962C8B-B14F-4D97-AF65-F5344CB8AC3E}">
        <p14:creationId xmlns:p14="http://schemas.microsoft.com/office/powerpoint/2010/main" val="1764658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Two issue about MC-D approach:</a:t>
            </a:r>
          </a:p>
        </p:txBody>
      </p:sp>
      <p:sp>
        <p:nvSpPr>
          <p:cNvPr id="3" name="文字方塊 2">
            <a:extLst>
              <a:ext uri="{FF2B5EF4-FFF2-40B4-BE49-F238E27FC236}">
                <a16:creationId xmlns:a16="http://schemas.microsoft.com/office/drawing/2014/main" id="{FBA24D45-52FA-BC40-9D75-ED70242720E3}"/>
              </a:ext>
            </a:extLst>
          </p:cNvPr>
          <p:cNvSpPr txBox="1"/>
          <p:nvPr/>
        </p:nvSpPr>
        <p:spPr>
          <a:xfrm>
            <a:off x="376238" y="1035597"/>
            <a:ext cx="11439524" cy="3554819"/>
          </a:xfrm>
          <a:prstGeom prst="rect">
            <a:avLst/>
          </a:prstGeom>
          <a:noFill/>
        </p:spPr>
        <p:txBody>
          <a:bodyPr wrap="square">
            <a:spAutoFit/>
          </a:bodyPr>
          <a:lstStyle/>
          <a:p>
            <a:pPr>
              <a:spcBef>
                <a:spcPts val="1000"/>
              </a:spcBef>
            </a:pPr>
            <a:r>
              <a:rPr lang="en-US" altLang="zh-TW" sz="2800" dirty="0">
                <a:solidFill>
                  <a:srgbClr val="303030"/>
                </a:solidFill>
                <a:latin typeface="-apple-system"/>
              </a:rPr>
              <a:t>(1)non-locality</a:t>
            </a:r>
          </a:p>
          <a:p>
            <a:pPr>
              <a:spcBef>
                <a:spcPts val="1000"/>
              </a:spcBef>
            </a:pPr>
            <a:r>
              <a:rPr lang="en-US" altLang="zh-TW" sz="2400" dirty="0">
                <a:solidFill>
                  <a:srgbClr val="303030"/>
                </a:solidFill>
                <a:latin typeface="-apple-system"/>
              </a:rPr>
              <a:t>the value of a given node in the game tree depends not only on the nodes in the sub-tree below this node, but also on a huge number of nodes external to this sub-tree </a:t>
            </a:r>
          </a:p>
          <a:p>
            <a:pPr>
              <a:spcBef>
                <a:spcPts val="1000"/>
              </a:spcBef>
            </a:pPr>
            <a:r>
              <a:rPr lang="en-US" altLang="zh-TW" sz="2800" dirty="0">
                <a:solidFill>
                  <a:srgbClr val="303030"/>
                </a:solidFill>
                <a:latin typeface="-apple-system"/>
              </a:rPr>
              <a:t>(2)Strategy fusion</a:t>
            </a:r>
          </a:p>
          <a:p>
            <a:pPr lvl="0">
              <a:spcBef>
                <a:spcPts val="1000"/>
              </a:spcBef>
            </a:pPr>
            <a:r>
              <a:rPr lang="en-US" altLang="zh-TW" sz="2400" dirty="0">
                <a:solidFill>
                  <a:srgbClr val="303030"/>
                </a:solidFill>
                <a:latin typeface="-apple-system"/>
              </a:rPr>
              <a:t>because it plays with open cards, for states belonging to the same </a:t>
            </a:r>
            <a:r>
              <a:rPr lang="en-US" altLang="zh-TW" sz="2400" dirty="0" err="1">
                <a:solidFill>
                  <a:srgbClr val="303030"/>
                </a:solidFill>
                <a:latin typeface="-apple-system"/>
              </a:rPr>
              <a:t>infoset</a:t>
            </a:r>
            <a:r>
              <a:rPr lang="en-US" altLang="zh-TW" sz="2400" dirty="0">
                <a:solidFill>
                  <a:srgbClr val="303030"/>
                </a:solidFill>
                <a:latin typeface="-apple-system"/>
              </a:rPr>
              <a:t>, DDS may find a state-dependent strategy to compute the value of a card. This </a:t>
            </a:r>
            <a:r>
              <a:rPr lang="en-US" altLang="zh-TW" sz="2400" dirty="0" err="1">
                <a:solidFill>
                  <a:srgbClr val="303030"/>
                </a:solidFill>
                <a:latin typeface="-apple-system"/>
              </a:rPr>
              <a:t>behaviour</a:t>
            </a:r>
            <a:r>
              <a:rPr lang="en-US" altLang="zh-TW" sz="2400" dirty="0">
                <a:solidFill>
                  <a:srgbClr val="303030"/>
                </a:solidFill>
                <a:latin typeface="-apple-system"/>
              </a:rPr>
              <a:t> does not respect the principle of playing the same action for all states of the same </a:t>
            </a:r>
            <a:r>
              <a:rPr lang="en-US" altLang="zh-TW" sz="2400" dirty="0" err="1">
                <a:solidFill>
                  <a:srgbClr val="303030"/>
                </a:solidFill>
                <a:latin typeface="-apple-system"/>
              </a:rPr>
              <a:t>infoset</a:t>
            </a:r>
            <a:r>
              <a:rPr lang="en-US" altLang="zh-TW" sz="2400" dirty="0">
                <a:solidFill>
                  <a:srgbClr val="303030"/>
                </a:solidFill>
                <a:latin typeface="-apple-system"/>
              </a:rPr>
              <a:t> when playing with hidden cards. </a:t>
            </a:r>
          </a:p>
        </p:txBody>
      </p:sp>
    </p:spTree>
    <p:extLst>
      <p:ext uri="{BB962C8B-B14F-4D97-AF65-F5344CB8AC3E}">
        <p14:creationId xmlns:p14="http://schemas.microsoft.com/office/powerpoint/2010/main" val="3003272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Experiment - No recursion</a:t>
            </a:r>
          </a:p>
        </p:txBody>
      </p:sp>
      <p:pic>
        <p:nvPicPr>
          <p:cNvPr id="6" name="圖片 5">
            <a:extLst>
              <a:ext uri="{FF2B5EF4-FFF2-40B4-BE49-F238E27FC236}">
                <a16:creationId xmlns:a16="http://schemas.microsoft.com/office/drawing/2014/main" id="{144BFFF0-4F8F-0044-A29D-510CF1005F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000" y="1245506"/>
            <a:ext cx="7112000" cy="4716220"/>
          </a:xfrm>
          <a:prstGeom prst="rect">
            <a:avLst/>
          </a:prstGeom>
        </p:spPr>
      </p:pic>
      <p:sp>
        <p:nvSpPr>
          <p:cNvPr id="7" name="文字方塊 6">
            <a:extLst>
              <a:ext uri="{FF2B5EF4-FFF2-40B4-BE49-F238E27FC236}">
                <a16:creationId xmlns:a16="http://schemas.microsoft.com/office/drawing/2014/main" id="{DA153278-6472-E74B-9B1A-652F13884848}"/>
              </a:ext>
            </a:extLst>
          </p:cNvPr>
          <p:cNvSpPr txBox="1"/>
          <p:nvPr/>
        </p:nvSpPr>
        <p:spPr>
          <a:xfrm>
            <a:off x="875271" y="2599361"/>
            <a:ext cx="1459246" cy="369332"/>
          </a:xfrm>
          <a:prstGeom prst="rect">
            <a:avLst/>
          </a:prstGeom>
          <a:noFill/>
        </p:spPr>
        <p:txBody>
          <a:bodyPr wrap="none" rtlCol="0">
            <a:spAutoFit/>
          </a:bodyPr>
          <a:lstStyle/>
          <a:p>
            <a:r>
              <a:rPr kumimoji="1" lang="en-US" altLang="zh-TW" dirty="0"/>
              <a:t>Plateau = 100</a:t>
            </a:r>
            <a:endParaRPr kumimoji="1" lang="zh-TW" altLang="en-US" dirty="0"/>
          </a:p>
        </p:txBody>
      </p:sp>
      <p:sp>
        <p:nvSpPr>
          <p:cNvPr id="8" name="文字方塊 7">
            <a:extLst>
              <a:ext uri="{FF2B5EF4-FFF2-40B4-BE49-F238E27FC236}">
                <a16:creationId xmlns:a16="http://schemas.microsoft.com/office/drawing/2014/main" id="{72AE4D8C-0110-CF40-8535-067648893AFD}"/>
              </a:ext>
            </a:extLst>
          </p:cNvPr>
          <p:cNvSpPr txBox="1"/>
          <p:nvPr/>
        </p:nvSpPr>
        <p:spPr>
          <a:xfrm>
            <a:off x="875271" y="4837415"/>
            <a:ext cx="1576265" cy="369332"/>
          </a:xfrm>
          <a:prstGeom prst="rect">
            <a:avLst/>
          </a:prstGeom>
          <a:noFill/>
        </p:spPr>
        <p:txBody>
          <a:bodyPr wrap="none" rtlCol="0">
            <a:spAutoFit/>
          </a:bodyPr>
          <a:lstStyle/>
          <a:p>
            <a:r>
              <a:rPr kumimoji="1" lang="en-US" altLang="zh-TW" dirty="0"/>
              <a:t>Plateau = 3000</a:t>
            </a:r>
            <a:endParaRPr kumimoji="1" lang="zh-TW" altLang="en-US" dirty="0"/>
          </a:p>
        </p:txBody>
      </p:sp>
    </p:spTree>
    <p:extLst>
      <p:ext uri="{BB962C8B-B14F-4D97-AF65-F5344CB8AC3E}">
        <p14:creationId xmlns:p14="http://schemas.microsoft.com/office/powerpoint/2010/main" val="2771281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Experiment - One recursion</a:t>
            </a:r>
          </a:p>
        </p:txBody>
      </p:sp>
      <p:pic>
        <p:nvPicPr>
          <p:cNvPr id="3" name="圖片 2">
            <a:extLst>
              <a:ext uri="{FF2B5EF4-FFF2-40B4-BE49-F238E27FC236}">
                <a16:creationId xmlns:a16="http://schemas.microsoft.com/office/drawing/2014/main" id="{E6299C6E-6E86-0C47-9327-CAB22A9480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8364" y="1249136"/>
            <a:ext cx="5803900" cy="2247900"/>
          </a:xfrm>
          <a:prstGeom prst="rect">
            <a:avLst/>
          </a:prstGeom>
        </p:spPr>
      </p:pic>
      <p:pic>
        <p:nvPicPr>
          <p:cNvPr id="7" name="圖片 6">
            <a:extLst>
              <a:ext uri="{FF2B5EF4-FFF2-40B4-BE49-F238E27FC236}">
                <a16:creationId xmlns:a16="http://schemas.microsoft.com/office/drawing/2014/main" id="{23F6E995-41F5-294D-907E-6F27F8C7DF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5321" y="3497036"/>
            <a:ext cx="5880100" cy="3073400"/>
          </a:xfrm>
          <a:prstGeom prst="rect">
            <a:avLst/>
          </a:prstGeom>
        </p:spPr>
      </p:pic>
      <p:sp>
        <p:nvSpPr>
          <p:cNvPr id="8" name="矩形 7">
            <a:extLst>
              <a:ext uri="{FF2B5EF4-FFF2-40B4-BE49-F238E27FC236}">
                <a16:creationId xmlns:a16="http://schemas.microsoft.com/office/drawing/2014/main" id="{25ECF028-A82D-384B-BD11-989D5F765990}"/>
              </a:ext>
            </a:extLst>
          </p:cNvPr>
          <p:cNvSpPr/>
          <p:nvPr/>
        </p:nvSpPr>
        <p:spPr>
          <a:xfrm>
            <a:off x="6256962" y="2923081"/>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矩形 8">
            <a:extLst>
              <a:ext uri="{FF2B5EF4-FFF2-40B4-BE49-F238E27FC236}">
                <a16:creationId xmlns:a16="http://schemas.microsoft.com/office/drawing/2014/main" id="{59CC1EDC-3729-7441-99D4-7CC11718D890}"/>
              </a:ext>
            </a:extLst>
          </p:cNvPr>
          <p:cNvSpPr/>
          <p:nvPr/>
        </p:nvSpPr>
        <p:spPr>
          <a:xfrm>
            <a:off x="7601164" y="2500128"/>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1CB4AA2F-0717-BE4C-ADEE-45F8FA9BD07C}"/>
              </a:ext>
            </a:extLst>
          </p:cNvPr>
          <p:cNvSpPr/>
          <p:nvPr/>
        </p:nvSpPr>
        <p:spPr>
          <a:xfrm>
            <a:off x="8687983" y="4283407"/>
            <a:ext cx="3127779" cy="369332"/>
          </a:xfrm>
          <a:prstGeom prst="rect">
            <a:avLst/>
          </a:prstGeom>
        </p:spPr>
        <p:txBody>
          <a:bodyPr wrap="none">
            <a:spAutoFit/>
          </a:bodyPr>
          <a:lstStyle/>
          <a:p>
            <a:r>
              <a:rPr lang="en" altLang="zh-TW" dirty="0">
                <a:latin typeface="CMR10"/>
              </a:rPr>
              <a:t>20 </a:t>
            </a:r>
            <a:r>
              <a:rPr lang="en" altLang="zh-TW" dirty="0">
                <a:latin typeface="CMSY10"/>
              </a:rPr>
              <a:t>≤ </a:t>
            </a:r>
            <a:r>
              <a:rPr lang="en" altLang="zh-TW" dirty="0">
                <a:latin typeface="CMMI10"/>
              </a:rPr>
              <a:t>NCD</a:t>
            </a:r>
            <a:r>
              <a:rPr lang="en" altLang="zh-TW" dirty="0">
                <a:latin typeface="CMR10"/>
              </a:rPr>
              <a:t>1 </a:t>
            </a:r>
            <a:r>
              <a:rPr lang="en" altLang="zh-TW" dirty="0">
                <a:latin typeface="CMSY10"/>
              </a:rPr>
              <a:t>≤ </a:t>
            </a:r>
            <a:r>
              <a:rPr lang="en" altLang="zh-TW" dirty="0">
                <a:latin typeface="CMR10"/>
              </a:rPr>
              <a:t>30 </a:t>
            </a:r>
            <a:r>
              <a:rPr lang="en" altLang="zh-TW" dirty="0">
                <a:latin typeface="NimbusRomNo9L"/>
              </a:rPr>
              <a:t>and </a:t>
            </a:r>
            <a:r>
              <a:rPr lang="en" altLang="zh-TW" dirty="0">
                <a:latin typeface="CMR10"/>
              </a:rPr>
              <a:t>25 </a:t>
            </a:r>
            <a:r>
              <a:rPr lang="en" altLang="zh-TW" dirty="0">
                <a:latin typeface="CMSY10"/>
              </a:rPr>
              <a:t>≤ </a:t>
            </a:r>
            <a:r>
              <a:rPr lang="en" altLang="zh-TW" dirty="0">
                <a:latin typeface="CMMI10"/>
              </a:rPr>
              <a:t>NCD</a:t>
            </a:r>
            <a:r>
              <a:rPr lang="en" altLang="zh-TW" dirty="0">
                <a:latin typeface="CMR10"/>
              </a:rPr>
              <a:t>2 </a:t>
            </a:r>
            <a:endParaRPr lang="en" altLang="zh-TW" dirty="0"/>
          </a:p>
        </p:txBody>
      </p:sp>
      <p:sp>
        <p:nvSpPr>
          <p:cNvPr id="11" name="矩形 10">
            <a:extLst>
              <a:ext uri="{FF2B5EF4-FFF2-40B4-BE49-F238E27FC236}">
                <a16:creationId xmlns:a16="http://schemas.microsoft.com/office/drawing/2014/main" id="{32FD093C-7EB7-ED40-87A9-E47C7CA5B3C3}"/>
              </a:ext>
            </a:extLst>
          </p:cNvPr>
          <p:cNvSpPr/>
          <p:nvPr/>
        </p:nvSpPr>
        <p:spPr>
          <a:xfrm>
            <a:off x="5924275" y="5255701"/>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E9254508-BCC0-BA45-97EF-5DF1E4DBF47B}"/>
              </a:ext>
            </a:extLst>
          </p:cNvPr>
          <p:cNvSpPr/>
          <p:nvPr/>
        </p:nvSpPr>
        <p:spPr>
          <a:xfrm>
            <a:off x="5235907" y="5680763"/>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文字方塊 12">
            <a:extLst>
              <a:ext uri="{FF2B5EF4-FFF2-40B4-BE49-F238E27FC236}">
                <a16:creationId xmlns:a16="http://schemas.microsoft.com/office/drawing/2014/main" id="{2465F2AE-1D7E-504A-AC39-878DFE94E2CD}"/>
              </a:ext>
            </a:extLst>
          </p:cNvPr>
          <p:cNvSpPr txBox="1"/>
          <p:nvPr/>
        </p:nvSpPr>
        <p:spPr>
          <a:xfrm>
            <a:off x="2995954" y="6415629"/>
            <a:ext cx="5168274" cy="369332"/>
          </a:xfrm>
          <a:prstGeom prst="rect">
            <a:avLst/>
          </a:prstGeom>
          <a:noFill/>
        </p:spPr>
        <p:txBody>
          <a:bodyPr wrap="none" rtlCol="0">
            <a:spAutoFit/>
          </a:bodyPr>
          <a:lstStyle/>
          <a:p>
            <a:r>
              <a:rPr lang="en" altLang="zh-TW" dirty="0"/>
              <a:t>100 CD of the (20, 20) experiment lasts about 1 hour </a:t>
            </a:r>
          </a:p>
        </p:txBody>
      </p:sp>
    </p:spTree>
    <p:extLst>
      <p:ext uri="{BB962C8B-B14F-4D97-AF65-F5344CB8AC3E}">
        <p14:creationId xmlns:p14="http://schemas.microsoft.com/office/powerpoint/2010/main" val="2321520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Experiment - One recursion </a:t>
            </a:r>
            <a:r>
              <a:rPr kumimoji="1" lang="en-US" altLang="zh-TW" sz="3600" b="1" dirty="0" err="1">
                <a:latin typeface="Times New Roman" panose="02020603050405020304" pitchFamily="18" charset="0"/>
                <a:cs typeface="Times New Roman" panose="02020603050405020304" pitchFamily="18" charset="0"/>
              </a:rPr>
              <a:t>v.s</a:t>
            </a:r>
            <a:r>
              <a:rPr kumimoji="1" lang="en-US" altLang="zh-TW" sz="3600" b="1" dirty="0">
                <a:latin typeface="Times New Roman" panose="02020603050405020304" pitchFamily="18" charset="0"/>
                <a:cs typeface="Times New Roman" panose="02020603050405020304" pitchFamily="18" charset="0"/>
              </a:rPr>
              <a:t> No recursion</a:t>
            </a:r>
          </a:p>
        </p:txBody>
      </p:sp>
      <p:pic>
        <p:nvPicPr>
          <p:cNvPr id="9" name="圖片 8">
            <a:extLst>
              <a:ext uri="{FF2B5EF4-FFF2-40B4-BE49-F238E27FC236}">
                <a16:creationId xmlns:a16="http://schemas.microsoft.com/office/drawing/2014/main" id="{53B16F36-E9B2-DA4B-A8D9-C29D071843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952584"/>
            <a:ext cx="5791200" cy="5588000"/>
          </a:xfrm>
          <a:prstGeom prst="rect">
            <a:avLst/>
          </a:prstGeom>
        </p:spPr>
      </p:pic>
      <p:sp>
        <p:nvSpPr>
          <p:cNvPr id="10" name="矩形 9">
            <a:extLst>
              <a:ext uri="{FF2B5EF4-FFF2-40B4-BE49-F238E27FC236}">
                <a16:creationId xmlns:a16="http://schemas.microsoft.com/office/drawing/2014/main" id="{F935BBD4-6E2E-A84E-B583-F0BF1267AE2D}"/>
              </a:ext>
            </a:extLst>
          </p:cNvPr>
          <p:cNvSpPr/>
          <p:nvPr/>
        </p:nvSpPr>
        <p:spPr>
          <a:xfrm>
            <a:off x="6943619" y="2972740"/>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a:extLst>
              <a:ext uri="{FF2B5EF4-FFF2-40B4-BE49-F238E27FC236}">
                <a16:creationId xmlns:a16="http://schemas.microsoft.com/office/drawing/2014/main" id="{BE87EE68-EEEE-0346-88B5-06650D595B26}"/>
              </a:ext>
            </a:extLst>
          </p:cNvPr>
          <p:cNvSpPr/>
          <p:nvPr/>
        </p:nvSpPr>
        <p:spPr>
          <a:xfrm>
            <a:off x="6925642" y="3191839"/>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 name="矩形 11">
            <a:extLst>
              <a:ext uri="{FF2B5EF4-FFF2-40B4-BE49-F238E27FC236}">
                <a16:creationId xmlns:a16="http://schemas.microsoft.com/office/drawing/2014/main" id="{67D96EFF-3288-7B49-9C25-3122B79EFE7C}"/>
              </a:ext>
            </a:extLst>
          </p:cNvPr>
          <p:cNvSpPr/>
          <p:nvPr/>
        </p:nvSpPr>
        <p:spPr>
          <a:xfrm>
            <a:off x="6200457" y="5536362"/>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3" name="矩形 12">
            <a:extLst>
              <a:ext uri="{FF2B5EF4-FFF2-40B4-BE49-F238E27FC236}">
                <a16:creationId xmlns:a16="http://schemas.microsoft.com/office/drawing/2014/main" id="{4AB4B8C6-37BB-3549-9F56-98B54450E1BC}"/>
              </a:ext>
            </a:extLst>
          </p:cNvPr>
          <p:cNvSpPr/>
          <p:nvPr/>
        </p:nvSpPr>
        <p:spPr>
          <a:xfrm>
            <a:off x="6200458" y="5746899"/>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646715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Experiment - Two recursion &amp; Three recursion</a:t>
            </a:r>
          </a:p>
        </p:txBody>
      </p:sp>
      <p:pic>
        <p:nvPicPr>
          <p:cNvPr id="3" name="圖片 2">
            <a:extLst>
              <a:ext uri="{FF2B5EF4-FFF2-40B4-BE49-F238E27FC236}">
                <a16:creationId xmlns:a16="http://schemas.microsoft.com/office/drawing/2014/main" id="{F741A52A-D56F-0444-9CDC-860856DF2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6100" y="1530350"/>
            <a:ext cx="6019800" cy="3797300"/>
          </a:xfrm>
          <a:prstGeom prst="rect">
            <a:avLst/>
          </a:prstGeom>
        </p:spPr>
      </p:pic>
      <p:sp>
        <p:nvSpPr>
          <p:cNvPr id="6" name="矩形 5">
            <a:extLst>
              <a:ext uri="{FF2B5EF4-FFF2-40B4-BE49-F238E27FC236}">
                <a16:creationId xmlns:a16="http://schemas.microsoft.com/office/drawing/2014/main" id="{1C5BB061-77C1-FE4B-B97E-FB5FE2A66A68}"/>
              </a:ext>
            </a:extLst>
          </p:cNvPr>
          <p:cNvSpPr/>
          <p:nvPr/>
        </p:nvSpPr>
        <p:spPr>
          <a:xfrm>
            <a:off x="5943603" y="2865081"/>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矩形 6">
            <a:extLst>
              <a:ext uri="{FF2B5EF4-FFF2-40B4-BE49-F238E27FC236}">
                <a16:creationId xmlns:a16="http://schemas.microsoft.com/office/drawing/2014/main" id="{7F7E49AD-02F2-1B43-ABB4-8089AD43C47A}"/>
              </a:ext>
            </a:extLst>
          </p:cNvPr>
          <p:cNvSpPr/>
          <p:nvPr/>
        </p:nvSpPr>
        <p:spPr>
          <a:xfrm>
            <a:off x="6277513" y="4805184"/>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矩形 7">
            <a:extLst>
              <a:ext uri="{FF2B5EF4-FFF2-40B4-BE49-F238E27FC236}">
                <a16:creationId xmlns:a16="http://schemas.microsoft.com/office/drawing/2014/main" id="{FE5B2744-9D0C-1540-93A1-5DBE30EFD31E}"/>
              </a:ext>
            </a:extLst>
          </p:cNvPr>
          <p:cNvSpPr/>
          <p:nvPr/>
        </p:nvSpPr>
        <p:spPr>
          <a:xfrm>
            <a:off x="6631971" y="2862236"/>
            <a:ext cx="688368" cy="210537"/>
          </a:xfrm>
          <a:prstGeom prst="rect">
            <a:avLst/>
          </a:prstGeom>
          <a:solidFill>
            <a:srgbClr val="FFFF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文字方塊 9">
            <a:extLst>
              <a:ext uri="{FF2B5EF4-FFF2-40B4-BE49-F238E27FC236}">
                <a16:creationId xmlns:a16="http://schemas.microsoft.com/office/drawing/2014/main" id="{44BF6D29-1176-7F45-9CCB-3EE61AC9321B}"/>
              </a:ext>
            </a:extLst>
          </p:cNvPr>
          <p:cNvSpPr txBox="1"/>
          <p:nvPr/>
        </p:nvSpPr>
        <p:spPr>
          <a:xfrm>
            <a:off x="3160341" y="5536084"/>
            <a:ext cx="5460021" cy="369332"/>
          </a:xfrm>
          <a:prstGeom prst="rect">
            <a:avLst/>
          </a:prstGeom>
          <a:noFill/>
        </p:spPr>
        <p:txBody>
          <a:bodyPr wrap="none" rtlCol="0">
            <a:spAutoFit/>
          </a:bodyPr>
          <a:lstStyle/>
          <a:p>
            <a:r>
              <a:rPr lang="en" altLang="zh-TW" dirty="0"/>
              <a:t>100 CD of the (20, 20,20) experiment lasts about 2 hour </a:t>
            </a:r>
          </a:p>
        </p:txBody>
      </p:sp>
      <p:sp>
        <p:nvSpPr>
          <p:cNvPr id="11" name="文字方塊 10">
            <a:extLst>
              <a:ext uri="{FF2B5EF4-FFF2-40B4-BE49-F238E27FC236}">
                <a16:creationId xmlns:a16="http://schemas.microsoft.com/office/drawing/2014/main" id="{B04C8AC7-CB6A-9147-A1CB-69A90DF08D53}"/>
              </a:ext>
            </a:extLst>
          </p:cNvPr>
          <p:cNvSpPr txBox="1"/>
          <p:nvPr/>
        </p:nvSpPr>
        <p:spPr>
          <a:xfrm>
            <a:off x="3160341" y="5957513"/>
            <a:ext cx="5726119" cy="369332"/>
          </a:xfrm>
          <a:prstGeom prst="rect">
            <a:avLst/>
          </a:prstGeom>
          <a:noFill/>
        </p:spPr>
        <p:txBody>
          <a:bodyPr wrap="none" rtlCol="0">
            <a:spAutoFit/>
          </a:bodyPr>
          <a:lstStyle/>
          <a:p>
            <a:r>
              <a:rPr lang="en" altLang="zh-TW" dirty="0"/>
              <a:t>100 CD of the (20, 20,20,20) experiment lasts about 4 days </a:t>
            </a:r>
          </a:p>
        </p:txBody>
      </p:sp>
    </p:spTree>
    <p:extLst>
      <p:ext uri="{BB962C8B-B14F-4D97-AF65-F5344CB8AC3E}">
        <p14:creationId xmlns:p14="http://schemas.microsoft.com/office/powerpoint/2010/main" val="868793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6966FE77-03BE-473A-A343-9E6AC4232AFF}"/>
              </a:ext>
            </a:extLst>
          </p:cNvPr>
          <p:cNvSpPr txBox="1"/>
          <p:nvPr/>
        </p:nvSpPr>
        <p:spPr>
          <a:xfrm>
            <a:off x="376238" y="306253"/>
            <a:ext cx="11439524" cy="646331"/>
          </a:xfrm>
          <a:prstGeom prst="rect">
            <a:avLst/>
          </a:prstGeom>
          <a:noFill/>
        </p:spPr>
        <p:txBody>
          <a:bodyPr wrap="square">
            <a:spAutoFit/>
          </a:bodyPr>
          <a:lstStyle/>
          <a:p>
            <a:pPr>
              <a:spcBef>
                <a:spcPts val="1000"/>
              </a:spcBef>
            </a:pPr>
            <a:r>
              <a:rPr kumimoji="1" lang="en-US" altLang="zh-TW" sz="3600" b="1" dirty="0">
                <a:latin typeface="Times New Roman" panose="02020603050405020304" pitchFamily="18" charset="0"/>
                <a:cs typeface="Times New Roman" panose="02020603050405020304" pitchFamily="18" charset="0"/>
              </a:rPr>
              <a:t>Conclusion</a:t>
            </a:r>
          </a:p>
        </p:txBody>
      </p:sp>
      <p:sp>
        <p:nvSpPr>
          <p:cNvPr id="3" name="文字方塊 2">
            <a:extLst>
              <a:ext uri="{FF2B5EF4-FFF2-40B4-BE49-F238E27FC236}">
                <a16:creationId xmlns:a16="http://schemas.microsoft.com/office/drawing/2014/main" id="{FBA24D45-52FA-BC40-9D75-ED70242720E3}"/>
              </a:ext>
            </a:extLst>
          </p:cNvPr>
          <p:cNvSpPr txBox="1"/>
          <p:nvPr/>
        </p:nvSpPr>
        <p:spPr>
          <a:xfrm>
            <a:off x="376238" y="1343822"/>
            <a:ext cx="11439524" cy="4811574"/>
          </a:xfrm>
          <a:prstGeom prst="rect">
            <a:avLst/>
          </a:prstGeom>
          <a:noFill/>
        </p:spPr>
        <p:txBody>
          <a:bodyPr wrap="square">
            <a:spAutoFit/>
          </a:bodyPr>
          <a:lstStyle/>
          <a:p>
            <a:pPr marL="514350" indent="-514350">
              <a:spcBef>
                <a:spcPts val="1000"/>
              </a:spcBef>
              <a:buFontTx/>
              <a:buAutoNum type="arabicParenBoth"/>
            </a:pPr>
            <a:r>
              <a:rPr lang="en-US" altLang="zh-TW" sz="2800" dirty="0">
                <a:solidFill>
                  <a:srgbClr val="303030"/>
                </a:solidFill>
                <a:latin typeface="-apple-system"/>
              </a:rPr>
              <a:t>Novelty :</a:t>
            </a:r>
          </a:p>
          <a:p>
            <a:pPr>
              <a:spcBef>
                <a:spcPts val="1000"/>
              </a:spcBef>
            </a:pPr>
            <a:r>
              <a:rPr lang="en" altLang="zh-TW" sz="2000" dirty="0"/>
              <a:t>first time, MC-D is surpassed very significantly by MC2-D</a:t>
            </a:r>
            <a:r>
              <a:rPr lang="en" altLang="zh-TW" sz="2800" dirty="0"/>
              <a:t>.</a:t>
            </a:r>
            <a:r>
              <a:rPr lang="en" altLang="zh-TW" sz="2000" dirty="0"/>
              <a:t>Second novelty is that MC2-R is on a par with MC-D</a:t>
            </a:r>
            <a:endParaRPr lang="en-US" altLang="zh-TW" sz="2800" dirty="0">
              <a:solidFill>
                <a:srgbClr val="303030"/>
              </a:solidFill>
              <a:latin typeface="-apple-system"/>
            </a:endParaRPr>
          </a:p>
          <a:p>
            <a:pPr>
              <a:spcBef>
                <a:spcPts val="1000"/>
              </a:spcBef>
            </a:pPr>
            <a:r>
              <a:rPr lang="en-US" altLang="zh-TW" sz="2800" dirty="0">
                <a:solidFill>
                  <a:srgbClr val="303030"/>
                </a:solidFill>
                <a:latin typeface="-apple-system"/>
              </a:rPr>
              <a:t>(2)Significance :</a:t>
            </a:r>
            <a:r>
              <a:rPr lang="en" altLang="zh-TW" dirty="0"/>
              <a:t> </a:t>
            </a:r>
          </a:p>
          <a:p>
            <a:pPr>
              <a:spcBef>
                <a:spcPts val="1000"/>
              </a:spcBef>
            </a:pPr>
            <a:r>
              <a:rPr lang="en" altLang="zh-TW" dirty="0"/>
              <a:t>with sufficient computing time, MC-D can be surpassed in a statistically significant way by RMC-D. </a:t>
            </a:r>
            <a:endParaRPr lang="en-US" altLang="zh-TW" sz="2800" dirty="0">
              <a:solidFill>
                <a:srgbClr val="303030"/>
              </a:solidFill>
              <a:latin typeface="-apple-system"/>
            </a:endParaRPr>
          </a:p>
          <a:p>
            <a:pPr>
              <a:spcBef>
                <a:spcPts val="1000"/>
              </a:spcBef>
            </a:pPr>
            <a:r>
              <a:rPr lang="en-US" altLang="zh-TW" sz="2800" dirty="0">
                <a:solidFill>
                  <a:srgbClr val="303030"/>
                </a:solidFill>
                <a:latin typeface="-apple-system"/>
              </a:rPr>
              <a:t>(3) Zero-knowledge approaches are possible :</a:t>
            </a:r>
            <a:r>
              <a:rPr lang="en" altLang="zh-TW" dirty="0"/>
              <a:t> </a:t>
            </a:r>
          </a:p>
          <a:p>
            <a:pPr>
              <a:spcBef>
                <a:spcPts val="1000"/>
              </a:spcBef>
            </a:pPr>
            <a:r>
              <a:rPr lang="en" altLang="zh-TW" dirty="0"/>
              <a:t>First, a level-one RMC approach using the random player as simulator is far better than the simple MC approach using the random player as simulator </a:t>
            </a:r>
          </a:p>
          <a:p>
            <a:pPr>
              <a:spcBef>
                <a:spcPts val="1000"/>
              </a:spcBef>
            </a:pPr>
            <a:r>
              <a:rPr lang="en" altLang="zh-TW" dirty="0"/>
              <a:t>Second, a level-one RMC approach using the random player as simulator plays on a par with the current MC-D approach </a:t>
            </a:r>
            <a:endParaRPr lang="en" altLang="zh-TW" sz="2800" dirty="0"/>
          </a:p>
          <a:p>
            <a:pPr>
              <a:spcBef>
                <a:spcPts val="1000"/>
              </a:spcBef>
            </a:pPr>
            <a:endParaRPr lang="en" altLang="zh-TW" sz="2800" dirty="0"/>
          </a:p>
          <a:p>
            <a:pPr>
              <a:spcBef>
                <a:spcPts val="1000"/>
              </a:spcBef>
            </a:pPr>
            <a:endParaRPr lang="en-US" altLang="zh-TW" sz="2800" dirty="0">
              <a:solidFill>
                <a:srgbClr val="303030"/>
              </a:solidFill>
              <a:latin typeface="-apple-system"/>
            </a:endParaRPr>
          </a:p>
        </p:txBody>
      </p:sp>
    </p:spTree>
    <p:extLst>
      <p:ext uri="{BB962C8B-B14F-4D97-AF65-F5344CB8AC3E}">
        <p14:creationId xmlns:p14="http://schemas.microsoft.com/office/powerpoint/2010/main" val="325367457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2365</TotalTime>
  <Words>924</Words>
  <Application>Microsoft Office PowerPoint</Application>
  <PresentationFormat>寬螢幕</PresentationFormat>
  <Paragraphs>64</Paragraphs>
  <Slides>18</Slides>
  <Notes>0</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18</vt:i4>
      </vt:variant>
    </vt:vector>
  </HeadingPairs>
  <TitlesOfParts>
    <vt:vector size="28" baseType="lpstr">
      <vt:lpstr>-apple-system</vt:lpstr>
      <vt:lpstr>CMMI10</vt:lpstr>
      <vt:lpstr>CMR10</vt:lpstr>
      <vt:lpstr>CMSY10</vt:lpstr>
      <vt:lpstr>NimbusRomNo9L</vt:lpstr>
      <vt:lpstr>Arial</vt:lpstr>
      <vt:lpstr>Calibri</vt:lpstr>
      <vt:lpstr>Calibri Light</vt:lpstr>
      <vt:lpstr>Times New Roman</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映妤 林</dc:creator>
  <cp:lastModifiedBy>pplab</cp:lastModifiedBy>
  <cp:revision>42</cp:revision>
  <dcterms:created xsi:type="dcterms:W3CDTF">2021-10-27T06:22:59Z</dcterms:created>
  <dcterms:modified xsi:type="dcterms:W3CDTF">2022-02-08T08:12:45Z</dcterms:modified>
</cp:coreProperties>
</file>