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3" r:id="rId2"/>
    <p:sldId id="262" r:id="rId3"/>
    <p:sldId id="266" r:id="rId4"/>
    <p:sldId id="258" r:id="rId5"/>
    <p:sldId id="268" r:id="rId6"/>
    <p:sldId id="259" r:id="rId7"/>
    <p:sldId id="277" r:id="rId8"/>
    <p:sldId id="279" r:id="rId9"/>
    <p:sldId id="280" r:id="rId10"/>
    <p:sldId id="282" r:id="rId11"/>
    <p:sldId id="281" r:id="rId12"/>
    <p:sldId id="283" r:id="rId13"/>
    <p:sldId id="284" r:id="rId14"/>
    <p:sldId id="287" r:id="rId15"/>
    <p:sldId id="288"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93" autoAdjust="0"/>
  </p:normalViewPr>
  <p:slideViewPr>
    <p:cSldViewPr>
      <p:cViewPr varScale="1">
        <p:scale>
          <a:sx n="61" d="100"/>
          <a:sy n="61" d="100"/>
        </p:scale>
        <p:origin x="165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3458353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MLCS</a:t>
            </a:r>
            <a:r>
              <a:rPr lang="zh-TW" altLang="en-US" dirty="0"/>
              <a:t>這個問題</a:t>
            </a:r>
            <a:r>
              <a:rPr lang="en-US" altLang="zh-TW" dirty="0"/>
              <a:t>:</a:t>
            </a:r>
            <a:r>
              <a:rPr lang="zh-TW" altLang="en-US" dirty="0"/>
              <a:t>主要有</a:t>
            </a:r>
            <a:r>
              <a:rPr lang="en-US" dirty="0"/>
              <a:t>dynamic programming</a:t>
            </a:r>
            <a:r>
              <a:rPr lang="zh-TW" altLang="en-US" dirty="0"/>
              <a:t>方法與</a:t>
            </a:r>
            <a:r>
              <a:rPr lang="en-US" dirty="0"/>
              <a:t>dominant point</a:t>
            </a:r>
            <a:r>
              <a:rPr lang="zh-TW" altLang="en-US" dirty="0"/>
              <a:t>方法</a:t>
            </a:r>
            <a:endParaRPr lang="en-US" altLang="zh-TW" dirty="0"/>
          </a:p>
          <a:p>
            <a:endParaRPr lang="en-US" altLang="zh-TW" dirty="0"/>
          </a:p>
          <a:p>
            <a:r>
              <a:rPr lang="zh-TW" altLang="en-US" dirty="0"/>
              <a:t>這篇論文主要想改善</a:t>
            </a:r>
            <a:r>
              <a:rPr lang="en-US" dirty="0"/>
              <a:t>dominant point</a:t>
            </a:r>
            <a:r>
              <a:rPr lang="zh-TW" altLang="en-US" dirty="0"/>
              <a:t>方法</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O(d|</a:t>
            </a:r>
            <a:r>
              <a:rPr lang="el-GR" altLang="zh-TW" b="0" i="0" dirty="0">
                <a:solidFill>
                  <a:srgbClr val="202122"/>
                </a:solidFill>
                <a:effectLst/>
                <a:latin typeface="Arial" panose="020B0604020202020204" pitchFamily="34" charset="0"/>
              </a:rPr>
              <a:t>Σ</a:t>
            </a:r>
            <a:r>
              <a:rPr lang="en-US" altLang="zh-TW" dirty="0"/>
              <a:t>|n)</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1131986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Dominate</a:t>
            </a:r>
            <a:r>
              <a:rPr lang="zh-TW" altLang="en-US" dirty="0"/>
              <a:t>的方法就是建立一個這種的</a:t>
            </a:r>
            <a:r>
              <a:rPr lang="zh-TW" altLang="en-US" sz="1200" b="0" i="0" kern="1200" dirty="0">
                <a:solidFill>
                  <a:schemeClr val="tx1"/>
                </a:solidFill>
                <a:latin typeface="+mn-lt"/>
                <a:ea typeface="+mn-ea"/>
                <a:cs typeface="+mn-cs"/>
              </a:rPr>
              <a:t>有向無環圖</a:t>
            </a:r>
            <a:endParaRPr lang="en-US" altLang="zh-TW" sz="1200" b="0" i="0" kern="1200" dirty="0">
              <a:solidFill>
                <a:schemeClr val="tx1"/>
              </a:solidFill>
              <a:latin typeface="+mn-lt"/>
              <a:ea typeface="+mn-ea"/>
              <a:cs typeface="+mn-cs"/>
            </a:endParaRPr>
          </a:p>
          <a:p>
            <a:r>
              <a:rPr lang="zh-TW" altLang="en-US" sz="1200" b="0" i="0" kern="1200" dirty="0">
                <a:solidFill>
                  <a:schemeClr val="tx1"/>
                </a:solidFill>
                <a:latin typeface="+mn-lt"/>
                <a:ea typeface="+mn-ea"/>
                <a:cs typeface="+mn-cs"/>
              </a:rPr>
              <a:t>那這個圖是依照這兩個字串所建立的</a:t>
            </a:r>
            <a:endParaRPr lang="en-US" altLang="zh-TW" sz="1200" b="0" i="0" kern="1200" dirty="0">
              <a:solidFill>
                <a:schemeClr val="tx1"/>
              </a:solidFill>
              <a:latin typeface="+mn-lt"/>
              <a:ea typeface="+mn-ea"/>
              <a:cs typeface="+mn-cs"/>
            </a:endParaRPr>
          </a:p>
          <a:p>
            <a:r>
              <a:rPr lang="en-US" altLang="zh-TW" dirty="0"/>
              <a:t>A(1,3)</a:t>
            </a:r>
            <a:r>
              <a:rPr lang="zh-TW" altLang="en-US" dirty="0"/>
              <a:t>、</a:t>
            </a:r>
            <a:r>
              <a:rPr lang="en-US" altLang="zh-TW" dirty="0"/>
              <a:t>C</a:t>
            </a:r>
            <a:r>
              <a:rPr lang="zh-TW" altLang="en-US" dirty="0"/>
              <a:t>、</a:t>
            </a:r>
            <a:r>
              <a:rPr lang="en-US" altLang="zh-TW" dirty="0"/>
              <a:t>G</a:t>
            </a:r>
            <a:r>
              <a:rPr lang="zh-TW" altLang="en-US" dirty="0"/>
              <a:t>、</a:t>
            </a:r>
            <a:r>
              <a:rPr lang="en-US" altLang="zh-TW" dirty="0"/>
              <a:t>T</a:t>
            </a:r>
          </a:p>
          <a:p>
            <a:r>
              <a:rPr lang="zh-TW" altLang="en-US" dirty="0"/>
              <a:t>那我們再找字母出現的位置，我們要找位置盡量前面的</a:t>
            </a:r>
            <a:endParaRPr lang="en-US" altLang="zh-TW" dirty="0"/>
          </a:p>
          <a:p>
            <a:r>
              <a:rPr lang="zh-TW" altLang="en-US" dirty="0"/>
              <a:t>因為像是</a:t>
            </a:r>
            <a:r>
              <a:rPr lang="en-US" altLang="zh-TW" dirty="0"/>
              <a:t>A(1,3)</a:t>
            </a:r>
            <a:r>
              <a:rPr lang="zh-TW" altLang="en-US" dirty="0"/>
              <a:t>後面接還可以接一個</a:t>
            </a:r>
            <a:r>
              <a:rPr lang="en-US" altLang="zh-TW" dirty="0"/>
              <a:t>(5,4)</a:t>
            </a:r>
            <a:r>
              <a:rPr lang="zh-TW" altLang="en-US" dirty="0"/>
              <a:t>，如果直接找</a:t>
            </a:r>
            <a:r>
              <a:rPr lang="en-US" altLang="zh-TW" dirty="0"/>
              <a:t>(5,4)</a:t>
            </a:r>
            <a:r>
              <a:rPr lang="zh-TW" altLang="en-US" dirty="0"/>
              <a:t>，那找出來的就會是錯誤的，所以我們在每一層還需比較不同字母出現位置</a:t>
            </a:r>
            <a:endParaRPr lang="en-US" altLang="zh-TW" dirty="0"/>
          </a:p>
          <a:p>
            <a:r>
              <a:rPr lang="en-US" altLang="zh-TW" dirty="0"/>
              <a:t>1.</a:t>
            </a:r>
            <a:r>
              <a:rPr lang="zh-TW" altLang="en-US" dirty="0"/>
              <a:t>大量重複點與支配點 ，浪費記憶體</a:t>
            </a:r>
            <a:endParaRPr lang="en-US" altLang="zh-TW" dirty="0"/>
          </a:p>
          <a:p>
            <a:r>
              <a:rPr lang="en-US" altLang="zh-TW" dirty="0"/>
              <a:t>2.</a:t>
            </a:r>
            <a:r>
              <a:rPr lang="zh-TW" altLang="en-US" dirty="0"/>
              <a:t>在圖中，找到重複的節點與被支配的節點是很耗費時間的，因為需要做多維度向量的比較。</a:t>
            </a:r>
            <a:endParaRPr lang="en-US" altLang="zh-TW" dirty="0"/>
          </a:p>
          <a:p>
            <a:endParaRPr lang="en-US" altLang="zh-TW" dirty="0"/>
          </a:p>
          <a:p>
            <a:r>
              <a:rPr lang="zh-TW" altLang="en-US" dirty="0"/>
              <a:t>灰色部分為被支配的點</a:t>
            </a:r>
            <a:endParaRPr lang="en-US" altLang="zh-TW" dirty="0"/>
          </a:p>
          <a:p>
            <a:r>
              <a:rPr lang="zh-TW" altLang="en-US" dirty="0"/>
              <a:t>黑色為重複的點</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5</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一開始僅有</a:t>
            </a:r>
            <a:r>
              <a:rPr lang="en-US" altLang="zh-TW" dirty="0"/>
              <a:t>(0,0)</a:t>
            </a:r>
            <a:r>
              <a:rPr lang="zh-TW" altLang="en-US" dirty="0"/>
              <a:t>的點，然後依照</a:t>
            </a:r>
            <a:r>
              <a:rPr lang="en-US" altLang="zh-TW" dirty="0"/>
              <a:t>Successor Table </a:t>
            </a:r>
            <a:r>
              <a:rPr lang="zh-TW" altLang="en-US" dirty="0"/>
              <a:t>找到 </a:t>
            </a:r>
            <a:r>
              <a:rPr lang="en-US" altLang="zh-TW" dirty="0"/>
              <a:t>ACTG</a:t>
            </a:r>
            <a:r>
              <a:rPr lang="zh-TW" altLang="en-US" dirty="0"/>
              <a:t>這四個字的位置</a:t>
            </a:r>
            <a:endParaRPr lang="en-US" altLang="zh-TW" dirty="0"/>
          </a:p>
          <a:p>
            <a:r>
              <a:rPr lang="zh-TW" altLang="en-US" dirty="0"/>
              <a:t>僅會更新綠色所指向的點，然後因為</a:t>
            </a:r>
            <a:r>
              <a:rPr lang="en-US" altLang="zh-TW" dirty="0"/>
              <a:t>(0,0)</a:t>
            </a:r>
            <a:r>
              <a:rPr lang="zh-TW" altLang="en-US" dirty="0"/>
              <a:t>這個點沒有其它的點指向它，所以下一個步驟會將它刪除</a:t>
            </a:r>
            <a:endParaRPr lang="en-US" altLang="zh-TW" dirty="0"/>
          </a:p>
          <a:p>
            <a:endParaRPr lang="en-US" altLang="zh-TW" dirty="0"/>
          </a:p>
          <a:p>
            <a:r>
              <a:rPr lang="zh-TW" altLang="en-US" dirty="0"/>
              <a:t>綠色為沒用的點</a:t>
            </a:r>
            <a:endParaRPr lang="en-US" altLang="zh-TW" dirty="0"/>
          </a:p>
          <a:p>
            <a:r>
              <a:rPr lang="zh-TW" altLang="en-US" dirty="0"/>
              <a:t>白色為新 </a:t>
            </a:r>
            <a:r>
              <a:rPr lang="en-US" altLang="zh-TW" dirty="0"/>
              <a:t>CREATE</a:t>
            </a:r>
          </a:p>
          <a:p>
            <a:r>
              <a:rPr lang="zh-TW" altLang="en-US" dirty="0"/>
              <a:t>紅色為先前就已經存在的</a:t>
            </a:r>
            <a:endParaRPr lang="en-US" altLang="zh-TW" dirty="0"/>
          </a:p>
          <a:p>
            <a:r>
              <a:rPr lang="zh-TW" altLang="en-US" dirty="0"/>
              <a:t>僅需更新綠色所指向的點</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6</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綠色為</a:t>
            </a:r>
            <a:r>
              <a:rPr lang="en-US" altLang="zh-TW" dirty="0"/>
              <a:t>outdated</a:t>
            </a:r>
          </a:p>
          <a:p>
            <a:r>
              <a:rPr lang="zh-TW" altLang="en-US" dirty="0"/>
              <a:t>白色為</a:t>
            </a:r>
            <a:r>
              <a:rPr lang="en-US" altLang="zh-TW" dirty="0"/>
              <a:t>new create</a:t>
            </a:r>
          </a:p>
          <a:p>
            <a:r>
              <a:rPr lang="zh-TW" altLang="en-US" dirty="0"/>
              <a:t>紅色為先前就已經存在的</a:t>
            </a:r>
            <a:endParaRPr lang="en-US" altLang="zh-TW" dirty="0"/>
          </a:p>
          <a:p>
            <a:r>
              <a:rPr lang="zh-TW" altLang="en-US" dirty="0"/>
              <a:t>僅需更新綠色所指向的點</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7</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綠色為</a:t>
            </a:r>
            <a:r>
              <a:rPr lang="en-US" altLang="zh-TW" dirty="0"/>
              <a:t>outdated</a:t>
            </a:r>
          </a:p>
          <a:p>
            <a:r>
              <a:rPr lang="zh-TW" altLang="en-US" dirty="0"/>
              <a:t>白色為</a:t>
            </a:r>
            <a:r>
              <a:rPr lang="en-US" altLang="zh-TW" dirty="0"/>
              <a:t>new create</a:t>
            </a:r>
          </a:p>
          <a:p>
            <a:r>
              <a:rPr lang="zh-TW" altLang="en-US" dirty="0"/>
              <a:t>紅色為先前就已經存在的</a:t>
            </a:r>
            <a:endParaRPr lang="en-US" altLang="zh-TW" dirty="0"/>
          </a:p>
          <a:p>
            <a:r>
              <a:rPr lang="zh-TW" altLang="en-US" dirty="0"/>
              <a:t>僅需更新綠色所指向的點</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8</a:t>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綠色為</a:t>
            </a:r>
            <a:r>
              <a:rPr lang="en-US" altLang="zh-TW" dirty="0"/>
              <a:t>outdated</a:t>
            </a:r>
          </a:p>
          <a:p>
            <a:r>
              <a:rPr lang="zh-TW" altLang="en-US" dirty="0"/>
              <a:t>白色為</a:t>
            </a:r>
            <a:r>
              <a:rPr lang="en-US" altLang="zh-TW" dirty="0"/>
              <a:t>new create</a:t>
            </a:r>
          </a:p>
          <a:p>
            <a:r>
              <a:rPr lang="zh-TW" altLang="en-US" dirty="0"/>
              <a:t>一開始會依照</a:t>
            </a:r>
            <a:endParaRPr lang="en-US" altLang="zh-TW" dirty="0"/>
          </a:p>
          <a:p>
            <a:r>
              <a:rPr lang="zh-TW" altLang="en-US" dirty="0"/>
              <a:t>紅色為先前就已經存在的</a:t>
            </a:r>
            <a:endParaRPr lang="en-US" altLang="zh-TW" dirty="0"/>
          </a:p>
          <a:p>
            <a:r>
              <a:rPr lang="zh-TW" altLang="en-US" dirty="0"/>
              <a:t>僅需更新綠色所指向的點</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9</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綠色為</a:t>
            </a:r>
            <a:r>
              <a:rPr lang="en-US" altLang="zh-TW" dirty="0"/>
              <a:t>outdated</a:t>
            </a:r>
          </a:p>
          <a:p>
            <a:r>
              <a:rPr lang="zh-TW" altLang="en-US" dirty="0"/>
              <a:t>白色為</a:t>
            </a:r>
            <a:r>
              <a:rPr lang="en-US" altLang="zh-TW" dirty="0"/>
              <a:t>new create</a:t>
            </a:r>
          </a:p>
          <a:p>
            <a:r>
              <a:rPr lang="zh-TW" altLang="en-US" dirty="0"/>
              <a:t>一開始會依照</a:t>
            </a:r>
            <a:endParaRPr lang="en-US" altLang="zh-TW" dirty="0"/>
          </a:p>
          <a:p>
            <a:r>
              <a:rPr lang="zh-TW" altLang="en-US" dirty="0"/>
              <a:t>紅色為先前就已經存在的</a:t>
            </a:r>
            <a:endParaRPr lang="en-US" altLang="zh-TW" dirty="0"/>
          </a:p>
          <a:p>
            <a:r>
              <a:rPr lang="zh-TW" altLang="en-US" dirty="0"/>
              <a:t>僅需更新綠色所指向的點</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10</a:t>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我們可以發現</a:t>
            </a:r>
            <a:endParaRPr lang="en-US" altLang="zh-TW" dirty="0"/>
          </a:p>
          <a:p>
            <a:r>
              <a:rPr lang="zh-TW" altLang="en-US" dirty="0"/>
              <a:t>一旦沒有新的節點創建後，節點數開始減少，直到只剩下一個節點。在這個過程中，只有新的創建的節點和具有傳入邊的節點保存在</a:t>
            </a:r>
            <a:r>
              <a:rPr lang="en-US" altLang="zh-TW" dirty="0"/>
              <a:t>Leveled-DAG</a:t>
            </a:r>
            <a:r>
              <a:rPr lang="zh-TW" altLang="en-US" dirty="0"/>
              <a:t>，大大降低了</a:t>
            </a:r>
            <a:r>
              <a:rPr lang="en-US" altLang="zh-TW" dirty="0"/>
              <a:t>memory</a:t>
            </a:r>
            <a:r>
              <a:rPr lang="zh-TW" altLang="en-US" dirty="0"/>
              <a:t>消耗。</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11</a:t>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序列長度固定 序列數量由</a:t>
            </a:r>
            <a:r>
              <a:rPr lang="en-US" altLang="zh-TW" dirty="0"/>
              <a:t>3-700</a:t>
            </a:r>
            <a:r>
              <a:rPr lang="zh-TW" altLang="en-US" dirty="0"/>
              <a:t>遞增</a:t>
            </a:r>
            <a:endParaRPr lang="en-US" altLang="zh-TW" dirty="0"/>
          </a:p>
          <a:p>
            <a:endParaRPr lang="en-US" altLang="zh-TW" dirty="0"/>
          </a:p>
          <a:p>
            <a:r>
              <a:rPr lang="zh-TW" altLang="en-US" dirty="0"/>
              <a:t>單位秒</a:t>
            </a:r>
            <a:endParaRPr lang="en-US" altLang="zh-TW" dirty="0"/>
          </a:p>
          <a:p>
            <a:endParaRPr lang="en-US" altLang="zh-TW" dirty="0"/>
          </a:p>
          <a:p>
            <a:r>
              <a:rPr lang="en-US" altLang="zh-TW" dirty="0" err="1"/>
              <a:t>Top_MLCS</a:t>
            </a:r>
            <a:r>
              <a:rPr lang="zh-TW" altLang="en-US" dirty="0"/>
              <a:t>與本文提出的算法相比 小的資料集</a:t>
            </a:r>
            <a:r>
              <a:rPr lang="en-US" altLang="zh-TW" dirty="0"/>
              <a:t>(10</a:t>
            </a:r>
            <a:r>
              <a:rPr lang="zh-TW" altLang="en-US" dirty="0"/>
              <a:t>以下</a:t>
            </a:r>
            <a:r>
              <a:rPr lang="en-US" altLang="zh-TW" dirty="0"/>
              <a:t>)</a:t>
            </a:r>
            <a:r>
              <a:rPr lang="zh-TW" altLang="en-US" dirty="0"/>
              <a:t>會慢</a:t>
            </a:r>
            <a:r>
              <a:rPr lang="en-US" altLang="zh-TW" dirty="0"/>
              <a:t>10</a:t>
            </a:r>
            <a:r>
              <a:rPr lang="zh-TW" altLang="en-US" dirty="0"/>
              <a:t> 趴 大的資料集慢</a:t>
            </a:r>
            <a:r>
              <a:rPr lang="en-US" altLang="zh-TW" dirty="0"/>
              <a:t>10-20</a:t>
            </a:r>
            <a:r>
              <a:rPr lang="zh-TW" altLang="en-US" dirty="0"/>
              <a:t>趴</a:t>
            </a:r>
            <a:endParaRPr lang="en-US" altLang="zh-TW" dirty="0"/>
          </a:p>
          <a:p>
            <a:r>
              <a:rPr lang="en-US" altLang="zh-TW" dirty="0"/>
              <a:t>needs two topological sorting operations</a:t>
            </a:r>
          </a:p>
          <a:p>
            <a:endParaRPr lang="en-US" altLang="zh-TW" dirty="0"/>
          </a:p>
          <a:p>
            <a:endParaRPr lang="en-US" altLang="zh-TW" dirty="0"/>
          </a:p>
          <a:p>
            <a:r>
              <a:rPr lang="zh-TW" altLang="en-US" dirty="0"/>
              <a:t>在相同長度下，字母越多，代表下一個相同的字出現的距離就有可能會越遠</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12</a:t>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序列長度固定 序列數量由</a:t>
            </a:r>
            <a:r>
              <a:rPr lang="en-US" altLang="zh-TW" dirty="0"/>
              <a:t>3-700</a:t>
            </a:r>
            <a:r>
              <a:rPr lang="zh-TW" altLang="en-US" dirty="0"/>
              <a:t>遞增</a:t>
            </a:r>
            <a:endParaRPr lang="en-US" altLang="zh-TW" dirty="0"/>
          </a:p>
          <a:p>
            <a:r>
              <a:rPr lang="zh-TW" altLang="en-US" dirty="0"/>
              <a:t>單位</a:t>
            </a:r>
            <a:r>
              <a:rPr lang="en-US" altLang="zh-TW" dirty="0"/>
              <a:t>MB</a:t>
            </a:r>
          </a:p>
          <a:p>
            <a:r>
              <a:rPr lang="en-US" altLang="zh-TW" dirty="0"/>
              <a:t>FAST_LCS</a:t>
            </a:r>
            <a:r>
              <a:rPr lang="zh-TW" altLang="en-US" dirty="0"/>
              <a:t>、</a:t>
            </a:r>
            <a:r>
              <a:rPr lang="en-US" altLang="zh-TW" dirty="0"/>
              <a:t>QUICK-DP</a:t>
            </a:r>
            <a:r>
              <a:rPr lang="zh-TW" altLang="en-US" dirty="0"/>
              <a:t>記憶體消耗成指數成長</a:t>
            </a: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13</a:t>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序列數量固定為</a:t>
            </a:r>
            <a:r>
              <a:rPr lang="en-US" altLang="zh-TW" dirty="0"/>
              <a:t>5</a:t>
            </a:r>
            <a:r>
              <a:rPr lang="zh-TW" altLang="en-US" dirty="0"/>
              <a:t> 序列長度由</a:t>
            </a:r>
            <a:r>
              <a:rPr lang="en-US" altLang="zh-TW" dirty="0"/>
              <a:t>50-5000</a:t>
            </a:r>
            <a:r>
              <a:rPr lang="zh-TW" altLang="en-US" dirty="0"/>
              <a:t>遞增</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Fast_Lcs</a:t>
            </a:r>
            <a:r>
              <a:rPr lang="zh-TW" altLang="en-US" dirty="0"/>
              <a:t>與</a:t>
            </a:r>
            <a:r>
              <a:rPr lang="en-US" altLang="zh-TW" dirty="0"/>
              <a:t>Quick-DP</a:t>
            </a:r>
            <a:r>
              <a:rPr lang="zh-TW" altLang="en-US" dirty="0"/>
              <a:t>無法處理 因為</a:t>
            </a:r>
            <a:r>
              <a:rPr lang="en-US" altLang="zh-TW" dirty="0"/>
              <a:t>Memory</a:t>
            </a:r>
            <a:r>
              <a:rPr lang="zh-TW" altLang="en-US" dirty="0"/>
              <a:t>不夠</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sequence</a:t>
            </a:r>
            <a:r>
              <a:rPr lang="zh-TW" altLang="en-US" dirty="0"/>
              <a:t>長度增加，</a:t>
            </a:r>
            <a:r>
              <a:rPr lang="en-US" altLang="zh-TW" dirty="0"/>
              <a:t>Minima operation for the levels is very </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14</a:t>
            </a:fld>
            <a:endParaRPr lang="zh-TW" altLang="en-US"/>
          </a:p>
        </p:txBody>
      </p:sp>
    </p:spTree>
    <p:extLst>
      <p:ext uri="{BB962C8B-B14F-4D97-AF65-F5344CB8AC3E}">
        <p14:creationId xmlns:p14="http://schemas.microsoft.com/office/powerpoint/2010/main" val="3041408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序列數量固定為</a:t>
            </a:r>
            <a:r>
              <a:rPr lang="en-US" altLang="zh-TW" dirty="0"/>
              <a:t>5</a:t>
            </a:r>
            <a:r>
              <a:rPr lang="zh-TW" altLang="en-US" dirty="0"/>
              <a:t> 序列長度由</a:t>
            </a:r>
            <a:r>
              <a:rPr lang="en-US" altLang="zh-TW" dirty="0"/>
              <a:t>50-5000</a:t>
            </a:r>
            <a:r>
              <a:rPr lang="zh-TW" altLang="en-US" dirty="0"/>
              <a:t>遞增</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15</a:t>
            </a:fld>
            <a:endParaRPr lang="zh-TW" altLang="en-US"/>
          </a:p>
        </p:txBody>
      </p:sp>
    </p:spTree>
    <p:extLst>
      <p:ext uri="{BB962C8B-B14F-4D97-AF65-F5344CB8AC3E}">
        <p14:creationId xmlns:p14="http://schemas.microsoft.com/office/powerpoint/2010/main" val="454571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pPr algn="l"/>
            <a:r>
              <a:rPr kumimoji="1" lang="en-US" sz="4800" dirty="0">
                <a:latin typeface="Times New Roman" panose="02020603050405020304" pitchFamily="18" charset="0"/>
                <a:cs typeface="Times New Roman" panose="02020603050405020304" pitchFamily="18" charset="0"/>
              </a:rPr>
              <a:t>A Novel Efficient Graph Model for the Multiple Longest Common Subsequences (MLCS) Problem</a:t>
            </a:r>
            <a:br>
              <a:rPr lang="en-US" b="1" dirty="0"/>
            </a:br>
            <a:br>
              <a:rPr lang="af-ZA" altLang="zh-TW" sz="4400" b="0" i="0" dirty="0">
                <a:solidFill>
                  <a:srgbClr val="000000"/>
                </a:solidFill>
                <a:effectLst/>
                <a:latin typeface="Times New Roman" panose="02020603050405020304" pitchFamily="18" charset="0"/>
              </a:rPr>
            </a:br>
            <a:r>
              <a:rPr lang="af-ZA" altLang="zh-TW" sz="2800" b="1" dirty="0">
                <a:latin typeface="Times New Roman" panose="02020603050405020304" pitchFamily="18" charset="0"/>
                <a:cs typeface="Times New Roman" panose="02020603050405020304" pitchFamily="18" charset="0"/>
              </a:rPr>
              <a:t>​</a:t>
            </a:r>
            <a:br>
              <a:rPr lang="af-ZA" altLang="zh-TW" sz="2800" b="1" dirty="0">
                <a:latin typeface="Times New Roman" panose="02020603050405020304" pitchFamily="18" charset="0"/>
                <a:cs typeface="Times New Roman" panose="02020603050405020304" pitchFamily="18" charset="0"/>
              </a:rPr>
            </a:br>
            <a:br>
              <a:rPr lang="en-US" altLang="zh-TW" sz="44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err="1"/>
              <a:t>Presenter:Chien-Ting</a:t>
            </a:r>
            <a:r>
              <a:rPr lang="en-US" altLang="zh-TW" dirty="0"/>
              <a:t>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Feb</a:t>
            </a:r>
            <a:r>
              <a:rPr lang="x-none" altLang="zh-TW" dirty="0"/>
              <a:t>. </a:t>
            </a:r>
            <a:r>
              <a:rPr lang="en-US" altLang="zh-TW" dirty="0"/>
              <a:t>08</a:t>
            </a:r>
            <a:r>
              <a:rPr lang="x-none" altLang="zh-TW" dirty="0"/>
              <a:t>, 202</a:t>
            </a:r>
            <a:r>
              <a:rPr lang="en-US" altLang="zh-TW" dirty="0"/>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3"/>
            <a:ext cx="9144000" cy="1655762"/>
          </a:xfrm>
        </p:spPr>
        <p:txBody>
          <a:bodyPr>
            <a:normAutofit/>
          </a:bodyPr>
          <a:lstStyle/>
          <a:p>
            <a:pPr>
              <a:lnSpc>
                <a:spcPct val="110000"/>
              </a:lnSpc>
              <a:spcBef>
                <a:spcPts val="1000"/>
              </a:spcBef>
            </a:pPr>
            <a:r>
              <a:rPr lang="af-ZA" altLang="zh-TW" sz="2400" dirty="0">
                <a:solidFill>
                  <a:schemeClr val="tx1"/>
                </a:solidFill>
              </a:rPr>
              <a:t>Zhan peng, Yuping Wang</a:t>
            </a:r>
            <a:r>
              <a:rPr lang="en-US" altLang="zh-TW" sz="2400" dirty="0">
                <a:solidFill>
                  <a:schemeClr val="tx1"/>
                </a:solidFill>
              </a:rPr>
              <a:t> </a:t>
            </a:r>
          </a:p>
          <a:p>
            <a:pPr>
              <a:lnSpc>
                <a:spcPct val="110000"/>
              </a:lnSpc>
              <a:spcBef>
                <a:spcPts val="1000"/>
              </a:spcBef>
            </a:pPr>
            <a:r>
              <a:rPr lang="en-US" altLang="zh-TW" sz="2400" dirty="0">
                <a:solidFill>
                  <a:schemeClr val="tx1"/>
                </a:solidFill>
              </a:rPr>
              <a:t>Frontiers  in Genetics, August 2017</a:t>
            </a:r>
          </a:p>
          <a:p>
            <a:pPr>
              <a:lnSpc>
                <a:spcPct val="110000"/>
              </a:lnSpc>
              <a:spcBef>
                <a:spcPts val="1000"/>
              </a:spcBef>
            </a:pPr>
            <a:endParaRPr lang="en-US" altLang="zh-TW" sz="2400" dirty="0">
              <a:solidFill>
                <a:schemeClr val="tx1"/>
              </a:solidFill>
            </a:endParaRP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Abstract(1/2)</a:t>
            </a:r>
            <a:endParaRPr lang="zh-TW" altLang="en-US" dirty="0"/>
          </a:p>
        </p:txBody>
      </p:sp>
      <p:sp>
        <p:nvSpPr>
          <p:cNvPr id="3" name="內容版面配置區 2"/>
          <p:cNvSpPr>
            <a:spLocks noGrp="1"/>
          </p:cNvSpPr>
          <p:nvPr>
            <p:ph idx="1"/>
          </p:nvPr>
        </p:nvSpPr>
        <p:spPr/>
        <p:txBody>
          <a:bodyPr>
            <a:normAutofit lnSpcReduction="10000"/>
          </a:bodyPr>
          <a:lstStyle/>
          <a:p>
            <a:pPr algn="just">
              <a:buNone/>
            </a:pPr>
            <a:r>
              <a:rPr lang="en-US" sz="2400" dirty="0"/>
              <a:t>	Searching for the Multiple Longest Common Subsequences (MLCS) of multiple sequences is a classical NP-hard problem, which has been used in many applications. One of the most effective exact approaches for the MLCS problem is based on dominant point graph, which is a kind of directed acyclic graph (DAG). However, the time and space efficiency of the leading dominant point graph based approaches is still unsatisfactory: constructing the dominated point graph used by these approaches requires a huge amount of time and space, which hinders the applications of these approaches to large-scale and long sequences. To address this issue, in this paper, we propose a new time and space efficient graph model called the Leveled-DAG for the MLCS problem.</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Abstract(2/2)</a:t>
            </a:r>
            <a:endParaRPr lang="zh-TW" altLang="en-US" dirty="0"/>
          </a:p>
        </p:txBody>
      </p:sp>
      <p:sp>
        <p:nvSpPr>
          <p:cNvPr id="3" name="內容版面配置區 2"/>
          <p:cNvSpPr>
            <a:spLocks noGrp="1"/>
          </p:cNvSpPr>
          <p:nvPr>
            <p:ph idx="1"/>
          </p:nvPr>
        </p:nvSpPr>
        <p:spPr/>
        <p:txBody>
          <a:bodyPr>
            <a:noAutofit/>
          </a:bodyPr>
          <a:lstStyle/>
          <a:p>
            <a:pPr>
              <a:buNone/>
            </a:pPr>
            <a:r>
              <a:rPr lang="en-US" sz="2200" dirty="0"/>
              <a:t>	The Leveled-DAG can timely eliminate all the nodes in the graph that cannot contribute to the construction of MLCS during constructing. At any moment, only the current level and some previously generated nodes in the graph need to be kept in memory, which can greatly reduce the memory consumption. Also, the final graph contains only one node in which all of the wanted MLCS are saved, thus, no additional operations for searching the MLCS are needed. The experiments are conducted on real biological sequences with different numbers and lengths respectively, and the proposed algorithm is compared with three state-of-the-art algorithms. The experimental results show that the time and space needed for the Leveled-DAG approach are smaller than those for the compared algorithms especially on large-scale and long sequences.</a:t>
            </a:r>
            <a:endParaRPr lang="zh-TW" altLang="en-US" sz="22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Successor Table </a:t>
            </a:r>
            <a:br>
              <a:rPr lang="en-US" altLang="zh-TW" dirty="0"/>
            </a:br>
            <a:endParaRPr lang="zh-TW" altLang="en-US" dirty="0"/>
          </a:p>
        </p:txBody>
      </p:sp>
      <p:pic>
        <p:nvPicPr>
          <p:cNvPr id="1026" name="Picture 2"/>
          <p:cNvPicPr>
            <a:picLocks noGrp="1" noChangeAspect="1" noChangeArrowheads="1"/>
          </p:cNvPicPr>
          <p:nvPr>
            <p:ph idx="1"/>
          </p:nvPr>
        </p:nvPicPr>
        <p:blipFill>
          <a:blip r:embed="rId3"/>
          <a:srcRect/>
          <a:stretch>
            <a:fillRect/>
          </a:stretch>
        </p:blipFill>
        <p:spPr bwMode="auto">
          <a:xfrm>
            <a:off x="641746" y="1124744"/>
            <a:ext cx="8472518" cy="435771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Dominant point based approaches</a:t>
            </a:r>
            <a:endParaRPr lang="zh-TW" altLang="en-US" dirty="0"/>
          </a:p>
        </p:txBody>
      </p:sp>
      <p:pic>
        <p:nvPicPr>
          <p:cNvPr id="1026" name="Picture 2"/>
          <p:cNvPicPr>
            <a:picLocks noGrp="1" noChangeAspect="1" noChangeArrowheads="1"/>
          </p:cNvPicPr>
          <p:nvPr>
            <p:ph idx="1"/>
          </p:nvPr>
        </p:nvPicPr>
        <p:blipFill>
          <a:blip r:embed="rId3"/>
          <a:srcRect/>
          <a:stretch>
            <a:fillRect/>
          </a:stretch>
        </p:blipFill>
        <p:spPr bwMode="auto">
          <a:xfrm>
            <a:off x="1115616" y="1905566"/>
            <a:ext cx="7128792" cy="4677796"/>
          </a:xfrm>
          <a:prstGeom prst="rect">
            <a:avLst/>
          </a:prstGeom>
          <a:noFill/>
          <a:ln w="9525">
            <a:noFill/>
            <a:miter lim="800000"/>
            <a:headEnd/>
            <a:tailEnd/>
          </a:ln>
          <a:effectLst/>
        </p:spPr>
      </p:pic>
      <p:sp>
        <p:nvSpPr>
          <p:cNvPr id="3" name="文字方塊 2">
            <a:extLst>
              <a:ext uri="{FF2B5EF4-FFF2-40B4-BE49-F238E27FC236}">
                <a16:creationId xmlns:a16="http://schemas.microsoft.com/office/drawing/2014/main" id="{A655988B-1548-43FE-B1B6-87B7B58DFFA3}"/>
              </a:ext>
            </a:extLst>
          </p:cNvPr>
          <p:cNvSpPr txBox="1"/>
          <p:nvPr/>
        </p:nvSpPr>
        <p:spPr>
          <a:xfrm>
            <a:off x="683568" y="1268760"/>
            <a:ext cx="5832648" cy="646331"/>
          </a:xfrm>
          <a:prstGeom prst="rect">
            <a:avLst/>
          </a:prstGeom>
          <a:noFill/>
        </p:spPr>
        <p:txBody>
          <a:bodyPr wrap="square" rtlCol="0">
            <a:spAutoFit/>
          </a:bodyPr>
          <a:lstStyle/>
          <a:p>
            <a:r>
              <a:rPr lang="en-US" altLang="zh-TW" dirty="0"/>
              <a:t>ACTAGCTA</a:t>
            </a:r>
          </a:p>
          <a:p>
            <a:r>
              <a:rPr lang="en-US" altLang="zh-TW" dirty="0"/>
              <a:t>TCAGGTAT</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Leveled-DAG(1)</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357158" y="1785926"/>
            <a:ext cx="3357586" cy="339778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 (2)</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5122" name="Picture 2"/>
          <p:cNvPicPr>
            <a:picLocks noChangeAspect="1" noChangeArrowheads="1"/>
          </p:cNvPicPr>
          <p:nvPr/>
        </p:nvPicPr>
        <p:blipFill>
          <a:blip r:embed="rId4"/>
          <a:srcRect/>
          <a:stretch>
            <a:fillRect/>
          </a:stretch>
        </p:blipFill>
        <p:spPr bwMode="auto">
          <a:xfrm>
            <a:off x="714348" y="1714488"/>
            <a:ext cx="2571768" cy="3781425"/>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 (3)</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6146" name="Picture 2"/>
          <p:cNvPicPr>
            <a:picLocks noChangeAspect="1" noChangeArrowheads="1"/>
          </p:cNvPicPr>
          <p:nvPr/>
        </p:nvPicPr>
        <p:blipFill>
          <a:blip r:embed="rId4"/>
          <a:srcRect/>
          <a:stretch>
            <a:fillRect/>
          </a:stretch>
        </p:blipFill>
        <p:spPr bwMode="auto">
          <a:xfrm>
            <a:off x="428596" y="1571612"/>
            <a:ext cx="3071834" cy="4225082"/>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 (4)</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7170" name="Picture 2"/>
          <p:cNvPicPr>
            <a:picLocks noChangeAspect="1" noChangeArrowheads="1"/>
          </p:cNvPicPr>
          <p:nvPr/>
        </p:nvPicPr>
        <p:blipFill>
          <a:blip r:embed="rId4"/>
          <a:srcRect/>
          <a:stretch>
            <a:fillRect/>
          </a:stretch>
        </p:blipFill>
        <p:spPr bwMode="auto">
          <a:xfrm>
            <a:off x="500034" y="1428736"/>
            <a:ext cx="3071834" cy="404583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 (5)</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8194" name="Picture 2"/>
          <p:cNvPicPr>
            <a:picLocks noChangeAspect="1" noChangeArrowheads="1"/>
          </p:cNvPicPr>
          <p:nvPr/>
        </p:nvPicPr>
        <p:blipFill>
          <a:blip r:embed="rId4"/>
          <a:srcRect/>
          <a:stretch>
            <a:fillRect/>
          </a:stretch>
        </p:blipFill>
        <p:spPr bwMode="auto">
          <a:xfrm>
            <a:off x="571472" y="1357298"/>
            <a:ext cx="2857520" cy="3695069"/>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Leveled-DAG (6)</a:t>
            </a:r>
            <a:endParaRPr lang="zh-TW" altLang="en-US" dirty="0"/>
          </a:p>
        </p:txBody>
      </p:sp>
      <p:pic>
        <p:nvPicPr>
          <p:cNvPr id="3075" name="Picture 3"/>
          <p:cNvPicPr>
            <a:picLocks noGrp="1" noChangeAspect="1" noChangeArrowheads="1"/>
          </p:cNvPicPr>
          <p:nvPr>
            <p:ph idx="1"/>
          </p:nvPr>
        </p:nvPicPr>
        <p:blipFill>
          <a:blip r:embed="rId3"/>
          <a:srcRect/>
          <a:stretch>
            <a:fillRect/>
          </a:stretch>
        </p:blipFill>
        <p:spPr bwMode="auto">
          <a:xfrm>
            <a:off x="3929058" y="2071678"/>
            <a:ext cx="5009190" cy="1615440"/>
          </a:xfrm>
          <a:prstGeom prst="rect">
            <a:avLst/>
          </a:prstGeom>
          <a:noFill/>
          <a:ln w="9525">
            <a:noFill/>
            <a:miter lim="800000"/>
            <a:headEnd/>
            <a:tailEnd/>
          </a:ln>
          <a:effectLst/>
        </p:spPr>
      </p:pic>
      <p:pic>
        <p:nvPicPr>
          <p:cNvPr id="9218" name="Picture 2"/>
          <p:cNvPicPr>
            <a:picLocks noChangeAspect="1" noChangeArrowheads="1"/>
          </p:cNvPicPr>
          <p:nvPr/>
        </p:nvPicPr>
        <p:blipFill>
          <a:blip r:embed="rId4"/>
          <a:srcRect/>
          <a:stretch>
            <a:fillRect/>
          </a:stretch>
        </p:blipFill>
        <p:spPr bwMode="auto">
          <a:xfrm>
            <a:off x="571472" y="2000240"/>
            <a:ext cx="3000396" cy="201750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3"/>
          <a:srcRect/>
          <a:stretch>
            <a:fillRect/>
          </a:stretch>
        </p:blipFill>
        <p:spPr bwMode="auto">
          <a:xfrm>
            <a:off x="571472" y="1285860"/>
            <a:ext cx="7918450" cy="502285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3"/>
          <a:srcRect/>
          <a:stretch>
            <a:fillRect/>
          </a:stretch>
        </p:blipFill>
        <p:spPr bwMode="auto">
          <a:xfrm>
            <a:off x="688975" y="1340768"/>
            <a:ext cx="7766050" cy="488315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 name="圖片 5">
            <a:extLst>
              <a:ext uri="{FF2B5EF4-FFF2-40B4-BE49-F238E27FC236}">
                <a16:creationId xmlns:a16="http://schemas.microsoft.com/office/drawing/2014/main" id="{76142654-BC0D-42AA-AA63-319CD6C2DDE1}"/>
              </a:ext>
            </a:extLst>
          </p:cNvPr>
          <p:cNvPicPr>
            <a:picLocks noChangeAspect="1"/>
          </p:cNvPicPr>
          <p:nvPr/>
        </p:nvPicPr>
        <p:blipFill>
          <a:blip r:embed="rId3"/>
          <a:stretch>
            <a:fillRect/>
          </a:stretch>
        </p:blipFill>
        <p:spPr>
          <a:xfrm>
            <a:off x="377788" y="1312310"/>
            <a:ext cx="8309012" cy="3946780"/>
          </a:xfrm>
          <a:prstGeom prst="rect">
            <a:avLst/>
          </a:prstGeom>
        </p:spPr>
      </p:pic>
    </p:spTree>
    <p:extLst>
      <p:ext uri="{BB962C8B-B14F-4D97-AF65-F5344CB8AC3E}">
        <p14:creationId xmlns:p14="http://schemas.microsoft.com/office/powerpoint/2010/main" val="17400807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8BBB41E1-D6FC-4E07-A3B7-39168DC55104}"/>
              </a:ext>
            </a:extLst>
          </p:cNvPr>
          <p:cNvPicPr>
            <a:picLocks noChangeAspect="1"/>
          </p:cNvPicPr>
          <p:nvPr/>
        </p:nvPicPr>
        <p:blipFill>
          <a:blip r:embed="rId3"/>
          <a:stretch>
            <a:fillRect/>
          </a:stretch>
        </p:blipFill>
        <p:spPr>
          <a:xfrm>
            <a:off x="457200" y="1340768"/>
            <a:ext cx="8351912" cy="3781998"/>
          </a:xfrm>
          <a:prstGeom prst="rect">
            <a:avLst/>
          </a:prstGeom>
        </p:spPr>
      </p:pic>
    </p:spTree>
    <p:extLst>
      <p:ext uri="{BB962C8B-B14F-4D97-AF65-F5344CB8AC3E}">
        <p14:creationId xmlns:p14="http://schemas.microsoft.com/office/powerpoint/2010/main" val="137652815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1806</TotalTime>
  <Words>911</Words>
  <Application>Microsoft Office PowerPoint</Application>
  <PresentationFormat>如螢幕大小 (4:3)</PresentationFormat>
  <Paragraphs>96</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Arial</vt:lpstr>
      <vt:lpstr>Calibri</vt:lpstr>
      <vt:lpstr>Times New Roman</vt:lpstr>
      <vt:lpstr>Office 佈景主題</vt:lpstr>
      <vt:lpstr>A Novel Efficient Graph Model for the Multiple Longest Common Subsequences (MLCS) Problem  ​   </vt:lpstr>
      <vt:lpstr>Abstract(1/2)</vt:lpstr>
      <vt:lpstr>Abstract(2/2)</vt:lpstr>
      <vt:lpstr>Successor Table  </vt:lpstr>
      <vt:lpstr>Dominant point based approaches</vt:lpstr>
      <vt:lpstr>Leveled-DAG(1)</vt:lpstr>
      <vt:lpstr>Leveled-DAG (2)</vt:lpstr>
      <vt:lpstr>Leveled-DAG (3)</vt:lpstr>
      <vt:lpstr>Leveled-DAG (4)</vt:lpstr>
      <vt:lpstr>Leveled-DAG (5)</vt:lpstr>
      <vt:lpstr>Leveled-DAG (6)</vt:lpstr>
      <vt:lpstr>EXPERIMENTAL RESULTS </vt:lpstr>
      <vt:lpstr>EXPERIMENTAL RESULTS </vt:lpstr>
      <vt:lpstr>EXPERIMENTAL RESULTS </vt:lpstr>
      <vt:lpstr>EXPERIMENTAL RESULTS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pplab</cp:lastModifiedBy>
  <cp:revision>122</cp:revision>
  <dcterms:created xsi:type="dcterms:W3CDTF">2022-02-04T17:32:31Z</dcterms:created>
  <dcterms:modified xsi:type="dcterms:W3CDTF">2022-02-08T07:06:32Z</dcterms:modified>
</cp:coreProperties>
</file>