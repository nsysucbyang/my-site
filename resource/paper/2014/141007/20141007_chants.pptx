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4" r:id="rId35"/>
    <p:sldId id="289" r:id="rId36"/>
    <p:sldId id="290" r:id="rId37"/>
    <p:sldId id="291" r:id="rId38"/>
    <p:sldId id="292" r:id="rId39"/>
    <p:sldId id="293" r:id="rId4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2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5BEBE-F0F6-4BA6-A332-D15D5CCC9224}" type="datetimeFigureOut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1D100-3DB5-4DEF-8C0E-0716C2B4C9C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FAEE5-A4CB-45C6-B805-3F2E9C794F2E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EDED-C7CC-4E67-864B-0DAEC4C057A4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DEE0-6540-40A2-8089-192492CF9391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9596-6151-427F-BB68-9A236DC9AF66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D9C79-38E8-4052-ABAA-66A2B396D048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BE1C-055E-4D0E-B42A-7D78FBA1AF2A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1292-386C-4461-9CD9-AD0D6F60531D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BBA-7102-4738-8437-A5C8D1767772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63B16-AA30-4E09-98DE-714B29808489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A19B6-8CB6-4397-82C2-C63589A88475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774B1-1469-4051-BEB1-26E6EA3518B0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96225-9E7C-47AA-B7BD-AECFF361460F}" type="datetime1">
              <a:rPr lang="zh-TW" altLang="en-US" smtClean="0"/>
              <a:t>2014/10/7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Bit-Parallel Algorithm for</a:t>
            </a:r>
            <a:br>
              <a:rPr lang="en-US" altLang="zh-TW" b="1" dirty="0" smtClean="0"/>
            </a:br>
            <a:r>
              <a:rPr lang="en-US" altLang="zh-TW" b="1" dirty="0" smtClean="0"/>
              <a:t>the Constrained Longest Common Subsequence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b="1" dirty="0" smtClean="0"/>
              <a:t>Sebastian </a:t>
            </a:r>
            <a:r>
              <a:rPr lang="en-US" altLang="zh-TW" b="1" dirty="0" err="1" smtClean="0"/>
              <a:t>Deorowicz</a:t>
            </a:r>
            <a:r>
              <a:rPr lang="en-US" altLang="zh-TW" b="1" dirty="0" smtClean="0"/>
              <a:t>∗</a:t>
            </a:r>
          </a:p>
          <a:p>
            <a:r>
              <a:rPr lang="en-US" altLang="zh-TW" i="1" dirty="0" err="1" smtClean="0"/>
              <a:t>Fundamenta</a:t>
            </a:r>
            <a:r>
              <a:rPr lang="en-US" altLang="zh-TW" i="1" dirty="0" smtClean="0"/>
              <a:t> </a:t>
            </a:r>
            <a:r>
              <a:rPr lang="en-US" altLang="zh-TW" i="1" dirty="0" err="1" smtClean="0"/>
              <a:t>Informaticae</a:t>
            </a:r>
            <a:r>
              <a:rPr lang="en-US" altLang="zh-TW" i="1" dirty="0" smtClean="0"/>
              <a:t> 99 (2010) 409–433 409</a:t>
            </a:r>
          </a:p>
          <a:p>
            <a:r>
              <a:rPr lang="en-US" altLang="zh-TW" i="1" dirty="0" smtClean="0"/>
              <a:t>DOI 10.3233/FI-2010-256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6357950" y="5500702"/>
            <a:ext cx="2536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latin typeface="Calibri" pitchFamily="34" charset="0"/>
              </a:rPr>
              <a:t>Presenter:</a:t>
            </a:r>
            <a:r>
              <a:rPr lang="en-US" dirty="0" err="1" smtClean="0"/>
              <a:t>De-Sheng</a:t>
            </a:r>
            <a:r>
              <a:rPr lang="en-US" dirty="0" smtClean="0"/>
              <a:t> </a:t>
            </a:r>
            <a:r>
              <a:rPr lang="en-US" dirty="0" err="1" smtClean="0"/>
              <a:t>Jhan</a:t>
            </a:r>
            <a:endParaRPr lang="en-US" altLang="zh-TW" dirty="0" smtClean="0">
              <a:latin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</a:rPr>
              <a:t>              </a:t>
            </a:r>
            <a:r>
              <a:rPr lang="en-US" altLang="zh-TW" dirty="0" smtClean="0">
                <a:latin typeface="Calibri" pitchFamily="34" charset="0"/>
              </a:rPr>
              <a:t>2014/10/07</a:t>
            </a:r>
            <a:endParaRPr lang="zh-TW" altLang="en-US" dirty="0" smtClean="0">
              <a:latin typeface="Calibri" pitchFamily="34" charset="0"/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altLang="zh-TW" dirty="0" smtClean="0"/>
              <a:t>    The problem of finding a constrained longest common subsequence (CLCS) for the sequences A and B with respect to the sequence P was introduced recently. Its goal is to find a longest subsequence C of A and B such that P is a subsequence of C. Most of the algorithms solving the CLCS problem are based on dynamic programming. Bit-parallelism is a technique of using single bits in a machine word for concurrent computation. We propose the first bit-parallel algorithm computing a CLCS and/or its length which outperforms the other known algorithms in terms of speed.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= 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= A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BAAD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BC , n = 12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 = 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CBC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AADC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m = 12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LCS(A, B) = B A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D C B A , |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| = 7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= ABAADACBAABC , n = 12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CBCBDAADCDBA, m = 12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LCS(A, B) = B A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D C B A, |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| = 7</a:t>
            </a:r>
          </a:p>
          <a:p>
            <a:pPr>
              <a:buNone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p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…p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CBB, r = 3</a:t>
            </a: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altLang="zh-TW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 subsequence of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</a:t>
            </a:r>
          </a:p>
          <a:p>
            <a:pPr>
              <a:buNone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= A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AADA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CBAAB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 , n = 12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DCD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A, m = 12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CBB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CLCS(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 = B </a:t>
            </a:r>
            <a:r>
              <a:rPr lang="en-US" altLang="zh-TW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|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 | = 6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TW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Existing Algorithms for the CLCS Problem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928802"/>
            <a:ext cx="8143932" cy="4729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Chin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et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al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500174"/>
            <a:ext cx="8858281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4000504"/>
            <a:ext cx="6215106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1571604" y="5643578"/>
            <a:ext cx="6286544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A</a:t>
            </a:r>
            <a:r>
              <a:rPr lang="en-US" altLang="zh-TW" sz="3200" baseline="-25000" dirty="0" smtClean="0"/>
              <a:t>i</a:t>
            </a:r>
            <a:r>
              <a:rPr lang="en-US" altLang="zh-TW" sz="3200" dirty="0" smtClean="0"/>
              <a:t> = </a:t>
            </a:r>
            <a:r>
              <a:rPr lang="en-US" altLang="zh-TW" sz="3200" dirty="0" err="1" smtClean="0"/>
              <a:t>b</a:t>
            </a:r>
            <a:r>
              <a:rPr lang="en-US" altLang="zh-TW" sz="3200" baseline="-25000" dirty="0" err="1" smtClean="0"/>
              <a:t>j</a:t>
            </a:r>
            <a:r>
              <a:rPr lang="en-US" altLang="zh-TW" sz="3200" dirty="0" smtClean="0"/>
              <a:t> = </a:t>
            </a:r>
            <a:r>
              <a:rPr lang="en-US" altLang="zh-TW" sz="3200" dirty="0" err="1" smtClean="0"/>
              <a:t>p</a:t>
            </a:r>
            <a:r>
              <a:rPr lang="en-US" altLang="zh-TW" sz="3200" baseline="-25000" dirty="0" err="1" smtClean="0"/>
              <a:t>k</a:t>
            </a:r>
            <a:r>
              <a:rPr lang="en-US" altLang="zh-TW" sz="3200" dirty="0" smtClean="0"/>
              <a:t> : </a:t>
            </a:r>
            <a:r>
              <a:rPr lang="en-US" altLang="zh-TW" sz="3200" dirty="0" smtClean="0">
                <a:solidFill>
                  <a:srgbClr val="FF0000"/>
                </a:solidFill>
              </a:rPr>
              <a:t>strong </a:t>
            </a:r>
            <a:r>
              <a:rPr lang="en-US" altLang="zh-TW" sz="3200" dirty="0" smtClean="0">
                <a:solidFill>
                  <a:srgbClr val="FF0000"/>
                </a:solidFill>
              </a:rPr>
              <a:t>match</a:t>
            </a:r>
          </a:p>
          <a:p>
            <a:r>
              <a:rPr lang="en-US" altLang="zh-TW" sz="3200" dirty="0" smtClean="0"/>
              <a:t>A</a:t>
            </a:r>
            <a:r>
              <a:rPr lang="en-US" altLang="zh-TW" sz="3200" baseline="-25000" dirty="0" smtClean="0"/>
              <a:t>i</a:t>
            </a:r>
            <a:r>
              <a:rPr lang="en-US" altLang="zh-TW" sz="3200" dirty="0" smtClean="0"/>
              <a:t> = </a:t>
            </a:r>
            <a:r>
              <a:rPr lang="en-US" altLang="zh-TW" sz="3200" dirty="0" err="1" smtClean="0"/>
              <a:t>b</a:t>
            </a:r>
            <a:r>
              <a:rPr lang="en-US" altLang="zh-TW" sz="3200" baseline="-25000" dirty="0" err="1" smtClean="0"/>
              <a:t>j</a:t>
            </a:r>
            <a:r>
              <a:rPr lang="en-US" altLang="zh-TW" sz="3200" dirty="0" smtClean="0"/>
              <a:t> </a:t>
            </a:r>
            <a:r>
              <a:rPr lang="en-US" altLang="zh-TW" sz="3200" dirty="0" smtClean="0"/>
              <a:t>≠ </a:t>
            </a:r>
            <a:r>
              <a:rPr lang="en-US" altLang="zh-TW" sz="3200" dirty="0" err="1" smtClean="0"/>
              <a:t>p</a:t>
            </a:r>
            <a:r>
              <a:rPr lang="en-US" altLang="zh-TW" sz="3200" baseline="-25000" dirty="0" err="1" smtClean="0"/>
              <a:t>k</a:t>
            </a:r>
            <a:r>
              <a:rPr lang="en-US" altLang="zh-TW" sz="3200" dirty="0" smtClean="0"/>
              <a:t> : </a:t>
            </a:r>
            <a:r>
              <a:rPr lang="en-US" altLang="zh-TW" sz="3200" dirty="0" smtClean="0">
                <a:solidFill>
                  <a:srgbClr val="FF0000"/>
                </a:solidFill>
              </a:rPr>
              <a:t>weak </a:t>
            </a:r>
            <a:r>
              <a:rPr lang="en-US" altLang="zh-TW" sz="3200" dirty="0" smtClean="0">
                <a:solidFill>
                  <a:srgbClr val="FF0000"/>
                </a:solidFill>
              </a:rPr>
              <a:t>match</a:t>
            </a:r>
            <a:endParaRPr lang="zh-TW" altLang="en-US" sz="3200" baseline="-25000" dirty="0" smtClean="0">
              <a:solidFill>
                <a:srgbClr val="FF0000"/>
              </a:solidFill>
            </a:endParaRPr>
          </a:p>
          <a:p>
            <a:endParaRPr lang="zh-TW" altLang="en-US" sz="3200" baseline="-250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143768" y="5500702"/>
            <a:ext cx="1568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O</a:t>
            </a:r>
            <a:r>
              <a:rPr lang="en-US" altLang="zh-TW" sz="3200" dirty="0" smtClean="0"/>
              <a:t>( </a:t>
            </a:r>
            <a:r>
              <a:rPr lang="en-US" altLang="zh-TW" sz="3200" i="1" dirty="0" err="1" smtClean="0"/>
              <a:t>rmn</a:t>
            </a:r>
            <a:r>
              <a:rPr lang="en-US" altLang="zh-TW" sz="3200" i="1" dirty="0" smtClean="0"/>
              <a:t> </a:t>
            </a:r>
            <a:r>
              <a:rPr lang="en-US" altLang="zh-TW" sz="3200" dirty="0" smtClean="0"/>
              <a:t>)</a:t>
            </a:r>
            <a:endParaRPr lang="zh-TW" altLang="en-US" sz="32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2852"/>
            <a:ext cx="8229600" cy="5983311"/>
          </a:xfrm>
        </p:spPr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ABAADACBAABC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CBCBDAADCDBA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CBB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9001124" cy="4286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Bit-Parallel Strip Algorithm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357298"/>
            <a:ext cx="857256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571876"/>
            <a:ext cx="7715272" cy="3086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Bit-Parallel Strip Algorithm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785926"/>
            <a:ext cx="6653228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52"/>
            <a:ext cx="5072098" cy="3343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513221"/>
            <a:ext cx="6215074" cy="3344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000892" y="1000107"/>
          <a:ext cx="1714512" cy="4799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256"/>
                <a:gridCol w="857256"/>
              </a:tblGrid>
              <a:tr h="3522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(0)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9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0"/>
            <a:ext cx="5857916" cy="535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857885" y="1714495"/>
          <a:ext cx="3214710" cy="4897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2942"/>
                <a:gridCol w="642942"/>
                <a:gridCol w="642942"/>
                <a:gridCol w="642942"/>
                <a:gridCol w="642942"/>
              </a:tblGrid>
              <a:tr h="37675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0" dirty="0" smtClean="0"/>
                        <a:t>A</a:t>
                      </a:r>
                      <a:endParaRPr lang="zh-TW" altLang="en-US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67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6643702" y="1071546"/>
            <a:ext cx="5521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</a:t>
            </a:r>
            <a:r>
              <a:rPr lang="en-US" altLang="zh-TW" sz="3200" baseline="-25000" dirty="0" err="1" smtClean="0"/>
              <a:t>ai</a:t>
            </a:r>
            <a:endParaRPr lang="zh-TW" altLang="en-US" sz="3200" baseline="-250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643702" y="6492875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4429156" cy="33575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3571876"/>
            <a:ext cx="4572000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714745" y="928670"/>
          <a:ext cx="5357850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</a:tblGrid>
              <a:tr h="331241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j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3312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3312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3312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66"/>
            <a:ext cx="3000364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0" y="1643050"/>
          <a:ext cx="428596" cy="5000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596"/>
              </a:tblGrid>
              <a:tr h="3647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V</a:t>
                      </a:r>
                      <a:r>
                        <a:rPr lang="en-US" altLang="zh-TW" sz="1600" baseline="-25000" dirty="0" smtClean="0"/>
                        <a:t>1</a:t>
                      </a:r>
                      <a:r>
                        <a:rPr lang="en-US" altLang="zh-TW" sz="1600" dirty="0" smtClean="0"/>
                        <a:t>(0)</a:t>
                      </a:r>
                      <a:endParaRPr lang="zh-TW" altLang="en-US" sz="1600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71472" y="1764894"/>
          <a:ext cx="428596" cy="4878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596"/>
              </a:tblGrid>
              <a:tr h="3647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Y</a:t>
                      </a:r>
                      <a:r>
                        <a:rPr lang="en-US" altLang="zh-TW" sz="2400" baseline="-25000" dirty="0" smtClean="0"/>
                        <a:t>A</a:t>
                      </a:r>
                      <a:endParaRPr lang="zh-TW" altLang="en-US" sz="2400" baseline="-25000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214414" y="1857363"/>
          <a:ext cx="428596" cy="47863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596"/>
              </a:tblGrid>
              <a:tr h="3647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-25000" dirty="0" smtClean="0"/>
                        <a:t>U</a:t>
                      </a:r>
                      <a:endParaRPr lang="zh-TW" altLang="en-US" sz="2400" baseline="-25000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785918" y="1714488"/>
          <a:ext cx="571504" cy="5000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4"/>
              </a:tblGrid>
              <a:tr h="3647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-25000" dirty="0" smtClean="0"/>
                        <a:t>V(0)+U</a:t>
                      </a:r>
                      <a:endParaRPr lang="zh-TW" altLang="en-US" sz="2400" baseline="-25000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500298" y="1714488"/>
          <a:ext cx="571504" cy="5000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4"/>
              </a:tblGrid>
              <a:tr h="3647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-25000" dirty="0" smtClean="0"/>
                        <a:t>V(0)-U</a:t>
                      </a:r>
                      <a:endParaRPr lang="zh-TW" altLang="en-US" sz="2400" baseline="-25000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286148" y="1714488"/>
          <a:ext cx="428596" cy="5000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596"/>
              </a:tblGrid>
              <a:tr h="3647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V</a:t>
                      </a:r>
                      <a:r>
                        <a:rPr lang="en-US" altLang="zh-TW" sz="1600" baseline="-25000" dirty="0" smtClean="0"/>
                        <a:t>1</a:t>
                      </a:r>
                      <a:r>
                        <a:rPr lang="en-US" altLang="zh-TW" sz="1600" dirty="0" smtClean="0"/>
                        <a:t>(1)</a:t>
                      </a:r>
                      <a:endParaRPr lang="zh-TW" altLang="en-US" sz="1600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6846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428604"/>
            <a:ext cx="7000924" cy="600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71414"/>
            <a:ext cx="5786446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0" y="914400"/>
          <a:ext cx="5357850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</a:tblGrid>
              <a:tr h="331241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j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3312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3312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3312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142852"/>
            <a:ext cx="3143240" cy="2987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字方塊 6"/>
          <p:cNvSpPr txBox="1"/>
          <p:nvPr/>
        </p:nvSpPr>
        <p:spPr>
          <a:xfrm>
            <a:off x="5500694" y="3357562"/>
            <a:ext cx="364715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M(6,0,0) = 0</a:t>
            </a:r>
          </a:p>
          <a:p>
            <a:r>
              <a:rPr lang="en-US" altLang="zh-TW" sz="2400" dirty="0" smtClean="0"/>
              <a:t>M(6,2,0) = ?</a:t>
            </a:r>
          </a:p>
          <a:p>
            <a:r>
              <a:rPr lang="en-US" altLang="zh-TW" sz="2400" dirty="0" smtClean="0"/>
              <a:t>M(6,2,0) = M(6,0,0) + 1 = 1</a:t>
            </a:r>
          </a:p>
          <a:p>
            <a:r>
              <a:rPr lang="en-US" altLang="zh-TW" sz="2400" dirty="0" smtClean="0"/>
              <a:t>M(6,8,0) = ?</a:t>
            </a:r>
          </a:p>
          <a:p>
            <a:r>
              <a:rPr lang="en-US" altLang="zh-TW" sz="2400" dirty="0" smtClean="0"/>
              <a:t>M(6,8,0) = M(6,0,0) + 4 = 4</a:t>
            </a:r>
            <a:endParaRPr lang="zh-TW" altLang="en-US" sz="24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914400"/>
          <a:ext cx="5357850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  <a:gridCol w="357190"/>
              </a:tblGrid>
              <a:tr h="331241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j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2562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  <a:tr h="3312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3312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3312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643174" y="428604"/>
            <a:ext cx="997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K = 0</a:t>
            </a:r>
            <a:endParaRPr lang="zh-TW" altLang="en-US" sz="32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785926"/>
            <a:ext cx="6653228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428604"/>
            <a:ext cx="6484937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421481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3113" y="3248025"/>
            <a:ext cx="8370887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2428860" y="4143380"/>
            <a:ext cx="142876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8762059" y="4786322"/>
            <a:ext cx="142876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429256" y="4357694"/>
            <a:ext cx="142876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14290"/>
            <a:ext cx="6484937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066" y="142852"/>
            <a:ext cx="3929058" cy="150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0" y="670560"/>
          <a:ext cx="4929255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</a:tblGrid>
              <a:tr h="28504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10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11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12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j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11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12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643042" y="214290"/>
            <a:ext cx="997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K = 1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000628" y="2000240"/>
            <a:ext cx="426911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M(7,1,1) = M(6,0,0) + 1</a:t>
            </a:r>
          </a:p>
          <a:p>
            <a:r>
              <a:rPr lang="en-US" altLang="zh-TW" sz="3200" dirty="0" smtClean="0"/>
              <a:t>                = 1</a:t>
            </a:r>
          </a:p>
          <a:p>
            <a:r>
              <a:rPr lang="en-US" altLang="zh-TW" sz="3200" dirty="0" smtClean="0"/>
              <a:t>M(8,1,1) = M(7,1,1)=1</a:t>
            </a:r>
          </a:p>
          <a:p>
            <a:r>
              <a:rPr lang="en-US" altLang="zh-TW" sz="3200" dirty="0" smtClean="0"/>
              <a:t>                  .</a:t>
            </a:r>
          </a:p>
          <a:p>
            <a:r>
              <a:rPr lang="en-US" altLang="zh-TW" sz="3200" dirty="0" smtClean="0"/>
              <a:t>	        .</a:t>
            </a:r>
          </a:p>
          <a:p>
            <a:r>
              <a:rPr lang="en-US" altLang="zh-TW" sz="3200" dirty="0" smtClean="0"/>
              <a:t>                  .</a:t>
            </a:r>
          </a:p>
          <a:p>
            <a:r>
              <a:rPr lang="en-US" altLang="zh-TW" sz="3200" dirty="0" smtClean="0"/>
              <a:t>M(12,1,1) = M(11,0,0)+1</a:t>
            </a:r>
          </a:p>
          <a:p>
            <a:r>
              <a:rPr lang="en-US" altLang="zh-TW" sz="3200" dirty="0" smtClean="0"/>
              <a:t>                   = 1</a:t>
            </a:r>
            <a:endParaRPr lang="zh-TW" altLang="en-US" sz="32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0" y="670560"/>
          <a:ext cx="4929255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</a:tblGrid>
              <a:tr h="28504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10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11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12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j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11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12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643042" y="214290"/>
            <a:ext cx="997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K = 1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000628" y="3143248"/>
            <a:ext cx="406778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strips = {</a:t>
            </a:r>
            <a:r>
              <a:rPr lang="en-US" altLang="zh-TW" sz="2800" dirty="0" smtClean="0">
                <a:latin typeface="新細明體"/>
                <a:ea typeface="新細明體"/>
              </a:rPr>
              <a:t>〈1,3〉,</a:t>
            </a:r>
            <a:r>
              <a:rPr lang="en-US" altLang="zh-TW" sz="2800" dirty="0" smtClean="0">
                <a:latin typeface="新細明體"/>
              </a:rPr>
              <a:t> 〈3,9〉, </a:t>
            </a:r>
          </a:p>
          <a:p>
            <a:r>
              <a:rPr lang="en-US" altLang="zh-TW" sz="2800" dirty="0" smtClean="0">
                <a:latin typeface="新細明體"/>
              </a:rPr>
              <a:t>              〈9,12〉}</a:t>
            </a:r>
          </a:p>
          <a:p>
            <a:r>
              <a:rPr lang="en-US" altLang="zh-TW" sz="2800" dirty="0" smtClean="0">
                <a:latin typeface="新細明體"/>
              </a:rPr>
              <a:t>M(7,1,1) = M(6,0,0) + 1 = 1</a:t>
            </a:r>
          </a:p>
          <a:p>
            <a:r>
              <a:rPr lang="en-US" altLang="zh-TW" sz="2800" dirty="0" smtClean="0">
                <a:latin typeface="新細明體"/>
              </a:rPr>
              <a:t>M(7,3,1) = M(6,2,0) + 1 = 2</a:t>
            </a:r>
          </a:p>
          <a:p>
            <a:r>
              <a:rPr lang="en-US" altLang="zh-TW" sz="2800" dirty="0" smtClean="0">
                <a:latin typeface="新細明體"/>
              </a:rPr>
              <a:t>M(7,9,1) = M(6,8,0) + 1 = 5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0"/>
            <a:ext cx="4143372" cy="3000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2428868"/>
            <a:ext cx="4572032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0"/>
            <a:ext cx="4143372" cy="35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0" y="670560"/>
          <a:ext cx="4929255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</a:tblGrid>
              <a:tr h="28504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10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11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12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j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11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12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643042" y="214290"/>
            <a:ext cx="997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K = 1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57818" y="3857628"/>
            <a:ext cx="102143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(6) =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(6) = 0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(7) =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(7) = 0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215074" y="3571876"/>
          <a:ext cx="40479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479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167470" y="4786322"/>
          <a:ext cx="40479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4794"/>
              </a:tblGrid>
              <a:tr h="2994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12" name="左大括弧 11"/>
          <p:cNvSpPr/>
          <p:nvPr/>
        </p:nvSpPr>
        <p:spPr>
          <a:xfrm>
            <a:off x="571472" y="1928802"/>
            <a:ext cx="155448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26</a:t>
            </a:fld>
            <a:endParaRPr lang="zh-TW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0"/>
            <a:ext cx="4143372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0" y="670560"/>
          <a:ext cx="4929255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  <a:gridCol w="328617"/>
              </a:tblGrid>
              <a:tr h="28504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10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11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12</a:t>
                      </a:r>
                      <a:endParaRPr lang="zh-TW" alt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j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D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11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2850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12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643042" y="214290"/>
            <a:ext cx="997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K = 1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71612"/>
            <a:ext cx="8929718" cy="4048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653228" cy="2786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857496"/>
            <a:ext cx="2828925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3000364" y="5929330"/>
            <a:ext cx="214314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3786182" y="3357562"/>
            <a:ext cx="48718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M(12,12,3) = M(12,11,3) + 0</a:t>
            </a:r>
          </a:p>
          <a:p>
            <a:r>
              <a:rPr lang="en-US" altLang="zh-TW" sz="3200" dirty="0" smtClean="0"/>
              <a:t>                     = 6</a:t>
            </a:r>
            <a:endParaRPr lang="zh-TW" altLang="en-US" sz="32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Obtaining a Requested Sequence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142984"/>
            <a:ext cx="5572164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86125"/>
            <a:ext cx="914400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0"/>
            <a:ext cx="4143371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30</a:t>
            </a:fld>
            <a:endParaRPr lang="zh-TW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4810" y="285728"/>
            <a:ext cx="4786314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Complexity 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Worst-case : O(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rnm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Average-case : O(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rmn</a:t>
            </a:r>
            <a:r>
              <a:rPr lang="en-US" altLang="zh-TW" dirty="0" smtClean="0"/>
              <a:t>/</a:t>
            </a:r>
            <a:r>
              <a:rPr lang="el-GR" i="1" dirty="0" smtClean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dirty="0" smtClean="0"/>
              <a:t> +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rn</a:t>
            </a:r>
            <a:r>
              <a:rPr lang="zh-TW" altLang="en-US" dirty="0" smtClean="0"/>
              <a:t>⌈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/>
              <a:t>/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zh-TW" altLang="en-US" dirty="0" smtClean="0"/>
              <a:t>⌉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all situations, the times were obtained as medians of </a:t>
            </a:r>
            <a:r>
              <a:rPr lang="en-US" altLang="zh-TW" u="sng" dirty="0" smtClean="0"/>
              <a:t>501</a:t>
            </a:r>
            <a:r>
              <a:rPr lang="en-US" altLang="zh-TW" dirty="0" smtClean="0"/>
              <a:t> executions on a computer equipped with AMD </a:t>
            </a:r>
            <a:r>
              <a:rPr lang="en-US" altLang="zh-TW" dirty="0" err="1" smtClean="0"/>
              <a:t>Phenom</a:t>
            </a:r>
            <a:r>
              <a:rPr lang="en-US" altLang="zh-TW" dirty="0" smtClean="0"/>
              <a:t> II X4 810 CPU(2.6GHz real CPU clock) with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dirty="0" smtClean="0"/>
              <a:t> = 64.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9144000" cy="5500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34</a:t>
            </a:fld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214554"/>
            <a:ext cx="7358082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90625"/>
            <a:ext cx="91440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14488"/>
            <a:ext cx="9001156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28802"/>
            <a:ext cx="9001156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6627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algn="ctr">
              <a:buNone/>
            </a:pPr>
            <a:r>
              <a:rPr lang="en-US" altLang="zh-TW" dirty="0" smtClean="0"/>
              <a:t>Thanks for listening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1375</Words>
  <PresentationFormat>如螢幕大小 (4:3)</PresentationFormat>
  <Paragraphs>959</Paragraphs>
  <Slides>39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0" baseType="lpstr">
      <vt:lpstr>Office 佈景主題</vt:lpstr>
      <vt:lpstr>Bit-Parallel Algorithm for the Constrained Longest Common Subsequence Problem</vt:lpstr>
      <vt:lpstr>Abstract</vt:lpstr>
      <vt:lpstr>LCS</vt:lpstr>
      <vt:lpstr>CLCS</vt:lpstr>
      <vt:lpstr>CLCS</vt:lpstr>
      <vt:lpstr>Existing Algorithms for the CLCS Problem</vt:lpstr>
      <vt:lpstr>Chin et al.</vt:lpstr>
      <vt:lpstr>投影片 8</vt:lpstr>
      <vt:lpstr>Bit-Parallel Strip Algorithm</vt:lpstr>
      <vt:lpstr>Bit-Parallel Strip Algorithm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  <vt:lpstr>投影片 18</vt:lpstr>
      <vt:lpstr>投影片 19</vt:lpstr>
      <vt:lpstr>投影片 20</vt:lpstr>
      <vt:lpstr>投影片 21</vt:lpstr>
      <vt:lpstr>投影片 22</vt:lpstr>
      <vt:lpstr>投影片 23</vt:lpstr>
      <vt:lpstr>投影片 24</vt:lpstr>
      <vt:lpstr>投影片 25</vt:lpstr>
      <vt:lpstr>投影片 26</vt:lpstr>
      <vt:lpstr>投影片 27</vt:lpstr>
      <vt:lpstr>投影片 28</vt:lpstr>
      <vt:lpstr>Obtaining a Requested Sequence</vt:lpstr>
      <vt:lpstr>投影片 30</vt:lpstr>
      <vt:lpstr>Complexity Analysis</vt:lpstr>
      <vt:lpstr>Experimental Results</vt:lpstr>
      <vt:lpstr>投影片 33</vt:lpstr>
      <vt:lpstr>投影片 34</vt:lpstr>
      <vt:lpstr>投影片 35</vt:lpstr>
      <vt:lpstr>投影片 36</vt:lpstr>
      <vt:lpstr>投影片 37</vt:lpstr>
      <vt:lpstr>投影片 38</vt:lpstr>
      <vt:lpstr>投影片 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Bit-Parallel Algorithm for the Constrained Longest Common Subsequence Problem</dc:title>
  <dc:creator>user</dc:creator>
  <cp:lastModifiedBy>user</cp:lastModifiedBy>
  <cp:revision>78</cp:revision>
  <dcterms:created xsi:type="dcterms:W3CDTF">2014-10-03T07:38:56Z</dcterms:created>
  <dcterms:modified xsi:type="dcterms:W3CDTF">2014-10-07T09:52:41Z</dcterms:modified>
</cp:coreProperties>
</file>