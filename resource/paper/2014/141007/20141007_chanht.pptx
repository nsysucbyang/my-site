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2" r:id="rId6"/>
    <p:sldId id="260" r:id="rId7"/>
    <p:sldId id="261" r:id="rId8"/>
    <p:sldId id="264" r:id="rId9"/>
    <p:sldId id="265" r:id="rId10"/>
    <p:sldId id="266" r:id="rId11"/>
    <p:sldId id="267" r:id="rId12"/>
    <p:sldId id="268" r:id="rId13"/>
    <p:sldId id="269" r:id="rId14"/>
    <p:sldId id="270" r:id="rId15"/>
    <p:sldId id="271" r:id="rId16"/>
    <p:sldId id="272" r:id="rId17"/>
    <p:sldId id="273" r:id="rId18"/>
    <p:sldId id="274" r:id="rId19"/>
    <p:sldId id="276" r:id="rId20"/>
    <p:sldId id="277" r:id="rId21"/>
    <p:sldId id="278" r:id="rId22"/>
    <p:sldId id="279" r:id="rId23"/>
    <p:sldId id="281" r:id="rId24"/>
    <p:sldId id="280" r:id="rId25"/>
    <p:sldId id="282" r:id="rId26"/>
    <p:sldId id="404" r:id="rId27"/>
    <p:sldId id="405" r:id="rId28"/>
    <p:sldId id="406" r:id="rId29"/>
    <p:sldId id="283" r:id="rId30"/>
    <p:sldId id="275" r:id="rId31"/>
    <p:sldId id="284" r:id="rId32"/>
    <p:sldId id="407" r:id="rId33"/>
    <p:sldId id="285" r:id="rId3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4660"/>
  </p:normalViewPr>
  <p:slideViewPr>
    <p:cSldViewPr snapToGrid="0">
      <p:cViewPr varScale="1">
        <p:scale>
          <a:sx n="74" d="100"/>
          <a:sy n="74" d="100"/>
        </p:scale>
        <p:origin x="318"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29CB9F81-41AF-4DB3-8982-FAFF7BEEC220}" type="datetimeFigureOut">
              <a:rPr lang="zh-TW" altLang="en-US" smtClean="0"/>
              <a:pPr/>
              <a:t>2014/10/7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1983E4B-9237-4868-98CB-9F5C21BDE5B2}" type="slidenum">
              <a:rPr lang="zh-TW" altLang="en-US" smtClean="0"/>
              <a:pPr/>
              <a:t>‹#›</a:t>
            </a:fld>
            <a:endParaRPr lang="zh-TW" altLang="en-US"/>
          </a:p>
        </p:txBody>
      </p:sp>
    </p:spTree>
    <p:extLst>
      <p:ext uri="{BB962C8B-B14F-4D97-AF65-F5344CB8AC3E}">
        <p14:creationId xmlns:p14="http://schemas.microsoft.com/office/powerpoint/2010/main" val="1022504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29CB9F81-41AF-4DB3-8982-FAFF7BEEC220}" type="datetimeFigureOut">
              <a:rPr lang="zh-TW" altLang="en-US" smtClean="0"/>
              <a:pPr/>
              <a:t>2014/10/7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1983E4B-9237-4868-98CB-9F5C21BDE5B2}" type="slidenum">
              <a:rPr lang="zh-TW" altLang="en-US" smtClean="0"/>
              <a:pPr/>
              <a:t>‹#›</a:t>
            </a:fld>
            <a:endParaRPr lang="zh-TW" altLang="en-US"/>
          </a:p>
        </p:txBody>
      </p:sp>
    </p:spTree>
    <p:extLst>
      <p:ext uri="{BB962C8B-B14F-4D97-AF65-F5344CB8AC3E}">
        <p14:creationId xmlns:p14="http://schemas.microsoft.com/office/powerpoint/2010/main" val="3843014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29CB9F81-41AF-4DB3-8982-FAFF7BEEC220}" type="datetimeFigureOut">
              <a:rPr lang="zh-TW" altLang="en-US" smtClean="0"/>
              <a:pPr/>
              <a:t>2014/10/7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1983E4B-9237-4868-98CB-9F5C21BDE5B2}" type="slidenum">
              <a:rPr lang="zh-TW" altLang="en-US" smtClean="0"/>
              <a:pPr/>
              <a:t>‹#›</a:t>
            </a:fld>
            <a:endParaRPr lang="zh-TW" altLang="en-US"/>
          </a:p>
        </p:txBody>
      </p:sp>
    </p:spTree>
    <p:extLst>
      <p:ext uri="{BB962C8B-B14F-4D97-AF65-F5344CB8AC3E}">
        <p14:creationId xmlns:p14="http://schemas.microsoft.com/office/powerpoint/2010/main" val="85225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29CB9F81-41AF-4DB3-8982-FAFF7BEEC220}" type="datetimeFigureOut">
              <a:rPr lang="zh-TW" altLang="en-US" smtClean="0"/>
              <a:pPr/>
              <a:t>2014/10/7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1983E4B-9237-4868-98CB-9F5C21BDE5B2}" type="slidenum">
              <a:rPr lang="zh-TW" altLang="en-US" smtClean="0"/>
              <a:pPr/>
              <a:t>‹#›</a:t>
            </a:fld>
            <a:endParaRPr lang="zh-TW" altLang="en-US"/>
          </a:p>
        </p:txBody>
      </p:sp>
    </p:spTree>
    <p:extLst>
      <p:ext uri="{BB962C8B-B14F-4D97-AF65-F5344CB8AC3E}">
        <p14:creationId xmlns:p14="http://schemas.microsoft.com/office/powerpoint/2010/main" val="3684799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29CB9F81-41AF-4DB3-8982-FAFF7BEEC220}" type="datetimeFigureOut">
              <a:rPr lang="zh-TW" altLang="en-US" smtClean="0"/>
              <a:pPr/>
              <a:t>2014/10/7</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01983E4B-9237-4868-98CB-9F5C21BDE5B2}" type="slidenum">
              <a:rPr lang="zh-TW" altLang="en-US" smtClean="0"/>
              <a:pPr/>
              <a:t>‹#›</a:t>
            </a:fld>
            <a:endParaRPr lang="zh-TW" altLang="en-US"/>
          </a:p>
        </p:txBody>
      </p:sp>
    </p:spTree>
    <p:extLst>
      <p:ext uri="{BB962C8B-B14F-4D97-AF65-F5344CB8AC3E}">
        <p14:creationId xmlns:p14="http://schemas.microsoft.com/office/powerpoint/2010/main" val="1550800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29CB9F81-41AF-4DB3-8982-FAFF7BEEC220}" type="datetimeFigureOut">
              <a:rPr lang="zh-TW" altLang="en-US" smtClean="0"/>
              <a:pPr/>
              <a:t>2014/10/7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01983E4B-9237-4868-98CB-9F5C21BDE5B2}" type="slidenum">
              <a:rPr lang="zh-TW" altLang="en-US" smtClean="0"/>
              <a:pPr/>
              <a:t>‹#›</a:t>
            </a:fld>
            <a:endParaRPr lang="zh-TW" altLang="en-US"/>
          </a:p>
        </p:txBody>
      </p:sp>
    </p:spTree>
    <p:extLst>
      <p:ext uri="{BB962C8B-B14F-4D97-AF65-F5344CB8AC3E}">
        <p14:creationId xmlns:p14="http://schemas.microsoft.com/office/powerpoint/2010/main" val="1726299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CB9F81-41AF-4DB3-8982-FAFF7BEEC220}" type="datetimeFigureOut">
              <a:rPr lang="zh-TW" altLang="en-US" smtClean="0"/>
              <a:pPr/>
              <a:t>2014/10/7</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01983E4B-9237-4868-98CB-9F5C21BDE5B2}" type="slidenum">
              <a:rPr lang="zh-TW" altLang="en-US" smtClean="0"/>
              <a:pPr/>
              <a:t>‹#›</a:t>
            </a:fld>
            <a:endParaRPr lang="zh-TW" altLang="en-US"/>
          </a:p>
        </p:txBody>
      </p:sp>
    </p:spTree>
    <p:extLst>
      <p:ext uri="{BB962C8B-B14F-4D97-AF65-F5344CB8AC3E}">
        <p14:creationId xmlns:p14="http://schemas.microsoft.com/office/powerpoint/2010/main" val="2184983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29CB9F81-41AF-4DB3-8982-FAFF7BEEC220}" type="datetimeFigureOut">
              <a:rPr lang="zh-TW" altLang="en-US" smtClean="0"/>
              <a:pPr/>
              <a:t>2014/10/7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1983E4B-9237-4868-98CB-9F5C21BDE5B2}" type="slidenum">
              <a:rPr lang="zh-TW" altLang="en-US" smtClean="0"/>
              <a:pPr/>
              <a:t>‹#›</a:t>
            </a:fld>
            <a:endParaRPr lang="zh-TW" altLang="en-US"/>
          </a:p>
        </p:txBody>
      </p:sp>
    </p:spTree>
    <p:extLst>
      <p:ext uri="{BB962C8B-B14F-4D97-AF65-F5344CB8AC3E}">
        <p14:creationId xmlns:p14="http://schemas.microsoft.com/office/powerpoint/2010/main" val="371346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29CB9F81-41AF-4DB3-8982-FAFF7BEEC220}" type="datetimeFigureOut">
              <a:rPr lang="zh-TW" altLang="en-US" smtClean="0"/>
              <a:pPr/>
              <a:t>2014/10/7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1983E4B-9237-4868-98CB-9F5C21BDE5B2}" type="slidenum">
              <a:rPr lang="zh-TW" altLang="en-US" smtClean="0"/>
              <a:pPr/>
              <a:t>‹#›</a:t>
            </a:fld>
            <a:endParaRPr lang="zh-TW" altLang="en-US"/>
          </a:p>
        </p:txBody>
      </p:sp>
    </p:spTree>
    <p:extLst>
      <p:ext uri="{BB962C8B-B14F-4D97-AF65-F5344CB8AC3E}">
        <p14:creationId xmlns:p14="http://schemas.microsoft.com/office/powerpoint/2010/main" val="4203852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29CB9F81-41AF-4DB3-8982-FAFF7BEEC220}" type="datetimeFigureOut">
              <a:rPr lang="zh-TW" altLang="en-US" smtClean="0"/>
              <a:pPr/>
              <a:t>2014/10/7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1983E4B-9237-4868-98CB-9F5C21BDE5B2}" type="slidenum">
              <a:rPr lang="zh-TW" altLang="en-US" smtClean="0"/>
              <a:pPr/>
              <a:t>‹#›</a:t>
            </a:fld>
            <a:endParaRPr lang="zh-TW" altLang="en-US"/>
          </a:p>
        </p:txBody>
      </p:sp>
    </p:spTree>
    <p:extLst>
      <p:ext uri="{BB962C8B-B14F-4D97-AF65-F5344CB8AC3E}">
        <p14:creationId xmlns:p14="http://schemas.microsoft.com/office/powerpoint/2010/main" val="2304533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29CB9F81-41AF-4DB3-8982-FAFF7BEEC220}" type="datetimeFigureOut">
              <a:rPr lang="zh-TW" altLang="en-US" smtClean="0"/>
              <a:pPr/>
              <a:t>2014/10/7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1983E4B-9237-4868-98CB-9F5C21BDE5B2}" type="slidenum">
              <a:rPr lang="zh-TW" altLang="en-US" smtClean="0"/>
              <a:pPr/>
              <a:t>‹#›</a:t>
            </a:fld>
            <a:endParaRPr lang="zh-TW" altLang="en-US"/>
          </a:p>
        </p:txBody>
      </p:sp>
    </p:spTree>
    <p:extLst>
      <p:ext uri="{BB962C8B-B14F-4D97-AF65-F5344CB8AC3E}">
        <p14:creationId xmlns:p14="http://schemas.microsoft.com/office/powerpoint/2010/main" val="1730150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CB9F81-41AF-4DB3-8982-FAFF7BEEC220}" type="datetimeFigureOut">
              <a:rPr lang="zh-TW" altLang="en-US" smtClean="0"/>
              <a:pPr/>
              <a:t>2014/10/7</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983E4B-9237-4868-98CB-9F5C21BDE5B2}" type="slidenum">
              <a:rPr lang="zh-TW" altLang="en-US" smtClean="0"/>
              <a:pPr/>
              <a:t>‹#›</a:t>
            </a:fld>
            <a:endParaRPr lang="zh-TW" altLang="en-US"/>
          </a:p>
        </p:txBody>
      </p:sp>
    </p:spTree>
    <p:extLst>
      <p:ext uri="{BB962C8B-B14F-4D97-AF65-F5344CB8AC3E}">
        <p14:creationId xmlns:p14="http://schemas.microsoft.com/office/powerpoint/2010/main" val="26763839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579439" y="1419229"/>
            <a:ext cx="7772400" cy="1470025"/>
          </a:xfrm>
          <a:prstGeom prst="rect">
            <a:avLst/>
          </a:prstGeom>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3600" b="1" dirty="0"/>
              <a:t>Fast and Simple Computation of All Longest Common Subsequences</a:t>
            </a:r>
          </a:p>
        </p:txBody>
      </p:sp>
      <p:sp>
        <p:nvSpPr>
          <p:cNvPr id="5" name="副標題 2"/>
          <p:cNvSpPr txBox="1">
            <a:spLocks/>
          </p:cNvSpPr>
          <p:nvPr/>
        </p:nvSpPr>
        <p:spPr>
          <a:xfrm>
            <a:off x="1397000" y="3076578"/>
            <a:ext cx="6400800" cy="479425"/>
          </a:xfrm>
          <a:prstGeom prst="rect">
            <a:avLst/>
          </a:prstGeom>
        </p:spPr>
        <p:txBody>
          <a:bodyPr>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r>
              <a:rPr lang="en-US" altLang="zh-TW" sz="3100" dirty="0"/>
              <a:t>Ronald I. Greenberg</a:t>
            </a:r>
            <a:endParaRPr lang="zh-TW" altLang="en-US" dirty="0"/>
          </a:p>
        </p:txBody>
      </p:sp>
      <p:graphicFrame>
        <p:nvGraphicFramePr>
          <p:cNvPr id="6" name="表格 5"/>
          <p:cNvGraphicFramePr>
            <a:graphicFrameLocks noGrp="1"/>
          </p:cNvGraphicFramePr>
          <p:nvPr>
            <p:extLst>
              <p:ext uri="{D42A27DB-BD31-4B8C-83A1-F6EECF244321}">
                <p14:modId xmlns:p14="http://schemas.microsoft.com/office/powerpoint/2010/main" val="1627434177"/>
              </p:ext>
            </p:extLst>
          </p:nvPr>
        </p:nvGraphicFramePr>
        <p:xfrm>
          <a:off x="2843215" y="3581401"/>
          <a:ext cx="3816351" cy="1220788"/>
        </p:xfrm>
        <a:graphic>
          <a:graphicData uri="http://schemas.openxmlformats.org/drawingml/2006/table">
            <a:tbl>
              <a:tblPr/>
              <a:tblGrid>
                <a:gridCol w="3816351"/>
              </a:tblGrid>
              <a:tr h="5675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900" kern="1200" dirty="0">
                        <a:solidFill>
                          <a:schemeClr val="tx1"/>
                        </a:solidFill>
                        <a:effectLst/>
                        <a:latin typeface="Verdana" panose="020B0604030504040204" pitchFamily="34" charset="0"/>
                        <a:ea typeface="+mn-ea"/>
                        <a:cs typeface="+mn-cs"/>
                      </a:endParaRPr>
                    </a:p>
                  </a:txBody>
                  <a:tcPr marL="95251" marR="9525" marT="9523" marB="9523">
                    <a:lnL>
                      <a:noFill/>
                    </a:lnL>
                    <a:lnR>
                      <a:noFill/>
                    </a:lnR>
                    <a:lnT>
                      <a:noFill/>
                    </a:lnT>
                    <a:lnB>
                      <a:noFill/>
                    </a:lnB>
                    <a:solidFill>
                      <a:srgbClr val="FFFFFF"/>
                    </a:solidFill>
                  </a:tcPr>
                </a:tc>
              </a:tr>
              <a:tr h="653245">
                <a:tc>
                  <a:txBody>
                    <a:bodyPr/>
                    <a:lstStyle/>
                    <a:p>
                      <a:r>
                        <a:rPr lang="en-US" altLang="zh-TW" sz="1500" kern="1200" dirty="0" smtClean="0">
                          <a:solidFill>
                            <a:schemeClr val="tx1"/>
                          </a:solidFill>
                          <a:effectLst/>
                          <a:latin typeface="Verdana" panose="020B0604030504040204" pitchFamily="34" charset="0"/>
                          <a:ea typeface="+mn-ea"/>
                          <a:cs typeface="+mn-cs"/>
                        </a:rPr>
                        <a:t> March 2011</a:t>
                      </a:r>
                      <a:endParaRPr lang="en-US" sz="1500" kern="1200" dirty="0">
                        <a:solidFill>
                          <a:schemeClr val="tx1"/>
                        </a:solidFill>
                        <a:effectLst/>
                        <a:latin typeface="Verdana" panose="020B0604030504040204" pitchFamily="34" charset="0"/>
                        <a:ea typeface="+mn-ea"/>
                        <a:cs typeface="+mn-cs"/>
                      </a:endParaRPr>
                    </a:p>
                  </a:txBody>
                  <a:tcPr marL="95251" marR="9525" marT="9523" marB="95225">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3132142" y="5229228"/>
            <a:ext cx="3248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dirty="0"/>
              <a:t>Presenter:  Huang-Ting Chan</a:t>
            </a:r>
          </a:p>
          <a:p>
            <a:pPr eaLnBrk="1" hangingPunct="1">
              <a:spcBef>
                <a:spcPct val="0"/>
              </a:spcBef>
              <a:buFontTx/>
              <a:buNone/>
            </a:pPr>
            <a:r>
              <a:rPr lang="en-US" altLang="zh-TW" sz="1800" dirty="0"/>
              <a:t>Date:</a:t>
            </a:r>
            <a:fld id="{F3590F60-3E7B-48AD-979A-345F224951B5}" type="datetime1">
              <a:rPr lang="zh-TW" altLang="en-US" sz="1800"/>
              <a:pPr eaLnBrk="1" hangingPunct="1">
                <a:spcBef>
                  <a:spcPct val="0"/>
                </a:spcBef>
                <a:buFontTx/>
                <a:buNone/>
              </a:pPr>
              <a:t>2014/10/7</a:t>
            </a:fld>
            <a:endParaRPr lang="zh-TW" altLang="en-US" sz="1800" dirty="0"/>
          </a:p>
        </p:txBody>
      </p:sp>
    </p:spTree>
    <p:extLst>
      <p:ext uri="{BB962C8B-B14F-4D97-AF65-F5344CB8AC3E}">
        <p14:creationId xmlns:p14="http://schemas.microsoft.com/office/powerpoint/2010/main" val="29215594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a:bodyPr>
          <a:lstStyle/>
          <a:p>
            <a:pPr marL="0" indent="0">
              <a:buNone/>
            </a:pPr>
            <a:r>
              <a:rPr lang="en-US" altLang="zh-TW" dirty="0"/>
              <a:t>This paper shows that a simple algorithm produces the </a:t>
            </a:r>
            <a:r>
              <a:rPr lang="en-US" altLang="zh-TW" dirty="0" smtClean="0"/>
              <a:t>all-prefixes-LCSs-graph in </a:t>
            </a:r>
            <a:r>
              <a:rPr lang="en-US" altLang="zh-TW" dirty="0"/>
              <a:t>O(</a:t>
            </a:r>
            <a:r>
              <a:rPr lang="en-US" altLang="zh-TW" dirty="0" err="1"/>
              <a:t>mn</a:t>
            </a:r>
            <a:r>
              <a:rPr lang="en-US" altLang="zh-TW" dirty="0"/>
              <a:t>) time for two input sequences of size m and n. </a:t>
            </a:r>
            <a:endParaRPr lang="en-US" altLang="zh-TW" dirty="0" smtClean="0"/>
          </a:p>
          <a:p>
            <a:pPr marL="0" indent="0">
              <a:buNone/>
            </a:pPr>
            <a:r>
              <a:rPr lang="en-US" altLang="zh-TW" dirty="0" smtClean="0"/>
              <a:t>Given </a:t>
            </a:r>
            <a:r>
              <a:rPr lang="en-US" altLang="zh-TW" dirty="0"/>
              <a:t>any prefix p of the first input sequence and any prefix q of the second input sequence, all longest common subsequences (LCSs) of p and q can be generated in time proportional to the output size, once the all-prefixes-LCSs-graph has been constructed. </a:t>
            </a:r>
            <a:endParaRPr lang="en-US" altLang="zh-TW" dirty="0" smtClean="0"/>
          </a:p>
        </p:txBody>
      </p:sp>
    </p:spTree>
    <p:extLst>
      <p:ext uri="{BB962C8B-B14F-4D97-AF65-F5344CB8AC3E}">
        <p14:creationId xmlns:p14="http://schemas.microsoft.com/office/powerpoint/2010/main" val="7504868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marL="0" indent="0">
              <a:buNone/>
            </a:pPr>
            <a:r>
              <a:rPr lang="en-US" altLang="zh-TW" dirty="0"/>
              <a:t>The problem can be solved in the context of generating all the distinct character strings that represent an LCS or in the context of generating all ways of embedding an LCS in the two input strings.</a:t>
            </a:r>
            <a:endParaRPr lang="zh-TW" altLang="en-US" dirty="0"/>
          </a:p>
          <a:p>
            <a:pPr marL="0" indent="0">
              <a:buNone/>
            </a:pPr>
            <a:endParaRPr lang="zh-TW" altLang="en-US" dirty="0"/>
          </a:p>
        </p:txBody>
      </p:sp>
    </p:spTree>
    <p:extLst>
      <p:ext uri="{BB962C8B-B14F-4D97-AF65-F5344CB8AC3E}">
        <p14:creationId xmlns:p14="http://schemas.microsoft.com/office/powerpoint/2010/main" val="4897557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a:t>
            </a:r>
            <a:endParaRPr lang="zh-TW" altLang="en-US" dirty="0"/>
          </a:p>
        </p:txBody>
      </p:sp>
      <p:sp>
        <p:nvSpPr>
          <p:cNvPr id="3" name="內容版面配置區 2"/>
          <p:cNvSpPr>
            <a:spLocks noGrp="1"/>
          </p:cNvSpPr>
          <p:nvPr>
            <p:ph idx="1"/>
          </p:nvPr>
        </p:nvSpPr>
        <p:spPr/>
        <p:txBody>
          <a:bodyPr/>
          <a:lstStyle/>
          <a:p>
            <a:pPr marL="0" indent="0">
              <a:buNone/>
            </a:pPr>
            <a:r>
              <a:rPr lang="en-US" altLang="zh-TW" dirty="0" smtClean="0"/>
              <a:t>Canonical embedding:</a:t>
            </a:r>
          </a:p>
          <a:p>
            <a:pPr marL="0" indent="0">
              <a:buNone/>
            </a:pPr>
            <a:r>
              <a:rPr lang="en-US" altLang="zh-TW" dirty="0" smtClean="0"/>
              <a:t>Starting from the beginning of the </a:t>
            </a:r>
            <a:r>
              <a:rPr lang="en-US" altLang="zh-TW" dirty="0" err="1" smtClean="0"/>
              <a:t>LCS,is</a:t>
            </a:r>
            <a:r>
              <a:rPr lang="en-US" altLang="zh-TW" dirty="0" smtClean="0"/>
              <a:t> assigned matching positions in both sequences as small as possible.</a:t>
            </a:r>
          </a:p>
          <a:p>
            <a:pPr marL="0" indent="0">
              <a:buNone/>
            </a:pPr>
            <a:r>
              <a:rPr lang="en-US" altLang="zh-TW" dirty="0" smtClean="0"/>
              <a:t>Anticanonical embedding:</a:t>
            </a:r>
          </a:p>
          <a:p>
            <a:pPr marL="0" indent="0">
              <a:buNone/>
            </a:pPr>
            <a:r>
              <a:rPr lang="en-US" altLang="zh-TW" dirty="0" smtClean="0"/>
              <a:t>The matching positions are chosen as large as possible</a:t>
            </a:r>
            <a:endParaRPr lang="zh-TW" altLang="en-US" dirty="0"/>
          </a:p>
        </p:txBody>
      </p:sp>
    </p:spTree>
    <p:extLst>
      <p:ext uri="{BB962C8B-B14F-4D97-AF65-F5344CB8AC3E}">
        <p14:creationId xmlns:p14="http://schemas.microsoft.com/office/powerpoint/2010/main" val="35424997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Dominant match:</a:t>
                </a:r>
              </a:p>
              <a:p>
                <a:pPr marL="0" indent="0">
                  <a:buNone/>
                </a:pPr>
                <a:r>
                  <a:rPr lang="en-US" altLang="zh-TW" dirty="0"/>
                  <a:t>Those matches </a:t>
                </a:r>
                <a14:m>
                  <m:oMath xmlns:m="http://schemas.openxmlformats.org/officeDocument/2006/math">
                    <m:r>
                      <a:rPr lang="en-US" altLang="zh-TW" i="1">
                        <a:latin typeface="Cambria Math" panose="02040503050406030204" pitchFamily="18" charset="0"/>
                      </a:rPr>
                      <m:t>[</m:t>
                    </m:r>
                    <m:r>
                      <a:rPr lang="en-US" altLang="zh-TW" i="1">
                        <a:latin typeface="Cambria Math" panose="02040503050406030204" pitchFamily="18" charset="0"/>
                      </a:rPr>
                      <m:t>𝑖</m:t>
                    </m:r>
                    <m:r>
                      <a:rPr lang="en-US" altLang="zh-TW" i="1">
                        <a:latin typeface="Cambria Math" panose="02040503050406030204" pitchFamily="18" charset="0"/>
                      </a:rPr>
                      <m:t>,</m:t>
                    </m:r>
                    <m:r>
                      <a:rPr lang="en-US" altLang="zh-TW" i="1">
                        <a:latin typeface="Cambria Math" panose="02040503050406030204" pitchFamily="18" charset="0"/>
                      </a:rPr>
                      <m:t>𝑗</m:t>
                    </m:r>
                    <m:r>
                      <a:rPr lang="en-US" altLang="zh-TW" i="1">
                        <a:latin typeface="Cambria Math" panose="02040503050406030204" pitchFamily="18" charset="0"/>
                      </a:rPr>
                      <m:t>]</m:t>
                    </m:r>
                  </m:oMath>
                </a14:m>
                <a:r>
                  <a:rPr lang="en-US" altLang="zh-TW" dirty="0"/>
                  <a:t> for which there is no other match </a:t>
                </a:r>
                <a14:m>
                  <m:oMath xmlns:m="http://schemas.openxmlformats.org/officeDocument/2006/math">
                    <m:r>
                      <a:rPr lang="en-US" altLang="zh-TW" i="1">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𝑖</m:t>
                        </m:r>
                      </m:e>
                      <m:sup>
                        <m:r>
                          <a:rPr lang="en-US" altLang="zh-TW" i="1">
                            <a:latin typeface="Cambria Math" panose="02040503050406030204" pitchFamily="18" charset="0"/>
                          </a:rPr>
                          <m:t>′</m:t>
                        </m:r>
                      </m:sup>
                    </m:sSup>
                    <m:r>
                      <a:rPr lang="en-US" altLang="zh-TW" i="1">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𝑗</m:t>
                        </m:r>
                      </m:e>
                      <m:sup>
                        <m:r>
                          <a:rPr lang="en-US" altLang="zh-TW" i="1">
                            <a:latin typeface="Cambria Math" panose="02040503050406030204" pitchFamily="18" charset="0"/>
                          </a:rPr>
                          <m:t>′</m:t>
                        </m:r>
                      </m:sup>
                    </m:sSup>
                    <m:r>
                      <a:rPr lang="en-US" altLang="zh-TW" i="1">
                        <a:latin typeface="Cambria Math" panose="02040503050406030204" pitchFamily="18" charset="0"/>
                      </a:rPr>
                      <m:t>]</m:t>
                    </m:r>
                  </m:oMath>
                </a14:m>
                <a:r>
                  <a:rPr lang="en-US" altLang="zh-TW" dirty="0"/>
                  <a:t> on the same contour with</a:t>
                </a:r>
                <a14:m>
                  <m:oMath xmlns:m="http://schemas.openxmlformats.org/officeDocument/2006/math">
                    <m:sSup>
                      <m:sSupPr>
                        <m:ctrlPr>
                          <a:rPr lang="en-US" altLang="zh-TW" i="1">
                            <a:latin typeface="Cambria Math" panose="02040503050406030204" pitchFamily="18" charset="0"/>
                          </a:rPr>
                        </m:ctrlPr>
                      </m:sSupPr>
                      <m:e>
                        <m:r>
                          <a:rPr lang="en-US" altLang="zh-TW" i="1">
                            <a:latin typeface="Cambria Math" panose="02040503050406030204" pitchFamily="18" charset="0"/>
                          </a:rPr>
                          <m:t> </m:t>
                        </m:r>
                        <m:r>
                          <a:rPr lang="en-US" altLang="zh-TW" i="1">
                            <a:latin typeface="Cambria Math" panose="02040503050406030204" pitchFamily="18" charset="0"/>
                          </a:rPr>
                          <m:t>𝑖</m:t>
                        </m:r>
                      </m:e>
                      <m:sup>
                        <m:r>
                          <a:rPr lang="en-US" altLang="zh-TW" i="1">
                            <a:latin typeface="Cambria Math" panose="02040503050406030204" pitchFamily="18" charset="0"/>
                          </a:rPr>
                          <m:t>′</m:t>
                        </m:r>
                      </m:sup>
                    </m:sSup>
                    <m:r>
                      <a:rPr lang="en-US" altLang="zh-TW" i="1">
                        <a:latin typeface="Cambria Math" panose="02040503050406030204" pitchFamily="18" charset="0"/>
                      </a:rPr>
                      <m:t>=</m:t>
                    </m:r>
                    <m:r>
                      <a:rPr lang="en-US" altLang="zh-TW" i="1">
                        <a:latin typeface="Cambria Math" panose="02040503050406030204" pitchFamily="18" charset="0"/>
                      </a:rPr>
                      <m:t>𝑖</m:t>
                    </m:r>
                    <m:r>
                      <a:rPr lang="en-US" altLang="zh-TW" i="1">
                        <a:latin typeface="Cambria Math" panose="02040503050406030204" pitchFamily="18" charset="0"/>
                      </a:rPr>
                      <m:t> </m:t>
                    </m:r>
                    <m:sSup>
                      <m:sSupPr>
                        <m:ctrlPr>
                          <a:rPr lang="en-US" altLang="zh-TW" i="1">
                            <a:latin typeface="Cambria Math" panose="02040503050406030204" pitchFamily="18" charset="0"/>
                          </a:rPr>
                        </m:ctrlPr>
                      </m:sSupPr>
                      <m:e>
                        <m:r>
                          <a:rPr lang="en-US" altLang="zh-TW" b="0" i="1" smtClean="0">
                            <a:latin typeface="Cambria Math" panose="02040503050406030204" pitchFamily="18" charset="0"/>
                          </a:rPr>
                          <m:t>&amp;</m:t>
                        </m:r>
                        <m:r>
                          <a:rPr lang="en-US" altLang="zh-TW" i="1">
                            <a:latin typeface="Cambria Math" panose="02040503050406030204" pitchFamily="18" charset="0"/>
                          </a:rPr>
                          <m:t> </m:t>
                        </m:r>
                        <m:r>
                          <a:rPr lang="en-US" altLang="zh-TW" i="1">
                            <a:latin typeface="Cambria Math" panose="02040503050406030204" pitchFamily="18" charset="0"/>
                          </a:rPr>
                          <m:t>𝑗</m:t>
                        </m:r>
                      </m:e>
                      <m:sup>
                        <m:r>
                          <a:rPr lang="en-US" altLang="zh-TW" i="1">
                            <a:latin typeface="Cambria Math" panose="02040503050406030204" pitchFamily="18" charset="0"/>
                          </a:rPr>
                          <m:t>′</m:t>
                        </m:r>
                      </m:sup>
                    </m:sSup>
                    <m:r>
                      <a:rPr lang="en-US" altLang="zh-TW" b="0" i="1" smtClean="0">
                        <a:latin typeface="Cambria Math" panose="02040503050406030204" pitchFamily="18" charset="0"/>
                      </a:rPr>
                      <m:t>&lt;</m:t>
                    </m:r>
                    <m:r>
                      <m:rPr>
                        <m:sty m:val="p"/>
                      </m:rPr>
                      <a:rPr lang="en-US" altLang="zh-TW">
                        <a:latin typeface="Cambria Math" panose="02040503050406030204" pitchFamily="18" charset="0"/>
                      </a:rPr>
                      <m:t>j</m:t>
                    </m:r>
                  </m:oMath>
                </a14:m>
                <a:r>
                  <a:rPr lang="en-US" altLang="zh-TW" dirty="0"/>
                  <a:t> or </a:t>
                </a:r>
                <a14:m>
                  <m:oMath xmlns:m="http://schemas.openxmlformats.org/officeDocument/2006/math">
                    <m:sSup>
                      <m:sSupPr>
                        <m:ctrlPr>
                          <a:rPr lang="en-US" altLang="zh-TW" i="1">
                            <a:latin typeface="Cambria Math" panose="02040503050406030204" pitchFamily="18" charset="0"/>
                          </a:rPr>
                        </m:ctrlPr>
                      </m:sSupPr>
                      <m:e>
                        <m:r>
                          <a:rPr lang="en-US" altLang="zh-TW" i="1">
                            <a:latin typeface="Cambria Math" panose="02040503050406030204" pitchFamily="18" charset="0"/>
                          </a:rPr>
                          <m:t> </m:t>
                        </m:r>
                        <m:r>
                          <a:rPr lang="en-US" altLang="zh-TW" i="1">
                            <a:latin typeface="Cambria Math" panose="02040503050406030204" pitchFamily="18" charset="0"/>
                          </a:rPr>
                          <m:t>𝑗</m:t>
                        </m:r>
                      </m:e>
                      <m:sup>
                        <m:r>
                          <a:rPr lang="en-US" altLang="zh-TW" i="1">
                            <a:latin typeface="Cambria Math" panose="02040503050406030204" pitchFamily="18" charset="0"/>
                          </a:rPr>
                          <m:t>′</m:t>
                        </m:r>
                      </m:sup>
                    </m:sSup>
                    <m:r>
                      <a:rPr lang="en-US" altLang="zh-TW" i="1">
                        <a:latin typeface="Cambria Math" panose="02040503050406030204" pitchFamily="18" charset="0"/>
                      </a:rPr>
                      <m:t>=</m:t>
                    </m:r>
                    <m:r>
                      <a:rPr lang="en-US" altLang="zh-TW" i="1">
                        <a:latin typeface="Cambria Math" panose="02040503050406030204" pitchFamily="18" charset="0"/>
                      </a:rPr>
                      <m:t>𝑗</m:t>
                    </m:r>
                    <m:r>
                      <a:rPr lang="en-US" altLang="zh-TW" i="1" dirty="0">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 </m:t>
                        </m:r>
                        <m:r>
                          <a:rPr lang="en-US" altLang="zh-TW" i="1">
                            <a:latin typeface="Cambria Math" panose="02040503050406030204" pitchFamily="18" charset="0"/>
                          </a:rPr>
                          <m:t>𝑖</m:t>
                        </m:r>
                      </m:e>
                      <m:sup>
                        <m:r>
                          <a:rPr lang="en-US" altLang="zh-TW" i="1">
                            <a:latin typeface="Cambria Math" panose="02040503050406030204" pitchFamily="18" charset="0"/>
                          </a:rPr>
                          <m:t>′</m:t>
                        </m:r>
                      </m:sup>
                    </m:sSup>
                    <m:r>
                      <a:rPr lang="en-US" altLang="zh-TW" b="0" i="1" smtClean="0">
                        <a:latin typeface="Cambria Math" panose="02040503050406030204" pitchFamily="18" charset="0"/>
                      </a:rPr>
                      <m:t>&lt;</m:t>
                    </m:r>
                    <m:r>
                      <a:rPr lang="en-US" altLang="zh-TW" i="1">
                        <a:latin typeface="Cambria Math" panose="02040503050406030204" pitchFamily="18" charset="0"/>
                      </a:rPr>
                      <m:t>𝑖</m:t>
                    </m:r>
                  </m:oMath>
                </a14:m>
                <a:endParaRPr lang="en-US" altLang="zh-TW" dirty="0" smtClean="0"/>
              </a:p>
              <a:p>
                <a:pPr marL="0" indent="0">
                  <a:buNone/>
                </a:pPr>
                <a:r>
                  <a:rPr lang="en-US" altLang="zh-TW" dirty="0" err="1" smtClean="0"/>
                  <a:t>Antidominant</a:t>
                </a:r>
                <a:r>
                  <a:rPr lang="en-US" altLang="zh-TW" dirty="0" smtClean="0"/>
                  <a:t> match:</a:t>
                </a:r>
              </a:p>
              <a:p>
                <a:pPr marL="0" indent="0">
                  <a:buNone/>
                </a:pPr>
                <a:r>
                  <a:rPr lang="en-US" altLang="zh-TW" dirty="0"/>
                  <a:t>Those matches </a:t>
                </a:r>
                <a14:m>
                  <m:oMath xmlns:m="http://schemas.openxmlformats.org/officeDocument/2006/math">
                    <m:r>
                      <a:rPr lang="en-US" altLang="zh-TW" i="1">
                        <a:latin typeface="Cambria Math" panose="02040503050406030204" pitchFamily="18" charset="0"/>
                      </a:rPr>
                      <m:t>[</m:t>
                    </m:r>
                    <m:r>
                      <a:rPr lang="en-US" altLang="zh-TW" i="1">
                        <a:latin typeface="Cambria Math" panose="02040503050406030204" pitchFamily="18" charset="0"/>
                      </a:rPr>
                      <m:t>𝑖</m:t>
                    </m:r>
                    <m:r>
                      <a:rPr lang="en-US" altLang="zh-TW" i="1">
                        <a:latin typeface="Cambria Math" panose="02040503050406030204" pitchFamily="18" charset="0"/>
                      </a:rPr>
                      <m:t>,</m:t>
                    </m:r>
                    <m:r>
                      <a:rPr lang="en-US" altLang="zh-TW" i="1">
                        <a:latin typeface="Cambria Math" panose="02040503050406030204" pitchFamily="18" charset="0"/>
                      </a:rPr>
                      <m:t>𝑗</m:t>
                    </m:r>
                    <m:r>
                      <a:rPr lang="en-US" altLang="zh-TW" i="1">
                        <a:latin typeface="Cambria Math" panose="02040503050406030204" pitchFamily="18" charset="0"/>
                      </a:rPr>
                      <m:t>]</m:t>
                    </m:r>
                  </m:oMath>
                </a14:m>
                <a:r>
                  <a:rPr lang="en-US" altLang="zh-TW" dirty="0"/>
                  <a:t> for which there is no other match </a:t>
                </a:r>
                <a14:m>
                  <m:oMath xmlns:m="http://schemas.openxmlformats.org/officeDocument/2006/math">
                    <m:r>
                      <a:rPr lang="en-US" altLang="zh-TW" i="1">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𝑖</m:t>
                        </m:r>
                      </m:e>
                      <m:sup>
                        <m:r>
                          <a:rPr lang="en-US" altLang="zh-TW" i="1">
                            <a:latin typeface="Cambria Math" panose="02040503050406030204" pitchFamily="18" charset="0"/>
                          </a:rPr>
                          <m:t>′</m:t>
                        </m:r>
                      </m:sup>
                    </m:sSup>
                    <m:r>
                      <a:rPr lang="en-US" altLang="zh-TW" i="1">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𝑗</m:t>
                        </m:r>
                      </m:e>
                      <m:sup>
                        <m:r>
                          <a:rPr lang="en-US" altLang="zh-TW" i="1">
                            <a:latin typeface="Cambria Math" panose="02040503050406030204" pitchFamily="18" charset="0"/>
                          </a:rPr>
                          <m:t>′</m:t>
                        </m:r>
                      </m:sup>
                    </m:sSup>
                    <m:r>
                      <a:rPr lang="en-US" altLang="zh-TW" i="1">
                        <a:latin typeface="Cambria Math" panose="02040503050406030204" pitchFamily="18" charset="0"/>
                      </a:rPr>
                      <m:t>]</m:t>
                    </m:r>
                  </m:oMath>
                </a14:m>
                <a:r>
                  <a:rPr lang="en-US" altLang="zh-TW" dirty="0"/>
                  <a:t> on the same contour with</a:t>
                </a:r>
                <a14:m>
                  <m:oMath xmlns:m="http://schemas.openxmlformats.org/officeDocument/2006/math">
                    <m:sSup>
                      <m:sSupPr>
                        <m:ctrlPr>
                          <a:rPr lang="en-US" altLang="zh-TW" i="1">
                            <a:latin typeface="Cambria Math" panose="02040503050406030204" pitchFamily="18" charset="0"/>
                          </a:rPr>
                        </m:ctrlPr>
                      </m:sSupPr>
                      <m:e>
                        <m:r>
                          <a:rPr lang="en-US" altLang="zh-TW" i="1">
                            <a:latin typeface="Cambria Math" panose="02040503050406030204" pitchFamily="18" charset="0"/>
                          </a:rPr>
                          <m:t> </m:t>
                        </m:r>
                        <m:r>
                          <a:rPr lang="en-US" altLang="zh-TW" i="1">
                            <a:latin typeface="Cambria Math" panose="02040503050406030204" pitchFamily="18" charset="0"/>
                          </a:rPr>
                          <m:t>𝑖</m:t>
                        </m:r>
                      </m:e>
                      <m:sup>
                        <m:r>
                          <a:rPr lang="en-US" altLang="zh-TW" i="1">
                            <a:latin typeface="Cambria Math" panose="02040503050406030204" pitchFamily="18" charset="0"/>
                          </a:rPr>
                          <m:t>′</m:t>
                        </m:r>
                      </m:sup>
                    </m:sSup>
                    <m:r>
                      <a:rPr lang="en-US" altLang="zh-TW" i="1">
                        <a:latin typeface="Cambria Math" panose="02040503050406030204" pitchFamily="18" charset="0"/>
                      </a:rPr>
                      <m:t>=</m:t>
                    </m:r>
                    <m:r>
                      <a:rPr lang="en-US" altLang="zh-TW" i="1">
                        <a:latin typeface="Cambria Math" panose="02040503050406030204" pitchFamily="18" charset="0"/>
                      </a:rPr>
                      <m:t>𝑖</m:t>
                    </m:r>
                    <m:r>
                      <a:rPr lang="en-US" altLang="zh-TW" i="1">
                        <a:latin typeface="Cambria Math" panose="02040503050406030204" pitchFamily="18" charset="0"/>
                      </a:rPr>
                      <m:t> &amp;</m:t>
                    </m:r>
                    <m:sSup>
                      <m:sSupPr>
                        <m:ctrlPr>
                          <a:rPr lang="en-US" altLang="zh-TW" i="1">
                            <a:latin typeface="Cambria Math" panose="02040503050406030204" pitchFamily="18" charset="0"/>
                          </a:rPr>
                        </m:ctrlPr>
                      </m:sSupPr>
                      <m:e>
                        <m:r>
                          <a:rPr lang="en-US" altLang="zh-TW" i="1">
                            <a:latin typeface="Cambria Math" panose="02040503050406030204" pitchFamily="18" charset="0"/>
                          </a:rPr>
                          <m:t> </m:t>
                        </m:r>
                        <m:r>
                          <a:rPr lang="en-US" altLang="zh-TW" i="1">
                            <a:latin typeface="Cambria Math" panose="02040503050406030204" pitchFamily="18" charset="0"/>
                          </a:rPr>
                          <m:t>𝑗</m:t>
                        </m:r>
                      </m:e>
                      <m:sup>
                        <m:r>
                          <a:rPr lang="en-US" altLang="zh-TW" i="1">
                            <a:latin typeface="Cambria Math" panose="02040503050406030204" pitchFamily="18" charset="0"/>
                          </a:rPr>
                          <m:t>′</m:t>
                        </m:r>
                      </m:sup>
                    </m:sSup>
                    <m:r>
                      <a:rPr lang="en-US" altLang="zh-TW" i="1">
                        <a:latin typeface="Cambria Math" panose="02040503050406030204" pitchFamily="18" charset="0"/>
                      </a:rPr>
                      <m:t>&gt;</m:t>
                    </m:r>
                    <m:r>
                      <m:rPr>
                        <m:sty m:val="p"/>
                      </m:rPr>
                      <a:rPr lang="en-US" altLang="zh-TW">
                        <a:latin typeface="Cambria Math" panose="02040503050406030204" pitchFamily="18" charset="0"/>
                      </a:rPr>
                      <m:t>j</m:t>
                    </m:r>
                  </m:oMath>
                </a14:m>
                <a:r>
                  <a:rPr lang="en-US" altLang="zh-TW" dirty="0"/>
                  <a:t> or </a:t>
                </a:r>
                <a14:m>
                  <m:oMath xmlns:m="http://schemas.openxmlformats.org/officeDocument/2006/math">
                    <m:sSup>
                      <m:sSupPr>
                        <m:ctrlPr>
                          <a:rPr lang="en-US" altLang="zh-TW" i="1">
                            <a:latin typeface="Cambria Math" panose="02040503050406030204" pitchFamily="18" charset="0"/>
                          </a:rPr>
                        </m:ctrlPr>
                      </m:sSupPr>
                      <m:e>
                        <m:r>
                          <a:rPr lang="en-US" altLang="zh-TW" i="1">
                            <a:latin typeface="Cambria Math" panose="02040503050406030204" pitchFamily="18" charset="0"/>
                          </a:rPr>
                          <m:t> </m:t>
                        </m:r>
                        <m:r>
                          <a:rPr lang="en-US" altLang="zh-TW" i="1">
                            <a:latin typeface="Cambria Math" panose="02040503050406030204" pitchFamily="18" charset="0"/>
                          </a:rPr>
                          <m:t>𝑗</m:t>
                        </m:r>
                      </m:e>
                      <m:sup>
                        <m:r>
                          <a:rPr lang="en-US" altLang="zh-TW" i="1">
                            <a:latin typeface="Cambria Math" panose="02040503050406030204" pitchFamily="18" charset="0"/>
                          </a:rPr>
                          <m:t>′</m:t>
                        </m:r>
                      </m:sup>
                    </m:sSup>
                    <m:r>
                      <a:rPr lang="en-US" altLang="zh-TW" i="1">
                        <a:latin typeface="Cambria Math" panose="02040503050406030204" pitchFamily="18" charset="0"/>
                      </a:rPr>
                      <m:t>=</m:t>
                    </m:r>
                    <m:r>
                      <a:rPr lang="en-US" altLang="zh-TW" i="1">
                        <a:latin typeface="Cambria Math" panose="02040503050406030204" pitchFamily="18" charset="0"/>
                      </a:rPr>
                      <m:t>𝑗</m:t>
                    </m:r>
                    <m:r>
                      <a:rPr lang="en-US" altLang="zh-TW" i="1" dirty="0">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 </m:t>
                        </m:r>
                        <m:r>
                          <a:rPr lang="en-US" altLang="zh-TW" i="1">
                            <a:latin typeface="Cambria Math" panose="02040503050406030204" pitchFamily="18" charset="0"/>
                          </a:rPr>
                          <m:t>𝑖</m:t>
                        </m:r>
                      </m:e>
                      <m:sup>
                        <m:r>
                          <a:rPr lang="en-US" altLang="zh-TW" i="1">
                            <a:latin typeface="Cambria Math" panose="02040503050406030204" pitchFamily="18" charset="0"/>
                          </a:rPr>
                          <m:t>′</m:t>
                        </m:r>
                      </m:sup>
                    </m:sSup>
                    <m:r>
                      <a:rPr lang="en-US" altLang="zh-TW" i="1">
                        <a:latin typeface="Cambria Math" panose="02040503050406030204" pitchFamily="18" charset="0"/>
                      </a:rPr>
                      <m:t>&gt;</m:t>
                    </m:r>
                    <m:r>
                      <a:rPr lang="en-US" altLang="zh-TW" i="1">
                        <a:latin typeface="Cambria Math" panose="02040503050406030204" pitchFamily="18" charset="0"/>
                      </a:rPr>
                      <m:t>𝑖</m:t>
                    </m:r>
                  </m:oMath>
                </a14:m>
                <a:endParaRPr lang="en-US" altLang="zh-TW" dirty="0"/>
              </a:p>
              <a:p>
                <a:pPr marL="0" indent="0">
                  <a:buNone/>
                </a:pPr>
                <a:endParaRPr lang="en-US" altLang="zh-TW" dirty="0" smtClean="0"/>
              </a:p>
              <a:p>
                <a:pPr marL="0" indent="0">
                  <a:buNone/>
                </a:pPr>
                <a:endParaRPr lang="en-US" altLang="zh-TW" dirty="0"/>
              </a:p>
              <a:p>
                <a:pPr marL="0" indent="0">
                  <a:buNone/>
                </a:pPr>
                <a:endParaRPr lang="en-US" altLang="zh-TW" dirty="0"/>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cstate="print"/>
                <a:stretch>
                  <a:fillRect l="-1546"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358079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𝑖</m:t>
                        </m:r>
                      </m:sub>
                    </m:sSub>
                  </m:oMath>
                </a14:m>
                <a:r>
                  <a:rPr lang="zh-TW" altLang="en-US" dirty="0" smtClean="0"/>
                  <a:t> </a:t>
                </a:r>
                <a:r>
                  <a:rPr lang="en-US" altLang="zh-TW" dirty="0" smtClean="0"/>
                  <a:t>to represent the prefix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1</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𝑎</m:t>
                        </m:r>
                      </m:e>
                      <m:sub>
                        <m:r>
                          <a:rPr lang="en-US" altLang="zh-TW" b="0" i="1" smtClean="0">
                            <a:latin typeface="Cambria Math" panose="02040503050406030204" pitchFamily="18" charset="0"/>
                          </a:rPr>
                          <m:t>2</m:t>
                        </m:r>
                      </m:sub>
                    </m:sSub>
                    <m:sSub>
                      <m:sSubPr>
                        <m:ctrlPr>
                          <a:rPr lang="en-US" altLang="zh-TW" i="1">
                            <a:latin typeface="Cambria Math" panose="02040503050406030204" pitchFamily="18" charset="0"/>
                          </a:rPr>
                        </m:ctrlPr>
                      </m:sSubPr>
                      <m:e>
                        <m:r>
                          <a:rPr lang="en-US" altLang="zh-TW" i="1">
                            <a:latin typeface="Cambria Math" panose="02040503050406030204" pitchFamily="18" charset="0"/>
                          </a:rPr>
                          <m:t>𝑎</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𝑎</m:t>
                        </m:r>
                      </m:e>
                      <m:sub>
                        <m:r>
                          <a:rPr lang="en-US" altLang="zh-TW" b="0" i="1" smtClean="0">
                            <a:latin typeface="Cambria Math" panose="02040503050406030204" pitchFamily="18" charset="0"/>
                          </a:rPr>
                          <m:t>𝑖</m:t>
                        </m:r>
                      </m:sub>
                    </m:sSub>
                  </m:oMath>
                </a14:m>
                <a:r>
                  <a:rPr lang="zh-TW" altLang="en-US" dirty="0" smtClean="0"/>
                  <a:t> </a:t>
                </a:r>
                <a:r>
                  <a:rPr lang="en-US" altLang="zh-TW" dirty="0" smtClean="0"/>
                  <a:t>of A</a:t>
                </a:r>
              </a:p>
              <a:p>
                <a:pPr marL="0" indent="0">
                  <a:buNone/>
                </a:pPr>
                <a:endParaRPr lang="en-US" altLang="zh-TW" dirty="0"/>
              </a:p>
              <a:p>
                <a:pPr marL="0" indent="0">
                  <a:buNone/>
                </a:pPr>
                <a:r>
                  <a:rPr lang="en-US" altLang="zh-TW" dirty="0" smtClean="0"/>
                  <a:t>When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𝑎</m:t>
                        </m:r>
                      </m:e>
                      <m:sub>
                        <m:r>
                          <a:rPr lang="en-US" altLang="zh-TW" i="1">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𝑗</m:t>
                        </m:r>
                      </m:sub>
                    </m:sSub>
                    <m:r>
                      <a:rPr lang="en-US" altLang="zh-TW" b="0" i="0" smtClean="0">
                        <a:latin typeface="Cambria Math" panose="02040503050406030204" pitchFamily="18" charset="0"/>
                      </a:rPr>
                      <m:t>⇒</m:t>
                    </m:r>
                  </m:oMath>
                </a14:m>
                <a:r>
                  <a:rPr lang="zh-TW" altLang="en-US" dirty="0" smtClean="0"/>
                  <a:t> </a:t>
                </a:r>
                <a:r>
                  <a:rPr lang="en-US" altLang="zh-TW" dirty="0" smtClean="0"/>
                  <a:t>match</a:t>
                </a:r>
              </a:p>
              <a:p>
                <a:pPr marL="0" indent="0">
                  <a:buNone/>
                </a:pPr>
                <a:r>
                  <a:rPr lang="en-US" altLang="zh-TW" dirty="0" smtClean="0"/>
                  <a:t>When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𝑎</m:t>
                        </m:r>
                      </m:e>
                      <m:sub>
                        <m:r>
                          <a:rPr lang="en-US" altLang="zh-TW" i="1">
                            <a:latin typeface="Cambria Math" panose="02040503050406030204" pitchFamily="18" charset="0"/>
                          </a:rPr>
                          <m:t>𝑖</m:t>
                        </m:r>
                      </m:sub>
                    </m:sSub>
                    <m:r>
                      <a:rPr lang="en-US" altLang="zh-TW" i="1" smtClean="0">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𝑏</m:t>
                        </m:r>
                      </m:e>
                      <m:sub>
                        <m:r>
                          <a:rPr lang="en-US" altLang="zh-TW" i="1">
                            <a:latin typeface="Cambria Math" panose="02040503050406030204" pitchFamily="18" charset="0"/>
                          </a:rPr>
                          <m:t>𝑗</m:t>
                        </m:r>
                      </m:sub>
                    </m:sSub>
                    <m:r>
                      <a:rPr lang="en-US" altLang="zh-TW">
                        <a:latin typeface="Cambria Math" panose="02040503050406030204" pitchFamily="18" charset="0"/>
                      </a:rPr>
                      <m:t>⇒</m:t>
                    </m:r>
                  </m:oMath>
                </a14:m>
                <a:r>
                  <a:rPr lang="zh-TW" altLang="en-US" dirty="0"/>
                  <a:t> </a:t>
                </a:r>
                <a:r>
                  <a:rPr lang="en-US" altLang="zh-TW" dirty="0" smtClean="0"/>
                  <a:t>clash</a:t>
                </a:r>
              </a:p>
              <a:p>
                <a:pPr marL="0" indent="0">
                  <a:buNone/>
                </a:pPr>
                <a:endParaRPr lang="en-US" altLang="zh-TW" dirty="0"/>
              </a:p>
              <a:p>
                <a:pPr marL="0" indent="0">
                  <a:buNone/>
                </a:pPr>
                <a:endParaRPr lang="en-US" altLang="zh-TW" dirty="0" smtClean="0"/>
              </a:p>
              <a:p>
                <a:pPr marL="0" indent="0">
                  <a:buNone/>
                </a:pPr>
                <a:endParaRPr lang="en-US" altLang="zh-TW" dirty="0"/>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cstate="print"/>
                <a:stretch>
                  <a:fillRect l="-1546" t="-2241"/>
                </a:stretch>
              </a:blipFill>
            </p:spPr>
            <p:txBody>
              <a:bodyPr/>
              <a:lstStyle/>
              <a:p>
                <a:r>
                  <a:rPr lang="zh-TW" altLang="en-US">
                    <a:noFill/>
                  </a:rPr>
                  <a:t> </a:t>
                </a:r>
              </a:p>
            </p:txBody>
          </p:sp>
        </mc:Fallback>
      </mc:AlternateContent>
      <p:pic>
        <p:nvPicPr>
          <p:cNvPr id="4" name="內容版面配置區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8650" y="4280706"/>
            <a:ext cx="7886700" cy="1339644"/>
          </a:xfrm>
          <a:prstGeom prst="rect">
            <a:avLst/>
          </a:prstGeom>
        </p:spPr>
      </p:pic>
    </p:spTree>
    <p:extLst>
      <p:ext uri="{BB962C8B-B14F-4D97-AF65-F5344CB8AC3E}">
        <p14:creationId xmlns:p14="http://schemas.microsoft.com/office/powerpoint/2010/main" val="1274881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470263"/>
            <a:ext cx="9009785" cy="6051491"/>
          </a:xfrm>
        </p:spPr>
      </p:pic>
    </p:spTree>
    <p:extLst>
      <p:ext uri="{BB962C8B-B14F-4D97-AF65-F5344CB8AC3E}">
        <p14:creationId xmlns:p14="http://schemas.microsoft.com/office/powerpoint/2010/main" val="8613289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Find all distinct LCS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The basic methodology employed here for enabling efficient computation of all LCSs of any prefixes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𝐴</m:t>
                        </m:r>
                      </m:e>
                      <m:sub>
                        <m:r>
                          <a:rPr lang="en-US" altLang="zh-TW" i="1">
                            <a:latin typeface="Cambria Math" panose="02040503050406030204" pitchFamily="18" charset="0"/>
                          </a:rPr>
                          <m:t>𝑖</m:t>
                        </m:r>
                      </m:sub>
                    </m:sSub>
                  </m:oMath>
                </a14:m>
                <a:r>
                  <a:rPr lang="en-US" altLang="zh-TW" dirty="0" smtClean="0"/>
                  <a:t> and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𝐵</m:t>
                        </m:r>
                      </m:e>
                      <m:sub>
                        <m:r>
                          <a:rPr lang="en-US" altLang="zh-TW" b="0" i="1" smtClean="0">
                            <a:latin typeface="Cambria Math" panose="02040503050406030204" pitchFamily="18" charset="0"/>
                          </a:rPr>
                          <m:t>𝑗</m:t>
                        </m:r>
                      </m:sub>
                    </m:sSub>
                  </m:oMath>
                </a14:m>
                <a:r>
                  <a:rPr lang="en-US" altLang="zh-TW" dirty="0" smtClean="0"/>
                  <a:t> </a:t>
                </a:r>
                <a:r>
                  <a:rPr lang="en-US" altLang="zh-TW" dirty="0"/>
                  <a:t>of the input sequences is a variation on the idea of creating a directed acyclic graph in which every </a:t>
                </a:r>
                <a:r>
                  <a:rPr lang="en-US" altLang="zh-TW" dirty="0" smtClean="0"/>
                  <a:t>path from </a:t>
                </a:r>
                <a:r>
                  <a:rPr lang="en-US" altLang="zh-TW" dirty="0"/>
                  <a:t>the vertex corresponding to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represents a different LCS 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𝐴</m:t>
                        </m:r>
                      </m:e>
                      <m:sub>
                        <m:r>
                          <a:rPr lang="en-US" altLang="zh-TW" i="1">
                            <a:latin typeface="Cambria Math" panose="02040503050406030204" pitchFamily="18" charset="0"/>
                          </a:rPr>
                          <m:t>𝑖</m:t>
                        </m:r>
                      </m:sub>
                    </m:sSub>
                  </m:oMath>
                </a14:m>
                <a:r>
                  <a:rPr lang="en-US" altLang="zh-TW" dirty="0"/>
                  <a:t> 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𝐵</m:t>
                        </m:r>
                      </m:e>
                      <m:sub>
                        <m:r>
                          <a:rPr lang="en-US" altLang="zh-TW" i="1">
                            <a:latin typeface="Cambria Math" panose="02040503050406030204" pitchFamily="18" charset="0"/>
                          </a:rPr>
                          <m:t>𝑗</m:t>
                        </m:r>
                      </m:sub>
                    </m:sSub>
                  </m:oMath>
                </a14:m>
                <a:r>
                  <a:rPr lang="en-US" altLang="zh-TW" dirty="0"/>
                  <a:t> .</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cstate="print"/>
                <a:stretch>
                  <a:fillRect l="-1546"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253603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57645" y="923109"/>
            <a:ext cx="7114839" cy="5116288"/>
          </a:xfrm>
        </p:spPr>
      </p:pic>
    </p:spTree>
    <p:extLst>
      <p:ext uri="{BB962C8B-B14F-4D97-AF65-F5344CB8AC3E}">
        <p14:creationId xmlns:p14="http://schemas.microsoft.com/office/powerpoint/2010/main" val="26264390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marL="0" indent="0">
              <a:buNone/>
            </a:pPr>
            <a:r>
              <a:rPr lang="en-US" altLang="zh-TW" dirty="0"/>
              <a:t>Rick’s compact representation of all LCS </a:t>
            </a:r>
            <a:r>
              <a:rPr lang="en-US" altLang="zh-TW" dirty="0" err="1"/>
              <a:t>embeddings</a:t>
            </a:r>
            <a:r>
              <a:rPr lang="en-US" altLang="zh-TW" dirty="0"/>
              <a:t> in A and B, the </a:t>
            </a:r>
            <a:r>
              <a:rPr lang="en-US" altLang="zh-TW" dirty="0" smtClean="0"/>
              <a:t>LCSs-graph, </a:t>
            </a:r>
            <a:r>
              <a:rPr lang="en-US" altLang="zh-TW" dirty="0"/>
              <a:t>may be </a:t>
            </a:r>
            <a:r>
              <a:rPr lang="en-US" altLang="zh-TW" dirty="0" smtClean="0"/>
              <a:t>defined as follows.</a:t>
            </a:r>
          </a:p>
          <a:p>
            <a:pPr marL="0" indent="0">
              <a:buNone/>
            </a:pPr>
            <a:r>
              <a:rPr lang="en-US" altLang="zh-TW" dirty="0" smtClean="0"/>
              <a:t>Find the transitive </a:t>
            </a:r>
            <a:r>
              <a:rPr lang="en-US" altLang="zh-TW" dirty="0"/>
              <a:t>closure of the naive </a:t>
            </a:r>
            <a:r>
              <a:rPr lang="en-US" altLang="zh-TW" dirty="0" smtClean="0"/>
              <a:t>graph</a:t>
            </a:r>
          </a:p>
          <a:p>
            <a:pPr marL="0" indent="0">
              <a:buNone/>
            </a:pPr>
            <a:r>
              <a:rPr lang="en-US" altLang="zh-TW" dirty="0" smtClean="0"/>
              <a:t>Remove </a:t>
            </a:r>
            <a:r>
              <a:rPr lang="en-US" altLang="zh-TW" dirty="0"/>
              <a:t>all but those vertices that are matches belonging to some </a:t>
            </a:r>
            <a:r>
              <a:rPr lang="en-US" altLang="zh-TW" dirty="0" smtClean="0"/>
              <a:t>LCS</a:t>
            </a:r>
          </a:p>
          <a:p>
            <a:pPr marL="0" indent="0">
              <a:buNone/>
            </a:pPr>
            <a:r>
              <a:rPr lang="en-US" altLang="zh-TW" dirty="0"/>
              <a:t>R</a:t>
            </a:r>
            <a:r>
              <a:rPr lang="en-US" altLang="zh-TW" dirty="0" smtClean="0"/>
              <a:t>emove </a:t>
            </a:r>
            <a:r>
              <a:rPr lang="en-US" altLang="zh-TW" dirty="0"/>
              <a:t>all edges except those connecting a retained vertex to a retained vertex of next lower rank.</a:t>
            </a:r>
            <a:endParaRPr lang="zh-TW" altLang="en-US" dirty="0"/>
          </a:p>
        </p:txBody>
      </p:sp>
    </p:spTree>
    <p:extLst>
      <p:ext uri="{BB962C8B-B14F-4D97-AF65-F5344CB8AC3E}">
        <p14:creationId xmlns:p14="http://schemas.microsoft.com/office/powerpoint/2010/main" val="36366784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62743" y="199131"/>
            <a:ext cx="6453051" cy="6471866"/>
          </a:xfrm>
        </p:spPr>
      </p:pic>
    </p:spTree>
    <p:extLst>
      <p:ext uri="{BB962C8B-B14F-4D97-AF65-F5344CB8AC3E}">
        <p14:creationId xmlns:p14="http://schemas.microsoft.com/office/powerpoint/2010/main" val="17608719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The precise definition of the all-prefixes-LCSs-graph is as follows. </a:t>
                </a:r>
              </a:p>
              <a:p>
                <a:pPr marL="0" indent="0">
                  <a:buNone/>
                </a:pPr>
                <a:endParaRPr lang="en-US" altLang="zh-TW" dirty="0" smtClean="0"/>
              </a:p>
              <a:p>
                <a:pPr marL="0" indent="0">
                  <a:buNone/>
                </a:pPr>
                <a:r>
                  <a:rPr lang="en-US" altLang="zh-TW" dirty="0" smtClean="0"/>
                  <a:t>Every vertex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has an edge </a:t>
                </a:r>
                <a:r>
                  <a:rPr lang="en-US" altLang="zh-TW" dirty="0" smtClean="0"/>
                  <a:t>pointing to </a:t>
                </a:r>
                <a:r>
                  <a:rPr lang="en-US" altLang="zh-TW" dirty="0"/>
                  <a:t>each match </a:t>
                </a:r>
                <a14:m>
                  <m:oMath xmlns:m="http://schemas.openxmlformats.org/officeDocument/2006/math">
                    <m:r>
                      <a:rPr lang="en-US" altLang="zh-TW" i="1" dirty="0" smtClean="0">
                        <a:latin typeface="Cambria Math" panose="02040503050406030204" pitchFamily="18" charset="0"/>
                      </a:rPr>
                      <m:t>[</m:t>
                    </m:r>
                    <m:sSup>
                      <m:sSupPr>
                        <m:ctrlPr>
                          <a:rPr lang="en-US" altLang="zh-TW" i="1" dirty="0" smtClean="0">
                            <a:latin typeface="Cambria Math" panose="02040503050406030204" pitchFamily="18" charset="0"/>
                          </a:rPr>
                        </m:ctrlPr>
                      </m:sSupPr>
                      <m:e>
                        <m:r>
                          <a:rPr lang="en-US" altLang="zh-TW" b="0" i="1" dirty="0" smtClean="0">
                            <a:latin typeface="Cambria Math" panose="02040503050406030204" pitchFamily="18" charset="0"/>
                          </a:rPr>
                          <m:t>𝑖</m:t>
                        </m:r>
                      </m:e>
                      <m:sup>
                        <m:r>
                          <a:rPr lang="en-US" altLang="zh-TW" b="0" i="1" dirty="0" smtClean="0">
                            <a:latin typeface="Cambria Math" panose="02040503050406030204" pitchFamily="18" charset="0"/>
                          </a:rPr>
                          <m:t>′</m:t>
                        </m:r>
                      </m:sup>
                    </m:sSup>
                    <m:r>
                      <a:rPr lang="en-US" altLang="zh-TW" i="1" dirty="0" smtClean="0">
                        <a:latin typeface="Cambria Math" panose="02040503050406030204" pitchFamily="18" charset="0"/>
                      </a:rPr>
                      <m:t>,</m:t>
                    </m:r>
                    <m:sSup>
                      <m:sSupPr>
                        <m:ctrlPr>
                          <a:rPr lang="en-US" altLang="zh-TW" i="1" dirty="0" smtClean="0">
                            <a:latin typeface="Cambria Math" panose="02040503050406030204" pitchFamily="18" charset="0"/>
                          </a:rPr>
                        </m:ctrlPr>
                      </m:sSupPr>
                      <m:e>
                        <m:r>
                          <a:rPr lang="en-US" altLang="zh-TW" b="0" i="1" dirty="0" smtClean="0">
                            <a:latin typeface="Cambria Math" panose="02040503050406030204" pitchFamily="18" charset="0"/>
                          </a:rPr>
                          <m:t>𝑗</m:t>
                        </m:r>
                      </m:e>
                      <m:sup>
                        <m:r>
                          <a:rPr lang="en-US" altLang="zh-TW" b="0" i="1" dirty="0" smtClean="0">
                            <a:latin typeface="Cambria Math" panose="02040503050406030204" pitchFamily="18" charset="0"/>
                          </a:rPr>
                          <m:t>′</m:t>
                        </m:r>
                      </m:sup>
                    </m:sSup>
                    <m:r>
                      <a:rPr lang="en-US" altLang="zh-TW" i="1" dirty="0" smtClean="0">
                        <a:latin typeface="Cambria Math" panose="02040503050406030204" pitchFamily="18" charset="0"/>
                      </a:rPr>
                      <m:t>]</m:t>
                    </m:r>
                  </m:oMath>
                </a14:m>
                <a:r>
                  <a:rPr lang="en-US" altLang="zh-TW" dirty="0" smtClean="0"/>
                  <a:t> </a:t>
                </a:r>
                <a:r>
                  <a:rPr lang="en-US" altLang="zh-TW" dirty="0"/>
                  <a:t>of the same rank that is </a:t>
                </a:r>
                <a:r>
                  <a:rPr lang="en-US" altLang="zh-TW" dirty="0" err="1"/>
                  <a:t>antidominant</a:t>
                </a:r>
                <a:r>
                  <a:rPr lang="en-US" altLang="zh-TW" dirty="0"/>
                  <a:t> when considering the input strings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𝑖</m:t>
                        </m:r>
                      </m:sub>
                    </m:sSub>
                  </m:oMath>
                </a14:m>
                <a:r>
                  <a:rPr lang="en-US" altLang="zh-TW" dirty="0" smtClean="0"/>
                  <a:t> and </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𝐵</m:t>
                        </m:r>
                      </m:e>
                      <m:sub>
                        <m:r>
                          <a:rPr lang="en-US" altLang="zh-TW" b="0" i="1" smtClean="0">
                            <a:latin typeface="Cambria Math" panose="02040503050406030204" pitchFamily="18" charset="0"/>
                          </a:rPr>
                          <m:t>𝑗</m:t>
                        </m:r>
                      </m:sub>
                    </m:sSub>
                  </m:oMath>
                </a14:m>
                <a:r>
                  <a:rPr lang="en-US" altLang="zh-TW" dirty="0" smtClean="0"/>
                  <a: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cstate="print"/>
                <a:stretch>
                  <a:fillRect l="-1546" t="-2241" r="-255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725996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Theorem 1</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a:t>Considering all paths from [</a:t>
                </a:r>
                <a:r>
                  <a:rPr lang="en-US" altLang="zh-TW" dirty="0" err="1"/>
                  <a:t>i</a:t>
                </a:r>
                <a:r>
                  <a:rPr lang="en-US" altLang="zh-TW" dirty="0"/>
                  <a:t>, j] in the </a:t>
                </a:r>
                <a:r>
                  <a:rPr lang="en-US" altLang="zh-TW" dirty="0" smtClean="0"/>
                  <a:t>all-prefixes-LCSs-graph provides </a:t>
                </a:r>
                <a:r>
                  <a:rPr lang="en-US" altLang="zh-TW" dirty="0"/>
                  <a:t>a one-to-one correspondence with distinct LCSs </a:t>
                </a:r>
                <a:r>
                  <a:rPr lang="en-US" altLang="zh-TW" dirty="0" smtClean="0"/>
                  <a:t>of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𝐴</m:t>
                        </m:r>
                      </m:e>
                      <m:sub>
                        <m:r>
                          <a:rPr lang="en-US" altLang="zh-TW" i="1">
                            <a:latin typeface="Cambria Math" panose="02040503050406030204" pitchFamily="18" charset="0"/>
                          </a:rPr>
                          <m:t>𝑖</m:t>
                        </m:r>
                      </m:sub>
                    </m:sSub>
                  </m:oMath>
                </a14:m>
                <a:r>
                  <a:rPr lang="en-US" altLang="zh-TW" dirty="0"/>
                  <a:t> </a:t>
                </a:r>
                <a:r>
                  <a:rPr lang="en-US" altLang="zh-TW" dirty="0" smtClean="0"/>
                  <a:t>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𝐵</m:t>
                        </m:r>
                      </m:e>
                      <m:sub>
                        <m:r>
                          <a:rPr lang="en-US" altLang="zh-TW" i="1">
                            <a:latin typeface="Cambria Math" panose="02040503050406030204" pitchFamily="18" charset="0"/>
                          </a:rPr>
                          <m:t>𝑗</m:t>
                        </m:r>
                      </m:sub>
                    </m:sSub>
                  </m:oMath>
                </a14:m>
                <a:r>
                  <a:rPr lang="en-US" altLang="zh-TW" dirty="0" smtClean="0"/>
                  <a:t>.</a:t>
                </a:r>
              </a:p>
              <a:p>
                <a:pPr marL="0" indent="0">
                  <a:buNone/>
                </a:pPr>
                <a:endParaRPr lang="en-US" altLang="zh-TW"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cstate="print"/>
                <a:stretch>
                  <a:fillRect l="-1546"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781273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fontScale="92500" lnSpcReduction="10000"/>
              </a:bodyPr>
              <a:lstStyle/>
              <a:p>
                <a:pPr marL="0" indent="0">
                  <a:buNone/>
                </a:pPr>
                <a:r>
                  <a:rPr lang="en-US" altLang="zh-TW" dirty="0" smtClean="0"/>
                  <a:t>That </a:t>
                </a:r>
                <a:r>
                  <a:rPr lang="en-US" altLang="zh-TW" dirty="0"/>
                  <a:t>finding all LCS </a:t>
                </a:r>
                <a:r>
                  <a:rPr lang="en-US" altLang="zh-TW" dirty="0" err="1"/>
                  <a:t>embeddings</a:t>
                </a:r>
                <a:r>
                  <a:rPr lang="en-US" altLang="zh-TW" dirty="0"/>
                  <a:t> </a:t>
                </a:r>
                <a:r>
                  <a:rPr lang="en-US" altLang="zh-TW" dirty="0" smtClean="0"/>
                  <a:t>corresponds to finding </a:t>
                </a:r>
                <a:r>
                  <a:rPr lang="en-US" altLang="zh-TW" dirty="0"/>
                  <a:t>all longest sequences of matches (in the </a:t>
                </a:r>
                <a:r>
                  <a:rPr lang="en-US" altLang="zh-TW" dirty="0" err="1"/>
                  <a:t>submatrix</a:t>
                </a:r>
                <a:r>
                  <a:rPr lang="en-US" altLang="zh-TW" dirty="0"/>
                  <a:t> defined by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𝐴</m:t>
                        </m:r>
                      </m:e>
                      <m:sub>
                        <m:r>
                          <a:rPr lang="en-US" altLang="zh-TW" i="1">
                            <a:latin typeface="Cambria Math" panose="02040503050406030204" pitchFamily="18" charset="0"/>
                          </a:rPr>
                          <m:t>𝑖</m:t>
                        </m:r>
                      </m:sub>
                    </m:sSub>
                  </m:oMath>
                </a14:m>
                <a:r>
                  <a:rPr lang="en-US" altLang="zh-TW" dirty="0"/>
                  <a:t> 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𝐵</m:t>
                        </m:r>
                      </m:e>
                      <m:sub>
                        <m:r>
                          <a:rPr lang="en-US" altLang="zh-TW" i="1">
                            <a:latin typeface="Cambria Math" panose="02040503050406030204" pitchFamily="18" charset="0"/>
                          </a:rPr>
                          <m:t>𝑗</m:t>
                        </m:r>
                      </m:sub>
                    </m:sSub>
                  </m:oMath>
                </a14:m>
                <a:r>
                  <a:rPr lang="en-US" altLang="zh-TW" dirty="0"/>
                  <a:t>) that are strictly </a:t>
                </a:r>
                <a:r>
                  <a:rPr lang="en-US" altLang="zh-TW" dirty="0" smtClean="0"/>
                  <a:t>decreasing in </a:t>
                </a:r>
                <a:r>
                  <a:rPr lang="en-US" altLang="zh-TW" dirty="0"/>
                  <a:t>both dimensions</a:t>
                </a:r>
                <a:r>
                  <a:rPr lang="en-US" altLang="zh-TW" dirty="0" smtClean="0"/>
                  <a:t>.</a:t>
                </a:r>
              </a:p>
              <a:p>
                <a:pPr marL="0" indent="0">
                  <a:buNone/>
                </a:pPr>
                <a:r>
                  <a:rPr lang="en-US" altLang="zh-TW" dirty="0"/>
                  <a:t>The restricted use of matches that we incorporated into the all-prefixes-LCSs-graph will not make </a:t>
                </a:r>
                <a:r>
                  <a:rPr lang="en-US" altLang="zh-TW" dirty="0" smtClean="0"/>
                  <a:t>us lose </a:t>
                </a:r>
                <a:r>
                  <a:rPr lang="en-US" altLang="zh-TW" dirty="0"/>
                  <a:t>any LCSs, by the following reasoning. If we consider a </a:t>
                </a:r>
                <a:r>
                  <a:rPr lang="en-US" altLang="zh-TW" dirty="0" err="1"/>
                  <a:t>backtrace</a:t>
                </a:r>
                <a:r>
                  <a:rPr lang="en-US" altLang="zh-TW" dirty="0"/>
                  <a:t> in which we go from position </a:t>
                </a:r>
                <a14:m>
                  <m:oMath xmlns:m="http://schemas.openxmlformats.org/officeDocument/2006/math">
                    <m:d>
                      <m:dPr>
                        <m:begChr m:val="["/>
                        <m:endChr m:val="]"/>
                        <m:ctrlPr>
                          <a:rPr lang="en-US" altLang="zh-TW" b="0" i="1" smtClean="0">
                            <a:latin typeface="Cambria Math" panose="02040503050406030204" pitchFamily="18" charset="0"/>
                          </a:rPr>
                        </m:ctrlPr>
                      </m:dPr>
                      <m:e>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𝑖</m:t>
                            </m:r>
                          </m:e>
                          <m:sup>
                            <m:r>
                              <a:rPr lang="en-US" altLang="zh-TW" b="0" i="1" smtClean="0">
                                <a:latin typeface="Cambria Math" panose="02040503050406030204" pitchFamily="18" charset="0"/>
                              </a:rPr>
                              <m:t>"</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𝑗</m:t>
                            </m:r>
                          </m:e>
                          <m:sup>
                            <m:r>
                              <a:rPr lang="en-US" altLang="zh-TW" b="0" i="1" smtClean="0">
                                <a:latin typeface="Cambria Math" panose="02040503050406030204" pitchFamily="18" charset="0"/>
                              </a:rPr>
                              <m:t>"</m:t>
                            </m:r>
                          </m:sup>
                        </m:sSup>
                      </m:e>
                    </m:d>
                  </m:oMath>
                </a14:m>
                <a:r>
                  <a:rPr lang="en-US" altLang="zh-TW" dirty="0" smtClean="0"/>
                  <a:t> to a </a:t>
                </a:r>
                <a:r>
                  <a:rPr lang="en-US" altLang="zh-TW" dirty="0"/>
                  <a:t>match </a:t>
                </a:r>
                <a14:m>
                  <m:oMath xmlns:m="http://schemas.openxmlformats.org/officeDocument/2006/math">
                    <m:r>
                      <a:rPr lang="en-US" altLang="zh-TW" i="1" dirty="0" smtClean="0">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𝑖</m:t>
                        </m:r>
                      </m:e>
                      <m:sup>
                        <m:r>
                          <a:rPr lang="en-US" altLang="zh-TW" b="0" i="1" smtClean="0">
                            <a:latin typeface="Cambria Math" panose="02040503050406030204" pitchFamily="18" charset="0"/>
                          </a:rPr>
                          <m:t>∗</m:t>
                        </m:r>
                      </m:sup>
                    </m:sSup>
                    <m:r>
                      <a:rPr lang="en-US" altLang="zh-TW" i="1" dirty="0" smtClean="0">
                        <a:latin typeface="Cambria Math" panose="02040503050406030204" pitchFamily="18" charset="0"/>
                      </a:rPr>
                      <m:t>,</m:t>
                    </m:r>
                    <m:sSup>
                      <m:sSupPr>
                        <m:ctrlPr>
                          <a:rPr lang="en-US" altLang="zh-TW" i="1">
                            <a:latin typeface="Cambria Math" panose="02040503050406030204" pitchFamily="18" charset="0"/>
                          </a:rPr>
                        </m:ctrlPr>
                      </m:sSupPr>
                      <m:e>
                        <m:r>
                          <a:rPr lang="en-US" altLang="zh-TW" b="0" i="1" smtClean="0">
                            <a:latin typeface="Cambria Math" panose="02040503050406030204" pitchFamily="18" charset="0"/>
                          </a:rPr>
                          <m:t>𝑗</m:t>
                        </m:r>
                      </m:e>
                      <m:sup>
                        <m:r>
                          <a:rPr lang="en-US" altLang="zh-TW" b="0" i="1" smtClean="0">
                            <a:latin typeface="Cambria Math" panose="02040503050406030204" pitchFamily="18" charset="0"/>
                          </a:rPr>
                          <m:t>∗</m:t>
                        </m:r>
                      </m:sup>
                    </m:sSup>
                    <m:r>
                      <a:rPr lang="en-US" altLang="zh-TW" i="1" dirty="0" smtClean="0">
                        <a:latin typeface="Cambria Math" panose="02040503050406030204" pitchFamily="18" charset="0"/>
                      </a:rPr>
                      <m:t>] </m:t>
                    </m:r>
                  </m:oMath>
                </a14:m>
                <a:r>
                  <a:rPr lang="en-US" altLang="zh-TW" dirty="0"/>
                  <a:t>such that there exists another match </a:t>
                </a:r>
                <a14:m>
                  <m:oMath xmlns:m="http://schemas.openxmlformats.org/officeDocument/2006/math">
                    <m:r>
                      <a:rPr lang="en-US" altLang="zh-TW" i="1" dirty="0" smtClean="0">
                        <a:latin typeface="Cambria Math" panose="02040503050406030204" pitchFamily="18" charset="0"/>
                      </a:rPr>
                      <m:t>[</m:t>
                    </m:r>
                    <m:r>
                      <a:rPr lang="en-US" altLang="zh-TW" i="1" dirty="0" err="1" smtClean="0">
                        <a:latin typeface="Cambria Math" panose="02040503050406030204" pitchFamily="18" charset="0"/>
                      </a:rPr>
                      <m:t>𝑖</m:t>
                    </m:r>
                    <m:r>
                      <a:rPr lang="en-US" altLang="zh-TW" i="1" dirty="0" smtClean="0">
                        <a:latin typeface="Cambria Math" panose="02040503050406030204" pitchFamily="18" charset="0"/>
                      </a:rPr>
                      <m:t>′, </m:t>
                    </m:r>
                    <m:r>
                      <a:rPr lang="en-US" altLang="zh-TW" i="1" dirty="0">
                        <a:latin typeface="Cambria Math" panose="02040503050406030204" pitchFamily="18" charset="0"/>
                      </a:rPr>
                      <m:t>𝑗</m:t>
                    </m:r>
                    <m:r>
                      <a:rPr lang="en-US" altLang="zh-TW" i="1" dirty="0" smtClean="0">
                        <a:latin typeface="Cambria Math" panose="02040503050406030204" pitchFamily="18" charset="0"/>
                      </a:rPr>
                      <m:t>′] </m:t>
                    </m:r>
                  </m:oMath>
                </a14:m>
                <a:r>
                  <a:rPr lang="en-US" altLang="zh-TW" dirty="0"/>
                  <a:t>of the same rank with </a:t>
                </a:r>
                <a14:m>
                  <m:oMath xmlns:m="http://schemas.openxmlformats.org/officeDocument/2006/math">
                    <m:sSup>
                      <m:sSupPr>
                        <m:ctrlPr>
                          <a:rPr lang="en-US" altLang="zh-TW" i="1" dirty="0" smtClean="0">
                            <a:latin typeface="Cambria Math" panose="02040503050406030204" pitchFamily="18" charset="0"/>
                          </a:rPr>
                        </m:ctrlPr>
                      </m:sSupPr>
                      <m:e>
                        <m:r>
                          <a:rPr lang="en-US" altLang="zh-TW" i="1" dirty="0" smtClean="0">
                            <a:latin typeface="Cambria Math" panose="02040503050406030204" pitchFamily="18" charset="0"/>
                          </a:rPr>
                          <m:t>𝑖</m:t>
                        </m:r>
                      </m:e>
                      <m:sup>
                        <m:r>
                          <a:rPr lang="en-US" altLang="zh-TW" i="1" dirty="0" smtClean="0">
                            <a:latin typeface="Cambria Math" panose="02040503050406030204" pitchFamily="18" charset="0"/>
                          </a:rPr>
                          <m:t>′</m:t>
                        </m:r>
                      </m:sup>
                    </m:sSup>
                    <m:r>
                      <a:rPr lang="en-US" altLang="zh-TW" i="1" dirty="0">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𝑖</m:t>
                        </m:r>
                      </m:e>
                      <m:sup>
                        <m:r>
                          <a:rPr lang="en-US" altLang="zh-TW" i="1">
                            <a:latin typeface="Cambria Math" panose="02040503050406030204" pitchFamily="18" charset="0"/>
                          </a:rPr>
                          <m:t>∗</m:t>
                        </m:r>
                      </m:sup>
                    </m:sSup>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m:t>
                    </m:r>
                    <m:r>
                      <a:rPr lang="en-US" altLang="zh-TW" i="1" dirty="0" smtClean="0">
                        <a:latin typeface="Cambria Math" panose="02040503050406030204" pitchFamily="18" charset="0"/>
                      </a:rPr>
                      <m:t>𝑗</m:t>
                    </m:r>
                    <m:r>
                      <a:rPr lang="en-US" altLang="zh-TW" i="1" dirty="0">
                        <a:latin typeface="Cambria Math" panose="02040503050406030204" pitchFamily="18" charset="0"/>
                      </a:rPr>
                      <m:t>&gt;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𝑗</m:t>
                        </m:r>
                      </m:e>
                      <m:sup>
                        <m:r>
                          <a:rPr lang="en-US" altLang="zh-TW" i="1">
                            <a:latin typeface="Cambria Math" panose="02040503050406030204" pitchFamily="18" charset="0"/>
                          </a:rPr>
                          <m:t>∗</m:t>
                        </m:r>
                      </m:sup>
                    </m:sSup>
                    <m:r>
                      <a:rPr lang="en-US" altLang="zh-TW" i="1" dirty="0" err="1" smtClean="0">
                        <a:latin typeface="Cambria Math" panose="02040503050406030204" pitchFamily="18" charset="0"/>
                      </a:rPr>
                      <m:t>𝑜𝑟</m:t>
                    </m:r>
                    <m:r>
                      <a:rPr lang="en-US" altLang="zh-TW" b="0" i="1" dirty="0" smtClean="0">
                        <a:latin typeface="Cambria Math" panose="02040503050406030204" pitchFamily="18" charset="0"/>
                      </a:rPr>
                      <m:t> </m:t>
                    </m:r>
                    <m:r>
                      <a:rPr lang="en-US" altLang="zh-TW" i="1" dirty="0" err="1" smtClean="0">
                        <a:latin typeface="Cambria Math" panose="02040503050406030204" pitchFamily="18" charset="0"/>
                      </a:rPr>
                      <m:t>𝑗</m:t>
                    </m:r>
                    <m:r>
                      <a:rPr lang="en-US" altLang="zh-TW" i="1" dirty="0" smtClean="0">
                        <a:latin typeface="Cambria Math" panose="02040503050406030204" pitchFamily="18" charset="0"/>
                      </a:rPr>
                      <m:t>′</m:t>
                    </m:r>
                    <m:r>
                      <a:rPr lang="en-US" altLang="zh-TW" i="1" dirty="0">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𝑗</m:t>
                        </m:r>
                      </m:e>
                      <m:sup>
                        <m:r>
                          <a:rPr lang="en-US" altLang="zh-TW" i="1">
                            <a:latin typeface="Cambria Math" panose="02040503050406030204" pitchFamily="18" charset="0"/>
                          </a:rPr>
                          <m:t>∗</m:t>
                        </m:r>
                      </m:sup>
                    </m:sSup>
                    <m:r>
                      <a:rPr lang="en-US" altLang="zh-TW" i="1" dirty="0">
                        <a:latin typeface="Cambria Math" panose="02040503050406030204" pitchFamily="18" charset="0"/>
                      </a:rPr>
                      <m:t>∧ </m:t>
                    </m:r>
                    <m:r>
                      <a:rPr lang="en-US" altLang="zh-TW" i="1" dirty="0" err="1">
                        <a:latin typeface="Cambria Math" panose="02040503050406030204" pitchFamily="18" charset="0"/>
                      </a:rPr>
                      <m:t>𝑖</m:t>
                    </m:r>
                    <m:r>
                      <a:rPr lang="en-US" altLang="zh-TW" i="1" dirty="0">
                        <a:latin typeface="Cambria Math" panose="02040503050406030204" pitchFamily="18" charset="0"/>
                      </a:rPr>
                      <m:t>≥</m:t>
                    </m:r>
                    <m:r>
                      <a:rPr lang="en-US" altLang="zh-TW" i="1" dirty="0" err="1" smtClean="0">
                        <a:latin typeface="Cambria Math" panose="02040503050406030204" pitchFamily="18" charset="0"/>
                      </a:rPr>
                      <m:t>𝑖</m:t>
                    </m:r>
                    <m:r>
                      <a:rPr lang="en-US" altLang="zh-TW" i="1" dirty="0" smtClean="0">
                        <a:latin typeface="Cambria Math" panose="02040503050406030204" pitchFamily="18" charset="0"/>
                      </a:rPr>
                      <m:t>′&gt;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𝑖</m:t>
                        </m:r>
                      </m:e>
                      <m:sup>
                        <m:r>
                          <a:rPr lang="en-US" altLang="zh-TW" i="1">
                            <a:latin typeface="Cambria Math" panose="02040503050406030204" pitchFamily="18" charset="0"/>
                          </a:rPr>
                          <m:t>∗</m:t>
                        </m:r>
                      </m:sup>
                    </m:sSup>
                  </m:oMath>
                </a14:m>
                <a:r>
                  <a:rPr lang="en-US" altLang="zh-TW" dirty="0" smtClean="0"/>
                  <a:t>, </a:t>
                </a:r>
                <a:r>
                  <a:rPr lang="en-US" altLang="zh-TW" dirty="0"/>
                  <a:t>then we can just replace </a:t>
                </a:r>
                <a14:m>
                  <m:oMath xmlns:m="http://schemas.openxmlformats.org/officeDocument/2006/math">
                    <m:r>
                      <a:rPr lang="en-US" altLang="zh-TW" i="1" dirty="0">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𝑖</m:t>
                        </m:r>
                      </m:e>
                      <m:sup>
                        <m:r>
                          <a:rPr lang="en-US" altLang="zh-TW" i="1">
                            <a:latin typeface="Cambria Math" panose="02040503050406030204" pitchFamily="18" charset="0"/>
                          </a:rPr>
                          <m:t>∗</m:t>
                        </m:r>
                      </m:sup>
                    </m:sSup>
                    <m:r>
                      <a:rPr lang="en-US" altLang="zh-TW" i="1" dirty="0">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𝑗</m:t>
                        </m:r>
                      </m:e>
                      <m:sup>
                        <m:r>
                          <a:rPr lang="en-US" altLang="zh-TW" i="1">
                            <a:latin typeface="Cambria Math" panose="02040503050406030204" pitchFamily="18" charset="0"/>
                          </a:rPr>
                          <m:t>∗</m:t>
                        </m:r>
                      </m:sup>
                    </m:sSup>
                    <m:r>
                      <a:rPr lang="en-US" altLang="zh-TW" i="1" dirty="0">
                        <a:latin typeface="Cambria Math" panose="02040503050406030204" pitchFamily="18" charset="0"/>
                      </a:rPr>
                      <m:t>] </m:t>
                    </m:r>
                  </m:oMath>
                </a14:m>
                <a:r>
                  <a:rPr lang="en-US" altLang="zh-TW" dirty="0"/>
                  <a:t>with </a:t>
                </a:r>
                <a14:m>
                  <m:oMath xmlns:m="http://schemas.openxmlformats.org/officeDocument/2006/math">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and get the same LCS.</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cstate="print"/>
                <a:stretch>
                  <a:fillRect l="-1391" t="-2801" r="-239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932436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0" indent="0">
                  <a:buNone/>
                </a:pPr>
                <a:r>
                  <a:rPr lang="en-US" altLang="zh-TW" dirty="0" smtClean="0"/>
                  <a:t>We will not duplicate any LCSs, by the following reasoning. </a:t>
                </a:r>
              </a:p>
              <a:p>
                <a:pPr marL="0" indent="0">
                  <a:buNone/>
                </a:pPr>
                <a:r>
                  <a:rPr lang="en-US" altLang="zh-TW" dirty="0" smtClean="0"/>
                  <a:t>To </a:t>
                </a:r>
                <a:r>
                  <a:rPr lang="en-US" altLang="zh-TW" dirty="0"/>
                  <a:t>get the same LCS twice, there </a:t>
                </a:r>
                <a:r>
                  <a:rPr lang="en-US" altLang="zh-TW" dirty="0" smtClean="0"/>
                  <a:t>would need </a:t>
                </a:r>
                <a:r>
                  <a:rPr lang="en-US" altLang="zh-TW" dirty="0"/>
                  <a:t>to be a position </a:t>
                </a:r>
                <a14:m>
                  <m:oMath xmlns:m="http://schemas.openxmlformats.org/officeDocument/2006/math">
                    <m:d>
                      <m:dPr>
                        <m:begChr m:val="["/>
                        <m:endChr m:val="]"/>
                        <m:ctrlPr>
                          <a:rPr lang="en-US" altLang="zh-TW" i="1">
                            <a:latin typeface="Cambria Math" panose="02040503050406030204" pitchFamily="18" charset="0"/>
                          </a:rPr>
                        </m:ctrlPr>
                      </m:dPr>
                      <m:e>
                        <m:sSup>
                          <m:sSupPr>
                            <m:ctrlPr>
                              <a:rPr lang="en-US" altLang="zh-TW" i="1">
                                <a:latin typeface="Cambria Math" panose="02040503050406030204" pitchFamily="18" charset="0"/>
                              </a:rPr>
                            </m:ctrlPr>
                          </m:sSupPr>
                          <m:e>
                            <m:r>
                              <a:rPr lang="en-US" altLang="zh-TW" i="1">
                                <a:latin typeface="Cambria Math" panose="02040503050406030204" pitchFamily="18" charset="0"/>
                              </a:rPr>
                              <m:t>𝑖</m:t>
                            </m:r>
                          </m:e>
                          <m:sup>
                            <m:r>
                              <a:rPr lang="en-US" altLang="zh-TW" i="1">
                                <a:latin typeface="Cambria Math" panose="02040503050406030204" pitchFamily="18" charset="0"/>
                              </a:rPr>
                              <m:t>"</m:t>
                            </m:r>
                          </m:sup>
                        </m:sSup>
                        <m:r>
                          <a:rPr lang="en-US" altLang="zh-TW" i="1">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𝑗</m:t>
                            </m:r>
                          </m:e>
                          <m:sup>
                            <m:r>
                              <a:rPr lang="en-US" altLang="zh-TW" i="1">
                                <a:latin typeface="Cambria Math" panose="02040503050406030204" pitchFamily="18" charset="0"/>
                              </a:rPr>
                              <m:t>"</m:t>
                            </m:r>
                          </m:sup>
                        </m:sSup>
                      </m:e>
                    </m:d>
                  </m:oMath>
                </a14:m>
                <a:r>
                  <a:rPr lang="en-US" altLang="zh-TW" dirty="0"/>
                  <a:t> from which two edges in the all-prefixes-LCS-graph proceed to two matches </a:t>
                </a:r>
                <a:r>
                  <a:rPr lang="en-US" altLang="zh-TW" dirty="0" smtClean="0"/>
                  <a:t>on the </a:t>
                </a:r>
                <a:r>
                  <a:rPr lang="en-US" altLang="zh-TW" dirty="0"/>
                  <a:t>same character, say </a:t>
                </a:r>
                <a14:m>
                  <m:oMath xmlns:m="http://schemas.openxmlformats.org/officeDocument/2006/math">
                    <m:r>
                      <a:rPr lang="en-US" altLang="zh-TW" i="1" dirty="0">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𝑖</m:t>
                        </m:r>
                      </m:e>
                      <m:sup>
                        <m:r>
                          <a:rPr lang="en-US" altLang="zh-TW" i="1">
                            <a:latin typeface="Cambria Math" panose="02040503050406030204" pitchFamily="18" charset="0"/>
                          </a:rPr>
                          <m:t>∗</m:t>
                        </m:r>
                      </m:sup>
                    </m:sSup>
                    <m:r>
                      <a:rPr lang="en-US" altLang="zh-TW" i="1" dirty="0">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𝑗</m:t>
                        </m:r>
                      </m:e>
                      <m:sup>
                        <m:r>
                          <a:rPr lang="en-US" altLang="zh-TW" i="1">
                            <a:latin typeface="Cambria Math" panose="02040503050406030204" pitchFamily="18" charset="0"/>
                          </a:rPr>
                          <m:t>∗</m:t>
                        </m:r>
                      </m:sup>
                    </m:sSup>
                    <m:r>
                      <a:rPr lang="en-US" altLang="zh-TW" i="1" dirty="0">
                        <a:latin typeface="Cambria Math" panose="02040503050406030204" pitchFamily="18" charset="0"/>
                      </a:rPr>
                      <m:t>] </m:t>
                    </m:r>
                  </m:oMath>
                </a14:m>
                <a:r>
                  <a:rPr lang="en-US" altLang="zh-TW" dirty="0"/>
                  <a:t>and </a:t>
                </a:r>
                <a14:m>
                  <m:oMath xmlns:m="http://schemas.openxmlformats.org/officeDocument/2006/math">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with</a:t>
                </a:r>
                <a14:m>
                  <m:oMath xmlns:m="http://schemas.openxmlformats.org/officeDocument/2006/math">
                    <m:r>
                      <a:rPr lang="en-US" altLang="zh-TW" i="1" dirty="0">
                        <a:latin typeface="Cambria Math" panose="02040503050406030204" pitchFamily="18" charset="0"/>
                      </a:rPr>
                      <m:t>𝑖</m:t>
                    </m:r>
                    <m:r>
                      <a:rPr lang="en-US" altLang="zh-TW" i="1" dirty="0">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𝑖</m:t>
                        </m:r>
                      </m:e>
                      <m:sup>
                        <m:r>
                          <a:rPr lang="en-US" altLang="zh-TW" i="1">
                            <a:latin typeface="Cambria Math" panose="02040503050406030204" pitchFamily="18" charset="0"/>
                          </a:rPr>
                          <m:t>∗</m:t>
                        </m:r>
                      </m:sup>
                    </m:sSup>
                  </m:oMath>
                </a14:m>
                <a:r>
                  <a:rPr lang="en-US" altLang="zh-TW" dirty="0" smtClean="0"/>
                  <a:t> and</a:t>
                </a:r>
                <a14:m>
                  <m:oMath xmlns:m="http://schemas.openxmlformats.org/officeDocument/2006/math">
                    <m:sSup>
                      <m:sSupPr>
                        <m:ctrlPr>
                          <a:rPr lang="en-US" altLang="zh-TW" i="1">
                            <a:latin typeface="Cambria Math" panose="02040503050406030204" pitchFamily="18" charset="0"/>
                          </a:rPr>
                        </m:ctrlPr>
                      </m:sSupPr>
                      <m:e>
                        <m:r>
                          <a:rPr lang="en-US" altLang="zh-TW" i="1">
                            <a:latin typeface="Cambria Math" panose="02040503050406030204" pitchFamily="18" charset="0"/>
                          </a:rPr>
                          <m:t>𝑗</m:t>
                        </m:r>
                      </m:e>
                      <m:sup>
                        <m:r>
                          <a:rPr lang="en-US" altLang="zh-TW" i="1">
                            <a:latin typeface="Cambria Math" panose="02040503050406030204" pitchFamily="18" charset="0"/>
                          </a:rPr>
                          <m:t>∗</m:t>
                        </m:r>
                      </m:sup>
                    </m:sSup>
                    <m:r>
                      <a:rPr lang="en-US" altLang="zh-TW" i="1" dirty="0">
                        <a:latin typeface="Cambria Math" panose="02040503050406030204" pitchFamily="18" charset="0"/>
                      </a:rPr>
                      <m:t>&gt;</m:t>
                    </m:r>
                    <m:r>
                      <a:rPr lang="en-US" altLang="zh-TW" i="1" dirty="0">
                        <a:latin typeface="Cambria Math" panose="02040503050406030204" pitchFamily="18" charset="0"/>
                      </a:rPr>
                      <m:t>𝑗</m:t>
                    </m:r>
                    <m:r>
                      <a:rPr lang="en-US" altLang="zh-TW" b="0" i="1" dirty="0" smtClean="0">
                        <a:latin typeface="Cambria Math" panose="02040503050406030204" pitchFamily="18" charset="0"/>
                      </a:rPr>
                      <m:t>′</m:t>
                    </m:r>
                  </m:oMath>
                </a14:m>
                <a:r>
                  <a:rPr lang="en-US" altLang="zh-TW" dirty="0"/>
                  <a:t>. Then </a:t>
                </a:r>
                <a14:m>
                  <m:oMath xmlns:m="http://schemas.openxmlformats.org/officeDocument/2006/math">
                    <m:r>
                      <a:rPr lang="en-US" altLang="zh-TW" i="1" dirty="0" smtClean="0">
                        <a:latin typeface="Cambria Math" panose="02040503050406030204" pitchFamily="18" charset="0"/>
                      </a:rPr>
                      <m:t>[</m:t>
                    </m:r>
                    <m:r>
                      <a:rPr lang="en-US" altLang="zh-TW" i="1" dirty="0">
                        <a:latin typeface="Cambria Math" panose="02040503050406030204" pitchFamily="18" charset="0"/>
                      </a:rPr>
                      <m:t>𝑖</m:t>
                    </m:r>
                    <m:r>
                      <a:rPr lang="en-US" altLang="zh-TW" i="1" dirty="0">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𝑗</m:t>
                        </m:r>
                      </m:e>
                      <m:sup>
                        <m:r>
                          <a:rPr lang="en-US" altLang="zh-TW" i="1">
                            <a:latin typeface="Cambria Math" panose="02040503050406030204" pitchFamily="18" charset="0"/>
                          </a:rPr>
                          <m:t>∗</m:t>
                        </m:r>
                      </m:sup>
                    </m:sSup>
                    <m:r>
                      <a:rPr lang="en-US" altLang="zh-TW" i="1" dirty="0" smtClean="0">
                        <a:latin typeface="Cambria Math" panose="02040503050406030204" pitchFamily="18" charset="0"/>
                      </a:rPr>
                      <m:t>] </m:t>
                    </m:r>
                  </m:oMath>
                </a14:m>
                <a:r>
                  <a:rPr lang="en-US" altLang="zh-TW" dirty="0"/>
                  <a:t>would be a match on the </a:t>
                </a:r>
                <a:r>
                  <a:rPr lang="en-US" altLang="zh-TW" dirty="0" smtClean="0"/>
                  <a:t>same character </a:t>
                </a:r>
                <a:r>
                  <a:rPr lang="en-US" altLang="zh-TW" dirty="0"/>
                  <a:t>and of the same rank, implying that </a:t>
                </a:r>
                <a14:m>
                  <m:oMath xmlns:m="http://schemas.openxmlformats.org/officeDocument/2006/math">
                    <m:r>
                      <a:rPr lang="en-US" altLang="zh-TW" i="1" dirty="0">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𝑖</m:t>
                        </m:r>
                      </m:e>
                      <m:sup>
                        <m:r>
                          <a:rPr lang="en-US" altLang="zh-TW" i="1">
                            <a:latin typeface="Cambria Math" panose="02040503050406030204" pitchFamily="18" charset="0"/>
                          </a:rPr>
                          <m:t>∗</m:t>
                        </m:r>
                      </m:sup>
                    </m:sSup>
                    <m:r>
                      <a:rPr lang="en-US" altLang="zh-TW" i="1" dirty="0">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𝑗</m:t>
                        </m:r>
                      </m:e>
                      <m:sup>
                        <m:r>
                          <a:rPr lang="en-US" altLang="zh-TW" i="1">
                            <a:latin typeface="Cambria Math" panose="02040503050406030204" pitchFamily="18" charset="0"/>
                          </a:rPr>
                          <m:t>∗</m:t>
                        </m:r>
                      </m:sup>
                    </m:sSup>
                    <m:r>
                      <a:rPr lang="en-US" altLang="zh-TW" i="1" dirty="0">
                        <a:latin typeface="Cambria Math" panose="02040503050406030204" pitchFamily="18" charset="0"/>
                      </a:rPr>
                      <m:t>] </m:t>
                    </m:r>
                  </m:oMath>
                </a14:m>
                <a:r>
                  <a:rPr lang="en-US" altLang="zh-TW" dirty="0"/>
                  <a:t>or </a:t>
                </a:r>
                <a14:m>
                  <m:oMath xmlns:m="http://schemas.openxmlformats.org/officeDocument/2006/math">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is not </a:t>
                </a:r>
                <a:r>
                  <a:rPr lang="en-US" altLang="zh-TW" dirty="0" err="1"/>
                  <a:t>antidominant</a:t>
                </a:r>
                <a:r>
                  <a:rPr lang="en-US" altLang="zh-TW" dirty="0"/>
                  <a:t> for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𝐴</m:t>
                        </m:r>
                      </m:e>
                      <m:sub>
                        <m:r>
                          <a:rPr lang="en-US" altLang="zh-TW" i="1">
                            <a:latin typeface="Cambria Math" panose="02040503050406030204" pitchFamily="18" charset="0"/>
                          </a:rPr>
                          <m:t>𝑖</m:t>
                        </m:r>
                      </m:sub>
                    </m:sSub>
                  </m:oMath>
                </a14:m>
                <a:r>
                  <a:rPr lang="en-US" altLang="zh-TW" dirty="0"/>
                  <a:t> 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𝐵</m:t>
                        </m:r>
                      </m:e>
                      <m:sub>
                        <m:r>
                          <a:rPr lang="en-US" altLang="zh-TW" i="1">
                            <a:latin typeface="Cambria Math" panose="02040503050406030204" pitchFamily="18" charset="0"/>
                          </a:rPr>
                          <m:t>𝑗</m:t>
                        </m:r>
                      </m:sub>
                    </m:sSub>
                  </m:oMath>
                </a14:m>
                <a:r>
                  <a:rPr lang="en-US" altLang="zh-TW" dirty="0"/>
                  <a: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cstate="print"/>
                <a:stretch>
                  <a:fillRect l="-1546" t="-2241" r="-46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1229279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marL="0" indent="0">
              <a:buNone/>
            </a:pPr>
            <a:r>
              <a:rPr lang="en-US" altLang="zh-TW" dirty="0"/>
              <a:t>Now, each adjacency list in the all-prefixes-LCSs-graph can be thought of as being based upon a </a:t>
            </a:r>
            <a:r>
              <a:rPr lang="en-US" altLang="zh-TW" dirty="0" smtClean="0"/>
              <a:t>linked list </a:t>
            </a:r>
            <a:r>
              <a:rPr lang="en-US" altLang="zh-TW" dirty="0"/>
              <a:t>of the </a:t>
            </a:r>
            <a:r>
              <a:rPr lang="en-US" altLang="zh-TW" dirty="0" err="1"/>
              <a:t>antidominant</a:t>
            </a:r>
            <a:r>
              <a:rPr lang="en-US" altLang="zh-TW" dirty="0"/>
              <a:t> matches along one of the contours; let us call such a linked list a contour list.</a:t>
            </a:r>
            <a:endParaRPr lang="zh-TW" altLang="en-US" dirty="0"/>
          </a:p>
        </p:txBody>
      </p:sp>
    </p:spTree>
    <p:extLst>
      <p:ext uri="{BB962C8B-B14F-4D97-AF65-F5344CB8AC3E}">
        <p14:creationId xmlns:p14="http://schemas.microsoft.com/office/powerpoint/2010/main" val="12764863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0356" y="1690689"/>
            <a:ext cx="8943288" cy="3370826"/>
          </a:xfrm>
        </p:spPr>
      </p:pic>
    </p:spTree>
    <p:extLst>
      <p:ext uri="{BB962C8B-B14F-4D97-AF65-F5344CB8AC3E}">
        <p14:creationId xmlns:p14="http://schemas.microsoft.com/office/powerpoint/2010/main" val="6134428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0532" y="1589902"/>
            <a:ext cx="9645063" cy="4789824"/>
          </a:xfrm>
        </p:spPr>
      </p:pic>
    </p:spTree>
    <p:extLst>
      <p:ext uri="{BB962C8B-B14F-4D97-AF65-F5344CB8AC3E}">
        <p14:creationId xmlns:p14="http://schemas.microsoft.com/office/powerpoint/2010/main" val="996329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a:t>When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m:t>
                    </m:r>
                  </m:oMath>
                </a14:m>
                <a:r>
                  <a:rPr lang="en-US" altLang="zh-TW" dirty="0"/>
                  <a:t> is a match; the corresponding vertex in the all-prefixes-LCSs-graph just points to itself; </a:t>
                </a:r>
                <a:r>
                  <a:rPr lang="en-US" altLang="zh-TW" dirty="0" smtClean="0"/>
                  <a:t>any other </a:t>
                </a:r>
                <a:r>
                  <a:rPr lang="en-US" altLang="zh-TW" dirty="0"/>
                  <a:t>match of the same rank must have a higher </a:t>
                </a:r>
                <a:r>
                  <a:rPr lang="en-US" altLang="zh-TW" dirty="0" smtClean="0"/>
                  <a:t>row </a:t>
                </a:r>
                <a:r>
                  <a:rPr lang="en-US" altLang="zh-TW" dirty="0"/>
                  <a:t>or column index. </a:t>
                </a:r>
                <a:endParaRPr lang="en-US" altLang="zh-TW" dirty="0" smtClean="0"/>
              </a:p>
              <a:p>
                <a:pPr marL="0" indent="0">
                  <a:buNone/>
                </a:pPr>
                <a:r>
                  <a:rPr lang="en-US" altLang="zh-TW" dirty="0" smtClean="0"/>
                  <a:t>Consistent </a:t>
                </a:r>
                <a:r>
                  <a:rPr lang="en-US" altLang="zh-TW" dirty="0"/>
                  <a:t>with the adjacency </a:t>
                </a:r>
                <a:r>
                  <a:rPr lang="en-US" altLang="zh-TW" dirty="0" smtClean="0"/>
                  <a:t>list approach </a:t>
                </a:r>
                <a:r>
                  <a:rPr lang="en-US" altLang="zh-TW" dirty="0"/>
                  <a:t>described above, we use </a:t>
                </a:r>
                <a14:m>
                  <m:oMath xmlns:m="http://schemas.openxmlformats.org/officeDocument/2006/math">
                    <m:r>
                      <a:rPr lang="en-US" altLang="zh-TW" i="1" dirty="0" smtClean="0">
                        <a:latin typeface="Cambria Math" panose="02040503050406030204" pitchFamily="18" charset="0"/>
                      </a:rPr>
                      <m:t>𝑡𝑎𝑖𝑙</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for the pointer to self and leave </a:t>
                </a:r>
                <a14:m>
                  <m:oMath xmlns:m="http://schemas.openxmlformats.org/officeDocument/2006/math">
                    <m:r>
                      <a:rPr lang="en-US" altLang="zh-TW" i="1" dirty="0" smtClean="0">
                        <a:latin typeface="Cambria Math" panose="02040503050406030204" pitchFamily="18" charset="0"/>
                      </a:rPr>
                      <m:t>h𝑒𝑎𝑑</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null to indicate </a:t>
                </a:r>
                <a:r>
                  <a:rPr lang="en-US" altLang="zh-TW" dirty="0" smtClean="0"/>
                  <a:t>there is </a:t>
                </a:r>
                <a:r>
                  <a:rPr lang="en-US" altLang="zh-TW" dirty="0"/>
                  <a:t>nothing else in the adjacency list of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m:t>
                    </m:r>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cstate="print"/>
                <a:stretch>
                  <a:fillRect l="-1546"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544016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0532" y="1589902"/>
            <a:ext cx="9645063" cy="4789824"/>
          </a:xfrm>
        </p:spPr>
      </p:pic>
    </p:spTree>
    <p:extLst>
      <p:ext uri="{BB962C8B-B14F-4D97-AF65-F5344CB8AC3E}">
        <p14:creationId xmlns:p14="http://schemas.microsoft.com/office/powerpoint/2010/main" val="16151072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0" indent="0">
                  <a:buNone/>
                </a:pPr>
                <a:r>
                  <a:rPr lang="en-US" altLang="zh-TW" dirty="0" smtClean="0"/>
                  <a:t>When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is a clash, </a:t>
                </a:r>
                <a:r>
                  <a:rPr lang="en-US" altLang="zh-TW" dirty="0" smtClean="0"/>
                  <a:t>we </a:t>
                </a:r>
                <a:r>
                  <a:rPr lang="en-US" altLang="zh-TW" dirty="0"/>
                  <a:t>perform an appropriate merging of </a:t>
                </a:r>
                <a:r>
                  <a:rPr lang="en-US" altLang="zh-TW" dirty="0" smtClean="0"/>
                  <a:t>information computed </a:t>
                </a:r>
                <a:r>
                  <a:rPr lang="en-US" altLang="zh-TW" dirty="0"/>
                  <a:t>at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− 1,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and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− 1]. </m:t>
                    </m:r>
                  </m:oMath>
                </a14:m>
                <a:r>
                  <a:rPr lang="en-US" altLang="zh-TW" dirty="0"/>
                  <a:t>The adjacency lists are always maintained so that the nodes are in </a:t>
                </a:r>
                <a:r>
                  <a:rPr lang="en-US" altLang="zh-TW" dirty="0" smtClean="0"/>
                  <a:t>order along </a:t>
                </a:r>
                <a:r>
                  <a:rPr lang="en-US" altLang="zh-TW" dirty="0"/>
                  <a:t>a contour from lower left to upper right, and the adjacency lists at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− 1,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and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− 1] </m:t>
                    </m:r>
                  </m:oMath>
                </a14:m>
                <a:r>
                  <a:rPr lang="en-US" altLang="zh-TW" dirty="0"/>
                  <a:t>are </a:t>
                </a:r>
                <a:r>
                  <a:rPr lang="en-US" altLang="zh-TW" dirty="0" smtClean="0"/>
                  <a:t>identical except </a:t>
                </a:r>
                <a:r>
                  <a:rPr lang="en-US" altLang="zh-TW" dirty="0"/>
                  <a:t>for possibly a different head and/or tail</a:t>
                </a:r>
                <a:r>
                  <a:rPr lang="en-US" altLang="zh-TW" dirty="0" smtClean="0"/>
                  <a:t>.</a:t>
                </a:r>
              </a:p>
              <a:p>
                <a:pPr marL="0" indent="0">
                  <a:buNone/>
                </a:pPr>
                <a:r>
                  <a:rPr lang="en-US" altLang="zh-TW" dirty="0" smtClean="0"/>
                  <a:t>Once we conditionally </a:t>
                </a:r>
                <a:r>
                  <a:rPr lang="en-US" altLang="zh-TW" dirty="0"/>
                  <a:t>set the tail of the adjacency list for position </a:t>
                </a:r>
                <a14:m>
                  <m:oMath xmlns:m="http://schemas.openxmlformats.org/officeDocument/2006/math">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from the information at </a:t>
                </a:r>
                <a14:m>
                  <m:oMath xmlns:m="http://schemas.openxmlformats.org/officeDocument/2006/math">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b="0" i="1" dirty="0" smtClean="0">
                        <a:latin typeface="Cambria Math" panose="02040503050406030204" pitchFamily="18" charset="0"/>
                      </a:rPr>
                      <m:t>−1</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in line </a:t>
                </a:r>
                <a:r>
                  <a:rPr lang="en-US" altLang="zh-TW" dirty="0" smtClean="0"/>
                  <a:t>7.</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cstate="print"/>
                <a:stretch>
                  <a:fillRect l="-1546" t="-2241" r="-85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212092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a:t>If a null </a:t>
                </a:r>
                <a14:m>
                  <m:oMath xmlns:m="http://schemas.openxmlformats.org/officeDocument/2006/math">
                    <m:r>
                      <a:rPr lang="en-US" altLang="zh-TW" i="1" dirty="0" smtClean="0">
                        <a:latin typeface="Cambria Math" panose="02040503050406030204" pitchFamily="18" charset="0"/>
                      </a:rPr>
                      <m:t>𝑡𝑎𝑖𝑙</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was obtained by looking at position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− 1,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then the adjacency list for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contains </a:t>
                </a:r>
                <a:r>
                  <a:rPr lang="en-US" altLang="zh-TW" dirty="0" smtClean="0"/>
                  <a:t>at most </a:t>
                </a:r>
                <a:r>
                  <a:rPr lang="en-US" altLang="zh-TW" dirty="0"/>
                  <a:t>one node; in that case </a:t>
                </a:r>
                <a14:m>
                  <m:oMath xmlns:m="http://schemas.openxmlformats.org/officeDocument/2006/math">
                    <m:r>
                      <a:rPr lang="en-US" altLang="zh-TW" i="1" dirty="0" smtClean="0">
                        <a:latin typeface="Cambria Math" panose="02040503050406030204" pitchFamily="18" charset="0"/>
                      </a:rPr>
                      <m:t>𝑡𝑎𝑖𝑙</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is copied from position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− 1], </m:t>
                    </m:r>
                  </m:oMath>
                </a14:m>
                <a:r>
                  <a:rPr lang="en-US" altLang="zh-TW" dirty="0"/>
                  <a:t>and our work is done.</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cstate="print"/>
                <a:stretch>
                  <a:fillRect l="-1546" t="-2241" r="-239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2064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0532" y="1589902"/>
            <a:ext cx="9645063" cy="4789824"/>
          </a:xfrm>
        </p:spPr>
      </p:pic>
    </p:spTree>
    <p:extLst>
      <p:ext uri="{BB962C8B-B14F-4D97-AF65-F5344CB8AC3E}">
        <p14:creationId xmlns:p14="http://schemas.microsoft.com/office/powerpoint/2010/main" val="21857608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marL="0" indent="0">
                  <a:buNone/>
                </a:pPr>
                <a:r>
                  <a:rPr lang="en-US" altLang="zh-TW" dirty="0" smtClean="0"/>
                  <a:t>But we need lines 11– 13 to ensure that each LCS is only represented once; these lines strip from this tentative </a:t>
                </a:r>
                <a:r>
                  <a:rPr lang="en-US" altLang="zh-TW" dirty="0"/>
                  <a:t>adjacency list any matches that are duplicative or are not </a:t>
                </a:r>
                <a:r>
                  <a:rPr lang="en-US" altLang="zh-TW" dirty="0" err="1"/>
                  <a:t>antidominant</a:t>
                </a:r>
                <a:r>
                  <a:rPr lang="en-US" altLang="zh-TW" dirty="0"/>
                  <a:t>. </a:t>
                </a:r>
                <a:endParaRPr lang="en-US" altLang="zh-TW" dirty="0" smtClean="0"/>
              </a:p>
              <a:p>
                <a:pPr marL="0" indent="0">
                  <a:buNone/>
                </a:pPr>
                <a:r>
                  <a:rPr lang="en-US" altLang="zh-TW" dirty="0" smtClean="0"/>
                  <a:t>If </a:t>
                </a:r>
                <a:r>
                  <a:rPr lang="en-US" altLang="zh-TW" dirty="0"/>
                  <a:t>the condition of line </a:t>
                </a:r>
                <a:r>
                  <a:rPr lang="en-US" altLang="zh-TW" dirty="0" smtClean="0"/>
                  <a:t>11 is </a:t>
                </a:r>
                <a:r>
                  <a:rPr lang="en-US" altLang="zh-TW" dirty="0"/>
                  <a:t>satisfied, then </a:t>
                </a:r>
                <a:endParaRPr lang="en-US" altLang="zh-TW" dirty="0" smtClean="0"/>
              </a:p>
              <a:p>
                <a:pPr marL="0" indent="0">
                  <a:buNone/>
                </a:pPr>
                <a14:m>
                  <m:oMath xmlns:m="http://schemas.openxmlformats.org/officeDocument/2006/math">
                    <m:r>
                      <a:rPr lang="en-US" altLang="zh-TW" i="1" dirty="0" smtClean="0">
                        <a:latin typeface="Cambria Math" panose="02040503050406030204" pitchFamily="18" charset="0"/>
                      </a:rPr>
                      <m:t>𝑡𝑎𝑖𝑙</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− 1] </m:t>
                    </m:r>
                  </m:oMath>
                </a14:m>
                <a:r>
                  <a:rPr lang="en-US" altLang="zh-TW" dirty="0"/>
                  <a:t>must be stripped out; in any case, </a:t>
                </a:r>
                <a14:m>
                  <m:oMath xmlns:m="http://schemas.openxmlformats.org/officeDocument/2006/math">
                    <m:r>
                      <a:rPr lang="en-US" altLang="zh-TW" i="1" dirty="0" smtClean="0">
                        <a:latin typeface="Cambria Math" panose="02040503050406030204" pitchFamily="18" charset="0"/>
                      </a:rPr>
                      <m:t>𝑝𝑟𝑒𝑡𝑎𝑖𝑙</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can be given the correct </a:t>
                </a:r>
                <a:r>
                  <a:rPr lang="en-US" altLang="zh-TW" dirty="0" smtClean="0"/>
                  <a:t>value for </a:t>
                </a:r>
                <a:r>
                  <a:rPr lang="en-US" altLang="zh-TW" dirty="0"/>
                  <a:t>the case that the adjacency list of </a:t>
                </a:r>
                <a14:m>
                  <m:oMath xmlns:m="http://schemas.openxmlformats.org/officeDocument/2006/math">
                    <m:r>
                      <a:rPr lang="en-US" altLang="zh-TW" b="0" i="0" dirty="0" smtClean="0">
                        <a:latin typeface="Cambria Math" panose="02040503050406030204" pitchFamily="18" charset="0"/>
                      </a:rPr>
                      <m:t>[</m:t>
                    </m:r>
                    <m:r>
                      <a:rPr lang="en-US" altLang="zh-TW" i="1" dirty="0" smtClean="0">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contains more than just </a:t>
                </a:r>
                <a14:m>
                  <m:oMath xmlns:m="http://schemas.openxmlformats.org/officeDocument/2006/math">
                    <m:r>
                      <a:rPr lang="en-US" altLang="zh-TW" i="1" dirty="0" smtClean="0">
                        <a:latin typeface="Cambria Math" panose="02040503050406030204" pitchFamily="18" charset="0"/>
                      </a:rPr>
                      <m:t>𝑡𝑎𝑖𝑙</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smtClean="0">
                        <a:latin typeface="Cambria Math" panose="02040503050406030204" pitchFamily="18" charset="0"/>
                      </a:rPr>
                      <m:t>].</m:t>
                    </m:r>
                  </m:oMath>
                </a14:m>
                <a:endParaRPr lang="en-US" altLang="zh-TW" dirty="0" smtClean="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cstate="print"/>
                <a:stretch>
                  <a:fillRect l="-1546"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791082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If </a:t>
                </a:r>
                <a:r>
                  <a:rPr lang="en-US" altLang="zh-TW" dirty="0"/>
                  <a:t>the condition of line 13 is satisfied, the tentative value of </a:t>
                </a:r>
                <a14:m>
                  <m:oMath xmlns:m="http://schemas.openxmlformats.org/officeDocument/2006/math">
                    <m:r>
                      <a:rPr lang="en-US" altLang="zh-TW" i="1" dirty="0" smtClean="0">
                        <a:latin typeface="Cambria Math" panose="02040503050406030204" pitchFamily="18" charset="0"/>
                      </a:rPr>
                      <m:t>𝑡𝑎𝑖𝑙</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must be stripped out; since it was not stripped out when considering position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− 1, </m:t>
                    </m:r>
                    <m:r>
                      <a:rPr lang="en-US" altLang="zh-TW" i="1" dirty="0">
                        <a:latin typeface="Cambria Math" panose="02040503050406030204" pitchFamily="18" charset="0"/>
                      </a:rPr>
                      <m:t>𝑗</m:t>
                    </m:r>
                    <m:r>
                      <a:rPr lang="en-US" altLang="zh-TW" i="1" dirty="0">
                        <a:latin typeface="Cambria Math" panose="02040503050406030204" pitchFamily="18" charset="0"/>
                      </a:rPr>
                      <m:t>], </m:t>
                    </m:r>
                    <m:r>
                      <a:rPr lang="en-US" altLang="zh-TW" i="1" dirty="0" smtClean="0">
                        <a:latin typeface="Cambria Math" panose="02040503050406030204" pitchFamily="18" charset="0"/>
                      </a:rPr>
                      <m:t>𝑡𝑎𝑖𝑙</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must be in row </a:t>
                </a:r>
                <a14:m>
                  <m:oMath xmlns:m="http://schemas.openxmlformats.org/officeDocument/2006/math">
                    <m:r>
                      <a:rPr lang="en-US" altLang="zh-TW" i="1" dirty="0" smtClean="0">
                        <a:latin typeface="Cambria Math" panose="02040503050406030204" pitchFamily="18" charset="0"/>
                      </a:rPr>
                      <m:t>𝑖</m:t>
                    </m:r>
                  </m:oMath>
                </a14:m>
                <a:r>
                  <a:rPr lang="en-US" altLang="zh-TW" dirty="0"/>
                  <a:t>, and only a single node remains in the adjacency list for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so that our work is again done. </a:t>
                </a:r>
              </a:p>
              <a:p>
                <a:pPr marL="0" indent="0">
                  <a:buNone/>
                </a:pPr>
                <a:r>
                  <a:rPr lang="en-US" altLang="zh-TW" dirty="0"/>
                  <a:t>Otherwise, we set the next linked list node of </a:t>
                </a:r>
                <a14:m>
                  <m:oMath xmlns:m="http://schemas.openxmlformats.org/officeDocument/2006/math">
                    <m:r>
                      <a:rPr lang="en-US" altLang="zh-TW" i="1" dirty="0" smtClean="0">
                        <a:latin typeface="Cambria Math" panose="02040503050406030204" pitchFamily="18" charset="0"/>
                      </a:rPr>
                      <m:t>𝑝𝑟𝑒𝑡𝑎𝑖𝑙</m:t>
                    </m:r>
                    <m:r>
                      <a:rPr lang="en-US" altLang="zh-TW" i="1" dirty="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to </a:t>
                </a:r>
                <a14:m>
                  <m:oMath xmlns:m="http://schemas.openxmlformats.org/officeDocument/2006/math">
                    <m:r>
                      <a:rPr lang="en-US" altLang="zh-TW" i="1" dirty="0" smtClean="0">
                        <a:latin typeface="Cambria Math" panose="02040503050406030204" pitchFamily="18" charset="0"/>
                      </a:rPr>
                      <m:t>𝑡𝑎𝑖𝑙</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in line 15,and we set </a:t>
                </a:r>
                <a14:m>
                  <m:oMath xmlns:m="http://schemas.openxmlformats.org/officeDocument/2006/math">
                    <m:r>
                      <a:rPr lang="en-US" altLang="zh-TW" i="1" dirty="0" smtClean="0">
                        <a:latin typeface="Cambria Math" panose="02040503050406030204" pitchFamily="18" charset="0"/>
                      </a:rPr>
                      <m:t>h𝑒𝑎𝑑</m:t>
                    </m:r>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m:t>
                    </m:r>
                  </m:oMath>
                </a14:m>
                <a:r>
                  <a:rPr lang="en-US" altLang="zh-TW" dirty="0"/>
                  <a:t> in lines 16 to 17.</a:t>
                </a:r>
                <a:endParaRPr lang="zh-TW" altLang="en-US" dirty="0"/>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cstate="print"/>
                <a:stretch>
                  <a:fillRect l="-1546"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844142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72106" y="2864945"/>
            <a:ext cx="7392737" cy="3671299"/>
          </a:xfrm>
        </p:spPr>
      </p:pic>
      <p:graphicFrame>
        <p:nvGraphicFramePr>
          <p:cNvPr id="4" name="表格 3"/>
          <p:cNvGraphicFramePr>
            <a:graphicFrameLocks noGrp="1"/>
          </p:cNvGraphicFramePr>
          <p:nvPr>
            <p:extLst>
              <p:ext uri="{D42A27DB-BD31-4B8C-83A1-F6EECF244321}">
                <p14:modId xmlns:p14="http://schemas.microsoft.com/office/powerpoint/2010/main" val="2271469524"/>
              </p:ext>
            </p:extLst>
          </p:nvPr>
        </p:nvGraphicFramePr>
        <p:xfrm>
          <a:off x="1268627" y="510747"/>
          <a:ext cx="6096000" cy="1837035"/>
        </p:xfrm>
        <a:graphic>
          <a:graphicData uri="http://schemas.openxmlformats.org/drawingml/2006/table">
            <a:tbl>
              <a:tblPr firstRow="1" bandRow="1">
                <a:tableStyleId>{5940675A-B579-460E-94D1-54222C63F5DA}</a:tableStyleId>
              </a:tblPr>
              <a:tblGrid>
                <a:gridCol w="1219200"/>
                <a:gridCol w="1219200"/>
                <a:gridCol w="1219200"/>
                <a:gridCol w="1219200"/>
                <a:gridCol w="1219200"/>
              </a:tblGrid>
              <a:tr h="367407">
                <a:tc>
                  <a:txBody>
                    <a:bodyPr/>
                    <a:lstStyle/>
                    <a:p>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l</a:t>
                      </a:r>
                      <a:endParaRPr lang="zh-TW" altLang="en-US" dirty="0"/>
                    </a:p>
                  </a:txBody>
                  <a:tcPr/>
                </a:tc>
                <a:tc>
                  <a:txBody>
                    <a:bodyPr/>
                    <a:lstStyle/>
                    <a:p>
                      <a:r>
                        <a:rPr lang="en-US" altLang="zh-TW" dirty="0" smtClean="0"/>
                        <a:t>a</a:t>
                      </a:r>
                      <a:endParaRPr lang="zh-TW" altLang="en-US" dirty="0"/>
                    </a:p>
                  </a:txBody>
                  <a:tcPr/>
                </a:tc>
              </a:tr>
              <a:tr h="367407">
                <a:tc>
                  <a:txBody>
                    <a:bodyPr/>
                    <a:lstStyle/>
                    <a:p>
                      <a:r>
                        <a:rPr lang="en-US" altLang="zh-TW" dirty="0" smtClean="0"/>
                        <a:t>b</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r>
              <a:tr h="367407">
                <a:tc>
                  <a:txBody>
                    <a:bodyPr/>
                    <a:lstStyle/>
                    <a:p>
                      <a:r>
                        <a:rPr lang="en-US" altLang="zh-TW" dirty="0" err="1" smtClean="0"/>
                        <a:t>i</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r>
              <a:tr h="367407">
                <a:tc>
                  <a:txBody>
                    <a:bodyPr/>
                    <a:lstStyle/>
                    <a:p>
                      <a:r>
                        <a:rPr lang="en-US" altLang="zh-TW" dirty="0" smtClean="0"/>
                        <a:t>l</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r>
              <a:tr h="367407">
                <a:tc>
                  <a:txBody>
                    <a:bodyPr/>
                    <a:lstStyle/>
                    <a:p>
                      <a:r>
                        <a:rPr lang="en-US" altLang="zh-TW" dirty="0" smtClean="0"/>
                        <a:t>a</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spTree>
    <p:extLst>
      <p:ext uri="{BB962C8B-B14F-4D97-AF65-F5344CB8AC3E}">
        <p14:creationId xmlns:p14="http://schemas.microsoft.com/office/powerpoint/2010/main" val="19351724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108493019"/>
              </p:ext>
            </p:extLst>
          </p:nvPr>
        </p:nvGraphicFramePr>
        <p:xfrm>
          <a:off x="1262964" y="515810"/>
          <a:ext cx="6096000" cy="1854200"/>
        </p:xfrm>
        <a:graphic>
          <a:graphicData uri="http://schemas.openxmlformats.org/drawingml/2006/table">
            <a:tbl>
              <a:tblPr firstRow="1" bandRow="1">
                <a:tableStyleId>{5940675A-B579-460E-94D1-54222C63F5DA}</a:tableStyleId>
              </a:tblPr>
              <a:tblGrid>
                <a:gridCol w="1219200"/>
                <a:gridCol w="1219200"/>
                <a:gridCol w="1219200"/>
                <a:gridCol w="1219200"/>
                <a:gridCol w="1219200"/>
              </a:tblGrid>
              <a:tr h="370840">
                <a:tc>
                  <a:txBody>
                    <a:bodyPr/>
                    <a:lstStyle/>
                    <a:p>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c</a:t>
                      </a:r>
                      <a:endParaRPr lang="zh-TW" altLang="en-US" dirty="0"/>
                    </a:p>
                  </a:txBody>
                  <a:tcPr/>
                </a:tc>
                <a:tc>
                  <a:txBody>
                    <a:bodyPr/>
                    <a:lstStyle/>
                    <a:p>
                      <a:r>
                        <a:rPr lang="en-US" altLang="zh-TW" dirty="0" smtClean="0"/>
                        <a:t>l</a:t>
                      </a:r>
                      <a:endParaRPr lang="zh-TW" altLang="en-US" dirty="0"/>
                    </a:p>
                  </a:txBody>
                  <a:tcPr/>
                </a:tc>
                <a:tc>
                  <a:txBody>
                    <a:bodyPr/>
                    <a:lstStyle/>
                    <a:p>
                      <a:r>
                        <a:rPr lang="en-US" altLang="zh-TW" dirty="0" smtClean="0"/>
                        <a:t>a</a:t>
                      </a:r>
                      <a:endParaRPr lang="zh-TW" altLang="en-US" dirty="0"/>
                    </a:p>
                  </a:txBody>
                  <a:tcPr/>
                </a:tc>
              </a:tr>
              <a:tr h="370840">
                <a:tc>
                  <a:txBody>
                    <a:bodyPr/>
                    <a:lstStyle/>
                    <a:p>
                      <a:r>
                        <a:rPr lang="en-US" altLang="zh-TW" dirty="0" smtClean="0"/>
                        <a:t>b</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r>
              <a:tr h="370840">
                <a:tc>
                  <a:txBody>
                    <a:bodyPr/>
                    <a:lstStyle/>
                    <a:p>
                      <a:r>
                        <a:rPr lang="en-US" altLang="zh-TW" dirty="0" err="1" smtClean="0"/>
                        <a:t>i</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r>
              <a:tr h="370840">
                <a:tc>
                  <a:txBody>
                    <a:bodyPr/>
                    <a:lstStyle/>
                    <a:p>
                      <a:r>
                        <a:rPr lang="en-US" altLang="zh-TW" dirty="0" smtClean="0"/>
                        <a:t>l</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r>
              <a:tr h="370840">
                <a:tc>
                  <a:txBody>
                    <a:bodyPr/>
                    <a:lstStyle/>
                    <a:p>
                      <a:r>
                        <a:rPr lang="en-US" altLang="zh-TW" dirty="0" smtClean="0"/>
                        <a:t>c</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r>
            </a:tbl>
          </a:graphicData>
        </a:graphic>
      </p:graphicFrame>
      <p:pic>
        <p:nvPicPr>
          <p:cNvPr id="5"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72106" y="2864945"/>
            <a:ext cx="7392737" cy="3671299"/>
          </a:xfrm>
        </p:spPr>
      </p:pic>
    </p:spTree>
    <p:extLst>
      <p:ext uri="{BB962C8B-B14F-4D97-AF65-F5344CB8AC3E}">
        <p14:creationId xmlns:p14="http://schemas.microsoft.com/office/powerpoint/2010/main" val="10795895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72106" y="2864945"/>
            <a:ext cx="7392737" cy="3671299"/>
          </a:xfrm>
        </p:spPr>
      </p:pic>
      <p:graphicFrame>
        <p:nvGraphicFramePr>
          <p:cNvPr id="6" name="表格 5"/>
          <p:cNvGraphicFramePr>
            <a:graphicFrameLocks noGrp="1"/>
          </p:cNvGraphicFramePr>
          <p:nvPr>
            <p:extLst>
              <p:ext uri="{D42A27DB-BD31-4B8C-83A1-F6EECF244321}">
                <p14:modId xmlns:p14="http://schemas.microsoft.com/office/powerpoint/2010/main" val="3545616709"/>
              </p:ext>
            </p:extLst>
          </p:nvPr>
        </p:nvGraphicFramePr>
        <p:xfrm>
          <a:off x="1271201" y="515809"/>
          <a:ext cx="6096000" cy="1854200"/>
        </p:xfrm>
        <a:graphic>
          <a:graphicData uri="http://schemas.openxmlformats.org/drawingml/2006/table">
            <a:tbl>
              <a:tblPr firstRow="1" bandRow="1">
                <a:tableStyleId>{5940675A-B579-460E-94D1-54222C63F5DA}</a:tableStyleId>
              </a:tblPr>
              <a:tblGrid>
                <a:gridCol w="1219200"/>
                <a:gridCol w="1219200"/>
                <a:gridCol w="1219200"/>
                <a:gridCol w="1219200"/>
                <a:gridCol w="1219200"/>
              </a:tblGrid>
              <a:tr h="370840">
                <a:tc>
                  <a:txBody>
                    <a:bodyPr/>
                    <a:lstStyle/>
                    <a:p>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c</a:t>
                      </a:r>
                      <a:endParaRPr lang="zh-TW" altLang="en-US" dirty="0"/>
                    </a:p>
                  </a:txBody>
                  <a:tcPr/>
                </a:tc>
                <a:tc>
                  <a:txBody>
                    <a:bodyPr/>
                    <a:lstStyle/>
                    <a:p>
                      <a:r>
                        <a:rPr lang="en-US" altLang="zh-TW" dirty="0" smtClean="0"/>
                        <a:t>l</a:t>
                      </a:r>
                      <a:endParaRPr lang="zh-TW" altLang="en-US" dirty="0"/>
                    </a:p>
                  </a:txBody>
                  <a:tcPr/>
                </a:tc>
                <a:tc>
                  <a:txBody>
                    <a:bodyPr/>
                    <a:lstStyle/>
                    <a:p>
                      <a:r>
                        <a:rPr lang="en-US" altLang="zh-TW" dirty="0" smtClean="0"/>
                        <a:t>a</a:t>
                      </a:r>
                      <a:endParaRPr lang="zh-TW" altLang="en-US" dirty="0"/>
                    </a:p>
                  </a:txBody>
                  <a:tcPr/>
                </a:tc>
              </a:tr>
              <a:tr h="370840">
                <a:tc>
                  <a:txBody>
                    <a:bodyPr/>
                    <a:lstStyle/>
                    <a:p>
                      <a:r>
                        <a:rPr lang="en-US" altLang="zh-TW" dirty="0" smtClean="0"/>
                        <a:t>b</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r>
              <a:tr h="370840">
                <a:tc>
                  <a:txBody>
                    <a:bodyPr/>
                    <a:lstStyle/>
                    <a:p>
                      <a:r>
                        <a:rPr lang="en-US" altLang="zh-TW" dirty="0" smtClean="0"/>
                        <a:t>a</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r>
              <a:tr h="370840">
                <a:tc>
                  <a:txBody>
                    <a:bodyPr/>
                    <a:lstStyle/>
                    <a:p>
                      <a:r>
                        <a:rPr lang="en-US" altLang="zh-TW" dirty="0" smtClean="0"/>
                        <a:t>l</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r>
              <a:tr h="370840">
                <a:tc>
                  <a:txBody>
                    <a:bodyPr/>
                    <a:lstStyle/>
                    <a:p>
                      <a:r>
                        <a:rPr lang="en-US" altLang="zh-TW" dirty="0" smtClean="0"/>
                        <a:t>c</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r>
            </a:tbl>
          </a:graphicData>
        </a:graphic>
      </p:graphicFrame>
    </p:spTree>
    <p:extLst>
      <p:ext uri="{BB962C8B-B14F-4D97-AF65-F5344CB8AC3E}">
        <p14:creationId xmlns:p14="http://schemas.microsoft.com/office/powerpoint/2010/main" val="23295209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Find all LCS </a:t>
            </a:r>
            <a:r>
              <a:rPr lang="en-US" altLang="zh-TW" dirty="0" err="1" smtClean="0"/>
              <a:t>embeddings</a:t>
            </a:r>
            <a:endParaRPr lang="zh-TW" altLang="en-US" dirty="0"/>
          </a:p>
        </p:txBody>
      </p:sp>
      <p:sp>
        <p:nvSpPr>
          <p:cNvPr id="3" name="內容版面配置區 2"/>
          <p:cNvSpPr>
            <a:spLocks noGrp="1"/>
          </p:cNvSpPr>
          <p:nvPr>
            <p:ph idx="1"/>
          </p:nvPr>
        </p:nvSpPr>
        <p:spPr/>
        <p:txBody>
          <a:bodyPr/>
          <a:lstStyle/>
          <a:p>
            <a:pPr marL="0" indent="0">
              <a:buNone/>
            </a:pPr>
            <a:r>
              <a:rPr lang="en-US" altLang="zh-TW" dirty="0"/>
              <a:t>If we wish to find all LCS </a:t>
            </a:r>
            <a:r>
              <a:rPr lang="en-US" altLang="zh-TW" dirty="0" err="1"/>
              <a:t>embeddings</a:t>
            </a:r>
            <a:r>
              <a:rPr lang="en-US" altLang="zh-TW" dirty="0"/>
              <a:t>, without duplicating the same embedding, but including </a:t>
            </a:r>
            <a:r>
              <a:rPr lang="en-US" altLang="zh-TW" dirty="0" smtClean="0"/>
              <a:t>multiple </a:t>
            </a:r>
            <a:r>
              <a:rPr lang="en-US" altLang="zh-TW" dirty="0" err="1" smtClean="0"/>
              <a:t>embeddings</a:t>
            </a:r>
            <a:r>
              <a:rPr lang="en-US" altLang="zh-TW" dirty="0" smtClean="0"/>
              <a:t> </a:t>
            </a:r>
            <a:r>
              <a:rPr lang="en-US" altLang="zh-TW" dirty="0"/>
              <a:t>of the same LCS</a:t>
            </a:r>
            <a:endParaRPr lang="zh-TW" altLang="en-US" dirty="0"/>
          </a:p>
        </p:txBody>
      </p:sp>
    </p:spTree>
    <p:extLst>
      <p:ext uri="{BB962C8B-B14F-4D97-AF65-F5344CB8AC3E}">
        <p14:creationId xmlns:p14="http://schemas.microsoft.com/office/powerpoint/2010/main" val="27606476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2734" y="1595846"/>
            <a:ext cx="9552107" cy="4545594"/>
          </a:xfrm>
        </p:spPr>
      </p:pic>
    </p:spTree>
    <p:extLst>
      <p:ext uri="{BB962C8B-B14F-4D97-AF65-F5344CB8AC3E}">
        <p14:creationId xmlns:p14="http://schemas.microsoft.com/office/powerpoint/2010/main" val="156467080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lnSpcReduction="10000"/>
              </a:bodyPr>
              <a:lstStyle/>
              <a:p>
                <a:pPr marL="0" indent="0">
                  <a:buNone/>
                </a:pPr>
                <a:r>
                  <a:rPr lang="en-US" altLang="zh-TW" dirty="0"/>
                  <a:t>We now use line 5 to set self-pointers for a match. </a:t>
                </a:r>
                <a:r>
                  <a:rPr lang="en-US" altLang="zh-TW" dirty="0" err="1" smtClean="0"/>
                  <a:t>Then,regardless</a:t>
                </a:r>
                <a:r>
                  <a:rPr lang="en-US" altLang="zh-TW" dirty="0" smtClean="0"/>
                  <a:t> </a:t>
                </a:r>
                <a:r>
                  <a:rPr lang="en-US" altLang="zh-TW" dirty="0"/>
                  <a:t>of whether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is a match, we merge the information there with information at whichever </a:t>
                </a:r>
                <a:r>
                  <a:rPr lang="en-US" altLang="zh-TW" dirty="0" smtClean="0"/>
                  <a:t>of </a:t>
                </a:r>
                <a14:m>
                  <m:oMath xmlns:m="http://schemas.openxmlformats.org/officeDocument/2006/math">
                    <m:r>
                      <a:rPr lang="en-US" altLang="zh-TW" i="1" dirty="0" smtClean="0">
                        <a:latin typeface="Cambria Math" panose="02040503050406030204" pitchFamily="18" charset="0"/>
                      </a:rPr>
                      <m:t>[</m:t>
                    </m:r>
                    <m:r>
                      <a:rPr lang="en-US" altLang="zh-TW" i="1" dirty="0" err="1" smtClean="0">
                        <a:latin typeface="Cambria Math" panose="02040503050406030204" pitchFamily="18" charset="0"/>
                      </a:rPr>
                      <m:t>𝑖</m:t>
                    </m:r>
                    <m:r>
                      <a:rPr lang="en-US" altLang="zh-TW" i="1" dirty="0" smtClean="0">
                        <a:latin typeface="Cambria Math" panose="02040503050406030204" pitchFamily="18" charset="0"/>
                      </a:rPr>
                      <m:t> </m:t>
                    </m:r>
                    <m:r>
                      <a:rPr lang="en-US" altLang="zh-TW" i="1" dirty="0">
                        <a:latin typeface="Cambria Math" panose="02040503050406030204" pitchFamily="18" charset="0"/>
                      </a:rPr>
                      <m:t>− 1,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and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− 1] </m:t>
                    </m:r>
                  </m:oMath>
                </a14:m>
                <a:r>
                  <a:rPr lang="en-US" altLang="zh-TW" dirty="0"/>
                  <a:t>is of the same rank. </a:t>
                </a:r>
                <a:endParaRPr lang="en-US" altLang="zh-TW" dirty="0" smtClean="0"/>
              </a:p>
              <a:p>
                <a:pPr marL="0" indent="0">
                  <a:buNone/>
                </a:pPr>
                <a:r>
                  <a:rPr lang="en-US" altLang="zh-TW" dirty="0" smtClean="0"/>
                  <a:t>In </a:t>
                </a:r>
                <a:r>
                  <a:rPr lang="en-US" altLang="zh-TW" dirty="0"/>
                  <a:t>lines 8–10, the adjacency list for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becomes that of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− 1,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with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possibly added on front. In lines 12–14, the adjacency list for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−1] </m:t>
                    </m:r>
                  </m:oMath>
                </a14:m>
                <a:r>
                  <a:rPr lang="en-US" altLang="zh-TW" dirty="0"/>
                  <a:t>(known to be nonempty </a:t>
                </a:r>
                <a:r>
                  <a:rPr lang="en-US" altLang="zh-TW" dirty="0" smtClean="0"/>
                  <a:t>due to </a:t>
                </a:r>
                <a:r>
                  <a:rPr lang="en-US" altLang="zh-TW" dirty="0"/>
                  <a:t>the test in line 11) is merged onto the front of the adjacency list for </a:t>
                </a:r>
                <a14:m>
                  <m:oMath xmlns:m="http://schemas.openxmlformats.org/officeDocument/2006/math">
                    <m:r>
                      <a:rPr lang="en-US" altLang="zh-TW" i="1" dirty="0" smtClean="0">
                        <a:latin typeface="Cambria Math" panose="02040503050406030204" pitchFamily="18" charset="0"/>
                      </a:rPr>
                      <m:t>[</m:t>
                    </m:r>
                    <m:r>
                      <a:rPr lang="en-US" altLang="zh-TW" i="1" dirty="0" err="1">
                        <a:latin typeface="Cambria Math" panose="02040503050406030204" pitchFamily="18" charset="0"/>
                      </a:rPr>
                      <m:t>𝑖</m:t>
                    </m:r>
                    <m:r>
                      <a:rPr lang="en-US" altLang="zh-TW" i="1" dirty="0">
                        <a:latin typeface="Cambria Math" panose="02040503050406030204" pitchFamily="18" charset="0"/>
                      </a:rPr>
                      <m:t>, </m:t>
                    </m:r>
                    <m:r>
                      <a:rPr lang="en-US" altLang="zh-TW" i="1" dirty="0">
                        <a:latin typeface="Cambria Math" panose="02040503050406030204" pitchFamily="18" charset="0"/>
                      </a:rPr>
                      <m:t>𝑗</m:t>
                    </m:r>
                    <m:r>
                      <a:rPr lang="en-US" altLang="zh-TW" i="1" dirty="0">
                        <a:latin typeface="Cambria Math" panose="02040503050406030204" pitchFamily="18" charset="0"/>
                      </a:rPr>
                      <m:t>] </m:t>
                    </m:r>
                  </m:oMath>
                </a14:m>
                <a:r>
                  <a:rPr lang="en-US" altLang="zh-TW" dirty="0"/>
                  <a:t>(taking into account </a:t>
                </a:r>
                <a:r>
                  <a:rPr lang="en-US" altLang="zh-TW" dirty="0" smtClean="0"/>
                  <a:t>possible overlap</a:t>
                </a:r>
                <a:r>
                  <a:rPr lang="en-US" altLang="zh-TW" dirty="0"/>
                  <a:t>).</a:t>
                </a:r>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cstate="print"/>
                <a:stretch>
                  <a:fillRect l="-1546" t="-3081" r="-115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217623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1441622" y="568412"/>
          <a:ext cx="6096000" cy="1891955"/>
        </p:xfrm>
        <a:graphic>
          <a:graphicData uri="http://schemas.openxmlformats.org/drawingml/2006/table">
            <a:tbl>
              <a:tblPr firstRow="1" bandRow="1">
                <a:tableStyleId>{5940675A-B579-460E-94D1-54222C63F5DA}</a:tableStyleId>
              </a:tblPr>
              <a:tblGrid>
                <a:gridCol w="1219200"/>
                <a:gridCol w="1219200"/>
                <a:gridCol w="1219200"/>
                <a:gridCol w="1219200"/>
                <a:gridCol w="1219200"/>
              </a:tblGrid>
              <a:tr h="378391">
                <a:tc>
                  <a:txBody>
                    <a:bodyPr/>
                    <a:lstStyle/>
                    <a:p>
                      <a:endParaRPr lang="zh-TW" altLang="en-US" dirty="0"/>
                    </a:p>
                  </a:txBody>
                  <a:tcPr/>
                </a:tc>
                <a:tc>
                  <a:txBody>
                    <a:bodyPr/>
                    <a:lstStyle/>
                    <a:p>
                      <a:r>
                        <a:rPr lang="en-US" altLang="zh-TW" dirty="0" smtClean="0"/>
                        <a:t>b</a:t>
                      </a:r>
                      <a:endParaRPr lang="zh-TW" altLang="en-US" dirty="0"/>
                    </a:p>
                  </a:txBody>
                  <a:tcPr/>
                </a:tc>
                <a:tc>
                  <a:txBody>
                    <a:bodyPr/>
                    <a:lstStyle/>
                    <a:p>
                      <a:r>
                        <a:rPr lang="en-US" altLang="zh-TW" dirty="0" smtClean="0"/>
                        <a:t>a</a:t>
                      </a:r>
                      <a:endParaRPr lang="zh-TW" altLang="en-US" dirty="0"/>
                    </a:p>
                  </a:txBody>
                  <a:tcPr/>
                </a:tc>
                <a:tc>
                  <a:txBody>
                    <a:bodyPr/>
                    <a:lstStyle/>
                    <a:p>
                      <a:r>
                        <a:rPr lang="en-US" altLang="zh-TW" dirty="0" smtClean="0"/>
                        <a:t>l</a:t>
                      </a:r>
                      <a:endParaRPr lang="zh-TW" altLang="en-US" dirty="0"/>
                    </a:p>
                  </a:txBody>
                  <a:tcPr/>
                </a:tc>
                <a:tc>
                  <a:txBody>
                    <a:bodyPr/>
                    <a:lstStyle/>
                    <a:p>
                      <a:r>
                        <a:rPr lang="en-US" altLang="zh-TW" dirty="0" smtClean="0"/>
                        <a:t>a</a:t>
                      </a:r>
                      <a:endParaRPr lang="zh-TW" altLang="en-US" dirty="0"/>
                    </a:p>
                  </a:txBody>
                  <a:tcPr/>
                </a:tc>
              </a:tr>
              <a:tr h="378391">
                <a:tc>
                  <a:txBody>
                    <a:bodyPr/>
                    <a:lstStyle/>
                    <a:p>
                      <a:r>
                        <a:rPr lang="en-US" altLang="zh-TW" dirty="0" smtClean="0"/>
                        <a:t>b</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r>
              <a:tr h="378391">
                <a:tc>
                  <a:txBody>
                    <a:bodyPr/>
                    <a:lstStyle/>
                    <a:p>
                      <a:r>
                        <a:rPr lang="en-US" altLang="zh-TW" dirty="0" err="1" smtClean="0"/>
                        <a:t>i</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r>
              <a:tr h="378391">
                <a:tc>
                  <a:txBody>
                    <a:bodyPr/>
                    <a:lstStyle/>
                    <a:p>
                      <a:r>
                        <a:rPr lang="en-US" altLang="zh-TW" dirty="0" smtClean="0"/>
                        <a:t>l</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r>
              <a:tr h="378391">
                <a:tc>
                  <a:txBody>
                    <a:bodyPr/>
                    <a:lstStyle/>
                    <a:p>
                      <a:r>
                        <a:rPr lang="en-US" altLang="zh-TW" dirty="0" smtClean="0"/>
                        <a:t>a</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r>
            </a:tbl>
          </a:graphicData>
        </a:graphic>
      </p:graphicFrame>
      <p:pic>
        <p:nvPicPr>
          <p:cNvPr id="3"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74489" y="2728144"/>
            <a:ext cx="7657404" cy="3643955"/>
          </a:xfrm>
        </p:spPr>
      </p:pic>
    </p:spTree>
    <p:extLst>
      <p:ext uri="{BB962C8B-B14F-4D97-AF65-F5344CB8AC3E}">
        <p14:creationId xmlns:p14="http://schemas.microsoft.com/office/powerpoint/2010/main" val="24573289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Conclusion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a:t>Simple </a:t>
                </a:r>
                <a14:m>
                  <m:oMath xmlns:m="http://schemas.openxmlformats.org/officeDocument/2006/math">
                    <m:r>
                      <a:rPr lang="en-US" altLang="zh-TW" i="1" dirty="0" smtClean="0">
                        <a:latin typeface="Cambria Math" panose="02040503050406030204" pitchFamily="18" charset="0"/>
                      </a:rPr>
                      <m:t>𝑂</m:t>
                    </m:r>
                    <m:r>
                      <a:rPr lang="en-US" altLang="zh-TW" i="1" dirty="0" smtClean="0">
                        <a:latin typeface="Cambria Math" panose="02040503050406030204" pitchFamily="18" charset="0"/>
                      </a:rPr>
                      <m:t>(</m:t>
                    </m:r>
                    <m:r>
                      <a:rPr lang="en-US" altLang="zh-TW" i="1" dirty="0" err="1">
                        <a:latin typeface="Cambria Math" panose="02040503050406030204" pitchFamily="18" charset="0"/>
                      </a:rPr>
                      <m:t>𝑚𝑛</m:t>
                    </m:r>
                    <m:r>
                      <a:rPr lang="en-US" altLang="zh-TW" i="1" dirty="0">
                        <a:latin typeface="Cambria Math" panose="02040503050406030204" pitchFamily="18" charset="0"/>
                      </a:rPr>
                      <m:t>) </m:t>
                    </m:r>
                  </m:oMath>
                </a14:m>
                <a:r>
                  <a:rPr lang="en-US" altLang="zh-TW" dirty="0"/>
                  <a:t>algorithms have been presented to produce the all-prefixes-LCS-graph in either the context </a:t>
                </a:r>
                <a:r>
                  <a:rPr lang="en-US" altLang="zh-TW" dirty="0" smtClean="0"/>
                  <a:t>of representing </a:t>
                </a:r>
                <a:r>
                  <a:rPr lang="en-US" altLang="zh-TW" dirty="0"/>
                  <a:t>all distinct LCSs or of representing all LCS </a:t>
                </a:r>
                <a:r>
                  <a:rPr lang="en-US" altLang="zh-TW" dirty="0" err="1"/>
                  <a:t>embeddings</a:t>
                </a:r>
                <a:r>
                  <a:rPr lang="en-US" altLang="zh-TW" dirty="0"/>
                  <a:t>. Once this graph is constructed, we </a:t>
                </a:r>
                <a:r>
                  <a:rPr lang="en-US" altLang="zh-TW" dirty="0" smtClean="0"/>
                  <a:t>can list </a:t>
                </a:r>
                <a:r>
                  <a:rPr lang="en-US" altLang="zh-TW" dirty="0"/>
                  <a:t>all the LCSs (or LCS </a:t>
                </a:r>
                <a:r>
                  <a:rPr lang="en-US" altLang="zh-TW" dirty="0" err="1"/>
                  <a:t>embeddings</a:t>
                </a:r>
                <a:r>
                  <a:rPr lang="en-US" altLang="zh-TW" dirty="0"/>
                  <a:t>) of prefixes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𝐴</m:t>
                        </m:r>
                      </m:e>
                      <m:sub>
                        <m:r>
                          <a:rPr lang="en-US" altLang="zh-TW" i="1">
                            <a:latin typeface="Cambria Math" panose="02040503050406030204" pitchFamily="18" charset="0"/>
                          </a:rPr>
                          <m:t>𝑖</m:t>
                        </m:r>
                      </m:sub>
                    </m:sSub>
                  </m:oMath>
                </a14:m>
                <a:r>
                  <a:rPr lang="en-US" altLang="zh-TW" dirty="0"/>
                  <a:t> and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𝐵</m:t>
                        </m:r>
                      </m:e>
                      <m:sub>
                        <m:r>
                          <a:rPr lang="en-US" altLang="zh-TW" i="1">
                            <a:latin typeface="Cambria Math" panose="02040503050406030204" pitchFamily="18" charset="0"/>
                          </a:rPr>
                          <m:t>𝑗</m:t>
                        </m:r>
                      </m:sub>
                    </m:sSub>
                  </m:oMath>
                </a14:m>
                <a:r>
                  <a:rPr lang="en-US" altLang="zh-TW" dirty="0"/>
                  <a:t>of the two input strings in time proportional </a:t>
                </a:r>
                <a:r>
                  <a:rPr lang="en-US" altLang="zh-TW" dirty="0" smtClean="0"/>
                  <a:t>to the </a:t>
                </a:r>
                <a:r>
                  <a:rPr lang="en-US" altLang="zh-TW" dirty="0"/>
                  <a:t>output size.</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cstate="print"/>
                <a:stretch>
                  <a:fillRect l="-1546"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8370479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549</TotalTime>
  <Words>1192</Words>
  <Application>Microsoft Office PowerPoint</Application>
  <PresentationFormat>如螢幕大小 (4:3)</PresentationFormat>
  <Paragraphs>154</Paragraphs>
  <Slides>33</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33</vt:i4>
      </vt:variant>
    </vt:vector>
  </HeadingPairs>
  <TitlesOfParts>
    <vt:vector size="40" baseType="lpstr">
      <vt:lpstr>新細明體</vt:lpstr>
      <vt:lpstr>Arial</vt:lpstr>
      <vt:lpstr>Calibri</vt:lpstr>
      <vt:lpstr>Calibri Light</vt:lpstr>
      <vt:lpstr>Cambria Math</vt:lpstr>
      <vt:lpstr>Verdana</vt:lpstr>
      <vt:lpstr>Office 佈景主題</vt:lpstr>
      <vt:lpstr>PowerPoint 簡報</vt:lpstr>
      <vt:lpstr>Abstract</vt:lpstr>
      <vt:lpstr>PowerPoint 簡報</vt:lpstr>
      <vt:lpstr>Introduction</vt:lpstr>
      <vt:lpstr>PowerPoint 簡報</vt:lpstr>
      <vt:lpstr>PowerPoint 簡報</vt:lpstr>
      <vt:lpstr>PowerPoint 簡報</vt:lpstr>
      <vt:lpstr>Find all distinct LCS</vt:lpstr>
      <vt:lpstr>PowerPoint 簡報</vt:lpstr>
      <vt:lpstr>PowerPoint 簡報</vt:lpstr>
      <vt:lpstr>PowerPoint 簡報</vt:lpstr>
      <vt:lpstr>PowerPoint 簡報</vt:lpstr>
      <vt:lpstr>Theorem 1</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Find all LCS embeddings</vt:lpstr>
      <vt:lpstr>PowerPoint 簡報</vt:lpstr>
      <vt:lpstr>PowerPoint 簡報</vt:lpstr>
      <vt:lpstr>PowerPoint 簡報</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HUGO</dc:creator>
  <cp:lastModifiedBy>郭冠呈</cp:lastModifiedBy>
  <cp:revision>29</cp:revision>
  <dcterms:created xsi:type="dcterms:W3CDTF">2014-10-01T07:40:30Z</dcterms:created>
  <dcterms:modified xsi:type="dcterms:W3CDTF">2014-10-07T13:56:19Z</dcterms:modified>
</cp:coreProperties>
</file>