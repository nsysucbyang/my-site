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0" r:id="rId7"/>
    <p:sldId id="263" r:id="rId8"/>
    <p:sldId id="261" r:id="rId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varScale="1">
        <p:scale>
          <a:sx n="38" d="100"/>
          <a:sy n="38" d="100"/>
        </p:scale>
        <p:origin x="-780" y="-108"/>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5786841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5855010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12120827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33663896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1415222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13597024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1905813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32409956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1183615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859100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FB0B197F-8002-421F-A76D-8088077AEF05}" type="datetimeFigureOut">
              <a:rPr lang="zh-TW" altLang="en-US" smtClean="0"/>
              <a:pPr/>
              <a:t>2014/5/6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29985848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B0B197F-8002-421F-A76D-8088077AEF05}" type="datetimeFigureOut">
              <a:rPr lang="zh-TW" altLang="en-US" smtClean="0"/>
              <a:pPr/>
              <a:t>2014/5/6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0BE2AA-5429-4F93-ACD9-A315555E9056}" type="slidenum">
              <a:rPr lang="zh-TW" altLang="en-US" smtClean="0"/>
              <a:pPr/>
              <a:t>‹#›</a:t>
            </a:fld>
            <a:endParaRPr lang="zh-TW" altLang="en-US"/>
          </a:p>
        </p:txBody>
      </p:sp>
    </p:spTree>
    <p:extLst>
      <p:ext uri="{BB962C8B-B14F-4D97-AF65-F5344CB8AC3E}">
        <p14:creationId xmlns="" xmlns:p14="http://schemas.microsoft.com/office/powerpoint/2010/main" val="39737282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683568" y="1124744"/>
            <a:ext cx="7772400" cy="1470025"/>
          </a:xfrm>
        </p:spPr>
        <p:txBody>
          <a:bodyPr>
            <a:normAutofit/>
          </a:bodyPr>
          <a:lstStyle/>
          <a:p>
            <a:r>
              <a:rPr lang="en-US" altLang="zh-TW" smtClean="0">
                <a:latin typeface="Times New Roman" panose="02020603050405020304" pitchFamily="18" charset="0"/>
                <a:cs typeface="Times New Roman" panose="02020603050405020304" pitchFamily="18" charset="0"/>
              </a:rPr>
              <a:t>The statistical </a:t>
            </a:r>
            <a:r>
              <a:rPr lang="en-US" altLang="zh-TW" dirty="0" smtClean="0">
                <a:latin typeface="Times New Roman" panose="02020603050405020304" pitchFamily="18" charset="0"/>
                <a:cs typeface="Times New Roman" panose="02020603050405020304" pitchFamily="18" charset="0"/>
              </a:rPr>
              <a:t>distribution of nucleic acid similarities</a:t>
            </a:r>
            <a:endParaRPr lang="zh-TW" altLang="en-US"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1331640" y="2852936"/>
            <a:ext cx="6400800" cy="1752600"/>
          </a:xfrm>
        </p:spPr>
        <p:txBody>
          <a:bodyPr>
            <a:normAutofit fontScale="92500" lnSpcReduction="20000"/>
          </a:bodyPr>
          <a:lstStyle/>
          <a:p>
            <a:r>
              <a:rPr lang="en-US" altLang="zh-TW" dirty="0" smtClean="0">
                <a:latin typeface="Times New Roman" panose="02020603050405020304" pitchFamily="18" charset="0"/>
                <a:cs typeface="Times New Roman" panose="02020603050405020304" pitchFamily="18" charset="0"/>
              </a:rPr>
              <a:t>Nucleic Acids Research</a:t>
            </a:r>
            <a:endParaRPr lang="zh-TW" altLang="en-US" dirty="0" smtClean="0">
              <a:latin typeface="Times New Roman" panose="02020603050405020304" pitchFamily="18" charset="0"/>
              <a:cs typeface="Times New Roman" panose="02020603050405020304" pitchFamily="18" charset="0"/>
            </a:endParaRPr>
          </a:p>
          <a:p>
            <a:r>
              <a:rPr lang="en-US" altLang="zh-TW" dirty="0" smtClean="0">
                <a:latin typeface="Times New Roman" panose="02020603050405020304" pitchFamily="18" charset="0"/>
                <a:cs typeface="Times New Roman" panose="02020603050405020304" pitchFamily="18" charset="0"/>
              </a:rPr>
              <a:t>Volume 13 Number 2 1985</a:t>
            </a:r>
          </a:p>
          <a:p>
            <a:r>
              <a:rPr lang="en-US" altLang="zh-TW" dirty="0" smtClean="0">
                <a:latin typeface="Times New Roman" panose="02020603050405020304" pitchFamily="18" charset="0"/>
                <a:cs typeface="Times New Roman" panose="02020603050405020304" pitchFamily="18" charset="0"/>
              </a:rPr>
              <a:t>Temple F.Smith, Michael S.Waterman and Christian Burks</a:t>
            </a:r>
          </a:p>
          <a:p>
            <a:endParaRPr lang="zh-TW" altLang="en-US" dirty="0">
              <a:latin typeface="Times New Roman" panose="02020603050405020304" pitchFamily="18" charset="0"/>
              <a:cs typeface="Times New Roman" panose="02020603050405020304" pitchFamily="18" charset="0"/>
            </a:endParaRPr>
          </a:p>
        </p:txBody>
      </p:sp>
      <p:sp>
        <p:nvSpPr>
          <p:cNvPr id="4" name="文字方塊 3"/>
          <p:cNvSpPr txBox="1"/>
          <p:nvPr/>
        </p:nvSpPr>
        <p:spPr>
          <a:xfrm>
            <a:off x="4355976" y="5373216"/>
            <a:ext cx="3672408" cy="646331"/>
          </a:xfrm>
          <a:prstGeom prst="rect">
            <a:avLst/>
          </a:prstGeom>
          <a:noFill/>
        </p:spPr>
        <p:txBody>
          <a:bodyPr wrap="square" rtlCol="0">
            <a:spAutoFit/>
          </a:bodyPr>
          <a:lstStyle/>
          <a:p>
            <a:pPr algn="r"/>
            <a:r>
              <a:rPr lang="en-US" altLang="zh-TW" dirty="0" smtClean="0">
                <a:latin typeface="Times New Roman" panose="02020603050405020304" pitchFamily="18" charset="0"/>
                <a:cs typeface="Times New Roman" panose="02020603050405020304" pitchFamily="18" charset="0"/>
              </a:rPr>
              <a:t>Prensenter: </a:t>
            </a:r>
            <a:r>
              <a:rPr lang="en-US" altLang="zh-TW" dirty="0" smtClean="0">
                <a:latin typeface="Times New Roman" pitchFamily="18" charset="0"/>
                <a:ea typeface="標楷體" pitchFamily="65" charset="-120"/>
                <a:cs typeface="Times New Roman" pitchFamily="18" charset="0"/>
              </a:rPr>
              <a:t>Cheng-Yi Fang </a:t>
            </a:r>
          </a:p>
          <a:p>
            <a:pPr algn="r"/>
            <a:r>
              <a:rPr lang="en-US" altLang="zh-TW" dirty="0" smtClean="0">
                <a:latin typeface="Times New Roman" pitchFamily="18" charset="0"/>
                <a:ea typeface="標楷體" pitchFamily="65" charset="-120"/>
                <a:cs typeface="Times New Roman" pitchFamily="18" charset="0"/>
              </a:rPr>
              <a:t>Date: 2014/05/06</a:t>
            </a:r>
          </a:p>
        </p:txBody>
      </p:sp>
    </p:spTree>
    <p:extLst>
      <p:ext uri="{BB962C8B-B14F-4D97-AF65-F5344CB8AC3E}">
        <p14:creationId xmlns="" xmlns:p14="http://schemas.microsoft.com/office/powerpoint/2010/main" val="5863295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latin typeface="Times New Roman" panose="02020603050405020304" pitchFamily="18" charset="0"/>
                <a:cs typeface="Times New Roman" panose="02020603050405020304" pitchFamily="18" charset="0"/>
              </a:rPr>
              <a:t>Abstract</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fontScale="85000" lnSpcReduction="10000"/>
          </a:bodyPr>
          <a:lstStyle/>
          <a:p>
            <a:r>
              <a:rPr lang="en-US" altLang="zh-TW" dirty="0" smtClean="0">
                <a:latin typeface="Times New Roman" panose="02020603050405020304" pitchFamily="18" charset="0"/>
                <a:cs typeface="Times New Roman" panose="02020603050405020304" pitchFamily="18" charset="0"/>
              </a:rPr>
              <a:t>All pairs of a large set of known vertebrate DNA sequences were searched by computer for most similar segments. Analysis of this data shows that the computed similarity scores are distributed proportionally to the logarithm of the product of the lengths of the sequences involved.</a:t>
            </a:r>
          </a:p>
          <a:p>
            <a:r>
              <a:rPr lang="en-US" altLang="zh-TW" dirty="0" smtClean="0">
                <a:latin typeface="Times New Roman" panose="02020603050405020304" pitchFamily="18" charset="0"/>
                <a:cs typeface="Times New Roman" panose="02020603050405020304" pitchFamily="18" charset="0"/>
              </a:rPr>
              <a:t>This distribution is closely related to recent results of Erdos and others on the longest run of heads in coin tossing. A simple rule is derived for determination of statistical significance of the similarity scores and to assist in relating statistical and biological significance.</a:t>
            </a:r>
          </a:p>
          <a:p>
            <a:endParaRPr lang="zh-TW" altLang="en-US" dirty="0"/>
          </a:p>
        </p:txBody>
      </p:sp>
    </p:spTree>
    <p:extLst>
      <p:ext uri="{BB962C8B-B14F-4D97-AF65-F5344CB8AC3E}">
        <p14:creationId xmlns="" xmlns:p14="http://schemas.microsoft.com/office/powerpoint/2010/main" val="37050899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Methods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a:bodyPr>
          <a:lstStyle/>
          <a:p>
            <a:r>
              <a:rPr lang="zh-TW" altLang="en-US" dirty="0">
                <a:latin typeface="Times New Roman" panose="02020603050405020304" pitchFamily="18" charset="0"/>
                <a:cs typeface="Times New Roman" panose="02020603050405020304" pitchFamily="18" charset="0"/>
              </a:rPr>
              <a:t>利</a:t>
            </a:r>
            <a:r>
              <a:rPr lang="zh-TW" altLang="en-US" dirty="0" smtClean="0">
                <a:latin typeface="Times New Roman" panose="02020603050405020304" pitchFamily="18" charset="0"/>
                <a:cs typeface="Times New Roman" panose="02020603050405020304" pitchFamily="18" charset="0"/>
              </a:rPr>
              <a:t>用</a:t>
            </a:r>
            <a:r>
              <a:rPr lang="en-US" altLang="zh-TW" dirty="0" smtClean="0">
                <a:latin typeface="Times New Roman" panose="02020603050405020304" pitchFamily="18" charset="0"/>
                <a:cs typeface="Times New Roman" panose="02020603050405020304" pitchFamily="18" charset="0"/>
              </a:rPr>
              <a:t>Needleman and Wunsch </a:t>
            </a:r>
            <a:r>
              <a:rPr lang="zh-TW" altLang="en-US" dirty="0" smtClean="0">
                <a:latin typeface="Times New Roman" panose="02020603050405020304" pitchFamily="18" charset="0"/>
                <a:cs typeface="Times New Roman" panose="02020603050405020304" pitchFamily="18" charset="0"/>
              </a:rPr>
              <a:t>的</a:t>
            </a:r>
            <a:r>
              <a:rPr lang="en-US" altLang="zh-TW" dirty="0" smtClean="0">
                <a:latin typeface="Times New Roman" panose="02020603050405020304" pitchFamily="18" charset="0"/>
                <a:cs typeface="Times New Roman" panose="02020603050405020304" pitchFamily="18" charset="0"/>
              </a:rPr>
              <a:t>sequences</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alignment</a:t>
            </a:r>
            <a:r>
              <a:rPr lang="zh-TW" altLang="en-US" dirty="0" smtClean="0">
                <a:latin typeface="Times New Roman" panose="02020603050405020304" pitchFamily="18" charset="0"/>
                <a:cs typeface="Times New Roman" panose="02020603050405020304" pitchFamily="18" charset="0"/>
              </a:rPr>
              <a:t> 找</a:t>
            </a:r>
            <a:r>
              <a:rPr lang="zh-TW" altLang="en-US" dirty="0">
                <a:latin typeface="Times New Roman" panose="02020603050405020304" pitchFamily="18" charset="0"/>
                <a:cs typeface="Times New Roman" panose="02020603050405020304" pitchFamily="18" charset="0"/>
              </a:rPr>
              <a:t>出相似度最</a:t>
            </a:r>
            <a:r>
              <a:rPr lang="zh-TW" altLang="en-US" dirty="0" smtClean="0">
                <a:latin typeface="Times New Roman" panose="02020603050405020304" pitchFamily="18" charset="0"/>
                <a:cs typeface="Times New Roman" panose="02020603050405020304" pitchFamily="18" charset="0"/>
              </a:rPr>
              <a:t>高的配對</a:t>
            </a:r>
            <a:r>
              <a:rPr lang="en-US" altLang="zh-TW" dirty="0" smtClean="0">
                <a:latin typeface="Times New Roman" panose="02020603050405020304" pitchFamily="18" charset="0"/>
                <a:cs typeface="Times New Roman" panose="02020603050405020304" pitchFamily="18" charset="0"/>
              </a:rPr>
              <a:t>by</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DP</a:t>
            </a:r>
            <a:endParaRPr lang="en-US" altLang="zh-TW" dirty="0" smtClean="0">
              <a:latin typeface="Times New Roman" panose="02020603050405020304" pitchFamily="18" charset="0"/>
              <a:cs typeface="Times New Roman" panose="02020603050405020304" pitchFamily="18" charset="0"/>
            </a:endParaRPr>
          </a:p>
          <a:p>
            <a:endParaRPr lang="en-US" altLang="zh-TW" dirty="0" smtClean="0">
              <a:latin typeface="Times New Roman" panose="02020603050405020304" pitchFamily="18" charset="0"/>
              <a:cs typeface="Times New Roman" panose="02020603050405020304" pitchFamily="18" charset="0"/>
            </a:endParaRPr>
          </a:p>
          <a:p>
            <a:pPr lvl="1"/>
            <a:r>
              <a:rPr lang="zh-TW" altLang="en-US" dirty="0" smtClean="0">
                <a:latin typeface="Times New Roman" panose="02020603050405020304" pitchFamily="18" charset="0"/>
                <a:cs typeface="Times New Roman" panose="02020603050405020304" pitchFamily="18" charset="0"/>
              </a:rPr>
              <a:t>參數</a:t>
            </a:r>
            <a:endParaRPr lang="en-US" altLang="zh-TW" dirty="0" smtClean="0">
              <a:latin typeface="Times New Roman" panose="02020603050405020304" pitchFamily="18" charset="0"/>
              <a:cs typeface="Times New Roman" panose="02020603050405020304" pitchFamily="18" charset="0"/>
            </a:endParaRPr>
          </a:p>
          <a:p>
            <a:pPr lvl="2"/>
            <a:r>
              <a:rPr lang="en-US" altLang="zh-TW" dirty="0" smtClean="0">
                <a:latin typeface="Times New Roman" panose="02020603050405020304" pitchFamily="18" charset="0"/>
                <a:cs typeface="Times New Roman" panose="02020603050405020304" pitchFamily="18" charset="0"/>
              </a:rPr>
              <a:t>Matchs:  1.0</a:t>
            </a:r>
          </a:p>
          <a:p>
            <a:pPr lvl="2"/>
            <a:r>
              <a:rPr lang="en-US" altLang="zh-TW" dirty="0" smtClean="0">
                <a:latin typeface="Times New Roman" panose="02020603050405020304" pitchFamily="18" charset="0"/>
                <a:cs typeface="Times New Roman" panose="02020603050405020304" pitchFamily="18" charset="0"/>
              </a:rPr>
              <a:t>Mismatches: -0.9</a:t>
            </a:r>
          </a:p>
          <a:p>
            <a:pPr lvl="2"/>
            <a:r>
              <a:rPr lang="en-US" altLang="zh-TW" dirty="0" smtClean="0">
                <a:latin typeface="Times New Roman" panose="02020603050405020304" pitchFamily="18" charset="0"/>
                <a:cs typeface="Times New Roman" panose="02020603050405020304" pitchFamily="18" charset="0"/>
              </a:rPr>
              <a:t>Gaps: -2.0 </a:t>
            </a:r>
          </a:p>
          <a:p>
            <a:pPr lvl="1"/>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90761728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95536" y="0"/>
            <a:ext cx="8229600" cy="692696"/>
          </a:xfrm>
        </p:spPr>
        <p:txBody>
          <a:bodyPr>
            <a:normAutofit fontScale="90000"/>
          </a:bodyPr>
          <a:lstStyle/>
          <a:p>
            <a:r>
              <a:rPr lang="en-US" altLang="zh-TW" dirty="0" smtClean="0">
                <a:latin typeface="Times New Roman" panose="02020603050405020304" pitchFamily="18" charset="0"/>
                <a:cs typeface="Times New Roman" panose="02020603050405020304" pitchFamily="18" charset="0"/>
              </a:rPr>
              <a:t>Experiments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5321" y="620688"/>
            <a:ext cx="7643192" cy="5145435"/>
          </a:xfrm>
        </p:spPr>
        <p:txBody>
          <a:bodyPr/>
          <a:lstStyle/>
          <a:p>
            <a:r>
              <a:rPr lang="en-US" altLang="zh-TW" dirty="0" smtClean="0">
                <a:latin typeface="Times New Roman" panose="02020603050405020304" pitchFamily="18" charset="0"/>
                <a:cs typeface="Times New Roman" panose="02020603050405020304" pitchFamily="18" charset="0"/>
              </a:rPr>
              <a:t>All sequence data were from GenBank</a:t>
            </a:r>
          </a:p>
          <a:p>
            <a:pPr lvl="1"/>
            <a:r>
              <a:rPr lang="en-US" altLang="zh-TW" sz="2000" dirty="0" smtClean="0">
                <a:latin typeface="Times New Roman" panose="02020603050405020304" pitchFamily="18" charset="0"/>
                <a:cs typeface="Times New Roman" panose="02020603050405020304" pitchFamily="18" charset="0"/>
              </a:rPr>
              <a:t>We used the method to generate a frequency distribution</a:t>
            </a:r>
            <a:r>
              <a:rPr lang="en-US" altLang="zh-TW" dirty="0" smtClean="0">
                <a:latin typeface="Times New Roman" panose="02020603050405020304" pitchFamily="18" charset="0"/>
                <a:cs typeface="Times New Roman" panose="02020603050405020304" pitchFamily="18" charset="0"/>
              </a:rPr>
              <a:t>.</a:t>
            </a:r>
            <a:endParaRPr lang="zh-TW" altLang="en-US" dirty="0">
              <a:latin typeface="Times New Roman" panose="02020603050405020304" pitchFamily="18" charset="0"/>
              <a:cs typeface="Times New Roman" panose="02020603050405020304" pitchFamily="18" charset="0"/>
            </a:endParaRPr>
          </a:p>
        </p:txBody>
      </p:sp>
      <p:pic>
        <p:nvPicPr>
          <p:cNvPr id="1026"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115616" y="1628800"/>
            <a:ext cx="7226619" cy="504232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 xmlns:a14="http://schemas.microsoft.com/office/drawing/2010/main" val="0"/>
              </a:ext>
            </a:extLst>
          </a:blip>
          <a:srcRect/>
          <a:stretch>
            <a:fillRect/>
          </a:stretch>
        </p:blipFill>
        <p:spPr bwMode="auto">
          <a:xfrm>
            <a:off x="2051720" y="6608060"/>
            <a:ext cx="5681663" cy="293687"/>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 xmlns:a14="http://schemas.microsoft.com/office/drawing/2010/main" val="0"/>
              </a:ext>
            </a:extLst>
          </a:blip>
          <a:srcRect/>
          <a:stretch>
            <a:fillRect/>
          </a:stretch>
        </p:blipFill>
        <p:spPr bwMode="auto">
          <a:xfrm>
            <a:off x="2411760" y="2386832"/>
            <a:ext cx="2605197" cy="194792"/>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029" name="Picture 5"/>
          <p:cNvPicPr>
            <a:picLocks noChangeAspect="1" noChangeArrowheads="1"/>
          </p:cNvPicPr>
          <p:nvPr/>
        </p:nvPicPr>
        <p:blipFill>
          <a:blip r:embed="rId5">
            <a:extLst>
              <a:ext uri="{28A0092B-C50C-407E-A947-70E740481C1C}">
                <a14:useLocalDpi xmlns="" xmlns:a14="http://schemas.microsoft.com/office/drawing/2010/main" val="0"/>
              </a:ext>
            </a:extLst>
          </a:blip>
          <a:srcRect/>
          <a:stretch>
            <a:fillRect/>
          </a:stretch>
        </p:blipFill>
        <p:spPr bwMode="auto">
          <a:xfrm>
            <a:off x="2699792" y="4941168"/>
            <a:ext cx="2317165" cy="216024"/>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1030" name="Picture 6"/>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6300192" y="2386832"/>
            <a:ext cx="1924056" cy="1666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pic>
        <p:nvPicPr>
          <p:cNvPr id="9" name="Picture 6"/>
          <p:cNvPicPr>
            <a:picLocks noChangeAspect="1" noChangeArrowheads="1"/>
          </p:cNvPicPr>
          <p:nvPr/>
        </p:nvPicPr>
        <p:blipFill>
          <a:blip r:embed="rId6">
            <a:extLst>
              <a:ext uri="{28A0092B-C50C-407E-A947-70E740481C1C}">
                <a14:useLocalDpi xmlns="" xmlns:a14="http://schemas.microsoft.com/office/drawing/2010/main" val="0"/>
              </a:ext>
            </a:extLst>
          </a:blip>
          <a:srcRect/>
          <a:stretch>
            <a:fillRect/>
          </a:stretch>
        </p:blipFill>
        <p:spPr bwMode="auto">
          <a:xfrm>
            <a:off x="6300192" y="4941168"/>
            <a:ext cx="1924056" cy="166688"/>
          </a:xfrm>
          <a:prstGeom prst="rect">
            <a:avLst/>
          </a:prstGeom>
          <a:noFill/>
          <a:ln>
            <a:noFill/>
          </a:ln>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Lst>
        </p:spPr>
      </p:pic>
    </p:spTree>
    <p:extLst>
      <p:ext uri="{BB962C8B-B14F-4D97-AF65-F5344CB8AC3E}">
        <p14:creationId xmlns="" xmlns:p14="http://schemas.microsoft.com/office/powerpoint/2010/main" val="14096857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Experiments</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p:txBody>
          <a:bodyPr>
            <a:normAutofit fontScale="85000" lnSpcReduction="10000"/>
          </a:bodyPr>
          <a:lstStyle/>
          <a:p>
            <a:r>
              <a:rPr lang="zh-TW" altLang="en-US" dirty="0">
                <a:latin typeface="Times New Roman" panose="02020603050405020304" pitchFamily="18" charset="0"/>
                <a:cs typeface="Times New Roman" panose="02020603050405020304" pitchFamily="18" charset="0"/>
              </a:rPr>
              <a:t>目地</a:t>
            </a:r>
            <a:r>
              <a:rPr lang="en-US" altLang="zh-TW" dirty="0" smtClean="0">
                <a:latin typeface="Times New Roman" panose="02020603050405020304" pitchFamily="18" charset="0"/>
                <a:cs typeface="Times New Roman" panose="02020603050405020304" pitchFamily="18" charset="0"/>
              </a:rPr>
              <a:t>:</a:t>
            </a:r>
            <a:r>
              <a:rPr lang="zh-TW" altLang="en-US" dirty="0" smtClean="0">
                <a:latin typeface="Times New Roman" panose="02020603050405020304" pitchFamily="18" charset="0"/>
                <a:cs typeface="Times New Roman" panose="02020603050405020304" pitchFamily="18" charset="0"/>
              </a:rPr>
              <a:t> 找</a:t>
            </a:r>
            <a:r>
              <a:rPr lang="zh-TW" altLang="en-US" dirty="0">
                <a:latin typeface="Times New Roman" panose="02020603050405020304" pitchFamily="18" charset="0"/>
                <a:cs typeface="Times New Roman" panose="02020603050405020304" pitchFamily="18" charset="0"/>
              </a:rPr>
              <a:t>出據統計顯著性的</a:t>
            </a:r>
            <a:r>
              <a:rPr lang="en-US" altLang="zh-TW" dirty="0">
                <a:latin typeface="Times New Roman" panose="02020603050405020304" pitchFamily="18" charset="0"/>
                <a:cs typeface="Times New Roman" panose="02020603050405020304" pitchFamily="18" charset="0"/>
              </a:rPr>
              <a:t>alignment</a:t>
            </a:r>
            <a:endParaRPr lang="en-US" altLang="zh-TW" dirty="0" smtClean="0">
              <a:latin typeface="Times New Roman" panose="02020603050405020304" pitchFamily="18" charset="0"/>
              <a:cs typeface="Times New Roman" panose="02020603050405020304" pitchFamily="18" charset="0"/>
            </a:endParaRPr>
          </a:p>
          <a:p>
            <a:r>
              <a:rPr lang="zh-TW" altLang="en-US" dirty="0" smtClean="0">
                <a:latin typeface="Times New Roman" panose="02020603050405020304" pitchFamily="18" charset="0"/>
                <a:cs typeface="Times New Roman" panose="02020603050405020304" pitchFamily="18" charset="0"/>
              </a:rPr>
              <a:t>分析時去除分數大於</a:t>
            </a:r>
            <a:r>
              <a:rPr lang="en-US" altLang="zh-TW" dirty="0" smtClean="0">
                <a:latin typeface="Times New Roman" panose="02020603050405020304" pitchFamily="18" charset="0"/>
                <a:cs typeface="Times New Roman" panose="02020603050405020304" pitchFamily="18" charset="0"/>
              </a:rPr>
              <a:t>40</a:t>
            </a:r>
            <a:r>
              <a:rPr lang="zh-TW" altLang="en-US" dirty="0" smtClean="0">
                <a:latin typeface="Times New Roman" panose="02020603050405020304" pitchFamily="18" charset="0"/>
                <a:cs typeface="Times New Roman" panose="02020603050405020304" pitchFamily="18" charset="0"/>
              </a:rPr>
              <a:t>的數據</a:t>
            </a:r>
            <a:endParaRPr lang="en-US" altLang="zh-TW" dirty="0" smtClean="0">
              <a:latin typeface="Times New Roman" panose="02020603050405020304" pitchFamily="18" charset="0"/>
              <a:cs typeface="Times New Roman" panose="02020603050405020304" pitchFamily="18" charset="0"/>
            </a:endParaRPr>
          </a:p>
          <a:p>
            <a:r>
              <a:rPr lang="zh-TW" altLang="en-US" dirty="0" smtClean="0">
                <a:latin typeface="Times New Roman" panose="02020603050405020304" pitchFamily="18" charset="0"/>
                <a:cs typeface="Times New Roman" panose="02020603050405020304" pitchFamily="18" charset="0"/>
              </a:rPr>
              <a:t>將 </a:t>
            </a:r>
            <a:r>
              <a:rPr lang="en-US" altLang="zh-TW" dirty="0" smtClean="0">
                <a:latin typeface="Times New Roman" panose="02020603050405020304" pitchFamily="18" charset="0"/>
                <a:cs typeface="Times New Roman" panose="02020603050405020304" pitchFamily="18" charset="0"/>
              </a:rPr>
              <a:t>the length of the longest run of</a:t>
            </a:r>
            <a:r>
              <a:rPr lang="zh-TW" altLang="en-US" dirty="0" smtClean="0">
                <a:latin typeface="Times New Roman" panose="02020603050405020304" pitchFamily="18" charset="0"/>
                <a:cs typeface="Times New Roman" panose="02020603050405020304" pitchFamily="18" charset="0"/>
              </a:rPr>
              <a:t> </a:t>
            </a:r>
            <a:r>
              <a:rPr lang="en-US" altLang="zh-TW" dirty="0" smtClean="0">
                <a:latin typeface="Times New Roman" panose="02020603050405020304" pitchFamily="18" charset="0"/>
                <a:cs typeface="Times New Roman" panose="02020603050405020304" pitchFamily="18" charset="0"/>
              </a:rPr>
              <a:t>matches</a:t>
            </a:r>
            <a:r>
              <a:rPr lang="zh-TW" altLang="en-US" dirty="0" smtClean="0">
                <a:latin typeface="Times New Roman" panose="02020603050405020304" pitchFamily="18" charset="0"/>
                <a:cs typeface="Times New Roman" panose="02020603050405020304" pitchFamily="18" charset="0"/>
              </a:rPr>
              <a:t> 的問題轉為</a:t>
            </a:r>
            <a:r>
              <a:rPr lang="en-US" altLang="zh-TW" dirty="0" smtClean="0">
                <a:latin typeface="Times New Roman" panose="02020603050405020304" pitchFamily="18" charset="0"/>
                <a:cs typeface="Times New Roman" panose="02020603050405020304" pitchFamily="18" charset="0"/>
              </a:rPr>
              <a:t>the longest run of heads of n independent coin tosses</a:t>
            </a:r>
            <a:r>
              <a:rPr lang="en-US" altLang="zh-TW" dirty="0" smtClean="0"/>
              <a:t>.</a:t>
            </a:r>
          </a:p>
          <a:p>
            <a:pPr lvl="1"/>
            <a:r>
              <a:rPr lang="zh-TW" altLang="en-US" dirty="0"/>
              <a:t>作</a:t>
            </a:r>
            <a:r>
              <a:rPr lang="zh-TW" altLang="en-US" dirty="0" smtClean="0"/>
              <a:t>法</a:t>
            </a:r>
            <a:r>
              <a:rPr lang="en-US" altLang="zh-TW" dirty="0" smtClean="0"/>
              <a:t>:</a:t>
            </a:r>
          </a:p>
          <a:p>
            <a:pPr lvl="2"/>
            <a:r>
              <a:rPr lang="en-US" altLang="zh-TW" dirty="0" smtClean="0"/>
              <a:t>Match: Head</a:t>
            </a:r>
          </a:p>
          <a:p>
            <a:pPr lvl="2"/>
            <a:r>
              <a:rPr lang="en-US" altLang="zh-TW" dirty="0" smtClean="0"/>
              <a:t>Else : Tail</a:t>
            </a:r>
          </a:p>
          <a:p>
            <a:pPr lvl="1"/>
            <a:r>
              <a:rPr lang="en-US" altLang="zh-TW" dirty="0" smtClean="0"/>
              <a:t>Example</a:t>
            </a:r>
          </a:p>
          <a:p>
            <a:pPr lvl="2"/>
            <a:r>
              <a:rPr lang="en-US" altLang="zh-TW" dirty="0" smtClean="0"/>
              <a:t>ACCTG &gt; THTHH</a:t>
            </a:r>
          </a:p>
          <a:p>
            <a:pPr lvl="2"/>
            <a:r>
              <a:rPr lang="en-US" altLang="zh-TW" dirty="0" smtClean="0"/>
              <a:t>TCATG  &gt; THTHH</a:t>
            </a:r>
          </a:p>
          <a:p>
            <a:r>
              <a:rPr lang="zh-TW" altLang="en-US" dirty="0" smtClean="0"/>
              <a:t>再利</a:t>
            </a:r>
            <a:r>
              <a:rPr lang="zh-TW" altLang="en-US" dirty="0"/>
              <a:t>用一些數學公式推導得到下圖</a:t>
            </a:r>
          </a:p>
        </p:txBody>
      </p:sp>
    </p:spTree>
    <p:extLst>
      <p:ext uri="{BB962C8B-B14F-4D97-AF65-F5344CB8AC3E}">
        <p14:creationId xmlns="" xmlns:p14="http://schemas.microsoft.com/office/powerpoint/2010/main" val="58440190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latin typeface="Times New Roman" panose="02020603050405020304" pitchFamily="18" charset="0"/>
                <a:cs typeface="Times New Roman" panose="02020603050405020304" pitchFamily="18" charset="0"/>
              </a:rPr>
              <a:t>Experiments</a:t>
            </a:r>
            <a:endParaRPr lang="zh-TW" altLang="en-US" dirty="0"/>
          </a:p>
        </p:txBody>
      </p:sp>
      <p:sp>
        <p:nvSpPr>
          <p:cNvPr id="3" name="內容版面配置區 2"/>
          <p:cNvSpPr>
            <a:spLocks noGrp="1"/>
          </p:cNvSpPr>
          <p:nvPr>
            <p:ph idx="1"/>
          </p:nvPr>
        </p:nvSpPr>
        <p:spPr/>
        <p:txBody>
          <a:bodyPr/>
          <a:lstStyle/>
          <a:p>
            <a:endParaRPr lang="zh-TW" altLang="en-US" dirty="0"/>
          </a:p>
        </p:txBody>
      </p:sp>
      <p:pic>
        <p:nvPicPr>
          <p:cNvPr id="2050"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1547664" y="1484784"/>
            <a:ext cx="5953125" cy="52435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93072843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a:t>
            </a:r>
            <a:r>
              <a:rPr lang="en-US" altLang="zh-TW" dirty="0" smtClean="0"/>
              <a:t>ases</a:t>
            </a:r>
            <a:endParaRPr lang="zh-TW" altLang="en-US" dirty="0"/>
          </a:p>
        </p:txBody>
      </p:sp>
      <p:sp>
        <p:nvSpPr>
          <p:cNvPr id="3" name="內容版面配置區 2"/>
          <p:cNvSpPr>
            <a:spLocks noGrp="1"/>
          </p:cNvSpPr>
          <p:nvPr>
            <p:ph idx="1"/>
          </p:nvPr>
        </p:nvSpPr>
        <p:spPr/>
        <p:txBody>
          <a:bodyPr/>
          <a:lstStyle/>
          <a:p>
            <a:r>
              <a:rPr lang="zh-TW" altLang="en-US" dirty="0"/>
              <a:t>分布中，大於平均兩倍標準差的資料為具有統計的顯著</a:t>
            </a:r>
            <a:r>
              <a:rPr lang="zh-TW" altLang="en-US" dirty="0" smtClean="0"/>
              <a:t>性的資料。</a:t>
            </a:r>
            <a:endParaRPr lang="en-US" altLang="zh-TW" dirty="0" smtClean="0"/>
          </a:p>
          <a:p>
            <a:r>
              <a:rPr lang="zh-TW" altLang="en-US" dirty="0"/>
              <a:t>根據以上的數據算</a:t>
            </a:r>
            <a:r>
              <a:rPr lang="zh-TW" altLang="en-US" dirty="0" smtClean="0"/>
              <a:t>出</a:t>
            </a:r>
            <a:r>
              <a:rPr lang="en-US" altLang="zh-TW" dirty="0" smtClean="0"/>
              <a:t>(n,m</a:t>
            </a:r>
            <a:r>
              <a:rPr lang="zh-TW" altLang="en-US" dirty="0" smtClean="0"/>
              <a:t>為兩字串長度</a:t>
            </a:r>
            <a:r>
              <a:rPr lang="en-US" altLang="zh-TW" dirty="0" smtClean="0"/>
              <a:t>)</a:t>
            </a:r>
          </a:p>
          <a:p>
            <a:pPr lvl="1"/>
            <a:r>
              <a:rPr lang="zh-TW" altLang="en-US" sz="2000" dirty="0" smtClean="0">
                <a:latin typeface="Times New Roman" panose="02020603050405020304" pitchFamily="18" charset="0"/>
                <a:cs typeface="Times New Roman" panose="02020603050405020304" pitchFamily="18" charset="0"/>
              </a:rPr>
              <a:t>平</a:t>
            </a:r>
            <a:r>
              <a:rPr lang="zh-TW" altLang="en-US" sz="2000" dirty="0">
                <a:latin typeface="Times New Roman" panose="02020603050405020304" pitchFamily="18" charset="0"/>
                <a:cs typeface="Times New Roman" panose="02020603050405020304" pitchFamily="18" charset="0"/>
              </a:rPr>
              <a:t>均</a:t>
            </a:r>
            <a:r>
              <a:rPr lang="en-US" altLang="zh-TW" sz="2000" dirty="0" smtClean="0">
                <a:latin typeface="Times New Roman" panose="02020603050405020304" pitchFamily="18" charset="0"/>
                <a:cs typeface="Times New Roman" panose="02020603050405020304" pitchFamily="18" charset="0"/>
              </a:rPr>
              <a:t>:</a:t>
            </a:r>
            <a:r>
              <a:rPr lang="zh-TW" altLang="en-US" sz="2000" dirty="0" smtClean="0">
                <a:latin typeface="Times New Roman" panose="02020603050405020304" pitchFamily="18" charset="0"/>
                <a:cs typeface="Times New Roman" panose="02020603050405020304" pitchFamily="18" charset="0"/>
              </a:rPr>
              <a:t> </a:t>
            </a:r>
            <a:endParaRPr lang="en-US" altLang="zh-TW" sz="2000" dirty="0">
              <a:latin typeface="Times New Roman" panose="02020603050405020304" pitchFamily="18" charset="0"/>
              <a:cs typeface="Times New Roman" panose="02020603050405020304" pitchFamily="18" charset="0"/>
            </a:endParaRPr>
          </a:p>
          <a:p>
            <a:pPr lvl="1"/>
            <a:r>
              <a:rPr lang="zh-TW" altLang="en-US" sz="2000" dirty="0" smtClean="0">
                <a:latin typeface="Times New Roman" panose="02020603050405020304" pitchFamily="18" charset="0"/>
                <a:cs typeface="Times New Roman" panose="02020603050405020304" pitchFamily="18" charset="0"/>
              </a:rPr>
              <a:t>標</a:t>
            </a:r>
            <a:r>
              <a:rPr lang="zh-TW" altLang="en-US" sz="2000" dirty="0">
                <a:latin typeface="Times New Roman" panose="02020603050405020304" pitchFamily="18" charset="0"/>
                <a:cs typeface="Times New Roman" panose="02020603050405020304" pitchFamily="18" charset="0"/>
              </a:rPr>
              <a:t>準</a:t>
            </a:r>
            <a:r>
              <a:rPr lang="zh-TW" altLang="en-US" sz="2000" dirty="0" smtClean="0">
                <a:latin typeface="Times New Roman" panose="02020603050405020304" pitchFamily="18" charset="0"/>
                <a:cs typeface="Times New Roman" panose="02020603050405020304" pitchFamily="18" charset="0"/>
              </a:rPr>
              <a:t>差</a:t>
            </a:r>
            <a:r>
              <a:rPr lang="en-US" altLang="zh-TW" sz="2000" dirty="0" smtClean="0">
                <a:latin typeface="Times New Roman" panose="02020603050405020304" pitchFamily="18" charset="0"/>
                <a:cs typeface="Times New Roman" panose="02020603050405020304" pitchFamily="18" charset="0"/>
              </a:rPr>
              <a:t>:</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1.78</a:t>
            </a:r>
          </a:p>
          <a:p>
            <a:pPr lvl="1"/>
            <a:r>
              <a:rPr lang="zh-TW" altLang="en-US" sz="2000" dirty="0">
                <a:latin typeface="Times New Roman" panose="02020603050405020304" pitchFamily="18" charset="0"/>
                <a:cs typeface="Times New Roman" panose="02020603050405020304" pitchFamily="18" charset="0"/>
              </a:rPr>
              <a:t>所以</a:t>
            </a:r>
            <a:r>
              <a:rPr lang="zh-TW" altLang="en-US" sz="2000" dirty="0" smtClean="0">
                <a:latin typeface="Times New Roman" panose="02020603050405020304" pitchFamily="18" charset="0"/>
                <a:cs typeface="Times New Roman" panose="02020603050405020304" pitchFamily="18" charset="0"/>
              </a:rPr>
              <a:t>若兩序列長度，分數，</a:t>
            </a:r>
            <a:r>
              <a:rPr lang="en-US" altLang="zh-TW" sz="2000" dirty="0" smtClean="0">
                <a:latin typeface="Times New Roman" panose="02020603050405020304" pitchFamily="18" charset="0"/>
                <a:cs typeface="Times New Roman" panose="02020603050405020304" pitchFamily="18" charset="0"/>
              </a:rPr>
              <a:t>match</a:t>
            </a:r>
            <a:r>
              <a:rPr lang="zh-TW" altLang="en-US" sz="2000" dirty="0" smtClean="0">
                <a:latin typeface="Times New Roman" panose="02020603050405020304" pitchFamily="18" charset="0"/>
                <a:cs typeface="Times New Roman" panose="02020603050405020304" pitchFamily="18" charset="0"/>
              </a:rPr>
              <a:t>機率分別為</a:t>
            </a:r>
            <a:r>
              <a:rPr lang="en-US" altLang="zh-TW" sz="2000" dirty="0" smtClean="0">
                <a:latin typeface="Times New Roman" panose="02020603050405020304" pitchFamily="18" charset="0"/>
                <a:cs typeface="Times New Roman" panose="02020603050405020304" pitchFamily="18" charset="0"/>
              </a:rPr>
              <a:t>(1441, 600,</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27,</a:t>
            </a:r>
            <a:r>
              <a:rPr lang="zh-TW" altLang="en-US" sz="2000" dirty="0" smtClean="0">
                <a:latin typeface="Times New Roman" panose="02020603050405020304" pitchFamily="18" charset="0"/>
                <a:cs typeface="Times New Roman" panose="02020603050405020304" pitchFamily="18" charset="0"/>
              </a:rPr>
              <a:t> </a:t>
            </a:r>
            <a:r>
              <a:rPr lang="en-US" altLang="zh-TW" sz="2000" dirty="0" smtClean="0">
                <a:latin typeface="Times New Roman" panose="02020603050405020304" pitchFamily="18" charset="0"/>
                <a:cs typeface="Times New Roman" panose="02020603050405020304" pitchFamily="18" charset="0"/>
              </a:rPr>
              <a:t>0.248)</a:t>
            </a:r>
          </a:p>
          <a:p>
            <a:pPr lvl="2"/>
            <a:r>
              <a:rPr lang="zh-TW" altLang="en-US" sz="1600" dirty="0" smtClean="0">
                <a:latin typeface="Times New Roman" panose="02020603050405020304" pitchFamily="18" charset="0"/>
                <a:cs typeface="Times New Roman" panose="02020603050405020304" pitchFamily="18" charset="0"/>
              </a:rPr>
              <a:t>則</a:t>
            </a:r>
            <a:r>
              <a:rPr lang="en-US" altLang="zh-TW" sz="1600" dirty="0" smtClean="0">
                <a:latin typeface="Times New Roman" panose="02020603050405020304" pitchFamily="18" charset="0"/>
                <a:cs typeface="Times New Roman" panose="02020603050405020304" pitchFamily="18" charset="0"/>
              </a:rPr>
              <a:t>mean</a:t>
            </a:r>
            <a:r>
              <a:rPr lang="zh-TW" altLang="en-US" sz="1600" dirty="0" smtClean="0">
                <a:latin typeface="Times New Roman" panose="02020603050405020304" pitchFamily="18" charset="0"/>
                <a:cs typeface="Times New Roman" panose="02020603050405020304" pitchFamily="18" charset="0"/>
              </a:rPr>
              <a:t>為 </a:t>
            </a:r>
            <a:r>
              <a:rPr lang="en-US" altLang="zh-TW" sz="1600" dirty="0" smtClean="0">
                <a:latin typeface="Times New Roman" panose="02020603050405020304" pitchFamily="18" charset="0"/>
                <a:cs typeface="Times New Roman" panose="02020603050405020304" pitchFamily="18" charset="0"/>
              </a:rPr>
              <a:t>2.55</a:t>
            </a:r>
            <a:r>
              <a:rPr lang="zh-TW" altLang="en-US" sz="1600" dirty="0" smtClean="0">
                <a:latin typeface="Times New Roman" panose="02020603050405020304" pitchFamily="18" charset="0"/>
                <a:cs typeface="Times New Roman" panose="02020603050405020304" pitchFamily="18" charset="0"/>
              </a:rPr>
              <a:t>*</a:t>
            </a:r>
            <a:r>
              <a:rPr lang="en-US" altLang="zh-TW" sz="1600" dirty="0" smtClean="0">
                <a:latin typeface="Times New Roman" panose="02020603050405020304" pitchFamily="18" charset="0"/>
                <a:cs typeface="Times New Roman" panose="02020603050405020304" pitchFamily="18" charset="0"/>
              </a:rPr>
              <a:t>log(600*1441)/log(1/0.248) – 8.99 = 16.01</a:t>
            </a:r>
          </a:p>
          <a:p>
            <a:pPr lvl="2"/>
            <a:r>
              <a:rPr lang="en-US" altLang="zh-TW" sz="1600" dirty="0" smtClean="0">
                <a:latin typeface="Times New Roman" panose="02020603050405020304" pitchFamily="18" charset="0"/>
                <a:cs typeface="Times New Roman" panose="02020603050405020304" pitchFamily="18" charset="0"/>
              </a:rPr>
              <a:t>27 - 16.01 = 10.99 = 1.78*(6.17) = 6.17</a:t>
            </a:r>
            <a:r>
              <a:rPr lang="zh-TW" altLang="en-US" sz="1600" dirty="0" smtClean="0">
                <a:latin typeface="Times New Roman" panose="02020603050405020304" pitchFamily="18" charset="0"/>
                <a:cs typeface="Times New Roman" panose="02020603050405020304" pitchFamily="18" charset="0"/>
              </a:rPr>
              <a:t>個標準差</a:t>
            </a:r>
            <a:r>
              <a:rPr lang="en-US" altLang="zh-TW" sz="1600" dirty="0" smtClean="0">
                <a:latin typeface="Times New Roman" panose="02020603050405020304" pitchFamily="18" charset="0"/>
                <a:cs typeface="Times New Roman" panose="02020603050405020304" pitchFamily="18" charset="0"/>
              </a:rPr>
              <a:t> </a:t>
            </a:r>
            <a:endParaRPr lang="zh-TW" altLang="en-US" sz="1600" dirty="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2">
            <a:extLst>
              <a:ext uri="{28A0092B-C50C-407E-A947-70E740481C1C}">
                <a14:useLocalDpi xmlns="" xmlns:a14="http://schemas.microsoft.com/office/drawing/2010/main" val="0"/>
              </a:ext>
            </a:extLst>
          </a:blip>
          <a:srcRect/>
          <a:stretch>
            <a:fillRect/>
          </a:stretch>
        </p:blipFill>
        <p:spPr bwMode="auto">
          <a:xfrm>
            <a:off x="2699792" y="3212975"/>
            <a:ext cx="3308350" cy="5635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pic>
    </p:spTree>
    <p:extLst>
      <p:ext uri="{BB962C8B-B14F-4D97-AF65-F5344CB8AC3E}">
        <p14:creationId xmlns="" xmlns:p14="http://schemas.microsoft.com/office/powerpoint/2010/main" val="31983861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a:t>
            </a:r>
            <a:endParaRPr lang="zh-TW" altLang="en-US" dirty="0"/>
          </a:p>
        </p:txBody>
      </p:sp>
      <p:sp>
        <p:nvSpPr>
          <p:cNvPr id="3" name="內容版面配置區 2"/>
          <p:cNvSpPr>
            <a:spLocks noGrp="1"/>
          </p:cNvSpPr>
          <p:nvPr>
            <p:ph idx="1"/>
          </p:nvPr>
        </p:nvSpPr>
        <p:spPr/>
        <p:txBody>
          <a:bodyPr/>
          <a:lstStyle/>
          <a:p>
            <a:r>
              <a:rPr lang="en-US" altLang="zh-TW" dirty="0" smtClean="0"/>
              <a:t>These examples illustrate the fact that statistical significance and biological significance are closely related but not identical.</a:t>
            </a:r>
          </a:p>
          <a:p>
            <a:r>
              <a:rPr lang="en-US" altLang="zh-TW" dirty="0"/>
              <a:t>S</a:t>
            </a:r>
            <a:r>
              <a:rPr lang="en-US" altLang="zh-TW" dirty="0" smtClean="0"/>
              <a:t>tatistically significant similarity scores may not reflect true homology.</a:t>
            </a:r>
          </a:p>
          <a:p>
            <a:endParaRPr lang="zh-TW" altLang="en-US" dirty="0"/>
          </a:p>
        </p:txBody>
      </p:sp>
    </p:spTree>
    <p:extLst>
      <p:ext uri="{BB962C8B-B14F-4D97-AF65-F5344CB8AC3E}">
        <p14:creationId xmlns="" xmlns:p14="http://schemas.microsoft.com/office/powerpoint/2010/main" val="311530328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1007</TotalTime>
  <Words>354</Words>
  <Application>Microsoft Office PowerPoint</Application>
  <PresentationFormat>如螢幕大小 (4:3)</PresentationFormat>
  <Paragraphs>42</Paragraphs>
  <Slides>8</Slides>
  <Notes>0</Notes>
  <HiddenSlides>0</HiddenSlides>
  <MMClips>0</MMClips>
  <ScaleCrop>false</ScaleCrop>
  <HeadingPairs>
    <vt:vector size="4" baseType="variant">
      <vt:variant>
        <vt:lpstr>佈景主題</vt:lpstr>
      </vt:variant>
      <vt:variant>
        <vt:i4>1</vt:i4>
      </vt:variant>
      <vt:variant>
        <vt:lpstr>投影片標題</vt:lpstr>
      </vt:variant>
      <vt:variant>
        <vt:i4>8</vt:i4>
      </vt:variant>
    </vt:vector>
  </HeadingPairs>
  <TitlesOfParts>
    <vt:vector size="9" baseType="lpstr">
      <vt:lpstr>Office 佈景主題</vt:lpstr>
      <vt:lpstr>The statistical distribution of nucleic acid similarities</vt:lpstr>
      <vt:lpstr>Abstract</vt:lpstr>
      <vt:lpstr>Methods</vt:lpstr>
      <vt:lpstr>Experiments</vt:lpstr>
      <vt:lpstr>Experiments</vt:lpstr>
      <vt:lpstr>Experiments</vt:lpstr>
      <vt:lpstr>Cases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stadstica distibution of nucleic acid similaries</dc:title>
  <dc:creator>Fangcy</dc:creator>
  <cp:lastModifiedBy>admin</cp:lastModifiedBy>
  <cp:revision>19</cp:revision>
  <dcterms:created xsi:type="dcterms:W3CDTF">2014-05-05T18:11:05Z</dcterms:created>
  <dcterms:modified xsi:type="dcterms:W3CDTF">2014-05-06T13:00:09Z</dcterms:modified>
</cp:coreProperties>
</file>