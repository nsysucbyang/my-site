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70" r:id="rId5"/>
    <p:sldId id="258" r:id="rId6"/>
    <p:sldId id="259" r:id="rId7"/>
    <p:sldId id="260" r:id="rId8"/>
    <p:sldId id="261" r:id="rId9"/>
    <p:sldId id="262" r:id="rId10"/>
    <p:sldId id="263" r:id="rId11"/>
    <p:sldId id="264" r:id="rId12"/>
    <p:sldId id="265" r:id="rId13"/>
    <p:sldId id="266" r:id="rId14"/>
    <p:sldId id="267" r:id="rId15"/>
    <p:sldId id="268"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5" d="100"/>
          <a:sy n="65" d="100"/>
        </p:scale>
        <p:origin x="-62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2314250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11489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2899654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262141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2712605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795851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53573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3475496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280547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2938078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2DC7FF4-E733-4CD8-B95F-98DC6A83F96B}" type="datetimeFigureOut">
              <a:rPr lang="zh-TW" altLang="en-US" smtClean="0"/>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3292267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DC7FF4-E733-4CD8-B95F-98DC6A83F96B}" type="datetimeFigureOut">
              <a:rPr lang="zh-TW" altLang="en-US" smtClean="0"/>
              <a:t>2014/5/6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F82218-4BE0-4EA6-9327-542A97E949D6}" type="slidenum">
              <a:rPr lang="zh-TW" altLang="en-US" smtClean="0"/>
              <a:t>‹#›</a:t>
            </a:fld>
            <a:endParaRPr lang="zh-TW" altLang="en-US"/>
          </a:p>
        </p:txBody>
      </p:sp>
    </p:spTree>
    <p:extLst>
      <p:ext uri="{BB962C8B-B14F-4D97-AF65-F5344CB8AC3E}">
        <p14:creationId xmlns:p14="http://schemas.microsoft.com/office/powerpoint/2010/main" val="3691265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215516" y="1628800"/>
            <a:ext cx="8712968" cy="1470025"/>
          </a:xfrm>
        </p:spPr>
        <p:txBody>
          <a:bodyPr/>
          <a:lstStyle/>
          <a:p>
            <a:r>
              <a:rPr lang="en-US" altLang="zh-TW" dirty="0" smtClean="0"/>
              <a:t>Comparative </a:t>
            </a:r>
            <a:r>
              <a:rPr lang="en-US" altLang="zh-TW" dirty="0" err="1" smtClean="0"/>
              <a:t>Biosequence</a:t>
            </a:r>
            <a:r>
              <a:rPr lang="en-US" altLang="zh-TW" dirty="0" smtClean="0"/>
              <a:t> Metrics</a:t>
            </a:r>
            <a:endParaRPr lang="zh-TW" altLang="en-US" dirty="0"/>
          </a:p>
        </p:txBody>
      </p:sp>
      <p:sp>
        <p:nvSpPr>
          <p:cNvPr id="3" name="副標題 2"/>
          <p:cNvSpPr>
            <a:spLocks noGrp="1"/>
          </p:cNvSpPr>
          <p:nvPr>
            <p:ph type="subTitle" idx="1"/>
          </p:nvPr>
        </p:nvSpPr>
        <p:spPr>
          <a:xfrm>
            <a:off x="107504" y="3645024"/>
            <a:ext cx="8928992" cy="1993776"/>
          </a:xfrm>
        </p:spPr>
        <p:txBody>
          <a:bodyPr>
            <a:normAutofit/>
          </a:bodyPr>
          <a:lstStyle/>
          <a:p>
            <a:r>
              <a:rPr lang="en-US" altLang="zh-TW" dirty="0" smtClean="0">
                <a:solidFill>
                  <a:schemeClr val="tx1"/>
                </a:solidFill>
              </a:rPr>
              <a:t>Author: T.F. Smith, M.S. Waterman, and W.M. Fitch</a:t>
            </a:r>
          </a:p>
          <a:p>
            <a:r>
              <a:rPr lang="en-US" altLang="zh-TW" dirty="0" smtClean="0">
                <a:solidFill>
                  <a:schemeClr val="tx1"/>
                </a:solidFill>
              </a:rPr>
              <a:t>Source: Journal of Molecular Evolution 1981, pp.38-46</a:t>
            </a:r>
            <a:endParaRPr lang="zh-TW" altLang="en-US" dirty="0">
              <a:solidFill>
                <a:schemeClr val="tx1"/>
              </a:solidFill>
            </a:endParaRPr>
          </a:p>
        </p:txBody>
      </p:sp>
      <p:sp>
        <p:nvSpPr>
          <p:cNvPr id="4" name="矩形 3"/>
          <p:cNvSpPr/>
          <p:nvPr/>
        </p:nvSpPr>
        <p:spPr>
          <a:xfrm>
            <a:off x="5580112" y="5589240"/>
            <a:ext cx="2987824" cy="646331"/>
          </a:xfrm>
          <a:prstGeom prst="rect">
            <a:avLst/>
          </a:prstGeom>
        </p:spPr>
        <p:txBody>
          <a:bodyPr wrap="square">
            <a:spAutoFit/>
          </a:bodyPr>
          <a:lstStyle/>
          <a:p>
            <a:r>
              <a:rPr lang="en-US" altLang="zh-TW" dirty="0" smtClean="0"/>
              <a:t>Presenter</a:t>
            </a:r>
            <a:r>
              <a:rPr lang="zh-TW" altLang="en-US" dirty="0" smtClean="0"/>
              <a:t>：</a:t>
            </a:r>
            <a:r>
              <a:rPr lang="en-US" altLang="zh-TW" dirty="0" smtClean="0"/>
              <a:t>Guan-Cheng </a:t>
            </a:r>
            <a:r>
              <a:rPr lang="en-US" altLang="zh-TW" dirty="0" err="1" smtClean="0"/>
              <a:t>Guo</a:t>
            </a:r>
            <a:r>
              <a:rPr lang="en-US" altLang="zh-TW" dirty="0" smtClean="0"/>
              <a:t/>
            </a:r>
            <a:br>
              <a:rPr lang="en-US" altLang="zh-TW" dirty="0" smtClean="0"/>
            </a:br>
            <a:r>
              <a:rPr lang="en-US" altLang="zh-TW" dirty="0" smtClean="0"/>
              <a:t>Date</a:t>
            </a:r>
            <a:r>
              <a:rPr lang="zh-TW" altLang="en-US" dirty="0" smtClean="0"/>
              <a:t>：</a:t>
            </a:r>
            <a:r>
              <a:rPr lang="en-US" altLang="zh-TW" dirty="0" smtClean="0"/>
              <a:t>2014/5/6</a:t>
            </a:r>
            <a:endParaRPr lang="en-US" altLang="zh-TW" dirty="0"/>
          </a:p>
        </p:txBody>
      </p:sp>
    </p:spTree>
    <p:extLst>
      <p:ext uri="{BB962C8B-B14F-4D97-AF65-F5344CB8AC3E}">
        <p14:creationId xmlns:p14="http://schemas.microsoft.com/office/powerpoint/2010/main" val="164845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Abstract</a:t>
            </a:r>
            <a:endParaRPr lang="zh-TW" altLang="en-US" dirty="0"/>
          </a:p>
        </p:txBody>
      </p:sp>
      <p:sp>
        <p:nvSpPr>
          <p:cNvPr id="3" name="內容版面配置區 2"/>
          <p:cNvSpPr>
            <a:spLocks noGrp="1"/>
          </p:cNvSpPr>
          <p:nvPr>
            <p:ph idx="1"/>
          </p:nvPr>
        </p:nvSpPr>
        <p:spPr>
          <a:xfrm>
            <a:off x="179512" y="980728"/>
            <a:ext cx="8784976" cy="5760640"/>
          </a:xfrm>
        </p:spPr>
        <p:txBody>
          <a:bodyPr>
            <a:noAutofit/>
          </a:bodyPr>
          <a:lstStyle/>
          <a:p>
            <a:r>
              <a:rPr lang="en-US" altLang="zh-TW" sz="2300" dirty="0" smtClean="0"/>
              <a:t>The sequence alignment algorithms of Needleman and </a:t>
            </a:r>
            <a:r>
              <a:rPr lang="en-US" altLang="zh-TW" sz="2300" dirty="0" err="1" smtClean="0"/>
              <a:t>Wunsch</a:t>
            </a:r>
            <a:r>
              <a:rPr lang="en-US" altLang="zh-TW" sz="2300" dirty="0" smtClean="0"/>
              <a:t> (1970) and Sellers (1974) are compared. Although the former maximizes similarity and the latter minimizes differences, the two procedures are proven to be equivalent. The equivalence relations necessary for each procedure to give the same result are: 1, the weight assigned to gaps in the Sellers algorithm exceed that in the Needleman-</a:t>
            </a:r>
            <a:r>
              <a:rPr lang="en-US" altLang="zh-TW" sz="2300" dirty="0" err="1" smtClean="0"/>
              <a:t>Wunsch</a:t>
            </a:r>
            <a:r>
              <a:rPr lang="en-US" altLang="zh-TW" sz="2300" dirty="0" smtClean="0"/>
              <a:t> algorithm by exactly half the length of the gap times the maximum match value; and 2, for any pair of aligned elements, the degree of similarity assigned by the Needleman-</a:t>
            </a:r>
            <a:r>
              <a:rPr lang="en-US" altLang="zh-TW" sz="2300" dirty="0" err="1" smtClean="0"/>
              <a:t>Wunsch</a:t>
            </a:r>
            <a:r>
              <a:rPr lang="en-US" altLang="zh-TW" sz="2300" dirty="0" smtClean="0"/>
              <a:t> algorithm plus the degree of dissimilarity assigned by the Sellers algorithm equal a constant. The utility of the algorithms is independent of the nature of the elements in the sequence and could include anything from geological sequences to the amino acid sequences of proteins. Examples are provided using known nucleotide sequences, one of which shows two sequences to be analogous rather than homologous.</a:t>
            </a:r>
            <a:endParaRPr lang="zh-TW" altLang="en-US" sz="2300" dirty="0"/>
          </a:p>
        </p:txBody>
      </p:sp>
    </p:spTree>
    <p:extLst>
      <p:ext uri="{BB962C8B-B14F-4D97-AF65-F5344CB8AC3E}">
        <p14:creationId xmlns:p14="http://schemas.microsoft.com/office/powerpoint/2010/main" val="4025307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Needleman–</a:t>
            </a:r>
            <a:r>
              <a:rPr lang="en-US" altLang="zh-TW" dirty="0" err="1"/>
              <a:t>Wunsch</a:t>
            </a:r>
            <a:r>
              <a:rPr lang="en-US" altLang="zh-TW" dirty="0"/>
              <a:t> </a:t>
            </a:r>
            <a:r>
              <a:rPr lang="en-US" altLang="zh-TW" dirty="0" smtClean="0"/>
              <a:t>algorithm</a:t>
            </a:r>
            <a:endParaRPr lang="zh-TW" altLang="en-US" dirty="0"/>
          </a:p>
        </p:txBody>
      </p:sp>
      <p:pic>
        <p:nvPicPr>
          <p:cNvPr id="1026" name="Picture 2" descr="C:\Users\yotsuki\Desktop\Needleman-Wunsch_pairwise_sequence_alignmen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71700" y="1124744"/>
            <a:ext cx="5400600" cy="54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396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normAutofit fontScale="90000"/>
          </a:bodyPr>
          <a:lstStyle/>
          <a:p>
            <a:r>
              <a:rPr lang="en-US" altLang="zh-TW" dirty="0"/>
              <a:t>Needleman–</a:t>
            </a:r>
            <a:r>
              <a:rPr lang="en-US" altLang="zh-TW" dirty="0" err="1"/>
              <a:t>Wunsch</a:t>
            </a:r>
            <a:r>
              <a:rPr lang="en-US" altLang="zh-TW" dirty="0"/>
              <a:t> </a:t>
            </a:r>
            <a:r>
              <a:rPr lang="en-US" altLang="zh-TW" dirty="0" smtClean="0"/>
              <a:t>algorithm vs. </a:t>
            </a:r>
            <a:r>
              <a:rPr lang="en-US" altLang="zh-TW" dirty="0"/>
              <a:t>Sellers algorithm</a:t>
            </a:r>
            <a:endParaRPr lang="zh-TW" altLang="en-US" dirty="0"/>
          </a:p>
        </p:txBody>
      </p:sp>
      <p:sp>
        <p:nvSpPr>
          <p:cNvPr id="3" name="內容版面配置區 2"/>
          <p:cNvSpPr>
            <a:spLocks noGrp="1"/>
          </p:cNvSpPr>
          <p:nvPr>
            <p:ph idx="1"/>
          </p:nvPr>
        </p:nvSpPr>
        <p:spPr>
          <a:xfrm>
            <a:off x="457200" y="1124744"/>
            <a:ext cx="8229600" cy="5616624"/>
          </a:xfrm>
        </p:spPr>
        <p:txBody>
          <a:bodyPr/>
          <a:lstStyle/>
          <a:p>
            <a:r>
              <a:rPr lang="en-US" altLang="zh-TW" dirty="0" smtClean="0"/>
              <a:t>Major </a:t>
            </a:r>
            <a:r>
              <a:rPr lang="en-US" altLang="zh-TW" dirty="0"/>
              <a:t>differences between the </a:t>
            </a:r>
            <a:r>
              <a:rPr lang="en-US" altLang="zh-TW" dirty="0" smtClean="0"/>
              <a:t>Needleman-</a:t>
            </a:r>
            <a:r>
              <a:rPr lang="en-US" altLang="zh-TW" dirty="0" err="1" smtClean="0"/>
              <a:t>Wunsch</a:t>
            </a:r>
            <a:r>
              <a:rPr lang="en-US" altLang="zh-TW" dirty="0" smtClean="0"/>
              <a:t> </a:t>
            </a:r>
            <a:r>
              <a:rPr lang="en-US" altLang="zh-TW" dirty="0"/>
              <a:t>and the Sellers </a:t>
            </a:r>
            <a:r>
              <a:rPr lang="en-US" altLang="zh-TW" dirty="0" smtClean="0"/>
              <a:t>algorithms:</a:t>
            </a:r>
          </a:p>
          <a:p>
            <a:r>
              <a:rPr lang="en-US" altLang="zh-TW" dirty="0"/>
              <a:t>Needleman-</a:t>
            </a:r>
            <a:r>
              <a:rPr lang="en-US" altLang="zh-TW" dirty="0" err="1"/>
              <a:t>Wunsch</a:t>
            </a:r>
            <a:r>
              <a:rPr lang="en-US" altLang="zh-TW" dirty="0"/>
              <a:t> algorithm </a:t>
            </a:r>
            <a:r>
              <a:rPr lang="en-US" altLang="zh-TW" dirty="0" smtClean="0"/>
              <a:t>results in </a:t>
            </a:r>
            <a:r>
              <a:rPr lang="en-US" altLang="zh-TW" dirty="0"/>
              <a:t>alignments having a maximum similarity </a:t>
            </a:r>
            <a:r>
              <a:rPr lang="en-US" altLang="zh-TW" dirty="0" smtClean="0"/>
              <a:t>measure. </a:t>
            </a:r>
          </a:p>
          <a:p>
            <a:r>
              <a:rPr lang="en-US" altLang="zh-TW" dirty="0" smtClean="0"/>
              <a:t>Sellers </a:t>
            </a:r>
            <a:r>
              <a:rPr lang="en-US" altLang="zh-TW" dirty="0"/>
              <a:t>algorithm results in alignments </a:t>
            </a:r>
            <a:r>
              <a:rPr lang="en-US" altLang="zh-TW" dirty="0" smtClean="0"/>
              <a:t>having a </a:t>
            </a:r>
            <a:r>
              <a:rPr lang="en-US" altLang="zh-TW" dirty="0"/>
              <a:t>minimal distance or metric measure of dissimilarity.</a:t>
            </a:r>
            <a:endParaRPr lang="zh-TW" altLang="en-US" dirty="0"/>
          </a:p>
        </p:txBody>
      </p:sp>
    </p:spTree>
    <p:extLst>
      <p:ext uri="{BB962C8B-B14F-4D97-AF65-F5344CB8AC3E}">
        <p14:creationId xmlns:p14="http://schemas.microsoft.com/office/powerpoint/2010/main" val="3140058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dirty="0" smtClean="0"/>
              <a:t>Consider two sequences A and B of length n and m respectively, where A= a1 a2 a3 ... an and B = b1 b2 b3 ... bm. </a:t>
            </a:r>
          </a:p>
          <a:p>
            <a:pPr marL="0" indent="0">
              <a:buNone/>
            </a:pPr>
            <a:endParaRPr lang="en-US" altLang="zh-TW" dirty="0" smtClean="0"/>
          </a:p>
          <a:p>
            <a:pPr marL="0" indent="0">
              <a:buNone/>
            </a:pPr>
            <a:r>
              <a:rPr lang="en-US" altLang="zh-TW" dirty="0"/>
              <a:t>E</a:t>
            </a:r>
            <a:r>
              <a:rPr lang="en-US" altLang="zh-TW" dirty="0" smtClean="0"/>
              <a:t>xample:</a:t>
            </a:r>
          </a:p>
          <a:p>
            <a:pPr marL="0" indent="0">
              <a:buNone/>
            </a:pPr>
            <a:endParaRPr lang="zh-TW" altLang="en-US" dirty="0"/>
          </a:p>
        </p:txBody>
      </p:sp>
      <p:pic>
        <p:nvPicPr>
          <p:cNvPr id="1026" name="Picture 2" descr="C:\Users\yotsuki\Desktop\擷取.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4581128"/>
            <a:ext cx="5309921" cy="1450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128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smtClean="0"/>
                  <a:t>Let </a:t>
                </a:r>
                <a14:m>
                  <m:oMath xmlns:m="http://schemas.openxmlformats.org/officeDocument/2006/math">
                    <m:r>
                      <m:rPr>
                        <m:nor/>
                      </m:rPr>
                      <a:rPr lang="el-GR" altLang="zh-TW" b="0" i="0" smtClean="0">
                        <a:latin typeface="Cambria Math"/>
                      </a:rPr>
                      <m:t>λ</m:t>
                    </m:r>
                  </m:oMath>
                </a14:m>
                <a:r>
                  <a:rPr lang="en-US" altLang="zh-TW" dirty="0" smtClean="0"/>
                  <a:t>  be the number of pairs containing identical or matched elements, </a:t>
                </a:r>
                <a:r>
                  <a:rPr lang="el-GR" altLang="zh-TW" dirty="0" smtClean="0"/>
                  <a:t>μ</a:t>
                </a:r>
                <a:r>
                  <a:rPr lang="en-US" altLang="zh-TW" dirty="0" smtClean="0"/>
                  <a:t> be the number of pairs containing non-identical or mismatched elements (excluding the null element) and </a:t>
                </a:r>
                <a14:m>
                  <m:oMath xmlns:m="http://schemas.openxmlformats.org/officeDocument/2006/math">
                    <m:sSub>
                      <m:sSubPr>
                        <m:ctrlPr>
                          <a:rPr lang="en-US" altLang="zh-TW" i="1" dirty="0" smtClean="0">
                            <a:latin typeface="Cambria Math"/>
                          </a:rPr>
                        </m:ctrlPr>
                      </m:sSubPr>
                      <m:e>
                        <m:r>
                          <m:rPr>
                            <m:sty m:val="p"/>
                          </m:rPr>
                          <a:rPr lang="en-US" altLang="ja-JP" b="0" i="0" dirty="0" smtClean="0">
                            <a:latin typeface="Cambria Math"/>
                          </a:rPr>
                          <m:t>Δ</m:t>
                        </m:r>
                      </m:e>
                      <m:sub>
                        <m:r>
                          <m:rPr>
                            <m:nor/>
                          </m:rPr>
                          <a:rPr lang="ja-JP" altLang="en-US" b="0" i="0" dirty="0" smtClean="0">
                            <a:latin typeface="Cambria Math"/>
                          </a:rPr>
                          <m:t>k</m:t>
                        </m:r>
                      </m:sub>
                    </m:sSub>
                  </m:oMath>
                </a14:m>
                <a:r>
                  <a:rPr lang="en-US" altLang="zh-TW" dirty="0" smtClean="0"/>
                  <a:t> be the number of gaps of length k.</a:t>
                </a:r>
              </a:p>
              <a:p>
                <a:r>
                  <a:rPr lang="en-US" altLang="zh-TW" dirty="0" smtClean="0"/>
                  <a:t>Total element:</a:t>
                </a:r>
                <a:br>
                  <a:rPr lang="en-US" altLang="zh-TW" dirty="0" smtClean="0"/>
                </a:br>
                <a14:m>
                  <m:oMath xmlns:m="http://schemas.openxmlformats.org/officeDocument/2006/math">
                    <m:r>
                      <m:rPr>
                        <m:nor/>
                      </m:rPr>
                      <a:rPr lang="en-US" altLang="zh-TW" b="0" i="0" smtClean="0">
                        <a:latin typeface="Cambria Math"/>
                      </a:rPr>
                      <m:t>n</m:t>
                    </m:r>
                    <m:r>
                      <m:rPr>
                        <m:nor/>
                      </m:rPr>
                      <a:rPr lang="en-US" altLang="zh-TW" b="0" i="0" smtClean="0">
                        <a:latin typeface="Cambria Math"/>
                      </a:rPr>
                      <m:t> + </m:t>
                    </m:r>
                    <m:r>
                      <m:rPr>
                        <m:nor/>
                      </m:rPr>
                      <a:rPr lang="en-US" altLang="zh-TW" b="0" i="0" smtClean="0">
                        <a:latin typeface="Cambria Math"/>
                      </a:rPr>
                      <m:t>m</m:t>
                    </m:r>
                    <m:r>
                      <m:rPr>
                        <m:nor/>
                      </m:rPr>
                      <a:rPr lang="en-US" altLang="zh-TW" b="0" i="0" smtClean="0">
                        <a:latin typeface="Cambria Math"/>
                      </a:rPr>
                      <m:t> = 2(</m:t>
                    </m:r>
                    <m:r>
                      <m:rPr>
                        <m:nor/>
                      </m:rPr>
                      <a:rPr lang="el-GR" altLang="zh-TW" b="0" i="0" smtClean="0">
                        <a:latin typeface="Cambria Math"/>
                      </a:rPr>
                      <m:t>λ</m:t>
                    </m:r>
                    <m:r>
                      <m:rPr>
                        <m:nor/>
                      </m:rPr>
                      <a:rPr lang="en-US" altLang="zh-TW" b="0" i="0" smtClean="0">
                        <a:latin typeface="Cambria Math"/>
                      </a:rPr>
                      <m:t> + </m:t>
                    </m:r>
                    <m:r>
                      <m:rPr>
                        <m:nor/>
                      </m:rPr>
                      <a:rPr lang="el-GR" altLang="zh-TW" dirty="0" smtClean="0"/>
                      <m:t>μ</m:t>
                    </m:r>
                    <m:r>
                      <m:rPr>
                        <m:nor/>
                      </m:rPr>
                      <a:rPr lang="en-US" altLang="zh-TW" b="0" i="0" smtClean="0">
                        <a:latin typeface="Cambria Math"/>
                      </a:rPr>
                      <m:t>) + </m:t>
                    </m:r>
                    <m:nary>
                      <m:naryPr>
                        <m:chr m:val="∑"/>
                        <m:supHide m:val="on"/>
                        <m:ctrlPr>
                          <a:rPr lang="en-US" altLang="zh-TW" b="0" i="1" smtClean="0">
                            <a:latin typeface="Cambria Math"/>
                          </a:rPr>
                        </m:ctrlPr>
                      </m:naryPr>
                      <m:sub>
                        <m:r>
                          <m:rPr>
                            <m:nor/>
                            <m:brk m:alnAt="7"/>
                          </m:rPr>
                          <a:rPr lang="en-US" altLang="zh-TW" b="0" i="0" smtClean="0">
                            <a:latin typeface="Cambria Math"/>
                          </a:rPr>
                          <m:t>k</m:t>
                        </m:r>
                      </m:sub>
                      <m:sup/>
                      <m:e>
                        <m:r>
                          <m:rPr>
                            <m:nor/>
                          </m:rPr>
                          <a:rPr lang="en-US" altLang="zh-TW" b="0" i="0" smtClean="0">
                            <a:latin typeface="Cambria Math"/>
                          </a:rPr>
                          <m:t>k</m:t>
                        </m:r>
                        <m:sSub>
                          <m:sSubPr>
                            <m:ctrlPr>
                              <a:rPr lang="en-US" altLang="zh-TW" i="1" dirty="0" smtClean="0">
                                <a:latin typeface="Cambria Math"/>
                              </a:rPr>
                            </m:ctrlPr>
                          </m:sSubPr>
                          <m:e>
                            <m:r>
                              <m:rPr>
                                <m:sty m:val="p"/>
                              </m:rPr>
                              <a:rPr lang="en-US" altLang="ja-JP" b="0" i="0" dirty="0" smtClean="0">
                                <a:latin typeface="Cambria Math"/>
                              </a:rPr>
                              <m:t>Δ</m:t>
                            </m:r>
                          </m:e>
                          <m:sub>
                            <m:r>
                              <m:rPr>
                                <m:nor/>
                              </m:rPr>
                              <a:rPr lang="ja-JP" altLang="en-US" b="0" i="0" dirty="0" smtClean="0">
                                <a:latin typeface="Cambria Math"/>
                              </a:rPr>
                              <m:t>k</m:t>
                            </m:r>
                          </m:sub>
                        </m:sSub>
                      </m:e>
                    </m:nary>
                  </m:oMath>
                </a14:m>
                <a:r>
                  <a:rPr lang="en-US" altLang="zh-TW" dirty="0" smtClean="0"/>
                  <a:t>	(1)</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6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63068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Needleman-</a:t>
                </a:r>
                <a:r>
                  <a:rPr lang="en-US" altLang="zh-TW" dirty="0" err="1"/>
                  <a:t>Wunsch</a:t>
                </a:r>
                <a:r>
                  <a:rPr lang="en-US" altLang="zh-TW" dirty="0"/>
                  <a:t> </a:t>
                </a:r>
                <a:r>
                  <a:rPr lang="en-US" altLang="zh-TW" dirty="0" smtClean="0"/>
                  <a:t>algorithm:</a:t>
                </a:r>
              </a:p>
              <a:p>
                <a:r>
                  <a:rPr lang="en-US" altLang="zh-TW" dirty="0" smtClean="0"/>
                  <a:t>similarity measure, s</a:t>
                </a:r>
                <a:br>
                  <a:rPr lang="en-US" altLang="zh-TW" dirty="0" smtClean="0"/>
                </a:br>
                <a14:m>
                  <m:oMath xmlns:m="http://schemas.openxmlformats.org/officeDocument/2006/math">
                    <m:r>
                      <m:rPr>
                        <m:nor/>
                      </m:rPr>
                      <a:rPr lang="en-US" altLang="zh-TW" b="0" i="0" smtClean="0">
                        <a:latin typeface="Cambria Math"/>
                      </a:rPr>
                      <m:t>s</m:t>
                    </m:r>
                    <m:r>
                      <m:rPr>
                        <m:nor/>
                      </m:rPr>
                      <a:rPr lang="en-US" altLang="zh-TW" b="0" i="0" smtClean="0">
                        <a:latin typeface="Cambria Math"/>
                      </a:rPr>
                      <m:t> = </m:t>
                    </m:r>
                    <m:r>
                      <m:rPr>
                        <m:nor/>
                      </m:rPr>
                      <a:rPr lang="en-US" altLang="zh-TW" b="0" i="0" smtClean="0">
                        <a:latin typeface="Cambria Math"/>
                      </a:rPr>
                      <m:t>maximum</m:t>
                    </m:r>
                    <m:r>
                      <m:rPr>
                        <m:nor/>
                      </m:rPr>
                      <a:rPr lang="en-US" altLang="zh-TW" b="0" i="0" smtClean="0">
                        <a:latin typeface="Cambria Math"/>
                      </a:rPr>
                      <m:t>[</m:t>
                    </m:r>
                    <m:r>
                      <m:rPr>
                        <m:sty m:val="p"/>
                      </m:rPr>
                      <a:rPr lang="el-GR" altLang="zh-TW" b="0" i="1" smtClean="0">
                        <a:latin typeface="Cambria Math"/>
                      </a:rPr>
                      <m:t>λ</m:t>
                    </m:r>
                    <m:r>
                      <a:rPr lang="en-US" altLang="zh-TW" b="0" i="1" smtClean="0">
                        <a:latin typeface="Cambria Math"/>
                      </a:rPr>
                      <m:t>−</m:t>
                    </m:r>
                    <m:nary>
                      <m:naryPr>
                        <m:chr m:val="∑"/>
                        <m:supHide m:val="on"/>
                        <m:ctrlPr>
                          <a:rPr lang="en-US" altLang="zh-TW" b="0" i="1" smtClean="0">
                            <a:latin typeface="Cambria Math"/>
                          </a:rPr>
                        </m:ctrlPr>
                      </m:naryPr>
                      <m:sub>
                        <m:r>
                          <m:rPr>
                            <m:nor/>
                            <m:brk m:alnAt="7"/>
                          </m:rPr>
                          <a:rPr lang="en-US" altLang="zh-TW" b="0" i="0" smtClean="0">
                            <a:latin typeface="Cambria Math"/>
                          </a:rPr>
                          <m:t>k</m:t>
                        </m:r>
                      </m:sub>
                      <m:sup/>
                      <m:e>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sSub>
                          <m:sSubPr>
                            <m:ctrlPr>
                              <a:rPr lang="en-US" altLang="zh-TW" i="1" dirty="0" smtClean="0">
                                <a:latin typeface="Cambria Math"/>
                              </a:rPr>
                            </m:ctrlPr>
                          </m:sSubPr>
                          <m:e>
                            <m:r>
                              <a:rPr lang="en-US" altLang="zh-TW" b="0" i="1" dirty="0" smtClean="0">
                                <a:latin typeface="Cambria Math"/>
                              </a:rPr>
                              <m:t> </m:t>
                            </m:r>
                            <m:r>
                              <m:rPr>
                                <m:sty m:val="p"/>
                              </m:rPr>
                              <a:rPr lang="en-US" altLang="ja-JP" b="0" i="0" dirty="0" smtClean="0">
                                <a:latin typeface="Cambria Math"/>
                              </a:rPr>
                              <m:t>Δ</m:t>
                            </m:r>
                          </m:e>
                          <m:sub>
                            <m:r>
                              <m:rPr>
                                <m:nor/>
                              </m:rPr>
                              <a:rPr lang="ja-JP" altLang="en-US" b="0" i="0" dirty="0" smtClean="0">
                                <a:latin typeface="Cambria Math"/>
                              </a:rPr>
                              <m:t>k</m:t>
                            </m:r>
                          </m:sub>
                        </m:sSub>
                      </m:e>
                    </m:nary>
                    <m:r>
                      <m:rPr>
                        <m:nor/>
                      </m:rPr>
                      <a:rPr lang="en-US" altLang="zh-TW" b="0" i="0" smtClean="0">
                        <a:latin typeface="Cambria Math"/>
                      </a:rPr>
                      <m:t>]</m:t>
                    </m:r>
                  </m:oMath>
                </a14:m>
                <a:r>
                  <a:rPr lang="en-US" altLang="zh-TW" dirty="0" smtClean="0"/>
                  <a:t>		(2)</a:t>
                </a:r>
                <a:br>
                  <a:rPr lang="en-US" altLang="zh-TW" dirty="0" smtClean="0"/>
                </a:b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oMath>
                </a14:m>
                <a:r>
                  <a:rPr lang="en-US" altLang="zh-TW" dirty="0" smtClean="0"/>
                  <a:t> is the weight or “penalty”</a:t>
                </a:r>
              </a:p>
              <a:p>
                <a:pPr marL="0" indent="0">
                  <a:buNone/>
                </a:pPr>
                <a:endParaRPr lang="en-US" altLang="zh-TW" dirty="0" smtClean="0"/>
              </a:p>
              <a:p>
                <a:r>
                  <a:rPr lang="en-US" altLang="zh-TW" dirty="0" smtClean="0"/>
                  <a:t>The quantity, s, is a measure of maximum similarity minus gap penalties</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852" t="-17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76148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smtClean="0"/>
                  <a:t>The Sellers algorithm:</a:t>
                </a:r>
              </a:p>
              <a:p>
                <a:r>
                  <a:rPr lang="en-US" altLang="zh-TW" dirty="0" smtClean="0"/>
                  <a:t>distance measure, d</a:t>
                </a:r>
                <a:br>
                  <a:rPr lang="en-US" altLang="zh-TW" dirty="0" smtClean="0"/>
                </a:br>
                <a14:m>
                  <m:oMath xmlns:m="http://schemas.openxmlformats.org/officeDocument/2006/math">
                    <m:r>
                      <m:rPr>
                        <m:nor/>
                      </m:rPr>
                      <a:rPr lang="en-US" altLang="zh-TW">
                        <a:latin typeface="Cambria Math"/>
                      </a:rPr>
                      <m:t>d</m:t>
                    </m:r>
                    <m:r>
                      <m:rPr>
                        <m:nor/>
                      </m:rPr>
                      <a:rPr lang="en-US" altLang="zh-TW" b="0" i="0" smtClean="0">
                        <a:latin typeface="Cambria Math"/>
                      </a:rPr>
                      <m:t> = </m:t>
                    </m:r>
                    <m:r>
                      <m:rPr>
                        <m:nor/>
                      </m:rPr>
                      <a:rPr lang="en-US" altLang="zh-TW" b="0" i="0" smtClean="0">
                        <a:latin typeface="Cambria Math"/>
                      </a:rPr>
                      <m:t>minimum</m:t>
                    </m:r>
                    <m:r>
                      <m:rPr>
                        <m:nor/>
                      </m:rPr>
                      <a:rPr lang="en-US" altLang="zh-TW" b="0" i="0" smtClean="0">
                        <a:latin typeface="Cambria Math"/>
                      </a:rPr>
                      <m:t>[</m:t>
                    </m:r>
                    <m:r>
                      <m:rPr>
                        <m:nor/>
                      </m:rPr>
                      <a:rPr lang="el-GR" altLang="zh-TW" dirty="0" smtClean="0"/>
                      <m:t>μ</m:t>
                    </m:r>
                    <m:r>
                      <m:rPr>
                        <m:nor/>
                      </m:rPr>
                      <a:rPr lang="en-US" altLang="zh-TW" b="0" i="0" dirty="0" smtClean="0"/>
                      <m:t> </m:t>
                    </m:r>
                    <m:r>
                      <m:rPr>
                        <m:nor/>
                      </m:rPr>
                      <a:rPr lang="en-US" altLang="zh-TW" b="0" i="0" smtClean="0">
                        <a:latin typeface="Cambria Math"/>
                      </a:rPr>
                      <m:t>+ </m:t>
                    </m:r>
                    <m:nary>
                      <m:naryPr>
                        <m:chr m:val="∑"/>
                        <m:supHide m:val="on"/>
                        <m:ctrlPr>
                          <a:rPr lang="en-US" altLang="zh-TW" b="0" i="1" smtClean="0">
                            <a:latin typeface="Cambria Math"/>
                          </a:rPr>
                        </m:ctrlPr>
                      </m:naryPr>
                      <m:sub>
                        <m:r>
                          <m:rPr>
                            <m:nor/>
                            <m:brk m:alnAt="7"/>
                          </m:rPr>
                          <a:rPr lang="en-US" altLang="zh-TW" b="0" i="0" smtClean="0">
                            <a:latin typeface="Cambria Math"/>
                          </a:rPr>
                          <m:t>k</m:t>
                        </m:r>
                      </m:sub>
                      <m:sup/>
                      <m:e>
                        <m:sSub>
                          <m:sSubPr>
                            <m:ctrlPr>
                              <a:rPr lang="en-US" altLang="zh-TW" b="0" i="1" smtClean="0">
                                <a:latin typeface="Cambria Math"/>
                              </a:rPr>
                            </m:ctrlPr>
                          </m:sSubPr>
                          <m:e>
                            <m:r>
                              <m:rPr>
                                <m:nor/>
                              </m:rPr>
                              <a:rPr lang="en-US" altLang="zh-TW" b="0" i="0" smtClean="0">
                                <a:latin typeface="Cambria Math"/>
                              </a:rPr>
                              <m:t>w</m:t>
                            </m:r>
                            <m:r>
                              <a:rPr lang="en-US" altLang="zh-TW" b="0" i="1" smtClean="0">
                                <a:latin typeface="Cambria Math"/>
                              </a:rPr>
                              <m:t>′</m:t>
                            </m:r>
                          </m:e>
                          <m:sub>
                            <m:r>
                              <m:rPr>
                                <m:nor/>
                              </m:rPr>
                              <a:rPr lang="en-US" altLang="zh-TW" b="0" i="0" smtClean="0">
                                <a:latin typeface="Cambria Math"/>
                              </a:rPr>
                              <m:t>k</m:t>
                            </m:r>
                          </m:sub>
                        </m:sSub>
                        <m:sSub>
                          <m:sSubPr>
                            <m:ctrlPr>
                              <a:rPr lang="en-US" altLang="zh-TW" i="1" dirty="0" smtClean="0">
                                <a:latin typeface="Cambria Math"/>
                              </a:rPr>
                            </m:ctrlPr>
                          </m:sSubPr>
                          <m:e>
                            <m:r>
                              <a:rPr lang="en-US" altLang="zh-TW" b="0" i="1" dirty="0" smtClean="0">
                                <a:latin typeface="Cambria Math"/>
                              </a:rPr>
                              <m:t> </m:t>
                            </m:r>
                            <m:r>
                              <m:rPr>
                                <m:sty m:val="p"/>
                              </m:rPr>
                              <a:rPr lang="en-US" altLang="ja-JP" b="0" i="0" dirty="0" smtClean="0">
                                <a:latin typeface="Cambria Math"/>
                              </a:rPr>
                              <m:t>Δ</m:t>
                            </m:r>
                          </m:e>
                          <m:sub>
                            <m:r>
                              <m:rPr>
                                <m:nor/>
                              </m:rPr>
                              <a:rPr lang="ja-JP" altLang="en-US" b="0" i="0" dirty="0" smtClean="0">
                                <a:latin typeface="Cambria Math"/>
                              </a:rPr>
                              <m:t>k</m:t>
                            </m:r>
                          </m:sub>
                        </m:sSub>
                      </m:e>
                    </m:nary>
                    <m:r>
                      <m:rPr>
                        <m:nor/>
                      </m:rPr>
                      <a:rPr lang="en-US" altLang="zh-TW" b="0" i="0" smtClean="0">
                        <a:latin typeface="Cambria Math"/>
                      </a:rPr>
                      <m:t>]</m:t>
                    </m:r>
                  </m:oMath>
                </a14:m>
                <a:r>
                  <a:rPr lang="en-US" altLang="zh-TW" dirty="0" smtClean="0"/>
                  <a:t>	(3)</a:t>
                </a:r>
              </a:p>
              <a:p>
                <a:pPr marL="0" indent="0">
                  <a:buNone/>
                </a:pPr>
                <a:endParaRPr lang="en-US" altLang="zh-TW" dirty="0" smtClean="0"/>
              </a:p>
              <a:p>
                <a:r>
                  <a:rPr lang="en-US" altLang="zh-TW" dirty="0" smtClean="0"/>
                  <a:t>Here </a:t>
                </a: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r>
                          <a:rPr lang="en-US" altLang="zh-TW" b="0" i="1" smtClean="0">
                            <a:latin typeface="Cambria Math"/>
                          </a:rPr>
                          <m:t>′</m:t>
                        </m:r>
                      </m:e>
                      <m:sub>
                        <m:r>
                          <m:rPr>
                            <m:nor/>
                          </m:rPr>
                          <a:rPr lang="en-US" altLang="zh-TW" b="0" i="0" smtClean="0">
                            <a:latin typeface="Cambria Math"/>
                          </a:rPr>
                          <m:t>k</m:t>
                        </m:r>
                      </m:sub>
                    </m:sSub>
                  </m:oMath>
                </a14:m>
                <a:r>
                  <a:rPr lang="en-US" altLang="zh-TW" dirty="0" smtClean="0"/>
                  <a:t> is a gap weight analogous to </a:t>
                </a: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oMath>
                </a14:m>
                <a:r>
                  <a:rPr lang="en-US" altLang="zh-TW" dirty="0" smtClean="0"/>
                  <a:t> and d is a proper distance obeying the required metric properties.</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r="-207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7340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764704"/>
                <a:ext cx="8229600" cy="5976664"/>
              </a:xfrm>
            </p:spPr>
            <p:txBody>
              <a:bodyPr>
                <a:normAutofit/>
              </a:bodyPr>
              <a:lstStyle/>
              <a:p>
                <a:r>
                  <a:rPr lang="en-US" altLang="zh-TW" sz="3000" dirty="0" smtClean="0"/>
                  <a:t>An equivalence between the Needleman-</a:t>
                </a:r>
                <a:r>
                  <a:rPr lang="en-US" altLang="zh-TW" sz="3000" dirty="0" err="1" smtClean="0"/>
                  <a:t>Wunsch</a:t>
                </a:r>
                <a:r>
                  <a:rPr lang="en-US" altLang="zh-TW" sz="3000" dirty="0" smtClean="0"/>
                  <a:t> and the Sellers algorithms is established via equation (1). Using equation (1) the maximization given in (2) can be rewritten as:</a:t>
                </a:r>
                <a:br>
                  <a:rPr lang="en-US" altLang="zh-TW" sz="3000" dirty="0" smtClean="0"/>
                </a:br>
                <a14:m>
                  <m:oMath xmlns:m="http://schemas.openxmlformats.org/officeDocument/2006/math">
                    <m:r>
                      <m:rPr>
                        <m:nor/>
                      </m:rPr>
                      <a:rPr lang="en-US" altLang="zh-TW" sz="2800" b="0" i="0" smtClean="0">
                        <a:latin typeface="Cambria Math"/>
                      </a:rPr>
                      <m:t>s</m:t>
                    </m:r>
                    <m:r>
                      <m:rPr>
                        <m:nor/>
                      </m:rPr>
                      <a:rPr lang="en-US" altLang="zh-TW" sz="2800" b="0" i="0" smtClean="0">
                        <a:latin typeface="Cambria Math"/>
                      </a:rPr>
                      <m:t> = </m:t>
                    </m:r>
                    <m:r>
                      <m:rPr>
                        <m:nor/>
                      </m:rPr>
                      <a:rPr lang="en-US" altLang="zh-TW" sz="2800" b="0" i="0" smtClean="0">
                        <a:latin typeface="Cambria Math"/>
                      </a:rPr>
                      <m:t>maximum</m:t>
                    </m:r>
                    <m:r>
                      <a:rPr lang="en-US" altLang="zh-TW" sz="2800" b="0" i="1" smtClean="0">
                        <a:latin typeface="Cambria Math"/>
                      </a:rPr>
                      <m:t>{</m:t>
                    </m:r>
                    <m:f>
                      <m:fPr>
                        <m:ctrlPr>
                          <a:rPr lang="en-US" altLang="zh-TW" sz="2800" b="0" i="1" smtClean="0">
                            <a:latin typeface="Cambria Math"/>
                          </a:rPr>
                        </m:ctrlPr>
                      </m:fPr>
                      <m:num>
                        <m:r>
                          <m:rPr>
                            <m:nor/>
                          </m:rPr>
                          <a:rPr lang="en-US" altLang="zh-TW" sz="2800" b="0" i="0" smtClean="0">
                            <a:latin typeface="Cambria Math"/>
                          </a:rPr>
                          <m:t>n</m:t>
                        </m:r>
                        <m:r>
                          <m:rPr>
                            <m:nor/>
                          </m:rPr>
                          <a:rPr lang="en-US" altLang="zh-TW" sz="2800" b="0" i="0" smtClean="0">
                            <a:latin typeface="Cambria Math"/>
                          </a:rPr>
                          <m:t>+</m:t>
                        </m:r>
                        <m:r>
                          <m:rPr>
                            <m:nor/>
                          </m:rPr>
                          <a:rPr lang="en-US" altLang="zh-TW" sz="2800" b="0" i="0" smtClean="0">
                            <a:latin typeface="Cambria Math"/>
                          </a:rPr>
                          <m:t>m</m:t>
                        </m:r>
                      </m:num>
                      <m:den>
                        <m:r>
                          <m:rPr>
                            <m:nor/>
                          </m:rPr>
                          <a:rPr lang="en-US" altLang="zh-TW" sz="2800" b="0" i="0" smtClean="0">
                            <a:latin typeface="Cambria Math"/>
                          </a:rPr>
                          <m:t>2</m:t>
                        </m:r>
                      </m:den>
                    </m:f>
                    <m:r>
                      <a:rPr lang="en-US" altLang="zh-TW" sz="2800" b="0" i="1" smtClean="0">
                        <a:latin typeface="Cambria Math"/>
                      </a:rPr>
                      <m:t>−</m:t>
                    </m:r>
                    <m:r>
                      <m:rPr>
                        <m:nor/>
                      </m:rPr>
                      <a:rPr lang="el-GR" altLang="zh-TW" sz="2800" b="0" i="0" smtClean="0">
                        <a:latin typeface="Cambria Math"/>
                      </a:rPr>
                      <m:t>μ</m:t>
                    </m:r>
                    <m:r>
                      <m:rPr>
                        <m:nor/>
                      </m:rPr>
                      <a:rPr lang="en-US" altLang="zh-TW" sz="2800" b="0" i="0" smtClean="0">
                        <a:latin typeface="Cambria Math"/>
                      </a:rPr>
                      <m:t>−</m:t>
                    </m:r>
                    <m:f>
                      <m:fPr>
                        <m:ctrlPr>
                          <a:rPr lang="en-US" altLang="zh-TW" sz="2800" b="0" i="1" smtClean="0">
                            <a:latin typeface="Cambria Math"/>
                          </a:rPr>
                        </m:ctrlPr>
                      </m:fPr>
                      <m:num>
                        <m:r>
                          <a:rPr lang="en-US" altLang="zh-TW" sz="2800" b="0" i="1" smtClean="0">
                            <a:latin typeface="Cambria Math"/>
                          </a:rPr>
                          <m:t>1</m:t>
                        </m:r>
                      </m:num>
                      <m:den>
                        <m:r>
                          <a:rPr lang="en-US" altLang="zh-TW" sz="2800" b="0" i="1" smtClean="0">
                            <a:latin typeface="Cambria Math"/>
                          </a:rPr>
                          <m:t>2</m:t>
                        </m:r>
                      </m:den>
                    </m:f>
                    <m:r>
                      <m:rPr>
                        <m:nor/>
                      </m:rPr>
                      <a:rPr lang="en-US" altLang="zh-TW" sz="2800" b="0" i="0" smtClean="0">
                        <a:latin typeface="Cambria Math"/>
                      </a:rPr>
                      <m:t> </m:t>
                    </m:r>
                    <m:nary>
                      <m:naryPr>
                        <m:chr m:val="∑"/>
                        <m:subHide m:val="on"/>
                        <m:supHide m:val="on"/>
                        <m:ctrlPr>
                          <a:rPr lang="en-US" altLang="zh-TW" sz="2800" b="0" i="1" smtClean="0">
                            <a:latin typeface="Cambria Math"/>
                          </a:rPr>
                        </m:ctrlPr>
                      </m:naryPr>
                      <m:sub/>
                      <m:sup/>
                      <m:e>
                        <m:r>
                          <a:rPr lang="en-US" altLang="zh-TW" sz="2800" b="0" i="1" smtClean="0">
                            <a:latin typeface="Cambria Math"/>
                          </a:rPr>
                          <m:t>(</m:t>
                        </m:r>
                        <m:r>
                          <m:rPr>
                            <m:nor/>
                          </m:rPr>
                          <a:rPr lang="en-US" altLang="zh-TW" sz="2800" b="0" i="0" smtClean="0">
                            <a:latin typeface="Cambria Math"/>
                          </a:rPr>
                          <m:t>k</m:t>
                        </m:r>
                        <m:r>
                          <m:rPr>
                            <m:nor/>
                          </m:rPr>
                          <a:rPr lang="en-US" altLang="zh-TW" sz="2800" b="0" i="0" smtClean="0">
                            <a:latin typeface="Cambria Math"/>
                          </a:rPr>
                          <m:t> + 2</m:t>
                        </m:r>
                        <m:sSub>
                          <m:sSubPr>
                            <m:ctrlPr>
                              <a:rPr lang="en-US" altLang="zh-TW" sz="2800" b="0" i="1" smtClean="0">
                                <a:latin typeface="Cambria Math"/>
                              </a:rPr>
                            </m:ctrlPr>
                          </m:sSubPr>
                          <m:e>
                            <m:r>
                              <m:rPr>
                                <m:nor/>
                              </m:rPr>
                              <a:rPr lang="en-US" altLang="zh-TW" sz="2800" b="0" i="0" smtClean="0">
                                <a:latin typeface="Cambria Math"/>
                              </a:rPr>
                              <m:t>w</m:t>
                            </m:r>
                          </m:e>
                          <m:sub>
                            <m:r>
                              <m:rPr>
                                <m:nor/>
                              </m:rPr>
                              <a:rPr lang="en-US" altLang="zh-TW" sz="2800" b="0" i="0" smtClean="0">
                                <a:latin typeface="Cambria Math"/>
                              </a:rPr>
                              <m:t>k</m:t>
                            </m:r>
                          </m:sub>
                        </m:sSub>
                        <m:r>
                          <a:rPr lang="en-US" altLang="zh-TW" sz="2800" b="0" i="1" smtClean="0">
                            <a:latin typeface="Cambria Math"/>
                          </a:rPr>
                          <m:t>)</m:t>
                        </m:r>
                        <m:sSub>
                          <m:sSubPr>
                            <m:ctrlPr>
                              <a:rPr lang="en-US" altLang="zh-TW" sz="2800" i="1" dirty="0" smtClean="0">
                                <a:latin typeface="Cambria Math"/>
                              </a:rPr>
                            </m:ctrlPr>
                          </m:sSubPr>
                          <m:e>
                            <m:r>
                              <a:rPr lang="en-US" altLang="zh-TW" sz="2800" b="0" i="1" dirty="0" smtClean="0">
                                <a:latin typeface="Cambria Math"/>
                              </a:rPr>
                              <m:t> </m:t>
                            </m:r>
                            <m:r>
                              <m:rPr>
                                <m:sty m:val="p"/>
                              </m:rPr>
                              <a:rPr lang="en-US" altLang="ja-JP" sz="2800" b="0" i="0" dirty="0" smtClean="0">
                                <a:latin typeface="Cambria Math"/>
                              </a:rPr>
                              <m:t>Δ</m:t>
                            </m:r>
                          </m:e>
                          <m:sub>
                            <m:r>
                              <m:rPr>
                                <m:nor/>
                              </m:rPr>
                              <a:rPr lang="ja-JP" altLang="en-US" sz="2800" b="0" i="0" dirty="0" smtClean="0">
                                <a:latin typeface="Cambria Math"/>
                              </a:rPr>
                              <m:t>k</m:t>
                            </m:r>
                          </m:sub>
                        </m:sSub>
                      </m:e>
                    </m:nary>
                    <m:r>
                      <m:rPr>
                        <m:nor/>
                      </m:rPr>
                      <a:rPr lang="en-US" altLang="ja-JP" sz="2800" b="0" i="0" dirty="0" smtClean="0">
                        <a:latin typeface="Cambria Math"/>
                      </a:rPr>
                      <m:t>}</m:t>
                    </m:r>
                  </m:oMath>
                </a14:m>
                <a:r>
                  <a:rPr lang="en-US" altLang="zh-TW" sz="3000" dirty="0" smtClean="0"/>
                  <a:t>	(4a)</a:t>
                </a:r>
                <a:br>
                  <a:rPr lang="en-US" altLang="zh-TW" sz="3000" dirty="0" smtClean="0"/>
                </a:br>
                <a14:m>
                  <m:oMath xmlns:m="http://schemas.openxmlformats.org/officeDocument/2006/math">
                    <m:r>
                      <m:rPr>
                        <m:nor/>
                      </m:rPr>
                      <a:rPr lang="en-US" altLang="zh-TW" sz="2800" b="0" i="0" smtClean="0">
                        <a:latin typeface="Cambria Math"/>
                      </a:rPr>
                      <m:t>s</m:t>
                    </m:r>
                    <m:r>
                      <m:rPr>
                        <m:nor/>
                      </m:rPr>
                      <a:rPr lang="en-US" altLang="zh-TW" sz="2800" b="0" i="0" smtClean="0">
                        <a:latin typeface="Cambria Math"/>
                      </a:rPr>
                      <m:t> =</m:t>
                    </m:r>
                    <m:f>
                      <m:fPr>
                        <m:ctrlPr>
                          <a:rPr lang="en-US" altLang="zh-TW" sz="2800" b="0" i="1" smtClean="0">
                            <a:latin typeface="Cambria Math"/>
                          </a:rPr>
                        </m:ctrlPr>
                      </m:fPr>
                      <m:num>
                        <m:r>
                          <m:rPr>
                            <m:nor/>
                          </m:rPr>
                          <a:rPr lang="en-US" altLang="zh-TW" sz="2800" b="0" i="0" smtClean="0">
                            <a:latin typeface="Cambria Math"/>
                          </a:rPr>
                          <m:t>n</m:t>
                        </m:r>
                        <m:r>
                          <m:rPr>
                            <m:nor/>
                          </m:rPr>
                          <a:rPr lang="en-US" altLang="zh-TW" sz="2800" b="0" i="0" smtClean="0">
                            <a:latin typeface="Cambria Math"/>
                          </a:rPr>
                          <m:t>+</m:t>
                        </m:r>
                        <m:r>
                          <m:rPr>
                            <m:nor/>
                          </m:rPr>
                          <a:rPr lang="en-US" altLang="zh-TW" sz="2800" b="0" i="0" smtClean="0">
                            <a:latin typeface="Cambria Math"/>
                          </a:rPr>
                          <m:t>m</m:t>
                        </m:r>
                      </m:num>
                      <m:den>
                        <m:r>
                          <m:rPr>
                            <m:nor/>
                          </m:rPr>
                          <a:rPr lang="en-US" altLang="zh-TW" sz="2800" b="0" i="0" smtClean="0">
                            <a:latin typeface="Cambria Math"/>
                          </a:rPr>
                          <m:t>2</m:t>
                        </m:r>
                      </m:den>
                    </m:f>
                    <m:r>
                      <a:rPr lang="en-US" altLang="zh-TW" sz="2800" b="0" i="1" smtClean="0">
                        <a:latin typeface="Cambria Math"/>
                      </a:rPr>
                      <m:t> </m:t>
                    </m:r>
                    <m:r>
                      <m:rPr>
                        <m:nor/>
                      </m:rPr>
                      <a:rPr lang="en-US" altLang="zh-TW" sz="2800" b="0" i="0" smtClean="0">
                        <a:latin typeface="Cambria Math"/>
                      </a:rPr>
                      <m:t>+ </m:t>
                    </m:r>
                    <m:r>
                      <m:rPr>
                        <m:nor/>
                      </m:rPr>
                      <a:rPr lang="en-US" altLang="zh-TW" sz="2800" b="0" i="0" smtClean="0">
                        <a:latin typeface="Cambria Math"/>
                      </a:rPr>
                      <m:t>maximum</m:t>
                    </m:r>
                    <m:r>
                      <a:rPr lang="en-US" altLang="zh-TW" sz="2800" b="0" i="1" smtClean="0">
                        <a:latin typeface="Cambria Math"/>
                      </a:rPr>
                      <m:t>{−</m:t>
                    </m:r>
                    <m:r>
                      <m:rPr>
                        <m:nor/>
                      </m:rPr>
                      <a:rPr lang="el-GR" altLang="zh-TW" sz="2800" b="0" i="0" smtClean="0">
                        <a:latin typeface="Cambria Math"/>
                      </a:rPr>
                      <m:t>μ</m:t>
                    </m:r>
                    <m:r>
                      <m:rPr>
                        <m:nor/>
                      </m:rPr>
                      <a:rPr lang="en-US" altLang="zh-TW" sz="2800" b="0" i="0" smtClean="0">
                        <a:latin typeface="Cambria Math"/>
                      </a:rPr>
                      <m:t>− </m:t>
                    </m:r>
                    <m:nary>
                      <m:naryPr>
                        <m:chr m:val="∑"/>
                        <m:subHide m:val="on"/>
                        <m:supHide m:val="on"/>
                        <m:ctrlPr>
                          <a:rPr lang="en-US" altLang="zh-TW" sz="2800" b="0" i="1" smtClean="0">
                            <a:latin typeface="Cambria Math"/>
                          </a:rPr>
                        </m:ctrlPr>
                      </m:naryPr>
                      <m:sub/>
                      <m:sup/>
                      <m:e>
                        <m:r>
                          <a:rPr lang="en-US" altLang="zh-TW" sz="2800" b="0" i="1" smtClean="0">
                            <a:latin typeface="Cambria Math"/>
                          </a:rPr>
                          <m:t>(</m:t>
                        </m:r>
                        <m:f>
                          <m:fPr>
                            <m:ctrlPr>
                              <a:rPr lang="en-US" altLang="zh-TW" sz="2800" b="0" i="1" smtClean="0">
                                <a:latin typeface="Cambria Math"/>
                              </a:rPr>
                            </m:ctrlPr>
                          </m:fPr>
                          <m:num>
                            <m:r>
                              <m:rPr>
                                <m:sty m:val="p"/>
                              </m:rPr>
                              <a:rPr lang="en-US" altLang="zh-TW" sz="2800" b="0" i="0" smtClean="0">
                                <a:latin typeface="Cambria Math"/>
                              </a:rPr>
                              <m:t>k</m:t>
                            </m:r>
                          </m:num>
                          <m:den>
                            <m:r>
                              <a:rPr lang="en-US" altLang="zh-TW" sz="2800" b="0" i="0" smtClean="0">
                                <a:latin typeface="Cambria Math"/>
                              </a:rPr>
                              <m:t>2</m:t>
                            </m:r>
                          </m:den>
                        </m:f>
                        <m:r>
                          <m:rPr>
                            <m:nor/>
                          </m:rPr>
                          <a:rPr lang="en-US" altLang="zh-TW" sz="2800" b="0" i="0" smtClean="0">
                            <a:latin typeface="Cambria Math"/>
                          </a:rPr>
                          <m:t>+</m:t>
                        </m:r>
                        <m:sSub>
                          <m:sSubPr>
                            <m:ctrlPr>
                              <a:rPr lang="en-US" altLang="zh-TW" sz="2800" b="0" i="1" smtClean="0">
                                <a:latin typeface="Cambria Math"/>
                              </a:rPr>
                            </m:ctrlPr>
                          </m:sSubPr>
                          <m:e>
                            <m:r>
                              <m:rPr>
                                <m:nor/>
                              </m:rPr>
                              <a:rPr lang="en-US" altLang="zh-TW" sz="2800" b="0" i="0" smtClean="0">
                                <a:latin typeface="Cambria Math"/>
                              </a:rPr>
                              <m:t>w</m:t>
                            </m:r>
                          </m:e>
                          <m:sub>
                            <m:r>
                              <m:rPr>
                                <m:nor/>
                              </m:rPr>
                              <a:rPr lang="en-US" altLang="zh-TW" sz="2800" b="0" i="0" smtClean="0">
                                <a:latin typeface="Cambria Math"/>
                              </a:rPr>
                              <m:t>k</m:t>
                            </m:r>
                          </m:sub>
                        </m:sSub>
                        <m:r>
                          <a:rPr lang="en-US" altLang="zh-TW" sz="2800" b="0" i="1" smtClean="0">
                            <a:latin typeface="Cambria Math"/>
                          </a:rPr>
                          <m:t>)</m:t>
                        </m:r>
                        <m:sSub>
                          <m:sSubPr>
                            <m:ctrlPr>
                              <a:rPr lang="en-US" altLang="zh-TW" sz="2800" i="1" dirty="0" smtClean="0">
                                <a:latin typeface="Cambria Math"/>
                              </a:rPr>
                            </m:ctrlPr>
                          </m:sSubPr>
                          <m:e>
                            <m:r>
                              <a:rPr lang="en-US" altLang="zh-TW" sz="2800" b="0" i="1" dirty="0" smtClean="0">
                                <a:latin typeface="Cambria Math"/>
                              </a:rPr>
                              <m:t> </m:t>
                            </m:r>
                            <m:r>
                              <m:rPr>
                                <m:sty m:val="p"/>
                              </m:rPr>
                              <a:rPr lang="en-US" altLang="ja-JP" sz="2800" b="0" i="0" dirty="0" smtClean="0">
                                <a:latin typeface="Cambria Math"/>
                              </a:rPr>
                              <m:t>Δ</m:t>
                            </m:r>
                          </m:e>
                          <m:sub>
                            <m:r>
                              <m:rPr>
                                <m:nor/>
                              </m:rPr>
                              <a:rPr lang="ja-JP" altLang="en-US" sz="2800" b="0" i="0" dirty="0" smtClean="0">
                                <a:latin typeface="Cambria Math"/>
                              </a:rPr>
                              <m:t>k</m:t>
                            </m:r>
                          </m:sub>
                        </m:sSub>
                      </m:e>
                    </m:nary>
                    <m:r>
                      <m:rPr>
                        <m:nor/>
                      </m:rPr>
                      <a:rPr lang="en-US" altLang="ja-JP" sz="2800" b="0" i="0" dirty="0" smtClean="0">
                        <a:latin typeface="Cambria Math"/>
                      </a:rPr>
                      <m:t>}</m:t>
                    </m:r>
                  </m:oMath>
                </a14:m>
                <a:r>
                  <a:rPr lang="en-US" altLang="zh-TW" sz="3000" dirty="0" smtClean="0"/>
                  <a:t> 	 (4b)</a:t>
                </a:r>
              </a:p>
              <a:p>
                <a:r>
                  <a:rPr lang="en-US" altLang="zh-TW" sz="3000" dirty="0"/>
                  <a:t>T</a:t>
                </a:r>
                <a:r>
                  <a:rPr lang="en-US" altLang="zh-TW" sz="3000" dirty="0" smtClean="0"/>
                  <a:t>he maximum of a quantity can be replaced by the negative of the minimum of its negative to give</a:t>
                </a:r>
                <a:br>
                  <a:rPr lang="en-US" altLang="zh-TW" sz="3000" dirty="0" smtClean="0"/>
                </a:br>
                <a14:m>
                  <m:oMath xmlns:m="http://schemas.openxmlformats.org/officeDocument/2006/math">
                    <m:r>
                      <m:rPr>
                        <m:nor/>
                      </m:rPr>
                      <a:rPr lang="en-US" altLang="zh-TW" sz="2800" b="0" i="0" smtClean="0">
                        <a:latin typeface="Cambria Math"/>
                      </a:rPr>
                      <m:t>s</m:t>
                    </m:r>
                    <m:r>
                      <m:rPr>
                        <m:nor/>
                      </m:rPr>
                      <a:rPr lang="en-US" altLang="zh-TW" sz="2800" b="0" i="0" smtClean="0">
                        <a:latin typeface="Cambria Math"/>
                      </a:rPr>
                      <m:t> =</m:t>
                    </m:r>
                    <m:f>
                      <m:fPr>
                        <m:ctrlPr>
                          <a:rPr lang="en-US" altLang="zh-TW" sz="2800" b="0" i="1" smtClean="0">
                            <a:latin typeface="Cambria Math"/>
                          </a:rPr>
                        </m:ctrlPr>
                      </m:fPr>
                      <m:num>
                        <m:r>
                          <m:rPr>
                            <m:nor/>
                          </m:rPr>
                          <a:rPr lang="en-US" altLang="zh-TW" sz="2800" b="0" i="0" smtClean="0">
                            <a:latin typeface="Cambria Math"/>
                          </a:rPr>
                          <m:t>n</m:t>
                        </m:r>
                        <m:r>
                          <m:rPr>
                            <m:nor/>
                          </m:rPr>
                          <a:rPr lang="en-US" altLang="zh-TW" sz="2800" b="0" i="0" smtClean="0">
                            <a:latin typeface="Cambria Math"/>
                          </a:rPr>
                          <m:t>+</m:t>
                        </m:r>
                        <m:r>
                          <m:rPr>
                            <m:nor/>
                          </m:rPr>
                          <a:rPr lang="en-US" altLang="zh-TW" sz="2800" b="0" i="0" smtClean="0">
                            <a:latin typeface="Cambria Math"/>
                          </a:rPr>
                          <m:t>m</m:t>
                        </m:r>
                      </m:num>
                      <m:den>
                        <m:r>
                          <m:rPr>
                            <m:nor/>
                          </m:rPr>
                          <a:rPr lang="en-US" altLang="zh-TW" sz="2800" b="0" i="0" smtClean="0">
                            <a:latin typeface="Cambria Math"/>
                          </a:rPr>
                          <m:t>2</m:t>
                        </m:r>
                      </m:den>
                    </m:f>
                    <m:r>
                      <m:rPr>
                        <m:nor/>
                      </m:rPr>
                      <a:rPr lang="en-US" altLang="zh-TW" sz="2800" b="0" i="0" smtClean="0">
                        <a:latin typeface="Cambria Math"/>
                      </a:rPr>
                      <m:t>− </m:t>
                    </m:r>
                    <m:r>
                      <m:rPr>
                        <m:nor/>
                      </m:rPr>
                      <a:rPr lang="en-US" altLang="zh-TW" sz="2800" b="0" i="0" smtClean="0">
                        <a:latin typeface="Cambria Math"/>
                      </a:rPr>
                      <m:t>minimum</m:t>
                    </m:r>
                    <m:r>
                      <a:rPr lang="en-US" altLang="zh-TW" sz="2800" b="0" i="1" smtClean="0">
                        <a:latin typeface="Cambria Math"/>
                      </a:rPr>
                      <m:t>{</m:t>
                    </m:r>
                    <m:r>
                      <m:rPr>
                        <m:nor/>
                      </m:rPr>
                      <a:rPr lang="el-GR" altLang="zh-TW" sz="2800" b="0" i="0" smtClean="0">
                        <a:latin typeface="Cambria Math"/>
                      </a:rPr>
                      <m:t>μ</m:t>
                    </m:r>
                    <m:r>
                      <m:rPr>
                        <m:nor/>
                      </m:rPr>
                      <a:rPr lang="en-US" altLang="zh-TW" sz="2800" b="0" i="0" smtClean="0">
                        <a:latin typeface="Cambria Math"/>
                      </a:rPr>
                      <m:t> +</m:t>
                    </m:r>
                    <m:nary>
                      <m:naryPr>
                        <m:chr m:val="∑"/>
                        <m:subHide m:val="on"/>
                        <m:supHide m:val="on"/>
                        <m:ctrlPr>
                          <a:rPr lang="en-US" altLang="zh-TW" sz="2800" b="0" i="1" smtClean="0">
                            <a:latin typeface="Cambria Math"/>
                          </a:rPr>
                        </m:ctrlPr>
                      </m:naryPr>
                      <m:sub/>
                      <m:sup/>
                      <m:e>
                        <m:r>
                          <a:rPr lang="en-US" altLang="zh-TW" sz="2800" b="0" i="1" smtClean="0">
                            <a:latin typeface="Cambria Math"/>
                          </a:rPr>
                          <m:t>(</m:t>
                        </m:r>
                        <m:f>
                          <m:fPr>
                            <m:ctrlPr>
                              <a:rPr lang="en-US" altLang="zh-TW" sz="2800" b="0" i="1" smtClean="0">
                                <a:latin typeface="Cambria Math"/>
                              </a:rPr>
                            </m:ctrlPr>
                          </m:fPr>
                          <m:num>
                            <m:r>
                              <m:rPr>
                                <m:sty m:val="p"/>
                              </m:rPr>
                              <a:rPr lang="en-US" altLang="zh-TW" sz="2800" b="0" i="0" smtClean="0">
                                <a:latin typeface="Cambria Math"/>
                              </a:rPr>
                              <m:t>k</m:t>
                            </m:r>
                          </m:num>
                          <m:den>
                            <m:r>
                              <a:rPr lang="en-US" altLang="zh-TW" sz="2800" b="0" i="0" smtClean="0">
                                <a:latin typeface="Cambria Math"/>
                              </a:rPr>
                              <m:t>2</m:t>
                            </m:r>
                          </m:den>
                        </m:f>
                        <m:r>
                          <m:rPr>
                            <m:nor/>
                          </m:rPr>
                          <a:rPr lang="en-US" altLang="zh-TW" sz="2800" b="0" i="0" smtClean="0">
                            <a:latin typeface="Cambria Math"/>
                          </a:rPr>
                          <m:t>+</m:t>
                        </m:r>
                        <m:sSub>
                          <m:sSubPr>
                            <m:ctrlPr>
                              <a:rPr lang="en-US" altLang="zh-TW" sz="2800" b="0" i="1" smtClean="0">
                                <a:latin typeface="Cambria Math"/>
                              </a:rPr>
                            </m:ctrlPr>
                          </m:sSubPr>
                          <m:e>
                            <m:r>
                              <m:rPr>
                                <m:nor/>
                              </m:rPr>
                              <a:rPr lang="en-US" altLang="zh-TW" sz="2800" b="0" i="0" smtClean="0">
                                <a:latin typeface="Cambria Math"/>
                              </a:rPr>
                              <m:t>w</m:t>
                            </m:r>
                          </m:e>
                          <m:sub>
                            <m:r>
                              <m:rPr>
                                <m:nor/>
                              </m:rPr>
                              <a:rPr lang="en-US" altLang="zh-TW" sz="2800" b="0" i="0" smtClean="0">
                                <a:latin typeface="Cambria Math"/>
                              </a:rPr>
                              <m:t>k</m:t>
                            </m:r>
                          </m:sub>
                        </m:sSub>
                        <m:r>
                          <a:rPr lang="en-US" altLang="zh-TW" sz="2800" b="0" i="1" smtClean="0">
                            <a:latin typeface="Cambria Math"/>
                          </a:rPr>
                          <m:t>)</m:t>
                        </m:r>
                        <m:sSub>
                          <m:sSubPr>
                            <m:ctrlPr>
                              <a:rPr lang="en-US" altLang="zh-TW" sz="2800" i="1" dirty="0" smtClean="0">
                                <a:latin typeface="Cambria Math"/>
                              </a:rPr>
                            </m:ctrlPr>
                          </m:sSubPr>
                          <m:e>
                            <m:r>
                              <a:rPr lang="en-US" altLang="zh-TW" sz="2800" b="0" i="1" dirty="0" smtClean="0">
                                <a:latin typeface="Cambria Math"/>
                              </a:rPr>
                              <m:t> </m:t>
                            </m:r>
                            <m:r>
                              <m:rPr>
                                <m:sty m:val="p"/>
                              </m:rPr>
                              <a:rPr lang="en-US" altLang="ja-JP" sz="2800" b="0" i="0" dirty="0" smtClean="0">
                                <a:latin typeface="Cambria Math"/>
                              </a:rPr>
                              <m:t>Δ</m:t>
                            </m:r>
                          </m:e>
                          <m:sub>
                            <m:r>
                              <m:rPr>
                                <m:nor/>
                              </m:rPr>
                              <a:rPr lang="ja-JP" altLang="en-US" sz="2800" b="0" i="0" dirty="0" smtClean="0">
                                <a:latin typeface="Cambria Math"/>
                              </a:rPr>
                              <m:t>k</m:t>
                            </m:r>
                          </m:sub>
                        </m:sSub>
                      </m:e>
                    </m:nary>
                    <m:r>
                      <m:rPr>
                        <m:nor/>
                      </m:rPr>
                      <a:rPr lang="en-US" altLang="ja-JP" sz="2800" b="0" i="0" dirty="0" smtClean="0">
                        <a:latin typeface="Cambria Math"/>
                      </a:rPr>
                      <m:t>}</m:t>
                    </m:r>
                  </m:oMath>
                </a14:m>
                <a:r>
                  <a:rPr lang="en-US" altLang="zh-TW" sz="3000" dirty="0" smtClean="0"/>
                  <a:t>	 (4c)</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764704"/>
                <a:ext cx="8229600" cy="5976664"/>
              </a:xfrm>
              <a:blipFill rotWithShape="1">
                <a:blip r:embed="rId2"/>
                <a:stretch>
                  <a:fillRect l="-1481" t="-1223" r="-23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7622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1052736"/>
                <a:ext cx="8229600" cy="5472608"/>
              </a:xfrm>
            </p:spPr>
            <p:txBody>
              <a:bodyPr>
                <a:normAutofit/>
              </a:bodyPr>
              <a:lstStyle/>
              <a:p>
                <a:r>
                  <a:rPr lang="en-US" altLang="zh-TW" dirty="0" smtClean="0"/>
                  <a:t>The alignments obtained for the Needleman-</a:t>
                </a:r>
                <a:r>
                  <a:rPr lang="en-US" altLang="zh-TW" dirty="0" err="1" smtClean="0"/>
                  <a:t>Wunsch</a:t>
                </a:r>
                <a:r>
                  <a:rPr lang="en-US" altLang="zh-TW" dirty="0" smtClean="0"/>
                  <a:t> maximum similarity, s, are identical to those obtained from the minimization of the quantity    </a:t>
                </a:r>
                <a14:m>
                  <m:oMath xmlns:m="http://schemas.openxmlformats.org/officeDocument/2006/math">
                    <m:r>
                      <a:rPr lang="en-US" altLang="zh-TW" b="0" i="0" smtClean="0">
                        <a:latin typeface="Cambria Math"/>
                      </a:rPr>
                      <m:t>  </m:t>
                    </m:r>
                    <m:r>
                      <m:rPr>
                        <m:nor/>
                      </m:rPr>
                      <a:rPr lang="el-GR" altLang="zh-TW" b="0" i="0" smtClean="0">
                        <a:latin typeface="Cambria Math"/>
                      </a:rPr>
                      <m:t>μ</m:t>
                    </m:r>
                    <m:r>
                      <m:rPr>
                        <m:nor/>
                      </m:rPr>
                      <a:rPr lang="en-US" altLang="zh-TW" b="0" i="0" smtClean="0">
                        <a:latin typeface="Cambria Math"/>
                      </a:rPr>
                      <m:t> +</m:t>
                    </m:r>
                    <m:nary>
                      <m:naryPr>
                        <m:chr m:val="∑"/>
                        <m:subHide m:val="on"/>
                        <m:supHide m:val="on"/>
                        <m:ctrlPr>
                          <a:rPr lang="en-US" altLang="zh-TW" b="0" i="1" smtClean="0">
                            <a:latin typeface="Cambria Math"/>
                          </a:rPr>
                        </m:ctrlPr>
                      </m:naryPr>
                      <m:sub/>
                      <m:sup/>
                      <m:e>
                        <m:r>
                          <a:rPr lang="en-US" altLang="zh-TW" b="0" i="1" smtClean="0">
                            <a:latin typeface="Cambria Math"/>
                          </a:rPr>
                          <m:t>(</m:t>
                        </m:r>
                        <m:f>
                          <m:fPr>
                            <m:ctrlPr>
                              <a:rPr lang="en-US" altLang="zh-TW" b="0" i="1" smtClean="0">
                                <a:latin typeface="Cambria Math"/>
                              </a:rPr>
                            </m:ctrlPr>
                          </m:fPr>
                          <m:num>
                            <m:r>
                              <m:rPr>
                                <m:sty m:val="p"/>
                              </m:rPr>
                              <a:rPr lang="en-US" altLang="zh-TW" b="0" i="0" smtClean="0">
                                <a:latin typeface="Cambria Math"/>
                              </a:rPr>
                              <m:t>k</m:t>
                            </m:r>
                          </m:num>
                          <m:den>
                            <m:r>
                              <a:rPr lang="en-US" altLang="zh-TW" b="0" i="0" smtClean="0">
                                <a:latin typeface="Cambria Math"/>
                              </a:rPr>
                              <m:t>2</m:t>
                            </m:r>
                          </m:den>
                        </m:f>
                        <m:r>
                          <m:rPr>
                            <m:nor/>
                          </m:rPr>
                          <a:rPr lang="en-US" altLang="zh-TW" b="0" i="0" smtClean="0">
                            <a:latin typeface="Cambria Math"/>
                          </a:rPr>
                          <m:t>+</m:t>
                        </m:r>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r>
                          <a:rPr lang="en-US" altLang="zh-TW" b="0" i="1" smtClean="0">
                            <a:latin typeface="Cambria Math"/>
                          </a:rPr>
                          <m:t>)</m:t>
                        </m:r>
                        <m:sSub>
                          <m:sSubPr>
                            <m:ctrlPr>
                              <a:rPr lang="en-US" altLang="zh-TW" i="1" dirty="0" smtClean="0">
                                <a:latin typeface="Cambria Math"/>
                              </a:rPr>
                            </m:ctrlPr>
                          </m:sSubPr>
                          <m:e>
                            <m:r>
                              <a:rPr lang="en-US" altLang="zh-TW" b="0" i="1" dirty="0" smtClean="0">
                                <a:latin typeface="Cambria Math"/>
                              </a:rPr>
                              <m:t> </m:t>
                            </m:r>
                            <m:r>
                              <m:rPr>
                                <m:sty m:val="p"/>
                              </m:rPr>
                              <a:rPr lang="en-US" altLang="ja-JP" b="0" i="0" dirty="0" smtClean="0">
                                <a:latin typeface="Cambria Math"/>
                              </a:rPr>
                              <m:t>Δ</m:t>
                            </m:r>
                          </m:e>
                          <m:sub>
                            <m:r>
                              <m:rPr>
                                <m:nor/>
                              </m:rPr>
                              <a:rPr lang="ja-JP" altLang="en-US" b="0" i="0" dirty="0" smtClean="0">
                                <a:latin typeface="Cambria Math"/>
                              </a:rPr>
                              <m:t>k</m:t>
                            </m:r>
                          </m:sub>
                        </m:sSub>
                      </m:e>
                    </m:nary>
                  </m:oMath>
                </a14:m>
                <a:r>
                  <a:rPr lang="zh-TW" altLang="en-US" dirty="0" smtClean="0"/>
                  <a:t> </a:t>
                </a:r>
                <a:endParaRPr lang="en-US" altLang="zh-TW" dirty="0" smtClean="0"/>
              </a:p>
              <a:p>
                <a:r>
                  <a:rPr lang="en-US" altLang="zh-TW" dirty="0" smtClean="0"/>
                  <a:t>This is identical to the quantity minimized by the Sellers algorithm if the Sellers’ gap weight </a:t>
                </a: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r>
                          <a:rPr lang="en-US" altLang="zh-TW" b="0" i="1" smtClean="0">
                            <a:latin typeface="Cambria Math"/>
                          </a:rPr>
                          <m:t>′</m:t>
                        </m:r>
                      </m:e>
                      <m:sub>
                        <m:r>
                          <m:rPr>
                            <m:nor/>
                          </m:rPr>
                          <a:rPr lang="en-US" altLang="zh-TW" b="0" i="0" smtClean="0">
                            <a:latin typeface="Cambria Math"/>
                          </a:rPr>
                          <m:t>k</m:t>
                        </m:r>
                      </m:sub>
                    </m:sSub>
                  </m:oMath>
                </a14:m>
                <a:r>
                  <a:rPr lang="en-US" altLang="zh-TW" dirty="0" smtClean="0"/>
                  <a:t> </a:t>
                </a:r>
                <a:r>
                  <a:rPr lang="en-US" altLang="zh-TW" smtClean="0"/>
                  <a:t>is equated to </a:t>
                </a:r>
                <a:r>
                  <a:rPr lang="en-US" altLang="zh-TW" dirty="0" smtClean="0"/>
                  <a:t>the Needleman-</a:t>
                </a:r>
                <a:r>
                  <a:rPr lang="en-US" altLang="zh-TW" dirty="0" err="1" smtClean="0"/>
                  <a:t>Wunsch</a:t>
                </a:r>
                <a:r>
                  <a:rPr lang="en-US" altLang="zh-TW" dirty="0" smtClean="0"/>
                  <a:t> gap weight plus half the gap length</a:t>
                </a:r>
                <a:br>
                  <a:rPr lang="en-US" altLang="zh-TW" dirty="0" smtClean="0"/>
                </a:br>
                <a:r>
                  <a:rPr lang="en-US" altLang="zh-TW" dirty="0" smtClean="0"/>
                  <a:t>        </a:t>
                </a: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r>
                          <a:rPr lang="en-US" altLang="zh-TW" b="0" i="1" smtClean="0">
                            <a:latin typeface="Cambria Math"/>
                          </a:rPr>
                          <m:t>′</m:t>
                        </m:r>
                      </m:e>
                      <m:sub>
                        <m:r>
                          <m:rPr>
                            <m:nor/>
                          </m:rPr>
                          <a:rPr lang="en-US" altLang="zh-TW" b="0" i="0" smtClean="0">
                            <a:latin typeface="Cambria Math"/>
                          </a:rPr>
                          <m:t>k</m:t>
                        </m:r>
                      </m:sub>
                    </m:sSub>
                  </m:oMath>
                </a14:m>
                <a:r>
                  <a:rPr lang="en-US" altLang="zh-TW" dirty="0" smtClean="0"/>
                  <a:t> = </a:t>
                </a:r>
                <a14:m>
                  <m:oMath xmlns:m="http://schemas.openxmlformats.org/officeDocument/2006/math">
                    <m:f>
                      <m:fPr>
                        <m:ctrlPr>
                          <a:rPr lang="en-US" altLang="zh-TW" b="0" i="1" smtClean="0">
                            <a:latin typeface="Cambria Math"/>
                          </a:rPr>
                        </m:ctrlPr>
                      </m:fPr>
                      <m:num>
                        <m:r>
                          <m:rPr>
                            <m:sty m:val="p"/>
                          </m:rPr>
                          <a:rPr lang="en-US" altLang="zh-TW" b="0" i="0" smtClean="0">
                            <a:latin typeface="Cambria Math"/>
                          </a:rPr>
                          <m:t>k</m:t>
                        </m:r>
                      </m:num>
                      <m:den>
                        <m:r>
                          <a:rPr lang="en-US" altLang="zh-TW" b="0" i="0" smtClean="0">
                            <a:latin typeface="Cambria Math"/>
                          </a:rPr>
                          <m:t>2</m:t>
                        </m:r>
                      </m:den>
                    </m:f>
                    <m:r>
                      <m:rPr>
                        <m:nor/>
                      </m:rPr>
                      <a:rPr lang="en-US" altLang="zh-TW" b="0" i="0" smtClean="0">
                        <a:latin typeface="Cambria Math"/>
                      </a:rPr>
                      <m:t>+</m:t>
                    </m:r>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oMath>
                </a14:m>
                <a:r>
                  <a:rPr lang="en-US" altLang="zh-TW" dirty="0" smtClean="0"/>
                  <a:t>		(5)</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1052736"/>
                <a:ext cx="8229600" cy="5472608"/>
              </a:xfrm>
              <a:blipFill rotWithShape="1">
                <a:blip r:embed="rId2"/>
                <a:stretch>
                  <a:fillRect l="-1630" t="-1449" r="-25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60012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t>The logic leading to relationship (5) can be generalized to </a:t>
                </a:r>
                <a:r>
                  <a:rPr lang="en-US" altLang="zh-TW" dirty="0"/>
                  <a:t>include matches and mismatches of </a:t>
                </a:r>
                <a:r>
                  <a:rPr lang="en-US" altLang="zh-TW" dirty="0" smtClean="0"/>
                  <a:t>varying degree.</a:t>
                </a:r>
              </a:p>
              <a:p>
                <a:r>
                  <a:rPr lang="en-US" altLang="zh-TW" dirty="0"/>
                  <a:t>Equation 1 can be written </a:t>
                </a:r>
                <a:r>
                  <a:rPr lang="en-US" altLang="zh-TW" dirty="0" smtClean="0"/>
                  <a:t>as</a:t>
                </a:r>
                <a:br>
                  <a:rPr lang="en-US" altLang="zh-TW" dirty="0" smtClean="0"/>
                </a:br>
                <a:r>
                  <a:rPr lang="en-US" altLang="zh-TW" dirty="0" smtClean="0"/>
                  <a:t>            </a:t>
                </a:r>
                <a14:m>
                  <m:oMath xmlns:m="http://schemas.openxmlformats.org/officeDocument/2006/math">
                    <m:r>
                      <m:rPr>
                        <m:nor/>
                      </m:rPr>
                      <a:rPr lang="en-US" altLang="zh-TW">
                        <a:latin typeface="Cambria Math"/>
                      </a:rPr>
                      <m:t>n</m:t>
                    </m:r>
                    <m:r>
                      <m:rPr>
                        <m:nor/>
                      </m:rPr>
                      <a:rPr lang="en-US" altLang="zh-TW">
                        <a:latin typeface="Cambria Math"/>
                      </a:rPr>
                      <m:t> + </m:t>
                    </m:r>
                    <m:r>
                      <m:rPr>
                        <m:nor/>
                      </m:rPr>
                      <a:rPr lang="en-US" altLang="zh-TW">
                        <a:latin typeface="Cambria Math"/>
                      </a:rPr>
                      <m:t>m</m:t>
                    </m:r>
                    <m:r>
                      <m:rPr>
                        <m:nor/>
                      </m:rPr>
                      <a:rPr lang="en-US" altLang="zh-TW">
                        <a:latin typeface="Cambria Math"/>
                      </a:rPr>
                      <m:t> = 2</m:t>
                    </m:r>
                    <m:nary>
                      <m:naryPr>
                        <m:chr m:val="∑"/>
                        <m:supHide m:val="on"/>
                        <m:ctrlPr>
                          <a:rPr lang="en-US" altLang="zh-TW" i="1">
                            <a:latin typeface="Cambria Math"/>
                          </a:rPr>
                        </m:ctrlPr>
                      </m:naryPr>
                      <m:sub>
                        <m:r>
                          <m:rPr>
                            <m:nor/>
                            <m:brk m:alnAt="7"/>
                          </m:rPr>
                          <a:rPr lang="en-US" altLang="zh-TW" b="0" i="0" smtClean="0">
                            <a:latin typeface="Cambria Math"/>
                          </a:rPr>
                          <m:t>i</m:t>
                        </m:r>
                      </m:sub>
                      <m:sup/>
                      <m:e>
                        <m:sSub>
                          <m:sSubPr>
                            <m:ctrlPr>
                              <a:rPr lang="en-US" altLang="zh-TW" i="1" dirty="0">
                                <a:latin typeface="Cambria Math"/>
                              </a:rPr>
                            </m:ctrlPr>
                          </m:sSubPr>
                          <m:e>
                            <m:r>
                              <m:rPr>
                                <m:nor/>
                              </m:rPr>
                              <a:rPr lang="el-GR" altLang="zh-TW"/>
                              <m:t>η</m:t>
                            </m:r>
                          </m:e>
                          <m:sub>
                            <m:r>
                              <m:rPr>
                                <m:nor/>
                              </m:rPr>
                              <a:rPr lang="en-US" altLang="ja-JP" b="0" i="0" dirty="0" smtClean="0">
                                <a:latin typeface="Cambria Math"/>
                              </a:rPr>
                              <m:t>i</m:t>
                            </m:r>
                          </m:sub>
                        </m:sSub>
                      </m:e>
                    </m:nary>
                    <m:r>
                      <m:rPr>
                        <m:nor/>
                      </m:rPr>
                      <a:rPr lang="en-US" altLang="zh-TW">
                        <a:latin typeface="Cambria Math"/>
                      </a:rPr>
                      <m:t>+ </m:t>
                    </m:r>
                    <m:nary>
                      <m:naryPr>
                        <m:chr m:val="∑"/>
                        <m:supHide m:val="on"/>
                        <m:ctrlPr>
                          <a:rPr lang="en-US" altLang="zh-TW" i="1">
                            <a:latin typeface="Cambria Math"/>
                          </a:rPr>
                        </m:ctrlPr>
                      </m:naryPr>
                      <m:sub>
                        <m:r>
                          <m:rPr>
                            <m:nor/>
                            <m:brk m:alnAt="7"/>
                          </m:rPr>
                          <a:rPr lang="en-US" altLang="zh-TW">
                            <a:latin typeface="Cambria Math"/>
                          </a:rPr>
                          <m:t>k</m:t>
                        </m:r>
                      </m:sub>
                      <m:sup/>
                      <m:e>
                        <m:r>
                          <m:rPr>
                            <m:nor/>
                          </m:rPr>
                          <a:rPr lang="en-US" altLang="zh-TW">
                            <a:latin typeface="Cambria Math"/>
                          </a:rPr>
                          <m:t>k</m:t>
                        </m:r>
                        <m:sSub>
                          <m:sSubPr>
                            <m:ctrlPr>
                              <a:rPr lang="en-US" altLang="zh-TW" i="1" dirty="0">
                                <a:latin typeface="Cambria Math"/>
                              </a:rPr>
                            </m:ctrlPr>
                          </m:sSubPr>
                          <m:e>
                            <m:r>
                              <m:rPr>
                                <m:sty m:val="p"/>
                              </m:rPr>
                              <a:rPr lang="en-US" altLang="ja-JP" dirty="0">
                                <a:latin typeface="Cambria Math"/>
                              </a:rPr>
                              <m:t>Δ</m:t>
                            </m:r>
                          </m:e>
                          <m:sub>
                            <m:r>
                              <m:rPr>
                                <m:nor/>
                              </m:rPr>
                              <a:rPr lang="ja-JP" altLang="en-US" dirty="0">
                                <a:latin typeface="Cambria Math"/>
                              </a:rPr>
                              <m:t>k</m:t>
                            </m:r>
                          </m:sub>
                        </m:sSub>
                      </m:e>
                    </m:nary>
                  </m:oMath>
                </a14:m>
                <a:r>
                  <a:rPr lang="zh-TW" altLang="en-US" dirty="0" smtClean="0"/>
                  <a:t> </a:t>
                </a:r>
                <a:r>
                  <a:rPr lang="en-US" altLang="zh-TW" dirty="0" smtClean="0"/>
                  <a:t/>
                </a:r>
                <a:br>
                  <a:rPr lang="en-US" altLang="zh-TW" dirty="0" smtClean="0"/>
                </a:br>
                <a14:m>
                  <m:oMath xmlns:m="http://schemas.openxmlformats.org/officeDocument/2006/math">
                    <m:sSub>
                      <m:sSubPr>
                        <m:ctrlPr>
                          <a:rPr lang="en-US" altLang="zh-TW" i="1" dirty="0">
                            <a:latin typeface="Cambria Math"/>
                          </a:rPr>
                        </m:ctrlPr>
                      </m:sSubPr>
                      <m:e>
                        <m:r>
                          <m:rPr>
                            <m:nor/>
                          </m:rPr>
                          <a:rPr lang="el-GR" altLang="zh-TW"/>
                          <m:t>η</m:t>
                        </m:r>
                      </m:e>
                      <m:sub>
                        <m:r>
                          <m:rPr>
                            <m:nor/>
                          </m:rPr>
                          <a:rPr lang="en-US" altLang="ja-JP" dirty="0">
                            <a:latin typeface="Cambria Math"/>
                          </a:rPr>
                          <m:t>i</m:t>
                        </m:r>
                      </m:sub>
                    </m:sSub>
                  </m:oMath>
                </a14:m>
                <a:r>
                  <a:rPr lang="en-US" altLang="zh-TW" dirty="0" smtClean="0"/>
                  <a:t> </a:t>
                </a:r>
                <a:r>
                  <a:rPr lang="en-US" altLang="zh-TW" dirty="0"/>
                  <a:t>is the number of matches of degree i in </a:t>
                </a:r>
                <a:r>
                  <a:rPr lang="en-US" altLang="zh-TW" dirty="0" smtClean="0"/>
                  <a:t>an alignment</a:t>
                </a:r>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1157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t>Consider </a:t>
                </a:r>
                <a:r>
                  <a:rPr lang="en-US" altLang="zh-TW" dirty="0"/>
                  <a:t>each pair of </a:t>
                </a:r>
                <a:r>
                  <a:rPr lang="en-US" altLang="zh-TW" dirty="0" smtClean="0"/>
                  <a:t>associated elements </a:t>
                </a:r>
                <a:r>
                  <a:rPr lang="en-US" altLang="zh-TW" dirty="0"/>
                  <a:t>to “match”, but to various degrees</a:t>
                </a:r>
                <a:r>
                  <a:rPr lang="en-US" altLang="zh-TW" dirty="0" smtClean="0"/>
                  <a:t>, </a:t>
                </a:r>
                <a14:m>
                  <m:oMath xmlns:m="http://schemas.openxmlformats.org/officeDocument/2006/math">
                    <m:sSub>
                      <m:sSubPr>
                        <m:ctrlPr>
                          <a:rPr lang="en-US" altLang="zh-TW" i="1" dirty="0">
                            <a:latin typeface="Cambria Math"/>
                          </a:rPr>
                        </m:ctrlPr>
                      </m:sSubPr>
                      <m:e>
                        <m:r>
                          <m:rPr>
                            <m:nor/>
                          </m:rPr>
                          <a:rPr lang="el-GR" altLang="zh-TW" i="1"/>
                          <m:t>α</m:t>
                        </m:r>
                      </m:e>
                      <m:sub>
                        <m:r>
                          <m:rPr>
                            <m:nor/>
                          </m:rPr>
                          <a:rPr lang="en-US" altLang="ja-JP" dirty="0">
                            <a:latin typeface="Cambria Math"/>
                          </a:rPr>
                          <m:t>i</m:t>
                        </m:r>
                      </m:sub>
                    </m:sSub>
                  </m:oMath>
                </a14:m>
                <a:r>
                  <a:rPr lang="en-US" altLang="zh-TW" dirty="0"/>
                  <a:t> . </a:t>
                </a:r>
                <a:r>
                  <a:rPr lang="en-US" altLang="zh-TW" dirty="0" smtClean="0"/>
                  <a:t>Let a </a:t>
                </a:r>
                <a:r>
                  <a:rPr lang="en-US" altLang="zh-TW" dirty="0"/>
                  <a:t>perfect match have a maximum similarity </a:t>
                </a:r>
                <a:r>
                  <a:rPr lang="en-US" altLang="zh-TW" dirty="0" smtClean="0"/>
                  <a:t>of </a:t>
                </a:r>
                <a14:m>
                  <m:oMath xmlns:m="http://schemas.openxmlformats.org/officeDocument/2006/math">
                    <m:sSub>
                      <m:sSubPr>
                        <m:ctrlPr>
                          <a:rPr lang="en-US" altLang="zh-TW" i="1" dirty="0">
                            <a:latin typeface="Cambria Math"/>
                          </a:rPr>
                        </m:ctrlPr>
                      </m:sSubPr>
                      <m:e>
                        <m:r>
                          <m:rPr>
                            <m:nor/>
                          </m:rPr>
                          <a:rPr lang="el-GR" altLang="zh-TW" i="1"/>
                          <m:t>α</m:t>
                        </m:r>
                      </m:e>
                      <m:sub>
                        <m:r>
                          <m:rPr>
                            <m:nor/>
                          </m:rPr>
                          <a:rPr lang="en-US" altLang="zh-TW" b="0" i="0" smtClean="0">
                            <a:latin typeface="Cambria Math"/>
                          </a:rPr>
                          <m:t>max</m:t>
                        </m:r>
                      </m:sub>
                    </m:sSub>
                  </m:oMath>
                </a14:m>
                <a:r>
                  <a:rPr lang="en-US" altLang="zh-TW" dirty="0"/>
                  <a:t> and others a lesser degree down to a </a:t>
                </a:r>
                <a:r>
                  <a:rPr lang="en-US" altLang="zh-TW" dirty="0" smtClean="0"/>
                  <a:t>complete mismatch </a:t>
                </a:r>
                <a:r>
                  <a:rPr lang="en-US" altLang="zh-TW" dirty="0"/>
                  <a:t>having a similarity of </a:t>
                </a:r>
                <a:r>
                  <a:rPr lang="en-US" altLang="zh-TW" dirty="0" smtClean="0"/>
                  <a:t>zero.</a:t>
                </a:r>
                <a:br>
                  <a:rPr lang="en-US" altLang="zh-TW" dirty="0" smtClean="0"/>
                </a:br>
                <a14:m>
                  <m:oMath xmlns:m="http://schemas.openxmlformats.org/officeDocument/2006/math">
                    <m:r>
                      <a:rPr lang="en-US" altLang="zh-TW" b="0" i="0" dirty="0" smtClean="0">
                        <a:latin typeface="Cambria Math"/>
                      </a:rPr>
                      <m:t>0</m:t>
                    </m:r>
                    <m:sSub>
                      <m:sSubPr>
                        <m:ctrlPr>
                          <a:rPr lang="en-US" altLang="zh-TW" i="1" dirty="0">
                            <a:latin typeface="Cambria Math"/>
                          </a:rPr>
                        </m:ctrlPr>
                      </m:sSubPr>
                      <m:e>
                        <m:r>
                          <a:rPr lang="en-US" altLang="zh-TW" i="1" dirty="0" smtClean="0">
                            <a:latin typeface="Cambria Math"/>
                            <a:ea typeface="Cambria Math"/>
                          </a:rPr>
                          <m:t>≤</m:t>
                        </m:r>
                        <m:r>
                          <m:rPr>
                            <m:nor/>
                          </m:rPr>
                          <a:rPr lang="el-GR" altLang="zh-TW" i="1"/>
                          <m:t>α</m:t>
                        </m:r>
                      </m:e>
                      <m:sub>
                        <m:r>
                          <m:rPr>
                            <m:nor/>
                          </m:rPr>
                          <a:rPr lang="en-US" altLang="ja-JP" dirty="0">
                            <a:latin typeface="Cambria Math"/>
                          </a:rPr>
                          <m:t>i</m:t>
                        </m:r>
                      </m:sub>
                    </m:sSub>
                    <m:r>
                      <a:rPr lang="en-US" altLang="ja-JP" i="1" dirty="0" smtClean="0">
                        <a:latin typeface="Cambria Math"/>
                        <a:ea typeface="Cambria Math"/>
                      </a:rPr>
                      <m:t>≤</m:t>
                    </m:r>
                    <m:sSub>
                      <m:sSubPr>
                        <m:ctrlPr>
                          <a:rPr lang="en-US" altLang="zh-TW" i="1" dirty="0">
                            <a:latin typeface="Cambria Math"/>
                          </a:rPr>
                        </m:ctrlPr>
                      </m:sSubPr>
                      <m:e>
                        <m:r>
                          <m:rPr>
                            <m:nor/>
                          </m:rPr>
                          <a:rPr lang="el-GR" altLang="zh-TW" i="1"/>
                          <m:t>α</m:t>
                        </m:r>
                      </m:e>
                      <m:sub>
                        <m:r>
                          <m:rPr>
                            <m:nor/>
                          </m:rPr>
                          <a:rPr lang="en-US" altLang="zh-TW" b="0" i="0" smtClean="0">
                            <a:latin typeface="Cambria Math"/>
                          </a:rPr>
                          <m:t>max</m:t>
                        </m:r>
                      </m:sub>
                    </m:sSub>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r="-12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98932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980728"/>
                <a:ext cx="8229600" cy="5544616"/>
              </a:xfrm>
            </p:spPr>
            <p:txBody>
              <a:bodyPr>
                <a:normAutofit/>
              </a:bodyPr>
              <a:lstStyle/>
              <a:p>
                <a:r>
                  <a:rPr lang="en-US" altLang="zh-TW" dirty="0" smtClean="0"/>
                  <a:t>Show the</a:t>
                </a:r>
                <a:r>
                  <a:rPr lang="en-US" altLang="zh-TW" dirty="0"/>
                  <a:t> </a:t>
                </a:r>
                <a:r>
                  <a:rPr lang="en-US" altLang="zh-TW" dirty="0" smtClean="0"/>
                  <a:t>equivalent of </a:t>
                </a:r>
                <a:r>
                  <a:rPr lang="en-US" altLang="zh-TW" dirty="0"/>
                  <a:t>Needleman-</a:t>
                </a:r>
                <a:r>
                  <a:rPr lang="en-US" altLang="zh-TW" dirty="0" err="1"/>
                  <a:t>Wunsch</a:t>
                </a:r>
                <a:r>
                  <a:rPr lang="en-US" altLang="zh-TW" dirty="0"/>
                  <a:t> similarity </a:t>
                </a:r>
                <a:r>
                  <a:rPr lang="en-US" altLang="zh-TW" dirty="0" smtClean="0"/>
                  <a:t>measure to </a:t>
                </a:r>
                <a:r>
                  <a:rPr lang="en-US" altLang="zh-TW" dirty="0"/>
                  <a:t>the Sellers metric</a:t>
                </a:r>
                <a:r>
                  <a:rPr lang="en-US" altLang="zh-TW" dirty="0" smtClean="0"/>
                  <a:t>.</a:t>
                </a:r>
              </a:p>
              <a:p>
                <a:r>
                  <a:rPr lang="en-US" altLang="zh-TW" dirty="0"/>
                  <a:t>A</a:t>
                </a:r>
                <a:r>
                  <a:rPr lang="en-US" altLang="zh-TW" dirty="0" smtClean="0"/>
                  <a:t>ssign </a:t>
                </a:r>
                <a:r>
                  <a:rPr lang="en-US" altLang="zh-TW" dirty="0"/>
                  <a:t>a weight </a:t>
                </a:r>
                <a14:m>
                  <m:oMath xmlns:m="http://schemas.openxmlformats.org/officeDocument/2006/math">
                    <m:sSub>
                      <m:sSubPr>
                        <m:ctrlPr>
                          <a:rPr lang="en-US" altLang="zh-TW" i="1" dirty="0">
                            <a:latin typeface="Cambria Math"/>
                          </a:rPr>
                        </m:ctrlPr>
                      </m:sSubPr>
                      <m:e>
                        <m:r>
                          <m:rPr>
                            <m:nor/>
                          </m:rPr>
                          <a:rPr lang="el-GR" altLang="zh-TW" i="1"/>
                          <m:t>α</m:t>
                        </m:r>
                      </m:e>
                      <m:sub>
                        <m:r>
                          <m:rPr>
                            <m:nor/>
                          </m:rPr>
                          <a:rPr lang="en-US" altLang="ja-JP" dirty="0">
                            <a:latin typeface="Cambria Math"/>
                          </a:rPr>
                          <m:t>i</m:t>
                        </m:r>
                      </m:sub>
                    </m:sSub>
                  </m:oMath>
                </a14:m>
                <a:r>
                  <a:rPr lang="en-US" altLang="zh-TW" dirty="0"/>
                  <a:t> to each match </a:t>
                </a:r>
                <a:r>
                  <a:rPr lang="en-US" altLang="zh-TW" dirty="0" smtClean="0"/>
                  <a:t>of degree </a:t>
                </a:r>
                <a:r>
                  <a:rPr lang="en-US" altLang="zh-TW" dirty="0"/>
                  <a:t>i, then the similarity measure </a:t>
                </a:r>
                <a:r>
                  <a:rPr lang="en-US" altLang="zh-TW" dirty="0" smtClean="0"/>
                  <a:t>becomes</a:t>
                </a:r>
                <a:br>
                  <a:rPr lang="en-US" altLang="zh-TW" dirty="0" smtClean="0"/>
                </a:br>
                <a14:m>
                  <m:oMath xmlns:m="http://schemas.openxmlformats.org/officeDocument/2006/math">
                    <m:r>
                      <m:rPr>
                        <m:nor/>
                      </m:rPr>
                      <a:rPr lang="en-US" altLang="zh-TW">
                        <a:latin typeface="Cambria Math"/>
                      </a:rPr>
                      <m:t>s</m:t>
                    </m:r>
                    <m:r>
                      <m:rPr>
                        <m:nor/>
                      </m:rPr>
                      <a:rPr lang="en-US" altLang="zh-TW">
                        <a:latin typeface="Cambria Math"/>
                      </a:rPr>
                      <m:t> = </m:t>
                    </m:r>
                    <m:r>
                      <m:rPr>
                        <m:nor/>
                      </m:rPr>
                      <a:rPr lang="en-US" altLang="zh-TW">
                        <a:latin typeface="Cambria Math"/>
                      </a:rPr>
                      <m:t>max</m:t>
                    </m:r>
                    <m:r>
                      <a:rPr lang="en-US" altLang="zh-TW" b="0" i="1" smtClean="0">
                        <a:latin typeface="Cambria Math"/>
                      </a:rPr>
                      <m:t>{</m:t>
                    </m:r>
                    <m:nary>
                      <m:naryPr>
                        <m:chr m:val="∑"/>
                        <m:subHide m:val="on"/>
                        <m:supHide m:val="on"/>
                        <m:ctrlPr>
                          <a:rPr lang="en-US" altLang="zh-TW" i="1">
                            <a:latin typeface="Cambria Math"/>
                          </a:rPr>
                        </m:ctrlPr>
                      </m:naryPr>
                      <m:sub/>
                      <m:sup/>
                      <m:e>
                        <m:sSub>
                          <m:sSubPr>
                            <m:ctrlPr>
                              <a:rPr lang="en-US" altLang="zh-TW" i="1" dirty="0">
                                <a:latin typeface="Cambria Math"/>
                              </a:rPr>
                            </m:ctrlPr>
                          </m:sSubPr>
                          <m:e>
                            <m:sSub>
                              <m:sSubPr>
                                <m:ctrlPr>
                                  <a:rPr lang="en-US" altLang="zh-TW" i="1" dirty="0">
                                    <a:latin typeface="Cambria Math"/>
                                  </a:rPr>
                                </m:ctrlPr>
                              </m:sSubPr>
                              <m:e>
                                <m:r>
                                  <m:rPr>
                                    <m:nor/>
                                  </m:rPr>
                                  <a:rPr lang="el-GR" altLang="zh-TW" i="1"/>
                                  <m:t>α</m:t>
                                </m:r>
                              </m:e>
                              <m:sub>
                                <m:r>
                                  <m:rPr>
                                    <m:nor/>
                                  </m:rPr>
                                  <a:rPr lang="en-US" altLang="ja-JP" dirty="0">
                                    <a:latin typeface="Cambria Math"/>
                                  </a:rPr>
                                  <m:t>i</m:t>
                                </m:r>
                              </m:sub>
                            </m:sSub>
                            <m:r>
                              <m:rPr>
                                <m:nor/>
                              </m:rPr>
                              <a:rPr lang="el-GR" altLang="zh-TW"/>
                              <m:t>η</m:t>
                            </m:r>
                          </m:e>
                          <m:sub>
                            <m:r>
                              <m:rPr>
                                <m:nor/>
                              </m:rPr>
                              <a:rPr lang="en-US" altLang="ja-JP" dirty="0">
                                <a:latin typeface="Cambria Math"/>
                              </a:rPr>
                              <m:t>i</m:t>
                            </m:r>
                          </m:sub>
                        </m:sSub>
                      </m:e>
                    </m:nary>
                    <m:r>
                      <a:rPr lang="en-US" altLang="zh-TW" i="1">
                        <a:latin typeface="Cambria Math"/>
                      </a:rPr>
                      <m:t>−</m:t>
                    </m:r>
                    <m:nary>
                      <m:naryPr>
                        <m:chr m:val="∑"/>
                        <m:subHide m:val="on"/>
                        <m:supHide m:val="on"/>
                        <m:ctrlPr>
                          <a:rPr lang="en-US" altLang="zh-TW" i="1">
                            <a:latin typeface="Cambria Math"/>
                          </a:rPr>
                        </m:ctrlPr>
                      </m:naryPr>
                      <m:sub/>
                      <m:sup/>
                      <m:e>
                        <m:sSub>
                          <m:sSubPr>
                            <m:ctrlPr>
                              <a:rPr lang="en-US" altLang="zh-TW" i="1">
                                <a:latin typeface="Cambria Math"/>
                              </a:rPr>
                            </m:ctrlPr>
                          </m:sSubPr>
                          <m:e>
                            <m:r>
                              <m:rPr>
                                <m:nor/>
                              </m:rPr>
                              <a:rPr lang="en-US" altLang="zh-TW">
                                <a:latin typeface="Cambria Math"/>
                              </a:rPr>
                              <m:t>w</m:t>
                            </m:r>
                          </m:e>
                          <m:sub>
                            <m:r>
                              <m:rPr>
                                <m:nor/>
                              </m:rPr>
                              <a:rPr lang="en-US" altLang="zh-TW">
                                <a:latin typeface="Cambria Math"/>
                              </a:rPr>
                              <m:t>k</m:t>
                            </m:r>
                          </m:sub>
                        </m:sSub>
                        <m:sSub>
                          <m:sSubPr>
                            <m:ctrlPr>
                              <a:rPr lang="en-US" altLang="zh-TW" i="1" dirty="0">
                                <a:latin typeface="Cambria Math"/>
                              </a:rPr>
                            </m:ctrlPr>
                          </m:sSubPr>
                          <m:e>
                            <m:r>
                              <a:rPr lang="en-US" altLang="zh-TW" i="1" dirty="0">
                                <a:latin typeface="Cambria Math"/>
                              </a:rPr>
                              <m:t> </m:t>
                            </m:r>
                            <m:r>
                              <m:rPr>
                                <m:sty m:val="p"/>
                              </m:rPr>
                              <a:rPr lang="en-US" altLang="ja-JP" dirty="0">
                                <a:latin typeface="Cambria Math"/>
                              </a:rPr>
                              <m:t>Δ</m:t>
                            </m:r>
                          </m:e>
                          <m:sub>
                            <m:r>
                              <m:rPr>
                                <m:nor/>
                              </m:rPr>
                              <a:rPr lang="ja-JP" altLang="en-US" dirty="0">
                                <a:latin typeface="Cambria Math"/>
                              </a:rPr>
                              <m:t>k</m:t>
                            </m:r>
                          </m:sub>
                        </m:sSub>
                      </m:e>
                    </m:nary>
                    <m:r>
                      <m:rPr>
                        <m:nor/>
                      </m:rPr>
                      <a:rPr lang="en-US" altLang="ja-JP" b="0" i="0" dirty="0" smtClean="0">
                        <a:latin typeface="Cambria Math"/>
                      </a:rPr>
                      <m:t>}</m:t>
                    </m:r>
                  </m:oMath>
                </a14:m>
                <a:r>
                  <a:rPr lang="en-US" altLang="zh-TW" dirty="0" smtClean="0"/>
                  <a:t>	(6a)</a:t>
                </a:r>
                <a:r>
                  <a:rPr lang="en-US" altLang="zh-TW" dirty="0"/>
                  <a:t>	</a:t>
                </a:r>
                <a:endParaRPr lang="en-US" altLang="zh-TW" dirty="0" smtClean="0"/>
              </a:p>
              <a:p>
                <a:r>
                  <a:rPr lang="en-US" altLang="zh-TW" dirty="0" smtClean="0"/>
                  <a:t>A </a:t>
                </a:r>
                <a:r>
                  <a:rPr lang="en-US" altLang="zh-TW" dirty="0"/>
                  <a:t>weight or distance </a:t>
                </a:r>
                <a14:m>
                  <m:oMath xmlns:m="http://schemas.openxmlformats.org/officeDocument/2006/math">
                    <m:sSub>
                      <m:sSubPr>
                        <m:ctrlPr>
                          <a:rPr lang="en-US" altLang="zh-TW" i="1" dirty="0">
                            <a:latin typeface="Cambria Math"/>
                          </a:rPr>
                        </m:ctrlPr>
                      </m:sSubPr>
                      <m:e>
                        <m:r>
                          <m:rPr>
                            <m:nor/>
                          </m:rPr>
                          <a:rPr lang="el-GR" altLang="zh-TW"/>
                          <m:t>β</m:t>
                        </m:r>
                      </m:e>
                      <m:sub>
                        <m:r>
                          <m:rPr>
                            <m:nor/>
                          </m:rPr>
                          <a:rPr lang="en-US" altLang="zh-TW" b="0" i="0" smtClean="0">
                            <a:latin typeface="Cambria Math"/>
                          </a:rPr>
                          <m:t>j</m:t>
                        </m:r>
                      </m:sub>
                    </m:sSub>
                  </m:oMath>
                </a14:m>
                <a:r>
                  <a:rPr lang="en-US" altLang="zh-TW" dirty="0"/>
                  <a:t> can be </a:t>
                </a:r>
                <a:r>
                  <a:rPr lang="en-US" altLang="zh-TW" dirty="0" smtClean="0"/>
                  <a:t>assigned measuring </a:t>
                </a:r>
                <a:r>
                  <a:rPr lang="en-US" altLang="zh-TW" dirty="0"/>
                  <a:t>the degree of mismatch in the </a:t>
                </a:r>
                <a:r>
                  <a:rPr lang="en-US" altLang="zh-TW" dirty="0" smtClean="0"/>
                  <a:t>Sellers distance </a:t>
                </a:r>
                <a:r>
                  <a:rPr lang="en-US" altLang="zh-TW" dirty="0"/>
                  <a:t>for any degree of match</a:t>
                </a:r>
                <a:r>
                  <a:rPr lang="en-US" altLang="zh-TW" dirty="0" smtClean="0"/>
                  <a:t>.</a:t>
                </a:r>
                <a:r>
                  <a:rPr lang="en-US" altLang="zh-TW" dirty="0"/>
                  <a:t/>
                </a:r>
                <a:br>
                  <a:rPr lang="en-US" altLang="zh-TW" dirty="0"/>
                </a:br>
                <a14:m>
                  <m:oMath xmlns:m="http://schemas.openxmlformats.org/officeDocument/2006/math">
                    <m:r>
                      <m:rPr>
                        <m:nor/>
                      </m:rPr>
                      <a:rPr lang="en-US" altLang="zh-TW">
                        <a:latin typeface="Cambria Math"/>
                      </a:rPr>
                      <m:t>d</m:t>
                    </m:r>
                    <m:r>
                      <m:rPr>
                        <m:nor/>
                      </m:rPr>
                      <a:rPr lang="en-US" altLang="zh-TW">
                        <a:latin typeface="Cambria Math"/>
                      </a:rPr>
                      <m:t> = </m:t>
                    </m:r>
                    <m:r>
                      <m:rPr>
                        <m:nor/>
                      </m:rPr>
                      <a:rPr lang="en-US" altLang="zh-TW">
                        <a:latin typeface="Cambria Math"/>
                      </a:rPr>
                      <m:t>min</m:t>
                    </m:r>
                    <m:r>
                      <a:rPr lang="en-US" altLang="zh-TW" i="1">
                        <a:latin typeface="Cambria Math"/>
                      </a:rPr>
                      <m:t>{</m:t>
                    </m:r>
                    <m:nary>
                      <m:naryPr>
                        <m:chr m:val="∑"/>
                        <m:subHide m:val="on"/>
                        <m:supHide m:val="on"/>
                        <m:ctrlPr>
                          <a:rPr lang="en-US" altLang="zh-TW" i="1">
                            <a:latin typeface="Cambria Math"/>
                          </a:rPr>
                        </m:ctrlPr>
                      </m:naryPr>
                      <m:sub/>
                      <m:sup/>
                      <m:e>
                        <m:sSub>
                          <m:sSubPr>
                            <m:ctrlPr>
                              <a:rPr lang="en-US" altLang="zh-TW" i="1" dirty="0">
                                <a:latin typeface="Cambria Math"/>
                              </a:rPr>
                            </m:ctrlPr>
                          </m:sSubPr>
                          <m:e>
                            <m:sSub>
                              <m:sSubPr>
                                <m:ctrlPr>
                                  <a:rPr lang="en-US" altLang="zh-TW" i="1" dirty="0">
                                    <a:latin typeface="Cambria Math"/>
                                  </a:rPr>
                                </m:ctrlPr>
                              </m:sSubPr>
                              <m:e>
                                <m:r>
                                  <m:rPr>
                                    <m:nor/>
                                  </m:rPr>
                                  <a:rPr lang="el-GR" altLang="zh-TW"/>
                                  <m:t>β</m:t>
                                </m:r>
                              </m:e>
                              <m:sub>
                                <m:r>
                                  <m:rPr>
                                    <m:nor/>
                                  </m:rPr>
                                  <a:rPr lang="en-US" altLang="zh-TW" b="0" i="0" smtClean="0">
                                    <a:latin typeface="Cambria Math"/>
                                  </a:rPr>
                                  <m:t>j</m:t>
                                </m:r>
                              </m:sub>
                            </m:sSub>
                            <m:r>
                              <m:rPr>
                                <m:nor/>
                              </m:rPr>
                              <a:rPr lang="el-GR" altLang="zh-TW"/>
                              <m:t>η</m:t>
                            </m:r>
                          </m:e>
                          <m:sub>
                            <m:r>
                              <m:rPr>
                                <m:nor/>
                              </m:rPr>
                              <a:rPr lang="en-US" altLang="ja-JP" dirty="0">
                                <a:latin typeface="Cambria Math"/>
                              </a:rPr>
                              <m:t>i</m:t>
                            </m:r>
                          </m:sub>
                        </m:sSub>
                      </m:e>
                    </m:nary>
                    <m:r>
                      <m:rPr>
                        <m:nor/>
                      </m:rPr>
                      <a:rPr lang="en-US" altLang="zh-TW">
                        <a:latin typeface="Cambria Math"/>
                      </a:rPr>
                      <m:t>+ </m:t>
                    </m:r>
                    <m:nary>
                      <m:naryPr>
                        <m:chr m:val="∑"/>
                        <m:subHide m:val="on"/>
                        <m:supHide m:val="on"/>
                        <m:ctrlPr>
                          <a:rPr lang="en-US" altLang="zh-TW" i="1">
                            <a:latin typeface="Cambria Math"/>
                          </a:rPr>
                        </m:ctrlPr>
                      </m:naryPr>
                      <m:sub/>
                      <m:sup/>
                      <m:e>
                        <m:sSub>
                          <m:sSubPr>
                            <m:ctrlPr>
                              <a:rPr lang="en-US" altLang="zh-TW" i="1">
                                <a:latin typeface="Cambria Math"/>
                              </a:rPr>
                            </m:ctrlPr>
                          </m:sSubPr>
                          <m:e>
                            <m:r>
                              <m:rPr>
                                <m:nor/>
                              </m:rPr>
                              <a:rPr lang="en-US" altLang="zh-TW">
                                <a:latin typeface="Cambria Math"/>
                              </a:rPr>
                              <m:t>w</m:t>
                            </m:r>
                            <m:r>
                              <a:rPr lang="en-US" altLang="zh-TW" i="1">
                                <a:latin typeface="Cambria Math"/>
                              </a:rPr>
                              <m:t>′</m:t>
                            </m:r>
                          </m:e>
                          <m:sub>
                            <m:r>
                              <m:rPr>
                                <m:nor/>
                              </m:rPr>
                              <a:rPr lang="en-US" altLang="zh-TW">
                                <a:latin typeface="Cambria Math"/>
                              </a:rPr>
                              <m:t>k</m:t>
                            </m:r>
                          </m:sub>
                        </m:sSub>
                        <m:sSub>
                          <m:sSubPr>
                            <m:ctrlPr>
                              <a:rPr lang="en-US" altLang="zh-TW" i="1" dirty="0">
                                <a:latin typeface="Cambria Math"/>
                              </a:rPr>
                            </m:ctrlPr>
                          </m:sSubPr>
                          <m:e>
                            <m:r>
                              <a:rPr lang="en-US" altLang="zh-TW" i="1" dirty="0">
                                <a:latin typeface="Cambria Math"/>
                              </a:rPr>
                              <m:t> </m:t>
                            </m:r>
                            <m:r>
                              <m:rPr>
                                <m:sty m:val="p"/>
                              </m:rPr>
                              <a:rPr lang="en-US" altLang="ja-JP" dirty="0">
                                <a:latin typeface="Cambria Math"/>
                              </a:rPr>
                              <m:t>Δ</m:t>
                            </m:r>
                          </m:e>
                          <m:sub>
                            <m:r>
                              <m:rPr>
                                <m:nor/>
                              </m:rPr>
                              <a:rPr lang="ja-JP" altLang="en-US" dirty="0">
                                <a:latin typeface="Cambria Math"/>
                              </a:rPr>
                              <m:t>k</m:t>
                            </m:r>
                          </m:sub>
                        </m:sSub>
                      </m:e>
                    </m:nary>
                    <m:r>
                      <m:rPr>
                        <m:nor/>
                      </m:rPr>
                      <a:rPr lang="en-US" altLang="ja-JP" b="0" i="0" dirty="0" smtClean="0">
                        <a:latin typeface="Cambria Math"/>
                      </a:rPr>
                      <m:t>}</m:t>
                    </m:r>
                  </m:oMath>
                </a14:m>
                <a:r>
                  <a:rPr lang="en-US" altLang="zh-TW" dirty="0" smtClean="0"/>
                  <a:t> 	(6b)</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980728"/>
                <a:ext cx="8229600" cy="5544616"/>
              </a:xfrm>
              <a:blipFill rotWithShape="1">
                <a:blip r:embed="rId2"/>
                <a:stretch>
                  <a:fillRect l="-1630" t="-14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14538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980728"/>
                <a:ext cx="8229600" cy="5688632"/>
              </a:xfrm>
            </p:spPr>
            <p:txBody>
              <a:bodyPr>
                <a:normAutofit/>
              </a:bodyPr>
              <a:lstStyle/>
              <a:p>
                <a14:m>
                  <m:oMath xmlns:m="http://schemas.openxmlformats.org/officeDocument/2006/math">
                    <m:sSub>
                      <m:sSubPr>
                        <m:ctrlPr>
                          <a:rPr lang="en-US" altLang="zh-TW" i="1" dirty="0" smtClean="0">
                            <a:latin typeface="Cambria Math"/>
                          </a:rPr>
                        </m:ctrlPr>
                      </m:sSubPr>
                      <m:e>
                        <m:r>
                          <m:rPr>
                            <m:nor/>
                          </m:rPr>
                          <a:rPr lang="el-GR" altLang="zh-TW"/>
                          <m:t>β</m:t>
                        </m:r>
                      </m:e>
                      <m:sub>
                        <m:r>
                          <m:rPr>
                            <m:nor/>
                          </m:rPr>
                          <a:rPr lang="en-US" altLang="zh-TW">
                            <a:latin typeface="Cambria Math"/>
                          </a:rPr>
                          <m:t>j</m:t>
                        </m:r>
                      </m:sub>
                    </m:sSub>
                    <m:r>
                      <a:rPr lang="en-US" altLang="zh-TW" i="1">
                        <a:latin typeface="Cambria Math"/>
                      </a:rPr>
                      <m:t> </m:t>
                    </m:r>
                  </m:oMath>
                </a14:m>
                <a:r>
                  <a:rPr lang="en-US" altLang="zh-TW" dirty="0"/>
                  <a:t>is just a distance measure between paired </a:t>
                </a:r>
                <a:r>
                  <a:rPr lang="en-US" altLang="zh-TW" dirty="0" smtClean="0"/>
                  <a:t>elements in </a:t>
                </a:r>
                <a:r>
                  <a:rPr lang="en-US" altLang="zh-TW" dirty="0"/>
                  <a:t>the alignment</a:t>
                </a:r>
                <a:r>
                  <a:rPr lang="en-US" altLang="zh-TW" dirty="0" smtClean="0"/>
                  <a:t>.</a:t>
                </a:r>
              </a:p>
              <a:p>
                <a:r>
                  <a:rPr lang="en-US" altLang="zh-TW" dirty="0" smtClean="0"/>
                  <a:t>Let the </a:t>
                </a:r>
                <a:r>
                  <a:rPr lang="en-US" altLang="zh-TW" dirty="0"/>
                  <a:t>relationship </a:t>
                </a:r>
                <a:r>
                  <a:rPr lang="en-US" altLang="zh-TW" dirty="0" smtClean="0"/>
                  <a:t>between </a:t>
                </a:r>
                <a14:m>
                  <m:oMath xmlns:m="http://schemas.openxmlformats.org/officeDocument/2006/math">
                    <m:sSub>
                      <m:sSubPr>
                        <m:ctrlPr>
                          <a:rPr lang="en-US" altLang="zh-TW" i="1" dirty="0">
                            <a:latin typeface="Cambria Math"/>
                          </a:rPr>
                        </m:ctrlPr>
                      </m:sSubPr>
                      <m:e>
                        <m:r>
                          <m:rPr>
                            <m:nor/>
                          </m:rPr>
                          <a:rPr lang="el-GR" altLang="zh-TW" i="1"/>
                          <m:t>α</m:t>
                        </m:r>
                      </m:e>
                      <m:sub>
                        <m:r>
                          <m:rPr>
                            <m:nor/>
                          </m:rPr>
                          <a:rPr lang="en-US" altLang="ja-JP" dirty="0">
                            <a:latin typeface="Cambria Math"/>
                          </a:rPr>
                          <m:t>i</m:t>
                        </m:r>
                      </m:sub>
                    </m:sSub>
                  </m:oMath>
                </a14:m>
                <a:r>
                  <a:rPr lang="zh-TW" altLang="en-US" dirty="0" smtClean="0"/>
                  <a:t> </a:t>
                </a:r>
                <a:r>
                  <a:rPr lang="en-US" altLang="zh-TW" dirty="0" smtClean="0"/>
                  <a:t>and </a:t>
                </a:r>
                <a14:m>
                  <m:oMath xmlns:m="http://schemas.openxmlformats.org/officeDocument/2006/math">
                    <m:sSub>
                      <m:sSubPr>
                        <m:ctrlPr>
                          <a:rPr lang="en-US" altLang="zh-TW" i="1" dirty="0">
                            <a:latin typeface="Cambria Math"/>
                          </a:rPr>
                        </m:ctrlPr>
                      </m:sSubPr>
                      <m:e>
                        <m:r>
                          <m:rPr>
                            <m:nor/>
                          </m:rPr>
                          <a:rPr lang="el-GR" altLang="zh-TW"/>
                          <m:t>β</m:t>
                        </m:r>
                      </m:e>
                      <m:sub>
                        <m:r>
                          <m:rPr>
                            <m:nor/>
                          </m:rPr>
                          <a:rPr lang="en-US" altLang="zh-TW">
                            <a:latin typeface="Cambria Math"/>
                          </a:rPr>
                          <m:t>j</m:t>
                        </m:r>
                      </m:sub>
                    </m:sSub>
                  </m:oMath>
                </a14:m>
                <a:r>
                  <a:rPr lang="zh-TW" altLang="en-US" dirty="0" smtClean="0"/>
                  <a:t> </a:t>
                </a:r>
                <a:r>
                  <a:rPr lang="en-US" altLang="zh-TW" dirty="0" smtClean="0"/>
                  <a:t>be</a:t>
                </a:r>
                <a:br>
                  <a:rPr lang="en-US" altLang="zh-TW" dirty="0" smtClean="0"/>
                </a:br>
                <a:r>
                  <a:rPr lang="en-US" altLang="zh-TW" dirty="0" smtClean="0"/>
                  <a:t>                      </a:t>
                </a:r>
                <a14:m>
                  <m:oMath xmlns:m="http://schemas.openxmlformats.org/officeDocument/2006/math">
                    <m:sSub>
                      <m:sSubPr>
                        <m:ctrlPr>
                          <a:rPr lang="en-US" altLang="zh-TW" i="1" dirty="0">
                            <a:latin typeface="Cambria Math"/>
                          </a:rPr>
                        </m:ctrlPr>
                      </m:sSubPr>
                      <m:e>
                        <m:r>
                          <m:rPr>
                            <m:nor/>
                          </m:rPr>
                          <a:rPr lang="el-GR" altLang="zh-TW" i="1"/>
                          <m:t>α</m:t>
                        </m:r>
                      </m:e>
                      <m:sub>
                        <m:r>
                          <m:rPr>
                            <m:nor/>
                          </m:rPr>
                          <a:rPr lang="en-US" altLang="ja-JP" dirty="0">
                            <a:latin typeface="Cambria Math"/>
                          </a:rPr>
                          <m:t>i</m:t>
                        </m:r>
                      </m:sub>
                    </m:sSub>
                    <m:r>
                      <a:rPr lang="el-GR" altLang="zh-TW" i="1" smtClean="0">
                        <a:latin typeface="Cambria Math"/>
                      </a:rPr>
                      <m:t>=</m:t>
                    </m:r>
                    <m:sSub>
                      <m:sSubPr>
                        <m:ctrlPr>
                          <a:rPr lang="en-US" altLang="zh-TW" i="1" dirty="0">
                            <a:latin typeface="Cambria Math"/>
                          </a:rPr>
                        </m:ctrlPr>
                      </m:sSubPr>
                      <m:e>
                        <m:r>
                          <m:rPr>
                            <m:nor/>
                          </m:rPr>
                          <a:rPr lang="el-GR" altLang="zh-TW" i="1"/>
                          <m:t>α</m:t>
                        </m:r>
                      </m:e>
                      <m:sub>
                        <m:r>
                          <m:rPr>
                            <m:nor/>
                          </m:rPr>
                          <a:rPr lang="en-US" altLang="zh-TW">
                            <a:latin typeface="Cambria Math"/>
                          </a:rPr>
                          <m:t>max</m:t>
                        </m:r>
                      </m:sub>
                    </m:sSub>
                    <m:r>
                      <a:rPr lang="el-GR" altLang="zh-TW" i="1">
                        <a:latin typeface="Cambria Math"/>
                      </a:rPr>
                      <m:t>−</m:t>
                    </m:r>
                    <m:sSub>
                      <m:sSubPr>
                        <m:ctrlPr>
                          <a:rPr lang="en-US" altLang="zh-TW" i="1" dirty="0">
                            <a:latin typeface="Cambria Math"/>
                          </a:rPr>
                        </m:ctrlPr>
                      </m:sSubPr>
                      <m:e>
                        <m:r>
                          <m:rPr>
                            <m:nor/>
                          </m:rPr>
                          <a:rPr lang="el-GR" altLang="zh-TW"/>
                          <m:t>β</m:t>
                        </m:r>
                      </m:e>
                      <m:sub>
                        <m:r>
                          <m:rPr>
                            <m:nor/>
                          </m:rPr>
                          <a:rPr lang="en-US" altLang="zh-TW">
                            <a:latin typeface="Cambria Math"/>
                          </a:rPr>
                          <m:t>j</m:t>
                        </m:r>
                      </m:sub>
                    </m:sSub>
                  </m:oMath>
                </a14:m>
                <a:r>
                  <a:rPr lang="en-US" altLang="zh-TW" dirty="0" smtClean="0"/>
                  <a:t>	(7)</a:t>
                </a:r>
              </a:p>
              <a:p>
                <a:r>
                  <a:rPr lang="en-US" altLang="zh-TW" dirty="0" smtClean="0"/>
                  <a:t>It will yield an </a:t>
                </a:r>
                <a:r>
                  <a:rPr lang="en-US" altLang="zh-TW" dirty="0"/>
                  <a:t>equivalence between the optimal </a:t>
                </a:r>
                <a:r>
                  <a:rPr lang="en-US" altLang="zh-TW" dirty="0" smtClean="0"/>
                  <a:t>alignments produced by </a:t>
                </a:r>
                <a:r>
                  <a:rPr lang="en-US" altLang="zh-TW" dirty="0"/>
                  <a:t>the two algorithms provided that the </a:t>
                </a:r>
                <a:r>
                  <a:rPr lang="en-US" altLang="zh-TW" dirty="0" smtClean="0"/>
                  <a:t>gap weights </a:t>
                </a:r>
                <a:r>
                  <a:rPr lang="en-US" altLang="zh-TW" dirty="0"/>
                  <a:t>are related, as before, </a:t>
                </a:r>
                <a:r>
                  <a:rPr lang="en-US" altLang="zh-TW" dirty="0" smtClean="0"/>
                  <a:t>by</a:t>
                </a:r>
                <a:br>
                  <a:rPr lang="en-US" altLang="zh-TW" dirty="0" smtClean="0"/>
                </a:br>
                <a:r>
                  <a:rPr lang="en-US" altLang="zh-TW" dirty="0" smtClean="0"/>
                  <a:t>                      </a:t>
                </a:r>
                <a14:m>
                  <m:oMath xmlns:m="http://schemas.openxmlformats.org/officeDocument/2006/math">
                    <m:sSub>
                      <m:sSubPr>
                        <m:ctrlPr>
                          <a:rPr lang="en-US" altLang="zh-TW" i="1">
                            <a:latin typeface="Cambria Math"/>
                          </a:rPr>
                        </m:ctrlPr>
                      </m:sSubPr>
                      <m:e>
                        <m:r>
                          <m:rPr>
                            <m:nor/>
                          </m:rPr>
                          <a:rPr lang="en-US" altLang="zh-TW">
                            <a:latin typeface="Cambria Math"/>
                          </a:rPr>
                          <m:t>w</m:t>
                        </m:r>
                        <m:r>
                          <a:rPr lang="en-US" altLang="zh-TW" i="1">
                            <a:latin typeface="Cambria Math"/>
                          </a:rPr>
                          <m:t>′</m:t>
                        </m:r>
                      </m:e>
                      <m:sub>
                        <m:r>
                          <m:rPr>
                            <m:nor/>
                          </m:rPr>
                          <a:rPr lang="en-US" altLang="zh-TW">
                            <a:latin typeface="Cambria Math"/>
                          </a:rPr>
                          <m:t>k</m:t>
                        </m:r>
                      </m:sub>
                    </m:sSub>
                  </m:oMath>
                </a14:m>
                <a:r>
                  <a:rPr lang="en-US" altLang="zh-TW" dirty="0"/>
                  <a:t> = </a:t>
                </a:r>
                <a14:m>
                  <m:oMath xmlns:m="http://schemas.openxmlformats.org/officeDocument/2006/math">
                    <m:sSub>
                      <m:sSubPr>
                        <m:ctrlPr>
                          <a:rPr lang="en-US" altLang="zh-TW" i="1">
                            <a:latin typeface="Cambria Math"/>
                          </a:rPr>
                        </m:ctrlPr>
                      </m:sSubPr>
                      <m:e>
                        <m:r>
                          <m:rPr>
                            <m:nor/>
                          </m:rPr>
                          <a:rPr lang="en-US" altLang="zh-TW">
                            <a:latin typeface="Cambria Math"/>
                          </a:rPr>
                          <m:t>w</m:t>
                        </m:r>
                      </m:e>
                      <m:sub>
                        <m:r>
                          <m:rPr>
                            <m:nor/>
                          </m:rPr>
                          <a:rPr lang="en-US" altLang="zh-TW">
                            <a:latin typeface="Cambria Math"/>
                          </a:rPr>
                          <m:t>k</m:t>
                        </m:r>
                      </m:sub>
                    </m:sSub>
                    <m:r>
                      <m:rPr>
                        <m:nor/>
                      </m:rPr>
                      <a:rPr lang="en-US" altLang="zh-TW">
                        <a:latin typeface="Cambria Math"/>
                      </a:rPr>
                      <m:t>+</m:t>
                    </m:r>
                    <m:f>
                      <m:fPr>
                        <m:ctrlPr>
                          <a:rPr lang="en-US" altLang="zh-TW" i="1">
                            <a:latin typeface="Cambria Math"/>
                          </a:rPr>
                        </m:ctrlPr>
                      </m:fPr>
                      <m:num>
                        <m:r>
                          <m:rPr>
                            <m:sty m:val="p"/>
                          </m:rPr>
                          <a:rPr lang="en-US" altLang="zh-TW">
                            <a:latin typeface="Cambria Math"/>
                          </a:rPr>
                          <m:t>k</m:t>
                        </m:r>
                        <m:sSub>
                          <m:sSubPr>
                            <m:ctrlPr>
                              <a:rPr lang="en-US" altLang="zh-TW" i="1" dirty="0">
                                <a:latin typeface="Cambria Math"/>
                              </a:rPr>
                            </m:ctrlPr>
                          </m:sSubPr>
                          <m:e>
                            <m:r>
                              <m:rPr>
                                <m:nor/>
                              </m:rPr>
                              <a:rPr lang="el-GR" altLang="zh-TW" i="1"/>
                              <m:t>α</m:t>
                            </m:r>
                          </m:e>
                          <m:sub>
                            <m:r>
                              <m:rPr>
                                <m:nor/>
                              </m:rPr>
                              <a:rPr lang="en-US" altLang="zh-TW">
                                <a:latin typeface="Cambria Math"/>
                              </a:rPr>
                              <m:t>max</m:t>
                            </m:r>
                          </m:sub>
                        </m:sSub>
                      </m:num>
                      <m:den>
                        <m:r>
                          <a:rPr lang="en-US" altLang="zh-TW">
                            <a:latin typeface="Cambria Math"/>
                          </a:rPr>
                          <m:t>2</m:t>
                        </m:r>
                      </m:den>
                    </m:f>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980728"/>
                <a:ext cx="8229600" cy="5688632"/>
              </a:xfrm>
              <a:blipFill rotWithShape="1">
                <a:blip r:embed="rId2"/>
                <a:stretch>
                  <a:fillRect l="-1630" t="-128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35000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Analysis</a:t>
            </a:r>
            <a:r>
              <a:rPr lang="zh-TW" altLang="en-US" dirty="0" smtClean="0"/>
              <a:t> ─ </a:t>
            </a:r>
            <a:r>
              <a:rPr lang="en-US" altLang="zh-TW" dirty="0" smtClean="0"/>
              <a:t>conclusion</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0" y="908720"/>
                <a:ext cx="9144000" cy="5832648"/>
              </a:xfrm>
            </p:spPr>
            <p:txBody>
              <a:bodyPr/>
              <a:lstStyle/>
              <a:p>
                <a:r>
                  <a:rPr lang="en-US" altLang="zh-TW" dirty="0"/>
                  <a:t>Consider the case where the sequence lengths </a:t>
                </a:r>
                <a:r>
                  <a:rPr lang="en-US" altLang="zh-TW" dirty="0" smtClean="0"/>
                  <a:t>are equal </a:t>
                </a:r>
                <a:r>
                  <a:rPr lang="en-US" altLang="zh-TW" dirty="0"/>
                  <a:t>(m = n) and </a:t>
                </a:r>
                <a14:m>
                  <m:oMath xmlns:m="http://schemas.openxmlformats.org/officeDocument/2006/math">
                    <m:sSub>
                      <m:sSubPr>
                        <m:ctrlPr>
                          <a:rPr lang="en-US" altLang="zh-TW" i="1">
                            <a:latin typeface="Cambria Math"/>
                          </a:rPr>
                        </m:ctrlPr>
                      </m:sSubPr>
                      <m:e>
                        <m:r>
                          <m:rPr>
                            <m:nor/>
                          </m:rPr>
                          <a:rPr lang="en-US" altLang="zh-TW">
                            <a:latin typeface="Cambria Math"/>
                          </a:rPr>
                          <m:t>w</m:t>
                        </m:r>
                      </m:e>
                      <m:sub>
                        <m:r>
                          <m:rPr>
                            <m:nor/>
                          </m:rPr>
                          <a:rPr lang="en-US" altLang="zh-TW">
                            <a:latin typeface="Cambria Math"/>
                          </a:rPr>
                          <m:t>k</m:t>
                        </m:r>
                      </m:sub>
                    </m:sSub>
                  </m:oMath>
                </a14:m>
                <a:r>
                  <a:rPr lang="en-US" altLang="zh-TW" dirty="0"/>
                  <a:t> </a:t>
                </a:r>
                <a14:m>
                  <m:oMath xmlns:m="http://schemas.openxmlformats.org/officeDocument/2006/math">
                    <m:r>
                      <a:rPr lang="en-US" altLang="zh-TW" i="1" dirty="0" smtClean="0">
                        <a:latin typeface="Cambria Math"/>
                        <a:ea typeface="Cambria Math"/>
                      </a:rPr>
                      <m:t>≥</m:t>
                    </m:r>
                  </m:oMath>
                </a14:m>
                <a:r>
                  <a:rPr lang="en-US" altLang="zh-TW" dirty="0"/>
                  <a:t> 0 (hence </a:t>
                </a:r>
                <a14:m>
                  <m:oMath xmlns:m="http://schemas.openxmlformats.org/officeDocument/2006/math">
                    <m:sSub>
                      <m:sSubPr>
                        <m:ctrlPr>
                          <a:rPr lang="en-US" altLang="zh-TW" i="1">
                            <a:latin typeface="Cambria Math"/>
                          </a:rPr>
                        </m:ctrlPr>
                      </m:sSubPr>
                      <m:e>
                        <m:r>
                          <m:rPr>
                            <m:nor/>
                          </m:rPr>
                          <a:rPr lang="en-US" altLang="zh-TW">
                            <a:latin typeface="Cambria Math"/>
                          </a:rPr>
                          <m:t>w</m:t>
                        </m:r>
                        <m:r>
                          <a:rPr lang="en-US" altLang="zh-TW" i="1">
                            <a:latin typeface="Cambria Math"/>
                          </a:rPr>
                          <m:t>′</m:t>
                        </m:r>
                      </m:e>
                      <m:sub>
                        <m:r>
                          <m:rPr>
                            <m:nor/>
                          </m:rPr>
                          <a:rPr lang="en-US" altLang="zh-TW">
                            <a:latin typeface="Cambria Math"/>
                          </a:rPr>
                          <m:t>k</m:t>
                        </m:r>
                      </m:sub>
                    </m:sSub>
                    <m:r>
                      <a:rPr lang="en-US" altLang="zh-TW" i="1" dirty="0">
                        <a:latin typeface="Cambria Math"/>
                        <a:ea typeface="Cambria Math"/>
                      </a:rPr>
                      <m:t>≥</m:t>
                    </m:r>
                    <m:f>
                      <m:fPr>
                        <m:ctrlPr>
                          <a:rPr lang="en-US" altLang="zh-TW" i="1">
                            <a:latin typeface="Cambria Math"/>
                          </a:rPr>
                        </m:ctrlPr>
                      </m:fPr>
                      <m:num>
                        <m:r>
                          <m:rPr>
                            <m:sty m:val="p"/>
                          </m:rPr>
                          <a:rPr lang="en-US" altLang="zh-TW">
                            <a:latin typeface="Cambria Math"/>
                          </a:rPr>
                          <m:t>k</m:t>
                        </m:r>
                        <m:sSub>
                          <m:sSubPr>
                            <m:ctrlPr>
                              <a:rPr lang="en-US" altLang="zh-TW" i="1" dirty="0">
                                <a:latin typeface="Cambria Math"/>
                              </a:rPr>
                            </m:ctrlPr>
                          </m:sSubPr>
                          <m:e>
                            <m:r>
                              <m:rPr>
                                <m:nor/>
                              </m:rPr>
                              <a:rPr lang="el-GR" altLang="zh-TW" i="1"/>
                              <m:t>α</m:t>
                            </m:r>
                          </m:e>
                          <m:sub>
                            <m:r>
                              <m:rPr>
                                <m:nor/>
                              </m:rPr>
                              <a:rPr lang="en-US" altLang="zh-TW">
                                <a:latin typeface="Cambria Math"/>
                              </a:rPr>
                              <m:t>max</m:t>
                            </m:r>
                          </m:sub>
                        </m:sSub>
                      </m:num>
                      <m:den>
                        <m:r>
                          <a:rPr lang="en-US" altLang="zh-TW">
                            <a:latin typeface="Cambria Math"/>
                          </a:rPr>
                          <m:t>2</m:t>
                        </m:r>
                      </m:den>
                    </m:f>
                  </m:oMath>
                </a14:m>
                <a:r>
                  <a:rPr lang="en-US" altLang="zh-TW" dirty="0"/>
                  <a:t>). </a:t>
                </a:r>
                <a:r>
                  <a:rPr lang="en-US" altLang="zh-TW" dirty="0" smtClean="0"/>
                  <a:t>The minimum </a:t>
                </a:r>
                <a:r>
                  <a:rPr lang="en-US" altLang="zh-TW" dirty="0"/>
                  <a:t>and maximum values of s are 0 and </a:t>
                </a:r>
                <a:r>
                  <a:rPr lang="en-US" altLang="zh-TW" dirty="0" err="1"/>
                  <a:t>n</a:t>
                </a:r>
                <a14:m>
                  <m:oMath xmlns:m="http://schemas.openxmlformats.org/officeDocument/2006/math">
                    <m:sSub>
                      <m:sSubPr>
                        <m:ctrlPr>
                          <a:rPr lang="en-US" altLang="zh-TW" i="1" dirty="0">
                            <a:latin typeface="Cambria Math"/>
                          </a:rPr>
                        </m:ctrlPr>
                      </m:sSubPr>
                      <m:e>
                        <m:r>
                          <m:rPr>
                            <m:nor/>
                          </m:rPr>
                          <a:rPr lang="en-US" altLang="zh-TW" b="0" i="1" dirty="0" smtClean="0">
                            <a:latin typeface="Cambria Math"/>
                          </a:rPr>
                          <m:t> </m:t>
                        </m:r>
                        <m:r>
                          <m:rPr>
                            <m:nor/>
                          </m:rPr>
                          <a:rPr lang="el-GR" altLang="zh-TW" i="1"/>
                          <m:t>α</m:t>
                        </m:r>
                      </m:e>
                      <m:sub>
                        <m:r>
                          <m:rPr>
                            <m:nor/>
                          </m:rPr>
                          <a:rPr lang="en-US" altLang="zh-TW">
                            <a:latin typeface="Cambria Math"/>
                          </a:rPr>
                          <m:t>max</m:t>
                        </m:r>
                      </m:sub>
                    </m:sSub>
                  </m:oMath>
                </a14:m>
                <a:r>
                  <a:rPr lang="en-US" altLang="zh-TW" dirty="0"/>
                  <a:t>.</a:t>
                </a:r>
                <a:r>
                  <a:rPr lang="en-US" altLang="zh-TW" dirty="0" smtClean="0"/>
                  <a:t> </a:t>
                </a:r>
                <a:r>
                  <a:rPr lang="en-US" altLang="zh-TW" dirty="0"/>
                  <a:t>The corresponding values of d are 0 and </a:t>
                </a:r>
                <a:r>
                  <a:rPr lang="en-US" altLang="zh-TW" dirty="0" smtClean="0"/>
                  <a:t/>
                </a:r>
                <a:br>
                  <a:rPr lang="en-US" altLang="zh-TW" dirty="0" smtClean="0"/>
                </a:br>
                <a:r>
                  <a:rPr lang="en-US" altLang="zh-TW" dirty="0" smtClean="0"/>
                  <a:t>n </a:t>
                </a:r>
                <a14:m>
                  <m:oMath xmlns:m="http://schemas.openxmlformats.org/officeDocument/2006/math">
                    <m:sSub>
                      <m:sSubPr>
                        <m:ctrlPr>
                          <a:rPr lang="en-US" altLang="zh-TW" i="1" dirty="0">
                            <a:latin typeface="Cambria Math"/>
                          </a:rPr>
                        </m:ctrlPr>
                      </m:sSubPr>
                      <m:e>
                        <m:r>
                          <m:rPr>
                            <m:nor/>
                          </m:rPr>
                          <a:rPr lang="el-GR" altLang="zh-TW"/>
                          <m:t>β</m:t>
                        </m:r>
                      </m:e>
                      <m:sub>
                        <m:r>
                          <m:rPr>
                            <m:nor/>
                          </m:rPr>
                          <a:rPr lang="en-US" altLang="zh-TW" b="0" i="0" smtClean="0">
                            <a:latin typeface="Cambria Math"/>
                          </a:rPr>
                          <m:t>max</m:t>
                        </m:r>
                      </m:sub>
                    </m:sSub>
                  </m:oMath>
                </a14:m>
                <a:r>
                  <a:rPr lang="en-US" altLang="zh-TW" dirty="0"/>
                  <a:t>.</a:t>
                </a:r>
                <a:r>
                  <a:rPr lang="en-US" altLang="zh-TW" dirty="0" smtClean="0"/>
                  <a:t> </a:t>
                </a:r>
                <a:r>
                  <a:rPr lang="en-US" altLang="zh-TW" dirty="0"/>
                  <a:t>If </a:t>
                </a:r>
                <a:r>
                  <a:rPr lang="en-US" altLang="zh-TW" dirty="0" smtClean="0"/>
                  <a:t>the weights </a:t>
                </a:r>
                <a:r>
                  <a:rPr lang="en-US" altLang="zh-TW" dirty="0"/>
                  <a:t>have been chosen to make the </a:t>
                </a:r>
                <a:r>
                  <a:rPr lang="en-US" altLang="zh-TW" dirty="0" smtClean="0"/>
                  <a:t>algorithms equivalent, they </a:t>
                </a:r>
                <a:r>
                  <a:rPr lang="en-US" altLang="zh-TW" dirty="0"/>
                  <a:t>have the same bounds and for any </a:t>
                </a:r>
                <a:r>
                  <a:rPr lang="en-US" altLang="zh-TW" dirty="0" smtClean="0"/>
                  <a:t>given alignment, s + d = n</a:t>
                </a:r>
                <a14:m>
                  <m:oMath xmlns:m="http://schemas.openxmlformats.org/officeDocument/2006/math">
                    <m:sSub>
                      <m:sSubPr>
                        <m:ctrlPr>
                          <a:rPr lang="en-US" altLang="zh-TW" i="1" dirty="0">
                            <a:latin typeface="Cambria Math"/>
                          </a:rPr>
                        </m:ctrlPr>
                      </m:sSubPr>
                      <m:e>
                        <m:r>
                          <m:rPr>
                            <m:nor/>
                          </m:rPr>
                          <a:rPr lang="el-GR" altLang="zh-TW" i="1"/>
                          <m:t>α</m:t>
                        </m:r>
                      </m:e>
                      <m:sub>
                        <m:r>
                          <m:rPr>
                            <m:nor/>
                          </m:rPr>
                          <a:rPr lang="en-US" altLang="zh-TW">
                            <a:latin typeface="Cambria Math"/>
                          </a:rPr>
                          <m:t>max</m:t>
                        </m:r>
                      </m:sub>
                    </m:sSub>
                  </m:oMath>
                </a14:m>
                <a:r>
                  <a:rPr lang="en-US" altLang="zh-TW" dirty="0" smtClean="0"/>
                  <a:t>.</a:t>
                </a:r>
              </a:p>
              <a:p>
                <a:r>
                  <a:rPr lang="en-US" altLang="zh-TW" dirty="0" smtClean="0"/>
                  <a:t>If </a:t>
                </a:r>
                <a:r>
                  <a:rPr lang="en-US" altLang="zh-TW" dirty="0"/>
                  <a:t>the sequences are not of </a:t>
                </a:r>
                <a:r>
                  <a:rPr lang="en-US" altLang="zh-TW" dirty="0" smtClean="0"/>
                  <a:t>the</a:t>
                </a:r>
                <a:r>
                  <a:rPr lang="zh-TW" altLang="en-US" dirty="0" smtClean="0"/>
                  <a:t> </a:t>
                </a:r>
                <a:r>
                  <a:rPr lang="en-US" altLang="zh-TW" dirty="0" smtClean="0"/>
                  <a:t>same length(m&gt;n), </a:t>
                </a:r>
                <a:r>
                  <a:rPr lang="en-US" altLang="zh-TW" dirty="0"/>
                  <a:t>the lower bound of s is - (m - </a:t>
                </a:r>
                <a:r>
                  <a:rPr lang="en-US" altLang="zh-TW" dirty="0" smtClean="0"/>
                  <a:t>n)</a:t>
                </a:r>
                <a:r>
                  <a:rPr lang="en-US" altLang="zh-TW" dirty="0"/>
                  <a:t> </a:t>
                </a:r>
                <a14:m>
                  <m:oMath xmlns:m="http://schemas.openxmlformats.org/officeDocument/2006/math">
                    <m:sSub>
                      <m:sSubPr>
                        <m:ctrlPr>
                          <a:rPr lang="en-US" altLang="zh-TW" i="1">
                            <a:latin typeface="Cambria Math"/>
                          </a:rPr>
                        </m:ctrlPr>
                      </m:sSubPr>
                      <m:e>
                        <m:r>
                          <m:rPr>
                            <m:nor/>
                          </m:rPr>
                          <a:rPr lang="en-US" altLang="zh-TW">
                            <a:latin typeface="Cambria Math"/>
                          </a:rPr>
                          <m:t>w</m:t>
                        </m:r>
                      </m:e>
                      <m:sub>
                        <m:r>
                          <m:rPr>
                            <m:nor/>
                          </m:rPr>
                          <a:rPr lang="en-US" altLang="zh-TW" b="0" i="0" smtClean="0">
                            <a:latin typeface="Cambria Math"/>
                          </a:rPr>
                          <m:t>m</m:t>
                        </m:r>
                        <m:r>
                          <m:rPr>
                            <m:nor/>
                          </m:rPr>
                          <a:rPr lang="en-US" altLang="zh-TW" b="0" i="0" smtClean="0">
                            <a:latin typeface="Cambria Math"/>
                          </a:rPr>
                          <m:t>−</m:t>
                        </m:r>
                        <m:r>
                          <m:rPr>
                            <m:nor/>
                          </m:rPr>
                          <a:rPr lang="en-US" altLang="zh-TW" b="0" i="0" smtClean="0">
                            <a:latin typeface="Cambria Math"/>
                          </a:rPr>
                          <m:t>n</m:t>
                        </m:r>
                      </m:sub>
                    </m:sSub>
                  </m:oMath>
                </a14:m>
                <a:endParaRPr lang="en-US" altLang="zh-TW"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0" y="908720"/>
                <a:ext cx="9144000" cy="5832648"/>
              </a:xfrm>
              <a:blipFill rotWithShape="1">
                <a:blip r:embed="rId2"/>
                <a:stretch>
                  <a:fillRect l="-1467" t="-1358" r="-1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4380043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1328</TotalTime>
  <Words>661</Words>
  <Application>Microsoft Office PowerPoint</Application>
  <PresentationFormat>如螢幕大小 (4:3)</PresentationFormat>
  <Paragraphs>50</Paragraphs>
  <Slides>15</Slides>
  <Notes>0</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Comparative Biosequence Metrics</vt:lpstr>
      <vt:lpstr>Abstract</vt:lpstr>
      <vt:lpstr>Needleman–Wunsch algorithm</vt:lpstr>
      <vt:lpstr>Needleman–Wunsch algorithm vs. Sellers algorithm</vt:lpstr>
      <vt:lpstr>Analysis</vt:lpstr>
      <vt:lpstr>Analysis</vt:lpstr>
      <vt:lpstr>Analysis</vt:lpstr>
      <vt:lpstr>Analysis</vt:lpstr>
      <vt:lpstr>Analysis</vt:lpstr>
      <vt:lpstr>Analysis</vt:lpstr>
      <vt:lpstr>Analysis</vt:lpstr>
      <vt:lpstr>Analysis</vt:lpstr>
      <vt:lpstr>Analysis</vt:lpstr>
      <vt:lpstr>Analysis</vt:lpstr>
      <vt:lpstr>Analysis ─ 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Biosequence Metrics</dc:title>
  <dc:creator>yotsuki</dc:creator>
  <cp:lastModifiedBy>GC_GUO</cp:lastModifiedBy>
  <cp:revision>61</cp:revision>
  <dcterms:created xsi:type="dcterms:W3CDTF">2014-05-05T11:47:32Z</dcterms:created>
  <dcterms:modified xsi:type="dcterms:W3CDTF">2014-05-06T10:24:47Z</dcterms:modified>
</cp:coreProperties>
</file>