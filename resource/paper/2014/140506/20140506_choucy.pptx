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2014/5/6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An almost-linear time and linear space algorithm for the longest common subsequence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J.Y. </a:t>
            </a:r>
            <a:r>
              <a:rPr lang="en-US" altLang="zh-TW" dirty="0" err="1" smtClean="0"/>
              <a:t>Guo</a:t>
            </a:r>
            <a:r>
              <a:rPr lang="en-US" altLang="zh-TW" dirty="0" smtClean="0"/>
              <a:t> and F.K. Hwang</a:t>
            </a:r>
          </a:p>
          <a:p>
            <a:r>
              <a:rPr lang="en-US" altLang="zh-TW" dirty="0" smtClean="0"/>
              <a:t>Information Processing Letters 94(2005) 131-135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4761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43608" y="1484784"/>
            <a:ext cx="705678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    There </a:t>
            </a:r>
            <a:r>
              <a:rPr lang="en-US" altLang="zh-TW" sz="2800" dirty="0"/>
              <a:t>are two general approaches to the longest common subsequence problem. The dynamic programming approach takes quadratic time but linear space, while the </a:t>
            </a:r>
            <a:r>
              <a:rPr lang="en-US" altLang="zh-TW" sz="2800" dirty="0" err="1"/>
              <a:t>nondynamic</a:t>
            </a:r>
            <a:r>
              <a:rPr lang="en-US" altLang="zh-TW" sz="2800" dirty="0"/>
              <a:t>-programming approach takes less time but more space. We propose a new implementation of the latter approach which seems to get the best for both time and space for the DNA application.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1736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/>
              <a:t>I: TGCATA, J: ATCTGAT</a:t>
            </a:r>
          </a:p>
          <a:p>
            <a:r>
              <a:rPr lang="en-US" altLang="zh-TW" sz="2800" dirty="0" smtClean="0"/>
              <a:t>Table X: </a:t>
            </a:r>
            <a:r>
              <a:rPr lang="zh-TW" altLang="en-US" sz="2800" dirty="0" smtClean="0"/>
              <a:t>紀錄</a:t>
            </a:r>
            <a:r>
              <a:rPr lang="en-US" altLang="zh-TW" sz="2800" dirty="0" smtClean="0"/>
              <a:t>J</a:t>
            </a:r>
            <a:r>
              <a:rPr lang="zh-TW" altLang="en-US" sz="2800" dirty="0" smtClean="0"/>
              <a:t>從位置</a:t>
            </a:r>
            <a:r>
              <a:rPr lang="en-US" altLang="zh-TW" sz="2800" dirty="0" smtClean="0"/>
              <a:t>j</a:t>
            </a:r>
            <a:r>
              <a:rPr lang="zh-TW" altLang="en-US" sz="2800" dirty="0" smtClean="0"/>
              <a:t>看下去該元素第一次出現的位置。</a:t>
            </a:r>
            <a:endParaRPr lang="en-US" altLang="zh-TW" sz="2800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875464"/>
              </p:ext>
            </p:extLst>
          </p:nvPr>
        </p:nvGraphicFramePr>
        <p:xfrm>
          <a:off x="1524001" y="3591024"/>
          <a:ext cx="60959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1547664" y="3203781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X: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74577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1828800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Table Y: </a:t>
                </a:r>
                <a:r>
                  <a:rPr lang="zh-TW" altLang="en-US" sz="2800" dirty="0" smtClean="0"/>
                  <a:t>用</a:t>
                </a:r>
                <a:r>
                  <a:rPr lang="en-US" altLang="zh-TW" sz="2800" dirty="0" smtClean="0"/>
                  <a:t>I</a:t>
                </a:r>
                <a:r>
                  <a:rPr lang="zh-TW" altLang="en-US" sz="2800" dirty="0" smtClean="0"/>
                  <a:t>的每個元素為</a:t>
                </a:r>
                <a:r>
                  <a:rPr lang="en-US" altLang="zh-TW" sz="2800" dirty="0" smtClean="0"/>
                  <a:t>key</a:t>
                </a:r>
                <a:r>
                  <a:rPr lang="zh-TW" altLang="en-US" sz="2800" dirty="0" smtClean="0"/>
                  <a:t>，對應</a:t>
                </a:r>
                <a:r>
                  <a:rPr lang="en-US" altLang="zh-TW" sz="2800" dirty="0" smtClean="0"/>
                  <a:t>table X</a:t>
                </a:r>
                <a:r>
                  <a:rPr lang="zh-TW" altLang="en-US" sz="2800" dirty="0" smtClean="0"/>
                  <a:t>的位置來更新表格，若新的</a:t>
                </a:r>
                <a:r>
                  <a:rPr lang="en-US" altLang="zh-TW" sz="2800" dirty="0" smtClean="0"/>
                  <a:t>match</a:t>
                </a:r>
                <a:r>
                  <a:rPr lang="zh-TW" altLang="en-US" sz="2800" dirty="0" smtClean="0"/>
                  <a:t>其</a:t>
                </a:r>
                <a:r>
                  <a:rPr lang="en-US" altLang="zh-TW" sz="2800" dirty="0" smtClean="0"/>
                  <a:t>j</a:t>
                </a:r>
                <a:r>
                  <a:rPr lang="zh-TW" altLang="en-US" sz="2800" dirty="0" smtClean="0"/>
                  <a:t>小於表格中的</a:t>
                </a:r>
                <a:r>
                  <a:rPr lang="en-US" altLang="zh-TW" sz="2800" dirty="0" smtClean="0"/>
                  <a:t>j</a:t>
                </a:r>
                <a:r>
                  <a:rPr lang="zh-TW" altLang="en-US" sz="2800" dirty="0" smtClean="0"/>
                  <a:t>值，更新該列的值，並做成新的表格。另需紀錄每個</a:t>
                </a:r>
                <a:r>
                  <a:rPr lang="en-US" altLang="zh-TW" sz="2800" dirty="0" smtClean="0"/>
                  <a:t>match</a:t>
                </a:r>
                <a:r>
                  <a:rPr lang="zh-TW" altLang="en-US" sz="2800" dirty="0" smtClean="0"/>
                  <a:t>的上一個</a:t>
                </a:r>
                <a:r>
                  <a:rPr lang="en-US" altLang="zh-TW" sz="2800" dirty="0" smtClean="0"/>
                  <a:t>match</a:t>
                </a:r>
                <a:r>
                  <a:rPr lang="zh-TW" altLang="en-US" sz="2800" dirty="0" smtClean="0"/>
                  <a:t>位置。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800" b="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altLang="zh-TW" sz="2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zh-TW" altLang="en-US" sz="2800" i="1" smtClean="0">
                        <a:latin typeface="Cambria Math"/>
                      </a:rPr>
                      <m:t>中的</m:t>
                    </m:r>
                    <m:r>
                      <a:rPr lang="en-US" altLang="zh-TW" sz="2800" i="1" smtClean="0">
                        <a:latin typeface="Cambria Math"/>
                      </a:rPr>
                      <m:t>𝑘</m:t>
                    </m:r>
                    <m:r>
                      <a:rPr lang="zh-TW" altLang="en-US" sz="2800" i="1" smtClean="0">
                        <a:latin typeface="Cambria Math"/>
                      </a:rPr>
                      <m:t>為</m:t>
                    </m:r>
                    <m:r>
                      <m:rPr>
                        <m:sty m:val="p"/>
                      </m:rPr>
                      <a:rPr lang="en-US" altLang="zh-TW" sz="2800" b="0" i="0" smtClean="0">
                        <a:latin typeface="Cambria Math"/>
                      </a:rPr>
                      <m:t>LCS</m:t>
                    </m:r>
                    <m:r>
                      <a:rPr lang="zh-TW" altLang="en-US" sz="2800" i="1">
                        <a:latin typeface="Cambria Math"/>
                      </a:rPr>
                      <m:t>長度</m:t>
                    </m:r>
                  </m:oMath>
                </a14:m>
                <a:r>
                  <a:rPr lang="zh-TW" altLang="en-US" sz="2800" dirty="0" smtClean="0"/>
                  <a:t>。</a:t>
                </a:r>
                <a:endParaRPr lang="zh-TW" altLang="en-US" sz="2800" dirty="0"/>
              </a:p>
              <a:p>
                <a:endParaRPr lang="zh-TW" altLang="en-US" sz="28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1828800"/>
              </a:xfrm>
              <a:blipFill rotWithShape="1">
                <a:blip r:embed="rId2"/>
                <a:stretch>
                  <a:fillRect l="-1259" t="-3333" b="-7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8351561"/>
                  </p:ext>
                </p:extLst>
              </p:nvPr>
            </p:nvGraphicFramePr>
            <p:xfrm>
              <a:off x="1524000" y="3929464"/>
              <a:ext cx="609600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8351561"/>
                  </p:ext>
                </p:extLst>
              </p:nvPr>
            </p:nvGraphicFramePr>
            <p:xfrm>
              <a:off x="1524000" y="3929464"/>
              <a:ext cx="6096000" cy="2595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/>
                    <a:gridCol w="1524000"/>
                    <a:gridCol w="1524000"/>
                    <a:gridCol w="15240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1639" r="-20000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000" t="-1639" r="-100000" b="-6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300000" t="-1639" b="-6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文字方塊 5"/>
          <p:cNvSpPr txBox="1"/>
          <p:nvPr/>
        </p:nvSpPr>
        <p:spPr>
          <a:xfrm>
            <a:off x="1475656" y="3540683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Y: when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= 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9233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197781"/>
              </p:ext>
            </p:extLst>
          </p:nvPr>
        </p:nvGraphicFramePr>
        <p:xfrm>
          <a:off x="587897" y="1456184"/>
          <a:ext cx="3408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</a:tblGrid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539552" y="1052736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X: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6911806"/>
                  </p:ext>
                </p:extLst>
              </p:nvPr>
            </p:nvGraphicFramePr>
            <p:xfrm>
              <a:off x="617648" y="3817781"/>
              <a:ext cx="330628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6570"/>
                    <a:gridCol w="826570"/>
                    <a:gridCol w="826570"/>
                    <a:gridCol w="826570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6911806"/>
                  </p:ext>
                </p:extLst>
              </p:nvPr>
            </p:nvGraphicFramePr>
            <p:xfrm>
              <a:off x="617648" y="3817781"/>
              <a:ext cx="330628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6570"/>
                    <a:gridCol w="826570"/>
                    <a:gridCol w="826570"/>
                    <a:gridCol w="826570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000" r="-19926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6" name="文字方塊 5"/>
          <p:cNvSpPr txBox="1"/>
          <p:nvPr/>
        </p:nvSpPr>
        <p:spPr>
          <a:xfrm>
            <a:off x="569304" y="3429000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Y: when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= 0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522450" y="1052736"/>
            <a:ext cx="2611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I: TGCATA, J: ATCTGAT</a:t>
            </a:r>
          </a:p>
        </p:txBody>
      </p:sp>
    </p:spTree>
    <p:extLst>
      <p:ext uri="{BB962C8B-B14F-4D97-AF65-F5344CB8AC3E}">
        <p14:creationId xmlns:p14="http://schemas.microsoft.com/office/powerpoint/2010/main" val="42091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951342"/>
              </p:ext>
            </p:extLst>
          </p:nvPr>
        </p:nvGraphicFramePr>
        <p:xfrm>
          <a:off x="587897" y="1456184"/>
          <a:ext cx="3408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</a:tblGrid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539552" y="1052736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X: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197161"/>
                  </p:ext>
                </p:extLst>
              </p:nvPr>
            </p:nvGraphicFramePr>
            <p:xfrm>
              <a:off x="617648" y="3817781"/>
              <a:ext cx="330628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6570"/>
                    <a:gridCol w="826570"/>
                    <a:gridCol w="826570"/>
                    <a:gridCol w="826570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197161"/>
                  </p:ext>
                </p:extLst>
              </p:nvPr>
            </p:nvGraphicFramePr>
            <p:xfrm>
              <a:off x="617648" y="3817781"/>
              <a:ext cx="330628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6570"/>
                    <a:gridCol w="826570"/>
                    <a:gridCol w="826570"/>
                    <a:gridCol w="826570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000" r="-19926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1481" r="-10074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69304" y="3429000"/>
                <a:ext cx="2668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Table Y: when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T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04" y="3429000"/>
                <a:ext cx="2668423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26" t="-8333" r="-1142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522450" y="1052736"/>
            <a:ext cx="2611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I: TGCATA, J: ATCTGAT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569304" y="6453336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b(2, 1) = (0, 0)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619672" y="6021288"/>
            <a:ext cx="432048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87491" y="1443798"/>
            <a:ext cx="432048" cy="18411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967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415484"/>
              </p:ext>
            </p:extLst>
          </p:nvPr>
        </p:nvGraphicFramePr>
        <p:xfrm>
          <a:off x="587897" y="1456184"/>
          <a:ext cx="3408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</a:tblGrid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539552" y="1052736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X: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5309610"/>
                  </p:ext>
                </p:extLst>
              </p:nvPr>
            </p:nvGraphicFramePr>
            <p:xfrm>
              <a:off x="617648" y="3817781"/>
              <a:ext cx="330628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6570"/>
                    <a:gridCol w="826570"/>
                    <a:gridCol w="826570"/>
                    <a:gridCol w="826570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5309610"/>
                  </p:ext>
                </p:extLst>
              </p:nvPr>
            </p:nvGraphicFramePr>
            <p:xfrm>
              <a:off x="617648" y="3817781"/>
              <a:ext cx="330628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6570"/>
                    <a:gridCol w="826570"/>
                    <a:gridCol w="826570"/>
                    <a:gridCol w="826570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000" r="-19926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1481" r="-10074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99265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69304" y="3429000"/>
                <a:ext cx="27035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Table Y: when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G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04" y="3429000"/>
                <a:ext cx="270356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02" t="-8333" r="-901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522450" y="1052736"/>
            <a:ext cx="2611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I: TGCATA, J: ATCTGAT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69304" y="6453336"/>
            <a:ext cx="3021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</a:t>
            </a:r>
            <a:r>
              <a:rPr lang="en-US" altLang="zh-TW" dirty="0"/>
              <a:t>1</a:t>
            </a:r>
            <a:r>
              <a:rPr lang="en-US" altLang="zh-TW" dirty="0" smtClean="0"/>
              <a:t>, </a:t>
            </a:r>
            <a:r>
              <a:rPr lang="en-US" altLang="zh-TW" dirty="0"/>
              <a:t>2</a:t>
            </a:r>
            <a:r>
              <a:rPr lang="en-US" altLang="zh-TW" dirty="0" smtClean="0"/>
              <a:t>) = (0, 0), b(2, 5) = (1, 2)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483768" y="566124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43808" y="1428072"/>
            <a:ext cx="360040" cy="18569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08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79678"/>
              </p:ext>
            </p:extLst>
          </p:nvPr>
        </p:nvGraphicFramePr>
        <p:xfrm>
          <a:off x="587897" y="1456184"/>
          <a:ext cx="3408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</a:tblGrid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539552" y="1052736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X: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2405428"/>
                  </p:ext>
                </p:extLst>
              </p:nvPr>
            </p:nvGraphicFramePr>
            <p:xfrm>
              <a:off x="617648" y="3817781"/>
              <a:ext cx="330628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6570"/>
                    <a:gridCol w="826570"/>
                    <a:gridCol w="826570"/>
                    <a:gridCol w="826570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2405428"/>
                  </p:ext>
                </p:extLst>
              </p:nvPr>
            </p:nvGraphicFramePr>
            <p:xfrm>
              <a:off x="617648" y="3817781"/>
              <a:ext cx="330628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6570"/>
                    <a:gridCol w="826570"/>
                    <a:gridCol w="826570"/>
                    <a:gridCol w="826570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000" r="-19926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1481" r="-10074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99265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69304" y="3429000"/>
                <a:ext cx="26907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Table Y: when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C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04" y="3429000"/>
                <a:ext cx="269073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10" t="-8333" r="-905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522450" y="1052736"/>
            <a:ext cx="2611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I: TGCATA, J: ATCTGAT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69304" y="6453336"/>
            <a:ext cx="3021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b(1, 2) = (0, 0), b(2, 5) = (1, 2)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2051720" y="1422068"/>
            <a:ext cx="432048" cy="1862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018002" y="4377878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3 &lt; 5</a:t>
            </a:r>
          </a:p>
          <a:p>
            <a:pPr algn="ctr"/>
            <a:r>
              <a:rPr lang="zh-TW" altLang="en-US" dirty="0" smtClean="0"/>
              <a:t>更新該列</a:t>
            </a:r>
            <a:endParaRPr lang="en-US" altLang="zh-TW" dirty="0" smtClean="0"/>
          </a:p>
          <a:p>
            <a:pPr algn="ctr"/>
            <a:r>
              <a:rPr lang="zh-TW" altLang="en-US" dirty="0"/>
              <a:t>畫新表格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453875"/>
                  </p:ext>
                </p:extLst>
              </p:nvPr>
            </p:nvGraphicFramePr>
            <p:xfrm>
              <a:off x="5226160" y="3834561"/>
              <a:ext cx="330628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6570"/>
                    <a:gridCol w="826570"/>
                    <a:gridCol w="826570"/>
                    <a:gridCol w="826570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1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453875"/>
                  </p:ext>
                </p:extLst>
              </p:nvPr>
            </p:nvGraphicFramePr>
            <p:xfrm>
              <a:off x="5226160" y="3834561"/>
              <a:ext cx="330628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6570"/>
                    <a:gridCol w="826570"/>
                    <a:gridCol w="826570"/>
                    <a:gridCol w="826570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0000" r="-19926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1481" r="-10074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99265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21" name="向右箭號 20"/>
          <p:cNvSpPr/>
          <p:nvPr/>
        </p:nvSpPr>
        <p:spPr>
          <a:xfrm>
            <a:off x="4134127" y="5517232"/>
            <a:ext cx="869921" cy="52499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5220072" y="6444044"/>
            <a:ext cx="1545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b(</a:t>
            </a:r>
            <a:r>
              <a:rPr lang="en-US" altLang="zh-TW" dirty="0"/>
              <a:t>3</a:t>
            </a:r>
            <a:r>
              <a:rPr lang="en-US" altLang="zh-TW" dirty="0" smtClean="0"/>
              <a:t>, 3) </a:t>
            </a:r>
            <a:r>
              <a:rPr lang="en-US" altLang="zh-TW" dirty="0"/>
              <a:t>= </a:t>
            </a:r>
            <a:r>
              <a:rPr lang="en-US" altLang="zh-TW" dirty="0" smtClean="0"/>
              <a:t>(1, 2)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483768" y="5274069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93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162399"/>
              </p:ext>
            </p:extLst>
          </p:nvPr>
        </p:nvGraphicFramePr>
        <p:xfrm>
          <a:off x="587897" y="1456184"/>
          <a:ext cx="3408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</a:tblGrid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539552" y="1052736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X: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9239092"/>
                  </p:ext>
                </p:extLst>
              </p:nvPr>
            </p:nvGraphicFramePr>
            <p:xfrm>
              <a:off x="617649" y="3817781"/>
              <a:ext cx="3090255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8051"/>
                    <a:gridCol w="618051"/>
                    <a:gridCol w="618051"/>
                    <a:gridCol w="618051"/>
                    <a:gridCol w="618051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9239092"/>
                  </p:ext>
                </p:extLst>
              </p:nvPr>
            </p:nvGraphicFramePr>
            <p:xfrm>
              <a:off x="617649" y="3817781"/>
              <a:ext cx="3090255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8051"/>
                    <a:gridCol w="618051"/>
                    <a:gridCol w="618051"/>
                    <a:gridCol w="618051"/>
                    <a:gridCol w="618051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9020" r="-29902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990" r="-20198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98039" r="-1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1980" r="-990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69304" y="3429000"/>
                <a:ext cx="26908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Table Y: when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A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04" y="3429000"/>
                <a:ext cx="269080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10" t="-8333" r="-679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522450" y="1052736"/>
            <a:ext cx="2611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I: TGCATA, J: ATCTGAT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69304" y="6453336"/>
            <a:ext cx="449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b(1, 2) = (0, 0), </a:t>
            </a:r>
            <a:r>
              <a:rPr lang="en-US" altLang="zh-TW" dirty="0"/>
              <a:t>b(3, 3) = (1, 2</a:t>
            </a:r>
            <a:r>
              <a:rPr lang="en-US" altLang="zh-TW" dirty="0" smtClean="0"/>
              <a:t>), b(6, 4) = (3, 3)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648268" y="494116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275856" y="1422068"/>
            <a:ext cx="360040" cy="1862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364146" y="494116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31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004736"/>
              </p:ext>
            </p:extLst>
          </p:nvPr>
        </p:nvGraphicFramePr>
        <p:xfrm>
          <a:off x="587897" y="1456184"/>
          <a:ext cx="3408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</a:tblGrid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539552" y="1052736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X: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711575"/>
                  </p:ext>
                </p:extLst>
              </p:nvPr>
            </p:nvGraphicFramePr>
            <p:xfrm>
              <a:off x="617649" y="3817781"/>
              <a:ext cx="3090255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8051"/>
                    <a:gridCol w="618051"/>
                    <a:gridCol w="618051"/>
                    <a:gridCol w="618051"/>
                    <a:gridCol w="618051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711575"/>
                  </p:ext>
                </p:extLst>
              </p:nvPr>
            </p:nvGraphicFramePr>
            <p:xfrm>
              <a:off x="617649" y="3817781"/>
              <a:ext cx="3090255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8051"/>
                    <a:gridCol w="618051"/>
                    <a:gridCol w="618051"/>
                    <a:gridCol w="618051"/>
                    <a:gridCol w="618051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99020" r="-29902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990" r="-20198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98039" r="-1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401980" r="-990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69304" y="3429000"/>
                <a:ext cx="26908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Table Y: when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A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04" y="3429000"/>
                <a:ext cx="269080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10" t="-8333" r="-679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522450" y="1052736"/>
            <a:ext cx="2611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I: TGCATA, J: ATCTGAT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69304" y="6453336"/>
            <a:ext cx="4498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b(1, 2) = (0, 0), </a:t>
            </a:r>
            <a:r>
              <a:rPr lang="en-US" altLang="zh-TW" dirty="0"/>
              <a:t>b(3, 3) = (1, 2</a:t>
            </a:r>
            <a:r>
              <a:rPr lang="en-US" altLang="zh-TW" dirty="0" smtClean="0"/>
              <a:t>), </a:t>
            </a:r>
            <a:r>
              <a:rPr lang="en-US" altLang="zh-TW" dirty="0"/>
              <a:t>b(6, 4) = (3, 3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2648268" y="494116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42430" y="1441697"/>
            <a:ext cx="360040" cy="1862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995936" y="4377878"/>
            <a:ext cx="11079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&lt; 2</a:t>
            </a:r>
          </a:p>
          <a:p>
            <a:pPr algn="ctr"/>
            <a:r>
              <a:rPr lang="zh-TW" altLang="en-US" dirty="0" smtClean="0"/>
              <a:t>更新該列</a:t>
            </a:r>
            <a:endParaRPr lang="en-US" altLang="zh-TW" dirty="0" smtClean="0"/>
          </a:p>
          <a:p>
            <a:pPr algn="ctr"/>
            <a:r>
              <a:rPr lang="zh-TW" altLang="en-US" dirty="0"/>
              <a:t>畫新表格</a:t>
            </a:r>
          </a:p>
        </p:txBody>
      </p:sp>
      <p:sp>
        <p:nvSpPr>
          <p:cNvPr id="13" name="向右箭號 12"/>
          <p:cNvSpPr/>
          <p:nvPr/>
        </p:nvSpPr>
        <p:spPr>
          <a:xfrm>
            <a:off x="4112061" y="5517232"/>
            <a:ext cx="869921" cy="52499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1364146" y="494116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表格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0984965"/>
                  </p:ext>
                </p:extLst>
              </p:nvPr>
            </p:nvGraphicFramePr>
            <p:xfrm>
              <a:off x="5370177" y="3841028"/>
              <a:ext cx="3090255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8051"/>
                    <a:gridCol w="618051"/>
                    <a:gridCol w="618051"/>
                    <a:gridCol w="618051"/>
                    <a:gridCol w="618051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表格 1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0984965"/>
                  </p:ext>
                </p:extLst>
              </p:nvPr>
            </p:nvGraphicFramePr>
            <p:xfrm>
              <a:off x="5370177" y="3841028"/>
              <a:ext cx="3090255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8051"/>
                    <a:gridCol w="618051"/>
                    <a:gridCol w="618051"/>
                    <a:gridCol w="618051"/>
                    <a:gridCol w="618051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0000" r="-298039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1980" r="-20099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99020" r="-9902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02970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文字方塊 8"/>
          <p:cNvSpPr txBox="1"/>
          <p:nvPr/>
        </p:nvSpPr>
        <p:spPr>
          <a:xfrm>
            <a:off x="5436096" y="6453336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b(4, 1) = (0, 0)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95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868595"/>
              </p:ext>
            </p:extLst>
          </p:nvPr>
        </p:nvGraphicFramePr>
        <p:xfrm>
          <a:off x="587897" y="1456184"/>
          <a:ext cx="3408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</a:tblGrid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539552" y="1052736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X: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6302571"/>
                  </p:ext>
                </p:extLst>
              </p:nvPr>
            </p:nvGraphicFramePr>
            <p:xfrm>
              <a:off x="617649" y="3817781"/>
              <a:ext cx="309025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43"/>
                    <a:gridCol w="515043"/>
                    <a:gridCol w="515043"/>
                    <a:gridCol w="515043"/>
                    <a:gridCol w="515043"/>
                    <a:gridCol w="515043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36302571"/>
                  </p:ext>
                </p:extLst>
              </p:nvPr>
            </p:nvGraphicFramePr>
            <p:xfrm>
              <a:off x="617649" y="3817781"/>
              <a:ext cx="309025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43"/>
                    <a:gridCol w="515043"/>
                    <a:gridCol w="515043"/>
                    <a:gridCol w="515043"/>
                    <a:gridCol w="515043"/>
                    <a:gridCol w="515043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190" r="-40357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98824" r="-29882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02381" r="-20238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97647" r="-1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3571" r="-1190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69304" y="3429000"/>
                <a:ext cx="2673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Table Y: when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= 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T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04" y="3429000"/>
                <a:ext cx="267374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22" t="-8333" r="-1139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522450" y="1052736"/>
            <a:ext cx="2611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I: TGCATA, J: ATCTGAT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69304" y="6453336"/>
            <a:ext cx="5974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b(4, </a:t>
            </a:r>
            <a:r>
              <a:rPr lang="en-US" altLang="zh-TW" dirty="0"/>
              <a:t>1</a:t>
            </a:r>
            <a:r>
              <a:rPr lang="en-US" altLang="zh-TW" dirty="0" smtClean="0"/>
              <a:t>) = (0, 0), </a:t>
            </a:r>
            <a:r>
              <a:rPr lang="en-US" altLang="zh-TW" dirty="0"/>
              <a:t>b(3, 3) = (1, 2</a:t>
            </a:r>
            <a:r>
              <a:rPr lang="en-US" altLang="zh-TW" dirty="0" smtClean="0"/>
              <a:t>), </a:t>
            </a:r>
            <a:r>
              <a:rPr lang="en-US" altLang="zh-TW" dirty="0"/>
              <a:t>b(6, 4) = (3, 3</a:t>
            </a:r>
            <a:r>
              <a:rPr lang="en-US" altLang="zh-TW" dirty="0" smtClean="0"/>
              <a:t>), b(5, 7) = (6, 4)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3635896" y="1441697"/>
            <a:ext cx="360040" cy="1862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771800" y="602128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67744" y="602128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63688" y="6018976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93498"/>
              </p:ext>
            </p:extLst>
          </p:nvPr>
        </p:nvGraphicFramePr>
        <p:xfrm>
          <a:off x="587897" y="1456184"/>
          <a:ext cx="3408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</a:tblGrid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539552" y="1052736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X: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1923818"/>
                  </p:ext>
                </p:extLst>
              </p:nvPr>
            </p:nvGraphicFramePr>
            <p:xfrm>
              <a:off x="617649" y="3817781"/>
              <a:ext cx="309025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43"/>
                    <a:gridCol w="515043"/>
                    <a:gridCol w="515043"/>
                    <a:gridCol w="515043"/>
                    <a:gridCol w="515043"/>
                    <a:gridCol w="515043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1923818"/>
                  </p:ext>
                </p:extLst>
              </p:nvPr>
            </p:nvGraphicFramePr>
            <p:xfrm>
              <a:off x="617649" y="3817781"/>
              <a:ext cx="309025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43"/>
                    <a:gridCol w="515043"/>
                    <a:gridCol w="515043"/>
                    <a:gridCol w="515043"/>
                    <a:gridCol w="515043"/>
                    <a:gridCol w="515043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190" r="-40357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98824" r="-29882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02381" r="-20238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97647" r="-1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3571" r="-1190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69304" y="3429000"/>
                <a:ext cx="26737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Table Y: when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= 5,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T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04" y="3429000"/>
                <a:ext cx="2673745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22" t="-8333" r="-1139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522450" y="1052736"/>
            <a:ext cx="2611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I: TGCATA, J: ATCTGAT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179512" y="6453336"/>
            <a:ext cx="892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b(4, </a:t>
            </a:r>
            <a:r>
              <a:rPr lang="en-US" altLang="zh-TW" dirty="0"/>
              <a:t>1</a:t>
            </a:r>
            <a:r>
              <a:rPr lang="en-US" altLang="zh-TW" dirty="0" smtClean="0"/>
              <a:t>) = (0, 0), </a:t>
            </a:r>
            <a:r>
              <a:rPr lang="en-US" altLang="zh-TW" dirty="0"/>
              <a:t>b(3, 3) = (1, 2</a:t>
            </a:r>
            <a:r>
              <a:rPr lang="en-US" altLang="zh-TW" dirty="0" smtClean="0"/>
              <a:t>), b(4, 6) </a:t>
            </a:r>
            <a:r>
              <a:rPr lang="en-US" altLang="zh-TW" dirty="0"/>
              <a:t>= (3, 3</a:t>
            </a:r>
            <a:r>
              <a:rPr lang="en-US" altLang="zh-TW" dirty="0" smtClean="0"/>
              <a:t>), b(5, 7) = (4, </a:t>
            </a:r>
            <a:r>
              <a:rPr lang="en-US" altLang="zh-TW" dirty="0"/>
              <a:t>6</a:t>
            </a:r>
            <a:r>
              <a:rPr lang="en-US" altLang="zh-TW" dirty="0" smtClean="0"/>
              <a:t>), b(5, 2) = (4, 1), b(5, 4) = (3, 3)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2483768" y="1441697"/>
            <a:ext cx="360040" cy="1862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771800" y="602128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67744" y="602128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763688" y="6018976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42119" y="1441697"/>
            <a:ext cx="360040" cy="1862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表格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7746762"/>
                  </p:ext>
                </p:extLst>
              </p:nvPr>
            </p:nvGraphicFramePr>
            <p:xfrm>
              <a:off x="5364088" y="3805770"/>
              <a:ext cx="309025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43"/>
                    <a:gridCol w="515043"/>
                    <a:gridCol w="515043"/>
                    <a:gridCol w="515043"/>
                    <a:gridCol w="515043"/>
                    <a:gridCol w="515043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表格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17746762"/>
                  </p:ext>
                </p:extLst>
              </p:nvPr>
            </p:nvGraphicFramePr>
            <p:xfrm>
              <a:off x="5364088" y="3805770"/>
              <a:ext cx="309025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43"/>
                    <a:gridCol w="515043"/>
                    <a:gridCol w="515043"/>
                    <a:gridCol w="515043"/>
                    <a:gridCol w="515043"/>
                    <a:gridCol w="515043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2381" r="-40238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000" r="-297647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3571" r="-20119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98824" r="-9882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4762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5" name="文字方塊 14"/>
          <p:cNvSpPr txBox="1"/>
          <p:nvPr/>
        </p:nvSpPr>
        <p:spPr>
          <a:xfrm>
            <a:off x="3995936" y="4221088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4 &lt; 6</a:t>
            </a:r>
            <a:br>
              <a:rPr lang="en-US" altLang="zh-TW" dirty="0" smtClean="0"/>
            </a:br>
            <a:r>
              <a:rPr lang="en-US" altLang="zh-TW" dirty="0" smtClean="0"/>
              <a:t>2 &lt; 3</a:t>
            </a:r>
          </a:p>
          <a:p>
            <a:pPr algn="ctr"/>
            <a:r>
              <a:rPr lang="zh-TW" altLang="en-US" dirty="0" smtClean="0"/>
              <a:t>更新該列</a:t>
            </a:r>
            <a:endParaRPr lang="en-US" altLang="zh-TW" dirty="0" smtClean="0"/>
          </a:p>
          <a:p>
            <a:pPr algn="ctr"/>
            <a:r>
              <a:rPr lang="zh-TW" altLang="en-US" dirty="0"/>
              <a:t>畫新表格</a:t>
            </a:r>
          </a:p>
        </p:txBody>
      </p:sp>
      <p:sp>
        <p:nvSpPr>
          <p:cNvPr id="16" name="向右箭號 15"/>
          <p:cNvSpPr/>
          <p:nvPr/>
        </p:nvSpPr>
        <p:spPr>
          <a:xfrm>
            <a:off x="4112061" y="5517232"/>
            <a:ext cx="869921" cy="52499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88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860720"/>
              </p:ext>
            </p:extLst>
          </p:nvPr>
        </p:nvGraphicFramePr>
        <p:xfrm>
          <a:off x="587897" y="1456184"/>
          <a:ext cx="3408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  <a:gridCol w="378671"/>
              </a:tblGrid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j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  <a:tr h="3564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539552" y="1052736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Table X: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9635524"/>
                  </p:ext>
                </p:extLst>
              </p:nvPr>
            </p:nvGraphicFramePr>
            <p:xfrm>
              <a:off x="617649" y="3817781"/>
              <a:ext cx="309025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43"/>
                    <a:gridCol w="515043"/>
                    <a:gridCol w="515043"/>
                    <a:gridCol w="515043"/>
                    <a:gridCol w="515043"/>
                    <a:gridCol w="515043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9635524"/>
                  </p:ext>
                </p:extLst>
              </p:nvPr>
            </p:nvGraphicFramePr>
            <p:xfrm>
              <a:off x="617649" y="3817781"/>
              <a:ext cx="309025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43"/>
                    <a:gridCol w="515043"/>
                    <a:gridCol w="515043"/>
                    <a:gridCol w="515043"/>
                    <a:gridCol w="515043"/>
                    <a:gridCol w="515043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190" r="-40357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98824" r="-29882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02381" r="-20238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97647" r="-1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03571" r="-1190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569304" y="3429000"/>
                <a:ext cx="26908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 smtClean="0"/>
                  <a:t>Table Y: when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= 6,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6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A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04" y="3429000"/>
                <a:ext cx="269080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810" t="-8333" r="-679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1522450" y="1052736"/>
            <a:ext cx="2611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I: TGCATA, J: ATCTGAT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107504" y="6453336"/>
            <a:ext cx="892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b(4, </a:t>
            </a:r>
            <a:r>
              <a:rPr lang="en-US" altLang="zh-TW" dirty="0"/>
              <a:t>1</a:t>
            </a:r>
            <a:r>
              <a:rPr lang="en-US" altLang="zh-TW" dirty="0" smtClean="0"/>
              <a:t>) = (0, 0), b(5, 2) </a:t>
            </a:r>
            <a:r>
              <a:rPr lang="en-US" altLang="zh-TW" dirty="0"/>
              <a:t>= </a:t>
            </a:r>
            <a:r>
              <a:rPr lang="en-US" altLang="zh-TW" dirty="0" smtClean="0"/>
              <a:t>(4, 1), b(5, </a:t>
            </a:r>
            <a:r>
              <a:rPr lang="en-US" altLang="zh-TW" dirty="0"/>
              <a:t>4) = (3, 3</a:t>
            </a:r>
            <a:r>
              <a:rPr lang="en-US" altLang="zh-TW" dirty="0" smtClean="0"/>
              <a:t>), b(5, 7) = (4, 6), b(6, 1) = (0, 0), b(6, 6) = (5, 4)</a:t>
            </a:r>
            <a:endParaRPr lang="zh-TW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3275856" y="1441697"/>
            <a:ext cx="360040" cy="1862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71800" y="494116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14" name="向右箭號 13"/>
          <p:cNvSpPr/>
          <p:nvPr/>
        </p:nvSpPr>
        <p:spPr>
          <a:xfrm>
            <a:off x="4112061" y="5517232"/>
            <a:ext cx="869921" cy="52499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表格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3545614"/>
                  </p:ext>
                </p:extLst>
              </p:nvPr>
            </p:nvGraphicFramePr>
            <p:xfrm>
              <a:off x="5364088" y="3805770"/>
              <a:ext cx="309025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43"/>
                    <a:gridCol w="515043"/>
                    <a:gridCol w="515043"/>
                    <a:gridCol w="515043"/>
                    <a:gridCol w="515043"/>
                    <a:gridCol w="515043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表格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3545614"/>
                  </p:ext>
                </p:extLst>
              </p:nvPr>
            </p:nvGraphicFramePr>
            <p:xfrm>
              <a:off x="5364088" y="3805770"/>
              <a:ext cx="309025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043"/>
                    <a:gridCol w="515043"/>
                    <a:gridCol w="515043"/>
                    <a:gridCol w="515043"/>
                    <a:gridCol w="515043"/>
                    <a:gridCol w="515043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2381" r="-402381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200000" r="-297647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3571" r="-20119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98824" r="-9882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4762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7" name="矩形 16"/>
          <p:cNvSpPr/>
          <p:nvPr/>
        </p:nvSpPr>
        <p:spPr>
          <a:xfrm>
            <a:off x="1163519" y="4941168"/>
            <a:ext cx="3600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3995936" y="4221088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1</a:t>
            </a:r>
            <a:r>
              <a:rPr lang="en-US" altLang="zh-TW" dirty="0" smtClean="0"/>
              <a:t> &lt; 2</a:t>
            </a:r>
            <a:br>
              <a:rPr lang="en-US" altLang="zh-TW" dirty="0" smtClean="0"/>
            </a:br>
            <a:r>
              <a:rPr lang="en-US" altLang="zh-TW" dirty="0" smtClean="0"/>
              <a:t>6 &lt; 7</a:t>
            </a:r>
          </a:p>
          <a:p>
            <a:pPr algn="ctr"/>
            <a:r>
              <a:rPr lang="zh-TW" altLang="en-US" dirty="0" smtClean="0"/>
              <a:t>更新該列</a:t>
            </a:r>
            <a:endParaRPr lang="en-US" altLang="zh-TW" dirty="0" smtClean="0"/>
          </a:p>
          <a:p>
            <a:pPr algn="ctr"/>
            <a:r>
              <a:rPr lang="zh-TW" altLang="en-US" dirty="0"/>
              <a:t>畫新表格</a:t>
            </a:r>
          </a:p>
        </p:txBody>
      </p:sp>
      <p:sp>
        <p:nvSpPr>
          <p:cNvPr id="22" name="矩形 21"/>
          <p:cNvSpPr/>
          <p:nvPr/>
        </p:nvSpPr>
        <p:spPr>
          <a:xfrm>
            <a:off x="1352125" y="1441697"/>
            <a:ext cx="360040" cy="1862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04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I</a:t>
            </a:r>
            <a:r>
              <a:rPr lang="en-US" altLang="zh-TW" dirty="0"/>
              <a:t>: TGCATA, J: </a:t>
            </a:r>
            <a:r>
              <a:rPr lang="en-US" altLang="zh-TW" dirty="0" smtClean="0"/>
              <a:t>ATCTGAT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表格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388550"/>
                  </p:ext>
                </p:extLst>
              </p:nvPr>
            </p:nvGraphicFramePr>
            <p:xfrm>
              <a:off x="467544" y="1412776"/>
              <a:ext cx="1368152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038"/>
                    <a:gridCol w="342038"/>
                    <a:gridCol w="342038"/>
                    <a:gridCol w="342038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表格 1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388550"/>
                  </p:ext>
                </p:extLst>
              </p:nvPr>
            </p:nvGraphicFramePr>
            <p:xfrm>
              <a:off x="467544" y="1412776"/>
              <a:ext cx="1368152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038"/>
                    <a:gridCol w="342038"/>
                    <a:gridCol w="342038"/>
                    <a:gridCol w="342038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786" t="-1667" r="-201786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1786" t="-1667" r="-101786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301786" t="-1667" r="-1786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表格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110740"/>
                  </p:ext>
                </p:extLst>
              </p:nvPr>
            </p:nvGraphicFramePr>
            <p:xfrm>
              <a:off x="2915815" y="1412776"/>
              <a:ext cx="1656185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1237"/>
                    <a:gridCol w="331237"/>
                    <a:gridCol w="331237"/>
                    <a:gridCol w="331237"/>
                    <a:gridCol w="331237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表格 2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7110740"/>
                  </p:ext>
                </p:extLst>
              </p:nvPr>
            </p:nvGraphicFramePr>
            <p:xfrm>
              <a:off x="2915815" y="1412776"/>
              <a:ext cx="1656185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1237"/>
                    <a:gridCol w="331237"/>
                    <a:gridCol w="331237"/>
                    <a:gridCol w="331237"/>
                    <a:gridCol w="331237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8182" t="-1667" r="-29636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1852" t="-1667" r="-201852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96364" t="-1667" r="-98182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03704" t="-1667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表格 2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4613353"/>
                  </p:ext>
                </p:extLst>
              </p:nvPr>
            </p:nvGraphicFramePr>
            <p:xfrm>
              <a:off x="5724128" y="1412776"/>
              <a:ext cx="1944216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4036"/>
                    <a:gridCol w="324036"/>
                    <a:gridCol w="324036"/>
                    <a:gridCol w="324036"/>
                    <a:gridCol w="324036"/>
                    <a:gridCol w="324036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表格 2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4613353"/>
                  </p:ext>
                </p:extLst>
              </p:nvPr>
            </p:nvGraphicFramePr>
            <p:xfrm>
              <a:off x="5724128" y="1412776"/>
              <a:ext cx="1944216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4036"/>
                    <a:gridCol w="324036"/>
                    <a:gridCol w="324036"/>
                    <a:gridCol w="324036"/>
                    <a:gridCol w="324036"/>
                    <a:gridCol w="324036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01887" t="-1667" r="-401887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198148" t="-1667" r="-294444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303774" t="-1667" r="-2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403774" t="-1667" r="-1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4"/>
                          <a:stretch>
                            <a:fillRect l="-503774" t="-1667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表格 2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2643684"/>
                  </p:ext>
                </p:extLst>
              </p:nvPr>
            </p:nvGraphicFramePr>
            <p:xfrm>
              <a:off x="847925" y="4077072"/>
              <a:ext cx="259228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48"/>
                    <a:gridCol w="432048"/>
                    <a:gridCol w="432048"/>
                    <a:gridCol w="432048"/>
                    <a:gridCol w="432048"/>
                    <a:gridCol w="432048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表格 2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2643684"/>
                  </p:ext>
                </p:extLst>
              </p:nvPr>
            </p:nvGraphicFramePr>
            <p:xfrm>
              <a:off x="847925" y="4077072"/>
              <a:ext cx="2592288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32048"/>
                    <a:gridCol w="432048"/>
                    <a:gridCol w="432048"/>
                    <a:gridCol w="432048"/>
                    <a:gridCol w="432048"/>
                    <a:gridCol w="432048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100000" t="-1667" r="-4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200000" t="-1667" r="-3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304286" t="-1667" r="-204286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398592" t="-1667" r="-101408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5"/>
                          <a:stretch>
                            <a:fillRect l="-498592" t="-1667" r="-1408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表格 2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2329267"/>
                  </p:ext>
                </p:extLst>
              </p:nvPr>
            </p:nvGraphicFramePr>
            <p:xfrm>
              <a:off x="4716016" y="4077072"/>
              <a:ext cx="244827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045"/>
                    <a:gridCol w="408045"/>
                    <a:gridCol w="408045"/>
                    <a:gridCol w="408045"/>
                    <a:gridCol w="408045"/>
                    <a:gridCol w="408045"/>
                  </a:tblGrid>
                  <a:tr h="2371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𝑪</m:t>
                                    </m:r>
                                  </m:e>
                                  <m:sub>
                                    <m:r>
                                      <a:rPr lang="en-US" altLang="zh-TW" b="1" i="1" smtClean="0">
                                        <a:latin typeface="Cambria Math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2371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表格 2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92329267"/>
                  </p:ext>
                </p:extLst>
              </p:nvPr>
            </p:nvGraphicFramePr>
            <p:xfrm>
              <a:off x="4716016" y="4077072"/>
              <a:ext cx="2448270" cy="25603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8045"/>
                    <a:gridCol w="408045"/>
                    <a:gridCol w="408045"/>
                    <a:gridCol w="408045"/>
                    <a:gridCol w="408045"/>
                    <a:gridCol w="408045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01493" t="-1667" r="-4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201493" t="-1667" r="-300000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306061" t="-1667" r="-204545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400000" t="-1667" r="-101493" b="-6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500000" t="-1667" r="-1493" b="-6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j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 smtClean="0"/>
                            <a:t>i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0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1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C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G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-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T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文字方塊 12"/>
          <p:cNvSpPr txBox="1"/>
          <p:nvPr/>
        </p:nvSpPr>
        <p:spPr>
          <a:xfrm>
            <a:off x="1907704" y="1628800"/>
            <a:ext cx="98777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b(2, </a:t>
            </a:r>
            <a:r>
              <a:rPr lang="en-US" altLang="zh-TW" dirty="0"/>
              <a:t>5</a:t>
            </a:r>
            <a:r>
              <a:rPr lang="en-US" altLang="zh-TW" dirty="0" smtClean="0"/>
              <a:t>) =</a:t>
            </a:r>
          </a:p>
          <a:p>
            <a:r>
              <a:rPr lang="en-US" altLang="zh-TW" dirty="0" smtClean="0"/>
              <a:t>(1, </a:t>
            </a:r>
            <a:r>
              <a:rPr lang="en-US" altLang="zh-TW" dirty="0"/>
              <a:t>2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b(1, </a:t>
            </a:r>
            <a:r>
              <a:rPr lang="en-US" altLang="zh-TW" dirty="0"/>
              <a:t>2</a:t>
            </a:r>
            <a:r>
              <a:rPr lang="en-US" altLang="zh-TW" dirty="0" smtClean="0"/>
              <a:t>) =</a:t>
            </a:r>
          </a:p>
          <a:p>
            <a:r>
              <a:rPr lang="en-US" altLang="zh-TW" dirty="0" smtClean="0"/>
              <a:t>(0, </a:t>
            </a:r>
            <a:r>
              <a:rPr lang="en-US" altLang="zh-TW" dirty="0"/>
              <a:t>0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4644008" y="1628799"/>
            <a:ext cx="9877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b(4, 6) =</a:t>
            </a:r>
          </a:p>
          <a:p>
            <a:r>
              <a:rPr lang="en-US" altLang="zh-TW" dirty="0" smtClean="0"/>
              <a:t>(3, </a:t>
            </a:r>
            <a:r>
              <a:rPr lang="en-US" altLang="zh-TW" dirty="0"/>
              <a:t>3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b(3, </a:t>
            </a:r>
            <a:r>
              <a:rPr lang="en-US" altLang="zh-TW" dirty="0"/>
              <a:t>3</a:t>
            </a:r>
            <a:r>
              <a:rPr lang="en-US" altLang="zh-TW" dirty="0" smtClean="0"/>
              <a:t>) =</a:t>
            </a:r>
          </a:p>
          <a:p>
            <a:r>
              <a:rPr lang="en-US" altLang="zh-TW" dirty="0" smtClean="0"/>
              <a:t>(1, 2)</a:t>
            </a:r>
          </a:p>
          <a:p>
            <a:r>
              <a:rPr lang="en-US" altLang="zh-TW" dirty="0" smtClean="0"/>
              <a:t>b(1, 2) =</a:t>
            </a:r>
          </a:p>
          <a:p>
            <a:r>
              <a:rPr lang="en-US" altLang="zh-TW" dirty="0" smtClean="0"/>
              <a:t>(0, 0)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7740352" y="1628799"/>
            <a:ext cx="9877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b(5, </a:t>
            </a:r>
            <a:r>
              <a:rPr lang="en-US" altLang="zh-TW" dirty="0"/>
              <a:t>7</a:t>
            </a:r>
            <a:r>
              <a:rPr lang="en-US" altLang="zh-TW" dirty="0" smtClean="0"/>
              <a:t>) =</a:t>
            </a:r>
          </a:p>
          <a:p>
            <a:r>
              <a:rPr lang="en-US" altLang="zh-TW" dirty="0" smtClean="0"/>
              <a:t>(4, 6)</a:t>
            </a:r>
          </a:p>
          <a:p>
            <a:r>
              <a:rPr lang="en-US" altLang="zh-TW" dirty="0" smtClean="0"/>
              <a:t>b(4, 6) =</a:t>
            </a:r>
          </a:p>
          <a:p>
            <a:r>
              <a:rPr lang="en-US" altLang="zh-TW" dirty="0" smtClean="0"/>
              <a:t>(3, </a:t>
            </a:r>
            <a:r>
              <a:rPr lang="en-US" altLang="zh-TW" dirty="0"/>
              <a:t>3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b(3, </a:t>
            </a:r>
            <a:r>
              <a:rPr lang="en-US" altLang="zh-TW" dirty="0"/>
              <a:t>3</a:t>
            </a:r>
            <a:r>
              <a:rPr lang="en-US" altLang="zh-TW" dirty="0" smtClean="0"/>
              <a:t>) =</a:t>
            </a:r>
          </a:p>
          <a:p>
            <a:r>
              <a:rPr lang="en-US" altLang="zh-TW" dirty="0" smtClean="0"/>
              <a:t>(1, 4)</a:t>
            </a:r>
          </a:p>
          <a:p>
            <a:r>
              <a:rPr lang="en-US" altLang="zh-TW" dirty="0" smtClean="0"/>
              <a:t>b(1, </a:t>
            </a:r>
            <a:r>
              <a:rPr lang="en-US" altLang="zh-TW" dirty="0"/>
              <a:t>4</a:t>
            </a:r>
            <a:r>
              <a:rPr lang="en-US" altLang="zh-TW" dirty="0" smtClean="0"/>
              <a:t>) =</a:t>
            </a:r>
          </a:p>
          <a:p>
            <a:r>
              <a:rPr lang="en-US" altLang="zh-TW" dirty="0" smtClean="0"/>
              <a:t>(0, 0)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3512221" y="4365104"/>
            <a:ext cx="9877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b(5, </a:t>
            </a:r>
            <a:r>
              <a:rPr lang="en-US" altLang="zh-TW" dirty="0"/>
              <a:t>7</a:t>
            </a:r>
            <a:r>
              <a:rPr lang="en-US" altLang="zh-TW" dirty="0" smtClean="0"/>
              <a:t>) =</a:t>
            </a:r>
          </a:p>
          <a:p>
            <a:r>
              <a:rPr lang="en-US" altLang="zh-TW" dirty="0" smtClean="0"/>
              <a:t>(4, 6)</a:t>
            </a:r>
          </a:p>
          <a:p>
            <a:r>
              <a:rPr lang="en-US" altLang="zh-TW" dirty="0" smtClean="0"/>
              <a:t>b(5, 4) =</a:t>
            </a:r>
          </a:p>
          <a:p>
            <a:r>
              <a:rPr lang="en-US" altLang="zh-TW" dirty="0" smtClean="0"/>
              <a:t>(3, </a:t>
            </a:r>
            <a:r>
              <a:rPr lang="en-US" altLang="zh-TW" dirty="0"/>
              <a:t>3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b(5, 2) =</a:t>
            </a:r>
          </a:p>
          <a:p>
            <a:r>
              <a:rPr lang="en-US" altLang="zh-TW" dirty="0" smtClean="0"/>
              <a:t>(4, </a:t>
            </a:r>
            <a:r>
              <a:rPr lang="en-US" altLang="zh-TW" dirty="0"/>
              <a:t>1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b(4, 1) =</a:t>
            </a:r>
          </a:p>
          <a:p>
            <a:r>
              <a:rPr lang="en-US" altLang="zh-TW" dirty="0" smtClean="0"/>
              <a:t>(0, 0)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7236294" y="4365104"/>
            <a:ext cx="15456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b(6, 6) = (5, </a:t>
            </a:r>
            <a:r>
              <a:rPr lang="en-US" altLang="zh-TW" dirty="0"/>
              <a:t>4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b(5, 4) = (3, </a:t>
            </a:r>
            <a:r>
              <a:rPr lang="en-US" altLang="zh-TW" dirty="0"/>
              <a:t>3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b(5, 2) = (4, </a:t>
            </a:r>
            <a:r>
              <a:rPr lang="en-US" altLang="zh-TW" dirty="0"/>
              <a:t>1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b(6, 1) = (0, 0)</a:t>
            </a:r>
          </a:p>
          <a:p>
            <a:r>
              <a:rPr lang="en-US" altLang="zh-TW" dirty="0" smtClean="0"/>
              <a:t>LCS = ACTA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862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and Space Complexity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Time complexity:</a:t>
            </a:r>
          </a:p>
          <a:p>
            <a:pPr lvl="1"/>
            <a:r>
              <a:rPr lang="zh-TW" altLang="en-US" dirty="0" smtClean="0"/>
              <a:t>建立</a:t>
            </a:r>
            <a:r>
              <a:rPr lang="en-US" altLang="zh-TW" dirty="0" smtClean="0"/>
              <a:t>Table X:</a:t>
            </a:r>
            <a:r>
              <a:rPr lang="zh-TW" altLang="en-US" dirty="0" smtClean="0"/>
              <a:t> </a:t>
            </a:r>
            <a:r>
              <a:rPr lang="en-US" altLang="zh-TW" dirty="0" smtClean="0"/>
              <a:t>O(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)</a:t>
            </a:r>
          </a:p>
          <a:p>
            <a:pPr lvl="1"/>
            <a:r>
              <a:rPr lang="zh-TW" altLang="en-US" dirty="0" smtClean="0"/>
              <a:t>更新</a:t>
            </a:r>
            <a:r>
              <a:rPr lang="en-US" altLang="zh-TW" dirty="0" smtClean="0"/>
              <a:t>Table Y: O(</a:t>
            </a:r>
            <a:r>
              <a:rPr lang="en-US" altLang="zh-TW" i="1" dirty="0" err="1" smtClean="0"/>
              <a:t>nL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r>
              <a:rPr lang="en-US" altLang="zh-TW" dirty="0" smtClean="0"/>
              <a:t>Space complexity:</a:t>
            </a:r>
          </a:p>
          <a:p>
            <a:pPr lvl="1"/>
            <a:r>
              <a:rPr lang="zh-TW" altLang="en-US" dirty="0"/>
              <a:t>建立兩個</a:t>
            </a:r>
            <a:r>
              <a:rPr lang="zh-TW" altLang="en-US" dirty="0" smtClean="0"/>
              <a:t>表格</a:t>
            </a:r>
            <a:r>
              <a:rPr lang="zh-TW" altLang="en-US" dirty="0"/>
              <a:t>都是</a:t>
            </a:r>
            <a:r>
              <a:rPr lang="en-US" altLang="zh-TW" dirty="0"/>
              <a:t>O(</a:t>
            </a:r>
            <a:r>
              <a:rPr lang="en-US" altLang="zh-TW" i="1" dirty="0"/>
              <a:t>n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3765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2319</Words>
  <Application>Microsoft Office PowerPoint</Application>
  <PresentationFormat>如螢幕大小 (4:3)</PresentationFormat>
  <Paragraphs>1190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An almost-linear time and linear space algorithm for the longest common subsequence problem</vt:lpstr>
      <vt:lpstr>Abstract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I: TGCATA, J: ATCTGAT</vt:lpstr>
      <vt:lpstr>Time and Space Complexity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almost-linear time and linear space algorithm for the longest common subsequence problem</dc:title>
  <dc:creator>Sena</dc:creator>
  <cp:lastModifiedBy>Sena</cp:lastModifiedBy>
  <cp:revision>24</cp:revision>
  <dcterms:created xsi:type="dcterms:W3CDTF">2014-05-05T14:51:08Z</dcterms:created>
  <dcterms:modified xsi:type="dcterms:W3CDTF">2014-05-05T19:23:46Z</dcterms:modified>
</cp:coreProperties>
</file>