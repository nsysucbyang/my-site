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1" d="100"/>
          <a:sy n="101" d="100"/>
        </p:scale>
        <p:origin x="-258"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6DC91B-EE53-42FB-8A6D-6C0B5EECAADD}" type="datetimeFigureOut">
              <a:rPr lang="zh-TW" altLang="en-US" smtClean="0"/>
              <a:pPr/>
              <a:t>2014/7/8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4295C5-7824-478B-B6DE-0521368BEE7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20F92D8-06CC-411D-8502-877E976B47A8}" type="datetime1">
              <a:rPr lang="zh-TW" altLang="en-US" smtClean="0"/>
              <a:pPr/>
              <a:t>2014/7/8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CCCC6C5-82EF-4FBC-80C7-727C338B00EE}" type="datetime1">
              <a:rPr lang="zh-TW" altLang="en-US" smtClean="0"/>
              <a:pPr/>
              <a:t>2014/7/8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1485A0FB-B169-4F41-81FD-4547185706FA}" type="datetime1">
              <a:rPr lang="zh-TW" altLang="en-US" smtClean="0"/>
              <a:pPr/>
              <a:t>2014/7/8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E279A4B5-4444-4C00-A5A7-36D82BF0CD1D}" type="datetime1">
              <a:rPr lang="zh-TW" altLang="en-US" smtClean="0"/>
              <a:pPr/>
              <a:t>2014/7/8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9B8C5B0-6EBF-4F01-AF12-93AB20CB6163}" type="datetime1">
              <a:rPr lang="zh-TW" altLang="en-US" smtClean="0"/>
              <a:pPr/>
              <a:t>2014/7/8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13440257-9B83-4D6E-97AE-44F3D967FCB6}" type="datetime1">
              <a:rPr lang="zh-TW" altLang="en-US" smtClean="0"/>
              <a:pPr/>
              <a:t>2014/7/8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464AEFB-A5F7-4BF0-9595-CF40A1E6A893}" type="datetime1">
              <a:rPr lang="zh-TW" altLang="en-US" smtClean="0"/>
              <a:pPr/>
              <a:t>2014/7/8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5B153B7-DE9A-45EB-9319-2A6DF608B787}" type="datetime1">
              <a:rPr lang="zh-TW" altLang="en-US" smtClean="0"/>
              <a:pPr/>
              <a:t>2014/7/8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3D5BFA7-C1EA-4FB3-8D6A-329070FC49D6}" type="datetime1">
              <a:rPr lang="zh-TW" altLang="en-US" smtClean="0"/>
              <a:pPr/>
              <a:t>2014/7/8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37679BF-7D62-4657-AE2E-99D81F82A9DB}" type="datetime1">
              <a:rPr lang="zh-TW" altLang="en-US" smtClean="0"/>
              <a:pPr/>
              <a:t>2014/7/8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46F887A-DFA9-4036-938F-5B0F29559DEF}" type="datetime1">
              <a:rPr lang="zh-TW" altLang="en-US" smtClean="0"/>
              <a:pPr/>
              <a:t>2014/7/8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7363BA-D2D0-4D4A-9658-DA8F61703791}" type="datetime1">
              <a:rPr lang="zh-TW" altLang="en-US" smtClean="0"/>
              <a:pPr/>
              <a:t>2014/7/8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An Efficient Parallel Algorithm for Longest Common Subsequence Problem on GPUs</a:t>
            </a:r>
            <a:endParaRPr lang="zh-TW" altLang="en-US" dirty="0"/>
          </a:p>
        </p:txBody>
      </p:sp>
      <p:sp>
        <p:nvSpPr>
          <p:cNvPr id="3" name="副標題 2"/>
          <p:cNvSpPr>
            <a:spLocks noGrp="1"/>
          </p:cNvSpPr>
          <p:nvPr>
            <p:ph type="subTitle" idx="1"/>
          </p:nvPr>
        </p:nvSpPr>
        <p:spPr/>
        <p:txBody>
          <a:bodyPr>
            <a:normAutofit fontScale="77500" lnSpcReduction="20000"/>
          </a:bodyPr>
          <a:lstStyle/>
          <a:p>
            <a:r>
              <a:rPr lang="en-US" altLang="zh-TW" dirty="0" err="1" smtClean="0"/>
              <a:t>Jiaoyun</a:t>
            </a:r>
            <a:r>
              <a:rPr lang="en-US" altLang="zh-TW" dirty="0" smtClean="0"/>
              <a:t> Yang, </a:t>
            </a:r>
            <a:r>
              <a:rPr lang="en-US" altLang="zh-TW" dirty="0" err="1" smtClean="0"/>
              <a:t>Yun</a:t>
            </a:r>
            <a:r>
              <a:rPr lang="en-US" altLang="zh-TW" dirty="0" smtClean="0"/>
              <a:t> </a:t>
            </a:r>
            <a:r>
              <a:rPr lang="en-US" altLang="zh-TW" dirty="0" err="1" smtClean="0"/>
              <a:t>Xu</a:t>
            </a:r>
            <a:r>
              <a:rPr lang="en-US" altLang="zh-TW" dirty="0" smtClean="0"/>
              <a:t>*, Yi Shang* </a:t>
            </a:r>
          </a:p>
          <a:p>
            <a:r>
              <a:rPr lang="en-US" altLang="zh-TW" dirty="0" smtClean="0"/>
              <a:t>Proceedings of the World Congress on Engineering 2010 </a:t>
            </a:r>
            <a:r>
              <a:rPr lang="en-US" altLang="zh-TW" dirty="0" err="1" smtClean="0"/>
              <a:t>Vol</a:t>
            </a:r>
            <a:r>
              <a:rPr lang="en-US" altLang="zh-TW" dirty="0" smtClean="0"/>
              <a:t> I</a:t>
            </a:r>
          </a:p>
          <a:p>
            <a:r>
              <a:rPr lang="en-US" altLang="zh-TW" dirty="0" smtClean="0"/>
              <a:t>WCE 2010, June 30 - July 2, 2010, London, U.K.</a:t>
            </a:r>
            <a:endParaRPr lang="zh-TW" altLang="en-US" dirty="0"/>
          </a:p>
        </p:txBody>
      </p:sp>
      <p:sp>
        <p:nvSpPr>
          <p:cNvPr id="4" name="文字方塊 3"/>
          <p:cNvSpPr txBox="1"/>
          <p:nvPr/>
        </p:nvSpPr>
        <p:spPr>
          <a:xfrm>
            <a:off x="6286512" y="5643578"/>
            <a:ext cx="2642455" cy="923330"/>
          </a:xfrm>
          <a:prstGeom prst="rect">
            <a:avLst/>
          </a:prstGeom>
          <a:noFill/>
        </p:spPr>
        <p:txBody>
          <a:bodyPr wrap="none" rtlCol="0">
            <a:spAutoFit/>
          </a:bodyPr>
          <a:lstStyle/>
          <a:p>
            <a:r>
              <a:rPr lang="en-US" altLang="zh-TW" dirty="0" smtClean="0">
                <a:latin typeface="Calibri" pitchFamily="34" charset="0"/>
              </a:rPr>
              <a:t>Presenter : De-</a:t>
            </a:r>
            <a:r>
              <a:rPr lang="en-US" altLang="zh-TW" dirty="0" err="1" smtClean="0">
                <a:latin typeface="Calibri" pitchFamily="34" charset="0"/>
              </a:rPr>
              <a:t>Sheng</a:t>
            </a:r>
            <a:r>
              <a:rPr lang="en-US" altLang="zh-TW" dirty="0" smtClean="0">
                <a:latin typeface="Calibri" pitchFamily="34" charset="0"/>
              </a:rPr>
              <a:t> </a:t>
            </a:r>
            <a:r>
              <a:rPr lang="en-US" altLang="zh-TW" dirty="0" err="1" smtClean="0">
                <a:latin typeface="Calibri" pitchFamily="34" charset="0"/>
              </a:rPr>
              <a:t>Jhan</a:t>
            </a:r>
            <a:endParaRPr lang="en-US" altLang="zh-TW" dirty="0" smtClean="0">
              <a:latin typeface="Calibri" pitchFamily="34" charset="0"/>
            </a:endParaRPr>
          </a:p>
          <a:p>
            <a:r>
              <a:rPr lang="en-US" altLang="zh-TW" dirty="0" smtClean="0">
                <a:latin typeface="Calibri" pitchFamily="34" charset="0"/>
              </a:rPr>
              <a:t>              2014/7/8</a:t>
            </a:r>
            <a:endParaRPr lang="zh-TW" altLang="en-US" dirty="0" smtClean="0">
              <a:latin typeface="Calibri" pitchFamily="34" charset="0"/>
            </a:endParaRPr>
          </a:p>
          <a:p>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1</a:t>
            </a:fld>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Abstract(1/2)</a:t>
            </a:r>
            <a:endParaRPr lang="zh-TW" altLang="en-US" dirty="0"/>
          </a:p>
        </p:txBody>
      </p:sp>
      <p:sp>
        <p:nvSpPr>
          <p:cNvPr id="3" name="內容版面配置區 2"/>
          <p:cNvSpPr>
            <a:spLocks noGrp="1"/>
          </p:cNvSpPr>
          <p:nvPr>
            <p:ph idx="1"/>
          </p:nvPr>
        </p:nvSpPr>
        <p:spPr>
          <a:xfrm>
            <a:off x="457200" y="1142984"/>
            <a:ext cx="8229600" cy="5715016"/>
          </a:xfrm>
        </p:spPr>
        <p:txBody>
          <a:bodyPr>
            <a:normAutofit fontScale="85000" lnSpcReduction="20000"/>
          </a:bodyPr>
          <a:lstStyle/>
          <a:p>
            <a:pPr>
              <a:buNone/>
            </a:pPr>
            <a:r>
              <a:rPr lang="en-US" altLang="zh-TW" i="1" dirty="0" smtClean="0"/>
              <a:t>            </a:t>
            </a:r>
            <a:r>
              <a:rPr lang="en-US" altLang="zh-TW" dirty="0" smtClean="0"/>
              <a:t>Abstract</a:t>
            </a:r>
            <a:r>
              <a:rPr lang="en-US" altLang="zh-TW" i="1" dirty="0" smtClean="0"/>
              <a:t>—Sequence alignment is an important </a:t>
            </a:r>
            <a:r>
              <a:rPr lang="en-US" altLang="zh-TW" dirty="0" smtClean="0"/>
              <a:t>problem in computational biology and finding the longest common subsequence (LCS) of multiple biological  sequences is an essential and effective technique in sequence alignment. A major computational approach for solving the LCS problem is dynamic programming. Several dynamic programming methods have been proposed to have reduced time and space complexity. As databases of biological sequences become larger, parallel algorithms become increasingly important to tackle large size problems. In the meantime, general-purpose computing on graphics processing units (GPGPU) has emerged as a promising technology for cost-effective high performance computing. In this paper, we develop an efficient parallel algorithm on GPUs for the LCS problem. </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r>
              <a:rPr lang="en-US" altLang="zh-TW" dirty="0" smtClean="0"/>
              <a:t>)</a:t>
            </a:r>
            <a:endParaRPr lang="zh-TW" altLang="en-US" dirty="0"/>
          </a:p>
        </p:txBody>
      </p:sp>
      <p:sp>
        <p:nvSpPr>
          <p:cNvPr id="3" name="內容版面配置區 2"/>
          <p:cNvSpPr>
            <a:spLocks noGrp="1"/>
          </p:cNvSpPr>
          <p:nvPr>
            <p:ph idx="1"/>
          </p:nvPr>
        </p:nvSpPr>
        <p:spPr/>
        <p:txBody>
          <a:bodyPr>
            <a:normAutofit fontScale="85000" lnSpcReduction="20000"/>
          </a:bodyPr>
          <a:lstStyle/>
          <a:p>
            <a:pPr>
              <a:buNone/>
            </a:pPr>
            <a:r>
              <a:rPr lang="en-US" altLang="zh-TW" dirty="0" smtClean="0"/>
              <a:t>     We propose a new technique that changes the data dependency in the score table used by dynamic programming algorithms to enable higher degrees of parallelism. The algorithm takes advantage of the large number of processing units and the unique memory-accessing properties of GPUs to achieve high performance. The algorithm was implemented on </a:t>
            </a:r>
            <a:r>
              <a:rPr lang="en-US" altLang="zh-TW" dirty="0" err="1" smtClean="0"/>
              <a:t>Nvidia</a:t>
            </a:r>
            <a:r>
              <a:rPr lang="en-US" altLang="zh-TW" dirty="0" smtClean="0"/>
              <a:t> 9800GT GPUs and tested on randomly generated sequences of different lengths. The experiment results show that the new algorithm is about 6 times faster on GPUs than on typical CPUs and is 3 times faster than an existing efficient parallel algorithm, the diagonal parallel algorithm.</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Introduction(1/5)</a:t>
            </a:r>
            <a:endParaRPr lang="zh-TW" altLang="en-US" dirty="0"/>
          </a:p>
        </p:txBody>
      </p:sp>
      <p:graphicFrame>
        <p:nvGraphicFramePr>
          <p:cNvPr id="4" name="表格 3"/>
          <p:cNvGraphicFramePr>
            <a:graphicFrameLocks noGrp="1"/>
          </p:cNvGraphicFramePr>
          <p:nvPr/>
        </p:nvGraphicFramePr>
        <p:xfrm>
          <a:off x="214282" y="1785926"/>
          <a:ext cx="5143536" cy="4214840"/>
        </p:xfrm>
        <a:graphic>
          <a:graphicData uri="http://schemas.openxmlformats.org/drawingml/2006/table">
            <a:tbl>
              <a:tblPr firstRow="1" bandRow="1">
                <a:tableStyleId>{5940675A-B579-460E-94D1-54222C63F5DA}</a:tableStyleId>
              </a:tblPr>
              <a:tblGrid>
                <a:gridCol w="642942"/>
                <a:gridCol w="642942"/>
                <a:gridCol w="642942"/>
                <a:gridCol w="642942"/>
                <a:gridCol w="642942"/>
                <a:gridCol w="642942"/>
                <a:gridCol w="642942"/>
                <a:gridCol w="642942"/>
              </a:tblGrid>
              <a:tr h="526855">
                <a:tc>
                  <a:txBody>
                    <a:bodyPr/>
                    <a:lstStyle/>
                    <a:p>
                      <a:pPr algn="ctr"/>
                      <a:endParaRPr lang="zh-TW" altLang="en-US" sz="2800" dirty="0"/>
                    </a:p>
                  </a:txBody>
                  <a:tcPr/>
                </a:tc>
                <a:tc>
                  <a:txBody>
                    <a:bodyPr/>
                    <a:lstStyle/>
                    <a:p>
                      <a:pPr algn="ctr"/>
                      <a:endParaRPr lang="zh-TW" altLang="en-US" sz="2800"/>
                    </a:p>
                  </a:txBody>
                  <a:tcPr/>
                </a:tc>
                <a:tc>
                  <a:txBody>
                    <a:bodyPr/>
                    <a:lstStyle/>
                    <a:p>
                      <a:pPr algn="ctr"/>
                      <a:r>
                        <a:rPr lang="en-US" altLang="zh-TW" sz="2800" dirty="0" smtClean="0"/>
                        <a:t>T</a:t>
                      </a:r>
                      <a:endParaRPr lang="zh-TW" altLang="en-US" sz="2800" dirty="0"/>
                    </a:p>
                  </a:txBody>
                  <a:tcPr/>
                </a:tc>
                <a:tc>
                  <a:txBody>
                    <a:bodyPr/>
                    <a:lstStyle/>
                    <a:p>
                      <a:pPr algn="ctr"/>
                      <a:r>
                        <a:rPr lang="en-US" altLang="zh-TW" sz="2800" dirty="0" smtClean="0"/>
                        <a:t>G</a:t>
                      </a:r>
                      <a:endParaRPr lang="zh-TW" altLang="en-US" sz="2800" dirty="0"/>
                    </a:p>
                  </a:txBody>
                  <a:tcPr/>
                </a:tc>
                <a:tc>
                  <a:txBody>
                    <a:bodyPr/>
                    <a:lstStyle/>
                    <a:p>
                      <a:pPr algn="ctr"/>
                      <a:r>
                        <a:rPr lang="en-US" altLang="zh-TW" sz="2800" dirty="0" smtClean="0"/>
                        <a:t>C</a:t>
                      </a:r>
                      <a:endParaRPr lang="zh-TW" altLang="en-US" sz="2800" dirty="0"/>
                    </a:p>
                  </a:txBody>
                  <a:tcPr/>
                </a:tc>
                <a:tc>
                  <a:txBody>
                    <a:bodyPr/>
                    <a:lstStyle/>
                    <a:p>
                      <a:pPr algn="ctr"/>
                      <a:r>
                        <a:rPr lang="en-US" altLang="zh-TW" sz="2800" dirty="0" smtClean="0"/>
                        <a:t>A</a:t>
                      </a:r>
                      <a:endParaRPr lang="zh-TW" altLang="en-US" sz="2800" dirty="0"/>
                    </a:p>
                  </a:txBody>
                  <a:tcPr/>
                </a:tc>
                <a:tc>
                  <a:txBody>
                    <a:bodyPr/>
                    <a:lstStyle/>
                    <a:p>
                      <a:pPr algn="ctr"/>
                      <a:r>
                        <a:rPr lang="en-US" altLang="zh-TW" sz="2800" dirty="0" smtClean="0"/>
                        <a:t>T</a:t>
                      </a:r>
                      <a:endParaRPr lang="zh-TW" altLang="en-US" sz="2800" dirty="0"/>
                    </a:p>
                  </a:txBody>
                  <a:tcPr/>
                </a:tc>
                <a:tc>
                  <a:txBody>
                    <a:bodyPr/>
                    <a:lstStyle/>
                    <a:p>
                      <a:pPr algn="ctr"/>
                      <a:r>
                        <a:rPr lang="en-US" altLang="zh-TW" sz="2800" dirty="0" smtClean="0"/>
                        <a:t>A</a:t>
                      </a:r>
                      <a:endParaRPr lang="zh-TW" altLang="en-US" sz="2800" dirty="0"/>
                    </a:p>
                  </a:txBody>
                  <a:tcPr/>
                </a:tc>
              </a:tr>
              <a:tr h="526855">
                <a:tc>
                  <a:txBody>
                    <a:bodyPr/>
                    <a:lstStyle/>
                    <a:p>
                      <a:pPr algn="ctr"/>
                      <a:endParaRPr lang="zh-TW" altLang="en-US" sz="280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1</a:t>
                      </a:r>
                      <a:endParaRPr lang="zh-TW" altLang="en-US" sz="2800" dirty="0"/>
                    </a:p>
                  </a:txBody>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2</a:t>
                      </a:r>
                      <a:endParaRPr lang="zh-TW" altLang="en-US" sz="2800" dirty="0"/>
                    </a:p>
                  </a:txBody>
                  <a:tcPr/>
                </a:tc>
              </a:tr>
              <a:tr h="526855">
                <a:tc>
                  <a:txBody>
                    <a:bodyPr/>
                    <a:lstStyle/>
                    <a:p>
                      <a:pPr algn="ctr"/>
                      <a:r>
                        <a:rPr lang="en-US" altLang="zh-TW" sz="2800" dirty="0" smtClean="0"/>
                        <a:t>C</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2</a:t>
                      </a:r>
                      <a:endParaRPr lang="zh-TW" altLang="en-US" sz="2800" dirty="0"/>
                    </a:p>
                  </a:txBody>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3</a:t>
                      </a:r>
                      <a:endParaRPr lang="zh-TW" altLang="en-US" sz="2800" dirty="0"/>
                    </a:p>
                  </a:txBody>
                  <a:tcPr/>
                </a:tc>
                <a:tc>
                  <a:txBody>
                    <a:bodyPr/>
                    <a:lstStyle/>
                    <a:p>
                      <a:pPr algn="ctr"/>
                      <a:r>
                        <a:rPr lang="en-US" altLang="zh-TW" sz="2800" dirty="0" smtClean="0"/>
                        <a:t>3</a:t>
                      </a:r>
                      <a:endParaRPr lang="zh-TW" altLang="en-US" sz="2800" dirty="0"/>
                    </a:p>
                  </a:txBody>
                  <a:tcPr/>
                </a:tc>
              </a:tr>
              <a:tr h="526855">
                <a:tc>
                  <a:txBody>
                    <a:bodyPr/>
                    <a:lstStyle/>
                    <a:p>
                      <a:pPr algn="ctr"/>
                      <a:r>
                        <a:rPr lang="en-US" altLang="zh-TW" sz="2800" dirty="0" smtClean="0"/>
                        <a:t>G</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3</a:t>
                      </a:r>
                      <a:endParaRPr lang="zh-TW" altLang="en-US" sz="2800" dirty="0"/>
                    </a:p>
                  </a:txBody>
                  <a:tcPr/>
                </a:tc>
                <a:tc>
                  <a:txBody>
                    <a:bodyPr/>
                    <a:lstStyle/>
                    <a:p>
                      <a:pPr algn="ctr"/>
                      <a:r>
                        <a:rPr lang="en-US" altLang="zh-TW" sz="2800" dirty="0" smtClean="0"/>
                        <a:t>3</a:t>
                      </a:r>
                      <a:endParaRPr lang="zh-TW" altLang="en-US" sz="2800" dirty="0"/>
                    </a:p>
                  </a:txBody>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1</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2</a:t>
                      </a:r>
                      <a:endParaRPr lang="zh-TW" altLang="en-US" sz="2800" dirty="0"/>
                    </a:p>
                  </a:txBody>
                  <a:tcPr/>
                </a:tc>
                <a:tc>
                  <a:txBody>
                    <a:bodyPr/>
                    <a:lstStyle/>
                    <a:p>
                      <a:pPr algn="ctr"/>
                      <a:r>
                        <a:rPr lang="en-US" altLang="zh-TW" sz="2800" dirty="0" smtClean="0"/>
                        <a:t>3</a:t>
                      </a:r>
                      <a:endParaRPr lang="zh-TW" altLang="en-US" sz="2800" dirty="0"/>
                    </a:p>
                  </a:txBody>
                  <a:tcPr/>
                </a:tc>
                <a:tc>
                  <a:txBody>
                    <a:bodyPr/>
                    <a:lstStyle/>
                    <a:p>
                      <a:pPr algn="ctr"/>
                      <a:r>
                        <a:rPr lang="en-US" altLang="zh-TW" sz="2800" dirty="0" smtClean="0"/>
                        <a:t>3</a:t>
                      </a:r>
                      <a:endParaRPr lang="zh-TW" altLang="en-US" sz="2800" dirty="0"/>
                    </a:p>
                  </a:txBody>
                  <a:tcPr/>
                </a:tc>
                <a:tc>
                  <a:txBody>
                    <a:bodyPr/>
                    <a:lstStyle/>
                    <a:p>
                      <a:pPr algn="ctr"/>
                      <a:r>
                        <a:rPr lang="en-US" altLang="zh-TW" sz="2800" dirty="0" smtClean="0"/>
                        <a:t>4</a:t>
                      </a:r>
                      <a:endParaRPr lang="zh-TW" altLang="en-US" sz="2800" dirty="0"/>
                    </a:p>
                  </a:txBody>
                  <a:tcPr/>
                </a:tc>
              </a:tr>
            </a:tbl>
          </a:graphicData>
        </a:graphic>
      </p:graphicFrame>
      <p:pic>
        <p:nvPicPr>
          <p:cNvPr id="1026" name="Picture 2"/>
          <p:cNvPicPr>
            <a:picLocks noChangeAspect="1" noChangeArrowheads="1"/>
          </p:cNvPicPr>
          <p:nvPr/>
        </p:nvPicPr>
        <p:blipFill>
          <a:blip r:embed="rId2"/>
          <a:srcRect/>
          <a:stretch>
            <a:fillRect/>
          </a:stretch>
        </p:blipFill>
        <p:spPr bwMode="auto">
          <a:xfrm>
            <a:off x="5429256" y="2000241"/>
            <a:ext cx="3714745" cy="1714511"/>
          </a:xfrm>
          <a:prstGeom prst="rect">
            <a:avLst/>
          </a:prstGeom>
          <a:noFill/>
          <a:ln w="9525">
            <a:noFill/>
            <a:miter lim="800000"/>
            <a:headEnd/>
            <a:tailEnd/>
          </a:ln>
          <a:effectLst/>
        </p:spPr>
      </p:pic>
      <p:sp>
        <p:nvSpPr>
          <p:cNvPr id="6" name="投影片編號版面配置區 5"/>
          <p:cNvSpPr>
            <a:spLocks noGrp="1"/>
          </p:cNvSpPr>
          <p:nvPr>
            <p:ph type="sldNum" sz="quarter" idx="12"/>
          </p:nvPr>
        </p:nvSpPr>
        <p:spPr/>
        <p:txBody>
          <a:bodyPr/>
          <a:lstStyle/>
          <a:p>
            <a:fld id="{73DA0BB7-265A-403C-9275-D587AB510EDC}"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Introduction(2/5</a:t>
            </a:r>
            <a:r>
              <a:rPr lang="en-US" altLang="zh-TW" dirty="0" smtClean="0"/>
              <a:t>)</a:t>
            </a:r>
            <a:endParaRPr lang="zh-TW" altLang="en-US" dirty="0"/>
          </a:p>
        </p:txBody>
      </p:sp>
      <p:graphicFrame>
        <p:nvGraphicFramePr>
          <p:cNvPr id="4" name="表格 3"/>
          <p:cNvGraphicFramePr>
            <a:graphicFrameLocks noGrp="1"/>
          </p:cNvGraphicFramePr>
          <p:nvPr/>
        </p:nvGraphicFramePr>
        <p:xfrm>
          <a:off x="214282" y="1785926"/>
          <a:ext cx="5143536" cy="4214840"/>
        </p:xfrm>
        <a:graphic>
          <a:graphicData uri="http://schemas.openxmlformats.org/drawingml/2006/table">
            <a:tbl>
              <a:tblPr firstRow="1" bandRow="1">
                <a:tableStyleId>{5940675A-B579-460E-94D1-54222C63F5DA}</a:tableStyleId>
              </a:tblPr>
              <a:tblGrid>
                <a:gridCol w="642942"/>
                <a:gridCol w="642942"/>
                <a:gridCol w="642942"/>
                <a:gridCol w="642942"/>
                <a:gridCol w="642942"/>
                <a:gridCol w="642942"/>
                <a:gridCol w="642942"/>
                <a:gridCol w="642942"/>
              </a:tblGrid>
              <a:tr h="526855">
                <a:tc>
                  <a:txBody>
                    <a:bodyPr/>
                    <a:lstStyle/>
                    <a:p>
                      <a:pPr algn="ctr"/>
                      <a:endParaRPr lang="zh-TW" altLang="en-US" sz="2800" dirty="0"/>
                    </a:p>
                  </a:txBody>
                  <a:tcPr/>
                </a:tc>
                <a:tc>
                  <a:txBody>
                    <a:bodyPr/>
                    <a:lstStyle/>
                    <a:p>
                      <a:pPr algn="ctr"/>
                      <a:endParaRPr lang="zh-TW" altLang="en-US" sz="2800" dirty="0"/>
                    </a:p>
                  </a:txBody>
                  <a:tcPr>
                    <a:lnB w="12700" cap="flat" cmpd="sng" algn="ctr">
                      <a:solidFill>
                        <a:schemeClr val="tx1"/>
                      </a:solidFill>
                      <a:prstDash val="solid"/>
                      <a:round/>
                      <a:headEnd type="none" w="med" len="med"/>
                      <a:tailEnd type="none" w="med" len="med"/>
                    </a:lnB>
                  </a:tcPr>
                </a:tc>
                <a:tc>
                  <a:txBody>
                    <a:bodyPr/>
                    <a:lstStyle/>
                    <a:p>
                      <a:pPr algn="ctr"/>
                      <a:r>
                        <a:rPr lang="en-US" altLang="zh-TW" sz="2800" dirty="0" smtClean="0"/>
                        <a:t>T</a:t>
                      </a:r>
                      <a:endParaRPr lang="zh-TW" altLang="en-US" sz="2800" dirty="0"/>
                    </a:p>
                  </a:txBody>
                  <a:tcPr>
                    <a:lnB w="12700" cap="flat" cmpd="sng" algn="ctr">
                      <a:solidFill>
                        <a:schemeClr val="tx1"/>
                      </a:solidFill>
                      <a:prstDash val="solid"/>
                      <a:round/>
                      <a:headEnd type="none" w="med" len="med"/>
                      <a:tailEnd type="none" w="med" len="med"/>
                    </a:lnB>
                  </a:tcPr>
                </a:tc>
                <a:tc>
                  <a:txBody>
                    <a:bodyPr/>
                    <a:lstStyle/>
                    <a:p>
                      <a:pPr algn="ctr"/>
                      <a:r>
                        <a:rPr lang="en-US" altLang="zh-TW" sz="2800" dirty="0" smtClean="0"/>
                        <a:t>G</a:t>
                      </a:r>
                      <a:endParaRPr lang="zh-TW" altLang="en-US" sz="2800" dirty="0"/>
                    </a:p>
                  </a:txBody>
                  <a:tcPr/>
                </a:tc>
                <a:tc>
                  <a:txBody>
                    <a:bodyPr/>
                    <a:lstStyle/>
                    <a:p>
                      <a:pPr algn="ctr"/>
                      <a:r>
                        <a:rPr lang="en-US" altLang="zh-TW" sz="2800" dirty="0" smtClean="0"/>
                        <a:t>C</a:t>
                      </a:r>
                      <a:endParaRPr lang="zh-TW" altLang="en-US" sz="2800" dirty="0"/>
                    </a:p>
                  </a:txBody>
                  <a:tcPr/>
                </a:tc>
                <a:tc>
                  <a:txBody>
                    <a:bodyPr/>
                    <a:lstStyle/>
                    <a:p>
                      <a:pPr algn="ctr"/>
                      <a:r>
                        <a:rPr lang="en-US" altLang="zh-TW" sz="2800" dirty="0" smtClean="0"/>
                        <a:t>A</a:t>
                      </a:r>
                      <a:endParaRPr lang="zh-TW" altLang="en-US" sz="2800" dirty="0"/>
                    </a:p>
                  </a:txBody>
                  <a:tcPr/>
                </a:tc>
                <a:tc>
                  <a:txBody>
                    <a:bodyPr/>
                    <a:lstStyle/>
                    <a:p>
                      <a:pPr algn="ctr"/>
                      <a:r>
                        <a:rPr lang="en-US" altLang="zh-TW" sz="2800" dirty="0" smtClean="0"/>
                        <a:t>T</a:t>
                      </a:r>
                      <a:endParaRPr lang="zh-TW" altLang="en-US" sz="2800" dirty="0"/>
                    </a:p>
                  </a:txBody>
                  <a:tcPr/>
                </a:tc>
                <a:tc>
                  <a:txBody>
                    <a:bodyPr/>
                    <a:lstStyle/>
                    <a:p>
                      <a:pPr algn="ctr"/>
                      <a:r>
                        <a:rPr lang="en-US" altLang="zh-TW" sz="2800" dirty="0" smtClean="0"/>
                        <a:t>A</a:t>
                      </a:r>
                      <a:endParaRPr lang="zh-TW" altLang="en-US" sz="2800" dirty="0"/>
                    </a:p>
                  </a:txBody>
                  <a:tcPr/>
                </a:tc>
              </a:tr>
              <a:tr h="526855">
                <a:tc>
                  <a:txBody>
                    <a:bodyPr/>
                    <a:lstStyle/>
                    <a:p>
                      <a:pPr algn="ctr"/>
                      <a:endParaRPr lang="zh-TW" altLang="en-US" sz="2800"/>
                    </a:p>
                  </a:txBody>
                  <a:tcPr/>
                </a:tc>
                <a:tc>
                  <a:txBody>
                    <a:bodyPr/>
                    <a:lstStyle/>
                    <a:p>
                      <a:pPr algn="ctr"/>
                      <a:r>
                        <a:rPr lang="en-US" altLang="zh-TW" sz="2800" dirty="0" smtClean="0"/>
                        <a:t>0</a:t>
                      </a:r>
                      <a:endParaRPr lang="zh-TW" altLang="en-US" sz="2800" dirty="0"/>
                    </a:p>
                  </a:txBody>
                  <a:tcPr>
                    <a:lnT w="127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pPr algn="ctr"/>
                      <a:r>
                        <a:rPr lang="en-US" altLang="zh-TW" sz="2800" dirty="0" smtClean="0"/>
                        <a:t>0</a:t>
                      </a:r>
                      <a:endParaRPr lang="zh-TW" altLang="en-US" sz="2800" dirty="0"/>
                    </a:p>
                  </a:txBody>
                  <a:tcPr>
                    <a:lnT w="127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r>
                        <a:rPr lang="en-US" altLang="zh-TW" sz="2800" dirty="0" smtClean="0"/>
                        <a:t>0</a:t>
                      </a:r>
                      <a:endParaRPr lang="zh-TW" altLang="en-US" sz="2800" dirty="0"/>
                    </a:p>
                  </a:txBody>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solidFill>
                      <a:schemeClr val="accent6">
                        <a:lumMod val="60000"/>
                        <a:lumOff val="40000"/>
                      </a:schemeClr>
                    </a:solidFill>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C</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G</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bl>
          </a:graphicData>
        </a:graphic>
      </p:graphicFrame>
      <p:pic>
        <p:nvPicPr>
          <p:cNvPr id="5" name="Picture 2"/>
          <p:cNvPicPr>
            <a:picLocks noChangeAspect="1" noChangeArrowheads="1"/>
          </p:cNvPicPr>
          <p:nvPr/>
        </p:nvPicPr>
        <p:blipFill>
          <a:blip r:embed="rId2"/>
          <a:srcRect/>
          <a:stretch>
            <a:fillRect/>
          </a:stretch>
        </p:blipFill>
        <p:spPr bwMode="auto">
          <a:xfrm>
            <a:off x="5429256" y="2000241"/>
            <a:ext cx="3714745" cy="1714511"/>
          </a:xfrm>
          <a:prstGeom prst="rect">
            <a:avLst/>
          </a:prstGeom>
          <a:noFill/>
          <a:ln w="9525">
            <a:noFill/>
            <a:miter lim="800000"/>
            <a:headEnd/>
            <a:tailEnd/>
          </a:ln>
          <a:effectLst/>
        </p:spPr>
      </p:pic>
      <p:sp>
        <p:nvSpPr>
          <p:cNvPr id="6" name="矩形 5"/>
          <p:cNvSpPr/>
          <p:nvPr/>
        </p:nvSpPr>
        <p:spPr>
          <a:xfrm>
            <a:off x="1500166" y="2857496"/>
            <a:ext cx="636544" cy="4828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13"/>
          <p:cNvSpPr>
            <a:spLocks noGrp="1"/>
          </p:cNvSpPr>
          <p:nvPr>
            <p:ph type="sldNum" sz="quarter" idx="12"/>
          </p:nvPr>
        </p:nvSpPr>
        <p:spPr/>
        <p:txBody>
          <a:bodyPr/>
          <a:lstStyle/>
          <a:p>
            <a:fld id="{73DA0BB7-265A-403C-9275-D587AB510EDC}"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Introduction(3/5</a:t>
            </a:r>
            <a:r>
              <a:rPr lang="en-US" altLang="zh-TW" dirty="0" smtClean="0"/>
              <a:t>)</a:t>
            </a:r>
            <a:endParaRPr lang="zh-TW" altLang="en-US" dirty="0"/>
          </a:p>
        </p:txBody>
      </p:sp>
      <p:graphicFrame>
        <p:nvGraphicFramePr>
          <p:cNvPr id="4" name="表格 3"/>
          <p:cNvGraphicFramePr>
            <a:graphicFrameLocks noGrp="1"/>
          </p:cNvGraphicFramePr>
          <p:nvPr/>
        </p:nvGraphicFramePr>
        <p:xfrm>
          <a:off x="214282" y="1785926"/>
          <a:ext cx="5143536" cy="4214840"/>
        </p:xfrm>
        <a:graphic>
          <a:graphicData uri="http://schemas.openxmlformats.org/drawingml/2006/table">
            <a:tbl>
              <a:tblPr firstRow="1" bandRow="1">
                <a:tableStyleId>{5940675A-B579-460E-94D1-54222C63F5DA}</a:tableStyleId>
              </a:tblPr>
              <a:tblGrid>
                <a:gridCol w="642942"/>
                <a:gridCol w="642942"/>
                <a:gridCol w="642942"/>
                <a:gridCol w="642942"/>
                <a:gridCol w="642942"/>
                <a:gridCol w="642942"/>
                <a:gridCol w="642942"/>
                <a:gridCol w="642942"/>
              </a:tblGrid>
              <a:tr h="526855">
                <a:tc>
                  <a:txBody>
                    <a:bodyPr/>
                    <a:lstStyle/>
                    <a:p>
                      <a:pPr algn="ctr"/>
                      <a:endParaRPr lang="zh-TW" altLang="en-US" sz="2800" dirty="0"/>
                    </a:p>
                  </a:txBody>
                  <a:tcPr/>
                </a:tc>
                <a:tc>
                  <a:txBody>
                    <a:bodyPr/>
                    <a:lstStyle/>
                    <a:p>
                      <a:pPr algn="ctr"/>
                      <a:endParaRPr lang="zh-TW" altLang="en-US" sz="2800" dirty="0"/>
                    </a:p>
                  </a:txBody>
                  <a:tcPr>
                    <a:lnB w="12700" cap="flat" cmpd="sng" algn="ctr">
                      <a:solidFill>
                        <a:schemeClr val="tx1"/>
                      </a:solidFill>
                      <a:prstDash val="solid"/>
                      <a:round/>
                      <a:headEnd type="none" w="med" len="med"/>
                      <a:tailEnd type="none" w="med" len="med"/>
                    </a:lnB>
                  </a:tcPr>
                </a:tc>
                <a:tc>
                  <a:txBody>
                    <a:bodyPr/>
                    <a:lstStyle/>
                    <a:p>
                      <a:pPr algn="ctr"/>
                      <a:r>
                        <a:rPr lang="en-US" altLang="zh-TW" sz="2800" dirty="0" smtClean="0"/>
                        <a:t>T</a:t>
                      </a:r>
                      <a:endParaRPr lang="zh-TW" altLang="en-US" sz="2800" dirty="0"/>
                    </a:p>
                  </a:txBody>
                  <a:tcPr>
                    <a:lnB w="12700" cap="flat" cmpd="sng" algn="ctr">
                      <a:solidFill>
                        <a:schemeClr val="tx1"/>
                      </a:solidFill>
                      <a:prstDash val="solid"/>
                      <a:round/>
                      <a:headEnd type="none" w="med" len="med"/>
                      <a:tailEnd type="none" w="med" len="med"/>
                    </a:lnB>
                  </a:tcPr>
                </a:tc>
                <a:tc>
                  <a:txBody>
                    <a:bodyPr/>
                    <a:lstStyle/>
                    <a:p>
                      <a:pPr algn="ctr"/>
                      <a:r>
                        <a:rPr lang="en-US" altLang="zh-TW" sz="2800" dirty="0" smtClean="0"/>
                        <a:t>G</a:t>
                      </a:r>
                      <a:endParaRPr lang="zh-TW" altLang="en-US" sz="2800" dirty="0"/>
                    </a:p>
                  </a:txBody>
                  <a:tcPr/>
                </a:tc>
                <a:tc>
                  <a:txBody>
                    <a:bodyPr/>
                    <a:lstStyle/>
                    <a:p>
                      <a:pPr algn="ctr"/>
                      <a:r>
                        <a:rPr lang="en-US" altLang="zh-TW" sz="2800" dirty="0" smtClean="0"/>
                        <a:t>C</a:t>
                      </a:r>
                      <a:endParaRPr lang="zh-TW" altLang="en-US" sz="2800" dirty="0"/>
                    </a:p>
                  </a:txBody>
                  <a:tcPr/>
                </a:tc>
                <a:tc>
                  <a:txBody>
                    <a:bodyPr/>
                    <a:lstStyle/>
                    <a:p>
                      <a:pPr algn="ctr"/>
                      <a:r>
                        <a:rPr lang="en-US" altLang="zh-TW" sz="2800" dirty="0" smtClean="0"/>
                        <a:t>A</a:t>
                      </a:r>
                      <a:endParaRPr lang="zh-TW" altLang="en-US" sz="2800" dirty="0"/>
                    </a:p>
                  </a:txBody>
                  <a:tcPr/>
                </a:tc>
                <a:tc>
                  <a:txBody>
                    <a:bodyPr/>
                    <a:lstStyle/>
                    <a:p>
                      <a:pPr algn="ctr"/>
                      <a:r>
                        <a:rPr lang="en-US" altLang="zh-TW" sz="2800" dirty="0" smtClean="0"/>
                        <a:t>T</a:t>
                      </a:r>
                      <a:endParaRPr lang="zh-TW" altLang="en-US" sz="2800" dirty="0"/>
                    </a:p>
                  </a:txBody>
                  <a:tcPr/>
                </a:tc>
                <a:tc>
                  <a:txBody>
                    <a:bodyPr/>
                    <a:lstStyle/>
                    <a:p>
                      <a:pPr algn="ctr"/>
                      <a:r>
                        <a:rPr lang="en-US" altLang="zh-TW" sz="2800" dirty="0" smtClean="0"/>
                        <a:t>A</a:t>
                      </a:r>
                      <a:endParaRPr lang="zh-TW" altLang="en-US" sz="2800" dirty="0"/>
                    </a:p>
                  </a:txBody>
                  <a:tcPr/>
                </a:tc>
              </a:tr>
              <a:tr h="526855">
                <a:tc>
                  <a:txBody>
                    <a:bodyPr/>
                    <a:lstStyle/>
                    <a:p>
                      <a:pPr algn="ctr"/>
                      <a:endParaRPr lang="zh-TW" altLang="en-US" sz="2800"/>
                    </a:p>
                  </a:txBody>
                  <a:tcPr/>
                </a:tc>
                <a:tc>
                  <a:txBody>
                    <a:bodyPr/>
                    <a:lstStyle/>
                    <a:p>
                      <a:pPr algn="ctr"/>
                      <a:r>
                        <a:rPr lang="en-US" altLang="zh-TW" sz="2800" dirty="0" smtClean="0"/>
                        <a:t>0</a:t>
                      </a:r>
                      <a:endParaRPr lang="zh-TW" altLang="en-US" sz="2800" dirty="0"/>
                    </a:p>
                  </a:txBody>
                  <a:tcPr>
                    <a:lnT w="127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pPr algn="ctr"/>
                      <a:r>
                        <a:rPr lang="en-US" altLang="zh-TW" sz="2800" dirty="0" smtClean="0"/>
                        <a:t>0</a:t>
                      </a:r>
                      <a:endParaRPr lang="zh-TW" altLang="en-US" sz="2800" dirty="0"/>
                    </a:p>
                  </a:txBody>
                  <a:tcPr>
                    <a:lnT w="127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pPr algn="ctr"/>
                      <a:r>
                        <a:rPr lang="en-US" altLang="zh-TW" sz="2800" dirty="0" smtClean="0"/>
                        <a:t>0</a:t>
                      </a:r>
                      <a:endParaRPr lang="zh-TW" altLang="en-US" sz="2800" dirty="0"/>
                    </a:p>
                  </a:txBody>
                  <a:tcPr>
                    <a:solidFill>
                      <a:schemeClr val="accent6">
                        <a:lumMod val="60000"/>
                        <a:lumOff val="40000"/>
                      </a:schemeClr>
                    </a:solidFill>
                  </a:tcPr>
                </a:tc>
                <a:tc>
                  <a:txBody>
                    <a:bodyPr/>
                    <a:lstStyle/>
                    <a:p>
                      <a:pPr algn="ctr"/>
                      <a:r>
                        <a:rPr lang="en-US" altLang="zh-TW" sz="2800" dirty="0" smtClean="0"/>
                        <a:t>0</a:t>
                      </a:r>
                      <a:endParaRPr lang="zh-TW" altLang="en-US" sz="2800" dirty="0"/>
                    </a:p>
                  </a:txBody>
                  <a:tcPr>
                    <a:solidFill>
                      <a:schemeClr val="accent6">
                        <a:lumMod val="60000"/>
                        <a:lumOff val="40000"/>
                      </a:schemeClr>
                    </a:solidFill>
                  </a:tcPr>
                </a:tc>
                <a:tc>
                  <a:txBody>
                    <a:bodyPr/>
                    <a:lstStyle/>
                    <a:p>
                      <a:pPr algn="ctr"/>
                      <a:r>
                        <a:rPr lang="en-US" altLang="zh-TW" sz="2800" dirty="0" smtClean="0"/>
                        <a:t>0</a:t>
                      </a:r>
                      <a:endParaRPr lang="zh-TW" altLang="en-US" sz="2800" dirty="0"/>
                    </a:p>
                  </a:txBody>
                  <a:tcPr>
                    <a:solidFill>
                      <a:schemeClr val="accent6">
                        <a:lumMod val="60000"/>
                        <a:lumOff val="40000"/>
                      </a:schemeClr>
                    </a:solidFill>
                  </a:tcPr>
                </a:tc>
                <a:tc>
                  <a:txBody>
                    <a:bodyPr/>
                    <a:lstStyle/>
                    <a:p>
                      <a:pPr algn="ctr"/>
                      <a:r>
                        <a:rPr lang="en-US" altLang="zh-TW" sz="2800" dirty="0" smtClean="0"/>
                        <a:t>0</a:t>
                      </a:r>
                      <a:endParaRPr lang="zh-TW" altLang="en-US" sz="2800" dirty="0"/>
                    </a:p>
                  </a:txBody>
                  <a:tcPr>
                    <a:solidFill>
                      <a:schemeClr val="accent6">
                        <a:lumMod val="60000"/>
                        <a:lumOff val="40000"/>
                      </a:schemeClr>
                    </a:solidFill>
                  </a:tcPr>
                </a:tc>
                <a:tc>
                  <a:txBody>
                    <a:bodyPr/>
                    <a:lstStyle/>
                    <a:p>
                      <a:pPr algn="ctr"/>
                      <a:r>
                        <a:rPr lang="en-US" altLang="zh-TW" sz="2800" dirty="0" smtClean="0"/>
                        <a:t>0</a:t>
                      </a:r>
                      <a:endParaRPr lang="zh-TW" altLang="en-US" sz="2800" dirty="0"/>
                    </a:p>
                  </a:txBody>
                  <a:tcPr>
                    <a:solidFill>
                      <a:schemeClr val="accent6">
                        <a:lumMod val="60000"/>
                        <a:lumOff val="40000"/>
                      </a:schemeClr>
                    </a:solidFill>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C</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G</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bl>
          </a:graphicData>
        </a:graphic>
      </p:graphicFrame>
      <p:pic>
        <p:nvPicPr>
          <p:cNvPr id="5" name="Picture 2"/>
          <p:cNvPicPr>
            <a:picLocks noChangeAspect="1" noChangeArrowheads="1"/>
          </p:cNvPicPr>
          <p:nvPr/>
        </p:nvPicPr>
        <p:blipFill>
          <a:blip r:embed="rId2"/>
          <a:srcRect/>
          <a:stretch>
            <a:fillRect/>
          </a:stretch>
        </p:blipFill>
        <p:spPr bwMode="auto">
          <a:xfrm>
            <a:off x="5429256" y="2000241"/>
            <a:ext cx="3714745" cy="1714511"/>
          </a:xfrm>
          <a:prstGeom prst="rect">
            <a:avLst/>
          </a:prstGeom>
          <a:noFill/>
          <a:ln w="9525">
            <a:noFill/>
            <a:miter lim="800000"/>
            <a:headEnd/>
            <a:tailEnd/>
          </a:ln>
          <a:effectLst/>
        </p:spPr>
      </p:pic>
      <p:sp>
        <p:nvSpPr>
          <p:cNvPr id="6" name="矩形 5"/>
          <p:cNvSpPr/>
          <p:nvPr/>
        </p:nvSpPr>
        <p:spPr>
          <a:xfrm>
            <a:off x="1500166" y="2857496"/>
            <a:ext cx="3857652" cy="4828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Introduction(4/5</a:t>
            </a:r>
            <a:r>
              <a:rPr lang="en-US" altLang="zh-TW" dirty="0" smtClean="0"/>
              <a:t>)</a:t>
            </a:r>
            <a:endParaRPr lang="zh-TW" altLang="en-US" dirty="0"/>
          </a:p>
        </p:txBody>
      </p:sp>
      <p:graphicFrame>
        <p:nvGraphicFramePr>
          <p:cNvPr id="4" name="表格 3"/>
          <p:cNvGraphicFramePr>
            <a:graphicFrameLocks noGrp="1"/>
          </p:cNvGraphicFramePr>
          <p:nvPr/>
        </p:nvGraphicFramePr>
        <p:xfrm>
          <a:off x="214281" y="1714488"/>
          <a:ext cx="5143536" cy="4214840"/>
        </p:xfrm>
        <a:graphic>
          <a:graphicData uri="http://schemas.openxmlformats.org/drawingml/2006/table">
            <a:tbl>
              <a:tblPr firstRow="1" bandRow="1">
                <a:tableStyleId>{5940675A-B579-460E-94D1-54222C63F5DA}</a:tableStyleId>
              </a:tblPr>
              <a:tblGrid>
                <a:gridCol w="642942"/>
                <a:gridCol w="642942"/>
                <a:gridCol w="642942"/>
                <a:gridCol w="642942"/>
                <a:gridCol w="642942"/>
                <a:gridCol w="642942"/>
                <a:gridCol w="642942"/>
                <a:gridCol w="642942"/>
              </a:tblGrid>
              <a:tr h="526855">
                <a:tc>
                  <a:txBody>
                    <a:bodyPr/>
                    <a:lstStyle/>
                    <a:p>
                      <a:pPr algn="ctr"/>
                      <a:endParaRPr lang="zh-TW" altLang="en-US" sz="2800" dirty="0"/>
                    </a:p>
                  </a:txBody>
                  <a:tcPr/>
                </a:tc>
                <a:tc>
                  <a:txBody>
                    <a:bodyPr/>
                    <a:lstStyle/>
                    <a:p>
                      <a:pPr algn="ctr"/>
                      <a:endParaRPr lang="zh-TW" altLang="en-US" sz="2800" dirty="0"/>
                    </a:p>
                  </a:txBody>
                  <a:tcPr>
                    <a:lnB w="12700" cap="flat" cmpd="sng" algn="ctr">
                      <a:solidFill>
                        <a:schemeClr val="tx1"/>
                      </a:solidFill>
                      <a:prstDash val="solid"/>
                      <a:round/>
                      <a:headEnd type="none" w="med" len="med"/>
                      <a:tailEnd type="none" w="med" len="med"/>
                    </a:lnB>
                  </a:tcPr>
                </a:tc>
                <a:tc>
                  <a:txBody>
                    <a:bodyPr/>
                    <a:lstStyle/>
                    <a:p>
                      <a:pPr algn="ctr"/>
                      <a:r>
                        <a:rPr lang="en-US" altLang="zh-TW" sz="2800" dirty="0" smtClean="0"/>
                        <a:t>T</a:t>
                      </a:r>
                      <a:endParaRPr lang="zh-TW" altLang="en-US" sz="2800" dirty="0"/>
                    </a:p>
                  </a:txBody>
                  <a:tcPr>
                    <a:lnB w="12700" cap="flat" cmpd="sng" algn="ctr">
                      <a:solidFill>
                        <a:schemeClr val="tx1"/>
                      </a:solidFill>
                      <a:prstDash val="solid"/>
                      <a:round/>
                      <a:headEnd type="none" w="med" len="med"/>
                      <a:tailEnd type="none" w="med" len="med"/>
                    </a:lnB>
                  </a:tcPr>
                </a:tc>
                <a:tc>
                  <a:txBody>
                    <a:bodyPr/>
                    <a:lstStyle/>
                    <a:p>
                      <a:pPr algn="ctr"/>
                      <a:r>
                        <a:rPr lang="en-US" altLang="zh-TW" sz="2800" dirty="0" smtClean="0"/>
                        <a:t>G</a:t>
                      </a:r>
                      <a:endParaRPr lang="zh-TW" altLang="en-US" sz="2800" dirty="0"/>
                    </a:p>
                  </a:txBody>
                  <a:tcPr/>
                </a:tc>
                <a:tc>
                  <a:txBody>
                    <a:bodyPr/>
                    <a:lstStyle/>
                    <a:p>
                      <a:pPr algn="ctr"/>
                      <a:r>
                        <a:rPr lang="en-US" altLang="zh-TW" sz="2800" dirty="0" smtClean="0"/>
                        <a:t>C</a:t>
                      </a:r>
                      <a:endParaRPr lang="zh-TW" altLang="en-US" sz="2800" dirty="0"/>
                    </a:p>
                  </a:txBody>
                  <a:tcPr/>
                </a:tc>
                <a:tc>
                  <a:txBody>
                    <a:bodyPr/>
                    <a:lstStyle/>
                    <a:p>
                      <a:pPr algn="ctr"/>
                      <a:r>
                        <a:rPr lang="en-US" altLang="zh-TW" sz="2800" dirty="0" smtClean="0"/>
                        <a:t>A</a:t>
                      </a:r>
                      <a:endParaRPr lang="zh-TW" altLang="en-US" sz="2800" dirty="0"/>
                    </a:p>
                  </a:txBody>
                  <a:tcPr/>
                </a:tc>
                <a:tc>
                  <a:txBody>
                    <a:bodyPr/>
                    <a:lstStyle/>
                    <a:p>
                      <a:pPr algn="ctr"/>
                      <a:r>
                        <a:rPr lang="en-US" altLang="zh-TW" sz="2800" dirty="0" smtClean="0"/>
                        <a:t>T</a:t>
                      </a:r>
                      <a:endParaRPr lang="zh-TW" altLang="en-US" sz="2800" dirty="0"/>
                    </a:p>
                  </a:txBody>
                  <a:tcPr/>
                </a:tc>
                <a:tc>
                  <a:txBody>
                    <a:bodyPr/>
                    <a:lstStyle/>
                    <a:p>
                      <a:pPr algn="ctr"/>
                      <a:r>
                        <a:rPr lang="en-US" altLang="zh-TW" sz="2800" dirty="0" smtClean="0"/>
                        <a:t>A</a:t>
                      </a:r>
                      <a:endParaRPr lang="zh-TW" altLang="en-US" sz="2800" dirty="0"/>
                    </a:p>
                  </a:txBody>
                  <a:tcPr/>
                </a:tc>
              </a:tr>
              <a:tr h="526855">
                <a:tc>
                  <a:txBody>
                    <a:bodyPr/>
                    <a:lstStyle/>
                    <a:p>
                      <a:pPr algn="ctr"/>
                      <a:endParaRPr lang="zh-TW" altLang="en-US" sz="2800"/>
                    </a:p>
                  </a:txBody>
                  <a:tcPr/>
                </a:tc>
                <a:tc>
                  <a:txBody>
                    <a:bodyPr/>
                    <a:lstStyle/>
                    <a:p>
                      <a:pPr algn="ctr"/>
                      <a:r>
                        <a:rPr lang="en-US" altLang="zh-TW" sz="2800" dirty="0" smtClean="0"/>
                        <a:t>0</a:t>
                      </a:r>
                      <a:endParaRPr lang="zh-TW" altLang="en-US" sz="2800" dirty="0"/>
                    </a:p>
                  </a:txBody>
                  <a:tcP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altLang="zh-TW" sz="2800" dirty="0" smtClean="0"/>
                        <a:t>0</a:t>
                      </a:r>
                      <a:endParaRPr lang="zh-TW" altLang="en-US" sz="2800" dirty="0"/>
                    </a:p>
                  </a:txBody>
                  <a:tcP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solidFill>
                      <a:schemeClr val="accent6">
                        <a:lumMod val="60000"/>
                        <a:lumOff val="40000"/>
                      </a:schemeClr>
                    </a:solidFill>
                  </a:tcPr>
                </a:tc>
                <a:tc>
                  <a:txBody>
                    <a:bodyPr/>
                    <a:lstStyle/>
                    <a:p>
                      <a:pPr algn="ctr"/>
                      <a:endParaRPr lang="zh-TW" altLang="en-US" sz="2800" dirty="0"/>
                    </a:p>
                  </a:txBody>
                  <a:tcPr>
                    <a:solidFill>
                      <a:schemeClr val="accent6">
                        <a:lumMod val="60000"/>
                        <a:lumOff val="40000"/>
                      </a:schemeClr>
                    </a:solidFill>
                  </a:tcPr>
                </a:tc>
                <a:tc>
                  <a:txBody>
                    <a:bodyPr/>
                    <a:lstStyle/>
                    <a:p>
                      <a:pPr algn="ctr"/>
                      <a:endParaRPr lang="zh-TW" altLang="en-US" sz="2800" dirty="0"/>
                    </a:p>
                  </a:txBody>
                  <a:tcPr>
                    <a:solidFill>
                      <a:schemeClr val="accent6">
                        <a:lumMod val="60000"/>
                        <a:lumOff val="40000"/>
                      </a:schemeClr>
                    </a:solidFill>
                  </a:tcPr>
                </a:tc>
                <a:tc>
                  <a:txBody>
                    <a:bodyPr/>
                    <a:lstStyle/>
                    <a:p>
                      <a:pPr algn="ctr"/>
                      <a:endParaRPr lang="zh-TW" altLang="en-US" sz="2800" dirty="0"/>
                    </a:p>
                  </a:txBody>
                  <a:tcPr>
                    <a:solidFill>
                      <a:schemeClr val="accent6">
                        <a:lumMod val="60000"/>
                        <a:lumOff val="40000"/>
                      </a:schemeClr>
                    </a:solidFill>
                  </a:tcPr>
                </a:tc>
                <a:tc>
                  <a:txBody>
                    <a:bodyPr/>
                    <a:lstStyle/>
                    <a:p>
                      <a:pPr algn="ctr"/>
                      <a:endParaRPr lang="zh-TW" altLang="en-US" sz="2800" dirty="0"/>
                    </a:p>
                  </a:txBody>
                  <a:tcPr>
                    <a:solidFill>
                      <a:schemeClr val="accent6">
                        <a:lumMod val="60000"/>
                        <a:lumOff val="40000"/>
                      </a:schemeClr>
                    </a:solidFill>
                  </a:tcPr>
                </a:tc>
                <a:tc>
                  <a:txBody>
                    <a:bodyPr/>
                    <a:lstStyle/>
                    <a:p>
                      <a:pPr algn="ctr"/>
                      <a:endParaRPr lang="zh-TW" altLang="en-US" sz="2800" dirty="0"/>
                    </a:p>
                  </a:txBody>
                  <a:tcPr>
                    <a:solidFill>
                      <a:schemeClr val="accent6">
                        <a:lumMod val="60000"/>
                        <a:lumOff val="40000"/>
                      </a:schemeClr>
                    </a:solidFill>
                  </a:tcPr>
                </a:tc>
                <a:tc>
                  <a:txBody>
                    <a:bodyPr/>
                    <a:lstStyle/>
                    <a:p>
                      <a:pPr algn="ctr"/>
                      <a:endParaRPr lang="zh-TW" altLang="en-US" sz="2800" dirty="0"/>
                    </a:p>
                  </a:txBody>
                  <a:tcPr>
                    <a:solidFill>
                      <a:schemeClr val="accent6">
                        <a:lumMod val="60000"/>
                        <a:lumOff val="40000"/>
                      </a:schemeClr>
                    </a:solidFill>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C</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G</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bl>
          </a:graphicData>
        </a:graphic>
      </p:graphicFrame>
      <p:pic>
        <p:nvPicPr>
          <p:cNvPr id="5" name="Picture 2"/>
          <p:cNvPicPr>
            <a:picLocks noChangeAspect="1" noChangeArrowheads="1"/>
          </p:cNvPicPr>
          <p:nvPr/>
        </p:nvPicPr>
        <p:blipFill>
          <a:blip r:embed="rId2"/>
          <a:srcRect/>
          <a:stretch>
            <a:fillRect/>
          </a:stretch>
        </p:blipFill>
        <p:spPr bwMode="auto">
          <a:xfrm>
            <a:off x="5429255" y="1928803"/>
            <a:ext cx="3714745" cy="1714511"/>
          </a:xfrm>
          <a:prstGeom prst="rect">
            <a:avLst/>
          </a:prstGeom>
          <a:noFill/>
          <a:ln w="9525">
            <a:noFill/>
            <a:miter lim="800000"/>
            <a:headEnd/>
            <a:tailEnd/>
          </a:ln>
          <a:effectLst/>
        </p:spPr>
      </p:pic>
      <p:sp>
        <p:nvSpPr>
          <p:cNvPr id="6" name="矩形 5"/>
          <p:cNvSpPr/>
          <p:nvPr/>
        </p:nvSpPr>
        <p:spPr>
          <a:xfrm>
            <a:off x="1513879" y="3288163"/>
            <a:ext cx="3857652" cy="5187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Introduction(5/5</a:t>
            </a:r>
            <a:r>
              <a:rPr lang="en-US" altLang="zh-TW" dirty="0" smtClean="0"/>
              <a:t>)</a:t>
            </a:r>
            <a:endParaRPr lang="zh-TW" altLang="en-US" dirty="0"/>
          </a:p>
        </p:txBody>
      </p:sp>
      <p:graphicFrame>
        <p:nvGraphicFramePr>
          <p:cNvPr id="4" name="表格 3"/>
          <p:cNvGraphicFramePr>
            <a:graphicFrameLocks noGrp="1"/>
          </p:cNvGraphicFramePr>
          <p:nvPr/>
        </p:nvGraphicFramePr>
        <p:xfrm>
          <a:off x="214281" y="1714488"/>
          <a:ext cx="5143536" cy="4214840"/>
        </p:xfrm>
        <a:graphic>
          <a:graphicData uri="http://schemas.openxmlformats.org/drawingml/2006/table">
            <a:tbl>
              <a:tblPr firstRow="1" bandRow="1">
                <a:tableStyleId>{5940675A-B579-460E-94D1-54222C63F5DA}</a:tableStyleId>
              </a:tblPr>
              <a:tblGrid>
                <a:gridCol w="642942"/>
                <a:gridCol w="642942"/>
                <a:gridCol w="642942"/>
                <a:gridCol w="642942"/>
                <a:gridCol w="642942"/>
                <a:gridCol w="642942"/>
                <a:gridCol w="642942"/>
                <a:gridCol w="642942"/>
              </a:tblGrid>
              <a:tr h="526855">
                <a:tc>
                  <a:txBody>
                    <a:bodyPr/>
                    <a:lstStyle/>
                    <a:p>
                      <a:pPr algn="ctr"/>
                      <a:endParaRPr lang="zh-TW" altLang="en-US" sz="2800" dirty="0"/>
                    </a:p>
                  </a:txBody>
                  <a:tcPr/>
                </a:tc>
                <a:tc>
                  <a:txBody>
                    <a:bodyPr/>
                    <a:lstStyle/>
                    <a:p>
                      <a:pPr algn="ctr"/>
                      <a:endParaRPr lang="zh-TW" altLang="en-US" sz="2800" dirty="0"/>
                    </a:p>
                  </a:txBody>
                  <a:tcPr>
                    <a:lnB w="12700" cap="flat" cmpd="sng" algn="ctr">
                      <a:solidFill>
                        <a:schemeClr val="tx1"/>
                      </a:solidFill>
                      <a:prstDash val="solid"/>
                      <a:round/>
                      <a:headEnd type="none" w="med" len="med"/>
                      <a:tailEnd type="none" w="med" len="med"/>
                    </a:lnB>
                  </a:tcPr>
                </a:tc>
                <a:tc>
                  <a:txBody>
                    <a:bodyPr/>
                    <a:lstStyle/>
                    <a:p>
                      <a:pPr algn="ctr"/>
                      <a:r>
                        <a:rPr lang="en-US" altLang="zh-TW" sz="2800" dirty="0" smtClean="0"/>
                        <a:t>T</a:t>
                      </a:r>
                      <a:endParaRPr lang="zh-TW" altLang="en-US" sz="2800" dirty="0"/>
                    </a:p>
                  </a:txBody>
                  <a:tcPr>
                    <a:lnB w="12700" cap="flat" cmpd="sng" algn="ctr">
                      <a:solidFill>
                        <a:schemeClr val="tx1"/>
                      </a:solidFill>
                      <a:prstDash val="solid"/>
                      <a:round/>
                      <a:headEnd type="none" w="med" len="med"/>
                      <a:tailEnd type="none" w="med" len="med"/>
                    </a:lnB>
                  </a:tcPr>
                </a:tc>
                <a:tc>
                  <a:txBody>
                    <a:bodyPr/>
                    <a:lstStyle/>
                    <a:p>
                      <a:pPr algn="ctr"/>
                      <a:r>
                        <a:rPr lang="en-US" altLang="zh-TW" sz="2800" dirty="0" smtClean="0"/>
                        <a:t>G</a:t>
                      </a:r>
                      <a:endParaRPr lang="zh-TW" altLang="en-US" sz="2800" dirty="0"/>
                    </a:p>
                  </a:txBody>
                  <a:tcPr/>
                </a:tc>
                <a:tc>
                  <a:txBody>
                    <a:bodyPr/>
                    <a:lstStyle/>
                    <a:p>
                      <a:pPr algn="ctr"/>
                      <a:r>
                        <a:rPr lang="en-US" altLang="zh-TW" sz="2800" dirty="0" smtClean="0"/>
                        <a:t>C</a:t>
                      </a:r>
                      <a:endParaRPr lang="zh-TW" altLang="en-US" sz="2800" dirty="0"/>
                    </a:p>
                  </a:txBody>
                  <a:tcPr/>
                </a:tc>
                <a:tc>
                  <a:txBody>
                    <a:bodyPr/>
                    <a:lstStyle/>
                    <a:p>
                      <a:pPr algn="ctr"/>
                      <a:r>
                        <a:rPr lang="en-US" altLang="zh-TW" sz="2800" dirty="0" smtClean="0"/>
                        <a:t>A</a:t>
                      </a:r>
                      <a:endParaRPr lang="zh-TW" altLang="en-US" sz="2800" dirty="0"/>
                    </a:p>
                  </a:txBody>
                  <a:tcPr/>
                </a:tc>
                <a:tc>
                  <a:txBody>
                    <a:bodyPr/>
                    <a:lstStyle/>
                    <a:p>
                      <a:pPr algn="ctr"/>
                      <a:r>
                        <a:rPr lang="en-US" altLang="zh-TW" sz="2800" dirty="0" smtClean="0"/>
                        <a:t>T</a:t>
                      </a:r>
                      <a:endParaRPr lang="zh-TW" altLang="en-US" sz="2800" dirty="0"/>
                    </a:p>
                  </a:txBody>
                  <a:tcPr/>
                </a:tc>
                <a:tc>
                  <a:txBody>
                    <a:bodyPr/>
                    <a:lstStyle/>
                    <a:p>
                      <a:pPr algn="ctr"/>
                      <a:r>
                        <a:rPr lang="en-US" altLang="zh-TW" sz="2800" dirty="0" smtClean="0"/>
                        <a:t>A</a:t>
                      </a:r>
                      <a:endParaRPr lang="zh-TW" altLang="en-US" sz="2800" dirty="0"/>
                    </a:p>
                  </a:txBody>
                  <a:tcPr/>
                </a:tc>
              </a:tr>
              <a:tr h="526855">
                <a:tc>
                  <a:txBody>
                    <a:bodyPr/>
                    <a:lstStyle/>
                    <a:p>
                      <a:pPr algn="ctr"/>
                      <a:endParaRPr lang="zh-TW" altLang="en-US" sz="2800"/>
                    </a:p>
                  </a:txBody>
                  <a:tcPr/>
                </a:tc>
                <a:tc>
                  <a:txBody>
                    <a:bodyPr/>
                    <a:lstStyle/>
                    <a:p>
                      <a:pPr algn="ctr"/>
                      <a:r>
                        <a:rPr lang="en-US" altLang="zh-TW" sz="2800" dirty="0" smtClean="0"/>
                        <a:t>0</a:t>
                      </a:r>
                      <a:endParaRPr lang="zh-TW" altLang="en-US" sz="2800" dirty="0"/>
                    </a:p>
                  </a:txBody>
                  <a:tcP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altLang="zh-TW" sz="2800" dirty="0" smtClean="0"/>
                        <a:t>0</a:t>
                      </a:r>
                      <a:endParaRPr lang="zh-TW" altLang="en-US" sz="2800" dirty="0"/>
                    </a:p>
                  </a:txBody>
                  <a:tcP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0</a:t>
                      </a:r>
                      <a:endParaRPr lang="zh-TW" altLang="en-US" sz="2800" dirty="0"/>
                    </a:p>
                  </a:txBody>
                  <a:tcPr>
                    <a:solidFill>
                      <a:schemeClr val="bg1"/>
                    </a:solidFill>
                  </a:tcPr>
                </a:tc>
                <a:tc>
                  <a:txBody>
                    <a:bodyPr/>
                    <a:lstStyle/>
                    <a:p>
                      <a:pPr algn="ctr"/>
                      <a:r>
                        <a:rPr lang="en-US" altLang="zh-TW" sz="2800" dirty="0" smtClean="0"/>
                        <a:t>1</a:t>
                      </a:r>
                      <a:endParaRPr lang="zh-TW" altLang="en-US" sz="2800" dirty="0"/>
                    </a:p>
                  </a:txBody>
                  <a:tcPr>
                    <a:solidFill>
                      <a:schemeClr val="bg1"/>
                    </a:solidFill>
                  </a:tcPr>
                </a:tc>
                <a:tc>
                  <a:txBody>
                    <a:bodyPr/>
                    <a:lstStyle/>
                    <a:p>
                      <a:pPr algn="ctr"/>
                      <a:r>
                        <a:rPr lang="en-US" altLang="zh-TW" sz="2800" dirty="0" smtClean="0"/>
                        <a:t>1</a:t>
                      </a:r>
                      <a:endParaRPr lang="zh-TW" altLang="en-US" sz="2800" dirty="0"/>
                    </a:p>
                  </a:txBody>
                  <a:tcPr>
                    <a:solidFill>
                      <a:schemeClr val="bg1"/>
                    </a:solidFill>
                  </a:tcPr>
                </a:tc>
                <a:tc>
                  <a:txBody>
                    <a:bodyPr/>
                    <a:lstStyle/>
                    <a:p>
                      <a:pPr algn="ctr"/>
                      <a:r>
                        <a:rPr lang="en-US" altLang="zh-TW" sz="2800" dirty="0" smtClean="0"/>
                        <a:t>1</a:t>
                      </a:r>
                      <a:endParaRPr lang="zh-TW" altLang="en-US" sz="2800" dirty="0"/>
                    </a:p>
                  </a:txBody>
                  <a:tcPr>
                    <a:solidFill>
                      <a:schemeClr val="bg1"/>
                    </a:solidFill>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C</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G</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r h="52685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c>
                  <a:txBody>
                    <a:bodyPr/>
                    <a:lstStyle/>
                    <a:p>
                      <a:pPr algn="ctr"/>
                      <a:endParaRPr lang="zh-TW" altLang="en-US" sz="2800" dirty="0"/>
                    </a:p>
                  </a:txBody>
                  <a:tcPr/>
                </a:tc>
              </a:tr>
            </a:tbl>
          </a:graphicData>
        </a:graphic>
      </p:graphicFrame>
      <p:pic>
        <p:nvPicPr>
          <p:cNvPr id="5" name="Picture 2"/>
          <p:cNvPicPr>
            <a:picLocks noChangeAspect="1" noChangeArrowheads="1"/>
          </p:cNvPicPr>
          <p:nvPr/>
        </p:nvPicPr>
        <p:blipFill>
          <a:blip r:embed="rId2"/>
          <a:srcRect/>
          <a:stretch>
            <a:fillRect/>
          </a:stretch>
        </p:blipFill>
        <p:spPr bwMode="auto">
          <a:xfrm>
            <a:off x="5429255" y="1928803"/>
            <a:ext cx="3714745" cy="1714511"/>
          </a:xfrm>
          <a:prstGeom prst="rect">
            <a:avLst/>
          </a:prstGeom>
          <a:noFill/>
          <a:ln w="9525">
            <a:noFill/>
            <a:miter lim="800000"/>
            <a:headEnd/>
            <a:tailEnd/>
          </a:ln>
          <a:effectLst/>
        </p:spPr>
      </p:pic>
      <p:sp>
        <p:nvSpPr>
          <p:cNvPr id="6" name="矩形 5"/>
          <p:cNvSpPr/>
          <p:nvPr/>
        </p:nvSpPr>
        <p:spPr>
          <a:xfrm>
            <a:off x="1500166" y="2786058"/>
            <a:ext cx="3857652" cy="5187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Dependency Analysis(1/6)</a:t>
            </a:r>
            <a:endParaRPr lang="zh-TW" altLang="en-US" dirty="0"/>
          </a:p>
        </p:txBody>
      </p:sp>
      <p:pic>
        <p:nvPicPr>
          <p:cNvPr id="4" name="Picture 2"/>
          <p:cNvPicPr>
            <a:picLocks noChangeAspect="1" noChangeArrowheads="1"/>
          </p:cNvPicPr>
          <p:nvPr/>
        </p:nvPicPr>
        <p:blipFill>
          <a:blip r:embed="rId2"/>
          <a:srcRect/>
          <a:stretch>
            <a:fillRect/>
          </a:stretch>
        </p:blipFill>
        <p:spPr bwMode="auto">
          <a:xfrm>
            <a:off x="357158" y="1501762"/>
            <a:ext cx="3714745" cy="2070114"/>
          </a:xfrm>
          <a:prstGeom prst="rect">
            <a:avLst/>
          </a:prstGeom>
          <a:noFill/>
          <a:ln w="9525">
            <a:noFill/>
            <a:miter lim="800000"/>
            <a:headEnd/>
            <a:tailEnd/>
          </a:ln>
          <a:effectLst/>
        </p:spPr>
      </p:pic>
      <p:cxnSp>
        <p:nvCxnSpPr>
          <p:cNvPr id="6" name="直線接點 5"/>
          <p:cNvCxnSpPr/>
          <p:nvPr/>
        </p:nvCxnSpPr>
        <p:spPr>
          <a:xfrm>
            <a:off x="2428860" y="3429000"/>
            <a:ext cx="71438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投影片編號版面配置區 9"/>
          <p:cNvSpPr>
            <a:spLocks noGrp="1"/>
          </p:cNvSpPr>
          <p:nvPr>
            <p:ph type="sldNum" sz="quarter" idx="12"/>
          </p:nvPr>
        </p:nvSpPr>
        <p:spPr/>
        <p:txBody>
          <a:bodyPr/>
          <a:lstStyle/>
          <a:p>
            <a:fld id="{73DA0BB7-265A-403C-9275-D587AB510EDC}"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Dependency </a:t>
            </a:r>
            <a:r>
              <a:rPr lang="en-US" altLang="zh-TW" dirty="0" smtClean="0"/>
              <a:t>Analysis(2/6</a:t>
            </a:r>
            <a:r>
              <a:rPr lang="en-US" altLang="zh-TW" dirty="0" smtClean="0"/>
              <a:t>)</a:t>
            </a:r>
            <a:endParaRPr lang="zh-TW" altLang="en-US" dirty="0"/>
          </a:p>
        </p:txBody>
      </p:sp>
      <p:pic>
        <p:nvPicPr>
          <p:cNvPr id="4" name="Picture 3"/>
          <p:cNvPicPr>
            <a:picLocks noChangeAspect="1" noChangeArrowheads="1"/>
          </p:cNvPicPr>
          <p:nvPr/>
        </p:nvPicPr>
        <p:blipFill>
          <a:blip r:embed="rId2"/>
          <a:srcRect/>
          <a:stretch>
            <a:fillRect/>
          </a:stretch>
        </p:blipFill>
        <p:spPr bwMode="auto">
          <a:xfrm>
            <a:off x="0" y="3786191"/>
            <a:ext cx="4000496" cy="1928826"/>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357158" y="1571612"/>
            <a:ext cx="3714745" cy="1785950"/>
          </a:xfrm>
          <a:prstGeom prst="rect">
            <a:avLst/>
          </a:prstGeom>
          <a:noFill/>
          <a:ln w="9525">
            <a:noFill/>
            <a:miter lim="800000"/>
            <a:headEnd/>
            <a:tailEnd/>
          </a:ln>
          <a:effectLst/>
        </p:spPr>
      </p:pic>
      <p:cxnSp>
        <p:nvCxnSpPr>
          <p:cNvPr id="6" name="直線接點 5"/>
          <p:cNvCxnSpPr/>
          <p:nvPr/>
        </p:nvCxnSpPr>
        <p:spPr>
          <a:xfrm>
            <a:off x="2428860" y="3143248"/>
            <a:ext cx="71438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2714612" y="5286388"/>
            <a:ext cx="71438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投影片編號版面配置區 7"/>
          <p:cNvSpPr>
            <a:spLocks noGrp="1"/>
          </p:cNvSpPr>
          <p:nvPr>
            <p:ph type="sldNum" sz="quarter" idx="12"/>
          </p:nvPr>
        </p:nvSpPr>
        <p:spPr/>
        <p:txBody>
          <a:bodyPr/>
          <a:lstStyle/>
          <a:p>
            <a:fld id="{73DA0BB7-265A-403C-9275-D587AB510EDC}"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Dependency </a:t>
            </a:r>
            <a:r>
              <a:rPr lang="en-US" altLang="zh-TW" dirty="0" smtClean="0"/>
              <a:t>Analysis(3/6</a:t>
            </a:r>
            <a:r>
              <a:rPr lang="en-US" altLang="zh-TW" dirty="0" smtClean="0"/>
              <a:t>)</a:t>
            </a:r>
            <a:endParaRPr lang="zh-TW" altLang="en-US" dirty="0"/>
          </a:p>
        </p:txBody>
      </p:sp>
      <p:pic>
        <p:nvPicPr>
          <p:cNvPr id="4" name="Picture 3"/>
          <p:cNvPicPr>
            <a:picLocks noChangeAspect="1" noChangeArrowheads="1"/>
          </p:cNvPicPr>
          <p:nvPr/>
        </p:nvPicPr>
        <p:blipFill>
          <a:blip r:embed="rId2"/>
          <a:srcRect/>
          <a:stretch>
            <a:fillRect/>
          </a:stretch>
        </p:blipFill>
        <p:spPr bwMode="auto">
          <a:xfrm>
            <a:off x="0" y="3786191"/>
            <a:ext cx="4000496" cy="1928826"/>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357158" y="1571612"/>
            <a:ext cx="3714745" cy="1785950"/>
          </a:xfrm>
          <a:prstGeom prst="rect">
            <a:avLst/>
          </a:prstGeom>
          <a:noFill/>
          <a:ln w="9525">
            <a:noFill/>
            <a:miter lim="800000"/>
            <a:headEnd/>
            <a:tailEnd/>
          </a:ln>
          <a:effectLst/>
        </p:spPr>
      </p:pic>
      <p:cxnSp>
        <p:nvCxnSpPr>
          <p:cNvPr id="6" name="直線接點 5"/>
          <p:cNvCxnSpPr/>
          <p:nvPr/>
        </p:nvCxnSpPr>
        <p:spPr>
          <a:xfrm>
            <a:off x="2428860" y="3143248"/>
            <a:ext cx="71438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2714612" y="5286388"/>
            <a:ext cx="71438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3077" name="Picture 5"/>
          <p:cNvPicPr>
            <a:picLocks noChangeAspect="1" noChangeArrowheads="1"/>
          </p:cNvPicPr>
          <p:nvPr/>
        </p:nvPicPr>
        <p:blipFill>
          <a:blip r:embed="rId4"/>
          <a:srcRect/>
          <a:stretch>
            <a:fillRect/>
          </a:stretch>
        </p:blipFill>
        <p:spPr bwMode="auto">
          <a:xfrm>
            <a:off x="4286248" y="3643314"/>
            <a:ext cx="4857752" cy="1990725"/>
          </a:xfrm>
          <a:prstGeom prst="rect">
            <a:avLst/>
          </a:prstGeom>
          <a:noFill/>
          <a:ln w="9525">
            <a:noFill/>
            <a:miter lim="800000"/>
            <a:headEnd/>
            <a:tailEnd/>
          </a:ln>
          <a:effectLst/>
        </p:spPr>
      </p:pic>
      <p:sp>
        <p:nvSpPr>
          <p:cNvPr id="14" name="文字方塊 13"/>
          <p:cNvSpPr txBox="1"/>
          <p:nvPr/>
        </p:nvSpPr>
        <p:spPr>
          <a:xfrm>
            <a:off x="142844" y="6072206"/>
            <a:ext cx="9131346" cy="523220"/>
          </a:xfrm>
          <a:prstGeom prst="rect">
            <a:avLst/>
          </a:prstGeom>
          <a:noFill/>
        </p:spPr>
        <p:txBody>
          <a:bodyPr wrap="none" rtlCol="0">
            <a:spAutoFit/>
          </a:bodyPr>
          <a:lstStyle/>
          <a:p>
            <a:r>
              <a:rPr lang="en-US" altLang="zh-TW" sz="2800" i="1" dirty="0" smtClean="0">
                <a:latin typeface="Times New Roman" pitchFamily="18" charset="0"/>
                <a:cs typeface="Times New Roman" pitchFamily="18" charset="0"/>
              </a:rPr>
              <a:t>k</a:t>
            </a:r>
            <a:r>
              <a:rPr lang="en-US" altLang="zh-TW" sz="2800" dirty="0" smtClean="0"/>
              <a:t> must be the minimum number that make </a:t>
            </a:r>
            <a:r>
              <a:rPr lang="en-US" altLang="zh-TW" sz="2800" i="1" dirty="0" err="1" smtClean="0">
                <a:latin typeface="Times New Roman" pitchFamily="18" charset="0"/>
                <a:cs typeface="Times New Roman" pitchFamily="18" charset="0"/>
              </a:rPr>
              <a:t>a</a:t>
            </a:r>
            <a:r>
              <a:rPr lang="en-US" altLang="zh-TW" sz="2800" i="1" baseline="-25000" dirty="0" err="1" smtClean="0">
                <a:latin typeface="Times New Roman" pitchFamily="18" charset="0"/>
                <a:cs typeface="Times New Roman" pitchFamily="18" charset="0"/>
              </a:rPr>
              <a:t>i</a:t>
            </a:r>
            <a:r>
              <a:rPr lang="en-US" altLang="zh-TW" sz="2800" dirty="0" smtClean="0"/>
              <a:t> = </a:t>
            </a:r>
            <a:r>
              <a:rPr lang="en-US" altLang="zh-TW" sz="2800" i="1" dirty="0" err="1" smtClean="0">
                <a:latin typeface="Times New Roman" pitchFamily="18" charset="0"/>
                <a:cs typeface="Times New Roman" pitchFamily="18" charset="0"/>
              </a:rPr>
              <a:t>b</a:t>
            </a:r>
            <a:r>
              <a:rPr lang="en-US" altLang="zh-TW" sz="2800" i="1" baseline="-25000" dirty="0" err="1" smtClean="0">
                <a:latin typeface="Times New Roman" pitchFamily="18" charset="0"/>
                <a:cs typeface="Times New Roman" pitchFamily="18" charset="0"/>
              </a:rPr>
              <a:t>j</a:t>
            </a:r>
            <a:r>
              <a:rPr lang="en-US" altLang="zh-TW" sz="2800" baseline="-25000" dirty="0" smtClean="0"/>
              <a:t>-</a:t>
            </a:r>
            <a:r>
              <a:rPr lang="en-US" altLang="zh-TW" sz="2800" i="1" baseline="-25000" dirty="0" smtClean="0">
                <a:latin typeface="Times New Roman" pitchFamily="18" charset="0"/>
                <a:cs typeface="Times New Roman" pitchFamily="18" charset="0"/>
              </a:rPr>
              <a:t>k</a:t>
            </a:r>
            <a:r>
              <a:rPr lang="en-US" altLang="zh-TW" sz="2800" dirty="0" smtClean="0"/>
              <a:t> or </a:t>
            </a:r>
            <a:r>
              <a:rPr lang="en-US" altLang="zh-TW" sz="2800" i="1" dirty="0" smtClean="0">
                <a:latin typeface="Times New Roman" pitchFamily="18" charset="0"/>
                <a:cs typeface="Times New Roman" pitchFamily="18" charset="0"/>
              </a:rPr>
              <a:t>j</a:t>
            </a:r>
            <a:r>
              <a:rPr lang="en-US" altLang="zh-TW" sz="2800" dirty="0" smtClean="0"/>
              <a:t> – </a:t>
            </a:r>
            <a:r>
              <a:rPr lang="en-US" altLang="zh-TW" sz="2800" i="1" dirty="0" smtClean="0">
                <a:latin typeface="Times New Roman" pitchFamily="18" charset="0"/>
                <a:cs typeface="Times New Roman" pitchFamily="18" charset="0"/>
              </a:rPr>
              <a:t>k</a:t>
            </a:r>
            <a:r>
              <a:rPr lang="en-US" altLang="zh-TW" sz="2800" dirty="0" smtClean="0"/>
              <a:t> = 0</a:t>
            </a:r>
            <a:endParaRPr lang="zh-TW" altLang="en-US" sz="2800" dirty="0"/>
          </a:p>
        </p:txBody>
      </p:sp>
      <p:sp>
        <p:nvSpPr>
          <p:cNvPr id="15" name="投影片編號版面配置區 14"/>
          <p:cNvSpPr>
            <a:spLocks noGrp="1"/>
          </p:cNvSpPr>
          <p:nvPr>
            <p:ph type="sldNum" sz="quarter" idx="12"/>
          </p:nvPr>
        </p:nvSpPr>
        <p:spPr/>
        <p:txBody>
          <a:bodyPr/>
          <a:lstStyle/>
          <a:p>
            <a:fld id="{73DA0BB7-265A-403C-9275-D587AB510EDC}"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Dependency </a:t>
            </a:r>
            <a:r>
              <a:rPr lang="en-US" altLang="zh-TW" dirty="0" smtClean="0"/>
              <a:t>Analysis(4/6</a:t>
            </a:r>
            <a:r>
              <a:rPr lang="en-US" altLang="zh-TW" dirty="0" smtClean="0"/>
              <a:t>)</a:t>
            </a:r>
            <a:endParaRPr lang="zh-TW" altLang="en-US" dirty="0"/>
          </a:p>
        </p:txBody>
      </p:sp>
      <p:pic>
        <p:nvPicPr>
          <p:cNvPr id="4098" name="Picture 2"/>
          <p:cNvPicPr>
            <a:picLocks noChangeAspect="1" noChangeArrowheads="1"/>
          </p:cNvPicPr>
          <p:nvPr/>
        </p:nvPicPr>
        <p:blipFill>
          <a:blip r:embed="rId2"/>
          <a:srcRect/>
          <a:stretch>
            <a:fillRect/>
          </a:stretch>
        </p:blipFill>
        <p:spPr bwMode="auto">
          <a:xfrm>
            <a:off x="214282" y="1571612"/>
            <a:ext cx="6758004" cy="2609850"/>
          </a:xfrm>
          <a:prstGeom prst="rect">
            <a:avLst/>
          </a:prstGeom>
          <a:noFill/>
          <a:ln w="9525">
            <a:noFill/>
            <a:miter lim="800000"/>
            <a:headEnd/>
            <a:tailEnd/>
          </a:ln>
          <a:effectLst/>
        </p:spPr>
      </p:pic>
      <p:cxnSp>
        <p:nvCxnSpPr>
          <p:cNvPr id="6" name="直線接點 5"/>
          <p:cNvCxnSpPr/>
          <p:nvPr/>
        </p:nvCxnSpPr>
        <p:spPr>
          <a:xfrm>
            <a:off x="4857752" y="4071942"/>
            <a:ext cx="642942"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5286380" y="3643314"/>
            <a:ext cx="428628"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5072066" y="3143248"/>
            <a:ext cx="642942"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投影片編號版面配置區 10"/>
          <p:cNvSpPr>
            <a:spLocks noGrp="1"/>
          </p:cNvSpPr>
          <p:nvPr>
            <p:ph type="sldNum" sz="quarter" idx="12"/>
          </p:nvPr>
        </p:nvSpPr>
        <p:spPr/>
        <p:txBody>
          <a:bodyPr/>
          <a:lstStyle/>
          <a:p>
            <a:fld id="{73DA0BB7-265A-403C-9275-D587AB510EDC}"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Dependency </a:t>
            </a:r>
            <a:r>
              <a:rPr lang="en-US" altLang="zh-TW" dirty="0" smtClean="0"/>
              <a:t>Analysis(5/6</a:t>
            </a:r>
            <a:r>
              <a:rPr lang="en-US" altLang="zh-TW" dirty="0" smtClean="0"/>
              <a:t>)</a:t>
            </a:r>
            <a:endParaRPr lang="zh-TW" altLang="en-US" dirty="0"/>
          </a:p>
        </p:txBody>
      </p:sp>
      <p:graphicFrame>
        <p:nvGraphicFramePr>
          <p:cNvPr id="4" name="表格 3"/>
          <p:cNvGraphicFramePr>
            <a:graphicFrameLocks noGrp="1"/>
          </p:cNvGraphicFramePr>
          <p:nvPr/>
        </p:nvGraphicFramePr>
        <p:xfrm>
          <a:off x="285721" y="1785926"/>
          <a:ext cx="4857786" cy="3214710"/>
        </p:xfrm>
        <a:graphic>
          <a:graphicData uri="http://schemas.openxmlformats.org/drawingml/2006/table">
            <a:tbl>
              <a:tblPr firstRow="1" bandRow="1">
                <a:tableStyleId>{5940675A-B579-460E-94D1-54222C63F5DA}</a:tableStyleId>
              </a:tblPr>
              <a:tblGrid>
                <a:gridCol w="539754"/>
                <a:gridCol w="539754"/>
                <a:gridCol w="539754"/>
                <a:gridCol w="539754"/>
                <a:gridCol w="539754"/>
                <a:gridCol w="539754"/>
                <a:gridCol w="539754"/>
                <a:gridCol w="539754"/>
                <a:gridCol w="539754"/>
              </a:tblGrid>
              <a:tr h="535785">
                <a:tc>
                  <a:txBody>
                    <a:bodyPr/>
                    <a:lstStyle/>
                    <a:p>
                      <a:pPr algn="ctr"/>
                      <a:endParaRPr lang="zh-TW" altLang="en-US" sz="2800" dirty="0"/>
                    </a:p>
                  </a:txBody>
                  <a:tcPr/>
                </a:tc>
                <a:tc>
                  <a:txBody>
                    <a:bodyPr/>
                    <a:lstStyle/>
                    <a:p>
                      <a:pPr algn="ctr"/>
                      <a:endParaRPr lang="zh-TW" altLang="en-US" sz="2800" dirty="0"/>
                    </a:p>
                  </a:txBody>
                  <a:tcPr/>
                </a:tc>
                <a:tc>
                  <a:txBody>
                    <a:bodyPr/>
                    <a:lstStyle/>
                    <a:p>
                      <a:pPr algn="ctr"/>
                      <a:r>
                        <a:rPr lang="en-US" altLang="zh-TW" sz="2800" dirty="0" smtClean="0"/>
                        <a:t>A</a:t>
                      </a:r>
                      <a:endParaRPr lang="zh-TW" altLang="en-US" sz="2800" dirty="0"/>
                    </a:p>
                  </a:txBody>
                  <a:tcPr/>
                </a:tc>
                <a:tc>
                  <a:txBody>
                    <a:bodyPr/>
                    <a:lstStyle/>
                    <a:p>
                      <a:pPr algn="ctr"/>
                      <a:r>
                        <a:rPr lang="en-US" altLang="zh-TW" sz="2800" dirty="0" smtClean="0"/>
                        <a:t>T</a:t>
                      </a:r>
                      <a:endParaRPr lang="zh-TW" altLang="en-US" sz="2800" dirty="0"/>
                    </a:p>
                  </a:txBody>
                  <a:tcPr/>
                </a:tc>
                <a:tc>
                  <a:txBody>
                    <a:bodyPr/>
                    <a:lstStyle/>
                    <a:p>
                      <a:pPr algn="ctr"/>
                      <a:r>
                        <a:rPr lang="en-US" altLang="zh-TW" sz="2800" dirty="0" smtClean="0"/>
                        <a:t>T</a:t>
                      </a:r>
                      <a:endParaRPr lang="zh-TW" altLang="en-US" sz="2800" dirty="0"/>
                    </a:p>
                  </a:txBody>
                  <a:tcPr/>
                </a:tc>
                <a:tc>
                  <a:txBody>
                    <a:bodyPr/>
                    <a:lstStyle/>
                    <a:p>
                      <a:pPr algn="ctr"/>
                      <a:r>
                        <a:rPr lang="en-US" altLang="zh-TW" sz="2800" dirty="0" smtClean="0"/>
                        <a:t>G</a:t>
                      </a:r>
                      <a:endParaRPr lang="zh-TW" altLang="en-US" sz="2800" dirty="0"/>
                    </a:p>
                  </a:txBody>
                  <a:tcPr/>
                </a:tc>
                <a:tc>
                  <a:txBody>
                    <a:bodyPr/>
                    <a:lstStyle/>
                    <a:p>
                      <a:pPr algn="ctr"/>
                      <a:r>
                        <a:rPr lang="en-US" altLang="zh-TW" sz="2800" dirty="0" smtClean="0"/>
                        <a:t>C</a:t>
                      </a:r>
                      <a:endParaRPr lang="zh-TW" altLang="en-US" sz="2800" dirty="0"/>
                    </a:p>
                  </a:txBody>
                  <a:tcPr/>
                </a:tc>
                <a:tc>
                  <a:txBody>
                    <a:bodyPr/>
                    <a:lstStyle/>
                    <a:p>
                      <a:pPr algn="ctr"/>
                      <a:r>
                        <a:rPr lang="en-US" altLang="zh-TW" sz="2800" dirty="0" smtClean="0"/>
                        <a:t>C</a:t>
                      </a:r>
                      <a:endParaRPr lang="zh-TW" altLang="en-US" sz="2800" dirty="0"/>
                    </a:p>
                  </a:txBody>
                  <a:tcPr/>
                </a:tc>
                <a:tc>
                  <a:txBody>
                    <a:bodyPr/>
                    <a:lstStyle/>
                    <a:p>
                      <a:pPr algn="ctr"/>
                      <a:r>
                        <a:rPr lang="en-US" altLang="zh-TW" sz="2800" dirty="0" smtClean="0"/>
                        <a:t>A</a:t>
                      </a:r>
                      <a:endParaRPr lang="zh-TW" altLang="en-US" sz="2800" dirty="0"/>
                    </a:p>
                  </a:txBody>
                  <a:tcPr/>
                </a:tc>
              </a:tr>
              <a:tr h="535785">
                <a:tc>
                  <a:txBody>
                    <a:bodyPr/>
                    <a:lstStyle/>
                    <a:p>
                      <a:pPr algn="ctr"/>
                      <a:endParaRPr lang="zh-TW" altLang="en-US" sz="2800" dirty="0"/>
                    </a:p>
                  </a:txBody>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1</a:t>
                      </a:r>
                      <a:endParaRPr lang="zh-TW" altLang="en-US" sz="2800" dirty="0"/>
                    </a:p>
                  </a:txBody>
                  <a:tcPr>
                    <a:solidFill>
                      <a:schemeClr val="accent6">
                        <a:lumMod val="40000"/>
                        <a:lumOff val="60000"/>
                      </a:schemeClr>
                    </a:solidFill>
                  </a:tcPr>
                </a:tc>
                <a:tc>
                  <a:txBody>
                    <a:bodyPr/>
                    <a:lstStyle/>
                    <a:p>
                      <a:pPr algn="ctr"/>
                      <a:r>
                        <a:rPr lang="en-US" altLang="zh-TW" sz="2800" dirty="0" smtClean="0"/>
                        <a:t>2</a:t>
                      </a:r>
                      <a:endParaRPr lang="zh-TW" altLang="en-US" sz="2800" dirty="0"/>
                    </a:p>
                  </a:txBody>
                  <a:tcPr>
                    <a:solidFill>
                      <a:schemeClr val="accent6">
                        <a:lumMod val="40000"/>
                        <a:lumOff val="60000"/>
                      </a:schemeClr>
                    </a:solidFill>
                  </a:tcPr>
                </a:tc>
                <a:tc>
                  <a:txBody>
                    <a:bodyPr/>
                    <a:lstStyle/>
                    <a:p>
                      <a:pPr algn="ctr"/>
                      <a:r>
                        <a:rPr lang="en-US" altLang="zh-TW" sz="2800" dirty="0" smtClean="0"/>
                        <a:t>3</a:t>
                      </a:r>
                      <a:endParaRPr lang="zh-TW" altLang="en-US" sz="2800" dirty="0"/>
                    </a:p>
                  </a:txBody>
                  <a:tcPr>
                    <a:solidFill>
                      <a:schemeClr val="accent6">
                        <a:lumMod val="40000"/>
                        <a:lumOff val="60000"/>
                      </a:schemeClr>
                    </a:solidFill>
                  </a:tcPr>
                </a:tc>
                <a:tc>
                  <a:txBody>
                    <a:bodyPr/>
                    <a:lstStyle/>
                    <a:p>
                      <a:pPr algn="ctr"/>
                      <a:r>
                        <a:rPr lang="en-US" altLang="zh-TW" sz="2800" dirty="0" smtClean="0"/>
                        <a:t>4</a:t>
                      </a:r>
                      <a:endParaRPr lang="zh-TW" altLang="en-US" sz="2800" dirty="0"/>
                    </a:p>
                  </a:txBody>
                  <a:tcPr>
                    <a:solidFill>
                      <a:schemeClr val="accent6">
                        <a:lumMod val="40000"/>
                        <a:lumOff val="60000"/>
                      </a:schemeClr>
                    </a:solidFill>
                  </a:tcPr>
                </a:tc>
                <a:tc>
                  <a:txBody>
                    <a:bodyPr/>
                    <a:lstStyle/>
                    <a:p>
                      <a:pPr algn="ctr"/>
                      <a:r>
                        <a:rPr lang="en-US" altLang="zh-TW" sz="2800" dirty="0" smtClean="0"/>
                        <a:t>5</a:t>
                      </a:r>
                      <a:endParaRPr lang="zh-TW" altLang="en-US" sz="2800" dirty="0"/>
                    </a:p>
                  </a:txBody>
                  <a:tcPr>
                    <a:solidFill>
                      <a:schemeClr val="accent6">
                        <a:lumMod val="40000"/>
                        <a:lumOff val="60000"/>
                      </a:schemeClr>
                    </a:solidFill>
                  </a:tcPr>
                </a:tc>
                <a:tc>
                  <a:txBody>
                    <a:bodyPr/>
                    <a:lstStyle/>
                    <a:p>
                      <a:pPr algn="ctr"/>
                      <a:r>
                        <a:rPr lang="en-US" altLang="zh-TW" sz="2800" dirty="0" smtClean="0"/>
                        <a:t>6</a:t>
                      </a:r>
                      <a:endParaRPr lang="zh-TW" altLang="en-US" sz="2800" dirty="0"/>
                    </a:p>
                  </a:txBody>
                  <a:tcPr>
                    <a:solidFill>
                      <a:schemeClr val="accent6">
                        <a:lumMod val="40000"/>
                        <a:lumOff val="60000"/>
                      </a:schemeClr>
                    </a:solidFill>
                  </a:tcPr>
                </a:tc>
                <a:tc>
                  <a:txBody>
                    <a:bodyPr/>
                    <a:lstStyle/>
                    <a:p>
                      <a:pPr algn="ctr"/>
                      <a:r>
                        <a:rPr lang="en-US" altLang="zh-TW" sz="2800" dirty="0" smtClean="0"/>
                        <a:t>7</a:t>
                      </a:r>
                      <a:endParaRPr lang="zh-TW" altLang="en-US" sz="2800" dirty="0"/>
                    </a:p>
                  </a:txBody>
                  <a:tcPr>
                    <a:solidFill>
                      <a:schemeClr val="accent6">
                        <a:lumMod val="40000"/>
                        <a:lumOff val="60000"/>
                      </a:schemeClr>
                    </a:solidFill>
                  </a:tcPr>
                </a:tc>
              </a:tr>
              <a:tr h="535785">
                <a:tc>
                  <a:txBody>
                    <a:bodyPr/>
                    <a:lstStyle/>
                    <a:p>
                      <a:pPr algn="ctr"/>
                      <a:r>
                        <a:rPr lang="en-US" altLang="zh-TW" sz="2800" dirty="0" smtClean="0"/>
                        <a:t>A</a:t>
                      </a:r>
                      <a:endParaRPr lang="zh-TW" altLang="en-US" sz="2800" dirty="0"/>
                    </a:p>
                  </a:txBody>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1</a:t>
                      </a:r>
                      <a:endParaRPr lang="zh-TW" altLang="en-US" sz="2800" dirty="0"/>
                    </a:p>
                  </a:txBody>
                  <a:tcPr>
                    <a:solidFill>
                      <a:schemeClr val="accent6">
                        <a:lumMod val="40000"/>
                        <a:lumOff val="60000"/>
                      </a:schemeClr>
                    </a:solidFill>
                  </a:tcPr>
                </a:tc>
                <a:tc>
                  <a:txBody>
                    <a:bodyPr/>
                    <a:lstStyle/>
                    <a:p>
                      <a:pPr algn="ctr"/>
                      <a:r>
                        <a:rPr lang="en-US" altLang="zh-TW" sz="2800" dirty="0" smtClean="0"/>
                        <a:t>1</a:t>
                      </a:r>
                      <a:endParaRPr lang="zh-TW" altLang="en-US" sz="2800" dirty="0"/>
                    </a:p>
                  </a:txBody>
                  <a:tcPr>
                    <a:solidFill>
                      <a:schemeClr val="accent6">
                        <a:lumMod val="40000"/>
                        <a:lumOff val="60000"/>
                      </a:schemeClr>
                    </a:solidFill>
                  </a:tcPr>
                </a:tc>
                <a:tc>
                  <a:txBody>
                    <a:bodyPr/>
                    <a:lstStyle/>
                    <a:p>
                      <a:pPr algn="ctr"/>
                      <a:r>
                        <a:rPr lang="en-US" altLang="zh-TW" sz="2800" dirty="0" smtClean="0"/>
                        <a:t>1</a:t>
                      </a:r>
                      <a:endParaRPr lang="zh-TW" altLang="en-US" sz="2800" dirty="0"/>
                    </a:p>
                  </a:txBody>
                  <a:tcPr>
                    <a:solidFill>
                      <a:schemeClr val="accent6">
                        <a:lumMod val="40000"/>
                        <a:lumOff val="60000"/>
                      </a:schemeClr>
                    </a:solidFill>
                  </a:tcPr>
                </a:tc>
                <a:tc>
                  <a:txBody>
                    <a:bodyPr/>
                    <a:lstStyle/>
                    <a:p>
                      <a:pPr algn="ctr"/>
                      <a:r>
                        <a:rPr lang="en-US" altLang="zh-TW" sz="2800" dirty="0" smtClean="0"/>
                        <a:t>1</a:t>
                      </a:r>
                      <a:endParaRPr lang="zh-TW" altLang="en-US" sz="2800" dirty="0"/>
                    </a:p>
                  </a:txBody>
                  <a:tcPr>
                    <a:solidFill>
                      <a:schemeClr val="accent6">
                        <a:lumMod val="40000"/>
                        <a:lumOff val="60000"/>
                      </a:schemeClr>
                    </a:solidFill>
                  </a:tcPr>
                </a:tc>
                <a:tc>
                  <a:txBody>
                    <a:bodyPr/>
                    <a:lstStyle/>
                    <a:p>
                      <a:pPr algn="ctr"/>
                      <a:r>
                        <a:rPr lang="en-US" altLang="zh-TW" sz="2800" dirty="0" smtClean="0"/>
                        <a:t>1</a:t>
                      </a:r>
                      <a:endParaRPr lang="zh-TW" altLang="en-US" sz="2800" dirty="0"/>
                    </a:p>
                  </a:txBody>
                  <a:tcPr>
                    <a:solidFill>
                      <a:schemeClr val="accent6">
                        <a:lumMod val="40000"/>
                        <a:lumOff val="60000"/>
                      </a:schemeClr>
                    </a:solidFill>
                  </a:tcPr>
                </a:tc>
                <a:tc>
                  <a:txBody>
                    <a:bodyPr/>
                    <a:lstStyle/>
                    <a:p>
                      <a:pPr algn="ctr"/>
                      <a:r>
                        <a:rPr lang="en-US" altLang="zh-TW" sz="2800" dirty="0" smtClean="0"/>
                        <a:t>1</a:t>
                      </a:r>
                      <a:endParaRPr lang="zh-TW" altLang="en-US" sz="2800" dirty="0"/>
                    </a:p>
                  </a:txBody>
                  <a:tcPr>
                    <a:solidFill>
                      <a:schemeClr val="accent6">
                        <a:lumMod val="40000"/>
                        <a:lumOff val="60000"/>
                      </a:schemeClr>
                    </a:solidFill>
                  </a:tcPr>
                </a:tc>
              </a:tr>
              <a:tr h="535785">
                <a:tc>
                  <a:txBody>
                    <a:bodyPr/>
                    <a:lstStyle/>
                    <a:p>
                      <a:pPr algn="ctr"/>
                      <a:r>
                        <a:rPr lang="en-US" altLang="zh-TW" sz="2800" dirty="0" smtClean="0"/>
                        <a:t>T</a:t>
                      </a:r>
                      <a:endParaRPr lang="zh-TW" altLang="en-US" sz="2800" dirty="0"/>
                    </a:p>
                  </a:txBody>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2</a:t>
                      </a:r>
                      <a:endParaRPr lang="zh-TW" altLang="en-US" sz="2800" dirty="0"/>
                    </a:p>
                  </a:txBody>
                  <a:tcPr>
                    <a:solidFill>
                      <a:schemeClr val="accent6">
                        <a:lumMod val="40000"/>
                        <a:lumOff val="60000"/>
                      </a:schemeClr>
                    </a:solidFill>
                  </a:tcPr>
                </a:tc>
                <a:tc>
                  <a:txBody>
                    <a:bodyPr/>
                    <a:lstStyle/>
                    <a:p>
                      <a:pPr algn="ctr"/>
                      <a:r>
                        <a:rPr lang="en-US" altLang="zh-TW" sz="2800" dirty="0" smtClean="0"/>
                        <a:t>3</a:t>
                      </a:r>
                      <a:endParaRPr lang="zh-TW" altLang="en-US" sz="2800" dirty="0"/>
                    </a:p>
                  </a:txBody>
                  <a:tcPr>
                    <a:solidFill>
                      <a:schemeClr val="accent6">
                        <a:lumMod val="40000"/>
                        <a:lumOff val="60000"/>
                      </a:schemeClr>
                    </a:solidFill>
                  </a:tcPr>
                </a:tc>
                <a:tc>
                  <a:txBody>
                    <a:bodyPr/>
                    <a:lstStyle/>
                    <a:p>
                      <a:pPr algn="ctr"/>
                      <a:r>
                        <a:rPr lang="en-US" altLang="zh-TW" sz="2800" dirty="0" smtClean="0"/>
                        <a:t>3</a:t>
                      </a:r>
                      <a:endParaRPr lang="zh-TW" altLang="en-US" sz="2800" dirty="0"/>
                    </a:p>
                  </a:txBody>
                  <a:tcPr>
                    <a:solidFill>
                      <a:schemeClr val="accent6">
                        <a:lumMod val="40000"/>
                        <a:lumOff val="60000"/>
                      </a:schemeClr>
                    </a:solidFill>
                  </a:tcPr>
                </a:tc>
                <a:tc>
                  <a:txBody>
                    <a:bodyPr/>
                    <a:lstStyle/>
                    <a:p>
                      <a:pPr algn="ctr"/>
                      <a:r>
                        <a:rPr lang="en-US" altLang="zh-TW" sz="2800" dirty="0" smtClean="0"/>
                        <a:t>3</a:t>
                      </a:r>
                      <a:endParaRPr lang="zh-TW" altLang="en-US" sz="2800" dirty="0"/>
                    </a:p>
                  </a:txBody>
                  <a:tcPr>
                    <a:solidFill>
                      <a:schemeClr val="accent6">
                        <a:lumMod val="40000"/>
                        <a:lumOff val="60000"/>
                      </a:schemeClr>
                    </a:solidFill>
                  </a:tcPr>
                </a:tc>
                <a:tc>
                  <a:txBody>
                    <a:bodyPr/>
                    <a:lstStyle/>
                    <a:p>
                      <a:pPr algn="ctr"/>
                      <a:r>
                        <a:rPr lang="en-US" altLang="zh-TW" sz="2800" dirty="0" smtClean="0"/>
                        <a:t>3</a:t>
                      </a:r>
                      <a:endParaRPr lang="zh-TW" altLang="en-US" sz="2800" dirty="0"/>
                    </a:p>
                  </a:txBody>
                  <a:tcPr>
                    <a:solidFill>
                      <a:schemeClr val="accent6">
                        <a:lumMod val="40000"/>
                        <a:lumOff val="60000"/>
                      </a:schemeClr>
                    </a:solidFill>
                  </a:tcPr>
                </a:tc>
              </a:tr>
              <a:tr h="535785">
                <a:tc>
                  <a:txBody>
                    <a:bodyPr/>
                    <a:lstStyle/>
                    <a:p>
                      <a:pPr algn="ctr"/>
                      <a:r>
                        <a:rPr lang="en-US" altLang="zh-TW" sz="2800" dirty="0" smtClean="0"/>
                        <a:t>C</a:t>
                      </a:r>
                      <a:endParaRPr lang="zh-TW" altLang="en-US" sz="2800" dirty="0"/>
                    </a:p>
                  </a:txBody>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5</a:t>
                      </a:r>
                      <a:endParaRPr lang="zh-TW" altLang="en-US" sz="2800" dirty="0"/>
                    </a:p>
                  </a:txBody>
                  <a:tcPr>
                    <a:solidFill>
                      <a:schemeClr val="accent6">
                        <a:lumMod val="40000"/>
                        <a:lumOff val="60000"/>
                      </a:schemeClr>
                    </a:solidFill>
                  </a:tcPr>
                </a:tc>
                <a:tc>
                  <a:txBody>
                    <a:bodyPr/>
                    <a:lstStyle/>
                    <a:p>
                      <a:pPr algn="ctr"/>
                      <a:r>
                        <a:rPr lang="en-US" altLang="zh-TW" sz="2800" dirty="0" smtClean="0"/>
                        <a:t>6</a:t>
                      </a:r>
                      <a:endParaRPr lang="zh-TW" altLang="en-US" sz="2800" dirty="0"/>
                    </a:p>
                  </a:txBody>
                  <a:tcPr>
                    <a:solidFill>
                      <a:schemeClr val="accent6">
                        <a:lumMod val="40000"/>
                        <a:lumOff val="60000"/>
                      </a:schemeClr>
                    </a:solidFill>
                  </a:tcPr>
                </a:tc>
              </a:tr>
              <a:tr h="535785">
                <a:tc>
                  <a:txBody>
                    <a:bodyPr/>
                    <a:lstStyle/>
                    <a:p>
                      <a:pPr algn="ctr"/>
                      <a:r>
                        <a:rPr lang="en-US" altLang="zh-TW" sz="2800" dirty="0" smtClean="0"/>
                        <a:t>G</a:t>
                      </a:r>
                      <a:endParaRPr lang="zh-TW" altLang="en-US" sz="2800" dirty="0"/>
                    </a:p>
                  </a:txBody>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0</a:t>
                      </a:r>
                      <a:endParaRPr lang="zh-TW" altLang="en-US" sz="2800" dirty="0"/>
                    </a:p>
                  </a:txBody>
                  <a:tcPr>
                    <a:solidFill>
                      <a:schemeClr val="accent6">
                        <a:lumMod val="40000"/>
                        <a:lumOff val="60000"/>
                      </a:schemeClr>
                    </a:solidFill>
                  </a:tcPr>
                </a:tc>
                <a:tc>
                  <a:txBody>
                    <a:bodyPr/>
                    <a:lstStyle/>
                    <a:p>
                      <a:pPr algn="ctr"/>
                      <a:r>
                        <a:rPr lang="en-US" altLang="zh-TW" sz="2800" dirty="0" smtClean="0"/>
                        <a:t>4</a:t>
                      </a:r>
                      <a:endParaRPr lang="zh-TW" altLang="en-US" sz="2800" dirty="0"/>
                    </a:p>
                  </a:txBody>
                  <a:tcPr>
                    <a:solidFill>
                      <a:schemeClr val="accent6">
                        <a:lumMod val="40000"/>
                        <a:lumOff val="60000"/>
                      </a:schemeClr>
                    </a:solidFill>
                  </a:tcPr>
                </a:tc>
                <a:tc>
                  <a:txBody>
                    <a:bodyPr/>
                    <a:lstStyle/>
                    <a:p>
                      <a:pPr algn="ctr"/>
                      <a:r>
                        <a:rPr lang="en-US" altLang="zh-TW" sz="2800" dirty="0" smtClean="0"/>
                        <a:t>4</a:t>
                      </a:r>
                      <a:endParaRPr lang="zh-TW" altLang="en-US" sz="2800" dirty="0"/>
                    </a:p>
                  </a:txBody>
                  <a:tcPr>
                    <a:solidFill>
                      <a:schemeClr val="accent6">
                        <a:lumMod val="40000"/>
                        <a:lumOff val="60000"/>
                      </a:schemeClr>
                    </a:solidFill>
                  </a:tcPr>
                </a:tc>
                <a:tc>
                  <a:txBody>
                    <a:bodyPr/>
                    <a:lstStyle/>
                    <a:p>
                      <a:pPr algn="ctr"/>
                      <a:r>
                        <a:rPr lang="en-US" altLang="zh-TW" sz="2800" dirty="0" smtClean="0"/>
                        <a:t>4</a:t>
                      </a:r>
                      <a:endParaRPr lang="zh-TW" altLang="en-US" sz="2800" dirty="0"/>
                    </a:p>
                  </a:txBody>
                  <a:tcPr>
                    <a:solidFill>
                      <a:schemeClr val="accent6">
                        <a:lumMod val="40000"/>
                        <a:lumOff val="60000"/>
                      </a:schemeClr>
                    </a:solidFill>
                  </a:tcPr>
                </a:tc>
              </a:tr>
            </a:tbl>
          </a:graphicData>
        </a:graphic>
      </p:graphicFrame>
      <p:pic>
        <p:nvPicPr>
          <p:cNvPr id="5122" name="Picture 2"/>
          <p:cNvPicPr>
            <a:picLocks noChangeAspect="1" noChangeArrowheads="1"/>
          </p:cNvPicPr>
          <p:nvPr/>
        </p:nvPicPr>
        <p:blipFill>
          <a:blip r:embed="rId2"/>
          <a:srcRect/>
          <a:stretch>
            <a:fillRect/>
          </a:stretch>
        </p:blipFill>
        <p:spPr bwMode="auto">
          <a:xfrm>
            <a:off x="5214942" y="2857496"/>
            <a:ext cx="3786214" cy="1485904"/>
          </a:xfrm>
          <a:prstGeom prst="rect">
            <a:avLst/>
          </a:prstGeom>
          <a:noFill/>
          <a:ln w="9525">
            <a:noFill/>
            <a:miter lim="800000"/>
            <a:headEnd/>
            <a:tailEnd/>
          </a:ln>
          <a:effectLst/>
        </p:spPr>
      </p:pic>
      <p:sp>
        <p:nvSpPr>
          <p:cNvPr id="6" name="文字方塊 5"/>
          <p:cNvSpPr txBox="1"/>
          <p:nvPr/>
        </p:nvSpPr>
        <p:spPr>
          <a:xfrm>
            <a:off x="571472" y="5643578"/>
            <a:ext cx="3415872" cy="523220"/>
          </a:xfrm>
          <a:prstGeom prst="rect">
            <a:avLst/>
          </a:prstGeom>
          <a:noFill/>
        </p:spPr>
        <p:txBody>
          <a:bodyPr wrap="none" rtlCol="0">
            <a:spAutoFit/>
          </a:bodyPr>
          <a:lstStyle/>
          <a:p>
            <a:r>
              <a:rPr lang="en-US" altLang="zh-TW" sz="2800" dirty="0" err="1" smtClean="0"/>
              <a:t>ex:P</a:t>
            </a:r>
            <a:r>
              <a:rPr lang="en-US" altLang="zh-TW" sz="2800" dirty="0" smtClean="0"/>
              <a:t>[2,7]</a:t>
            </a:r>
            <a:r>
              <a:rPr lang="zh-TW" altLang="en-US" sz="2800" dirty="0" smtClean="0"/>
              <a:t> </a:t>
            </a:r>
            <a:r>
              <a:rPr lang="en-US" altLang="zh-TW" sz="2800" dirty="0" smtClean="0"/>
              <a:t>=&gt;  AT</a:t>
            </a:r>
            <a:r>
              <a:rPr lang="en-US" altLang="zh-TW" sz="2800" dirty="0" smtClean="0">
                <a:solidFill>
                  <a:srgbClr val="FF0000"/>
                </a:solidFill>
              </a:rPr>
              <a:t>T</a:t>
            </a:r>
            <a:r>
              <a:rPr lang="en-US" altLang="zh-TW" sz="2800" dirty="0" smtClean="0"/>
              <a:t>GCC</a:t>
            </a:r>
            <a:r>
              <a:rPr lang="en-US" altLang="zh-TW" sz="2800" dirty="0" smtClean="0">
                <a:solidFill>
                  <a:srgbClr val="FF0000"/>
                </a:solidFill>
              </a:rPr>
              <a:t>A</a:t>
            </a:r>
          </a:p>
        </p:txBody>
      </p:sp>
      <p:sp>
        <p:nvSpPr>
          <p:cNvPr id="7" name="向右箭號 6"/>
          <p:cNvSpPr/>
          <p:nvPr/>
        </p:nvSpPr>
        <p:spPr>
          <a:xfrm rot="10800000">
            <a:off x="3000364" y="5429264"/>
            <a:ext cx="642942"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4572000" y="3357562"/>
            <a:ext cx="571504" cy="5715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6429388" y="5286388"/>
            <a:ext cx="2207656" cy="584775"/>
          </a:xfrm>
          <a:prstGeom prst="rect">
            <a:avLst/>
          </a:prstGeom>
          <a:noFill/>
        </p:spPr>
        <p:txBody>
          <a:bodyPr wrap="none" rtlCol="0">
            <a:spAutoFit/>
          </a:bodyPr>
          <a:lstStyle/>
          <a:p>
            <a:r>
              <a:rPr lang="en-US" altLang="zh-TW" sz="3200" dirty="0" smtClean="0"/>
              <a:t>P[c , j] = </a:t>
            </a:r>
            <a:r>
              <a:rPr lang="en-US" altLang="zh-TW" sz="3200" i="1" dirty="0" smtClean="0">
                <a:latin typeface="Times New Roman" pitchFamily="18" charset="0"/>
                <a:cs typeface="Times New Roman" pitchFamily="18" charset="0"/>
              </a:rPr>
              <a:t>j</a:t>
            </a:r>
            <a:r>
              <a:rPr lang="en-US" altLang="zh-TW" sz="3200" dirty="0" smtClean="0"/>
              <a:t> - </a:t>
            </a:r>
            <a:r>
              <a:rPr lang="en-US" altLang="zh-TW" sz="3200" i="1" dirty="0" smtClean="0">
                <a:latin typeface="Times New Roman" pitchFamily="18" charset="0"/>
                <a:cs typeface="Times New Roman" pitchFamily="18" charset="0"/>
              </a:rPr>
              <a:t>k</a:t>
            </a:r>
            <a:endParaRPr lang="zh-TW" altLang="en-US" sz="3200" i="1" dirty="0">
              <a:latin typeface="Times New Roman" pitchFamily="18" charset="0"/>
              <a:cs typeface="Times New Roman" pitchFamily="18" charset="0"/>
            </a:endParaRPr>
          </a:p>
        </p:txBody>
      </p:sp>
      <p:sp>
        <p:nvSpPr>
          <p:cNvPr id="10" name="投影片編號版面配置區 9"/>
          <p:cNvSpPr>
            <a:spLocks noGrp="1"/>
          </p:cNvSpPr>
          <p:nvPr>
            <p:ph type="sldNum" sz="quarter" idx="12"/>
          </p:nvPr>
        </p:nvSpPr>
        <p:spPr/>
        <p:txBody>
          <a:bodyPr/>
          <a:lstStyle/>
          <a:p>
            <a:fld id="{73DA0BB7-265A-403C-9275-D587AB510EDC}"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Dependency </a:t>
            </a:r>
            <a:r>
              <a:rPr lang="en-US" altLang="zh-TW" dirty="0" smtClean="0"/>
              <a:t>Analysis(6/6</a:t>
            </a:r>
            <a:r>
              <a:rPr lang="en-US" altLang="zh-TW" dirty="0" smtClean="0"/>
              <a:t>)</a:t>
            </a:r>
            <a:endParaRPr lang="zh-TW" altLang="en-US" dirty="0"/>
          </a:p>
        </p:txBody>
      </p:sp>
      <p:pic>
        <p:nvPicPr>
          <p:cNvPr id="5" name="Picture 2"/>
          <p:cNvPicPr>
            <a:picLocks noChangeAspect="1" noChangeArrowheads="1"/>
          </p:cNvPicPr>
          <p:nvPr/>
        </p:nvPicPr>
        <p:blipFill>
          <a:blip r:embed="rId2"/>
          <a:srcRect/>
          <a:stretch>
            <a:fillRect/>
          </a:stretch>
        </p:blipFill>
        <p:spPr bwMode="auto">
          <a:xfrm>
            <a:off x="0" y="2285992"/>
            <a:ext cx="4214810" cy="2609850"/>
          </a:xfrm>
          <a:prstGeom prst="rect">
            <a:avLst/>
          </a:prstGeom>
          <a:noFill/>
          <a:ln w="9525">
            <a:noFill/>
            <a:miter lim="800000"/>
            <a:headEnd/>
            <a:tailEnd/>
          </a:ln>
          <a:effectLst/>
        </p:spPr>
      </p:pic>
      <p:sp>
        <p:nvSpPr>
          <p:cNvPr id="6" name="向右箭號 5"/>
          <p:cNvSpPr/>
          <p:nvPr/>
        </p:nvSpPr>
        <p:spPr>
          <a:xfrm>
            <a:off x="4357686" y="3571876"/>
            <a:ext cx="357190"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2910" y="1643050"/>
            <a:ext cx="6000792" cy="584775"/>
          </a:xfrm>
          <a:prstGeom prst="rect">
            <a:avLst/>
          </a:prstGeom>
          <a:noFill/>
        </p:spPr>
        <p:txBody>
          <a:bodyPr wrap="square" rtlCol="0">
            <a:spAutoFit/>
          </a:bodyPr>
          <a:lstStyle/>
          <a:p>
            <a:r>
              <a:rPr lang="en-US" altLang="zh-TW" sz="3200" dirty="0" smtClean="0"/>
              <a:t>replacing  </a:t>
            </a:r>
            <a:r>
              <a:rPr lang="en-US" altLang="zh-TW" sz="3200" i="1" dirty="0" smtClean="0"/>
              <a:t>j - k with P[c, j]</a:t>
            </a:r>
            <a:endParaRPr lang="zh-TW" altLang="en-US" sz="3200" dirty="0"/>
          </a:p>
        </p:txBody>
      </p:sp>
      <p:pic>
        <p:nvPicPr>
          <p:cNvPr id="6147" name="Picture 3"/>
          <p:cNvPicPr>
            <a:picLocks noChangeAspect="1" noChangeArrowheads="1"/>
          </p:cNvPicPr>
          <p:nvPr/>
        </p:nvPicPr>
        <p:blipFill>
          <a:blip r:embed="rId3"/>
          <a:srcRect/>
          <a:stretch>
            <a:fillRect/>
          </a:stretch>
        </p:blipFill>
        <p:spPr bwMode="auto">
          <a:xfrm>
            <a:off x="4753324" y="2214554"/>
            <a:ext cx="4390676" cy="2714644"/>
          </a:xfrm>
          <a:prstGeom prst="rect">
            <a:avLst/>
          </a:prstGeom>
          <a:noFill/>
          <a:ln w="9525">
            <a:noFill/>
            <a:miter lim="800000"/>
            <a:headEnd/>
            <a:tailEnd/>
          </a:ln>
          <a:effectLst/>
        </p:spPr>
      </p:pic>
      <p:sp>
        <p:nvSpPr>
          <p:cNvPr id="9" name="投影片編號版面配置區 8"/>
          <p:cNvSpPr>
            <a:spLocks noGrp="1"/>
          </p:cNvSpPr>
          <p:nvPr>
            <p:ph type="sldNum" sz="quarter" idx="12"/>
          </p:nvPr>
        </p:nvSpPr>
        <p:spPr/>
        <p:txBody>
          <a:bodyPr/>
          <a:lstStyle/>
          <a:p>
            <a:fld id="{73DA0BB7-265A-403C-9275-D587AB510EDC}"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A New Technique for Efficient Parallelization</a:t>
            </a:r>
            <a:endParaRPr lang="zh-TW" altLang="en-US" dirty="0"/>
          </a:p>
        </p:txBody>
      </p:sp>
      <p:pic>
        <p:nvPicPr>
          <p:cNvPr id="7170" name="Picture 2"/>
          <p:cNvPicPr>
            <a:picLocks noChangeAspect="1" noChangeArrowheads="1"/>
          </p:cNvPicPr>
          <p:nvPr/>
        </p:nvPicPr>
        <p:blipFill>
          <a:blip r:embed="rId2"/>
          <a:srcRect/>
          <a:stretch>
            <a:fillRect/>
          </a:stretch>
        </p:blipFill>
        <p:spPr bwMode="auto">
          <a:xfrm>
            <a:off x="428596" y="1500174"/>
            <a:ext cx="7923213" cy="3500462"/>
          </a:xfrm>
          <a:prstGeom prst="rect">
            <a:avLst/>
          </a:prstGeom>
          <a:noFill/>
          <a:ln w="9525">
            <a:noFill/>
            <a:miter lim="800000"/>
            <a:headEnd/>
            <a:tailEnd/>
          </a:ln>
          <a:effectLst/>
        </p:spPr>
      </p:pic>
      <p:sp>
        <p:nvSpPr>
          <p:cNvPr id="5" name="文字方塊 4"/>
          <p:cNvSpPr txBox="1"/>
          <p:nvPr/>
        </p:nvSpPr>
        <p:spPr>
          <a:xfrm>
            <a:off x="6500826" y="1785926"/>
            <a:ext cx="1035861" cy="584775"/>
          </a:xfrm>
          <a:prstGeom prst="rect">
            <a:avLst/>
          </a:prstGeom>
          <a:noFill/>
        </p:spPr>
        <p:txBody>
          <a:bodyPr wrap="none" rtlCol="0">
            <a:spAutoFit/>
          </a:bodyPr>
          <a:lstStyle/>
          <a:p>
            <a:r>
              <a:rPr lang="en-US" altLang="zh-TW" sz="3200" dirty="0" smtClean="0">
                <a:solidFill>
                  <a:srgbClr val="FF0000"/>
                </a:solidFill>
              </a:rPr>
              <a:t>O(m)</a:t>
            </a:r>
            <a:endParaRPr lang="zh-TW" altLang="en-US" sz="3200" dirty="0">
              <a:solidFill>
                <a:srgbClr val="FF0000"/>
              </a:solidFill>
            </a:endParaRPr>
          </a:p>
        </p:txBody>
      </p:sp>
      <p:sp>
        <p:nvSpPr>
          <p:cNvPr id="6" name="文字方塊 5"/>
          <p:cNvSpPr txBox="1"/>
          <p:nvPr/>
        </p:nvSpPr>
        <p:spPr>
          <a:xfrm>
            <a:off x="6536535" y="3344291"/>
            <a:ext cx="923651" cy="584775"/>
          </a:xfrm>
          <a:prstGeom prst="rect">
            <a:avLst/>
          </a:prstGeom>
          <a:noFill/>
        </p:spPr>
        <p:txBody>
          <a:bodyPr wrap="none" rtlCol="0">
            <a:spAutoFit/>
          </a:bodyPr>
          <a:lstStyle/>
          <a:p>
            <a:r>
              <a:rPr lang="en-US" altLang="zh-TW" sz="3200" dirty="0" smtClean="0">
                <a:solidFill>
                  <a:srgbClr val="FF0000"/>
                </a:solidFill>
              </a:rPr>
              <a:t>O(n)</a:t>
            </a:r>
            <a:endParaRPr lang="zh-TW" altLang="en-US" sz="3200" dirty="0">
              <a:solidFill>
                <a:srgbClr val="FF0000"/>
              </a:solidFill>
            </a:endParaRPr>
          </a:p>
        </p:txBody>
      </p:sp>
      <p:sp>
        <p:nvSpPr>
          <p:cNvPr id="7" name="文字方塊 6"/>
          <p:cNvSpPr txBox="1"/>
          <p:nvPr/>
        </p:nvSpPr>
        <p:spPr>
          <a:xfrm>
            <a:off x="1" y="5429264"/>
            <a:ext cx="9144000" cy="954107"/>
          </a:xfrm>
          <a:prstGeom prst="rect">
            <a:avLst/>
          </a:prstGeom>
          <a:noFill/>
        </p:spPr>
        <p:txBody>
          <a:bodyPr wrap="square" rtlCol="0">
            <a:spAutoFit/>
          </a:bodyPr>
          <a:lstStyle/>
          <a:p>
            <a:r>
              <a:rPr lang="en-US" altLang="zh-TW" sz="2800" dirty="0" smtClean="0"/>
              <a:t>Assuming </a:t>
            </a:r>
            <a:r>
              <a:rPr lang="en-US" altLang="zh-TW" sz="2800" dirty="0" smtClean="0">
                <a:solidFill>
                  <a:srgbClr val="FF0000"/>
                </a:solidFill>
              </a:rPr>
              <a:t>max(m, n) </a:t>
            </a:r>
            <a:r>
              <a:rPr lang="en-US" altLang="zh-TW" sz="2800" dirty="0" smtClean="0"/>
              <a:t>processors, Overall the algorithm’s time complex is </a:t>
            </a:r>
            <a:r>
              <a:rPr lang="en-US" altLang="zh-TW" sz="2800" i="1" dirty="0" smtClean="0">
                <a:solidFill>
                  <a:srgbClr val="FF0000"/>
                </a:solidFill>
              </a:rPr>
              <a:t>O</a:t>
            </a:r>
            <a:r>
              <a:rPr lang="en-US" altLang="zh-TW" sz="2800" dirty="0" smtClean="0">
                <a:solidFill>
                  <a:srgbClr val="FF0000"/>
                </a:solidFill>
              </a:rPr>
              <a:t>(</a:t>
            </a:r>
            <a:r>
              <a:rPr lang="en-US" altLang="zh-TW" sz="2800" i="1" dirty="0" smtClean="0">
                <a:solidFill>
                  <a:srgbClr val="FF0000"/>
                </a:solidFill>
              </a:rPr>
              <a:t>max</a:t>
            </a:r>
            <a:r>
              <a:rPr lang="en-US" altLang="zh-TW" sz="2800" dirty="0" smtClean="0">
                <a:solidFill>
                  <a:srgbClr val="FF0000"/>
                </a:solidFill>
              </a:rPr>
              <a:t>(</a:t>
            </a:r>
            <a:r>
              <a:rPr lang="en-US" altLang="zh-TW" sz="2800" i="1" dirty="0" smtClean="0">
                <a:solidFill>
                  <a:srgbClr val="FF0000"/>
                </a:solidFill>
              </a:rPr>
              <a:t>m, n</a:t>
            </a:r>
            <a:r>
              <a:rPr lang="en-US" altLang="zh-TW" sz="2800" dirty="0" smtClean="0">
                <a:solidFill>
                  <a:srgbClr val="FF0000"/>
                </a:solidFill>
              </a:rPr>
              <a:t>))</a:t>
            </a:r>
            <a:r>
              <a:rPr lang="en-US" altLang="zh-TW" sz="2800" dirty="0" smtClean="0"/>
              <a:t>. </a:t>
            </a:r>
            <a:r>
              <a:rPr lang="en-US" altLang="zh-TW" sz="2800" smtClean="0"/>
              <a:t>|A| = n ,|B| = m</a:t>
            </a:r>
            <a:endParaRPr lang="zh-TW" altLang="en-US" sz="2800" dirty="0"/>
          </a:p>
        </p:txBody>
      </p:sp>
      <p:sp>
        <p:nvSpPr>
          <p:cNvPr id="8" name="投影片編號版面配置區 7"/>
          <p:cNvSpPr>
            <a:spLocks noGrp="1"/>
          </p:cNvSpPr>
          <p:nvPr>
            <p:ph type="sldNum" sz="quarter" idx="12"/>
          </p:nvPr>
        </p:nvSpPr>
        <p:spPr/>
        <p:txBody>
          <a:bodyPr/>
          <a:lstStyle/>
          <a:p>
            <a:fld id="{73DA0BB7-265A-403C-9275-D587AB510EDC}"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a:t>
            </a:r>
            <a:endParaRPr lang="zh-TW" altLang="en-US" dirty="0"/>
          </a:p>
        </p:txBody>
      </p:sp>
      <p:pic>
        <p:nvPicPr>
          <p:cNvPr id="8194" name="Picture 2"/>
          <p:cNvPicPr>
            <a:picLocks noChangeAspect="1" noChangeArrowheads="1"/>
          </p:cNvPicPr>
          <p:nvPr/>
        </p:nvPicPr>
        <p:blipFill>
          <a:blip r:embed="rId2"/>
          <a:srcRect/>
          <a:stretch>
            <a:fillRect/>
          </a:stretch>
        </p:blipFill>
        <p:spPr bwMode="auto">
          <a:xfrm>
            <a:off x="0" y="1571612"/>
            <a:ext cx="9144000" cy="5286388"/>
          </a:xfrm>
          <a:prstGeom prst="rect">
            <a:avLst/>
          </a:prstGeom>
          <a:noFill/>
          <a:ln w="9525">
            <a:noFill/>
            <a:miter lim="800000"/>
            <a:headEnd/>
            <a:tailEnd/>
          </a:ln>
          <a:effectLst/>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p:cNvSpPr>
            <a:spLocks noGrp="1"/>
          </p:cNvSpPr>
          <p:nvPr>
            <p:ph idx="1"/>
          </p:nvPr>
        </p:nvSpPr>
        <p:spPr>
          <a:xfrm>
            <a:off x="457200" y="1600200"/>
            <a:ext cx="8229600" cy="4525963"/>
          </a:xfrm>
        </p:spPr>
        <p:txBody>
          <a:bodyPr/>
          <a:lstStyle/>
          <a:p>
            <a:endParaRPr lang="en-US" altLang="zh-TW" dirty="0" smtClean="0"/>
          </a:p>
          <a:p>
            <a:endParaRPr lang="en-US" altLang="zh-TW" dirty="0" smtClean="0"/>
          </a:p>
          <a:p>
            <a:endParaRPr lang="en-US" altLang="zh-TW" dirty="0" smtClean="0"/>
          </a:p>
          <a:p>
            <a:pPr>
              <a:buNone/>
            </a:pPr>
            <a:r>
              <a:rPr lang="en-US" altLang="zh-TW" dirty="0" smtClean="0"/>
              <a:t>                         Thank you for listening</a:t>
            </a:r>
            <a:endParaRPr lang="zh-TW" altLang="en-US" dirty="0" smtClean="0"/>
          </a:p>
          <a:p>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17</a:t>
            </a:fld>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547</TotalTime>
  <Words>632</Words>
  <PresentationFormat>如螢幕大小 (4:3)</PresentationFormat>
  <Paragraphs>269</Paragraphs>
  <Slides>17</Slides>
  <Notes>0</Notes>
  <HiddenSlides>0</HiddenSlides>
  <MMClips>0</MMClips>
  <ScaleCrop>false</ScaleCrop>
  <HeadingPairs>
    <vt:vector size="4" baseType="variant">
      <vt:variant>
        <vt:lpstr>佈景主題</vt:lpstr>
      </vt:variant>
      <vt:variant>
        <vt:i4>1</vt:i4>
      </vt:variant>
      <vt:variant>
        <vt:lpstr>投影片標題</vt:lpstr>
      </vt:variant>
      <vt:variant>
        <vt:i4>17</vt:i4>
      </vt:variant>
    </vt:vector>
  </HeadingPairs>
  <TitlesOfParts>
    <vt:vector size="18" baseType="lpstr">
      <vt:lpstr>Office 佈景主題</vt:lpstr>
      <vt:lpstr>An Efficient Parallel Algorithm for Longest Common Subsequence Problem on GPUs</vt:lpstr>
      <vt:lpstr>Abstract(1/2)</vt:lpstr>
      <vt:lpstr>Abstract(2/2)</vt:lpstr>
      <vt:lpstr>Introduction(1/5)</vt:lpstr>
      <vt:lpstr>Introduction(2/5)</vt:lpstr>
      <vt:lpstr>Introduction(3/5)</vt:lpstr>
      <vt:lpstr>Introduction(4/5)</vt:lpstr>
      <vt:lpstr>Introduction(5/5)</vt:lpstr>
      <vt:lpstr>Data Dependency Analysis(1/6)</vt:lpstr>
      <vt:lpstr>Data Dependency Analysis(2/6)</vt:lpstr>
      <vt:lpstr>Data Dependency Analysis(3/6)</vt:lpstr>
      <vt:lpstr>Data Dependency Analysis(4/6)</vt:lpstr>
      <vt:lpstr>Data Dependency Analysis(5/6)</vt:lpstr>
      <vt:lpstr>Data Dependency Analysis(6/6)</vt:lpstr>
      <vt:lpstr>A New Technique for Efficient Parallelization</vt:lpstr>
      <vt:lpstr>Experimental Results</vt:lpstr>
      <vt:lpstr>投影片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Efficient Parallel Algorithm for Longest Common Subsequence Problem on GPUs</dc:title>
  <cp:lastModifiedBy>user</cp:lastModifiedBy>
  <cp:revision>44</cp:revision>
  <dcterms:modified xsi:type="dcterms:W3CDTF">2014-07-08T08:58:38Z</dcterms:modified>
</cp:coreProperties>
</file>