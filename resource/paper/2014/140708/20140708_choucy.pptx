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76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2" r:id="rId22"/>
    <p:sldId id="277" r:id="rId23"/>
    <p:sldId id="284" r:id="rId24"/>
    <p:sldId id="278" r:id="rId25"/>
    <p:sldId id="279" r:id="rId26"/>
    <p:sldId id="280" r:id="rId27"/>
    <p:sldId id="281" r:id="rId28"/>
    <p:sldId id="283" r:id="rId2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9DF154-8A47-4DF9-8C4F-A8797476DE9D}" type="datetimeFigureOut">
              <a:rPr lang="zh-TW" altLang="en-US" smtClean="0"/>
              <a:pPr/>
              <a:t>2014/7/8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4A2D2F-FBFC-4419-ABAD-5BBF647612F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44438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2014/7/8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2014/7/8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2014/7/8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2014/7/8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2014/7/8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2014/7/8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2014/7/8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2014/7/8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2014/7/8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2014/7/8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2014/7/8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2014/7/8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Speeding-up Hirschberg and Hunt-Szymanski LCS Algorithms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zh-TW" sz="2600" dirty="0" err="1" smtClean="0"/>
              <a:t>Maxime</a:t>
            </a:r>
            <a:r>
              <a:rPr lang="en-US" altLang="zh-TW" sz="2600" dirty="0" smtClean="0"/>
              <a:t> </a:t>
            </a:r>
            <a:r>
              <a:rPr lang="en-US" altLang="zh-TW" sz="2600" dirty="0" err="1" smtClean="0"/>
              <a:t>Crochemore</a:t>
            </a:r>
            <a:r>
              <a:rPr lang="en-US" altLang="zh-TW" sz="2600" dirty="0" smtClean="0"/>
              <a:t>, Costas S. Iliopoulos, and </a:t>
            </a:r>
            <a:r>
              <a:rPr lang="en-US" altLang="zh-TW" sz="2600" dirty="0" err="1" smtClean="0"/>
              <a:t>Yoan</a:t>
            </a:r>
            <a:r>
              <a:rPr lang="en-US" altLang="zh-TW" sz="2600" dirty="0" smtClean="0"/>
              <a:t> J. Pinzon</a:t>
            </a:r>
            <a:br>
              <a:rPr lang="en-US" altLang="zh-TW" sz="2600" dirty="0" smtClean="0"/>
            </a:br>
            <a:r>
              <a:rPr lang="en-US" altLang="zh-TW" sz="2600" dirty="0" smtClean="0"/>
              <a:t>Fundamental </a:t>
            </a:r>
            <a:r>
              <a:rPr lang="en-US" altLang="zh-TW" sz="2600" dirty="0" err="1" smtClean="0"/>
              <a:t>Informaticae</a:t>
            </a:r>
            <a:r>
              <a:rPr lang="en-US" altLang="zh-TW" sz="2600" dirty="0" smtClean="0"/>
              <a:t> </a:t>
            </a:r>
            <a:r>
              <a:rPr lang="en-US" altLang="zh-TW" sz="2600" dirty="0"/>
              <a:t>XX </a:t>
            </a:r>
            <a:r>
              <a:rPr lang="en-US" altLang="zh-TW" sz="2600" dirty="0" smtClean="0"/>
              <a:t>pp.1-14(2003)</a:t>
            </a:r>
            <a:endParaRPr lang="zh-TW" altLang="en-US" sz="2600" dirty="0"/>
          </a:p>
        </p:txBody>
      </p:sp>
    </p:spTree>
    <p:extLst>
      <p:ext uri="{BB962C8B-B14F-4D97-AF65-F5344CB8AC3E}">
        <p14:creationId xmlns:p14="http://schemas.microsoft.com/office/powerpoint/2010/main" xmlns="" val="74920774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827584" y="1484784"/>
            <a:ext cx="748883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smtClean="0"/>
              <a:t>  Two </a:t>
            </a:r>
            <a:r>
              <a:rPr lang="en-US" altLang="zh-TW" sz="2800" dirty="0"/>
              <a:t>algorithms are presented that solve </a:t>
            </a:r>
            <a:r>
              <a:rPr lang="en-US" altLang="zh-TW" sz="2800" dirty="0" smtClean="0"/>
              <a:t>the problem </a:t>
            </a:r>
            <a:r>
              <a:rPr lang="en-US" altLang="zh-TW" sz="2800" dirty="0"/>
              <a:t>of recovering the longest </a:t>
            </a:r>
            <a:r>
              <a:rPr lang="en-US" altLang="zh-TW" sz="2800" dirty="0" smtClean="0"/>
              <a:t>common subsequence </a:t>
            </a:r>
            <a:r>
              <a:rPr lang="en-US" altLang="zh-TW" sz="2800" dirty="0"/>
              <a:t>of two strings. The </a:t>
            </a:r>
            <a:r>
              <a:rPr lang="en-US" altLang="zh-TW" sz="2800" dirty="0" smtClean="0"/>
              <a:t>first </a:t>
            </a:r>
            <a:r>
              <a:rPr lang="en-US" altLang="zh-TW" sz="2800" dirty="0"/>
              <a:t>algorithm </a:t>
            </a:r>
            <a:r>
              <a:rPr lang="en-US" altLang="zh-TW" sz="2800" dirty="0" smtClean="0"/>
              <a:t>is an </a:t>
            </a:r>
            <a:r>
              <a:rPr lang="en-US" altLang="zh-TW" sz="2800" dirty="0"/>
              <a:t>improvement of Hirschberg's </a:t>
            </a:r>
            <a:r>
              <a:rPr lang="en-US" altLang="zh-TW" sz="2800" dirty="0" smtClean="0"/>
              <a:t>divide-and-conquer algorithm</a:t>
            </a:r>
            <a:r>
              <a:rPr lang="en-US" altLang="zh-TW" sz="2800" dirty="0"/>
              <a:t>. The second algorithm is </a:t>
            </a:r>
            <a:r>
              <a:rPr lang="en-US" altLang="zh-TW" sz="2800" dirty="0" smtClean="0"/>
              <a:t>an improvement </a:t>
            </a:r>
            <a:r>
              <a:rPr lang="en-US" altLang="zh-TW" sz="2800" dirty="0"/>
              <a:t>of Hunt-Szymanski algorithm </a:t>
            </a:r>
            <a:r>
              <a:rPr lang="en-US" altLang="zh-TW" sz="2800" dirty="0" smtClean="0"/>
              <a:t>based on </a:t>
            </a:r>
            <a:r>
              <a:rPr lang="en-US" altLang="zh-TW" sz="2800" dirty="0"/>
              <a:t>an </a:t>
            </a:r>
            <a:r>
              <a:rPr lang="en-US" altLang="zh-TW" sz="2800" dirty="0" smtClean="0"/>
              <a:t>efficient </a:t>
            </a:r>
            <a:r>
              <a:rPr lang="en-US" altLang="zh-TW" sz="2800" dirty="0"/>
              <a:t>computation of all dominant </a:t>
            </a:r>
            <a:r>
              <a:rPr lang="en-US" altLang="zh-TW" sz="2800" dirty="0" smtClean="0"/>
              <a:t>match points</a:t>
            </a:r>
            <a:r>
              <a:rPr lang="en-US" altLang="zh-TW" sz="2800" dirty="0"/>
              <a:t>. These two algorithms use </a:t>
            </a:r>
            <a:r>
              <a:rPr lang="en-US" altLang="zh-TW" sz="2800" dirty="0" smtClean="0"/>
              <a:t>bit-vector operations </a:t>
            </a:r>
            <a:r>
              <a:rPr lang="en-US" altLang="zh-TW" sz="2800" dirty="0"/>
              <a:t>and are shown to work very </a:t>
            </a:r>
            <a:r>
              <a:rPr lang="en-US" altLang="zh-TW" sz="2800" dirty="0" smtClean="0"/>
              <a:t>efficiently in </a:t>
            </a:r>
            <a:r>
              <a:rPr lang="en-US" altLang="zh-TW" sz="2800" dirty="0"/>
              <a:t>practice.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46176160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Basic Background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712720" y="1340768"/>
            <a:ext cx="15856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 = </a:t>
            </a:r>
            <a:r>
              <a:rPr lang="en-US" altLang="zh-TW" sz="2400" dirty="0" err="1" smtClean="0"/>
              <a:t>ttatccg</a:t>
            </a:r>
            <a:endParaRPr lang="en-US" altLang="zh-TW" sz="2400" dirty="0" smtClean="0"/>
          </a:p>
          <a:p>
            <a:r>
              <a:rPr lang="en-US" altLang="zh-TW" sz="2400" dirty="0" smtClean="0"/>
              <a:t>y = </a:t>
            </a:r>
            <a:r>
              <a:rPr lang="en-US" altLang="zh-TW" sz="2400" dirty="0" err="1" smtClean="0"/>
              <a:t>agcaact</a:t>
            </a:r>
            <a:endParaRPr lang="zh-TW" altLang="en-US" sz="2400" dirty="0"/>
          </a:p>
        </p:txBody>
      </p:sp>
      <p:pic>
        <p:nvPicPr>
          <p:cNvPr id="1027" name="Picture 3" descr="F:\Sena\Desktop\LM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5990" r="11286"/>
          <a:stretch/>
        </p:blipFill>
        <p:spPr bwMode="auto">
          <a:xfrm>
            <a:off x="5068388" y="1357306"/>
            <a:ext cx="3871933" cy="4998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:\Sena\Desktop\LM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3573016"/>
            <a:ext cx="4960884" cy="892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6822213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F:\Sena\Desktop\LM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5990" r="11286"/>
          <a:stretch/>
        </p:blipFill>
        <p:spPr bwMode="auto">
          <a:xfrm>
            <a:off x="714347" y="2000239"/>
            <a:ext cx="3500463" cy="451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Basic Background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712720" y="1340768"/>
            <a:ext cx="15856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 = </a:t>
            </a:r>
            <a:r>
              <a:rPr lang="en-US" altLang="zh-TW" sz="2400" dirty="0" err="1" smtClean="0"/>
              <a:t>ttatccg</a:t>
            </a:r>
            <a:endParaRPr lang="en-US" altLang="zh-TW" sz="2400" dirty="0" smtClean="0"/>
          </a:p>
          <a:p>
            <a:r>
              <a:rPr lang="en-US" altLang="zh-TW" sz="2400" dirty="0" smtClean="0"/>
              <a:t>y = </a:t>
            </a:r>
            <a:r>
              <a:rPr lang="en-US" altLang="zh-TW" sz="2400" dirty="0" err="1" smtClean="0"/>
              <a:t>agcaact</a:t>
            </a:r>
            <a:endParaRPr lang="zh-TW" altLang="en-US" sz="2400" dirty="0"/>
          </a:p>
        </p:txBody>
      </p:sp>
      <p:pic>
        <p:nvPicPr>
          <p:cNvPr id="3074" name="Picture 2" descr="F:\Sena\Desktop\BVV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09161" y="1857364"/>
            <a:ext cx="3770562" cy="4649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F:\Sena\Desktop\BVVD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43074"/>
          <a:stretch/>
        </p:blipFill>
        <p:spPr bwMode="auto">
          <a:xfrm>
            <a:off x="2714612" y="1356307"/>
            <a:ext cx="4083009" cy="427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56902"/>
          <a:stretch/>
        </p:blipFill>
        <p:spPr bwMode="auto">
          <a:xfrm>
            <a:off x="2714612" y="1785926"/>
            <a:ext cx="3092491" cy="433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18807069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Basic Background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712720" y="1340768"/>
            <a:ext cx="15856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 = </a:t>
            </a:r>
            <a:r>
              <a:rPr lang="en-US" altLang="zh-TW" sz="2400" dirty="0" err="1" smtClean="0"/>
              <a:t>ttatccg</a:t>
            </a:r>
            <a:endParaRPr lang="en-US" altLang="zh-TW" sz="2400" dirty="0" smtClean="0"/>
          </a:p>
          <a:p>
            <a:r>
              <a:rPr lang="en-US" altLang="zh-TW" sz="2400" dirty="0" smtClean="0"/>
              <a:t>y = </a:t>
            </a:r>
            <a:r>
              <a:rPr lang="en-US" altLang="zh-TW" sz="2400" dirty="0" err="1" smtClean="0"/>
              <a:t>agcaact</a:t>
            </a:r>
            <a:endParaRPr lang="zh-TW" altLang="en-US" sz="2400" dirty="0"/>
          </a:p>
        </p:txBody>
      </p:sp>
      <p:pic>
        <p:nvPicPr>
          <p:cNvPr id="2050" name="Picture 2" descr="F:\Sena\Desktop\BV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36096" y="1484784"/>
            <a:ext cx="3196530" cy="513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F:\Sena\Desktop\BVM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6435" y="3571557"/>
            <a:ext cx="5112568" cy="957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77151360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Basic Background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712720" y="1340768"/>
            <a:ext cx="15856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 = </a:t>
            </a:r>
            <a:r>
              <a:rPr lang="en-US" altLang="zh-TW" sz="2400" dirty="0" err="1" smtClean="0"/>
              <a:t>ttatccg</a:t>
            </a:r>
            <a:endParaRPr lang="en-US" altLang="zh-TW" sz="2400" dirty="0" smtClean="0"/>
          </a:p>
          <a:p>
            <a:r>
              <a:rPr lang="en-US" altLang="zh-TW" sz="2400" dirty="0" smtClean="0"/>
              <a:t>y = </a:t>
            </a:r>
            <a:r>
              <a:rPr lang="en-US" altLang="zh-TW" sz="2400" dirty="0" err="1" smtClean="0"/>
              <a:t>agcaact</a:t>
            </a:r>
            <a:endParaRPr lang="zh-TW" altLang="en-US" sz="2400" dirty="0"/>
          </a:p>
        </p:txBody>
      </p:sp>
      <p:pic>
        <p:nvPicPr>
          <p:cNvPr id="4098" name="Picture 2" descr="F:\Sena\Desktop\MPVP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0077" y="2245013"/>
            <a:ext cx="7923845" cy="4380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39779726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Basic Background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712720" y="1340768"/>
            <a:ext cx="15856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x = </a:t>
            </a:r>
            <a:r>
              <a:rPr lang="en-US" altLang="zh-TW" sz="2400" dirty="0" err="1" smtClean="0"/>
              <a:t>ttatccg</a:t>
            </a:r>
            <a:endParaRPr lang="en-US" altLang="zh-TW" sz="2400" dirty="0" smtClean="0"/>
          </a:p>
          <a:p>
            <a:r>
              <a:rPr lang="en-US" altLang="zh-TW" sz="2400" dirty="0" smtClean="0"/>
              <a:t>y = </a:t>
            </a:r>
            <a:r>
              <a:rPr lang="en-US" altLang="zh-TW" sz="2400" dirty="0" err="1" smtClean="0"/>
              <a:t>agcaact</a:t>
            </a:r>
            <a:endParaRPr lang="zh-TW" altLang="en-US" sz="2400" dirty="0"/>
          </a:p>
        </p:txBody>
      </p:sp>
      <p:pic>
        <p:nvPicPr>
          <p:cNvPr id="4098" name="Picture 2" descr="F:\Sena\Desktop\MPVP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50000"/>
          <a:stretch/>
        </p:blipFill>
        <p:spPr bwMode="auto">
          <a:xfrm>
            <a:off x="5148064" y="1844824"/>
            <a:ext cx="3730224" cy="4124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F:\Sena\Desktop\VP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12720" y="5857111"/>
            <a:ext cx="7723380" cy="810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F:\Sena\Desktop\BVM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2381"/>
          <a:stretch/>
        </p:blipFill>
        <p:spPr bwMode="auto">
          <a:xfrm>
            <a:off x="276993" y="2564862"/>
            <a:ext cx="2290788" cy="3222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F:\Sena\Desktop\MPVP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60221"/>
          <a:stretch/>
        </p:blipFill>
        <p:spPr bwMode="auto">
          <a:xfrm>
            <a:off x="2627784" y="2340974"/>
            <a:ext cx="2495858" cy="3468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91281446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Speeding-up the Hirschberg Algorithm</a:t>
            </a:r>
            <a:endParaRPr lang="zh-TW" altLang="en-US" dirty="0"/>
          </a:p>
        </p:txBody>
      </p:sp>
      <p:pic>
        <p:nvPicPr>
          <p:cNvPr id="6146" name="Picture 2" descr="F:\Sena\Desktop\sp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67644" y="1294142"/>
            <a:ext cx="6408712" cy="5395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02113799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err="1" smtClean="0"/>
              <a:t>FindRow</a:t>
            </a:r>
            <a:endParaRPr lang="zh-TW" altLang="en-US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42875" y="2571750"/>
          <a:ext cx="4143378" cy="22256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563"/>
                <a:gridCol w="690563"/>
                <a:gridCol w="690563"/>
                <a:gridCol w="690563"/>
                <a:gridCol w="690563"/>
                <a:gridCol w="690563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rgbClr val="00B050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357688" y="2571750"/>
          <a:ext cx="4643436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3906"/>
                <a:gridCol w="773906"/>
                <a:gridCol w="773906"/>
                <a:gridCol w="773906"/>
                <a:gridCol w="773906"/>
                <a:gridCol w="773906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357688" y="5000625"/>
          <a:ext cx="4643436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3906"/>
                <a:gridCol w="773906"/>
                <a:gridCol w="773906"/>
                <a:gridCol w="773906"/>
                <a:gridCol w="773906"/>
                <a:gridCol w="773906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T="45733" marB="45733"/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向下箭號 8"/>
          <p:cNvSpPr/>
          <p:nvPr/>
        </p:nvSpPr>
        <p:spPr>
          <a:xfrm>
            <a:off x="6357938" y="3929063"/>
            <a:ext cx="571500" cy="78581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179512" y="1594347"/>
            <a:ext cx="417858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dirty="0"/>
              <a:t>A = “ABCD”     B = “ACDE”</a:t>
            </a:r>
          </a:p>
        </p:txBody>
      </p:sp>
    </p:spTree>
    <p:extLst>
      <p:ext uri="{BB962C8B-B14F-4D97-AF65-F5344CB8AC3E}">
        <p14:creationId xmlns:p14="http://schemas.microsoft.com/office/powerpoint/2010/main" xmlns="" val="91533584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FindRow</a:t>
            </a:r>
            <a:endParaRPr lang="zh-TW" altLang="en-US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42875" y="2571750"/>
          <a:ext cx="4143378" cy="22256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563"/>
                <a:gridCol w="690563"/>
                <a:gridCol w="690563"/>
                <a:gridCol w="690563"/>
                <a:gridCol w="690563"/>
                <a:gridCol w="690563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rgbClr val="00B050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357688" y="2571750"/>
          <a:ext cx="4643436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3906"/>
                <a:gridCol w="773906"/>
                <a:gridCol w="773906"/>
                <a:gridCol w="773906"/>
                <a:gridCol w="773906"/>
                <a:gridCol w="773906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357688" y="5000625"/>
          <a:ext cx="4643436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3906"/>
                <a:gridCol w="773906"/>
                <a:gridCol w="773906"/>
                <a:gridCol w="773906"/>
                <a:gridCol w="773906"/>
                <a:gridCol w="773906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向下箭號 6"/>
          <p:cNvSpPr/>
          <p:nvPr/>
        </p:nvSpPr>
        <p:spPr>
          <a:xfrm>
            <a:off x="6357938" y="3929063"/>
            <a:ext cx="571500" cy="78581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179512" y="1594347"/>
            <a:ext cx="417858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dirty="0"/>
              <a:t>A = “ABCD”     B = “ACDE”</a:t>
            </a:r>
          </a:p>
        </p:txBody>
      </p:sp>
    </p:spTree>
    <p:extLst>
      <p:ext uri="{BB962C8B-B14F-4D97-AF65-F5344CB8AC3E}">
        <p14:creationId xmlns:p14="http://schemas.microsoft.com/office/powerpoint/2010/main" xmlns="" val="309811064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FindRow</a:t>
            </a:r>
            <a:endParaRPr lang="zh-TW" altLang="en-US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42875" y="2571750"/>
          <a:ext cx="4143378" cy="22256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563"/>
                <a:gridCol w="690563"/>
                <a:gridCol w="690563"/>
                <a:gridCol w="690563"/>
                <a:gridCol w="690563"/>
                <a:gridCol w="690563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rgbClr val="00B050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357688" y="2571750"/>
          <a:ext cx="4643436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3906"/>
                <a:gridCol w="773906"/>
                <a:gridCol w="773906"/>
                <a:gridCol w="773906"/>
                <a:gridCol w="773906"/>
                <a:gridCol w="773906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357688" y="5000625"/>
          <a:ext cx="4643436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3906"/>
                <a:gridCol w="773906"/>
                <a:gridCol w="773906"/>
                <a:gridCol w="773906"/>
                <a:gridCol w="773906"/>
                <a:gridCol w="773906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向下箭號 6"/>
          <p:cNvSpPr/>
          <p:nvPr/>
        </p:nvSpPr>
        <p:spPr>
          <a:xfrm>
            <a:off x="6357938" y="3929063"/>
            <a:ext cx="571500" cy="78581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179512" y="1594347"/>
            <a:ext cx="417858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dirty="0"/>
              <a:t>A = “ABCD”     B = “ACDE”</a:t>
            </a:r>
          </a:p>
        </p:txBody>
      </p:sp>
    </p:spTree>
    <p:extLst>
      <p:ext uri="{BB962C8B-B14F-4D97-AF65-F5344CB8AC3E}">
        <p14:creationId xmlns:p14="http://schemas.microsoft.com/office/powerpoint/2010/main" xmlns="" val="274761119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FindRow</a:t>
            </a:r>
            <a:endParaRPr lang="zh-TW" altLang="en-US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42875" y="2571750"/>
          <a:ext cx="4143378" cy="22256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563"/>
                <a:gridCol w="690563"/>
                <a:gridCol w="690563"/>
                <a:gridCol w="690563"/>
                <a:gridCol w="690563"/>
                <a:gridCol w="690563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rgbClr val="00B050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357688" y="2571750"/>
          <a:ext cx="4643436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3906"/>
                <a:gridCol w="773906"/>
                <a:gridCol w="773906"/>
                <a:gridCol w="773906"/>
                <a:gridCol w="773906"/>
                <a:gridCol w="773906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357688" y="5000625"/>
          <a:ext cx="4643436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3906"/>
                <a:gridCol w="773906"/>
                <a:gridCol w="773906"/>
                <a:gridCol w="773906"/>
                <a:gridCol w="773906"/>
                <a:gridCol w="773906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向下箭號 6"/>
          <p:cNvSpPr/>
          <p:nvPr/>
        </p:nvSpPr>
        <p:spPr>
          <a:xfrm>
            <a:off x="6357938" y="3929063"/>
            <a:ext cx="571500" cy="78581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179512" y="1594347"/>
            <a:ext cx="417858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dirty="0"/>
              <a:t>A = “ABCD”     B = “ACDE”</a:t>
            </a:r>
          </a:p>
        </p:txBody>
      </p:sp>
    </p:spTree>
    <p:extLst>
      <p:ext uri="{BB962C8B-B14F-4D97-AF65-F5344CB8AC3E}">
        <p14:creationId xmlns:p14="http://schemas.microsoft.com/office/powerpoint/2010/main" xmlns="" val="426258086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BV-</a:t>
            </a:r>
            <a:r>
              <a:rPr lang="en-US" altLang="zh-TW" dirty="0" err="1" smtClean="0"/>
              <a:t>FindRow</a:t>
            </a:r>
            <a:endParaRPr lang="zh-TW" altLang="en-US" dirty="0" smtClean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11843303"/>
              </p:ext>
            </p:extLst>
          </p:nvPr>
        </p:nvGraphicFramePr>
        <p:xfrm>
          <a:off x="4357688" y="1831503"/>
          <a:ext cx="4643436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3906"/>
                <a:gridCol w="773906"/>
                <a:gridCol w="773906"/>
                <a:gridCol w="773906"/>
                <a:gridCol w="773906"/>
                <a:gridCol w="773906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69325213"/>
              </p:ext>
            </p:extLst>
          </p:nvPr>
        </p:nvGraphicFramePr>
        <p:xfrm>
          <a:off x="4357688" y="4260378"/>
          <a:ext cx="4643436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3906"/>
                <a:gridCol w="773906"/>
                <a:gridCol w="773906"/>
                <a:gridCol w="773906"/>
                <a:gridCol w="773906"/>
                <a:gridCol w="773906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向下箭號 6"/>
          <p:cNvSpPr/>
          <p:nvPr/>
        </p:nvSpPr>
        <p:spPr>
          <a:xfrm>
            <a:off x="6357938" y="3188816"/>
            <a:ext cx="571500" cy="78581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598082929"/>
              </p:ext>
            </p:extLst>
          </p:nvPr>
        </p:nvGraphicFramePr>
        <p:xfrm>
          <a:off x="395536" y="1412776"/>
          <a:ext cx="355205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2009"/>
                <a:gridCol w="592009"/>
                <a:gridCol w="592009"/>
                <a:gridCol w="592009"/>
                <a:gridCol w="592009"/>
                <a:gridCol w="592009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203914754"/>
              </p:ext>
            </p:extLst>
          </p:nvPr>
        </p:nvGraphicFramePr>
        <p:xfrm>
          <a:off x="395536" y="3645024"/>
          <a:ext cx="355205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2009"/>
                <a:gridCol w="592009"/>
                <a:gridCol w="592009"/>
                <a:gridCol w="592009"/>
                <a:gridCol w="592009"/>
                <a:gridCol w="592009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395536" y="1052736"/>
            <a:ext cx="1409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Bit-Vector M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398794" y="3244334"/>
            <a:ext cx="1486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Bit-Vector M’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355975" y="1422068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L-</a:t>
            </a:r>
            <a:r>
              <a:rPr lang="en-US" altLang="zh-TW" dirty="0" err="1" smtClean="0"/>
              <a:t>metrix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398794" y="5733256"/>
            <a:ext cx="56845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V’[0] = 1</a:t>
            </a:r>
          </a:p>
          <a:p>
            <a:r>
              <a:rPr lang="en-US" altLang="zh-TW" dirty="0" smtClean="0"/>
              <a:t>V’[1] = (V’[0] + (V’[0] &amp; M[A])) | (V’[0] &amp; M’[A])</a:t>
            </a:r>
          </a:p>
          <a:p>
            <a:r>
              <a:rPr lang="en-US" altLang="zh-TW" dirty="0"/>
              <a:t> </a:t>
            </a:r>
            <a:r>
              <a:rPr lang="en-US" altLang="zh-TW" dirty="0" smtClean="0"/>
              <a:t>         = (1 + 1 &amp; 1) | (1 &amp; 0) = 0, carry = 1, L[1] = L[0] + 1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73132624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BV-</a:t>
            </a:r>
            <a:r>
              <a:rPr lang="en-US" altLang="zh-TW" dirty="0" err="1" smtClean="0"/>
              <a:t>FindRow</a:t>
            </a:r>
            <a:endParaRPr lang="zh-TW" altLang="en-US" dirty="0" smtClean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204437905"/>
              </p:ext>
            </p:extLst>
          </p:nvPr>
        </p:nvGraphicFramePr>
        <p:xfrm>
          <a:off x="4357688" y="1831503"/>
          <a:ext cx="4643436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3906"/>
                <a:gridCol w="773906"/>
                <a:gridCol w="773906"/>
                <a:gridCol w="773906"/>
                <a:gridCol w="773906"/>
                <a:gridCol w="773906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287253316"/>
              </p:ext>
            </p:extLst>
          </p:nvPr>
        </p:nvGraphicFramePr>
        <p:xfrm>
          <a:off x="4357688" y="4260378"/>
          <a:ext cx="4643436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3906"/>
                <a:gridCol w="773906"/>
                <a:gridCol w="773906"/>
                <a:gridCol w="773906"/>
                <a:gridCol w="773906"/>
                <a:gridCol w="773906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向下箭號 6"/>
          <p:cNvSpPr/>
          <p:nvPr/>
        </p:nvSpPr>
        <p:spPr>
          <a:xfrm>
            <a:off x="6357938" y="3188816"/>
            <a:ext cx="571500" cy="78581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58990220"/>
              </p:ext>
            </p:extLst>
          </p:nvPr>
        </p:nvGraphicFramePr>
        <p:xfrm>
          <a:off x="395536" y="1412776"/>
          <a:ext cx="355205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2009"/>
                <a:gridCol w="592009"/>
                <a:gridCol w="592009"/>
                <a:gridCol w="592009"/>
                <a:gridCol w="592009"/>
                <a:gridCol w="592009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54132237"/>
              </p:ext>
            </p:extLst>
          </p:nvPr>
        </p:nvGraphicFramePr>
        <p:xfrm>
          <a:off x="395536" y="3645024"/>
          <a:ext cx="355205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2009"/>
                <a:gridCol w="592009"/>
                <a:gridCol w="592009"/>
                <a:gridCol w="592009"/>
                <a:gridCol w="592009"/>
                <a:gridCol w="592009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395536" y="1052736"/>
            <a:ext cx="1409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Bit-Vector M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398794" y="3244334"/>
            <a:ext cx="1486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Bit-Vector M’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355975" y="1422068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L-</a:t>
            </a:r>
            <a:r>
              <a:rPr lang="en-US" altLang="zh-TW" dirty="0" err="1" smtClean="0"/>
              <a:t>metrix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398794" y="5733256"/>
            <a:ext cx="53238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V’[0] = 1</a:t>
            </a:r>
          </a:p>
          <a:p>
            <a:r>
              <a:rPr lang="en-US" altLang="zh-TW" dirty="0" smtClean="0"/>
              <a:t>V’[1] = (V’[0] + (V’[0] &amp; M[B])) | (V’[0] &amp; M’[B])</a:t>
            </a:r>
          </a:p>
          <a:p>
            <a:r>
              <a:rPr lang="en-US" altLang="zh-TW" dirty="0"/>
              <a:t> </a:t>
            </a:r>
            <a:r>
              <a:rPr lang="en-US" altLang="zh-TW" dirty="0" smtClean="0"/>
              <a:t>         = (1 + 1 &amp; 0) | (1 &amp; 1) = 1, carry = 0, L[1] = L[0]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89004895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BV-</a:t>
            </a:r>
            <a:r>
              <a:rPr lang="en-US" altLang="zh-TW" dirty="0" err="1" smtClean="0"/>
              <a:t>FindRow</a:t>
            </a:r>
            <a:endParaRPr lang="zh-TW" altLang="en-US" dirty="0" smtClean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36319160"/>
              </p:ext>
            </p:extLst>
          </p:nvPr>
        </p:nvGraphicFramePr>
        <p:xfrm>
          <a:off x="4357688" y="1831503"/>
          <a:ext cx="4643436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3906"/>
                <a:gridCol w="773906"/>
                <a:gridCol w="773906"/>
                <a:gridCol w="773906"/>
                <a:gridCol w="773906"/>
                <a:gridCol w="773906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42345938"/>
              </p:ext>
            </p:extLst>
          </p:nvPr>
        </p:nvGraphicFramePr>
        <p:xfrm>
          <a:off x="4357688" y="4260378"/>
          <a:ext cx="4643436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3906"/>
                <a:gridCol w="773906"/>
                <a:gridCol w="773906"/>
                <a:gridCol w="773906"/>
                <a:gridCol w="773906"/>
                <a:gridCol w="773906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向下箭號 6"/>
          <p:cNvSpPr/>
          <p:nvPr/>
        </p:nvSpPr>
        <p:spPr>
          <a:xfrm>
            <a:off x="6357938" y="3188816"/>
            <a:ext cx="571500" cy="78581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865620"/>
              </p:ext>
            </p:extLst>
          </p:nvPr>
        </p:nvGraphicFramePr>
        <p:xfrm>
          <a:off x="395536" y="1412776"/>
          <a:ext cx="355205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2009"/>
                <a:gridCol w="592009"/>
                <a:gridCol w="592009"/>
                <a:gridCol w="592009"/>
                <a:gridCol w="592009"/>
                <a:gridCol w="592009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751107085"/>
              </p:ext>
            </p:extLst>
          </p:nvPr>
        </p:nvGraphicFramePr>
        <p:xfrm>
          <a:off x="395536" y="3645024"/>
          <a:ext cx="355205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2009"/>
                <a:gridCol w="592009"/>
                <a:gridCol w="592009"/>
                <a:gridCol w="592009"/>
                <a:gridCol w="592009"/>
                <a:gridCol w="592009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395536" y="1052736"/>
            <a:ext cx="1409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Bit-Vector M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398794" y="3244334"/>
            <a:ext cx="1486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Bit-Vector M’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355975" y="1422068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L-</a:t>
            </a:r>
            <a:r>
              <a:rPr lang="en-US" altLang="zh-TW" dirty="0" err="1" smtClean="0"/>
              <a:t>metrix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398794" y="5733256"/>
            <a:ext cx="56845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V’[0] = 1</a:t>
            </a:r>
          </a:p>
          <a:p>
            <a:r>
              <a:rPr lang="en-US" altLang="zh-TW" dirty="0" smtClean="0"/>
              <a:t>V’[1] = (V’[0] + (V’[0] &amp; M[C])) | (V’[0] &amp; M’[C])</a:t>
            </a:r>
          </a:p>
          <a:p>
            <a:r>
              <a:rPr lang="en-US" altLang="zh-TW" dirty="0"/>
              <a:t> </a:t>
            </a:r>
            <a:r>
              <a:rPr lang="en-US" altLang="zh-TW" dirty="0" smtClean="0"/>
              <a:t>         = (1 + 1 &amp; 1) | (1 &amp; 0) = 1, carry = 1, L[1] = L[0] + 1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94611839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BV-</a:t>
            </a:r>
            <a:r>
              <a:rPr lang="en-US" altLang="zh-TW" dirty="0" err="1" smtClean="0"/>
              <a:t>FindRow</a:t>
            </a:r>
            <a:endParaRPr lang="zh-TW" altLang="en-US" dirty="0" smtClean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014106057"/>
              </p:ext>
            </p:extLst>
          </p:nvPr>
        </p:nvGraphicFramePr>
        <p:xfrm>
          <a:off x="4357688" y="1831503"/>
          <a:ext cx="4643436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3906"/>
                <a:gridCol w="773906"/>
                <a:gridCol w="773906"/>
                <a:gridCol w="773906"/>
                <a:gridCol w="773906"/>
                <a:gridCol w="773906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081673683"/>
              </p:ext>
            </p:extLst>
          </p:nvPr>
        </p:nvGraphicFramePr>
        <p:xfrm>
          <a:off x="4357688" y="4260378"/>
          <a:ext cx="4643436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3906"/>
                <a:gridCol w="773906"/>
                <a:gridCol w="773906"/>
                <a:gridCol w="773906"/>
                <a:gridCol w="773906"/>
                <a:gridCol w="773906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B050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向下箭號 6"/>
          <p:cNvSpPr/>
          <p:nvPr/>
        </p:nvSpPr>
        <p:spPr>
          <a:xfrm>
            <a:off x="6357938" y="3188816"/>
            <a:ext cx="571500" cy="78581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79164705"/>
              </p:ext>
            </p:extLst>
          </p:nvPr>
        </p:nvGraphicFramePr>
        <p:xfrm>
          <a:off x="395536" y="1412776"/>
          <a:ext cx="355205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2009"/>
                <a:gridCol w="592009"/>
                <a:gridCol w="592009"/>
                <a:gridCol w="592009"/>
                <a:gridCol w="592009"/>
                <a:gridCol w="592009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636841176"/>
              </p:ext>
            </p:extLst>
          </p:nvPr>
        </p:nvGraphicFramePr>
        <p:xfrm>
          <a:off x="395536" y="3645024"/>
          <a:ext cx="355205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2009"/>
                <a:gridCol w="592009"/>
                <a:gridCol w="592009"/>
                <a:gridCol w="592009"/>
                <a:gridCol w="592009"/>
                <a:gridCol w="592009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395536" y="1052736"/>
            <a:ext cx="1409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Bit-Vector M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398794" y="3244334"/>
            <a:ext cx="1486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Bit-Vector M’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355975" y="1422068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L-</a:t>
            </a:r>
            <a:r>
              <a:rPr lang="en-US" altLang="zh-TW" dirty="0" err="1" smtClean="0"/>
              <a:t>metrix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398794" y="5733256"/>
            <a:ext cx="56845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V’[0] = 1</a:t>
            </a:r>
          </a:p>
          <a:p>
            <a:r>
              <a:rPr lang="en-US" altLang="zh-TW" dirty="0" smtClean="0"/>
              <a:t>V’[1] = (V’[0] + (V’[0] &amp; M[D])) | (V’[0] &amp; M’[D])</a:t>
            </a:r>
          </a:p>
          <a:p>
            <a:r>
              <a:rPr lang="en-US" altLang="zh-TW" dirty="0"/>
              <a:t> </a:t>
            </a:r>
            <a:r>
              <a:rPr lang="en-US" altLang="zh-TW" dirty="0" smtClean="0"/>
              <a:t>         = (1 + 1 &amp; 1) | (1 &amp; 0) = 1, carry = 1, L[1] = L[0] + 1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69586494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Hirschberg’s Algorithm</a:t>
            </a:r>
            <a:endParaRPr lang="zh-TW" altLang="en-US" dirty="0" smtClean="0"/>
          </a:p>
        </p:txBody>
      </p:sp>
      <p:sp>
        <p:nvSpPr>
          <p:cNvPr id="1536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H(4, 4, “ABCD”, “ACDE”) </a:t>
            </a:r>
            <a:endParaRPr lang="zh-TW" altLang="en-US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725459988"/>
              </p:ext>
            </p:extLst>
          </p:nvPr>
        </p:nvGraphicFramePr>
        <p:xfrm>
          <a:off x="471827" y="3717032"/>
          <a:ext cx="3786186" cy="14837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1031"/>
                <a:gridCol w="631031"/>
                <a:gridCol w="631031"/>
                <a:gridCol w="631031"/>
                <a:gridCol w="631031"/>
                <a:gridCol w="631031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70C0"/>
                          </a:solidFill>
                        </a:rPr>
                        <a:t>A</a:t>
                      </a:r>
                      <a:endParaRPr lang="zh-TW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70C0"/>
                          </a:solidFill>
                        </a:rPr>
                        <a:t>C</a:t>
                      </a:r>
                      <a:endParaRPr lang="zh-TW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70C0"/>
                          </a:solidFill>
                        </a:rPr>
                        <a:t>D</a:t>
                      </a:r>
                      <a:endParaRPr lang="zh-TW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70C0"/>
                          </a:solidFill>
                        </a:rPr>
                        <a:t>E</a:t>
                      </a:r>
                      <a:endParaRPr lang="zh-TW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en-US" altLang="zh-TW" sz="1800" dirty="0" smtClean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C00000"/>
                          </a:solidFill>
                        </a:rPr>
                        <a:t>A</a:t>
                      </a:r>
                      <a:endParaRPr lang="zh-TW" alt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C00000"/>
                          </a:solidFill>
                        </a:rPr>
                        <a:t>B</a:t>
                      </a:r>
                      <a:endParaRPr lang="zh-TW" alt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15431455"/>
              </p:ext>
            </p:extLst>
          </p:nvPr>
        </p:nvGraphicFramePr>
        <p:xfrm>
          <a:off x="4786313" y="3717032"/>
          <a:ext cx="3786186" cy="14837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1031"/>
                <a:gridCol w="631031"/>
                <a:gridCol w="631031"/>
                <a:gridCol w="631031"/>
                <a:gridCol w="631031"/>
                <a:gridCol w="631031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70C0"/>
                          </a:solidFill>
                        </a:rPr>
                        <a:t>E</a:t>
                      </a:r>
                      <a:endParaRPr lang="zh-TW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70C0"/>
                          </a:solidFill>
                        </a:rPr>
                        <a:t>D</a:t>
                      </a:r>
                      <a:endParaRPr lang="zh-TW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70C0"/>
                          </a:solidFill>
                        </a:rPr>
                        <a:t>C</a:t>
                      </a:r>
                      <a:endParaRPr lang="zh-TW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70C0"/>
                          </a:solidFill>
                        </a:rPr>
                        <a:t>A</a:t>
                      </a:r>
                      <a:endParaRPr lang="zh-TW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en-US" altLang="zh-TW" sz="1800" dirty="0" smtClean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C00000"/>
                          </a:solidFill>
                        </a:rPr>
                        <a:t>D</a:t>
                      </a:r>
                      <a:endParaRPr lang="zh-TW" alt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C00000"/>
                          </a:solidFill>
                        </a:rPr>
                        <a:t>C</a:t>
                      </a:r>
                      <a:endParaRPr lang="zh-TW" alt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5454" name="文字方塊 6"/>
          <p:cNvSpPr txBox="1">
            <a:spLocks noChangeArrowheads="1"/>
          </p:cNvSpPr>
          <p:nvPr/>
        </p:nvSpPr>
        <p:spPr bwMode="auto">
          <a:xfrm>
            <a:off x="323528" y="2492896"/>
            <a:ext cx="40827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2400" dirty="0" smtClean="0">
                <a:latin typeface="Calibri" pitchFamily="34" charset="0"/>
              </a:rPr>
              <a:t>BV-</a:t>
            </a:r>
            <a:r>
              <a:rPr kumimoji="0" lang="en-US" altLang="zh-TW" sz="2400" dirty="0" err="1" smtClean="0">
                <a:latin typeface="Calibri" pitchFamily="34" charset="0"/>
              </a:rPr>
              <a:t>FindRow</a:t>
            </a:r>
            <a:r>
              <a:rPr kumimoji="0" lang="en-US" altLang="zh-TW" sz="2400" dirty="0" smtClean="0">
                <a:latin typeface="Calibri" pitchFamily="34" charset="0"/>
              </a:rPr>
              <a:t>(2</a:t>
            </a:r>
            <a:r>
              <a:rPr kumimoji="0" lang="en-US" altLang="zh-TW" sz="2400" dirty="0">
                <a:latin typeface="Calibri" pitchFamily="34" charset="0"/>
              </a:rPr>
              <a:t>, 4, “</a:t>
            </a:r>
            <a:r>
              <a:rPr kumimoji="0" lang="en-US" altLang="zh-TW" sz="2400" dirty="0">
                <a:solidFill>
                  <a:srgbClr val="C00000"/>
                </a:solidFill>
                <a:latin typeface="Calibri" pitchFamily="34" charset="0"/>
              </a:rPr>
              <a:t>AB</a:t>
            </a:r>
            <a:r>
              <a:rPr kumimoji="0" lang="en-US" altLang="zh-TW" sz="2400" dirty="0">
                <a:latin typeface="Calibri" pitchFamily="34" charset="0"/>
              </a:rPr>
              <a:t>”, “</a:t>
            </a:r>
            <a:r>
              <a:rPr kumimoji="0" lang="en-US" altLang="zh-TW" sz="2400" dirty="0">
                <a:solidFill>
                  <a:srgbClr val="0070C0"/>
                </a:solidFill>
                <a:latin typeface="Calibri" pitchFamily="34" charset="0"/>
              </a:rPr>
              <a:t>ACDE</a:t>
            </a:r>
            <a:r>
              <a:rPr kumimoji="0" lang="en-US" altLang="zh-TW" sz="2400" dirty="0">
                <a:latin typeface="Calibri" pitchFamily="34" charset="0"/>
              </a:rPr>
              <a:t>”)</a:t>
            </a:r>
            <a:endParaRPr kumimoji="0" lang="zh-TW" altLang="en-US" sz="2400" dirty="0">
              <a:latin typeface="Calibri" pitchFamily="34" charset="0"/>
            </a:endParaRPr>
          </a:p>
        </p:txBody>
      </p:sp>
      <p:sp>
        <p:nvSpPr>
          <p:cNvPr id="15455" name="文字方塊 7"/>
          <p:cNvSpPr txBox="1">
            <a:spLocks noChangeArrowheads="1"/>
          </p:cNvSpPr>
          <p:nvPr/>
        </p:nvSpPr>
        <p:spPr bwMode="auto">
          <a:xfrm>
            <a:off x="4760444" y="2492896"/>
            <a:ext cx="4146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2400" dirty="0">
                <a:latin typeface="Calibri" pitchFamily="34" charset="0"/>
              </a:rPr>
              <a:t>BV-</a:t>
            </a:r>
            <a:r>
              <a:rPr kumimoji="0" lang="en-US" altLang="zh-TW" sz="2400" dirty="0" err="1">
                <a:latin typeface="Calibri" pitchFamily="34" charset="0"/>
              </a:rPr>
              <a:t>FindRow</a:t>
            </a:r>
            <a:r>
              <a:rPr kumimoji="0" lang="en-US" altLang="zh-TW" sz="2400" dirty="0">
                <a:latin typeface="Calibri" pitchFamily="34" charset="0"/>
              </a:rPr>
              <a:t>(2, 4, “</a:t>
            </a:r>
            <a:r>
              <a:rPr kumimoji="0" lang="en-US" altLang="zh-TW" sz="2400" dirty="0">
                <a:solidFill>
                  <a:srgbClr val="C00000"/>
                </a:solidFill>
                <a:latin typeface="Calibri" pitchFamily="34" charset="0"/>
              </a:rPr>
              <a:t>DC</a:t>
            </a:r>
            <a:r>
              <a:rPr kumimoji="0" lang="en-US" altLang="zh-TW" sz="2400" dirty="0">
                <a:latin typeface="Calibri" pitchFamily="34" charset="0"/>
              </a:rPr>
              <a:t>”, “</a:t>
            </a:r>
            <a:r>
              <a:rPr kumimoji="0" lang="en-US" altLang="zh-TW" sz="2400" dirty="0">
                <a:solidFill>
                  <a:srgbClr val="0070C0"/>
                </a:solidFill>
                <a:latin typeface="Calibri" pitchFamily="34" charset="0"/>
              </a:rPr>
              <a:t>EDCA</a:t>
            </a:r>
            <a:r>
              <a:rPr kumimoji="0" lang="en-US" altLang="zh-TW" sz="2400" dirty="0">
                <a:latin typeface="Calibri" pitchFamily="34" charset="0"/>
              </a:rPr>
              <a:t>”)</a:t>
            </a:r>
            <a:endParaRPr kumimoji="0" lang="zh-TW" altLang="en-US" sz="2400" dirty="0">
              <a:latin typeface="Calibri" pitchFamily="34" charset="0"/>
            </a:endParaRPr>
          </a:p>
        </p:txBody>
      </p:sp>
      <p:cxnSp>
        <p:nvCxnSpPr>
          <p:cNvPr id="11" name="直線接點 10"/>
          <p:cNvCxnSpPr/>
          <p:nvPr/>
        </p:nvCxnSpPr>
        <p:spPr>
          <a:xfrm rot="5400000">
            <a:off x="2779169" y="4143375"/>
            <a:ext cx="357346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26802311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Hirschberg’s </a:t>
            </a:r>
            <a:r>
              <a:rPr lang="en-US" altLang="zh-TW" dirty="0"/>
              <a:t>Algorithm</a:t>
            </a:r>
            <a:endParaRPr lang="zh-TW" altLang="en-US" dirty="0" smtClean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42875" y="2786063"/>
          <a:ext cx="3786186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1031"/>
                <a:gridCol w="631031"/>
                <a:gridCol w="631031"/>
                <a:gridCol w="631031"/>
                <a:gridCol w="631031"/>
                <a:gridCol w="631031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en-US" altLang="zh-TW" sz="1800" dirty="0" smtClean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noFill/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B0F0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B0F0"/>
                        </a:solidFill>
                      </a:endParaRPr>
                    </a:p>
                  </a:txBody>
                  <a:tcPr marL="91439" marR="91439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 marL="91439" marR="91439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91439" marR="91439" marT="45733" marB="45733"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786313" y="2786063"/>
          <a:ext cx="3786186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1031"/>
                <a:gridCol w="631031"/>
                <a:gridCol w="631031"/>
                <a:gridCol w="631031"/>
                <a:gridCol w="631031"/>
                <a:gridCol w="631031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en-US" altLang="zh-TW" sz="1800" dirty="0" smtClean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noFill/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marL="91439" marR="91439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 marL="91439" marR="91439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B0F0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B0F0"/>
                        </a:solidFill>
                      </a:endParaRPr>
                    </a:p>
                  </a:txBody>
                  <a:tcPr marL="91439" marR="91439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733" marB="45733"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115616" y="4176274"/>
            <a:ext cx="1925637" cy="19383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400" dirty="0">
                <a:latin typeface="+mn-lt"/>
                <a:ea typeface="+mn-ea"/>
              </a:rPr>
              <a:t>J = 0, </a:t>
            </a:r>
            <a:r>
              <a:rPr kumimoji="0" lang="en-US" altLang="zh-TW" sz="2400" dirty="0">
                <a:solidFill>
                  <a:srgbClr val="FF0000"/>
                </a:solidFill>
                <a:latin typeface="+mn-lt"/>
                <a:ea typeface="+mn-ea"/>
              </a:rPr>
              <a:t>0 + 2 </a:t>
            </a:r>
            <a:r>
              <a:rPr kumimoji="0" lang="en-US" altLang="zh-TW" sz="2400" dirty="0">
                <a:latin typeface="+mn-lt"/>
                <a:ea typeface="+mn-ea"/>
              </a:rPr>
              <a:t>= 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400" dirty="0">
                <a:latin typeface="+mn-lt"/>
                <a:ea typeface="+mn-ea"/>
              </a:rPr>
              <a:t>J = 1, </a:t>
            </a:r>
            <a:r>
              <a:rPr kumimoji="0" lang="en-US" altLang="zh-TW" sz="2400" dirty="0">
                <a:solidFill>
                  <a:srgbClr val="00B050"/>
                </a:solidFill>
                <a:latin typeface="+mn-lt"/>
                <a:ea typeface="+mn-ea"/>
              </a:rPr>
              <a:t>1 + 2 </a:t>
            </a:r>
            <a:r>
              <a:rPr kumimoji="0" lang="en-US" altLang="zh-TW" sz="2400" dirty="0">
                <a:latin typeface="+mn-lt"/>
                <a:ea typeface="+mn-ea"/>
              </a:rPr>
              <a:t>= 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400" dirty="0">
                <a:latin typeface="+mn-lt"/>
                <a:ea typeface="+mn-ea"/>
              </a:rPr>
              <a:t>J = 2, </a:t>
            </a:r>
            <a:r>
              <a:rPr kumimoji="0" lang="en-US" altLang="zh-TW" sz="2400" dirty="0">
                <a:solidFill>
                  <a:srgbClr val="00B0F0"/>
                </a:solidFill>
                <a:latin typeface="+mn-lt"/>
                <a:ea typeface="+mn-ea"/>
              </a:rPr>
              <a:t>1 + 1 </a:t>
            </a:r>
            <a:r>
              <a:rPr kumimoji="0" lang="en-US" altLang="zh-TW" sz="2400" dirty="0">
                <a:latin typeface="+mn-lt"/>
                <a:ea typeface="+mn-ea"/>
              </a:rPr>
              <a:t>= 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400" dirty="0">
                <a:latin typeface="+mn-lt"/>
                <a:ea typeface="+mn-ea"/>
              </a:rPr>
              <a:t>J = 3, </a:t>
            </a:r>
            <a:r>
              <a:rPr kumimoji="0" lang="en-US" altLang="zh-TW" sz="240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</a:rPr>
              <a:t>1 + 0</a:t>
            </a:r>
            <a:r>
              <a:rPr kumimoji="0" lang="en-US" altLang="zh-TW" sz="2400" dirty="0">
                <a:latin typeface="+mn-lt"/>
                <a:ea typeface="+mn-ea"/>
              </a:rPr>
              <a:t> = 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400" dirty="0">
                <a:latin typeface="+mn-lt"/>
                <a:ea typeface="+mn-ea"/>
              </a:rPr>
              <a:t>J = 4, </a:t>
            </a:r>
            <a:r>
              <a:rPr kumimoji="0" lang="en-US" altLang="zh-TW" sz="240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</a:rPr>
              <a:t>1 + 0</a:t>
            </a:r>
            <a:r>
              <a:rPr kumimoji="0" lang="en-US" altLang="zh-TW" sz="2400" dirty="0">
                <a:latin typeface="+mn-lt"/>
                <a:ea typeface="+mn-ea"/>
              </a:rPr>
              <a:t> = 1</a:t>
            </a:r>
            <a:endParaRPr kumimoji="0" lang="zh-TW" altLang="en-US" sz="2400" dirty="0">
              <a:latin typeface="+mn-lt"/>
              <a:ea typeface="+mn-ea"/>
            </a:endParaRPr>
          </a:p>
        </p:txBody>
      </p:sp>
      <p:sp>
        <p:nvSpPr>
          <p:cNvPr id="16449" name="文字方塊 7"/>
          <p:cNvSpPr txBox="1">
            <a:spLocks noChangeArrowheads="1"/>
          </p:cNvSpPr>
          <p:nvPr/>
        </p:nvSpPr>
        <p:spPr bwMode="auto">
          <a:xfrm>
            <a:off x="4788024" y="5000625"/>
            <a:ext cx="265123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2400" dirty="0">
                <a:latin typeface="Calibri" pitchFamily="34" charset="0"/>
              </a:rPr>
              <a:t>H</a:t>
            </a:r>
            <a:r>
              <a:rPr kumimoji="0" lang="en-US" altLang="zh-TW" sz="2400" dirty="0" smtClean="0">
                <a:latin typeface="Calibri" pitchFamily="34" charset="0"/>
              </a:rPr>
              <a:t>(2</a:t>
            </a:r>
            <a:r>
              <a:rPr kumimoji="0" lang="en-US" altLang="zh-TW" sz="2400" dirty="0">
                <a:latin typeface="Calibri" pitchFamily="34" charset="0"/>
              </a:rPr>
              <a:t>, 1, “AB”, “A”)</a:t>
            </a:r>
          </a:p>
          <a:p>
            <a:pPr eaLnBrk="1" hangingPunct="1"/>
            <a:r>
              <a:rPr kumimoji="0" lang="en-US" altLang="zh-TW" sz="2400" dirty="0" smtClean="0">
                <a:latin typeface="Calibri" pitchFamily="34" charset="0"/>
              </a:rPr>
              <a:t>H(2</a:t>
            </a:r>
            <a:r>
              <a:rPr kumimoji="0" lang="en-US" altLang="zh-TW" sz="2400" dirty="0">
                <a:latin typeface="Calibri" pitchFamily="34" charset="0"/>
              </a:rPr>
              <a:t>, 3, “CD”, “CDE”)</a:t>
            </a:r>
            <a:endParaRPr kumimoji="0" lang="zh-TW" altLang="en-US" sz="2400" dirty="0">
              <a:latin typeface="Calibri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9512" y="1594347"/>
            <a:ext cx="417858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dirty="0"/>
              <a:t>A = “ABCD”     B = “ACDE”</a:t>
            </a:r>
          </a:p>
        </p:txBody>
      </p:sp>
    </p:spTree>
    <p:extLst>
      <p:ext uri="{BB962C8B-B14F-4D97-AF65-F5344CB8AC3E}">
        <p14:creationId xmlns:p14="http://schemas.microsoft.com/office/powerpoint/2010/main" xmlns="" val="182488504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Hirschberg’s </a:t>
            </a:r>
            <a:r>
              <a:rPr lang="en-US" altLang="zh-TW" dirty="0"/>
              <a:t>Algorithm</a:t>
            </a:r>
            <a:endParaRPr lang="zh-TW" altLang="en-US" dirty="0" smtClean="0"/>
          </a:p>
        </p:txBody>
      </p:sp>
      <p:sp>
        <p:nvSpPr>
          <p:cNvPr id="17411" name="文字方塊 3"/>
          <p:cNvSpPr txBox="1">
            <a:spLocks noChangeArrowheads="1"/>
          </p:cNvSpPr>
          <p:nvPr/>
        </p:nvSpPr>
        <p:spPr bwMode="auto">
          <a:xfrm>
            <a:off x="288799" y="1540873"/>
            <a:ext cx="295375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3200" dirty="0">
                <a:latin typeface="Calibri" pitchFamily="34" charset="0"/>
              </a:rPr>
              <a:t>H</a:t>
            </a:r>
            <a:r>
              <a:rPr kumimoji="0" lang="en-US" altLang="zh-TW" sz="3200" dirty="0" smtClean="0">
                <a:latin typeface="Calibri" pitchFamily="34" charset="0"/>
              </a:rPr>
              <a:t>(2</a:t>
            </a:r>
            <a:r>
              <a:rPr kumimoji="0" lang="en-US" altLang="zh-TW" sz="3200" dirty="0">
                <a:latin typeface="Calibri" pitchFamily="34" charset="0"/>
              </a:rPr>
              <a:t>, 1, “AB”, “A”)</a:t>
            </a:r>
          </a:p>
        </p:txBody>
      </p:sp>
      <p:sp>
        <p:nvSpPr>
          <p:cNvPr id="17412" name="文字方塊 4"/>
          <p:cNvSpPr txBox="1">
            <a:spLocks noChangeArrowheads="1"/>
          </p:cNvSpPr>
          <p:nvPr/>
        </p:nvSpPr>
        <p:spPr bwMode="auto">
          <a:xfrm>
            <a:off x="4988632" y="1486385"/>
            <a:ext cx="348781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3200" dirty="0">
                <a:latin typeface="Calibri" pitchFamily="34" charset="0"/>
              </a:rPr>
              <a:t>H</a:t>
            </a:r>
            <a:r>
              <a:rPr kumimoji="0" lang="en-US" altLang="zh-TW" sz="3200" dirty="0" smtClean="0">
                <a:latin typeface="Calibri" pitchFamily="34" charset="0"/>
              </a:rPr>
              <a:t>(2</a:t>
            </a:r>
            <a:r>
              <a:rPr kumimoji="0" lang="en-US" altLang="zh-TW" sz="3200" dirty="0">
                <a:latin typeface="Calibri" pitchFamily="34" charset="0"/>
              </a:rPr>
              <a:t>, 3, “CD”, “CDE”)</a:t>
            </a:r>
            <a:endParaRPr kumimoji="0" lang="zh-TW" altLang="en-US" sz="3200" dirty="0">
              <a:latin typeface="Calibri" pitchFamily="34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85750" y="2714625"/>
          <a:ext cx="3714750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8250"/>
                <a:gridCol w="1238250"/>
                <a:gridCol w="1238250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85750" y="5214938"/>
          <a:ext cx="3714750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8250"/>
                <a:gridCol w="1238250"/>
                <a:gridCol w="1238250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7449" name="文字方塊 9"/>
          <p:cNvSpPr txBox="1">
            <a:spLocks noChangeArrowheads="1"/>
          </p:cNvSpPr>
          <p:nvPr/>
        </p:nvSpPr>
        <p:spPr bwMode="auto">
          <a:xfrm>
            <a:off x="288799" y="2243385"/>
            <a:ext cx="33915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2400" dirty="0">
                <a:latin typeface="Calibri" pitchFamily="34" charset="0"/>
              </a:rPr>
              <a:t>BV-</a:t>
            </a:r>
            <a:r>
              <a:rPr kumimoji="0" lang="en-US" altLang="zh-TW" sz="2400" dirty="0" err="1">
                <a:latin typeface="Calibri" pitchFamily="34" charset="0"/>
              </a:rPr>
              <a:t>FindRow</a:t>
            </a:r>
            <a:r>
              <a:rPr kumimoji="0" lang="en-US" altLang="zh-TW" sz="2400" dirty="0">
                <a:latin typeface="Calibri" pitchFamily="34" charset="0"/>
              </a:rPr>
              <a:t>(1, 1, “A”, “A”)</a:t>
            </a:r>
            <a:endParaRPr kumimoji="0" lang="zh-TW" altLang="en-US" sz="2400" dirty="0">
              <a:latin typeface="Calibri" pitchFamily="34" charset="0"/>
            </a:endParaRPr>
          </a:p>
        </p:txBody>
      </p:sp>
      <p:sp>
        <p:nvSpPr>
          <p:cNvPr id="17450" name="矩形 10"/>
          <p:cNvSpPr>
            <a:spLocks noChangeArrowheads="1"/>
          </p:cNvSpPr>
          <p:nvPr/>
        </p:nvSpPr>
        <p:spPr bwMode="auto">
          <a:xfrm>
            <a:off x="251520" y="4714875"/>
            <a:ext cx="34178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2400" dirty="0">
                <a:latin typeface="Calibri" pitchFamily="34" charset="0"/>
              </a:rPr>
              <a:t>BV-</a:t>
            </a:r>
            <a:r>
              <a:rPr kumimoji="0" lang="en-US" altLang="zh-TW" sz="2400" dirty="0" err="1">
                <a:latin typeface="Calibri" pitchFamily="34" charset="0"/>
              </a:rPr>
              <a:t>FindRow</a:t>
            </a:r>
            <a:r>
              <a:rPr kumimoji="0" lang="en-US" altLang="zh-TW" sz="2400" dirty="0">
                <a:latin typeface="Calibri" pitchFamily="34" charset="0"/>
              </a:rPr>
              <a:t>(1, 1, “B”, “A”)</a:t>
            </a:r>
            <a:endParaRPr kumimoji="0" lang="zh-TW" altLang="en-US" sz="2400" dirty="0">
              <a:latin typeface="Calibri" pitchFamily="34" charset="0"/>
            </a:endParaRPr>
          </a:p>
        </p:txBody>
      </p:sp>
      <p:sp>
        <p:nvSpPr>
          <p:cNvPr id="17451" name="文字方塊 11"/>
          <p:cNvSpPr txBox="1">
            <a:spLocks noChangeArrowheads="1"/>
          </p:cNvSpPr>
          <p:nvPr/>
        </p:nvSpPr>
        <p:spPr bwMode="auto">
          <a:xfrm>
            <a:off x="4988632" y="2214563"/>
            <a:ext cx="37910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2400" dirty="0">
                <a:latin typeface="Calibri" pitchFamily="34" charset="0"/>
              </a:rPr>
              <a:t>BV-</a:t>
            </a:r>
            <a:r>
              <a:rPr kumimoji="0" lang="en-US" altLang="zh-TW" sz="2400" dirty="0" err="1">
                <a:latin typeface="Calibri" pitchFamily="34" charset="0"/>
              </a:rPr>
              <a:t>FindRow</a:t>
            </a:r>
            <a:r>
              <a:rPr kumimoji="0" lang="en-US" altLang="zh-TW" sz="2400" dirty="0">
                <a:latin typeface="Calibri" pitchFamily="34" charset="0"/>
              </a:rPr>
              <a:t>(1, 3, “C”, “CDE”)</a:t>
            </a:r>
            <a:endParaRPr kumimoji="0" lang="zh-TW" altLang="en-US" sz="2400" dirty="0">
              <a:latin typeface="Calibri" pitchFamily="34" charset="0"/>
            </a:endParaRPr>
          </a:p>
        </p:txBody>
      </p:sp>
      <p:sp>
        <p:nvSpPr>
          <p:cNvPr id="17452" name="矩形 12"/>
          <p:cNvSpPr>
            <a:spLocks noChangeArrowheads="1"/>
          </p:cNvSpPr>
          <p:nvPr/>
        </p:nvSpPr>
        <p:spPr bwMode="auto">
          <a:xfrm>
            <a:off x="4975584" y="4643438"/>
            <a:ext cx="38171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2400" dirty="0">
                <a:latin typeface="Calibri" pitchFamily="34" charset="0"/>
              </a:rPr>
              <a:t>BV-</a:t>
            </a:r>
            <a:r>
              <a:rPr kumimoji="0" lang="en-US" altLang="zh-TW" sz="2400" dirty="0" err="1">
                <a:latin typeface="Calibri" pitchFamily="34" charset="0"/>
              </a:rPr>
              <a:t>FindRow</a:t>
            </a:r>
            <a:r>
              <a:rPr kumimoji="0" lang="en-US" altLang="zh-TW" sz="2400" dirty="0">
                <a:latin typeface="Calibri" pitchFamily="34" charset="0"/>
              </a:rPr>
              <a:t>(1, 3, “D”, “EDC”)</a:t>
            </a:r>
            <a:endParaRPr kumimoji="0" lang="zh-TW" altLang="en-US" sz="2400" dirty="0">
              <a:latin typeface="Calibri" pitchFamily="34" charset="0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5000625" y="2714625"/>
          <a:ext cx="4000500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0100"/>
                <a:gridCol w="800100"/>
                <a:gridCol w="800100"/>
                <a:gridCol w="800100"/>
                <a:gridCol w="800100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5000625" y="5214938"/>
          <a:ext cx="4000500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0100"/>
                <a:gridCol w="800100"/>
                <a:gridCol w="800100"/>
                <a:gridCol w="800100"/>
                <a:gridCol w="800100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6" name="直線接點 15"/>
          <p:cNvCxnSpPr/>
          <p:nvPr/>
        </p:nvCxnSpPr>
        <p:spPr>
          <a:xfrm rot="5400000">
            <a:off x="2105818" y="4036219"/>
            <a:ext cx="4930775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33875426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Hirschberg’s </a:t>
            </a:r>
            <a:r>
              <a:rPr lang="en-US" altLang="zh-TW" dirty="0"/>
              <a:t>Algorithm</a:t>
            </a:r>
            <a:endParaRPr lang="zh-TW" altLang="en-US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166600155"/>
              </p:ext>
            </p:extLst>
          </p:nvPr>
        </p:nvGraphicFramePr>
        <p:xfrm>
          <a:off x="444905" y="1500188"/>
          <a:ext cx="3714750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8250"/>
                <a:gridCol w="1238250"/>
                <a:gridCol w="1238250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28625" y="2857500"/>
          <a:ext cx="3714750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8250"/>
                <a:gridCol w="1238250"/>
                <a:gridCol w="1238250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29704432"/>
              </p:ext>
            </p:extLst>
          </p:nvPr>
        </p:nvGraphicFramePr>
        <p:xfrm>
          <a:off x="4860032" y="1500188"/>
          <a:ext cx="4000500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0100"/>
                <a:gridCol w="800100"/>
                <a:gridCol w="800100"/>
                <a:gridCol w="800100"/>
                <a:gridCol w="800100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B0F0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B0F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7030A0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7030A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00572373"/>
              </p:ext>
            </p:extLst>
          </p:nvPr>
        </p:nvGraphicFramePr>
        <p:xfrm>
          <a:off x="4860032" y="2862758"/>
          <a:ext cx="4000500" cy="11324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0100"/>
                <a:gridCol w="800100"/>
                <a:gridCol w="800100"/>
                <a:gridCol w="800100"/>
                <a:gridCol w="800100"/>
              </a:tblGrid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E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90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D</a:t>
                      </a:r>
                      <a:endParaRPr lang="zh-TW" alt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rgbClr val="7030A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B0F0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rgbClr val="00B0F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733" marB="45733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8523" name="文字方塊 8"/>
          <p:cNvSpPr txBox="1">
            <a:spLocks noChangeArrowheads="1"/>
          </p:cNvSpPr>
          <p:nvPr/>
        </p:nvSpPr>
        <p:spPr bwMode="auto">
          <a:xfrm>
            <a:off x="571500" y="4214813"/>
            <a:ext cx="19256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2400">
                <a:latin typeface="Calibri" pitchFamily="34" charset="0"/>
              </a:rPr>
              <a:t>J = 0, </a:t>
            </a:r>
            <a:r>
              <a:rPr kumimoji="0" lang="en-US" altLang="zh-TW" sz="2400">
                <a:solidFill>
                  <a:srgbClr val="FF0000"/>
                </a:solidFill>
                <a:latin typeface="Calibri" pitchFamily="34" charset="0"/>
              </a:rPr>
              <a:t>0 + 0 </a:t>
            </a:r>
            <a:r>
              <a:rPr kumimoji="0" lang="en-US" altLang="zh-TW" sz="2400">
                <a:latin typeface="Calibri" pitchFamily="34" charset="0"/>
              </a:rPr>
              <a:t>= 0</a:t>
            </a:r>
          </a:p>
          <a:p>
            <a:pPr eaLnBrk="1" hangingPunct="1"/>
            <a:r>
              <a:rPr kumimoji="0" lang="en-US" altLang="zh-TW" sz="2400">
                <a:latin typeface="Calibri" pitchFamily="34" charset="0"/>
              </a:rPr>
              <a:t>J = 1, </a:t>
            </a:r>
            <a:r>
              <a:rPr kumimoji="0" lang="en-US" altLang="zh-TW" sz="2400">
                <a:solidFill>
                  <a:srgbClr val="00B050"/>
                </a:solidFill>
                <a:latin typeface="Calibri" pitchFamily="34" charset="0"/>
              </a:rPr>
              <a:t>1 + 0 </a:t>
            </a:r>
            <a:r>
              <a:rPr kumimoji="0" lang="en-US" altLang="zh-TW" sz="2400">
                <a:latin typeface="Calibri" pitchFamily="34" charset="0"/>
              </a:rPr>
              <a:t>= 1</a:t>
            </a:r>
            <a:endParaRPr kumimoji="0" lang="zh-TW" altLang="en-US" sz="2400">
              <a:latin typeface="Calibri" pitchFamily="34" charset="0"/>
            </a:endParaRPr>
          </a:p>
        </p:txBody>
      </p:sp>
      <p:sp>
        <p:nvSpPr>
          <p:cNvPr id="18524" name="文字方塊 9"/>
          <p:cNvSpPr txBox="1">
            <a:spLocks noChangeArrowheads="1"/>
          </p:cNvSpPr>
          <p:nvPr/>
        </p:nvSpPr>
        <p:spPr bwMode="auto">
          <a:xfrm>
            <a:off x="5500688" y="4143375"/>
            <a:ext cx="1925637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2400" dirty="0">
                <a:latin typeface="Calibri" pitchFamily="34" charset="0"/>
              </a:rPr>
              <a:t>J = 0, </a:t>
            </a:r>
            <a:r>
              <a:rPr kumimoji="0" lang="en-US" altLang="zh-TW" sz="2400" dirty="0">
                <a:solidFill>
                  <a:srgbClr val="FF0000"/>
                </a:solidFill>
                <a:latin typeface="Calibri" pitchFamily="34" charset="0"/>
              </a:rPr>
              <a:t>0 + 1 </a:t>
            </a:r>
            <a:r>
              <a:rPr kumimoji="0" lang="en-US" altLang="zh-TW" sz="2400" dirty="0">
                <a:latin typeface="Calibri" pitchFamily="34" charset="0"/>
              </a:rPr>
              <a:t>= 1</a:t>
            </a:r>
          </a:p>
          <a:p>
            <a:pPr eaLnBrk="1" hangingPunct="1"/>
            <a:r>
              <a:rPr kumimoji="0" lang="en-US" altLang="zh-TW" sz="2400" dirty="0">
                <a:latin typeface="Calibri" pitchFamily="34" charset="0"/>
              </a:rPr>
              <a:t>J = 1, </a:t>
            </a:r>
            <a:r>
              <a:rPr kumimoji="0" lang="en-US" altLang="zh-TW" sz="2400" dirty="0">
                <a:solidFill>
                  <a:srgbClr val="00B050"/>
                </a:solidFill>
                <a:latin typeface="Calibri" pitchFamily="34" charset="0"/>
              </a:rPr>
              <a:t>1 + 1 </a:t>
            </a:r>
            <a:r>
              <a:rPr kumimoji="0" lang="en-US" altLang="zh-TW" sz="2400" dirty="0">
                <a:latin typeface="Calibri" pitchFamily="34" charset="0"/>
              </a:rPr>
              <a:t>= 2</a:t>
            </a:r>
          </a:p>
          <a:p>
            <a:pPr eaLnBrk="1" hangingPunct="1"/>
            <a:r>
              <a:rPr kumimoji="0" lang="en-US" altLang="zh-TW" sz="2400" dirty="0">
                <a:latin typeface="Calibri" pitchFamily="34" charset="0"/>
              </a:rPr>
              <a:t>J = 2, </a:t>
            </a:r>
            <a:r>
              <a:rPr kumimoji="0" lang="en-US" altLang="zh-TW" sz="2400" dirty="0">
                <a:solidFill>
                  <a:srgbClr val="00B0F0"/>
                </a:solidFill>
                <a:latin typeface="Calibri" pitchFamily="34" charset="0"/>
              </a:rPr>
              <a:t>1 + 0 </a:t>
            </a:r>
            <a:r>
              <a:rPr kumimoji="0" lang="en-US" altLang="zh-TW" sz="2400" dirty="0">
                <a:latin typeface="Calibri" pitchFamily="34" charset="0"/>
              </a:rPr>
              <a:t>= 0</a:t>
            </a:r>
          </a:p>
          <a:p>
            <a:pPr eaLnBrk="1" hangingPunct="1"/>
            <a:r>
              <a:rPr kumimoji="0" lang="en-US" altLang="zh-TW" sz="2400" dirty="0">
                <a:latin typeface="Calibri" pitchFamily="34" charset="0"/>
              </a:rPr>
              <a:t>J = 3, </a:t>
            </a:r>
            <a:r>
              <a:rPr kumimoji="0" lang="en-US" altLang="zh-TW" sz="2400" dirty="0">
                <a:solidFill>
                  <a:srgbClr val="7030A0"/>
                </a:solidFill>
                <a:latin typeface="Calibri" pitchFamily="34" charset="0"/>
              </a:rPr>
              <a:t>1 + 0 </a:t>
            </a:r>
            <a:r>
              <a:rPr kumimoji="0" lang="en-US" altLang="zh-TW" sz="2400" dirty="0">
                <a:latin typeface="Calibri" pitchFamily="34" charset="0"/>
              </a:rPr>
              <a:t>= 1</a:t>
            </a:r>
            <a:endParaRPr kumimoji="0" lang="zh-TW" altLang="en-US" sz="2400" dirty="0">
              <a:latin typeface="Calibri" pitchFamily="34" charset="0"/>
            </a:endParaRPr>
          </a:p>
        </p:txBody>
      </p:sp>
      <p:sp>
        <p:nvSpPr>
          <p:cNvPr id="18525" name="文字方塊 10"/>
          <p:cNvSpPr txBox="1">
            <a:spLocks noChangeArrowheads="1"/>
          </p:cNvSpPr>
          <p:nvPr/>
        </p:nvSpPr>
        <p:spPr bwMode="auto">
          <a:xfrm>
            <a:off x="214313" y="5143500"/>
            <a:ext cx="308039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2400" dirty="0">
                <a:latin typeface="Calibri" pitchFamily="34" charset="0"/>
              </a:rPr>
              <a:t>H</a:t>
            </a:r>
            <a:r>
              <a:rPr kumimoji="0" lang="en-US" altLang="zh-TW" sz="2400" dirty="0" smtClean="0">
                <a:latin typeface="Calibri" pitchFamily="34" charset="0"/>
              </a:rPr>
              <a:t>(1</a:t>
            </a:r>
            <a:r>
              <a:rPr kumimoji="0" lang="en-US" altLang="zh-TW" sz="2400" dirty="0">
                <a:latin typeface="Calibri" pitchFamily="34" charset="0"/>
              </a:rPr>
              <a:t>, 1, “A”, “A”) =&gt; A</a:t>
            </a:r>
          </a:p>
          <a:p>
            <a:pPr eaLnBrk="1" hangingPunct="1"/>
            <a:r>
              <a:rPr kumimoji="0" lang="en-US" altLang="zh-TW" sz="2400" dirty="0" smtClean="0">
                <a:latin typeface="Calibri" pitchFamily="34" charset="0"/>
              </a:rPr>
              <a:t>H(1</a:t>
            </a:r>
            <a:r>
              <a:rPr kumimoji="0" lang="en-US" altLang="zh-TW" sz="2400" dirty="0">
                <a:latin typeface="Calibri" pitchFamily="34" charset="0"/>
              </a:rPr>
              <a:t>, 0, “B”, null) = &gt;null</a:t>
            </a:r>
            <a:endParaRPr kumimoji="0" lang="zh-TW" altLang="en-US" sz="2400" dirty="0">
              <a:latin typeface="Calibri" pitchFamily="34" charset="0"/>
            </a:endParaRPr>
          </a:p>
        </p:txBody>
      </p:sp>
      <p:sp>
        <p:nvSpPr>
          <p:cNvPr id="18526" name="文字方塊 11"/>
          <p:cNvSpPr txBox="1">
            <a:spLocks noChangeArrowheads="1"/>
          </p:cNvSpPr>
          <p:nvPr/>
        </p:nvSpPr>
        <p:spPr bwMode="auto">
          <a:xfrm>
            <a:off x="5000625" y="5643563"/>
            <a:ext cx="302794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2400" dirty="0" smtClean="0">
                <a:latin typeface="Calibri" pitchFamily="34" charset="0"/>
              </a:rPr>
              <a:t>H(1</a:t>
            </a:r>
            <a:r>
              <a:rPr kumimoji="0" lang="en-US" altLang="zh-TW" sz="2400" dirty="0">
                <a:latin typeface="Calibri" pitchFamily="34" charset="0"/>
              </a:rPr>
              <a:t>, 1, “C”, “C”) =&gt; C</a:t>
            </a:r>
          </a:p>
          <a:p>
            <a:pPr eaLnBrk="1" hangingPunct="1"/>
            <a:r>
              <a:rPr kumimoji="0" lang="en-US" altLang="zh-TW" sz="2400" dirty="0" smtClean="0">
                <a:latin typeface="Calibri" pitchFamily="34" charset="0"/>
              </a:rPr>
              <a:t>H(1</a:t>
            </a:r>
            <a:r>
              <a:rPr kumimoji="0" lang="en-US" altLang="zh-TW" sz="2400" dirty="0">
                <a:latin typeface="Calibri" pitchFamily="34" charset="0"/>
              </a:rPr>
              <a:t>, 2, “D”,  “DE”) =&gt; D</a:t>
            </a:r>
            <a:endParaRPr kumimoji="0" lang="zh-TW" altLang="en-US" sz="2400" dirty="0">
              <a:latin typeface="Calibri" pitchFamily="34" charset="0"/>
            </a:endParaRPr>
          </a:p>
        </p:txBody>
      </p:sp>
      <p:sp>
        <p:nvSpPr>
          <p:cNvPr id="18527" name="文字方塊 12"/>
          <p:cNvSpPr txBox="1">
            <a:spLocks noChangeArrowheads="1"/>
          </p:cNvSpPr>
          <p:nvPr/>
        </p:nvSpPr>
        <p:spPr bwMode="auto">
          <a:xfrm>
            <a:off x="2643188" y="6072188"/>
            <a:ext cx="1565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2800">
                <a:latin typeface="Calibri" pitchFamily="34" charset="0"/>
              </a:rPr>
              <a:t>LCS : ACD</a:t>
            </a:r>
            <a:endParaRPr kumimoji="0" lang="zh-TW" altLang="en-US" sz="2800">
              <a:latin typeface="Calibri" pitchFamily="34" charset="0"/>
            </a:endParaRPr>
          </a:p>
        </p:txBody>
      </p:sp>
      <p:cxnSp>
        <p:nvCxnSpPr>
          <p:cNvPr id="13" name="直線接點 12"/>
          <p:cNvCxnSpPr/>
          <p:nvPr/>
        </p:nvCxnSpPr>
        <p:spPr>
          <a:xfrm rot="5400000">
            <a:off x="2428081" y="3642520"/>
            <a:ext cx="4286250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87338107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Timing </a:t>
            </a:r>
            <a:r>
              <a:rPr lang="en-US" altLang="zh-TW" dirty="0" smtClean="0"/>
              <a:t>Curves </a:t>
            </a:r>
            <a:r>
              <a:rPr lang="en-US" altLang="zh-TW" dirty="0"/>
              <a:t>for the H</a:t>
            </a:r>
            <a:r>
              <a:rPr lang="en-US" altLang="zh-TW" dirty="0" smtClean="0"/>
              <a:t>, and BV-H </a:t>
            </a:r>
            <a:r>
              <a:rPr lang="en-US" altLang="zh-TW" dirty="0"/>
              <a:t>A</a:t>
            </a:r>
            <a:r>
              <a:rPr lang="en-US" altLang="zh-TW" dirty="0" smtClean="0"/>
              <a:t>lgorithms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1100" y="1920081"/>
            <a:ext cx="6781800" cy="3886200"/>
          </a:xfrm>
        </p:spPr>
      </p:pic>
    </p:spTree>
    <p:extLst>
      <p:ext uri="{BB962C8B-B14F-4D97-AF65-F5344CB8AC3E}">
        <p14:creationId xmlns:p14="http://schemas.microsoft.com/office/powerpoint/2010/main" xmlns="" val="55789026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F:\Sena\Desktop\MPVP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50000"/>
          <a:stretch/>
        </p:blipFill>
        <p:spPr bwMode="auto">
          <a:xfrm>
            <a:off x="2582801" y="2062342"/>
            <a:ext cx="3961923" cy="4380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Speeding-up the Hunt-Szymanski Algorithm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文字方塊 4"/>
              <p:cNvSpPr txBox="1"/>
              <p:nvPr/>
            </p:nvSpPr>
            <p:spPr>
              <a:xfrm>
                <a:off x="795135" y="1484784"/>
                <a:ext cx="7537256" cy="543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600" dirty="0" smtClean="0"/>
                  <a:t>Dominant Match Point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600" b="0" i="1" smtClean="0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6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sz="2600" b="0" i="1" smtClean="0">
                                <a:latin typeface="Cambria Math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TW" sz="2600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TW" sz="2600" b="0" i="1" smtClean="0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6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TW" sz="2600" b="0" i="1" smtClean="0">
                                <a:latin typeface="Cambria Math"/>
                              </a:rPr>
                              <m:t>^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TW" sz="26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sz="2600" b="0" i="1" smtClean="0">
                                <a:latin typeface="Cambria Math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TW" sz="2600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altLang="zh-TW" sz="26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600" b="0" i="1" smtClean="0">
                                <a:latin typeface="Cambria Math"/>
                              </a:rPr>
                              <m:t>𝑗</m:t>
                            </m:r>
                          </m:e>
                        </m:d>
                      </m:e>
                    </m:d>
                    <m:r>
                      <a:rPr lang="en-US" altLang="zh-TW" sz="2600" b="0" i="1" smtClean="0">
                        <a:latin typeface="Cambria Math"/>
                      </a:rPr>
                      <m:t>&amp; </m:t>
                    </m:r>
                    <m:r>
                      <a:rPr lang="en-US" altLang="zh-TW" sz="2600" b="0" i="1" smtClean="0">
                        <a:latin typeface="Cambria Math"/>
                      </a:rPr>
                      <m:t>𝑉</m:t>
                    </m:r>
                    <m:r>
                      <a:rPr lang="en-US" altLang="zh-TW" sz="2600" b="0" i="1" smtClean="0">
                        <a:latin typeface="Cambria Math"/>
                      </a:rPr>
                      <m:t>′[</m:t>
                    </m:r>
                    <m:r>
                      <a:rPr lang="en-US" altLang="zh-TW" sz="2600" b="0" i="1" smtClean="0">
                        <a:latin typeface="Cambria Math"/>
                      </a:rPr>
                      <m:t>𝑗</m:t>
                    </m:r>
                    <m:r>
                      <a:rPr lang="en-US" altLang="zh-TW" sz="2600" b="0" i="1" smtClean="0">
                        <a:latin typeface="Cambria Math"/>
                      </a:rPr>
                      <m:t>−1]</m:t>
                    </m:r>
                  </m:oMath>
                </a14:m>
                <a:endParaRPr lang="zh-TW" altLang="en-US" sz="2600" dirty="0"/>
              </a:p>
            </p:txBody>
          </p:sp>
        </mc:Choice>
        <mc:Fallback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35" y="1484784"/>
                <a:ext cx="7537256" cy="543995"/>
              </a:xfrm>
              <a:prstGeom prst="rect">
                <a:avLst/>
              </a:prstGeom>
              <a:blipFill rotWithShape="1">
                <a:blip r:embed="rId3"/>
                <a:stretch>
                  <a:fillRect l="-1374" t="-5618" b="-224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5652120" y="2996952"/>
            <a:ext cx="72008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3563888" y="3799209"/>
            <a:ext cx="36004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4067944" y="4653136"/>
            <a:ext cx="72008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5292080" y="5013176"/>
            <a:ext cx="72008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3575261" y="5445224"/>
            <a:ext cx="72008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5659720" y="4217739"/>
            <a:ext cx="72008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2542848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Speeding-up the Hunt-Szymanski Algorithm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795135" y="1700807"/>
            <a:ext cx="1982466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dirty="0"/>
              <a:t>A = “</a:t>
            </a:r>
            <a:r>
              <a:rPr lang="en-US" altLang="zh-TW" sz="2600" dirty="0" smtClean="0"/>
              <a:t>ABCD”</a:t>
            </a:r>
            <a:br>
              <a:rPr lang="en-US" altLang="zh-TW" sz="2600" dirty="0" smtClean="0"/>
            </a:br>
            <a:r>
              <a:rPr lang="en-US" altLang="zh-TW" sz="2600" dirty="0" smtClean="0"/>
              <a:t>B </a:t>
            </a:r>
            <a:r>
              <a:rPr lang="en-US" altLang="zh-TW" sz="2600" dirty="0"/>
              <a:t>= “</a:t>
            </a:r>
            <a:r>
              <a:rPr lang="en-US" altLang="zh-TW" sz="2600" dirty="0" smtClean="0"/>
              <a:t>ACDE”</a:t>
            </a:r>
            <a:endParaRPr lang="en-US" altLang="zh-TW" sz="26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96711035"/>
              </p:ext>
            </p:extLst>
          </p:nvPr>
        </p:nvGraphicFramePr>
        <p:xfrm>
          <a:off x="795135" y="3591024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文字方塊 4"/>
              <p:cNvSpPr txBox="1"/>
              <p:nvPr/>
            </p:nvSpPr>
            <p:spPr>
              <a:xfrm>
                <a:off x="795135" y="2636912"/>
                <a:ext cx="7537256" cy="543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600" dirty="0" smtClean="0"/>
                  <a:t>Dominant Match Point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600" b="0" i="1" smtClean="0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6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sz="2600" b="0" i="1" smtClean="0">
                                <a:latin typeface="Cambria Math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TW" sz="2600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TW" sz="2600" b="0" i="1" smtClean="0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6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TW" sz="2600" b="0" i="1" smtClean="0">
                                <a:latin typeface="Cambria Math"/>
                              </a:rPr>
                              <m:t>^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TW" sz="26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sz="2600" b="0" i="1" smtClean="0">
                                <a:latin typeface="Cambria Math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TW" sz="2600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altLang="zh-TW" sz="26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600" b="0" i="1" smtClean="0">
                                <a:latin typeface="Cambria Math"/>
                              </a:rPr>
                              <m:t>𝑗</m:t>
                            </m:r>
                          </m:e>
                        </m:d>
                      </m:e>
                    </m:d>
                    <m:r>
                      <a:rPr lang="en-US" altLang="zh-TW" sz="2600" b="0" i="1" smtClean="0">
                        <a:latin typeface="Cambria Math"/>
                      </a:rPr>
                      <m:t>&amp; </m:t>
                    </m:r>
                    <m:r>
                      <a:rPr lang="en-US" altLang="zh-TW" sz="2600" b="0" i="1" smtClean="0">
                        <a:latin typeface="Cambria Math"/>
                      </a:rPr>
                      <m:t>𝑉</m:t>
                    </m:r>
                    <m:r>
                      <a:rPr lang="en-US" altLang="zh-TW" sz="2600" b="0" i="1" smtClean="0">
                        <a:latin typeface="Cambria Math"/>
                      </a:rPr>
                      <m:t>′[</m:t>
                    </m:r>
                    <m:r>
                      <a:rPr lang="en-US" altLang="zh-TW" sz="2600" b="0" i="1" smtClean="0">
                        <a:latin typeface="Cambria Math"/>
                      </a:rPr>
                      <m:t>𝑗</m:t>
                    </m:r>
                    <m:r>
                      <a:rPr lang="en-US" altLang="zh-TW" sz="2600" b="0" i="1" smtClean="0">
                        <a:latin typeface="Cambria Math"/>
                      </a:rPr>
                      <m:t>−1]</m:t>
                    </m:r>
                  </m:oMath>
                </a14:m>
                <a:endParaRPr lang="zh-TW" altLang="en-US" sz="2600" dirty="0"/>
              </a:p>
            </p:txBody>
          </p:sp>
        </mc:Choice>
        <mc:Fallback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35" y="2636912"/>
                <a:ext cx="7537256" cy="543995"/>
              </a:xfrm>
              <a:prstGeom prst="rect">
                <a:avLst/>
              </a:prstGeom>
              <a:blipFill rotWithShape="1">
                <a:blip r:embed="rId2"/>
                <a:stretch>
                  <a:fillRect l="-1374" t="-5618" b="-224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/>
          <p:cNvSpPr txBox="1"/>
          <p:nvPr/>
        </p:nvSpPr>
        <p:spPr>
          <a:xfrm>
            <a:off x="795135" y="3186332"/>
            <a:ext cx="1443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Bit-Vector V’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907511838"/>
              </p:ext>
            </p:extLst>
          </p:nvPr>
        </p:nvGraphicFramePr>
        <p:xfrm>
          <a:off x="795135" y="5949280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5135" y="5517232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67770468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Speeding-up the Hunt-Szymanski Algorithm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795135" y="1700807"/>
            <a:ext cx="1982466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dirty="0"/>
              <a:t>A = “</a:t>
            </a:r>
            <a:r>
              <a:rPr lang="en-US" altLang="zh-TW" sz="2600" dirty="0" smtClean="0"/>
              <a:t>ABCD”</a:t>
            </a:r>
            <a:br>
              <a:rPr lang="en-US" altLang="zh-TW" sz="2600" dirty="0" smtClean="0"/>
            </a:br>
            <a:r>
              <a:rPr lang="en-US" altLang="zh-TW" sz="2600" dirty="0" smtClean="0"/>
              <a:t>B </a:t>
            </a:r>
            <a:r>
              <a:rPr lang="en-US" altLang="zh-TW" sz="2600" dirty="0"/>
              <a:t>= “</a:t>
            </a:r>
            <a:r>
              <a:rPr lang="en-US" altLang="zh-TW" sz="2600" dirty="0" smtClean="0"/>
              <a:t>ACDE”</a:t>
            </a:r>
            <a:endParaRPr lang="en-US" altLang="zh-TW" sz="26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3561275"/>
              </p:ext>
            </p:extLst>
          </p:nvPr>
        </p:nvGraphicFramePr>
        <p:xfrm>
          <a:off x="795135" y="3591024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文字方塊 4"/>
              <p:cNvSpPr txBox="1"/>
              <p:nvPr/>
            </p:nvSpPr>
            <p:spPr>
              <a:xfrm>
                <a:off x="795135" y="2636912"/>
                <a:ext cx="7537256" cy="543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600" dirty="0" smtClean="0"/>
                  <a:t>Dominant Match Point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600" b="0" i="1" smtClean="0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6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sz="2600" b="0" i="1" smtClean="0">
                                <a:latin typeface="Cambria Math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TW" sz="2600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TW" sz="2600" b="0" i="1" smtClean="0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6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TW" sz="2600" b="0" i="1" smtClean="0">
                                <a:latin typeface="Cambria Math"/>
                              </a:rPr>
                              <m:t>^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TW" sz="26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sz="2600" b="0" i="1" smtClean="0">
                                <a:latin typeface="Cambria Math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TW" sz="2600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altLang="zh-TW" sz="26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600" b="0" i="1" smtClean="0">
                                <a:latin typeface="Cambria Math"/>
                              </a:rPr>
                              <m:t>𝑗</m:t>
                            </m:r>
                          </m:e>
                        </m:d>
                      </m:e>
                    </m:d>
                    <m:r>
                      <a:rPr lang="en-US" altLang="zh-TW" sz="2600" b="0" i="1" smtClean="0">
                        <a:latin typeface="Cambria Math"/>
                      </a:rPr>
                      <m:t>&amp; </m:t>
                    </m:r>
                    <m:r>
                      <a:rPr lang="en-US" altLang="zh-TW" sz="2600" b="0" i="1" smtClean="0">
                        <a:latin typeface="Cambria Math"/>
                      </a:rPr>
                      <m:t>𝑉</m:t>
                    </m:r>
                    <m:r>
                      <a:rPr lang="en-US" altLang="zh-TW" sz="2600" b="0" i="1" smtClean="0">
                        <a:latin typeface="Cambria Math"/>
                      </a:rPr>
                      <m:t>′[</m:t>
                    </m:r>
                    <m:r>
                      <a:rPr lang="en-US" altLang="zh-TW" sz="2600" b="0" i="1" smtClean="0">
                        <a:latin typeface="Cambria Math"/>
                      </a:rPr>
                      <m:t>𝑗</m:t>
                    </m:r>
                    <m:r>
                      <a:rPr lang="en-US" altLang="zh-TW" sz="2600" b="0" i="1" smtClean="0">
                        <a:latin typeface="Cambria Math"/>
                      </a:rPr>
                      <m:t>−1]</m:t>
                    </m:r>
                  </m:oMath>
                </a14:m>
                <a:endParaRPr lang="zh-TW" altLang="en-US" sz="2600" dirty="0"/>
              </a:p>
            </p:txBody>
          </p:sp>
        </mc:Choice>
        <mc:Fallback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35" y="2636912"/>
                <a:ext cx="7537256" cy="543995"/>
              </a:xfrm>
              <a:prstGeom prst="rect">
                <a:avLst/>
              </a:prstGeom>
              <a:blipFill rotWithShape="1">
                <a:blip r:embed="rId2"/>
                <a:stretch>
                  <a:fillRect l="-1374" t="-5618" b="-224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/>
          <p:cNvSpPr txBox="1"/>
          <p:nvPr/>
        </p:nvSpPr>
        <p:spPr>
          <a:xfrm>
            <a:off x="795135" y="3186332"/>
            <a:ext cx="1443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Bit-Vector V’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863824996"/>
              </p:ext>
            </p:extLst>
          </p:nvPr>
        </p:nvGraphicFramePr>
        <p:xfrm>
          <a:off x="795135" y="5949280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5135" y="5517232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34492937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Speeding-up the Hunt-Szymanski Algorithm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795135" y="1700807"/>
            <a:ext cx="1982466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dirty="0"/>
              <a:t>A = “</a:t>
            </a:r>
            <a:r>
              <a:rPr lang="en-US" altLang="zh-TW" sz="2600" dirty="0" smtClean="0"/>
              <a:t>ABCD”</a:t>
            </a:r>
            <a:br>
              <a:rPr lang="en-US" altLang="zh-TW" sz="2600" dirty="0" smtClean="0"/>
            </a:br>
            <a:r>
              <a:rPr lang="en-US" altLang="zh-TW" sz="2600" dirty="0" smtClean="0"/>
              <a:t>B </a:t>
            </a:r>
            <a:r>
              <a:rPr lang="en-US" altLang="zh-TW" sz="2600" dirty="0"/>
              <a:t>= “</a:t>
            </a:r>
            <a:r>
              <a:rPr lang="en-US" altLang="zh-TW" sz="2600" dirty="0" smtClean="0"/>
              <a:t>ACDE”</a:t>
            </a:r>
            <a:endParaRPr lang="en-US" altLang="zh-TW" sz="26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535264724"/>
              </p:ext>
            </p:extLst>
          </p:nvPr>
        </p:nvGraphicFramePr>
        <p:xfrm>
          <a:off x="795135" y="3591024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文字方塊 4"/>
              <p:cNvSpPr txBox="1"/>
              <p:nvPr/>
            </p:nvSpPr>
            <p:spPr>
              <a:xfrm>
                <a:off x="795135" y="2636912"/>
                <a:ext cx="7537256" cy="543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600" dirty="0" smtClean="0"/>
                  <a:t>Dominant Match Point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600" b="0" i="1" smtClean="0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6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sz="2600" b="0" i="1" smtClean="0">
                                <a:latin typeface="Cambria Math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TW" sz="2600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TW" sz="2600" b="0" i="1" smtClean="0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6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TW" sz="2600" b="0" i="1" smtClean="0">
                                <a:latin typeface="Cambria Math"/>
                              </a:rPr>
                              <m:t>^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TW" sz="26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sz="2600" b="0" i="1" smtClean="0">
                                <a:latin typeface="Cambria Math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TW" sz="2600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altLang="zh-TW" sz="26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600" b="0" i="1" smtClean="0">
                                <a:latin typeface="Cambria Math"/>
                              </a:rPr>
                              <m:t>𝑗</m:t>
                            </m:r>
                          </m:e>
                        </m:d>
                      </m:e>
                    </m:d>
                    <m:r>
                      <a:rPr lang="en-US" altLang="zh-TW" sz="2600" b="0" i="1" smtClean="0">
                        <a:latin typeface="Cambria Math"/>
                      </a:rPr>
                      <m:t>&amp; </m:t>
                    </m:r>
                    <m:r>
                      <a:rPr lang="en-US" altLang="zh-TW" sz="2600" b="0" i="1" smtClean="0">
                        <a:latin typeface="Cambria Math"/>
                      </a:rPr>
                      <m:t>𝑉</m:t>
                    </m:r>
                    <m:r>
                      <a:rPr lang="en-US" altLang="zh-TW" sz="2600" b="0" i="1" smtClean="0">
                        <a:latin typeface="Cambria Math"/>
                      </a:rPr>
                      <m:t>′[</m:t>
                    </m:r>
                    <m:r>
                      <a:rPr lang="en-US" altLang="zh-TW" sz="2600" b="0" i="1" smtClean="0">
                        <a:latin typeface="Cambria Math"/>
                      </a:rPr>
                      <m:t>𝑗</m:t>
                    </m:r>
                    <m:r>
                      <a:rPr lang="en-US" altLang="zh-TW" sz="2600" b="0" i="1" smtClean="0">
                        <a:latin typeface="Cambria Math"/>
                      </a:rPr>
                      <m:t>−1]</m:t>
                    </m:r>
                  </m:oMath>
                </a14:m>
                <a:endParaRPr lang="zh-TW" altLang="en-US" sz="2600" dirty="0"/>
              </a:p>
            </p:txBody>
          </p:sp>
        </mc:Choice>
        <mc:Fallback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35" y="2636912"/>
                <a:ext cx="7537256" cy="543995"/>
              </a:xfrm>
              <a:prstGeom prst="rect">
                <a:avLst/>
              </a:prstGeom>
              <a:blipFill rotWithShape="1">
                <a:blip r:embed="rId2"/>
                <a:stretch>
                  <a:fillRect l="-1374" t="-5618" b="-224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/>
          <p:cNvSpPr txBox="1"/>
          <p:nvPr/>
        </p:nvSpPr>
        <p:spPr>
          <a:xfrm>
            <a:off x="795135" y="3186332"/>
            <a:ext cx="1443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Bit-Vector V’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814147919"/>
              </p:ext>
            </p:extLst>
          </p:nvPr>
        </p:nvGraphicFramePr>
        <p:xfrm>
          <a:off x="795135" y="5949280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5135" y="5517232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95000065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Speeding-up the Hunt-Szymanski Algorithm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795135" y="1700807"/>
            <a:ext cx="1982466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dirty="0"/>
              <a:t>A = “</a:t>
            </a:r>
            <a:r>
              <a:rPr lang="en-US" altLang="zh-TW" sz="2600" dirty="0" smtClean="0"/>
              <a:t>ABCD”</a:t>
            </a:r>
            <a:br>
              <a:rPr lang="en-US" altLang="zh-TW" sz="2600" dirty="0" smtClean="0"/>
            </a:br>
            <a:r>
              <a:rPr lang="en-US" altLang="zh-TW" sz="2600" dirty="0" smtClean="0"/>
              <a:t>B </a:t>
            </a:r>
            <a:r>
              <a:rPr lang="en-US" altLang="zh-TW" sz="2600" dirty="0"/>
              <a:t>= “</a:t>
            </a:r>
            <a:r>
              <a:rPr lang="en-US" altLang="zh-TW" sz="2600" dirty="0" smtClean="0"/>
              <a:t>ACDE”</a:t>
            </a:r>
            <a:endParaRPr lang="en-US" altLang="zh-TW" sz="26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895687361"/>
              </p:ext>
            </p:extLst>
          </p:nvPr>
        </p:nvGraphicFramePr>
        <p:xfrm>
          <a:off x="795135" y="3591024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文字方塊 4"/>
              <p:cNvSpPr txBox="1"/>
              <p:nvPr/>
            </p:nvSpPr>
            <p:spPr>
              <a:xfrm>
                <a:off x="795135" y="2636912"/>
                <a:ext cx="7537256" cy="543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600" dirty="0" smtClean="0"/>
                  <a:t>Dominant Match Point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600" b="0" i="1" smtClean="0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6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sz="2600" b="0" i="1" smtClean="0">
                                <a:latin typeface="Cambria Math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TW" sz="2600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TW" sz="2600" b="0" i="1" smtClean="0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6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TW" sz="2600" b="0" i="1" smtClean="0">
                                <a:latin typeface="Cambria Math"/>
                              </a:rPr>
                              <m:t>^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TW" sz="26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sz="2600" b="0" i="1" smtClean="0">
                                <a:latin typeface="Cambria Math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TW" sz="2600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altLang="zh-TW" sz="26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600" b="0" i="1" smtClean="0">
                                <a:latin typeface="Cambria Math"/>
                              </a:rPr>
                              <m:t>𝑗</m:t>
                            </m:r>
                          </m:e>
                        </m:d>
                      </m:e>
                    </m:d>
                    <m:r>
                      <a:rPr lang="en-US" altLang="zh-TW" sz="2600" b="0" i="1" smtClean="0">
                        <a:latin typeface="Cambria Math"/>
                      </a:rPr>
                      <m:t>&amp; </m:t>
                    </m:r>
                    <m:r>
                      <a:rPr lang="en-US" altLang="zh-TW" sz="2600" b="0" i="1" smtClean="0">
                        <a:latin typeface="Cambria Math"/>
                      </a:rPr>
                      <m:t>𝑉</m:t>
                    </m:r>
                    <m:r>
                      <a:rPr lang="en-US" altLang="zh-TW" sz="2600" b="0" i="1" smtClean="0">
                        <a:latin typeface="Cambria Math"/>
                      </a:rPr>
                      <m:t>′[</m:t>
                    </m:r>
                    <m:r>
                      <a:rPr lang="en-US" altLang="zh-TW" sz="2600" b="0" i="1" smtClean="0">
                        <a:latin typeface="Cambria Math"/>
                      </a:rPr>
                      <m:t>𝑗</m:t>
                    </m:r>
                    <m:r>
                      <a:rPr lang="en-US" altLang="zh-TW" sz="2600" b="0" i="1" smtClean="0">
                        <a:latin typeface="Cambria Math"/>
                      </a:rPr>
                      <m:t>−1]</m:t>
                    </m:r>
                  </m:oMath>
                </a14:m>
                <a:endParaRPr lang="zh-TW" altLang="en-US" sz="2600" dirty="0"/>
              </a:p>
            </p:txBody>
          </p:sp>
        </mc:Choice>
        <mc:Fallback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35" y="2636912"/>
                <a:ext cx="7537256" cy="543995"/>
              </a:xfrm>
              <a:prstGeom prst="rect">
                <a:avLst/>
              </a:prstGeom>
              <a:blipFill rotWithShape="1">
                <a:blip r:embed="rId2"/>
                <a:stretch>
                  <a:fillRect l="-1374" t="-5618" b="-224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/>
          <p:cNvSpPr txBox="1"/>
          <p:nvPr/>
        </p:nvSpPr>
        <p:spPr>
          <a:xfrm>
            <a:off x="795135" y="3186332"/>
            <a:ext cx="1443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Bit-Vector V’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764309380"/>
              </p:ext>
            </p:extLst>
          </p:nvPr>
        </p:nvGraphicFramePr>
        <p:xfrm>
          <a:off x="795135" y="5949280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5135" y="5517232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63319274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Speeding-up the Hunt-Szymanski Algorithm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795135" y="1700807"/>
            <a:ext cx="1982466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dirty="0"/>
              <a:t>A = “</a:t>
            </a:r>
            <a:r>
              <a:rPr lang="en-US" altLang="zh-TW" sz="2600" dirty="0" smtClean="0"/>
              <a:t>ABCD”</a:t>
            </a:r>
            <a:br>
              <a:rPr lang="en-US" altLang="zh-TW" sz="2600" dirty="0" smtClean="0"/>
            </a:br>
            <a:r>
              <a:rPr lang="en-US" altLang="zh-TW" sz="2600" dirty="0" smtClean="0"/>
              <a:t>B </a:t>
            </a:r>
            <a:r>
              <a:rPr lang="en-US" altLang="zh-TW" sz="2600" dirty="0"/>
              <a:t>= “</a:t>
            </a:r>
            <a:r>
              <a:rPr lang="en-US" altLang="zh-TW" sz="2600" dirty="0" smtClean="0"/>
              <a:t>ACDE”</a:t>
            </a:r>
            <a:endParaRPr lang="en-US" altLang="zh-TW" sz="26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556289956"/>
              </p:ext>
            </p:extLst>
          </p:nvPr>
        </p:nvGraphicFramePr>
        <p:xfrm>
          <a:off x="795135" y="3591024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文字方塊 4"/>
              <p:cNvSpPr txBox="1"/>
              <p:nvPr/>
            </p:nvSpPr>
            <p:spPr>
              <a:xfrm>
                <a:off x="795135" y="2636912"/>
                <a:ext cx="7537256" cy="543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600" dirty="0" smtClean="0"/>
                  <a:t>Dominant Match Point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600" b="0" i="1" smtClean="0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6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sz="2600" b="0" i="1" smtClean="0">
                                <a:latin typeface="Cambria Math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TW" sz="2600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TW" sz="2600" b="0" i="1" smtClean="0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6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TW" sz="2600" b="0" i="1" smtClean="0">
                                <a:latin typeface="Cambria Math"/>
                              </a:rPr>
                              <m:t>^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TW" sz="26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sz="2600" b="0" i="1" smtClean="0">
                                <a:latin typeface="Cambria Math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TW" sz="2600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altLang="zh-TW" sz="26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600" b="0" i="1" smtClean="0">
                                <a:latin typeface="Cambria Math"/>
                              </a:rPr>
                              <m:t>𝑗</m:t>
                            </m:r>
                          </m:e>
                        </m:d>
                      </m:e>
                    </m:d>
                    <m:r>
                      <a:rPr lang="en-US" altLang="zh-TW" sz="2600" b="0" i="1" smtClean="0">
                        <a:latin typeface="Cambria Math"/>
                      </a:rPr>
                      <m:t>&amp; </m:t>
                    </m:r>
                    <m:r>
                      <a:rPr lang="en-US" altLang="zh-TW" sz="2600" b="0" i="1" smtClean="0">
                        <a:latin typeface="Cambria Math"/>
                      </a:rPr>
                      <m:t>𝑉</m:t>
                    </m:r>
                    <m:r>
                      <a:rPr lang="en-US" altLang="zh-TW" sz="2600" b="0" i="1" smtClean="0">
                        <a:latin typeface="Cambria Math"/>
                      </a:rPr>
                      <m:t>′[</m:t>
                    </m:r>
                    <m:r>
                      <a:rPr lang="en-US" altLang="zh-TW" sz="2600" b="0" i="1" smtClean="0">
                        <a:latin typeface="Cambria Math"/>
                      </a:rPr>
                      <m:t>𝑗</m:t>
                    </m:r>
                    <m:r>
                      <a:rPr lang="en-US" altLang="zh-TW" sz="2600" b="0" i="1" smtClean="0">
                        <a:latin typeface="Cambria Math"/>
                      </a:rPr>
                      <m:t>−1]</m:t>
                    </m:r>
                  </m:oMath>
                </a14:m>
                <a:endParaRPr lang="zh-TW" altLang="en-US" sz="2600" dirty="0"/>
              </a:p>
            </p:txBody>
          </p:sp>
        </mc:Choice>
        <mc:Fallback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35" y="2636912"/>
                <a:ext cx="7537256" cy="543995"/>
              </a:xfrm>
              <a:prstGeom prst="rect">
                <a:avLst/>
              </a:prstGeom>
              <a:blipFill rotWithShape="1">
                <a:blip r:embed="rId2"/>
                <a:stretch>
                  <a:fillRect l="-1374" t="-5618" b="-224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/>
          <p:cNvSpPr txBox="1"/>
          <p:nvPr/>
        </p:nvSpPr>
        <p:spPr>
          <a:xfrm>
            <a:off x="795135" y="3186332"/>
            <a:ext cx="1443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Bit-Vector V’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306750964"/>
              </p:ext>
            </p:extLst>
          </p:nvPr>
        </p:nvGraphicFramePr>
        <p:xfrm>
          <a:off x="795135" y="5949280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5135" y="5517232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THRESH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7164288" y="6237312"/>
            <a:ext cx="1327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LCS = ACD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9481545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Timing </a:t>
            </a:r>
            <a:r>
              <a:rPr lang="en-US" altLang="zh-TW" dirty="0" smtClean="0"/>
              <a:t>Curves </a:t>
            </a:r>
            <a:r>
              <a:rPr lang="en-US" altLang="zh-TW" dirty="0"/>
              <a:t>for </a:t>
            </a:r>
            <a:r>
              <a:rPr lang="en-US" altLang="zh-TW" dirty="0" smtClean="0"/>
              <a:t>the BV-H </a:t>
            </a:r>
            <a:r>
              <a:rPr lang="en-US" altLang="zh-TW" dirty="0"/>
              <a:t>and BV-HS A</a:t>
            </a:r>
            <a:r>
              <a:rPr lang="en-US" altLang="zh-TW" dirty="0" smtClean="0"/>
              <a:t>lgorithms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3000" y="1924844"/>
            <a:ext cx="6858000" cy="3876675"/>
          </a:xfrm>
        </p:spPr>
      </p:pic>
    </p:spTree>
    <p:extLst>
      <p:ext uri="{BB962C8B-B14F-4D97-AF65-F5344CB8AC3E}">
        <p14:creationId xmlns:p14="http://schemas.microsoft.com/office/powerpoint/2010/main" xmlns="" val="132928061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</TotalTime>
  <Words>1718</Words>
  <Application>Microsoft Office PowerPoint</Application>
  <PresentationFormat>如螢幕大小 (4:3)</PresentationFormat>
  <Paragraphs>1009</Paragraphs>
  <Slides>28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29" baseType="lpstr">
      <vt:lpstr>Office 佈景主題</vt:lpstr>
      <vt:lpstr>Speeding-up Hirschberg and Hunt-Szymanski LCS Algorithms</vt:lpstr>
      <vt:lpstr>Abstract</vt:lpstr>
      <vt:lpstr>Basic Background</vt:lpstr>
      <vt:lpstr>Basic Background</vt:lpstr>
      <vt:lpstr>Basic Background</vt:lpstr>
      <vt:lpstr>Basic Background</vt:lpstr>
      <vt:lpstr>Basic Background</vt:lpstr>
      <vt:lpstr>Speeding-up the Hirschberg Algorithm</vt:lpstr>
      <vt:lpstr>FindRow</vt:lpstr>
      <vt:lpstr>FindRow</vt:lpstr>
      <vt:lpstr>FindRow</vt:lpstr>
      <vt:lpstr>FindRow</vt:lpstr>
      <vt:lpstr>BV-FindRow</vt:lpstr>
      <vt:lpstr>BV-FindRow</vt:lpstr>
      <vt:lpstr>BV-FindRow</vt:lpstr>
      <vt:lpstr>BV-FindRow</vt:lpstr>
      <vt:lpstr>Hirschberg’s Algorithm</vt:lpstr>
      <vt:lpstr>Hirschberg’s Algorithm</vt:lpstr>
      <vt:lpstr>Hirschberg’s Algorithm</vt:lpstr>
      <vt:lpstr>Hirschberg’s Algorithm</vt:lpstr>
      <vt:lpstr>Timing Curves for the H, and BV-H Algorithms</vt:lpstr>
      <vt:lpstr>Speeding-up the Hunt-Szymanski Algorithm</vt:lpstr>
      <vt:lpstr>Speeding-up the Hunt-Szymanski Algorithm</vt:lpstr>
      <vt:lpstr>Speeding-up the Hunt-Szymanski Algorithm</vt:lpstr>
      <vt:lpstr>Speeding-up the Hunt-Szymanski Algorithm</vt:lpstr>
      <vt:lpstr>Speeding-up the Hunt-Szymanski Algorithm</vt:lpstr>
      <vt:lpstr>Speeding-up the Hunt-Szymanski Algorithm</vt:lpstr>
      <vt:lpstr>Timing Curves for the BV-H and BV-HS Algorithms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Speeding-up Hirschberg and Hunt-Szymanski LCS Algorithms</dc:title>
  <dc:creator>Sena</dc:creator>
  <cp:lastModifiedBy>admin</cp:lastModifiedBy>
  <cp:revision>51</cp:revision>
  <dcterms:created xsi:type="dcterms:W3CDTF">2014-06-30T20:49:07Z</dcterms:created>
  <dcterms:modified xsi:type="dcterms:W3CDTF">2014-07-08T11:11:27Z</dcterms:modified>
</cp:coreProperties>
</file>