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4" r:id="rId3"/>
    <p:sldId id="265" r:id="rId4"/>
    <p:sldId id="266" r:id="rId5"/>
    <p:sldId id="268" r:id="rId6"/>
    <p:sldId id="267" r:id="rId7"/>
    <p:sldId id="269" r:id="rId8"/>
    <p:sldId id="270" r:id="rId9"/>
    <p:sldId id="271" r:id="rId10"/>
    <p:sldId id="272" r:id="rId11"/>
    <p:sldId id="273" r:id="rId12"/>
    <p:sldId id="263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68EAB-B135-4EEF-83C8-3666596F7D3D}" type="datetimeFigureOut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8569B-E4B3-46F0-9A8B-708DB1F5994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620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98569B-E4B3-46F0-9A8B-708DB1F5994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82940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98569B-E4B3-46F0-9A8B-708DB1F5994F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03307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B186-02A0-4450-9970-ED40EC526A14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2427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99AC-91B3-4130-8D51-EFC218A6CC15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4545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9E06-8B88-45F1-B8AA-255C9D1ADFE9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0046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53B5-40EC-4294-B95C-3AD3F53D7F69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4683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BF5B-B561-430E-B11C-CE171EE57257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8417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3D99A-D13E-4419-9D21-6BD25D94E8D2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3121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2187-015C-4076-BC7D-8B8472DB462F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3765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4867-80B7-4037-B782-09F5866CBD80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0285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F8678-41D7-4190-BB6C-A2189F8D28C0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705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EFE2-BA0B-485F-8811-099F358FB97D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9188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38F9-1E1D-4358-9966-09F62BCC39F5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232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66FDB-E141-4954-95B3-16E863400D05}" type="datetime1">
              <a:rPr lang="zh-TW" altLang="en-US" smtClean="0"/>
              <a:pPr/>
              <a:t>2014/3/17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3A866-001D-4873-95F9-BE963E58797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6221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The </a:t>
            </a:r>
            <a:r>
              <a:rPr lang="en-US" altLang="zh-TW" sz="4000" dirty="0"/>
              <a:t>Department Score Forecast and Analysis of the College Entrance Examination</a:t>
            </a:r>
            <a:endParaRPr lang="zh-TW" altLang="en-US" sz="4000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 smtClean="0"/>
              <a:t>Teacher: Chang-</a:t>
            </a:r>
            <a:r>
              <a:rPr lang="en-US" altLang="zh-TW" sz="1600" dirty="0" err="1" smtClean="0"/>
              <a:t>Biau</a:t>
            </a:r>
            <a:r>
              <a:rPr lang="en-US" altLang="zh-TW" sz="1600" dirty="0" smtClean="0"/>
              <a:t> Yang</a:t>
            </a:r>
            <a:endParaRPr lang="en-US" altLang="zh-TW" sz="1600" dirty="0" smtClean="0"/>
          </a:p>
          <a:p>
            <a:r>
              <a:rPr lang="en-US" altLang="zh-TW" sz="1600" dirty="0" err="1" smtClean="0"/>
              <a:t>Student:Jyun-Jie</a:t>
            </a:r>
            <a:r>
              <a:rPr lang="en-US" altLang="zh-TW" sz="1600" dirty="0" smtClean="0"/>
              <a:t> </a:t>
            </a:r>
            <a:r>
              <a:rPr lang="en-US" altLang="zh-TW" sz="1600" dirty="0" err="1" smtClean="0"/>
              <a:t>Shiu</a:t>
            </a:r>
            <a:endParaRPr lang="en-US" altLang="zh-TW" sz="1600" dirty="0" smtClean="0"/>
          </a:p>
          <a:p>
            <a:r>
              <a:rPr lang="en-US" altLang="zh-TW" sz="1600" dirty="0" smtClean="0"/>
              <a:t>Date: 140317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0488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Admission </a:t>
            </a:r>
            <a:r>
              <a:rPr lang="en-US" altLang="zh-TW" smtClean="0"/>
              <a:t>Pipeline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Star Recommend (less than 15%)</a:t>
            </a:r>
          </a:p>
          <a:p>
            <a:r>
              <a:rPr lang="en-US" altLang="zh-TW" dirty="0" smtClean="0"/>
              <a:t>Individuals Applying </a:t>
            </a:r>
            <a:r>
              <a:rPr lang="en-US" altLang="zh-TW" dirty="0"/>
              <a:t>for </a:t>
            </a:r>
            <a:r>
              <a:rPr lang="en-US" altLang="zh-TW" dirty="0" smtClean="0"/>
              <a:t>Admission </a:t>
            </a:r>
            <a:r>
              <a:rPr lang="en-US" altLang="zh-TW" dirty="0"/>
              <a:t>to a </a:t>
            </a:r>
            <a:r>
              <a:rPr lang="en-US" altLang="zh-TW" dirty="0" smtClean="0"/>
              <a:t>School (less than 45%)</a:t>
            </a:r>
          </a:p>
          <a:p>
            <a:r>
              <a:rPr lang="en-US" altLang="zh-TW" dirty="0"/>
              <a:t>College Entrance Advanced Subjects </a:t>
            </a:r>
            <a:r>
              <a:rPr lang="en-US" altLang="zh-TW" dirty="0" smtClean="0"/>
              <a:t>Test (greater than 40%)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dirty="0"/>
              <a:t>We construct a prediction system in order for students to entrance a suitable </a:t>
            </a:r>
            <a:r>
              <a:rPr lang="en-US" altLang="zh-TW" dirty="0" smtClean="0"/>
              <a:t>University.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4287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Prediction System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College Entrance Advanced Subjects Test</a:t>
                </a:r>
              </a:p>
              <a:p>
                <a:pPr lvl="1"/>
                <a:r>
                  <a:rPr lang="en-US" altLang="zh-TW" dirty="0" smtClean="0"/>
                  <a:t>Minimum required test score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8967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Preliminaries(1/2)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Forward Method</a:t>
                </a:r>
              </a:p>
              <a:p>
                <a:pPr lvl="1"/>
                <a:r>
                  <a:rPr lang="en-US" altLang="zh-TW" dirty="0" smtClean="0"/>
                  <a:t>Assumption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student has the same evaluation </a:t>
                </a:r>
                <a:r>
                  <a:rPr lang="en-US" altLang="zh-TW" dirty="0" smtClean="0"/>
                  <a:t>of </a:t>
                </a:r>
                <a:r>
                  <a:rPr lang="en-US" altLang="zh-TW" dirty="0"/>
                  <a:t>all schools in the two consecutive years.</a:t>
                </a:r>
                <a:endParaRPr lang="en-US" altLang="zh-TW" dirty="0" smtClean="0"/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altLang="zh-TW" dirty="0" smtClean="0"/>
                  <a:t>A student </a:t>
                </a:r>
                <a:r>
                  <a:rPr lang="en-US" altLang="zh-TW" dirty="0"/>
                  <a:t>has the same level of all examination </a:t>
                </a:r>
                <a:r>
                  <a:rPr lang="en-US" altLang="zh-TW" dirty="0" smtClean="0"/>
                  <a:t>subject.</a:t>
                </a:r>
              </a:p>
              <a:p>
                <a:pPr lvl="1"/>
                <a:r>
                  <a:rPr lang="en-US" altLang="zh-TW" dirty="0" smtClean="0"/>
                  <a:t>Prediction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𝑆𝑢𝑚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𝑆𝑢𝑚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)×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8224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Preliminaries(2/2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Lin’s Method</a:t>
                </a:r>
              </a:p>
              <a:p>
                <a:pPr lvl="1"/>
                <a:r>
                  <a:rPr lang="en-US" altLang="zh-TW" dirty="0"/>
                  <a:t>Lin constructed four kinds of predictors and decided which one suitable for a department.</a:t>
                </a:r>
              </a:p>
              <a:p>
                <a:r>
                  <a:rPr lang="en-US" altLang="zh-TW" dirty="0" smtClean="0"/>
                  <a:t>Four Prediction Indices: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The Best index: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𝑆𝑈𝐵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Prediction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altLang="zh-TW" dirty="0" smtClean="0"/>
              </a:p>
              <a:p>
                <a:pPr lvl="2"/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6329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Tried Method(1/2)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Forward Method whit Ranking school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𝑆𝑢𝑚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𝑐𝑢𝑚𝑢𝑙𝑎𝑡𝑖𝑣𝑒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𝑝𝑒𝑜𝑝𝑙𝑒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𝑝𝑒𝑟</m:t>
                            </m:r>
                          </m:sub>
                        </m:sSub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𝑔𝑟𝑒𝑎𝑡𝑒𝑟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𝑡h𝑎𝑛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𝑔𝑟𝑒𝑎𝑡𝑒𝑟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𝑡h𝑎𝑛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TW" sz="2000" dirty="0" smtClean="0"/>
              </a:p>
              <a:p>
                <a:endParaRPr lang="en-US" altLang="zh-TW" sz="20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6660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Tried </a:t>
            </a:r>
            <a:r>
              <a:rPr lang="en-US" altLang="zh-TW" dirty="0" smtClean="0"/>
              <a:t>Method(2/2)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Fuzzy Time Series</a:t>
                </a:r>
              </a:p>
              <a:p>
                <a:pPr lvl="1"/>
                <a:r>
                  <a:rPr lang="en-US" altLang="zh-TW" dirty="0" smtClean="0"/>
                  <a:t>Fuzzy </a:t>
                </a:r>
                <a:r>
                  <a:rPr lang="en-US" altLang="zh-TW" dirty="0"/>
                  <a:t>time series is the values of time series are linguistic terms represented by fuzzy set</a:t>
                </a:r>
                <a:r>
                  <a:rPr lang="en-US" altLang="zh-TW" dirty="0" smtClean="0"/>
                  <a:t>.</a:t>
                </a:r>
              </a:p>
              <a:p>
                <a:pPr lvl="1"/>
                <a:r>
                  <a:rPr lang="en-US" altLang="zh-TW" dirty="0" smtClean="0"/>
                  <a:t>Linguistic terms:</a:t>
                </a:r>
              </a:p>
              <a:p>
                <a:pPr lvl="2"/>
                <a:r>
                  <a:rPr lang="en-US" altLang="zh-TW" dirty="0" smtClean="0"/>
                  <a:t>Rise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lvl="2"/>
                <a:r>
                  <a:rPr lang="en-US" altLang="zh-TW" dirty="0" smtClean="0"/>
                  <a:t>Fall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Four fuzzy set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𝑑𝑖𝑣𝑖𝑑𝑒𝑑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𝑖𝑛𝑡𝑜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Prediction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7946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10370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Experimental Results(1/3)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651052"/>
            <a:ext cx="7886700" cy="4351338"/>
          </a:xfrm>
        </p:spPr>
        <p:txBody>
          <a:bodyPr/>
          <a:lstStyle/>
          <a:p>
            <a:r>
              <a:rPr lang="en-US" altLang="zh-TW" dirty="0" smtClean="0"/>
              <a:t>Root-mean-square error</a:t>
            </a:r>
          </a:p>
          <a:p>
            <a:pPr lvl="1"/>
            <a:r>
              <a:rPr lang="en-US" altLang="zh-TW" dirty="0" smtClean="0"/>
              <a:t>RMSE=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967600863"/>
              </p:ext>
            </p:extLst>
          </p:nvPr>
        </p:nvGraphicFramePr>
        <p:xfrm>
          <a:off x="628650" y="3263817"/>
          <a:ext cx="7858858" cy="2915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912"/>
                <a:gridCol w="782383"/>
                <a:gridCol w="723997"/>
                <a:gridCol w="759029"/>
                <a:gridCol w="759029"/>
                <a:gridCol w="759029"/>
                <a:gridCol w="723997"/>
                <a:gridCol w="759029"/>
                <a:gridCol w="677286"/>
                <a:gridCol w="737167"/>
              </a:tblGrid>
              <a:tr h="572089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2005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2006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2007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2008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2009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2013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96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Ranking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13.45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34.26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26.13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08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Lin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35.91</a:t>
                      </a:r>
                      <a:endParaRPr lang="zh-TW" altLang="en-US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39.57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18.66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8.60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08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Fuzzy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</a:rPr>
                        <a:t> set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29.07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18.00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20.87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17.84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9.18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7.82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964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Forward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5.73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5.77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36.49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2344908" y="2017440"/>
                <a:ext cx="3816424" cy="1169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f>
                                        <m:f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/>
                                                </a:rPr>
                                                <m:t>𝑓𝑜𝑟𝑒𝑐𝑎𝑠𝑡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/>
                                                </a:rPr>
                                                <m:t>𝑟𝑒𝑎𝑙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/>
                                                </a:rPr>
                                                <m:t>𝑟𝑒𝑎𝑙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𝑋</m:t>
                      </m:r>
                      <m:r>
                        <a:rPr lang="en-US" altLang="zh-TW" b="0" i="1" smtClean="0">
                          <a:latin typeface="Cambria Math"/>
                        </a:rPr>
                        <m:t>100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908" y="2017440"/>
                <a:ext cx="3816424" cy="11699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66319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</a:t>
            </a:r>
            <a:r>
              <a:rPr lang="en-US" altLang="zh-TW" dirty="0" smtClean="0"/>
              <a:t>Results(2/3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H: the prediction scores almost greater than real scores</a:t>
            </a:r>
          </a:p>
          <a:p>
            <a:r>
              <a:rPr lang="en-US" altLang="zh-TW" sz="2400" dirty="0" smtClean="0"/>
              <a:t>L: the prediction scores almost less than real scores </a:t>
            </a:r>
            <a:endParaRPr lang="zh-TW" altLang="en-US" sz="2400" dirty="0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670836592"/>
              </p:ext>
            </p:extLst>
          </p:nvPr>
        </p:nvGraphicFramePr>
        <p:xfrm>
          <a:off x="402981" y="2795750"/>
          <a:ext cx="8112369" cy="3206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12"/>
                <a:gridCol w="717873"/>
                <a:gridCol w="762000"/>
                <a:gridCol w="738553"/>
                <a:gridCol w="738554"/>
                <a:gridCol w="808893"/>
                <a:gridCol w="750277"/>
                <a:gridCol w="773723"/>
                <a:gridCol w="738553"/>
                <a:gridCol w="762000"/>
                <a:gridCol w="726831"/>
              </a:tblGrid>
              <a:tr h="623903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2004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2005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2006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2007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2008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2010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2013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Forward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Per of H 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4.23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72.02%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4.67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78.62%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11.38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88.20%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87.74%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9.99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77.40%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9.70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32.60%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1.46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16.86%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1.00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30.00%</a:t>
                      </a:r>
                      <a:endParaRPr lang="zh-TW" alt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5.00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85.69%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2605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Per of L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-2.58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27.98%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-1.46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21.38%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-1.92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11.81%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-3.92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12.25%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-5.04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22.60%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-5.10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67.40%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-5.29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83.14%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-3.89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70.00%</a:t>
                      </a:r>
                      <a:endParaRPr lang="zh-TW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-1.22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14.31%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0277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Admission</a:t>
                      </a:r>
                      <a:r>
                        <a:rPr lang="en-US" altLang="zh-TW" sz="1400" baseline="0" dirty="0" smtClean="0"/>
                        <a:t> rate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75.60%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76.32%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80.94%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85.86%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91.02%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94.01%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86.50%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80.29%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77.49%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82.95%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6782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</a:t>
            </a:r>
            <a:r>
              <a:rPr lang="en-US" altLang="zh-TW" dirty="0" smtClean="0"/>
              <a:t>Results(3/3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𝑆𝑢𝑚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𝑅𝑎𝑡𝑖𝑜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10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50768937"/>
              </p:ext>
            </p:extLst>
          </p:nvPr>
        </p:nvGraphicFramePr>
        <p:xfrm>
          <a:off x="199294" y="2637692"/>
          <a:ext cx="8721965" cy="3402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105"/>
                <a:gridCol w="1227449"/>
                <a:gridCol w="755354"/>
                <a:gridCol w="743550"/>
                <a:gridCol w="731749"/>
                <a:gridCol w="790760"/>
                <a:gridCol w="802564"/>
                <a:gridCol w="849772"/>
                <a:gridCol w="767156"/>
                <a:gridCol w="778958"/>
                <a:gridCol w="743548"/>
              </a:tblGrid>
              <a:tr h="754130">
                <a:tc>
                  <a:txBody>
                    <a:bodyPr/>
                    <a:lstStyle/>
                    <a:p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2004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2005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2006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2007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2008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2010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413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Admission</a:t>
                      </a:r>
                      <a:r>
                        <a:rPr lang="en-US" altLang="zh-TW" sz="1400" baseline="0" dirty="0" smtClean="0"/>
                        <a:t> rate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75.60%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76.32%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80.94%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85.86%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91.02%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94.01%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86.50%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80.29%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77.49%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82.95%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413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Ratio of 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1.0095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1.0606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1.0607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1.0601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1.0329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0.9202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0.9281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0.9652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1.0705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9732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Rmse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Forward: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Ratio of AR: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5.73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5.40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5.77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3.36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35.93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27.05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36.49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26.04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18.35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18.23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14.41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29.14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7.92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5.80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6.28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3.89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6.49</a:t>
                      </a:r>
                    </a:p>
                    <a:p>
                      <a:r>
                        <a:rPr lang="en-US" altLang="zh-TW" sz="1400" b="0" i="0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3.95</a:t>
                      </a:r>
                      <a:endParaRPr lang="zh-TW" altLang="en-US" sz="14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8667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 and Future </a:t>
            </a:r>
            <a:r>
              <a:rPr lang="en-US" altLang="zh-TW" dirty="0" smtClean="0"/>
              <a:t> Work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Admission rate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is a important factor for predicting.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𝑅𝑎𝑡𝑖𝑜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find </a:t>
                </a:r>
                <a:r>
                  <a:rPr lang="en-US" altLang="zh-TW" dirty="0"/>
                  <a:t>the best Coefficient </a:t>
                </a:r>
                <a:r>
                  <a:rPr lang="en-US" altLang="zh-TW" dirty="0" smtClean="0"/>
                  <a:t>C for per’.</a:t>
                </a:r>
              </a:p>
              <a:p>
                <a:r>
                  <a:rPr lang="en-US" altLang="zh-TW" dirty="0" smtClean="0"/>
                  <a:t>Define some functions to test which method is better or a method how many to improve than others.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Combine with fuzzy time series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6201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Thank You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3631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</TotalTime>
  <Words>376</Words>
  <Application>Microsoft Office PowerPoint</Application>
  <PresentationFormat>如螢幕大小 (4:3)</PresentationFormat>
  <Paragraphs>230</Paragraphs>
  <Slides>12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The Department Score Forecast and Analysis of the College Entrance Examination</vt:lpstr>
      <vt:lpstr>Admission Pipeline</vt:lpstr>
      <vt:lpstr>Prediction System </vt:lpstr>
      <vt:lpstr>Preliminaries(1/2)</vt:lpstr>
      <vt:lpstr>Preliminaries(2/2)</vt:lpstr>
      <vt:lpstr>Tried Method(1/2)</vt:lpstr>
      <vt:lpstr>Tried Method(2/2)</vt:lpstr>
      <vt:lpstr>Experimental Results(1/3)</vt:lpstr>
      <vt:lpstr>Experimental Results(2/3)</vt:lpstr>
      <vt:lpstr>Experimental Results(3/3)</vt:lpstr>
      <vt:lpstr>Conclusion and Future  Work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Biosequences</dc:title>
  <dc:creator>shiujj</dc:creator>
  <cp:lastModifiedBy>admin</cp:lastModifiedBy>
  <cp:revision>41</cp:revision>
  <dcterms:created xsi:type="dcterms:W3CDTF">2014-02-21T09:41:11Z</dcterms:created>
  <dcterms:modified xsi:type="dcterms:W3CDTF">2014-03-17T12:32:47Z</dcterms:modified>
</cp:coreProperties>
</file>