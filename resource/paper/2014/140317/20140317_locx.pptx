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1356" y="5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6936B-85BA-4A6F-B662-46E06410724F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6B80B-398F-4A30-86D5-F6FC573077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279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5DD9-E673-4482-8079-D32CA643556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308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306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21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797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0783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1623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004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2226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3515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5877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15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0222-3C98-4E21-BB4F-CF95E566A2B5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35D37-C9CD-4C43-8BBC-FCBCC9F4B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775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D0222-3C98-4E21-BB4F-CF95E566A2B5}" type="datetimeFigureOut">
              <a:rPr lang="zh-TW" altLang="en-US" smtClean="0"/>
              <a:t>2014/3/16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35D37-C9CD-4C43-8BBC-FCBCC9F4B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473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78102" y="449179"/>
            <a:ext cx="8801467" cy="2056623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Sequence alignments in the neighborhood of the optimum with general application to dynamic programming</a:t>
            </a:r>
            <a:endParaRPr lang="zh-TW" altLang="en-US" sz="32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593678" y="3098632"/>
            <a:ext cx="7170313" cy="3350293"/>
          </a:xfrm>
        </p:spPr>
        <p:txBody>
          <a:bodyPr>
            <a:noAutofit/>
          </a:bodyPr>
          <a:lstStyle/>
          <a:p>
            <a:pPr algn="r"/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Proc. </a:t>
            </a:r>
            <a:r>
              <a:rPr lang="en-US" altLang="zh-TW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NatL.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Acad. Sci. USA</a:t>
            </a:r>
          </a:p>
          <a:p>
            <a:pPr algn="r"/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Vol. 80, pp. 3123-3124, May 1983</a:t>
            </a:r>
          </a:p>
          <a:p>
            <a:pPr algn="r"/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Mathematical Sciences</a:t>
            </a:r>
          </a:p>
          <a:p>
            <a:pPr algn="r"/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MICHAEL S. WATERMAN</a:t>
            </a:r>
          </a:p>
          <a:p>
            <a:pPr algn="r"/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Departments of Mathematics and Biological Sciences, University of Southern California, Los Angeles, California 90089-1113</a:t>
            </a:r>
          </a:p>
          <a:p>
            <a:pPr algn="r"/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Chong Xuan Lo</a:t>
            </a:r>
            <a:endParaRPr lang="en-US" altLang="zh-TW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Date:2014/3/17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93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10652" y="1524000"/>
            <a:ext cx="10343147" cy="500513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When applying dynamic programming techniques to obtain 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optimal sequence alignments, a set of weights must be assigned to 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mismatches, insertion/deletions, etc. These weights are not 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predetermined, although efforts are being made to deduce biologically 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 values from data.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In addition, there are sometimes unknown constraints on the 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 that cause the “true” alignment to disagree with the optimum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(computer) solution. To assist in overcoming these difficulties, an 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has been developed to produce all alignments within a 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 distance of the optimum</a:t>
            </a:r>
          </a:p>
          <a:p>
            <a:pPr marL="0" indent="0">
              <a:buNone/>
            </a:pPr>
            <a:endParaRPr lang="zh-TW" altLang="en-US" b="1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2152650" y="37857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Abstract</a:t>
            </a:r>
            <a:r>
              <a:rPr lang="en-US" altLang="zh-TW" dirty="0"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endParaRPr lang="zh-TW" altLang="en-US" dirty="0">
              <a:latin typeface="Times New Roman" panose="02020603050405020304" pitchFamily="18" charset="0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24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35242" y="1690689"/>
            <a:ext cx="9561095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The distance can be chosen after the optimum is computed, </a:t>
            </a:r>
          </a:p>
          <a:p>
            <a:pPr marL="0" indent="0">
              <a:buNone/>
            </a:pPr>
            <a:r>
              <a:rPr lang="en-US" altLang="zh-TW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the algorithm can be repeated at will . Earlier algorithms to </a:t>
            </a:r>
          </a:p>
          <a:p>
            <a:pPr marL="0" indent="0">
              <a:buNone/>
            </a:pPr>
            <a:r>
              <a:rPr lang="en-US" altLang="zh-TW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solve this problem were very complex and not practical for any </a:t>
            </a:r>
          </a:p>
          <a:p>
            <a:pPr marL="0" indent="0">
              <a:buNone/>
            </a:pPr>
            <a:r>
              <a:rPr lang="en-US" altLang="zh-TW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involving sequences with significant time or storage </a:t>
            </a:r>
          </a:p>
          <a:p>
            <a:pPr marL="0" indent="0">
              <a:buNone/>
            </a:pPr>
            <a:r>
              <a:rPr lang="en-US" altLang="zh-TW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requirements. The algorithm presented here overcomes these </a:t>
            </a:r>
          </a:p>
          <a:p>
            <a:pPr marL="0" indent="0">
              <a:buNone/>
            </a:pPr>
            <a:r>
              <a:rPr lang="en-US" altLang="zh-TW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difficulties and has application to general, discrete dynamic </a:t>
            </a:r>
          </a:p>
          <a:p>
            <a:pPr marL="0" indent="0">
              <a:buNone/>
            </a:pPr>
            <a:r>
              <a:rPr lang="en-US" altLang="zh-TW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problems.</a:t>
            </a:r>
          </a:p>
          <a:p>
            <a:pPr marL="0" indent="0">
              <a:buNone/>
            </a:pPr>
            <a:endParaRPr lang="zh-TW" altLang="en-US" sz="2600" b="1" dirty="0" smtClean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2152650" y="37857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Abstract</a:t>
            </a:r>
            <a:r>
              <a:rPr lang="en-US" altLang="zh-TW" dirty="0"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endParaRPr lang="zh-TW" altLang="en-US" dirty="0">
              <a:latin typeface="Times New Roman" panose="02020603050405020304" pitchFamily="18" charset="0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10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ALIGNMENTS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1705"/>
                <a:ext cx="10515600" cy="54462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a1,a2 . .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. an  into  Sequence B = b1,b2 . .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.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bm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distance between A and B, set up a matrix D.</a:t>
                </a:r>
                <a:endParaRPr lang="pt-BR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B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Initialize by D</a:t>
                </a:r>
                <a:r>
                  <a:rPr lang="pt-BR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k,0</a:t>
                </a:r>
                <a:r>
                  <a:rPr lang="pt-B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k </a:t>
                </a:r>
                <a:r>
                  <a:rPr lang="pt-B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</a:t>
                </a:r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:r>
                  <a:rPr lang="en-US" altLang="zh-TW" dirty="0" smtClean="0">
                    <a:ea typeface="Cambria Math" panose="02040503050406030204" pitchFamily="18" charset="0"/>
                  </a:rPr>
                  <a:t>k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pt-B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pt-BR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0,l</a:t>
                </a:r>
                <a:r>
                  <a:rPr lang="pt-B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pt-B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(0</a:t>
                </a:r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Substitutions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 d (a , b)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Insertion	  -   d (a , ∆)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Deletions	  -   d (∆ , b)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1705"/>
                <a:ext cx="10515600" cy="5446295"/>
              </a:xfrm>
              <a:blipFill rotWithShape="0">
                <a:blip r:embed="rId2"/>
                <a:stretch>
                  <a:fillRect l="-1217" t="-20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373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02895" y="36335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OPTIMAL ALIGNMENTS</a:t>
            </a:r>
            <a:b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it-IT" altLang="zh-TW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it-IT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min </a:t>
            </a:r>
            <a:r>
              <a:rPr lang="it-IT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it-IT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it-IT" altLang="zh-TW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i-1,j </a:t>
            </a:r>
            <a:r>
              <a:rPr lang="it-IT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d(ai,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∆</a:t>
            </a:r>
            <a:r>
              <a:rPr lang="it-IT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,   </a:t>
            </a:r>
            <a:r>
              <a:rPr lang="it-IT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it-IT" altLang="zh-TW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i-1,j-1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d(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, bj)   ,   D</a:t>
            </a:r>
            <a:r>
              <a:rPr lang="en-US" altLang="zh-TW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i,j-1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d(∆ ,bj)}</a:t>
            </a:r>
            <a:b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resulting from application of recursion to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</a:t>
            </a:r>
            <a:r>
              <a:rPr lang="zh-TW" alt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A-U-A-A-A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A-U-G-G-A-A-A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lines indicate the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traceback</a:t>
            </a:r>
            <a:r>
              <a:rPr lang="zh-TW" alt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內容版面配置區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4550781"/>
              </p:ext>
            </p:extLst>
          </p:nvPr>
        </p:nvGraphicFramePr>
        <p:xfrm>
          <a:off x="1544053" y="1600702"/>
          <a:ext cx="9188118" cy="4053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020902"/>
                <a:gridCol w="1020902"/>
                <a:gridCol w="1020902"/>
                <a:gridCol w="1020902"/>
                <a:gridCol w="1020902"/>
                <a:gridCol w="1020902"/>
                <a:gridCol w="1020902"/>
                <a:gridCol w="1020902"/>
                <a:gridCol w="1020902"/>
              </a:tblGrid>
              <a:tr h="564220">
                <a:tc>
                  <a:txBody>
                    <a:bodyPr/>
                    <a:lstStyle/>
                    <a:p>
                      <a:pPr algn="ctr"/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∆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A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U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G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G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A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A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A</a:t>
                      </a:r>
                      <a:endParaRPr lang="zh-TW" altLang="en-US" sz="3200" b="1" dirty="0"/>
                    </a:p>
                  </a:txBody>
                  <a:tcPr/>
                </a:tc>
              </a:tr>
              <a:tr h="5642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∆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</a:tr>
              <a:tr h="5642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A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</a:tr>
              <a:tr h="5642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U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</a:tr>
              <a:tr h="574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A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</a:tr>
              <a:tr h="5642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A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</a:tr>
              <a:tr h="5642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/>
                        <a:t>A</a:t>
                      </a:r>
                      <a:endParaRPr lang="zh-TW" alt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直線接點 10"/>
          <p:cNvCxnSpPr/>
          <p:nvPr/>
        </p:nvCxnSpPr>
        <p:spPr>
          <a:xfrm>
            <a:off x="3256547" y="2598821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387390" y="3761874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4259179" y="3152274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8365957" y="4339389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9376610" y="4900863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5293895" y="3617495"/>
            <a:ext cx="609600" cy="8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6360695" y="3625516"/>
            <a:ext cx="609600" cy="8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91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565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ALIGNMENTS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15453"/>
            <a:ext cx="10515600" cy="5245767"/>
          </a:xfrm>
        </p:spPr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A </a:t>
            </a:r>
            <a:r>
              <a:rPr lang="en-US" altLang="zh-TW" dirty="0"/>
              <a:t>= A-U-A-A-A </a:t>
            </a:r>
            <a:r>
              <a:rPr lang="en-US" altLang="zh-TW" dirty="0" smtClean="0"/>
              <a:t>and </a:t>
            </a:r>
            <a:r>
              <a:rPr lang="en-US" altLang="zh-TW" dirty="0"/>
              <a:t>B = </a:t>
            </a:r>
            <a:r>
              <a:rPr lang="en-US" altLang="zh-TW" dirty="0" smtClean="0"/>
              <a:t>A-U-G-G-A-A-A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The corresponding alignment with D</a:t>
            </a:r>
            <a:r>
              <a:rPr lang="en-US" altLang="zh-TW" sz="1800" dirty="0" smtClean="0"/>
              <a:t>5,7 </a:t>
            </a:r>
            <a:r>
              <a:rPr lang="en-US" altLang="zh-TW" dirty="0" smtClean="0"/>
              <a:t>= 2 is</a:t>
            </a:r>
          </a:p>
          <a:p>
            <a:pPr marL="0" indent="0">
              <a:buNone/>
            </a:pPr>
            <a:r>
              <a:rPr lang="en-US" altLang="zh-TW" dirty="0" smtClean="0"/>
              <a:t>A-U- G- G -A-A-A</a:t>
            </a:r>
          </a:p>
          <a:p>
            <a:pPr marL="0" indent="0">
              <a:buNone/>
            </a:pPr>
            <a:r>
              <a:rPr lang="en-US" altLang="zh-TW" dirty="0" smtClean="0"/>
              <a:t>A-U- ∆ - ∆ -A-A-A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775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NEAR OPTIMAL </a:t>
            </a: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5453" y="1825625"/>
            <a:ext cx="9079831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The problem is to </a:t>
            </a:r>
            <a:r>
              <a:rPr lang="en-US" altLang="zh-TW" dirty="0" smtClean="0"/>
              <a:t> find all alignments </a:t>
            </a:r>
            <a:r>
              <a:rPr lang="en-US" altLang="zh-TW" dirty="0"/>
              <a:t>with score within e of </a:t>
            </a:r>
            <a:endParaRPr lang="en-US" altLang="zh-TW" dirty="0" smtClean="0"/>
          </a:p>
          <a:p>
            <a:pPr marL="0" indent="0">
              <a:buNone/>
            </a:pPr>
            <a:r>
              <a:rPr lang="it-IT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it-IT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n,m</a:t>
            </a:r>
            <a:r>
              <a:rPr lang="it-IT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/>
              <a:t>t</a:t>
            </a:r>
            <a:r>
              <a:rPr lang="en-US" altLang="zh-TW" dirty="0" smtClean="0"/>
              <a:t>he </a:t>
            </a:r>
            <a:r>
              <a:rPr lang="en-US" altLang="zh-TW" dirty="0"/>
              <a:t>best possible score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here is to exploit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meaning of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entries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to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modify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traceback procedure in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appropriate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manner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944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NEAR OPTIMAL </a:t>
            </a: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1955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+  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d(ai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∆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+  D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i-1,j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	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D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n,m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e</a:t>
                </a:r>
              </a:p>
              <a:p>
                <a:pPr marL="0" indent="0">
                  <a:buNone/>
                </a:pP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+  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d(ai,bj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+  D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i-1,j-1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</m:oMath>
                </a14:m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D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n,m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e </a:t>
                </a:r>
              </a:p>
              <a:p>
                <a:pPr marL="0" indent="0">
                  <a:buNone/>
                </a:pP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+ 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∆, bj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+  D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i,j-1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	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D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n,m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e</a:t>
                </a:r>
                <a:endPara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－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score to the current position</a:t>
                </a:r>
              </a:p>
              <a:p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d(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－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 of the next step</a:t>
                </a:r>
                <a:endParaRPr lang="it-IT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－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of the “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remaining “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alignment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19554"/>
              </a:xfrm>
              <a:blipFill rotWithShape="0"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819" y="1816968"/>
            <a:ext cx="3457981" cy="162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312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NEAR OPTIMAL </a:t>
            </a: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position (2, 3) (a2 = U and b3 = G), T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2,3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1, resulting from the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</a:t>
            </a:r>
          </a:p>
          <a:p>
            <a:pPr marL="0" indent="0" algn="ctr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G-A-A-A</a:t>
            </a:r>
          </a:p>
          <a:p>
            <a:pPr marL="0" indent="0" algn="ctr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∆-A-A-A.</a:t>
            </a:r>
          </a:p>
        </p:txBody>
      </p:sp>
    </p:spTree>
    <p:extLst>
      <p:ext uri="{BB962C8B-B14F-4D97-AF65-F5344CB8AC3E}">
        <p14:creationId xmlns:p14="http://schemas.microsoft.com/office/powerpoint/2010/main" val="151176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NEAR OPTIMAL </a:t>
            </a: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544" y="1690688"/>
            <a:ext cx="9078912" cy="4272076"/>
          </a:xfrm>
          <a:prstGeom prst="rect">
            <a:avLst/>
          </a:prstGeom>
        </p:spPr>
      </p:pic>
      <p:cxnSp>
        <p:nvCxnSpPr>
          <p:cNvPr id="5" name="直線接點 4"/>
          <p:cNvCxnSpPr/>
          <p:nvPr/>
        </p:nvCxnSpPr>
        <p:spPr>
          <a:xfrm>
            <a:off x="7271544" y="3822715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8277726" y="4451684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9272336" y="4989095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6256421" y="3814694"/>
            <a:ext cx="609600" cy="8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29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9868" y="-476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NEAR OPTIMAL </a:t>
            </a: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198494" y="884551"/>
                <a:ext cx="10038347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5,7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=2, e=1</a:t>
                </a: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three candidates are</a:t>
                </a:r>
              </a:p>
              <a:p>
                <a:pPr marL="0" indent="0">
                  <a:buNone/>
                </a:pP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2,3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d(U,∆) + D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1,3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+ 1 + 2 = 4	  </a:t>
                </a:r>
                <a14:m>
                  <m:oMath xmlns:m="http://schemas.openxmlformats.org/officeDocument/2006/math">
                    <m:r>
                      <a:rPr lang="en-US" altLang="zh-TW" i="1" strike="sngStrik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it-IT" altLang="zh-TW" strike="sngStrik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D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n,m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e = 2 + 1= 3</a:t>
                </a: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2,3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d(U,G) + D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1,2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+ 1 + 1 = 3	 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D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n,m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e = 2 + 1= 3</a:t>
                </a: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2,3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d(∆,G) + D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2,2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+ 1 + 0 = 2	 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D</a:t>
                </a:r>
                <a:r>
                  <a:rPr lang="it-IT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n,m</a:t>
                </a:r>
                <a:r>
                  <a:rPr lang="it-IT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e = 2 + 1= 3</a:t>
                </a:r>
                <a:endParaRPr lang="zh-TW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8494" y="884551"/>
                <a:ext cx="10038347" cy="4351338"/>
              </a:xfrm>
              <a:blipFill rotWithShape="0">
                <a:blip r:embed="rId2"/>
                <a:stretch>
                  <a:fillRect l="-127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494" y="3878327"/>
            <a:ext cx="6563273" cy="3088344"/>
          </a:xfrm>
          <a:prstGeom prst="rect">
            <a:avLst/>
          </a:prstGeom>
        </p:spPr>
      </p:pic>
      <p:cxnSp>
        <p:nvCxnSpPr>
          <p:cNvPr id="5" name="直線接點 4"/>
          <p:cNvCxnSpPr/>
          <p:nvPr/>
        </p:nvCxnSpPr>
        <p:spPr>
          <a:xfrm>
            <a:off x="3875660" y="4982289"/>
            <a:ext cx="409261" cy="3552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4284921" y="4901609"/>
            <a:ext cx="3731" cy="4359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3875660" y="5337544"/>
            <a:ext cx="40926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4618073" y="5332975"/>
            <a:ext cx="421758" cy="45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5372232" y="5422499"/>
            <a:ext cx="401247" cy="255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6800539" y="6287280"/>
            <a:ext cx="401247" cy="255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091702" y="5866565"/>
            <a:ext cx="401247" cy="255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81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NEAR OPTIMAL </a:t>
            </a: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5453" y="1825625"/>
            <a:ext cx="9079831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the lower path has been followed already and see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we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move to position (1,2) with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 resulting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T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+ 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alignment being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G-G-A-A-A</a:t>
            </a:r>
          </a:p>
          <a:p>
            <a:pPr marL="0" indent="0" algn="ctr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U-∆-A-A-A.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 </a:t>
            </a:r>
          </a:p>
        </p:txBody>
      </p:sp>
    </p:spTree>
    <p:extLst>
      <p:ext uri="{BB962C8B-B14F-4D97-AF65-F5344CB8AC3E}">
        <p14:creationId xmlns:p14="http://schemas.microsoft.com/office/powerpoint/2010/main" val="107403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NEAR OPTIMAL </a:t>
            </a: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8122" y="1403518"/>
            <a:ext cx="9078912" cy="4272076"/>
          </a:xfrm>
          <a:prstGeom prst="rect">
            <a:avLst/>
          </a:prstGeom>
        </p:spPr>
      </p:pic>
      <p:cxnSp>
        <p:nvCxnSpPr>
          <p:cNvPr id="5" name="直線接點 4"/>
          <p:cNvCxnSpPr/>
          <p:nvPr/>
        </p:nvCxnSpPr>
        <p:spPr>
          <a:xfrm>
            <a:off x="7096689" y="3564209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7981866" y="4098913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9100345" y="4737115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6112042" y="3456017"/>
            <a:ext cx="609600" cy="8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5130255" y="3037438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3076533" y="2441793"/>
            <a:ext cx="625642" cy="35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4063288" y="2897754"/>
            <a:ext cx="609600" cy="8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1858748" y="5790657"/>
            <a:ext cx="8568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Nonoptimal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alignment with score 3. The alignment is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A-U-G-G-A-A-A</a:t>
            </a:r>
            <a:endParaRPr lang="en-US" altLang="zh-TW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A-∆-U-∆-A-A-A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4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NEAR OPTIMAL </a:t>
            </a:r>
            <a:r>
              <a:rPr lang="en-US" altLang="zh-TW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5453" y="1825625"/>
            <a:ext cx="9079831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5,7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 and e = 1, there are eight alignments with the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of 3 and one alignment (the optimum) with the score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524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428</Words>
  <Application>Microsoft Office PowerPoint</Application>
  <PresentationFormat>寬螢幕</PresentationFormat>
  <Paragraphs>155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3" baseType="lpstr">
      <vt:lpstr>Gungsuh</vt:lpstr>
      <vt:lpstr>微軟正黑體</vt:lpstr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Sequence alignments in the neighborhood of the optimum with general application to dynamic programming</vt:lpstr>
      <vt:lpstr> </vt:lpstr>
      <vt:lpstr> </vt:lpstr>
      <vt:lpstr>OPTIMAL ALIGNMENTS</vt:lpstr>
      <vt:lpstr>   OPTIMAL ALIGNMENTS  D i,j = min {Di-1,j + d(ai, ∆)   ,   Di-1,j-1+ d(ai , bj)   ,   Di,j-1 + d(∆ ,bj)}             Di,j matrix resulting from application of recursion to sequences A-U-A-A-A and A-U-G-G-A-A-A. The lines indicate the traceback .    </vt:lpstr>
      <vt:lpstr>OPTIMAL ALIGNMENTS</vt:lpstr>
      <vt:lpstr>NEAR OPTIMAL ALIGNMENTS</vt:lpstr>
      <vt:lpstr>NEAR OPTIMAL ALIGNMENTS</vt:lpstr>
      <vt:lpstr>NEAR OPTIMAL ALIGNMENTS</vt:lpstr>
      <vt:lpstr>NEAR OPTIMAL ALIGNMENTS</vt:lpstr>
      <vt:lpstr>NEAR OPTIMAL ALIGNMENTS</vt:lpstr>
      <vt:lpstr>NEAR OPTIMAL ALIGNMENTS</vt:lpstr>
      <vt:lpstr>NEAR OPTIMAL ALIGNMENTS</vt:lpstr>
      <vt:lpstr>NEAR OPTIMAL ALIGNMENTS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 alignments in the neighborhood of the optimum with general application to dynamic programming</dc:title>
  <dc:creator>muchmuch</dc:creator>
  <cp:lastModifiedBy>muchmuch</cp:lastModifiedBy>
  <cp:revision>31</cp:revision>
  <dcterms:created xsi:type="dcterms:W3CDTF">2014-03-15T05:07:12Z</dcterms:created>
  <dcterms:modified xsi:type="dcterms:W3CDTF">2014-03-16T12:06:19Z</dcterms:modified>
</cp:coreProperties>
</file>