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0" r:id="rId5"/>
    <p:sldId id="262" r:id="rId6"/>
    <p:sldId id="264" r:id="rId7"/>
    <p:sldId id="258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5" r:id="rId17"/>
    <p:sldId id="277" r:id="rId18"/>
    <p:sldId id="276" r:id="rId19"/>
    <p:sldId id="266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4431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130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8036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3911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0156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121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277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163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867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1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3264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EB12-A602-4B73-8721-F09E03DCB8DC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1744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Connectivity Prediction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Student: Jun-Yi Fang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方鈞毅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Advisor: Prof. Chang-Biau Yang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楊昌彪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Date: </a:t>
            </a:r>
            <a:r>
              <a:rPr lang="en-US" altLang="zh-TW" sz="28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March </a:t>
            </a:r>
            <a:r>
              <a:rPr lang="en-US" altLang="zh-TW" sz="28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17, 2014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22620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There are two substructures of an amino acid.</a:t>
            </a:r>
          </a:p>
          <a:p>
            <a:pPr lvl="1"/>
            <a:r>
              <a:rPr lang="en-US" altLang="zh-TW" dirty="0" smtClean="0"/>
              <a:t> </a:t>
            </a:r>
            <a:r>
              <a:rPr lang="en-US" altLang="zh-TW" b="1" dirty="0" smtClean="0"/>
              <a:t>core part </a:t>
            </a:r>
            <a:r>
              <a:rPr lang="en-US" altLang="zh-TW" dirty="0" smtClean="0"/>
              <a:t>,and  </a:t>
            </a:r>
            <a:r>
              <a:rPr lang="en-US" altLang="zh-TW" b="1" dirty="0" smtClean="0"/>
              <a:t>side chain</a:t>
            </a:r>
          </a:p>
          <a:p>
            <a:r>
              <a:rPr lang="en-US" altLang="zh-TW" dirty="0" smtClean="0"/>
              <a:t>We usually a symbol “R” to represent a side chain, the others are the core part. 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Different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amino acids with a different compositions of  the side chain.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 are twenty more amino acids.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39752" y="3068960"/>
            <a:ext cx="4392488" cy="203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841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disulfide bond is a single </a:t>
            </a:r>
            <a:r>
              <a:rPr lang="en-US" altLang="zh-TW" dirty="0"/>
              <a:t>covalent bond fromed by two oxidized </a:t>
            </a:r>
            <a:r>
              <a:rPr lang="en-US" altLang="zh-TW" dirty="0" smtClean="0"/>
              <a:t>cystein residues.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04875" y="2708920"/>
            <a:ext cx="733425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9419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Proteins are lists of Amino Acids</a:t>
            </a:r>
          </a:p>
          <a:p>
            <a:r>
              <a:rPr lang="en-US" altLang="zh-TW" dirty="0" smtClean="0"/>
              <a:t>There are many ways to represent a protein.	First, the </a:t>
            </a:r>
            <a:r>
              <a:rPr lang="en-US" altLang="zh-TW" b="1" dirty="0" smtClean="0"/>
              <a:t>primary structure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u="sng" dirty="0" smtClean="0"/>
              <a:t>Different English letters </a:t>
            </a:r>
            <a:r>
              <a:rPr lang="en-US" altLang="zh-TW" dirty="0" smtClean="0"/>
              <a:t> represent</a:t>
            </a:r>
            <a:r>
              <a:rPr lang="en-US" altLang="zh-TW" b="1" dirty="0" smtClean="0"/>
              <a:t> </a:t>
            </a:r>
            <a:r>
              <a:rPr lang="en-US" altLang="zh-TW" u="sng" dirty="0" smtClean="0"/>
              <a:t>different</a:t>
            </a:r>
            <a:r>
              <a:rPr lang="en-US" altLang="zh-TW" b="1" dirty="0" smtClean="0"/>
              <a:t>  </a:t>
            </a:r>
            <a:r>
              <a:rPr lang="en-US" altLang="zh-TW" dirty="0" smtClean="0"/>
              <a:t>kinds of </a:t>
            </a:r>
            <a:r>
              <a:rPr lang="en-US" altLang="zh-TW" u="sng" dirty="0" smtClean="0"/>
              <a:t>Amino Acids</a:t>
            </a:r>
            <a:r>
              <a:rPr lang="en-US" altLang="zh-TW" b="1" dirty="0" smtClean="0"/>
              <a:t>.</a:t>
            </a:r>
          </a:p>
          <a:p>
            <a:pPr lvl="1"/>
            <a:r>
              <a:rPr lang="en-US" altLang="zh-TW" dirty="0" smtClean="0"/>
              <a:t>eg</a:t>
            </a:r>
          </a:p>
          <a:p>
            <a:pPr lvl="2"/>
            <a:r>
              <a:rPr lang="en-US" altLang="zh-TW" dirty="0" smtClean="0"/>
              <a:t>id: </a:t>
            </a:r>
            <a:r>
              <a:rPr lang="en-US" altLang="zh-TW" b="1" u="sng" dirty="0" smtClean="0"/>
              <a:t>2AJW</a:t>
            </a:r>
            <a:r>
              <a:rPr lang="en-US" altLang="zh-TW" dirty="0" smtClean="0"/>
              <a:t> with its </a:t>
            </a:r>
            <a:r>
              <a:rPr lang="en-US" altLang="zh-TW" b="1" dirty="0" smtClean="0"/>
              <a:t>primary structure </a:t>
            </a:r>
            <a:r>
              <a:rPr lang="en-US" altLang="zh-TW" dirty="0" smtClean="0"/>
              <a:t>as following</a:t>
            </a:r>
          </a:p>
          <a:p>
            <a:pPr lvl="2"/>
            <a:r>
              <a:rPr lang="en-US" altLang="zh-TW" b="1" dirty="0" smtClean="0"/>
              <a:t>primary structure:  </a:t>
            </a:r>
            <a:r>
              <a:rPr lang="en-US" altLang="zh-TW" dirty="0" smtClean="0"/>
              <a:t>GCCSNPVCHLEHSNLCGGAAGG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160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00200"/>
            <a:ext cx="8964488" cy="4753661"/>
          </a:xfrm>
        </p:spPr>
        <p:txBody>
          <a:bodyPr/>
          <a:lstStyle/>
          <a:p>
            <a:pPr lvl="1"/>
            <a:r>
              <a:rPr lang="en-US" altLang="zh-TW" dirty="0" smtClean="0"/>
              <a:t>Second, is </a:t>
            </a:r>
            <a:r>
              <a:rPr lang="en-US" altLang="zh-TW" b="1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</a:t>
            </a:r>
            <a:r>
              <a:rPr lang="en-US" altLang="zh-TW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econdary structure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which show one of the three states, </a:t>
            </a:r>
            <a:r>
              <a:rPr lang="en-US" altLang="zh-TW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coil ”C”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</a:t>
            </a:r>
            <a:r>
              <a:rPr lang="en-US" altLang="zh-TW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helix “H”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and </a:t>
            </a:r>
            <a:r>
              <a:rPr lang="en-US" altLang="zh-TW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sheet ”S”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 for a amino acid.</a:t>
            </a:r>
          </a:p>
          <a:p>
            <a:pPr lvl="2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Here is a example generate by PSI-Blast</a:t>
            </a:r>
          </a:p>
          <a:p>
            <a:pPr marL="914400" lvl="2" indent="0">
              <a:buNone/>
            </a:pP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671085"/>
            <a:ext cx="3054646" cy="270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17429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Third ,</a:t>
            </a:r>
            <a:r>
              <a:rPr lang="en-US" altLang="zh-TW" b="1" dirty="0"/>
              <a:t> Tertiary </a:t>
            </a:r>
            <a:r>
              <a:rPr lang="en-US" altLang="zh-TW" b="1" dirty="0" smtClean="0"/>
              <a:t>structure</a:t>
            </a:r>
          </a:p>
          <a:p>
            <a:pPr lvl="2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three-dimensional atomic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coordinates.</a:t>
            </a:r>
            <a:endParaRPr lang="en-US" altLang="zh-TW" b="1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914400" lvl="2" indent="0">
              <a:buNone/>
            </a:pPr>
            <a:endParaRPr lang="en-US" altLang="zh-TW" b="1" dirty="0" smtClean="0"/>
          </a:p>
          <a:p>
            <a:pPr lvl="1"/>
            <a:r>
              <a:rPr lang="en-US" altLang="zh-TW" dirty="0" smtClean="0"/>
              <a:t>Forth, </a:t>
            </a:r>
            <a:r>
              <a:rPr lang="en-US" altLang="zh-TW" b="1" dirty="0"/>
              <a:t>Quaternary </a:t>
            </a:r>
            <a:r>
              <a:rPr lang="en-US" altLang="zh-TW" b="1" dirty="0" smtClean="0"/>
              <a:t>structure</a:t>
            </a:r>
            <a:endParaRPr lang="en-US" altLang="zh-TW" b="1" dirty="0"/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57325"/>
            <a:ext cx="2238375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86530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definition of the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problem</a:t>
            </a:r>
          </a:p>
          <a:p>
            <a:pPr lvl="1"/>
            <a:r>
              <a:rPr lang="en-US" altLang="zh-TW" sz="24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Input: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protein</a:t>
            </a:r>
            <a:r>
              <a:rPr lang="en-US" altLang="zh-TW" sz="2000" dirty="0" smtClean="0"/>
              <a:t> </a:t>
            </a:r>
            <a:r>
              <a:rPr lang="en-US" altLang="zh-TW" sz="2000" b="1" dirty="0" smtClean="0"/>
              <a:t>primary structure.</a:t>
            </a:r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bonding states of all cysteines.</a:t>
            </a:r>
          </a:p>
          <a:p>
            <a:pPr lvl="1"/>
            <a:r>
              <a:rPr lang="en-US" altLang="zh-TW" sz="2400" b="1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Output: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connectivity pattern for the protein.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Example: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Input:</a:t>
            </a:r>
            <a:r>
              <a:rPr lang="en-US" altLang="zh-TW" sz="2400" dirty="0" smtClean="0"/>
              <a:t> </a:t>
            </a:r>
          </a:p>
          <a:p>
            <a:pPr lvl="2"/>
            <a:r>
              <a:rPr lang="en-US" altLang="zh-TW" sz="2100" b="1" dirty="0" smtClean="0"/>
              <a:t>primary structure: </a:t>
            </a:r>
            <a:r>
              <a:rPr lang="en-US" altLang="zh-TW" sz="2100" dirty="0" smtClean="0"/>
              <a:t>G</a:t>
            </a:r>
            <a:r>
              <a:rPr lang="en-US" altLang="zh-TW" sz="2100" dirty="0" smtClean="0">
                <a:solidFill>
                  <a:srgbClr val="FF0000"/>
                </a:solidFill>
              </a:rPr>
              <a:t>CC</a:t>
            </a:r>
            <a:r>
              <a:rPr lang="en-US" altLang="zh-TW" sz="2100" dirty="0" smtClean="0"/>
              <a:t>SNPV</a:t>
            </a:r>
            <a:r>
              <a:rPr lang="en-US" altLang="zh-TW" sz="2100" dirty="0" smtClean="0">
                <a:solidFill>
                  <a:srgbClr val="FF0000"/>
                </a:solidFill>
              </a:rPr>
              <a:t>C</a:t>
            </a:r>
            <a:r>
              <a:rPr lang="en-US" altLang="zh-TW" sz="2100" dirty="0" smtClean="0"/>
              <a:t>HLEHSNL</a:t>
            </a:r>
            <a:r>
              <a:rPr lang="en-US" altLang="zh-TW" sz="2100" dirty="0" smtClean="0">
                <a:solidFill>
                  <a:srgbClr val="FF0000"/>
                </a:solidFill>
              </a:rPr>
              <a:t>C</a:t>
            </a:r>
            <a:r>
              <a:rPr lang="en-US" altLang="zh-TW" sz="2100" dirty="0" smtClean="0"/>
              <a:t>GGAAGG</a:t>
            </a:r>
          </a:p>
          <a:p>
            <a:pPr lvl="2"/>
            <a:r>
              <a:rPr lang="en-US" altLang="zh-TW" sz="21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</a:t>
            </a:r>
            <a:r>
              <a:rPr lang="en-US" altLang="zh-TW" sz="21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ll cysteines are in oxidized state.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Output: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bonding pattern: 1- 2 -1 -2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9681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Support Vector Machine (SVM)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SVM is a machine learning</a:t>
            </a:r>
            <a:r>
              <a:rPr lang="en-US" altLang="zh-TW" dirty="0"/>
              <a:t> </a:t>
            </a:r>
            <a:r>
              <a:rPr lang="en-US" altLang="zh-TW" dirty="0" smtClean="0"/>
              <a:t>, designed for 2-class clasification problems. 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400" dirty="0" smtClean="0"/>
              <a:t>It use a kernel function</a:t>
            </a:r>
            <a:r>
              <a:rPr lang="el-GR" altLang="zh-TW" sz="2400" dirty="0"/>
              <a:t>  φ</a:t>
            </a:r>
            <a:r>
              <a:rPr lang="en-US" altLang="zh-TW" sz="2400" dirty="0" smtClean="0"/>
              <a:t>  to map the datas into a feature space and find a best </a:t>
            </a:r>
            <a:r>
              <a:rPr lang="en-US" altLang="zh-TW" sz="2400" dirty="0" smtClean="0">
                <a:cs typeface="Times New Roman" pitchFamily="18" charset="0"/>
              </a:rPr>
              <a:t>hyperplane to divide different groups of samples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zh-TW" altLang="en-US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dirty="0"/>
          </a:p>
        </p:txBody>
      </p:sp>
      <p:pic>
        <p:nvPicPr>
          <p:cNvPr id="4098" name="Picture 2" descr="http://www.sbaban.org/wp-content/uploads/2013/11/sv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276872"/>
            <a:ext cx="3792422" cy="284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189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+mj-ea"/>
                <a:cs typeface="Times New Roman" pitchFamily="18" charset="0"/>
              </a:rPr>
              <a:t>Position-specific Scoring Matrix (</a:t>
            </a:r>
            <a:r>
              <a:rPr lang="en-US" altLang="zh-TW" dirty="0" smtClean="0">
                <a:latin typeface="+mj-ea"/>
              </a:rPr>
              <a:t>PSSM)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PSSM matrix: generated by PSI-BLAST according to the occurrence frequency of the aligned amino acids.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A4_HUMAN</a:t>
            </a:r>
            <a:endParaRPr lang="zh-TW" altLang="en-US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7" y="3789040"/>
            <a:ext cx="7716341" cy="2895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80772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Contact potential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r>
              <a:rPr lang="en-US" altLang="zh-TW" dirty="0"/>
              <a:t> statistical potential or knowledge-based potential is an energy function derived from an analysis of known protein structures in the Protein Data Bank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1588" y="3933056"/>
            <a:ext cx="7404827" cy="395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6711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Zhao’s Method by Using </a:t>
            </a:r>
            <a:b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 Separations Profiles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 separations profiles (CSP)</a:t>
                </a: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 pattern wise methods, with the prior knowledge of disulfide bonding states.</a:t>
                </a: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It a</a:t>
                </a:r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ssume that, proteins with similar cysteine separations in sequences have similar disulfide bonding patterns.</a:t>
                </a: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Each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𝐶𝑆𝑃</m:t>
                    </m:r>
                    <m:r>
                      <a:rPr lang="en-US" altLang="zh-TW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 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b="0" i="1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pPr lvl="2"/>
                <a:r>
                  <a:rPr lang="en-US" altLang="zh-TW" i="1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</a:t>
                </a:r>
                <a:r>
                  <a:rPr lang="en-US" altLang="zh-TW" i="1" baseline="-250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</a:t>
                </a:r>
                <a:r>
                  <a:rPr lang="en-US" altLang="zh-TW" i="1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= the i-th</a:t>
                </a:r>
                <a:r>
                  <a:rPr lang="zh-TW" altLang="en-US" i="1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/>
                </a:r>
                <a:r>
                  <a:rPr lang="en-US" altLang="zh-TW" i="1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 in the protein.</a:t>
                </a:r>
                <a:endParaRPr lang="en-US" altLang="zh-TW" b="0" i="1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pPr lvl="1"/>
                <a:endParaRPr lang="en-US" altLang="zh-TW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1044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SVM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Predict the connecting of each cysteines in a protein pairwisely.</a:t>
            </a:r>
          </a:p>
          <a:p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Features</a:t>
            </a:r>
          </a:p>
          <a:p>
            <a:pPr lvl="1"/>
            <a:r>
              <a:rPr lang="en-US" altLang="zh-TW" dirty="0" smtClean="0">
                <a:cs typeface="Times New Roman" pitchFamily="18" charset="0"/>
              </a:rPr>
              <a:t>Position-specific Scoring Matrix (</a:t>
            </a:r>
            <a:r>
              <a:rPr lang="en-US" altLang="zh-TW" dirty="0" smtClean="0"/>
              <a:t>PSSM)</a:t>
            </a:r>
          </a:p>
          <a:p>
            <a:pPr lvl="1"/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Secondly structure,...,etc</a:t>
            </a:r>
          </a:p>
          <a:p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Using svm to predict the probability of each pairs.</a:t>
            </a:r>
          </a:p>
          <a:p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Finally, turn each pairs of cysteines  into a graph matching problem to forcast the disulfide pattern.</a:t>
            </a:r>
          </a:p>
          <a:p>
            <a:pPr lvl="1"/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Nodes as cysteines</a:t>
            </a:r>
          </a:p>
          <a:p>
            <a:pPr lvl="1"/>
            <a:r>
              <a:rPr lang="en-US" altLang="zh-TW" dirty="0" smtClean="0">
                <a:ea typeface="標楷體" pitchFamily="65" charset="-120"/>
                <a:cs typeface="Times New Roman" pitchFamily="18" charset="0"/>
              </a:rPr>
              <a:t>Edges are probability of each pairs of cysteines.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84879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 smtClean="0"/>
              <a:t>Chen</a:t>
            </a:r>
            <a:r>
              <a:rPr lang="en-US" altLang="zh-TW" sz="3600" dirty="0" smtClean="0">
                <a:ea typeface="標楷體" pitchFamily="65" charset="-120"/>
                <a:cs typeface="Times New Roman" pitchFamily="18" charset="0"/>
              </a:rPr>
              <a:t>’s Hybird Method by Using </a:t>
            </a:r>
            <a:br>
              <a:rPr lang="en-US" altLang="zh-TW" sz="3600" dirty="0" smtClean="0">
                <a:ea typeface="標楷體" pitchFamily="65" charset="-120"/>
                <a:cs typeface="Times New Roman" pitchFamily="18" charset="0"/>
              </a:rPr>
            </a:br>
            <a:r>
              <a:rPr lang="en-US" altLang="zh-TW" sz="3600" dirty="0" smtClean="0"/>
              <a:t>Behavior Knowledge Space(BKS)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Methods:</a:t>
            </a:r>
          </a:p>
          <a:p>
            <a:pPr lvl="1"/>
            <a:r>
              <a:rPr lang="en-US" altLang="zh-TW" dirty="0" smtClean="0"/>
              <a:t>SVM methods with different paremeters.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 separations profiles (CSP).</a:t>
            </a:r>
            <a:endParaRPr lang="en-US" altLang="zh-TW" dirty="0" smtClean="0"/>
          </a:p>
          <a:p>
            <a:r>
              <a:rPr lang="en-US" altLang="zh-TW" dirty="0" smtClean="0"/>
              <a:t>voting protocol</a:t>
            </a:r>
          </a:p>
          <a:p>
            <a:pPr lvl="1"/>
            <a:r>
              <a:rPr lang="en-US" altLang="zh-TW" dirty="0" smtClean="0"/>
              <a:t>Using Behavior Knowledge Space(BKS) to choose  pripor solutions.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1434202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Hung</a:t>
            </a:r>
            <a:r>
              <a:rPr lang="en-US" altLang="zh-TW" sz="3200" dirty="0" smtClean="0">
                <a:cs typeface="Times New Roman" pitchFamily="18" charset="0"/>
              </a:rPr>
              <a:t>’s Method by Using</a:t>
            </a:r>
            <a:r>
              <a:rPr lang="en-US" altLang="zh-TW" sz="3200" dirty="0" smtClean="0"/>
              <a:t> </a:t>
            </a:r>
            <a:r>
              <a:rPr lang="en-US" altLang="zh-TW" sz="3200" dirty="0"/>
              <a:t>the </a:t>
            </a:r>
            <a:r>
              <a:rPr lang="en-US" altLang="zh-TW" sz="3200" dirty="0" smtClean="0"/>
              <a:t>Structural Information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Take the three dimension position of residue , produced by MODELLER, as one of SVM features.</a:t>
            </a:r>
          </a:p>
          <a:p>
            <a:r>
              <a:rPr lang="en-US" altLang="zh-TW" dirty="0" smtClean="0"/>
              <a:t>This methods without </a:t>
            </a:r>
            <a:r>
              <a:rPr lang="en-US" altLang="zh-TW" dirty="0"/>
              <a:t>the prior knowledge </a:t>
            </a:r>
            <a:r>
              <a:rPr lang="en-US" altLang="zh-TW" dirty="0" smtClean="0"/>
              <a:t>of cysteines </a:t>
            </a:r>
            <a:r>
              <a:rPr lang="en-US" altLang="zh-TW" dirty="0"/>
              <a:t>bonding state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Using  the Multiple Trajectory Search(MTS)</a:t>
            </a:r>
            <a:r>
              <a:rPr lang="en-US" altLang="zh-TW" dirty="0"/>
              <a:t> to adjust the parameters of </a:t>
            </a:r>
            <a:r>
              <a:rPr lang="en-US" altLang="zh-TW" dirty="0" smtClean="0"/>
              <a:t>SVM.</a:t>
            </a:r>
          </a:p>
          <a:p>
            <a:r>
              <a:rPr lang="en-US" altLang="zh-TW" dirty="0" smtClean="0"/>
              <a:t>Using a modified graph matching methods.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886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SP39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(SWISS-PROT release no. 39)</a:t>
            </a:r>
          </a:p>
          <a:p>
            <a:pPr lvl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0-fold cross-validation</a:t>
            </a:r>
            <a:endParaRPr lang="en-US" altLang="zh-TW" dirty="0" smtClean="0"/>
          </a:p>
          <a:p>
            <a:r>
              <a:rPr lang="en-US" altLang="zh-TW" dirty="0" smtClean="0"/>
              <a:t>SP39id30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sequence identity of proteins between any two subsets is less than 30% for data set SP39.</a:t>
            </a:r>
          </a:p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Number of proteins in bond level:</a:t>
            </a:r>
          </a:p>
          <a:p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56639378"/>
              </p:ext>
            </p:extLst>
          </p:nvPr>
        </p:nvGraphicFramePr>
        <p:xfrm>
          <a:off x="1475656" y="501317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95188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2..5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sp39id30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243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5651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PSSM Alignment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pattern wise methods, with the prior knowledge of disulfide bonding state.</a:t>
            </a:r>
            <a:endParaRPr lang="en-US" altLang="zh-TW" dirty="0" smtClean="0"/>
          </a:p>
          <a:p>
            <a:r>
              <a:rPr lang="en-US" altLang="zh-TW" dirty="0" smtClean="0"/>
              <a:t>For each protein sequences in the dataset taking the sequence alignment with the PSSM matrix as the score function.</a:t>
            </a:r>
          </a:p>
          <a:p>
            <a:r>
              <a:rPr lang="en-US" altLang="zh-TW" dirty="0" smtClean="0"/>
              <a:t> consider the endgap penalty, and without the endgap penalty.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20618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PSSM Alignment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Needleman–Wunsch </a:t>
            </a:r>
            <a:r>
              <a:rPr lang="en-US" altLang="zh-TW" dirty="0"/>
              <a:t>algorithm</a:t>
            </a:r>
          </a:p>
          <a:p>
            <a:pPr marL="0" indent="0">
              <a:buNone/>
            </a:pPr>
            <a:r>
              <a:rPr lang="en-US" altLang="zh-TW" sz="2400" dirty="0" smtClean="0"/>
              <a:t>S(A</a:t>
            </a:r>
            <a:r>
              <a:rPr lang="en-US" altLang="zh-TW" sz="2400" baseline="-25000" dirty="0" smtClean="0"/>
              <a:t>i </a:t>
            </a:r>
            <a:r>
              <a:rPr lang="en-US" altLang="zh-TW" sz="2400" dirty="0" smtClean="0"/>
              <a:t>, B</a:t>
            </a:r>
            <a:r>
              <a:rPr lang="en-US" altLang="zh-TW" sz="2400" baseline="-25000" dirty="0" smtClean="0"/>
              <a:t>j</a:t>
            </a:r>
            <a:r>
              <a:rPr lang="en-US" altLang="zh-TW" sz="2400" dirty="0" smtClean="0"/>
              <a:t>) = test protein’s PSSM[symbol][will be replaced by]</a:t>
            </a:r>
            <a:endParaRPr lang="zh-TW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3101" y="2636912"/>
            <a:ext cx="5899347" cy="3687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624251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Contact potential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78348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252520" cy="710140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PSSM Alignment</a:t>
                </a:r>
                <a:r>
                  <a:rPr lang="en-US" altLang="zh-TW" dirty="0" smtClean="0"/>
                  <a:t/>
                </a:r>
              </a:p>
              <a:p>
                <a:r>
                  <a:rPr lang="en-US" altLang="zh-TW" dirty="0" smtClean="0"/>
                  <a:t>Contact potential</a:t>
                </a:r>
              </a:p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Experimental Results</a:t>
                </a: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Performance Evaluation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denotes the number of proteins whose connectivity patterns are correctly predicted.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is the total number of proteins for testing.</a:t>
                </a:r>
              </a:p>
              <a:p>
                <a:pPr lvl="1"/>
                <a:endParaRPr lang="en-US" altLang="zh-TW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Conclusions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252520" cy="7101408"/>
              </a:xfrm>
              <a:blipFill rotWithShape="1">
                <a:blip r:embed="rId2"/>
                <a:stretch>
                  <a:fillRect l="-1449" t="-12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6269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581</Words>
  <Application>Microsoft Office PowerPoint</Application>
  <PresentationFormat>如螢幕大小 (4:3)</PresentationFormat>
  <Paragraphs>120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The Disulfide Connectivity Prediction</vt:lpstr>
      <vt:lpstr>Introduction (1/6)</vt:lpstr>
      <vt:lpstr>Introduction (2/6)</vt:lpstr>
      <vt:lpstr>Introduction (3/6)</vt:lpstr>
      <vt:lpstr>Introduction (4/6)</vt:lpstr>
      <vt:lpstr>Introduction (5/6)</vt:lpstr>
      <vt:lpstr>Introduction (6/6)</vt:lpstr>
      <vt:lpstr>Support Vector Machine (SVM)</vt:lpstr>
      <vt:lpstr>Position-specific Scoring Matrix (PSSM)</vt:lpstr>
      <vt:lpstr>Contact potential</vt:lpstr>
      <vt:lpstr>Zhao’s Method by Using  Cysteine Separations Profiles</vt:lpstr>
      <vt:lpstr>SVM methods</vt:lpstr>
      <vt:lpstr>Chen’s Hybird Method by Using  Behavior Knowledge Space(BKS)</vt:lpstr>
      <vt:lpstr>Hung’s Method by Using the Structural Information</vt:lpstr>
      <vt:lpstr>Dataset</vt:lpstr>
      <vt:lpstr>PSSM Alignment (1/2)</vt:lpstr>
      <vt:lpstr>PSSM Alignment (2/2)</vt:lpstr>
      <vt:lpstr>Contact potential</vt:lpstr>
      <vt:lpstr>投影片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Fangcy</dc:creator>
  <cp:lastModifiedBy>admin</cp:lastModifiedBy>
  <cp:revision>27</cp:revision>
  <dcterms:created xsi:type="dcterms:W3CDTF">2014-03-16T09:44:44Z</dcterms:created>
  <dcterms:modified xsi:type="dcterms:W3CDTF">2014-03-17T11:17:56Z</dcterms:modified>
</cp:coreProperties>
</file>