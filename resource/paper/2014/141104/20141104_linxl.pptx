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69" r:id="rId14"/>
    <p:sldId id="295" r:id="rId15"/>
    <p:sldId id="272" r:id="rId16"/>
    <p:sldId id="273" r:id="rId17"/>
    <p:sldId id="274" r:id="rId18"/>
    <p:sldId id="275" r:id="rId19"/>
    <p:sldId id="296" r:id="rId20"/>
    <p:sldId id="281" r:id="rId21"/>
    <p:sldId id="276" r:id="rId22"/>
    <p:sldId id="282" r:id="rId23"/>
    <p:sldId id="297" r:id="rId24"/>
    <p:sldId id="287" r:id="rId25"/>
    <p:sldId id="294" r:id="rId26"/>
    <p:sldId id="288" r:id="rId27"/>
    <p:sldId id="291" r:id="rId28"/>
    <p:sldId id="292" r:id="rId29"/>
    <p:sldId id="293" r:id="rId30"/>
    <p:sldId id="279" r:id="rId31"/>
    <p:sldId id="280" r:id="rId32"/>
    <p:sldId id="284" r:id="rId33"/>
    <p:sldId id="286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1040" autoAdjust="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F6C41-53A5-4727-9BD2-9F1290BAD86A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0FED1-0EB1-41C9-9DFB-E5DA34E43EE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0017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123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0FED1-0EB1-41C9-9DFB-E5DA34E43EEB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4238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>This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implies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k &gt;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and l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da-DK" altLang="zh-TW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(by check TL-completeness)</a:t>
                </a:r>
                <a:endParaRPr lang="de-DE" altLang="zh-TW" baseline="30000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dirty="0" smtClean="0"/>
                  <a:t/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k’ </a:t>
                </a:r>
                <a14:m>
                  <m:oMath xmlns:m="http://schemas.openxmlformats.org/officeDocument/2006/math">
                    <m:r>
                      <a:rPr lang="da-DK" altLang="zh-TW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and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l’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&gt; n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zh-TW" i="1" baseline="-25000" smtClean="0">
                        <a:solidFill>
                          <a:srgbClr val="FF0000"/>
                        </a:solidFill>
                        <a:latin typeface="Cambria Math"/>
                      </a:rPr>
                      <m:t>└</m:t>
                    </m:r>
                  </m:oMath>
                </a14:m>
                <a:r>
                  <a:rPr lang="da-DK" altLang="zh-TW" i="1" dirty="0" smtClean="0">
                    <a:solidFill>
                      <a:srgbClr val="FF0000"/>
                    </a:solidFill>
                  </a:rPr>
                  <a:t>m/2</a:t>
                </a:r>
                <a14:m>
                  <m:oMath xmlns:m="http://schemas.openxmlformats.org/officeDocument/2006/math">
                    <m:r>
                      <a:rPr lang="en-US" altLang="zh-TW" i="1" baseline="-25000">
                        <a:solidFill>
                          <a:srgbClr val="FF0000"/>
                        </a:solidFill>
                        <a:latin typeface="Cambria Math"/>
                      </a:rPr>
                      <m:t>┘</m:t>
                    </m:r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(by check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BR-completeness)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>This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implies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k &gt;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┌</a:t>
                </a:r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┐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and l </a:t>
                </a:r>
                <a:r>
                  <a:rPr lang="en-US" altLang="zh-TW" i="0">
                    <a:solidFill>
                      <a:srgbClr val="FF0000"/>
                    </a:solidFill>
                    <a:latin typeface="Cambria Math"/>
                    <a:ea typeface="Cambria Math"/>
                  </a:rPr>
                  <a:t>≤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┌</a:t>
                </a:r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┐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(by check TL-completeness)</a:t>
                </a:r>
                <a:endParaRPr lang="de-DE" altLang="zh-TW" baseline="30000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TW" i="1" dirty="0" smtClean="0">
                    <a:solidFill>
                      <a:srgbClr val="FF0000"/>
                    </a:solidFill>
                  </a:rPr>
                  <a:t>k’ </a:t>
                </a:r>
                <a:r>
                  <a:rPr lang="da-DK" altLang="zh-TW" i="0" dirty="0" smtClean="0">
                    <a:solidFill>
                      <a:srgbClr val="FF0000"/>
                    </a:solidFill>
                    <a:latin typeface="Cambria Math"/>
                    <a:ea typeface="Cambria Math"/>
                  </a:rPr>
                  <a:t>≤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┌</a:t>
                </a:r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┐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and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l’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&gt; n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- </a:t>
                </a:r>
                <a:r>
                  <a:rPr lang="en-US" altLang="zh-TW" i="0" baseline="-25000" smtClean="0">
                    <a:solidFill>
                      <a:srgbClr val="FF0000"/>
                    </a:solidFill>
                    <a:latin typeface="Cambria Math"/>
                  </a:rPr>
                  <a:t>└</a:t>
                </a:r>
                <a:r>
                  <a:rPr lang="da-DK" altLang="zh-TW" i="1" dirty="0" smtClean="0">
                    <a:solidFill>
                      <a:srgbClr val="FF0000"/>
                    </a:solidFill>
                  </a:rPr>
                  <a:t>m/2</a:t>
                </a:r>
                <a:r>
                  <a:rPr lang="en-US" altLang="zh-TW" i="0" baseline="-25000">
                    <a:solidFill>
                      <a:srgbClr val="FF0000"/>
                    </a:solidFill>
                    <a:latin typeface="Cambria Math"/>
                  </a:rPr>
                  <a:t>┘</a:t>
                </a:r>
                <a:r>
                  <a:rPr lang="en-US" altLang="zh-TW" i="0" smtClean="0">
                    <a:solidFill>
                      <a:srgbClr val="FF0000"/>
                    </a:solidFill>
                    <a:latin typeface="Cambria Math"/>
                    <a:ea typeface="Cambria Math"/>
                  </a:rPr>
                  <a:t>≥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┌</a:t>
                </a:r>
                <a:r>
                  <a:rPr lang="da-DK" altLang="zh-TW" i="1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i="0" baseline="30000" dirty="0">
                    <a:solidFill>
                      <a:srgbClr val="FF0000"/>
                    </a:solidFill>
                    <a:latin typeface="Cambria Math"/>
                  </a:rPr>
                  <a:t>┐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(by check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BR-completeness)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0FED1-0EB1-41C9-9DFB-E5DA34E43EEB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71615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Thus, if u = e </a:t>
            </a:r>
            <a:r>
              <a:rPr lang="en-US" altLang="zh-TW" dirty="0" err="1" smtClean="0"/>
              <a:t>T,┌m</a:t>
            </a:r>
            <a:r>
              <a:rPr lang="en-US" altLang="zh-TW" dirty="0" smtClean="0"/>
              <a:t>/2 ┐ , we have p = e </a:t>
            </a:r>
            <a:r>
              <a:rPr lang="en-US" altLang="zh-TW" dirty="0" err="1" smtClean="0"/>
              <a:t>T,┌m</a:t>
            </a:r>
            <a:r>
              <a:rPr lang="en-US" altLang="zh-TW" dirty="0" smtClean="0"/>
              <a:t>/2 ┐ + e </a:t>
            </a:r>
            <a:r>
              <a:rPr lang="en-US" altLang="zh-TW" dirty="0" err="1" smtClean="0"/>
              <a:t>R,┌m</a:t>
            </a:r>
            <a:r>
              <a:rPr lang="en-US" altLang="zh-TW" dirty="0" smtClean="0"/>
              <a:t>/2 ┐ , and the   decomposition is optimal. </a:t>
            </a:r>
          </a:p>
          <a:p>
            <a:r>
              <a:rPr lang="en-US" altLang="zh-TW" dirty="0" smtClean="0"/>
              <a:t>Now assume u &gt; e </a:t>
            </a:r>
            <a:r>
              <a:rPr lang="en-US" altLang="zh-TW" dirty="0" err="1" smtClean="0"/>
              <a:t>T,┌m</a:t>
            </a:r>
            <a:r>
              <a:rPr lang="en-US" altLang="zh-TW" dirty="0" smtClean="0"/>
              <a:t>/2 ┐ . </a:t>
            </a:r>
          </a:p>
          <a:p>
            <a:r>
              <a:rPr lang="en-US" altLang="zh-TW" dirty="0" smtClean="0"/>
              <a:t>If ũ and ṽ  are unused, then all    remaining </a:t>
            </a:r>
            <a:r>
              <a:rPr lang="en-US" altLang="zh-TW" dirty="0" err="1" smtClean="0"/>
              <a:t>antichains</a:t>
            </a:r>
            <a:r>
              <a:rPr lang="en-US" altLang="zh-TW" dirty="0" smtClean="0"/>
              <a:t> in A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 have been connected to corresponding </a:t>
            </a:r>
            <a:r>
              <a:rPr lang="en-US" altLang="zh-TW" dirty="0" err="1" smtClean="0"/>
              <a:t>antichains</a:t>
            </a:r>
            <a:r>
              <a:rPr lang="en-US" altLang="zh-TW" dirty="0" smtClean="0"/>
              <a:t> in</a:t>
            </a:r>
          </a:p>
          <a:p>
            <a:r>
              <a:rPr lang="en-US" altLang="zh-TW" dirty="0" smtClean="0"/>
              <a:t>A </a:t>
            </a:r>
            <a:r>
              <a:rPr lang="en-US" altLang="zh-TW" dirty="0" err="1" smtClean="0"/>
              <a:t>T,┌m</a:t>
            </a:r>
            <a:r>
              <a:rPr lang="en-US" altLang="zh-TW" dirty="0" smtClean="0"/>
              <a:t>/2 ┐, and we have p = e </a:t>
            </a:r>
            <a:r>
              <a:rPr lang="en-US" altLang="zh-TW" dirty="0" err="1" smtClean="0"/>
              <a:t>T,┌m</a:t>
            </a:r>
            <a:r>
              <a:rPr lang="en-US" altLang="zh-TW" dirty="0" smtClean="0"/>
              <a:t>/2 ┐ + e </a:t>
            </a:r>
            <a:r>
              <a:rPr lang="en-US" altLang="zh-TW" dirty="0" err="1" smtClean="0"/>
              <a:t>R,┌m</a:t>
            </a:r>
            <a:r>
              <a:rPr lang="en-US" altLang="zh-TW" dirty="0" smtClean="0"/>
              <a:t>/2 ┐. </a:t>
            </a:r>
          </a:p>
          <a:p>
            <a:r>
              <a:rPr lang="en-US" altLang="zh-TW" dirty="0" smtClean="0"/>
              <a:t>Hence, in this case the decomposition is   also a minimal one.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Finally assume that ũ and ṽ have been used for saving u and v at</a:t>
            </a:r>
          </a:p>
          <a:p>
            <a:r>
              <a:rPr lang="en-US" altLang="zh-TW" dirty="0" smtClean="0"/>
              <a:t>least once. Then for j = ṽ + 1,…., e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┐, A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 has been connected to  A </a:t>
            </a:r>
            <a:r>
              <a:rPr lang="en-US" altLang="zh-TW" dirty="0" err="1" smtClean="0"/>
              <a:t>ũ+ṽ</a:t>
            </a:r>
            <a:r>
              <a:rPr lang="en-US" altLang="zh-TW" dirty="0" smtClean="0"/>
              <a:t>−</a:t>
            </a:r>
            <a:r>
              <a:rPr lang="zh-TW" altLang="en-US" dirty="0" smtClean="0"/>
              <a:t>𝑗 𝑇</a:t>
            </a:r>
            <a:r>
              <a:rPr lang="en-US" altLang="zh-TW" dirty="0" smtClean="0"/>
              <a:t>,┌m/2 ┐ </a:t>
            </a:r>
          </a:p>
          <a:p>
            <a:r>
              <a:rPr lang="en-US" altLang="zh-TW" dirty="0" smtClean="0"/>
              <a:t>and we have u = ũ "-" (e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┐- ṽ). Thus p = ũ "−" (e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┐- ṽ)+ e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 = ~u + ~v.</a:t>
            </a:r>
          </a:p>
          <a:p>
            <a:r>
              <a:rPr lang="en-US" altLang="zh-TW" dirty="0" smtClean="0"/>
              <a:t>But from the properties of ũ and ṽ, </a:t>
            </a:r>
          </a:p>
          <a:p>
            <a:r>
              <a:rPr lang="en-US" altLang="zh-TW" dirty="0" smtClean="0"/>
              <a:t>it can be shown (similar to the proof of Lemma  3.5) that there is a chain of length ũ and ṽ  which contains two matches p1∈ </a:t>
            </a:r>
            <a:r>
              <a:rPr lang="en-US" altLang="zh-TW" dirty="0" err="1" smtClean="0"/>
              <a:t>Aũ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T,┌m</a:t>
            </a:r>
            <a:r>
              <a:rPr lang="en-US" altLang="zh-TW" dirty="0" smtClean="0"/>
              <a:t>/2 ┐ </a:t>
            </a:r>
          </a:p>
          <a:p>
            <a:r>
              <a:rPr lang="en-US" altLang="zh-TW" dirty="0" smtClean="0"/>
              <a:t>and p2 ∈A ṽ </a:t>
            </a:r>
            <a:r>
              <a:rPr lang="en-US" altLang="zh-TW" dirty="0" err="1" smtClean="0"/>
              <a:t>B,┌m</a:t>
            </a:r>
            <a:r>
              <a:rPr lang="en-US" altLang="zh-TW" dirty="0" smtClean="0"/>
              <a:t>/2 ┐ . Hence, the constructed decomposition is optimal.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0FED1-0EB1-41C9-9DFB-E5DA34E43EEB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88825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pTL</a:t>
            </a:r>
            <a:r>
              <a:rPr lang="en-US" altLang="zh-TW" dirty="0" smtClean="0"/>
              <a:t> and </a:t>
            </a:r>
            <a:r>
              <a:rPr lang="en-US" altLang="zh-TW" dirty="0" err="1" smtClean="0"/>
              <a:t>pBR</a:t>
            </a:r>
            <a:r>
              <a:rPr lang="en-US" altLang="zh-TW" dirty="0" smtClean="0"/>
              <a:t> can be easily updated. For example, consider lines 85{98 in Fig. 6 where</a:t>
            </a:r>
          </a:p>
          <a:p>
            <a:r>
              <a:rPr lang="en-US" altLang="zh-TW" dirty="0" smtClean="0"/>
              <a:t>new TL{complete </a:t>
            </a:r>
            <a:r>
              <a:rPr lang="en-US" altLang="zh-TW" dirty="0" err="1" smtClean="0"/>
              <a:t>antichains</a:t>
            </a:r>
            <a:r>
              <a:rPr lang="en-US" altLang="zh-TW" dirty="0" smtClean="0"/>
              <a:t> are handled. Let </a:t>
            </a:r>
            <a:r>
              <a:rPr lang="en-US" altLang="zh-TW" dirty="0" err="1" smtClean="0"/>
              <a:t>pTL</a:t>
            </a:r>
            <a:r>
              <a:rPr lang="en-US" altLang="zh-TW" dirty="0" smtClean="0"/>
              <a:t> = (u; v). If the condition in line</a:t>
            </a:r>
          </a:p>
          <a:p>
            <a:r>
              <a:rPr lang="en-US" altLang="zh-TW" dirty="0" smtClean="0"/>
              <a:t>86 is </a:t>
            </a:r>
            <a:r>
              <a:rPr lang="en-US" altLang="zh-TW" dirty="0" err="1" smtClean="0"/>
              <a:t>satis¯ed</a:t>
            </a:r>
            <a:r>
              <a:rPr lang="en-US" altLang="zh-TW" dirty="0" smtClean="0"/>
              <a:t>, then we know </a:t>
            </a:r>
            <a:r>
              <a:rPr lang="en-US" altLang="zh-TW" dirty="0" err="1" smtClean="0"/>
              <a:t>pTL</a:t>
            </a:r>
            <a:r>
              <a:rPr lang="en-US" altLang="zh-TW" dirty="0" smtClean="0"/>
              <a:t> has to be set to the bottommost match located in</a:t>
            </a:r>
          </a:p>
          <a:p>
            <a:r>
              <a:rPr lang="en-US" altLang="zh-TW" dirty="0" smtClean="0"/>
              <a:t>the ¯</a:t>
            </a:r>
            <a:r>
              <a:rPr lang="en-US" altLang="zh-TW" dirty="0" err="1" smtClean="0"/>
              <a:t>rst</a:t>
            </a:r>
            <a:r>
              <a:rPr lang="en-US" altLang="zh-TW" dirty="0" smtClean="0"/>
              <a:t> t rows and column `. Therefore two additional statements can be inserted</a:t>
            </a:r>
          </a:p>
          <a:p>
            <a:r>
              <a:rPr lang="en-US" altLang="zh-TW" dirty="0" smtClean="0"/>
              <a:t>between lines 86 and 87 such that u is set to </a:t>
            </a:r>
            <a:r>
              <a:rPr lang="en-US" altLang="zh-TW" dirty="0" err="1" smtClean="0"/>
              <a:t>BottomPos</a:t>
            </a:r>
            <a:r>
              <a:rPr lang="en-US" altLang="zh-TW" dirty="0" smtClean="0"/>
              <a:t>[y`; t] and v is set to `. Similar</a:t>
            </a:r>
          </a:p>
          <a:p>
            <a:r>
              <a:rPr lang="en-US" altLang="zh-TW" dirty="0" smtClean="0"/>
              <a:t>statements apply for the situation in lines 92{98, and this completes the description</a:t>
            </a:r>
          </a:p>
          <a:p>
            <a:r>
              <a:rPr lang="en-US" altLang="zh-TW" dirty="0" smtClean="0"/>
              <a:t>of the management for </a:t>
            </a:r>
            <a:r>
              <a:rPr lang="en-US" altLang="zh-TW" dirty="0" err="1" smtClean="0"/>
              <a:t>pTL</a:t>
            </a:r>
            <a:r>
              <a:rPr lang="en-US" altLang="zh-TW" dirty="0" smtClean="0"/>
              <a:t>. </a:t>
            </a:r>
            <a:r>
              <a:rPr lang="en-US" altLang="zh-TW" dirty="0" err="1" smtClean="0"/>
              <a:t>pBR</a:t>
            </a:r>
            <a:r>
              <a:rPr lang="en-US" altLang="zh-TW" dirty="0" smtClean="0"/>
              <a:t> can be handled in a similar way.</a:t>
            </a:r>
          </a:p>
          <a:p>
            <a:r>
              <a:rPr lang="en-US" altLang="zh-TW" dirty="0" err="1" smtClean="0"/>
              <a:t>cT</a:t>
            </a:r>
            <a:r>
              <a:rPr lang="en-US" altLang="zh-TW" dirty="0" smtClean="0"/>
              <a:t> , </a:t>
            </a:r>
            <a:r>
              <a:rPr lang="en-US" altLang="zh-TW" dirty="0" err="1" smtClean="0"/>
              <a:t>cR</a:t>
            </a:r>
            <a:r>
              <a:rPr lang="en-US" altLang="zh-TW" dirty="0" smtClean="0"/>
              <a:t>, and `TR must be updated whenever the length of </a:t>
            </a:r>
            <a:r>
              <a:rPr lang="en-US" altLang="zh-TW" dirty="0" err="1" smtClean="0"/>
              <a:t>CTR;i</a:t>
            </a:r>
            <a:r>
              <a:rPr lang="en-US" altLang="zh-TW" dirty="0" smtClean="0"/>
              <a:t> increases. These</a:t>
            </a:r>
          </a:p>
          <a:p>
            <a:r>
              <a:rPr lang="en-US" altLang="zh-TW" dirty="0" smtClean="0"/>
              <a:t>situations are indicated in lines 40, 46, 69, and 95 in Fig. 6, and here we only sketch</a:t>
            </a:r>
          </a:p>
          <a:p>
            <a:r>
              <a:rPr lang="en-US" altLang="zh-TW" dirty="0" smtClean="0"/>
              <a:t>how to manage them. By arguments analogous to the ones given in the proof of</a:t>
            </a:r>
          </a:p>
          <a:p>
            <a:r>
              <a:rPr lang="en-US" altLang="zh-TW" dirty="0" smtClean="0"/>
              <a:t>Lemma 3.4, we have to distinguish two cases when updating </a:t>
            </a:r>
            <a:r>
              <a:rPr lang="en-US" altLang="zh-TW" dirty="0" err="1" smtClean="0"/>
              <a:t>cT</a:t>
            </a:r>
            <a:r>
              <a:rPr lang="en-US" altLang="zh-TW" dirty="0" smtClean="0"/>
              <a:t> . If </a:t>
            </a:r>
            <a:r>
              <a:rPr lang="en-US" altLang="zh-TW" dirty="0" err="1" smtClean="0"/>
              <a:t>sTL;i</a:t>
            </a:r>
            <a:r>
              <a:rPr lang="en-US" altLang="zh-TW" dirty="0" smtClean="0"/>
              <a:t> &gt; </a:t>
            </a:r>
            <a:r>
              <a:rPr lang="en-US" altLang="zh-TW" dirty="0" err="1" smtClean="0"/>
              <a:t>eT;i</a:t>
            </a:r>
            <a:r>
              <a:rPr lang="en-US" altLang="zh-TW" dirty="0" smtClean="0"/>
              <a:t>, then</a:t>
            </a:r>
          </a:p>
          <a:p>
            <a:r>
              <a:rPr lang="en-US" altLang="zh-TW" dirty="0" err="1" smtClean="0"/>
              <a:t>cT</a:t>
            </a:r>
            <a:r>
              <a:rPr lang="en-US" altLang="zh-TW" dirty="0" smtClean="0"/>
              <a:t> is set to </a:t>
            </a:r>
            <a:r>
              <a:rPr lang="en-US" altLang="zh-TW" dirty="0" err="1" smtClean="0"/>
              <a:t>pTL</a:t>
            </a:r>
            <a:r>
              <a:rPr lang="en-US" altLang="zh-TW" dirty="0" smtClean="0"/>
              <a:t>, otherwise </a:t>
            </a:r>
            <a:r>
              <a:rPr lang="en-US" altLang="zh-TW" dirty="0" err="1" smtClean="0"/>
              <a:t>cT</a:t>
            </a:r>
            <a:r>
              <a:rPr lang="en-US" altLang="zh-TW" dirty="0" smtClean="0"/>
              <a:t> can be determined by some additional statements which</a:t>
            </a:r>
          </a:p>
          <a:p>
            <a:r>
              <a:rPr lang="en-US" altLang="zh-TW" dirty="0" smtClean="0"/>
              <a:t>are similar to the ones used for updating </a:t>
            </a:r>
            <a:r>
              <a:rPr lang="en-US" altLang="zh-TW" dirty="0" err="1" smtClean="0"/>
              <a:t>pTL</a:t>
            </a:r>
            <a:r>
              <a:rPr lang="en-US" altLang="zh-TW" dirty="0" smtClean="0"/>
              <a:t>. In either case, we set `TR to </a:t>
            </a:r>
            <a:r>
              <a:rPr lang="en-US" altLang="zh-TW" dirty="0" err="1" smtClean="0"/>
              <a:t>eT;i</a:t>
            </a:r>
            <a:r>
              <a:rPr lang="en-US" altLang="zh-TW" dirty="0" smtClean="0"/>
              <a:t> because</a:t>
            </a:r>
          </a:p>
          <a:p>
            <a:r>
              <a:rPr lang="en-US" altLang="zh-TW" dirty="0" err="1" smtClean="0"/>
              <a:t>eT;i</a:t>
            </a:r>
            <a:r>
              <a:rPr lang="en-US" altLang="zh-TW" dirty="0" smtClean="0"/>
              <a:t> is the position of </a:t>
            </a:r>
            <a:r>
              <a:rPr lang="en-US" altLang="zh-TW" dirty="0" err="1" smtClean="0"/>
              <a:t>cT</a:t>
            </a:r>
            <a:r>
              <a:rPr lang="en-US" altLang="zh-TW" dirty="0" smtClean="0"/>
              <a:t> in </a:t>
            </a:r>
            <a:r>
              <a:rPr lang="en-US" altLang="zh-TW" dirty="0" err="1" smtClean="0"/>
              <a:t>CTR;i</a:t>
            </a:r>
            <a:r>
              <a:rPr lang="en-US" altLang="zh-TW" dirty="0" smtClean="0"/>
              <a:t>, as seen in the proof of Lemma 3.5. The management</a:t>
            </a:r>
          </a:p>
          <a:p>
            <a:r>
              <a:rPr lang="en-US" altLang="zh-TW" dirty="0" smtClean="0"/>
              <a:t>of </a:t>
            </a:r>
            <a:r>
              <a:rPr lang="en-US" altLang="zh-TW" dirty="0" err="1" smtClean="0"/>
              <a:t>cB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cL</a:t>
            </a:r>
            <a:r>
              <a:rPr lang="en-US" altLang="zh-TW" dirty="0" smtClean="0"/>
              <a:t>, and `BL is similar.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0FED1-0EB1-41C9-9DFB-E5DA34E43EEB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15180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48F-55E5-4484-A65D-E7AD72E660F4}" type="datetimeFigureOut">
              <a:rPr lang="zh-TW" altLang="en-US" smtClean="0"/>
              <a:pPr/>
              <a:t>2014/11/4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4C8A-F0A6-49C3-B9F9-E1133DDACEA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6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9512" y="2130425"/>
            <a:ext cx="8278688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 New Practical Linear Space Algorithm for the</a:t>
            </a:r>
            <a:br>
              <a:rPr lang="en-US" altLang="zh-TW" dirty="0"/>
            </a:br>
            <a:r>
              <a:rPr lang="en-US" altLang="zh-TW" dirty="0"/>
              <a:t>Longest Common Subsequence </a:t>
            </a:r>
            <a:r>
              <a:rPr lang="en-US" altLang="zh-TW" dirty="0" smtClean="0"/>
              <a:t>Problem</a:t>
            </a:r>
            <a:r>
              <a:rPr lang="en-US" altLang="zh-TW" i="1" dirty="0"/>
              <a:t/>
            </a:r>
            <a:br>
              <a:rPr lang="en-US" altLang="zh-TW" i="1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i="1" dirty="0" smtClean="0"/>
              <a:t/>
            </a:r>
            <a:br>
              <a:rPr lang="en-US" altLang="zh-TW" i="1" dirty="0" smtClean="0"/>
            </a:br>
            <a:r>
              <a:rPr lang="en-US" altLang="zh-TW" i="1" dirty="0" err="1" smtClean="0"/>
              <a:t>Goeman.Heiko,Clausen.Michael</a:t>
            </a:r>
            <a:endParaRPr lang="en-US" altLang="zh-TW" u="sng" dirty="0" smtClean="0">
              <a:solidFill>
                <a:schemeClr val="tx1"/>
              </a:solidFill>
            </a:endParaRPr>
          </a:p>
          <a:p>
            <a:r>
              <a:rPr lang="en-US" dirty="0" err="1" smtClean="0"/>
              <a:t>Kybernetika,vol</a:t>
            </a:r>
            <a:r>
              <a:rPr lang="en-US" dirty="0" smtClean="0"/>
              <a:t>. 38 (2002), issue 1, pp. </a:t>
            </a:r>
            <a:r>
              <a:rPr lang="en-US" dirty="0" smtClean="0"/>
              <a:t>45-66</a:t>
            </a:r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TW" dirty="0" smtClean="0"/>
              <a:t>This </a:t>
            </a:r>
            <a:r>
              <a:rPr lang="en-US" altLang="zh-TW" dirty="0"/>
              <a:t>paper deals with a new practical method for solving the longest</a:t>
            </a:r>
          </a:p>
          <a:p>
            <a:pPr>
              <a:buNone/>
            </a:pPr>
            <a:r>
              <a:rPr lang="en-US" altLang="zh-TW" dirty="0" smtClean="0"/>
              <a:t>	common </a:t>
            </a:r>
            <a:r>
              <a:rPr lang="en-US" altLang="zh-TW" dirty="0"/>
              <a:t>subsequence (LCS) problem. </a:t>
            </a: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Given </a:t>
            </a:r>
            <a:r>
              <a:rPr lang="en-US" altLang="zh-TW" dirty="0"/>
              <a:t>two strings of lengths </a:t>
            </a:r>
            <a:r>
              <a:rPr lang="en-US" altLang="zh-TW" i="1" dirty="0"/>
              <a:t>m and </a:t>
            </a:r>
            <a:r>
              <a:rPr lang="en-US" altLang="zh-TW" i="1" dirty="0" smtClean="0"/>
              <a:t>n, n</a:t>
            </a:r>
            <a:r>
              <a:rPr lang="zh-TW" altLang="en-US" dirty="0" smtClean="0"/>
              <a:t> </a:t>
            </a:r>
            <a:r>
              <a:rPr lang="zh-TW" altLang="en-US" dirty="0"/>
              <a:t>≥ </a:t>
            </a:r>
            <a:r>
              <a:rPr lang="en-US" altLang="zh-TW" i="1" dirty="0" smtClean="0"/>
              <a:t>m</a:t>
            </a:r>
            <a:r>
              <a:rPr lang="en-US" altLang="zh-TW" i="1" dirty="0"/>
              <a:t>, on an alphabet of size </a:t>
            </a:r>
            <a:r>
              <a:rPr lang="en-US" altLang="zh-TW" i="1" dirty="0" smtClean="0"/>
              <a:t>s, we first </a:t>
            </a:r>
            <a:r>
              <a:rPr lang="en-US" altLang="zh-TW" i="1" dirty="0"/>
              <a:t>present an algorithm which </a:t>
            </a:r>
            <a:r>
              <a:rPr lang="en-US" altLang="zh-TW" i="1" dirty="0" smtClean="0"/>
              <a:t>determines  </a:t>
            </a:r>
            <a:r>
              <a:rPr lang="en-US" altLang="zh-TW" dirty="0" smtClean="0"/>
              <a:t>the </a:t>
            </a:r>
            <a:r>
              <a:rPr lang="en-US" altLang="zh-TW" dirty="0"/>
              <a:t>length </a:t>
            </a:r>
            <a:r>
              <a:rPr lang="en-US" altLang="zh-TW" i="1" dirty="0"/>
              <a:t>p of an LCS in O(ns + </a:t>
            </a:r>
            <a:r>
              <a:rPr lang="en-US" altLang="zh-TW" i="1" dirty="0" smtClean="0"/>
              <a:t>min{ mp , p(n - </a:t>
            </a:r>
            <a:r>
              <a:rPr lang="en-US" altLang="zh-TW" i="1" dirty="0"/>
              <a:t>p</a:t>
            </a:r>
            <a:r>
              <a:rPr lang="en-US" altLang="zh-TW" i="1" dirty="0" smtClean="0"/>
              <a:t>)}) </a:t>
            </a:r>
            <a:r>
              <a:rPr lang="en-US" altLang="zh-TW" i="1" dirty="0"/>
              <a:t>time and O(ns) space</a:t>
            </a:r>
            <a:r>
              <a:rPr lang="en-US" altLang="zh-TW" i="1" dirty="0" smtClean="0"/>
              <a:t>.</a:t>
            </a:r>
          </a:p>
          <a:p>
            <a:pPr>
              <a:buNone/>
            </a:pPr>
            <a:endParaRPr lang="en-US" altLang="zh-TW" i="1" dirty="0"/>
          </a:p>
          <a:p>
            <a:pPr>
              <a:buNone/>
            </a:pPr>
            <a:r>
              <a:rPr lang="en-US" altLang="zh-TW" dirty="0"/>
              <a:t>This result has been achieved before [Ric94, Ric95], but our algorithm is </a:t>
            </a:r>
            <a:r>
              <a:rPr lang="en-US" altLang="zh-TW" dirty="0" smtClean="0"/>
              <a:t>significantly </a:t>
            </a:r>
            <a:r>
              <a:rPr lang="en-US" altLang="zh-TW" dirty="0"/>
              <a:t>faster than previous methods. </a:t>
            </a: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We </a:t>
            </a:r>
            <a:r>
              <a:rPr lang="en-US" altLang="zh-TW" dirty="0"/>
              <a:t>also provide a second algorithm </a:t>
            </a:r>
            <a:r>
              <a:rPr lang="en-US" altLang="zh-TW" dirty="0" smtClean="0"/>
              <a:t>which generates </a:t>
            </a:r>
            <a:r>
              <a:rPr lang="en-US" altLang="zh-TW" dirty="0"/>
              <a:t>an LCS in </a:t>
            </a:r>
            <a:endParaRPr lang="en-US" altLang="zh-TW" dirty="0" smtClean="0"/>
          </a:p>
          <a:p>
            <a:pPr>
              <a:buNone/>
            </a:pPr>
            <a:r>
              <a:rPr lang="en-US" altLang="zh-TW" i="1" dirty="0" smtClean="0"/>
              <a:t>O(ns </a:t>
            </a:r>
            <a:r>
              <a:rPr lang="en-US" altLang="zh-TW" i="1" dirty="0"/>
              <a:t>+ </a:t>
            </a:r>
            <a:r>
              <a:rPr lang="en-US" altLang="zh-TW" i="1" dirty="0" smtClean="0"/>
              <a:t>min{mp , </a:t>
            </a:r>
            <a:r>
              <a:rPr lang="en-US" altLang="zh-TW" i="1" dirty="0" err="1" smtClean="0"/>
              <a:t>m</a:t>
            </a:r>
            <a:r>
              <a:rPr lang="en-US" altLang="zh-TW" dirty="0" err="1" smtClean="0"/>
              <a:t>log</a:t>
            </a:r>
            <a:r>
              <a:rPr lang="en-US" altLang="zh-TW" i="1" dirty="0" err="1" smtClean="0"/>
              <a:t>m</a:t>
            </a:r>
            <a:r>
              <a:rPr lang="en-US" altLang="zh-TW" i="1" dirty="0"/>
              <a:t>+ p(n </a:t>
            </a:r>
            <a:r>
              <a:rPr lang="en-US" altLang="zh-TW" i="1" dirty="0" smtClean="0"/>
              <a:t>- </a:t>
            </a:r>
            <a:r>
              <a:rPr lang="en-US" altLang="zh-TW" i="1" dirty="0"/>
              <a:t>p</a:t>
            </a:r>
            <a:r>
              <a:rPr lang="en-US" altLang="zh-TW" i="1" dirty="0" smtClean="0"/>
              <a:t>)}) </a:t>
            </a:r>
            <a:r>
              <a:rPr lang="en-US" altLang="zh-TW" i="1" dirty="0"/>
              <a:t>time while </a:t>
            </a:r>
            <a:r>
              <a:rPr lang="en-US" altLang="zh-TW" i="1" dirty="0" smtClean="0"/>
              <a:t>preserv</a:t>
            </a:r>
            <a:r>
              <a:rPr lang="en-US" altLang="zh-TW" dirty="0" smtClean="0"/>
              <a:t>ing </a:t>
            </a:r>
            <a:r>
              <a:rPr lang="en-US" altLang="zh-TW" dirty="0"/>
              <a:t>the linear space bound, thus solving the problem posed in [Ric94, Ric95].</a:t>
            </a:r>
          </a:p>
          <a:p>
            <a:pPr>
              <a:buNone/>
            </a:pPr>
            <a:r>
              <a:rPr lang="en-US" altLang="zh-TW" dirty="0"/>
              <a:t>Experimental results </a:t>
            </a:r>
            <a:r>
              <a:rPr lang="en-US" altLang="zh-TW" dirty="0" smtClean="0"/>
              <a:t>confirm </a:t>
            </a:r>
            <a:r>
              <a:rPr lang="en-US" altLang="zh-TW" dirty="0"/>
              <a:t>the </a:t>
            </a:r>
            <a:r>
              <a:rPr lang="en-US" altLang="zh-TW" dirty="0" smtClean="0"/>
              <a:t>efficiency </a:t>
            </a:r>
            <a:r>
              <a:rPr lang="en-US" altLang="zh-TW" dirty="0"/>
              <a:t>of our method.</a:t>
            </a:r>
            <a:endParaRPr lang="zh-TW" altLang="en-US" dirty="0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p:oleObj spid="_x0000_s1048" name="方程式" r:id="rId3" imgW="114151" imgH="215619" progId="Equation.3">
              <p:embed/>
            </p:oleObj>
          </a:graphicData>
        </a:graphic>
      </p:graphicFrame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6792"/>
          </a:xfrm>
        </p:spPr>
        <p:txBody>
          <a:bodyPr/>
          <a:lstStyle/>
          <a:p>
            <a:r>
              <a:rPr lang="en-US" altLang="zh-TW" dirty="0"/>
              <a:t>For </a:t>
            </a:r>
            <a:r>
              <a:rPr lang="en-US" altLang="zh-TW" dirty="0" smtClean="0"/>
              <a:t>example,  </a:t>
            </a:r>
            <a:r>
              <a:rPr lang="en-US" altLang="zh-TW" i="1" dirty="0"/>
              <a:t>x = </a:t>
            </a:r>
            <a:r>
              <a:rPr lang="en-US" altLang="zh-TW" i="1" dirty="0" err="1"/>
              <a:t>abacbcba</a:t>
            </a:r>
            <a:r>
              <a:rPr lang="en-US" altLang="zh-TW" i="1" dirty="0"/>
              <a:t> and y = </a:t>
            </a:r>
            <a:r>
              <a:rPr lang="en-US" altLang="zh-TW" i="1" dirty="0" err="1" smtClean="0"/>
              <a:t>cbabbacac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773804"/>
            <a:ext cx="8496944" cy="4111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4067944" y="5733256"/>
            <a:ext cx="4572000" cy="64633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altLang="zh-TW" dirty="0"/>
              <a:t>A chain C ⊆ M is a set of points which are pairwise comparable</a:t>
            </a:r>
          </a:p>
        </p:txBody>
      </p:sp>
      <p:sp>
        <p:nvSpPr>
          <p:cNvPr id="5" name="矩形 4"/>
          <p:cNvSpPr/>
          <p:nvPr/>
        </p:nvSpPr>
        <p:spPr>
          <a:xfrm>
            <a:off x="3960612" y="3989645"/>
            <a:ext cx="9347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dirty="0"/>
              <a:t>a </a:t>
            </a:r>
            <a:r>
              <a:rPr lang="en-US" altLang="zh-TW" dirty="0" smtClean="0"/>
              <a:t>match</a:t>
            </a:r>
            <a:endParaRPr lang="en-US" altLang="zh-TW" dirty="0"/>
          </a:p>
        </p:txBody>
      </p:sp>
      <p:sp>
        <p:nvSpPr>
          <p:cNvPr id="6" name="矩形 5"/>
          <p:cNvSpPr/>
          <p:nvPr/>
        </p:nvSpPr>
        <p:spPr>
          <a:xfrm>
            <a:off x="1043608" y="2204864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Define a partial order ≪ on N × N by establishing ( k , l ) ≪ ( k’ , l’)  both k &lt; k’ and l &lt; l’.</a:t>
            </a:r>
            <a:endParaRPr lang="zh-TW" altLang="en-US" dirty="0"/>
          </a:p>
        </p:txBody>
      </p:sp>
      <p:cxnSp>
        <p:nvCxnSpPr>
          <p:cNvPr id="8" name="直線單箭頭接點 7"/>
          <p:cNvCxnSpPr>
            <a:stCxn id="5" idx="1"/>
          </p:cNvCxnSpPr>
          <p:nvPr/>
        </p:nvCxnSpPr>
        <p:spPr>
          <a:xfrm flipH="1">
            <a:off x="3563888" y="4174311"/>
            <a:ext cx="39672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4" idx="3"/>
          </p:cNvCxnSpPr>
          <p:nvPr/>
        </p:nvCxnSpPr>
        <p:spPr>
          <a:xfrm flipH="1" flipV="1">
            <a:off x="7956376" y="5229200"/>
            <a:ext cx="683568" cy="8272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5" y="4660402"/>
            <a:ext cx="2304257" cy="222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579296" cy="5141168"/>
          </a:xfrm>
        </p:spPr>
        <p:txBody>
          <a:bodyPr>
            <a:normAutofit/>
          </a:bodyPr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LCS problem is equivalent to </a:t>
            </a:r>
            <a:r>
              <a:rPr lang="en-US" altLang="zh-TW" dirty="0" smtClean="0"/>
              <a:t>finding </a:t>
            </a:r>
            <a:r>
              <a:rPr lang="en-US" altLang="zh-TW" dirty="0"/>
              <a:t>a</a:t>
            </a:r>
          </a:p>
          <a:p>
            <a:pPr>
              <a:buNone/>
            </a:pPr>
            <a:r>
              <a:rPr lang="en-US" altLang="zh-TW" dirty="0"/>
              <a:t>chain of maximum cardinality in </a:t>
            </a:r>
            <a:r>
              <a:rPr lang="en-US" altLang="zh-TW" i="1" dirty="0"/>
              <a:t>M. </a:t>
            </a:r>
            <a:endParaRPr lang="en-US" altLang="zh-TW" i="1" dirty="0" smtClean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en-US" altLang="zh-TW" dirty="0" smtClean="0"/>
              <a:t>chain </a:t>
            </a:r>
            <a:r>
              <a:rPr lang="en-US" altLang="zh-TW" dirty="0"/>
              <a:t>of maximum cardinality in </a:t>
            </a:r>
            <a:r>
              <a:rPr lang="en-US" altLang="zh-TW" i="1" dirty="0" smtClean="0"/>
              <a:t>M</a:t>
            </a:r>
          </a:p>
          <a:p>
            <a:pPr>
              <a:buNone/>
            </a:pPr>
            <a:r>
              <a:rPr lang="en-US" altLang="zh-TW" i="1" dirty="0" smtClean="0"/>
              <a:t>=</a:t>
            </a:r>
            <a:r>
              <a:rPr lang="en-US" altLang="zh-TW" dirty="0" smtClean="0">
                <a:solidFill>
                  <a:srgbClr val="FF0000"/>
                </a:solidFill>
              </a:rPr>
              <a:t>the </a:t>
            </a:r>
            <a:r>
              <a:rPr lang="en-US" altLang="zh-TW" dirty="0">
                <a:solidFill>
                  <a:srgbClr val="FF0000"/>
                </a:solidFill>
              </a:rPr>
              <a:t>minimum number of disjoint </a:t>
            </a:r>
            <a:r>
              <a:rPr lang="en-US" altLang="zh-TW" i="1" dirty="0" err="1">
                <a:solidFill>
                  <a:srgbClr val="FF0000"/>
                </a:solidFill>
              </a:rPr>
              <a:t>antichains</a:t>
            </a:r>
            <a:r>
              <a:rPr lang="en-US" altLang="zh-TW" i="1" dirty="0">
                <a:solidFill>
                  <a:srgbClr val="FF0000"/>
                </a:solidFill>
              </a:rPr>
              <a:t> </a:t>
            </a:r>
            <a:r>
              <a:rPr lang="en-US" altLang="zh-TW" i="1" dirty="0" smtClean="0">
                <a:solidFill>
                  <a:srgbClr val="FF0000"/>
                </a:solidFill>
              </a:rPr>
              <a:t>in M</a:t>
            </a:r>
          </a:p>
          <a:p>
            <a:pPr>
              <a:buNone/>
            </a:pPr>
            <a:r>
              <a:rPr lang="en-US" altLang="zh-TW" i="1" u="sng" dirty="0" smtClean="0"/>
              <a:t>(by </a:t>
            </a:r>
            <a:r>
              <a:rPr lang="en-US" altLang="zh-TW" i="1" u="sng" dirty="0"/>
              <a:t>Dilworth's fundamental theorem </a:t>
            </a:r>
            <a:r>
              <a:rPr lang="en-US" altLang="zh-TW" i="1" u="sng" dirty="0" smtClean="0"/>
              <a:t>)</a:t>
            </a:r>
          </a:p>
          <a:p>
            <a:pPr>
              <a:buNone/>
            </a:pPr>
            <a:endParaRPr lang="zh-TW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l="54767" b="14686"/>
          <a:stretch/>
        </p:blipFill>
        <p:spPr bwMode="auto">
          <a:xfrm>
            <a:off x="4283967" y="4754992"/>
            <a:ext cx="2304257" cy="2103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 New Approach to the LCS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7859216" cy="4525963"/>
          </a:xfrm>
        </p:spPr>
        <p:txBody>
          <a:bodyPr/>
          <a:lstStyle/>
          <a:p>
            <a:pPr>
              <a:buNone/>
            </a:pPr>
            <a:r>
              <a:rPr lang="en-US" altLang="zh-TW" dirty="0"/>
              <a:t>split [1 : </a:t>
            </a:r>
            <a:r>
              <a:rPr lang="en-US" altLang="zh-TW" i="1" dirty="0"/>
              <a:t>m] </a:t>
            </a:r>
            <a:r>
              <a:rPr lang="en-US" altLang="zh-TW" dirty="0" smtClean="0"/>
              <a:t>×</a:t>
            </a:r>
            <a:r>
              <a:rPr lang="en-US" altLang="zh-TW" i="1" dirty="0" smtClean="0"/>
              <a:t> </a:t>
            </a:r>
            <a:r>
              <a:rPr lang="en-US" altLang="zh-TW" i="1" dirty="0"/>
              <a:t>[1 : n] into subsets denoted by Ti, Li, Bi, </a:t>
            </a:r>
            <a:r>
              <a:rPr lang="en-US" altLang="zh-TW" i="1" dirty="0" smtClean="0"/>
              <a:t>and </a:t>
            </a:r>
            <a:r>
              <a:rPr lang="en-US" altLang="zh-TW" i="1" dirty="0" err="1" smtClean="0"/>
              <a:t>Ri</a:t>
            </a:r>
            <a:r>
              <a:rPr lang="en-US" altLang="zh-TW" i="1" dirty="0" smtClean="0"/>
              <a:t>, where</a:t>
            </a:r>
          </a:p>
          <a:p>
            <a:pPr>
              <a:buNone/>
            </a:pPr>
            <a:endParaRPr lang="en-US" altLang="zh-TW" i="1" dirty="0"/>
          </a:p>
          <a:p>
            <a:r>
              <a:rPr lang="en-US" altLang="zh-TW" sz="2500" i="1" dirty="0"/>
              <a:t>Ti := </a:t>
            </a:r>
            <a:r>
              <a:rPr lang="en-US" altLang="zh-TW" sz="2500" i="1" dirty="0" smtClean="0"/>
              <a:t>{</a:t>
            </a:r>
            <a:r>
              <a:rPr lang="en-US" altLang="zh-TW" sz="2500" i="1" dirty="0" err="1" smtClean="0"/>
              <a:t>i</a:t>
            </a:r>
            <a:r>
              <a:rPr lang="en-US" altLang="zh-TW" sz="2500" i="1" dirty="0" smtClean="0"/>
              <a:t>} </a:t>
            </a:r>
            <a:r>
              <a:rPr lang="en-US" altLang="zh-TW" sz="2500" dirty="0" smtClean="0"/>
              <a:t>×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[</a:t>
            </a:r>
            <a:r>
              <a:rPr lang="en-US" altLang="zh-TW" sz="2500" i="1" dirty="0" err="1"/>
              <a:t>i</a:t>
            </a:r>
            <a:r>
              <a:rPr lang="en-US" altLang="zh-TW" sz="2500" i="1" dirty="0"/>
              <a:t> : n + 1 </a:t>
            </a:r>
            <a:r>
              <a:rPr lang="en-US" altLang="zh-TW" sz="2500" i="1" dirty="0" smtClean="0"/>
              <a:t>- </a:t>
            </a:r>
            <a:r>
              <a:rPr lang="en-US" altLang="zh-TW" sz="2500" i="1" dirty="0" err="1"/>
              <a:t>i</a:t>
            </a:r>
            <a:r>
              <a:rPr lang="en-US" altLang="zh-TW" sz="2500" i="1" dirty="0" smtClean="0"/>
              <a:t>]</a:t>
            </a:r>
            <a:endParaRPr lang="en-US" altLang="zh-TW" sz="2500" i="1" dirty="0"/>
          </a:p>
          <a:p>
            <a:r>
              <a:rPr lang="it-IT" altLang="zh-TW" sz="2500" i="1" dirty="0"/>
              <a:t>Li := [i + 1 : m + 1 </a:t>
            </a:r>
            <a:r>
              <a:rPr lang="it-IT" altLang="zh-TW" sz="2500" i="1" dirty="0" smtClean="0"/>
              <a:t>- </a:t>
            </a:r>
            <a:r>
              <a:rPr lang="it-IT" altLang="zh-TW" sz="2500" i="1" dirty="0"/>
              <a:t>i] </a:t>
            </a:r>
            <a:r>
              <a:rPr lang="en-US" altLang="zh-TW" sz="2500" dirty="0" smtClean="0"/>
              <a:t>×</a:t>
            </a:r>
            <a:r>
              <a:rPr lang="it-IT" altLang="zh-TW" sz="2500" i="1" dirty="0" smtClean="0"/>
              <a:t> {i}</a:t>
            </a:r>
            <a:endParaRPr lang="en-US" altLang="zh-TW" sz="2500" i="1" dirty="0" smtClean="0"/>
          </a:p>
          <a:p>
            <a:r>
              <a:rPr lang="en-US" altLang="zh-TW" sz="2500" i="1" dirty="0" smtClean="0"/>
              <a:t>Bi </a:t>
            </a:r>
            <a:r>
              <a:rPr lang="en-US" altLang="zh-TW" sz="2500" i="1" dirty="0"/>
              <a:t>:= </a:t>
            </a:r>
            <a:r>
              <a:rPr lang="en-US" altLang="zh-TW" sz="2500" i="1" dirty="0" smtClean="0"/>
              <a:t>{m </a:t>
            </a:r>
            <a:r>
              <a:rPr lang="en-US" altLang="zh-TW" sz="2500" i="1" dirty="0"/>
              <a:t>+ 1 </a:t>
            </a:r>
            <a:r>
              <a:rPr lang="en-US" altLang="zh-TW" sz="2500" i="1" dirty="0" smtClean="0"/>
              <a:t>– </a:t>
            </a:r>
            <a:r>
              <a:rPr lang="en-US" altLang="zh-TW" sz="2500" i="1" dirty="0" err="1" smtClean="0"/>
              <a:t>i</a:t>
            </a:r>
            <a:r>
              <a:rPr lang="en-US" altLang="zh-TW" sz="2500" i="1" dirty="0" smtClean="0"/>
              <a:t>} </a:t>
            </a:r>
            <a:r>
              <a:rPr lang="en-US" altLang="zh-TW" sz="2500" dirty="0" smtClean="0"/>
              <a:t>×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[</a:t>
            </a:r>
            <a:r>
              <a:rPr lang="en-US" altLang="zh-TW" sz="2500" i="1" dirty="0" err="1"/>
              <a:t>i</a:t>
            </a:r>
            <a:r>
              <a:rPr lang="en-US" altLang="zh-TW" sz="2500" i="1" dirty="0"/>
              <a:t> + 1 : n + 1 </a:t>
            </a:r>
            <a:r>
              <a:rPr lang="en-US" altLang="zh-TW" sz="2500" i="1" dirty="0" smtClean="0"/>
              <a:t>- </a:t>
            </a:r>
            <a:r>
              <a:rPr lang="en-US" altLang="zh-TW" sz="2500" i="1" dirty="0" err="1"/>
              <a:t>i</a:t>
            </a:r>
            <a:r>
              <a:rPr lang="en-US" altLang="zh-TW" sz="2500" i="1" dirty="0" smtClean="0"/>
              <a:t>]</a:t>
            </a:r>
          </a:p>
          <a:p>
            <a:r>
              <a:rPr lang="en-US" altLang="zh-TW" sz="2500" i="1" dirty="0" err="1" smtClean="0"/>
              <a:t>Ri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:= [</a:t>
            </a:r>
            <a:r>
              <a:rPr lang="en-US" altLang="zh-TW" sz="2500" i="1" dirty="0" err="1"/>
              <a:t>i</a:t>
            </a:r>
            <a:r>
              <a:rPr lang="en-US" altLang="zh-TW" sz="2500" i="1" dirty="0"/>
              <a:t> + 1 : m </a:t>
            </a:r>
            <a:r>
              <a:rPr lang="en-US" altLang="zh-TW" sz="2500" i="1" dirty="0" smtClean="0"/>
              <a:t>- </a:t>
            </a:r>
            <a:r>
              <a:rPr lang="en-US" altLang="zh-TW" sz="2500" i="1" dirty="0" err="1"/>
              <a:t>i</a:t>
            </a:r>
            <a:r>
              <a:rPr lang="en-US" altLang="zh-TW" sz="2500" i="1" dirty="0"/>
              <a:t>] </a:t>
            </a:r>
            <a:r>
              <a:rPr lang="en-US" altLang="zh-TW" sz="2500" dirty="0" smtClean="0"/>
              <a:t>×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{</a:t>
            </a:r>
            <a:r>
              <a:rPr lang="en-US" altLang="zh-TW" sz="2500" i="1" dirty="0" smtClean="0"/>
              <a:t>n </a:t>
            </a:r>
            <a:r>
              <a:rPr lang="en-US" altLang="zh-TW" sz="2500" i="1" dirty="0"/>
              <a:t>+ 1 </a:t>
            </a:r>
            <a:r>
              <a:rPr lang="en-US" altLang="zh-TW" sz="2500" i="1" dirty="0" smtClean="0"/>
              <a:t>– </a:t>
            </a:r>
            <a:r>
              <a:rPr lang="en-US" altLang="zh-TW" sz="2500" i="1" dirty="0" err="1" smtClean="0"/>
              <a:t>i</a:t>
            </a:r>
            <a:r>
              <a:rPr lang="en-US" altLang="zh-TW" sz="2500" i="1" dirty="0" smtClean="0"/>
              <a:t>}</a:t>
            </a:r>
            <a:endParaRPr lang="zh-TW" altLang="en-US" sz="25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 l="6407" r="7460"/>
          <a:stretch>
            <a:fillRect/>
          </a:stretch>
        </p:blipFill>
        <p:spPr bwMode="auto">
          <a:xfrm>
            <a:off x="5004048" y="2348880"/>
            <a:ext cx="4139952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 New Approach to the LCS Problem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We use </a:t>
                </a:r>
                <a:r>
                  <a:rPr lang="en-US" altLang="zh-TW" b="1" i="1" dirty="0" err="1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b="1" i="1" baseline="-25000" dirty="0" err="1" smtClean="0">
                    <a:solidFill>
                      <a:srgbClr val="FF0000"/>
                    </a:solidFill>
                  </a:rPr>
                  <a:t>u</a:t>
                </a:r>
                <a:r>
                  <a:rPr lang="en-US" altLang="zh-TW" b="1" i="1" baseline="30000" dirty="0" err="1" smtClean="0">
                    <a:solidFill>
                      <a:srgbClr val="FF0000"/>
                    </a:solidFill>
                  </a:rPr>
                  <a:t>T,i</a:t>
                </a:r>
                <a:r>
                  <a:rPr lang="en-US" altLang="zh-TW" i="1" dirty="0" smtClean="0"/>
                  <a:t/>
                </a:r>
                <a:r>
                  <a:rPr lang="en-US" altLang="zh-TW" i="1" dirty="0"/>
                  <a:t>to denote an </a:t>
                </a:r>
                <a:r>
                  <a:rPr lang="en-US" altLang="zh-TW" i="1" dirty="0" err="1"/>
                  <a:t>antichain</a:t>
                </a:r>
                <a:r>
                  <a:rPr lang="en-US" altLang="zh-TW" i="1" dirty="0"/>
                  <a:t/>
                </a:r>
                <a:r>
                  <a:rPr lang="en-US" altLang="zh-TW" i="1" dirty="0" smtClean="0"/>
                  <a:t>in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30000" dirty="0" err="1" smtClean="0"/>
                  <a:t>T,i</a:t>
                </a:r>
                <a:r>
                  <a:rPr lang="en-US" altLang="zh-TW" i="1" dirty="0"/>
                  <a:t>, where u is an index between 1 and the size </a:t>
                </a:r>
                <a:r>
                  <a:rPr lang="en-US" altLang="zh-TW" b="1" i="1" dirty="0" err="1" smtClean="0">
                    <a:solidFill>
                      <a:srgbClr val="FF0000"/>
                    </a:solidFill>
                  </a:rPr>
                  <a:t>e</a:t>
                </a:r>
                <a:r>
                  <a:rPr lang="en-US" altLang="zh-TW" b="1" i="1" baseline="30000" dirty="0" err="1" smtClean="0">
                    <a:solidFill>
                      <a:srgbClr val="FF0000"/>
                    </a:solidFill>
                  </a:rPr>
                  <a:t>T,i</a:t>
                </a:r>
                <a:r>
                  <a:rPr lang="en-US" altLang="zh-TW" b="1" i="1" baseline="30000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i="1" dirty="0"/>
                  <a:t>:= </a:t>
                </a:r>
                <a:r>
                  <a:rPr lang="en-US" altLang="zh-TW" i="1" dirty="0" smtClean="0"/>
                  <a:t>|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30000" dirty="0" err="1" smtClean="0"/>
                  <a:t>T,i</a:t>
                </a:r>
                <a:r>
                  <a:rPr lang="en-US" altLang="zh-TW" i="1" dirty="0"/>
                  <a:t>|</a:t>
                </a:r>
                <a:r>
                  <a:rPr lang="en-US" altLang="zh-TW" i="1" dirty="0" smtClean="0"/>
                  <a:t/>
                </a:r>
                <a:r>
                  <a:rPr lang="en-US" altLang="zh-TW" i="1" dirty="0"/>
                  <a:t>of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30000" dirty="0" err="1" smtClean="0"/>
                  <a:t>T,i</a:t>
                </a:r>
                <a:r>
                  <a:rPr lang="en-US" altLang="zh-TW" i="1" dirty="0" smtClean="0"/>
                  <a:t>.(</a:t>
                </a:r>
                <a:r>
                  <a:rPr lang="da-DK" altLang="zh-TW" i="1" dirty="0" smtClean="0"/>
                  <a:t>i </a:t>
                </a:r>
                <a:r>
                  <a:rPr lang="da-DK" altLang="zh-TW" i="1" dirty="0"/>
                  <a:t>= </a:t>
                </a:r>
                <a:r>
                  <a:rPr lang="da-DK" altLang="zh-TW" i="1" dirty="0" smtClean="0"/>
                  <a:t>1, 2 ,. . . . </a:t>
                </a:r>
                <a14:m>
                  <m:oMath xmlns:m="http://schemas.openxmlformats.org/officeDocument/2006/math">
                    <m:r>
                      <a:rPr lang="da-DK" altLang="zh-TW" i="1" dirty="0" smtClean="0"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dirty="0" smtClean="0"/>
                  <a:t>m/2</a:t>
                </a:r>
                <a:r>
                  <a:rPr lang="da-DK" altLang="zh-TW" i="1" dirty="0">
                    <a:latin typeface="Cambria Math"/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dirty="0"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i="1" dirty="0" smtClean="0"/>
                  <a:t>)</a:t>
                </a:r>
              </a:p>
              <a:p>
                <a:r>
                  <a:rPr lang="en-US" altLang="zh-TW" dirty="0" smtClean="0"/>
                  <a:t>For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30000" dirty="0" err="1" smtClean="0"/>
                  <a:t>L,i</a:t>
                </a:r>
                <a:r>
                  <a:rPr lang="en-US" altLang="zh-TW" i="1" dirty="0"/>
                  <a:t>,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30000" dirty="0" err="1" smtClean="0"/>
                  <a:t>B,i</a:t>
                </a:r>
                <a:r>
                  <a:rPr lang="en-US" altLang="zh-TW" i="1" dirty="0"/>
                  <a:t>, and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30000" dirty="0" err="1" smtClean="0"/>
                  <a:t>R,i</a:t>
                </a:r>
                <a:r>
                  <a:rPr lang="en-US" altLang="zh-TW" i="1" dirty="0"/>
                  <a:t>, we introduce </a:t>
                </a:r>
                <a:r>
                  <a:rPr lang="en-US" altLang="zh-TW" i="1" dirty="0" smtClean="0"/>
                  <a:t>analogous </a:t>
                </a:r>
                <a:r>
                  <a:rPr lang="en-US" altLang="zh-TW" dirty="0" smtClean="0"/>
                  <a:t>notations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/>
          <p:cNvGrpSpPr/>
          <p:nvPr/>
        </p:nvGrpSpPr>
        <p:grpSpPr>
          <a:xfrm>
            <a:off x="467544" y="3789040"/>
            <a:ext cx="8617094" cy="3068960"/>
            <a:chOff x="467544" y="3789040"/>
            <a:chExt cx="8617094" cy="3068960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67544" y="4105121"/>
              <a:ext cx="2664296" cy="27528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16016" y="4285755"/>
              <a:ext cx="2520280" cy="2572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文字方塊 7"/>
            <p:cNvSpPr txBox="1"/>
            <p:nvPr/>
          </p:nvSpPr>
          <p:spPr>
            <a:xfrm>
              <a:off x="3203848" y="4581128"/>
              <a:ext cx="165618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altLang="zh-TW" i="1" dirty="0" smtClean="0"/>
                <a:t>i = </a:t>
              </a:r>
              <a:r>
                <a:rPr lang="en-US" altLang="zh-TW" dirty="0" smtClean="0"/>
                <a:t>1</a:t>
              </a:r>
            </a:p>
            <a:p>
              <a:endParaRPr lang="en-US" altLang="zh-TW" b="1" i="1" dirty="0" smtClean="0"/>
            </a:p>
            <a:p>
              <a:r>
                <a:rPr lang="en-US" altLang="zh-TW" b="1" i="1" dirty="0" smtClean="0"/>
                <a:t>e</a:t>
              </a:r>
              <a:r>
                <a:rPr lang="en-US" altLang="zh-TW" b="1" i="1" baseline="30000" dirty="0" smtClean="0"/>
                <a:t>T,1</a:t>
              </a:r>
              <a:r>
                <a:rPr lang="en-US" altLang="zh-TW" i="1" dirty="0" smtClean="0"/>
                <a:t>:= |A</a:t>
              </a:r>
              <a:r>
                <a:rPr lang="en-US" altLang="zh-TW" i="1" baseline="30000" dirty="0" smtClean="0"/>
                <a:t>T,1</a:t>
              </a:r>
              <a:r>
                <a:rPr lang="en-US" altLang="zh-TW" i="1" dirty="0" smtClean="0"/>
                <a:t>|=1</a:t>
              </a:r>
            </a:p>
            <a:p>
              <a:r>
                <a:rPr lang="en-US" altLang="zh-TW" i="1" dirty="0" smtClean="0"/>
                <a:t>.</a:t>
              </a:r>
            </a:p>
            <a:p>
              <a:r>
                <a:rPr lang="en-US" altLang="zh-TW" i="1" dirty="0" smtClean="0"/>
                <a:t>.</a:t>
              </a:r>
            </a:p>
            <a:p>
              <a:r>
                <a:rPr lang="en-US" altLang="zh-TW" i="1" dirty="0"/>
                <a:t>.</a:t>
              </a:r>
              <a:endParaRPr lang="en-US" altLang="zh-TW" dirty="0" smtClean="0"/>
            </a:p>
            <a:p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308304" y="4549676"/>
              <a:ext cx="165618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altLang="zh-TW" i="1" dirty="0" smtClean="0"/>
                <a:t>i = </a:t>
              </a:r>
              <a:r>
                <a:rPr lang="en-US" altLang="zh-TW" dirty="0"/>
                <a:t>2</a:t>
              </a:r>
              <a:endParaRPr lang="en-US" altLang="zh-TW" dirty="0" smtClean="0"/>
            </a:p>
            <a:p>
              <a:endParaRPr lang="en-US" altLang="zh-TW" b="1" i="1" dirty="0" smtClean="0"/>
            </a:p>
            <a:p>
              <a:r>
                <a:rPr lang="en-US" altLang="zh-TW" b="1" i="1" dirty="0" smtClean="0"/>
                <a:t>e</a:t>
              </a:r>
              <a:r>
                <a:rPr lang="en-US" altLang="zh-TW" b="1" i="1" baseline="30000" dirty="0" smtClean="0"/>
                <a:t>T,2</a:t>
              </a:r>
              <a:r>
                <a:rPr lang="en-US" altLang="zh-TW" i="1" dirty="0" smtClean="0"/>
                <a:t>:= |A</a:t>
              </a:r>
              <a:r>
                <a:rPr lang="en-US" altLang="zh-TW" i="1" baseline="30000" dirty="0" smtClean="0"/>
                <a:t>T,2</a:t>
              </a:r>
              <a:r>
                <a:rPr lang="en-US" altLang="zh-TW" i="1" dirty="0" smtClean="0"/>
                <a:t>|=2</a:t>
              </a:r>
            </a:p>
            <a:p>
              <a:r>
                <a:rPr lang="en-US" altLang="zh-TW" i="1" dirty="0" smtClean="0"/>
                <a:t>.</a:t>
              </a:r>
            </a:p>
            <a:p>
              <a:r>
                <a:rPr lang="en-US" altLang="zh-TW" i="1" dirty="0" smtClean="0"/>
                <a:t>.</a:t>
              </a:r>
            </a:p>
            <a:p>
              <a:r>
                <a:rPr lang="en-US" altLang="zh-TW" i="1" dirty="0"/>
                <a:t>.</a:t>
              </a:r>
              <a:endParaRPr lang="en-US" altLang="zh-TW" dirty="0" smtClean="0"/>
            </a:p>
            <a:p>
              <a:endParaRPr lang="zh-TW" altLang="en-US" dirty="0"/>
            </a:p>
          </p:txBody>
        </p:sp>
        <p:cxnSp>
          <p:nvCxnSpPr>
            <p:cNvPr id="11" name="直線單箭頭接點 10"/>
            <p:cNvCxnSpPr>
              <a:stCxn id="14" idx="2"/>
            </p:cNvCxnSpPr>
            <p:nvPr/>
          </p:nvCxnSpPr>
          <p:spPr>
            <a:xfrm flipH="1">
              <a:off x="6209991" y="4158372"/>
              <a:ext cx="366300" cy="13588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字方塊 13"/>
            <p:cNvSpPr txBox="1"/>
            <p:nvPr/>
          </p:nvSpPr>
          <p:spPr>
            <a:xfrm>
              <a:off x="4067944" y="3789040"/>
              <a:ext cx="501669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b="1" dirty="0"/>
                <a:t>remaining part of </a:t>
              </a:r>
              <a:r>
                <a:rPr lang="en-US" altLang="zh-TW" b="1" i="1" dirty="0"/>
                <a:t>M which has not been processed</a:t>
              </a:r>
              <a:endParaRPr lang="zh-TW" altLang="en-US" b="1" dirty="0"/>
            </a:p>
          </p:txBody>
        </p:sp>
        <p:cxnSp>
          <p:nvCxnSpPr>
            <p:cNvPr id="17" name="直線單箭頭接點 16"/>
            <p:cNvCxnSpPr>
              <a:stCxn id="14" idx="1"/>
            </p:cNvCxnSpPr>
            <p:nvPr/>
          </p:nvCxnSpPr>
          <p:spPr>
            <a:xfrm flipH="1">
              <a:off x="2195736" y="3973706"/>
              <a:ext cx="1872208" cy="13995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 New Approach to the LCS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598066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500" dirty="0" smtClean="0"/>
              <a:t>there </a:t>
            </a:r>
            <a:r>
              <a:rPr lang="en-US" altLang="zh-TW" sz="2500" dirty="0"/>
              <a:t>are two </a:t>
            </a:r>
            <a:r>
              <a:rPr lang="en-US" altLang="zh-TW" sz="2500" i="1" dirty="0"/>
              <a:t>start indices </a:t>
            </a:r>
            <a:r>
              <a:rPr lang="en-US" altLang="zh-TW" sz="2500" i="1" dirty="0" err="1" smtClean="0"/>
              <a:t>s</a:t>
            </a:r>
            <a:r>
              <a:rPr lang="en-US" altLang="zh-TW" sz="2500" i="1" baseline="30000" dirty="0" err="1" smtClean="0"/>
              <a:t>TL,i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and </a:t>
            </a:r>
            <a:r>
              <a:rPr lang="en-US" altLang="zh-TW" sz="2500" i="1" dirty="0" err="1" smtClean="0"/>
              <a:t>s</a:t>
            </a:r>
            <a:r>
              <a:rPr lang="en-US" altLang="zh-TW" sz="2500" i="1" baseline="30000" dirty="0" err="1" smtClean="0"/>
              <a:t>BR,i</a:t>
            </a:r>
            <a:r>
              <a:rPr lang="en-US" altLang="zh-TW" sz="2500" i="1" dirty="0"/>
              <a:t>. </a:t>
            </a:r>
            <a:endParaRPr lang="en-US" altLang="zh-TW" sz="2500" i="1" dirty="0" smtClean="0"/>
          </a:p>
          <a:p>
            <a:r>
              <a:rPr lang="en-US" altLang="zh-TW" sz="2500" i="1" dirty="0" err="1" smtClean="0"/>
              <a:t>s</a:t>
            </a:r>
            <a:r>
              <a:rPr lang="en-US" altLang="zh-TW" sz="2500" i="1" baseline="30000" dirty="0" err="1" smtClean="0"/>
              <a:t>TL,i</a:t>
            </a:r>
            <a:r>
              <a:rPr lang="en-US" altLang="zh-TW" sz="2500" i="1" baseline="30000" dirty="0" smtClean="0"/>
              <a:t>   </a:t>
            </a:r>
            <a:r>
              <a:rPr lang="en-US" altLang="zh-TW" sz="2500" dirty="0" smtClean="0"/>
              <a:t>: used </a:t>
            </a:r>
            <a:r>
              <a:rPr lang="en-US" altLang="zh-TW" sz="2500" dirty="0"/>
              <a:t>to split both </a:t>
            </a:r>
            <a:r>
              <a:rPr lang="en-US" altLang="zh-TW" sz="2500" i="1" dirty="0" err="1" smtClean="0"/>
              <a:t>A</a:t>
            </a:r>
            <a:r>
              <a:rPr lang="en-US" altLang="zh-TW" sz="2500" i="1" baseline="30000" dirty="0" err="1" smtClean="0"/>
              <a:t>T,i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and </a:t>
            </a:r>
            <a:r>
              <a:rPr lang="en-US" altLang="zh-TW" sz="2500" i="1" dirty="0" err="1" smtClean="0"/>
              <a:t>A</a:t>
            </a:r>
            <a:r>
              <a:rPr lang="en-US" altLang="zh-TW" sz="2500" i="1" baseline="30000" dirty="0" err="1" smtClean="0"/>
              <a:t>L,i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into two parts. </a:t>
            </a:r>
            <a:r>
              <a:rPr lang="en-US" altLang="zh-TW" sz="2500" i="1" dirty="0" smtClean="0"/>
              <a:t>And Only </a:t>
            </a:r>
            <a:r>
              <a:rPr lang="en-US" altLang="zh-TW" sz="2500" i="1" dirty="0"/>
              <a:t>the latter </a:t>
            </a:r>
            <a:r>
              <a:rPr lang="en-US" altLang="zh-TW" sz="2500" i="1" dirty="0" smtClean="0"/>
              <a:t>part </a:t>
            </a:r>
            <a:r>
              <a:rPr lang="en-US" altLang="zh-TW" sz="2500" dirty="0" smtClean="0"/>
              <a:t>will </a:t>
            </a:r>
            <a:r>
              <a:rPr lang="en-US" altLang="zh-TW" sz="2500" dirty="0"/>
              <a:t>be used for the updating </a:t>
            </a:r>
            <a:r>
              <a:rPr lang="en-US" altLang="zh-TW" sz="2500" dirty="0" smtClean="0"/>
              <a:t>process</a:t>
            </a:r>
            <a:r>
              <a:rPr lang="en-US" altLang="zh-TW" sz="2500" dirty="0"/>
              <a:t> </a:t>
            </a:r>
            <a:r>
              <a:rPr lang="en-US" altLang="zh-TW" sz="2500" dirty="0" smtClean="0"/>
              <a:t>,whereas </a:t>
            </a:r>
            <a:r>
              <a:rPr lang="en-US" altLang="zh-TW" sz="2500" dirty="0"/>
              <a:t>the former one will be copied to </a:t>
            </a:r>
            <a:r>
              <a:rPr lang="en-US" altLang="zh-TW" sz="2500" i="1" dirty="0" smtClean="0"/>
              <a:t>A</a:t>
            </a:r>
            <a:r>
              <a:rPr lang="en-US" altLang="zh-TW" sz="2500" i="1" baseline="30000" dirty="0" smtClean="0"/>
              <a:t>T,i+1</a:t>
            </a:r>
            <a:endParaRPr lang="en-US" altLang="zh-TW" sz="2500" i="1" baseline="30000" dirty="0"/>
          </a:p>
          <a:p>
            <a:pPr>
              <a:buNone/>
            </a:pPr>
            <a:r>
              <a:rPr lang="en-US" altLang="zh-TW" sz="2500" i="1" dirty="0"/>
              <a:t>(</a:t>
            </a:r>
            <a:r>
              <a:rPr lang="en-US" altLang="zh-TW" sz="2500" i="1" dirty="0" smtClean="0"/>
              <a:t> </a:t>
            </a:r>
            <a:r>
              <a:rPr lang="en-US" altLang="zh-TW" sz="2500" i="1" dirty="0" err="1" smtClean="0"/>
              <a:t>s</a:t>
            </a:r>
            <a:r>
              <a:rPr lang="en-US" altLang="zh-TW" sz="2500" i="1" baseline="30000" dirty="0" err="1" smtClean="0"/>
              <a:t>BR,i</a:t>
            </a:r>
            <a:r>
              <a:rPr lang="en-US" altLang="zh-TW" sz="2500" i="1" dirty="0" smtClean="0"/>
              <a:t> </a:t>
            </a:r>
            <a:r>
              <a:rPr lang="en-US" altLang="zh-TW" sz="2500" i="1" dirty="0"/>
              <a:t>similarly splits </a:t>
            </a:r>
            <a:r>
              <a:rPr lang="en-US" altLang="zh-TW" sz="2500" i="1" dirty="0" err="1" smtClean="0"/>
              <a:t>A</a:t>
            </a:r>
            <a:r>
              <a:rPr lang="en-US" altLang="zh-TW" sz="2500" i="1" baseline="30000" dirty="0" err="1" smtClean="0"/>
              <a:t>B,i</a:t>
            </a:r>
            <a:r>
              <a:rPr lang="en-US" altLang="zh-TW" sz="2500" i="1" baseline="30000" dirty="0" smtClean="0"/>
              <a:t> </a:t>
            </a:r>
            <a:r>
              <a:rPr lang="en-US" altLang="zh-TW" sz="2500" i="1" dirty="0"/>
              <a:t>and </a:t>
            </a:r>
            <a:r>
              <a:rPr lang="en-US" altLang="zh-TW" sz="2500" i="1" dirty="0" err="1" smtClean="0"/>
              <a:t>A</a:t>
            </a:r>
            <a:r>
              <a:rPr lang="en-US" altLang="zh-TW" sz="2500" i="1" baseline="30000" dirty="0" err="1" smtClean="0"/>
              <a:t>R,i</a:t>
            </a:r>
            <a:r>
              <a:rPr lang="en-US" altLang="zh-TW" sz="2500" i="1" dirty="0" smtClean="0"/>
              <a:t>)</a:t>
            </a:r>
            <a:endParaRPr lang="zh-TW" altLang="en-US" sz="2500" dirty="0"/>
          </a:p>
        </p:txBody>
      </p:sp>
      <p:grpSp>
        <p:nvGrpSpPr>
          <p:cNvPr id="4" name="群組 3"/>
          <p:cNvGrpSpPr/>
          <p:nvPr/>
        </p:nvGrpSpPr>
        <p:grpSpPr>
          <a:xfrm>
            <a:off x="107505" y="3690265"/>
            <a:ext cx="3420379" cy="3267127"/>
            <a:chOff x="107505" y="3590873"/>
            <a:chExt cx="3420379" cy="3267127"/>
          </a:xfrm>
        </p:grpSpPr>
        <p:pic>
          <p:nvPicPr>
            <p:cNvPr id="6148" name="Picture 4"/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l="902" r="55666"/>
            <a:stretch/>
          </p:blipFill>
          <p:spPr bwMode="auto">
            <a:xfrm>
              <a:off x="107505" y="3590873"/>
              <a:ext cx="3420379" cy="3267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橢圓 6"/>
            <p:cNvSpPr/>
            <p:nvPr/>
          </p:nvSpPr>
          <p:spPr>
            <a:xfrm>
              <a:off x="2699792" y="4005064"/>
              <a:ext cx="648072" cy="64807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5600970" y="3573016"/>
            <a:ext cx="3435526" cy="3277207"/>
            <a:chOff x="5600970" y="3580793"/>
            <a:chExt cx="3435526" cy="3277207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0970" y="3580793"/>
              <a:ext cx="3435526" cy="32772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橢圓 8"/>
            <p:cNvSpPr/>
            <p:nvPr/>
          </p:nvSpPr>
          <p:spPr>
            <a:xfrm>
              <a:off x="8172400" y="3950547"/>
              <a:ext cx="648072" cy="64807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文字方塊 7"/>
          <p:cNvSpPr txBox="1"/>
          <p:nvPr/>
        </p:nvSpPr>
        <p:spPr>
          <a:xfrm>
            <a:off x="3561028" y="3861048"/>
            <a:ext cx="2679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i="1" dirty="0" smtClean="0">
                <a:solidFill>
                  <a:srgbClr val="FF0000"/>
                </a:solidFill>
              </a:rPr>
              <a:t>For example:</a:t>
            </a:r>
          </a:p>
          <a:p>
            <a:r>
              <a:rPr lang="en-US" altLang="zh-TW" i="1" dirty="0" smtClean="0">
                <a:solidFill>
                  <a:srgbClr val="FF0000"/>
                </a:solidFill>
              </a:rPr>
              <a:t>s</a:t>
            </a:r>
            <a:r>
              <a:rPr lang="en-US" altLang="zh-TW" i="1" baseline="30000" dirty="0" smtClean="0">
                <a:solidFill>
                  <a:srgbClr val="FF0000"/>
                </a:solidFill>
              </a:rPr>
              <a:t>TL,</a:t>
            </a:r>
            <a:r>
              <a:rPr lang="en-US" altLang="zh-TW" i="1" baseline="30000" dirty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=2;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For any  </a:t>
            </a:r>
            <a:r>
              <a:rPr lang="en-US" altLang="zh-TW" b="1" i="1" dirty="0" smtClean="0">
                <a:solidFill>
                  <a:srgbClr val="FF0000"/>
                </a:solidFill>
              </a:rPr>
              <a:t>A</a:t>
            </a:r>
            <a:r>
              <a:rPr lang="en-US" altLang="zh-TW" b="1" i="1" baseline="-25000" dirty="0" smtClean="0">
                <a:solidFill>
                  <a:srgbClr val="FF0000"/>
                </a:solidFill>
              </a:rPr>
              <a:t>k</a:t>
            </a:r>
            <a:r>
              <a:rPr lang="en-US" altLang="zh-TW" b="1" i="1" baseline="30000" dirty="0" smtClean="0">
                <a:solidFill>
                  <a:srgbClr val="FF0000"/>
                </a:solidFill>
              </a:rPr>
              <a:t>T,3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dirty="0">
                <a:solidFill>
                  <a:srgbClr val="FF0000"/>
                </a:solidFill>
              </a:rPr>
              <a:t>k</a:t>
            </a:r>
            <a:r>
              <a:rPr lang="en-US" altLang="zh-TW" dirty="0" smtClean="0">
                <a:solidFill>
                  <a:srgbClr val="FF0000"/>
                </a:solidFill>
              </a:rPr>
              <a:t>&lt;2)</a:t>
            </a:r>
          </a:p>
          <a:p>
            <a:r>
              <a:rPr lang="en-US" altLang="zh-TW" b="1" i="1" dirty="0" smtClean="0">
                <a:solidFill>
                  <a:srgbClr val="FF0000"/>
                </a:solidFill>
              </a:rPr>
              <a:t>A</a:t>
            </a:r>
            <a:r>
              <a:rPr lang="en-US" altLang="zh-TW" b="1" i="1" baseline="-25000" dirty="0">
                <a:solidFill>
                  <a:srgbClr val="FF0000"/>
                </a:solidFill>
              </a:rPr>
              <a:t>k</a:t>
            </a:r>
            <a:r>
              <a:rPr lang="en-US" altLang="zh-TW" b="1" i="1" baseline="30000" dirty="0" smtClean="0">
                <a:solidFill>
                  <a:srgbClr val="FF0000"/>
                </a:solidFill>
              </a:rPr>
              <a:t>T,3 </a:t>
            </a:r>
            <a:r>
              <a:rPr lang="en-US" altLang="zh-TW" dirty="0" smtClean="0">
                <a:solidFill>
                  <a:srgbClr val="FF0000"/>
                </a:solidFill>
              </a:rPr>
              <a:t>=</a:t>
            </a:r>
            <a:r>
              <a:rPr lang="en-US" altLang="zh-TW" b="1" i="1" dirty="0" smtClean="0">
                <a:solidFill>
                  <a:srgbClr val="FF0000"/>
                </a:solidFill>
              </a:rPr>
              <a:t> A</a:t>
            </a:r>
            <a:r>
              <a:rPr lang="en-US" altLang="zh-TW" b="1" i="1" baseline="-25000" dirty="0" smtClean="0">
                <a:solidFill>
                  <a:srgbClr val="FF0000"/>
                </a:solidFill>
              </a:rPr>
              <a:t>k</a:t>
            </a:r>
            <a:r>
              <a:rPr lang="en-US" altLang="zh-TW" b="1" i="1" baseline="30000" dirty="0" smtClean="0">
                <a:solidFill>
                  <a:srgbClr val="FF0000"/>
                </a:solidFill>
              </a:rPr>
              <a:t>T,2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 New Approach to the LCS Problem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9971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dirty="0"/>
                  <a:t>For two </a:t>
                </a:r>
                <a:r>
                  <a:rPr lang="en-US" altLang="zh-TW" dirty="0" err="1"/>
                  <a:t>antichains</a:t>
                </a:r>
                <a:r>
                  <a:rPr lang="en-US" altLang="zh-TW" dirty="0"/>
                  <a:t/>
                </a:r>
                <a:r>
                  <a:rPr lang="en-US" altLang="zh-TW" dirty="0" smtClean="0"/>
                  <a:t/>
                </a:r>
                <a:r>
                  <a:rPr lang="en-US" altLang="zh-TW" i="1" dirty="0" smtClean="0"/>
                  <a:t>C,D </a:t>
                </a:r>
                <a:r>
                  <a:rPr lang="zh-TW" altLang="en-US" dirty="0" smtClean="0"/>
                  <a:t>⊆ </a:t>
                </a:r>
                <a:r>
                  <a:rPr lang="en-US" altLang="zh-TW" i="1" dirty="0" smtClean="0"/>
                  <a:t>M </a:t>
                </a:r>
              </a:p>
              <a:p>
                <a:pPr marL="0" indent="0">
                  <a:buNone/>
                </a:pPr>
                <a:r>
                  <a:rPr lang="zh-TW" altLang="en-US" i="1" dirty="0" smtClean="0"/>
                  <a:t/>
                </a:r>
                <a:r>
                  <a:rPr lang="en-US" altLang="zh-TW" sz="2000" i="1" dirty="0" smtClean="0"/>
                  <a:t>the set IP(C,D</a:t>
                </a:r>
                <a:r>
                  <a:rPr lang="en-US" altLang="zh-TW" sz="2000" i="1" dirty="0"/>
                  <a:t>) := </a:t>
                </a:r>
                <a:endParaRPr lang="en-US" altLang="zh-TW" sz="2000" i="1" dirty="0" smtClean="0"/>
              </a:p>
              <a:p>
                <a:pPr marL="0" indent="0">
                  <a:buNone/>
                </a:pPr>
                <a:r>
                  <a:rPr lang="en-US" altLang="zh-TW" sz="2000" i="1" dirty="0" smtClean="0"/>
                  <a:t>	{ p</a:t>
                </a:r>
                <a:r>
                  <a:rPr lang="en-US" altLang="zh-TW" sz="2000" i="1" baseline="-25000" dirty="0" smtClean="0"/>
                  <a:t>1</a:t>
                </a:r>
                <a:r>
                  <a:rPr lang="en-US" altLang="zh-TW" sz="2000" i="1" dirty="0" smtClean="0"/>
                  <a:t/>
                </a:r>
                <a:r>
                  <a:rPr lang="zh-TW" altLang="en-US" sz="2000" dirty="0" smtClean="0"/>
                  <a:t>∈ </a:t>
                </a:r>
                <a:r>
                  <a:rPr lang="en-US" altLang="zh-TW" sz="2000" i="1" dirty="0" smtClean="0"/>
                  <a:t>C</a:t>
                </a:r>
                <a:r>
                  <a:rPr lang="en-US" altLang="zh-TW" sz="2000" dirty="0" smtClean="0"/>
                  <a:t> |</a:t>
                </a:r>
                <a:r>
                  <a:rPr lang="zh-TW" altLang="en-US" sz="2000" dirty="0"/>
                  <a:t>∀</a:t>
                </a:r>
                <a:r>
                  <a:rPr lang="en-US" altLang="zh-TW" sz="2000" i="1" dirty="0" smtClean="0"/>
                  <a:t>p</a:t>
                </a:r>
                <a:r>
                  <a:rPr lang="en-US" altLang="zh-TW" sz="2000" i="1" baseline="-25000" dirty="0" smtClean="0"/>
                  <a:t>2</a:t>
                </a:r>
                <a:r>
                  <a:rPr lang="en-US" altLang="zh-TW" sz="2000" i="1" dirty="0" smtClean="0"/>
                  <a:t/>
                </a:r>
                <a:r>
                  <a:rPr lang="zh-TW" altLang="en-US" sz="2000" dirty="0" smtClean="0"/>
                  <a:t>∈ </a:t>
                </a:r>
                <a:r>
                  <a:rPr lang="en-US" altLang="zh-TW" sz="2000" i="1" dirty="0" smtClean="0"/>
                  <a:t>D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i="0" dirty="0" smtClean="0">
                        <a:latin typeface="Cambria Math"/>
                      </a:rPr>
                      <m:t>:</m:t>
                    </m:r>
                  </m:oMath>
                </a14:m>
                <a:r>
                  <a:rPr lang="en-US" altLang="zh-TW" sz="2000" i="1" dirty="0" smtClean="0"/>
                  <a:t>=</a:t>
                </a:r>
                <a:r>
                  <a:rPr lang="en-US" altLang="zh-TW" sz="2000" i="1" dirty="0"/>
                  <a:t/>
                </a:r>
                <a:r>
                  <a:rPr lang="en-US" altLang="zh-TW" sz="2000" i="1" dirty="0" smtClean="0"/>
                  <a:t>¬( p1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/>
                        <a:ea typeface="Cambria Math"/>
                      </a:rPr>
                      <m:t>≪</m:t>
                    </m:r>
                  </m:oMath>
                </a14:m>
                <a:r>
                  <a:rPr lang="en-US" altLang="zh-TW" sz="2000" i="1" dirty="0" smtClean="0"/>
                  <a:t> p2 </a:t>
                </a:r>
                <a:r>
                  <a:rPr lang="zh-TW" altLang="en-US" sz="2000" dirty="0" smtClean="0"/>
                  <a:t>∨ </a:t>
                </a:r>
                <a:r>
                  <a:rPr lang="en-US" altLang="zh-TW" sz="2000" i="1" dirty="0" smtClean="0"/>
                  <a:t>p1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≫</m:t>
                    </m:r>
                  </m:oMath>
                </a14:m>
                <a:r>
                  <a:rPr lang="en-US" altLang="zh-TW" sz="2000" i="1" dirty="0" smtClean="0"/>
                  <a:t> p2 ) }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>	is </a:t>
                </a:r>
                <a:r>
                  <a:rPr lang="en-US" altLang="zh-TW" sz="2000" dirty="0"/>
                  <a:t>called the </a:t>
                </a:r>
                <a:r>
                  <a:rPr lang="en-US" altLang="zh-TW" sz="2000" i="1" dirty="0"/>
                  <a:t>incomparable part </a:t>
                </a:r>
                <a:r>
                  <a:rPr lang="en-US" altLang="zh-TW" sz="2000" dirty="0"/>
                  <a:t>of </a:t>
                </a:r>
                <a:r>
                  <a:rPr lang="en-US" altLang="zh-TW" sz="2000" i="1" dirty="0"/>
                  <a:t>C </a:t>
                </a:r>
                <a:r>
                  <a:rPr lang="en-US" altLang="zh-TW" sz="2000" dirty="0"/>
                  <a:t>relative to </a:t>
                </a:r>
                <a:r>
                  <a:rPr lang="en-US" altLang="zh-TW" sz="2000" i="1" dirty="0"/>
                  <a:t>D</a:t>
                </a:r>
                <a:r>
                  <a:rPr lang="en-US" altLang="zh-TW" sz="2000" dirty="0" smtClean="0"/>
                  <a:t>.</a:t>
                </a:r>
              </a:p>
              <a:p>
                <a:r>
                  <a:rPr lang="en-US" altLang="zh-TW" dirty="0" smtClean="0"/>
                  <a:t>We </a:t>
                </a:r>
                <a:r>
                  <a:rPr lang="en-US" altLang="zh-TW" dirty="0"/>
                  <a:t>say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is </a:t>
                </a:r>
                <a:r>
                  <a:rPr lang="en-US" altLang="zh-TW" b="1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incomparable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to </a:t>
                </a:r>
                <a:r>
                  <a:rPr lang="en-US" altLang="zh-TW" i="1" dirty="0"/>
                  <a:t>D </a:t>
                </a:r>
                <a:r>
                  <a:rPr lang="en-US" altLang="zh-TW" dirty="0" smtClean="0"/>
                  <a:t>if  </a:t>
                </a:r>
                <a:r>
                  <a:rPr lang="en-US" altLang="zh-TW" i="1" dirty="0" smtClean="0"/>
                  <a:t>IP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C,D</a:t>
                </a:r>
                <a:r>
                  <a:rPr lang="en-US" altLang="zh-TW" dirty="0"/>
                  <a:t>) = </a:t>
                </a:r>
                <a:r>
                  <a:rPr lang="en-US" altLang="zh-TW" i="1" dirty="0" smtClean="0"/>
                  <a:t>C</a:t>
                </a:r>
              </a:p>
              <a:p>
                <a:r>
                  <a:rPr lang="en-US" altLang="zh-TW" dirty="0" smtClean="0"/>
                  <a:t>For example :   </a:t>
                </a:r>
              </a:p>
              <a:p>
                <a:pPr marL="0" indent="0">
                  <a:buNone/>
                </a:pPr>
                <a:r>
                  <a:rPr lang="en-US" altLang="zh-TW" sz="2000" i="1" dirty="0" smtClean="0"/>
                  <a:t>Case 1     A</a:t>
                </a:r>
                <a:r>
                  <a:rPr lang="en-US" altLang="zh-TW" sz="2000" i="1" baseline="-25000" dirty="0" smtClean="0"/>
                  <a:t>1</a:t>
                </a:r>
                <a:r>
                  <a:rPr lang="en-US" altLang="zh-TW" sz="2000" i="1" baseline="30000" dirty="0" smtClean="0"/>
                  <a:t>T,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:{(1,3),(1,6),(1,8),(2,2)} 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/>
                </a:r>
                <a:r>
                  <a:rPr lang="en-US" altLang="zh-TW" sz="2000" i="1" dirty="0" smtClean="0"/>
                  <a:t>A</a:t>
                </a:r>
                <a:r>
                  <a:rPr lang="en-US" altLang="zh-TW" sz="2000" i="1" baseline="-25000" dirty="0" smtClean="0"/>
                  <a:t>2</a:t>
                </a:r>
                <a:r>
                  <a:rPr lang="en-US" altLang="zh-TW" sz="2000" i="1" baseline="30000" dirty="0" smtClean="0"/>
                  <a:t>T,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:{(2,4),(2,5)}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/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IP(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i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T,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 , 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i="1" baseline="-25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T,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)=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endParaRPr lang="en-US" altLang="zh-TW" sz="2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 smtClean="0"/>
                  <a:t>Case 2    </a:t>
                </a:r>
                <a:r>
                  <a:rPr lang="en-US" altLang="zh-TW" sz="2000" i="1" dirty="0" smtClean="0"/>
                  <a:t>A</a:t>
                </a:r>
                <a:r>
                  <a:rPr lang="en-US" altLang="zh-TW" sz="2000" i="1" baseline="-25000" dirty="0" smtClean="0"/>
                  <a:t>1</a:t>
                </a:r>
                <a:r>
                  <a:rPr lang="en-US" altLang="zh-TW" sz="2000" i="1" baseline="30000" dirty="0" smtClean="0"/>
                  <a:t>T,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/>
                  <a:t>:{(1,3),(1,6),(1,8),(2,2)} </a:t>
                </a:r>
                <a:endParaRPr lang="en-US" altLang="zh-TW" sz="2000" dirty="0" smtClean="0"/>
              </a:p>
              <a:p>
                <a:pPr marL="0" indent="0">
                  <a:buNone/>
                </a:pPr>
                <a:r>
                  <a:rPr lang="en-US" altLang="zh-TW" sz="2000" dirty="0"/>
                  <a:t/>
                </a:r>
                <a:r>
                  <a:rPr lang="en-US" altLang="zh-TW" sz="2000" i="1" dirty="0" smtClean="0"/>
                  <a:t>A</a:t>
                </a:r>
                <a:r>
                  <a:rPr lang="en-US" altLang="zh-TW" sz="2000" i="1" baseline="-25000" dirty="0" smtClean="0"/>
                  <a:t>1</a:t>
                </a:r>
                <a:r>
                  <a:rPr lang="en-US" altLang="zh-TW" sz="2000" i="1" baseline="30000" dirty="0" smtClean="0"/>
                  <a:t>L,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:{(4,1),(6,1)}</a:t>
                </a:r>
              </a:p>
              <a:p>
                <a:pPr marL="0" indent="0">
                  <a:buNone/>
                </a:pPr>
                <a:r>
                  <a:rPr lang="en-US" altLang="zh-TW" sz="2000" dirty="0" smtClean="0"/>
                  <a:t/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IP(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i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L,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 , 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i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i="1" baseline="30000" dirty="0">
                    <a:solidFill>
                      <a:srgbClr val="FF0000"/>
                    </a:solidFill>
                  </a:rPr>
                  <a:t>T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,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)=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A</a:t>
                </a:r>
                <a:r>
                  <a:rPr lang="en-US" altLang="zh-TW" sz="2000" i="1" baseline="-25000" dirty="0" smtClean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L,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  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(</a:t>
                </a:r>
                <a:r>
                  <a:rPr lang="en-US" altLang="zh-TW" sz="2000" b="1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incomparable)</a:t>
                </a:r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997152"/>
              </a:xfrm>
              <a:blipFill rotWithShape="1">
                <a:blip r:embed="rId2"/>
                <a:stretch>
                  <a:fillRect l="-1544" t="-2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902" r="55666"/>
          <a:stretch/>
        </p:blipFill>
        <p:spPr bwMode="auto">
          <a:xfrm>
            <a:off x="5580112" y="3812110"/>
            <a:ext cx="3096344" cy="2957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Determine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T,i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323528" y="1226905"/>
            <a:ext cx="9433048" cy="90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/>
              <a:t>determine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T,i</a:t>
            </a:r>
            <a:r>
              <a:rPr lang="en-US" altLang="zh-TW" i="1" dirty="0" smtClean="0"/>
              <a:t> </a:t>
            </a:r>
            <a:r>
              <a:rPr lang="en-US" altLang="zh-TW" dirty="0"/>
              <a:t>from </a:t>
            </a:r>
            <a:r>
              <a:rPr lang="en-US" altLang="zh-TW" i="1" dirty="0" smtClean="0"/>
              <a:t>A</a:t>
            </a:r>
            <a:r>
              <a:rPr lang="en-US" altLang="zh-TW" i="1" baseline="30000" dirty="0" smtClean="0"/>
              <a:t>T,i-</a:t>
            </a:r>
            <a:r>
              <a:rPr lang="en-US" altLang="zh-TW" baseline="30000" dirty="0" smtClean="0"/>
              <a:t>1</a:t>
            </a:r>
            <a:r>
              <a:rPr lang="en-US" altLang="zh-TW" dirty="0" smtClean="0"/>
              <a:t>. </a:t>
            </a:r>
          </a:p>
        </p:txBody>
      </p:sp>
      <p:grpSp>
        <p:nvGrpSpPr>
          <p:cNvPr id="22" name="群組 21"/>
          <p:cNvGrpSpPr/>
          <p:nvPr/>
        </p:nvGrpSpPr>
        <p:grpSpPr>
          <a:xfrm>
            <a:off x="15244" y="1679880"/>
            <a:ext cx="9163780" cy="4998772"/>
            <a:chOff x="15244" y="1679880"/>
            <a:chExt cx="9163780" cy="4998772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4" y="1679880"/>
              <a:ext cx="5181600" cy="4510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467544" y="5780062"/>
              <a:ext cx="4729300" cy="410444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427984" y="6309320"/>
              <a:ext cx="4572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zh-TW" dirty="0"/>
                <a:t>The </a:t>
              </a:r>
              <a:r>
                <a:rPr lang="en-US" altLang="zh-TW" dirty="0" err="1"/>
                <a:t>frst</a:t>
              </a:r>
              <a:r>
                <a:rPr lang="en-US" altLang="zh-TW" dirty="0"/>
                <a:t> </a:t>
              </a:r>
              <a:r>
                <a:rPr lang="en-US" altLang="zh-TW" i="1" dirty="0"/>
                <a:t>s - </a:t>
              </a:r>
              <a:r>
                <a:rPr lang="en-US" altLang="zh-TW" dirty="0"/>
                <a:t>1 </a:t>
              </a:r>
              <a:r>
                <a:rPr lang="en-US" altLang="zh-TW" dirty="0" err="1"/>
                <a:t>antichains</a:t>
              </a:r>
              <a:r>
                <a:rPr lang="en-US" altLang="zh-TW" dirty="0"/>
                <a:t> remain unchanged </a:t>
              </a:r>
            </a:p>
          </p:txBody>
        </p:sp>
        <p:cxnSp>
          <p:nvCxnSpPr>
            <p:cNvPr id="8" name="直線單箭頭接點 7"/>
            <p:cNvCxnSpPr>
              <a:stCxn id="6" idx="0"/>
              <a:endCxn id="4" idx="3"/>
            </p:cNvCxnSpPr>
            <p:nvPr/>
          </p:nvCxnSpPr>
          <p:spPr>
            <a:xfrm flipH="1" flipV="1">
              <a:off x="5196844" y="5985284"/>
              <a:ext cx="1517140" cy="3240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346756" y="2298476"/>
              <a:ext cx="4729300" cy="338436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395536" y="3935192"/>
              <a:ext cx="4729300" cy="1077983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471120" y="5013175"/>
              <a:ext cx="3707904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dirty="0" smtClean="0"/>
                <a:t>確定</a:t>
              </a:r>
              <a:r>
                <a:rPr lang="en-US" altLang="zh-TW" dirty="0" smtClean="0"/>
                <a:t>R</a:t>
              </a:r>
              <a:r>
                <a:rPr lang="zh-TW" altLang="en-US" dirty="0" smtClean="0"/>
                <a:t>的最後一條</a:t>
              </a:r>
              <a:r>
                <a:rPr lang="en-US" altLang="zh-TW" dirty="0" smtClean="0"/>
                <a:t>chain(</a:t>
              </a:r>
              <a:r>
                <a:rPr lang="en-US" altLang="zh-TW" i="1" dirty="0" smtClean="0"/>
                <a:t>A</a:t>
              </a:r>
              <a:r>
                <a:rPr lang="en-US" altLang="zh-TW" i="1" baseline="-25000" dirty="0" smtClean="0"/>
                <a:t>e</a:t>
              </a:r>
              <a:r>
                <a:rPr lang="en-US" altLang="zh-TW" i="1" baseline="30000" dirty="0" smtClean="0"/>
                <a:t>R,</a:t>
              </a:r>
              <a:r>
                <a:rPr lang="en-US" altLang="zh-TW" baseline="30000" dirty="0" smtClean="0"/>
                <a:t>i-1</a:t>
              </a:r>
              <a:r>
                <a:rPr lang="en-US" altLang="zh-TW" dirty="0" smtClean="0"/>
                <a:t>)</a:t>
              </a:r>
            </a:p>
            <a:p>
              <a:r>
                <a:rPr lang="zh-TW" altLang="en-US" dirty="0" smtClean="0"/>
                <a:t>     和</a:t>
              </a:r>
              <a:r>
                <a:rPr lang="en-US" altLang="zh-TW" dirty="0" smtClean="0"/>
                <a:t>T</a:t>
              </a:r>
              <a:r>
                <a:rPr lang="zh-TW" altLang="en-US" dirty="0" smtClean="0"/>
                <a:t>的最後一條</a:t>
              </a:r>
              <a:r>
                <a:rPr lang="en-US" altLang="zh-TW" dirty="0" smtClean="0"/>
                <a:t>chain(</a:t>
              </a:r>
              <a:r>
                <a:rPr lang="en-US" altLang="zh-TW" i="1" dirty="0" err="1" smtClean="0"/>
                <a:t>A</a:t>
              </a:r>
              <a:r>
                <a:rPr lang="en-US" altLang="zh-TW" i="1" baseline="-25000" dirty="0" err="1" smtClean="0"/>
                <a:t>e</a:t>
              </a:r>
              <a:r>
                <a:rPr lang="en-US" altLang="zh-TW" i="1" baseline="30000" dirty="0" err="1" smtClean="0"/>
                <a:t>T,</a:t>
              </a:r>
              <a:r>
                <a:rPr lang="en-US" altLang="zh-TW" baseline="30000" dirty="0" err="1" smtClean="0"/>
                <a:t>i</a:t>
              </a:r>
              <a:r>
                <a:rPr lang="en-US" altLang="zh-TW" dirty="0" smtClean="0"/>
                <a:t>)</a:t>
              </a:r>
            </a:p>
            <a:p>
              <a:r>
                <a:rPr lang="zh-TW" altLang="en-US" dirty="0" smtClean="0"/>
                <a:t>     能不能合併，若可以則刪除</a:t>
              </a:r>
              <a:r>
                <a:rPr lang="en-US" altLang="zh-TW" i="1" dirty="0"/>
                <a:t>A</a:t>
              </a:r>
              <a:r>
                <a:rPr lang="en-US" altLang="zh-TW" i="1" baseline="-25000" dirty="0"/>
                <a:t>e</a:t>
              </a:r>
              <a:r>
                <a:rPr lang="en-US" altLang="zh-TW" i="1" baseline="30000" dirty="0"/>
                <a:t>R,</a:t>
              </a:r>
              <a:r>
                <a:rPr lang="en-US" altLang="zh-TW" baseline="30000" dirty="0"/>
                <a:t>i-1</a:t>
              </a:r>
              <a:endParaRPr lang="zh-TW" altLang="en-US" dirty="0"/>
            </a:p>
          </p:txBody>
        </p:sp>
        <p:cxnSp>
          <p:nvCxnSpPr>
            <p:cNvPr id="13" name="直線單箭頭接點 12"/>
            <p:cNvCxnSpPr>
              <a:stCxn id="9" idx="1"/>
              <a:endCxn id="12" idx="3"/>
            </p:cNvCxnSpPr>
            <p:nvPr/>
          </p:nvCxnSpPr>
          <p:spPr>
            <a:xfrm flipH="1" flipV="1">
              <a:off x="5124836" y="4474184"/>
              <a:ext cx="346284" cy="100065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6228184" y="1770939"/>
            <a:ext cx="2740143" cy="2509731"/>
            <a:chOff x="6664071" y="1770939"/>
            <a:chExt cx="2304256" cy="2509731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l="6407" r="7460"/>
            <a:stretch>
              <a:fillRect/>
            </a:stretch>
          </p:blipFill>
          <p:spPr bwMode="auto">
            <a:xfrm>
              <a:off x="6664071" y="1770939"/>
              <a:ext cx="2304256" cy="25097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矩形 14"/>
            <p:cNvSpPr/>
            <p:nvPr/>
          </p:nvSpPr>
          <p:spPr>
            <a:xfrm>
              <a:off x="7308304" y="2467694"/>
              <a:ext cx="1368152" cy="24122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/>
            <p:cNvSpPr/>
            <p:nvPr/>
          </p:nvSpPr>
          <p:spPr>
            <a:xfrm rot="5400000">
              <a:off x="6935961" y="3081261"/>
              <a:ext cx="948200" cy="20351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/>
            <p:cNvSpPr/>
            <p:nvPr/>
          </p:nvSpPr>
          <p:spPr>
            <a:xfrm rot="5400000">
              <a:off x="8159796" y="2984352"/>
              <a:ext cx="792089" cy="241227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7092280" y="2251670"/>
              <a:ext cx="1800200" cy="216024"/>
            </a:xfrm>
            <a:prstGeom prst="rect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矩形 23"/>
          <p:cNvSpPr/>
          <p:nvPr/>
        </p:nvSpPr>
        <p:spPr>
          <a:xfrm>
            <a:off x="3270884" y="2841138"/>
            <a:ext cx="37079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合併</a:t>
            </a:r>
            <a:r>
              <a:rPr lang="en-US" altLang="zh-TW" dirty="0" smtClean="0"/>
              <a:t>incomparable</a:t>
            </a:r>
            <a:r>
              <a:rPr lang="zh-TW" altLang="en-US" dirty="0" smtClean="0"/>
              <a:t>的部分</a:t>
            </a:r>
            <a:endParaRPr lang="zh-TW" altLang="en-US" dirty="0"/>
          </a:p>
        </p:txBody>
      </p:sp>
      <p:cxnSp>
        <p:nvCxnSpPr>
          <p:cNvPr id="26" name="直線單箭頭接點 25"/>
          <p:cNvCxnSpPr>
            <a:stCxn id="24" idx="0"/>
            <a:endCxn id="11" idx="3"/>
          </p:cNvCxnSpPr>
          <p:nvPr/>
        </p:nvCxnSpPr>
        <p:spPr>
          <a:xfrm flipH="1" flipV="1">
            <a:off x="5076056" y="2467694"/>
            <a:ext cx="48780" cy="3734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7575726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Determine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T,i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r>
              <a:rPr lang="en-US" altLang="zh-TW" dirty="0"/>
              <a:t>For example, </a:t>
            </a:r>
            <a:r>
              <a:rPr lang="en-US" altLang="zh-TW" dirty="0" smtClean="0"/>
              <a:t>when processing </a:t>
            </a:r>
            <a:r>
              <a:rPr lang="en-US" altLang="zh-TW" i="1" dirty="0"/>
              <a:t>T</a:t>
            </a:r>
            <a:r>
              <a:rPr lang="en-US" altLang="zh-TW" baseline="30000" dirty="0"/>
              <a:t>2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in </a:t>
            </a:r>
            <a:r>
              <a:rPr lang="en-US" altLang="zh-TW" dirty="0"/>
              <a:t>Fig. 2 (b), </a:t>
            </a:r>
            <a:r>
              <a:rPr lang="en-US" altLang="zh-TW" i="1" dirty="0" smtClean="0"/>
              <a:t>IP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T</a:t>
            </a:r>
            <a:r>
              <a:rPr lang="en-US" altLang="zh-TW" baseline="30000" dirty="0" smtClean="0"/>
              <a:t>2</a:t>
            </a:r>
            <a:r>
              <a:rPr lang="zh-TW" altLang="en-US" dirty="0"/>
              <a:t>∩</a:t>
            </a:r>
            <a:r>
              <a:rPr lang="en-US" altLang="zh-TW" i="1" dirty="0" smtClean="0"/>
              <a:t> M;A</a:t>
            </a:r>
            <a:r>
              <a:rPr lang="en-US" altLang="zh-TW" baseline="-25000" dirty="0" smtClean="0"/>
              <a:t>1</a:t>
            </a:r>
            <a:r>
              <a:rPr lang="en-US" altLang="zh-TW" i="1" baseline="30000" dirty="0" smtClean="0"/>
              <a:t>T,</a:t>
            </a:r>
            <a:r>
              <a:rPr lang="en-US" altLang="zh-TW" baseline="30000" dirty="0" smtClean="0"/>
              <a:t>1</a:t>
            </a:r>
            <a:r>
              <a:rPr lang="en-US" altLang="zh-TW" dirty="0"/>
              <a:t>) = </a:t>
            </a:r>
            <a:r>
              <a:rPr lang="en-US" altLang="zh-TW" i="1" dirty="0"/>
              <a:t>{</a:t>
            </a:r>
            <a:r>
              <a:rPr lang="en-US" altLang="zh-TW" dirty="0" smtClean="0"/>
              <a:t>(2</a:t>
            </a:r>
            <a:r>
              <a:rPr lang="en-US" altLang="zh-TW" i="1" dirty="0"/>
              <a:t>,</a:t>
            </a:r>
            <a:r>
              <a:rPr lang="en-US" altLang="zh-TW" dirty="0" smtClean="0"/>
              <a:t>2)</a:t>
            </a:r>
            <a:r>
              <a:rPr lang="en-US" altLang="zh-TW" i="1" dirty="0" smtClean="0"/>
              <a:t>}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match (</a:t>
            </a:r>
            <a:r>
              <a:rPr lang="en-US" altLang="zh-TW" dirty="0" smtClean="0"/>
              <a:t>2</a:t>
            </a:r>
            <a:r>
              <a:rPr lang="en-US" altLang="zh-TW" i="1" dirty="0" smtClean="0"/>
              <a:t>,</a:t>
            </a:r>
            <a:r>
              <a:rPr lang="en-US" altLang="zh-TW" dirty="0" smtClean="0"/>
              <a:t>2)combined </a:t>
            </a:r>
            <a:r>
              <a:rPr lang="en-US" altLang="zh-TW" dirty="0"/>
              <a:t>with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i="1" baseline="30000" dirty="0" smtClean="0"/>
              <a:t>T,</a:t>
            </a:r>
            <a:r>
              <a:rPr lang="en-US" altLang="zh-TW" baseline="30000" dirty="0" smtClean="0"/>
              <a:t>1 </a:t>
            </a:r>
            <a:r>
              <a:rPr lang="en-US" altLang="zh-TW" dirty="0"/>
              <a:t>makes up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i="1" baseline="30000" dirty="0" smtClean="0"/>
              <a:t>T,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as shown in Fig. 2 (c).</a:t>
            </a:r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717032"/>
            <a:ext cx="3168352" cy="3093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3717032"/>
            <a:ext cx="3101350" cy="3093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向右箭號 3"/>
          <p:cNvSpPr/>
          <p:nvPr/>
        </p:nvSpPr>
        <p:spPr>
          <a:xfrm>
            <a:off x="3923928" y="4869160"/>
            <a:ext cx="1224136" cy="3947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1259632" y="4405706"/>
            <a:ext cx="504056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6012160" y="4005064"/>
            <a:ext cx="2376264" cy="8326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5798856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Determine </a:t>
            </a:r>
            <a:r>
              <a:rPr lang="en-US" altLang="zh-TW" i="1" dirty="0" err="1"/>
              <a:t>A</a:t>
            </a:r>
            <a:r>
              <a:rPr lang="en-US" altLang="zh-TW" i="1" baseline="30000" dirty="0" err="1"/>
              <a:t>T,i</a:t>
            </a:r>
            <a:r>
              <a:rPr lang="en-US" altLang="zh-TW" i="1" dirty="0"/>
              <a:t> 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1425" y="1480300"/>
            <a:ext cx="7860975" cy="2524764"/>
          </a:xfrm>
        </p:spPr>
        <p:txBody>
          <a:bodyPr>
            <a:noAutofit/>
          </a:bodyPr>
          <a:lstStyle/>
          <a:p>
            <a:r>
              <a:rPr lang="en-US" altLang="zh-TW" sz="2500" dirty="0"/>
              <a:t>For example, when processing </a:t>
            </a:r>
            <a:r>
              <a:rPr lang="en-US" altLang="zh-TW" sz="2500" dirty="0" smtClean="0"/>
              <a:t>T3</a:t>
            </a:r>
            <a:endParaRPr lang="en-US" altLang="zh-TW" sz="2500" dirty="0"/>
          </a:p>
          <a:p>
            <a:pPr marL="0" indent="0">
              <a:buNone/>
            </a:pPr>
            <a:r>
              <a:rPr lang="en-US" altLang="zh-TW" sz="2500" dirty="0" smtClean="0"/>
              <a:t>  The </a:t>
            </a:r>
            <a:r>
              <a:rPr lang="en-US" altLang="zh-TW" sz="2500" dirty="0"/>
              <a:t>match (</a:t>
            </a:r>
            <a:r>
              <a:rPr lang="en-US" altLang="zh-TW" sz="2500" dirty="0" smtClean="0"/>
              <a:t>3</a:t>
            </a:r>
            <a:r>
              <a:rPr lang="en-US" altLang="zh-TW" sz="2500" i="1" dirty="0"/>
              <a:t>,</a:t>
            </a:r>
            <a:r>
              <a:rPr lang="en-US" altLang="zh-TW" sz="2500" dirty="0" smtClean="0"/>
              <a:t>3</a:t>
            </a:r>
            <a:r>
              <a:rPr lang="en-US" altLang="zh-TW" sz="2500" dirty="0"/>
              <a:t>) cannot be put </a:t>
            </a:r>
            <a:r>
              <a:rPr lang="en-US" altLang="zh-TW" sz="2500" dirty="0" smtClean="0"/>
              <a:t>into</a:t>
            </a:r>
            <a:r>
              <a:rPr lang="en-US" altLang="zh-TW" sz="2500" i="1" dirty="0" smtClean="0"/>
              <a:t>A</a:t>
            </a:r>
            <a:r>
              <a:rPr lang="en-US" altLang="zh-TW" sz="2500" baseline="-25000" dirty="0" smtClean="0"/>
              <a:t>1</a:t>
            </a:r>
            <a:r>
              <a:rPr lang="en-US" altLang="zh-TW" sz="2500" i="1" baseline="30000" dirty="0" smtClean="0"/>
              <a:t>T,</a:t>
            </a:r>
            <a:r>
              <a:rPr lang="en-US" altLang="zh-TW" sz="2500" baseline="30000" dirty="0" smtClean="0"/>
              <a:t>3</a:t>
            </a:r>
            <a:r>
              <a:rPr lang="en-US" altLang="zh-TW" sz="2500" dirty="0"/>
              <a:t>, but into </a:t>
            </a:r>
            <a:r>
              <a:rPr lang="en-US" altLang="zh-TW" sz="2500" i="1" dirty="0" smtClean="0"/>
              <a:t>A</a:t>
            </a:r>
            <a:r>
              <a:rPr lang="en-US" altLang="zh-TW" sz="2500" baseline="-25000" dirty="0" smtClean="0"/>
              <a:t>2</a:t>
            </a:r>
            <a:r>
              <a:rPr lang="en-US" altLang="zh-TW" sz="2500" i="1" baseline="30000" dirty="0" smtClean="0"/>
              <a:t>T,</a:t>
            </a:r>
            <a:r>
              <a:rPr lang="en-US" altLang="zh-TW" sz="2500" baseline="30000" dirty="0" smtClean="0"/>
              <a:t>3</a:t>
            </a:r>
            <a:r>
              <a:rPr lang="en-US" altLang="zh-TW" sz="2500" dirty="0"/>
              <a:t>, and the other match (</a:t>
            </a:r>
            <a:r>
              <a:rPr lang="en-US" altLang="zh-TW" sz="2500" dirty="0" smtClean="0"/>
              <a:t>3</a:t>
            </a:r>
            <a:r>
              <a:rPr lang="en-US" altLang="zh-TW" sz="2500" i="1" dirty="0"/>
              <a:t>,</a:t>
            </a:r>
            <a:r>
              <a:rPr lang="en-US" altLang="zh-TW" sz="2500" i="1" dirty="0" smtClean="0"/>
              <a:t> </a:t>
            </a:r>
            <a:r>
              <a:rPr lang="en-US" altLang="zh-TW" sz="2500" dirty="0"/>
              <a:t>6) makes up the new </a:t>
            </a:r>
            <a:r>
              <a:rPr lang="en-US" altLang="zh-TW" sz="2500" dirty="0" err="1"/>
              <a:t>antichain</a:t>
            </a:r>
            <a:r>
              <a:rPr lang="en-US" altLang="zh-TW" sz="2500" dirty="0"/>
              <a:t> </a:t>
            </a:r>
            <a:r>
              <a:rPr lang="en-US" altLang="zh-TW" sz="2500" dirty="0" smtClean="0"/>
              <a:t> </a:t>
            </a:r>
            <a:r>
              <a:rPr lang="en-US" altLang="zh-TW" sz="2500" i="1" dirty="0" smtClean="0"/>
              <a:t>A</a:t>
            </a:r>
            <a:r>
              <a:rPr lang="en-US" altLang="zh-TW" sz="2500" baseline="-25000" dirty="0" smtClean="0"/>
              <a:t>3</a:t>
            </a:r>
            <a:r>
              <a:rPr lang="en-US" altLang="zh-TW" sz="2500" i="1" baseline="30000" dirty="0" smtClean="0"/>
              <a:t>T,</a:t>
            </a:r>
            <a:r>
              <a:rPr lang="en-US" altLang="zh-TW" sz="2500" baseline="30000" dirty="0" smtClean="0"/>
              <a:t>3</a:t>
            </a:r>
            <a:r>
              <a:rPr lang="en-US" altLang="zh-TW" sz="2500" dirty="0" smtClean="0"/>
              <a:t>.</a:t>
            </a:r>
          </a:p>
          <a:p>
            <a:pPr marL="0" indent="0">
              <a:buNone/>
            </a:pPr>
            <a:endParaRPr lang="en-US" altLang="zh-TW" sz="2500" dirty="0" smtClean="0"/>
          </a:p>
          <a:p>
            <a:r>
              <a:rPr lang="en-US" altLang="zh-TW" sz="2500" dirty="0" smtClean="0"/>
              <a:t> This  time </a:t>
            </a:r>
            <a:r>
              <a:rPr lang="en-US" altLang="zh-TW" sz="2500" dirty="0"/>
              <a:t>(</a:t>
            </a:r>
            <a:r>
              <a:rPr lang="en-US" altLang="zh-TW" sz="2500" dirty="0" smtClean="0"/>
              <a:t>3</a:t>
            </a:r>
            <a:r>
              <a:rPr lang="en-US" altLang="zh-TW" sz="2500" i="1" dirty="0"/>
              <a:t>,</a:t>
            </a:r>
            <a:r>
              <a:rPr lang="en-US" altLang="zh-TW" sz="2500" i="1" dirty="0" smtClean="0"/>
              <a:t> </a:t>
            </a:r>
            <a:r>
              <a:rPr lang="en-US" altLang="zh-TW" sz="2500" dirty="0" smtClean="0"/>
              <a:t>6</a:t>
            </a:r>
            <a:r>
              <a:rPr lang="en-US" altLang="zh-TW" sz="2500" dirty="0"/>
              <a:t>) inactivates (</a:t>
            </a:r>
            <a:r>
              <a:rPr lang="en-US" altLang="zh-TW" sz="2500" dirty="0" smtClean="0"/>
              <a:t>3</a:t>
            </a:r>
            <a:r>
              <a:rPr lang="en-US" altLang="zh-TW" sz="2500" i="1" dirty="0"/>
              <a:t>,</a:t>
            </a:r>
            <a:r>
              <a:rPr lang="en-US" altLang="zh-TW" sz="2500" i="1" dirty="0" smtClean="0"/>
              <a:t> </a:t>
            </a:r>
            <a:r>
              <a:rPr lang="en-US" altLang="zh-TW" sz="2500" dirty="0"/>
              <a:t>8), and thus </a:t>
            </a:r>
            <a:r>
              <a:rPr lang="en-US" altLang="zh-TW" sz="2500" i="1" dirty="0" smtClean="0"/>
              <a:t>A</a:t>
            </a:r>
            <a:r>
              <a:rPr lang="en-US" altLang="zh-TW" sz="2500" baseline="-25000" dirty="0" smtClean="0"/>
              <a:t>2</a:t>
            </a:r>
            <a:r>
              <a:rPr lang="en-US" altLang="zh-TW" sz="2500" i="1" baseline="30000" dirty="0" smtClean="0"/>
              <a:t>R,</a:t>
            </a:r>
            <a:r>
              <a:rPr lang="en-US" altLang="zh-TW" sz="2500" baseline="30000" dirty="0" smtClean="0"/>
              <a:t>2</a:t>
            </a:r>
            <a:r>
              <a:rPr lang="en-US" altLang="zh-TW" sz="2500" dirty="0" smtClean="0"/>
              <a:t> </a:t>
            </a:r>
            <a:r>
              <a:rPr lang="en-US" altLang="zh-TW" sz="2500" dirty="0"/>
              <a:t>is removed.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56363" y="4077072"/>
            <a:ext cx="2780133" cy="2773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3964787"/>
            <a:ext cx="2915816" cy="2958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4895528" y="3707740"/>
            <a:ext cx="414096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(all matches located in deleted </a:t>
            </a:r>
            <a:r>
              <a:rPr lang="en-US" altLang="zh-TW" dirty="0" err="1" smtClean="0"/>
              <a:t>antichains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8388424" y="4869160"/>
            <a:ext cx="432048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>
            <a:stCxn id="5" idx="0"/>
            <a:endCxn id="4" idx="3"/>
          </p:cNvCxnSpPr>
          <p:nvPr/>
        </p:nvCxnSpPr>
        <p:spPr>
          <a:xfrm flipV="1">
            <a:off x="8604448" y="3892406"/>
            <a:ext cx="432048" cy="9767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1133364" y="4941168"/>
            <a:ext cx="432048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008329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133549"/>
            <a:ext cx="3528392" cy="6097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群組 9"/>
          <p:cNvGrpSpPr/>
          <p:nvPr/>
        </p:nvGrpSpPr>
        <p:grpSpPr>
          <a:xfrm>
            <a:off x="971600" y="4227830"/>
            <a:ext cx="2448272" cy="2657554"/>
            <a:chOff x="5364088" y="1424242"/>
            <a:chExt cx="3203848" cy="3489542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l="6407" r="7460"/>
            <a:stretch>
              <a:fillRect/>
            </a:stretch>
          </p:blipFill>
          <p:spPr bwMode="auto">
            <a:xfrm>
              <a:off x="5364088" y="1424242"/>
              <a:ext cx="3203848" cy="3489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" name="群組 7"/>
            <p:cNvGrpSpPr/>
            <p:nvPr/>
          </p:nvGrpSpPr>
          <p:grpSpPr>
            <a:xfrm>
              <a:off x="5940152" y="2132856"/>
              <a:ext cx="1944215" cy="1656184"/>
              <a:chOff x="5940152" y="2132856"/>
              <a:chExt cx="1944215" cy="165618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5940152" y="2132856"/>
                <a:ext cx="576064" cy="57606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6511300" y="2708920"/>
                <a:ext cx="1373067" cy="108012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Check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T,i</a:t>
            </a:r>
            <a:r>
              <a:rPr lang="en-US" altLang="zh-TW" i="1" dirty="0" smtClean="0"/>
              <a:t> and</a:t>
            </a:r>
            <a:r>
              <a:rPr lang="en-US" altLang="zh-TW" i="1" dirty="0"/>
              <a:t>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L,i</a:t>
            </a:r>
            <a:r>
              <a:rPr lang="en-US" altLang="zh-TW" i="1" baseline="30000" dirty="0" smtClean="0"/>
              <a:t> </a:t>
            </a:r>
            <a:r>
              <a:rPr lang="en-US" altLang="zh-TW" dirty="0" smtClean="0"/>
              <a:t>for TL-completeness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719" y="1283736"/>
            <a:ext cx="5904656" cy="10651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altLang="zh-TW" u="sng" dirty="0" smtClean="0"/>
          </a:p>
          <a:p>
            <a:r>
              <a:rPr lang="en-US" altLang="zh-TW" dirty="0" smtClean="0"/>
              <a:t>TL-completeness: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所有</a:t>
            </a:r>
            <a:r>
              <a:rPr lang="en-US" altLang="zh-TW" dirty="0" smtClean="0"/>
              <a:t> </a:t>
            </a:r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s</a:t>
            </a:r>
            <a:r>
              <a:rPr lang="en-US" altLang="zh-TW" i="1" baseline="30000" dirty="0" err="1" smtClean="0"/>
              <a:t>T,i</a:t>
            </a:r>
            <a:r>
              <a:rPr lang="en-US" altLang="zh-TW" i="1" dirty="0" smtClean="0"/>
              <a:t> &amp;</a:t>
            </a:r>
            <a:r>
              <a:rPr lang="en-US" altLang="zh-TW" i="1" dirty="0"/>
              <a:t> </a:t>
            </a:r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s</a:t>
            </a:r>
            <a:r>
              <a:rPr lang="en-US" altLang="zh-TW" i="1" baseline="30000" dirty="0" err="1"/>
              <a:t>L</a:t>
            </a:r>
            <a:r>
              <a:rPr lang="en-US" altLang="zh-TW" i="1" baseline="30000" dirty="0" err="1" smtClean="0"/>
              <a:t>,i</a:t>
            </a:r>
            <a:r>
              <a:rPr lang="en-US" altLang="zh-TW" i="1" dirty="0" smtClean="0"/>
              <a:t> (s&lt;=</a:t>
            </a:r>
            <a:r>
              <a:rPr lang="en-US" altLang="zh-TW" i="1" dirty="0"/>
              <a:t> </a:t>
            </a:r>
            <a:r>
              <a:rPr lang="en-US" altLang="zh-TW" i="1" dirty="0" err="1" smtClean="0"/>
              <a:t>s</a:t>
            </a:r>
            <a:r>
              <a:rPr lang="en-US" altLang="zh-TW" i="1" baseline="30000" dirty="0" err="1" smtClean="0"/>
              <a:t>TL,i</a:t>
            </a:r>
            <a:r>
              <a:rPr lang="en-US" altLang="zh-TW" i="1" dirty="0" smtClean="0"/>
              <a:t>)</a:t>
            </a:r>
            <a:r>
              <a:rPr lang="zh-TW" altLang="en-US" i="1" dirty="0" smtClean="0"/>
              <a:t>不會再改變</a:t>
            </a:r>
            <a:endParaRPr lang="en-US" altLang="zh-TW" dirty="0" smtClean="0"/>
          </a:p>
        </p:txBody>
      </p:sp>
      <p:sp>
        <p:nvSpPr>
          <p:cNvPr id="7" name="向右箭號 6"/>
          <p:cNvSpPr/>
          <p:nvPr/>
        </p:nvSpPr>
        <p:spPr>
          <a:xfrm>
            <a:off x="5436096" y="1627913"/>
            <a:ext cx="576064" cy="1862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矩形 10"/>
              <p:cNvSpPr/>
              <p:nvPr/>
            </p:nvSpPr>
            <p:spPr>
              <a:xfrm>
                <a:off x="442647" y="2348880"/>
                <a:ext cx="4824536" cy="7854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TW" dirty="0" smtClean="0">
                    <a:solidFill>
                      <a:schemeClr val="tx1"/>
                    </a:solidFill>
                  </a:rPr>
                  <a:t>one of them contains a match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(</a:t>
                </a:r>
                <a:r>
                  <a:rPr lang="en-US" altLang="zh-TW" i="1" dirty="0" err="1">
                    <a:solidFill>
                      <a:schemeClr val="tx1"/>
                    </a:solidFill>
                  </a:rPr>
                  <a:t>k,l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) such that 1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err="1">
                    <a:solidFill>
                      <a:schemeClr val="tx1"/>
                    </a:solidFill>
                  </a:rPr>
                  <a:t>k,l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</a:rPr>
                  <a:t> I     =&gt;</a:t>
                </a:r>
                <a:r>
                  <a:rPr lang="en-US" altLang="zh-TW" i="1" u="sng" dirty="0" err="1">
                    <a:solidFill>
                      <a:schemeClr val="tx1"/>
                    </a:solidFill>
                  </a:rPr>
                  <a:t>s</a:t>
                </a:r>
                <a:r>
                  <a:rPr lang="en-US" altLang="zh-TW" i="1" u="sng" baseline="30000" dirty="0" err="1">
                    <a:solidFill>
                      <a:schemeClr val="tx1"/>
                    </a:solidFill>
                  </a:rPr>
                  <a:t>TL,i</a:t>
                </a:r>
                <a:r>
                  <a:rPr lang="en-US" altLang="zh-TW" i="1" u="sng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u="sng" dirty="0">
                    <a:solidFill>
                      <a:schemeClr val="tx1"/>
                    </a:solidFill>
                  </a:rPr>
                  <a:t>is increased by one</a:t>
                </a: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47" y="2348880"/>
                <a:ext cx="4824536" cy="785401"/>
              </a:xfrm>
              <a:prstGeom prst="rect">
                <a:avLst/>
              </a:prstGeom>
              <a:blipFill rotWithShape="1">
                <a:blip r:embed="rId4"/>
                <a:stretch>
                  <a:fillRect l="-881" b="-1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向右箭號 12"/>
          <p:cNvSpPr/>
          <p:nvPr/>
        </p:nvSpPr>
        <p:spPr>
          <a:xfrm>
            <a:off x="5581070" y="1859069"/>
            <a:ext cx="576064" cy="19449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矩形 13"/>
              <p:cNvSpPr/>
              <p:nvPr/>
            </p:nvSpPr>
            <p:spPr>
              <a:xfrm>
                <a:off x="395536" y="3301211"/>
                <a:ext cx="4818432" cy="1063893"/>
              </a:xfrm>
              <a:prstGeom prst="rect">
                <a:avLst/>
              </a:prstGeom>
              <a:noFill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TW" altLang="en-US" dirty="0" smtClean="0">
                    <a:solidFill>
                      <a:schemeClr val="tx1"/>
                    </a:solidFill>
                  </a:rPr>
                  <a:t>若</a:t>
                </a:r>
                <a:r>
                  <a:rPr lang="en-US" altLang="zh-TW" i="1" dirty="0" err="1">
                    <a:solidFill>
                      <a:schemeClr val="tx1"/>
                    </a:solidFill>
                  </a:rPr>
                  <a:t>s</a:t>
                </a:r>
                <a:r>
                  <a:rPr lang="en-US" altLang="zh-TW" i="1" baseline="30000" dirty="0" err="1">
                    <a:solidFill>
                      <a:schemeClr val="tx1"/>
                    </a:solidFill>
                  </a:rPr>
                  <a:t>TL,i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&gt;</a:t>
                </a:r>
                <a:r>
                  <a:rPr lang="en-US" altLang="zh-TW" i="1" dirty="0" err="1" smtClean="0">
                    <a:solidFill>
                      <a:schemeClr val="tx1"/>
                    </a:solidFill>
                  </a:rPr>
                  <a:t>e</a:t>
                </a:r>
                <a:r>
                  <a:rPr lang="en-US" altLang="zh-TW" i="1" baseline="30000" dirty="0" err="1" smtClean="0">
                    <a:solidFill>
                      <a:schemeClr val="tx1"/>
                    </a:solidFill>
                  </a:rPr>
                  <a:t>L,I</a:t>
                </a:r>
                <a:r>
                  <a:rPr lang="zh-TW" altLang="en-US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即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L,I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 有少一條</a:t>
                </a:r>
                <a:r>
                  <a:rPr lang="en-US" altLang="zh-TW" dirty="0" err="1" smtClean="0">
                    <a:solidFill>
                      <a:schemeClr val="tx1"/>
                    </a:solidFill>
                  </a:rPr>
                  <a:t>antichan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zh-TW" altLang="en-US" dirty="0" smtClean="0">
                    <a:solidFill>
                      <a:schemeClr val="tx1"/>
                    </a:solidFill>
                  </a:rPr>
                  <a:t>且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s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BR,i-</a:t>
                </a:r>
                <a:r>
                  <a:rPr lang="en-US" altLang="zh-TW" baseline="30000" dirty="0">
                    <a:solidFill>
                      <a:schemeClr val="tx1"/>
                    </a:solidFill>
                  </a:rPr>
                  <a:t>1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</a:rPr>
                  <a:t>e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B,i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, 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則測試</a:t>
                </a:r>
                <a:r>
                  <a:rPr lang="en-US" altLang="zh-TW" i="1" dirty="0" err="1" smtClean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-25000" dirty="0" err="1" smtClean="0">
                    <a:solidFill>
                      <a:schemeClr val="tx1"/>
                    </a:solidFill>
                  </a:rPr>
                  <a:t>s</a:t>
                </a:r>
                <a:r>
                  <a:rPr lang="en-US" altLang="zh-TW" i="1" baseline="30000" dirty="0" err="1" smtClean="0">
                    <a:solidFill>
                      <a:schemeClr val="tx1"/>
                    </a:solidFill>
                  </a:rPr>
                  <a:t>T,i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是否可以和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B,i-</a:t>
                </a:r>
                <a:r>
                  <a:rPr lang="en-US" altLang="zh-TW" baseline="300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的</a:t>
                </a:r>
                <a:r>
                  <a:rPr lang="en-US" altLang="zh-TW" dirty="0" err="1" smtClean="0">
                    <a:solidFill>
                      <a:schemeClr val="tx1"/>
                    </a:solidFill>
                  </a:rPr>
                  <a:t>antichan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合併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01211"/>
                <a:ext cx="4818432" cy="1063893"/>
              </a:xfrm>
              <a:prstGeom prst="rect">
                <a:avLst/>
              </a:prstGeom>
              <a:blipFill rotWithShape="1">
                <a:blip r:embed="rId5"/>
                <a:stretch>
                  <a:fillRect l="-882" b="-11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2814947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The main program for decomposing </a:t>
            </a:r>
            <a:r>
              <a:rPr lang="en-US" altLang="zh-TW" i="1" dirty="0"/>
              <a:t>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4056" y="1628800"/>
            <a:ext cx="8591550" cy="500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9290370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New Approach to the LCS Problem</a:t>
            </a:r>
            <a:endParaRPr lang="zh-TW" altLang="en-US" dirty="0"/>
          </a:p>
        </p:txBody>
      </p:sp>
      <p:grpSp>
        <p:nvGrpSpPr>
          <p:cNvPr id="13" name="群組 12"/>
          <p:cNvGrpSpPr/>
          <p:nvPr/>
        </p:nvGrpSpPr>
        <p:grpSpPr>
          <a:xfrm>
            <a:off x="107504" y="1340768"/>
            <a:ext cx="9055149" cy="5328592"/>
            <a:chOff x="107504" y="1340768"/>
            <a:chExt cx="9055149" cy="5328592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1672233"/>
              <a:ext cx="2276475" cy="2305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4316" y="4312146"/>
              <a:ext cx="2219325" cy="2257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0863" y="1844824"/>
              <a:ext cx="2286000" cy="227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4827" y="4430985"/>
              <a:ext cx="2295525" cy="2238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653" y="1844824"/>
              <a:ext cx="2286000" cy="227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" name="直線單箭頭接點 4"/>
            <p:cNvCxnSpPr>
              <a:stCxn id="2050" idx="2"/>
              <a:endCxn id="2051" idx="0"/>
            </p:cNvCxnSpPr>
            <p:nvPr/>
          </p:nvCxnSpPr>
          <p:spPr>
            <a:xfrm>
              <a:off x="1245742" y="3977283"/>
              <a:ext cx="1138237" cy="3348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直線單箭頭接點 6"/>
            <p:cNvCxnSpPr>
              <a:stCxn id="2051" idx="3"/>
              <a:endCxn id="2052" idx="2"/>
            </p:cNvCxnSpPr>
            <p:nvPr/>
          </p:nvCxnSpPr>
          <p:spPr>
            <a:xfrm flipV="1">
              <a:off x="3493641" y="4121299"/>
              <a:ext cx="1130222" cy="13195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>
              <a:stCxn id="2052" idx="3"/>
              <a:endCxn id="2053" idx="0"/>
            </p:cNvCxnSpPr>
            <p:nvPr/>
          </p:nvCxnSpPr>
          <p:spPr>
            <a:xfrm>
              <a:off x="5766863" y="2983062"/>
              <a:ext cx="825727" cy="14479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>
              <a:stCxn id="2053" idx="3"/>
              <a:endCxn id="2054" idx="2"/>
            </p:cNvCxnSpPr>
            <p:nvPr/>
          </p:nvCxnSpPr>
          <p:spPr>
            <a:xfrm flipV="1">
              <a:off x="7740352" y="4121299"/>
              <a:ext cx="279301" cy="142887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1691680" y="3851756"/>
              <a:ext cx="1779654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i=1(in main loop)</a:t>
              </a:r>
              <a:endParaRPr lang="zh-TW" altLang="en-US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872466" y="1340768"/>
              <a:ext cx="1779654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i=2(in main loop)</a:t>
              </a:r>
              <a:endParaRPr lang="zh-TW" altLang="en-US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804520" y="3846009"/>
              <a:ext cx="1779654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i=3(in main loop)</a:t>
              </a:r>
              <a:endParaRPr lang="zh-TW" altLang="en-US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7236296" y="1342202"/>
              <a:ext cx="1779654" cy="3693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i=4(in main loop)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9266709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Determine length </a:t>
            </a:r>
            <a:r>
              <a:rPr lang="en-US" altLang="zh-TW" i="1" dirty="0"/>
              <a:t>p </a:t>
            </a:r>
            <a:r>
              <a:rPr lang="en-US" altLang="zh-TW" dirty="0"/>
              <a:t>of an LCS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552081"/>
                <a:ext cx="8892480" cy="26524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/>
                  <a:t>For example, in Fig. 2 (e),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/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we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have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 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>=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=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3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/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and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L,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=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 e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=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2</a:t>
                </a:r>
                <a:r>
                  <a:rPr lang="en-US" altLang="zh-TW" dirty="0"/>
                  <a:t>,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/>
                </a:r>
                <a:r>
                  <a:rPr lang="en-US" altLang="zh-TW" dirty="0" smtClean="0"/>
                  <a:t> thus </a:t>
                </a:r>
                <a:r>
                  <a:rPr lang="en-US" altLang="zh-TW" dirty="0"/>
                  <a:t>this generates four combined </a:t>
                </a:r>
                <a:r>
                  <a:rPr lang="en-US" altLang="zh-TW" dirty="0" err="1"/>
                  <a:t>antichains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Concerning</a:t>
                </a:r>
                <a:r>
                  <a:rPr lang="en-US" altLang="zh-TW" dirty="0"/>
                  <a:t/>
                </a:r>
                <a:r>
                  <a:rPr lang="en-US" altLang="zh-TW" dirty="0" smtClean="0"/>
                  <a:t>the </a:t>
                </a:r>
                <a:r>
                  <a:rPr lang="en-US" altLang="zh-TW" dirty="0"/>
                  <a:t>remaining </a:t>
                </a:r>
                <a:r>
                  <a:rPr lang="en-US" altLang="zh-TW" dirty="0" err="1"/>
                  <a:t>antichains</a:t>
                </a:r>
                <a:r>
                  <a:rPr lang="en-US" altLang="zh-TW" dirty="0"/>
                  <a:t> we consider four </a:t>
                </a:r>
                <a:r>
                  <a:rPr lang="en-US" altLang="zh-TW" dirty="0" smtClean="0"/>
                  <a:t>different </a:t>
                </a:r>
                <a:r>
                  <a:rPr lang="en-US" altLang="zh-TW" dirty="0"/>
                  <a:t>cases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552081"/>
                <a:ext cx="8892480" cy="2652438"/>
              </a:xfrm>
              <a:blipFill rotWithShape="1">
                <a:blip r:embed="rId2"/>
                <a:stretch>
                  <a:fillRect l="-1371" t="-5977" b="-75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4204518"/>
            <a:ext cx="2520280" cy="2653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204518"/>
            <a:ext cx="2616838" cy="2653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7884368" y="4365104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Ans:P</a:t>
            </a:r>
            <a:r>
              <a:rPr lang="en-US" altLang="zh-TW" dirty="0" smtClean="0"/>
              <a:t>=5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4002618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Case </a:t>
            </a:r>
            <a:r>
              <a:rPr lang="en-US" altLang="zh-TW" i="1" dirty="0" smtClean="0"/>
              <a:t>a&amp;</a:t>
            </a:r>
            <a:r>
              <a:rPr lang="en-US" altLang="zh-TW" i="1" dirty="0"/>
              <a:t> Case </a:t>
            </a:r>
            <a:r>
              <a:rPr lang="en-US" altLang="zh-TW" i="1" dirty="0" smtClean="0"/>
              <a:t>b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600200"/>
                <a:ext cx="6912768" cy="452596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i="1" dirty="0" smtClean="0">
                    <a:solidFill>
                      <a:srgbClr val="FF0000"/>
                    </a:solidFill>
                  </a:rPr>
                  <a:t>Case a :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  <m:r>
                      <a:rPr lang="da-DK" altLang="zh-TW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</a:rPr>
                  <a:t> e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and 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zh-TW" altLang="en-US" i="1" dirty="0">
                    <a:solidFill>
                      <a:schemeClr val="tx1"/>
                    </a:solidFill>
                  </a:rPr>
                  <a:t/>
                </a:r>
                <a:r>
                  <a:rPr lang="zh-TW" altLang="en-US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B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 e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R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 smtClean="0"/>
                  <a:t>(L</a:t>
                </a:r>
                <a:r>
                  <a:rPr lang="zh-TW" altLang="en-US" dirty="0" smtClean="0"/>
                  <a:t/>
                </a:r>
                <a:r>
                  <a:rPr lang="en-US" altLang="zh-TW" dirty="0"/>
                  <a:t>&amp;</a:t>
                </a:r>
                <a:r>
                  <a:rPr lang="zh-TW" altLang="en-US" dirty="0"/>
                  <a:t/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的</a:t>
                </a:r>
                <a:r>
                  <a:rPr lang="en-US" altLang="zh-TW" dirty="0" err="1" smtClean="0"/>
                  <a:t>antichains</a:t>
                </a:r>
                <a:r>
                  <a:rPr lang="zh-TW" altLang="en-US" dirty="0" smtClean="0"/>
                  <a:t>比較多</a:t>
                </a:r>
                <a:r>
                  <a:rPr lang="en-US" altLang="zh-TW" dirty="0" smtClean="0"/>
                  <a:t>)</a:t>
                </a:r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p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:=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+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  <m:r>
                      <a:rPr lang="en-US" altLang="zh-TW" b="0" i="0" baseline="30000" dirty="0" smtClean="0">
                        <a:solidFill>
                          <a:schemeClr val="tx1"/>
                        </a:solidFill>
                        <a:latin typeface="Cambria Math"/>
                      </a:rPr>
                      <m:t>   </m:t>
                    </m:r>
                  </m:oMath>
                </a14:m>
                <a:r>
                  <a:rPr lang="en-US" altLang="zh-TW" dirty="0" err="1">
                    <a:solidFill>
                      <a:schemeClr val="tx1"/>
                    </a:solidFill>
                  </a:rPr>
                  <a:t>antichains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 in total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i="1" dirty="0" smtClean="0">
                    <a:solidFill>
                      <a:srgbClr val="FF0000"/>
                    </a:solidFill>
                  </a:rPr>
                  <a:t>Case b : 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and 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zh-TW" altLang="en-US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  <m:r>
                      <a:rPr lang="da-DK" altLang="zh-TW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i="1" dirty="0">
                    <a:solidFill>
                      <a:schemeClr val="tx1"/>
                    </a:solidFill>
                  </a:rPr>
                  <a:t>  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(T</a:t>
                </a:r>
                <a:r>
                  <a:rPr lang="zh-TW" altLang="en-US" dirty="0" smtClean="0"/>
                  <a:t/>
                </a:r>
                <a:r>
                  <a:rPr lang="en-US" altLang="zh-TW" dirty="0"/>
                  <a:t>&amp;</a:t>
                </a:r>
                <a:r>
                  <a:rPr lang="zh-TW" altLang="en-US" dirty="0"/>
                  <a:t/>
                </a:r>
                <a:r>
                  <a:rPr lang="en-US" altLang="zh-TW" dirty="0" smtClean="0"/>
                  <a:t>R</a:t>
                </a:r>
                <a:r>
                  <a:rPr lang="zh-TW" altLang="en-US" dirty="0" smtClean="0"/>
                  <a:t>的</a:t>
                </a:r>
                <a:r>
                  <a:rPr lang="en-US" altLang="zh-TW" dirty="0" err="1" smtClean="0"/>
                  <a:t>antichains</a:t>
                </a:r>
                <a:r>
                  <a:rPr lang="zh-TW" altLang="en-US" dirty="0" smtClean="0"/>
                  <a:t>比較多</a:t>
                </a:r>
                <a:r>
                  <a:rPr lang="en-US" altLang="zh-TW" dirty="0" smtClean="0"/>
                  <a:t>)</a:t>
                </a:r>
                <a:endParaRPr lang="zh-TW" altLang="en-US" dirty="0"/>
              </a:p>
              <a:p>
                <a:pPr marL="0" indent="0">
                  <a:buNone/>
                </a:pPr>
                <a:r>
                  <a:rPr lang="en-US" altLang="zh-TW" i="1" dirty="0" smtClean="0">
                    <a:solidFill>
                      <a:schemeClr val="tx1"/>
                    </a:solidFill>
                  </a:rPr>
                  <a:t>p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:=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+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 err="1"/>
                  <a:t>antichains</a:t>
                </a:r>
                <a:r>
                  <a:rPr lang="en-US" altLang="zh-TW" dirty="0"/>
                  <a:t> in total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600200"/>
                <a:ext cx="6912768" cy="4525963"/>
              </a:xfrm>
              <a:blipFill rotWithShape="1">
                <a:blip r:embed="rId3"/>
                <a:stretch>
                  <a:fillRect l="-2028" t="-3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3"/>
          <p:cNvGrpSpPr/>
          <p:nvPr/>
        </p:nvGrpSpPr>
        <p:grpSpPr>
          <a:xfrm>
            <a:off x="6300192" y="0"/>
            <a:ext cx="2843807" cy="2815462"/>
            <a:chOff x="6300192" y="0"/>
            <a:chExt cx="2843807" cy="2815462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 l="6407" r="7460"/>
            <a:stretch>
              <a:fillRect/>
            </a:stretch>
          </p:blipFill>
          <p:spPr bwMode="auto">
            <a:xfrm>
              <a:off x="6444208" y="188640"/>
              <a:ext cx="2411760" cy="2626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左-上雙向箭號 19"/>
            <p:cNvSpPr/>
            <p:nvPr/>
          </p:nvSpPr>
          <p:spPr>
            <a:xfrm>
              <a:off x="6768750" y="332656"/>
              <a:ext cx="2375249" cy="2482806"/>
            </a:xfrm>
            <a:prstGeom prst="leftUpArrow">
              <a:avLst>
                <a:gd name="adj1" fmla="val 0"/>
                <a:gd name="adj2" fmla="val 6811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左-上雙向箭號 21"/>
            <p:cNvSpPr/>
            <p:nvPr/>
          </p:nvSpPr>
          <p:spPr>
            <a:xfrm rot="10800000">
              <a:off x="6300192" y="0"/>
              <a:ext cx="2304256" cy="2348880"/>
            </a:xfrm>
            <a:prstGeom prst="leftUpArrow">
              <a:avLst>
                <a:gd name="adj1" fmla="val 0"/>
                <a:gd name="adj2" fmla="val 6811"/>
                <a:gd name="adj3" fmla="val 24528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1" name="文字方塊 20"/>
              <p:cNvSpPr txBox="1"/>
              <p:nvPr/>
            </p:nvSpPr>
            <p:spPr>
              <a:xfrm>
                <a:off x="5508685" y="3861048"/>
                <a:ext cx="3991528" cy="120032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itchFamily="34" charset="0"/>
                  <a:buChar char="•"/>
                </a:pPr>
                <a:r>
                  <a:rPr lang="en-US" altLang="zh-TW" dirty="0" smtClean="0"/>
                  <a:t>since </a:t>
                </a:r>
                <a:r>
                  <a:rPr lang="en-US" altLang="zh-TW" i="1" dirty="0" smtClean="0"/>
                  <a:t>IP</a:t>
                </a:r>
                <a:r>
                  <a:rPr lang="en-US" altLang="zh-TW" dirty="0" smtClean="0"/>
                  <a:t>(</a:t>
                </a:r>
                <a:r>
                  <a:rPr lang="en-US" altLang="zh-TW" i="1" dirty="0" err="1" smtClean="0"/>
                  <a:t>A</a:t>
                </a:r>
                <a:r>
                  <a:rPr lang="en-US" altLang="zh-TW" baseline="-25000" dirty="0" err="1"/>
                  <a:t>ē</a:t>
                </a:r>
                <a:r>
                  <a:rPr lang="en-US" altLang="zh-TW" i="1" dirty="0" smtClean="0"/>
                  <a:t/>
                </a:r>
                <a:r>
                  <a:rPr lang="en-US" altLang="zh-TW" i="1" baseline="30000" dirty="0" smtClean="0"/>
                  <a:t>B,i-</a:t>
                </a:r>
                <a:r>
                  <a:rPr lang="en-US" altLang="zh-TW" baseline="30000" dirty="0" smtClean="0"/>
                  <a:t>1</a:t>
                </a:r>
                <a:r>
                  <a:rPr lang="en-US" altLang="zh-TW" i="1" dirty="0" smtClean="0"/>
                  <a:t>,A</a:t>
                </a:r>
                <a:r>
                  <a:rPr lang="en-US" altLang="zh-TW" i="1" baseline="-25000" dirty="0" smtClean="0"/>
                  <a:t>e</a:t>
                </a:r>
                <a:r>
                  <a:rPr lang="en-US" altLang="zh-TW" i="1" dirty="0" smtClean="0"/>
                  <a:t/>
                </a:r>
                <a:r>
                  <a:rPr lang="en-US" altLang="zh-TW" i="1" baseline="30000" dirty="0" err="1"/>
                  <a:t>L</a:t>
                </a:r>
                <a:r>
                  <a:rPr lang="en-US" altLang="zh-TW" i="1" baseline="30000" dirty="0" err="1" smtClean="0"/>
                  <a:t>,i</a:t>
                </a:r>
                <a:r>
                  <a:rPr lang="en-US" altLang="zh-TW" dirty="0"/>
                  <a:t>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altLang="zh-TW" dirty="0"/>
                  <a:t/>
                </a:r>
                <a:r>
                  <a:rPr lang="en-US" altLang="zh-TW" i="1" dirty="0" err="1" smtClean="0"/>
                  <a:t>A</a:t>
                </a:r>
                <a:r>
                  <a:rPr lang="en-US" altLang="zh-TW" baseline="-25000" dirty="0" err="1" smtClean="0"/>
                  <a:t>ē</a:t>
                </a:r>
                <a:r>
                  <a:rPr lang="en-US" altLang="zh-TW" i="1" dirty="0" smtClean="0"/>
                  <a:t/>
                </a:r>
                <a:r>
                  <a:rPr lang="en-US" altLang="zh-TW" i="1" baseline="30000" dirty="0"/>
                  <a:t>B</a:t>
                </a:r>
                <a:r>
                  <a:rPr lang="en-US" altLang="zh-TW" i="1" baseline="30000" dirty="0" smtClean="0"/>
                  <a:t>,i-</a:t>
                </a:r>
                <a:r>
                  <a:rPr lang="en-US" altLang="zh-TW" baseline="30000" dirty="0" smtClean="0"/>
                  <a:t>1</a:t>
                </a:r>
              </a:p>
              <a:p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在</a:t>
                </a:r>
                <a:r>
                  <a:rPr lang="en-US" altLang="zh-TW" dirty="0" smtClean="0"/>
                  <a:t>Determine </a:t>
                </a:r>
                <a:r>
                  <a:rPr lang="en-US" altLang="zh-TW" dirty="0" err="1" smtClean="0"/>
                  <a:t>A</a:t>
                </a:r>
                <a:r>
                  <a:rPr lang="en-US" altLang="zh-TW" baseline="30000" dirty="0" err="1" smtClean="0"/>
                  <a:t>L,i</a:t>
                </a:r>
                <a:r>
                  <a:rPr lang="zh-TW" altLang="en-US" dirty="0" smtClean="0"/>
                  <a:t> 時</a:t>
                </a:r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 smtClean="0"/>
                  <a:t>there </a:t>
                </a:r>
                <a:r>
                  <a:rPr lang="en-US" altLang="zh-TW" dirty="0"/>
                  <a:t>exist two comparable matches </a:t>
                </a:r>
                <a:endParaRPr lang="en-US" altLang="zh-TW" dirty="0" smtClean="0"/>
              </a:p>
              <a:p>
                <a:r>
                  <a:rPr lang="en-US" altLang="zh-TW" i="1" dirty="0" err="1" smtClean="0"/>
                  <a:t>c</a:t>
                </a:r>
                <a:r>
                  <a:rPr lang="en-US" altLang="zh-TW" i="1" baseline="30000" dirty="0" err="1"/>
                  <a:t>L</a:t>
                </a:r>
                <a:r>
                  <a:rPr lang="en-US" altLang="zh-TW" i="1" baseline="30000" dirty="0" smtClean="0"/>
                  <a:t/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e</a:t>
                </a:r>
                <a:r>
                  <a:rPr lang="en-US" altLang="zh-TW" i="1" dirty="0" smtClean="0"/>
                  <a:t/>
                </a:r>
                <a:r>
                  <a:rPr lang="en-US" altLang="zh-TW" i="1" baseline="30000" dirty="0" err="1"/>
                  <a:t>L</a:t>
                </a:r>
                <a:r>
                  <a:rPr lang="en-US" altLang="zh-TW" i="1" baseline="30000" dirty="0" err="1" smtClean="0"/>
                  <a:t>,i</a:t>
                </a:r>
                <a:r>
                  <a:rPr lang="en-US" altLang="zh-TW" dirty="0" err="1" smtClean="0"/>
                  <a:t>and</a:t>
                </a:r>
                <a:r>
                  <a:rPr lang="en-US" altLang="zh-TW" dirty="0" smtClean="0"/>
                  <a:t/>
                </a:r>
                <a:r>
                  <a:rPr lang="en-US" altLang="zh-TW" i="1" dirty="0" err="1" smtClean="0"/>
                  <a:t>c</a:t>
                </a:r>
                <a:r>
                  <a:rPr lang="en-US" altLang="zh-TW" i="1" baseline="30000" dirty="0" err="1"/>
                  <a:t>B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∈</m:t>
                    </m:r>
                  </m:oMath>
                </a14:m>
                <a:r>
                  <a:rPr lang="en-US" altLang="zh-TW" i="1" dirty="0" smtClean="0"/>
                  <a:t/>
                </a:r>
                <a:r>
                  <a:rPr lang="en-US" altLang="zh-TW" i="1" dirty="0" err="1"/>
                  <a:t>A</a:t>
                </a:r>
                <a:r>
                  <a:rPr lang="en-US" altLang="zh-TW" baseline="-25000" dirty="0" err="1"/>
                  <a:t>ē</a:t>
                </a:r>
                <a:r>
                  <a:rPr lang="en-US" altLang="zh-TW" i="1" dirty="0"/>
                  <a:t/>
                </a:r>
                <a:r>
                  <a:rPr lang="en-US" altLang="zh-TW" i="1" baseline="30000" dirty="0"/>
                  <a:t>B</a:t>
                </a:r>
                <a:r>
                  <a:rPr lang="en-US" altLang="zh-TW" i="1" baseline="30000" dirty="0" smtClean="0"/>
                  <a:t>,i-</a:t>
                </a:r>
                <a:r>
                  <a:rPr lang="en-US" altLang="zh-TW" baseline="30000" dirty="0" smtClean="0"/>
                  <a:t>1</a:t>
                </a:r>
                <a:endParaRPr lang="zh-TW" altLang="en-US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685" y="3861048"/>
                <a:ext cx="3991528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1064" t="-1493" b="-59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6563676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群組 25"/>
          <p:cNvGrpSpPr/>
          <p:nvPr/>
        </p:nvGrpSpPr>
        <p:grpSpPr>
          <a:xfrm>
            <a:off x="5796136" y="-171400"/>
            <a:ext cx="3312368" cy="2808312"/>
            <a:chOff x="5940152" y="44624"/>
            <a:chExt cx="3312368" cy="2808312"/>
          </a:xfrm>
        </p:grpSpPr>
        <p:grpSp>
          <p:nvGrpSpPr>
            <p:cNvPr id="7" name="群組 6"/>
            <p:cNvGrpSpPr/>
            <p:nvPr/>
          </p:nvGrpSpPr>
          <p:grpSpPr>
            <a:xfrm>
              <a:off x="6444208" y="260650"/>
              <a:ext cx="2808312" cy="2592286"/>
              <a:chOff x="6967558" y="332658"/>
              <a:chExt cx="2284962" cy="2370520"/>
            </a:xfrm>
          </p:grpSpPr>
          <p:pic>
            <p:nvPicPr>
              <p:cNvPr id="4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6407" r="7460"/>
              <a:stretch>
                <a:fillRect/>
              </a:stretch>
            </p:blipFill>
            <p:spPr bwMode="auto">
              <a:xfrm>
                <a:off x="6967558" y="332658"/>
                <a:ext cx="2176442" cy="23705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" name="左-右雙向箭號 5"/>
              <p:cNvSpPr/>
              <p:nvPr/>
            </p:nvSpPr>
            <p:spPr>
              <a:xfrm>
                <a:off x="7164288" y="2195572"/>
                <a:ext cx="2088232" cy="369332"/>
              </a:xfrm>
              <a:prstGeom prst="leftRightArrow">
                <a:avLst>
                  <a:gd name="adj1" fmla="val 0"/>
                  <a:gd name="adj2" fmla="val 48042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0" name="群組 19"/>
            <p:cNvGrpSpPr/>
            <p:nvPr/>
          </p:nvGrpSpPr>
          <p:grpSpPr>
            <a:xfrm>
              <a:off x="5940152" y="1628801"/>
              <a:ext cx="1944216" cy="798977"/>
              <a:chOff x="5940152" y="1628801"/>
              <a:chExt cx="1944216" cy="798977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6948264" y="1628802"/>
                <a:ext cx="216024" cy="7989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7164288" y="1628801"/>
                <a:ext cx="240129" cy="5878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7404417" y="1628801"/>
                <a:ext cx="216024" cy="4354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620441" y="1628801"/>
                <a:ext cx="263927" cy="21482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5940152" y="1658958"/>
                <a:ext cx="415498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TW" dirty="0" err="1" smtClean="0"/>
                  <a:t>K,l</a:t>
                </a:r>
                <a:endParaRPr lang="zh-TW" altLang="en-US" dirty="0"/>
              </a:p>
            </p:txBody>
          </p:sp>
          <p:cxnSp>
            <p:nvCxnSpPr>
              <p:cNvPr id="19" name="直線單箭頭接點 18"/>
              <p:cNvCxnSpPr>
                <a:stCxn id="13" idx="3"/>
              </p:cNvCxnSpPr>
              <p:nvPr/>
            </p:nvCxnSpPr>
            <p:spPr>
              <a:xfrm>
                <a:off x="6355650" y="1843624"/>
                <a:ext cx="592614" cy="292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/>
          </p:nvGrpSpPr>
          <p:grpSpPr>
            <a:xfrm>
              <a:off x="8321149" y="44624"/>
              <a:ext cx="787355" cy="1584178"/>
              <a:chOff x="8321149" y="44624"/>
              <a:chExt cx="787355" cy="1584178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8784468" y="1024212"/>
                <a:ext cx="216024" cy="604590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8544339" y="1235297"/>
                <a:ext cx="240129" cy="39350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8321149" y="1409332"/>
                <a:ext cx="216024" cy="219470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文字方塊 20"/>
              <p:cNvSpPr txBox="1"/>
              <p:nvPr/>
            </p:nvSpPr>
            <p:spPr>
              <a:xfrm>
                <a:off x="8599903" y="44624"/>
                <a:ext cx="508601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TW" dirty="0" err="1" smtClean="0"/>
                  <a:t>K’,l</a:t>
                </a:r>
                <a:r>
                  <a:rPr lang="en-US" altLang="zh-TW" dirty="0" smtClean="0"/>
                  <a:t>’</a:t>
                </a:r>
                <a:endParaRPr lang="zh-TW" altLang="en-US" dirty="0"/>
              </a:p>
            </p:txBody>
          </p:sp>
          <p:cxnSp>
            <p:nvCxnSpPr>
              <p:cNvPr id="23" name="直線單箭頭接點 22"/>
              <p:cNvCxnSpPr>
                <a:stCxn id="21" idx="2"/>
                <a:endCxn id="14" idx="0"/>
              </p:cNvCxnSpPr>
              <p:nvPr/>
            </p:nvCxnSpPr>
            <p:spPr>
              <a:xfrm>
                <a:off x="8854204" y="413956"/>
                <a:ext cx="38276" cy="61025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/>
              <a:t>Case c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440160"/>
                <a:ext cx="7789746" cy="5733256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sz="4000" i="1" dirty="0" smtClean="0">
                    <a:solidFill>
                      <a:srgbClr val="FF0000"/>
                    </a:solidFill>
                  </a:rPr>
                  <a:t>Case c </a:t>
                </a:r>
                <a:r>
                  <a:rPr lang="en-US" altLang="zh-TW" sz="4000" i="1" dirty="0">
                    <a:solidFill>
                      <a:srgbClr val="FF0000"/>
                    </a:solidFill>
                  </a:rPr>
                  <a:t>: </a:t>
                </a:r>
                <a:endParaRPr lang="en-US" altLang="zh-TW" sz="4000" i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4000" i="1" dirty="0" smtClean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4000" i="1" baseline="30000" dirty="0">
                    <a:solidFill>
                      <a:srgbClr val="FF0000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4000" i="1" baseline="30000" dirty="0" smtClean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4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sz="4000" i="1" baseline="30000" dirty="0" smtClean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40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4000" i="1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4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4000" i="1" baseline="30000" dirty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sz="4000" i="1" baseline="30000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4000" i="1" baseline="30000" dirty="0" smtClean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4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sz="4000" i="1" baseline="30000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4000" dirty="0">
                    <a:solidFill>
                      <a:srgbClr val="FF0000"/>
                    </a:solidFill>
                  </a:rPr>
                  <a:t>and </a:t>
                </a:r>
                <a:r>
                  <a:rPr lang="zh-TW" altLang="en-US" sz="4000" i="1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4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4000" i="1" baseline="30000" dirty="0">
                    <a:solidFill>
                      <a:srgbClr val="FF0000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4000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4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 </m:t>
                    </m:r>
                    <m:r>
                      <a:rPr lang="en-US" altLang="zh-TW" sz="4000" b="0" i="1" smtClean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</m:oMath>
                </a14:m>
                <a:r>
                  <a:rPr lang="en-US" altLang="zh-TW" sz="4000" i="1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4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4000" i="1" baseline="30000" dirty="0">
                    <a:solidFill>
                      <a:srgbClr val="FF0000"/>
                    </a:solidFill>
                  </a:rPr>
                  <a:t>R</a:t>
                </a:r>
                <a:r>
                  <a:rPr lang="en-US" altLang="zh-TW" sz="4000" i="1" baseline="30000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4000" i="1" baseline="30000" dirty="0" smtClean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4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4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sz="4000" i="1" baseline="30000" dirty="0" smtClean="0">
                    <a:solidFill>
                      <a:srgbClr val="FF0000"/>
                    </a:solidFill>
                  </a:rPr>
                  <a:t/>
                </a:r>
                <a:endParaRPr lang="en-US" altLang="zh-TW" sz="4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(L</a:t>
                </a:r>
                <a:r>
                  <a:rPr lang="zh-TW" altLang="en-US" dirty="0"/>
                  <a:t/>
                </a:r>
                <a:r>
                  <a:rPr lang="en-US" altLang="zh-TW" dirty="0"/>
                  <a:t>&amp;</a:t>
                </a:r>
                <a:r>
                  <a:rPr lang="zh-TW" altLang="en-US" dirty="0"/>
                  <a:t/>
                </a:r>
                <a:r>
                  <a:rPr lang="en-US" altLang="zh-TW" dirty="0" smtClean="0"/>
                  <a:t>R</a:t>
                </a:r>
                <a:r>
                  <a:rPr lang="zh-TW" altLang="en-US" dirty="0" smtClean="0"/>
                  <a:t>的</a:t>
                </a:r>
                <a:r>
                  <a:rPr lang="en-US" altLang="zh-TW" dirty="0" err="1"/>
                  <a:t>antichains</a:t>
                </a:r>
                <a:r>
                  <a:rPr lang="zh-TW" altLang="en-US" dirty="0"/>
                  <a:t>比較多</a:t>
                </a:r>
                <a:r>
                  <a:rPr lang="en-US" altLang="zh-TW" dirty="0" smtClean="0"/>
                  <a:t>)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>(1) By start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and end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indices   =&gt;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>s 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TL,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-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1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. 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>(2)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B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y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Lemma 3.2, </a:t>
                </a:r>
                <a:endParaRPr lang="en-US" altLang="zh-TW" i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-25000" dirty="0" smtClean="0">
                    <a:solidFill>
                      <a:schemeClr val="tx1"/>
                    </a:solidFill>
                  </a:rPr>
                  <a:t>u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 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is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not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TL-complete     For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u &gt; 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and</a:t>
                </a:r>
                <a:r>
                  <a:rPr lang="de-DE" altLang="zh-TW" dirty="0" smtClean="0">
                    <a:solidFill>
                      <a:schemeClr val="tx1"/>
                    </a:solidFill>
                  </a:rPr>
                  <a:t/>
                </a:r>
                <a:r>
                  <a:rPr lang="de-DE" altLang="zh-TW" dirty="0">
                    <a:solidFill>
                      <a:schemeClr val="tx1"/>
                    </a:solidFill>
                  </a:rPr>
                  <a:t>(</a:t>
                </a:r>
                <a:r>
                  <a:rPr lang="de-DE" altLang="zh-TW" i="1" dirty="0" smtClean="0">
                    <a:solidFill>
                      <a:schemeClr val="tx1"/>
                    </a:solidFill>
                  </a:rPr>
                  <a:t>k,l</a:t>
                </a:r>
                <a:r>
                  <a:rPr lang="de-DE" altLang="zh-TW" dirty="0" smtClean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zh-TW" altLang="de-DE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𝜖</m:t>
                    </m:r>
                  </m:oMath>
                </a14:m>
                <a:r>
                  <a:rPr lang="de-DE" altLang="zh-TW" i="1" dirty="0">
                    <a:solidFill>
                      <a:schemeClr val="tx1"/>
                    </a:solidFill>
                  </a:rPr>
                  <a:t> A</a:t>
                </a:r>
                <a:r>
                  <a:rPr lang="de-DE" altLang="zh-TW" i="1" baseline="-25000" dirty="0">
                    <a:solidFill>
                      <a:schemeClr val="tx1"/>
                    </a:solidFill>
                  </a:rPr>
                  <a:t>u</a:t>
                </a:r>
                <a:r>
                  <a:rPr lang="de-DE" altLang="zh-TW" i="1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i="1" baseline="30000" dirty="0" smtClean="0">
                    <a:solidFill>
                      <a:schemeClr val="tx1"/>
                    </a:solidFill>
                  </a:rPr>
                  <a:t>L,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 smtClean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</a:t>
                </a:r>
                <a:r>
                  <a:rPr lang="de-DE" altLang="zh-TW" i="1" baseline="30000" dirty="0" smtClean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b="0" i="1" baseline="30000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altLang="zh-TW" b="0" baseline="30000" dirty="0" smtClean="0">
                  <a:solidFill>
                    <a:schemeClr val="tx1"/>
                  </a:solidFill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/>
                </a:r>
                <a:endParaRPr lang="en-US" altLang="zh-TW" i="1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-25000" dirty="0" smtClean="0">
                    <a:solidFill>
                      <a:schemeClr val="tx1"/>
                    </a:solidFill>
                  </a:rPr>
                  <a:t>v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>
                    <a:solidFill>
                      <a:schemeClr val="tx1"/>
                    </a:solidFill>
                  </a:rPr>
                  <a:t>is not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BR-complete   </a:t>
                </a:r>
                <a:r>
                  <a:rPr lang="de-DE" altLang="zh-TW" dirty="0" smtClean="0">
                    <a:solidFill>
                      <a:schemeClr val="tx1"/>
                    </a:solidFill>
                  </a:rPr>
                  <a:t>For  </a:t>
                </a:r>
                <a:r>
                  <a:rPr lang="de-DE" altLang="zh-TW" i="1" dirty="0">
                    <a:solidFill>
                      <a:schemeClr val="tx1"/>
                    </a:solidFill>
                  </a:rPr>
                  <a:t>v &gt;</a:t>
                </a:r>
                <a:r>
                  <a:rPr lang="de-DE" altLang="zh-TW" i="1" dirty="0" smtClean="0">
                    <a:solidFill>
                      <a:schemeClr val="tx1"/>
                    </a:solidFill>
                  </a:rPr>
                  <a:t>e</a:t>
                </a:r>
                <a:r>
                  <a:rPr lang="de-DE" altLang="zh-TW" i="1" baseline="30000" dirty="0" smtClean="0">
                    <a:solidFill>
                      <a:schemeClr val="tx1"/>
                    </a:solidFill>
                  </a:rPr>
                  <a:t>B,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de-DE" altLang="zh-TW" dirty="0">
                    <a:solidFill>
                      <a:schemeClr val="tx1"/>
                    </a:solidFill>
                  </a:rPr>
                  <a:t>and (</a:t>
                </a:r>
                <a:r>
                  <a:rPr lang="de-DE" altLang="zh-TW" i="1" dirty="0" smtClean="0">
                    <a:solidFill>
                      <a:schemeClr val="tx1"/>
                    </a:solidFill>
                  </a:rPr>
                  <a:t>k‘,l‘</a:t>
                </a:r>
                <a:r>
                  <a:rPr lang="de-DE" altLang="zh-TW" dirty="0" smtClean="0">
                    <a:solidFill>
                      <a:schemeClr val="tx1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zh-TW" altLang="de-DE" i="1" dirty="0">
                        <a:solidFill>
                          <a:schemeClr val="tx1"/>
                        </a:solidFill>
                        <a:latin typeface="Cambria Math"/>
                      </a:rPr>
                      <m:t>𝜖</m:t>
                    </m:r>
                  </m:oMath>
                </a14:m>
                <a:r>
                  <a:rPr lang="de-DE" altLang="zh-TW" i="1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de-DE" altLang="zh-TW" i="1" baseline="-25000" dirty="0" smtClean="0">
                    <a:solidFill>
                      <a:schemeClr val="tx1"/>
                    </a:solidFill>
                  </a:rPr>
                  <a:t>v</a:t>
                </a:r>
                <a:r>
                  <a:rPr lang="de-DE" altLang="zh-TW" i="1" baseline="30000" dirty="0" smtClean="0">
                    <a:solidFill>
                      <a:schemeClr val="tx1"/>
                    </a:solidFill>
                  </a:rPr>
                  <a:t>R,</a:t>
                </a:r>
                <a:r>
                  <a:rPr lang="de-DE" altLang="zh-TW" i="1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  <m:r>
                      <a:rPr lang="en-US" altLang="zh-TW" b="0" i="1" baseline="30000" dirty="0" smtClean="0">
                        <a:solidFill>
                          <a:schemeClr val="tx1"/>
                        </a:solidFill>
                        <a:latin typeface="Cambria Math"/>
                      </a:rPr>
                      <m:t>     </m:t>
                    </m:r>
                  </m:oMath>
                </a14:m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/>
                </a:r>
              </a:p>
              <a:p>
                <a:pPr marL="0" indent="0">
                  <a:buNone/>
                </a:pPr>
                <a:r>
                  <a:rPr lang="en-US" altLang="zh-TW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dirty="0" smtClean="0"/>
                  <a:t>=&gt;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k&gt;k’  and l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 l’  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(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-25000" dirty="0">
                    <a:solidFill>
                      <a:schemeClr val="tx1"/>
                    </a:solidFill>
                  </a:rPr>
                  <a:t>v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 </a:t>
                </a:r>
                <a:r>
                  <a:rPr lang="da-DK" altLang="zh-TW" i="1" dirty="0" smtClean="0">
                    <a:solidFill>
                      <a:schemeClr val="tx1"/>
                    </a:solidFill>
                  </a:rPr>
                  <a:t>and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A</a:t>
                </a:r>
                <a:r>
                  <a:rPr lang="en-US" altLang="zh-TW" i="1" baseline="-25000" dirty="0">
                    <a:solidFill>
                      <a:schemeClr val="tx1"/>
                    </a:solidFill>
                  </a:rPr>
                  <a:t>u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L 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are incomparable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)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</a:rPr>
                  <a:t>  case 1   : </a:t>
                </a:r>
                <a:r>
                  <a:rPr lang="en-US" altLang="zh-TW" i="1" dirty="0" err="1" smtClean="0">
                    <a:solidFill>
                      <a:schemeClr val="tx1"/>
                    </a:solidFill>
                  </a:rPr>
                  <a:t>e</a:t>
                </a:r>
                <a:r>
                  <a:rPr lang="en-US" altLang="zh-TW" i="1" baseline="30000" dirty="0" err="1" smtClean="0">
                    <a:solidFill>
                      <a:schemeClr val="tx1"/>
                    </a:solidFill>
                  </a:rPr>
                  <a:t>L</a:t>
                </a:r>
                <a:r>
                  <a:rPr lang="en-US" altLang="zh-TW" i="1" baseline="30000" dirty="0" smtClean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</a:t>
                </a:r>
                <a:r>
                  <a:rPr lang="en-US" altLang="zh-TW" i="1" dirty="0" smtClean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endParaRPr lang="da-DK" altLang="zh-TW" i="1" baseline="30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da-DK" altLang="zh-TW" i="1" baseline="30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da-DK" altLang="zh-TW" i="1" baseline="30000" dirty="0" smtClean="0">
                    <a:solidFill>
                      <a:srgbClr val="FF0000"/>
                    </a:solidFill>
                  </a:rPr>
                  <a:t/>
                </a:r>
                <a:r>
                  <a:rPr lang="da-DK" altLang="zh-TW" i="1" dirty="0" smtClean="0">
                    <a:solidFill>
                      <a:srgbClr val="FF0000"/>
                    </a:solidFill>
                  </a:rPr>
                  <a:t>p=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 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L,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da-DK" altLang="zh-TW" i="1" dirty="0">
                    <a:solidFill>
                      <a:srgbClr val="FF0000"/>
                    </a:solidFill>
                  </a:rPr>
                  <a:t>+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 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 </m:t>
                    </m:r>
                  </m:oMath>
                </a14:m>
                <a:endParaRPr lang="da-DK" altLang="zh-TW" i="1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da-DK" altLang="zh-TW" i="1" baseline="30000" dirty="0" smtClean="0">
                    <a:solidFill>
                      <a:srgbClr val="FF0000"/>
                    </a:solidFill>
                  </a:rPr>
                  <a:t/>
                </a:r>
                <a:r>
                  <a:rPr lang="da-DK" altLang="zh-TW" i="1" dirty="0" smtClean="0">
                    <a:solidFill>
                      <a:schemeClr val="tx1"/>
                    </a:solidFill>
                  </a:rPr>
                  <a:t>case 2   :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</a:t>
                </a:r>
                <a:r>
                  <a:rPr lang="en-US" altLang="zh-TW" i="1" baseline="30000" dirty="0" err="1">
                    <a:solidFill>
                      <a:schemeClr val="tx1"/>
                    </a:solidFill>
                  </a:rPr>
                  <a:t>L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m/2┐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/>
                      </a:rPr>
                      <m:t>&lt;</m:t>
                    </m:r>
                  </m:oMath>
                </a14:m>
                <a:r>
                  <a:rPr lang="en-US" altLang="zh-TW" i="1" dirty="0" smtClean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/>
                </a:r>
                <a:endParaRPr lang="da-DK" altLang="zh-TW" i="1" baseline="30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da-DK" altLang="zh-TW" i="1" dirty="0" smtClean="0">
                    <a:solidFill>
                      <a:srgbClr val="FF0000"/>
                    </a:solidFill>
                  </a:rPr>
                  <a:t>p=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 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da-DK" altLang="zh-TW" i="1" dirty="0">
                    <a:solidFill>
                      <a:srgbClr val="FF0000"/>
                    </a:solidFill>
                  </a:rPr>
                  <a:t>+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440160"/>
                <a:ext cx="7789746" cy="5733256"/>
              </a:xfrm>
              <a:blipFill rotWithShape="1">
                <a:blip r:embed="rId4"/>
                <a:stretch>
                  <a:fillRect l="-1252" t="-1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23928" y="5209815"/>
            <a:ext cx="5230495" cy="164818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04241326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 l="6407" r="7460"/>
          <a:stretch>
            <a:fillRect/>
          </a:stretch>
        </p:blipFill>
        <p:spPr bwMode="auto">
          <a:xfrm>
            <a:off x="6660232" y="260648"/>
            <a:ext cx="2195736" cy="2391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zh-TW" i="1" dirty="0"/>
              <a:t>Case d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528423"/>
                <a:ext cx="8594693" cy="542896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Case d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: e </a:t>
                </a:r>
                <a:r>
                  <a:rPr lang="en-US" altLang="zh-TW" sz="2000" i="1" baseline="30000" dirty="0">
                    <a:solidFill>
                      <a:srgbClr val="FF0000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rgbClr val="FF0000"/>
                    </a:solidFill>
                  </a:rPr>
                  <a:t>L,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2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and </a:t>
                </a:r>
                <a:r>
                  <a:rPr lang="zh-TW" altLang="en-US" sz="2000" i="1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rgbClr val="FF0000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 smtClean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  <m:r>
                      <a:rPr lang="en-US" altLang="zh-TW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rgbClr val="FF0000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endParaRPr lang="da-DK" altLang="zh-TW" sz="2000" i="1" baseline="30000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 smtClean="0"/>
                  <a:t>(T &amp;</a:t>
                </a:r>
                <a:r>
                  <a:rPr lang="zh-TW" altLang="en-US" sz="2000" dirty="0" smtClean="0"/>
                  <a:t/>
                </a:r>
                <a:r>
                  <a:rPr lang="en-US" altLang="zh-TW" sz="2000" dirty="0" smtClean="0"/>
                  <a:t>B</a:t>
                </a:r>
                <a:r>
                  <a:rPr lang="zh-TW" altLang="en-US" sz="2000" dirty="0" smtClean="0"/>
                  <a:t>的</a:t>
                </a:r>
                <a:r>
                  <a:rPr lang="en-US" altLang="zh-TW" sz="2000" dirty="0" err="1"/>
                  <a:t>antichains</a:t>
                </a:r>
                <a:r>
                  <a:rPr lang="zh-TW" altLang="en-US" sz="2000" dirty="0"/>
                  <a:t>比較多</a:t>
                </a:r>
                <a:r>
                  <a:rPr lang="en-US" altLang="zh-TW" sz="2000" dirty="0" smtClean="0"/>
                  <a:t>)</a:t>
                </a:r>
                <a:r>
                  <a:rPr lang="da-DK" altLang="zh-TW" sz="2000" i="1" baseline="30000" dirty="0" smtClean="0">
                    <a:solidFill>
                      <a:srgbClr val="FF0000"/>
                    </a:solidFill>
                  </a:rPr>
                  <a:t/>
                </a:r>
              </a:p>
              <a:p>
                <a:pPr marL="0" indent="0">
                  <a:buNone/>
                </a:pPr>
                <a:endParaRPr lang="en-US" altLang="zh-TW" sz="2000" dirty="0">
                  <a:solidFill>
                    <a:srgbClr val="FF0000"/>
                  </a:solidFill>
                </a:endParaRPr>
              </a:p>
              <a:p>
                <a:r>
                  <a:rPr lang="da-DK" altLang="zh-TW" sz="2000" dirty="0" smtClean="0">
                    <a:solidFill>
                      <a:schemeClr val="tx1"/>
                    </a:solidFill>
                  </a:rPr>
                  <a:t>Finding </a:t>
                </a:r>
                <a:r>
                  <a:rPr lang="da-DK" altLang="zh-TW" sz="2000" dirty="0">
                    <a:solidFill>
                      <a:schemeClr val="tx1"/>
                    </a:solidFill>
                  </a:rPr>
                  <a:t>a minimal </a:t>
                </a:r>
                <a:r>
                  <a:rPr lang="da-DK" altLang="zh-TW" sz="2000" dirty="0" smtClean="0">
                    <a:solidFill>
                      <a:schemeClr val="tx1"/>
                    </a:solidFill>
                  </a:rPr>
                  <a:t>decomposition  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is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slightly more complicated in this case. </a:t>
                </a:r>
                <a:endParaRPr lang="en-US" altLang="zh-TW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 smtClean="0">
                    <a:solidFill>
                      <a:schemeClr val="tx1"/>
                    </a:solidFill>
                  </a:rPr>
                  <a:t>	Consider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the following algorithm. </a:t>
                </a:r>
                <a:endParaRPr lang="en-US" altLang="zh-TW" sz="20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TW" sz="2000" dirty="0" smtClean="0">
                    <a:solidFill>
                      <a:schemeClr val="tx1"/>
                    </a:solidFill>
                  </a:rPr>
                  <a:t>Starting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/>
                </a:r>
                <a:r>
                  <a:rPr lang="de-DE" altLang="zh-TW" sz="2000" dirty="0" smtClean="0">
                    <a:solidFill>
                      <a:schemeClr val="tx1"/>
                    </a:solidFill>
                  </a:rPr>
                  <a:t>with </a:t>
                </a:r>
                <a:r>
                  <a:rPr lang="de-DE" altLang="zh-TW" sz="2000" i="1" dirty="0">
                    <a:solidFill>
                      <a:schemeClr val="tx1"/>
                    </a:solidFill>
                  </a:rPr>
                  <a:t>u </a:t>
                </a:r>
                <a:r>
                  <a:rPr lang="de-DE" altLang="zh-TW" sz="2000" dirty="0">
                    <a:solidFill>
                      <a:schemeClr val="tx1"/>
                    </a:solidFill>
                  </a:rPr>
                  <a:t>:=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sz="2000" i="1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sz="2000" dirty="0">
                    <a:solidFill>
                      <a:schemeClr val="tx1"/>
                    </a:solidFill>
                  </a:rPr>
                  <a:t>and </a:t>
                </a:r>
                <a:r>
                  <a:rPr lang="de-DE" altLang="zh-TW" sz="2000" i="1" dirty="0">
                    <a:solidFill>
                      <a:schemeClr val="tx1"/>
                    </a:solidFill>
                  </a:rPr>
                  <a:t>v </a:t>
                </a:r>
                <a:r>
                  <a:rPr lang="de-DE" altLang="zh-TW" sz="2000" dirty="0">
                    <a:solidFill>
                      <a:schemeClr val="tx1"/>
                    </a:solidFill>
                  </a:rPr>
                  <a:t>:=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sz="2000" i="1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sz="2000" dirty="0">
                    <a:solidFill>
                      <a:schemeClr val="tx1"/>
                    </a:solidFill>
                  </a:rPr>
                  <a:t>+ 1, </a:t>
                </a:r>
                <a:endParaRPr lang="de-DE" altLang="zh-TW" sz="2000" dirty="0" smtClean="0">
                  <a:solidFill>
                    <a:schemeClr val="tx1"/>
                  </a:solidFill>
                </a:endParaRPr>
              </a:p>
              <a:p>
                <a:r>
                  <a:rPr lang="de-DE" altLang="zh-TW" sz="2000" dirty="0" smtClean="0">
                    <a:solidFill>
                      <a:schemeClr val="tx1"/>
                    </a:solidFill>
                  </a:rPr>
                  <a:t>we check whether </a:t>
                </a:r>
                <a:r>
                  <a:rPr lang="de-DE" altLang="zh-TW" sz="2000" i="1" dirty="0">
                    <a:solidFill>
                      <a:schemeClr val="tx1"/>
                    </a:solidFill>
                  </a:rPr>
                  <a:t>A</a:t>
                </a:r>
                <a:r>
                  <a:rPr lang="de-DE" altLang="zh-TW" sz="2000" i="1" baseline="-25000" dirty="0">
                    <a:solidFill>
                      <a:schemeClr val="tx1"/>
                    </a:solidFill>
                  </a:rPr>
                  <a:t>u</a:t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 T,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sz="2000" i="1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sz="2000" dirty="0" smtClean="0">
                    <a:solidFill>
                      <a:schemeClr val="tx1"/>
                    </a:solidFill>
                  </a:rPr>
                  <a:t>and </a:t>
                </a:r>
                <a:r>
                  <a:rPr lang="de-DE" altLang="zh-TW" sz="2000" i="1" dirty="0">
                    <a:solidFill>
                      <a:schemeClr val="tx1"/>
                    </a:solidFill>
                  </a:rPr>
                  <a:t>A</a:t>
                </a:r>
                <a:r>
                  <a:rPr lang="de-DE" altLang="zh-TW" sz="2000" i="1" baseline="-25000" dirty="0">
                    <a:solidFill>
                      <a:schemeClr val="tx1"/>
                    </a:solidFill>
                  </a:rPr>
                  <a:t>v </a:t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 </m:t>
                    </m:r>
                  </m:oMath>
                </a14:m>
                <a:r>
                  <a:rPr lang="de-DE" altLang="zh-TW" sz="2000" dirty="0" smtClean="0">
                    <a:solidFill>
                      <a:schemeClr val="tx1"/>
                    </a:solidFill>
                  </a:rPr>
                  <a:t>are</a:t>
                </a:r>
                <a:r>
                  <a:rPr lang="de-DE" altLang="zh-TW" sz="2000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sz="2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incomparable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. </a:t>
                </a:r>
                <a:endParaRPr lang="en-US" altLang="zh-TW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 smtClean="0">
                    <a:solidFill>
                      <a:schemeClr val="tx1"/>
                    </a:solidFill>
                  </a:rPr>
                  <a:t>	(1) If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they are 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not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 =&gt;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backup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u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and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v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ũ</m:t>
                    </m:r>
                  </m:oMath>
                </a14:m>
                <a:r>
                  <a:rPr lang="en-US" altLang="zh-TW" sz="2000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solidFill>
                          <a:schemeClr val="tx1"/>
                        </a:solidFill>
                        <a:latin typeface="Cambria Math"/>
                      </a:rPr>
                      <m:t>ṽ</m:t>
                    </m:r>
                    <m:r>
                      <a:rPr lang="en-US" altLang="zh-TW" sz="2000" b="0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sz="2000" dirty="0" smtClean="0">
                    <a:solidFill>
                      <a:schemeClr val="tx1"/>
                    </a:solidFill>
                  </a:rPr>
                  <a:t>and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increase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v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by one. </a:t>
                </a:r>
                <a:endParaRPr lang="en-US" altLang="zh-TW" sz="2000" dirty="0" smtClean="0">
                  <a:solidFill>
                    <a:schemeClr val="tx1"/>
                  </a:solidFill>
                </a:endParaRPr>
              </a:p>
              <a:p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 smtClean="0">
                    <a:solidFill>
                      <a:schemeClr val="tx1"/>
                    </a:solidFill>
                  </a:rPr>
                  <a:t>	(2) Otherwise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the </a:t>
                </a:r>
                <a:r>
                  <a:rPr lang="en-US" altLang="zh-TW" sz="2000" dirty="0" err="1">
                    <a:solidFill>
                      <a:schemeClr val="tx1"/>
                    </a:solidFill>
                  </a:rPr>
                  <a:t>antichains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 are connected,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u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is set to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u 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-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1, and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v 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is  set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to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+1. </a:t>
                </a:r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r>
                  <a:rPr lang="en-US" altLang="zh-TW" sz="2000" dirty="0" smtClean="0">
                    <a:solidFill>
                      <a:schemeClr val="tx1"/>
                    </a:solidFill>
                  </a:rPr>
                  <a:t>repeat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this until all remaining </a:t>
                </a:r>
                <a:r>
                  <a:rPr lang="en-US" altLang="zh-TW" sz="2000" dirty="0" err="1">
                    <a:solidFill>
                      <a:schemeClr val="tx1"/>
                    </a:solidFill>
                  </a:rPr>
                  <a:t>antichains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 in </a:t>
                </a:r>
                <a:endParaRPr lang="en-US" altLang="zh-TW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TW" sz="2000" dirty="0"/>
                  <a:t/>
                </a:r>
                <a:r>
                  <a:rPr lang="en-US" altLang="zh-TW" sz="2000" dirty="0" smtClean="0"/>
                  <a:t/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either </a:t>
                </a:r>
                <a:r>
                  <a:rPr lang="de-DE" altLang="zh-TW" sz="2000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en-US" altLang="zh-TW" sz="2000" i="1" baseline="30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sz="2000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or </a:t>
                </a:r>
                <a:r>
                  <a:rPr lang="de-DE" altLang="zh-TW" sz="2000" i="1" dirty="0" smtClean="0">
                    <a:solidFill>
                      <a:schemeClr val="tx1"/>
                    </a:solidFill>
                  </a:rPr>
                  <a:t>A</a:t>
                </a:r>
                <a:r>
                  <a:rPr lang="de-DE" altLang="zh-TW" sz="2000" i="1" baseline="-25000" dirty="0" smtClean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B,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 </m:t>
                    </m:r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have been </a:t>
                </a:r>
                <a:r>
                  <a:rPr lang="en-US" altLang="zh-TW" sz="2000" dirty="0" smtClean="0">
                    <a:solidFill>
                      <a:schemeClr val="tx1"/>
                    </a:solidFill>
                  </a:rPr>
                  <a:t>used(i.e.,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u </a:t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=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sz="2000" i="1" dirty="0">
                    <a:solidFill>
                      <a:schemeClr val="tx1"/>
                    </a:solidFill>
                  </a:rPr>
                  <a:t/>
                </a:r>
                <a:r>
                  <a:rPr lang="en-US" altLang="zh-TW" sz="2000" dirty="0">
                    <a:solidFill>
                      <a:schemeClr val="tx1"/>
                    </a:solidFill>
                  </a:rPr>
                  <a:t>or </a:t>
                </a:r>
                <a:r>
                  <a:rPr lang="en-US" altLang="zh-TW" sz="2000" i="1" dirty="0">
                    <a:solidFill>
                      <a:schemeClr val="tx1"/>
                    </a:solidFill>
                  </a:rPr>
                  <a:t>v &gt; e </a:t>
                </a:r>
                <a:r>
                  <a:rPr lang="en-US" altLang="zh-TW" sz="2000" i="1" baseline="30000" dirty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sz="2000" dirty="0" smtClean="0">
                    <a:solidFill>
                      <a:schemeClr val="tx1"/>
                    </a:solidFill>
                  </a:rPr>
                  <a:t>)</a:t>
                </a:r>
                <a:r>
                  <a:rPr lang="de-DE" altLang="zh-TW" sz="2000" dirty="0">
                    <a:solidFill>
                      <a:schemeClr val="tx1"/>
                    </a:solidFill>
                  </a:rPr>
                  <a:t/>
                </a:r>
                <a:endParaRPr lang="en-US" altLang="zh-TW" sz="2000" dirty="0"/>
              </a:p>
              <a:p>
                <a:pPr marL="0" indent="0" algn="ctr">
                  <a:buNone/>
                </a:pPr>
                <a:r>
                  <a:rPr lang="en-US" altLang="zh-TW" sz="2000" dirty="0"/>
                  <a:t/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Then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the total number of </a:t>
                </a:r>
                <a:r>
                  <a:rPr lang="en-US" altLang="zh-TW" sz="2000" dirty="0" err="1" smtClean="0">
                    <a:solidFill>
                      <a:srgbClr val="FF0000"/>
                    </a:solidFill>
                  </a:rPr>
                  <a:t>antichains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  is     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p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:=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u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+ </a:t>
                </a:r>
                <a:r>
                  <a:rPr lang="en-US" altLang="zh-TW" sz="2000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sz="2000" i="1" baseline="30000" dirty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sz="2000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sz="2000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sz="2000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sz="2000" i="1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528423"/>
                <a:ext cx="8594693" cy="5428969"/>
              </a:xfrm>
              <a:blipFill rotWithShape="1">
                <a:blip r:embed="rId4"/>
                <a:stretch>
                  <a:fillRect l="-780" t="-562" r="-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/>
          <p:cNvSpPr txBox="1"/>
          <p:nvPr/>
        </p:nvSpPr>
        <p:spPr>
          <a:xfrm>
            <a:off x="8748464" y="112739"/>
            <a:ext cx="30649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u</a:t>
            </a:r>
            <a:endParaRPr lang="zh-TW" altLang="en-US" dirty="0"/>
          </a:p>
        </p:txBody>
      </p:sp>
      <p:cxnSp>
        <p:nvCxnSpPr>
          <p:cNvPr id="11" name="直線單箭頭接點 10"/>
          <p:cNvCxnSpPr>
            <a:endCxn id="9" idx="2"/>
          </p:cNvCxnSpPr>
          <p:nvPr/>
        </p:nvCxnSpPr>
        <p:spPr>
          <a:xfrm flipH="1" flipV="1">
            <a:off x="8901711" y="482071"/>
            <a:ext cx="10325" cy="9743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14" idx="0"/>
          </p:cNvCxnSpPr>
          <p:nvPr/>
        </p:nvCxnSpPr>
        <p:spPr>
          <a:xfrm flipV="1">
            <a:off x="8993959" y="1628800"/>
            <a:ext cx="0" cy="4947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8843918" y="2123564"/>
            <a:ext cx="300082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780596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zh-TW" i="1" dirty="0"/>
              <a:t>Case d</a:t>
            </a:r>
            <a:endParaRPr lang="zh-TW" altLang="en-US" dirty="0"/>
          </a:p>
        </p:txBody>
      </p:sp>
      <p:grpSp>
        <p:nvGrpSpPr>
          <p:cNvPr id="27" name="群組 26"/>
          <p:cNvGrpSpPr/>
          <p:nvPr/>
        </p:nvGrpSpPr>
        <p:grpSpPr>
          <a:xfrm>
            <a:off x="25491" y="1730272"/>
            <a:ext cx="4402493" cy="4795072"/>
            <a:chOff x="25491" y="1730272"/>
            <a:chExt cx="4402493" cy="4795072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6407" r="7460"/>
            <a:stretch>
              <a:fillRect/>
            </a:stretch>
          </p:blipFill>
          <p:spPr bwMode="auto">
            <a:xfrm>
              <a:off x="25491" y="1730272"/>
              <a:ext cx="4402493" cy="4795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矩形 5"/>
            <p:cNvSpPr/>
            <p:nvPr/>
          </p:nvSpPr>
          <p:spPr>
            <a:xfrm>
              <a:off x="1619672" y="3501008"/>
              <a:ext cx="1872208" cy="36004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339752" y="4293096"/>
              <a:ext cx="792088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8" name="矩形 27"/>
              <p:cNvSpPr/>
              <p:nvPr/>
            </p:nvSpPr>
            <p:spPr>
              <a:xfrm>
                <a:off x="611560" y="836712"/>
                <a:ext cx="1728192" cy="504056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i="1" dirty="0" smtClean="0">
                    <a:solidFill>
                      <a:schemeClr val="tx1"/>
                    </a:solidFill>
                  </a:rPr>
                  <a:t>u := 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T,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i="1" dirty="0">
                    <a:solidFill>
                      <a:schemeClr val="tx1"/>
                    </a:solidFill>
                  </a:rPr>
                  <a:t/>
                </a:r>
                <a:endParaRPr lang="zh-TW" altLang="en-US" dirty="0"/>
              </a:p>
            </p:txBody>
          </p:sp>
        </mc:Choice>
        <mc:Fallback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836712"/>
                <a:ext cx="1728192" cy="504056"/>
              </a:xfrm>
              <a:prstGeom prst="rect">
                <a:avLst/>
              </a:prstGeom>
              <a:blipFill rotWithShape="1">
                <a:blip r:embed="rId3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29" name="矩形 28"/>
              <p:cNvSpPr/>
              <p:nvPr/>
            </p:nvSpPr>
            <p:spPr>
              <a:xfrm>
                <a:off x="611560" y="1484784"/>
                <a:ext cx="1728192" cy="5040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altLang="zh-TW" i="1" dirty="0">
                    <a:solidFill>
                      <a:schemeClr val="tx1"/>
                    </a:solidFill>
                  </a:rPr>
                  <a:t>v </a:t>
                </a:r>
                <a:r>
                  <a:rPr lang="de-DE" altLang="zh-TW" dirty="0">
                    <a:solidFill>
                      <a:schemeClr val="tx1"/>
                    </a:solidFill>
                  </a:rPr>
                  <a:t>:= </a:t>
                </a:r>
                <a:r>
                  <a:rPr lang="en-US" altLang="zh-TW" i="1" dirty="0">
                    <a:solidFill>
                      <a:schemeClr val="tx1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chemeClr val="tx1"/>
                    </a:solidFill>
                  </a:rPr>
                  <a:t>R,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chemeClr val="tx1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chemeClr val="tx1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chemeClr val="tx1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e-DE" altLang="zh-TW" i="1" dirty="0">
                    <a:solidFill>
                      <a:schemeClr val="tx1"/>
                    </a:solidFill>
                  </a:rPr>
                  <a:t/>
                </a:r>
                <a:r>
                  <a:rPr lang="de-DE" altLang="zh-TW" dirty="0">
                    <a:solidFill>
                      <a:schemeClr val="tx1"/>
                    </a:solidFill>
                  </a:rPr>
                  <a:t>+ </a:t>
                </a:r>
                <a:r>
                  <a:rPr lang="de-DE" altLang="zh-TW" dirty="0" smtClean="0">
                    <a:solidFill>
                      <a:schemeClr val="tx1"/>
                    </a:solidFill>
                  </a:rPr>
                  <a:t>1</a:t>
                </a:r>
                <a:endParaRPr lang="zh-TW" altLang="en-US" dirty="0"/>
              </a:p>
            </p:txBody>
          </p:sp>
        </mc:Choice>
        <mc:Fallback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484784"/>
                <a:ext cx="1728192" cy="504056"/>
              </a:xfrm>
              <a:prstGeom prst="rect">
                <a:avLst/>
              </a:prstGeom>
              <a:blipFill rotWithShape="1">
                <a:blip r:embed="rId4"/>
                <a:stretch>
                  <a:fillRect l="-694" r="-347" b="-34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/>
          <p:cNvGrpSpPr/>
          <p:nvPr/>
        </p:nvGrpSpPr>
        <p:grpSpPr>
          <a:xfrm>
            <a:off x="4678916" y="2039146"/>
            <a:ext cx="4213564" cy="4118395"/>
            <a:chOff x="4678916" y="2039146"/>
            <a:chExt cx="4213564" cy="4118395"/>
          </a:xfrm>
        </p:grpSpPr>
        <p:grpSp>
          <p:nvGrpSpPr>
            <p:cNvPr id="26" name="群組 25"/>
            <p:cNvGrpSpPr/>
            <p:nvPr/>
          </p:nvGrpSpPr>
          <p:grpSpPr>
            <a:xfrm>
              <a:off x="4678916" y="2039146"/>
              <a:ext cx="4213564" cy="4118395"/>
              <a:chOff x="4678916" y="2039146"/>
              <a:chExt cx="4213564" cy="4118395"/>
            </a:xfrm>
          </p:grpSpPr>
          <p:pic>
            <p:nvPicPr>
              <p:cNvPr id="5" name="Picture 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8916" y="2039146"/>
                <a:ext cx="4213564" cy="41183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9" name="直線接點 8"/>
              <p:cNvCxnSpPr/>
              <p:nvPr/>
            </p:nvCxnSpPr>
            <p:spPr>
              <a:xfrm flipH="1">
                <a:off x="8244408" y="4653136"/>
                <a:ext cx="360040" cy="72008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/>
              <p:cNvCxnSpPr/>
              <p:nvPr/>
            </p:nvCxnSpPr>
            <p:spPr>
              <a:xfrm>
                <a:off x="7884368" y="3951058"/>
                <a:ext cx="0" cy="70207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/>
              <p:cNvCxnSpPr/>
              <p:nvPr/>
            </p:nvCxnSpPr>
            <p:spPr>
              <a:xfrm flipH="1">
                <a:off x="6084168" y="3645024"/>
                <a:ext cx="288032" cy="61206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/>
              <p:nvPr/>
            </p:nvCxnSpPr>
            <p:spPr>
              <a:xfrm flipH="1">
                <a:off x="5652120" y="3284984"/>
                <a:ext cx="360040" cy="73071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線接點 30"/>
            <p:cNvCxnSpPr/>
            <p:nvPr/>
          </p:nvCxnSpPr>
          <p:spPr>
            <a:xfrm flipH="1">
              <a:off x="7164288" y="3645024"/>
              <a:ext cx="360040" cy="612068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75355830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0492" y="4005064"/>
            <a:ext cx="56673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107504" y="1628506"/>
            <a:ext cx="8672214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500" dirty="0" err="1" smtClean="0"/>
              <a:t>LeftPos</a:t>
            </a:r>
            <a:r>
              <a:rPr lang="en-US" altLang="zh-TW" sz="2500" dirty="0" smtClean="0"/>
              <a:t>[</a:t>
            </a:r>
            <a:r>
              <a:rPr lang="en-US" altLang="zh-TW" sz="2500" dirty="0" err="1" smtClean="0"/>
              <a:t>a</a:t>
            </a:r>
            <a:r>
              <a:rPr lang="en-US" altLang="zh-TW" sz="2500" baseline="-25000" dirty="0" err="1" smtClean="0"/>
              <a:t>i</a:t>
            </a:r>
            <a:r>
              <a:rPr lang="en-US" altLang="zh-TW" sz="2500" dirty="0" err="1" smtClean="0"/>
              <a:t>,l</a:t>
            </a:r>
            <a:r>
              <a:rPr lang="en-US" altLang="zh-TW" sz="2500" dirty="0" smtClean="0"/>
              <a:t>] </a:t>
            </a:r>
            <a:r>
              <a:rPr lang="en-US" altLang="zh-TW" sz="2500" dirty="0">
                <a:solidFill>
                  <a:srgbClr val="FF0000"/>
                </a:solidFill>
              </a:rPr>
              <a:t>equals the column number of the leftmost </a:t>
            </a:r>
            <a:r>
              <a:rPr lang="en-US" altLang="zh-TW" sz="2500" dirty="0" err="1">
                <a:solidFill>
                  <a:srgbClr val="FF0000"/>
                </a:solidFill>
              </a:rPr>
              <a:t>occurence</a:t>
            </a:r>
            <a:r>
              <a:rPr lang="en-US" altLang="zh-TW" sz="2500" dirty="0">
                <a:solidFill>
                  <a:srgbClr val="FF0000"/>
                </a:solidFill>
              </a:rPr>
              <a:t> </a:t>
            </a:r>
            <a:r>
              <a:rPr lang="en-US" altLang="zh-TW" sz="2500" dirty="0"/>
              <a:t>of a match </a:t>
            </a:r>
            <a:r>
              <a:rPr lang="en-US" altLang="zh-TW" sz="2500" dirty="0" smtClean="0"/>
              <a:t>in  row </a:t>
            </a:r>
            <a:r>
              <a:rPr lang="en-US" altLang="zh-TW" sz="2500" dirty="0"/>
              <a:t>i located right to column </a:t>
            </a:r>
            <a:r>
              <a:rPr lang="en-US" altLang="zh-TW" sz="2500" dirty="0" smtClean="0"/>
              <a:t>l , and </a:t>
            </a:r>
            <a:r>
              <a:rPr lang="en-US" altLang="zh-TW" sz="2500" dirty="0">
                <a:solidFill>
                  <a:srgbClr val="FF0000"/>
                </a:solidFill>
              </a:rPr>
              <a:t>equals n + 1 if there is no such match</a:t>
            </a:r>
            <a:r>
              <a:rPr lang="en-US" altLang="zh-TW" sz="2500" dirty="0"/>
              <a:t>.</a:t>
            </a:r>
            <a:endParaRPr lang="zh-TW" altLang="en-US" sz="25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29896"/>
            <a:ext cx="6416823" cy="380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84200" y="3789040"/>
            <a:ext cx="2952296" cy="294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9" y="5517232"/>
            <a:ext cx="5760672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2537088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79711" y="1700808"/>
            <a:ext cx="46005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22536" y="2204864"/>
            <a:ext cx="5114925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211547" y="1300698"/>
            <a:ext cx="81369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/>
              <a:t>We </a:t>
            </a:r>
            <a:r>
              <a:rPr lang="en-US" altLang="zh-TW" sz="2000" dirty="0" smtClean="0"/>
              <a:t>define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 </a:t>
            </a:r>
            <a:r>
              <a:rPr lang="en-US" altLang="zh-TW" sz="2000" i="1" dirty="0" err="1" smtClean="0"/>
              <a:t>ThreshT</a:t>
            </a:r>
            <a:r>
              <a:rPr lang="en-US" altLang="zh-TW" sz="2000" i="1" dirty="0" smtClean="0"/>
              <a:t> </a:t>
            </a:r>
            <a:r>
              <a:rPr lang="en-US" altLang="zh-TW" sz="2000" dirty="0"/>
              <a:t>[</a:t>
            </a:r>
            <a:r>
              <a:rPr lang="en-US" altLang="zh-TW" sz="2000" i="1" dirty="0"/>
              <a:t>u</a:t>
            </a:r>
            <a:r>
              <a:rPr lang="en-US" altLang="zh-TW" sz="2000" dirty="0"/>
              <a:t>] as the </a:t>
            </a:r>
            <a:r>
              <a:rPr lang="en-US" altLang="zh-TW" sz="2000" dirty="0">
                <a:solidFill>
                  <a:srgbClr val="FF0000"/>
                </a:solidFill>
              </a:rPr>
              <a:t>leftmost column </a:t>
            </a:r>
            <a:r>
              <a:rPr lang="en-US" altLang="zh-TW" sz="2000" dirty="0"/>
              <a:t>used by some match in </a:t>
            </a:r>
            <a:r>
              <a:rPr lang="en-US" altLang="zh-TW" sz="2000" i="1" dirty="0" err="1" smtClean="0"/>
              <a:t>A</a:t>
            </a:r>
            <a:r>
              <a:rPr lang="en-US" altLang="zh-TW" sz="2000" i="1" baseline="-25000" dirty="0" err="1" smtClean="0"/>
              <a:t>u</a:t>
            </a:r>
            <a:r>
              <a:rPr lang="en-US" altLang="zh-TW" sz="2000" i="1" baseline="30000" dirty="0" err="1" smtClean="0"/>
              <a:t>T,i</a:t>
            </a:r>
            <a:endParaRPr lang="zh-TW" altLang="en-US" sz="2000" baseline="30000" dirty="0"/>
          </a:p>
        </p:txBody>
      </p:sp>
      <p:grpSp>
        <p:nvGrpSpPr>
          <p:cNvPr id="5" name="群組 4"/>
          <p:cNvGrpSpPr/>
          <p:nvPr/>
        </p:nvGrpSpPr>
        <p:grpSpPr>
          <a:xfrm>
            <a:off x="179512" y="2766920"/>
            <a:ext cx="8784976" cy="733425"/>
            <a:chOff x="179512" y="2766920"/>
            <a:chExt cx="8784976" cy="733425"/>
          </a:xfrm>
        </p:grpSpPr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2766920"/>
              <a:ext cx="8784976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4054859" y="3133632"/>
              <a:ext cx="4909629" cy="3667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1259632" y="3867044"/>
            <a:ext cx="2691182" cy="2780658"/>
            <a:chOff x="1259632" y="3867044"/>
            <a:chExt cx="2691182" cy="2780658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259632" y="3867044"/>
              <a:ext cx="2691182" cy="2780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橢圓 5"/>
            <p:cNvSpPr/>
            <p:nvPr/>
          </p:nvSpPr>
          <p:spPr>
            <a:xfrm>
              <a:off x="2195736" y="4293096"/>
              <a:ext cx="288032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4932040" y="3881077"/>
            <a:ext cx="2787237" cy="2782729"/>
            <a:chOff x="4932040" y="3881077"/>
            <a:chExt cx="2787237" cy="2782729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2040" y="3881077"/>
              <a:ext cx="2787237" cy="278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橢圓 16"/>
            <p:cNvSpPr/>
            <p:nvPr/>
          </p:nvSpPr>
          <p:spPr>
            <a:xfrm>
              <a:off x="5724128" y="4509120"/>
              <a:ext cx="288032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5950471" y="4771231"/>
              <a:ext cx="288032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6625654" y="4770834"/>
              <a:ext cx="288032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9746628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96950"/>
            <a:ext cx="5167580" cy="350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611559" y="1328986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updates </a:t>
            </a:r>
            <a:r>
              <a:rPr lang="en-US" altLang="zh-TW" i="1" dirty="0" err="1" smtClean="0">
                <a:solidFill>
                  <a:srgbClr val="FF0000"/>
                </a:solidFill>
              </a:rPr>
              <a:t>ThreshT</a:t>
            </a:r>
            <a:r>
              <a:rPr lang="en-US" altLang="zh-TW" i="1" dirty="0" smtClean="0">
                <a:solidFill>
                  <a:srgbClr val="FF0000"/>
                </a:solidFill>
              </a:rPr>
              <a:t> by </a:t>
            </a:r>
            <a:r>
              <a:rPr lang="en-US" altLang="zh-TW" i="1" dirty="0" err="1" smtClean="0">
                <a:solidFill>
                  <a:srgbClr val="FF0000"/>
                </a:solidFill>
              </a:rPr>
              <a:t>LeftPos</a:t>
            </a:r>
            <a:r>
              <a:rPr lang="en-US" altLang="zh-TW" i="1" dirty="0" smtClean="0">
                <a:solidFill>
                  <a:srgbClr val="FF0000"/>
                </a:solidFill>
              </a:rPr>
              <a:t>[</a:t>
            </a:r>
            <a:r>
              <a:rPr lang="en-US" altLang="zh-TW" i="1" dirty="0" err="1" smtClean="0">
                <a:solidFill>
                  <a:srgbClr val="FF0000"/>
                </a:solidFill>
              </a:rPr>
              <a:t>x</a:t>
            </a:r>
            <a:r>
              <a:rPr lang="en-US" altLang="zh-TW" i="1" baseline="-25000" dirty="0" err="1" smtClean="0">
                <a:solidFill>
                  <a:srgbClr val="FF0000"/>
                </a:solidFill>
              </a:rPr>
              <a:t>t</a:t>
            </a:r>
            <a:r>
              <a:rPr lang="en-US" altLang="zh-TW" i="1" dirty="0" err="1" smtClean="0">
                <a:solidFill>
                  <a:srgbClr val="FF0000"/>
                </a:solidFill>
              </a:rPr>
              <a:t>,l</a:t>
            </a:r>
            <a:r>
              <a:rPr lang="en-US" altLang="zh-TW" i="1" dirty="0" smtClean="0">
                <a:solidFill>
                  <a:srgbClr val="FF0000"/>
                </a:solidFill>
              </a:rPr>
              <a:t>]</a:t>
            </a:r>
            <a:endParaRPr lang="en-US" altLang="zh-TW" i="1" dirty="0">
              <a:solidFill>
                <a:srgbClr val="FF0000"/>
              </a:solidFill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002223"/>
            <a:ext cx="3168352" cy="3093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39480134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Construction of an LCS in Linear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69912" cy="2908919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idea is to apply the </a:t>
            </a:r>
            <a:r>
              <a:rPr lang="en-US" altLang="zh-TW" dirty="0" smtClean="0"/>
              <a:t>divide-and-conquer scheme which first identifies </a:t>
            </a:r>
            <a:r>
              <a:rPr lang="en-US" altLang="zh-TW" dirty="0"/>
              <a:t>at least one point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of </a:t>
            </a:r>
            <a:r>
              <a:rPr lang="en-US" altLang="zh-TW" dirty="0"/>
              <a:t>an LCS such that this LCS is </a:t>
            </a:r>
            <a:r>
              <a:rPr lang="en-US" altLang="zh-TW" dirty="0" err="1"/>
              <a:t>splitted</a:t>
            </a:r>
            <a:r>
              <a:rPr lang="en-US" altLang="zh-TW" dirty="0"/>
              <a:t> into two parts of roughly the same size.</a:t>
            </a:r>
          </a:p>
          <a:p>
            <a:r>
              <a:rPr lang="en-US" altLang="zh-TW" dirty="0"/>
              <a:t>Then the remainder is computed by recursive calls.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method presented </a:t>
            </a:r>
            <a:r>
              <a:rPr lang="en-US" altLang="zh-TW" dirty="0" smtClean="0"/>
              <a:t>here usually </a:t>
            </a:r>
            <a:r>
              <a:rPr lang="en-US" altLang="zh-TW" dirty="0"/>
              <a:t>determines two </a:t>
            </a:r>
            <a:r>
              <a:rPr lang="en-US" altLang="zh-TW" dirty="0" smtClean="0"/>
              <a:t>LCS-</a:t>
            </a:r>
            <a:r>
              <a:rPr lang="en-US" altLang="zh-TW" dirty="0" err="1" smtClean="0"/>
              <a:t>neighbouring</a:t>
            </a:r>
            <a:r>
              <a:rPr lang="en-US" altLang="zh-TW" dirty="0" smtClean="0"/>
              <a:t> </a:t>
            </a:r>
            <a:r>
              <a:rPr lang="en-US" altLang="zh-TW" dirty="0"/>
              <a:t>matches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TL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BR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5247084" y="4293096"/>
            <a:ext cx="2781300" cy="2552700"/>
            <a:chOff x="5247084" y="4293096"/>
            <a:chExt cx="2781300" cy="2552700"/>
          </a:xfrm>
        </p:grpSpPr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7084" y="4293096"/>
              <a:ext cx="2781300" cy="2552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矩形 15"/>
            <p:cNvSpPr/>
            <p:nvPr/>
          </p:nvSpPr>
          <p:spPr>
            <a:xfrm>
              <a:off x="6012160" y="4982936"/>
              <a:ext cx="914400" cy="5537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 err="1" smtClean="0"/>
                <a:t>c</a:t>
              </a:r>
              <a:r>
                <a:rPr lang="en-US" altLang="zh-TW" sz="3000" baseline="30000" dirty="0" err="1" smtClean="0"/>
                <a:t>BR</a:t>
              </a:r>
              <a:endParaRPr lang="en-US" altLang="zh-TW" sz="3000" baseline="30000" dirty="0"/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854596" y="4184476"/>
            <a:ext cx="2781300" cy="2628900"/>
            <a:chOff x="755576" y="4198066"/>
            <a:chExt cx="2781300" cy="262890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76" y="4198066"/>
              <a:ext cx="2781300" cy="2628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0" name="矩形 19"/>
            <p:cNvSpPr/>
            <p:nvPr/>
          </p:nvSpPr>
          <p:spPr>
            <a:xfrm>
              <a:off x="2505472" y="6115642"/>
              <a:ext cx="914400" cy="5537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 err="1" smtClean="0"/>
                <a:t>c</a:t>
              </a:r>
              <a:r>
                <a:rPr lang="en-US" altLang="zh-TW" sz="3000" baseline="30000" dirty="0" err="1" smtClean="0"/>
                <a:t>TL</a:t>
              </a:r>
              <a:endParaRPr lang="en-US" altLang="zh-TW" sz="3000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1094565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Construction of an LCS in Linear Space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11560" y="1556792"/>
            <a:ext cx="44275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i="1" dirty="0" err="1"/>
              <a:t>p</a:t>
            </a:r>
            <a:r>
              <a:rPr lang="en-US" altLang="zh-TW" i="1" baseline="30000" dirty="0" err="1" smtClean="0"/>
              <a:t>TL</a:t>
            </a:r>
            <a:endParaRPr lang="zh-TW" altLang="en-US" baseline="30000" dirty="0"/>
          </a:p>
        </p:txBody>
      </p:sp>
      <p:sp>
        <p:nvSpPr>
          <p:cNvPr id="5" name="矩形 4"/>
          <p:cNvSpPr/>
          <p:nvPr/>
        </p:nvSpPr>
        <p:spPr>
          <a:xfrm>
            <a:off x="611560" y="2862064"/>
            <a:ext cx="4700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i="1" dirty="0" err="1" smtClean="0"/>
              <a:t>p</a:t>
            </a:r>
            <a:r>
              <a:rPr lang="en-US" altLang="zh-TW" i="1" baseline="30000" dirty="0" err="1" smtClean="0"/>
              <a:t>BR</a:t>
            </a:r>
            <a:endParaRPr lang="zh-TW" altLang="en-US" baseline="30000" dirty="0"/>
          </a:p>
        </p:txBody>
      </p:sp>
      <p:sp>
        <p:nvSpPr>
          <p:cNvPr id="9" name="矩形 8"/>
          <p:cNvSpPr/>
          <p:nvPr/>
        </p:nvSpPr>
        <p:spPr>
          <a:xfrm>
            <a:off x="1008112" y="1556435"/>
            <a:ext cx="73083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is the match which caused </a:t>
            </a:r>
            <a:r>
              <a:rPr lang="en-US" altLang="zh-TW" i="1" dirty="0"/>
              <a:t>As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T,i</a:t>
            </a:r>
            <a:r>
              <a:rPr lang="en-US" altLang="zh-TW" i="1" dirty="0" smtClean="0"/>
              <a:t> </a:t>
            </a:r>
            <a:r>
              <a:rPr lang="en-US" altLang="zh-TW" dirty="0"/>
              <a:t>or </a:t>
            </a:r>
            <a:r>
              <a:rPr lang="en-US" altLang="zh-TW" i="1" dirty="0"/>
              <a:t>As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L,i</a:t>
            </a:r>
            <a:r>
              <a:rPr lang="en-US" altLang="zh-TW" i="1" dirty="0" smtClean="0"/>
              <a:t> </a:t>
            </a:r>
            <a:r>
              <a:rPr lang="en-US" altLang="zh-TW" dirty="0"/>
              <a:t>to become </a:t>
            </a:r>
            <a:r>
              <a:rPr lang="en-US" altLang="zh-TW" dirty="0" smtClean="0"/>
              <a:t>TL-complete</a:t>
            </a:r>
            <a:r>
              <a:rPr lang="en-US" altLang="zh-TW" dirty="0"/>
              <a:t>, </a:t>
            </a:r>
            <a:r>
              <a:rPr lang="en-US" altLang="zh-TW" i="1" dirty="0"/>
              <a:t>s </a:t>
            </a:r>
            <a:r>
              <a:rPr lang="en-US" altLang="zh-TW" dirty="0"/>
              <a:t>= </a:t>
            </a:r>
            <a:r>
              <a:rPr lang="en-US" altLang="zh-TW" i="1" dirty="0" smtClean="0"/>
              <a:t>s</a:t>
            </a:r>
            <a:r>
              <a:rPr lang="en-US" altLang="zh-TW" i="1" baseline="30000" dirty="0" smtClean="0"/>
              <a:t>TL,i</a:t>
            </a:r>
            <a:r>
              <a:rPr lang="en-US" altLang="zh-TW" i="1" dirty="0" smtClean="0"/>
              <a:t>-</a:t>
            </a:r>
            <a:r>
              <a:rPr lang="en-US" altLang="zh-TW" dirty="0" smtClean="0"/>
              <a:t>1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For example, in Fig. 2 (c), </a:t>
            </a:r>
            <a:r>
              <a:rPr lang="en-US" altLang="zh-TW" i="1" dirty="0" err="1"/>
              <a:t>p</a:t>
            </a:r>
            <a:r>
              <a:rPr lang="en-US" altLang="zh-TW" i="1" baseline="30000" dirty="0" err="1"/>
              <a:t>TL</a:t>
            </a:r>
            <a:r>
              <a:rPr lang="en-US" altLang="zh-TW" i="1" dirty="0"/>
              <a:t> </a:t>
            </a:r>
            <a:r>
              <a:rPr lang="en-US" altLang="zh-TW" dirty="0"/>
              <a:t>= (</a:t>
            </a:r>
            <a:r>
              <a:rPr lang="en-US" altLang="zh-TW" dirty="0" smtClean="0"/>
              <a:t>2</a:t>
            </a:r>
            <a:r>
              <a:rPr lang="en-US" altLang="zh-TW" i="1" dirty="0"/>
              <a:t>,</a:t>
            </a:r>
            <a:r>
              <a:rPr lang="en-US" altLang="zh-TW" i="1" dirty="0" smtClean="0"/>
              <a:t> </a:t>
            </a:r>
            <a:r>
              <a:rPr lang="en-US" altLang="zh-TW" dirty="0"/>
              <a:t>2), and in Fig. 2 (d) and (e), </a:t>
            </a:r>
            <a:r>
              <a:rPr lang="en-US" altLang="zh-TW" i="1" dirty="0" err="1"/>
              <a:t>p</a:t>
            </a:r>
            <a:r>
              <a:rPr lang="en-US" altLang="zh-TW" i="1" baseline="30000" dirty="0" err="1"/>
              <a:t>TL</a:t>
            </a:r>
            <a:r>
              <a:rPr lang="en-US" altLang="zh-TW" i="1" dirty="0"/>
              <a:t> </a:t>
            </a:r>
            <a:r>
              <a:rPr lang="en-US" altLang="zh-TW" dirty="0"/>
              <a:t>= (</a:t>
            </a:r>
            <a:r>
              <a:rPr lang="en-US" altLang="zh-TW" dirty="0" smtClean="0"/>
              <a:t>3</a:t>
            </a:r>
            <a:r>
              <a:rPr lang="en-US" altLang="zh-TW" i="1" dirty="0"/>
              <a:t>,</a:t>
            </a:r>
            <a:r>
              <a:rPr lang="en-US" altLang="zh-TW" i="1" dirty="0" smtClean="0"/>
              <a:t> </a:t>
            </a:r>
            <a:r>
              <a:rPr lang="en-US" altLang="zh-TW" dirty="0"/>
              <a:t>3).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054310" y="2854677"/>
            <a:ext cx="7398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has a corresponding meaning for the last </a:t>
            </a:r>
            <a:r>
              <a:rPr lang="en-US" altLang="zh-TW" dirty="0" smtClean="0"/>
              <a:t>BR-complete </a:t>
            </a:r>
            <a:r>
              <a:rPr lang="en-US" altLang="zh-TW" dirty="0" err="1"/>
              <a:t>antichain</a:t>
            </a:r>
            <a:r>
              <a:rPr lang="en-US" altLang="zh-TW" dirty="0"/>
              <a:t> in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B,i</a:t>
            </a:r>
            <a:r>
              <a:rPr lang="en-US" altLang="zh-TW" dirty="0" err="1" smtClean="0"/>
              <a:t>and</a:t>
            </a:r>
            <a:r>
              <a:rPr lang="en-US" altLang="zh-TW" dirty="0" smtClean="0"/>
              <a:t> </a:t>
            </a:r>
            <a:r>
              <a:rPr lang="en-US" altLang="zh-TW" i="1" dirty="0" err="1" smtClean="0"/>
              <a:t>A</a:t>
            </a:r>
            <a:r>
              <a:rPr lang="en-US" altLang="zh-TW" i="1" baseline="30000" dirty="0" err="1" smtClean="0"/>
              <a:t>R,i</a:t>
            </a:r>
            <a:r>
              <a:rPr lang="en-US" altLang="zh-TW" dirty="0"/>
              <a:t>, e.g., in Fig. 2 (d), </a:t>
            </a:r>
            <a:r>
              <a:rPr lang="en-US" altLang="zh-TW" i="1" dirty="0" err="1"/>
              <a:t>p</a:t>
            </a:r>
            <a:r>
              <a:rPr lang="en-US" altLang="zh-TW" i="1" baseline="30000" dirty="0" err="1"/>
              <a:t>BR</a:t>
            </a:r>
            <a:r>
              <a:rPr lang="en-US" altLang="zh-TW" i="1" dirty="0"/>
              <a:t> </a:t>
            </a:r>
            <a:r>
              <a:rPr lang="en-US" altLang="zh-TW" dirty="0"/>
              <a:t>= (</a:t>
            </a:r>
            <a:r>
              <a:rPr lang="en-US" altLang="zh-TW" dirty="0" smtClean="0"/>
              <a:t>6</a:t>
            </a:r>
            <a:r>
              <a:rPr lang="en-US" altLang="zh-TW" i="1" dirty="0"/>
              <a:t>,</a:t>
            </a:r>
            <a:r>
              <a:rPr lang="en-US" altLang="zh-TW" i="1" dirty="0" smtClean="0"/>
              <a:t> </a:t>
            </a:r>
            <a:r>
              <a:rPr lang="en-US" altLang="zh-TW" dirty="0"/>
              <a:t>7).</a:t>
            </a:r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5148064" y="4116436"/>
            <a:ext cx="2880320" cy="2480916"/>
            <a:chOff x="4283968" y="3284984"/>
            <a:chExt cx="2232248" cy="2196238"/>
          </a:xfrm>
        </p:grpSpPr>
        <p:grpSp>
          <p:nvGrpSpPr>
            <p:cNvPr id="14" name="群組 13"/>
            <p:cNvGrpSpPr/>
            <p:nvPr/>
          </p:nvGrpSpPr>
          <p:grpSpPr>
            <a:xfrm>
              <a:off x="4283968" y="3284984"/>
              <a:ext cx="2232248" cy="2196238"/>
              <a:chOff x="6196679" y="3486040"/>
              <a:chExt cx="3435526" cy="3277207"/>
            </a:xfrm>
          </p:grpSpPr>
          <p:pic>
            <p:nvPicPr>
              <p:cNvPr id="15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6679" y="3486040"/>
                <a:ext cx="3435526" cy="32772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" name="橢圓 15"/>
              <p:cNvSpPr/>
              <p:nvPr/>
            </p:nvSpPr>
            <p:spPr>
              <a:xfrm>
                <a:off x="7313349" y="4385957"/>
                <a:ext cx="648073" cy="64807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7" name="橢圓 16"/>
            <p:cNvSpPr/>
            <p:nvPr/>
          </p:nvSpPr>
          <p:spPr>
            <a:xfrm>
              <a:off x="5735088" y="4434851"/>
              <a:ext cx="421088" cy="43430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971600" y="4005064"/>
            <a:ext cx="2701875" cy="2486161"/>
            <a:chOff x="107505" y="3590873"/>
            <a:chExt cx="3420379" cy="3267127"/>
          </a:xfrm>
        </p:grpSpPr>
        <p:pic>
          <p:nvPicPr>
            <p:cNvPr id="12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902" r="55666"/>
            <a:stretch/>
          </p:blipFill>
          <p:spPr bwMode="auto">
            <a:xfrm>
              <a:off x="107505" y="3590873"/>
              <a:ext cx="3420379" cy="3267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橢圓 12"/>
            <p:cNvSpPr/>
            <p:nvPr/>
          </p:nvSpPr>
          <p:spPr>
            <a:xfrm>
              <a:off x="827584" y="4259744"/>
              <a:ext cx="648073" cy="64807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7679579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Construction of an LCS in Linear Space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35041" y="1844824"/>
            <a:ext cx="99578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i="1" dirty="0" err="1"/>
              <a:t>c</a:t>
            </a:r>
            <a:r>
              <a:rPr lang="en-US" altLang="zh-TW" i="1" baseline="30000" dirty="0" err="1"/>
              <a:t>T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R</a:t>
            </a:r>
            <a:endParaRPr lang="zh-TW" altLang="en-US" baseline="30000" dirty="0"/>
          </a:p>
        </p:txBody>
      </p:sp>
      <p:sp>
        <p:nvSpPr>
          <p:cNvPr id="7" name="矩形 6"/>
          <p:cNvSpPr/>
          <p:nvPr/>
        </p:nvSpPr>
        <p:spPr>
          <a:xfrm>
            <a:off x="335041" y="2564904"/>
            <a:ext cx="10182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i="1" dirty="0" err="1"/>
              <a:t>c</a:t>
            </a:r>
            <a:r>
              <a:rPr lang="en-US" altLang="zh-TW" i="1" baseline="30000" dirty="0" err="1"/>
              <a:t>B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L</a:t>
            </a:r>
            <a:endParaRPr lang="zh-TW" altLang="en-US" baseline="30000" dirty="0"/>
          </a:p>
        </p:txBody>
      </p:sp>
      <p:sp>
        <p:nvSpPr>
          <p:cNvPr id="8" name="矩形 7"/>
          <p:cNvSpPr/>
          <p:nvPr/>
        </p:nvSpPr>
        <p:spPr>
          <a:xfrm>
            <a:off x="318210" y="3208336"/>
            <a:ext cx="10567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i="1" dirty="0" err="1"/>
              <a:t>l</a:t>
            </a:r>
            <a:r>
              <a:rPr lang="en-US" altLang="zh-TW" i="1" baseline="30000" dirty="0" err="1" smtClean="0"/>
              <a:t>TR</a:t>
            </a:r>
            <a:r>
              <a:rPr lang="en-US" altLang="zh-TW" i="1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 err="1"/>
              <a:t>l</a:t>
            </a:r>
            <a:r>
              <a:rPr lang="en-US" altLang="zh-TW" i="1" baseline="30000" dirty="0" err="1" smtClean="0"/>
              <a:t>BL</a:t>
            </a:r>
            <a:endParaRPr lang="zh-TW" altLang="en-US" baseline="30000" dirty="0"/>
          </a:p>
        </p:txBody>
      </p:sp>
      <p:sp>
        <p:nvSpPr>
          <p:cNvPr id="9" name="矩形 8"/>
          <p:cNvSpPr/>
          <p:nvPr/>
        </p:nvSpPr>
        <p:spPr>
          <a:xfrm>
            <a:off x="1259631" y="1844824"/>
            <a:ext cx="78894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 They  both </a:t>
            </a:r>
            <a:r>
              <a:rPr lang="en-US" altLang="zh-TW" dirty="0"/>
              <a:t>lie in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TR,i</a:t>
            </a:r>
            <a:r>
              <a:rPr lang="en-US" altLang="zh-TW" i="1" dirty="0" smtClean="0"/>
              <a:t> </a:t>
            </a:r>
            <a:r>
              <a:rPr lang="en-US" altLang="zh-TW" dirty="0"/>
              <a:t>and are </a:t>
            </a:r>
            <a:r>
              <a:rPr lang="en-US" altLang="zh-TW" dirty="0" err="1"/>
              <a:t>neighbours</a:t>
            </a:r>
            <a:r>
              <a:rPr lang="en-US" altLang="zh-TW" dirty="0"/>
              <a:t> in this chain. </a:t>
            </a:r>
            <a:r>
              <a:rPr lang="en-US" altLang="zh-TW" dirty="0" smtClean="0"/>
              <a:t>Furthermore</a:t>
            </a:r>
            <a:r>
              <a:rPr lang="en-US" altLang="zh-TW" dirty="0"/>
              <a:t>,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T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R</a:t>
            </a:r>
            <a:r>
              <a:rPr lang="en-US" altLang="zh-TW" i="1" baseline="30000" dirty="0"/>
              <a:t> 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are </a:t>
            </a:r>
            <a:r>
              <a:rPr lang="en-US" altLang="zh-TW" dirty="0"/>
              <a:t>always located in </a:t>
            </a:r>
            <a:r>
              <a:rPr lang="en-US" altLang="zh-TW" dirty="0" smtClean="0"/>
              <a:t>the first </a:t>
            </a:r>
            <a:r>
              <a:rPr lang="en-US" altLang="zh-TW" i="1" dirty="0"/>
              <a:t>i </a:t>
            </a:r>
            <a:r>
              <a:rPr lang="en-US" altLang="zh-TW" dirty="0"/>
              <a:t>topmost rows and </a:t>
            </a:r>
            <a:r>
              <a:rPr lang="en-US" altLang="zh-TW" i="1" dirty="0"/>
              <a:t>i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rightmost </a:t>
            </a:r>
            <a:r>
              <a:rPr lang="en-US" altLang="zh-TW" dirty="0"/>
              <a:t>columns of </a:t>
            </a:r>
            <a:r>
              <a:rPr lang="en-US" altLang="zh-TW" i="1" dirty="0" smtClean="0"/>
              <a:t>M</a:t>
            </a:r>
            <a:endParaRPr lang="en-US" altLang="zh-TW" dirty="0"/>
          </a:p>
        </p:txBody>
      </p:sp>
      <p:sp>
        <p:nvSpPr>
          <p:cNvPr id="10" name="矩形 9"/>
          <p:cNvSpPr/>
          <p:nvPr/>
        </p:nvSpPr>
        <p:spPr>
          <a:xfrm>
            <a:off x="1366241" y="2564904"/>
            <a:ext cx="429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 err="1"/>
              <a:t>c</a:t>
            </a:r>
            <a:r>
              <a:rPr lang="en-US" altLang="zh-TW" i="1" baseline="30000" dirty="0" err="1"/>
              <a:t>B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L</a:t>
            </a:r>
            <a:r>
              <a:rPr lang="en-US" altLang="zh-TW" i="1" dirty="0"/>
              <a:t> </a:t>
            </a:r>
            <a:r>
              <a:rPr lang="en-US" altLang="zh-TW" dirty="0"/>
              <a:t>have analogous properties for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BL,i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79512" y="3236783"/>
            <a:ext cx="53399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                      is </a:t>
            </a:r>
            <a:r>
              <a:rPr lang="en-US" altLang="zh-TW" dirty="0"/>
              <a:t>the position of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T</a:t>
            </a:r>
            <a:r>
              <a:rPr lang="en-US" altLang="zh-TW" i="1" dirty="0"/>
              <a:t> </a:t>
            </a:r>
            <a:r>
              <a:rPr lang="en-US" altLang="zh-TW" dirty="0"/>
              <a:t>in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TR,i</a:t>
            </a:r>
            <a:r>
              <a:rPr lang="en-US" altLang="zh-TW" i="1" dirty="0" smtClean="0"/>
              <a:t> </a:t>
            </a:r>
            <a:r>
              <a:rPr lang="en-US" altLang="zh-TW" dirty="0"/>
              <a:t>and of </a:t>
            </a:r>
            <a:r>
              <a:rPr lang="en-US" altLang="zh-TW" i="1" dirty="0" err="1"/>
              <a:t>c</a:t>
            </a:r>
            <a:r>
              <a:rPr lang="en-US" altLang="zh-TW" i="1" baseline="30000" dirty="0" err="1"/>
              <a:t>L</a:t>
            </a:r>
            <a:r>
              <a:rPr lang="en-US" altLang="zh-TW" i="1" dirty="0"/>
              <a:t> </a:t>
            </a:r>
            <a:r>
              <a:rPr lang="en-US" altLang="zh-TW" dirty="0"/>
              <a:t>in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BL,i</a:t>
            </a:r>
            <a:r>
              <a:rPr lang="en-US" altLang="zh-TW" dirty="0" smtClean="0"/>
              <a:t> </a:t>
            </a:r>
          </a:p>
          <a:p>
            <a:endParaRPr lang="en-US" altLang="zh-TW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7905" y="3739723"/>
            <a:ext cx="3158941" cy="3087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橢圓 15"/>
          <p:cNvSpPr/>
          <p:nvPr/>
        </p:nvSpPr>
        <p:spPr>
          <a:xfrm>
            <a:off x="6156176" y="4293096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372200" y="458112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7020272" y="4797152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7236296" y="5085184"/>
            <a:ext cx="216024" cy="19833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7812360" y="5606929"/>
            <a:ext cx="216024" cy="19833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6268650" y="3393002"/>
            <a:ext cx="607606" cy="369332"/>
            <a:chOff x="6268650" y="3393002"/>
            <a:chExt cx="607606" cy="369332"/>
          </a:xfrm>
        </p:grpSpPr>
        <p:sp>
          <p:nvSpPr>
            <p:cNvPr id="21" name="橢圓 20"/>
            <p:cNvSpPr/>
            <p:nvPr/>
          </p:nvSpPr>
          <p:spPr>
            <a:xfrm>
              <a:off x="6326253" y="3469656"/>
              <a:ext cx="216024" cy="2160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6268650" y="3393002"/>
              <a:ext cx="607606" cy="369332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TW" i="1" dirty="0" smtClean="0"/>
                <a:t>    </a:t>
              </a:r>
              <a:r>
                <a:rPr lang="en-US" altLang="zh-TW" i="1" dirty="0" err="1" smtClean="0"/>
                <a:t>c</a:t>
              </a:r>
              <a:r>
                <a:rPr lang="en-US" altLang="zh-TW" i="1" baseline="30000" dirty="0" err="1" smtClean="0"/>
                <a:t>T</a:t>
              </a:r>
              <a:endParaRPr lang="zh-TW" altLang="en-US" baseline="30000" dirty="0"/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7132746" y="3419708"/>
            <a:ext cx="607606" cy="369332"/>
            <a:chOff x="6268650" y="3393002"/>
            <a:chExt cx="607606" cy="369332"/>
          </a:xfrm>
        </p:grpSpPr>
        <p:sp>
          <p:nvSpPr>
            <p:cNvPr id="25" name="橢圓 24"/>
            <p:cNvSpPr/>
            <p:nvPr/>
          </p:nvSpPr>
          <p:spPr>
            <a:xfrm>
              <a:off x="6326253" y="3469656"/>
              <a:ext cx="216024" cy="21602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6268650" y="3393002"/>
              <a:ext cx="607606" cy="369332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TW" i="1" dirty="0" smtClean="0"/>
                <a:t>    </a:t>
              </a:r>
              <a:r>
                <a:rPr lang="en-US" altLang="zh-TW" i="1" dirty="0" err="1" smtClean="0"/>
                <a:t>c</a:t>
              </a:r>
              <a:r>
                <a:rPr lang="en-US" altLang="zh-TW" i="1" baseline="30000" dirty="0" err="1"/>
                <a:t>R</a:t>
              </a:r>
              <a:endParaRPr lang="zh-TW" altLang="en-US" baseline="30000" dirty="0"/>
            </a:p>
          </p:txBody>
        </p:sp>
      </p:grpSp>
      <p:cxnSp>
        <p:nvCxnSpPr>
          <p:cNvPr id="28" name="直線接點 27"/>
          <p:cNvCxnSpPr>
            <a:stCxn id="16" idx="5"/>
            <a:endCxn id="17" idx="1"/>
          </p:cNvCxnSpPr>
          <p:nvPr/>
        </p:nvCxnSpPr>
        <p:spPr>
          <a:xfrm>
            <a:off x="6340564" y="4477484"/>
            <a:ext cx="63272" cy="1352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7" idx="5"/>
            <a:endCxn id="18" idx="2"/>
          </p:cNvCxnSpPr>
          <p:nvPr/>
        </p:nvCxnSpPr>
        <p:spPr>
          <a:xfrm>
            <a:off x="6556588" y="4765516"/>
            <a:ext cx="463684" cy="13964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8" idx="5"/>
            <a:endCxn id="19" idx="1"/>
          </p:cNvCxnSpPr>
          <p:nvPr/>
        </p:nvCxnSpPr>
        <p:spPr>
          <a:xfrm>
            <a:off x="7204660" y="4981540"/>
            <a:ext cx="63272" cy="13268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19" idx="5"/>
            <a:endCxn id="20" idx="1"/>
          </p:cNvCxnSpPr>
          <p:nvPr/>
        </p:nvCxnSpPr>
        <p:spPr>
          <a:xfrm>
            <a:off x="7420684" y="5254474"/>
            <a:ext cx="423312" cy="3815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8110422" y="3419708"/>
            <a:ext cx="782057" cy="3693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i="1" dirty="0" smtClean="0"/>
              <a:t>      </a:t>
            </a:r>
            <a:r>
              <a:rPr lang="en-US" altLang="zh-TW" i="1" dirty="0" err="1" smtClean="0"/>
              <a:t>c</a:t>
            </a:r>
            <a:r>
              <a:rPr lang="en-US" altLang="zh-TW" i="1" baseline="30000" dirty="0" err="1" smtClean="0"/>
              <a:t>TR</a:t>
            </a:r>
            <a:endParaRPr lang="zh-TW" altLang="en-US" baseline="30000" dirty="0"/>
          </a:p>
        </p:txBody>
      </p:sp>
      <p:cxnSp>
        <p:nvCxnSpPr>
          <p:cNvPr id="41" name="直線接點 40"/>
          <p:cNvCxnSpPr/>
          <p:nvPr/>
        </p:nvCxnSpPr>
        <p:spPr>
          <a:xfrm>
            <a:off x="8163052" y="3469656"/>
            <a:ext cx="297380" cy="31938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18" idx="6"/>
          </p:cNvCxnSpPr>
          <p:nvPr/>
        </p:nvCxnSpPr>
        <p:spPr>
          <a:xfrm flipV="1">
            <a:off x="7236296" y="4689140"/>
            <a:ext cx="122413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8521219" y="4499828"/>
            <a:ext cx="443269" cy="3693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i="1" dirty="0" err="1" smtClean="0"/>
              <a:t>l</a:t>
            </a:r>
            <a:r>
              <a:rPr lang="en-US" altLang="zh-TW" i="1" baseline="30000" dirty="0" err="1" smtClean="0"/>
              <a:t>TR</a:t>
            </a:r>
            <a:endParaRPr lang="zh-TW" altLang="en-US" baseline="30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537" y="4684494"/>
            <a:ext cx="4909368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6014556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80273" y="4488368"/>
            <a:ext cx="3300239" cy="2397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Construction of an LCS in Linear Space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40768"/>
                <a:ext cx="8229600" cy="45259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altLang="zh-TW" dirty="0"/>
                  <a:t>Now let us review the construction of the </a:t>
                </a:r>
                <a:r>
                  <a:rPr lang="en-US" altLang="zh-TW" dirty="0" smtClean="0"/>
                  <a:t>final </a:t>
                </a:r>
                <a:r>
                  <a:rPr lang="en-US" altLang="zh-TW" dirty="0"/>
                  <a:t>decomposition 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If </a:t>
                </a:r>
                <a:r>
                  <a:rPr lang="en-US" altLang="zh-TW" i="1" dirty="0"/>
                  <a:t>p </a:t>
                </a:r>
                <a:r>
                  <a:rPr lang="en-US" altLang="zh-TW" dirty="0"/>
                  <a:t>is set to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dirty="0">
                    <a:solidFill>
                      <a:srgbClr val="FF0000"/>
                    </a:solidFill>
                  </a:rPr>
                  <a:t>+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R</a:t>
                </a:r>
                <a:r>
                  <a:rPr lang="en-US" altLang="zh-TW" i="1" baseline="30000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dirty="0"/>
                  <a:t>, we establish </a:t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TL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= </a:t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L</a:t>
                </a:r>
                <a:r>
                  <a:rPr lang="en-US" altLang="zh-TW" dirty="0" err="1"/>
                  <a:t>and</a:t>
                </a:r>
                <a:r>
                  <a:rPr lang="en-US" altLang="zh-TW" dirty="0"/>
                  <a:t/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BR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= </a:t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B</a:t>
                </a:r>
                <a:r>
                  <a:rPr lang="en-US" altLang="zh-TW" dirty="0" smtClean="0"/>
                  <a:t>.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/>
                </a:r>
              </a:p>
              <a:p>
                <a:r>
                  <a:rPr lang="en-US" altLang="zh-TW" dirty="0"/>
                  <a:t>Similarly, if </a:t>
                </a:r>
                <a:r>
                  <a:rPr lang="en-US" altLang="zh-TW" i="1" dirty="0"/>
                  <a:t>p </a:t>
                </a:r>
                <a:r>
                  <a:rPr lang="en-US" altLang="zh-TW" dirty="0"/>
                  <a:t>=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/>
                </a:r>
                <a:r>
                  <a:rPr lang="en-US" altLang="zh-TW" dirty="0">
                    <a:solidFill>
                      <a:srgbClr val="FF0000"/>
                    </a:solidFill>
                  </a:rPr>
                  <a:t>+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e </a:t>
                </a:r>
                <a:r>
                  <a:rPr lang="en-US" altLang="zh-TW" i="1" baseline="30000" dirty="0">
                    <a:solidFill>
                      <a:srgbClr val="FF0000"/>
                    </a:solidFill>
                  </a:rPr>
                  <a:t>L,</a:t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┌</m:t>
                    </m:r>
                  </m:oMath>
                </a14:m>
                <a:r>
                  <a:rPr lang="da-DK" altLang="zh-TW" i="1" baseline="30000" dirty="0">
                    <a:solidFill>
                      <a:srgbClr val="FF0000"/>
                    </a:solidFill>
                  </a:rPr>
                  <a:t>m/2</a:t>
                </a:r>
                <a:r>
                  <a:rPr lang="da-DK" altLang="zh-TW" baseline="30000" dirty="0">
                    <a:solidFill>
                      <a:srgbClr val="FF0000"/>
                    </a:solidFill>
                  </a:rPr>
                  <a:t/>
                </a:r>
                <a14:m>
                  <m:oMath xmlns:m="http://schemas.openxmlformats.org/officeDocument/2006/math">
                    <m:r>
                      <a:rPr lang="da-DK" altLang="zh-TW" i="1" baseline="30000" dirty="0">
                        <a:solidFill>
                          <a:srgbClr val="FF0000"/>
                        </a:solidFill>
                        <a:latin typeface="Cambria Math"/>
                      </a:rPr>
                      <m:t>┐</m:t>
                    </m:r>
                  </m:oMath>
                </a14:m>
                <a:r>
                  <a:rPr lang="en-US" altLang="zh-TW" dirty="0"/>
                  <a:t>, we establish </a:t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TL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= </a:t>
                </a:r>
                <a:r>
                  <a:rPr lang="en-US" altLang="zh-TW" i="1" dirty="0" err="1" smtClean="0"/>
                  <a:t>c</a:t>
                </a:r>
                <a:r>
                  <a:rPr lang="en-US" altLang="zh-TW" i="1" baseline="30000" dirty="0" err="1" smtClean="0"/>
                  <a:t>L</a:t>
                </a:r>
                <a:r>
                  <a:rPr lang="en-US" altLang="zh-TW" dirty="0" err="1" smtClean="0"/>
                  <a:t>and</a:t>
                </a:r>
                <a:r>
                  <a:rPr lang="en-US" altLang="zh-TW" dirty="0" smtClean="0"/>
                  <a:t/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BR</a:t>
                </a:r>
                <a:r>
                  <a:rPr lang="en-US" altLang="zh-TW" i="1" dirty="0"/>
                  <a:t/>
                </a:r>
                <a:r>
                  <a:rPr lang="en-US" altLang="zh-TW" dirty="0"/>
                  <a:t>= </a:t>
                </a:r>
                <a:r>
                  <a:rPr lang="en-US" altLang="zh-TW" i="1" dirty="0" err="1"/>
                  <a:t>c</a:t>
                </a:r>
                <a:r>
                  <a:rPr lang="en-US" altLang="zh-TW" i="1" baseline="30000" dirty="0" err="1"/>
                  <a:t>B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Finally</a:t>
                </a:r>
                <a:r>
                  <a:rPr lang="en-US" altLang="zh-TW" dirty="0"/>
                  <a:t>, if a longest chain is determined by the algorithm described </a:t>
                </a:r>
                <a:r>
                  <a:rPr lang="en-US" altLang="zh-TW" dirty="0" smtClean="0"/>
                  <a:t>in 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case 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d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construction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p </a:t>
                </a:r>
                <a:r>
                  <a:rPr lang="en-US" altLang="zh-TW" dirty="0"/>
                  <a:t>is not </a:t>
                </a:r>
                <a:r>
                  <a:rPr lang="en-US" altLang="zh-TW" dirty="0" smtClean="0"/>
                  <a:t>set to </a:t>
                </a:r>
                <a:r>
                  <a:rPr lang="en-US" altLang="zh-TW" dirty="0"/>
                  <a:t>one of the above values, then we can use the backup values ũ and </a:t>
                </a:r>
                <a:r>
                  <a:rPr lang="en-US" altLang="zh-TW" dirty="0" smtClean="0"/>
                  <a:t>ṽ to </a:t>
                </a:r>
                <a:r>
                  <a:rPr lang="en-US" altLang="zh-TW" dirty="0"/>
                  <a:t>determine</a:t>
                </a:r>
              </a:p>
              <a:p>
                <a:r>
                  <a:rPr lang="es-ES" altLang="zh-TW" i="1" dirty="0"/>
                  <a:t>c</a:t>
                </a:r>
                <a:r>
                  <a:rPr lang="es-ES" altLang="zh-TW" i="1" baseline="30000" dirty="0"/>
                  <a:t>TL</a:t>
                </a:r>
                <a:r>
                  <a:rPr lang="es-ES" altLang="zh-TW" i="1" dirty="0"/>
                  <a:t/>
                </a:r>
                <a:r>
                  <a:rPr lang="es-ES" altLang="zh-TW" dirty="0"/>
                  <a:t>:= (</a:t>
                </a:r>
                <a:r>
                  <a:rPr lang="es-ES" altLang="zh-TW" i="1" dirty="0" smtClean="0"/>
                  <a:t>BottomPos</a:t>
                </a:r>
                <a:r>
                  <a:rPr lang="es-ES" altLang="zh-TW" dirty="0" smtClean="0"/>
                  <a:t>[</a:t>
                </a:r>
                <a:r>
                  <a:rPr lang="es-ES" altLang="zh-TW" i="1" dirty="0" smtClean="0"/>
                  <a:t>y</a:t>
                </a:r>
                <a:r>
                  <a:rPr lang="es-ES" altLang="zh-TW" baseline="-25000" dirty="0"/>
                  <a:t>u</a:t>
                </a:r>
                <a:r>
                  <a:rPr lang="es-ES" altLang="zh-TW" i="1" dirty="0" smtClean="0"/>
                  <a:t>,b</a:t>
                </a:r>
                <a:r>
                  <a:rPr lang="es-ES" altLang="zh-TW" dirty="0" smtClean="0"/>
                  <a:t>]</a:t>
                </a:r>
                <a:r>
                  <a:rPr lang="es-ES" altLang="zh-TW" i="1" dirty="0" smtClean="0"/>
                  <a:t>,y</a:t>
                </a:r>
                <a:r>
                  <a:rPr lang="es-ES" altLang="zh-TW" baseline="-25000" dirty="0" smtClean="0"/>
                  <a:t>u</a:t>
                </a:r>
                <a:r>
                  <a:rPr lang="es-ES" altLang="zh-TW" dirty="0" smtClean="0"/>
                  <a:t>) </a:t>
                </a:r>
                <a:r>
                  <a:rPr lang="es-ES" altLang="zh-TW" dirty="0"/>
                  <a:t>and </a:t>
                </a:r>
                <a:r>
                  <a:rPr lang="es-ES" altLang="zh-TW" i="1" dirty="0"/>
                  <a:t>c</a:t>
                </a:r>
                <a:r>
                  <a:rPr lang="es-ES" altLang="zh-TW" i="1" baseline="30000" dirty="0"/>
                  <a:t>BR</a:t>
                </a:r>
                <a:r>
                  <a:rPr lang="es-ES" altLang="zh-TW" i="1" dirty="0"/>
                  <a:t/>
                </a:r>
                <a:r>
                  <a:rPr lang="es-ES" altLang="zh-TW" dirty="0"/>
                  <a:t>:= (</a:t>
                </a:r>
                <a:r>
                  <a:rPr lang="es-ES" altLang="zh-TW" i="1" dirty="0" smtClean="0"/>
                  <a:t>TopPos</a:t>
                </a:r>
                <a:r>
                  <a:rPr lang="es-ES" altLang="zh-TW" dirty="0" smtClean="0"/>
                  <a:t>[</a:t>
                </a:r>
                <a:r>
                  <a:rPr lang="es-ES" altLang="zh-TW" i="1" dirty="0" smtClean="0"/>
                  <a:t>y</a:t>
                </a:r>
                <a:r>
                  <a:rPr lang="es-ES" altLang="zh-TW" baseline="-25000" dirty="0" smtClean="0"/>
                  <a:t>v</a:t>
                </a:r>
                <a:r>
                  <a:rPr lang="es-ES" altLang="zh-TW" i="1" dirty="0"/>
                  <a:t>,</a:t>
                </a:r>
                <a:r>
                  <a:rPr lang="es-ES" altLang="zh-TW" i="1" dirty="0" smtClean="0"/>
                  <a:t/>
                </a:r>
                <a:r>
                  <a:rPr lang="es-ES" altLang="zh-TW" i="1" dirty="0"/>
                  <a:t>t</a:t>
                </a:r>
                <a:r>
                  <a:rPr lang="es-ES" altLang="zh-TW" dirty="0"/>
                  <a:t>]</a:t>
                </a:r>
                <a:r>
                  <a:rPr lang="es-ES" altLang="zh-TW" i="1" dirty="0"/>
                  <a:t>; </a:t>
                </a:r>
                <a:r>
                  <a:rPr lang="es-ES" altLang="zh-TW" i="1" dirty="0" smtClean="0"/>
                  <a:t>y</a:t>
                </a:r>
                <a:r>
                  <a:rPr lang="es-ES" altLang="zh-TW" baseline="-25000" dirty="0"/>
                  <a:t>v</a:t>
                </a:r>
                <a:r>
                  <a:rPr lang="es-ES" altLang="zh-TW" dirty="0" smtClean="0"/>
                  <a:t>),</a:t>
                </a:r>
              </a:p>
              <a:p>
                <a:pPr marL="0" indent="0">
                  <a:buNone/>
                </a:pPr>
                <a:r>
                  <a:rPr lang="es-ES" altLang="zh-TW" dirty="0"/>
                  <a:t/>
                </a:r>
                <a:r>
                  <a:rPr lang="es-ES" altLang="zh-TW" dirty="0" smtClean="0"/>
                  <a:t/>
                </a:r>
                <a:r>
                  <a:rPr lang="es-ES" altLang="zh-TW" dirty="0"/>
                  <a:t>where </a:t>
                </a:r>
                <a:r>
                  <a:rPr lang="es-ES" altLang="zh-TW" dirty="0" smtClean="0"/>
                  <a:t>u</a:t>
                </a:r>
                <a:r>
                  <a:rPr lang="es-ES" altLang="zh-TW" i="1" dirty="0" smtClean="0"/>
                  <a:t/>
                </a:r>
                <a:r>
                  <a:rPr lang="es-ES" altLang="zh-TW" dirty="0"/>
                  <a:t>:= </a:t>
                </a:r>
                <a:r>
                  <a:rPr lang="es-ES" altLang="zh-TW" i="1" dirty="0" smtClean="0"/>
                  <a:t>ThreshT</a:t>
                </a:r>
                <a:r>
                  <a:rPr lang="es-ES" altLang="zh-TW" dirty="0" smtClean="0"/>
                  <a:t>[</a:t>
                </a:r>
                <a:r>
                  <a:rPr lang="en-US" altLang="zh-TW" dirty="0"/>
                  <a:t>ũ</a:t>
                </a:r>
                <a:r>
                  <a:rPr lang="es-ES" altLang="zh-TW" dirty="0" smtClean="0"/>
                  <a:t>]</a:t>
                </a:r>
                <a:r>
                  <a:rPr lang="en-US" altLang="zh-TW" dirty="0" smtClean="0"/>
                  <a:t>and v</a:t>
                </a:r>
                <a:r>
                  <a:rPr lang="en-US" altLang="zh-TW" i="1" dirty="0" smtClean="0"/>
                  <a:t/>
                </a:r>
                <a:r>
                  <a:rPr lang="en-US" altLang="zh-TW" dirty="0"/>
                  <a:t>:= </a:t>
                </a:r>
                <a:r>
                  <a:rPr lang="en-US" altLang="zh-TW" i="1" dirty="0" err="1" smtClean="0"/>
                  <a:t>ThreshB</a:t>
                </a:r>
                <a:r>
                  <a:rPr lang="en-US" altLang="zh-TW" dirty="0" smtClean="0"/>
                  <a:t>[</a:t>
                </a:r>
                <a:r>
                  <a:rPr lang="en-US" altLang="zh-TW" dirty="0"/>
                  <a:t>ũ</a:t>
                </a:r>
                <a:r>
                  <a:rPr lang="en-US" altLang="zh-TW" dirty="0" smtClean="0"/>
                  <a:t>].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40768"/>
                <a:ext cx="8229600" cy="4525963"/>
              </a:xfrm>
              <a:blipFill rotWithShape="1">
                <a:blip r:embed="rId3"/>
                <a:stretch>
                  <a:fillRect l="-815" t="-21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7051672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</a:t>
            </a:r>
            <a:r>
              <a:rPr lang="en-US" altLang="zh-TW" dirty="0" smtClean="0"/>
              <a:t>omplexity </a:t>
            </a:r>
            <a:r>
              <a:rPr lang="en-US" altLang="zh-TW" dirty="0"/>
              <a:t>of the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9865096" cy="49251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space :</a:t>
            </a:r>
            <a:r>
              <a:rPr lang="en-US" altLang="zh-TW" dirty="0"/>
              <a:t>O(ns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sz="2400" dirty="0" smtClean="0"/>
              <a:t>(1)</a:t>
            </a:r>
            <a:r>
              <a:rPr lang="en-US" altLang="zh-TW" sz="2400" dirty="0" err="1"/>
              <a:t>L</a:t>
            </a:r>
            <a:r>
              <a:rPr lang="en-US" altLang="zh-TW" sz="2400" dirty="0" err="1" smtClean="0"/>
              <a:t>efttPos,TopPos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RightPos</a:t>
            </a:r>
            <a:r>
              <a:rPr lang="en-US" altLang="zh-TW" sz="2400" dirty="0" smtClean="0"/>
              <a:t> and </a:t>
            </a:r>
            <a:r>
              <a:rPr lang="en-US" altLang="zh-TW" sz="2400" dirty="0" err="1" smtClean="0"/>
              <a:t>BottomPos</a:t>
            </a:r>
            <a:r>
              <a:rPr lang="en-US" altLang="zh-TW" sz="2400" dirty="0" smtClean="0"/>
              <a:t> : 	O(ns)</a:t>
            </a:r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en-US" altLang="zh-TW" sz="2400" dirty="0" smtClean="0"/>
              <a:t>(2)</a:t>
            </a:r>
            <a:r>
              <a:rPr lang="en-US" altLang="zh-TW" sz="2400" dirty="0" err="1" smtClean="0"/>
              <a:t>ThreshT</a:t>
            </a:r>
            <a:r>
              <a:rPr lang="en-US" altLang="zh-TW" sz="2400" dirty="0" smtClean="0"/>
              <a:t> , </a:t>
            </a:r>
            <a:r>
              <a:rPr lang="en-US" altLang="zh-TW" sz="2400" dirty="0" err="1" smtClean="0"/>
              <a:t>ThreshL</a:t>
            </a:r>
            <a:r>
              <a:rPr lang="en-US" altLang="zh-TW" sz="2400" dirty="0" smtClean="0"/>
              <a:t> , </a:t>
            </a:r>
            <a:r>
              <a:rPr lang="en-US" altLang="zh-TW" sz="2400" dirty="0" err="1" smtClean="0"/>
              <a:t>ThreshB</a:t>
            </a:r>
            <a:r>
              <a:rPr lang="en-US" altLang="zh-TW" sz="2400" dirty="0" smtClean="0"/>
              <a:t>  and </a:t>
            </a:r>
            <a:r>
              <a:rPr lang="en-US" altLang="zh-TW" sz="2400" dirty="0" err="1" smtClean="0"/>
              <a:t>ThreshR</a:t>
            </a:r>
            <a:r>
              <a:rPr lang="en-US" altLang="zh-TW" sz="2400" dirty="0" smtClean="0"/>
              <a:t> :   	O(n)</a:t>
            </a:r>
          </a:p>
          <a:p>
            <a:pPr marL="0" indent="0">
              <a:buNone/>
            </a:pPr>
            <a:r>
              <a:rPr lang="en-US" altLang="zh-TW" sz="2400" dirty="0" smtClean="0"/>
              <a:t>	(3)</a:t>
            </a:r>
            <a:r>
              <a:rPr lang="en-US" altLang="zh-TW" sz="2400" dirty="0" err="1" smtClean="0"/>
              <a:t>c</a:t>
            </a:r>
            <a:r>
              <a:rPr lang="en-US" altLang="zh-TW" sz="2400" baseline="30000" dirty="0" err="1" smtClean="0"/>
              <a:t>T</a:t>
            </a:r>
            <a:r>
              <a:rPr lang="en-US" altLang="zh-TW" sz="2400" dirty="0" smtClean="0"/>
              <a:t>,</a:t>
            </a:r>
            <a:r>
              <a:rPr lang="en-US" altLang="zh-TW" sz="2400" dirty="0"/>
              <a:t> </a:t>
            </a:r>
            <a:r>
              <a:rPr lang="en-US" altLang="zh-TW" sz="2400" dirty="0" err="1" smtClean="0"/>
              <a:t>c</a:t>
            </a:r>
            <a:r>
              <a:rPr lang="en-US" altLang="zh-TW" sz="2400" baseline="30000" dirty="0" err="1" smtClean="0"/>
              <a:t>L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c</a:t>
            </a:r>
            <a:r>
              <a:rPr lang="en-US" altLang="zh-TW" sz="2400" baseline="30000" dirty="0" err="1"/>
              <a:t>B</a:t>
            </a:r>
            <a:r>
              <a:rPr lang="en-US" altLang="zh-TW" sz="2400" baseline="30000" dirty="0" smtClean="0"/>
              <a:t> </a:t>
            </a:r>
            <a:r>
              <a:rPr lang="en-US" altLang="zh-TW" sz="2400" dirty="0" smtClean="0"/>
              <a:t>and </a:t>
            </a:r>
            <a:r>
              <a:rPr lang="en-US" altLang="zh-TW" sz="2400" dirty="0" err="1" smtClean="0"/>
              <a:t>c</a:t>
            </a:r>
            <a:r>
              <a:rPr lang="en-US" altLang="zh-TW" sz="2400" baseline="30000" dirty="0" err="1" smtClean="0"/>
              <a:t>R</a:t>
            </a:r>
            <a:r>
              <a:rPr lang="en-US" altLang="zh-TW" sz="2400" dirty="0" smtClean="0"/>
              <a:t> :					O(n)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 smtClean="0"/>
              <a:t>	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5373216"/>
            <a:ext cx="56673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51520" y="5003884"/>
            <a:ext cx="1850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/>
              <a:t>Example:  </a:t>
            </a:r>
            <a:r>
              <a:rPr lang="en-US" altLang="zh-TW" i="1" dirty="0" err="1" smtClean="0"/>
              <a:t>lefttPos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176020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6407" r="7460"/>
          <a:stretch>
            <a:fillRect/>
          </a:stretch>
        </p:blipFill>
        <p:spPr bwMode="auto">
          <a:xfrm>
            <a:off x="6787128" y="1124744"/>
            <a:ext cx="2354912" cy="256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 of the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7509344" cy="4997152"/>
          </a:xfrm>
        </p:spPr>
        <p:txBody>
          <a:bodyPr>
            <a:normAutofit fontScale="62500" lnSpcReduction="20000"/>
          </a:bodyPr>
          <a:lstStyle/>
          <a:p>
            <a:r>
              <a:rPr lang="en-US" altLang="zh-TW" dirty="0"/>
              <a:t>Time(determining the length p of an LCS) :</a:t>
            </a:r>
          </a:p>
          <a:p>
            <a:pPr marL="0" indent="0">
              <a:buNone/>
            </a:pPr>
            <a:r>
              <a:rPr lang="en-US" altLang="zh-TW" dirty="0"/>
              <a:t>		</a:t>
            </a:r>
            <a:r>
              <a:rPr lang="en-US" altLang="zh-TW" dirty="0">
                <a:solidFill>
                  <a:srgbClr val="FF0000"/>
                </a:solidFill>
              </a:rPr>
              <a:t>O(ns + min{ </a:t>
            </a:r>
            <a:r>
              <a:rPr lang="en-US" altLang="zh-TW" dirty="0" err="1">
                <a:solidFill>
                  <a:srgbClr val="FF0000"/>
                </a:solidFill>
              </a:rPr>
              <a:t>mp</a:t>
            </a:r>
            <a:r>
              <a:rPr lang="en-US" altLang="zh-TW" dirty="0">
                <a:solidFill>
                  <a:srgbClr val="FF0000"/>
                </a:solidFill>
              </a:rPr>
              <a:t>, p(n - p) } )    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(</a:t>
            </a:r>
            <a:r>
              <a:rPr lang="en-US" altLang="zh-TW" dirty="0"/>
              <a:t>1)preprocessed </a:t>
            </a:r>
            <a:r>
              <a:rPr lang="en-US" altLang="zh-TW" dirty="0" smtClean="0"/>
              <a:t>:		                	 </a:t>
            </a:r>
            <a:r>
              <a:rPr lang="en-US" altLang="zh-TW" dirty="0"/>
              <a:t>O(ns)</a:t>
            </a:r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(</a:t>
            </a:r>
            <a:r>
              <a:rPr lang="en-US" altLang="zh-TW" dirty="0"/>
              <a:t>2)the main loop</a:t>
            </a:r>
            <a:r>
              <a:rPr lang="en-US" altLang="zh-TW" dirty="0" smtClean="0"/>
              <a:t>:		           O</a:t>
            </a:r>
            <a:r>
              <a:rPr lang="en-US" altLang="zh-TW" dirty="0"/>
              <a:t>(┌m/2 ┐</a:t>
            </a:r>
            <a:r>
              <a:rPr lang="en-US" altLang="zh-TW" dirty="0" smtClean="0"/>
              <a:t>) =O(</a:t>
            </a:r>
            <a:r>
              <a:rPr lang="zh-TW" altLang="en-US" dirty="0"/>
              <a:t>𝑚</a:t>
            </a:r>
            <a:r>
              <a:rPr lang="en-US" altLang="zh-TW" dirty="0"/>
              <a:t>) </a:t>
            </a:r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(3)inner </a:t>
            </a:r>
            <a:r>
              <a:rPr lang="en-US" altLang="zh-TW" dirty="0"/>
              <a:t>While-loops takes more than </a:t>
            </a:r>
            <a:r>
              <a:rPr lang="zh-TW" altLang="en-US" dirty="0" smtClean="0"/>
              <a:t>   </a:t>
            </a:r>
            <a:r>
              <a:rPr lang="en-US" altLang="zh-TW" dirty="0" smtClean="0"/>
              <a:t>O(p</a:t>
            </a:r>
            <a:r>
              <a:rPr lang="en-US" altLang="zh-TW" dirty="0"/>
              <a:t>) time</a:t>
            </a:r>
          </a:p>
          <a:p>
            <a:pPr marL="0" indent="0">
              <a:buNone/>
            </a:pPr>
            <a:r>
              <a:rPr lang="zh-TW" altLang="en-US" dirty="0" smtClean="0"/>
              <a:t>   </a:t>
            </a:r>
            <a:r>
              <a:rPr lang="en-US" altLang="zh-TW" dirty="0" smtClean="0"/>
              <a:t>by(1</a:t>
            </a:r>
            <a:r>
              <a:rPr lang="en-US" altLang="zh-TW" dirty="0"/>
              <a:t>),(2),(3) : </a:t>
            </a:r>
            <a:r>
              <a:rPr lang="en-US" altLang="zh-TW" dirty="0" smtClean="0"/>
              <a:t>					</a:t>
            </a:r>
            <a:r>
              <a:rPr lang="en-US" altLang="zh-TW" dirty="0" smtClean="0">
                <a:solidFill>
                  <a:srgbClr val="FF0000"/>
                </a:solidFill>
              </a:rPr>
              <a:t>O(</a:t>
            </a:r>
            <a:r>
              <a:rPr lang="en-US" altLang="zh-TW" dirty="0" err="1" smtClean="0">
                <a:solidFill>
                  <a:srgbClr val="FF0000"/>
                </a:solidFill>
              </a:rPr>
              <a:t>ns+mp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zh-TW" altLang="en-US" dirty="0" smtClean="0"/>
              <a:t>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  </a:t>
            </a:r>
            <a:r>
              <a:rPr lang="en-US" altLang="zh-TW" dirty="0" smtClean="0"/>
              <a:t>(</a:t>
            </a:r>
            <a:r>
              <a:rPr lang="en-US" altLang="zh-TW" dirty="0"/>
              <a:t>4</a:t>
            </a:r>
            <a:r>
              <a:rPr lang="en-US" altLang="zh-TW" dirty="0" smtClean="0"/>
              <a:t>)</a:t>
            </a:r>
            <a:r>
              <a:rPr lang="zh-TW" altLang="en-US" dirty="0"/>
              <a:t>考慮在</a:t>
            </a:r>
            <a:r>
              <a:rPr lang="en-US" altLang="zh-TW" dirty="0"/>
              <a:t>A</a:t>
            </a:r>
            <a:r>
              <a:rPr lang="en-US" altLang="zh-TW" baseline="30000" dirty="0"/>
              <a:t>T</a:t>
            </a:r>
            <a:r>
              <a:rPr lang="zh-TW" altLang="en-US" dirty="0" smtClean="0"/>
              <a:t>中</a:t>
            </a:r>
            <a:r>
              <a:rPr lang="zh-TW" altLang="en-US" dirty="0"/>
              <a:t>的</a:t>
            </a:r>
            <a:r>
              <a:rPr lang="zh-TW" altLang="en-US" dirty="0" smtClean="0"/>
              <a:t>每條</a:t>
            </a:r>
            <a:r>
              <a:rPr lang="en-US" altLang="zh-TW" dirty="0" err="1" smtClean="0"/>
              <a:t>antichan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zh-TW" altLang="en-US" dirty="0" smtClean="0"/>
              <a:t>第</a:t>
            </a:r>
            <a:r>
              <a:rPr lang="en-US" altLang="zh-TW" dirty="0"/>
              <a:t>j</a:t>
            </a:r>
            <a:r>
              <a:rPr lang="zh-TW" altLang="en-US" dirty="0"/>
              <a:t>條 </a:t>
            </a:r>
            <a:r>
              <a:rPr lang="en-US" altLang="zh-TW" dirty="0" err="1"/>
              <a:t>antichain</a:t>
            </a:r>
            <a:r>
              <a:rPr lang="en-US" altLang="zh-TW" dirty="0"/>
              <a:t>(</a:t>
            </a:r>
            <a:r>
              <a:rPr lang="zh-TW" altLang="en-US" dirty="0"/>
              <a:t>在第</a:t>
            </a:r>
            <a:r>
              <a:rPr lang="en-US" altLang="zh-TW" dirty="0"/>
              <a:t>i</a:t>
            </a:r>
            <a:r>
              <a:rPr lang="zh-TW" altLang="en-US" dirty="0" smtClean="0"/>
              <a:t>次被</a:t>
            </a:r>
            <a:r>
              <a:rPr lang="zh-TW" altLang="en-US" dirty="0"/>
              <a:t>加入</a:t>
            </a:r>
            <a:r>
              <a:rPr lang="en-US" altLang="zh-TW" dirty="0"/>
              <a:t>,i&gt;=j)</a:t>
            </a:r>
            <a:r>
              <a:rPr lang="zh-TW" altLang="en-US" dirty="0" smtClean="0"/>
              <a:t>必定</a:t>
            </a:r>
            <a:r>
              <a:rPr lang="zh-TW" altLang="en-US" dirty="0"/>
              <a:t>包含</a:t>
            </a:r>
            <a:r>
              <a:rPr lang="zh-TW" altLang="en-US" dirty="0" smtClean="0"/>
              <a:t>一個</a:t>
            </a:r>
            <a:r>
              <a:rPr lang="en-US" altLang="zh-TW" dirty="0" smtClean="0"/>
              <a:t>match(</a:t>
            </a:r>
            <a:r>
              <a:rPr lang="en-US" altLang="zh-TW" dirty="0" err="1" smtClean="0"/>
              <a:t>k,l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	=&gt;</a:t>
            </a:r>
            <a:r>
              <a:rPr lang="zh-TW" altLang="en-US" dirty="0" smtClean="0"/>
              <a:t> </a:t>
            </a:r>
            <a:r>
              <a:rPr lang="en-US" altLang="zh-TW" dirty="0"/>
              <a:t>l&lt;=n-(p-j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=&gt;</a:t>
            </a:r>
            <a:r>
              <a:rPr lang="zh-TW" altLang="en-US" dirty="0" smtClean="0"/>
              <a:t>第</a:t>
            </a:r>
            <a:r>
              <a:rPr lang="en-US" altLang="zh-TW" dirty="0" smtClean="0"/>
              <a:t>n-(p-j)</a:t>
            </a:r>
            <a:r>
              <a:rPr lang="zh-TW" altLang="en-US" dirty="0" smtClean="0"/>
              <a:t>次之後</a:t>
            </a:r>
            <a:r>
              <a:rPr lang="en-US" altLang="zh-TW" dirty="0" smtClean="0"/>
              <a:t>,</a:t>
            </a:r>
            <a:r>
              <a:rPr lang="zh-TW" altLang="en-US" dirty="0" smtClean="0"/>
              <a:t>此</a:t>
            </a:r>
            <a:r>
              <a:rPr lang="en-US" altLang="zh-TW" dirty="0" err="1" smtClean="0"/>
              <a:t>antichan</a:t>
            </a:r>
            <a:r>
              <a:rPr lang="zh-TW" altLang="en-US" dirty="0" smtClean="0"/>
              <a:t>才會</a:t>
            </a:r>
            <a:r>
              <a:rPr lang="en-US" altLang="zh-TW" dirty="0" smtClean="0"/>
              <a:t>TL-complete</a:t>
            </a:r>
          </a:p>
          <a:p>
            <a:pPr marL="0" indent="0">
              <a:buNone/>
            </a:pPr>
            <a:r>
              <a:rPr lang="en-US" altLang="zh-TW" dirty="0" smtClean="0"/>
              <a:t> 	=&gt;</a:t>
            </a:r>
            <a:r>
              <a:rPr lang="zh-TW" altLang="en-US" dirty="0" smtClean="0"/>
              <a:t>此</a:t>
            </a:r>
            <a:r>
              <a:rPr lang="en-US" altLang="zh-TW" dirty="0" err="1" smtClean="0"/>
              <a:t>antichan</a:t>
            </a:r>
            <a:r>
              <a:rPr lang="zh-TW" altLang="en-US" dirty="0" smtClean="0"/>
              <a:t>被運算的次數</a:t>
            </a:r>
            <a:r>
              <a:rPr lang="en-US" altLang="zh-TW" dirty="0" smtClean="0"/>
              <a:t>=n-(p-j)-i&lt;=n-p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=&gt;O(n-p)</a:t>
            </a:r>
          </a:p>
          <a:p>
            <a:pPr marL="0" indent="0">
              <a:buNone/>
            </a:pPr>
            <a:r>
              <a:rPr lang="en-US" altLang="zh-TW" dirty="0" smtClean="0"/>
              <a:t> (5)</a:t>
            </a:r>
            <a:r>
              <a:rPr lang="zh-TW" altLang="en-US" dirty="0" smtClean="0"/>
              <a:t>在</a:t>
            </a:r>
            <a:r>
              <a:rPr lang="en-US" altLang="zh-TW" dirty="0" smtClean="0"/>
              <a:t>A</a:t>
            </a:r>
            <a:r>
              <a:rPr lang="en-US" altLang="zh-TW" baseline="30000" dirty="0" smtClean="0"/>
              <a:t>T</a:t>
            </a:r>
            <a:r>
              <a:rPr lang="zh-TW" altLang="en-US" dirty="0" smtClean="0"/>
              <a:t>中有</a:t>
            </a:r>
            <a:r>
              <a:rPr lang="en-US" altLang="zh-TW" dirty="0" smtClean="0"/>
              <a:t>O(p)</a:t>
            </a:r>
            <a:r>
              <a:rPr lang="zh-TW" altLang="en-US" dirty="0" smtClean="0"/>
              <a:t>條</a:t>
            </a:r>
            <a:r>
              <a:rPr lang="en-US" altLang="zh-TW" dirty="0" err="1" smtClean="0"/>
              <a:t>antichain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  by(1),(4),(5) :					</a:t>
            </a:r>
            <a:r>
              <a:rPr lang="en-US" altLang="zh-TW" dirty="0" smtClean="0">
                <a:solidFill>
                  <a:srgbClr val="FF0000"/>
                </a:solidFill>
              </a:rPr>
              <a:t>O(</a:t>
            </a:r>
            <a:r>
              <a:rPr lang="en-US" altLang="zh-TW" dirty="0" err="1" smtClean="0">
                <a:solidFill>
                  <a:srgbClr val="FF0000"/>
                </a:solidFill>
              </a:rPr>
              <a:t>ns+p</a:t>
            </a:r>
            <a:r>
              <a:rPr lang="en-US" altLang="zh-TW" dirty="0" smtClean="0">
                <a:solidFill>
                  <a:srgbClr val="FF0000"/>
                </a:solidFill>
              </a:rPr>
              <a:t>(n-p))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36071951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 of the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Time(Construction of an LCS) :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/>
              <a:t>	O(ns + min{ </a:t>
            </a:r>
            <a:r>
              <a:rPr lang="en-US" altLang="zh-TW" dirty="0" err="1"/>
              <a:t>mp</a:t>
            </a:r>
            <a:r>
              <a:rPr lang="en-US" altLang="zh-TW" dirty="0"/>
              <a:t>, </a:t>
            </a:r>
            <a:r>
              <a:rPr lang="en-US" altLang="zh-TW" dirty="0" err="1"/>
              <a:t>mlogm</a:t>
            </a:r>
            <a:r>
              <a:rPr lang="en-US" altLang="zh-TW" dirty="0"/>
              <a:t> + p(n - p) } ) 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8739510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8784976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75584"/>
            <a:ext cx="8496943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2897252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784976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05064"/>
            <a:ext cx="8784976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916107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://fc04.deviantart.net/fs71/f/2013/317/9/8/_thank_you_for_listening__card_by_lyraeri-d6u37jh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6523"/>
          <a:stretch/>
        </p:blipFill>
        <p:spPr bwMode="auto">
          <a:xfrm>
            <a:off x="827584" y="1772816"/>
            <a:ext cx="7668344" cy="480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121462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Implementation</a:t>
            </a:r>
            <a:endParaRPr lang="zh-TW" alt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4833" y="1143794"/>
            <a:ext cx="2714625" cy="522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50046" y="1165151"/>
            <a:ext cx="268605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88146" y="3068960"/>
            <a:ext cx="264795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143794"/>
            <a:ext cx="260985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364088" y="5530006"/>
            <a:ext cx="51575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Figure 6: The 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ns </a:t>
            </a:r>
            <a:r>
              <a:rPr lang="en-US" altLang="zh-TW" dirty="0"/>
              <a:t>+ </a:t>
            </a:r>
            <a:r>
              <a:rPr lang="en-US" altLang="zh-TW" dirty="0" smtClean="0"/>
              <a:t>min</a:t>
            </a:r>
            <a:r>
              <a:rPr lang="en-US" altLang="zh-TW" i="1" dirty="0" smtClean="0"/>
              <a:t>{ </a:t>
            </a:r>
            <a:r>
              <a:rPr lang="en-US" altLang="zh-TW" i="1" dirty="0" err="1" smtClean="0"/>
              <a:t>mp</a:t>
            </a:r>
            <a:r>
              <a:rPr lang="en-US" altLang="zh-TW" i="1" dirty="0"/>
              <a:t>,</a:t>
            </a:r>
            <a:r>
              <a:rPr lang="en-US" altLang="zh-TW" i="1" dirty="0" smtClean="0"/>
              <a:t> </a:t>
            </a:r>
            <a:r>
              <a:rPr lang="en-US" altLang="zh-TW" i="1" dirty="0"/>
              <a:t>p</a:t>
            </a:r>
            <a:r>
              <a:rPr lang="en-US" altLang="zh-TW" dirty="0"/>
              <a:t>(</a:t>
            </a:r>
            <a:r>
              <a:rPr lang="en-US" altLang="zh-TW" i="1" dirty="0"/>
              <a:t>n </a:t>
            </a:r>
            <a:r>
              <a:rPr lang="en-US" altLang="zh-TW" i="1" dirty="0" smtClean="0"/>
              <a:t>- </a:t>
            </a:r>
            <a:r>
              <a:rPr lang="en-US" altLang="zh-TW" i="1" dirty="0"/>
              <a:t>p</a:t>
            </a:r>
            <a:r>
              <a:rPr lang="en-US" altLang="zh-TW" dirty="0" smtClean="0"/>
              <a:t>)}) </a:t>
            </a:r>
          </a:p>
          <a:p>
            <a:r>
              <a:rPr lang="en-US" altLang="zh-TW" dirty="0" smtClean="0"/>
              <a:t>algorithm </a:t>
            </a:r>
            <a:r>
              <a:rPr lang="en-US" altLang="zh-TW" dirty="0"/>
              <a:t>for </a:t>
            </a:r>
            <a:endParaRPr lang="en-US" altLang="zh-TW" dirty="0" smtClean="0"/>
          </a:p>
          <a:p>
            <a:r>
              <a:rPr lang="en-US" altLang="zh-TW" dirty="0" smtClean="0"/>
              <a:t>determining </a:t>
            </a:r>
            <a:r>
              <a:rPr lang="en-US" altLang="zh-TW" dirty="0"/>
              <a:t>the length </a:t>
            </a:r>
            <a:r>
              <a:rPr lang="en-US" altLang="zh-TW" i="1" dirty="0"/>
              <a:t>p </a:t>
            </a:r>
            <a:r>
              <a:rPr lang="en-US" altLang="zh-TW" dirty="0" smtClean="0"/>
              <a:t>of  an </a:t>
            </a:r>
            <a:r>
              <a:rPr lang="en-US" altLang="zh-TW" dirty="0"/>
              <a:t>LCS.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735713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8856</TotalTime>
  <Words>1506</Words>
  <Application>Microsoft Office PowerPoint</Application>
  <PresentationFormat>如螢幕大小 (4:3)</PresentationFormat>
  <Paragraphs>206</Paragraphs>
  <Slides>33</Slides>
  <Notes>4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5" baseType="lpstr">
      <vt:lpstr>Office 佈景主題</vt:lpstr>
      <vt:lpstr>方程式</vt:lpstr>
      <vt:lpstr>A New Practical Linear Space Algorithm for the Longest Common Subsequence Problem </vt:lpstr>
      <vt:lpstr>Abstract</vt:lpstr>
      <vt:lpstr>Introduction</vt:lpstr>
      <vt:lpstr>Introduction</vt:lpstr>
      <vt:lpstr>A New Approach to the LCS Problem</vt:lpstr>
      <vt:lpstr>A New Approach to the LCS Problem</vt:lpstr>
      <vt:lpstr>A New Approach to the LCS Problem</vt:lpstr>
      <vt:lpstr>A New Approach to the LCS Problem</vt:lpstr>
      <vt:lpstr>Determine AT,i  </vt:lpstr>
      <vt:lpstr>Determine AT,i</vt:lpstr>
      <vt:lpstr>Determine AT,i  </vt:lpstr>
      <vt:lpstr>Check AT,i and AL,i for TL-completeness</vt:lpstr>
      <vt:lpstr>The main program for decomposing M</vt:lpstr>
      <vt:lpstr>A New Approach to the LCS Problem</vt:lpstr>
      <vt:lpstr>Determine length p of an LCS</vt:lpstr>
      <vt:lpstr>Case a&amp; Case b</vt:lpstr>
      <vt:lpstr>Case c</vt:lpstr>
      <vt:lpstr>Case d</vt:lpstr>
      <vt:lpstr>Case d</vt:lpstr>
      <vt:lpstr>Implementation</vt:lpstr>
      <vt:lpstr>Implementation</vt:lpstr>
      <vt:lpstr>Implementation</vt:lpstr>
      <vt:lpstr>Construction of an LCS in Linear Space</vt:lpstr>
      <vt:lpstr>Construction of an LCS in Linear Space</vt:lpstr>
      <vt:lpstr>Construction of an LCS in Linear Space</vt:lpstr>
      <vt:lpstr>Construction of an LCS in Linear Space</vt:lpstr>
      <vt:lpstr>Complexity of the algorithm</vt:lpstr>
      <vt:lpstr>Complexity of the algorithm</vt:lpstr>
      <vt:lpstr>Complexity of the algorithm</vt:lpstr>
      <vt:lpstr>Experimental Results</vt:lpstr>
      <vt:lpstr>Experimental Results</vt:lpstr>
      <vt:lpstr>投影片 32</vt:lpstr>
      <vt:lpstr>Implementation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Practical Linear Space Algorithm for the Longest Common Subsequence Problem</dc:title>
  <dc:creator>Leo</dc:creator>
  <cp:lastModifiedBy>admin</cp:lastModifiedBy>
  <cp:revision>153</cp:revision>
  <dcterms:created xsi:type="dcterms:W3CDTF">2014-10-22T21:33:56Z</dcterms:created>
  <dcterms:modified xsi:type="dcterms:W3CDTF">2014-11-04T14:05:49Z</dcterms:modified>
</cp:coreProperties>
</file>