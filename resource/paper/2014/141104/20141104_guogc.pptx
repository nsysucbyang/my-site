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38" d="100"/>
          <a:sy n="38" d="100"/>
        </p:scale>
        <p:origin x="-780" y="-10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___2.xlsx"/></Relationships>
</file>

<file path=ppt/charts/chart1.xml><?xml version="1.0" encoding="utf-8"?>
<c:chartSpace xmlns:c="http://schemas.openxmlformats.org/drawingml/2006/chart" xmlns:a="http://schemas.openxmlformats.org/drawingml/2006/main" xmlns:r="http://schemas.openxmlformats.org/officeDocument/2006/relationships">
  <c:lang val="zh-TW"/>
  <c:style val="27"/>
  <c:chart>
    <c:plotArea>
      <c:layout/>
      <c:lineChart>
        <c:grouping val="standard"/>
        <c:ser>
          <c:idx val="0"/>
          <c:order val="0"/>
          <c:tx>
            <c:strRef>
              <c:f>工作表1!$B$1</c:f>
              <c:strCache>
                <c:ptCount val="1"/>
                <c:pt idx="0">
                  <c:v>X</c:v>
                </c:pt>
              </c:strCache>
            </c:strRef>
          </c:tx>
          <c:marker>
            <c:symbol val="none"/>
          </c:marker>
          <c:cat>
            <c:numRef>
              <c:f>工作表1!$A$2:$A$7</c:f>
              <c:numCache>
                <c:formatCode>General</c:formatCode>
                <c:ptCount val="6"/>
                <c:pt idx="0">
                  <c:v>1</c:v>
                </c:pt>
                <c:pt idx="1">
                  <c:v>2</c:v>
                </c:pt>
                <c:pt idx="2">
                  <c:v>3</c:v>
                </c:pt>
                <c:pt idx="3">
                  <c:v>4</c:v>
                </c:pt>
                <c:pt idx="4">
                  <c:v>5</c:v>
                </c:pt>
                <c:pt idx="5">
                  <c:v>6</c:v>
                </c:pt>
              </c:numCache>
            </c:numRef>
          </c:cat>
          <c:val>
            <c:numRef>
              <c:f>工作表1!$B$2:$B$7</c:f>
              <c:numCache>
                <c:formatCode>General</c:formatCode>
                <c:ptCount val="6"/>
                <c:pt idx="0">
                  <c:v>0.30000000000000004</c:v>
                </c:pt>
                <c:pt idx="1">
                  <c:v>0.60000000000000009</c:v>
                </c:pt>
                <c:pt idx="2">
                  <c:v>0.2</c:v>
                </c:pt>
                <c:pt idx="3">
                  <c:v>0.70000000000000007</c:v>
                </c:pt>
                <c:pt idx="4">
                  <c:v>0.5</c:v>
                </c:pt>
                <c:pt idx="5">
                  <c:v>0.4</c:v>
                </c:pt>
              </c:numCache>
            </c:numRef>
          </c:val>
        </c:ser>
        <c:ser>
          <c:idx val="1"/>
          <c:order val="1"/>
          <c:tx>
            <c:strRef>
              <c:f>工作表1!$C$1</c:f>
              <c:strCache>
                <c:ptCount val="1"/>
                <c:pt idx="0">
                  <c:v>Y</c:v>
                </c:pt>
              </c:strCache>
            </c:strRef>
          </c:tx>
          <c:marker>
            <c:symbol val="none"/>
          </c:marker>
          <c:cat>
            <c:numRef>
              <c:f>工作表1!$A$2:$A$7</c:f>
              <c:numCache>
                <c:formatCode>General</c:formatCode>
                <c:ptCount val="6"/>
                <c:pt idx="0">
                  <c:v>1</c:v>
                </c:pt>
                <c:pt idx="1">
                  <c:v>2</c:v>
                </c:pt>
                <c:pt idx="2">
                  <c:v>3</c:v>
                </c:pt>
                <c:pt idx="3">
                  <c:v>4</c:v>
                </c:pt>
                <c:pt idx="4">
                  <c:v>5</c:v>
                </c:pt>
                <c:pt idx="5">
                  <c:v>6</c:v>
                </c:pt>
              </c:numCache>
            </c:numRef>
          </c:cat>
          <c:val>
            <c:numRef>
              <c:f>工作表1!$C$2:$C$7</c:f>
              <c:numCache>
                <c:formatCode>General</c:formatCode>
                <c:ptCount val="6"/>
                <c:pt idx="0">
                  <c:v>0.2</c:v>
                </c:pt>
                <c:pt idx="1">
                  <c:v>0.4</c:v>
                </c:pt>
                <c:pt idx="2">
                  <c:v>0.8</c:v>
                </c:pt>
                <c:pt idx="3">
                  <c:v>0.1</c:v>
                </c:pt>
                <c:pt idx="4">
                  <c:v>0.4</c:v>
                </c:pt>
              </c:numCache>
            </c:numRef>
          </c:val>
        </c:ser>
        <c:dLbls/>
        <c:marker val="1"/>
        <c:axId val="96227712"/>
        <c:axId val="96229248"/>
      </c:lineChart>
      <c:catAx>
        <c:axId val="96227712"/>
        <c:scaling>
          <c:orientation val="minMax"/>
        </c:scaling>
        <c:axPos val="b"/>
        <c:numFmt formatCode="General" sourceLinked="1"/>
        <c:tickLblPos val="nextTo"/>
        <c:crossAx val="96229248"/>
        <c:crosses val="autoZero"/>
        <c:auto val="1"/>
        <c:lblAlgn val="ctr"/>
        <c:lblOffset val="100"/>
      </c:catAx>
      <c:valAx>
        <c:axId val="96229248"/>
        <c:scaling>
          <c:orientation val="minMax"/>
        </c:scaling>
        <c:axPos val="l"/>
        <c:majorGridlines/>
        <c:numFmt formatCode="General" sourceLinked="1"/>
        <c:tickLblPos val="nextTo"/>
        <c:crossAx val="96227712"/>
        <c:crosses val="autoZero"/>
        <c:crossBetween val="between"/>
      </c:valAx>
    </c:plotArea>
    <c:legend>
      <c:legendPos val="r"/>
      <c:layout/>
    </c:legend>
    <c:plotVisOnly val="1"/>
    <c:dispBlanksAs val="gap"/>
  </c:chart>
  <c:txPr>
    <a:bodyPr/>
    <a:lstStyle/>
    <a:p>
      <a:pPr>
        <a:defRPr sz="1800"/>
      </a:pPr>
      <a:endParaRPr lang="zh-TW"/>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zh-TW"/>
  <c:style val="27"/>
  <c:chart>
    <c:plotArea>
      <c:layout/>
      <c:lineChart>
        <c:grouping val="standard"/>
        <c:ser>
          <c:idx val="0"/>
          <c:order val="0"/>
          <c:tx>
            <c:strRef>
              <c:f>工作表1!$B$1</c:f>
              <c:strCache>
                <c:ptCount val="1"/>
                <c:pt idx="0">
                  <c:v>X</c:v>
                </c:pt>
              </c:strCache>
            </c:strRef>
          </c:tx>
          <c:marker>
            <c:symbol val="none"/>
          </c:marker>
          <c:cat>
            <c:numRef>
              <c:f>工作表1!$A$2:$A$7</c:f>
              <c:numCache>
                <c:formatCode>General</c:formatCode>
                <c:ptCount val="6"/>
                <c:pt idx="0">
                  <c:v>1</c:v>
                </c:pt>
                <c:pt idx="1">
                  <c:v>2</c:v>
                </c:pt>
                <c:pt idx="2">
                  <c:v>3</c:v>
                </c:pt>
                <c:pt idx="3">
                  <c:v>4</c:v>
                </c:pt>
                <c:pt idx="4">
                  <c:v>5</c:v>
                </c:pt>
                <c:pt idx="5">
                  <c:v>6</c:v>
                </c:pt>
              </c:numCache>
            </c:numRef>
          </c:cat>
          <c:val>
            <c:numRef>
              <c:f>工作表1!$B$2:$B$7</c:f>
              <c:numCache>
                <c:formatCode>General</c:formatCode>
                <c:ptCount val="6"/>
                <c:pt idx="0">
                  <c:v>0.30000000000000004</c:v>
                </c:pt>
                <c:pt idx="1">
                  <c:v>0.60000000000000009</c:v>
                </c:pt>
                <c:pt idx="2">
                  <c:v>0.2</c:v>
                </c:pt>
                <c:pt idx="3">
                  <c:v>0.70000000000000007</c:v>
                </c:pt>
                <c:pt idx="4">
                  <c:v>0.5</c:v>
                </c:pt>
                <c:pt idx="5">
                  <c:v>0.4</c:v>
                </c:pt>
              </c:numCache>
            </c:numRef>
          </c:val>
        </c:ser>
        <c:ser>
          <c:idx val="1"/>
          <c:order val="1"/>
          <c:tx>
            <c:strRef>
              <c:f>工作表1!$C$1</c:f>
              <c:strCache>
                <c:ptCount val="1"/>
                <c:pt idx="0">
                  <c:v>Y</c:v>
                </c:pt>
              </c:strCache>
            </c:strRef>
          </c:tx>
          <c:marker>
            <c:symbol val="none"/>
          </c:marker>
          <c:cat>
            <c:numRef>
              <c:f>工作表1!$A$2:$A$7</c:f>
              <c:numCache>
                <c:formatCode>General</c:formatCode>
                <c:ptCount val="6"/>
                <c:pt idx="0">
                  <c:v>1</c:v>
                </c:pt>
                <c:pt idx="1">
                  <c:v>2</c:v>
                </c:pt>
                <c:pt idx="2">
                  <c:v>3</c:v>
                </c:pt>
                <c:pt idx="3">
                  <c:v>4</c:v>
                </c:pt>
                <c:pt idx="4">
                  <c:v>5</c:v>
                </c:pt>
                <c:pt idx="5">
                  <c:v>6</c:v>
                </c:pt>
              </c:numCache>
            </c:numRef>
          </c:cat>
          <c:val>
            <c:numRef>
              <c:f>工作表1!$C$2:$C$7</c:f>
              <c:numCache>
                <c:formatCode>General</c:formatCode>
                <c:ptCount val="6"/>
                <c:pt idx="0">
                  <c:v>0.2</c:v>
                </c:pt>
                <c:pt idx="1">
                  <c:v>0.4</c:v>
                </c:pt>
                <c:pt idx="2">
                  <c:v>0.8</c:v>
                </c:pt>
                <c:pt idx="3">
                  <c:v>0.1</c:v>
                </c:pt>
                <c:pt idx="4">
                  <c:v>0.4</c:v>
                </c:pt>
              </c:numCache>
            </c:numRef>
          </c:val>
        </c:ser>
        <c:dLbls/>
        <c:marker val="1"/>
        <c:axId val="96513024"/>
        <c:axId val="96518912"/>
      </c:lineChart>
      <c:catAx>
        <c:axId val="96513024"/>
        <c:scaling>
          <c:orientation val="minMax"/>
        </c:scaling>
        <c:axPos val="b"/>
        <c:numFmt formatCode="General" sourceLinked="1"/>
        <c:tickLblPos val="nextTo"/>
        <c:crossAx val="96518912"/>
        <c:crosses val="autoZero"/>
        <c:auto val="1"/>
        <c:lblAlgn val="ctr"/>
        <c:lblOffset val="100"/>
      </c:catAx>
      <c:valAx>
        <c:axId val="96518912"/>
        <c:scaling>
          <c:orientation val="minMax"/>
        </c:scaling>
        <c:axPos val="l"/>
        <c:majorGridlines/>
        <c:numFmt formatCode="General" sourceLinked="1"/>
        <c:tickLblPos val="nextTo"/>
        <c:crossAx val="96513024"/>
        <c:crosses val="autoZero"/>
        <c:crossBetween val="between"/>
      </c:valAx>
    </c:plotArea>
    <c:legend>
      <c:legendPos val="r"/>
      <c:layout/>
    </c:legend>
    <c:plotVisOnly val="1"/>
    <c:dispBlanksAs val="gap"/>
  </c:chart>
  <c:txPr>
    <a:bodyPr/>
    <a:lstStyle/>
    <a:p>
      <a:pPr>
        <a:defRPr sz="1800"/>
      </a:pPr>
      <a:endParaRPr lang="zh-TW"/>
    </a:p>
  </c:txPr>
  <c:externalData r:id="rId1"/>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123129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372670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1045371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4083013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371379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3996532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1252179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1278636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2530371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4269578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54F191C-B373-46F4-94C9-36F23C37A3CD}" type="datetimeFigureOut">
              <a:rPr lang="zh-TW" altLang="en-US" smtClean="0"/>
              <a:pPr/>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1234292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4F191C-B373-46F4-94C9-36F23C37A3CD}" type="datetimeFigureOut">
              <a:rPr lang="zh-TW" altLang="en-US" smtClean="0"/>
              <a:pPr/>
              <a:t>2014/11/4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42DC90-D9A7-402F-BBAE-4DD2489105AB}" type="slidenum">
              <a:rPr lang="zh-TW" altLang="en-US" smtClean="0"/>
              <a:pPr/>
              <a:t>‹#›</a:t>
            </a:fld>
            <a:endParaRPr lang="zh-TW" altLang="en-US"/>
          </a:p>
        </p:txBody>
      </p:sp>
    </p:spTree>
    <p:extLst>
      <p:ext uri="{BB962C8B-B14F-4D97-AF65-F5344CB8AC3E}">
        <p14:creationId xmlns:p14="http://schemas.microsoft.com/office/powerpoint/2010/main" xmlns="" val="3051410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b="1" dirty="0"/>
              <a:t>Derivative Dynamic Time </a:t>
            </a:r>
            <a:r>
              <a:rPr lang="en-US" altLang="zh-TW" b="1" dirty="0" smtClean="0"/>
              <a:t>Warping</a:t>
            </a:r>
            <a:endParaRPr lang="zh-TW" altLang="en-US" dirty="0"/>
          </a:p>
        </p:txBody>
      </p:sp>
      <p:sp>
        <p:nvSpPr>
          <p:cNvPr id="3" name="副標題 2"/>
          <p:cNvSpPr>
            <a:spLocks noGrp="1"/>
          </p:cNvSpPr>
          <p:nvPr>
            <p:ph type="subTitle" idx="1"/>
          </p:nvPr>
        </p:nvSpPr>
        <p:spPr/>
        <p:txBody>
          <a:bodyPr>
            <a:normAutofit/>
          </a:bodyPr>
          <a:lstStyle/>
          <a:p>
            <a:r>
              <a:rPr lang="en-US" altLang="zh-TW" dirty="0">
                <a:solidFill>
                  <a:schemeClr val="tx1"/>
                </a:solidFill>
              </a:rPr>
              <a:t> </a:t>
            </a:r>
            <a:r>
              <a:rPr lang="en-US" altLang="zh-TW" dirty="0" err="1">
                <a:solidFill>
                  <a:schemeClr val="tx1"/>
                </a:solidFill>
              </a:rPr>
              <a:t>Eamonn</a:t>
            </a:r>
            <a:r>
              <a:rPr lang="en-US" altLang="zh-TW" dirty="0">
                <a:solidFill>
                  <a:schemeClr val="tx1"/>
                </a:solidFill>
              </a:rPr>
              <a:t> J. Keogh , Michael J. </a:t>
            </a:r>
            <a:r>
              <a:rPr lang="en-US" altLang="zh-TW" dirty="0" err="1" smtClean="0">
                <a:solidFill>
                  <a:schemeClr val="tx1"/>
                </a:solidFill>
              </a:rPr>
              <a:t>Pazzani</a:t>
            </a:r>
            <a:endParaRPr lang="en-US" altLang="zh-TW" dirty="0" smtClean="0">
              <a:solidFill>
                <a:schemeClr val="tx1"/>
              </a:solidFill>
            </a:endParaRPr>
          </a:p>
          <a:p>
            <a:r>
              <a:rPr lang="en-US" altLang="zh-TW" dirty="0" smtClean="0">
                <a:solidFill>
                  <a:schemeClr val="tx1"/>
                </a:solidFill>
              </a:rPr>
              <a:t>First </a:t>
            </a:r>
            <a:r>
              <a:rPr lang="en-US" altLang="zh-TW" dirty="0">
                <a:solidFill>
                  <a:schemeClr val="tx1"/>
                </a:solidFill>
              </a:rPr>
              <a:t>SIAM International Conference on Data Mining </a:t>
            </a:r>
            <a:r>
              <a:rPr lang="en-US" altLang="zh-TW" dirty="0" smtClean="0">
                <a:solidFill>
                  <a:schemeClr val="tx1"/>
                </a:solidFill>
              </a:rPr>
              <a:t>(2001)</a:t>
            </a:r>
          </a:p>
        </p:txBody>
      </p:sp>
      <p:sp>
        <p:nvSpPr>
          <p:cNvPr id="4" name="矩形 3"/>
          <p:cNvSpPr/>
          <p:nvPr/>
        </p:nvSpPr>
        <p:spPr>
          <a:xfrm>
            <a:off x="5580112" y="5589240"/>
            <a:ext cx="2987824" cy="646331"/>
          </a:xfrm>
          <a:prstGeom prst="rect">
            <a:avLst/>
          </a:prstGeom>
        </p:spPr>
        <p:txBody>
          <a:bodyPr wrap="square">
            <a:spAutoFit/>
          </a:bodyPr>
          <a:lstStyle/>
          <a:p>
            <a:r>
              <a:rPr lang="en-US" altLang="zh-TW" dirty="0" smtClean="0"/>
              <a:t>Presenter</a:t>
            </a:r>
            <a:r>
              <a:rPr lang="zh-TW" altLang="en-US" dirty="0" smtClean="0"/>
              <a:t>：</a:t>
            </a:r>
            <a:r>
              <a:rPr lang="en-US" altLang="zh-TW" dirty="0" smtClean="0"/>
              <a:t>Guan-Cheng </a:t>
            </a:r>
            <a:r>
              <a:rPr lang="en-US" altLang="zh-TW" dirty="0" err="1" smtClean="0"/>
              <a:t>Guo</a:t>
            </a:r>
            <a:r>
              <a:rPr lang="en-US" altLang="zh-TW" dirty="0" smtClean="0"/>
              <a:t/>
            </a:r>
            <a:br>
              <a:rPr lang="en-US" altLang="zh-TW" dirty="0" smtClean="0"/>
            </a:br>
            <a:r>
              <a:rPr lang="en-US" altLang="zh-TW" dirty="0" smtClean="0"/>
              <a:t>Date</a:t>
            </a:r>
            <a:r>
              <a:rPr lang="zh-TW" altLang="en-US" dirty="0" smtClean="0"/>
              <a:t>：</a:t>
            </a:r>
            <a:r>
              <a:rPr lang="en-US" altLang="zh-TW" dirty="0" smtClean="0"/>
              <a:t>2014/11/4</a:t>
            </a:r>
            <a:endParaRPr lang="en-US" altLang="zh-TW" dirty="0"/>
          </a:p>
        </p:txBody>
      </p:sp>
    </p:spTree>
    <p:extLst>
      <p:ext uri="{BB962C8B-B14F-4D97-AF65-F5344CB8AC3E}">
        <p14:creationId xmlns:p14="http://schemas.microsoft.com/office/powerpoint/2010/main" xmlns="" val="1452850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lstStyle/>
          <a:p>
            <a:r>
              <a:rPr lang="en-US" altLang="zh-TW" dirty="0" smtClean="0"/>
              <a:t>In this paper we introduce a modification of DTW. The crucial difference is in the features we consider when attempting to find the correct warping. Rather than use the raw data, we consider only the (estimated) local derivatives of the data.</a:t>
            </a:r>
            <a:endParaRPr lang="zh-TW" altLang="en-US" dirty="0"/>
          </a:p>
        </p:txBody>
      </p:sp>
    </p:spTree>
    <p:extLst>
      <p:ext uri="{BB962C8B-B14F-4D97-AF65-F5344CB8AC3E}">
        <p14:creationId xmlns:p14="http://schemas.microsoft.com/office/powerpoint/2010/main" xmlns="" val="3437763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 Time </a:t>
            </a:r>
            <a:r>
              <a:rPr lang="en-US" altLang="zh-TW" dirty="0"/>
              <a:t>W</a:t>
            </a:r>
            <a:r>
              <a:rPr lang="en-US" altLang="zh-TW" dirty="0" smtClean="0"/>
              <a:t>arping</a:t>
            </a:r>
            <a:endParaRPr lang="zh-TW" altLang="en-US" dirty="0"/>
          </a:p>
        </p:txBody>
      </p:sp>
      <p:grpSp>
        <p:nvGrpSpPr>
          <p:cNvPr id="4" name="群組 3"/>
          <p:cNvGrpSpPr/>
          <p:nvPr/>
        </p:nvGrpSpPr>
        <p:grpSpPr>
          <a:xfrm>
            <a:off x="1044946" y="4077072"/>
            <a:ext cx="7271470" cy="2569852"/>
            <a:chOff x="875818" y="1600200"/>
            <a:chExt cx="7271470" cy="2569852"/>
          </a:xfrm>
        </p:grpSpPr>
        <p:grpSp>
          <p:nvGrpSpPr>
            <p:cNvPr id="5" name="群組 4"/>
            <p:cNvGrpSpPr/>
            <p:nvPr/>
          </p:nvGrpSpPr>
          <p:grpSpPr>
            <a:xfrm>
              <a:off x="3413195" y="1600200"/>
              <a:ext cx="2664296" cy="2569852"/>
              <a:chOff x="3275856" y="4221088"/>
              <a:chExt cx="2664296" cy="2569852"/>
            </a:xfrm>
          </p:grpSpPr>
          <p:sp>
            <p:nvSpPr>
              <p:cNvPr id="10" name="橢圓 9"/>
              <p:cNvSpPr/>
              <p:nvPr/>
            </p:nvSpPr>
            <p:spPr>
              <a:xfrm>
                <a:off x="3275856" y="4221088"/>
                <a:ext cx="504056" cy="504056"/>
              </a:xfrm>
              <a:prstGeom prst="ellipse">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5436096" y="4221088"/>
                <a:ext cx="504056" cy="504056"/>
              </a:xfrm>
              <a:prstGeom prst="ellipse">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3275856" y="6286884"/>
                <a:ext cx="504056" cy="504056"/>
              </a:xfrm>
              <a:prstGeom prst="ellipse">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5436096" y="6286884"/>
                <a:ext cx="504056" cy="504056"/>
              </a:xfrm>
              <a:prstGeom prst="ellipse">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p:cNvCxnSpPr>
                <a:stCxn id="11" idx="4"/>
                <a:endCxn id="13" idx="0"/>
              </p:cNvCxnSpPr>
              <p:nvPr/>
            </p:nvCxnSpPr>
            <p:spPr>
              <a:xfrm>
                <a:off x="5688124" y="4725144"/>
                <a:ext cx="0" cy="15617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stCxn id="10" idx="5"/>
                <a:endCxn id="13" idx="1"/>
              </p:cNvCxnSpPr>
              <p:nvPr/>
            </p:nvCxnSpPr>
            <p:spPr>
              <a:xfrm>
                <a:off x="3706095" y="4651327"/>
                <a:ext cx="1803818" cy="17093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stCxn id="12" idx="6"/>
                <a:endCxn id="13" idx="2"/>
              </p:cNvCxnSpPr>
              <p:nvPr/>
            </p:nvCxnSpPr>
            <p:spPr>
              <a:xfrm>
                <a:off x="3779912" y="6538912"/>
                <a:ext cx="16561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xmlns="" Requires="a14">
            <p:sp>
              <p:nvSpPr>
                <p:cNvPr id="6" name="文字方塊 5"/>
                <p:cNvSpPr txBox="1"/>
                <p:nvPr/>
              </p:nvSpPr>
              <p:spPr>
                <a:xfrm>
                  <a:off x="875818" y="1620798"/>
                  <a:ext cx="253737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𝐷𝑇𝑊</m:t>
                        </m:r>
                        <m:d>
                          <m:dPr>
                            <m:ctrlPr>
                              <a:rPr lang="en-US" altLang="zh-TW" sz="2400" b="0" i="1" smtClean="0">
                                <a:latin typeface="Cambria Math"/>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−1, </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d>
                      </m:oMath>
                    </m:oMathPara>
                  </a14:m>
                  <a:endParaRPr lang="zh-TW" altLang="en-US" sz="2400" dirty="0"/>
                </a:p>
              </p:txBody>
            </p:sp>
          </mc:Choice>
          <mc:Fallback>
            <p:sp>
              <p:nvSpPr>
                <p:cNvPr id="3" name="文字方塊 2"/>
                <p:cNvSpPr txBox="1">
                  <a:spLocks noRot="1" noChangeAspect="1" noMove="1" noResize="1" noEditPoints="1" noAdjustHandles="1" noChangeArrowheads="1" noChangeShapeType="1" noTextEdit="1"/>
                </p:cNvSpPr>
                <p:nvPr/>
              </p:nvSpPr>
              <p:spPr>
                <a:xfrm>
                  <a:off x="875818" y="1620798"/>
                  <a:ext cx="2537377" cy="461665"/>
                </a:xfrm>
                <a:prstGeom prst="rect">
                  <a:avLst/>
                </a:prstGeom>
                <a:blipFill rotWithShape="0">
                  <a:blip r:embed="rId2"/>
                  <a:stretch>
                    <a:fillRect l="-481" b="-1578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7" name="文字方塊 6"/>
                <p:cNvSpPr txBox="1"/>
                <p:nvPr/>
              </p:nvSpPr>
              <p:spPr>
                <a:xfrm>
                  <a:off x="6081643" y="1620798"/>
                  <a:ext cx="206564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𝐷𝑇𝑊</m:t>
                        </m:r>
                        <m:d>
                          <m:dPr>
                            <m:ctrlPr>
                              <a:rPr lang="en-US" altLang="zh-TW" sz="2400" b="0" i="1" smtClean="0">
                                <a:latin typeface="Cambria Math"/>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−1, </m:t>
                            </m:r>
                            <m:r>
                              <a:rPr lang="en-US" altLang="zh-TW" sz="2400" b="0" i="1" smtClean="0">
                                <a:latin typeface="Cambria Math" panose="02040503050406030204" pitchFamily="18" charset="0"/>
                              </a:rPr>
                              <m:t>𝑗</m:t>
                            </m:r>
                          </m:e>
                        </m:d>
                      </m:oMath>
                    </m:oMathPara>
                  </a14:m>
                  <a:endParaRPr lang="zh-TW" altLang="en-US" sz="2400" dirty="0"/>
                </a:p>
              </p:txBody>
            </p:sp>
          </mc:Choice>
          <mc:Fallback>
            <p:sp>
              <p:nvSpPr>
                <p:cNvPr id="19" name="文字方塊 18"/>
                <p:cNvSpPr txBox="1">
                  <a:spLocks noRot="1" noChangeAspect="1" noMove="1" noResize="1" noEditPoints="1" noAdjustHandles="1" noChangeArrowheads="1" noChangeShapeType="1" noTextEdit="1"/>
                </p:cNvSpPr>
                <p:nvPr/>
              </p:nvSpPr>
              <p:spPr>
                <a:xfrm>
                  <a:off x="6081643" y="1620798"/>
                  <a:ext cx="2065645" cy="461665"/>
                </a:xfrm>
                <a:prstGeom prst="rect">
                  <a:avLst/>
                </a:prstGeom>
                <a:blipFill rotWithShape="0">
                  <a:blip r:embed="rId3"/>
                  <a:stretch>
                    <a:fillRect b="-1578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8" name="文字方塊 7"/>
                <p:cNvSpPr txBox="1"/>
                <p:nvPr/>
              </p:nvSpPr>
              <p:spPr>
                <a:xfrm>
                  <a:off x="1403648" y="3687191"/>
                  <a:ext cx="200954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𝐷𝑇𝑊</m:t>
                        </m:r>
                        <m:d>
                          <m:dPr>
                            <m:ctrlPr>
                              <a:rPr lang="en-US" altLang="zh-TW" sz="2400" b="0" i="1" smtClean="0">
                                <a:latin typeface="Cambria Math"/>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d>
                      </m:oMath>
                    </m:oMathPara>
                  </a14:m>
                  <a:endParaRPr lang="zh-TW" altLang="en-US" sz="2400" dirty="0"/>
                </a:p>
              </p:txBody>
            </p:sp>
          </mc:Choice>
          <mc:Fallback>
            <p:sp>
              <p:nvSpPr>
                <p:cNvPr id="21" name="文字方塊 20"/>
                <p:cNvSpPr txBox="1">
                  <a:spLocks noRot="1" noChangeAspect="1" noMove="1" noResize="1" noEditPoints="1" noAdjustHandles="1" noChangeArrowheads="1" noChangeShapeType="1" noTextEdit="1"/>
                </p:cNvSpPr>
                <p:nvPr/>
              </p:nvSpPr>
              <p:spPr>
                <a:xfrm>
                  <a:off x="1403648" y="3687191"/>
                  <a:ext cx="2009546" cy="461665"/>
                </a:xfrm>
                <a:prstGeom prst="rect">
                  <a:avLst/>
                </a:prstGeom>
                <a:blipFill rotWithShape="0">
                  <a:blip r:embed="rId4"/>
                  <a:stretch>
                    <a:fillRect l="-303" b="-1578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9" name="文字方塊 8"/>
                <p:cNvSpPr txBox="1"/>
                <p:nvPr/>
              </p:nvSpPr>
              <p:spPr>
                <a:xfrm>
                  <a:off x="6077491" y="3683458"/>
                  <a:ext cx="144683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𝐷𝑇𝑊</m:t>
                        </m:r>
                        <m:d>
                          <m:dPr>
                            <m:ctrlPr>
                              <a:rPr lang="en-US" altLang="zh-TW" sz="2400" b="0" i="1" smtClean="0">
                                <a:latin typeface="Cambria Math"/>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𝑗</m:t>
                            </m:r>
                          </m:e>
                        </m:d>
                      </m:oMath>
                    </m:oMathPara>
                  </a14:m>
                  <a:endParaRPr lang="zh-TW" altLang="en-US" sz="2400" dirty="0"/>
                </a:p>
              </p:txBody>
            </p:sp>
          </mc:Choice>
          <mc:Fallback>
            <p:sp>
              <p:nvSpPr>
                <p:cNvPr id="22" name="文字方塊 21"/>
                <p:cNvSpPr txBox="1">
                  <a:spLocks noRot="1" noChangeAspect="1" noMove="1" noResize="1" noEditPoints="1" noAdjustHandles="1" noChangeArrowheads="1" noChangeShapeType="1" noTextEdit="1"/>
                </p:cNvSpPr>
                <p:nvPr/>
              </p:nvSpPr>
              <p:spPr>
                <a:xfrm>
                  <a:off x="6077491" y="3683458"/>
                  <a:ext cx="1446837" cy="461665"/>
                </a:xfrm>
                <a:prstGeom prst="rect">
                  <a:avLst/>
                </a:prstGeom>
                <a:blipFill rotWithShape="0">
                  <a:blip r:embed="rId5"/>
                  <a:stretch>
                    <a:fillRect l="-1266" b="-17105"/>
                  </a:stretch>
                </a:blipFill>
              </p:spPr>
              <p:txBody>
                <a:bodyPr/>
                <a:lstStyle/>
                <a:p>
                  <a:r>
                    <a:rPr lang="zh-TW" altLang="en-US">
                      <a:noFill/>
                    </a:rPr>
                    <a:t> </a:t>
                  </a:r>
                </a:p>
              </p:txBody>
            </p:sp>
          </mc:Fallback>
        </mc:AlternateContent>
      </p:grpSp>
      <p:pic>
        <p:nvPicPr>
          <p:cNvPr id="17" name="圖片 16"/>
          <p:cNvPicPr>
            <a:picLocks noChangeAspect="1"/>
          </p:cNvPicPr>
          <p:nvPr/>
        </p:nvPicPr>
        <p:blipFill rotWithShape="1">
          <a:blip r:embed="rId6"/>
          <a:srcRect l="319" t="2481"/>
          <a:stretch/>
        </p:blipFill>
        <p:spPr>
          <a:xfrm>
            <a:off x="-16748" y="1280604"/>
            <a:ext cx="8988875" cy="2600832"/>
          </a:xfrm>
          <a:prstGeom prst="rect">
            <a:avLst/>
          </a:prstGeom>
        </p:spPr>
      </p:pic>
    </p:spTree>
    <p:extLst>
      <p:ext uri="{BB962C8B-B14F-4D97-AF65-F5344CB8AC3E}">
        <p14:creationId xmlns:p14="http://schemas.microsoft.com/office/powerpoint/2010/main" xmlns="" val="120545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 Time Warping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457200" y="1600200"/>
                <a:ext cx="8507288" cy="4525963"/>
              </a:xfrm>
            </p:spPr>
            <p:txBody>
              <a:bodyPr/>
              <a:lstStyle/>
              <a:p>
                <a:pPr marL="0" indent="0">
                  <a:buNone/>
                </a:pPr>
                <a14:m>
                  <m:oMath xmlns:m="http://schemas.openxmlformats.org/officeDocument/2006/math">
                    <m:r>
                      <a:rPr lang="en-US" altLang="zh-TW" i="1" dirty="0" smtClean="0">
                        <a:latin typeface="Cambria Math" panose="02040503050406030204" pitchFamily="18" charset="0"/>
                      </a:rPr>
                      <m:t>𝑋</m:t>
                    </m:r>
                    <m:r>
                      <a:rPr lang="en-US" altLang="zh-TW" i="1" dirty="0" smtClean="0">
                        <a:latin typeface="Cambria Math" panose="02040503050406030204" pitchFamily="18" charset="0"/>
                      </a:rPr>
                      <m:t> = {0.3, 0.6, 0.2, 0.7, 0.5, 0.4}</m:t>
                    </m:r>
                  </m:oMath>
                </a14:m>
                <a:r>
                  <a:rPr lang="en-US" altLang="zh-TW" dirty="0" smtClean="0"/>
                  <a:t>, </a:t>
                </a:r>
                <a:r>
                  <a:rPr lang="en-US" altLang="zh-TW" i="1" dirty="0" smtClean="0">
                    <a:latin typeface="Cambria Math" panose="02040503050406030204" pitchFamily="18" charset="0"/>
                  </a:rPr>
                  <a:t/>
                </a:r>
                <a:br>
                  <a:rPr lang="en-US" altLang="zh-TW" i="1" dirty="0" smtClean="0">
                    <a:latin typeface="Cambria Math" panose="02040503050406030204" pitchFamily="18" charset="0"/>
                  </a:rPr>
                </a:br>
                <a14:m>
                  <m:oMath xmlns:m="http://schemas.openxmlformats.org/officeDocument/2006/math">
                    <m:r>
                      <a:rPr lang="es-ES" altLang="zh-TW" i="1" dirty="0" smtClean="0">
                        <a:latin typeface="Cambria Math" panose="02040503050406030204" pitchFamily="18" charset="0"/>
                      </a:rPr>
                      <m:t>𝑌</m:t>
                    </m:r>
                    <m:r>
                      <a:rPr lang="es-ES" altLang="zh-TW" i="1" dirty="0" smtClean="0">
                        <a:latin typeface="Cambria Math" panose="02040503050406030204" pitchFamily="18" charset="0"/>
                      </a:rPr>
                      <m:t> = {0.2, 0.4, 0.8, 0.1, 0.4}</m:t>
                    </m:r>
                  </m:oMath>
                </a14:m>
                <a:r>
                  <a:rPr lang="en-US" altLang="zh-TW" dirty="0" smtClean="0"/>
                  <a:t>, </a:t>
                </a:r>
                <a14:m>
                  <m:oMath xmlns:m="http://schemas.openxmlformats.org/officeDocument/2006/math">
                    <m:r>
                      <a:rPr lang="en-US" altLang="zh-TW" b="0" i="1" smtClean="0">
                        <a:latin typeface="Cambria Math" panose="02040503050406030204" pitchFamily="18" charset="0"/>
                      </a:rPr>
                      <m:t>𝑑</m:t>
                    </m:r>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sSub>
                          <m:sSubPr>
                            <m:ctrlPr>
                              <a:rPr lang="en-US" altLang="zh-TW" b="0" i="1" smtClean="0">
                                <a:latin typeface="Cambria Math"/>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𝑗</m:t>
                            </m:r>
                          </m:sub>
                        </m:sSub>
                      </m:e>
                    </m:d>
                    <m:r>
                      <a:rPr lang="en-US" altLang="zh-TW" b="0" i="1" smtClean="0">
                        <a:latin typeface="Cambria Math" panose="02040503050406030204" pitchFamily="18" charset="0"/>
                      </a:rPr>
                      <m:t>=</m:t>
                    </m:r>
                    <m:d>
                      <m:dPr>
                        <m:begChr m:val="|"/>
                        <m:endChr m:val="|"/>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𝑗</m:t>
                            </m:r>
                          </m:sub>
                        </m:sSub>
                      </m:e>
                    </m:d>
                  </m:oMath>
                </a14:m>
                <a:endParaRPr lang="zh-TW" altLang="en-US" dirty="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457200" y="1600200"/>
                <a:ext cx="8507288" cy="4525963"/>
              </a:xfrm>
              <a:blipFill rotWithShape="1">
                <a:blip r:embed="rId2"/>
                <a:stretch>
                  <a:fillRect t="-161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graphicFrame>
            <p:nvGraphicFramePr>
              <p:cNvPr id="4" name="表格 3"/>
              <p:cNvGraphicFramePr>
                <a:graphicFrameLocks noGrp="1"/>
              </p:cNvGraphicFramePr>
              <p:nvPr>
                <p:extLst>
                  <p:ext uri="{D42A27DB-BD31-4B8C-83A1-F6EECF244321}">
                    <p14:modId xmlns:p14="http://schemas.microsoft.com/office/powerpoint/2010/main" val="1156631399"/>
                  </p:ext>
                </p:extLst>
              </p:nvPr>
            </p:nvGraphicFramePr>
            <p:xfrm>
              <a:off x="457204" y="2780930"/>
              <a:ext cx="8229599" cy="3345232"/>
            </p:xfrm>
            <a:graphic>
              <a:graphicData uri="http://schemas.openxmlformats.org/drawingml/2006/table">
                <a:tbl>
                  <a:tblPr firstRow="1" bandRow="1">
                    <a:tableStyleId>{5C22544A-7EE6-4342-B048-85BDC9FD1C3A}</a:tableStyleId>
                  </a:tblPr>
                  <a:tblGrid>
                    <a:gridCol w="1175657"/>
                    <a:gridCol w="1175657"/>
                    <a:gridCol w="1175657"/>
                    <a:gridCol w="1175657"/>
                    <a:gridCol w="1175657"/>
                    <a:gridCol w="1175657"/>
                    <a:gridCol w="1175657"/>
                  </a:tblGrid>
                  <a:tr h="418154">
                    <a:tc>
                      <a:txBody>
                        <a:bodyPr/>
                        <a:lstStyle/>
                        <a:p>
                          <a:pPr algn="ct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0.2</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0.4</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0.8</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0.1</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0.4</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rgbClr val="FF0000"/>
                              </a:solidFill>
                            </a:rPr>
                            <a:t>0</a:t>
                          </a:r>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r>
                            <a:rPr lang="en-US" altLang="zh-TW" b="0" dirty="0" smtClean="0">
                              <a:solidFill>
                                <a:schemeClr val="tx1"/>
                              </a:solidFill>
                            </a:rPr>
                            <a:t>0.3</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rgbClr val="FF0000"/>
                                    </a:solidFill>
                                    <a:latin typeface="Cambria Math" panose="02040503050406030204" pitchFamily="18" charset="0"/>
                                  </a:rPr>
                                  <m:t>0+0.1</m:t>
                                </m:r>
                              </m:oMath>
                            </m:oMathPara>
                          </a14:m>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rgbClr val="FF0000"/>
                                    </a:solidFill>
                                    <a:latin typeface="Cambria Math" panose="02040503050406030204" pitchFamily="18" charset="0"/>
                                  </a:rPr>
                                  <m:t>0.1+0.1</m:t>
                                </m:r>
                              </m:oMath>
                            </m:oMathPara>
                          </a14:m>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0.2+0.5</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0.7+0.2</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0.9+0.1</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r>
                            <a:rPr lang="en-US" altLang="zh-TW" b="0" dirty="0" smtClean="0">
                              <a:solidFill>
                                <a:schemeClr val="tx1"/>
                              </a:solidFill>
                            </a:rPr>
                            <a:t>0.6</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0.1+0.4</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0.1+0.2</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rgbClr val="FF0000"/>
                                    </a:solidFill>
                                    <a:latin typeface="Cambria Math" panose="02040503050406030204" pitchFamily="18" charset="0"/>
                                  </a:rPr>
                                  <m:t>0.2+0.2</m:t>
                                </m:r>
                              </m:oMath>
                            </m:oMathPara>
                          </a14:m>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0.4+0.5</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0.9+0.2</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r>
                            <a:rPr lang="en-US" altLang="zh-TW" b="0" dirty="0" smtClean="0">
                              <a:solidFill>
                                <a:schemeClr val="tx1"/>
                              </a:solidFill>
                            </a:rPr>
                            <a:t>0.2</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0.5+0</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0.3+0.2</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0.3+0.6</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rgbClr val="FF0000"/>
                                    </a:solidFill>
                                    <a:latin typeface="Cambria Math" panose="02040503050406030204" pitchFamily="18" charset="0"/>
                                  </a:rPr>
                                  <m:t>0.4+0.1</m:t>
                                </m:r>
                              </m:oMath>
                            </m:oMathPara>
                          </a14:m>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0.5+0.2</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r>
                            <a:rPr lang="en-US" altLang="zh-TW" b="0" dirty="0" smtClean="0">
                              <a:solidFill>
                                <a:schemeClr val="tx1"/>
                              </a:solidFill>
                            </a:rPr>
                            <a:t>0.7</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0.5+0.5</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0.5+0.3</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0.5+0.1</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0.5+0.6</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rgbClr val="FF0000"/>
                                    </a:solidFill>
                                    <a:latin typeface="Cambria Math" panose="02040503050406030204" pitchFamily="18" charset="0"/>
                                  </a:rPr>
                                  <m:t>0.5+0.3</m:t>
                                </m:r>
                              </m:oMath>
                            </m:oMathPara>
                          </a14:m>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r>
                            <a:rPr lang="en-US" altLang="zh-TW" b="0" dirty="0" smtClean="0">
                              <a:solidFill>
                                <a:schemeClr val="tx1"/>
                              </a:solidFill>
                            </a:rPr>
                            <a:t>0.5</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1+0.3</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0.8+0.1</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0.6+0.3</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0.6+0.4</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rgbClr val="FF0000"/>
                                    </a:solidFill>
                                    <a:latin typeface="Cambria Math" panose="02040503050406030204" pitchFamily="18" charset="0"/>
                                  </a:rPr>
                                  <m:t>0.8+0.1</m:t>
                                </m:r>
                              </m:oMath>
                            </m:oMathPara>
                          </a14:m>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r>
                            <a:rPr lang="en-US" altLang="zh-TW" b="0" dirty="0" smtClean="0">
                              <a:solidFill>
                                <a:schemeClr val="tx1"/>
                              </a:solidFill>
                            </a:rPr>
                            <a:t>0.4</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1.3+0.2</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0.9+0</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0.9+0.4</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chemeClr val="tx1"/>
                                    </a:solidFill>
                                    <a:latin typeface="Cambria Math" panose="02040503050406030204" pitchFamily="18" charset="0"/>
                                  </a:rPr>
                                  <m:t>0.9+0.3</m:t>
                                </m:r>
                              </m:oMath>
                            </m:oMathPara>
                          </a14:m>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solidFill>
                                      <a:srgbClr val="FF0000"/>
                                    </a:solidFill>
                                    <a:latin typeface="Cambria Math" panose="02040503050406030204" pitchFamily="18" charset="0"/>
                                  </a:rPr>
                                  <m:t>0.9+0</m:t>
                                </m:r>
                              </m:oMath>
                            </m:oMathPara>
                          </a14:m>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mc:Choice>
        <mc:Fallback>
          <p:graphicFrame>
            <p:nvGraphicFramePr>
              <p:cNvPr id="4" name="表格 3"/>
              <p:cNvGraphicFramePr>
                <a:graphicFrameLocks noGrp="1"/>
              </p:cNvGraphicFramePr>
              <p:nvPr>
                <p:extLst>
                  <p:ext uri="{D42A27DB-BD31-4B8C-83A1-F6EECF244321}">
                    <p14:modId xmlns:p14="http://schemas.microsoft.com/office/powerpoint/2010/main" xmlns="" xmlns:a14="http://schemas.microsoft.com/office/drawing/2010/main" val="1156631399"/>
                  </p:ext>
                </p:extLst>
              </p:nvPr>
            </p:nvGraphicFramePr>
            <p:xfrm>
              <a:off x="457204" y="2780930"/>
              <a:ext cx="8229599" cy="3345232"/>
            </p:xfrm>
            <a:graphic>
              <a:graphicData uri="http://schemas.openxmlformats.org/drawingml/2006/table">
                <a:tbl>
                  <a:tblPr firstRow="1" bandRow="1">
                    <a:tableStyleId>{5C22544A-7EE6-4342-B048-85BDC9FD1C3A}</a:tableStyleId>
                  </a:tblPr>
                  <a:tblGrid>
                    <a:gridCol w="1175657"/>
                    <a:gridCol w="1175657"/>
                    <a:gridCol w="1175657"/>
                    <a:gridCol w="1175657"/>
                    <a:gridCol w="1175657"/>
                    <a:gridCol w="1175657"/>
                    <a:gridCol w="1175657"/>
                  </a:tblGrid>
                  <a:tr h="418154">
                    <a:tc>
                      <a:txBody>
                        <a:bodyPr/>
                        <a:lstStyle/>
                        <a:p>
                          <a:pPr algn="ct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0.2</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0.4</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0.8</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0.1</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chemeClr val="tx1"/>
                              </a:solidFill>
                            </a:rPr>
                            <a:t>0.4</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8154">
                    <a:tc>
                      <a:txBody>
                        <a:bodyPr/>
                        <a:lstStyle/>
                        <a:p>
                          <a:pPr algn="ct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smtClean="0">
                              <a:solidFill>
                                <a:srgbClr val="FF0000"/>
                              </a:solidFill>
                            </a:rPr>
                            <a:t>0</a:t>
                          </a:r>
                          <a:endParaRPr lang="zh-TW" altLang="en-US"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0000" t="-102941" r="-399482" b="-623529"/>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01563" t="-102941" r="-301563" b="-623529"/>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99482" t="-102941" r="-200000" b="-623529"/>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99482" t="-102941" r="-100000" b="-623529"/>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99482" t="-102941" b="-623529"/>
                          </a:stretch>
                        </a:blipFill>
                      </a:tcPr>
                    </a:tc>
                  </a:tr>
                  <a:tr h="418154">
                    <a:tc>
                      <a:txBody>
                        <a:bodyPr/>
                        <a:lstStyle/>
                        <a:p>
                          <a:pPr algn="ctr"/>
                          <a:r>
                            <a:rPr lang="en-US" altLang="zh-TW" b="0" dirty="0" smtClean="0">
                              <a:solidFill>
                                <a:schemeClr val="tx1"/>
                              </a:solidFill>
                            </a:rPr>
                            <a:t>0.3</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000" t="-200000" r="-499482" b="-514493"/>
                          </a:stretch>
                        </a:blipFill>
                      </a:tcPr>
                    </a:tc>
                    <a:tc>
                      <a:txBody>
                        <a:bodyPr/>
                        <a:lstStyle/>
                        <a:p>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0000" t="-200000" r="-399482" b="-5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01563" t="-200000" r="-301563" b="-5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99482" t="-200000" r="-200000" b="-5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99482" t="-200000" r="-100000" b="-5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99482" t="-200000" b="-514493"/>
                          </a:stretch>
                        </a:blipFill>
                      </a:tcPr>
                    </a:tc>
                  </a:tr>
                  <a:tr h="418154">
                    <a:tc>
                      <a:txBody>
                        <a:bodyPr/>
                        <a:lstStyle/>
                        <a:p>
                          <a:pPr algn="ctr"/>
                          <a:r>
                            <a:rPr lang="en-US" altLang="zh-TW" b="0" dirty="0" smtClean="0">
                              <a:solidFill>
                                <a:schemeClr val="tx1"/>
                              </a:solidFill>
                            </a:rPr>
                            <a:t>0.6</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000" t="-300000" r="-499482" b="-4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0000" t="-300000" r="-399482" b="-4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01563" t="-300000" r="-301563" b="-4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99482" t="-300000" r="-200000" b="-4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99482" t="-300000" r="-100000" b="-41449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99482" t="-300000" b="-414493"/>
                          </a:stretch>
                        </a:blipFill>
                      </a:tcPr>
                    </a:tc>
                  </a:tr>
                  <a:tr h="418154">
                    <a:tc>
                      <a:txBody>
                        <a:bodyPr/>
                        <a:lstStyle/>
                        <a:p>
                          <a:pPr algn="ctr"/>
                          <a:r>
                            <a:rPr lang="en-US" altLang="zh-TW" b="0" dirty="0" smtClean="0">
                              <a:solidFill>
                                <a:schemeClr val="tx1"/>
                              </a:solidFill>
                            </a:rPr>
                            <a:t>0.2</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000" t="-405882" r="-499482" b="-32058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0000" t="-405882" r="-399482" b="-32058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01563" t="-405882" r="-301563" b="-32058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99482" t="-405882" r="-200000" b="-32058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99482" t="-405882" r="-100000" b="-32058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99482" t="-405882" b="-320588"/>
                          </a:stretch>
                        </a:blipFill>
                      </a:tcPr>
                    </a:tc>
                  </a:tr>
                  <a:tr h="418154">
                    <a:tc>
                      <a:txBody>
                        <a:bodyPr/>
                        <a:lstStyle/>
                        <a:p>
                          <a:pPr algn="ctr"/>
                          <a:r>
                            <a:rPr lang="en-US" altLang="zh-TW" b="0" dirty="0" smtClean="0">
                              <a:solidFill>
                                <a:schemeClr val="tx1"/>
                              </a:solidFill>
                            </a:rPr>
                            <a:t>0.7</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000" t="-498551" r="-499482" b="-2159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0000" t="-498551" r="-399482" b="-2159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01563" t="-498551" r="-301563" b="-2159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99482" t="-498551" r="-200000" b="-2159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99482" t="-498551" r="-100000" b="-2159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99482" t="-498551" b="-215942"/>
                          </a:stretch>
                        </a:blipFill>
                      </a:tcPr>
                    </a:tc>
                  </a:tr>
                  <a:tr h="418154">
                    <a:tc>
                      <a:txBody>
                        <a:bodyPr/>
                        <a:lstStyle/>
                        <a:p>
                          <a:pPr algn="ctr"/>
                          <a:r>
                            <a:rPr lang="en-US" altLang="zh-TW" b="0" dirty="0" smtClean="0">
                              <a:solidFill>
                                <a:schemeClr val="tx1"/>
                              </a:solidFill>
                            </a:rPr>
                            <a:t>0.5</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000" t="-607353" r="-499482" b="-119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0000" t="-607353" r="-399482" b="-119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01563" t="-607353" r="-301563" b="-119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99482" t="-607353" r="-200000" b="-119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99482" t="-607353" r="-100000" b="-119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99482" t="-607353" b="-119118"/>
                          </a:stretch>
                        </a:blipFill>
                      </a:tcPr>
                    </a:tc>
                  </a:tr>
                  <a:tr h="418154">
                    <a:tc>
                      <a:txBody>
                        <a:bodyPr/>
                        <a:lstStyle/>
                        <a:p>
                          <a:pPr algn="ctr"/>
                          <a:r>
                            <a:rPr lang="en-US" altLang="zh-TW" b="0" dirty="0" smtClean="0">
                              <a:solidFill>
                                <a:schemeClr val="tx1"/>
                              </a:solidFill>
                            </a:rPr>
                            <a:t>0.4</a:t>
                          </a:r>
                          <a:endParaRPr lang="zh-TW" altLang="en-US"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000" t="-697101" r="-499482" b="-1739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0000" t="-697101" r="-399482" b="-1739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01563" t="-697101" r="-301563" b="-1739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99482" t="-697101" r="-200000" b="-1739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99482" t="-697101" r="-100000" b="-1739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99482" t="-697101" b="-17391"/>
                          </a:stretch>
                        </a:blipFill>
                      </a:tcPr>
                    </a:tc>
                  </a:tr>
                </a:tbl>
              </a:graphicData>
            </a:graphic>
          </p:graphicFrame>
        </mc:Fallback>
      </mc:AlternateContent>
    </p:spTree>
    <p:extLst>
      <p:ext uri="{BB962C8B-B14F-4D97-AF65-F5344CB8AC3E}">
        <p14:creationId xmlns:p14="http://schemas.microsoft.com/office/powerpoint/2010/main" xmlns="" val="1975557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 Time Warping</a:t>
            </a:r>
            <a:endParaRPr lang="zh-TW" altLang="en-US" dirty="0"/>
          </a:p>
        </p:txBody>
      </p:sp>
      <p:sp>
        <p:nvSpPr>
          <p:cNvPr id="3" name="內容版面配置區 2"/>
          <p:cNvSpPr>
            <a:spLocks noGrp="1"/>
          </p:cNvSpPr>
          <p:nvPr>
            <p:ph idx="1"/>
          </p:nvPr>
        </p:nvSpPr>
        <p:spPr>
          <a:xfrm>
            <a:off x="457200" y="4149080"/>
            <a:ext cx="8229600" cy="1977083"/>
          </a:xfrm>
        </p:spPr>
        <p:txBody>
          <a:bodyPr>
            <a:normAutofit fontScale="85000" lnSpcReduction="10000"/>
          </a:bodyPr>
          <a:lstStyle/>
          <a:p>
            <a:r>
              <a:rPr lang="en-US" altLang="zh-TW" b="1" dirty="0"/>
              <a:t>A</a:t>
            </a:r>
            <a:r>
              <a:rPr lang="en-US" altLang="zh-TW" dirty="0"/>
              <a:t>) Two synthetic signals (with the same mean and variance). </a:t>
            </a:r>
            <a:r>
              <a:rPr lang="en-US" altLang="zh-TW" b="1" dirty="0"/>
              <a:t>B</a:t>
            </a:r>
            <a:r>
              <a:rPr lang="en-US" altLang="zh-TW" dirty="0"/>
              <a:t>) The natural "feature </a:t>
            </a:r>
            <a:r>
              <a:rPr lang="en-US" altLang="zh-TW" dirty="0" smtClean="0"/>
              <a:t>to feature</a:t>
            </a:r>
            <a:r>
              <a:rPr lang="en-US" altLang="zh-TW" dirty="0"/>
              <a:t>" alignment. </a:t>
            </a:r>
            <a:r>
              <a:rPr lang="en-US" altLang="zh-TW" b="1" dirty="0"/>
              <a:t>C</a:t>
            </a:r>
            <a:r>
              <a:rPr lang="en-US" altLang="zh-TW" dirty="0"/>
              <a:t>) The alignment produced by dynamic time warping. Note that DTW failed to </a:t>
            </a:r>
            <a:r>
              <a:rPr lang="en-US" altLang="zh-TW" dirty="0" smtClean="0"/>
              <a:t>align the </a:t>
            </a:r>
            <a:r>
              <a:rPr lang="en-US" altLang="zh-TW" dirty="0"/>
              <a:t>two central peaks because they are slightly separated in the Y-axis</a:t>
            </a:r>
            <a:endParaRPr lang="zh-TW" altLang="en-US" dirty="0"/>
          </a:p>
        </p:txBody>
      </p:sp>
      <p:pic>
        <p:nvPicPr>
          <p:cNvPr id="1026" name="Picture 2" descr="C:\Users\yotsuki\Desktop\擷取.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2463" y="1394677"/>
            <a:ext cx="9232975" cy="232235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64236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Derivative Dynamic </a:t>
            </a:r>
            <a:r>
              <a:rPr lang="en-US" altLang="zh-TW" dirty="0"/>
              <a:t>T</a:t>
            </a:r>
            <a:r>
              <a:rPr lang="en-US" altLang="zh-TW" dirty="0" smtClean="0"/>
              <a:t>ime </a:t>
            </a:r>
            <a:r>
              <a:rPr lang="en-US" altLang="zh-TW" dirty="0"/>
              <a:t>W</a:t>
            </a:r>
            <a:r>
              <a:rPr lang="en-US" altLang="zh-TW" dirty="0" smtClean="0"/>
              <a:t>arping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107504" y="1412776"/>
                <a:ext cx="9036496" cy="5400600"/>
              </a:xfrm>
            </p:spPr>
            <p:txBody>
              <a:bodyPr>
                <a:normAutofit/>
              </a:bodyPr>
              <a:lstStyle/>
              <a:p>
                <a:r>
                  <a:rPr lang="en-US" altLang="zh-TW" dirty="0" smtClean="0"/>
                  <a:t>The weakness of DTW is in the features it considers. It only considers a </a:t>
                </a:r>
                <a:r>
                  <a:rPr lang="en-US" altLang="zh-TW" dirty="0" err="1" smtClean="0"/>
                  <a:t>datapoints</a:t>
                </a:r>
                <a:r>
                  <a:rPr lang="en-US" altLang="zh-TW" dirty="0" smtClean="0"/>
                  <a:t> Y-axis value.</a:t>
                </a:r>
              </a:p>
              <a:p>
                <a:endParaRPr lang="en-US" altLang="zh-TW" dirty="0" smtClean="0"/>
              </a:p>
              <a:p>
                <a:r>
                  <a:rPr lang="en-US" altLang="zh-TW" dirty="0" smtClean="0"/>
                  <a:t>For example consider two </a:t>
                </a:r>
                <a:r>
                  <a:rPr lang="en-US" altLang="zh-TW" dirty="0" err="1" smtClean="0"/>
                  <a:t>datapoints</a:t>
                </a:r>
                <a:r>
                  <a:rPr lang="en-US" altLang="zh-TW" dirty="0" smtClean="0"/>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oMath>
                </a14:m>
                <a:r>
                  <a:rPr lang="en-US" altLang="zh-TW" dirty="0" smtClean="0"/>
                  <a:t> and </a:t>
                </a:r>
                <a14:m>
                  <m:oMath xmlns:m="http://schemas.openxmlformats.org/officeDocument/2006/math">
                    <m:sSub>
                      <m:sSubPr>
                        <m:ctrlPr>
                          <a:rPr lang="en-US" altLang="zh-TW" b="0" i="1" smtClean="0">
                            <a:latin typeface="Cambria Math"/>
                          </a:rPr>
                        </m:ctrlPr>
                      </m:sSubPr>
                      <m:e>
                        <m:r>
                          <a:rPr lang="en-US" altLang="zh-TW" b="0" i="1" smtClean="0">
                            <a:latin typeface="Cambria Math"/>
                          </a:rPr>
                          <m:t>𝑦</m:t>
                        </m:r>
                      </m:e>
                      <m:sub>
                        <m:r>
                          <a:rPr lang="en-US" altLang="zh-TW" b="0" i="1" smtClean="0">
                            <a:latin typeface="Cambria Math"/>
                          </a:rPr>
                          <m:t>𝑗</m:t>
                        </m:r>
                      </m:sub>
                    </m:sSub>
                  </m:oMath>
                </a14:m>
                <a:r>
                  <a:rPr lang="en-US" altLang="zh-TW" dirty="0" smtClean="0"/>
                  <a:t> which have identical values, but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oMath>
                </a14:m>
                <a:r>
                  <a:rPr lang="en-US" altLang="zh-TW" dirty="0" smtClean="0"/>
                  <a:t> is part of a rising trend and </a:t>
                </a:r>
                <a14:m>
                  <m:oMath xmlns:m="http://schemas.openxmlformats.org/officeDocument/2006/math">
                    <m:sSub>
                      <m:sSubPr>
                        <m:ctrlPr>
                          <a:rPr lang="en-US" altLang="zh-TW" b="0" i="1" smtClean="0">
                            <a:latin typeface="Cambria Math"/>
                          </a:rPr>
                        </m:ctrlPr>
                      </m:sSubPr>
                      <m:e>
                        <m:r>
                          <a:rPr lang="en-US" altLang="zh-TW" b="0" i="1" smtClean="0">
                            <a:latin typeface="Cambria Math"/>
                          </a:rPr>
                          <m:t>𝑦</m:t>
                        </m:r>
                      </m:e>
                      <m:sub>
                        <m:r>
                          <a:rPr lang="en-US" altLang="zh-TW" b="0" i="1" smtClean="0">
                            <a:latin typeface="Cambria Math"/>
                          </a:rPr>
                          <m:t>𝑗</m:t>
                        </m:r>
                      </m:sub>
                    </m:sSub>
                  </m:oMath>
                </a14:m>
                <a:r>
                  <a:rPr lang="en-US" altLang="zh-TW" dirty="0" smtClean="0"/>
                  <a:t> is part of a falling trend. DTW considers a mapping between these two points ideal, although intuitively we would prefer not to map a rising trend to a falling trend.</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107504" y="1412776"/>
                <a:ext cx="9036496" cy="5400600"/>
              </a:xfrm>
              <a:blipFill rotWithShape="1">
                <a:blip r:embed="rId2"/>
                <a:stretch>
                  <a:fillRect l="-1552" t="-1467" r="-31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571523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Derivative Dynamic Time Warping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179512" y="1600200"/>
                <a:ext cx="8964488" cy="5141168"/>
              </a:xfrm>
            </p:spPr>
            <p:txBody>
              <a:bodyPr/>
              <a:lstStyle/>
              <a:p>
                <a:r>
                  <a:rPr lang="en-US" altLang="zh-TW" dirty="0" smtClean="0"/>
                  <a:t>Derivative Dynamic Time Warping </a:t>
                </a:r>
                <a:r>
                  <a:rPr lang="en-US" altLang="zh-TW" dirty="0"/>
                  <a:t>considers the higher </a:t>
                </a:r>
                <a:r>
                  <a:rPr lang="en-US" altLang="zh-TW" dirty="0" smtClean="0"/>
                  <a:t>level feature </a:t>
                </a:r>
                <a:r>
                  <a:rPr lang="en-US" altLang="zh-TW" dirty="0"/>
                  <a:t>of "</a:t>
                </a:r>
                <a:r>
                  <a:rPr lang="en-US" altLang="zh-TW" dirty="0" smtClean="0"/>
                  <a:t>shape". </a:t>
                </a:r>
              </a:p>
              <a:p>
                <a:endParaRPr lang="en-US" altLang="zh-TW" dirty="0" smtClean="0"/>
              </a:p>
              <a:p>
                <a:r>
                  <a:rPr lang="en-US" altLang="zh-TW" dirty="0"/>
                  <a:t>With DDTW the </a:t>
                </a:r>
                <a:r>
                  <a:rPr lang="en-US" altLang="zh-TW" dirty="0" smtClean="0"/>
                  <a:t>distance measure </a:t>
                </a:r>
                <a:r>
                  <a:rPr lang="en-US" altLang="zh-TW" i="1" dirty="0"/>
                  <a:t>d</a:t>
                </a:r>
                <a:r>
                  <a:rPr lang="en-US" altLang="zh-TW" dirty="0"/>
                  <a:t>(</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oMath>
                </a14:m>
                <a:r>
                  <a:rPr lang="en-US" altLang="zh-TW" dirty="0"/>
                  <a:t>,</a:t>
                </a:r>
                <a:r>
                  <a:rPr lang="en-US" altLang="zh-TW" b="0" dirty="0" smtClean="0"/>
                  <a:t/>
                </a:r>
                <a14:m>
                  <m:oMath xmlns:m="http://schemas.openxmlformats.org/officeDocument/2006/math">
                    <m:sSub>
                      <m:sSubPr>
                        <m:ctrlPr>
                          <a:rPr lang="en-US" altLang="zh-TW" b="0" i="1" smtClean="0">
                            <a:latin typeface="Cambria Math"/>
                          </a:rPr>
                        </m:ctrlPr>
                      </m:sSubPr>
                      <m:e>
                        <m:r>
                          <a:rPr lang="en-US" altLang="zh-TW" b="0" i="1" smtClean="0">
                            <a:latin typeface="Cambria Math"/>
                          </a:rPr>
                          <m:t>𝑦</m:t>
                        </m:r>
                      </m:e>
                      <m:sub>
                        <m:r>
                          <a:rPr lang="en-US" altLang="zh-TW" b="0" i="1" smtClean="0">
                            <a:latin typeface="Cambria Math" panose="02040503050406030204" pitchFamily="18" charset="0"/>
                          </a:rPr>
                          <m:t>𝑖</m:t>
                        </m:r>
                      </m:sub>
                    </m:sSub>
                  </m:oMath>
                </a14:m>
                <a:r>
                  <a:rPr lang="en-US" altLang="zh-TW" dirty="0"/>
                  <a:t>) is not Euclidean but rather the square of the difference of the </a:t>
                </a:r>
                <a:r>
                  <a:rPr lang="en-US" altLang="zh-TW" dirty="0" smtClean="0"/>
                  <a:t>estimated derivatives </a:t>
                </a:r>
                <a:r>
                  <a:rPr lang="en-US" altLang="zh-TW" dirty="0"/>
                  <a:t>of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oMath>
                </a14:m>
                <a:r>
                  <a:rPr lang="en-US" altLang="zh-TW" dirty="0"/>
                  <a:t> and </a:t>
                </a:r>
                <a14:m>
                  <m:oMath xmlns:m="http://schemas.openxmlformats.org/officeDocument/2006/math">
                    <m:sSub>
                      <m:sSubPr>
                        <m:ctrlPr>
                          <a:rPr lang="en-US" altLang="zh-TW" b="0" i="1" smtClean="0">
                            <a:latin typeface="Cambria Math"/>
                          </a:rPr>
                        </m:ctrlPr>
                      </m:sSubPr>
                      <m:e>
                        <m:r>
                          <a:rPr lang="en-US" altLang="zh-TW" b="0" i="1" smtClean="0">
                            <a:latin typeface="Cambria Math"/>
                          </a:rPr>
                          <m:t>𝑦</m:t>
                        </m:r>
                      </m:e>
                      <m:sub>
                        <m:r>
                          <a:rPr lang="en-US" altLang="zh-TW" b="0" i="1" smtClean="0">
                            <a:latin typeface="Cambria Math"/>
                          </a:rPr>
                          <m:t>𝑗</m:t>
                        </m:r>
                      </m:sub>
                    </m:sSub>
                  </m:oMath>
                </a14:m>
                <a:r>
                  <a:rPr lang="en-US" altLang="zh-TW" dirty="0"/>
                  <a:t>.</a:t>
                </a:r>
                <a:r>
                  <a:rPr lang="en-US" altLang="zh-TW" dirty="0" smtClean="0"/>
                  <a:t/>
                </a:r>
                <a:br>
                  <a:rPr lang="en-US" altLang="zh-TW" dirty="0" smtClean="0"/>
                </a:br>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179512" y="1600200"/>
                <a:ext cx="8964488" cy="5141168"/>
              </a:xfrm>
              <a:blipFill rotWithShape="1">
                <a:blip r:embed="rId2"/>
                <a:stretch>
                  <a:fillRect l="-1496" t="-1542"/>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373503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Derivative Dynamic Time Warping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179512" y="1340768"/>
                <a:ext cx="8784976" cy="5184576"/>
              </a:xfrm>
            </p:spPr>
            <p:txBody>
              <a:bodyPr>
                <a:normAutofit fontScale="92500" lnSpcReduction="10000"/>
              </a:bodyPr>
              <a:lstStyle/>
              <a:p>
                <a:pPr marL="0" indent="0" algn="ctr">
                  <a:buNone/>
                </a:pPr>
                <a14:m>
                  <m:oMath xmlns:m="http://schemas.openxmlformats.org/officeDocument/2006/math">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sub>
                        </m:sSub>
                      </m:e>
                    </m:d>
                    <m:r>
                      <a:rPr lang="en-US" altLang="zh-TW" b="0" i="1" smtClean="0">
                        <a:latin typeface="Cambria Math"/>
                      </a:rPr>
                      <m:t>= </m:t>
                    </m:r>
                    <m:f>
                      <m:fPr>
                        <m:ctrlPr>
                          <a:rPr lang="en-US" altLang="zh-TW" b="0" i="1" smtClean="0">
                            <a:latin typeface="Cambria Math"/>
                          </a:rPr>
                        </m:ctrlPr>
                      </m:fPr>
                      <m:num>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r>
                                  <a:rPr lang="en-US" altLang="zh-TW" b="0" i="1" smtClean="0">
                                    <a:latin typeface="Cambria Math"/>
                                  </a:rPr>
                                  <m:t>−1</m:t>
                                </m:r>
                              </m:sub>
                            </m:sSub>
                          </m:e>
                        </m:d>
                        <m:r>
                          <a:rPr lang="en-US" altLang="zh-TW" b="0" i="1" smtClean="0">
                            <a:latin typeface="Cambria Math"/>
                          </a:rPr>
                          <m:t>+(</m:t>
                        </m:r>
                        <m:f>
                          <m:fPr>
                            <m:ctrlPr>
                              <a:rPr lang="en-US" altLang="zh-TW" b="0" i="1" smtClean="0">
                                <a:latin typeface="Cambria Math"/>
                              </a:rPr>
                            </m:ctrlPr>
                          </m:fPr>
                          <m:num>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r>
                                  <a:rPr lang="en-US" altLang="zh-TW" b="0" i="1" smtClean="0">
                                    <a:latin typeface="Cambria Math"/>
                                  </a:rPr>
                                  <m:t>+1</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r>
                                  <a:rPr lang="en-US" altLang="zh-TW" b="0" i="1" smtClean="0">
                                    <a:latin typeface="Cambria Math"/>
                                  </a:rPr>
                                  <m:t>−1</m:t>
                                </m:r>
                              </m:sub>
                            </m:sSub>
                          </m:num>
                          <m:den>
                            <m:r>
                              <a:rPr lang="en-US" altLang="zh-TW" b="0" i="1" smtClean="0">
                                <a:latin typeface="Cambria Math"/>
                              </a:rPr>
                              <m:t>2</m:t>
                            </m:r>
                          </m:den>
                        </m:f>
                        <m:r>
                          <a:rPr lang="en-US" altLang="zh-TW" b="0" i="1" smtClean="0">
                            <a:latin typeface="Cambria Math"/>
                          </a:rPr>
                          <m:t>)</m:t>
                        </m:r>
                      </m:num>
                      <m:den>
                        <m:r>
                          <a:rPr lang="en-US" altLang="zh-TW" b="0" i="1" smtClean="0">
                            <a:latin typeface="Cambria Math"/>
                          </a:rPr>
                          <m:t>2</m:t>
                        </m:r>
                      </m:den>
                    </m:f>
                  </m:oMath>
                </a14:m>
                <a:r>
                  <a:rPr lang="zh-TW" altLang="en-US" dirty="0" smtClean="0"/>
                  <a:t/>
                </a:r>
                <a:endParaRPr lang="en-US" altLang="zh-TW" dirty="0" smtClean="0"/>
              </a:p>
              <a:p>
                <a:r>
                  <a:rPr lang="en-US" altLang="zh-TW" dirty="0" smtClean="0"/>
                  <a:t>This estimate is simply the average of the slope of the line through the point in question and its left neighbor, and the slope of the line through the left neighbor and the right neighbor.</a:t>
                </a:r>
              </a:p>
              <a:p>
                <a:endParaRPr lang="en-US" altLang="zh-TW" dirty="0"/>
              </a:p>
              <a:p>
                <a:r>
                  <a:rPr lang="en-US" altLang="zh-TW" dirty="0" smtClean="0"/>
                  <a:t>Note the estimate is not defined for the first and last elements of the sequence. Instead we use the estimates of the second and penultimate elements respectively.</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179512" y="1340768"/>
                <a:ext cx="8784976" cy="5184576"/>
              </a:xfrm>
              <a:blipFill rotWithShape="1">
                <a:blip r:embed="rId2"/>
                <a:stretch>
                  <a:fillRect l="-1387" r="-8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88451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96516"/>
          </a:xfrm>
        </p:spPr>
        <p:txBody>
          <a:bodyPr/>
          <a:lstStyle/>
          <a:p>
            <a:r>
              <a:rPr lang="en-US" altLang="zh-TW" dirty="0" smtClean="0"/>
              <a:t>Derivative Dynamic Time Warping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251520" y="1196752"/>
                <a:ext cx="8784976" cy="5544616"/>
              </a:xfrm>
            </p:spPr>
            <p:txBody>
              <a:bodyPr/>
              <a:lstStyle/>
              <a:p>
                <a:pPr marL="0" indent="0">
                  <a:buNone/>
                </a:pPr>
                <a14:m>
                  <m:oMath xmlns:m="http://schemas.openxmlformats.org/officeDocument/2006/math">
                    <m:r>
                      <a:rPr lang="en-US" altLang="zh-TW" i="1" dirty="0" smtClean="0">
                        <a:latin typeface="Cambria Math" panose="02040503050406030204" pitchFamily="18" charset="0"/>
                      </a:rPr>
                      <m:t>𝑋</m:t>
                    </m:r>
                    <m:r>
                      <a:rPr lang="en-US" altLang="zh-TW" i="1" dirty="0" smtClean="0">
                        <a:latin typeface="Cambria Math" panose="02040503050406030204" pitchFamily="18" charset="0"/>
                      </a:rPr>
                      <m:t> = {0.3, 0.6, 0.2, 0.7, 0.5, 0.4}</m:t>
                    </m:r>
                  </m:oMath>
                </a14:m>
                <a:r>
                  <a:rPr lang="en-US" altLang="zh-TW" dirty="0" smtClean="0"/>
                  <a:t>, </a:t>
                </a:r>
                <a14:m>
                  <m:oMath xmlns:m="http://schemas.openxmlformats.org/officeDocument/2006/math">
                    <m:r>
                      <a:rPr lang="es-ES" altLang="zh-TW" i="1" dirty="0" smtClean="0">
                        <a:latin typeface="Cambria Math" panose="02040503050406030204" pitchFamily="18" charset="0"/>
                      </a:rPr>
                      <m:t>𝑌</m:t>
                    </m:r>
                    <m:r>
                      <a:rPr lang="es-ES" altLang="zh-TW" i="1" dirty="0" smtClean="0">
                        <a:latin typeface="Cambria Math" panose="02040503050406030204" pitchFamily="18" charset="0"/>
                      </a:rPr>
                      <m:t> = {0.2, 0.4, 0.8, 0.1, 0.4}</m:t>
                    </m:r>
                  </m:oMath>
                </a14:m>
                <a:r>
                  <a:rPr lang="en-US" altLang="zh-TW" dirty="0" smtClean="0"/>
                  <a:t>, </a:t>
                </a:r>
                <a14:m>
                  <m:oMath xmlns:m="http://schemas.openxmlformats.org/officeDocument/2006/math">
                    <m:r>
                      <a:rPr lang="en-US" altLang="zh-TW" b="0" i="1" smtClean="0">
                        <a:latin typeface="Cambria Math" panose="02040503050406030204" pitchFamily="18" charset="0"/>
                      </a:rPr>
                      <m:t>𝑑</m:t>
                    </m:r>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sSub>
                          <m:sSubPr>
                            <m:ctrlPr>
                              <a:rPr lang="en-US" altLang="zh-TW" b="0" i="1" smtClean="0">
                                <a:latin typeface="Cambria Math"/>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𝑗</m:t>
                            </m:r>
                          </m:sub>
                        </m:sSub>
                      </m:e>
                    </m:d>
                    <m:r>
                      <a:rPr lang="en-US" altLang="zh-TW" b="0" i="1" smtClean="0">
                        <a:latin typeface="Cambria Math" panose="02040503050406030204" pitchFamily="18" charset="0"/>
                      </a:rPr>
                      <m:t>=</m:t>
                    </m:r>
                    <m:d>
                      <m:dPr>
                        <m:begChr m:val="|"/>
                        <m:endChr m:val="|"/>
                        <m:ctrlPr>
                          <a:rPr lang="en-US" altLang="zh-TW" b="0" i="1" smtClean="0">
                            <a:latin typeface="Cambria Math"/>
                          </a:rPr>
                        </m:ctrlPr>
                      </m:dPr>
                      <m:e>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sub>
                            </m:sSub>
                          </m:e>
                        </m:d>
                        <m:r>
                          <a:rPr lang="en-US" altLang="zh-TW" b="0" i="1" smtClean="0">
                            <a:latin typeface="Cambria Math" panose="02040503050406030204" pitchFamily="18" charset="0"/>
                          </a:rPr>
                          <m:t>−</m:t>
                        </m:r>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𝑦</m:t>
                                </m:r>
                              </m:e>
                              <m:sub>
                                <m:r>
                                  <a:rPr lang="en-US" altLang="zh-TW" b="0" i="1" smtClean="0">
                                    <a:latin typeface="Cambria Math"/>
                                  </a:rPr>
                                  <m:t>𝑗</m:t>
                                </m:r>
                              </m:sub>
                            </m:sSub>
                          </m:e>
                        </m:d>
                      </m:e>
                    </m:d>
                  </m:oMath>
                </a14:m>
                <a:endParaRPr lang="en-US" altLang="zh-TW" dirty="0" smtClean="0"/>
              </a:p>
              <a:p>
                <a:pPr marL="0" indent="0">
                  <a:buNone/>
                </a:pPr>
                <a:endParaRPr lang="zh-TW" altLang="en-US" dirty="0"/>
              </a:p>
              <a:p>
                <a:pPr marL="0" indent="0">
                  <a:buNone/>
                </a:pPr>
                <a14:m>
                  <m:oMath xmlns:m="http://schemas.openxmlformats.org/officeDocument/2006/math">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r>
                          <a:rPr lang="en-US" altLang="zh-TW" b="0" i="1" smtClean="0">
                            <a:latin typeface="Cambria Math"/>
                          </a:rPr>
                          <m:t>𝑥</m:t>
                        </m:r>
                      </m:e>
                    </m:d>
                  </m:oMath>
                </a14:m>
                <a:r>
                  <a:rPr lang="zh-TW" altLang="en-US" dirty="0" smtClean="0"/>
                  <a:t/>
                </a:r>
                <a:r>
                  <a:rPr lang="en-US" altLang="zh-TW" dirty="0" smtClean="0"/>
                  <a:t>= {0.125, 0.125, -0.175, 0.325, -0.175, -0.175}</a:t>
                </a:r>
                <a:br>
                  <a:rPr lang="en-US" altLang="zh-TW" dirty="0" smtClean="0"/>
                </a:br>
                <a14:m>
                  <m:oMath xmlns:m="http://schemas.openxmlformats.org/officeDocument/2006/math">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r>
                          <a:rPr lang="en-US" altLang="zh-TW" b="0" i="1" smtClean="0">
                            <a:latin typeface="Cambria Math"/>
                          </a:rPr>
                          <m:t>𝑦</m:t>
                        </m:r>
                      </m:e>
                    </m:d>
                  </m:oMath>
                </a14:m>
                <a:r>
                  <a:rPr lang="zh-TW" altLang="en-US" dirty="0" smtClean="0"/>
                  <a:t/>
                </a:r>
                <a:r>
                  <a:rPr lang="en-US" altLang="zh-TW" dirty="0" smtClean="0"/>
                  <a:t>= {0.25, 0.25, 0.125, -0.45, -0.45}</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251520" y="1196752"/>
                <a:ext cx="8784976" cy="5544616"/>
              </a:xfrm>
              <a:blipFill rotWithShape="1">
                <a:blip r:embed="rId2"/>
                <a:stretch>
                  <a:fillRect t="-1319" r="-13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263497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Derivative Dynamic Time Warping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107504" y="1196752"/>
                <a:ext cx="9036496" cy="4525963"/>
              </a:xfrm>
            </p:spPr>
            <p:txBody>
              <a:bodyPr/>
              <a:lstStyle/>
              <a:p>
                <a14:m>
                  <m:oMath xmlns:m="http://schemas.openxmlformats.org/officeDocument/2006/math">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r>
                          <a:rPr lang="en-US" altLang="zh-TW" b="0" i="1" smtClean="0">
                            <a:latin typeface="Cambria Math"/>
                          </a:rPr>
                          <m:t>𝑥</m:t>
                        </m:r>
                      </m:e>
                    </m:d>
                  </m:oMath>
                </a14:m>
                <a:r>
                  <a:rPr lang="zh-TW" altLang="en-US" dirty="0" smtClean="0"/>
                  <a:t/>
                </a:r>
                <a:r>
                  <a:rPr lang="en-US" altLang="zh-TW" dirty="0" smtClean="0"/>
                  <a:t>= {0.125, 0.125, -0.175, 0.325, -0.175, -0.175}</a:t>
                </a:r>
                <a:br>
                  <a:rPr lang="en-US" altLang="zh-TW" dirty="0" smtClean="0"/>
                </a:br>
                <a14:m>
                  <m:oMath xmlns:m="http://schemas.openxmlformats.org/officeDocument/2006/math">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r>
                          <a:rPr lang="en-US" altLang="zh-TW" b="0" i="1" smtClean="0">
                            <a:latin typeface="Cambria Math"/>
                          </a:rPr>
                          <m:t>𝑦</m:t>
                        </m:r>
                      </m:e>
                    </m:d>
                  </m:oMath>
                </a14:m>
                <a:r>
                  <a:rPr lang="zh-TW" altLang="en-US" dirty="0" smtClean="0"/>
                  <a:t/>
                </a:r>
                <a:r>
                  <a:rPr lang="en-US" altLang="zh-TW" dirty="0" smtClean="0"/>
                  <a:t>= {0.25, 0.25, 0.125, -0.45, -0.45}</a:t>
                </a:r>
                <a:endParaRPr lang="zh-TW" altLang="en-US" dirty="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107504" y="1196752"/>
                <a:ext cx="9036496" cy="4525963"/>
              </a:xfrm>
              <a:blipFill rotWithShape="1">
                <a:blip r:embed="rId2"/>
                <a:stretch>
                  <a:fillRect t="-1615" r="-310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graphicFrame>
            <p:nvGraphicFramePr>
              <p:cNvPr id="4" name="表格 3"/>
              <p:cNvGraphicFramePr>
                <a:graphicFrameLocks noGrp="1"/>
              </p:cNvGraphicFramePr>
              <p:nvPr>
                <p:extLst>
                  <p:ext uri="{D42A27DB-BD31-4B8C-83A1-F6EECF244321}">
                    <p14:modId xmlns:p14="http://schemas.microsoft.com/office/powerpoint/2010/main" val="1359279756"/>
                  </p:ext>
                </p:extLst>
              </p:nvPr>
            </p:nvGraphicFramePr>
            <p:xfrm>
              <a:off x="107504" y="2276873"/>
              <a:ext cx="8856981" cy="4424968"/>
            </p:xfrm>
            <a:graphic>
              <a:graphicData uri="http://schemas.openxmlformats.org/drawingml/2006/table">
                <a:tbl>
                  <a:tblPr firstRow="1" bandRow="1">
                    <a:tableStyleId>{5C22544A-7EE6-4342-B048-85BDC9FD1C3A}</a:tableStyleId>
                  </a:tblPr>
                  <a:tblGrid>
                    <a:gridCol w="792088"/>
                    <a:gridCol w="792088"/>
                    <a:gridCol w="1512168"/>
                    <a:gridCol w="1512168"/>
                    <a:gridCol w="1368152"/>
                    <a:gridCol w="1440160"/>
                    <a:gridCol w="1440157"/>
                  </a:tblGrid>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rgbClr val="FF0000"/>
                              </a:solidFill>
                            </a:rPr>
                            <a:t>0</a:t>
                          </a:r>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87593">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0+0.1</m:t>
                                </m:r>
                                <m:r>
                                  <a:rPr lang="en-US" altLang="zh-TW" sz="1600" b="0" i="1" dirty="0" smtClean="0">
                                    <a:solidFill>
                                      <a:srgbClr val="FF0000"/>
                                    </a:solidFill>
                                    <a:latin typeface="Cambria Math"/>
                                  </a:rPr>
                                  <m:t>25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0.1</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+0.1</m:t>
                                </m:r>
                                <m:r>
                                  <a:rPr lang="en-US" altLang="zh-TW" sz="1600" b="0" i="1" dirty="0" smtClean="0">
                                    <a:solidFill>
                                      <a:schemeClr val="tx1"/>
                                    </a:solidFill>
                                    <a:latin typeface="Cambria Math"/>
                                  </a:rPr>
                                  <m:t>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0.2</m:t>
                                </m:r>
                                <m:r>
                                  <a:rPr lang="en-US" altLang="zh-TW" sz="1600" b="0" i="1" dirty="0" smtClean="0">
                                    <a:solidFill>
                                      <a:schemeClr val="tx1"/>
                                    </a:solidFill>
                                    <a:latin typeface="Cambria Math"/>
                                  </a:rPr>
                                  <m:t>5</m:t>
                                </m:r>
                                <m:r>
                                  <a:rPr lang="en-US" altLang="zh-TW" sz="1600" b="0" i="1" dirty="0" smtClean="0">
                                    <a:solidFill>
                                      <a:schemeClr val="tx1"/>
                                    </a:solidFill>
                                    <a:latin typeface="Cambria Math" panose="02040503050406030204" pitchFamily="18" charset="0"/>
                                  </a:rPr>
                                  <m:t>+0</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575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825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575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0.1</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125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0.1</m:t>
                                </m:r>
                                <m:r>
                                  <a:rPr lang="en-US" altLang="zh-TW" sz="1600" b="0" i="1" dirty="0" smtClean="0">
                                    <a:solidFill>
                                      <a:srgbClr val="FF0000"/>
                                    </a:solidFill>
                                    <a:latin typeface="Cambria Math"/>
                                  </a:rPr>
                                  <m:t>25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125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0.2</m:t>
                                </m:r>
                                <m:r>
                                  <a:rPr lang="en-US" altLang="zh-TW" sz="1600" b="0" i="1" dirty="0" smtClean="0">
                                    <a:solidFill>
                                      <a:schemeClr val="tx1"/>
                                    </a:solidFill>
                                    <a:latin typeface="Cambria Math"/>
                                  </a:rPr>
                                  <m:t>5</m:t>
                                </m:r>
                                <m:r>
                                  <a:rPr lang="en-US" altLang="zh-TW" sz="1600" b="0" i="1" dirty="0" smtClean="0">
                                    <a:solidFill>
                                      <a:schemeClr val="tx1"/>
                                    </a:solidFill>
                                    <a:latin typeface="Cambria Math" panose="02040503050406030204" pitchFamily="18" charset="0"/>
                                  </a:rPr>
                                  <m:t>+0</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+0.5</m:t>
                                </m:r>
                                <m:r>
                                  <a:rPr lang="en-US" altLang="zh-TW" sz="1600" b="0" i="1" dirty="0" smtClean="0">
                                    <a:solidFill>
                                      <a:schemeClr val="tx1"/>
                                    </a:solidFill>
                                    <a:latin typeface="Cambria Math"/>
                                  </a:rPr>
                                  <m:t>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825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575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m:t>
                                </m:r>
                                <m:r>
                                  <a:rPr lang="en-US" altLang="zh-TW" sz="1600" b="0" i="1" dirty="0" smtClean="0">
                                    <a:solidFill>
                                      <a:schemeClr val="tx1"/>
                                    </a:solidFill>
                                    <a:latin typeface="Cambria Math" panose="02040503050406030204" pitchFamily="18" charset="0"/>
                                  </a:rPr>
                                  <m:t>5+0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25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3</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0.5</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0.325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67</m:t>
                                </m:r>
                                <m:r>
                                  <a:rPr lang="en-US" altLang="zh-TW" sz="1600" b="0" i="1" dirty="0" smtClean="0">
                                    <a:solidFill>
                                      <a:schemeClr val="tx1"/>
                                    </a:solidFill>
                                    <a:latin typeface="Cambria Math" panose="02040503050406030204" pitchFamily="18" charset="0"/>
                                  </a:rPr>
                                  <m:t>5+0.</m:t>
                                </m:r>
                                <m:r>
                                  <a:rPr lang="en-US" altLang="zh-TW" sz="1600" b="0" i="1" dirty="0" smtClean="0">
                                    <a:solidFill>
                                      <a:schemeClr val="tx1"/>
                                    </a:solidFill>
                                    <a:latin typeface="Cambria Math"/>
                                  </a:rPr>
                                  <m:t>07</m:t>
                                </m:r>
                                <m:r>
                                  <a:rPr lang="en-US" altLang="zh-TW" sz="1600" b="0" i="1" dirty="0" smtClean="0">
                                    <a:solidFill>
                                      <a:schemeClr val="tx1"/>
                                    </a:solidFill>
                                    <a:latin typeface="Cambria Math" panose="02040503050406030204" pitchFamily="18" charset="0"/>
                                  </a:rPr>
                                  <m:t>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67</m:t>
                                </m:r>
                                <m:r>
                                  <a:rPr lang="en-US" altLang="zh-TW" sz="1600" b="0" i="1" dirty="0" smtClean="0">
                                    <a:solidFill>
                                      <a:schemeClr val="tx1"/>
                                    </a:solidFill>
                                    <a:latin typeface="Cambria Math" panose="02040503050406030204" pitchFamily="18" charset="0"/>
                                  </a:rPr>
                                  <m:t>5+0.</m:t>
                                </m:r>
                                <m:r>
                                  <a:rPr lang="en-US" altLang="zh-TW" sz="1600" b="0" i="1" dirty="0" smtClean="0">
                                    <a:solidFill>
                                      <a:schemeClr val="tx1"/>
                                    </a:solidFill>
                                    <a:latin typeface="Cambria Math"/>
                                  </a:rPr>
                                  <m:t>075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0.5</m:t>
                                </m:r>
                                <m:r>
                                  <a:rPr lang="en-US" altLang="zh-TW" sz="1600" b="0" i="1" dirty="0" smtClean="0">
                                    <a:solidFill>
                                      <a:srgbClr val="FF0000"/>
                                    </a:solidFill>
                                    <a:latin typeface="Cambria Math"/>
                                  </a:rPr>
                                  <m:t>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2</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0.5</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775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.525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775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0.75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75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75</m:t>
                                </m:r>
                                <m:r>
                                  <a:rPr lang="en-US" altLang="zh-TW" sz="1600" b="0" i="1" dirty="0" smtClean="0">
                                    <a:solidFill>
                                      <a:schemeClr val="tx1"/>
                                    </a:solidFill>
                                    <a:latin typeface="Cambria Math" panose="02040503050406030204" pitchFamily="18" charset="0"/>
                                  </a:rPr>
                                  <m:t>+0.3</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.75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275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1</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025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1.</m:t>
                                </m:r>
                                <m:r>
                                  <a:rPr lang="en-US" altLang="zh-TW" sz="1600" b="0" i="1" dirty="0" smtClean="0">
                                    <a:solidFill>
                                      <a:schemeClr val="tx1"/>
                                    </a:solidFill>
                                    <a:latin typeface="Cambria Math"/>
                                  </a:rPr>
                                  <m:t>175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1</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175</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0.425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1</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05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3</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1</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025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a:rPr>
                                  <m:t>1.025</m:t>
                                </m:r>
                                <m:r>
                                  <a:rPr lang="en-US" altLang="zh-TW" sz="1600" b="0" i="1" dirty="0" smtClean="0">
                                    <a:solidFill>
                                      <a:srgbClr val="FF0000"/>
                                    </a:solidFill>
                                    <a:latin typeface="Cambria Math" panose="02040503050406030204" pitchFamily="18" charset="0"/>
                                  </a:rPr>
                                  <m:t>+</m:t>
                                </m:r>
                                <m:r>
                                  <a:rPr lang="en-US" altLang="zh-TW" sz="1600" b="0" i="1" dirty="0" smtClean="0">
                                    <a:solidFill>
                                      <a:srgbClr val="FF0000"/>
                                    </a:solidFill>
                                    <a:latin typeface="Cambria Math"/>
                                  </a:rPr>
                                  <m:t>0.275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mc:Choice>
        <mc:Fallback>
          <p:graphicFrame>
            <p:nvGraphicFramePr>
              <p:cNvPr id="4" name="表格 3"/>
              <p:cNvGraphicFramePr>
                <a:graphicFrameLocks noGrp="1"/>
              </p:cNvGraphicFramePr>
              <p:nvPr>
                <p:extLst>
                  <p:ext uri="{D42A27DB-BD31-4B8C-83A1-F6EECF244321}">
                    <p14:modId xmlns:p14="http://schemas.microsoft.com/office/powerpoint/2010/main" xmlns="" xmlns:a14="http://schemas.microsoft.com/office/drawing/2010/main" val="1359279756"/>
                  </p:ext>
                </p:extLst>
              </p:nvPr>
            </p:nvGraphicFramePr>
            <p:xfrm>
              <a:off x="107504" y="2276873"/>
              <a:ext cx="8856981" cy="4424968"/>
            </p:xfrm>
            <a:graphic>
              <a:graphicData uri="http://schemas.openxmlformats.org/drawingml/2006/table">
                <a:tbl>
                  <a:tblPr firstRow="1" bandRow="1">
                    <a:tableStyleId>{5C22544A-7EE6-4342-B048-85BDC9FD1C3A}</a:tableStyleId>
                  </a:tblPr>
                  <a:tblGrid>
                    <a:gridCol w="792088"/>
                    <a:gridCol w="792088"/>
                    <a:gridCol w="1512168"/>
                    <a:gridCol w="1512168"/>
                    <a:gridCol w="1368152"/>
                    <a:gridCol w="1440160"/>
                    <a:gridCol w="1440157"/>
                  </a:tblGrid>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rgbClr val="FF0000"/>
                              </a:solidFill>
                            </a:rPr>
                            <a:t>0</a:t>
                          </a:r>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101176" r="-381048"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101176" r="-281048"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101176" r="-211161"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101176" r="-99578"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101176" b="-654118"/>
                          </a:stretch>
                        </a:blipFill>
                      </a:tcPr>
                    </a:tc>
                  </a:tr>
                  <a:tr h="787593">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132558" r="-917692"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132558" r="-381048"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132558" r="-281048"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132558" r="-211161"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132558" r="-99578"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132558" b="-331008"/>
                          </a:stretch>
                        </a:blipFill>
                      </a:tcPr>
                    </a:tc>
                  </a:tr>
                  <a:tr h="519625">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352941" r="-917692"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352941" r="-381048"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352941" r="-281048"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352941" r="-211161"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352941" r="-99578"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352941" b="-402353"/>
                          </a:stretch>
                        </a:blip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447674" r="-917692"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447674" r="-381048" b="-297674"/>
                          </a:stretch>
                        </a:blipFill>
                      </a:tcPr>
                    </a:tc>
                    <a:tc>
                      <a:txBody>
                        <a:bodyPr/>
                        <a:lstStyle/>
                        <a:p>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447674" r="-281048"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447674" r="-211161"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447674" r="-99578"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447674" b="-297674"/>
                          </a:stretch>
                        </a:blipFill>
                      </a:tcPr>
                    </a:tc>
                  </a:tr>
                  <a:tr h="519625">
                    <a:tc>
                      <a:txBody>
                        <a:bodyPr/>
                        <a:lstStyle/>
                        <a:p>
                          <a:pPr algn="ctr"/>
                          <a:r>
                            <a:rPr lang="en-US" altLang="zh-TW" sz="1600" b="0" dirty="0" smtClean="0">
                              <a:solidFill>
                                <a:schemeClr val="tx1"/>
                              </a:solidFill>
                            </a:rPr>
                            <a:t>0.325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554118" r="-917692"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554118" r="-381048"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554118" r="-281048"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554118" r="-211161"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554118" r="-99578"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554118" b="-201176"/>
                          </a:stretch>
                        </a:blip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654118" r="-917692"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654118" r="-381048"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654118" r="-281048"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654118" r="-211161"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654118" r="-99578"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654118" b="-101176"/>
                          </a:stretch>
                        </a:blip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754118" r="-917692"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754118" r="-381048"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754118" r="-281048"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754118" r="-211161"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754118" r="-99578"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754118" b="-1176"/>
                          </a:stretch>
                        </a:blipFill>
                      </a:tcPr>
                    </a:tc>
                  </a:tr>
                </a:tbl>
              </a:graphicData>
            </a:graphic>
          </p:graphicFrame>
        </mc:Fallback>
      </mc:AlternateContent>
    </p:spTree>
    <p:extLst>
      <p:ext uri="{BB962C8B-B14F-4D97-AF65-F5344CB8AC3E}">
        <p14:creationId xmlns:p14="http://schemas.microsoft.com/office/powerpoint/2010/main" xmlns="" val="3109352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Derivative Dynamic Time Warping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107504" y="1196752"/>
                <a:ext cx="9036496" cy="4525963"/>
              </a:xfrm>
            </p:spPr>
            <p:txBody>
              <a:bodyPr/>
              <a:lstStyle/>
              <a:p>
                <a14:m>
                  <m:oMath xmlns:m="http://schemas.openxmlformats.org/officeDocument/2006/math">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r>
                          <a:rPr lang="en-US" altLang="zh-TW" b="0" i="1" smtClean="0">
                            <a:latin typeface="Cambria Math"/>
                          </a:rPr>
                          <m:t>𝑥</m:t>
                        </m:r>
                      </m:e>
                    </m:d>
                  </m:oMath>
                </a14:m>
                <a:r>
                  <a:rPr lang="zh-TW" altLang="en-US" dirty="0" smtClean="0"/>
                  <a:t/>
                </a:r>
                <a:r>
                  <a:rPr lang="en-US" altLang="zh-TW" dirty="0" smtClean="0"/>
                  <a:t>= {0.125, 0.125, -0.175, 0.325, -0.175, -0.175}</a:t>
                </a:r>
                <a:br>
                  <a:rPr lang="en-US" altLang="zh-TW" dirty="0" smtClean="0"/>
                </a:br>
                <a14:m>
                  <m:oMath xmlns:m="http://schemas.openxmlformats.org/officeDocument/2006/math">
                    <m:sSub>
                      <m:sSubPr>
                        <m:ctrlPr>
                          <a:rPr lang="en-US" altLang="zh-TW" i="1" smtClean="0">
                            <a:latin typeface="Cambria Math"/>
                          </a:rPr>
                        </m:ctrlPr>
                      </m:sSubPr>
                      <m:e>
                        <m:r>
                          <a:rPr lang="en-US" altLang="zh-TW" b="0" i="1" smtClean="0">
                            <a:latin typeface="Cambria Math"/>
                          </a:rPr>
                          <m:t>𝐷</m:t>
                        </m:r>
                      </m:e>
                      <m:sub>
                        <m:r>
                          <a:rPr lang="en-US" altLang="zh-TW" b="0" i="1" smtClean="0">
                            <a:latin typeface="Cambria Math"/>
                          </a:rPr>
                          <m:t>𝑋</m:t>
                        </m:r>
                      </m:sub>
                    </m:sSub>
                    <m:d>
                      <m:dPr>
                        <m:begChr m:val="["/>
                        <m:endChr m:val="]"/>
                        <m:ctrlPr>
                          <a:rPr lang="en-US" altLang="zh-TW" b="0" i="1" smtClean="0">
                            <a:latin typeface="Cambria Math"/>
                          </a:rPr>
                        </m:ctrlPr>
                      </m:dPr>
                      <m:e>
                        <m:r>
                          <a:rPr lang="en-US" altLang="zh-TW" b="0" i="1" smtClean="0">
                            <a:latin typeface="Cambria Math"/>
                          </a:rPr>
                          <m:t>𝑦</m:t>
                        </m:r>
                      </m:e>
                    </m:d>
                  </m:oMath>
                </a14:m>
                <a:r>
                  <a:rPr lang="zh-TW" altLang="en-US" dirty="0" smtClean="0"/>
                  <a:t/>
                </a:r>
                <a:r>
                  <a:rPr lang="en-US" altLang="zh-TW" dirty="0" smtClean="0"/>
                  <a:t>= {0.25, 0.25, 0.125, -0.45, -0.45}</a:t>
                </a:r>
                <a:endParaRPr lang="zh-TW" altLang="en-US" dirty="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107504" y="1196752"/>
                <a:ext cx="9036496" cy="4525963"/>
              </a:xfrm>
              <a:blipFill rotWithShape="1">
                <a:blip r:embed="rId2"/>
                <a:stretch>
                  <a:fillRect t="-1615" r="-310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graphicFrame>
            <p:nvGraphicFramePr>
              <p:cNvPr id="4" name="表格 3"/>
              <p:cNvGraphicFramePr>
                <a:graphicFrameLocks noGrp="1"/>
              </p:cNvGraphicFramePr>
              <p:nvPr>
                <p:extLst>
                  <p:ext uri="{D42A27DB-BD31-4B8C-83A1-F6EECF244321}">
                    <p14:modId xmlns:p14="http://schemas.microsoft.com/office/powerpoint/2010/main" val="2408004612"/>
                  </p:ext>
                </p:extLst>
              </p:nvPr>
            </p:nvGraphicFramePr>
            <p:xfrm>
              <a:off x="107504" y="2276873"/>
              <a:ext cx="8856981" cy="4424968"/>
            </p:xfrm>
            <a:graphic>
              <a:graphicData uri="http://schemas.openxmlformats.org/drawingml/2006/table">
                <a:tbl>
                  <a:tblPr firstRow="1" bandRow="1">
                    <a:tableStyleId>{5C22544A-7EE6-4342-B048-85BDC9FD1C3A}</a:tableStyleId>
                  </a:tblPr>
                  <a:tblGrid>
                    <a:gridCol w="792088"/>
                    <a:gridCol w="792088"/>
                    <a:gridCol w="1512168"/>
                    <a:gridCol w="1512168"/>
                    <a:gridCol w="1368152"/>
                    <a:gridCol w="1440160"/>
                    <a:gridCol w="1440157"/>
                  </a:tblGrid>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rgbClr val="FF0000"/>
                              </a:solidFill>
                            </a:rPr>
                            <a:t>0</a:t>
                          </a:r>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87593">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0+0.1</m:t>
                                </m:r>
                                <m:r>
                                  <a:rPr lang="en-US" altLang="zh-TW" sz="1600" b="0" i="1" dirty="0" smtClean="0">
                                    <a:solidFill>
                                      <a:srgbClr val="FF0000"/>
                                    </a:solidFill>
                                    <a:latin typeface="Cambria Math"/>
                                  </a:rPr>
                                  <m:t>25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C000"/>
                                    </a:solidFill>
                                    <a:latin typeface="Cambria Math" panose="02040503050406030204" pitchFamily="18" charset="0"/>
                                  </a:rPr>
                                  <m:t>0.1</m:t>
                                </m:r>
                                <m:r>
                                  <a:rPr lang="en-US" altLang="zh-TW" sz="1600" b="0" i="1" dirty="0" smtClean="0">
                                    <a:solidFill>
                                      <a:srgbClr val="FFC000"/>
                                    </a:solidFill>
                                    <a:latin typeface="Cambria Math"/>
                                  </a:rPr>
                                  <m:t>25</m:t>
                                </m:r>
                                <m:r>
                                  <a:rPr lang="en-US" altLang="zh-TW" sz="1600" b="0" i="1" dirty="0" smtClean="0">
                                    <a:solidFill>
                                      <a:srgbClr val="FFC000"/>
                                    </a:solidFill>
                                    <a:latin typeface="Cambria Math" panose="02040503050406030204" pitchFamily="18" charset="0"/>
                                  </a:rPr>
                                  <m:t>+0.1</m:t>
                                </m:r>
                                <m:r>
                                  <a:rPr lang="en-US" altLang="zh-TW" sz="1600" b="0" i="1" dirty="0" smtClean="0">
                                    <a:solidFill>
                                      <a:srgbClr val="FFC000"/>
                                    </a:solidFill>
                                    <a:latin typeface="Cambria Math"/>
                                  </a:rPr>
                                  <m:t>25</m:t>
                                </m:r>
                              </m:oMath>
                            </m:oMathPara>
                          </a14:m>
                          <a:endParaRPr lang="zh-TW" altLang="en-US" sz="1600" b="0" dirty="0">
                            <a:solidFill>
                              <a:srgbClr val="FFC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0.2</m:t>
                                </m:r>
                                <m:r>
                                  <a:rPr lang="en-US" altLang="zh-TW" sz="1600" b="0" i="1" dirty="0" smtClean="0">
                                    <a:solidFill>
                                      <a:schemeClr val="tx1"/>
                                    </a:solidFill>
                                    <a:latin typeface="Cambria Math"/>
                                  </a:rPr>
                                  <m:t>5</m:t>
                                </m:r>
                                <m:r>
                                  <a:rPr lang="en-US" altLang="zh-TW" sz="1600" b="0" i="1" dirty="0" smtClean="0">
                                    <a:solidFill>
                                      <a:schemeClr val="tx1"/>
                                    </a:solidFill>
                                    <a:latin typeface="Cambria Math" panose="02040503050406030204" pitchFamily="18" charset="0"/>
                                  </a:rPr>
                                  <m:t>+0</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575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825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575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0.1</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125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0.1</m:t>
                                </m:r>
                                <m:r>
                                  <a:rPr lang="en-US" altLang="zh-TW" sz="1600" b="0" i="1" dirty="0" smtClean="0">
                                    <a:solidFill>
                                      <a:srgbClr val="FF0000"/>
                                    </a:solidFill>
                                    <a:latin typeface="Cambria Math"/>
                                  </a:rPr>
                                  <m:t>25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125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C000"/>
                                    </a:solidFill>
                                    <a:latin typeface="Cambria Math" panose="02040503050406030204" pitchFamily="18" charset="0"/>
                                  </a:rPr>
                                  <m:t>0.2</m:t>
                                </m:r>
                                <m:r>
                                  <a:rPr lang="en-US" altLang="zh-TW" sz="1600" b="0" i="1" dirty="0" smtClean="0">
                                    <a:solidFill>
                                      <a:srgbClr val="FFC000"/>
                                    </a:solidFill>
                                    <a:latin typeface="Cambria Math"/>
                                  </a:rPr>
                                  <m:t>5</m:t>
                                </m:r>
                                <m:r>
                                  <a:rPr lang="en-US" altLang="zh-TW" sz="1600" b="0" i="1" dirty="0" smtClean="0">
                                    <a:solidFill>
                                      <a:srgbClr val="FFC000"/>
                                    </a:solidFill>
                                    <a:latin typeface="Cambria Math" panose="02040503050406030204" pitchFamily="18" charset="0"/>
                                  </a:rPr>
                                  <m:t>+0</m:t>
                                </m:r>
                              </m:oMath>
                            </m:oMathPara>
                          </a14:m>
                          <a:endParaRPr lang="zh-TW" altLang="en-US" sz="1600" b="0" dirty="0">
                            <a:solidFill>
                              <a:srgbClr val="FFC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+0.5</m:t>
                                </m:r>
                                <m:r>
                                  <a:rPr lang="en-US" altLang="zh-TW" sz="1600" b="0" i="1" dirty="0" smtClean="0">
                                    <a:solidFill>
                                      <a:schemeClr val="tx1"/>
                                    </a:solidFill>
                                    <a:latin typeface="Cambria Math"/>
                                  </a:rPr>
                                  <m:t>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825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575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m:t>
                                </m:r>
                                <m:r>
                                  <a:rPr lang="en-US" altLang="zh-TW" sz="1600" b="0" i="1" dirty="0" smtClean="0">
                                    <a:solidFill>
                                      <a:schemeClr val="tx1"/>
                                    </a:solidFill>
                                    <a:latin typeface="Cambria Math" panose="02040503050406030204" pitchFamily="18" charset="0"/>
                                  </a:rPr>
                                  <m:t>5+0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25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3</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C000"/>
                                    </a:solidFill>
                                    <a:latin typeface="Cambria Math" panose="02040503050406030204" pitchFamily="18" charset="0"/>
                                  </a:rPr>
                                  <m:t>0.</m:t>
                                </m:r>
                                <m:r>
                                  <a:rPr lang="en-US" altLang="zh-TW" sz="1600" b="0" i="1" dirty="0" smtClean="0">
                                    <a:solidFill>
                                      <a:srgbClr val="FFC000"/>
                                    </a:solidFill>
                                    <a:latin typeface="Cambria Math"/>
                                  </a:rPr>
                                  <m:t>25</m:t>
                                </m:r>
                                <m:r>
                                  <a:rPr lang="en-US" altLang="zh-TW" sz="1600" b="0" i="1" dirty="0" smtClean="0">
                                    <a:solidFill>
                                      <a:srgbClr val="FFC000"/>
                                    </a:solidFill>
                                    <a:latin typeface="Cambria Math" panose="02040503050406030204" pitchFamily="18" charset="0"/>
                                  </a:rPr>
                                  <m:t>+0.</m:t>
                                </m:r>
                                <m:r>
                                  <a:rPr lang="en-US" altLang="zh-TW" sz="1600" b="0" i="1" dirty="0" smtClean="0">
                                    <a:solidFill>
                                      <a:srgbClr val="FFC000"/>
                                    </a:solidFill>
                                    <a:latin typeface="Cambria Math"/>
                                  </a:rPr>
                                  <m:t>275</m:t>
                                </m:r>
                              </m:oMath>
                            </m:oMathPara>
                          </a14:m>
                          <a:endParaRPr lang="zh-TW" altLang="en-US" sz="1600" b="0" dirty="0">
                            <a:solidFill>
                              <a:srgbClr val="FFC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0.5</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0.325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67</m:t>
                                </m:r>
                                <m:r>
                                  <a:rPr lang="en-US" altLang="zh-TW" sz="1600" b="0" i="1" dirty="0" smtClean="0">
                                    <a:solidFill>
                                      <a:schemeClr val="tx1"/>
                                    </a:solidFill>
                                    <a:latin typeface="Cambria Math" panose="02040503050406030204" pitchFamily="18" charset="0"/>
                                  </a:rPr>
                                  <m:t>5+0.</m:t>
                                </m:r>
                                <m:r>
                                  <a:rPr lang="en-US" altLang="zh-TW" sz="1600" b="0" i="1" dirty="0" smtClean="0">
                                    <a:solidFill>
                                      <a:schemeClr val="tx1"/>
                                    </a:solidFill>
                                    <a:latin typeface="Cambria Math"/>
                                  </a:rPr>
                                  <m:t>07</m:t>
                                </m:r>
                                <m:r>
                                  <a:rPr lang="en-US" altLang="zh-TW" sz="1600" b="0" i="1" dirty="0" smtClean="0">
                                    <a:solidFill>
                                      <a:schemeClr val="tx1"/>
                                    </a:solidFill>
                                    <a:latin typeface="Cambria Math" panose="02040503050406030204" pitchFamily="18" charset="0"/>
                                  </a:rPr>
                                  <m:t>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67</m:t>
                                </m:r>
                                <m:r>
                                  <a:rPr lang="en-US" altLang="zh-TW" sz="1600" b="0" i="1" dirty="0" smtClean="0">
                                    <a:solidFill>
                                      <a:schemeClr val="tx1"/>
                                    </a:solidFill>
                                    <a:latin typeface="Cambria Math" panose="02040503050406030204" pitchFamily="18" charset="0"/>
                                  </a:rPr>
                                  <m:t>5+0.</m:t>
                                </m:r>
                                <m:r>
                                  <a:rPr lang="en-US" altLang="zh-TW" sz="1600" b="0" i="1" dirty="0" smtClean="0">
                                    <a:solidFill>
                                      <a:schemeClr val="tx1"/>
                                    </a:solidFill>
                                    <a:latin typeface="Cambria Math"/>
                                  </a:rPr>
                                  <m:t>075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0.5</m:t>
                                </m:r>
                                <m:r>
                                  <a:rPr lang="en-US" altLang="zh-TW" sz="1600" b="0" i="1" dirty="0" smtClean="0">
                                    <a:solidFill>
                                      <a:srgbClr val="FF0000"/>
                                    </a:solidFill>
                                    <a:latin typeface="Cambria Math"/>
                                  </a:rPr>
                                  <m:t>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2</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0.5</m:t>
                                </m:r>
                                <m:r>
                                  <a:rPr lang="en-US" altLang="zh-TW" sz="1600" b="0" i="1" dirty="0" smtClean="0">
                                    <a:solidFill>
                                      <a:schemeClr val="tx1"/>
                                    </a:solidFill>
                                    <a:latin typeface="Cambria Math"/>
                                  </a:rPr>
                                  <m:t>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775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C000"/>
                                    </a:solidFill>
                                    <a:latin typeface="Cambria Math" panose="02040503050406030204" pitchFamily="18" charset="0"/>
                                  </a:rPr>
                                  <m:t>0</m:t>
                                </m:r>
                                <m:r>
                                  <a:rPr lang="en-US" altLang="zh-TW" sz="1600" b="0" i="1" dirty="0" smtClean="0">
                                    <a:solidFill>
                                      <a:srgbClr val="FFC000"/>
                                    </a:solidFill>
                                    <a:latin typeface="Cambria Math"/>
                                  </a:rPr>
                                  <m:t>.525</m:t>
                                </m:r>
                                <m:r>
                                  <a:rPr lang="en-US" altLang="zh-TW" sz="1600" b="0" i="1" dirty="0" smtClean="0">
                                    <a:solidFill>
                                      <a:srgbClr val="FFC000"/>
                                    </a:solidFill>
                                    <a:latin typeface="Cambria Math" panose="02040503050406030204" pitchFamily="18" charset="0"/>
                                  </a:rPr>
                                  <m:t>+0.</m:t>
                                </m:r>
                                <m:r>
                                  <a:rPr lang="en-US" altLang="zh-TW" sz="1600" b="0" i="1" dirty="0" smtClean="0">
                                    <a:solidFill>
                                      <a:srgbClr val="FFC000"/>
                                    </a:solidFill>
                                    <a:latin typeface="Cambria Math"/>
                                  </a:rPr>
                                  <m:t>775</m:t>
                                </m:r>
                              </m:oMath>
                            </m:oMathPara>
                          </a14:m>
                          <a:endParaRPr lang="zh-TW" altLang="en-US" sz="1600" b="0" dirty="0">
                            <a:solidFill>
                              <a:srgbClr val="FFC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0.75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75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75</m:t>
                                </m:r>
                                <m:r>
                                  <a:rPr lang="en-US" altLang="zh-TW" sz="1600" b="0" i="1" dirty="0" smtClean="0">
                                    <a:solidFill>
                                      <a:schemeClr val="tx1"/>
                                    </a:solidFill>
                                    <a:latin typeface="Cambria Math" panose="02040503050406030204" pitchFamily="18" charset="0"/>
                                  </a:rPr>
                                  <m:t>+0.3</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.75</m:t>
                                </m:r>
                                <m:r>
                                  <a:rPr lang="en-US" altLang="zh-TW" sz="1600" b="0" i="1" dirty="0" smtClean="0">
                                    <a:solidFill>
                                      <a:srgbClr val="FF0000"/>
                                    </a:solidFill>
                                    <a:latin typeface="Cambria Math" panose="02040503050406030204" pitchFamily="18" charset="0"/>
                                  </a:rPr>
                                  <m:t>+0.</m:t>
                                </m:r>
                                <m:r>
                                  <a:rPr lang="en-US" altLang="zh-TW" sz="1600" b="0" i="1" dirty="0" smtClean="0">
                                    <a:solidFill>
                                      <a:srgbClr val="FF0000"/>
                                    </a:solidFill>
                                    <a:latin typeface="Cambria Math"/>
                                  </a:rPr>
                                  <m:t>275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C000"/>
                                    </a:solidFill>
                                    <a:latin typeface="Cambria Math"/>
                                  </a:rPr>
                                  <m:t>1</m:t>
                                </m:r>
                                <m:r>
                                  <a:rPr lang="en-US" altLang="zh-TW" sz="1600" b="0" i="1" dirty="0" smtClean="0">
                                    <a:solidFill>
                                      <a:srgbClr val="FFC000"/>
                                    </a:solidFill>
                                    <a:latin typeface="Cambria Math" panose="02040503050406030204" pitchFamily="18" charset="0"/>
                                  </a:rPr>
                                  <m:t>.</m:t>
                                </m:r>
                                <m:r>
                                  <a:rPr lang="en-US" altLang="zh-TW" sz="1600" b="0" i="1" dirty="0" smtClean="0">
                                    <a:solidFill>
                                      <a:srgbClr val="FFC000"/>
                                    </a:solidFill>
                                    <a:latin typeface="Cambria Math"/>
                                  </a:rPr>
                                  <m:t>025</m:t>
                                </m:r>
                                <m:r>
                                  <a:rPr lang="en-US" altLang="zh-TW" sz="1600" b="0" i="1" dirty="0" smtClean="0">
                                    <a:solidFill>
                                      <a:srgbClr val="FFC000"/>
                                    </a:solidFill>
                                    <a:latin typeface="Cambria Math" panose="02040503050406030204" pitchFamily="18" charset="0"/>
                                  </a:rPr>
                                  <m:t>+0.</m:t>
                                </m:r>
                                <m:r>
                                  <a:rPr lang="en-US" altLang="zh-TW" sz="1600" b="0" i="1" dirty="0" smtClean="0">
                                    <a:solidFill>
                                      <a:srgbClr val="FFC000"/>
                                    </a:solidFill>
                                    <a:latin typeface="Cambria Math"/>
                                  </a:rPr>
                                  <m:t>275</m:t>
                                </m:r>
                              </m:oMath>
                            </m:oMathPara>
                          </a14:m>
                          <a:endParaRPr lang="zh-TW" altLang="en-US" sz="1600" b="0" dirty="0">
                            <a:solidFill>
                              <a:srgbClr val="FFC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ea typeface="Cambria Math" panose="02040503050406030204" pitchFamily="18" charset="0"/>
                                  </a:rPr>
                                  <m:t>∞</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panose="02040503050406030204" pitchFamily="18" charset="0"/>
                                  </a:rPr>
                                  <m:t>1.</m:t>
                                </m:r>
                                <m:r>
                                  <a:rPr lang="en-US" altLang="zh-TW" sz="1600" b="0" i="1" dirty="0" smtClean="0">
                                    <a:solidFill>
                                      <a:schemeClr val="tx1"/>
                                    </a:solidFill>
                                    <a:latin typeface="Cambria Math"/>
                                  </a:rPr>
                                  <m:t>175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1</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175</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0.425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1</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05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3</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chemeClr val="tx1"/>
                                    </a:solidFill>
                                    <a:latin typeface="Cambria Math"/>
                                  </a:rPr>
                                  <m:t>1</m:t>
                                </m:r>
                                <m:r>
                                  <a:rPr lang="en-US" altLang="zh-TW" sz="1600" b="0" i="1" dirty="0" smtClean="0">
                                    <a:solidFill>
                                      <a:schemeClr val="tx1"/>
                                    </a:solidFill>
                                    <a:latin typeface="Cambria Math" panose="02040503050406030204" pitchFamily="18" charset="0"/>
                                  </a:rPr>
                                  <m:t>.</m:t>
                                </m:r>
                                <m:r>
                                  <a:rPr lang="en-US" altLang="zh-TW" sz="1600" b="0" i="1" dirty="0" smtClean="0">
                                    <a:solidFill>
                                      <a:schemeClr val="tx1"/>
                                    </a:solidFill>
                                    <a:latin typeface="Cambria Math"/>
                                  </a:rPr>
                                  <m:t>025</m:t>
                                </m:r>
                                <m:r>
                                  <a:rPr lang="en-US" altLang="zh-TW" sz="1600" b="0" i="1" dirty="0" smtClean="0">
                                    <a:solidFill>
                                      <a:schemeClr val="tx1"/>
                                    </a:solidFill>
                                    <a:latin typeface="Cambria Math" panose="02040503050406030204" pitchFamily="18" charset="0"/>
                                  </a:rPr>
                                  <m:t>+0.</m:t>
                                </m:r>
                                <m:r>
                                  <a:rPr lang="en-US" altLang="zh-TW" sz="1600" b="0" i="1" dirty="0" smtClean="0">
                                    <a:solidFill>
                                      <a:schemeClr val="tx1"/>
                                    </a:solidFill>
                                    <a:latin typeface="Cambria Math"/>
                                  </a:rPr>
                                  <m:t>275</m:t>
                                </m:r>
                              </m:oMath>
                            </m:oMathPara>
                          </a14:m>
                          <a:endParaRPr lang="zh-TW"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600" b="0" i="1" dirty="0" smtClean="0">
                                    <a:solidFill>
                                      <a:srgbClr val="FF0000"/>
                                    </a:solidFill>
                                    <a:latin typeface="Cambria Math"/>
                                  </a:rPr>
                                  <m:t>1.025</m:t>
                                </m:r>
                                <m:r>
                                  <a:rPr lang="en-US" altLang="zh-TW" sz="1600" b="0" i="1" dirty="0" smtClean="0">
                                    <a:solidFill>
                                      <a:srgbClr val="FF0000"/>
                                    </a:solidFill>
                                    <a:latin typeface="Cambria Math" panose="02040503050406030204" pitchFamily="18" charset="0"/>
                                  </a:rPr>
                                  <m:t>+</m:t>
                                </m:r>
                                <m:r>
                                  <a:rPr lang="en-US" altLang="zh-TW" sz="1600" b="0" i="1" dirty="0" smtClean="0">
                                    <a:solidFill>
                                      <a:srgbClr val="FF0000"/>
                                    </a:solidFill>
                                    <a:latin typeface="Cambria Math"/>
                                  </a:rPr>
                                  <m:t>0.275</m:t>
                                </m:r>
                              </m:oMath>
                            </m:oMathPara>
                          </a14:m>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mc:Choice>
        <mc:Fallback>
          <p:graphicFrame>
            <p:nvGraphicFramePr>
              <p:cNvPr id="4" name="表格 3"/>
              <p:cNvGraphicFramePr>
                <a:graphicFrameLocks noGrp="1"/>
              </p:cNvGraphicFramePr>
              <p:nvPr>
                <p:extLst>
                  <p:ext uri="{D42A27DB-BD31-4B8C-83A1-F6EECF244321}">
                    <p14:modId xmlns:p14="http://schemas.microsoft.com/office/powerpoint/2010/main" xmlns="" xmlns:a14="http://schemas.microsoft.com/office/drawing/2010/main" val="2408004612"/>
                  </p:ext>
                </p:extLst>
              </p:nvPr>
            </p:nvGraphicFramePr>
            <p:xfrm>
              <a:off x="107504" y="2276873"/>
              <a:ext cx="8856981" cy="4424968"/>
            </p:xfrm>
            <a:graphic>
              <a:graphicData uri="http://schemas.openxmlformats.org/drawingml/2006/table">
                <a:tbl>
                  <a:tblPr firstRow="1" bandRow="1">
                    <a:tableStyleId>{5C22544A-7EE6-4342-B048-85BDC9FD1C3A}</a:tableStyleId>
                  </a:tblPr>
                  <a:tblGrid>
                    <a:gridCol w="792088"/>
                    <a:gridCol w="792088"/>
                    <a:gridCol w="1512168"/>
                    <a:gridCol w="1512168"/>
                    <a:gridCol w="1368152"/>
                    <a:gridCol w="1440160"/>
                    <a:gridCol w="1440157"/>
                  </a:tblGrid>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chemeClr val="tx1"/>
                              </a:solidFill>
                            </a:rPr>
                            <a:t>-0.45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9625">
                    <a:tc>
                      <a:txBody>
                        <a:bodyPr/>
                        <a:lstStyle/>
                        <a:p>
                          <a:pPr algn="ct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smtClean="0">
                              <a:solidFill>
                                <a:srgbClr val="FF0000"/>
                              </a:solidFill>
                            </a:rPr>
                            <a:t>0</a:t>
                          </a:r>
                          <a:endParaRPr lang="zh-TW" altLang="en-US" sz="16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101176" r="-381048"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101176" r="-281048"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101176" r="-211161"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101176" r="-99578" b="-65411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101176" b="-654118"/>
                          </a:stretch>
                        </a:blipFill>
                      </a:tcPr>
                    </a:tc>
                  </a:tr>
                  <a:tr h="787593">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132558" r="-917692"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132558" r="-381048"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132558" r="-281048"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132558" r="-211161"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132558" r="-99578" b="-33100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132558" b="-331008"/>
                          </a:stretch>
                        </a:blipFill>
                      </a:tcPr>
                    </a:tc>
                  </a:tr>
                  <a:tr h="519625">
                    <a:tc>
                      <a:txBody>
                        <a:bodyPr/>
                        <a:lstStyle/>
                        <a:p>
                          <a:pPr algn="ctr"/>
                          <a:r>
                            <a:rPr lang="en-US" altLang="zh-TW" sz="1600" b="0" dirty="0" smtClean="0">
                              <a:solidFill>
                                <a:schemeClr val="tx1"/>
                              </a:solidFill>
                            </a:rPr>
                            <a:t>0.125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352941" r="-917692"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352941" r="-381048"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352941" r="-281048"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352941" r="-211161"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352941" r="-99578" b="-40235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352941" b="-402353"/>
                          </a:stretch>
                        </a:blip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447674" r="-917692"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447674" r="-381048"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447674" r="-281048"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447674" r="-211161"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447674" r="-99578" b="-29767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447674" b="-297674"/>
                          </a:stretch>
                        </a:blipFill>
                      </a:tcPr>
                    </a:tc>
                  </a:tr>
                  <a:tr h="519625">
                    <a:tc>
                      <a:txBody>
                        <a:bodyPr/>
                        <a:lstStyle/>
                        <a:p>
                          <a:pPr algn="ctr"/>
                          <a:r>
                            <a:rPr lang="en-US" altLang="zh-TW" sz="1600" b="0" dirty="0" smtClean="0">
                              <a:solidFill>
                                <a:schemeClr val="tx1"/>
                              </a:solidFill>
                            </a:rPr>
                            <a:t>0.325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554118" r="-917692"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554118" r="-381048"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554118" r="-281048"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554118" r="-211161"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554118" r="-99578" b="-2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554118" b="-201176"/>
                          </a:stretch>
                        </a:blip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654118" r="-917692"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654118" r="-381048"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654118" r="-281048"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654118" r="-211161"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654118" r="-99578" b="-10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654118" b="-101176"/>
                          </a:stretch>
                        </a:blipFill>
                      </a:tcPr>
                    </a:tc>
                  </a:tr>
                  <a:tr h="519625">
                    <a:tc>
                      <a:txBody>
                        <a:bodyPr/>
                        <a:lstStyle/>
                        <a:p>
                          <a:pPr algn="ctr"/>
                          <a:r>
                            <a:rPr lang="en-US" altLang="zh-TW" sz="1600" b="0" dirty="0" smtClean="0">
                              <a:solidFill>
                                <a:schemeClr val="tx1"/>
                              </a:solidFill>
                            </a:rPr>
                            <a:t>-0.175</a:t>
                          </a:r>
                          <a:endParaRPr lang="zh-TW"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0769" t="-754118" r="-917692"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05242" t="-754118" r="-381048"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5242" t="-754118" r="-281048"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337946" t="-754118" r="-211161"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13924" t="-754118" r="-99578" b="-1176"/>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516102" t="-754118" b="-1176"/>
                          </a:stretch>
                        </a:blipFill>
                      </a:tcPr>
                    </a:tc>
                  </a:tr>
                </a:tbl>
              </a:graphicData>
            </a:graphic>
          </p:graphicFrame>
        </mc:Fallback>
      </mc:AlternateContent>
    </p:spTree>
    <p:extLst>
      <p:ext uri="{BB962C8B-B14F-4D97-AF65-F5344CB8AC3E}">
        <p14:creationId xmlns:p14="http://schemas.microsoft.com/office/powerpoint/2010/main" xmlns="" val="717129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DTW Alignment</a:t>
            </a:r>
            <a:endParaRPr lang="zh-TW" altLang="en-US" dirty="0"/>
          </a:p>
        </p:txBody>
      </p:sp>
      <p:graphicFrame>
        <p:nvGraphicFramePr>
          <p:cNvPr id="8" name="內容版面配置區 7"/>
          <p:cNvGraphicFramePr>
            <a:graphicFrameLocks noGrp="1"/>
          </p:cNvGraphicFramePr>
          <p:nvPr>
            <p:ph idx="1"/>
            <p:extLst>
              <p:ext uri="{D42A27DB-BD31-4B8C-83A1-F6EECF244321}">
                <p14:modId xmlns:p14="http://schemas.microsoft.com/office/powerpoint/2010/main" xmlns="" val="959670202"/>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直線接點 9"/>
          <p:cNvCxnSpPr/>
          <p:nvPr/>
        </p:nvCxnSpPr>
        <p:spPr>
          <a:xfrm>
            <a:off x="1643042" y="4282836"/>
            <a:ext cx="0" cy="432048"/>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直線接點 14"/>
          <p:cNvCxnSpPr/>
          <p:nvPr/>
        </p:nvCxnSpPr>
        <p:spPr>
          <a:xfrm flipV="1">
            <a:off x="1619672" y="3857628"/>
            <a:ext cx="1152128" cy="432048"/>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直線接點 16"/>
          <p:cNvCxnSpPr/>
          <p:nvPr/>
        </p:nvCxnSpPr>
        <p:spPr>
          <a:xfrm flipH="1">
            <a:off x="2771800" y="2204864"/>
            <a:ext cx="1152128" cy="8640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9" name="直線接點 18"/>
          <p:cNvCxnSpPr/>
          <p:nvPr/>
        </p:nvCxnSpPr>
        <p:spPr>
          <a:xfrm flipH="1" flipV="1">
            <a:off x="3923928" y="4643446"/>
            <a:ext cx="1152128" cy="432048"/>
          </a:xfrm>
          <a:prstGeom prst="line">
            <a:avLst/>
          </a:prstGeom>
        </p:spPr>
        <p:style>
          <a:lnRef idx="2">
            <a:schemeClr val="accent2"/>
          </a:lnRef>
          <a:fillRef idx="0">
            <a:schemeClr val="accent2"/>
          </a:fillRef>
          <a:effectRef idx="1">
            <a:schemeClr val="accent2"/>
          </a:effectRef>
          <a:fontRef idx="minor">
            <a:schemeClr val="tx1"/>
          </a:fontRef>
        </p:style>
      </p:cxnSp>
      <p:cxnSp>
        <p:nvCxnSpPr>
          <p:cNvPr id="21" name="直線接點 20"/>
          <p:cNvCxnSpPr/>
          <p:nvPr/>
        </p:nvCxnSpPr>
        <p:spPr>
          <a:xfrm>
            <a:off x="5076056" y="2636912"/>
            <a:ext cx="1152128" cy="1296144"/>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直線接點 22"/>
          <p:cNvCxnSpPr/>
          <p:nvPr/>
        </p:nvCxnSpPr>
        <p:spPr>
          <a:xfrm>
            <a:off x="6215074" y="3429000"/>
            <a:ext cx="0" cy="432048"/>
          </a:xfrm>
          <a:prstGeom prst="line">
            <a:avLst/>
          </a:prstGeom>
        </p:spPr>
        <p:style>
          <a:lnRef idx="2">
            <a:schemeClr val="accent2"/>
          </a:lnRef>
          <a:fillRef idx="0">
            <a:schemeClr val="accent2"/>
          </a:fillRef>
          <a:effectRef idx="1">
            <a:schemeClr val="accent2"/>
          </a:effectRef>
          <a:fontRef idx="minor">
            <a:schemeClr val="tx1"/>
          </a:fontRef>
        </p:style>
      </p:cxnSp>
      <p:cxnSp>
        <p:nvCxnSpPr>
          <p:cNvPr id="25" name="直線接點 24"/>
          <p:cNvCxnSpPr/>
          <p:nvPr/>
        </p:nvCxnSpPr>
        <p:spPr>
          <a:xfrm flipH="1">
            <a:off x="6228184" y="3857628"/>
            <a:ext cx="1152128"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xmlns="" val="3977310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DDTW Alignment</a:t>
            </a:r>
            <a:endParaRPr lang="zh-TW" altLang="en-US" dirty="0"/>
          </a:p>
        </p:txBody>
      </p:sp>
      <p:graphicFrame>
        <p:nvGraphicFramePr>
          <p:cNvPr id="8" name="內容版面配置區 7"/>
          <p:cNvGraphicFramePr>
            <a:graphicFrameLocks noGrp="1"/>
          </p:cNvGraphicFramePr>
          <p:nvPr>
            <p:ph idx="1"/>
            <p:extLst>
              <p:ext uri="{D42A27DB-BD31-4B8C-83A1-F6EECF244321}">
                <p14:modId xmlns:p14="http://schemas.microsoft.com/office/powerpoint/2010/main" xmlns="" val="860695234"/>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cxnSp>
        <p:nvCxnSpPr>
          <p:cNvPr id="4" name="直線接點 3"/>
          <p:cNvCxnSpPr/>
          <p:nvPr/>
        </p:nvCxnSpPr>
        <p:spPr>
          <a:xfrm>
            <a:off x="1714480" y="4214818"/>
            <a:ext cx="0" cy="432048"/>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直線接點 5"/>
          <p:cNvCxnSpPr/>
          <p:nvPr/>
        </p:nvCxnSpPr>
        <p:spPr>
          <a:xfrm>
            <a:off x="2857488" y="3000372"/>
            <a:ext cx="0" cy="864096"/>
          </a:xfrm>
          <a:prstGeom prst="line">
            <a:avLst/>
          </a:prstGeom>
        </p:spPr>
        <p:style>
          <a:lnRef idx="2">
            <a:schemeClr val="accent2"/>
          </a:lnRef>
          <a:fillRef idx="0">
            <a:schemeClr val="accent2"/>
          </a:fillRef>
          <a:effectRef idx="1">
            <a:schemeClr val="accent2"/>
          </a:effectRef>
          <a:fontRef idx="minor">
            <a:schemeClr val="tx1"/>
          </a:fontRef>
        </p:style>
      </p:cxnSp>
      <p:cxnSp>
        <p:nvCxnSpPr>
          <p:cNvPr id="9" name="直線接點 8"/>
          <p:cNvCxnSpPr/>
          <p:nvPr/>
        </p:nvCxnSpPr>
        <p:spPr>
          <a:xfrm>
            <a:off x="3929058" y="2143116"/>
            <a:ext cx="0" cy="2592288"/>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p:nvPr/>
        </p:nvCxnSpPr>
        <p:spPr>
          <a:xfrm flipH="1" flipV="1">
            <a:off x="3923928" y="2143116"/>
            <a:ext cx="1152128" cy="432048"/>
          </a:xfrm>
          <a:prstGeom prst="line">
            <a:avLst/>
          </a:prstGeom>
        </p:spPr>
        <p:style>
          <a:lnRef idx="2">
            <a:schemeClr val="accent2"/>
          </a:lnRef>
          <a:fillRef idx="0">
            <a:schemeClr val="accent2"/>
          </a:fillRef>
          <a:effectRef idx="1">
            <a:schemeClr val="accent2"/>
          </a:effectRef>
          <a:fontRef idx="minor">
            <a:schemeClr val="tx1"/>
          </a:fontRef>
        </p:style>
      </p:cxnSp>
      <p:cxnSp>
        <p:nvCxnSpPr>
          <p:cNvPr id="13" name="直線接點 12"/>
          <p:cNvCxnSpPr/>
          <p:nvPr/>
        </p:nvCxnSpPr>
        <p:spPr>
          <a:xfrm flipH="1">
            <a:off x="5076056" y="3429000"/>
            <a:ext cx="1152128" cy="1656184"/>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直線接點 14"/>
          <p:cNvCxnSpPr/>
          <p:nvPr/>
        </p:nvCxnSpPr>
        <p:spPr>
          <a:xfrm flipH="1">
            <a:off x="6228184" y="3857628"/>
            <a:ext cx="1152128"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xmlns="" val="766562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a:t>
            </a:r>
            <a:r>
              <a:rPr lang="en-US" altLang="zh-TW" dirty="0" smtClean="0"/>
              <a:t>esult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050" name="Picture 2" descr="C:\Users\yotsuki\Desktop\1.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79512" y="1628800"/>
            <a:ext cx="8736554" cy="504056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15661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074" name="Picture 2" descr="C:\Users\yotsuki\Desktop\2.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2008" y="1700808"/>
            <a:ext cx="9036496" cy="41637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801951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849</TotalTime>
  <Words>193</Words>
  <Application>Microsoft Office PowerPoint</Application>
  <PresentationFormat>如螢幕大小 (4:3)</PresentationFormat>
  <Paragraphs>67</Paragraphs>
  <Slides>15</Slides>
  <Notes>0</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Derivative Dynamic Time Warping</vt:lpstr>
      <vt:lpstr>Abstract</vt:lpstr>
      <vt:lpstr>Dynamic Time Warping</vt:lpstr>
      <vt:lpstr>Dynamic Time Warping</vt:lpstr>
      <vt:lpstr>Dynamic Time Warping</vt:lpstr>
      <vt:lpstr>Derivative Dynamic Time Warping</vt:lpstr>
      <vt:lpstr>Derivative Dynamic Time Warping</vt:lpstr>
      <vt:lpstr>Derivative Dynamic Time Warping</vt:lpstr>
      <vt:lpstr>Derivative Dynamic Time Warping</vt:lpstr>
      <vt:lpstr>Derivative Dynamic Time Warping</vt:lpstr>
      <vt:lpstr>Derivative Dynamic Time Warping</vt:lpstr>
      <vt:lpstr>DTW Alignment</vt:lpstr>
      <vt:lpstr>DDTW Alignment</vt:lpstr>
      <vt:lpstr>Result</vt:lpstr>
      <vt:lpstr>Result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Derivative Dynamic Time Warping</dc:title>
  <dc:creator>yotsuki</dc:creator>
  <cp:lastModifiedBy>admin</cp:lastModifiedBy>
  <cp:revision>32</cp:revision>
  <dcterms:created xsi:type="dcterms:W3CDTF">2014-11-03T17:42:23Z</dcterms:created>
  <dcterms:modified xsi:type="dcterms:W3CDTF">2014-11-04T10:31:19Z</dcterms:modified>
</cp:coreProperties>
</file>