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25"/>
  </p:notesMasterIdLst>
  <p:sldIdLst>
    <p:sldId id="256" r:id="rId2"/>
    <p:sldId id="257" r:id="rId3"/>
    <p:sldId id="283" r:id="rId4"/>
    <p:sldId id="259" r:id="rId5"/>
    <p:sldId id="264" r:id="rId6"/>
    <p:sldId id="266" r:id="rId7"/>
    <p:sldId id="267" r:id="rId8"/>
    <p:sldId id="268" r:id="rId9"/>
    <p:sldId id="265" r:id="rId10"/>
    <p:sldId id="273" r:id="rId11"/>
    <p:sldId id="274" r:id="rId12"/>
    <p:sldId id="275" r:id="rId13"/>
    <p:sldId id="276" r:id="rId14"/>
    <p:sldId id="278" r:id="rId15"/>
    <p:sldId id="279" r:id="rId16"/>
    <p:sldId id="281" r:id="rId17"/>
    <p:sldId id="280" r:id="rId18"/>
    <p:sldId id="258" r:id="rId19"/>
    <p:sldId id="287" r:id="rId20"/>
    <p:sldId id="269" r:id="rId21"/>
    <p:sldId id="284" r:id="rId22"/>
    <p:sldId id="285" r:id="rId23"/>
    <p:sldId id="286" r:id="rId2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淺色樣式 3 - 輔色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6" autoAdjust="0"/>
    <p:restoredTop sz="83521" autoAdjust="0"/>
  </p:normalViewPr>
  <p:slideViewPr>
    <p:cSldViewPr snapToGrid="0">
      <p:cViewPr varScale="1">
        <p:scale>
          <a:sx n="74" d="100"/>
          <a:sy n="74" d="100"/>
        </p:scale>
        <p:origin x="210"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00FC4B-A2D7-47E7-BF90-53651F10F2DA}" type="datetimeFigureOut">
              <a:rPr lang="zh-TW" altLang="en-US" smtClean="0"/>
              <a:t>2014/3/17</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F5DD9-E673-4482-8079-D32CA6435562}" type="slidenum">
              <a:rPr lang="zh-TW" altLang="en-US" smtClean="0"/>
              <a:t>‹#›</a:t>
            </a:fld>
            <a:endParaRPr lang="zh-TW" altLang="en-US"/>
          </a:p>
        </p:txBody>
      </p:sp>
    </p:spTree>
    <p:extLst>
      <p:ext uri="{BB962C8B-B14F-4D97-AF65-F5344CB8AC3E}">
        <p14:creationId xmlns:p14="http://schemas.microsoft.com/office/powerpoint/2010/main" val="2040761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05F5DD9-E673-4482-8079-D32CA6435562}" type="slidenum">
              <a:rPr lang="zh-TW" altLang="en-US" smtClean="0"/>
              <a:t>1</a:t>
            </a:fld>
            <a:endParaRPr lang="zh-TW" altLang="en-US"/>
          </a:p>
        </p:txBody>
      </p:sp>
    </p:spTree>
    <p:extLst>
      <p:ext uri="{BB962C8B-B14F-4D97-AF65-F5344CB8AC3E}">
        <p14:creationId xmlns:p14="http://schemas.microsoft.com/office/powerpoint/2010/main" val="915884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143000" y="1122363"/>
            <a:ext cx="6858000" cy="2387600"/>
          </a:xfrm>
        </p:spPr>
        <p:txBody>
          <a:bodyPr anchor="b"/>
          <a:lstStyle>
            <a:lvl1pPr algn="ctr">
              <a:defRPr sz="45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92A9FBEA-4925-492A-9A59-3C84C23CEEF7}" type="datetimeFigureOut">
              <a:rPr lang="zh-TW" altLang="en-US" smtClean="0"/>
              <a:t>2014/3/17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3112759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2A9FBEA-4925-492A-9A59-3C84C23CEEF7}" type="datetimeFigureOut">
              <a:rPr lang="zh-TW" altLang="en-US" smtClean="0"/>
              <a:t>2014/3/17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3225854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623888" y="1709739"/>
            <a:ext cx="7886700" cy="2852737"/>
          </a:xfrm>
        </p:spPr>
        <p:txBody>
          <a:bodyPr anchor="b"/>
          <a:lstStyle>
            <a:lvl1pPr>
              <a:defRPr sz="45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92A9FBEA-4925-492A-9A59-3C84C23CEEF7}" type="datetimeFigureOut">
              <a:rPr lang="zh-TW" altLang="en-US" smtClean="0"/>
              <a:t>2014/3/17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3049606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92A9FBEA-4925-492A-9A59-3C84C23CEEF7}" type="datetimeFigureOut">
              <a:rPr lang="zh-TW" altLang="en-US" smtClean="0"/>
              <a:t>2014/3/17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3058426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29841" y="365126"/>
            <a:ext cx="78867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92A9FBEA-4925-492A-9A59-3C84C23CEEF7}" type="datetimeFigureOut">
              <a:rPr lang="zh-TW" altLang="en-US" smtClean="0"/>
              <a:t>2014/3/17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1877052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92A9FBEA-4925-492A-9A59-3C84C23CEEF7}" type="datetimeFigureOut">
              <a:rPr lang="zh-TW" altLang="en-US" smtClean="0"/>
              <a:t>2014/3/17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4085543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2A9FBEA-4925-492A-9A59-3C84C23CEEF7}" type="datetimeFigureOut">
              <a:rPr lang="zh-TW" altLang="en-US" smtClean="0"/>
              <a:t>2014/3/17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3599735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2A9FBEA-4925-492A-9A59-3C84C23CEEF7}" type="datetimeFigureOut">
              <a:rPr lang="zh-TW" altLang="en-US" smtClean="0"/>
              <a:t>2014/3/17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2295205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2A9FBEA-4925-492A-9A59-3C84C23CEEF7}" type="datetimeFigureOut">
              <a:rPr lang="zh-TW" altLang="en-US" smtClean="0"/>
              <a:t>2014/3/17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3963742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2A9FBEA-4925-492A-9A59-3C84C23CEEF7}" type="datetimeFigureOut">
              <a:rPr lang="zh-TW" altLang="en-US" smtClean="0"/>
              <a:t>2014/3/17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566045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2A9FBEA-4925-492A-9A59-3C84C23CEEF7}" type="datetimeFigureOut">
              <a:rPr lang="zh-TW" altLang="en-US" smtClean="0"/>
              <a:t>2014/3/17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440034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2A9FBEA-4925-492A-9A59-3C84C23CEEF7}" type="datetimeFigureOut">
              <a:rPr lang="zh-TW" altLang="en-US" smtClean="0"/>
              <a:t>2014/3/17</a:t>
            </a:fld>
            <a:endParaRPr lang="zh-TW" altLang="en-US"/>
          </a:p>
        </p:txBody>
      </p:sp>
      <p:sp>
        <p:nvSpPr>
          <p:cNvPr id="5" name="頁尾版面配置區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D796F3-36A3-4B92-8D4B-BF2AA7095861}" type="slidenum">
              <a:rPr lang="zh-TW" altLang="en-US" smtClean="0"/>
              <a:t>‹#›</a:t>
            </a:fld>
            <a:endParaRPr lang="zh-TW" altLang="en-US"/>
          </a:p>
        </p:txBody>
      </p:sp>
    </p:spTree>
    <p:extLst>
      <p:ext uri="{BB962C8B-B14F-4D97-AF65-F5344CB8AC3E}">
        <p14:creationId xmlns:p14="http://schemas.microsoft.com/office/powerpoint/2010/main" val="304739325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489397" y="463640"/>
            <a:ext cx="8358389" cy="2908436"/>
          </a:xfrm>
        </p:spPr>
        <p:txBody>
          <a:bodyPr>
            <a:normAutofit/>
          </a:bodyPr>
          <a:lstStyle/>
          <a:p>
            <a:r>
              <a:rPr lang="en-US" altLang="zh-TW" sz="3200" b="1" dirty="0">
                <a:latin typeface="微軟正黑體" panose="020B0604030504040204" pitchFamily="34" charset="-120"/>
                <a:ea typeface="微軟正黑體" panose="020B0604030504040204" pitchFamily="34" charset="-120"/>
              </a:rPr>
              <a:t>A General Method Applicable to </a:t>
            </a:r>
            <a:r>
              <a:rPr lang="en-US" altLang="zh-TW" sz="3200" b="1" dirty="0" smtClean="0">
                <a:latin typeface="微軟正黑體" panose="020B0604030504040204" pitchFamily="34" charset="-120"/>
                <a:ea typeface="微軟正黑體" panose="020B0604030504040204" pitchFamily="34" charset="-120"/>
              </a:rPr>
              <a:t/>
            </a:r>
            <a:br>
              <a:rPr lang="en-US" altLang="zh-TW" sz="3200" b="1" dirty="0" smtClean="0">
                <a:latin typeface="微軟正黑體" panose="020B0604030504040204" pitchFamily="34" charset="-120"/>
                <a:ea typeface="微軟正黑體" panose="020B0604030504040204" pitchFamily="34" charset="-120"/>
              </a:rPr>
            </a:br>
            <a:r>
              <a:rPr lang="en-US" altLang="zh-TW" sz="3200" b="1" dirty="0" smtClean="0">
                <a:latin typeface="微軟正黑體" panose="020B0604030504040204" pitchFamily="34" charset="-120"/>
                <a:ea typeface="微軟正黑體" panose="020B0604030504040204" pitchFamily="34" charset="-120"/>
              </a:rPr>
              <a:t>the </a:t>
            </a:r>
            <a:r>
              <a:rPr lang="en-US" altLang="zh-TW" sz="3200" b="1" dirty="0">
                <a:latin typeface="微軟正黑體" panose="020B0604030504040204" pitchFamily="34" charset="-120"/>
                <a:ea typeface="微軟正黑體" panose="020B0604030504040204" pitchFamily="34" charset="-120"/>
              </a:rPr>
              <a:t>Search for Similarities </a:t>
            </a:r>
            <a:r>
              <a:rPr lang="en-US" altLang="zh-TW" sz="3200" b="1" dirty="0" smtClean="0">
                <a:latin typeface="微軟正黑體" panose="020B0604030504040204" pitchFamily="34" charset="-120"/>
                <a:ea typeface="微軟正黑體" panose="020B0604030504040204" pitchFamily="34" charset="-120"/>
              </a:rPr>
              <a:t>in </a:t>
            </a:r>
            <a:r>
              <a:rPr lang="en-US" altLang="zh-TW" sz="3200" b="1" dirty="0">
                <a:latin typeface="微軟正黑體" panose="020B0604030504040204" pitchFamily="34" charset="-120"/>
                <a:ea typeface="微軟正黑體" panose="020B0604030504040204" pitchFamily="34" charset="-120"/>
              </a:rPr>
              <a:t>the </a:t>
            </a:r>
            <a:r>
              <a:rPr lang="en-US" altLang="zh-TW" sz="3200" b="1" dirty="0" smtClean="0">
                <a:latin typeface="微軟正黑體" panose="020B0604030504040204" pitchFamily="34" charset="-120"/>
                <a:ea typeface="微軟正黑體" panose="020B0604030504040204" pitchFamily="34" charset="-120"/>
              </a:rPr>
              <a:t/>
            </a:r>
            <a:br>
              <a:rPr lang="en-US" altLang="zh-TW" sz="3200" b="1" dirty="0" smtClean="0">
                <a:latin typeface="微軟正黑體" panose="020B0604030504040204" pitchFamily="34" charset="-120"/>
                <a:ea typeface="微軟正黑體" panose="020B0604030504040204" pitchFamily="34" charset="-120"/>
              </a:rPr>
            </a:br>
            <a:r>
              <a:rPr lang="en-US" altLang="zh-TW" sz="3200" b="1" dirty="0" smtClean="0">
                <a:latin typeface="微軟正黑體" panose="020B0604030504040204" pitchFamily="34" charset="-120"/>
                <a:ea typeface="微軟正黑體" panose="020B0604030504040204" pitchFamily="34" charset="-120"/>
              </a:rPr>
              <a:t>Amino </a:t>
            </a:r>
            <a:r>
              <a:rPr lang="en-US" altLang="zh-TW" sz="3200" b="1" dirty="0">
                <a:latin typeface="微軟正黑體" panose="020B0604030504040204" pitchFamily="34" charset="-120"/>
                <a:ea typeface="微軟正黑體" panose="020B0604030504040204" pitchFamily="34" charset="-120"/>
              </a:rPr>
              <a:t>Acid Sequence of Two Proteins</a:t>
            </a:r>
            <a:endParaRPr lang="zh-TW" altLang="en-US" sz="3200" b="1" dirty="0">
              <a:latin typeface="微軟正黑體" panose="020B0604030504040204" pitchFamily="34" charset="-120"/>
              <a:ea typeface="微軟正黑體" panose="020B0604030504040204" pitchFamily="34" charset="-120"/>
            </a:endParaRPr>
          </a:p>
        </p:txBody>
      </p:sp>
      <p:sp>
        <p:nvSpPr>
          <p:cNvPr id="3" name="副標題 2"/>
          <p:cNvSpPr>
            <a:spLocks noGrp="1"/>
          </p:cNvSpPr>
          <p:nvPr>
            <p:ph type="subTitle" idx="1"/>
          </p:nvPr>
        </p:nvSpPr>
        <p:spPr>
          <a:xfrm>
            <a:off x="1278226" y="3692190"/>
            <a:ext cx="7170313" cy="1655762"/>
          </a:xfrm>
        </p:spPr>
        <p:txBody>
          <a:bodyPr>
            <a:noAutofit/>
          </a:bodyPr>
          <a:lstStyle/>
          <a:p>
            <a:pPr algn="r"/>
            <a:r>
              <a:rPr lang="en-US" altLang="zh-TW" sz="2000" b="1" i="1" dirty="0" smtClean="0"/>
              <a:t>Source: J. Mol. Biol. </a:t>
            </a:r>
            <a:r>
              <a:rPr lang="en-US" altLang="zh-TW" sz="2000" b="1" dirty="0" smtClean="0"/>
              <a:t>(1970) </a:t>
            </a:r>
            <a:r>
              <a:rPr lang="en-US" altLang="zh-TW" sz="2000" b="1" i="1" dirty="0" smtClean="0"/>
              <a:t>48, </a:t>
            </a:r>
            <a:r>
              <a:rPr lang="en-US" altLang="zh-TW" sz="2000" b="1" dirty="0" smtClean="0"/>
              <a:t>443-453</a:t>
            </a:r>
          </a:p>
          <a:p>
            <a:pPr algn="r"/>
            <a:r>
              <a:rPr lang="en-US" altLang="zh-TW" sz="2000" b="1" dirty="0" smtClean="0"/>
              <a:t>SAUL B. NEEDLEMAN AND CHRISTIAN D. WUNSCH</a:t>
            </a:r>
          </a:p>
          <a:p>
            <a:pPr algn="r"/>
            <a:r>
              <a:rPr lang="en-US" altLang="zh-TW" sz="2000" b="1" i="1" dirty="0" smtClean="0"/>
              <a:t>Department of Biochemistry, Northwestern University, and</a:t>
            </a:r>
          </a:p>
          <a:p>
            <a:pPr algn="r"/>
            <a:r>
              <a:rPr lang="en-US" altLang="zh-TW" sz="2000" b="1" i="1" dirty="0" smtClean="0"/>
              <a:t>nuclear </a:t>
            </a:r>
            <a:r>
              <a:rPr lang="en-US" altLang="zh-TW" sz="2000" b="1" i="1" dirty="0"/>
              <a:t>Medicine Service, V. A. Research Hospital</a:t>
            </a:r>
          </a:p>
          <a:p>
            <a:pPr algn="r"/>
            <a:r>
              <a:rPr lang="en-US" altLang="zh-TW" sz="2000" b="1" i="1" dirty="0"/>
              <a:t>Chicago, Ill. 60611, </a:t>
            </a:r>
            <a:r>
              <a:rPr lang="en-US" altLang="zh-TW" sz="2000" b="1" i="1" dirty="0" smtClean="0"/>
              <a:t>U.S.A.</a:t>
            </a:r>
          </a:p>
          <a:p>
            <a:pPr algn="r"/>
            <a:r>
              <a:rPr lang="en-US" altLang="zh-TW" sz="2000" b="1" i="1" dirty="0" smtClean="0"/>
              <a:t>Presenter: Ding-Yao Huang</a:t>
            </a:r>
          </a:p>
          <a:p>
            <a:pPr algn="r"/>
            <a:r>
              <a:rPr lang="en-US" altLang="zh-TW" sz="2000" b="1" i="1" dirty="0" smtClean="0"/>
              <a:t>Date:2014/2/10</a:t>
            </a:r>
            <a:endParaRPr lang="zh-TW" altLang="en-US" sz="2000" b="1" dirty="0"/>
          </a:p>
        </p:txBody>
      </p:sp>
    </p:spTree>
    <p:extLst>
      <p:ext uri="{BB962C8B-B14F-4D97-AF65-F5344CB8AC3E}">
        <p14:creationId xmlns:p14="http://schemas.microsoft.com/office/powerpoint/2010/main" val="39144765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
            </a:r>
            <a:br>
              <a:rPr lang="en-US" altLang="zh-TW" dirty="0" smtClean="0"/>
            </a:br>
            <a:endParaRPr lang="zh-TW" altLang="en-US" dirty="0"/>
          </a:p>
        </p:txBody>
      </p:sp>
      <p:sp>
        <p:nvSpPr>
          <p:cNvPr id="3" name="內容版面配置區 2"/>
          <p:cNvSpPr>
            <a:spLocks noGrp="1"/>
          </p:cNvSpPr>
          <p:nvPr>
            <p:ph idx="1"/>
          </p:nvPr>
        </p:nvSpPr>
        <p:spPr/>
        <p:txBody>
          <a:bodyPr>
            <a:normAutofit/>
          </a:bodyPr>
          <a:lstStyle/>
          <a:p>
            <a:pPr fontAlgn="base"/>
            <a:r>
              <a:rPr lang="en-US" altLang="zh-TW" b="1" dirty="0"/>
              <a:t>A computer adaptable method for finding similarities in the amino acid sequences of two proteins has been developed. From these findings it is possible to determine whether significant homology exists between the proteins. This information is used to trace their possible evolutionary </a:t>
            </a:r>
            <a:r>
              <a:rPr lang="en-US" altLang="zh-TW" b="1" dirty="0" smtClean="0"/>
              <a:t>development.</a:t>
            </a:r>
          </a:p>
          <a:p>
            <a:pPr fontAlgn="base"/>
            <a:endParaRPr lang="en-US" altLang="zh-TW" b="1" dirty="0"/>
          </a:p>
          <a:p>
            <a:pPr fontAlgn="base"/>
            <a:r>
              <a:rPr lang="en-US" altLang="zh-TW" b="1" dirty="0"/>
              <a:t>The maximum match is a number dependent upon the similarity of the sequences. One of its definitions is the largest number of amino acids of one protein that can be matched with those of a second protein allowing for all possible interruptions in either of the sequences. While the interruptions give rise to a very large number of comparisons, the method efficiently excludes from consideration those comparisons that cannot contribute to the maximum match.</a:t>
            </a:r>
          </a:p>
          <a:p>
            <a:endParaRPr lang="zh-TW" altLang="en-US" dirty="0"/>
          </a:p>
        </p:txBody>
      </p:sp>
      <p:sp>
        <p:nvSpPr>
          <p:cNvPr id="4" name="標題 1"/>
          <p:cNvSpPr txBox="1">
            <a:spLocks/>
          </p:cNvSpPr>
          <p:nvPr/>
        </p:nvSpPr>
        <p:spPr>
          <a:xfrm>
            <a:off x="628650" y="378573"/>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zh-TW" b="1" dirty="0" smtClean="0">
                <a:latin typeface="Gungsuh" panose="02030600000101010101" pitchFamily="18" charset="-127"/>
                <a:ea typeface="Gungsuh" panose="02030600000101010101" pitchFamily="18" charset="-127"/>
              </a:rPr>
              <a:t>Abstract</a:t>
            </a:r>
            <a:r>
              <a:rPr lang="en-US" altLang="zh-TW" dirty="0" smtClean="0">
                <a:latin typeface="Gungsuh" panose="02030600000101010101" pitchFamily="18" charset="-127"/>
                <a:ea typeface="Gungsuh" panose="02030600000101010101" pitchFamily="18" charset="-127"/>
              </a:rPr>
              <a:t> </a:t>
            </a:r>
            <a:endParaRPr lang="zh-TW" altLang="en-US" dirty="0">
              <a:latin typeface="Gungsuh" panose="02030600000101010101" pitchFamily="18" charset="-127"/>
              <a:ea typeface="Gungsuh" panose="02030600000101010101" pitchFamily="18" charset="-127"/>
            </a:endParaRPr>
          </a:p>
        </p:txBody>
      </p:sp>
    </p:spTree>
    <p:extLst>
      <p:ext uri="{BB962C8B-B14F-4D97-AF65-F5344CB8AC3E}">
        <p14:creationId xmlns:p14="http://schemas.microsoft.com/office/powerpoint/2010/main" val="37354505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
            </a:r>
            <a:br>
              <a:rPr lang="en-US" altLang="zh-TW" dirty="0" smtClean="0"/>
            </a:br>
            <a:endParaRPr lang="zh-TW" altLang="en-US" dirty="0"/>
          </a:p>
        </p:txBody>
      </p:sp>
      <p:sp>
        <p:nvSpPr>
          <p:cNvPr id="3" name="內容版面配置區 2"/>
          <p:cNvSpPr>
            <a:spLocks noGrp="1"/>
          </p:cNvSpPr>
          <p:nvPr>
            <p:ph idx="1"/>
          </p:nvPr>
        </p:nvSpPr>
        <p:spPr>
          <a:xfrm>
            <a:off x="242047" y="1690689"/>
            <a:ext cx="8273303" cy="4486274"/>
          </a:xfrm>
        </p:spPr>
        <p:txBody>
          <a:bodyPr>
            <a:normAutofit/>
          </a:bodyPr>
          <a:lstStyle/>
          <a:p>
            <a:pPr fontAlgn="base"/>
            <a:r>
              <a:rPr lang="en-US" altLang="zh-TW" b="1" dirty="0" smtClean="0"/>
              <a:t>Comparisons </a:t>
            </a:r>
            <a:r>
              <a:rPr lang="en-US" altLang="zh-TW" b="1" dirty="0"/>
              <a:t>are made from the smallest unit of significance, </a:t>
            </a:r>
            <a:r>
              <a:rPr lang="en-US" altLang="zh-TW" b="1" dirty="0" smtClean="0"/>
              <a:t>a </a:t>
            </a:r>
            <a:r>
              <a:rPr lang="en-US" altLang="zh-TW" b="1" dirty="0"/>
              <a:t>pair of amino acids, one from each protein. All possible pairs are represented by a two-dimensional array, and all possible comparisons are represented by pathways through the array. For this maximum match only certain of the possible pathways must be evaluated. A numerical value, one in this case, is assigned to every cell in the array representing like amino acids. The maximum match is the largest number that would result from summing the cell values of every pathway.</a:t>
            </a:r>
          </a:p>
          <a:p>
            <a:endParaRPr lang="zh-TW" altLang="en-US" sz="2400" dirty="0"/>
          </a:p>
        </p:txBody>
      </p:sp>
      <p:sp>
        <p:nvSpPr>
          <p:cNvPr id="4" name="標題 1"/>
          <p:cNvSpPr txBox="1">
            <a:spLocks/>
          </p:cNvSpPr>
          <p:nvPr/>
        </p:nvSpPr>
        <p:spPr>
          <a:xfrm>
            <a:off x="628650" y="378573"/>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zh-TW" b="1" dirty="0" smtClean="0">
                <a:latin typeface="Gungsuh" panose="02030600000101010101" pitchFamily="18" charset="-127"/>
                <a:ea typeface="Gungsuh" panose="02030600000101010101" pitchFamily="18" charset="-127"/>
              </a:rPr>
              <a:t>Abstract</a:t>
            </a:r>
            <a:r>
              <a:rPr lang="en-US" altLang="zh-TW" dirty="0" smtClean="0">
                <a:latin typeface="Gungsuh" panose="02030600000101010101" pitchFamily="18" charset="-127"/>
                <a:ea typeface="Gungsuh" panose="02030600000101010101" pitchFamily="18" charset="-127"/>
              </a:rPr>
              <a:t> </a:t>
            </a:r>
            <a:endParaRPr lang="zh-TW" altLang="en-US" dirty="0">
              <a:latin typeface="Gungsuh" panose="02030600000101010101" pitchFamily="18" charset="-127"/>
              <a:ea typeface="Gungsuh" panose="02030600000101010101" pitchFamily="18" charset="-127"/>
            </a:endParaRPr>
          </a:p>
        </p:txBody>
      </p:sp>
    </p:spTree>
    <p:extLst>
      <p:ext uri="{BB962C8B-B14F-4D97-AF65-F5344CB8AC3E}">
        <p14:creationId xmlns:p14="http://schemas.microsoft.com/office/powerpoint/2010/main" val="3969924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p:cNvGraphicFramePr>
          <p:nvPr>
            <p:extLst>
              <p:ext uri="{D42A27DB-BD31-4B8C-83A1-F6EECF244321}">
                <p14:modId xmlns:p14="http://schemas.microsoft.com/office/powerpoint/2010/main" val="1509399723"/>
              </p:ext>
            </p:extLst>
          </p:nvPr>
        </p:nvGraphicFramePr>
        <p:xfrm>
          <a:off x="571500" y="1909481"/>
          <a:ext cx="7762315" cy="4330430"/>
        </p:xfrm>
        <a:graphic>
          <a:graphicData uri="http://schemas.openxmlformats.org/drawingml/2006/table">
            <a:tbl>
              <a:tblPr firstRow="1" firstCol="1" bandRow="1">
                <a:tableStyleId>{5C22544A-7EE6-4342-B048-85BDC9FD1C3A}</a:tableStyleId>
              </a:tblPr>
              <a:tblGrid>
                <a:gridCol w="539882"/>
                <a:gridCol w="558594"/>
                <a:gridCol w="556723"/>
                <a:gridCol w="556723"/>
                <a:gridCol w="560466"/>
                <a:gridCol w="550175"/>
                <a:gridCol w="556723"/>
                <a:gridCol w="561402"/>
                <a:gridCol w="556723"/>
                <a:gridCol w="552981"/>
                <a:gridCol w="556723"/>
                <a:gridCol w="557659"/>
                <a:gridCol w="556723"/>
                <a:gridCol w="540818"/>
              </a:tblGrid>
              <a:tr h="333110">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3110">
                <a:tc>
                  <a:txBody>
                    <a:bodyPr/>
                    <a:lstStyle/>
                    <a:p>
                      <a:pPr>
                        <a:spcAft>
                          <a:spcPts val="0"/>
                        </a:spcAft>
                      </a:pPr>
                      <a:r>
                        <a:rPr lang="en-US" sz="1800" kern="100">
                          <a:effectLst/>
                        </a:rPr>
                        <a:t>A</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r>
              <a:tr h="333110">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r>
              <a:tr h="333110">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r>
              <a:tr h="333110">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r>
              <a:tr h="333110">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r>
              <a:tr h="333110">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r>
              <a:tr h="333110">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r>
              <a:tr h="333110">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r>
              <a:tr h="333110">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r>
              <a:tr h="333110">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r>
              <a:tr h="333110">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r>
              <a:tr h="333110">
                <a:tc>
                  <a:txBody>
                    <a:bodyPr/>
                    <a:lstStyle/>
                    <a:p>
                      <a:pPr>
                        <a:spcAft>
                          <a:spcPts val="0"/>
                        </a:spcAft>
                      </a:pPr>
                      <a:r>
                        <a:rPr lang="en-US" sz="1800" kern="100" dirty="0">
                          <a:effectLst/>
                        </a:rPr>
                        <a:t>P</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r>
                        <a:rPr lang="en-US" altLang="zh-TW" sz="1800" dirty="0" smtClean="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a:txBody>
                  <a:tcPr marL="68580" marR="68580" marT="0" marB="0"/>
                </a:tc>
                <a:tc>
                  <a:txBody>
                    <a:bodyPr/>
                    <a:lstStyle/>
                    <a:p>
                      <a:pPr algn="l"/>
                      <a:endParaRPr lang="zh-TW" altLang="en-US" sz="1800" dirty="0">
                        <a:latin typeface="微軟正黑體" panose="020B0604030504040204" pitchFamily="34" charset="-120"/>
                        <a:ea typeface="微軟正黑體" panose="020B0604030504040204" pitchFamily="34" charset="-120"/>
                      </a:endParaRPr>
                    </a:p>
                  </a:txBody>
                  <a:tcPr marL="68580" marR="68580" marT="0" marB="0"/>
                </a:tc>
              </a:tr>
            </a:tbl>
          </a:graphicData>
        </a:graphic>
      </p:graphicFrame>
    </p:spTree>
    <p:extLst>
      <p:ext uri="{BB962C8B-B14F-4D97-AF65-F5344CB8AC3E}">
        <p14:creationId xmlns:p14="http://schemas.microsoft.com/office/powerpoint/2010/main" val="3942778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53009" y="109632"/>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1891610080"/>
              </p:ext>
            </p:extLst>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A</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dirty="0"/>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dirty="0"/>
                    </a:p>
                  </a:txBody>
                  <a:tcPr marL="68580" marR="68580" marT="0" marB="0"/>
                </a:tc>
                <a:tc>
                  <a:txBody>
                    <a:bodyPr/>
                    <a:lstStyle/>
                    <a:p>
                      <a:pPr>
                        <a:spcAft>
                          <a:spcPts val="0"/>
                        </a:spcAft>
                      </a:pPr>
                      <a:r>
                        <a:rPr lang="en-US" sz="1800" kern="100" dirty="0" smtClean="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sp>
        <p:nvSpPr>
          <p:cNvPr id="3" name="框架 2"/>
          <p:cNvSpPr/>
          <p:nvPr/>
        </p:nvSpPr>
        <p:spPr>
          <a:xfrm>
            <a:off x="3926541" y="3697941"/>
            <a:ext cx="551330" cy="268941"/>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7" name="直線接點 6"/>
          <p:cNvCxnSpPr/>
          <p:nvPr/>
        </p:nvCxnSpPr>
        <p:spPr>
          <a:xfrm flipV="1">
            <a:off x="4462743" y="3993776"/>
            <a:ext cx="3877793" cy="13448"/>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線接點 10"/>
          <p:cNvCxnSpPr>
            <a:endCxn id="4" idx="2"/>
          </p:cNvCxnSpPr>
          <p:nvPr/>
        </p:nvCxnSpPr>
        <p:spPr>
          <a:xfrm>
            <a:off x="4477871" y="3966882"/>
            <a:ext cx="18488" cy="2030517"/>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p:nvPr/>
        </p:nvCxnSpPr>
        <p:spPr>
          <a:xfrm>
            <a:off x="5047689" y="4343400"/>
            <a:ext cx="3307975" cy="13447"/>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線接點 14"/>
          <p:cNvCxnSpPr/>
          <p:nvPr/>
        </p:nvCxnSpPr>
        <p:spPr>
          <a:xfrm>
            <a:off x="8337176" y="3966882"/>
            <a:ext cx="18489" cy="376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線接點 20"/>
          <p:cNvCxnSpPr/>
          <p:nvPr/>
        </p:nvCxnSpPr>
        <p:spPr>
          <a:xfrm>
            <a:off x="5029201" y="4343400"/>
            <a:ext cx="18488" cy="1653999"/>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p:nvPr/>
        </p:nvCxnSpPr>
        <p:spPr>
          <a:xfrm>
            <a:off x="4496359" y="5997399"/>
            <a:ext cx="551330" cy="0"/>
          </a:xfrm>
          <a:prstGeom prst="line">
            <a:avLst/>
          </a:prstGeom>
        </p:spPr>
        <p:style>
          <a:lnRef idx="3">
            <a:schemeClr val="accent2"/>
          </a:lnRef>
          <a:fillRef idx="0">
            <a:schemeClr val="accent2"/>
          </a:fillRef>
          <a:effectRef idx="2">
            <a:schemeClr val="accent2"/>
          </a:effectRef>
          <a:fontRef idx="minor">
            <a:schemeClr val="tx1"/>
          </a:fontRef>
        </p:style>
      </p:cxnSp>
      <p:sp>
        <p:nvSpPr>
          <p:cNvPr id="24" name="框架 23"/>
          <p:cNvSpPr/>
          <p:nvPr/>
        </p:nvSpPr>
        <p:spPr>
          <a:xfrm>
            <a:off x="5047689" y="3980330"/>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graphicFrame>
        <p:nvGraphicFramePr>
          <p:cNvPr id="25" name="表格 24"/>
          <p:cNvGraphicFramePr>
            <a:graphicFrameLocks noGrp="1"/>
          </p:cNvGraphicFramePr>
          <p:nvPr>
            <p:extLst>
              <p:ext uri="{D42A27DB-BD31-4B8C-83A1-F6EECF244321}">
                <p14:modId xmlns:p14="http://schemas.microsoft.com/office/powerpoint/2010/main" val="1636762753"/>
              </p:ext>
            </p:extLst>
          </p:nvPr>
        </p:nvGraphicFramePr>
        <p:xfrm>
          <a:off x="3926541" y="3683150"/>
          <a:ext cx="569818" cy="297180"/>
        </p:xfrm>
        <a:graphic>
          <a:graphicData uri="http://schemas.openxmlformats.org/drawingml/2006/table">
            <a:tbl>
              <a:tblPr firstRow="1" bandRow="1">
                <a:tableStyleId>{5C22544A-7EE6-4342-B048-85BDC9FD1C3A}</a:tableStyleId>
              </a:tblPr>
              <a:tblGrid>
                <a:gridCol w="569818"/>
              </a:tblGrid>
              <a:tr h="295835">
                <a:tc>
                  <a:txBody>
                    <a:bodyPr/>
                    <a:lstStyle/>
                    <a:p>
                      <a:r>
                        <a:rPr lang="en-US" altLang="zh-TW" dirty="0" smtClean="0"/>
                        <a:t>5</a:t>
                      </a:r>
                      <a:endParaRPr lang="zh-TW" altLang="en-US" dirty="0"/>
                    </a:p>
                  </a:txBody>
                  <a:tcPr/>
                </a:tc>
              </a:tr>
            </a:tbl>
          </a:graphicData>
        </a:graphic>
      </p:graphicFrame>
      <p:pic>
        <p:nvPicPr>
          <p:cNvPr id="6" name="圖片 5"/>
          <p:cNvPicPr>
            <a:picLocks noChangeAspect="1"/>
          </p:cNvPicPr>
          <p:nvPr/>
        </p:nvPicPr>
        <p:blipFill>
          <a:blip r:embed="rId2"/>
          <a:stretch>
            <a:fillRect/>
          </a:stretch>
        </p:blipFill>
        <p:spPr>
          <a:xfrm>
            <a:off x="1671821" y="6229628"/>
            <a:ext cx="5333723" cy="384647"/>
          </a:xfrm>
          <a:prstGeom prst="rect">
            <a:avLst/>
          </a:prstGeom>
        </p:spPr>
      </p:pic>
      <p:sp>
        <p:nvSpPr>
          <p:cNvPr id="5" name="文字方塊 4"/>
          <p:cNvSpPr txBox="1"/>
          <p:nvPr/>
        </p:nvSpPr>
        <p:spPr>
          <a:xfrm>
            <a:off x="7122016" y="6229628"/>
            <a:ext cx="1609859" cy="369332"/>
          </a:xfrm>
          <a:prstGeom prst="rect">
            <a:avLst/>
          </a:prstGeom>
          <a:noFill/>
        </p:spPr>
        <p:txBody>
          <a:bodyPr wrap="square" rtlCol="0">
            <a:spAutoFit/>
          </a:bodyPr>
          <a:lstStyle/>
          <a:p>
            <a:r>
              <a:rPr lang="en-US" altLang="zh-TW" dirty="0" smtClean="0"/>
              <a:t>Gap penalty=0</a:t>
            </a:r>
            <a:endParaRPr lang="zh-TW" altLang="en-US" dirty="0"/>
          </a:p>
        </p:txBody>
      </p:sp>
    </p:spTree>
    <p:extLst>
      <p:ext uri="{BB962C8B-B14F-4D97-AF65-F5344CB8AC3E}">
        <p14:creationId xmlns:p14="http://schemas.microsoft.com/office/powerpoint/2010/main" val="261435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7"/>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5"/>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3"/>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1"/>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23"/>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1"/>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2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4" grpId="0" animBg="1"/>
      <p:bldP spid="24"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78573"/>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2187420716"/>
              </p:ext>
            </p:extLst>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A</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dirty="0"/>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dirty="0"/>
                    </a:p>
                  </a:txBody>
                  <a:tcPr marL="68580" marR="68580" marT="0" marB="0"/>
                </a:tc>
                <a:tc>
                  <a:txBody>
                    <a:bodyPr/>
                    <a:lstStyle/>
                    <a:p>
                      <a:pPr>
                        <a:spcAft>
                          <a:spcPts val="0"/>
                        </a:spcAft>
                      </a:pPr>
                      <a:r>
                        <a:rPr lang="en-US" sz="1800" kern="100" dirty="0" smtClean="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7" name="直線接點 6"/>
          <p:cNvCxnSpPr/>
          <p:nvPr/>
        </p:nvCxnSpPr>
        <p:spPr>
          <a:xfrm flipV="1">
            <a:off x="3960996" y="3993776"/>
            <a:ext cx="4379540" cy="13448"/>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線接點 10"/>
          <p:cNvCxnSpPr/>
          <p:nvPr/>
        </p:nvCxnSpPr>
        <p:spPr>
          <a:xfrm>
            <a:off x="3939988" y="4007224"/>
            <a:ext cx="5879" cy="1990175"/>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p:nvPr/>
        </p:nvCxnSpPr>
        <p:spPr>
          <a:xfrm>
            <a:off x="4487534" y="4356845"/>
            <a:ext cx="3868130" cy="2"/>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線接點 14"/>
          <p:cNvCxnSpPr/>
          <p:nvPr/>
        </p:nvCxnSpPr>
        <p:spPr>
          <a:xfrm>
            <a:off x="8337176" y="3966882"/>
            <a:ext cx="18489" cy="376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線接點 20"/>
          <p:cNvCxnSpPr/>
          <p:nvPr/>
        </p:nvCxnSpPr>
        <p:spPr>
          <a:xfrm>
            <a:off x="4493838" y="4343400"/>
            <a:ext cx="18488" cy="1653999"/>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p:nvPr/>
        </p:nvCxnSpPr>
        <p:spPr>
          <a:xfrm>
            <a:off x="3960996" y="5983963"/>
            <a:ext cx="551330" cy="0"/>
          </a:xfrm>
          <a:prstGeom prst="line">
            <a:avLst/>
          </a:prstGeom>
        </p:spPr>
        <p:style>
          <a:lnRef idx="3">
            <a:schemeClr val="accent2"/>
          </a:lnRef>
          <a:fillRef idx="0">
            <a:schemeClr val="accent2"/>
          </a:fillRef>
          <a:effectRef idx="2">
            <a:schemeClr val="accent2"/>
          </a:effectRef>
          <a:fontRef idx="minor">
            <a:schemeClr val="tx1"/>
          </a:fontRef>
        </p:style>
      </p:cxnSp>
      <p:sp>
        <p:nvSpPr>
          <p:cNvPr id="24" name="框架 23"/>
          <p:cNvSpPr/>
          <p:nvPr/>
        </p:nvSpPr>
        <p:spPr>
          <a:xfrm>
            <a:off x="5047689" y="3980330"/>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graphicFrame>
        <p:nvGraphicFramePr>
          <p:cNvPr id="25" name="表格 24"/>
          <p:cNvGraphicFramePr>
            <a:graphicFrameLocks noGrp="1"/>
          </p:cNvGraphicFramePr>
          <p:nvPr>
            <p:extLst>
              <p:ext uri="{D42A27DB-BD31-4B8C-83A1-F6EECF244321}">
                <p14:modId xmlns:p14="http://schemas.microsoft.com/office/powerpoint/2010/main" val="2655599025"/>
              </p:ext>
            </p:extLst>
          </p:nvPr>
        </p:nvGraphicFramePr>
        <p:xfrm>
          <a:off x="3402102" y="3683149"/>
          <a:ext cx="569818" cy="297180"/>
        </p:xfrm>
        <a:graphic>
          <a:graphicData uri="http://schemas.openxmlformats.org/drawingml/2006/table">
            <a:tbl>
              <a:tblPr firstRow="1" bandRow="1">
                <a:tableStyleId>{5C22544A-7EE6-4342-B048-85BDC9FD1C3A}</a:tableStyleId>
              </a:tblPr>
              <a:tblGrid>
                <a:gridCol w="569818"/>
              </a:tblGrid>
              <a:tr h="295835">
                <a:tc>
                  <a:txBody>
                    <a:bodyPr/>
                    <a:lstStyle/>
                    <a:p>
                      <a:r>
                        <a:rPr lang="en-US" altLang="zh-TW" dirty="0" smtClean="0"/>
                        <a:t>4</a:t>
                      </a:r>
                      <a:endParaRPr lang="zh-TW" altLang="en-US" dirty="0"/>
                    </a:p>
                  </a:txBody>
                  <a:tcPr/>
                </a:tc>
              </a:tr>
            </a:tbl>
          </a:graphicData>
        </a:graphic>
      </p:graphicFrame>
      <p:sp>
        <p:nvSpPr>
          <p:cNvPr id="12" name="框架 11"/>
          <p:cNvSpPr/>
          <p:nvPr/>
        </p:nvSpPr>
        <p:spPr>
          <a:xfrm>
            <a:off x="3402102" y="3662515"/>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1324069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7"/>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21"/>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23"/>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1"/>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24"/>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12" grpId="0" animBg="1"/>
      <p:bldP spid="12"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78573"/>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2321400000"/>
              </p:ext>
            </p:extLst>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A</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dirty="0" smtClean="0"/>
                        <a:t>1</a:t>
                      </a:r>
                      <a:endParaRPr lang="zh-TW" altLang="en-US" dirty="0"/>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endParaRPr lang="zh-TW" altLang="en-US"/>
                    </a:p>
                  </a:txBody>
                  <a:tcPr marL="68580" marR="68580" marT="0" marB="0"/>
                </a:tc>
                <a:tc>
                  <a:txBody>
                    <a:bodyPr/>
                    <a:lstStyle/>
                    <a:p>
                      <a:r>
                        <a:rPr lang="en-US" altLang="zh-TW" dirty="0" smtClean="0"/>
                        <a:t>1</a:t>
                      </a:r>
                      <a:endParaRPr lang="zh-TW" altLang="en-US" dirty="0"/>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pPr>
                        <a:spcAft>
                          <a:spcPts val="0"/>
                        </a:spcAft>
                      </a:pPr>
                      <a:r>
                        <a:rPr lang="en-US" sz="1800" kern="100" dirty="0" smtClean="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7" name="直線接點 6"/>
          <p:cNvCxnSpPr/>
          <p:nvPr/>
        </p:nvCxnSpPr>
        <p:spPr>
          <a:xfrm flipV="1">
            <a:off x="3939988" y="2689400"/>
            <a:ext cx="4379540" cy="13448"/>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線接點 10"/>
          <p:cNvCxnSpPr/>
          <p:nvPr/>
        </p:nvCxnSpPr>
        <p:spPr>
          <a:xfrm>
            <a:off x="3939988" y="2702848"/>
            <a:ext cx="5879" cy="3294551"/>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p:nvPr/>
        </p:nvCxnSpPr>
        <p:spPr>
          <a:xfrm>
            <a:off x="4487535" y="3008512"/>
            <a:ext cx="3868130" cy="2"/>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線接點 14"/>
          <p:cNvCxnSpPr/>
          <p:nvPr/>
        </p:nvCxnSpPr>
        <p:spPr>
          <a:xfrm>
            <a:off x="8355665" y="2662506"/>
            <a:ext cx="18489" cy="376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線接點 20"/>
          <p:cNvCxnSpPr/>
          <p:nvPr/>
        </p:nvCxnSpPr>
        <p:spPr>
          <a:xfrm>
            <a:off x="4491318" y="3008512"/>
            <a:ext cx="21008" cy="2988887"/>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p:nvPr/>
        </p:nvCxnSpPr>
        <p:spPr>
          <a:xfrm>
            <a:off x="3960996" y="5983963"/>
            <a:ext cx="551330" cy="0"/>
          </a:xfrm>
          <a:prstGeom prst="line">
            <a:avLst/>
          </a:prstGeom>
        </p:spPr>
        <p:style>
          <a:lnRef idx="3">
            <a:schemeClr val="accent2"/>
          </a:lnRef>
          <a:fillRef idx="0">
            <a:schemeClr val="accent2"/>
          </a:fillRef>
          <a:effectRef idx="2">
            <a:schemeClr val="accent2"/>
          </a:effectRef>
          <a:fontRef idx="minor">
            <a:schemeClr val="tx1"/>
          </a:fontRef>
        </p:style>
      </p:cxnSp>
      <p:sp>
        <p:nvSpPr>
          <p:cNvPr id="24" name="框架 23"/>
          <p:cNvSpPr/>
          <p:nvPr/>
        </p:nvSpPr>
        <p:spPr>
          <a:xfrm>
            <a:off x="3936204" y="3630709"/>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graphicFrame>
        <p:nvGraphicFramePr>
          <p:cNvPr id="25" name="表格 24"/>
          <p:cNvGraphicFramePr>
            <a:graphicFrameLocks noGrp="1"/>
          </p:cNvGraphicFramePr>
          <p:nvPr>
            <p:extLst>
              <p:ext uri="{D42A27DB-BD31-4B8C-83A1-F6EECF244321}">
                <p14:modId xmlns:p14="http://schemas.microsoft.com/office/powerpoint/2010/main" val="4025962744"/>
              </p:ext>
            </p:extLst>
          </p:nvPr>
        </p:nvGraphicFramePr>
        <p:xfrm>
          <a:off x="3352102" y="2398944"/>
          <a:ext cx="569818" cy="297180"/>
        </p:xfrm>
        <a:graphic>
          <a:graphicData uri="http://schemas.openxmlformats.org/drawingml/2006/table">
            <a:tbl>
              <a:tblPr firstRow="1" bandRow="1">
                <a:tableStyleId>{5C22544A-7EE6-4342-B048-85BDC9FD1C3A}</a:tableStyleId>
              </a:tblPr>
              <a:tblGrid>
                <a:gridCol w="569818"/>
              </a:tblGrid>
              <a:tr h="261896">
                <a:tc>
                  <a:txBody>
                    <a:bodyPr/>
                    <a:lstStyle/>
                    <a:p>
                      <a:r>
                        <a:rPr lang="en-US" altLang="zh-TW" dirty="0" smtClean="0"/>
                        <a:t>6</a:t>
                      </a:r>
                      <a:endParaRPr lang="zh-TW" altLang="en-US" dirty="0"/>
                    </a:p>
                  </a:txBody>
                  <a:tcPr/>
                </a:tc>
              </a:tr>
            </a:tbl>
          </a:graphicData>
        </a:graphic>
      </p:graphicFrame>
      <p:sp>
        <p:nvSpPr>
          <p:cNvPr id="14" name="框架 13"/>
          <p:cNvSpPr/>
          <p:nvPr/>
        </p:nvSpPr>
        <p:spPr>
          <a:xfrm>
            <a:off x="3370590" y="2356719"/>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728048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7"/>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21"/>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23"/>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1"/>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24"/>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14" grpId="0" animBg="1"/>
      <p:bldP spid="14"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78573"/>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N</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A</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dirty="0" smtClean="0"/>
                        <a:t>1</a:t>
                      </a:r>
                      <a:endParaRPr lang="zh-TW" altLang="en-US" dirty="0"/>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pPr>
                        <a:spcAft>
                          <a:spcPts val="0"/>
                        </a:spcAft>
                      </a:pPr>
                      <a:r>
                        <a:rPr lang="en-US" sz="1800" kern="100" dirty="0" smtClean="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7" name="直線接點 6"/>
          <p:cNvCxnSpPr/>
          <p:nvPr/>
        </p:nvCxnSpPr>
        <p:spPr>
          <a:xfrm flipV="1">
            <a:off x="1728784" y="2326331"/>
            <a:ext cx="6586960" cy="13448"/>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線接點 10"/>
          <p:cNvCxnSpPr/>
          <p:nvPr/>
        </p:nvCxnSpPr>
        <p:spPr>
          <a:xfrm>
            <a:off x="1728784" y="2339779"/>
            <a:ext cx="5879" cy="3629564"/>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p:nvPr/>
        </p:nvCxnSpPr>
        <p:spPr>
          <a:xfrm flipV="1">
            <a:off x="2259106" y="2688870"/>
            <a:ext cx="6096559" cy="8543"/>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線接點 14"/>
          <p:cNvCxnSpPr/>
          <p:nvPr/>
        </p:nvCxnSpPr>
        <p:spPr>
          <a:xfrm>
            <a:off x="8346420" y="2339779"/>
            <a:ext cx="9245" cy="363069"/>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線接點 20"/>
          <p:cNvCxnSpPr/>
          <p:nvPr/>
        </p:nvCxnSpPr>
        <p:spPr>
          <a:xfrm>
            <a:off x="2259106" y="2702848"/>
            <a:ext cx="21008" cy="3266495"/>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p:nvPr/>
        </p:nvCxnSpPr>
        <p:spPr>
          <a:xfrm>
            <a:off x="1728784" y="5969343"/>
            <a:ext cx="551330" cy="0"/>
          </a:xfrm>
          <a:prstGeom prst="line">
            <a:avLst/>
          </a:prstGeom>
        </p:spPr>
        <p:style>
          <a:lnRef idx="3">
            <a:schemeClr val="accent2"/>
          </a:lnRef>
          <a:fillRef idx="0">
            <a:schemeClr val="accent2"/>
          </a:fillRef>
          <a:effectRef idx="2">
            <a:schemeClr val="accent2"/>
          </a:effectRef>
          <a:fontRef idx="minor">
            <a:schemeClr val="tx1"/>
          </a:fontRef>
        </p:style>
      </p:cxnSp>
      <p:sp>
        <p:nvSpPr>
          <p:cNvPr id="24" name="框架 23"/>
          <p:cNvSpPr/>
          <p:nvPr/>
        </p:nvSpPr>
        <p:spPr>
          <a:xfrm>
            <a:off x="1707773" y="2319077"/>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graphicFrame>
        <p:nvGraphicFramePr>
          <p:cNvPr id="25" name="表格 24"/>
          <p:cNvGraphicFramePr>
            <a:graphicFrameLocks noGrp="1"/>
          </p:cNvGraphicFramePr>
          <p:nvPr>
            <p:extLst>
              <p:ext uri="{D42A27DB-BD31-4B8C-83A1-F6EECF244321}">
                <p14:modId xmlns:p14="http://schemas.microsoft.com/office/powerpoint/2010/main" val="1294359"/>
              </p:ext>
            </p:extLst>
          </p:nvPr>
        </p:nvGraphicFramePr>
        <p:xfrm>
          <a:off x="1164853" y="2025521"/>
          <a:ext cx="569818" cy="297180"/>
        </p:xfrm>
        <a:graphic>
          <a:graphicData uri="http://schemas.openxmlformats.org/drawingml/2006/table">
            <a:tbl>
              <a:tblPr firstRow="1" bandRow="1">
                <a:tableStyleId>{5C22544A-7EE6-4342-B048-85BDC9FD1C3A}</a:tableStyleId>
              </a:tblPr>
              <a:tblGrid>
                <a:gridCol w="569818"/>
              </a:tblGrid>
              <a:tr h="295835">
                <a:tc>
                  <a:txBody>
                    <a:bodyPr/>
                    <a:lstStyle/>
                    <a:p>
                      <a:r>
                        <a:rPr lang="en-US" altLang="zh-TW" dirty="0" smtClean="0"/>
                        <a:t>8</a:t>
                      </a:r>
                      <a:endParaRPr lang="zh-TW" altLang="en-US" dirty="0"/>
                    </a:p>
                  </a:txBody>
                  <a:tcPr/>
                </a:tc>
              </a:tr>
            </a:tbl>
          </a:graphicData>
        </a:graphic>
      </p:graphicFrame>
      <p:sp>
        <p:nvSpPr>
          <p:cNvPr id="14" name="框架 13"/>
          <p:cNvSpPr/>
          <p:nvPr/>
        </p:nvSpPr>
        <p:spPr>
          <a:xfrm>
            <a:off x="1177454" y="1962019"/>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1413786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7"/>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21"/>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23"/>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1"/>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24"/>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14" grpId="0" animBg="1"/>
      <p:bldP spid="14"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54408" y="391452"/>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A</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8</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7</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7</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7</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7</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13652135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78573"/>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693707511"/>
              </p:ext>
            </p:extLst>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A</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8</a:t>
                      </a:r>
                      <a:endParaRPr lang="zh-TW" altLang="en-US" sz="1800" dirty="0"/>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pPr>
                        <a:spcAft>
                          <a:spcPts val="0"/>
                        </a:spcAft>
                      </a:pPr>
                      <a:r>
                        <a:rPr lang="en-US" sz="1800" kern="100" dirty="0" smtClean="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7" name="直線接點 6"/>
          <p:cNvCxnSpPr/>
          <p:nvPr/>
        </p:nvCxnSpPr>
        <p:spPr>
          <a:xfrm>
            <a:off x="1196787" y="1999946"/>
            <a:ext cx="7163079" cy="48345"/>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線接點 10"/>
          <p:cNvCxnSpPr/>
          <p:nvPr/>
        </p:nvCxnSpPr>
        <p:spPr>
          <a:xfrm>
            <a:off x="1728784" y="2339779"/>
            <a:ext cx="5879" cy="3629564"/>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p:nvPr/>
        </p:nvCxnSpPr>
        <p:spPr>
          <a:xfrm flipV="1">
            <a:off x="1728784" y="2339772"/>
            <a:ext cx="6647889" cy="8542"/>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線接點 14"/>
          <p:cNvCxnSpPr/>
          <p:nvPr/>
        </p:nvCxnSpPr>
        <p:spPr>
          <a:xfrm>
            <a:off x="8359866" y="1985245"/>
            <a:ext cx="9245" cy="363069"/>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線接點 20"/>
          <p:cNvCxnSpPr/>
          <p:nvPr/>
        </p:nvCxnSpPr>
        <p:spPr>
          <a:xfrm flipH="1">
            <a:off x="1158114" y="2048291"/>
            <a:ext cx="25219" cy="3921052"/>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p:nvPr/>
        </p:nvCxnSpPr>
        <p:spPr>
          <a:xfrm>
            <a:off x="1158114" y="5969343"/>
            <a:ext cx="551330" cy="0"/>
          </a:xfrm>
          <a:prstGeom prst="line">
            <a:avLst/>
          </a:prstGeom>
        </p:spPr>
        <p:style>
          <a:lnRef idx="3">
            <a:schemeClr val="accent2"/>
          </a:lnRef>
          <a:fillRef idx="0">
            <a:schemeClr val="accent2"/>
          </a:fillRef>
          <a:effectRef idx="2">
            <a:schemeClr val="accent2"/>
          </a:effectRef>
          <a:fontRef idx="minor">
            <a:schemeClr val="tx1"/>
          </a:fontRef>
        </p:style>
      </p:cxnSp>
      <p:sp>
        <p:nvSpPr>
          <p:cNvPr id="24" name="框架 23"/>
          <p:cNvSpPr/>
          <p:nvPr/>
        </p:nvSpPr>
        <p:spPr>
          <a:xfrm>
            <a:off x="1170723" y="2004136"/>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92803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78573"/>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1483938060"/>
              </p:ext>
            </p:extLst>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dirty="0" smtClean="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8</a:t>
                      </a:r>
                      <a:endParaRPr lang="zh-TW" altLang="en-US" sz="1800" dirty="0"/>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pPr>
                        <a:spcAft>
                          <a:spcPts val="0"/>
                        </a:spcAft>
                      </a:pPr>
                      <a:r>
                        <a:rPr lang="en-US" sz="1800" kern="100" dirty="0" smtClean="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7" name="直線接點 6"/>
          <p:cNvCxnSpPr/>
          <p:nvPr/>
        </p:nvCxnSpPr>
        <p:spPr>
          <a:xfrm flipV="1">
            <a:off x="1728784" y="2326331"/>
            <a:ext cx="6586960" cy="13448"/>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線接點 10"/>
          <p:cNvCxnSpPr/>
          <p:nvPr/>
        </p:nvCxnSpPr>
        <p:spPr>
          <a:xfrm>
            <a:off x="1728784" y="2339779"/>
            <a:ext cx="5879" cy="3629564"/>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p:nvPr/>
        </p:nvCxnSpPr>
        <p:spPr>
          <a:xfrm flipV="1">
            <a:off x="2259106" y="2688870"/>
            <a:ext cx="6096559" cy="8543"/>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線接點 14"/>
          <p:cNvCxnSpPr/>
          <p:nvPr/>
        </p:nvCxnSpPr>
        <p:spPr>
          <a:xfrm>
            <a:off x="8346420" y="2339779"/>
            <a:ext cx="9245" cy="363069"/>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線接點 20"/>
          <p:cNvCxnSpPr/>
          <p:nvPr/>
        </p:nvCxnSpPr>
        <p:spPr>
          <a:xfrm>
            <a:off x="2259106" y="2702848"/>
            <a:ext cx="21008" cy="3266495"/>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p:nvPr/>
        </p:nvCxnSpPr>
        <p:spPr>
          <a:xfrm>
            <a:off x="1728784" y="5969343"/>
            <a:ext cx="551330" cy="0"/>
          </a:xfrm>
          <a:prstGeom prst="line">
            <a:avLst/>
          </a:prstGeom>
        </p:spPr>
        <p:style>
          <a:lnRef idx="3">
            <a:schemeClr val="accent2"/>
          </a:lnRef>
          <a:fillRef idx="0">
            <a:schemeClr val="accent2"/>
          </a:fillRef>
          <a:effectRef idx="2">
            <a:schemeClr val="accent2"/>
          </a:effectRef>
          <a:fontRef idx="minor">
            <a:schemeClr val="tx1"/>
          </a:fontRef>
        </p:style>
      </p:cxnSp>
      <p:sp>
        <p:nvSpPr>
          <p:cNvPr id="24" name="框架 23"/>
          <p:cNvSpPr/>
          <p:nvPr/>
        </p:nvSpPr>
        <p:spPr>
          <a:xfrm>
            <a:off x="1707773" y="2319077"/>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8" name="直線單箭頭接點 7"/>
          <p:cNvCxnSpPr/>
          <p:nvPr/>
        </p:nvCxnSpPr>
        <p:spPr>
          <a:xfrm>
            <a:off x="1573306" y="2319077"/>
            <a:ext cx="282388" cy="14173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902425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78573"/>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dirty="0" smtClean="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8</a:t>
                      </a:r>
                      <a:endParaRPr lang="zh-TW" altLang="en-US" sz="1800" dirty="0"/>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pPr>
                        <a:spcAft>
                          <a:spcPts val="0"/>
                        </a:spcAft>
                      </a:pPr>
                      <a:r>
                        <a:rPr lang="en-US" sz="1800" kern="100" dirty="0" smtClean="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7" name="直線接點 6"/>
          <p:cNvCxnSpPr/>
          <p:nvPr/>
        </p:nvCxnSpPr>
        <p:spPr>
          <a:xfrm flipV="1">
            <a:off x="2820940" y="3040623"/>
            <a:ext cx="5525480" cy="5881"/>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線接點 10"/>
          <p:cNvCxnSpPr/>
          <p:nvPr/>
        </p:nvCxnSpPr>
        <p:spPr>
          <a:xfrm>
            <a:off x="2831444" y="3056210"/>
            <a:ext cx="34456" cy="2913133"/>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p:nvPr/>
        </p:nvCxnSpPr>
        <p:spPr>
          <a:xfrm flipV="1">
            <a:off x="2259106" y="2688870"/>
            <a:ext cx="6096559" cy="8543"/>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線接點 14"/>
          <p:cNvCxnSpPr/>
          <p:nvPr/>
        </p:nvCxnSpPr>
        <p:spPr>
          <a:xfrm>
            <a:off x="8346420" y="2688870"/>
            <a:ext cx="9245" cy="363069"/>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線接點 20"/>
          <p:cNvCxnSpPr/>
          <p:nvPr/>
        </p:nvCxnSpPr>
        <p:spPr>
          <a:xfrm>
            <a:off x="2259106" y="2702848"/>
            <a:ext cx="21008" cy="3266495"/>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p:nvPr/>
        </p:nvCxnSpPr>
        <p:spPr>
          <a:xfrm>
            <a:off x="2280114" y="5969343"/>
            <a:ext cx="551330" cy="0"/>
          </a:xfrm>
          <a:prstGeom prst="line">
            <a:avLst/>
          </a:prstGeom>
        </p:spPr>
        <p:style>
          <a:lnRef idx="3">
            <a:schemeClr val="accent2"/>
          </a:lnRef>
          <a:fillRef idx="0">
            <a:schemeClr val="accent2"/>
          </a:fillRef>
          <a:effectRef idx="2">
            <a:schemeClr val="accent2"/>
          </a:effectRef>
          <a:fontRef idx="minor">
            <a:schemeClr val="tx1"/>
          </a:fontRef>
        </p:style>
      </p:cxnSp>
      <p:sp>
        <p:nvSpPr>
          <p:cNvPr id="24" name="框架 23"/>
          <p:cNvSpPr/>
          <p:nvPr/>
        </p:nvSpPr>
        <p:spPr>
          <a:xfrm>
            <a:off x="2269610" y="2693141"/>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8" name="直線單箭頭接點 7"/>
          <p:cNvCxnSpPr/>
          <p:nvPr/>
        </p:nvCxnSpPr>
        <p:spPr>
          <a:xfrm>
            <a:off x="2105936" y="2658343"/>
            <a:ext cx="282388" cy="14173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 name="直線單箭頭接點 13"/>
          <p:cNvCxnSpPr/>
          <p:nvPr/>
        </p:nvCxnSpPr>
        <p:spPr>
          <a:xfrm>
            <a:off x="1585983" y="2299754"/>
            <a:ext cx="282388" cy="14173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747927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78573"/>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dirty="0" smtClean="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8</a:t>
                      </a:r>
                      <a:endParaRPr lang="zh-TW" altLang="en-US" sz="1800" dirty="0"/>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pPr>
                        <a:spcAft>
                          <a:spcPts val="0"/>
                        </a:spcAft>
                      </a:pPr>
                      <a:r>
                        <a:rPr lang="en-US" sz="1800" kern="100" dirty="0" smtClean="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7" name="直線接點 6"/>
          <p:cNvCxnSpPr/>
          <p:nvPr/>
        </p:nvCxnSpPr>
        <p:spPr>
          <a:xfrm>
            <a:off x="2831444" y="3035507"/>
            <a:ext cx="5514976" cy="5117"/>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線接點 10"/>
          <p:cNvCxnSpPr/>
          <p:nvPr/>
        </p:nvCxnSpPr>
        <p:spPr>
          <a:xfrm>
            <a:off x="2831444" y="3056210"/>
            <a:ext cx="34456" cy="2913133"/>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p:nvPr/>
        </p:nvCxnSpPr>
        <p:spPr>
          <a:xfrm flipV="1">
            <a:off x="3402106" y="3385444"/>
            <a:ext cx="4953559" cy="8542"/>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線接點 14"/>
          <p:cNvCxnSpPr/>
          <p:nvPr/>
        </p:nvCxnSpPr>
        <p:spPr>
          <a:xfrm>
            <a:off x="8346420" y="3056210"/>
            <a:ext cx="9245" cy="363069"/>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線接點 20"/>
          <p:cNvCxnSpPr/>
          <p:nvPr/>
        </p:nvCxnSpPr>
        <p:spPr>
          <a:xfrm>
            <a:off x="3417230" y="3419279"/>
            <a:ext cx="25626" cy="2576426"/>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p:nvPr/>
        </p:nvCxnSpPr>
        <p:spPr>
          <a:xfrm>
            <a:off x="2891526" y="5969343"/>
            <a:ext cx="551330" cy="0"/>
          </a:xfrm>
          <a:prstGeom prst="line">
            <a:avLst/>
          </a:prstGeom>
        </p:spPr>
        <p:style>
          <a:lnRef idx="3">
            <a:schemeClr val="accent2"/>
          </a:lnRef>
          <a:fillRef idx="0">
            <a:schemeClr val="accent2"/>
          </a:fillRef>
          <a:effectRef idx="2">
            <a:schemeClr val="accent2"/>
          </a:effectRef>
          <a:fontRef idx="minor">
            <a:schemeClr val="tx1"/>
          </a:fontRef>
        </p:style>
      </p:cxnSp>
      <p:sp>
        <p:nvSpPr>
          <p:cNvPr id="24" name="框架 23"/>
          <p:cNvSpPr/>
          <p:nvPr/>
        </p:nvSpPr>
        <p:spPr>
          <a:xfrm>
            <a:off x="3402106" y="3029849"/>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8" name="直線單箭頭接點 7"/>
          <p:cNvCxnSpPr/>
          <p:nvPr/>
        </p:nvCxnSpPr>
        <p:spPr>
          <a:xfrm>
            <a:off x="2105936" y="2658343"/>
            <a:ext cx="282388" cy="14173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 name="直線單箭頭接點 13"/>
          <p:cNvCxnSpPr/>
          <p:nvPr/>
        </p:nvCxnSpPr>
        <p:spPr>
          <a:xfrm>
            <a:off x="1585983" y="2299754"/>
            <a:ext cx="282388" cy="14173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6" name="框架 15"/>
          <p:cNvSpPr/>
          <p:nvPr/>
        </p:nvSpPr>
        <p:spPr>
          <a:xfrm>
            <a:off x="2858338" y="3380854"/>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17" name="直線單箭頭接點 16"/>
          <p:cNvCxnSpPr/>
          <p:nvPr/>
        </p:nvCxnSpPr>
        <p:spPr>
          <a:xfrm>
            <a:off x="2717144" y="2893501"/>
            <a:ext cx="725712" cy="16270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8" name="直線單箭頭接點 17"/>
          <p:cNvCxnSpPr/>
          <p:nvPr/>
        </p:nvCxnSpPr>
        <p:spPr>
          <a:xfrm>
            <a:off x="2608729" y="2974855"/>
            <a:ext cx="322311" cy="44442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321918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78573"/>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dirty="0" smtClean="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8</a:t>
                      </a:r>
                      <a:endParaRPr lang="zh-TW" altLang="en-US" sz="1800" dirty="0"/>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pPr>
                        <a:spcAft>
                          <a:spcPts val="0"/>
                        </a:spcAft>
                      </a:pPr>
                      <a:r>
                        <a:rPr lang="en-US" sz="1800" kern="100" dirty="0" smtClean="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7" name="直線接點 6"/>
          <p:cNvCxnSpPr/>
          <p:nvPr/>
        </p:nvCxnSpPr>
        <p:spPr>
          <a:xfrm>
            <a:off x="4470080" y="3717562"/>
            <a:ext cx="3864568" cy="26360"/>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線接點 10"/>
          <p:cNvCxnSpPr>
            <a:endCxn id="4" idx="2"/>
          </p:cNvCxnSpPr>
          <p:nvPr/>
        </p:nvCxnSpPr>
        <p:spPr>
          <a:xfrm>
            <a:off x="4443802" y="3717562"/>
            <a:ext cx="52557" cy="2279837"/>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p:nvPr/>
        </p:nvCxnSpPr>
        <p:spPr>
          <a:xfrm flipV="1">
            <a:off x="3939548" y="3385444"/>
            <a:ext cx="4416117" cy="6068"/>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線接點 14"/>
          <p:cNvCxnSpPr/>
          <p:nvPr/>
        </p:nvCxnSpPr>
        <p:spPr>
          <a:xfrm>
            <a:off x="8334648" y="3380853"/>
            <a:ext cx="9245" cy="363069"/>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線接點 20"/>
          <p:cNvCxnSpPr/>
          <p:nvPr/>
        </p:nvCxnSpPr>
        <p:spPr>
          <a:xfrm>
            <a:off x="3913922" y="3392917"/>
            <a:ext cx="25626" cy="2576426"/>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p:nvPr/>
        </p:nvCxnSpPr>
        <p:spPr>
          <a:xfrm>
            <a:off x="3953436" y="5941298"/>
            <a:ext cx="551330" cy="0"/>
          </a:xfrm>
          <a:prstGeom prst="line">
            <a:avLst/>
          </a:prstGeom>
        </p:spPr>
        <p:style>
          <a:lnRef idx="3">
            <a:schemeClr val="accent2"/>
          </a:lnRef>
          <a:fillRef idx="0">
            <a:schemeClr val="accent2"/>
          </a:fillRef>
          <a:effectRef idx="2">
            <a:schemeClr val="accent2"/>
          </a:effectRef>
          <a:fontRef idx="minor">
            <a:schemeClr val="tx1"/>
          </a:fontRef>
        </p:style>
      </p:cxnSp>
      <p:sp>
        <p:nvSpPr>
          <p:cNvPr id="24" name="框架 23"/>
          <p:cNvSpPr/>
          <p:nvPr/>
        </p:nvSpPr>
        <p:spPr>
          <a:xfrm>
            <a:off x="3913922" y="3706903"/>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8" name="直線單箭頭接點 7"/>
          <p:cNvCxnSpPr/>
          <p:nvPr/>
        </p:nvCxnSpPr>
        <p:spPr>
          <a:xfrm>
            <a:off x="2105936" y="2658343"/>
            <a:ext cx="282388" cy="14173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 name="直線單箭頭接點 13"/>
          <p:cNvCxnSpPr/>
          <p:nvPr/>
        </p:nvCxnSpPr>
        <p:spPr>
          <a:xfrm>
            <a:off x="1585983" y="2299754"/>
            <a:ext cx="282388" cy="14173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7" name="直線單箭頭接點 16"/>
          <p:cNvCxnSpPr/>
          <p:nvPr/>
        </p:nvCxnSpPr>
        <p:spPr>
          <a:xfrm>
            <a:off x="2717144" y="2893501"/>
            <a:ext cx="725712" cy="16270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8" name="直線單箭頭接點 17"/>
          <p:cNvCxnSpPr/>
          <p:nvPr/>
        </p:nvCxnSpPr>
        <p:spPr>
          <a:xfrm>
            <a:off x="2608729" y="2974855"/>
            <a:ext cx="322311" cy="44442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9" name="直線單箭頭接點 28"/>
          <p:cNvCxnSpPr>
            <a:endCxn id="24" idx="0"/>
          </p:cNvCxnSpPr>
          <p:nvPr/>
        </p:nvCxnSpPr>
        <p:spPr>
          <a:xfrm>
            <a:off x="3684494" y="3197067"/>
            <a:ext cx="505093" cy="50983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627774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78573"/>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dirty="0" smtClean="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8</a:t>
                      </a:r>
                      <a:endParaRPr lang="zh-TW" altLang="en-US" sz="1800" dirty="0"/>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pPr>
                        <a:spcAft>
                          <a:spcPts val="0"/>
                        </a:spcAft>
                      </a:pPr>
                      <a:r>
                        <a:rPr lang="en-US" sz="1800" kern="100" dirty="0" smtClean="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7" name="直線接點 6"/>
          <p:cNvCxnSpPr/>
          <p:nvPr/>
        </p:nvCxnSpPr>
        <p:spPr>
          <a:xfrm>
            <a:off x="3403793" y="3674642"/>
            <a:ext cx="4930855" cy="69280"/>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線接點 10"/>
          <p:cNvCxnSpPr/>
          <p:nvPr/>
        </p:nvCxnSpPr>
        <p:spPr>
          <a:xfrm>
            <a:off x="3904677" y="4032111"/>
            <a:ext cx="13447" cy="1978468"/>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p:nvPr/>
        </p:nvCxnSpPr>
        <p:spPr>
          <a:xfrm flipV="1">
            <a:off x="3926735" y="4032111"/>
            <a:ext cx="4416117" cy="6068"/>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線接點 14"/>
          <p:cNvCxnSpPr/>
          <p:nvPr/>
        </p:nvCxnSpPr>
        <p:spPr>
          <a:xfrm>
            <a:off x="8334648" y="3730742"/>
            <a:ext cx="9245" cy="363069"/>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線接點 20"/>
          <p:cNvCxnSpPr/>
          <p:nvPr/>
        </p:nvCxnSpPr>
        <p:spPr>
          <a:xfrm>
            <a:off x="3403793" y="3674642"/>
            <a:ext cx="0" cy="2268210"/>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p:nvPr/>
        </p:nvCxnSpPr>
        <p:spPr>
          <a:xfrm>
            <a:off x="3362592" y="5940550"/>
            <a:ext cx="551330" cy="0"/>
          </a:xfrm>
          <a:prstGeom prst="line">
            <a:avLst/>
          </a:prstGeom>
        </p:spPr>
        <p:style>
          <a:lnRef idx="3">
            <a:schemeClr val="accent2"/>
          </a:lnRef>
          <a:fillRef idx="0">
            <a:schemeClr val="accent2"/>
          </a:fillRef>
          <a:effectRef idx="2">
            <a:schemeClr val="accent2"/>
          </a:effectRef>
          <a:fontRef idx="minor">
            <a:schemeClr val="tx1"/>
          </a:fontRef>
        </p:style>
      </p:cxnSp>
      <p:sp>
        <p:nvSpPr>
          <p:cNvPr id="24" name="框架 23"/>
          <p:cNvSpPr/>
          <p:nvPr/>
        </p:nvSpPr>
        <p:spPr>
          <a:xfrm>
            <a:off x="3913922" y="3666741"/>
            <a:ext cx="551330" cy="363069"/>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8" name="直線單箭頭接點 7"/>
          <p:cNvCxnSpPr/>
          <p:nvPr/>
        </p:nvCxnSpPr>
        <p:spPr>
          <a:xfrm>
            <a:off x="2105936" y="2658343"/>
            <a:ext cx="282388" cy="14173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 name="直線單箭頭接點 13"/>
          <p:cNvCxnSpPr/>
          <p:nvPr/>
        </p:nvCxnSpPr>
        <p:spPr>
          <a:xfrm>
            <a:off x="1585983" y="2299754"/>
            <a:ext cx="282388" cy="14173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7" name="直線單箭頭接點 16"/>
          <p:cNvCxnSpPr/>
          <p:nvPr/>
        </p:nvCxnSpPr>
        <p:spPr>
          <a:xfrm>
            <a:off x="2717144" y="2893501"/>
            <a:ext cx="725712" cy="16270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8" name="直線單箭頭接點 17"/>
          <p:cNvCxnSpPr/>
          <p:nvPr/>
        </p:nvCxnSpPr>
        <p:spPr>
          <a:xfrm>
            <a:off x="2608729" y="2974855"/>
            <a:ext cx="322311" cy="44442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9" name="直線單箭頭接點 28"/>
          <p:cNvCxnSpPr>
            <a:endCxn id="24" idx="0"/>
          </p:cNvCxnSpPr>
          <p:nvPr/>
        </p:nvCxnSpPr>
        <p:spPr>
          <a:xfrm>
            <a:off x="3684494" y="3156905"/>
            <a:ext cx="505093" cy="50983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2" name="直線單箭頭接點 11"/>
          <p:cNvCxnSpPr/>
          <p:nvPr/>
        </p:nvCxnSpPr>
        <p:spPr>
          <a:xfrm>
            <a:off x="3130434" y="3643558"/>
            <a:ext cx="1017118" cy="22333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908485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78573"/>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extLst/>
          </p:nvPr>
        </p:nvGraphicFramePr>
        <p:xfrm>
          <a:off x="628649" y="1704136"/>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A</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8</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6" name="直線單箭頭接點 5"/>
          <p:cNvCxnSpPr/>
          <p:nvPr/>
        </p:nvCxnSpPr>
        <p:spPr>
          <a:xfrm>
            <a:off x="1479176" y="2245659"/>
            <a:ext cx="322730" cy="14791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 name="直線單箭頭接點 7"/>
          <p:cNvCxnSpPr/>
          <p:nvPr/>
        </p:nvCxnSpPr>
        <p:spPr>
          <a:xfrm>
            <a:off x="2030506" y="2568388"/>
            <a:ext cx="309282" cy="1748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 name="直線單箭頭接點 9"/>
          <p:cNvCxnSpPr/>
          <p:nvPr/>
        </p:nvCxnSpPr>
        <p:spPr>
          <a:xfrm>
            <a:off x="2770094" y="2891118"/>
            <a:ext cx="712694" cy="17481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 name="直線單箭頭接點 11"/>
          <p:cNvCxnSpPr/>
          <p:nvPr/>
        </p:nvCxnSpPr>
        <p:spPr>
          <a:xfrm>
            <a:off x="2628899" y="2924734"/>
            <a:ext cx="282389" cy="52443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7" name="直線單箭頭接點 16"/>
          <p:cNvCxnSpPr/>
          <p:nvPr/>
        </p:nvCxnSpPr>
        <p:spPr>
          <a:xfrm>
            <a:off x="3644153" y="3213847"/>
            <a:ext cx="363071" cy="52443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9" name="直線單箭頭接點 18"/>
          <p:cNvCxnSpPr/>
          <p:nvPr/>
        </p:nvCxnSpPr>
        <p:spPr>
          <a:xfrm>
            <a:off x="3099547" y="3597088"/>
            <a:ext cx="907677" cy="28238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1" name="直線單箭頭接點 20"/>
          <p:cNvCxnSpPr/>
          <p:nvPr/>
        </p:nvCxnSpPr>
        <p:spPr>
          <a:xfrm>
            <a:off x="4289612" y="3879476"/>
            <a:ext cx="833717" cy="2487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3" name="直線單箭頭接點 22"/>
          <p:cNvCxnSpPr/>
          <p:nvPr/>
        </p:nvCxnSpPr>
        <p:spPr>
          <a:xfrm>
            <a:off x="5378824" y="4303059"/>
            <a:ext cx="309282" cy="12102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5" name="直線單箭頭接點 24"/>
          <p:cNvCxnSpPr/>
          <p:nvPr/>
        </p:nvCxnSpPr>
        <p:spPr>
          <a:xfrm>
            <a:off x="5916706" y="4598894"/>
            <a:ext cx="295835" cy="1748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7" name="直線單箭頭接點 26"/>
          <p:cNvCxnSpPr/>
          <p:nvPr/>
        </p:nvCxnSpPr>
        <p:spPr>
          <a:xfrm>
            <a:off x="6508376" y="4921624"/>
            <a:ext cx="255495" cy="18825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9" name="直線單箭頭接點 28"/>
          <p:cNvCxnSpPr/>
          <p:nvPr/>
        </p:nvCxnSpPr>
        <p:spPr>
          <a:xfrm>
            <a:off x="6979024" y="5257800"/>
            <a:ext cx="336176" cy="53788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5186850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78573"/>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4135329988"/>
              </p:ext>
            </p:extLst>
          </p:nvPr>
        </p:nvGraphicFramePr>
        <p:xfrm>
          <a:off x="628650" y="1386084"/>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A</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8</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dirty="0">
                          <a:effectLst/>
                        </a:rPr>
                        <a:t>P</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6" name="直線單箭頭接點 5"/>
          <p:cNvCxnSpPr/>
          <p:nvPr/>
        </p:nvCxnSpPr>
        <p:spPr>
          <a:xfrm>
            <a:off x="1479177" y="1927607"/>
            <a:ext cx="322730" cy="14791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 name="直線單箭頭接點 7"/>
          <p:cNvCxnSpPr/>
          <p:nvPr/>
        </p:nvCxnSpPr>
        <p:spPr>
          <a:xfrm>
            <a:off x="2030507" y="2250336"/>
            <a:ext cx="309282" cy="1748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 name="直線單箭頭接點 9"/>
          <p:cNvCxnSpPr/>
          <p:nvPr/>
        </p:nvCxnSpPr>
        <p:spPr>
          <a:xfrm>
            <a:off x="2770095" y="2573066"/>
            <a:ext cx="712694" cy="17481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7" name="直線單箭頭接點 16"/>
          <p:cNvCxnSpPr/>
          <p:nvPr/>
        </p:nvCxnSpPr>
        <p:spPr>
          <a:xfrm>
            <a:off x="3644154" y="2895795"/>
            <a:ext cx="363071" cy="52443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1" name="直線單箭頭接點 20"/>
          <p:cNvCxnSpPr/>
          <p:nvPr/>
        </p:nvCxnSpPr>
        <p:spPr>
          <a:xfrm>
            <a:off x="4289613" y="3561424"/>
            <a:ext cx="833717" cy="2487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3" name="直線單箭頭接點 22"/>
          <p:cNvCxnSpPr/>
          <p:nvPr/>
        </p:nvCxnSpPr>
        <p:spPr>
          <a:xfrm>
            <a:off x="5378825" y="3985007"/>
            <a:ext cx="309282" cy="12102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5" name="直線單箭頭接點 24"/>
          <p:cNvCxnSpPr/>
          <p:nvPr/>
        </p:nvCxnSpPr>
        <p:spPr>
          <a:xfrm>
            <a:off x="5916707" y="4280842"/>
            <a:ext cx="295835" cy="1748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7" name="直線單箭頭接點 26"/>
          <p:cNvCxnSpPr/>
          <p:nvPr/>
        </p:nvCxnSpPr>
        <p:spPr>
          <a:xfrm>
            <a:off x="6508377" y="4603572"/>
            <a:ext cx="255495" cy="18825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9" name="直線單箭頭接點 28"/>
          <p:cNvCxnSpPr/>
          <p:nvPr/>
        </p:nvCxnSpPr>
        <p:spPr>
          <a:xfrm>
            <a:off x="6979025" y="4939748"/>
            <a:ext cx="336176" cy="53788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文字方塊 14"/>
          <p:cNvSpPr txBox="1"/>
          <p:nvPr/>
        </p:nvSpPr>
        <p:spPr>
          <a:xfrm>
            <a:off x="1781736" y="5800869"/>
            <a:ext cx="3832412" cy="369332"/>
          </a:xfrm>
          <a:prstGeom prst="rect">
            <a:avLst/>
          </a:prstGeom>
          <a:noFill/>
        </p:spPr>
        <p:txBody>
          <a:bodyPr wrap="square" rtlCol="0">
            <a:spAutoFit/>
          </a:bodyPr>
          <a:lstStyle/>
          <a:p>
            <a:r>
              <a:rPr lang="en-US" altLang="zh-TW" b="1" dirty="0" smtClean="0">
                <a:solidFill>
                  <a:srgbClr val="00B050"/>
                </a:solidFill>
              </a:rPr>
              <a:t>A B C N J _ R O  C L C R _  P M</a:t>
            </a:r>
          </a:p>
        </p:txBody>
      </p:sp>
      <p:sp>
        <p:nvSpPr>
          <p:cNvPr id="16" name="文字方塊 15"/>
          <p:cNvSpPr txBox="1"/>
          <p:nvPr/>
        </p:nvSpPr>
        <p:spPr>
          <a:xfrm>
            <a:off x="1744756" y="6224452"/>
            <a:ext cx="3906371" cy="369332"/>
          </a:xfrm>
          <a:prstGeom prst="rect">
            <a:avLst/>
          </a:prstGeom>
          <a:noFill/>
        </p:spPr>
        <p:txBody>
          <a:bodyPr wrap="square" rtlCol="0">
            <a:spAutoFit/>
          </a:bodyPr>
          <a:lstStyle/>
          <a:p>
            <a:r>
              <a:rPr lang="en-US" altLang="zh-TW" b="1" dirty="0" smtClean="0">
                <a:solidFill>
                  <a:srgbClr val="00B050"/>
                </a:solidFill>
              </a:rPr>
              <a:t>A J  C _  J N R  _ C K C R B P _</a:t>
            </a:r>
          </a:p>
        </p:txBody>
      </p:sp>
      <p:cxnSp>
        <p:nvCxnSpPr>
          <p:cNvPr id="5" name="直線接點 4"/>
          <p:cNvCxnSpPr/>
          <p:nvPr/>
        </p:nvCxnSpPr>
        <p:spPr>
          <a:xfrm flipH="1">
            <a:off x="1921566" y="6056244"/>
            <a:ext cx="13252" cy="31805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flipH="1">
            <a:off x="2292626" y="6056244"/>
            <a:ext cx="13252"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2642701" y="6048879"/>
            <a:ext cx="7734" cy="285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flipH="1">
            <a:off x="2964564" y="6056244"/>
            <a:ext cx="13252"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flipH="1">
            <a:off x="3378496" y="6064148"/>
            <a:ext cx="19028" cy="27039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flipH="1">
            <a:off x="3693869" y="6044927"/>
            <a:ext cx="13252"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線接點 37"/>
          <p:cNvCxnSpPr/>
          <p:nvPr/>
        </p:nvCxnSpPr>
        <p:spPr>
          <a:xfrm flipH="1">
            <a:off x="3885323" y="6029739"/>
            <a:ext cx="13252"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線接點 38"/>
          <p:cNvCxnSpPr/>
          <p:nvPr/>
        </p:nvCxnSpPr>
        <p:spPr>
          <a:xfrm flipH="1">
            <a:off x="4271019" y="6064148"/>
            <a:ext cx="13252" cy="3048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2688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64256" y="316295"/>
            <a:ext cx="7886700" cy="1325563"/>
          </a:xfrm>
        </p:spPr>
        <p:txBody>
          <a:bodyPr/>
          <a:lstStyle/>
          <a:p>
            <a:r>
              <a:rPr lang="en-US" altLang="zh-TW" b="1" dirty="0" smtClean="0">
                <a:latin typeface="Gungsuh" panose="02030600000101010101" pitchFamily="18" charset="-127"/>
                <a:ea typeface="Gungsuh" panose="02030600000101010101" pitchFamily="18" charset="-127"/>
              </a:rPr>
              <a:t>A General Method </a:t>
            </a:r>
            <a:endParaRPr lang="zh-TW" altLang="en-US" b="1" dirty="0">
              <a:latin typeface="Gungsuh" panose="02030600000101010101" pitchFamily="18" charset="-127"/>
              <a:ea typeface="Gungsuh" panose="02030600000101010101" pitchFamily="18" charset="-127"/>
            </a:endParaRP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611757075"/>
              </p:ext>
            </p:extLst>
          </p:nvPr>
        </p:nvGraphicFramePr>
        <p:xfrm>
          <a:off x="628650" y="1359580"/>
          <a:ext cx="7735421" cy="4293263"/>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30251">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A</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8</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6</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J</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6</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K</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C</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B</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a:effectLst/>
                        </a:rPr>
                        <a:t>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bl>
          </a:graphicData>
        </a:graphic>
      </p:graphicFrame>
      <p:cxnSp>
        <p:nvCxnSpPr>
          <p:cNvPr id="6" name="直線單箭頭接點 5"/>
          <p:cNvCxnSpPr/>
          <p:nvPr/>
        </p:nvCxnSpPr>
        <p:spPr>
          <a:xfrm>
            <a:off x="1479177" y="1901103"/>
            <a:ext cx="322730" cy="14791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 name="直線單箭頭接點 7"/>
          <p:cNvCxnSpPr/>
          <p:nvPr/>
        </p:nvCxnSpPr>
        <p:spPr>
          <a:xfrm>
            <a:off x="2030507" y="2223832"/>
            <a:ext cx="309282" cy="1748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 name="直線單箭頭接點 11"/>
          <p:cNvCxnSpPr/>
          <p:nvPr/>
        </p:nvCxnSpPr>
        <p:spPr>
          <a:xfrm>
            <a:off x="2628900" y="2580178"/>
            <a:ext cx="282389" cy="52443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9" name="直線單箭頭接點 18"/>
          <p:cNvCxnSpPr/>
          <p:nvPr/>
        </p:nvCxnSpPr>
        <p:spPr>
          <a:xfrm>
            <a:off x="3099548" y="3252532"/>
            <a:ext cx="907677" cy="28238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1" name="直線單箭頭接點 20"/>
          <p:cNvCxnSpPr/>
          <p:nvPr/>
        </p:nvCxnSpPr>
        <p:spPr>
          <a:xfrm>
            <a:off x="4289613" y="3534920"/>
            <a:ext cx="833717" cy="2487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3" name="直線單箭頭接點 22"/>
          <p:cNvCxnSpPr/>
          <p:nvPr/>
        </p:nvCxnSpPr>
        <p:spPr>
          <a:xfrm>
            <a:off x="5378825" y="3958503"/>
            <a:ext cx="309282" cy="12102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5" name="直線單箭頭接點 24"/>
          <p:cNvCxnSpPr/>
          <p:nvPr/>
        </p:nvCxnSpPr>
        <p:spPr>
          <a:xfrm>
            <a:off x="5916707" y="4254338"/>
            <a:ext cx="295835" cy="1748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7" name="直線單箭頭接點 26"/>
          <p:cNvCxnSpPr/>
          <p:nvPr/>
        </p:nvCxnSpPr>
        <p:spPr>
          <a:xfrm>
            <a:off x="6508377" y="4577068"/>
            <a:ext cx="255495" cy="18825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9" name="直線單箭頭接點 28"/>
          <p:cNvCxnSpPr/>
          <p:nvPr/>
        </p:nvCxnSpPr>
        <p:spPr>
          <a:xfrm>
            <a:off x="6979025" y="4913244"/>
            <a:ext cx="336176" cy="53788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文字方塊 14"/>
          <p:cNvSpPr txBox="1"/>
          <p:nvPr/>
        </p:nvSpPr>
        <p:spPr>
          <a:xfrm>
            <a:off x="1781736" y="5774365"/>
            <a:ext cx="3832412" cy="369332"/>
          </a:xfrm>
          <a:prstGeom prst="rect">
            <a:avLst/>
          </a:prstGeom>
          <a:noFill/>
        </p:spPr>
        <p:txBody>
          <a:bodyPr wrap="square" rtlCol="0">
            <a:spAutoFit/>
          </a:bodyPr>
          <a:lstStyle/>
          <a:p>
            <a:r>
              <a:rPr lang="en-US" altLang="zh-TW" b="1" dirty="0" smtClean="0">
                <a:solidFill>
                  <a:srgbClr val="00B050"/>
                </a:solidFill>
              </a:rPr>
              <a:t>A B C _N J R O C L C R _  P M</a:t>
            </a:r>
          </a:p>
        </p:txBody>
      </p:sp>
      <p:sp>
        <p:nvSpPr>
          <p:cNvPr id="16" name="文字方塊 15"/>
          <p:cNvSpPr txBox="1"/>
          <p:nvPr/>
        </p:nvSpPr>
        <p:spPr>
          <a:xfrm>
            <a:off x="1751916" y="6197948"/>
            <a:ext cx="3906371" cy="369332"/>
          </a:xfrm>
          <a:prstGeom prst="rect">
            <a:avLst/>
          </a:prstGeom>
          <a:noFill/>
        </p:spPr>
        <p:txBody>
          <a:bodyPr wrap="square" rtlCol="0">
            <a:spAutoFit/>
          </a:bodyPr>
          <a:lstStyle/>
          <a:p>
            <a:r>
              <a:rPr lang="en-US" altLang="zh-TW" b="1" dirty="0" smtClean="0">
                <a:solidFill>
                  <a:srgbClr val="00B050"/>
                </a:solidFill>
              </a:rPr>
              <a:t>A J  C J N _R  _ C K C R B P _</a:t>
            </a:r>
          </a:p>
        </p:txBody>
      </p:sp>
      <p:cxnSp>
        <p:nvCxnSpPr>
          <p:cNvPr id="5" name="直線接點 4"/>
          <p:cNvCxnSpPr/>
          <p:nvPr/>
        </p:nvCxnSpPr>
        <p:spPr>
          <a:xfrm flipH="1">
            <a:off x="1921566" y="6029740"/>
            <a:ext cx="13252" cy="31805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flipH="1">
            <a:off x="2292626" y="6029740"/>
            <a:ext cx="13252"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2616197" y="6022375"/>
            <a:ext cx="7734" cy="285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flipH="1">
            <a:off x="2885052" y="6029740"/>
            <a:ext cx="13252"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flipH="1">
            <a:off x="3298984" y="6037644"/>
            <a:ext cx="19028" cy="27039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flipH="1">
            <a:off x="3654113" y="6018423"/>
            <a:ext cx="13252"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線接點 37"/>
          <p:cNvCxnSpPr/>
          <p:nvPr/>
        </p:nvCxnSpPr>
        <p:spPr>
          <a:xfrm flipH="1">
            <a:off x="3819063" y="6003235"/>
            <a:ext cx="13252"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線接點 38"/>
          <p:cNvCxnSpPr/>
          <p:nvPr/>
        </p:nvCxnSpPr>
        <p:spPr>
          <a:xfrm flipH="1">
            <a:off x="4178255" y="6037644"/>
            <a:ext cx="13252" cy="3048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48294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smtClean="0">
                <a:latin typeface="Gungsuh" panose="02030600000101010101" pitchFamily="18" charset="-127"/>
                <a:ea typeface="Gungsuh" panose="02030600000101010101" pitchFamily="18" charset="-127"/>
              </a:rPr>
              <a:t>左上</a:t>
            </a:r>
            <a:r>
              <a:rPr lang="en-US" altLang="zh-TW" b="1" dirty="0" smtClean="0">
                <a:latin typeface="Gungsuh" panose="02030600000101010101" pitchFamily="18" charset="-127"/>
                <a:ea typeface="Gungsuh" panose="02030600000101010101" pitchFamily="18" charset="-127"/>
              </a:rPr>
              <a:t>-&gt;</a:t>
            </a:r>
            <a:r>
              <a:rPr lang="zh-TW" altLang="en-US" b="1" dirty="0" smtClean="0">
                <a:latin typeface="Gungsuh" panose="02030600000101010101" pitchFamily="18" charset="-127"/>
                <a:ea typeface="Gungsuh" panose="02030600000101010101" pitchFamily="18" charset="-127"/>
              </a:rPr>
              <a:t>右下</a:t>
            </a:r>
            <a:r>
              <a:rPr lang="zh-TW" altLang="en-US" b="1" dirty="0" smtClean="0">
                <a:latin typeface="Gungsuh" panose="02030600000101010101" pitchFamily="18" charset="-127"/>
                <a:ea typeface="Gungsuh" panose="02030600000101010101" pitchFamily="18" charset="-127"/>
              </a:rPr>
              <a:t>表</a:t>
            </a:r>
            <a:r>
              <a:rPr lang="zh-TW" altLang="en-US" b="1" dirty="0">
                <a:latin typeface="Gungsuh" panose="02030600000101010101" pitchFamily="18" charset="-127"/>
                <a:ea typeface="Gungsuh" panose="02030600000101010101" pitchFamily="18" charset="-127"/>
              </a:rPr>
              <a:t>示</a:t>
            </a:r>
            <a:endParaRPr lang="zh-TW" altLang="en-US" b="1" dirty="0">
              <a:latin typeface="Gungsuh" panose="02030600000101010101" pitchFamily="18" charset="-127"/>
              <a:ea typeface="Gungsuh" panose="02030600000101010101" pitchFamily="18" charset="-127"/>
            </a:endParaRPr>
          </a:p>
        </p:txBody>
      </p:sp>
      <p:sp>
        <p:nvSpPr>
          <p:cNvPr id="3" name="內容版面配置區 2"/>
          <p:cNvSpPr>
            <a:spLocks noGrp="1"/>
          </p:cNvSpPr>
          <p:nvPr>
            <p:ph idx="1"/>
          </p:nvPr>
        </p:nvSpPr>
        <p:spPr/>
        <p:txBody>
          <a:bodyPr/>
          <a:lstStyle/>
          <a:p>
            <a:endParaRPr lang="zh-TW" altLang="en-US"/>
          </a:p>
        </p:txBody>
      </p:sp>
      <p:graphicFrame>
        <p:nvGraphicFramePr>
          <p:cNvPr id="5" name="內容版面配置區 3"/>
          <p:cNvGraphicFramePr>
            <a:graphicFrameLocks/>
          </p:cNvGraphicFramePr>
          <p:nvPr>
            <p:extLst>
              <p:ext uri="{D42A27DB-BD31-4B8C-83A1-F6EECF244321}">
                <p14:modId xmlns:p14="http://schemas.microsoft.com/office/powerpoint/2010/main" val="1239434187"/>
              </p:ext>
            </p:extLst>
          </p:nvPr>
        </p:nvGraphicFramePr>
        <p:xfrm>
          <a:off x="779929" y="1856969"/>
          <a:ext cx="7735421" cy="4265304"/>
        </p:xfrm>
        <a:graphic>
          <a:graphicData uri="http://schemas.openxmlformats.org/drawingml/2006/table">
            <a:tbl>
              <a:tblPr firstRow="1" firstCol="1" bandRow="1">
                <a:tableStyleId>{5C22544A-7EE6-4342-B048-85BDC9FD1C3A}</a:tableStyleId>
              </a:tblPr>
              <a:tblGrid>
                <a:gridCol w="538011"/>
                <a:gridCol w="556659"/>
                <a:gridCol w="554794"/>
                <a:gridCol w="554794"/>
                <a:gridCol w="558525"/>
                <a:gridCol w="548269"/>
                <a:gridCol w="554794"/>
                <a:gridCol w="559457"/>
                <a:gridCol w="554794"/>
                <a:gridCol w="551065"/>
                <a:gridCol w="554794"/>
                <a:gridCol w="555727"/>
                <a:gridCol w="554794"/>
                <a:gridCol w="538944"/>
              </a:tblGrid>
              <a:tr h="302292">
                <a:tc>
                  <a:txBody>
                    <a:bodyPr/>
                    <a:lstStyle/>
                    <a:p>
                      <a:pPr>
                        <a:spcAft>
                          <a:spcPts val="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M</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P</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L</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a:effectLst/>
                        </a:rPr>
                        <a:t>O</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N</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spcAft>
                          <a:spcPts val="0"/>
                        </a:spcAft>
                      </a:pPr>
                      <a:r>
                        <a:rPr lang="en-US" sz="1800" kern="100" dirty="0" smtClean="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r>
              <a:tr h="330251">
                <a:tc>
                  <a:txBody>
                    <a:bodyPr/>
                    <a:lstStyle/>
                    <a:p>
                      <a:pPr>
                        <a:spcAft>
                          <a:spcPts val="0"/>
                        </a:spcAft>
                      </a:pPr>
                      <a:r>
                        <a:rPr lang="en-US" sz="1800" kern="100" dirty="0" smtClean="0">
                          <a:effectLst/>
                        </a:rPr>
                        <a:t>P</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r>
              <a:tr h="330251">
                <a:tc>
                  <a:txBody>
                    <a:bodyPr/>
                    <a:lstStyle/>
                    <a:p>
                      <a:pPr>
                        <a:spcAft>
                          <a:spcPts val="0"/>
                        </a:spcAft>
                      </a:pPr>
                      <a:r>
                        <a:rPr lang="en-US" sz="1800" kern="100" dirty="0" smtClean="0">
                          <a:effectLst/>
                        </a:rPr>
                        <a:t>B</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r>
              <a:tr h="330251">
                <a:tc>
                  <a:txBody>
                    <a:bodyPr/>
                    <a:lstStyle/>
                    <a:p>
                      <a:pPr>
                        <a:spcAft>
                          <a:spcPts val="0"/>
                        </a:spcAft>
                      </a:pPr>
                      <a:r>
                        <a:rPr lang="en-US" sz="1800" kern="100" dirty="0" smtClean="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r>
              <a:tr h="330251">
                <a:tc>
                  <a:txBody>
                    <a:bodyPr/>
                    <a:lstStyle/>
                    <a:p>
                      <a:pPr>
                        <a:spcAft>
                          <a:spcPts val="0"/>
                        </a:spcAft>
                      </a:pPr>
                      <a:r>
                        <a:rPr lang="en-US" sz="1800" kern="100" dirty="0" smtClean="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r>
              <a:tr h="330251">
                <a:tc>
                  <a:txBody>
                    <a:bodyPr/>
                    <a:lstStyle/>
                    <a:p>
                      <a:pPr>
                        <a:spcAft>
                          <a:spcPts val="0"/>
                        </a:spcAft>
                      </a:pPr>
                      <a:r>
                        <a:rPr lang="en-US" sz="1800" kern="100" dirty="0" smtClean="0">
                          <a:effectLst/>
                        </a:rPr>
                        <a:t>K</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r>
              <a:tr h="330251">
                <a:tc>
                  <a:txBody>
                    <a:bodyPr/>
                    <a:lstStyle/>
                    <a:p>
                      <a:pPr>
                        <a:spcAft>
                          <a:spcPts val="0"/>
                        </a:spcAft>
                      </a:pPr>
                      <a:r>
                        <a:rPr lang="en-US" sz="1800" kern="100" dirty="0" smtClean="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r>
              <a:tr h="330251">
                <a:tc>
                  <a:txBody>
                    <a:bodyPr/>
                    <a:lstStyle/>
                    <a:p>
                      <a:pPr>
                        <a:spcAft>
                          <a:spcPts val="0"/>
                        </a:spcAft>
                      </a:pPr>
                      <a:r>
                        <a:rPr lang="en-US" sz="1800" kern="100" dirty="0" smtClean="0">
                          <a:effectLst/>
                        </a:rPr>
                        <a:t>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5</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r>
              <a:tr h="330251">
                <a:tc>
                  <a:txBody>
                    <a:bodyPr/>
                    <a:lstStyle/>
                    <a:p>
                      <a:pPr>
                        <a:spcAft>
                          <a:spcPts val="0"/>
                        </a:spcAft>
                      </a:pPr>
                      <a:r>
                        <a:rPr lang="en-US" sz="1800" kern="100" dirty="0" smtClean="0">
                          <a:effectLst/>
                        </a:rPr>
                        <a:t>N</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5</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c>
                  <a:txBody>
                    <a:bodyPr/>
                    <a:lstStyle/>
                    <a:p>
                      <a:r>
                        <a:rPr lang="en-US" altLang="zh-TW" sz="1800" dirty="0" smtClean="0"/>
                        <a:t>5</a:t>
                      </a:r>
                      <a:endParaRPr lang="zh-TW" altLang="en-US" sz="1800" dirty="0"/>
                    </a:p>
                  </a:txBody>
                  <a:tcPr marL="68580" marR="68580" marT="0" marB="0"/>
                </a:tc>
                <a:tc>
                  <a:txBody>
                    <a:bodyPr/>
                    <a:lstStyle/>
                    <a:p>
                      <a:r>
                        <a:rPr lang="en-US" altLang="zh-TW" sz="1800" dirty="0" smtClean="0"/>
                        <a:t>5</a:t>
                      </a:r>
                      <a:endParaRPr lang="zh-TW" altLang="en-US" sz="1800" dirty="0"/>
                    </a:p>
                  </a:txBody>
                  <a:tcPr marL="68580" marR="68580" marT="0" marB="0"/>
                </a:tc>
                <a:tc>
                  <a:txBody>
                    <a:bodyPr/>
                    <a:lstStyle/>
                    <a:p>
                      <a:r>
                        <a:rPr lang="en-US" altLang="zh-TW" sz="1800" dirty="0" smtClean="0"/>
                        <a:t>5</a:t>
                      </a:r>
                      <a:endParaRPr lang="zh-TW" altLang="en-US" sz="1800" dirty="0"/>
                    </a:p>
                  </a:txBody>
                  <a:tcPr marL="68580" marR="68580" marT="0" marB="0"/>
                </a:tc>
              </a:tr>
              <a:tr h="330251">
                <a:tc>
                  <a:txBody>
                    <a:bodyPr/>
                    <a:lstStyle/>
                    <a:p>
                      <a:pPr>
                        <a:spcAft>
                          <a:spcPts val="0"/>
                        </a:spcAft>
                      </a:pPr>
                      <a:r>
                        <a:rPr lang="en-US" sz="1800" kern="100" dirty="0" smtClean="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c>
                  <a:txBody>
                    <a:bodyPr/>
                    <a:lstStyle/>
                    <a:p>
                      <a:r>
                        <a:rPr lang="en-US" altLang="zh-TW" sz="1800" dirty="0" smtClean="0"/>
                        <a:t>5</a:t>
                      </a:r>
                      <a:endParaRPr lang="zh-TW" altLang="en-US" sz="1800" dirty="0"/>
                    </a:p>
                  </a:txBody>
                  <a:tcPr marL="68580" marR="68580" marT="0" marB="0"/>
                </a:tc>
                <a:tc>
                  <a:txBody>
                    <a:bodyPr/>
                    <a:lstStyle/>
                    <a:p>
                      <a:r>
                        <a:rPr lang="en-US" altLang="zh-TW" sz="1800" smtClean="0"/>
                        <a:t>6</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r>
              <a:tr h="330251">
                <a:tc>
                  <a:txBody>
                    <a:bodyPr/>
                    <a:lstStyle/>
                    <a:p>
                      <a:pPr>
                        <a:spcAft>
                          <a:spcPts val="0"/>
                        </a:spcAft>
                      </a:pPr>
                      <a:r>
                        <a:rPr lang="en-US" sz="1800" kern="100" dirty="0" smtClean="0">
                          <a:effectLst/>
                        </a:rPr>
                        <a:t>C</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5</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c>
                  <a:txBody>
                    <a:bodyPr/>
                    <a:lstStyle/>
                    <a:p>
                      <a:r>
                        <a:rPr lang="en-US" altLang="zh-TW" sz="1800" dirty="0" smtClean="0"/>
                        <a:t>7</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r>
              <a:tr h="330251">
                <a:tc>
                  <a:txBody>
                    <a:bodyPr/>
                    <a:lstStyle/>
                    <a:p>
                      <a:pPr>
                        <a:spcAft>
                          <a:spcPts val="0"/>
                        </a:spcAft>
                      </a:pPr>
                      <a:r>
                        <a:rPr lang="en-US" sz="1800" kern="100" dirty="0" smtClean="0">
                          <a:effectLst/>
                        </a:rPr>
                        <a:t>J</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c>
                  <a:txBody>
                    <a:bodyPr/>
                    <a:lstStyle/>
                    <a:p>
                      <a:r>
                        <a:rPr lang="en-US" altLang="zh-TW" sz="1800" dirty="0" smtClean="0"/>
                        <a:t>7</a:t>
                      </a:r>
                      <a:endParaRPr lang="zh-TW" altLang="en-US" sz="1800" dirty="0"/>
                    </a:p>
                  </a:txBody>
                  <a:tcPr marL="68580" marR="68580" marT="0" marB="0"/>
                </a:tc>
                <a:tc>
                  <a:txBody>
                    <a:bodyPr/>
                    <a:lstStyle/>
                    <a:p>
                      <a:r>
                        <a:rPr lang="en-US" altLang="zh-TW" sz="1800" dirty="0" smtClean="0"/>
                        <a:t>7</a:t>
                      </a:r>
                      <a:endParaRPr lang="zh-TW" altLang="en-US" sz="1800" dirty="0"/>
                    </a:p>
                  </a:txBody>
                  <a:tcPr marL="68580" marR="68580" marT="0" marB="0"/>
                </a:tc>
              </a:tr>
              <a:tr h="330251">
                <a:tc>
                  <a:txBody>
                    <a:bodyPr/>
                    <a:lstStyle/>
                    <a:p>
                      <a:pPr>
                        <a:spcAft>
                          <a:spcPts val="0"/>
                        </a:spcAft>
                      </a:pPr>
                      <a:r>
                        <a:rPr lang="en-US" sz="1800" kern="100" dirty="0" smtClean="0">
                          <a:effectLst/>
                        </a:rPr>
                        <a:t>A</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0</a:t>
                      </a:r>
                      <a:endParaRPr lang="zh-TW" altLang="en-US" sz="1800" dirty="0"/>
                    </a:p>
                  </a:txBody>
                  <a:tcPr marL="68580" marR="68580" marT="0" marB="0"/>
                </a:tc>
                <a:tc>
                  <a:txBody>
                    <a:bodyPr/>
                    <a:lstStyle/>
                    <a:p>
                      <a:r>
                        <a:rPr lang="en-US" altLang="zh-TW" sz="1800" dirty="0" smtClean="0"/>
                        <a:t>1</a:t>
                      </a:r>
                      <a:endParaRPr lang="zh-TW" altLang="en-US" sz="1800" dirty="0"/>
                    </a:p>
                  </a:txBody>
                  <a:tcPr marL="68580" marR="68580" marT="0" marB="0"/>
                </a:tc>
                <a:tc>
                  <a:txBody>
                    <a:bodyPr/>
                    <a:lstStyle/>
                    <a:p>
                      <a:r>
                        <a:rPr lang="en-US" altLang="zh-TW" sz="1800" dirty="0" smtClean="0"/>
                        <a:t>2</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3</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4</a:t>
                      </a:r>
                      <a:endParaRPr lang="zh-TW" altLang="en-US" sz="1800" dirty="0"/>
                    </a:p>
                  </a:txBody>
                  <a:tcPr marL="68580" marR="68580" marT="0" marB="0"/>
                </a:tc>
                <a:tc>
                  <a:txBody>
                    <a:bodyPr/>
                    <a:lstStyle/>
                    <a:p>
                      <a:r>
                        <a:rPr lang="en-US" altLang="zh-TW" sz="1800" dirty="0" smtClean="0"/>
                        <a:t>5</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c>
                  <a:txBody>
                    <a:bodyPr/>
                    <a:lstStyle/>
                    <a:p>
                      <a:r>
                        <a:rPr lang="en-US" altLang="zh-TW" sz="1800" dirty="0" smtClean="0"/>
                        <a:t>6</a:t>
                      </a:r>
                      <a:endParaRPr lang="zh-TW" altLang="en-US" sz="1800" dirty="0"/>
                    </a:p>
                  </a:txBody>
                  <a:tcPr marL="68580" marR="68580" marT="0" marB="0"/>
                </a:tc>
                <a:tc>
                  <a:txBody>
                    <a:bodyPr/>
                    <a:lstStyle/>
                    <a:p>
                      <a:r>
                        <a:rPr lang="en-US" altLang="zh-TW" sz="1800" dirty="0" smtClean="0"/>
                        <a:t>7</a:t>
                      </a:r>
                      <a:endParaRPr lang="zh-TW" altLang="en-US" sz="1800" dirty="0"/>
                    </a:p>
                  </a:txBody>
                  <a:tcPr marL="68580" marR="68580" marT="0" marB="0"/>
                </a:tc>
                <a:tc>
                  <a:txBody>
                    <a:bodyPr/>
                    <a:lstStyle/>
                    <a:p>
                      <a:r>
                        <a:rPr lang="en-US" altLang="zh-TW" sz="1800" dirty="0" smtClean="0"/>
                        <a:t>8</a:t>
                      </a:r>
                      <a:endParaRPr lang="zh-TW" altLang="en-US" sz="1800" dirty="0"/>
                    </a:p>
                  </a:txBody>
                  <a:tcPr marL="68580" marR="68580" marT="0" marB="0"/>
                </a:tc>
              </a:tr>
            </a:tbl>
          </a:graphicData>
        </a:graphic>
      </p:graphicFrame>
    </p:spTree>
    <p:extLst>
      <p:ext uri="{BB962C8B-B14F-4D97-AF65-F5344CB8AC3E}">
        <p14:creationId xmlns:p14="http://schemas.microsoft.com/office/powerpoint/2010/main" val="2697354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b="1" dirty="0" smtClean="0">
                <a:latin typeface="Gungsuh" panose="02030600000101010101" pitchFamily="18" charset="-127"/>
                <a:ea typeface="Gungsuh" panose="02030600000101010101" pitchFamily="18" charset="-127"/>
              </a:rPr>
              <a:t>Evaluating this method</a:t>
            </a:r>
            <a:endParaRPr lang="zh-TW" altLang="en-US" sz="3200" b="1" dirty="0">
              <a:latin typeface="Gungsuh" panose="02030600000101010101" pitchFamily="18" charset="-127"/>
              <a:ea typeface="Gungsuh" panose="02030600000101010101" pitchFamily="18" charset="-127"/>
            </a:endParaRPr>
          </a:p>
        </p:txBody>
      </p:sp>
      <p:sp>
        <p:nvSpPr>
          <p:cNvPr id="3" name="內容版面配置區 2"/>
          <p:cNvSpPr>
            <a:spLocks noGrp="1"/>
          </p:cNvSpPr>
          <p:nvPr>
            <p:ph idx="1"/>
          </p:nvPr>
        </p:nvSpPr>
        <p:spPr/>
        <p:txBody>
          <a:bodyPr>
            <a:normAutofit/>
          </a:bodyPr>
          <a:lstStyle/>
          <a:p>
            <a:r>
              <a:rPr lang="en-US" altLang="zh-TW" sz="2800" b="1" dirty="0"/>
              <a:t>Evaluating the significance of Maximum </a:t>
            </a:r>
            <a:r>
              <a:rPr lang="en-US" altLang="zh-TW" sz="2800" b="1" dirty="0" smtClean="0"/>
              <a:t>Match</a:t>
            </a:r>
          </a:p>
          <a:p>
            <a:pPr lvl="1"/>
            <a:r>
              <a:rPr lang="en-US" altLang="zh-TW" sz="2000" dirty="0"/>
              <a:t>Two procedure</a:t>
            </a:r>
          </a:p>
          <a:p>
            <a:pPr lvl="2"/>
            <a:r>
              <a:rPr lang="en-US" altLang="zh-TW" sz="1600" dirty="0"/>
              <a:t>Real </a:t>
            </a:r>
          </a:p>
          <a:p>
            <a:pPr lvl="2"/>
            <a:r>
              <a:rPr lang="en-US" altLang="zh-TW" sz="1600" dirty="0" smtClean="0"/>
              <a:t>Random</a:t>
            </a:r>
          </a:p>
          <a:p>
            <a:pPr lvl="2"/>
            <a:endParaRPr lang="en-US" altLang="zh-TW" sz="2800" b="1" dirty="0" smtClean="0"/>
          </a:p>
          <a:p>
            <a:r>
              <a:rPr lang="en-US" altLang="zh-TW" sz="2800" b="1" dirty="0"/>
              <a:t>Cell Values and Weighting </a:t>
            </a:r>
            <a:r>
              <a:rPr lang="en-US" altLang="zh-TW" sz="2800" b="1" dirty="0" smtClean="0"/>
              <a:t>Factors</a:t>
            </a:r>
          </a:p>
          <a:p>
            <a:pPr lvl="1"/>
            <a:r>
              <a:rPr lang="en-US" altLang="zh-TW" sz="2000" dirty="0" smtClean="0"/>
              <a:t>Add penalty</a:t>
            </a:r>
          </a:p>
          <a:p>
            <a:pPr lvl="1"/>
            <a:endParaRPr lang="en-US" altLang="zh-TW" sz="2000" dirty="0" smtClean="0"/>
          </a:p>
          <a:p>
            <a:r>
              <a:rPr lang="en-US" altLang="zh-TW" sz="2800" b="1" dirty="0"/>
              <a:t>Application of the </a:t>
            </a:r>
            <a:r>
              <a:rPr lang="en-US" altLang="zh-TW" sz="2800" b="1" dirty="0" smtClean="0"/>
              <a:t>Method</a:t>
            </a:r>
          </a:p>
          <a:p>
            <a:pPr lvl="1"/>
            <a:r>
              <a:rPr lang="en-US" altLang="zh-TW" sz="2000" dirty="0" smtClean="0"/>
              <a:t>Type 3~0</a:t>
            </a:r>
          </a:p>
          <a:p>
            <a:pPr lvl="2"/>
            <a:endParaRPr lang="zh-TW" altLang="en-US" sz="1600" dirty="0"/>
          </a:p>
        </p:txBody>
      </p:sp>
    </p:spTree>
    <p:extLst>
      <p:ext uri="{BB962C8B-B14F-4D97-AF65-F5344CB8AC3E}">
        <p14:creationId xmlns:p14="http://schemas.microsoft.com/office/powerpoint/2010/main" val="34706024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Gungsuh" panose="02030600000101010101" pitchFamily="18" charset="-127"/>
                <a:ea typeface="Gungsuh" panose="02030600000101010101" pitchFamily="18" charset="-127"/>
              </a:rPr>
              <a:t>Result and Discussion</a:t>
            </a:r>
            <a:endParaRPr lang="zh-TW" altLang="en-US" b="1" dirty="0">
              <a:latin typeface="Gungsuh" panose="02030600000101010101" pitchFamily="18" charset="-127"/>
              <a:ea typeface="Gungsuh" panose="02030600000101010101" pitchFamily="18" charset="-127"/>
            </a:endParaRPr>
          </a:p>
        </p:txBody>
      </p:sp>
      <p:sp>
        <p:nvSpPr>
          <p:cNvPr id="3" name="內容版面配置區 2"/>
          <p:cNvSpPr>
            <a:spLocks noGrp="1"/>
          </p:cNvSpPr>
          <p:nvPr>
            <p:ph idx="1"/>
          </p:nvPr>
        </p:nvSpPr>
        <p:spPr>
          <a:xfrm>
            <a:off x="6851176" y="3941715"/>
            <a:ext cx="2114550" cy="2846909"/>
          </a:xfrm>
        </p:spPr>
        <p:txBody>
          <a:bodyPr/>
          <a:lstStyle/>
          <a:p>
            <a:endParaRPr lang="zh-TW" altLang="en-US" dirty="0"/>
          </a:p>
        </p:txBody>
      </p:sp>
      <p:pic>
        <p:nvPicPr>
          <p:cNvPr id="4" name="圖片 3"/>
          <p:cNvPicPr>
            <a:picLocks noChangeAspect="1"/>
          </p:cNvPicPr>
          <p:nvPr/>
        </p:nvPicPr>
        <p:blipFill>
          <a:blip r:embed="rId2"/>
          <a:stretch>
            <a:fillRect/>
          </a:stretch>
        </p:blipFill>
        <p:spPr>
          <a:xfrm>
            <a:off x="322633" y="1327851"/>
            <a:ext cx="8282485" cy="5227728"/>
          </a:xfrm>
          <a:prstGeom prst="rect">
            <a:avLst/>
          </a:prstGeom>
        </p:spPr>
      </p:pic>
    </p:spTree>
    <p:extLst>
      <p:ext uri="{BB962C8B-B14F-4D97-AF65-F5344CB8AC3E}">
        <p14:creationId xmlns:p14="http://schemas.microsoft.com/office/powerpoint/2010/main" val="20896126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Gungsuh" panose="02030600000101010101" pitchFamily="18" charset="-127"/>
                <a:ea typeface="Gungsuh" panose="02030600000101010101" pitchFamily="18" charset="-127"/>
              </a:rPr>
              <a:t>Result and Discussion</a:t>
            </a:r>
            <a:endParaRPr lang="zh-TW" altLang="en-US" dirty="0">
              <a:latin typeface="Gungsuh" panose="02030600000101010101" pitchFamily="18" charset="-127"/>
              <a:ea typeface="Gungsuh" panose="02030600000101010101" pitchFamily="18" charset="-127"/>
            </a:endParaRPr>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390525" y="1581206"/>
            <a:ext cx="8528994" cy="4729442"/>
          </a:xfrm>
          <a:prstGeom prst="rect">
            <a:avLst/>
          </a:prstGeom>
        </p:spPr>
      </p:pic>
    </p:spTree>
    <p:extLst>
      <p:ext uri="{BB962C8B-B14F-4D97-AF65-F5344CB8AC3E}">
        <p14:creationId xmlns:p14="http://schemas.microsoft.com/office/powerpoint/2010/main" val="8963572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Gungsuh" panose="02030600000101010101" pitchFamily="18" charset="-127"/>
                <a:ea typeface="Gungsuh" panose="02030600000101010101" pitchFamily="18" charset="-127"/>
              </a:rPr>
              <a:t>Conclusion</a:t>
            </a:r>
            <a:endParaRPr lang="zh-TW" altLang="en-US" b="1" dirty="0">
              <a:latin typeface="Gungsuh" panose="02030600000101010101" pitchFamily="18" charset="-127"/>
              <a:ea typeface="Gungsuh" panose="02030600000101010101" pitchFamily="18" charset="-127"/>
            </a:endParaRPr>
          </a:p>
        </p:txBody>
      </p:sp>
      <p:sp>
        <p:nvSpPr>
          <p:cNvPr id="3" name="內容版面配置區 2"/>
          <p:cNvSpPr>
            <a:spLocks noGrp="1"/>
          </p:cNvSpPr>
          <p:nvPr>
            <p:ph idx="1"/>
          </p:nvPr>
        </p:nvSpPr>
        <p:spPr/>
        <p:txBody>
          <a:bodyPr/>
          <a:lstStyle/>
          <a:p>
            <a:r>
              <a:rPr lang="en-US" altLang="zh-TW" dirty="0"/>
              <a:t>For the global alignment of two sequences of amino </a:t>
            </a:r>
            <a:r>
              <a:rPr lang="en-US" altLang="zh-TW" dirty="0" smtClean="0"/>
              <a:t>acids, this method </a:t>
            </a:r>
            <a:r>
              <a:rPr lang="en-US" altLang="zh-TW" dirty="0"/>
              <a:t>that first calculates a score matrix based upon the similarity of these </a:t>
            </a:r>
            <a:r>
              <a:rPr lang="en-US" altLang="zh-TW" dirty="0" smtClean="0"/>
              <a:t>sequences</a:t>
            </a:r>
          </a:p>
          <a:p>
            <a:endParaRPr lang="en-US" altLang="zh-TW" dirty="0"/>
          </a:p>
          <a:p>
            <a:endParaRPr lang="en-US" altLang="zh-TW" dirty="0" smtClean="0"/>
          </a:p>
          <a:p>
            <a:endParaRPr lang="zh-TW" altLang="en-US" dirty="0"/>
          </a:p>
        </p:txBody>
      </p:sp>
    </p:spTree>
    <p:extLst>
      <p:ext uri="{BB962C8B-B14F-4D97-AF65-F5344CB8AC3E}">
        <p14:creationId xmlns:p14="http://schemas.microsoft.com/office/powerpoint/2010/main" val="419960450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1336</TotalTime>
  <Words>3076</Words>
  <Application>Microsoft Office PowerPoint</Application>
  <PresentationFormat>如螢幕大小 (4:3)</PresentationFormat>
  <Paragraphs>2691</Paragraphs>
  <Slides>23</Slides>
  <Notes>1</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23</vt:i4>
      </vt:variant>
    </vt:vector>
  </HeadingPairs>
  <TitlesOfParts>
    <vt:vector size="31" baseType="lpstr">
      <vt:lpstr>Gungsuh</vt:lpstr>
      <vt:lpstr>微軟正黑體</vt:lpstr>
      <vt:lpstr>新細明體</vt:lpstr>
      <vt:lpstr>Arial</vt:lpstr>
      <vt:lpstr>Calibri</vt:lpstr>
      <vt:lpstr>Calibri Light</vt:lpstr>
      <vt:lpstr>Times New Roman</vt:lpstr>
      <vt:lpstr>Office 佈景主題</vt:lpstr>
      <vt:lpstr>A General Method Applicable to  the Search for Similarities in the  Amino Acid Sequence of Two Proteins</vt:lpstr>
      <vt:lpstr> </vt:lpstr>
      <vt:lpstr> </vt:lpstr>
      <vt:lpstr>A General Method </vt:lpstr>
      <vt:lpstr>A General Method </vt:lpstr>
      <vt:lpstr>A General Method </vt:lpstr>
      <vt:lpstr>A General Method </vt:lpstr>
      <vt:lpstr>A General Method </vt:lpstr>
      <vt:lpstr>A General Method </vt:lpstr>
      <vt:lpstr>A General Method </vt:lpstr>
      <vt:lpstr>A General Method </vt:lpstr>
      <vt:lpstr>A General Method </vt:lpstr>
      <vt:lpstr>A General Method </vt:lpstr>
      <vt:lpstr>A General Method </vt:lpstr>
      <vt:lpstr>A General Method </vt:lpstr>
      <vt:lpstr>A General Method </vt:lpstr>
      <vt:lpstr>A General Method </vt:lpstr>
      <vt:lpstr>A General Method </vt:lpstr>
      <vt:lpstr>左上-&gt;右下表示</vt:lpstr>
      <vt:lpstr>Evaluating this method</vt:lpstr>
      <vt:lpstr>Result and Discussion</vt:lpstr>
      <vt:lpstr>Result and Discussion</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黃鼎耀</dc:creator>
  <cp:lastModifiedBy>黃鼎耀</cp:lastModifiedBy>
  <cp:revision>121</cp:revision>
  <dcterms:created xsi:type="dcterms:W3CDTF">2013-12-25T13:02:55Z</dcterms:created>
  <dcterms:modified xsi:type="dcterms:W3CDTF">2014-03-17T12:38:54Z</dcterms:modified>
</cp:coreProperties>
</file>