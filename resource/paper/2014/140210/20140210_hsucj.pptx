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8"/>
            <p14:sldId id="259"/>
            <p14:sldId id="262"/>
            <p14:sldId id="260"/>
            <p14:sldId id="26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3399"/>
    <a:srgbClr val="FF00FF"/>
    <a:srgbClr val="CC9900"/>
    <a:srgbClr val="663300"/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9" autoAdjust="0"/>
    <p:restoredTop sz="94718" autoAdjust="0"/>
  </p:normalViewPr>
  <p:slideViewPr>
    <p:cSldViewPr>
      <p:cViewPr varScale="1">
        <p:scale>
          <a:sx n="106" d="100"/>
          <a:sy n="106" d="100"/>
        </p:scale>
        <p:origin x="43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http://dl.acm.org/citation.cfm?id=803771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2014/2/8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/>
              <a:t>On the </a:t>
            </a:r>
            <a:r>
              <a:rPr lang="en-US" altLang="zh-TW" sz="4000" dirty="0" smtClean="0"/>
              <a:t>Complexity </a:t>
            </a:r>
            <a:r>
              <a:rPr lang="en-US" altLang="zh-TW" sz="4000" dirty="0"/>
              <a:t>of the Extended String-to-String Correction Problem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b="1" dirty="0"/>
              <a:t>Robert A. </a:t>
            </a:r>
            <a:r>
              <a:rPr lang="en-US" altLang="zh-TW" b="1" dirty="0" smtClean="0"/>
              <a:t>Wagner</a:t>
            </a:r>
          </a:p>
          <a:p>
            <a:r>
              <a:rPr lang="en-US" altLang="zh-TW" b="1" dirty="0" smtClean="0"/>
              <a:t>Proceedings </a:t>
            </a:r>
            <a:r>
              <a:rPr lang="en-US" altLang="zh-TW" b="1" dirty="0"/>
              <a:t>of seventh annual ACM symposium on Theory of </a:t>
            </a:r>
            <a:r>
              <a:rPr lang="en-US" altLang="zh-TW" b="1" dirty="0" smtClean="0"/>
              <a:t>computing, Pages 218-223, 1975</a:t>
            </a:r>
            <a:endParaRPr lang="en-US" altLang="zh-TW" b="1" dirty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2014/2/8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(1/3)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457200" algn="just">
                  <a:buNone/>
                </a:pPr>
                <a:r>
                  <a:rPr lang="en-US" altLang="zh-TW" dirty="0" smtClean="0"/>
                  <a:t>The Extended String-to-String Correction Problem [ESSCP</a:t>
                </a:r>
                <a:r>
                  <a:rPr lang="en-US" altLang="zh-TW" dirty="0"/>
                  <a:t>] is defined as the problem of </a:t>
                </a:r>
                <a:r>
                  <a:rPr lang="en-US" altLang="zh-TW" dirty="0" smtClean="0"/>
                  <a:t>determining, for </a:t>
                </a:r>
                <a:r>
                  <a:rPr lang="en-US" altLang="zh-TW" dirty="0"/>
                  <a:t>given strings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over alphabet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TW" dirty="0"/>
                  <a:t>, a </a:t>
                </a:r>
                <a:r>
                  <a:rPr lang="en-US" altLang="zh-TW" dirty="0" smtClean="0"/>
                  <a:t>minimum-cost </a:t>
                </a:r>
                <a:r>
                  <a:rPr lang="en-US" altLang="zh-TW" dirty="0"/>
                  <a:t>sequence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of edit operations such </a:t>
                </a:r>
                <a:r>
                  <a:rPr lang="en-US" altLang="zh-TW" dirty="0" smtClean="0"/>
                  <a:t>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/>
                  <a:t>. </a:t>
                </a:r>
                <a:r>
                  <a:rPr lang="en-US" altLang="zh-TW" dirty="0"/>
                  <a:t>The sequence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may make use of </a:t>
                </a:r>
                <a:r>
                  <a:rPr lang="en-US" altLang="zh-TW" dirty="0" smtClean="0"/>
                  <a:t>the operations</a:t>
                </a:r>
                <a:r>
                  <a:rPr lang="en-US" altLang="zh-TW" dirty="0"/>
                  <a:t>: </a:t>
                </a:r>
                <a:r>
                  <a:rPr lang="en-US" altLang="zh-TW" u="sng" dirty="0" smtClean="0"/>
                  <a:t>Change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Insert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Delete</a:t>
                </a:r>
                <a:r>
                  <a:rPr lang="en-US" altLang="zh-TW" dirty="0"/>
                  <a:t> and </a:t>
                </a:r>
                <a:r>
                  <a:rPr lang="en-US" altLang="zh-TW" u="sng" dirty="0" smtClean="0"/>
                  <a:t>Swap</a:t>
                </a:r>
                <a:r>
                  <a:rPr lang="en-US" altLang="zh-TW" dirty="0" smtClean="0"/>
                  <a:t>, each of </a:t>
                </a:r>
                <a:r>
                  <a:rPr lang="en-US" altLang="zh-TW" dirty="0"/>
                  <a:t>constant </a:t>
                </a:r>
                <a:r>
                  <a:rPr lang="en-US" altLang="zh-TW" dirty="0" smtClean="0"/>
                  <a:t>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TW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respectively. Swap </a:t>
                </a:r>
                <a:r>
                  <a:rPr lang="en-US" altLang="zh-TW" dirty="0"/>
                  <a:t>permits any pair of adjacent characters to </a:t>
                </a:r>
                <a:r>
                  <a:rPr lang="en-US" altLang="zh-TW" dirty="0" smtClean="0"/>
                  <a:t>be interchanged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2830" r="-1852" b="-33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865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</a:t>
            </a:r>
            <a:r>
              <a:rPr lang="en-US" altLang="zh-TW" dirty="0" smtClean="0"/>
              <a:t>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The principal results of this paper are:</a:t>
                </a:r>
              </a:p>
              <a:p>
                <a:pPr marL="514350" indent="-514350">
                  <a:buClrTx/>
                  <a:buSzPct val="100000"/>
                  <a:buFont typeface="+mj-lt"/>
                  <a:buAutoNum type="arabicParenR"/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brief presentation of an algorithm (</a:t>
                </a:r>
                <a:r>
                  <a:rPr lang="en-US" altLang="zh-TW" dirty="0" smtClean="0"/>
                  <a:t>the CELLAR </a:t>
                </a:r>
                <a:r>
                  <a:rPr lang="en-US" altLang="zh-TW" dirty="0"/>
                  <a:t>algorithm) which solves ESSCP in </a:t>
                </a:r>
                <a:r>
                  <a:rPr lang="en-US" altLang="zh-TW" dirty="0" smtClean="0"/>
                  <a:t>time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TW" dirty="0" smtClean="0"/>
                  <a:t>, where </a:t>
                </a:r>
                <a:br>
                  <a:rPr lang="en-US" altLang="zh-TW" dirty="0" smtClean="0"/>
                </a:b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TW" dirty="0" smtClean="0"/>
              </a:p>
              <a:p>
                <a:pPr marL="514350" indent="-514350">
                  <a:buClrTx/>
                  <a:buSzPct val="100000"/>
                  <a:buFont typeface="+mj-lt"/>
                  <a:buAutoNum type="arabicParenR"/>
                </a:pPr>
                <a:r>
                  <a:rPr lang="en-US" altLang="zh-TW" dirty="0" smtClean="0"/>
                  <a:t>presentation </a:t>
                </a:r>
                <a:r>
                  <a:rPr lang="en-US" altLang="zh-TW" dirty="0"/>
                  <a:t>of polynomial time </a:t>
                </a:r>
                <a:r>
                  <a:rPr lang="en-US" altLang="zh-TW" dirty="0" smtClean="0"/>
                  <a:t>algorithms for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cases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(a</a:t>
                </a:r>
                <a:r>
                  <a:rPr lang="en-US" altLang="zh-TW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TW" dirty="0" smtClean="0"/>
                  <a:t>;</a:t>
                </a:r>
                <a:endParaRPr lang="en-US" altLang="zh-TW" dirty="0"/>
              </a:p>
              <a:p>
                <a:pPr marL="514350" indent="-514350">
                  <a:buClrTx/>
                  <a:buSzPct val="100000"/>
                  <a:buFont typeface="+mj-lt"/>
                  <a:buAutoNum type="arabicParenR"/>
                </a:pPr>
                <a:r>
                  <a:rPr lang="en-US" altLang="zh-TW" dirty="0" smtClean="0"/>
                  <a:t>proof </a:t>
                </a:r>
                <a:r>
                  <a:rPr lang="en-US" altLang="zh-TW" dirty="0"/>
                  <a:t>that ESSCP,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altLang="zh-TW" dirty="0" smtClean="0"/>
                  <a:t>,suitably </a:t>
                </a:r>
                <a:r>
                  <a:rPr lang="en-US" altLang="zh-TW" dirty="0"/>
                  <a:t>encoded, is NP-complete.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2830" r="-1704" b="-3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43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 </a:t>
            </a:r>
            <a:r>
              <a:rPr lang="en-US" altLang="zh-TW" dirty="0" smtClean="0"/>
              <a:t>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dirty="0" smtClean="0"/>
                  <a:t>(The remaining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reduces ESSCP to </a:t>
                </a:r>
                <a:r>
                  <a:rPr lang="en-US" altLang="zh-TW" dirty="0" smtClean="0"/>
                  <a:t>the string-to-string </a:t>
                </a:r>
                <a:r>
                  <a:rPr lang="en-US" altLang="zh-TW" dirty="0"/>
                  <a:t>correction problem of </a:t>
                </a:r>
                <a:r>
                  <a:rPr lang="en-US" altLang="zh-TW" dirty="0" smtClean="0"/>
                  <a:t>[1], where an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 algorithm </a:t>
                </a:r>
                <a:r>
                  <a:rPr lang="en-US" altLang="zh-TW" dirty="0"/>
                  <a:t>is given.) Thus, "</a:t>
                </a:r>
                <a:r>
                  <a:rPr lang="en-US" altLang="zh-TW" dirty="0" smtClean="0"/>
                  <a:t>almost all</a:t>
                </a:r>
                <a:r>
                  <a:rPr lang="en-US" altLang="zh-TW" dirty="0"/>
                  <a:t>" ESSCP's can be solved in deterministic </a:t>
                </a:r>
                <a:r>
                  <a:rPr lang="en-US" altLang="zh-TW" dirty="0" smtClean="0"/>
                  <a:t>polynomial time</a:t>
                </a:r>
                <a:r>
                  <a:rPr lang="en-US" altLang="zh-TW" dirty="0"/>
                  <a:t>, but the general problem is NP-complete.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31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An extended trace from A to B is a triple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and such </a:t>
                </a:r>
                <a:r>
                  <a:rPr lang="en-US" altLang="zh-TW" dirty="0" smtClean="0"/>
                  <a:t>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 smtClean="0"/>
                  <a:t> imply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 smtClean="0"/>
                  <a:t> iff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. </a:t>
                </a:r>
                <a:r>
                  <a:rPr lang="en-US" altLang="zh-TW" dirty="0"/>
                  <a:t>Any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/>
                  <a:t>termed a line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TW" dirty="0"/>
                  <a:t>.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/>
                  <a:t> is an extended trace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/>
                  <a:t>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36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CELLAR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Case: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altLang="zh-TW" dirty="0" smtClean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 smtClean="0"/>
                  <a:t>Complexity: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50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PERMUTE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Case: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Complexity: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dirty="0"/>
                  <a:t> is an optimal </a:t>
                </a:r>
                <a:r>
                  <a:rPr lang="en-US" altLang="zh-TW" dirty="0" smtClean="0"/>
                  <a:t>trace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57" y="3886638"/>
            <a:ext cx="6341486" cy="27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8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</a:t>
            </a:r>
            <a:r>
              <a:rPr lang="en-US" altLang="zh-TW" dirty="0" smtClean="0"/>
              <a:t>ESSCP (1/7)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and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For </a:t>
                </a:r>
                <a:r>
                  <a:rPr lang="en-US" altLang="zh-TW" dirty="0"/>
                  <a:t>each MINIMUM SET-COVER [</a:t>
                </a:r>
                <a:r>
                  <a:rPr lang="en-US" altLang="zh-TW" dirty="0" smtClean="0"/>
                  <a:t>MSC] problem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can be derived in </a:t>
                </a:r>
                <a:r>
                  <a:rPr lang="en-US" altLang="zh-TW" dirty="0" smtClean="0"/>
                  <a:t>polynomial-time an </a:t>
                </a:r>
                <a:r>
                  <a:rPr lang="en-US" altLang="zh-TW" dirty="0"/>
                  <a:t>ESSCP,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TW" dirty="0"/>
                  <a:t>, in this system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MSC</m:t>
                        </m:r>
                      </m:e>
                    </m:d>
                  </m:oMath>
                </a14:m>
                <a:r>
                  <a:rPr lang="en-US" altLang="zh-TW" dirty="0" smtClean="0"/>
                  <a:t> if </a:t>
                </a:r>
                <a:r>
                  <a:rPr lang="en-US" altLang="zh-TW" dirty="0"/>
                  <a:t>and only </a:t>
                </a: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ESSCP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46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</a:t>
            </a:r>
            <a:r>
              <a:rPr lang="en-US" altLang="zh-TW" dirty="0" smtClean="0"/>
              <a:t>ESSCP (2/7)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MSC problem</a:t>
                </a:r>
              </a:p>
              <a:p>
                <a:pPr lvl="1"/>
                <a:r>
                  <a:rPr lang="en-US" altLang="zh-TW" dirty="0" smtClean="0"/>
                  <a:t>Given finite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and integer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/>
                  <a:t>, does </a:t>
                </a:r>
                <a:r>
                  <a:rPr lang="en-US" altLang="zh-TW" dirty="0"/>
                  <a:t>there exist a subset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…,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dirty="0" smtClean="0"/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/>
                          <m:t>ESSCP</m:t>
                        </m:r>
                      </m:e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problem</a:t>
                </a:r>
              </a:p>
              <a:p>
                <a:pPr lvl="1"/>
                <a:r>
                  <a:rPr lang="en-US" altLang="zh-TW" dirty="0"/>
                  <a:t>Given strings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dirty="0"/>
                  <a:t>, and integer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, does </a:t>
                </a:r>
                <a:r>
                  <a:rPr lang="en-US" altLang="zh-TW" dirty="0"/>
                  <a:t>there exist a trace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for </a:t>
                </a:r>
                <a:r>
                  <a:rPr lang="en-US" altLang="zh-TW" dirty="0" smtClean="0"/>
                  <a:t>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?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 r="-7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91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</a:t>
            </a:r>
            <a:r>
              <a:rPr lang="en-US" altLang="zh-TW" dirty="0" smtClean="0"/>
              <a:t>ESSCP (3/7)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/>
                  <a:t> are not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groupChr>
                      </m:e>
                      <m:li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</m:t>
                    </m:r>
                    <m:limLow>
                      <m:limLow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  <m:sSup>
                              <m:s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e>
                        </m:groupChr>
                      </m:e>
                      <m:li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−1+2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287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71" y="3324832"/>
            <a:ext cx="8022857" cy="321408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ESSCP </a:t>
            </a:r>
            <a:r>
              <a:rPr lang="en-US" altLang="zh-TW" dirty="0" smtClean="0"/>
              <a:t>(4/7)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closed r-gate: 0 crosses lines</a:t>
                </a:r>
              </a:p>
              <a:p>
                <a:r>
                  <a:rPr lang="en-US" altLang="zh-TW" dirty="0"/>
                  <a:t>o</a:t>
                </a:r>
                <a:r>
                  <a:rPr lang="en-US" altLang="zh-TW" dirty="0" smtClean="0"/>
                  <a:t>pen r-gate: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 smtClean="0"/>
                  <a:t> crosses lines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 smtClean="0"/>
                  <a:t>: crosses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lines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88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57" y="4202269"/>
            <a:ext cx="8789486" cy="237106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ESSCP </a:t>
            </a:r>
            <a:r>
              <a:rPr lang="en-US" altLang="zh-TW" dirty="0" smtClean="0"/>
              <a:t>(5/7)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/>
                  <a:t> total: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limLow>
                      <m:limLow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groupCh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lim>
                        </m:limLow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limLow>
                          <m:limLow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groupCh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lim>
                        </m:limLow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dirty="0" smtClean="0"/>
                  <a:t> total: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Cross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TW" dirty="0" smtClean="0"/>
                  <a:t> other gates</a:t>
                </a:r>
              </a:p>
              <a:p>
                <a:pPr lvl="1"/>
                <a:r>
                  <a:rPr lang="en-US" altLang="zh-TW" dirty="0" smtClean="0"/>
                  <a:t>Each gates: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dirty="0" smtClean="0"/>
                  <a:t>-lines, 1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 smtClean="0"/>
                  <a:t>-line,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dirty="0" smtClean="0"/>
                  <a:t>-lines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862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ESSCP </a:t>
            </a:r>
            <a:r>
              <a:rPr lang="en-US" altLang="zh-TW" dirty="0" smtClean="0"/>
              <a:t>(6/7)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𝑔𝑟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number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"</m:t>
                    </m:r>
                    <m:r>
                      <m:rPr>
                        <m:nor/>
                      </m:rPr>
                      <a:rPr lang="en-US" altLang="zh-TW" dirty="0"/>
                      <m:t>open</m:t>
                    </m:r>
                    <m:r>
                      <m:rPr>
                        <m:nor/>
                      </m:rPr>
                      <a:rPr lang="en-US" altLang="zh-TW" dirty="0"/>
                      <m:t>" </m:t>
                    </m:r>
                    <m:r>
                      <m:rPr>
                        <m:nor/>
                      </m:rPr>
                      <a:rPr lang="en-US" altLang="zh-TW" dirty="0"/>
                      <m:t>gates</m:t>
                    </m:r>
                  </m:oMath>
                </a14:m>
                <a:endParaRPr lang="zh-TW" altLang="en-US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dirty="0"/>
                      <m:t>the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number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pairs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of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w</m:t>
                    </m:r>
                    <m:r>
                      <m:rPr>
                        <m:nor/>
                      </m:rPr>
                      <a:rPr lang="en-US" altLang="zh-TW" dirty="0"/>
                      <m:t>-</m:t>
                    </m:r>
                    <m:r>
                      <m:rPr>
                        <m:nor/>
                      </m:rPr>
                      <a:rPr lang="en-US" altLang="zh-TW" dirty="0"/>
                      <m:t>touching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lines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which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cross</m:t>
                    </m:r>
                    <m:r>
                      <m:rPr>
                        <m:nor/>
                      </m:rPr>
                      <a:rPr lang="en-US" altLang="zh-TW" dirty="0"/>
                      <m:t>.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429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 NP-Complete ESSCP </a:t>
            </a:r>
            <a:r>
              <a:rPr lang="en-US" altLang="zh-TW" dirty="0" smtClean="0"/>
              <a:t>(7/7)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TW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59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Generalization (1/2)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7" y="1600200"/>
            <a:ext cx="8664686" cy="422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04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Generalization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 smtClean="0"/>
                  <a:t>: </a:t>
                </a:r>
                <a:r>
                  <a:rPr lang="en-US" altLang="zh-TW" dirty="0"/>
                  <a:t>turns out to be the </a:t>
                </a:r>
                <a:r>
                  <a:rPr lang="en-US" altLang="zh-TW" dirty="0" smtClean="0"/>
                  <a:t>classical </a:t>
                </a:r>
                <a:r>
                  <a:rPr lang="en-US" altLang="zh-TW" dirty="0"/>
                  <a:t>"transportation problem" of linear </a:t>
                </a:r>
                <a:r>
                  <a:rPr lang="en-US" altLang="zh-TW" dirty="0" smtClean="0"/>
                  <a:t>programming[6</a:t>
                </a:r>
                <a:r>
                  <a:rPr lang="en-US" altLang="zh-TW" dirty="0"/>
                  <a:t>].</a:t>
                </a:r>
                <a:endParaRPr lang="en-US" altLang="zh-TW" dirty="0"/>
              </a:p>
              <a:p>
                <a:r>
                  <a:rPr lang="en-US" altLang="zh-TW" dirty="0" smtClean="0"/>
                  <a:t>Times to compute: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Times to construct: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241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C7EDCC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5672</TotalTime>
  <Words>251</Words>
  <Application>Microsoft Office PowerPoint</Application>
  <PresentationFormat>如螢幕大小 (4:3)</PresentationFormat>
  <Paragraphs>79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微軟正黑體</vt:lpstr>
      <vt:lpstr>新細明體</vt:lpstr>
      <vt:lpstr>Arial</vt:lpstr>
      <vt:lpstr>Calibri</vt:lpstr>
      <vt:lpstr>Cambria</vt:lpstr>
      <vt:lpstr>Cambria Math</vt:lpstr>
      <vt:lpstr>Maiandra GD</vt:lpstr>
      <vt:lpstr>Wingdings 2</vt:lpstr>
      <vt:lpstr>龍騰四海</vt:lpstr>
      <vt:lpstr>On the Complexity of the Extended String-to-String Correction Problem</vt:lpstr>
      <vt:lpstr>Abstract (1/3)</vt:lpstr>
      <vt:lpstr>Abstract (2/3)</vt:lpstr>
      <vt:lpstr>Abstract (3/3)</vt:lpstr>
      <vt:lpstr>Define</vt:lpstr>
      <vt:lpstr>CELLAR</vt:lpstr>
      <vt:lpstr>PERMUTE</vt:lpstr>
      <vt:lpstr>An NP-Complete ESSCP (1/7)</vt:lpstr>
      <vt:lpstr>An NP-Complete ESSCP (2/7)</vt:lpstr>
      <vt:lpstr>An NP-Complete ESSCP (3/7)</vt:lpstr>
      <vt:lpstr>An NP-Complete ESSCP (4/7)</vt:lpstr>
      <vt:lpstr>An NP-Complete ESSCP (5/7)</vt:lpstr>
      <vt:lpstr>An NP-Complete ESSCP (6/7)</vt:lpstr>
      <vt:lpstr>An NP-Complete ESSCP (7/7)</vt:lpstr>
      <vt:lpstr>Generalization (1/2)</vt:lpstr>
      <vt:lpstr>Generalization (2/2)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917</cp:revision>
  <dcterms:created xsi:type="dcterms:W3CDTF">2012-09-09T09:37:21Z</dcterms:created>
  <dcterms:modified xsi:type="dcterms:W3CDTF">2014-02-07T20:32:10Z</dcterms:modified>
</cp:coreProperties>
</file>