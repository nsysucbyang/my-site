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3" r:id="rId6"/>
    <p:sldId id="265" r:id="rId7"/>
    <p:sldId id="259" r:id="rId8"/>
    <p:sldId id="260" r:id="rId9"/>
    <p:sldId id="264" r:id="rId10"/>
    <p:sldId id="262" r:id="rId11"/>
    <p:sldId id="266" r:id="rId12"/>
    <p:sldId id="267" r:id="rId13"/>
    <p:sldId id="268"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36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F21953B-C399-4030-8743-96752A65223A}" type="datetimeFigureOut">
              <a:rPr lang="zh-TW" altLang="en-US" smtClean="0"/>
              <a:t>2014/2/9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3392445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F21953B-C399-4030-8743-96752A65223A}" type="datetimeFigureOut">
              <a:rPr lang="zh-TW" altLang="en-US" smtClean="0"/>
              <a:t>2014/2/9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1543764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DF21953B-C399-4030-8743-96752A65223A}" type="datetimeFigureOut">
              <a:rPr lang="zh-TW" altLang="en-US" smtClean="0"/>
              <a:t>2014/2/9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523610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DF21953B-C399-4030-8743-96752A65223A}" type="datetimeFigureOut">
              <a:rPr lang="zh-TW" altLang="en-US" smtClean="0"/>
              <a:t>2014/2/9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294065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DF21953B-C399-4030-8743-96752A65223A}" type="datetimeFigureOut">
              <a:rPr lang="zh-TW" altLang="en-US" smtClean="0"/>
              <a:t>2014/2/9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1505423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DF21953B-C399-4030-8743-96752A65223A}" type="datetimeFigureOut">
              <a:rPr lang="zh-TW" altLang="en-US" smtClean="0"/>
              <a:t>2014/2/9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2175381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F21953B-C399-4030-8743-96752A65223A}" type="datetimeFigureOut">
              <a:rPr lang="zh-TW" altLang="en-US" smtClean="0"/>
              <a:t>2014/2/9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246141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F21953B-C399-4030-8743-96752A65223A}" type="datetimeFigureOut">
              <a:rPr lang="zh-TW" altLang="en-US" smtClean="0"/>
              <a:t>2014/2/9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836827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F21953B-C399-4030-8743-96752A65223A}" type="datetimeFigureOut">
              <a:rPr lang="zh-TW" altLang="en-US" smtClean="0"/>
              <a:t>2014/2/9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4002757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F21953B-C399-4030-8743-96752A65223A}" type="datetimeFigureOut">
              <a:rPr lang="zh-TW" altLang="en-US" smtClean="0"/>
              <a:t>2014/2/9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3414212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F21953B-C399-4030-8743-96752A65223A}" type="datetimeFigureOut">
              <a:rPr lang="zh-TW" altLang="en-US" smtClean="0"/>
              <a:t>2014/2/9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1376863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21953B-C399-4030-8743-96752A65223A}" type="datetimeFigureOut">
              <a:rPr lang="zh-TW" altLang="en-US" smtClean="0"/>
              <a:t>2014/2/9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DB3516-E663-4C2D-84D7-B25C9E7E41DC}" type="slidenum">
              <a:rPr lang="zh-TW" altLang="en-US" smtClean="0"/>
              <a:t>‹#›</a:t>
            </a:fld>
            <a:endParaRPr lang="zh-TW" altLang="en-US"/>
          </a:p>
        </p:txBody>
      </p:sp>
    </p:spTree>
    <p:extLst>
      <p:ext uri="{BB962C8B-B14F-4D97-AF65-F5344CB8AC3E}">
        <p14:creationId xmlns:p14="http://schemas.microsoft.com/office/powerpoint/2010/main" val="222427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836712"/>
            <a:ext cx="7772400" cy="2088232"/>
          </a:xfrm>
        </p:spPr>
        <p:txBody>
          <a:bodyPr>
            <a:noAutofit/>
          </a:bodyPr>
          <a:lstStyle/>
          <a:p>
            <a:pPr algn="l"/>
            <a:r>
              <a:rPr lang="en-US" altLang="zh-TW" sz="4800" dirty="0" smtClean="0">
                <a:latin typeface="微軟正黑體" panose="020B0604030504040204" pitchFamily="34" charset="-120"/>
                <a:ea typeface="微軟正黑體" panose="020B0604030504040204" pitchFamily="34" charset="-120"/>
              </a:rPr>
              <a:t>The significance of protein sequence similarities</a:t>
            </a:r>
            <a:endParaRPr lang="zh-TW" altLang="en-US" sz="4800" dirty="0">
              <a:latin typeface="微軟正黑體" panose="020B0604030504040204" pitchFamily="34" charset="-120"/>
              <a:ea typeface="微軟正黑體" panose="020B0604030504040204" pitchFamily="34" charset="-120"/>
            </a:endParaRPr>
          </a:p>
        </p:txBody>
      </p:sp>
      <p:sp>
        <p:nvSpPr>
          <p:cNvPr id="3" name="副標題 2"/>
          <p:cNvSpPr>
            <a:spLocks noGrp="1"/>
          </p:cNvSpPr>
          <p:nvPr>
            <p:ph type="subTitle" idx="1"/>
          </p:nvPr>
        </p:nvSpPr>
        <p:spPr>
          <a:xfrm>
            <a:off x="467544" y="3886200"/>
            <a:ext cx="7304856" cy="1752600"/>
          </a:xfrm>
        </p:spPr>
        <p:txBody>
          <a:bodyPr>
            <a:normAutofit fontScale="92500" lnSpcReduction="20000"/>
          </a:bodyPr>
          <a:lstStyle/>
          <a:p>
            <a:pPr algn="l"/>
            <a:r>
              <a:rPr lang="en-US" altLang="zh-TW" dirty="0" smtClean="0">
                <a:solidFill>
                  <a:schemeClr val="tx1"/>
                </a:solidFill>
              </a:rPr>
              <a:t>Author</a:t>
            </a:r>
            <a:r>
              <a:rPr lang="zh-TW" altLang="en-US" dirty="0" smtClean="0">
                <a:solidFill>
                  <a:schemeClr val="tx1"/>
                </a:solidFill>
              </a:rPr>
              <a:t>：</a:t>
            </a:r>
            <a:r>
              <a:rPr lang="en-US" altLang="zh-TW" dirty="0" err="1" smtClean="0">
                <a:solidFill>
                  <a:schemeClr val="tx1"/>
                </a:solidFill>
              </a:rPr>
              <a:t>J.F.Collins</a:t>
            </a:r>
            <a:r>
              <a:rPr lang="en-US" altLang="zh-TW" dirty="0" smtClean="0">
                <a:solidFill>
                  <a:schemeClr val="tx1"/>
                </a:solidFill>
              </a:rPr>
              <a:t>, </a:t>
            </a:r>
            <a:r>
              <a:rPr lang="en-US" altLang="zh-TW" dirty="0" err="1">
                <a:solidFill>
                  <a:schemeClr val="tx1"/>
                </a:solidFill>
              </a:rPr>
              <a:t>A.F.W.Coulson</a:t>
            </a:r>
            <a:r>
              <a:rPr lang="en-US" altLang="zh-TW" dirty="0">
                <a:solidFill>
                  <a:schemeClr val="tx1"/>
                </a:solidFill>
              </a:rPr>
              <a:t> and </a:t>
            </a:r>
            <a:r>
              <a:rPr lang="en-US" altLang="zh-TW" dirty="0" err="1">
                <a:solidFill>
                  <a:schemeClr val="tx1"/>
                </a:solidFill>
              </a:rPr>
              <a:t>A.Lyall</a:t>
            </a:r>
            <a:r>
              <a:rPr lang="en-US" altLang="zh-TW" dirty="0">
                <a:solidFill>
                  <a:schemeClr val="tx1"/>
                </a:solidFill>
              </a:rPr>
              <a:t/>
            </a:r>
            <a:br>
              <a:rPr lang="en-US" altLang="zh-TW" dirty="0">
                <a:solidFill>
                  <a:schemeClr val="tx1"/>
                </a:solidFill>
              </a:rPr>
            </a:br>
            <a:r>
              <a:rPr lang="en-US" altLang="zh-TW" dirty="0">
                <a:solidFill>
                  <a:schemeClr val="tx1"/>
                </a:solidFill>
              </a:rPr>
              <a:t>Source</a:t>
            </a:r>
            <a:r>
              <a:rPr lang="zh-TW" altLang="en-US" dirty="0" smtClean="0">
                <a:solidFill>
                  <a:schemeClr val="tx1"/>
                </a:solidFill>
              </a:rPr>
              <a:t>：</a:t>
            </a:r>
            <a:r>
              <a:rPr lang="en-US" altLang="zh-TW" dirty="0" smtClean="0">
                <a:solidFill>
                  <a:schemeClr val="tx1"/>
                </a:solidFill>
              </a:rPr>
              <a:t>Computer applications in the biosciences : CABIOS </a:t>
            </a:r>
            <a:r>
              <a:rPr lang="pt-BR" altLang="zh-TW" dirty="0" smtClean="0">
                <a:solidFill>
                  <a:schemeClr val="tx1"/>
                </a:solidFill>
              </a:rPr>
              <a:t>Vol.4, no.1. 1988</a:t>
            </a:r>
          </a:p>
          <a:p>
            <a:pPr algn="l"/>
            <a:r>
              <a:rPr lang="pt-BR" altLang="zh-TW" dirty="0" smtClean="0">
                <a:solidFill>
                  <a:schemeClr val="tx1"/>
                </a:solidFill>
              </a:rPr>
              <a:t>PP</a:t>
            </a:r>
            <a:r>
              <a:rPr lang="pt-BR" altLang="zh-TW" dirty="0" smtClean="0">
                <a:solidFill>
                  <a:schemeClr val="tx1"/>
                </a:solidFill>
              </a:rPr>
              <a:t>. 67-71</a:t>
            </a:r>
          </a:p>
        </p:txBody>
      </p:sp>
      <p:sp>
        <p:nvSpPr>
          <p:cNvPr id="4" name="矩形 3"/>
          <p:cNvSpPr/>
          <p:nvPr/>
        </p:nvSpPr>
        <p:spPr>
          <a:xfrm>
            <a:off x="5436096" y="5805264"/>
            <a:ext cx="2987824" cy="646331"/>
          </a:xfrm>
          <a:prstGeom prst="rect">
            <a:avLst/>
          </a:prstGeom>
        </p:spPr>
        <p:txBody>
          <a:bodyPr wrap="square">
            <a:spAutoFit/>
          </a:bodyPr>
          <a:lstStyle/>
          <a:p>
            <a:r>
              <a:rPr lang="en-US" altLang="zh-TW" dirty="0" smtClean="0"/>
              <a:t>Presenter</a:t>
            </a:r>
            <a:r>
              <a:rPr lang="zh-TW" altLang="en-US" dirty="0" smtClean="0"/>
              <a:t>：</a:t>
            </a:r>
            <a:r>
              <a:rPr lang="en-US" altLang="zh-TW" dirty="0" smtClean="0"/>
              <a:t>Guan-Cheng </a:t>
            </a:r>
            <a:r>
              <a:rPr lang="en-US" altLang="zh-TW" dirty="0" err="1" smtClean="0"/>
              <a:t>Guo</a:t>
            </a:r>
            <a:r>
              <a:rPr lang="en-US" altLang="zh-TW" dirty="0" smtClean="0"/>
              <a:t/>
            </a:r>
            <a:br>
              <a:rPr lang="en-US" altLang="zh-TW" dirty="0" smtClean="0"/>
            </a:br>
            <a:r>
              <a:rPr lang="en-US" altLang="zh-TW" dirty="0" smtClean="0"/>
              <a:t>Date</a:t>
            </a:r>
            <a:r>
              <a:rPr lang="zh-TW" altLang="en-US" dirty="0" smtClean="0"/>
              <a:t>：</a:t>
            </a:r>
            <a:r>
              <a:rPr lang="en-US" altLang="zh-TW" dirty="0" smtClean="0"/>
              <a:t>2014/2/10</a:t>
            </a:r>
            <a:endParaRPr lang="en-US" altLang="zh-TW" dirty="0"/>
          </a:p>
        </p:txBody>
      </p:sp>
    </p:spTree>
    <p:extLst>
      <p:ext uri="{BB962C8B-B14F-4D97-AF65-F5344CB8AC3E}">
        <p14:creationId xmlns:p14="http://schemas.microsoft.com/office/powerpoint/2010/main" val="3616448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850106"/>
          </a:xfrm>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457200" y="1196752"/>
            <a:ext cx="8229600" cy="4929411"/>
          </a:xfrm>
        </p:spPr>
        <p:txBody>
          <a:bodyPr>
            <a:normAutofit fontScale="92500" lnSpcReduction="10000"/>
          </a:bodyPr>
          <a:lstStyle/>
          <a:p>
            <a:pPr marL="0" indent="0">
              <a:buNone/>
            </a:pPr>
            <a:r>
              <a:rPr lang="en-US" altLang="zh-TW" dirty="0" smtClean="0"/>
              <a:t>A general method of assessing the significance of scored best local alignments, particularly suited to protein sequence comparisons, is described. The method establishes the parameters describing the distribution of the best results from any search program, provided that the set is sufficiently large and the majority of the alignments arise from unrelated sequences. The expected frequency of occurrence of any score can then be calculated, together with the number of standard deviations above expectation.</a:t>
            </a:r>
            <a:endParaRPr lang="zh-TW" altLang="en-US" dirty="0"/>
          </a:p>
        </p:txBody>
      </p:sp>
    </p:spTree>
    <p:extLst>
      <p:ext uri="{BB962C8B-B14F-4D97-AF65-F5344CB8AC3E}">
        <p14:creationId xmlns:p14="http://schemas.microsoft.com/office/powerpoint/2010/main" val="970721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850106"/>
          </a:xfrm>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457200" y="1340768"/>
            <a:ext cx="8229600" cy="4785395"/>
          </a:xfrm>
        </p:spPr>
        <p:txBody>
          <a:bodyPr/>
          <a:lstStyle/>
          <a:p>
            <a:pPr marL="0" indent="0">
              <a:buNone/>
            </a:pPr>
            <a:r>
              <a:rPr lang="en-US" altLang="zh-TW" sz="3000" dirty="0" smtClean="0"/>
              <a:t>These provide sensible measures of significance without additional search operations. However the biological significance of any alignment or set of alignments does not solely depend on the improbability of the alignment, but on all relevant factors known to the biologist.</a:t>
            </a:r>
          </a:p>
          <a:p>
            <a:pPr marL="0" indent="0">
              <a:buNone/>
            </a:pPr>
            <a:endParaRPr lang="zh-TW" altLang="en-US" dirty="0"/>
          </a:p>
        </p:txBody>
      </p:sp>
    </p:spTree>
    <p:extLst>
      <p:ext uri="{BB962C8B-B14F-4D97-AF65-F5344CB8AC3E}">
        <p14:creationId xmlns:p14="http://schemas.microsoft.com/office/powerpoint/2010/main" val="4136301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922114"/>
          </a:xfrm>
        </p:spPr>
        <p:txBody>
          <a:bodyPr anchor="t"/>
          <a:lstStyle/>
          <a:p>
            <a:r>
              <a:rPr lang="en-US" altLang="zh-TW" dirty="0"/>
              <a:t>Introduction</a:t>
            </a:r>
            <a:endParaRPr lang="zh-TW" altLang="en-US" dirty="0"/>
          </a:p>
        </p:txBody>
      </p:sp>
      <p:sp>
        <p:nvSpPr>
          <p:cNvPr id="3" name="內容版面配置區 2"/>
          <p:cNvSpPr>
            <a:spLocks noGrp="1"/>
          </p:cNvSpPr>
          <p:nvPr>
            <p:ph idx="1"/>
          </p:nvPr>
        </p:nvSpPr>
        <p:spPr>
          <a:xfrm>
            <a:off x="457200" y="1196752"/>
            <a:ext cx="8229600" cy="5400600"/>
          </a:xfrm>
        </p:spPr>
        <p:txBody>
          <a:bodyPr>
            <a:normAutofit/>
          </a:bodyPr>
          <a:lstStyle/>
          <a:p>
            <a:pPr marL="0" indent="0">
              <a:buNone/>
            </a:pPr>
            <a:r>
              <a:rPr lang="en-US" altLang="zh-TW" dirty="0"/>
              <a:t>Trying to answer the question: What is the probability that a similarity as strong as that observed in some specific case will occur between unrelated proteins?</a:t>
            </a:r>
          </a:p>
          <a:p>
            <a:endParaRPr lang="en-US" altLang="zh-TW" dirty="0" smtClean="0"/>
          </a:p>
          <a:p>
            <a:pPr marL="0" indent="0">
              <a:buNone/>
            </a:pPr>
            <a:r>
              <a:rPr lang="en-US" altLang="zh-TW" dirty="0" smtClean="0"/>
              <a:t>Since in any </a:t>
            </a:r>
            <a:r>
              <a:rPr lang="en-US" altLang="zh-TW" dirty="0"/>
              <a:t>large and non-specialized database, there is a wide </a:t>
            </a:r>
            <a:r>
              <a:rPr lang="en-US" altLang="zh-TW" dirty="0" smtClean="0"/>
              <a:t>variety of </a:t>
            </a:r>
            <a:r>
              <a:rPr lang="en-US" altLang="zh-TW" dirty="0"/>
              <a:t>protein types, a single family of proteins can only </a:t>
            </a:r>
            <a:r>
              <a:rPr lang="en-US" altLang="zh-TW" dirty="0" smtClean="0"/>
              <a:t>provide a limited </a:t>
            </a:r>
            <a:r>
              <a:rPr lang="en-US" altLang="zh-TW" dirty="0"/>
              <a:t>number of alignments</a:t>
            </a:r>
            <a:r>
              <a:rPr lang="en-US" altLang="zh-TW" dirty="0" smtClean="0"/>
              <a:t>.</a:t>
            </a:r>
          </a:p>
          <a:p>
            <a:endParaRPr lang="en-US" altLang="zh-TW" dirty="0" smtClean="0"/>
          </a:p>
        </p:txBody>
      </p:sp>
    </p:spTree>
    <p:extLst>
      <p:ext uri="{BB962C8B-B14F-4D97-AF65-F5344CB8AC3E}">
        <p14:creationId xmlns:p14="http://schemas.microsoft.com/office/powerpoint/2010/main" val="1577836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78098"/>
          </a:xfrm>
        </p:spPr>
        <p:txBody>
          <a:bodyPr/>
          <a:lstStyle/>
          <a:p>
            <a:r>
              <a:rPr lang="en-US" altLang="zh-TW" dirty="0"/>
              <a:t>Introduction</a:t>
            </a:r>
            <a:endParaRPr lang="zh-TW" altLang="en-US" dirty="0"/>
          </a:p>
        </p:txBody>
      </p:sp>
      <p:sp>
        <p:nvSpPr>
          <p:cNvPr id="3" name="內容版面配置區 2"/>
          <p:cNvSpPr>
            <a:spLocks noGrp="1"/>
          </p:cNvSpPr>
          <p:nvPr>
            <p:ph idx="1"/>
          </p:nvPr>
        </p:nvSpPr>
        <p:spPr>
          <a:xfrm>
            <a:off x="457200" y="1268760"/>
            <a:ext cx="8229600" cy="5328592"/>
          </a:xfrm>
        </p:spPr>
        <p:txBody>
          <a:bodyPr>
            <a:normAutofit/>
          </a:bodyPr>
          <a:lstStyle/>
          <a:p>
            <a:pPr marL="0" indent="0">
              <a:buNone/>
            </a:pPr>
            <a:r>
              <a:rPr lang="en-US" altLang="zh-TW" dirty="0" smtClean="0"/>
              <a:t>If </a:t>
            </a:r>
            <a:r>
              <a:rPr lang="en-US" altLang="zh-TW" dirty="0"/>
              <a:t>the number of results considerably exceeds the number of alignments possible from a set of related proteins, we can use the distribution of the bulk of the results to assess the significance of the high-scoring alignments, since the majority of the lower scoring alignments must be with proteins we would regard as unrelated.</a:t>
            </a:r>
            <a:endParaRPr lang="zh-TW" altLang="en-US" dirty="0"/>
          </a:p>
          <a:p>
            <a:endParaRPr lang="en-US" altLang="zh-TW" dirty="0" smtClean="0"/>
          </a:p>
        </p:txBody>
      </p:sp>
    </p:spTree>
    <p:extLst>
      <p:ext uri="{BB962C8B-B14F-4D97-AF65-F5344CB8AC3E}">
        <p14:creationId xmlns:p14="http://schemas.microsoft.com/office/powerpoint/2010/main" val="2642206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Introduction</a:t>
            </a:r>
            <a:endParaRPr lang="zh-TW" altLang="en-US" dirty="0"/>
          </a:p>
        </p:txBody>
      </p:sp>
      <p:sp>
        <p:nvSpPr>
          <p:cNvPr id="3" name="內容版面配置區 2"/>
          <p:cNvSpPr>
            <a:spLocks noGrp="1"/>
          </p:cNvSpPr>
          <p:nvPr>
            <p:ph idx="1"/>
          </p:nvPr>
        </p:nvSpPr>
        <p:spPr/>
        <p:txBody>
          <a:bodyPr/>
          <a:lstStyle/>
          <a:p>
            <a:pPr marL="0" indent="0">
              <a:buNone/>
            </a:pPr>
            <a:r>
              <a:rPr lang="en-US" altLang="zh-TW" dirty="0"/>
              <a:t>We want to predict the </a:t>
            </a:r>
            <a:r>
              <a:rPr lang="en-US" altLang="zh-TW" dirty="0" err="1"/>
              <a:t>behaviour</a:t>
            </a:r>
            <a:r>
              <a:rPr lang="en-US" altLang="zh-TW" dirty="0"/>
              <a:t> of the extreme high-scoring end of the distribution, using the observed upper end results, without including results which may have arisen from related proteins.</a:t>
            </a:r>
          </a:p>
          <a:p>
            <a:endParaRPr lang="zh-TW" altLang="en-US" dirty="0"/>
          </a:p>
        </p:txBody>
      </p:sp>
    </p:spTree>
    <p:extLst>
      <p:ext uri="{BB962C8B-B14F-4D97-AF65-F5344CB8AC3E}">
        <p14:creationId xmlns:p14="http://schemas.microsoft.com/office/powerpoint/2010/main" val="2616708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chor="t"/>
          <a:lstStyle/>
          <a:p>
            <a:r>
              <a:rPr lang="en-US" altLang="zh-TW" dirty="0" smtClean="0"/>
              <a:t>Algorithm</a:t>
            </a:r>
            <a:endParaRPr lang="zh-TW" altLang="en-US" dirty="0"/>
          </a:p>
        </p:txBody>
      </p:sp>
      <p:sp>
        <p:nvSpPr>
          <p:cNvPr id="3" name="內容版面配置區 2"/>
          <p:cNvSpPr>
            <a:spLocks noGrp="1"/>
          </p:cNvSpPr>
          <p:nvPr>
            <p:ph idx="1"/>
          </p:nvPr>
        </p:nvSpPr>
        <p:spPr>
          <a:xfrm>
            <a:off x="457200" y="1196752"/>
            <a:ext cx="8229600" cy="4929411"/>
          </a:xfrm>
        </p:spPr>
        <p:txBody>
          <a:bodyPr>
            <a:noAutofit/>
          </a:bodyPr>
          <a:lstStyle/>
          <a:p>
            <a:r>
              <a:rPr lang="en-US" altLang="zh-TW" dirty="0"/>
              <a:t>Suppose we have an alignment, represented by </a:t>
            </a:r>
            <a:r>
              <a:rPr lang="en-US" altLang="zh-TW" dirty="0" smtClean="0"/>
              <a:t>a path </a:t>
            </a:r>
            <a:r>
              <a:rPr lang="en-US" altLang="zh-TW" dirty="0"/>
              <a:t>through the match matrix, which has reached a score S. </a:t>
            </a:r>
            <a:endParaRPr lang="en-US" altLang="zh-TW" dirty="0" smtClean="0"/>
          </a:p>
          <a:p>
            <a:r>
              <a:rPr lang="en-US" altLang="zh-TW" dirty="0" smtClean="0"/>
              <a:t>The alignment </a:t>
            </a:r>
            <a:r>
              <a:rPr lang="en-US" altLang="zh-TW" dirty="0"/>
              <a:t>could be improved if, from any point reached </a:t>
            </a:r>
            <a:r>
              <a:rPr lang="en-US" altLang="zh-TW" dirty="0" smtClean="0"/>
              <a:t>with penalties </a:t>
            </a:r>
            <a:r>
              <a:rPr lang="en-US" altLang="zh-TW" dirty="0"/>
              <a:t>X, it is possible, by permissible moves to find a </a:t>
            </a:r>
            <a:r>
              <a:rPr lang="en-US" altLang="zh-TW" dirty="0" smtClean="0"/>
              <a:t>continuation which </a:t>
            </a:r>
            <a:r>
              <a:rPr lang="en-US" altLang="zh-TW" dirty="0"/>
              <a:t>can raise the score by more than X. </a:t>
            </a:r>
            <a:r>
              <a:rPr lang="en-US" altLang="zh-TW" dirty="0" smtClean="0"/>
              <a:t>The greater the </a:t>
            </a:r>
            <a:r>
              <a:rPr lang="en-US" altLang="zh-TW" dirty="0"/>
              <a:t>loss of score, X, the less likely a net improvement </a:t>
            </a:r>
            <a:r>
              <a:rPr lang="en-US" altLang="zh-TW" dirty="0" smtClean="0"/>
              <a:t>becomes.</a:t>
            </a:r>
          </a:p>
          <a:p>
            <a:endParaRPr lang="en-US" altLang="zh-TW" sz="2000" dirty="0" smtClean="0"/>
          </a:p>
        </p:txBody>
      </p:sp>
    </p:spTree>
    <p:extLst>
      <p:ext uri="{BB962C8B-B14F-4D97-AF65-F5344CB8AC3E}">
        <p14:creationId xmlns:p14="http://schemas.microsoft.com/office/powerpoint/2010/main" val="1751685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chor="t"/>
          <a:lstStyle/>
          <a:p>
            <a:r>
              <a:rPr lang="en-US" altLang="zh-TW" dirty="0" smtClean="0"/>
              <a:t>Algorithm</a:t>
            </a:r>
            <a:endParaRPr lang="zh-TW" altLang="en-US" dirty="0"/>
          </a:p>
        </p:txBody>
      </p:sp>
      <p:sp>
        <p:nvSpPr>
          <p:cNvPr id="3" name="內容版面配置區 2"/>
          <p:cNvSpPr>
            <a:spLocks noGrp="1"/>
          </p:cNvSpPr>
          <p:nvPr>
            <p:ph idx="1"/>
          </p:nvPr>
        </p:nvSpPr>
        <p:spPr>
          <a:xfrm>
            <a:off x="457200" y="1052736"/>
            <a:ext cx="8229600" cy="5472608"/>
          </a:xfrm>
        </p:spPr>
        <p:txBody>
          <a:bodyPr>
            <a:normAutofit fontScale="92500" lnSpcReduction="10000"/>
          </a:bodyPr>
          <a:lstStyle/>
          <a:p>
            <a:pPr marL="0" indent="0">
              <a:buNone/>
            </a:pPr>
            <a:r>
              <a:rPr lang="en-US" altLang="zh-TW" dirty="0" smtClean="0"/>
              <a:t>The </a:t>
            </a:r>
            <a:r>
              <a:rPr lang="en-US" altLang="zh-TW" dirty="0"/>
              <a:t>probability of improving an alignment is therefore determined largely by the chance of an improvement starting relatively close to the current end. </a:t>
            </a:r>
            <a:r>
              <a:rPr lang="en-US" altLang="zh-TW" dirty="0" smtClean="0"/>
              <a:t>This </a:t>
            </a:r>
            <a:r>
              <a:rPr lang="en-US" altLang="zh-TW" dirty="0"/>
              <a:t>chance does not depend on the current value of S. If the probability of improvement is independent of S then the population of alignments scoring more than S will be a constant fraction of the number scoring S</a:t>
            </a:r>
            <a:r>
              <a:rPr lang="en-US" altLang="zh-TW" dirty="0" smtClean="0"/>
              <a:t>.</a:t>
            </a:r>
          </a:p>
          <a:p>
            <a:pPr marL="0" indent="0">
              <a:buNone/>
            </a:pPr>
            <a:endParaRPr lang="en-US" altLang="zh-TW" dirty="0" smtClean="0"/>
          </a:p>
          <a:p>
            <a:pPr marL="0" indent="0">
              <a:buNone/>
            </a:pPr>
            <a:r>
              <a:rPr lang="en-US" altLang="zh-TW" dirty="0" smtClean="0"/>
              <a:t>That </a:t>
            </a:r>
            <a:r>
              <a:rPr lang="en-US" altLang="zh-TW" dirty="0"/>
              <a:t>is, we have described a process which predicts exponentially declining populations of alignments as the score </a:t>
            </a:r>
            <a:r>
              <a:rPr lang="en-US" altLang="zh-TW" dirty="0" smtClean="0"/>
              <a:t>increases.</a:t>
            </a:r>
            <a:endParaRPr lang="en-US" altLang="zh-TW" dirty="0"/>
          </a:p>
          <a:p>
            <a:endParaRPr lang="zh-TW" altLang="en-US" dirty="0"/>
          </a:p>
        </p:txBody>
      </p:sp>
    </p:spTree>
    <p:extLst>
      <p:ext uri="{BB962C8B-B14F-4D97-AF65-F5344CB8AC3E}">
        <p14:creationId xmlns:p14="http://schemas.microsoft.com/office/powerpoint/2010/main" val="6722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chor="t"/>
          <a:lstStyle/>
          <a:p>
            <a:r>
              <a:rPr lang="en-US" altLang="zh-TW" dirty="0"/>
              <a:t>Algorithm</a:t>
            </a:r>
            <a:endParaRPr lang="zh-TW" altLang="en-US" dirty="0"/>
          </a:p>
        </p:txBody>
      </p:sp>
      <p:sp>
        <p:nvSpPr>
          <p:cNvPr id="3" name="內容版面配置區 2"/>
          <p:cNvSpPr>
            <a:spLocks noGrp="1"/>
          </p:cNvSpPr>
          <p:nvPr>
            <p:ph idx="1"/>
          </p:nvPr>
        </p:nvSpPr>
        <p:spPr>
          <a:xfrm>
            <a:off x="516601" y="1124744"/>
            <a:ext cx="4033873" cy="792088"/>
          </a:xfrm>
        </p:spPr>
        <p:txBody>
          <a:bodyPr>
            <a:normAutofit fontScale="85000" lnSpcReduction="20000"/>
          </a:bodyPr>
          <a:lstStyle/>
          <a:p>
            <a:pPr marL="0" indent="0">
              <a:buNone/>
            </a:pPr>
            <a:r>
              <a:rPr lang="en-US" altLang="zh-TW" sz="2800" dirty="0" smtClean="0">
                <a:cs typeface="Times New Roman" pitchFamily="18" charset="0"/>
              </a:rPr>
              <a:t> </a:t>
            </a:r>
            <a:r>
              <a:rPr lang="zh-TW" altLang="en-US" sz="2800" dirty="0" smtClean="0">
                <a:cs typeface="Times New Roman" pitchFamily="18" charset="0"/>
              </a:rPr>
              <a:t>ＴＨＩＳＬＩＮＥ－</a:t>
            </a:r>
            <a:endParaRPr lang="en-US" altLang="zh-TW" sz="2800" dirty="0" smtClean="0">
              <a:cs typeface="Times New Roman" pitchFamily="18" charset="0"/>
            </a:endParaRPr>
          </a:p>
          <a:p>
            <a:pPr marL="0" indent="0">
              <a:buNone/>
            </a:pPr>
            <a:r>
              <a:rPr lang="zh-TW" altLang="en-US" sz="2800" dirty="0" smtClean="0">
                <a:cs typeface="Times New Roman" pitchFamily="18" charset="0"/>
              </a:rPr>
              <a:t>ＩＳＡＬＩＧＮＥＤ</a:t>
            </a:r>
            <a:endParaRPr lang="zh-TW" altLang="en-US" sz="2800" dirty="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132856"/>
            <a:ext cx="7191041" cy="4485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5923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C:\Users\yotsuki\Desktop\擷取.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2060848"/>
            <a:ext cx="4311761" cy="4538142"/>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p:cNvSpPr>
            <a:spLocks noGrp="1"/>
          </p:cNvSpPr>
          <p:nvPr>
            <p:ph type="title"/>
          </p:nvPr>
        </p:nvSpPr>
        <p:spPr/>
        <p:txBody>
          <a:bodyPr anchor="t"/>
          <a:lstStyle/>
          <a:p>
            <a:r>
              <a:rPr lang="en-US" altLang="zh-TW" dirty="0"/>
              <a:t>Algorithm</a:t>
            </a:r>
            <a:endParaRPr lang="zh-TW" altLang="en-US" dirty="0"/>
          </a:p>
        </p:txBody>
      </p:sp>
      <p:sp>
        <p:nvSpPr>
          <p:cNvPr id="3" name="內容版面配置區 2"/>
          <p:cNvSpPr>
            <a:spLocks noGrp="1"/>
          </p:cNvSpPr>
          <p:nvPr>
            <p:ph idx="1"/>
          </p:nvPr>
        </p:nvSpPr>
        <p:spPr>
          <a:xfrm>
            <a:off x="118344" y="836712"/>
            <a:ext cx="5101728" cy="5832648"/>
          </a:xfrm>
        </p:spPr>
        <p:txBody>
          <a:bodyPr>
            <a:normAutofit/>
          </a:bodyPr>
          <a:lstStyle/>
          <a:p>
            <a:pPr marL="0" indent="0">
              <a:buNone/>
            </a:pPr>
            <a:r>
              <a:rPr lang="en-US" altLang="zh-TW" dirty="0"/>
              <a:t>To assess the significance of </a:t>
            </a:r>
            <a:r>
              <a:rPr lang="en-US" altLang="zh-TW" dirty="0" smtClean="0"/>
              <a:t>the high-scoring </a:t>
            </a:r>
            <a:r>
              <a:rPr lang="en-US" altLang="zh-TW" dirty="0"/>
              <a:t>alignments, we fit the best straight line to the </a:t>
            </a:r>
            <a:r>
              <a:rPr lang="en-US" altLang="zh-TW" dirty="0" smtClean="0"/>
              <a:t>logs of </a:t>
            </a:r>
            <a:r>
              <a:rPr lang="en-US" altLang="zh-TW" dirty="0"/>
              <a:t>the numbers of observed alignments, against the score</a:t>
            </a:r>
            <a:r>
              <a:rPr lang="en-US" altLang="zh-TW" dirty="0" smtClean="0"/>
              <a:t>.</a:t>
            </a:r>
          </a:p>
          <a:p>
            <a:pPr marL="0" indent="0">
              <a:buNone/>
            </a:pPr>
            <a:endParaRPr lang="en-US" altLang="zh-TW" dirty="0"/>
          </a:p>
          <a:p>
            <a:pPr marL="0" indent="0">
              <a:buNone/>
            </a:pPr>
            <a:r>
              <a:rPr lang="en-US" altLang="zh-TW" dirty="0" smtClean="0"/>
              <a:t>Only classes </a:t>
            </a:r>
            <a:r>
              <a:rPr lang="en-US" altLang="zh-TW" dirty="0"/>
              <a:t>containing the lower 97% of the alignments, </a:t>
            </a:r>
            <a:r>
              <a:rPr lang="en-US" altLang="zh-TW" dirty="0" smtClean="0"/>
              <a:t>arising from </a:t>
            </a:r>
            <a:r>
              <a:rPr lang="en-US" altLang="zh-TW" dirty="0"/>
              <a:t>unrelated </a:t>
            </a:r>
            <a:r>
              <a:rPr lang="en-US" altLang="zh-TW" dirty="0" smtClean="0"/>
              <a:t>proteins</a:t>
            </a:r>
            <a:r>
              <a:rPr lang="en-US" altLang="zh-TW" dirty="0"/>
              <a:t>, are used.</a:t>
            </a:r>
            <a:endParaRPr lang="zh-TW" altLang="en-US" dirty="0"/>
          </a:p>
        </p:txBody>
      </p:sp>
    </p:spTree>
    <p:extLst>
      <p:ext uri="{BB962C8B-B14F-4D97-AF65-F5344CB8AC3E}">
        <p14:creationId xmlns:p14="http://schemas.microsoft.com/office/powerpoint/2010/main" val="3795454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yotsuki\Desktop\擷取.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2171203"/>
            <a:ext cx="4188212" cy="4706144"/>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p:cNvSpPr>
            <a:spLocks noGrp="1"/>
          </p:cNvSpPr>
          <p:nvPr>
            <p:ph type="title"/>
          </p:nvPr>
        </p:nvSpPr>
        <p:spPr/>
        <p:txBody>
          <a:bodyPr anchor="t"/>
          <a:lstStyle/>
          <a:p>
            <a:r>
              <a:rPr lang="en-US" altLang="zh-TW" dirty="0"/>
              <a:t>Algorithm</a:t>
            </a:r>
            <a:endParaRPr lang="zh-TW" altLang="en-US" dirty="0"/>
          </a:p>
        </p:txBody>
      </p:sp>
      <p:sp>
        <p:nvSpPr>
          <p:cNvPr id="3" name="內容版面配置區 2"/>
          <p:cNvSpPr>
            <a:spLocks noGrp="1"/>
          </p:cNvSpPr>
          <p:nvPr>
            <p:ph idx="1"/>
          </p:nvPr>
        </p:nvSpPr>
        <p:spPr>
          <a:xfrm>
            <a:off x="457200" y="1124744"/>
            <a:ext cx="4690864" cy="5544615"/>
          </a:xfrm>
        </p:spPr>
        <p:txBody>
          <a:bodyPr>
            <a:noAutofit/>
          </a:bodyPr>
          <a:lstStyle/>
          <a:p>
            <a:pPr marL="0" indent="0">
              <a:buNone/>
            </a:pPr>
            <a:r>
              <a:rPr lang="en-US" altLang="zh-TW" sz="2800" dirty="0" smtClean="0"/>
              <a:t>The </a:t>
            </a:r>
            <a:r>
              <a:rPr lang="en-US" altLang="zh-TW" sz="2800" dirty="0"/>
              <a:t>parameters </a:t>
            </a:r>
            <a:r>
              <a:rPr lang="en-US" altLang="zh-TW" sz="2800" dirty="0" smtClean="0"/>
              <a:t>obtained allow </a:t>
            </a:r>
            <a:r>
              <a:rPr lang="en-US" altLang="zh-TW" sz="2800" dirty="0"/>
              <a:t>us to predict the expected frequency with which </a:t>
            </a:r>
            <a:r>
              <a:rPr lang="en-US" altLang="zh-TW" sz="2800" dirty="0" smtClean="0"/>
              <a:t>any specific </a:t>
            </a:r>
            <a:r>
              <a:rPr lang="en-US" altLang="zh-TW" sz="2800" dirty="0"/>
              <a:t>score class should be observed. </a:t>
            </a:r>
            <a:endParaRPr lang="en-US" altLang="zh-TW" sz="2800" dirty="0" smtClean="0"/>
          </a:p>
          <a:p>
            <a:pPr marL="0" indent="0">
              <a:buNone/>
            </a:pPr>
            <a:r>
              <a:rPr lang="en-US" altLang="zh-TW" sz="2800" dirty="0" smtClean="0"/>
              <a:t>A </a:t>
            </a:r>
            <a:r>
              <a:rPr lang="en-US" altLang="zh-TW" sz="2800" dirty="0"/>
              <a:t>search of the </a:t>
            </a:r>
            <a:r>
              <a:rPr lang="en-US" altLang="zh-TW" sz="2800" dirty="0" smtClean="0"/>
              <a:t>database with </a:t>
            </a:r>
            <a:r>
              <a:rPr lang="en-US" altLang="zh-TW" sz="2800" dirty="0"/>
              <a:t>a query sequence derived by randomly shuffling a </a:t>
            </a:r>
            <a:r>
              <a:rPr lang="en-US" altLang="zh-TW" sz="2800" dirty="0" smtClean="0"/>
              <a:t>real protein </a:t>
            </a:r>
            <a:r>
              <a:rPr lang="en-US" altLang="zh-TW" sz="2800" dirty="0"/>
              <a:t>sequence should generate a distribution of results </a:t>
            </a:r>
            <a:r>
              <a:rPr lang="en-US" altLang="zh-TW" sz="2800" dirty="0" smtClean="0"/>
              <a:t>which conforms </a:t>
            </a:r>
            <a:r>
              <a:rPr lang="en-US" altLang="zh-TW" sz="2800" dirty="0"/>
              <a:t>throughout to the linear model</a:t>
            </a:r>
            <a:r>
              <a:rPr lang="en-US" altLang="zh-TW" sz="2800" dirty="0" smtClean="0"/>
              <a:t>.</a:t>
            </a:r>
            <a:endParaRPr lang="zh-TW" altLang="en-US" sz="2800" dirty="0"/>
          </a:p>
        </p:txBody>
      </p:sp>
    </p:spTree>
    <p:extLst>
      <p:ext uri="{BB962C8B-B14F-4D97-AF65-F5344CB8AC3E}">
        <p14:creationId xmlns:p14="http://schemas.microsoft.com/office/powerpoint/2010/main" val="3756326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chor="t"/>
          <a:lstStyle/>
          <a:p>
            <a:r>
              <a:rPr lang="en-US" altLang="zh-TW" dirty="0" smtClean="0"/>
              <a:t>Conclusion</a:t>
            </a:r>
            <a:endParaRPr lang="zh-TW" altLang="en-US" dirty="0"/>
          </a:p>
        </p:txBody>
      </p:sp>
      <p:sp>
        <p:nvSpPr>
          <p:cNvPr id="3" name="內容版面配置區 2"/>
          <p:cNvSpPr>
            <a:spLocks noGrp="1"/>
          </p:cNvSpPr>
          <p:nvPr>
            <p:ph idx="1"/>
          </p:nvPr>
        </p:nvSpPr>
        <p:spPr>
          <a:xfrm>
            <a:off x="457200" y="1124744"/>
            <a:ext cx="8229600" cy="5544616"/>
          </a:xfrm>
        </p:spPr>
        <p:txBody>
          <a:bodyPr>
            <a:normAutofit/>
          </a:bodyPr>
          <a:lstStyle/>
          <a:p>
            <a:pPr marL="0" indent="0">
              <a:buNone/>
            </a:pPr>
            <a:r>
              <a:rPr lang="en-US" altLang="zh-TW" dirty="0"/>
              <a:t>The expected frequency is the expectation that an </a:t>
            </a:r>
            <a:r>
              <a:rPr lang="en-US" altLang="zh-TW" dirty="0" smtClean="0"/>
              <a:t>alignment with </a:t>
            </a:r>
            <a:r>
              <a:rPr lang="en-US" altLang="zh-TW" dirty="0"/>
              <a:t>a specified score occurs by chance in comparisons </a:t>
            </a:r>
            <a:r>
              <a:rPr lang="en-US" altLang="zh-TW" dirty="0" smtClean="0"/>
              <a:t>with a </a:t>
            </a:r>
            <a:r>
              <a:rPr lang="en-US" altLang="zh-TW" dirty="0"/>
              <a:t>reference set of sequences as large as the database </a:t>
            </a:r>
            <a:r>
              <a:rPr lang="en-US" altLang="zh-TW" dirty="0" smtClean="0"/>
              <a:t>used, containing only </a:t>
            </a:r>
            <a:r>
              <a:rPr lang="en-US" altLang="zh-TW" dirty="0"/>
              <a:t>unrelated sequences. </a:t>
            </a:r>
            <a:r>
              <a:rPr lang="en-US" altLang="zh-TW" dirty="0" smtClean="0"/>
              <a:t>It </a:t>
            </a:r>
            <a:r>
              <a:rPr lang="en-US" altLang="zh-TW" dirty="0"/>
              <a:t>has the </a:t>
            </a:r>
            <a:r>
              <a:rPr lang="en-US" altLang="zh-TW" dirty="0" smtClean="0"/>
              <a:t>disadvantage that </a:t>
            </a:r>
            <a:r>
              <a:rPr lang="en-US" altLang="zh-TW" dirty="0"/>
              <a:t>the expected frequency depends on the size of the </a:t>
            </a:r>
            <a:r>
              <a:rPr lang="en-US" altLang="zh-TW" dirty="0" smtClean="0"/>
              <a:t>database used.</a:t>
            </a:r>
          </a:p>
        </p:txBody>
      </p:sp>
    </p:spTree>
    <p:extLst>
      <p:ext uri="{BB962C8B-B14F-4D97-AF65-F5344CB8AC3E}">
        <p14:creationId xmlns:p14="http://schemas.microsoft.com/office/powerpoint/2010/main" val="800208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chor="t"/>
          <a:lstStyle/>
          <a:p>
            <a:r>
              <a:rPr lang="en-US" altLang="zh-TW" dirty="0"/>
              <a:t>Conclusion</a:t>
            </a:r>
            <a:endParaRPr lang="zh-TW" altLang="en-US" dirty="0"/>
          </a:p>
        </p:txBody>
      </p:sp>
      <p:sp>
        <p:nvSpPr>
          <p:cNvPr id="3" name="內容版面配置區 2"/>
          <p:cNvSpPr>
            <a:spLocks noGrp="1"/>
          </p:cNvSpPr>
          <p:nvPr>
            <p:ph idx="1"/>
          </p:nvPr>
        </p:nvSpPr>
        <p:spPr/>
        <p:txBody>
          <a:bodyPr/>
          <a:lstStyle/>
          <a:p>
            <a:pPr marL="0" indent="0">
              <a:buNone/>
            </a:pPr>
            <a:r>
              <a:rPr lang="en-US" altLang="zh-TW" dirty="0"/>
              <a:t>The larger this is, the more comparisons are made with unrelated proteins and the higher will be the scores of alignments reached by a chance similarity. </a:t>
            </a:r>
            <a:endParaRPr lang="en-US" altLang="zh-TW" dirty="0" smtClean="0"/>
          </a:p>
          <a:p>
            <a:pPr marL="0" indent="0">
              <a:buNone/>
            </a:pPr>
            <a:endParaRPr lang="en-US" altLang="zh-TW" dirty="0" smtClean="0"/>
          </a:p>
          <a:p>
            <a:pPr marL="0" indent="0">
              <a:buNone/>
            </a:pPr>
            <a:r>
              <a:rPr lang="en-US" altLang="zh-TW" dirty="0" smtClean="0"/>
              <a:t>This </a:t>
            </a:r>
            <a:r>
              <a:rPr lang="en-US" altLang="zh-TW" dirty="0"/>
              <a:t>problem could be overcome by 'normalizing' the results to a standard-sized database</a:t>
            </a:r>
          </a:p>
          <a:p>
            <a:endParaRPr lang="zh-TW" altLang="en-US" dirty="0"/>
          </a:p>
        </p:txBody>
      </p:sp>
    </p:spTree>
    <p:extLst>
      <p:ext uri="{BB962C8B-B14F-4D97-AF65-F5344CB8AC3E}">
        <p14:creationId xmlns:p14="http://schemas.microsoft.com/office/powerpoint/2010/main" val="216063871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1553</TotalTime>
  <Words>659</Words>
  <Application>Microsoft Office PowerPoint</Application>
  <PresentationFormat>如螢幕大小 (4:3)</PresentationFormat>
  <Paragraphs>39</Paragraphs>
  <Slides>13</Slides>
  <Notes>0</Notes>
  <HiddenSlides>0</HiddenSlides>
  <MMClips>0</MMClips>
  <ScaleCrop>false</ScaleCrop>
  <HeadingPairs>
    <vt:vector size="4" baseType="variant">
      <vt:variant>
        <vt:lpstr>佈景主題</vt:lpstr>
      </vt:variant>
      <vt:variant>
        <vt:i4>1</vt:i4>
      </vt:variant>
      <vt:variant>
        <vt:lpstr>投影片標題</vt:lpstr>
      </vt:variant>
      <vt:variant>
        <vt:i4>13</vt:i4>
      </vt:variant>
    </vt:vector>
  </HeadingPairs>
  <TitlesOfParts>
    <vt:vector size="14" baseType="lpstr">
      <vt:lpstr>Office 佈景主題</vt:lpstr>
      <vt:lpstr>The significance of protein sequence similarities</vt:lpstr>
      <vt:lpstr>Abstract</vt:lpstr>
      <vt:lpstr>Abstract</vt:lpstr>
      <vt:lpstr>Introduction</vt:lpstr>
      <vt:lpstr>Introduction</vt:lpstr>
      <vt:lpstr>Introduction</vt:lpstr>
      <vt:lpstr>Algorithm</vt:lpstr>
      <vt:lpstr>Algorithm</vt:lpstr>
      <vt:lpstr>Algorithm</vt:lpstr>
      <vt:lpstr>Algorithm</vt:lpstr>
      <vt:lpstr>Algorithm</vt:lpstr>
      <vt:lpstr>Conclusion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yotsuki</dc:creator>
  <cp:lastModifiedBy>yotsuki</cp:lastModifiedBy>
  <cp:revision>35</cp:revision>
  <dcterms:created xsi:type="dcterms:W3CDTF">2013-12-29T13:18:03Z</dcterms:created>
  <dcterms:modified xsi:type="dcterms:W3CDTF">2014-02-10T08:31:49Z</dcterms:modified>
</cp:coreProperties>
</file>