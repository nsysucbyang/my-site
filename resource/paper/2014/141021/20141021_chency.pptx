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9" r:id="rId3"/>
    <p:sldId id="257" r:id="rId4"/>
    <p:sldId id="260" r:id="rId5"/>
    <p:sldId id="262" r:id="rId6"/>
    <p:sldId id="261" r:id="rId7"/>
    <p:sldId id="263" r:id="rId8"/>
    <p:sldId id="272" r:id="rId9"/>
    <p:sldId id="277" r:id="rId10"/>
    <p:sldId id="264" r:id="rId11"/>
    <p:sldId id="266" r:id="rId12"/>
    <p:sldId id="267" r:id="rId13"/>
    <p:sldId id="273" r:id="rId14"/>
    <p:sldId id="279" r:id="rId15"/>
    <p:sldId id="281" r:id="rId16"/>
    <p:sldId id="282" r:id="rId17"/>
    <p:sldId id="289" r:id="rId18"/>
    <p:sldId id="290" r:id="rId19"/>
    <p:sldId id="292" r:id="rId20"/>
    <p:sldId id="293" r:id="rId21"/>
    <p:sldId id="294" r:id="rId22"/>
    <p:sldId id="284" r:id="rId23"/>
    <p:sldId id="285" r:id="rId24"/>
    <p:sldId id="286" r:id="rId25"/>
    <p:sldId id="287" r:id="rId26"/>
    <p:sldId id="288" r:id="rId27"/>
    <p:sldId id="283" r:id="rId28"/>
    <p:sldId id="278" r:id="rId29"/>
    <p:sldId id="275" r:id="rId30"/>
    <p:sldId id="276" r:id="rId31"/>
    <p:sldId id="274" r:id="rId32"/>
    <p:sldId id="269" r:id="rId33"/>
    <p:sldId id="270" r:id="rId34"/>
    <p:sldId id="271" r:id="rId35"/>
    <p:sldId id="295" r:id="rId36"/>
  </p:sldIdLst>
  <p:sldSz cx="9144000" cy="6858000" type="screen4x3"/>
  <p:notesSz cx="9947275" cy="6858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Cambria Math" panose="02040503050406030204" pitchFamily="18" charset="0"/>
      <p:regular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Bauhaus 93" panose="04030905020B02020C02" pitchFamily="82" charset="0"/>
      <p:regular r:id="rId48"/>
    </p:embeddedFont>
    <p:embeddedFont>
      <p:font typeface="Calibri Light" panose="020F0302020204030204" pitchFamily="34" charset="0"/>
      <p:regular r:id="rId49"/>
      <p:italic r:id="rId50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4214BD7-75BE-42EC-9981-870E6080E0B8}">
          <p14:sldIdLst>
            <p14:sldId id="256"/>
            <p14:sldId id="259"/>
            <p14:sldId id="257"/>
            <p14:sldId id="260"/>
            <p14:sldId id="262"/>
            <p14:sldId id="261"/>
            <p14:sldId id="263"/>
            <p14:sldId id="272"/>
            <p14:sldId id="277"/>
            <p14:sldId id="264"/>
            <p14:sldId id="266"/>
            <p14:sldId id="267"/>
            <p14:sldId id="273"/>
            <p14:sldId id="279"/>
            <p14:sldId id="281"/>
          </p14:sldIdLst>
        </p14:section>
        <p14:section name="未命名的章節" id="{E4937C3B-2211-48E5-85FB-FC09484DFD4E}">
          <p14:sldIdLst>
            <p14:sldId id="282"/>
            <p14:sldId id="289"/>
            <p14:sldId id="290"/>
            <p14:sldId id="292"/>
            <p14:sldId id="293"/>
            <p14:sldId id="294"/>
            <p14:sldId id="284"/>
            <p14:sldId id="285"/>
            <p14:sldId id="286"/>
            <p14:sldId id="287"/>
            <p14:sldId id="288"/>
            <p14:sldId id="283"/>
            <p14:sldId id="278"/>
            <p14:sldId id="275"/>
            <p14:sldId id="276"/>
            <p14:sldId id="274"/>
            <p14:sldId id="269"/>
            <p14:sldId id="270"/>
            <p14:sldId id="271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319"/>
    <a:srgbClr val="7C480A"/>
    <a:srgbClr val="67730D"/>
    <a:srgbClr val="0D0D73"/>
    <a:srgbClr val="730D58"/>
    <a:srgbClr val="1AE632"/>
    <a:srgbClr val="CEE61A"/>
    <a:srgbClr val="1A1AE6"/>
    <a:srgbClr val="E61AB1"/>
    <a:srgbClr val="F6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>
        <p:scale>
          <a:sx n="75" d="100"/>
          <a:sy n="75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D4D85-8956-4685-BA5F-509ADA39D460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265A-09C9-4B1F-B437-6207FF0D2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202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B63FA-B0AB-4A1D-A566-7A2CDCA5D5F9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D86CE-B8AA-4ECA-9256-6719F460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66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長度一的通常會有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個，長度</a:t>
            </a:r>
            <a:r>
              <a:rPr lang="en-US" altLang="zh-TW" dirty="0" smtClean="0"/>
              <a:t>n</a:t>
            </a:r>
            <a:r>
              <a:rPr lang="zh-TW" altLang="en-US" dirty="0" smtClean="0"/>
              <a:t>的通常會有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個，所以不討論。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299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因為出現在</a:t>
            </a:r>
            <a:r>
              <a:rPr lang="en-US" altLang="zh-TW" dirty="0" smtClean="0"/>
              <a:t>S_1</a:t>
            </a:r>
            <a:r>
              <a:rPr lang="zh-TW" altLang="en-US" dirty="0" smtClean="0"/>
              <a:t>的不一定會出現在</a:t>
            </a:r>
            <a:r>
              <a:rPr lang="en-US" altLang="zh-TW" dirty="0" smtClean="0"/>
              <a:t>S_2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556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mtClean="0"/>
              <a:t>Ignore Length 1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257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mtClean="0"/>
              <a:t>因為基因會複製也會搞丟，所以出現了多種的基因組定義。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686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813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7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19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9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28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72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56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5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21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08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60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C2EE19-D411-4139-966F-E5A6CCF65278}" type="datetimeFigureOut">
              <a:rPr lang="zh-TW" altLang="en-US" smtClean="0"/>
              <a:t>2014/10/21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Efficient  Algorithm for Common </a:t>
            </a:r>
            <a:r>
              <a:rPr lang="en-US" altLang="zh-TW" dirty="0"/>
              <a:t>Combination</a:t>
            </a:r>
            <a:r>
              <a:rPr lang="en-US" altLang="zh-TW" dirty="0" smtClean="0"/>
              <a:t> Interval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Student: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</a:t>
            </a:r>
            <a:r>
              <a:rPr lang="zh-TW" altLang="en-US" dirty="0" smtClean="0"/>
              <a:t>（陳慶耀）</a:t>
            </a:r>
            <a:endParaRPr lang="en-US" altLang="zh-TW" dirty="0" smtClean="0"/>
          </a:p>
          <a:p>
            <a:r>
              <a:rPr lang="en-US" altLang="zh-TW" dirty="0" smtClean="0"/>
              <a:t>Advisor: Chang-</a:t>
            </a:r>
            <a:r>
              <a:rPr lang="en-US" altLang="zh-TW" dirty="0" err="1" smtClean="0"/>
              <a:t>Biau</a:t>
            </a:r>
            <a:r>
              <a:rPr lang="en-US" altLang="zh-TW" dirty="0" smtClean="0"/>
              <a:t> Yang</a:t>
            </a:r>
            <a:r>
              <a:rPr lang="zh-TW" altLang="en-US" dirty="0" smtClean="0"/>
              <a:t>（楊昌彪）</a:t>
            </a:r>
            <a:endParaRPr lang="en-US" altLang="zh-TW" dirty="0" smtClean="0"/>
          </a:p>
          <a:p>
            <a:r>
              <a:rPr lang="en-US" altLang="zh-TW" dirty="0" smtClean="0"/>
              <a:t>Date: OCT. </a:t>
            </a:r>
            <a:r>
              <a:rPr lang="en-US" altLang="zh-TW" dirty="0" smtClean="0"/>
              <a:t>21,2014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895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altLang="zh-TW" sz="2000" dirty="0" smtClean="0"/>
              <a:t>Introduction</a:t>
            </a:r>
          </a:p>
          <a:p>
            <a:pPr lvl="2"/>
            <a:r>
              <a:rPr lang="en-US" altLang="zh-TW" sz="1200" dirty="0" smtClean="0"/>
              <a:t>Common Interval of Two Permutations</a:t>
            </a:r>
          </a:p>
          <a:p>
            <a:pPr lvl="2"/>
            <a:r>
              <a:rPr lang="en-US" altLang="zh-TW" sz="1200" dirty="0" smtClean="0"/>
              <a:t>Common Interval of K Permutations</a:t>
            </a:r>
          </a:p>
          <a:p>
            <a:pPr lvl="2"/>
            <a:r>
              <a:rPr lang="en-US" altLang="zh-TW" sz="1200" dirty="0" smtClean="0"/>
              <a:t>Common Interval of Two Sequences</a:t>
            </a:r>
          </a:p>
          <a:p>
            <a:pPr lvl="2"/>
            <a:r>
              <a:rPr lang="en-US" altLang="zh-TW" sz="1200" dirty="0" smtClean="0"/>
              <a:t>Common Interval of K Sequences</a:t>
            </a:r>
          </a:p>
          <a:p>
            <a:pPr lvl="2"/>
            <a:r>
              <a:rPr lang="en-US" altLang="zh-TW" sz="1200" dirty="0"/>
              <a:t>Common </a:t>
            </a:r>
            <a:r>
              <a:rPr lang="en-US" altLang="zh-TW" sz="1200" dirty="0" smtClean="0"/>
              <a:t>Combination Interval</a:t>
            </a:r>
          </a:p>
          <a:p>
            <a:pPr lvl="1"/>
            <a:r>
              <a:rPr lang="en-US" altLang="zh-TW" sz="2000" dirty="0" smtClean="0"/>
              <a:t>Movement</a:t>
            </a:r>
          </a:p>
          <a:p>
            <a:pPr lvl="1"/>
            <a:r>
              <a:rPr lang="en-US" altLang="zh-TW" sz="2000" dirty="0" smtClean="0"/>
              <a:t>Our Methods For Common </a:t>
            </a:r>
            <a:r>
              <a:rPr lang="en-US" altLang="zh-TW" sz="2000" dirty="0"/>
              <a:t>Combination </a:t>
            </a:r>
            <a:r>
              <a:rPr lang="en-US" altLang="zh-TW" sz="2000" dirty="0" smtClean="0"/>
              <a:t>Interval Problem</a:t>
            </a:r>
          </a:p>
          <a:p>
            <a:pPr lvl="2"/>
            <a:r>
              <a:rPr lang="en-US" altLang="zh-TW" sz="1200" dirty="0" smtClean="0"/>
              <a:t>Method I</a:t>
            </a:r>
          </a:p>
          <a:p>
            <a:pPr lvl="2"/>
            <a:r>
              <a:rPr lang="en-US" altLang="zh-TW" sz="1200" dirty="0" smtClean="0"/>
              <a:t>Method </a:t>
            </a:r>
            <a:r>
              <a:rPr lang="en-US" altLang="zh-TW" sz="1200" dirty="0"/>
              <a:t>II</a:t>
            </a:r>
          </a:p>
          <a:p>
            <a:pPr lvl="2"/>
            <a:r>
              <a:rPr lang="en-US" altLang="zh-TW" sz="1200" dirty="0"/>
              <a:t>Method </a:t>
            </a:r>
            <a:r>
              <a:rPr lang="en-US" altLang="zh-TW" sz="1200" dirty="0" smtClean="0"/>
              <a:t>III</a:t>
            </a:r>
            <a:endParaRPr lang="en-US" altLang="zh-TW" sz="1200" dirty="0"/>
          </a:p>
          <a:p>
            <a:pPr lvl="1"/>
            <a:r>
              <a:rPr lang="en-US" altLang="zh-TW" sz="2000" dirty="0" smtClean="0"/>
              <a:t>Experimental Methods</a:t>
            </a:r>
          </a:p>
          <a:p>
            <a:pPr lvl="1"/>
            <a:r>
              <a:rPr lang="en-US" altLang="zh-TW" sz="2000" dirty="0" smtClean="0"/>
              <a:t>Now Result</a:t>
            </a:r>
            <a:endParaRPr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45143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Two Permutations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smtClean="0"/>
              <a:t>Interval: </a:t>
            </a:r>
            <a:r>
              <a:rPr lang="en-US" altLang="zh-TW" dirty="0" err="1" smtClean="0"/>
              <a:t>db</a:t>
            </a:r>
            <a:r>
              <a:rPr lang="en-US" altLang="zh-TW" dirty="0" err="1" smtClean="0">
                <a:solidFill>
                  <a:srgbClr val="FF0000"/>
                </a:solidFill>
              </a:rPr>
              <a:t>ca</a:t>
            </a:r>
            <a:r>
              <a:rPr lang="en-US" altLang="zh-TW" dirty="0" err="1"/>
              <a:t>g</a:t>
            </a:r>
            <a:r>
              <a:rPr lang="en-US" altLang="zh-TW" dirty="0" err="1" smtClean="0"/>
              <a:t>fe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 {</a:t>
            </a:r>
            <a:r>
              <a:rPr lang="en-US" altLang="zh-TW" dirty="0" err="1" smtClean="0">
                <a:sym typeface="Wingdings" panose="05000000000000000000" pitchFamily="2" charset="2"/>
              </a:rPr>
              <a:t>a,c</a:t>
            </a:r>
            <a:r>
              <a:rPr lang="en-US" altLang="zh-TW" dirty="0" smtClean="0">
                <a:sym typeface="Wingdings" panose="05000000000000000000" pitchFamily="2" charset="2"/>
              </a:rPr>
              <a:t>}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Common Interval: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abcdefghij</a:t>
            </a:r>
            <a:r>
              <a:rPr lang="en-US" altLang="zh-TW" dirty="0" smtClean="0">
                <a:sym typeface="Wingdings" panose="05000000000000000000" pitchFamily="2" charset="2"/>
              </a:rPr>
              <a:t> 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2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efghaibcdj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Common Interval:[1, 9], </a:t>
            </a:r>
            <a:r>
              <a:rPr lang="en-US" altLang="zh-TW" dirty="0"/>
              <a:t>[2, 3], [2, 4], [3, 4], [5, 6], [5, 7], [5, 8], [6, 7], [7, 8]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dirty="0" smtClean="0"/>
          </a:p>
        </p:txBody>
      </p:sp>
      <p:sp>
        <p:nvSpPr>
          <p:cNvPr id="4" name="橢圓 3"/>
          <p:cNvSpPr/>
          <p:nvPr/>
        </p:nvSpPr>
        <p:spPr>
          <a:xfrm>
            <a:off x="14986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21028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7070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3113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91556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45198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51240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57282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16" name="橢圓 15"/>
          <p:cNvSpPr/>
          <p:nvPr/>
        </p:nvSpPr>
        <p:spPr>
          <a:xfrm>
            <a:off x="63325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7" name="橢圓 16"/>
          <p:cNvSpPr/>
          <p:nvPr/>
        </p:nvSpPr>
        <p:spPr>
          <a:xfrm>
            <a:off x="6936756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sp>
        <p:nvSpPr>
          <p:cNvPr id="18" name="橢圓 17"/>
          <p:cNvSpPr/>
          <p:nvPr/>
        </p:nvSpPr>
        <p:spPr>
          <a:xfrm>
            <a:off x="391556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9" name="橢圓 18"/>
          <p:cNvSpPr/>
          <p:nvPr/>
        </p:nvSpPr>
        <p:spPr>
          <a:xfrm>
            <a:off x="512404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572828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21" name="橢圓 20"/>
          <p:cNvSpPr/>
          <p:nvPr/>
        </p:nvSpPr>
        <p:spPr>
          <a:xfrm>
            <a:off x="633252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22" name="橢圓 21"/>
          <p:cNvSpPr/>
          <p:nvPr/>
        </p:nvSpPr>
        <p:spPr>
          <a:xfrm>
            <a:off x="149860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23" name="橢圓 22"/>
          <p:cNvSpPr/>
          <p:nvPr/>
        </p:nvSpPr>
        <p:spPr>
          <a:xfrm>
            <a:off x="210284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24" name="橢圓 23"/>
          <p:cNvSpPr/>
          <p:nvPr/>
        </p:nvSpPr>
        <p:spPr>
          <a:xfrm>
            <a:off x="270708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25" name="橢圓 24"/>
          <p:cNvSpPr/>
          <p:nvPr/>
        </p:nvSpPr>
        <p:spPr>
          <a:xfrm>
            <a:off x="331132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451980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>
            <a:off x="6936756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1498600" y="40386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498600" y="5567922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2102836" y="4230794"/>
            <a:ext cx="997944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5124036" y="5733022"/>
            <a:ext cx="997944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2102836" y="4383194"/>
            <a:ext cx="1602184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5124036" y="5874416"/>
            <a:ext cx="1602184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741796" y="4560994"/>
            <a:ext cx="99794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728280" y="6050522"/>
            <a:ext cx="99794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3907808" y="4230794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1498600" y="5709316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3915556" y="4383194"/>
            <a:ext cx="160218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1498596" y="5874416"/>
            <a:ext cx="160218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915556" y="4551682"/>
            <a:ext cx="2206424" cy="931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498596" y="6029353"/>
            <a:ext cx="2206424" cy="931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519800" y="4726094"/>
            <a:ext cx="99794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2102836" y="6164822"/>
            <a:ext cx="99794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071544" y="4230794"/>
            <a:ext cx="99794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707076" y="5709316"/>
            <a:ext cx="99794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28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K Permutations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/>
              <a:t>Interval: </a:t>
            </a:r>
            <a:r>
              <a:rPr lang="en-US" altLang="zh-TW" dirty="0" err="1"/>
              <a:t>db</a:t>
            </a:r>
            <a:r>
              <a:rPr lang="en-US" altLang="zh-TW" dirty="0" err="1">
                <a:solidFill>
                  <a:srgbClr val="FF0000"/>
                </a:solidFill>
              </a:rPr>
              <a:t>ca</a:t>
            </a:r>
            <a:r>
              <a:rPr lang="en-US" altLang="zh-TW" dirty="0" err="1"/>
              <a:t>gfe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  {</a:t>
            </a:r>
            <a:r>
              <a:rPr lang="en-US" altLang="zh-TW" dirty="0" err="1">
                <a:sym typeface="Wingdings" panose="05000000000000000000" pitchFamily="2" charset="2"/>
              </a:rPr>
              <a:t>a,c</a:t>
            </a:r>
            <a:r>
              <a:rPr lang="en-US" altLang="zh-TW" dirty="0" smtClean="0">
                <a:sym typeface="Wingdings" panose="05000000000000000000" pitchFamily="2" charset="2"/>
              </a:rPr>
              <a:t>}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Common Interval: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P</a:t>
            </a:r>
            <a:r>
              <a:rPr lang="en-US" altLang="zh-TW" baseline="-25000" dirty="0"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: </a:t>
            </a:r>
            <a:r>
              <a:rPr lang="en-US" altLang="zh-TW" dirty="0" err="1">
                <a:sym typeface="Wingdings" panose="05000000000000000000" pitchFamily="2" charset="2"/>
              </a:rPr>
              <a:t>abcdefghij</a:t>
            </a:r>
            <a:r>
              <a:rPr lang="en-US" altLang="zh-TW" dirty="0">
                <a:sym typeface="Wingdings" panose="05000000000000000000" pitchFamily="2" charset="2"/>
              </a:rPr>
              <a:t> P</a:t>
            </a:r>
            <a:r>
              <a:rPr lang="en-US" altLang="zh-TW" baseline="-25000" dirty="0">
                <a:sym typeface="Wingdings" panose="05000000000000000000" pitchFamily="2" charset="2"/>
              </a:rPr>
              <a:t>2</a:t>
            </a:r>
            <a:r>
              <a:rPr lang="en-US" altLang="zh-TW" dirty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efghaibcdj</a:t>
            </a:r>
            <a:r>
              <a:rPr lang="en-US" altLang="zh-TW" dirty="0" smtClean="0">
                <a:sym typeface="Wingdings" panose="05000000000000000000" pitchFamily="2" charset="2"/>
              </a:rPr>
              <a:t> 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3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efdgib</a:t>
            </a:r>
            <a:r>
              <a:rPr lang="en-US" altLang="zh-TW" dirty="0" err="1">
                <a:sym typeface="Wingdings" panose="05000000000000000000" pitchFamily="2" charset="2"/>
              </a:rPr>
              <a:t>ha</a:t>
            </a:r>
            <a:r>
              <a:rPr lang="en-US" altLang="zh-TW" dirty="0" err="1" smtClean="0">
                <a:sym typeface="Wingdings" panose="05000000000000000000" pitchFamily="2" charset="2"/>
              </a:rPr>
              <a:t>cj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Common Interval:[1, 9], </a:t>
            </a:r>
            <a:r>
              <a:rPr lang="en-US" altLang="zh-TW" dirty="0" smtClean="0"/>
              <a:t>[</a:t>
            </a:r>
            <a:r>
              <a:rPr lang="en-US" altLang="zh-TW" dirty="0"/>
              <a:t>5, 6</a:t>
            </a:r>
            <a:r>
              <a:rPr lang="en-US" altLang="zh-TW" dirty="0" smtClean="0"/>
              <a:t>]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  <p:sp>
        <p:nvSpPr>
          <p:cNvPr id="55" name="橢圓 54"/>
          <p:cNvSpPr/>
          <p:nvPr/>
        </p:nvSpPr>
        <p:spPr>
          <a:xfrm>
            <a:off x="14986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6" name="橢圓 55"/>
          <p:cNvSpPr/>
          <p:nvPr/>
        </p:nvSpPr>
        <p:spPr>
          <a:xfrm>
            <a:off x="21028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57" name="橢圓 56"/>
          <p:cNvSpPr/>
          <p:nvPr/>
        </p:nvSpPr>
        <p:spPr>
          <a:xfrm>
            <a:off x="27070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8" name="橢圓 57"/>
          <p:cNvSpPr/>
          <p:nvPr/>
        </p:nvSpPr>
        <p:spPr>
          <a:xfrm>
            <a:off x="33113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59" name="橢圓 58"/>
          <p:cNvSpPr/>
          <p:nvPr/>
        </p:nvSpPr>
        <p:spPr>
          <a:xfrm>
            <a:off x="391556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60" name="橢圓 59"/>
          <p:cNvSpPr/>
          <p:nvPr/>
        </p:nvSpPr>
        <p:spPr>
          <a:xfrm>
            <a:off x="45198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61" name="橢圓 60"/>
          <p:cNvSpPr/>
          <p:nvPr/>
        </p:nvSpPr>
        <p:spPr>
          <a:xfrm>
            <a:off x="51240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62" name="橢圓 61"/>
          <p:cNvSpPr/>
          <p:nvPr/>
        </p:nvSpPr>
        <p:spPr>
          <a:xfrm>
            <a:off x="57282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63" name="橢圓 62"/>
          <p:cNvSpPr/>
          <p:nvPr/>
        </p:nvSpPr>
        <p:spPr>
          <a:xfrm>
            <a:off x="63325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64" name="橢圓 63"/>
          <p:cNvSpPr/>
          <p:nvPr/>
        </p:nvSpPr>
        <p:spPr>
          <a:xfrm>
            <a:off x="6936756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sp>
        <p:nvSpPr>
          <p:cNvPr id="65" name="橢圓 64"/>
          <p:cNvSpPr/>
          <p:nvPr/>
        </p:nvSpPr>
        <p:spPr>
          <a:xfrm>
            <a:off x="391556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66" name="橢圓 65"/>
          <p:cNvSpPr/>
          <p:nvPr/>
        </p:nvSpPr>
        <p:spPr>
          <a:xfrm>
            <a:off x="512404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7" name="橢圓 66"/>
          <p:cNvSpPr/>
          <p:nvPr/>
        </p:nvSpPr>
        <p:spPr>
          <a:xfrm>
            <a:off x="572828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68" name="橢圓 67"/>
          <p:cNvSpPr/>
          <p:nvPr/>
        </p:nvSpPr>
        <p:spPr>
          <a:xfrm>
            <a:off x="633252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69" name="橢圓 68"/>
          <p:cNvSpPr/>
          <p:nvPr/>
        </p:nvSpPr>
        <p:spPr>
          <a:xfrm>
            <a:off x="149860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70" name="橢圓 69"/>
          <p:cNvSpPr/>
          <p:nvPr/>
        </p:nvSpPr>
        <p:spPr>
          <a:xfrm>
            <a:off x="210284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71" name="橢圓 70"/>
          <p:cNvSpPr/>
          <p:nvPr/>
        </p:nvSpPr>
        <p:spPr>
          <a:xfrm>
            <a:off x="270708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72" name="橢圓 71"/>
          <p:cNvSpPr/>
          <p:nvPr/>
        </p:nvSpPr>
        <p:spPr>
          <a:xfrm>
            <a:off x="331132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73" name="橢圓 72"/>
          <p:cNvSpPr/>
          <p:nvPr/>
        </p:nvSpPr>
        <p:spPr>
          <a:xfrm>
            <a:off x="451980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74" name="橢圓 73"/>
          <p:cNvSpPr/>
          <p:nvPr/>
        </p:nvSpPr>
        <p:spPr>
          <a:xfrm>
            <a:off x="6936756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1498600" y="40386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1498600" y="4859262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3907808" y="4173647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1498600" y="5039713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橢圓 92"/>
          <p:cNvSpPr/>
          <p:nvPr/>
        </p:nvSpPr>
        <p:spPr>
          <a:xfrm>
            <a:off x="5728276" y="527302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94" name="橢圓 93"/>
          <p:cNvSpPr/>
          <p:nvPr/>
        </p:nvSpPr>
        <p:spPr>
          <a:xfrm>
            <a:off x="4519800" y="5283781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95" name="橢圓 94"/>
          <p:cNvSpPr/>
          <p:nvPr/>
        </p:nvSpPr>
        <p:spPr>
          <a:xfrm>
            <a:off x="6332520" y="5283781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96" name="橢圓 95"/>
          <p:cNvSpPr/>
          <p:nvPr/>
        </p:nvSpPr>
        <p:spPr>
          <a:xfrm>
            <a:off x="2682406" y="5298477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1498600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98" name="橢圓 97"/>
          <p:cNvSpPr/>
          <p:nvPr/>
        </p:nvSpPr>
        <p:spPr>
          <a:xfrm>
            <a:off x="2102840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99" name="橢圓 98"/>
          <p:cNvSpPr/>
          <p:nvPr/>
        </p:nvSpPr>
        <p:spPr>
          <a:xfrm>
            <a:off x="3311320" y="5267482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100" name="橢圓 99"/>
          <p:cNvSpPr/>
          <p:nvPr/>
        </p:nvSpPr>
        <p:spPr>
          <a:xfrm>
            <a:off x="5124036" y="527302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101" name="橢圓 100"/>
          <p:cNvSpPr/>
          <p:nvPr/>
        </p:nvSpPr>
        <p:spPr>
          <a:xfrm>
            <a:off x="3915560" y="5267482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02" name="橢圓 101"/>
          <p:cNvSpPr/>
          <p:nvPr/>
        </p:nvSpPr>
        <p:spPr>
          <a:xfrm>
            <a:off x="6936756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104" name="直線接點 103"/>
          <p:cNvCxnSpPr/>
          <p:nvPr/>
        </p:nvCxnSpPr>
        <p:spPr>
          <a:xfrm>
            <a:off x="1498600" y="57150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1498596" y="5888147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72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Two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 smtClean="0"/>
              <a:t>Interval : </a:t>
            </a:r>
            <a:r>
              <a:rPr lang="en-US" altLang="zh-TW" sz="2800" dirty="0" err="1" smtClean="0"/>
              <a:t>ac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cdca</a:t>
            </a:r>
            <a:r>
              <a:rPr lang="en-US" altLang="zh-TW" sz="2800" dirty="0" err="1" smtClean="0"/>
              <a:t>sdca</a:t>
            </a:r>
            <a:r>
              <a:rPr lang="en-US" altLang="zh-TW" sz="2800" dirty="0" smtClean="0"/>
              <a:t> =&gt; {</a:t>
            </a:r>
            <a:r>
              <a:rPr lang="en-US" altLang="zh-TW" sz="2800" dirty="0" err="1" smtClean="0"/>
              <a:t>a,c,d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Common Interval : </a:t>
            </a:r>
          </a:p>
          <a:p>
            <a:pPr lvl="1"/>
            <a:r>
              <a:rPr lang="en-US" altLang="zh-TW" sz="2400" dirty="0" smtClean="0"/>
              <a:t>S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 smtClean="0"/>
              <a:t> : </a:t>
            </a:r>
            <a:r>
              <a:rPr lang="en-US" altLang="zh-TW" sz="2400" dirty="0" err="1"/>
              <a:t>acadebda</a:t>
            </a:r>
            <a:r>
              <a:rPr lang="en-US" altLang="zh-TW" sz="2400" dirty="0"/>
              <a:t>, S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= </a:t>
            </a:r>
            <a:r>
              <a:rPr lang="en-US" altLang="zh-TW" sz="2400" dirty="0" err="1" smtClean="0"/>
              <a:t>adacdbea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C(S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/>
              <a:t>,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S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= </a:t>
            </a:r>
            <a:r>
              <a:rPr lang="en-US" altLang="zh-TW" sz="2400" dirty="0" smtClean="0"/>
              <a:t>{</a:t>
            </a:r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1,1],[1,1]), ([1,1],[3,3]), ([1,1],[8,8]),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1,3],[3,4</a:t>
            </a:r>
            <a:r>
              <a:rPr lang="en-US" altLang="zh-TW" sz="1800" dirty="0" smtClean="0"/>
              <a:t>]), ([</a:t>
            </a:r>
            <a:r>
              <a:rPr lang="en-US" altLang="zh-TW" sz="1800" dirty="0"/>
              <a:t>1,4],[1,5]), ([1,8],[1,8]), </a:t>
            </a:r>
            <a:endParaRPr lang="en-US" altLang="zh-TW" sz="1800" dirty="0" smtClean="0"/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2,2],[4,4]), ([3,4],[1,3]), ([3,8],[4,8]),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4,4],[2,2]), ([4,4],[5,5]), ([4,7],[7,9</a:t>
            </a:r>
            <a:r>
              <a:rPr lang="en-US" altLang="zh-TW" sz="1800" dirty="0" smtClean="0"/>
              <a:t>]),</a:t>
            </a:r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5,5],[8,8]), ([5,6],[7,8]), ([6,6],[6,6]),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6,7],[5,6]), ([7,7],[2,2]), ([7,7],[5,5]), </a:t>
            </a:r>
            <a:endParaRPr lang="en-US" altLang="zh-TW" sz="1800" dirty="0" smtClean="0"/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7,8],[1,3]), ([8,8],[1,1</a:t>
            </a:r>
            <a:r>
              <a:rPr lang="en-US" altLang="zh-TW" sz="1800" dirty="0" smtClean="0"/>
              <a:t>]), </a:t>
            </a:r>
            <a:r>
              <a:rPr lang="nn-NO" altLang="zh-TW" sz="1800" dirty="0" smtClean="0"/>
              <a:t>([</a:t>
            </a:r>
            <a:r>
              <a:rPr lang="nn-NO" altLang="zh-TW" sz="1800" dirty="0"/>
              <a:t>8,8],[3,3]), </a:t>
            </a:r>
            <a:r>
              <a:rPr lang="nn-NO" altLang="zh-TW" sz="1800" dirty="0" smtClean="0"/>
              <a:t>([</a:t>
            </a:r>
            <a:r>
              <a:rPr lang="nn-NO" altLang="zh-TW" sz="1800" dirty="0"/>
              <a:t>8,8],[8,8</a:t>
            </a:r>
            <a:r>
              <a:rPr lang="nn-NO" altLang="zh-TW" sz="1800" dirty="0" smtClean="0"/>
              <a:t>])</a:t>
            </a:r>
          </a:p>
          <a:p>
            <a:pPr lvl="1"/>
            <a:r>
              <a:rPr lang="nn-NO" altLang="zh-TW" sz="2200" dirty="0" smtClean="0"/>
              <a:t>}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61743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K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Interval : </a:t>
            </a:r>
            <a:r>
              <a:rPr lang="en-US" altLang="zh-TW" dirty="0" err="1"/>
              <a:t>ac</a:t>
            </a:r>
            <a:r>
              <a:rPr lang="en-US" altLang="zh-TW" dirty="0" err="1">
                <a:solidFill>
                  <a:srgbClr val="FF0000"/>
                </a:solidFill>
              </a:rPr>
              <a:t>cdca</a:t>
            </a:r>
            <a:r>
              <a:rPr lang="en-US" altLang="zh-TW" dirty="0" err="1"/>
              <a:t>sdca</a:t>
            </a:r>
            <a:r>
              <a:rPr lang="en-US" altLang="zh-TW" dirty="0"/>
              <a:t> =&gt; {</a:t>
            </a:r>
            <a:r>
              <a:rPr lang="en-US" altLang="zh-TW" dirty="0" err="1"/>
              <a:t>a,c,d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Common Interval :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sz="600" dirty="0"/>
              <a:t>1 </a:t>
            </a:r>
            <a:r>
              <a:rPr lang="en-US" altLang="zh-TW" dirty="0"/>
              <a:t>= </a:t>
            </a:r>
            <a:r>
              <a:rPr lang="en-US" altLang="zh-TW" dirty="0" err="1"/>
              <a:t>acadebda</a:t>
            </a:r>
            <a:r>
              <a:rPr lang="en-US" altLang="zh-TW" dirty="0"/>
              <a:t>, S</a:t>
            </a:r>
            <a:r>
              <a:rPr lang="en-US" altLang="zh-TW" sz="600" dirty="0"/>
              <a:t>2 </a:t>
            </a:r>
            <a:r>
              <a:rPr lang="en-US" altLang="zh-TW" dirty="0"/>
              <a:t>= adacdbea,S</a:t>
            </a:r>
            <a:r>
              <a:rPr lang="en-US" altLang="zh-TW" sz="600" dirty="0"/>
              <a:t>3 </a:t>
            </a:r>
            <a:r>
              <a:rPr lang="en-US" altLang="zh-TW" dirty="0"/>
              <a:t>= </a:t>
            </a:r>
            <a:r>
              <a:rPr lang="en-US" altLang="zh-TW" dirty="0" err="1"/>
              <a:t>aadbacde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C(S</a:t>
            </a:r>
            <a:r>
              <a:rPr lang="en-US" altLang="zh-TW" sz="600" dirty="0" smtClean="0"/>
              <a:t>1</a:t>
            </a:r>
            <a:r>
              <a:rPr lang="en-US" altLang="zh-TW" dirty="0"/>
              <a:t>; S</a:t>
            </a:r>
            <a:r>
              <a:rPr lang="en-US" altLang="zh-TW" sz="600" dirty="0"/>
              <a:t>2</a:t>
            </a:r>
            <a:r>
              <a:rPr lang="en-US" altLang="zh-TW" dirty="0"/>
              <a:t>) </a:t>
            </a:r>
            <a:r>
              <a:rPr lang="en-US" altLang="zh-TW" dirty="0" smtClean="0"/>
              <a:t>=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6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1</a:t>
            </a:r>
            <a:r>
              <a:rPr lang="en-US" altLang="zh-TW" dirty="0" smtClean="0"/>
              <a:t>(1, 1) - S</a:t>
            </a:r>
            <a:r>
              <a:rPr lang="en-US" altLang="zh-TW" sz="6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2</a:t>
            </a:r>
            <a:r>
              <a:rPr lang="en-US" altLang="zh-TW" dirty="0" smtClean="0"/>
              <a:t>(1, 1) - S</a:t>
            </a:r>
            <a:r>
              <a:rPr lang="en-US" altLang="zh-TW" sz="6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1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6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3) - S</a:t>
            </a:r>
            <a:r>
              <a:rPr lang="en-US" altLang="zh-TW" sz="6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2</a:t>
            </a:r>
            <a:r>
              <a:rPr lang="en-US" altLang="zh-TW" dirty="0" smtClean="0"/>
              <a:t>(3, 4)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(5, </a:t>
            </a:r>
            <a:r>
              <a:rPr lang="en-US" altLang="zh-TW" dirty="0"/>
              <a:t>6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5)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(5, </a:t>
            </a:r>
            <a:r>
              <a:rPr lang="en-US" altLang="zh-TW" dirty="0"/>
              <a:t>7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8)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</a:t>
            </a:r>
            <a:r>
              <a:rPr lang="en-US" altLang="zh-TW" dirty="0"/>
              <a:t>8</a:t>
            </a:r>
            <a:r>
              <a:rPr lang="en-US" altLang="zh-TW" dirty="0" smtClean="0"/>
              <a:t>) 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8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(2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2)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(4, </a:t>
            </a:r>
            <a:r>
              <a:rPr lang="en-US" altLang="zh-TW" dirty="0"/>
              <a:t>4) </a:t>
            </a:r>
            <a:r>
              <a:rPr lang="en-US" altLang="zh-TW" dirty="0" smtClean="0"/>
              <a:t>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(6, </a:t>
            </a:r>
            <a:r>
              <a:rPr lang="en-US" altLang="zh-TW" dirty="0"/>
              <a:t>6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(3</a:t>
            </a:r>
            <a:r>
              <a:rPr lang="en-US" altLang="zh-TW" dirty="0"/>
              <a:t>,</a:t>
            </a:r>
            <a:r>
              <a:rPr lang="en-US" altLang="zh-TW" dirty="0" smtClean="0"/>
              <a:t> 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3)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3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(4</a:t>
            </a:r>
            <a:r>
              <a:rPr lang="en-US" altLang="zh-TW" dirty="0"/>
              <a:t>; </a:t>
            </a:r>
            <a:r>
              <a:rPr lang="en-US" altLang="zh-TW" dirty="0" smtClean="0"/>
              <a:t>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LOC</a:t>
            </a:r>
            <a:r>
              <a:rPr lang="en-US" altLang="zh-TW" sz="800" dirty="0"/>
              <a:t>2</a:t>
            </a:r>
            <a:r>
              <a:rPr lang="en-US" altLang="zh-TW" dirty="0"/>
              <a:t>(2; </a:t>
            </a:r>
            <a:r>
              <a:rPr lang="en-US" altLang="zh-TW" dirty="0" smtClean="0"/>
              <a:t>2) - S</a:t>
            </a:r>
            <a:r>
              <a:rPr lang="en-US" altLang="zh-TW" sz="800" dirty="0" smtClean="0"/>
              <a:t>3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(3, </a:t>
            </a:r>
            <a:r>
              <a:rPr lang="en-US" altLang="zh-TW" dirty="0"/>
              <a:t>3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(5</a:t>
            </a:r>
            <a:r>
              <a:rPr lang="en-US" altLang="zh-TW" dirty="0"/>
              <a:t>,</a:t>
            </a:r>
            <a:r>
              <a:rPr lang="en-US" altLang="zh-TW" dirty="0" smtClean="0"/>
              <a:t> 5)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(8, 8)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(8, </a:t>
            </a:r>
            <a:r>
              <a:rPr lang="en-US" altLang="zh-TW" dirty="0"/>
              <a:t>8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6) - S</a:t>
            </a:r>
            <a:r>
              <a:rPr lang="en-US" altLang="zh-TW" sz="800" dirty="0" smtClean="0"/>
              <a:t>2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6)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(4, </a:t>
            </a:r>
            <a:r>
              <a:rPr lang="en-US" altLang="zh-TW" dirty="0"/>
              <a:t>4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7)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(5, </a:t>
            </a:r>
            <a:r>
              <a:rPr lang="en-US" altLang="zh-TW" dirty="0"/>
              <a:t>6) </a:t>
            </a:r>
            <a:r>
              <a:rPr lang="en-US" altLang="zh-TW" dirty="0" smtClean="0"/>
              <a:t>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(3, </a:t>
            </a:r>
            <a:r>
              <a:rPr lang="en-US" altLang="zh-TW" dirty="0"/>
              <a:t>4).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9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Common </a:t>
            </a:r>
            <a:r>
              <a:rPr lang="en-US" altLang="zh-TW" dirty="0" smtClean="0"/>
              <a:t>Combination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Interval : </a:t>
            </a:r>
            <a:r>
              <a:rPr lang="en-US" altLang="zh-TW" dirty="0" err="1" smtClean="0"/>
              <a:t>ac</a:t>
            </a:r>
            <a:r>
              <a:rPr lang="en-US" altLang="zh-TW" dirty="0" err="1" smtClean="0">
                <a:solidFill>
                  <a:srgbClr val="FF0000"/>
                </a:solidFill>
              </a:rPr>
              <a:t>cdca</a:t>
            </a:r>
            <a:r>
              <a:rPr lang="en-US" altLang="zh-TW" dirty="0" err="1" smtClean="0"/>
              <a:t>sdca</a:t>
            </a:r>
            <a:r>
              <a:rPr lang="en-US" altLang="zh-TW" dirty="0" smtClean="0"/>
              <a:t> =&gt; {a, c, c, d} </a:t>
            </a:r>
            <a:r>
              <a:rPr lang="en-US" altLang="zh-TW" dirty="0" smtClean="0">
                <a:sym typeface="Wingdings" panose="05000000000000000000" pitchFamily="2" charset="2"/>
              </a:rPr>
              <a:t> {a:1, c:2, d:1}</a:t>
            </a:r>
            <a:endParaRPr lang="en-US" altLang="zh-TW" dirty="0" smtClean="0"/>
          </a:p>
          <a:p>
            <a:r>
              <a:rPr lang="en-US" altLang="zh-TW" dirty="0" smtClean="0"/>
              <a:t>Common </a:t>
            </a:r>
            <a:r>
              <a:rPr lang="en-US" altLang="zh-TW" dirty="0"/>
              <a:t>Interval 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sz="500" dirty="0"/>
              <a:t>1 </a:t>
            </a:r>
            <a:r>
              <a:rPr lang="en-US" altLang="zh-TW" dirty="0"/>
              <a:t>= </a:t>
            </a:r>
            <a:r>
              <a:rPr lang="en-US" altLang="zh-TW" dirty="0" err="1"/>
              <a:t>acadebda</a:t>
            </a:r>
            <a:r>
              <a:rPr lang="en-US" altLang="zh-TW" dirty="0"/>
              <a:t>, S</a:t>
            </a:r>
            <a:r>
              <a:rPr lang="en-US" altLang="zh-TW" sz="500" dirty="0"/>
              <a:t>2 </a:t>
            </a:r>
            <a:r>
              <a:rPr lang="en-US" altLang="zh-TW" dirty="0"/>
              <a:t>= </a:t>
            </a:r>
            <a:r>
              <a:rPr lang="en-US" altLang="zh-TW" dirty="0" err="1" smtClean="0"/>
              <a:t>adacdbea</a:t>
            </a:r>
            <a:endParaRPr lang="en-US" altLang="zh-TW" dirty="0"/>
          </a:p>
          <a:p>
            <a:pPr lvl="1"/>
            <a:r>
              <a:rPr lang="en-US" altLang="zh-TW" dirty="0" smtClean="0"/>
              <a:t>C(S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 =</a:t>
            </a:r>
          </a:p>
          <a:p>
            <a:pPr lvl="1"/>
            <a:r>
              <a:rPr lang="en-US" altLang="zh-TW" dirty="0" smtClean="0"/>
              <a:t>Length 2 : ([1,2], [2,3] </a:t>
            </a:r>
            <a:r>
              <a:rPr lang="en-US" altLang="zh-TW" dirty="0" smtClean="0">
                <a:sym typeface="Wingdings" panose="05000000000000000000" pitchFamily="2" charset="2"/>
              </a:rPr>
              <a:t></a:t>
            </a:r>
            <a:r>
              <a:rPr lang="en-US" altLang="zh-TW" dirty="0" smtClean="0"/>
              <a:t> [3,4]), ([3,4],[7,8] </a:t>
            </a:r>
            <a:r>
              <a:rPr lang="en-US" altLang="zh-TW" dirty="0" smtClean="0">
                <a:sym typeface="Wingdings" panose="05000000000000000000" pitchFamily="2" charset="2"/>
              </a:rPr>
              <a:t> [1,2], [2,3]</a:t>
            </a:r>
            <a:r>
              <a:rPr lang="en-US" altLang="zh-TW" dirty="0" smtClean="0"/>
              <a:t>), ([5,6] </a:t>
            </a:r>
            <a:r>
              <a:rPr lang="en-US" altLang="zh-TW" dirty="0" smtClean="0">
                <a:sym typeface="Wingdings" panose="05000000000000000000" pitchFamily="2" charset="2"/>
              </a:rPr>
              <a:t> [6,7]</a:t>
            </a:r>
            <a:r>
              <a:rPr lang="en-US" altLang="zh-TW" dirty="0" smtClean="0"/>
              <a:t>), ([6,7] </a:t>
            </a:r>
            <a:r>
              <a:rPr lang="en-US" altLang="zh-TW" dirty="0" smtClean="0">
                <a:sym typeface="Wingdings" panose="05000000000000000000" pitchFamily="2" charset="2"/>
              </a:rPr>
              <a:t> [5,6]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3 : ([2,4]</a:t>
            </a:r>
            <a:r>
              <a:rPr lang="en-US" altLang="zh-TW" dirty="0" smtClean="0">
                <a:sym typeface="Wingdings" panose="05000000000000000000" pitchFamily="2" charset="2"/>
              </a:rPr>
              <a:t>[2,4],[3,5]</a:t>
            </a:r>
            <a:r>
              <a:rPr lang="en-US" altLang="zh-TW" dirty="0" smtClean="0"/>
              <a:t>), ([4,6],[5,7]</a:t>
            </a:r>
            <a:r>
              <a:rPr lang="en-US" altLang="zh-TW" dirty="0" smtClean="0">
                <a:sym typeface="Wingdings" panose="05000000000000000000" pitchFamily="2" charset="2"/>
              </a:rPr>
              <a:t>[5,7]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4 : ([1,4]</a:t>
            </a:r>
            <a:r>
              <a:rPr lang="en-US" altLang="zh-TW" dirty="0" smtClean="0">
                <a:sym typeface="Wingdings" panose="05000000000000000000" pitchFamily="2" charset="2"/>
              </a:rPr>
              <a:t>[1,4]</a:t>
            </a:r>
            <a:r>
              <a:rPr lang="en-US" altLang="zh-TW" dirty="0" smtClean="0"/>
              <a:t>), ([3,6][5,8]</a:t>
            </a:r>
            <a:r>
              <a:rPr lang="en-US" altLang="zh-TW" dirty="0" smtClean="0">
                <a:sym typeface="Wingdings" panose="05000000000000000000" pitchFamily="2" charset="2"/>
              </a:rPr>
              <a:t>[5,8]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5 : ([2,6]</a:t>
            </a:r>
            <a:r>
              <a:rPr lang="en-US" altLang="zh-TW" dirty="0" smtClean="0">
                <a:sym typeface="Wingdings" panose="05000000000000000000" pitchFamily="2" charset="2"/>
              </a:rPr>
              <a:t>[3,7][4,8]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6 : ([1,6]</a:t>
            </a:r>
            <a:r>
              <a:rPr lang="en-US" altLang="zh-TW" dirty="0" smtClean="0">
                <a:sym typeface="Wingdings" panose="05000000000000000000" pitchFamily="2" charset="2"/>
              </a:rPr>
              <a:t>[3,8]</a:t>
            </a:r>
            <a:r>
              <a:rPr lang="en-US" altLang="zh-TW" dirty="0" smtClean="0"/>
              <a:t>), ([2,7]</a:t>
            </a:r>
            <a:r>
              <a:rPr lang="en-US" altLang="zh-TW" dirty="0" smtClean="0">
                <a:sym typeface="Wingdings" panose="05000000000000000000" pitchFamily="2" charset="2"/>
              </a:rPr>
              <a:t>[2,7]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7 : ([1,7][2,8]</a:t>
            </a:r>
            <a:r>
              <a:rPr lang="en-US" altLang="zh-TW" dirty="0" smtClean="0">
                <a:sym typeface="Wingdings" panose="05000000000000000000" pitchFamily="2" charset="2"/>
              </a:rPr>
              <a:t>[1,7][2,8]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633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2959" y="184573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Two Permutation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822959" y="323638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K Permutation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510913" y="184573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Two Sequences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510912" y="323638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K Sequences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198863" y="1845734"/>
            <a:ext cx="2167891" cy="230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Combination Interval</a:t>
            </a:r>
            <a:endParaRPr lang="zh-TW" altLang="en-US" dirty="0"/>
          </a:p>
        </p:txBody>
      </p:sp>
      <p:cxnSp>
        <p:nvCxnSpPr>
          <p:cNvPr id="10" name="直線單箭頭接點 9"/>
          <p:cNvCxnSpPr>
            <a:stCxn id="4" idx="2"/>
            <a:endCxn id="5" idx="0"/>
          </p:cNvCxnSpPr>
          <p:nvPr/>
        </p:nvCxnSpPr>
        <p:spPr>
          <a:xfrm>
            <a:off x="1906905" y="2762250"/>
            <a:ext cx="0" cy="4741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94857" y="2762250"/>
            <a:ext cx="0" cy="4741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4" idx="3"/>
          </p:cNvCxnSpPr>
          <p:nvPr/>
        </p:nvCxnSpPr>
        <p:spPr>
          <a:xfrm>
            <a:off x="2990850" y="2303992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990850" y="3674534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5678803" y="2303992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86987" y="2653665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2000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586986" y="4024206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2001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331144" y="4019550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2004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331144" y="2653665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2003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019095" y="4019550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2014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66234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abcd</a:t>
            </a:r>
            <a:endParaRPr lang="en-US" altLang="zh-TW" dirty="0" smtClean="0"/>
          </a:p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dbca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},{</a:t>
            </a:r>
            <a:r>
              <a:rPr lang="en-US" altLang="zh-TW" dirty="0" err="1" smtClean="0"/>
              <a:t>bcd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510912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aabcd</a:t>
            </a:r>
            <a:endParaRPr lang="en-US" altLang="zh-TW" dirty="0" smtClean="0"/>
          </a:p>
          <a:p>
            <a:r>
              <a:rPr lang="en-US" altLang="zh-TW" dirty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{ab},{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6199791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aabcd</a:t>
            </a:r>
            <a:endParaRPr lang="en-US" altLang="zh-TW" dirty="0" smtClean="0"/>
          </a:p>
          <a:p>
            <a:r>
              <a:rPr lang="en-US" altLang="zh-TW" dirty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{ab},{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},</a:t>
            </a:r>
            <a:r>
              <a:rPr lang="en-US" altLang="zh-TW" dirty="0" smtClean="0">
                <a:solidFill>
                  <a:srgbClr val="FF0000"/>
                </a:solidFill>
              </a:rPr>
              <a:t>{</a:t>
            </a:r>
            <a:r>
              <a:rPr lang="en-US" altLang="zh-TW" dirty="0" err="1" smtClean="0">
                <a:solidFill>
                  <a:srgbClr val="FF0000"/>
                </a:solidFill>
              </a:rPr>
              <a:t>aabc</a:t>
            </a:r>
            <a:r>
              <a:rPr lang="en-US" altLang="zh-TW" dirty="0" smtClean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13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Movement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2959" y="1845734"/>
            <a:ext cx="754380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/>
              <a:t>Gene clusters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822959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Common substring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618230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Common Intervals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822959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Common </a:t>
            </a:r>
          </a:p>
          <a:p>
            <a:pPr algn="ctr"/>
            <a:r>
              <a:rPr lang="en-US" altLang="zh-TW" sz="2000" dirty="0" smtClean="0"/>
              <a:t>Combination Intervals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6459219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Conserved</a:t>
            </a:r>
          </a:p>
          <a:p>
            <a:pPr algn="ctr"/>
            <a:r>
              <a:rPr lang="en-US" altLang="zh-TW" sz="2400" dirty="0" smtClean="0"/>
              <a:t>Intervals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6459218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Gene teams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618230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A</a:t>
            </a:r>
            <a:r>
              <a:rPr lang="en-US" altLang="zh-TW" sz="2000" dirty="0" smtClean="0"/>
              <a:t>pproximate</a:t>
            </a:r>
            <a:endParaRPr lang="en-US" altLang="zh-TW" sz="2000" dirty="0"/>
          </a:p>
          <a:p>
            <a:pPr algn="ctr"/>
            <a:r>
              <a:rPr lang="en-US" altLang="zh-TW" sz="2000" dirty="0"/>
              <a:t>c</a:t>
            </a:r>
            <a:r>
              <a:rPr lang="en-US" altLang="zh-TW" sz="2000" dirty="0" smtClean="0"/>
              <a:t>ommon Intervals</a:t>
            </a:r>
            <a:endParaRPr lang="zh-TW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822959" y="3661250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abc</a:t>
            </a:r>
            <a:r>
              <a:rPr lang="en-US" altLang="zh-TW" dirty="0" err="1" smtClean="0"/>
              <a:t>adcb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cbacc</a:t>
            </a:r>
            <a:r>
              <a:rPr lang="en-US" altLang="zh-TW" dirty="0" err="1" smtClean="0">
                <a:solidFill>
                  <a:srgbClr val="FF0000"/>
                </a:solidFill>
              </a:rPr>
              <a:t>abc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18230" y="3661250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rgbClr val="FF0000"/>
                </a:solidFill>
              </a:rPr>
              <a:t>aabca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rgbClr val="FF0000"/>
                </a:solidFill>
              </a:rPr>
              <a:t>cbaccabc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59218" y="3708665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bc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ccabc</a:t>
            </a:r>
            <a:endParaRPr lang="en-US" altLang="zh-TW" dirty="0" smtClean="0"/>
          </a:p>
        </p:txBody>
      </p:sp>
      <p:sp>
        <p:nvSpPr>
          <p:cNvPr id="14" name="矩形 13"/>
          <p:cNvSpPr/>
          <p:nvPr/>
        </p:nvSpPr>
        <p:spPr>
          <a:xfrm>
            <a:off x="822959" y="5274734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</a:t>
            </a:r>
            <a:r>
              <a:rPr lang="en-US" altLang="zh-TW" dirty="0" err="1" smtClean="0">
                <a:solidFill>
                  <a:srgbClr val="FF0000"/>
                </a:solidFill>
              </a:rPr>
              <a:t>bca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bac</a:t>
            </a:r>
            <a:r>
              <a:rPr lang="en-US" altLang="zh-TW" dirty="0" err="1" smtClean="0"/>
              <a:t>cabc</a:t>
            </a:r>
            <a:endParaRPr lang="en-US" altLang="zh-TW" dirty="0" smtClean="0"/>
          </a:p>
        </p:txBody>
      </p:sp>
      <p:sp>
        <p:nvSpPr>
          <p:cNvPr id="15" name="矩形 14"/>
          <p:cNvSpPr/>
          <p:nvPr/>
        </p:nvSpPr>
        <p:spPr>
          <a:xfrm>
            <a:off x="3618230" y="5274733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TW" dirty="0" err="1" smtClean="0"/>
              <a:t>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cc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bc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6459218" y="5274732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</a:t>
            </a:r>
            <a:r>
              <a:rPr lang="en-US" altLang="zh-TW" dirty="0" err="1" smtClean="0">
                <a:solidFill>
                  <a:srgbClr val="FF0000"/>
                </a:solidFill>
              </a:rPr>
              <a:t>ca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TW" dirty="0" err="1" smtClean="0">
                <a:solidFill>
                  <a:srgbClr val="FF0000"/>
                </a:solidFill>
              </a:rPr>
              <a:t>c</a:t>
            </a:r>
            <a:r>
              <a:rPr lang="en-US" altLang="zh-TW" dirty="0" err="1" smtClean="0"/>
              <a:t>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acca</a:t>
            </a:r>
            <a:r>
              <a:rPr lang="en-US" altLang="zh-TW" dirty="0" err="1" smtClean="0"/>
              <a:t>bc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5483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362280"/>
              </p:ext>
            </p:extLst>
          </p:nvPr>
        </p:nvGraphicFramePr>
        <p:xfrm>
          <a:off x="822959" y="1843618"/>
          <a:ext cx="7543803" cy="32357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08761"/>
                <a:gridCol w="754380"/>
                <a:gridCol w="754380"/>
                <a:gridCol w="754380"/>
                <a:gridCol w="754380"/>
                <a:gridCol w="1508761"/>
                <a:gridCol w="1508761"/>
              </a:tblGrid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 = 2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6" name="橢圓 5"/>
          <p:cNvSpPr/>
          <p:nvPr/>
        </p:nvSpPr>
        <p:spPr>
          <a:xfrm>
            <a:off x="1454776" y="1939501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262174" y="2274352"/>
            <a:ext cx="61045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2447202" y="2328540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2137894" y="2442739"/>
            <a:ext cx="0" cy="25197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1777285" y="267708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5534024" y="3981449"/>
            <a:ext cx="1181102" cy="88582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7077075" y="2844513"/>
            <a:ext cx="1181102" cy="88582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822959" y="5287868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/>
              <a:t>n</a:t>
            </a:r>
            <a:r>
              <a:rPr lang="en-US" altLang="zh-TW" baseline="30000" dirty="0"/>
              <a:t>3</a:t>
            </a:r>
            <a:r>
              <a:rPr lang="zh-TW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890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1743" cy="15232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1098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12711"/>
              </p:ext>
            </p:extLst>
          </p:nvPr>
        </p:nvGraphicFramePr>
        <p:xfrm>
          <a:off x="302546" y="4453942"/>
          <a:ext cx="1910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231"/>
                <a:gridCol w="10492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333067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21881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迴轉箭號 1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4018626" y="5052531"/>
            <a:ext cx="1956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可是</a:t>
            </a:r>
            <a:r>
              <a:rPr lang="en-US" altLang="zh-TW" dirty="0" smtClean="0"/>
              <a:t>Key </a:t>
            </a:r>
            <a:r>
              <a:rPr lang="zh-TW" altLang="en-US" dirty="0" smtClean="0"/>
              <a:t>可能很大</a:t>
            </a:r>
            <a:endParaRPr lang="en-US" altLang="zh-TW" dirty="0" smtClean="0"/>
          </a:p>
          <a:p>
            <a:r>
              <a:rPr lang="en-US" altLang="zh-TW" dirty="0" smtClean="0"/>
              <a:t>EX: 100</a:t>
            </a:r>
            <a:r>
              <a:rPr lang="zh-TW" altLang="en-US" dirty="0" smtClean="0"/>
              <a:t>個</a:t>
            </a:r>
            <a:r>
              <a:rPr lang="en-US" altLang="zh-TW" dirty="0" smtClean="0"/>
              <a:t>d </a:t>
            </a:r>
            <a:r>
              <a:rPr lang="en-US" altLang="zh-TW" dirty="0" smtClean="0">
                <a:sym typeface="Wingdings" panose="05000000000000000000" pitchFamily="2" charset="2"/>
              </a:rPr>
              <a:t> 7</a:t>
            </a:r>
            <a:r>
              <a:rPr lang="en-US" altLang="zh-TW" baseline="30000" dirty="0" smtClean="0">
                <a:sym typeface="Wingdings" panose="05000000000000000000" pitchFamily="2" charset="2"/>
              </a:rPr>
              <a:t>100</a:t>
            </a:r>
            <a:endParaRPr lang="zh-TW" altLang="en-US" baseline="30000" dirty="0"/>
          </a:p>
        </p:txBody>
      </p:sp>
      <p:sp>
        <p:nvSpPr>
          <p:cNvPr id="24" name="矩形 23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5" name="矩形 24"/>
          <p:cNvSpPr/>
          <p:nvPr/>
        </p:nvSpPr>
        <p:spPr>
          <a:xfrm>
            <a:off x="2292435" y="5783168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13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06061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06026"/>
              </p:ext>
            </p:extLst>
          </p:nvPr>
        </p:nvGraphicFramePr>
        <p:xfrm>
          <a:off x="302547" y="4453942"/>
          <a:ext cx="191047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54"/>
                <a:gridCol w="12961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[1,2],[3,4]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75792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648977" y="3316744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d=11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43190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圓角矩形 31"/>
          <p:cNvSpPr/>
          <p:nvPr/>
        </p:nvSpPr>
        <p:spPr>
          <a:xfrm>
            <a:off x="2412483" y="2216523"/>
            <a:ext cx="1435668" cy="3967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3" name="圓角矩形圖說文字 32"/>
          <p:cNvSpPr/>
          <p:nvPr/>
        </p:nvSpPr>
        <p:spPr>
          <a:xfrm>
            <a:off x="3081799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6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61191" y="4523385"/>
            <a:ext cx="188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ym typeface="Wingdings" panose="05000000000000000000" pitchFamily="2" charset="2"/>
              </a:rPr>
              <a:t>7</a:t>
            </a:r>
            <a:r>
              <a:rPr lang="en-US" altLang="zh-TW" baseline="30000" dirty="0" smtClean="0">
                <a:sym typeface="Wingdings" panose="05000000000000000000" pitchFamily="2" charset="2"/>
              </a:rPr>
              <a:t>100</a:t>
            </a:r>
            <a:r>
              <a:rPr lang="en-US" altLang="zh-TW" dirty="0" smtClean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≡ 1 (mod 11)</a:t>
            </a:r>
            <a:endParaRPr lang="zh-TW" altLang="en-US" baseline="30000" dirty="0"/>
          </a:p>
        </p:txBody>
      </p:sp>
      <p:sp>
        <p:nvSpPr>
          <p:cNvPr id="40" name="矩形 39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148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26986"/>
              </p:ext>
            </p:extLst>
          </p:nvPr>
        </p:nvGraphicFramePr>
        <p:xfrm>
          <a:off x="302547" y="4453942"/>
          <a:ext cx="1910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54"/>
                <a:gridCol w="12961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58404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648977" y="3316744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d=13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83513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sp>
        <p:nvSpPr>
          <p:cNvPr id="31" name="圓角矩形 30"/>
          <p:cNvSpPr/>
          <p:nvPr/>
        </p:nvSpPr>
        <p:spPr>
          <a:xfrm>
            <a:off x="3968909" y="4080429"/>
            <a:ext cx="2802122" cy="172362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要備份碰撞後確認用的組合，需要</a:t>
            </a:r>
            <a:r>
              <a:rPr lang="en-US" altLang="zh-TW" dirty="0" smtClean="0"/>
              <a:t>O(sigma)</a:t>
            </a:r>
            <a:r>
              <a:rPr lang="zh-TW" altLang="en-US" dirty="0" smtClean="0"/>
              <a:t>的時間。</a:t>
            </a:r>
            <a:endParaRPr lang="zh-TW" altLang="en-US" dirty="0"/>
          </a:p>
        </p:txBody>
      </p:sp>
      <p:sp>
        <p:nvSpPr>
          <p:cNvPr id="32" name="圓角矩形 31"/>
          <p:cNvSpPr/>
          <p:nvPr/>
        </p:nvSpPr>
        <p:spPr>
          <a:xfrm>
            <a:off x="3968909" y="4080430"/>
            <a:ext cx="2802122" cy="37351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一開始沒想到的問題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09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 Counting Sequences and Sigma Length</a:t>
            </a:r>
          </a:p>
          <a:p>
            <a:r>
              <a:rPr lang="en-US" altLang="zh-TW" dirty="0" smtClean="0"/>
              <a:t>2. Initial 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 Coefficient in Hash Size. (Randomly Choice)</a:t>
            </a:r>
          </a:p>
          <a:p>
            <a:r>
              <a:rPr lang="en-US" altLang="zh-TW" dirty="0" smtClean="0"/>
              <a:t>3. Initial Cache Tables , which means comb. </a:t>
            </a:r>
            <a:r>
              <a:rPr lang="en-US" altLang="zh-TW" dirty="0"/>
              <a:t>s</a:t>
            </a:r>
            <a:r>
              <a:rPr lang="en-US" altLang="zh-TW" dirty="0" smtClean="0"/>
              <a:t>tart from that position.</a:t>
            </a:r>
          </a:p>
          <a:p>
            <a:r>
              <a:rPr lang="en-US" altLang="zh-TW" dirty="0" smtClean="0"/>
              <a:t>3. for all length</a:t>
            </a:r>
            <a:r>
              <a:rPr lang="en-US" altLang="zh-TW" i="1" dirty="0" smtClean="0"/>
              <a:t> l </a:t>
            </a:r>
            <a:r>
              <a:rPr lang="en-US" altLang="zh-TW" dirty="0" smtClean="0"/>
              <a:t>in Sequences Length</a:t>
            </a:r>
          </a:p>
          <a:p>
            <a:r>
              <a:rPr lang="en-US" altLang="zh-TW" dirty="0" smtClean="0"/>
              <a:t>4. Clear Hash Table, make next Cache Table for S1, put it into HT.</a:t>
            </a:r>
          </a:p>
          <a:p>
            <a:r>
              <a:rPr lang="en-US" altLang="zh-TW" dirty="0" smtClean="0"/>
              <a:t>5.Make next CT for S2.</a:t>
            </a:r>
          </a:p>
          <a:p>
            <a:r>
              <a:rPr lang="en-US" altLang="zh-TW" dirty="0" smtClean="0"/>
              <a:t>6. Use it and HT to find Common Interval</a:t>
            </a:r>
          </a:p>
          <a:p>
            <a:r>
              <a:rPr lang="en-US" altLang="zh-TW" dirty="0" smtClean="0"/>
              <a:t>7. do next length.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31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IV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035943" y="3020486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1852411" y="2310255"/>
            <a:ext cx="79421" cy="15232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529068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Coeff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62440"/>
              </p:ext>
            </p:extLst>
          </p:nvPr>
        </p:nvGraphicFramePr>
        <p:xfrm>
          <a:off x="2363272" y="1699312"/>
          <a:ext cx="6216984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64154" y="3247206"/>
            <a:ext cx="2086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H_size</a:t>
            </a:r>
            <a:r>
              <a:rPr lang="en-US" altLang="zh-TW" sz="3600" dirty="0" smtClean="0"/>
              <a:t>=16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98794"/>
              </p:ext>
            </p:extLst>
          </p:nvPr>
        </p:nvGraphicFramePr>
        <p:xfrm>
          <a:off x="323895" y="2305388"/>
          <a:ext cx="1453389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>
            <a:off x="5837816" y="2871989"/>
            <a:ext cx="0" cy="324547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816109" y="4483993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128789" y="3992451"/>
            <a:ext cx="1803043" cy="128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163791"/>
              </p:ext>
            </p:extLst>
          </p:nvPr>
        </p:nvGraphicFramePr>
        <p:xfrm>
          <a:off x="1778129" y="602219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1" name="直線單箭頭接點 40"/>
          <p:cNvCxnSpPr/>
          <p:nvPr/>
        </p:nvCxnSpPr>
        <p:spPr>
          <a:xfrm>
            <a:off x="2069876" y="3363391"/>
            <a:ext cx="3090705" cy="2535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2563669" y="277091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609067" y="3464210"/>
            <a:ext cx="108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Put… into</a:t>
            </a:r>
            <a:endParaRPr lang="zh-TW" altLang="en-US" dirty="0"/>
          </a:p>
        </p:txBody>
      </p:sp>
      <p:cxnSp>
        <p:nvCxnSpPr>
          <p:cNvPr id="45" name="直線接點 44"/>
          <p:cNvCxnSpPr/>
          <p:nvPr/>
        </p:nvCxnSpPr>
        <p:spPr>
          <a:xfrm>
            <a:off x="7718604" y="1865933"/>
            <a:ext cx="1064788" cy="7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7693383" y="2367043"/>
            <a:ext cx="1064788" cy="7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橢圓 47"/>
          <p:cNvSpPr/>
          <p:nvPr/>
        </p:nvSpPr>
        <p:spPr>
          <a:xfrm>
            <a:off x="5290849" y="2938337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852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1</a:t>
            </a:r>
            <a:r>
              <a:rPr lang="en-US" altLang="zh-TW" dirty="0"/>
              <a:t>. </a:t>
            </a:r>
            <a:r>
              <a:rPr lang="zh-TW" altLang="en-US" dirty="0"/>
              <a:t>選出每組</a:t>
            </a:r>
            <a:r>
              <a:rPr lang="en-US" altLang="zh-TW" dirty="0"/>
              <a:t>100</a:t>
            </a:r>
            <a:r>
              <a:rPr lang="zh-TW" altLang="en-US" dirty="0"/>
              <a:t>個，共</a:t>
            </a:r>
            <a:r>
              <a:rPr lang="en-US" altLang="zh-TW" dirty="0"/>
              <a:t>400</a:t>
            </a:r>
            <a:r>
              <a:rPr lang="zh-TW" altLang="en-US" dirty="0"/>
              <a:t>個</a:t>
            </a:r>
            <a:r>
              <a:rPr lang="en-US" altLang="zh-TW" dirty="0" err="1" smtClean="0"/>
              <a:t>trainingDataList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trainingDataList.json</a:t>
            </a:r>
            <a:endParaRPr lang="en-US" altLang="zh-TW" dirty="0"/>
          </a:p>
          <a:p>
            <a:r>
              <a:rPr lang="en-US" altLang="zh-TW" dirty="0"/>
              <a:t>2. </a:t>
            </a:r>
            <a:r>
              <a:rPr lang="zh-TW" altLang="en-US" dirty="0"/>
              <a:t>利用這</a:t>
            </a:r>
            <a:r>
              <a:rPr lang="en-US" altLang="zh-TW" dirty="0"/>
              <a:t>100</a:t>
            </a:r>
            <a:r>
              <a:rPr lang="zh-TW" altLang="en-US" dirty="0"/>
              <a:t>個</a:t>
            </a:r>
            <a:r>
              <a:rPr lang="en-US" altLang="zh-TW" dirty="0" err="1"/>
              <a:t>TrainDataList</a:t>
            </a:r>
            <a:r>
              <a:rPr lang="zh-TW" altLang="en-US" dirty="0"/>
              <a:t>和所有</a:t>
            </a:r>
            <a:r>
              <a:rPr lang="en-US" altLang="zh-TW" dirty="0"/>
              <a:t>Data</a:t>
            </a:r>
            <a:r>
              <a:rPr lang="zh-TW" altLang="en-US" dirty="0"/>
              <a:t>作</a:t>
            </a:r>
            <a:r>
              <a:rPr lang="en-US" altLang="zh-TW" dirty="0"/>
              <a:t>CI</a:t>
            </a:r>
            <a:r>
              <a:rPr lang="zh-TW" altLang="en-US" dirty="0"/>
              <a:t>及</a:t>
            </a:r>
            <a:r>
              <a:rPr lang="en-US" altLang="zh-TW" dirty="0"/>
              <a:t>LCS</a:t>
            </a:r>
            <a:r>
              <a:rPr lang="zh-TW" altLang="en-US" dirty="0"/>
              <a:t>完成</a:t>
            </a:r>
            <a:r>
              <a:rPr lang="en-US" altLang="zh-TW" dirty="0" smtClean="0"/>
              <a:t>Cache</a:t>
            </a:r>
          </a:p>
          <a:p>
            <a:pPr lvl="1"/>
            <a:r>
              <a:rPr lang="en-US" altLang="zh-TW" dirty="0" err="1" smtClean="0"/>
              <a:t>resultCache</a:t>
            </a:r>
            <a:endParaRPr lang="en-US" altLang="zh-TW" dirty="0"/>
          </a:p>
          <a:p>
            <a:r>
              <a:rPr lang="en-US" altLang="zh-TW" dirty="0"/>
              <a:t>3. </a:t>
            </a:r>
            <a:r>
              <a:rPr lang="zh-TW" altLang="en-US" dirty="0"/>
              <a:t>在各個</a:t>
            </a:r>
            <a:r>
              <a:rPr lang="en-US" altLang="zh-TW" dirty="0"/>
              <a:t>100</a:t>
            </a:r>
            <a:r>
              <a:rPr lang="zh-TW" altLang="en-US" dirty="0"/>
              <a:t>個裡面</a:t>
            </a:r>
            <a:r>
              <a:rPr lang="zh-TW" altLang="en-US" dirty="0" smtClean="0"/>
              <a:t>，利用</a:t>
            </a:r>
            <a:r>
              <a:rPr lang="en-US" altLang="zh-TW" dirty="0" smtClean="0"/>
              <a:t>k-means</a:t>
            </a:r>
            <a:r>
              <a:rPr lang="zh-TW" altLang="en-US" dirty="0" smtClean="0"/>
              <a:t>選出</a:t>
            </a:r>
            <a:r>
              <a:rPr lang="en-US" altLang="zh-TW" dirty="0"/>
              <a:t>5</a:t>
            </a:r>
            <a:r>
              <a:rPr lang="zh-TW" altLang="en-US" dirty="0"/>
              <a:t>個做為</a:t>
            </a:r>
            <a:r>
              <a:rPr lang="en-US" altLang="zh-TW" dirty="0"/>
              <a:t>BKS</a:t>
            </a:r>
            <a:r>
              <a:rPr lang="zh-TW" altLang="en-US" dirty="0"/>
              <a:t>用的</a:t>
            </a:r>
            <a:r>
              <a:rPr lang="en-US" altLang="zh-TW" dirty="0" err="1" smtClean="0"/>
              <a:t>TraingDatalist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km05.json</a:t>
            </a:r>
            <a:endParaRPr lang="en-US" altLang="zh-TW" dirty="0"/>
          </a:p>
          <a:p>
            <a:r>
              <a:rPr lang="en-US" altLang="zh-TW" dirty="0"/>
              <a:t>4. </a:t>
            </a:r>
            <a:r>
              <a:rPr lang="zh-TW" altLang="en-US" dirty="0"/>
              <a:t>利用每組</a:t>
            </a:r>
            <a:r>
              <a:rPr lang="en-US" altLang="zh-TW" dirty="0"/>
              <a:t>5</a:t>
            </a:r>
            <a:r>
              <a:rPr lang="zh-TW" altLang="en-US" dirty="0"/>
              <a:t>個共</a:t>
            </a:r>
            <a:r>
              <a:rPr lang="en-US" altLang="zh-TW" dirty="0"/>
              <a:t>20</a:t>
            </a:r>
            <a:r>
              <a:rPr lang="zh-TW" altLang="en-US" dirty="0"/>
              <a:t>個</a:t>
            </a:r>
            <a:r>
              <a:rPr lang="en-US" altLang="zh-TW" dirty="0" err="1"/>
              <a:t>TrainingData</a:t>
            </a:r>
            <a:r>
              <a:rPr lang="zh-TW" altLang="en-US" dirty="0"/>
              <a:t>和第一步選出的</a:t>
            </a:r>
            <a:r>
              <a:rPr lang="en-US" altLang="zh-TW" dirty="0"/>
              <a:t>400</a:t>
            </a:r>
            <a:r>
              <a:rPr lang="zh-TW" altLang="en-US" dirty="0"/>
              <a:t>個</a:t>
            </a:r>
            <a:r>
              <a:rPr lang="en-US" altLang="zh-TW" dirty="0"/>
              <a:t>data</a:t>
            </a:r>
            <a:r>
              <a:rPr lang="zh-TW" altLang="en-US" dirty="0"/>
              <a:t>進行</a:t>
            </a:r>
            <a:r>
              <a:rPr lang="en-US" altLang="zh-TW" dirty="0"/>
              <a:t>BKS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bksTable</a:t>
            </a:r>
            <a:endParaRPr lang="en-US" altLang="zh-TW" dirty="0"/>
          </a:p>
          <a:p>
            <a:r>
              <a:rPr lang="en-US" altLang="zh-TW" dirty="0"/>
              <a:t>5. </a:t>
            </a:r>
            <a:r>
              <a:rPr lang="zh-TW" altLang="en-US" dirty="0"/>
              <a:t>利用得到的</a:t>
            </a:r>
            <a:r>
              <a:rPr lang="en-US" altLang="zh-TW" dirty="0"/>
              <a:t>BKS</a:t>
            </a:r>
            <a:r>
              <a:rPr lang="zh-TW" altLang="en-US" dirty="0"/>
              <a:t>表和所有資料跑過</a:t>
            </a:r>
            <a:r>
              <a:rPr lang="zh-TW" altLang="en-US" dirty="0" smtClean="0"/>
              <a:t>結果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 </a:t>
            </a:r>
            <a:r>
              <a:rPr lang="en-US" altLang="zh-TW" dirty="0" smtClean="0"/>
              <a:t>result</a:t>
            </a:r>
            <a:endParaRPr lang="en-US" altLang="zh-TW" dirty="0"/>
          </a:p>
          <a:p>
            <a:r>
              <a:rPr lang="en-US" altLang="zh-TW" dirty="0"/>
              <a:t>6. </a:t>
            </a:r>
            <a:r>
              <a:rPr lang="zh-TW" altLang="en-US" dirty="0"/>
              <a:t>回到</a:t>
            </a:r>
            <a:r>
              <a:rPr lang="zh-TW" altLang="en-US" dirty="0" smtClean="0"/>
              <a:t>第一步繼續跑，直到跑出</a:t>
            </a:r>
            <a:r>
              <a:rPr lang="en-US" altLang="zh-TW" dirty="0" smtClean="0"/>
              <a:t>100</a:t>
            </a:r>
            <a:r>
              <a:rPr lang="zh-TW" altLang="en-US" dirty="0"/>
              <a:t>組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184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0. </a:t>
            </a:r>
            <a:r>
              <a:rPr lang="zh-TW" altLang="en-US" dirty="0" smtClean="0"/>
              <a:t>把程式編成組合語言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680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0. </a:t>
            </a:r>
            <a:r>
              <a:rPr lang="zh-TW" altLang="en-US" dirty="0" smtClean="0"/>
              <a:t>把程式編成組合語言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94859" y="1011982"/>
            <a:ext cx="3987800" cy="4996178"/>
          </a:xfrm>
          <a:prstGeom prst="rect">
            <a:avLst/>
          </a:prstGeom>
          <a:solidFill>
            <a:srgbClr val="7C480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latin typeface="Source Code Pro" panose="020B0509030403020204" pitchFamily="49" charset="0"/>
              </a:rPr>
              <a:t>#include&lt;</a:t>
            </a:r>
            <a:r>
              <a:rPr lang="en-US" altLang="zh-TW" sz="1400" dirty="0" err="1">
                <a:latin typeface="Source Code Pro" panose="020B0509030403020204" pitchFamily="49" charset="0"/>
              </a:rPr>
              <a:t>stdio.h</a:t>
            </a:r>
            <a:r>
              <a:rPr lang="en-US" altLang="zh-TW" sz="1400" dirty="0">
                <a:latin typeface="Source Code Pro" panose="020B0509030403020204" pitchFamily="49" charset="0"/>
              </a:rPr>
              <a:t>&gt;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f(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x)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,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for 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=1, ret=0;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&lt;=10;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++)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ret+=x%10;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x/=10;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return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main()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long </a:t>
            </a:r>
            <a:r>
              <a:rPr lang="en-US" altLang="zh-TW" sz="1400" dirty="0" err="1">
                <a:latin typeface="Source Code Pro" panose="020B0509030403020204" pitchFamily="49" charset="0"/>
              </a:rPr>
              <a:t>long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n;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while (1)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scanf</a:t>
            </a:r>
            <a:r>
              <a:rPr lang="en-US" altLang="zh-TW" sz="1400" dirty="0">
                <a:latin typeface="Source Code Pro" panose="020B0509030403020204" pitchFamily="49" charset="0"/>
              </a:rPr>
              <a:t>("%I64d", &amp;n);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if (n==0)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        break;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printf</a:t>
            </a:r>
            <a:r>
              <a:rPr lang="en-US" altLang="zh-TW" sz="1400" dirty="0">
                <a:latin typeface="Source Code Pro" panose="020B0509030403020204" pitchFamily="49" charset="0"/>
              </a:rPr>
              <a:t>("%d\</a:t>
            </a:r>
            <a:r>
              <a:rPr lang="en-US" altLang="zh-TW" sz="1400" dirty="0" err="1">
                <a:latin typeface="Source Code Pro" panose="020B0509030403020204" pitchFamily="49" charset="0"/>
              </a:rPr>
              <a:t>n",f</a:t>
            </a:r>
            <a:r>
              <a:rPr lang="en-US" altLang="zh-TW" sz="1400" dirty="0">
                <a:latin typeface="Source Code Pro" panose="020B0509030403020204" pitchFamily="49" charset="0"/>
              </a:rPr>
              <a:t>(f(f(n))));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  <a:endParaRPr lang="zh-TW" altLang="en-US" sz="1400" dirty="0">
              <a:latin typeface="Source Code Pro" panose="020B050903040302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1160" y="1011982"/>
            <a:ext cx="3987800" cy="4996178"/>
          </a:xfrm>
          <a:prstGeom prst="rect">
            <a:avLst/>
          </a:prstGeom>
          <a:solidFill>
            <a:srgbClr val="7C480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latin typeface="Source Code Pro" panose="020B0509030403020204" pitchFamily="49" charset="0"/>
              </a:rPr>
              <a:t>#include&lt;</a:t>
            </a:r>
            <a:r>
              <a:rPr lang="en-US" altLang="zh-TW" sz="1400" dirty="0" err="1">
                <a:latin typeface="Source Code Pro" panose="020B0509030403020204" pitchFamily="49" charset="0"/>
              </a:rPr>
              <a:t>stdio.h</a:t>
            </a:r>
            <a:r>
              <a:rPr lang="en-US" altLang="zh-TW" sz="1400" dirty="0">
                <a:latin typeface="Source Code Pro" panose="020B0509030403020204" pitchFamily="49" charset="0"/>
              </a:rPr>
              <a:t>&gt;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f(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x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){</a:t>
            </a:r>
          </a:p>
          <a:p>
            <a:endParaRPr lang="en-US" altLang="zh-TW" sz="1400" dirty="0">
              <a:latin typeface="Source Code Pro" panose="020B0509030403020204" pitchFamily="49" charset="0"/>
            </a:endParaRP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, </a:t>
            </a:r>
            <a:r>
              <a:rPr lang="en-US" altLang="zh-TW" sz="1400" dirty="0" err="1" smtClean="0">
                <a:latin typeface="Source Code Pro" panose="020B0509030403020204" pitchFamily="49" charset="0"/>
              </a:rPr>
              <a:t>val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;</a:t>
            </a:r>
            <a:endParaRPr lang="en-US" altLang="zh-TW" sz="1400" dirty="0">
              <a:latin typeface="Source Code Pro" panose="020B0509030403020204" pitchFamily="49" charset="0"/>
            </a:endParaRP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for 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=1, </a:t>
            </a:r>
            <a:r>
              <a:rPr lang="en-US" altLang="zh-TW" sz="1400" dirty="0" err="1" smtClean="0">
                <a:latin typeface="Source Code Pro" panose="020B0509030403020204" pitchFamily="49" charset="0"/>
              </a:rPr>
              <a:t>va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;=0</a:t>
            </a:r>
            <a:r>
              <a:rPr lang="en-US" altLang="zh-TW" sz="1400" dirty="0">
                <a:latin typeface="Source Code Pro" panose="020B0509030403020204" pitchFamily="49" charset="0"/>
              </a:rPr>
              <a:t>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&lt;=10;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++)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 smtClean="0">
                <a:latin typeface="Source Code Pro" panose="020B0509030403020204" pitchFamily="49" charset="0"/>
              </a:rPr>
              <a:t>va</a:t>
            </a:r>
            <a:r>
              <a:rPr lang="en-US" altLang="zh-TW" sz="1400" dirty="0" err="1">
                <a:latin typeface="Source Code Pro" panose="020B0509030403020204" pitchFamily="49" charset="0"/>
              </a:rPr>
              <a:t>l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+=</a:t>
            </a:r>
            <a:r>
              <a:rPr lang="en-US" altLang="zh-TW" sz="1400" dirty="0">
                <a:latin typeface="Source Code Pro" panose="020B0509030403020204" pitchFamily="49" charset="0"/>
              </a:rPr>
              <a:t>x%10;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x/=10;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return </a:t>
            </a:r>
            <a:r>
              <a:rPr lang="en-US" altLang="zh-TW" sz="1400" dirty="0" err="1" smtClean="0">
                <a:latin typeface="Source Code Pro" panose="020B0509030403020204" pitchFamily="49" charset="0"/>
              </a:rPr>
              <a:t>val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;</a:t>
            </a:r>
            <a:endParaRPr lang="en-US" altLang="zh-TW" sz="1400" dirty="0">
              <a:latin typeface="Source Code Pro" panose="020B0509030403020204" pitchFamily="49" charset="0"/>
            </a:endParaRP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main()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long </a:t>
            </a:r>
            <a:r>
              <a:rPr lang="en-US" altLang="zh-TW" sz="1400" dirty="0" err="1">
                <a:latin typeface="Source Code Pro" panose="020B0509030403020204" pitchFamily="49" charset="0"/>
              </a:rPr>
              <a:t>long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n;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for(;;)</a:t>
            </a:r>
            <a:endParaRPr lang="en-US" altLang="zh-TW" sz="1400" dirty="0">
              <a:latin typeface="Source Code Pro" panose="020B0509030403020204" pitchFamily="49" charset="0"/>
            </a:endParaRP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scanf</a:t>
            </a:r>
            <a:r>
              <a:rPr lang="en-US" altLang="zh-TW" sz="1400" dirty="0">
                <a:latin typeface="Source Code Pro" panose="020B0509030403020204" pitchFamily="49" charset="0"/>
              </a:rPr>
              <a:t>("%I64d", &amp;n);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if (n==0)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        break;</a:t>
            </a:r>
          </a:p>
          <a:p>
            <a:r>
              <a:rPr lang="en-US" altLang="zh-TW" sz="1400" dirty="0" err="1" smtClean="0">
                <a:latin typeface="Source Code Pro" panose="020B0509030403020204" pitchFamily="49" charset="0"/>
              </a:rPr>
              <a:t>printf</a:t>
            </a:r>
            <a:r>
              <a:rPr lang="en-US" altLang="zh-TW" sz="1400" dirty="0">
                <a:latin typeface="Source Code Pro" panose="020B0509030403020204" pitchFamily="49" charset="0"/>
              </a:rPr>
              <a:t>("%d\</a:t>
            </a:r>
            <a:r>
              <a:rPr lang="en-US" altLang="zh-TW" sz="1400" dirty="0" err="1">
                <a:latin typeface="Source Code Pro" panose="020B0509030403020204" pitchFamily="49" charset="0"/>
              </a:rPr>
              <a:t>n",f</a:t>
            </a:r>
            <a:r>
              <a:rPr lang="en-US" altLang="zh-TW" sz="1400" dirty="0">
                <a:latin typeface="Source Code Pro" panose="020B0509030403020204" pitchFamily="49" charset="0"/>
              </a:rPr>
              <a:t>(f(f(n))));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  <a:endParaRPr lang="zh-TW" altLang="en-US" sz="1400" dirty="0">
              <a:latin typeface="Source Code Pro" panose="020B0509030403020204" pitchFamily="49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1892300" y="2327696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422400" y="1268940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88000" y="1185441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207759" y="2219322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1165859" y="3971922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233668" y="3941651"/>
            <a:ext cx="1598931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458720" y="4897110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969759" y="5021151"/>
            <a:ext cx="762000" cy="486834"/>
          </a:xfrm>
          <a:prstGeom prst="ellipse">
            <a:avLst/>
          </a:prstGeom>
          <a:noFill/>
          <a:ln w="92075" cmpd="sng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2385060" y="1512357"/>
            <a:ext cx="306324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2654300" y="2706156"/>
            <a:ext cx="3553459" cy="9673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1803400" y="4479923"/>
            <a:ext cx="3644900" cy="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3220720" y="5383944"/>
            <a:ext cx="3641091" cy="141612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899925" y="2237274"/>
            <a:ext cx="2175511" cy="4332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2818129" y="220112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FFFF00"/>
                </a:solidFill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變數命名問題</a:t>
            </a:r>
            <a:endParaRPr lang="zh-TW" altLang="en-US" sz="2800" dirty="0">
              <a:solidFill>
                <a:srgbClr val="FFFF00"/>
              </a:solidFill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751455" y="1072931"/>
            <a:ext cx="1559878" cy="4332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2482016" y="3975140"/>
            <a:ext cx="1536702" cy="4332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3839210" y="4926634"/>
            <a:ext cx="1566127" cy="4332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3784380" y="489225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FFFF00"/>
                </a:solidFill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空行問題</a:t>
            </a:r>
            <a:endParaRPr lang="zh-TW" altLang="en-US" sz="2800" dirty="0">
              <a:solidFill>
                <a:srgbClr val="FFFF00"/>
              </a:solidFill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97760" y="394165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FFFF00"/>
                </a:solidFill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語義問題</a:t>
            </a:r>
            <a:endParaRPr lang="zh-TW" altLang="en-US" sz="2800" dirty="0">
              <a:solidFill>
                <a:srgbClr val="FFFF00"/>
              </a:solidFill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690375" y="102887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FFFF00"/>
                </a:solidFill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格式問題</a:t>
            </a:r>
            <a:endParaRPr lang="zh-TW" altLang="en-US" sz="2800" dirty="0">
              <a:solidFill>
                <a:srgbClr val="FFFF00"/>
              </a:solidFill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274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4594859" y="1011982"/>
            <a:ext cx="3987800" cy="4996178"/>
          </a:xfrm>
          <a:prstGeom prst="rect">
            <a:avLst/>
          </a:prstGeom>
          <a:solidFill>
            <a:srgbClr val="7C480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latin typeface="Source Code Pro" panose="020B0509030403020204" pitchFamily="49" charset="0"/>
              </a:rPr>
              <a:t>#include&lt;</a:t>
            </a:r>
            <a:r>
              <a:rPr lang="en-US" altLang="zh-TW" sz="1400" dirty="0" err="1">
                <a:latin typeface="Source Code Pro" panose="020B0509030403020204" pitchFamily="49" charset="0"/>
              </a:rPr>
              <a:t>stdio.h</a:t>
            </a:r>
            <a:r>
              <a:rPr lang="en-US" altLang="zh-TW" sz="1400" dirty="0">
                <a:latin typeface="Source Code Pro" panose="020B0509030403020204" pitchFamily="49" charset="0"/>
              </a:rPr>
              <a:t>&gt;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f(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x)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,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for 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=1, ret=0;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&lt;=10;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++)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ret+=x%10;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x/=10;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return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main()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long </a:t>
            </a:r>
            <a:r>
              <a:rPr lang="en-US" altLang="zh-TW" sz="1400" dirty="0" err="1">
                <a:latin typeface="Source Code Pro" panose="020B0509030403020204" pitchFamily="49" charset="0"/>
              </a:rPr>
              <a:t>long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n;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while (1)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scanf</a:t>
            </a:r>
            <a:r>
              <a:rPr lang="en-US" altLang="zh-TW" sz="1400" dirty="0">
                <a:latin typeface="Source Code Pro" panose="020B0509030403020204" pitchFamily="49" charset="0"/>
              </a:rPr>
              <a:t>("%I64d", &amp;n);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if (n==0)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        break;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printf</a:t>
            </a:r>
            <a:r>
              <a:rPr lang="en-US" altLang="zh-TW" sz="1400" dirty="0">
                <a:latin typeface="Source Code Pro" panose="020B0509030403020204" pitchFamily="49" charset="0"/>
              </a:rPr>
              <a:t>("%d\</a:t>
            </a:r>
            <a:r>
              <a:rPr lang="en-US" altLang="zh-TW" sz="1400" dirty="0" err="1">
                <a:latin typeface="Source Code Pro" panose="020B0509030403020204" pitchFamily="49" charset="0"/>
              </a:rPr>
              <a:t>n",f</a:t>
            </a:r>
            <a:r>
              <a:rPr lang="en-US" altLang="zh-TW" sz="1400" dirty="0">
                <a:latin typeface="Source Code Pro" panose="020B0509030403020204" pitchFamily="49" charset="0"/>
              </a:rPr>
              <a:t>(f(f(n))));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  <a:endParaRPr lang="zh-TW" altLang="en-US" sz="1400" dirty="0">
              <a:latin typeface="Source Code Pro" panose="020B0509030403020204" pitchFamily="49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395219" y="1011982"/>
            <a:ext cx="1983741" cy="425851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700" dirty="0">
                <a:latin typeface="Source Code Pro" panose="020B0509030403020204" pitchFamily="49" charset="0"/>
              </a:rPr>
              <a:t>main: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.LFB1: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cfi_startproc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pushq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cfi_def_cfa_offset</a:t>
            </a:r>
            <a:r>
              <a:rPr lang="en-US" altLang="zh-TW" sz="700" dirty="0">
                <a:latin typeface="Source Code Pro" panose="020B0509030403020204" pitchFamily="49" charset="0"/>
              </a:rPr>
              <a:t> 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cfi_offset</a:t>
            </a:r>
            <a:r>
              <a:rPr lang="en-US" altLang="zh-TW" sz="700" dirty="0">
                <a:latin typeface="Source Code Pro" panose="020B0509030403020204" pitchFamily="49" charset="0"/>
              </a:rPr>
              <a:t> 6, -16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cfi_def_cfa_register</a:t>
            </a:r>
            <a:r>
              <a:rPr lang="en-US" altLang="zh-TW" sz="700" dirty="0">
                <a:latin typeface="Source Code Pro" panose="020B0509030403020204" pitchFamily="49" charset="0"/>
              </a:rPr>
              <a:t> 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subq</a:t>
            </a:r>
            <a:r>
              <a:rPr lang="en-US" altLang="zh-TW" sz="700" dirty="0">
                <a:latin typeface="Source Code Pro" panose="020B0509030403020204" pitchFamily="49" charset="0"/>
              </a:rPr>
              <a:t>    $16,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.L7: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leaq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$.LC0,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scanf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testq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je      .L9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.L5: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esi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$.LC1,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printf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jmp</a:t>
            </a:r>
            <a:r>
              <a:rPr lang="en-US" altLang="zh-TW" sz="700" dirty="0">
                <a:latin typeface="Source Code Pro" panose="020B0509030403020204" pitchFamily="49" charset="0"/>
              </a:rPr>
              <a:t>     .L7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.L9: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nop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.L8: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leave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</a:t>
            </a:r>
            <a:r>
              <a:rPr lang="en-US" altLang="zh-TW" sz="700" dirty="0">
                <a:latin typeface="Source Code Pro" panose="020B0509030403020204" pitchFamily="49" charset="0"/>
              </a:rPr>
              <a:t> 7, 8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ret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cfi_endproc</a:t>
            </a:r>
            <a:endParaRPr lang="en-US" altLang="zh-TW" sz="700" dirty="0">
              <a:latin typeface="Source Code Pro" panose="020B0509030403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5579" y="457200"/>
            <a:ext cx="1983741" cy="541189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700" dirty="0">
                <a:latin typeface="Source Code Pro" panose="020B0509030403020204" pitchFamily="49" charset="0"/>
              </a:rPr>
              <a:t>_Z1fi: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.LFB0: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cfi_startproc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pushq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cfi_def_cfa_offset</a:t>
            </a:r>
            <a:r>
              <a:rPr lang="en-US" altLang="zh-TW" sz="700" dirty="0">
                <a:latin typeface="Source Code Pro" panose="020B0509030403020204" pitchFamily="49" charset="0"/>
              </a:rPr>
              <a:t> 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cfi_offset</a:t>
            </a:r>
            <a:r>
              <a:rPr lang="en-US" altLang="zh-TW" sz="700" dirty="0">
                <a:latin typeface="Source Code Pro" panose="020B0509030403020204" pitchFamily="49" charset="0"/>
              </a:rPr>
              <a:t> 6, -16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cfi_def_cfa_register</a:t>
            </a:r>
            <a:r>
              <a:rPr lang="en-US" altLang="zh-TW" sz="700" dirty="0">
                <a:latin typeface="Source Code Pro" panose="020B0509030403020204" pitchFamily="49" charset="0"/>
              </a:rPr>
              <a:t> 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r>
              <a:rPr lang="en-US" altLang="zh-TW" sz="700" dirty="0">
                <a:latin typeface="Source Code Pro" panose="020B0509030403020204" pitchFamily="49" charset="0"/>
              </a:rPr>
              <a:t>,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jmp</a:t>
            </a:r>
            <a:r>
              <a:rPr lang="en-US" altLang="zh-TW" sz="700" dirty="0">
                <a:latin typeface="Source Code Pro" panose="020B0509030403020204" pitchFamily="49" charset="0"/>
              </a:rPr>
              <a:t>     .L2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.L3: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$1717986919,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imull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$31,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sall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$1717986919,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imull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$31,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 smtClean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 smtClean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$1,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.L2: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cmpl</a:t>
            </a:r>
            <a:r>
              <a:rPr lang="en-US" altLang="zh-TW" sz="700" dirty="0">
                <a:latin typeface="Source Code Pro" panose="020B0509030403020204" pitchFamily="49" charset="0"/>
              </a:rPr>
              <a:t>    $10,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setle</a:t>
            </a:r>
            <a:r>
              <a:rPr lang="en-US" altLang="zh-TW" sz="700" dirty="0">
                <a:latin typeface="Source Code Pro" panose="020B0509030403020204" pitchFamily="49" charset="0"/>
              </a:rPr>
              <a:t>   %al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testb</a:t>
            </a:r>
            <a:r>
              <a:rPr lang="en-US" altLang="zh-TW" sz="700" dirty="0">
                <a:latin typeface="Source Code Pro" panose="020B0509030403020204" pitchFamily="49" charset="0"/>
              </a:rPr>
              <a:t>   %al, %al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jne</a:t>
            </a:r>
            <a:r>
              <a:rPr lang="en-US" altLang="zh-TW" sz="700" dirty="0">
                <a:latin typeface="Source Code Pro" panose="020B0509030403020204" pitchFamily="49" charset="0"/>
              </a:rPr>
              <a:t>     .L3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popq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</a:t>
            </a:r>
            <a:r>
              <a:rPr lang="en-US" altLang="zh-TW" sz="700" dirty="0">
                <a:latin typeface="Source Code Pro" panose="020B0509030403020204" pitchFamily="49" charset="0"/>
              </a:rPr>
              <a:t> 7, 8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ret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cfi_endproc</a:t>
            </a:r>
            <a:endParaRPr lang="en-US" altLang="zh-TW" sz="700" dirty="0">
              <a:latin typeface="Source Code Pro" panose="020B0509030403020204" pitchFamily="49" charset="0"/>
            </a:endParaRPr>
          </a:p>
        </p:txBody>
      </p:sp>
      <p:sp>
        <p:nvSpPr>
          <p:cNvPr id="16" name="向右箭號 15"/>
          <p:cNvSpPr/>
          <p:nvPr/>
        </p:nvSpPr>
        <p:spPr>
          <a:xfrm rot="10800000">
            <a:off x="3978909" y="3873183"/>
            <a:ext cx="1231900" cy="977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右箭號 35"/>
          <p:cNvSpPr/>
          <p:nvPr/>
        </p:nvSpPr>
        <p:spPr>
          <a:xfrm rot="10800000">
            <a:off x="1972308" y="1973789"/>
            <a:ext cx="2917191" cy="977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51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4594859" y="1011982"/>
            <a:ext cx="3987800" cy="4996178"/>
          </a:xfrm>
          <a:prstGeom prst="rect">
            <a:avLst/>
          </a:prstGeom>
          <a:solidFill>
            <a:srgbClr val="7C480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latin typeface="Source Code Pro" panose="020B0509030403020204" pitchFamily="49" charset="0"/>
              </a:rPr>
              <a:t>#include&lt;</a:t>
            </a:r>
            <a:r>
              <a:rPr lang="en-US" altLang="zh-TW" sz="1400" dirty="0" err="1">
                <a:latin typeface="Source Code Pro" panose="020B0509030403020204" pitchFamily="49" charset="0"/>
              </a:rPr>
              <a:t>stdio.h</a:t>
            </a:r>
            <a:r>
              <a:rPr lang="en-US" altLang="zh-TW" sz="1400" dirty="0">
                <a:latin typeface="Source Code Pro" panose="020B0509030403020204" pitchFamily="49" charset="0"/>
              </a:rPr>
              <a:t>&gt;</a:t>
            </a:r>
          </a:p>
          <a:p>
            <a:r>
              <a:rPr lang="en-US" altLang="zh-TW" sz="1400" dirty="0" err="1" smtClean="0">
                <a:latin typeface="Source Code Pro" panose="020B0509030403020204" pitchFamily="49" charset="0"/>
              </a:rPr>
              <a:t>int</a:t>
            </a:r>
            <a:r>
              <a:rPr lang="en-US" altLang="zh-TW" sz="1400" dirty="0" smtClean="0">
                <a:latin typeface="Source Code Pro" panose="020B0509030403020204" pitchFamily="49" charset="0"/>
              </a:rPr>
              <a:t> </a:t>
            </a:r>
            <a:r>
              <a:rPr lang="en-US" altLang="zh-TW" sz="1400" dirty="0">
                <a:latin typeface="Source Code Pro" panose="020B0509030403020204" pitchFamily="49" charset="0"/>
              </a:rPr>
              <a:t>main()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long </a:t>
            </a:r>
            <a:r>
              <a:rPr lang="en-US" altLang="zh-TW" sz="1400" dirty="0" err="1">
                <a:latin typeface="Source Code Pro" panose="020B0509030403020204" pitchFamily="49" charset="0"/>
              </a:rPr>
              <a:t>long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n;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while (1)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scanf</a:t>
            </a:r>
            <a:r>
              <a:rPr lang="en-US" altLang="zh-TW" sz="1400" dirty="0">
                <a:latin typeface="Source Code Pro" panose="020B0509030403020204" pitchFamily="49" charset="0"/>
              </a:rPr>
              <a:t>("%I64d", &amp;n);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if (n==0)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        break;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printf</a:t>
            </a:r>
            <a:r>
              <a:rPr lang="en-US" altLang="zh-TW" sz="1400" dirty="0">
                <a:latin typeface="Source Code Pro" panose="020B0509030403020204" pitchFamily="49" charset="0"/>
              </a:rPr>
              <a:t>("%d\</a:t>
            </a:r>
            <a:r>
              <a:rPr lang="en-US" altLang="zh-TW" sz="1400" dirty="0" err="1">
                <a:latin typeface="Source Code Pro" panose="020B0509030403020204" pitchFamily="49" charset="0"/>
              </a:rPr>
              <a:t>n",f</a:t>
            </a:r>
            <a:r>
              <a:rPr lang="en-US" altLang="zh-TW" sz="1400" dirty="0">
                <a:latin typeface="Source Code Pro" panose="020B0509030403020204" pitchFamily="49" charset="0"/>
              </a:rPr>
              <a:t>(f(f(n))));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 smtClean="0">
                <a:latin typeface="Source Code Pro" panose="020B0509030403020204" pitchFamily="49" charset="0"/>
              </a:rPr>
              <a:t>}</a:t>
            </a:r>
          </a:p>
          <a:p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f(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x)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int</a:t>
            </a:r>
            <a:r>
              <a:rPr lang="en-US" altLang="zh-TW" sz="1400" dirty="0">
                <a:latin typeface="Source Code Pro" panose="020B0509030403020204" pitchFamily="49" charset="0"/>
              </a:rPr>
              <a:t>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,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for (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=1, ret=0;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&lt;=10; </a:t>
            </a:r>
            <a:r>
              <a:rPr lang="en-US" altLang="zh-TW" sz="1400" dirty="0" err="1">
                <a:latin typeface="Source Code Pro" panose="020B0509030403020204" pitchFamily="49" charset="0"/>
              </a:rPr>
              <a:t>i</a:t>
            </a:r>
            <a:r>
              <a:rPr lang="en-US" altLang="zh-TW" sz="1400" dirty="0">
                <a:latin typeface="Source Code Pro" panose="020B0509030403020204" pitchFamily="49" charset="0"/>
              </a:rPr>
              <a:t>++)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{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ret+=x%10;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        x/=10;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}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        return ret;</a:t>
            </a:r>
          </a:p>
          <a:p>
            <a:r>
              <a:rPr lang="en-US" altLang="zh-TW" sz="1400" dirty="0">
                <a:latin typeface="Source Code Pro" panose="020B0509030403020204" pitchFamily="49" charset="0"/>
              </a:rPr>
              <a:t>}</a:t>
            </a:r>
            <a:endParaRPr lang="zh-TW" altLang="en-US" sz="1400" dirty="0">
              <a:latin typeface="Source Code Pro" panose="020B0509030403020204" pitchFamily="49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395219" y="1011982"/>
            <a:ext cx="1983741" cy="425851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700" dirty="0">
                <a:latin typeface="Source Code Pro" panose="020B0509030403020204" pitchFamily="49" charset="0"/>
              </a:rPr>
              <a:t>main: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.LFB1: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cfi_startproc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pushq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cfi_def_cfa_offset</a:t>
            </a:r>
            <a:r>
              <a:rPr lang="en-US" altLang="zh-TW" sz="700" dirty="0">
                <a:latin typeface="Source Code Pro" panose="020B0509030403020204" pitchFamily="49" charset="0"/>
              </a:rPr>
              <a:t> 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cfi_offset</a:t>
            </a:r>
            <a:r>
              <a:rPr lang="en-US" altLang="zh-TW" sz="700" dirty="0">
                <a:latin typeface="Source Code Pro" panose="020B0509030403020204" pitchFamily="49" charset="0"/>
              </a:rPr>
              <a:t> 6, -16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cfi_def_cfa_register</a:t>
            </a:r>
            <a:r>
              <a:rPr lang="en-US" altLang="zh-TW" sz="700" dirty="0">
                <a:latin typeface="Source Code Pro" panose="020B0509030403020204" pitchFamily="49" charset="0"/>
              </a:rPr>
              <a:t> 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subq</a:t>
            </a:r>
            <a:r>
              <a:rPr lang="en-US" altLang="zh-TW" sz="700" dirty="0">
                <a:latin typeface="Source Code Pro" panose="020B0509030403020204" pitchFamily="49" charset="0"/>
              </a:rPr>
              <a:t>    $16,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.L7: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leaq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$.LC0,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scanf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testq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je      .L9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.L5: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_Z1fi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esi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$.LC1,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call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printf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jmp</a:t>
            </a:r>
            <a:r>
              <a:rPr lang="en-US" altLang="zh-TW" sz="700" dirty="0">
                <a:latin typeface="Source Code Pro" panose="020B0509030403020204" pitchFamily="49" charset="0"/>
              </a:rPr>
              <a:t>     .L7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.L9: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nop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.L8: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leave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</a:t>
            </a:r>
            <a:r>
              <a:rPr lang="en-US" altLang="zh-TW" sz="700" dirty="0">
                <a:latin typeface="Source Code Pro" panose="020B0509030403020204" pitchFamily="49" charset="0"/>
              </a:rPr>
              <a:t> 7, 8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ret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cfi_endproc</a:t>
            </a:r>
            <a:endParaRPr lang="en-US" altLang="zh-TW" sz="700" dirty="0">
              <a:latin typeface="Source Code Pro" panose="020B0509030403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5579" y="457200"/>
            <a:ext cx="1983741" cy="541189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700" dirty="0">
                <a:latin typeface="Source Code Pro" panose="020B0509030403020204" pitchFamily="49" charset="0"/>
              </a:rPr>
              <a:t>_Z1fi: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.LFB0: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cfi_startproc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pushq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cfi_def_cfa_offset</a:t>
            </a:r>
            <a:r>
              <a:rPr lang="en-US" altLang="zh-TW" sz="700" dirty="0">
                <a:latin typeface="Source Code Pro" panose="020B0509030403020204" pitchFamily="49" charset="0"/>
              </a:rPr>
              <a:t> 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cfi_offset</a:t>
            </a:r>
            <a:r>
              <a:rPr lang="en-US" altLang="zh-TW" sz="700" dirty="0">
                <a:latin typeface="Source Code Pro" panose="020B0509030403020204" pitchFamily="49" charset="0"/>
              </a:rPr>
              <a:t> 6, -16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rsp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cfi_def_cfa_register</a:t>
            </a:r>
            <a:r>
              <a:rPr lang="en-US" altLang="zh-TW" sz="700" dirty="0">
                <a:latin typeface="Source Code Pro" panose="020B0509030403020204" pitchFamily="49" charset="0"/>
              </a:rPr>
              <a:t> 6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edi</a:t>
            </a:r>
            <a:r>
              <a:rPr lang="en-US" altLang="zh-TW" sz="700" dirty="0">
                <a:latin typeface="Source Code Pro" panose="020B0509030403020204" pitchFamily="49" charset="0"/>
              </a:rPr>
              <a:t>,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$0,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jmp</a:t>
            </a:r>
            <a:r>
              <a:rPr lang="en-US" altLang="zh-TW" sz="700" dirty="0">
                <a:latin typeface="Source Code Pro" panose="020B0509030403020204" pitchFamily="49" charset="0"/>
              </a:rPr>
              <a:t>     .L2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.L3: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$1717986919,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imull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$31,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sall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$1717986919,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imull</a:t>
            </a:r>
            <a:r>
              <a:rPr lang="en-US" altLang="zh-TW" sz="700" dirty="0">
                <a:latin typeface="Source Code Pro" panose="020B0509030403020204" pitchFamily="49" charset="0"/>
              </a:rPr>
              <a:t>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$2,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sarl</a:t>
            </a:r>
            <a:r>
              <a:rPr lang="en-US" altLang="zh-TW" sz="700" dirty="0">
                <a:latin typeface="Source Code Pro" panose="020B0509030403020204" pitchFamily="49" charset="0"/>
              </a:rPr>
              <a:t>    $31,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edx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subl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ecx</a:t>
            </a:r>
            <a:r>
              <a:rPr lang="en-US" altLang="zh-TW" sz="700" dirty="0">
                <a:latin typeface="Source Code Pro" panose="020B0509030403020204" pitchFamily="49" charset="0"/>
              </a:rPr>
              <a:t>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r>
              <a:rPr lang="en-US" altLang="zh-TW" sz="700" dirty="0">
                <a:latin typeface="Source Code Pro" panose="020B0509030403020204" pitchFamily="49" charset="0"/>
              </a:rPr>
              <a:t>, -20(%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 smtClean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 smtClean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addl</a:t>
            </a:r>
            <a:r>
              <a:rPr lang="en-US" altLang="zh-TW" sz="700" dirty="0">
                <a:latin typeface="Source Code Pro" panose="020B0509030403020204" pitchFamily="49" charset="0"/>
              </a:rPr>
              <a:t>    $1,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.L2: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cmpl</a:t>
            </a:r>
            <a:r>
              <a:rPr lang="en-US" altLang="zh-TW" sz="700" dirty="0">
                <a:latin typeface="Source Code Pro" panose="020B0509030403020204" pitchFamily="49" charset="0"/>
              </a:rPr>
              <a:t>    $10, -8(%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setle</a:t>
            </a:r>
            <a:r>
              <a:rPr lang="en-US" altLang="zh-TW" sz="700" dirty="0">
                <a:latin typeface="Source Code Pro" panose="020B0509030403020204" pitchFamily="49" charset="0"/>
              </a:rPr>
              <a:t>   %al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testb</a:t>
            </a:r>
            <a:r>
              <a:rPr lang="en-US" altLang="zh-TW" sz="700" dirty="0">
                <a:latin typeface="Source Code Pro" panose="020B0509030403020204" pitchFamily="49" charset="0"/>
              </a:rPr>
              <a:t>   %al, %al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jne</a:t>
            </a:r>
            <a:r>
              <a:rPr lang="en-US" altLang="zh-TW" sz="700" dirty="0">
                <a:latin typeface="Source Code Pro" panose="020B0509030403020204" pitchFamily="49" charset="0"/>
              </a:rPr>
              <a:t>     .L3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movl</a:t>
            </a:r>
            <a:r>
              <a:rPr lang="en-US" altLang="zh-TW" sz="700" dirty="0">
                <a:latin typeface="Source Code Pro" panose="020B0509030403020204" pitchFamily="49" charset="0"/>
              </a:rPr>
              <a:t>    -4(%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r>
              <a:rPr lang="en-US" altLang="zh-TW" sz="700" dirty="0">
                <a:latin typeface="Source Code Pro" panose="020B0509030403020204" pitchFamily="49" charset="0"/>
              </a:rPr>
              <a:t>), %</a:t>
            </a:r>
            <a:r>
              <a:rPr lang="en-US" altLang="zh-TW" sz="700" dirty="0" err="1">
                <a:latin typeface="Source Code Pro" panose="020B0509030403020204" pitchFamily="49" charset="0"/>
              </a:rPr>
              <a:t>eax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</a:t>
            </a:r>
            <a:r>
              <a:rPr lang="en-US" altLang="zh-TW" sz="700" dirty="0" err="1">
                <a:latin typeface="Source Code Pro" panose="020B0509030403020204" pitchFamily="49" charset="0"/>
              </a:rPr>
              <a:t>popq</a:t>
            </a:r>
            <a:r>
              <a:rPr lang="en-US" altLang="zh-TW" sz="700" dirty="0">
                <a:latin typeface="Source Code Pro" panose="020B0509030403020204" pitchFamily="49" charset="0"/>
              </a:rPr>
              <a:t>    %</a:t>
            </a:r>
            <a:r>
              <a:rPr lang="en-US" altLang="zh-TW" sz="700" dirty="0" err="1">
                <a:latin typeface="Source Code Pro" panose="020B0509030403020204" pitchFamily="49" charset="0"/>
              </a:rPr>
              <a:t>rbp</a:t>
            </a:r>
            <a:endParaRPr lang="en-US" altLang="zh-TW" sz="700" dirty="0">
              <a:latin typeface="Source Code Pro" panose="020B0509030403020204" pitchFamily="49" charset="0"/>
            </a:endParaRP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cfi_def_cfa</a:t>
            </a:r>
            <a:r>
              <a:rPr lang="en-US" altLang="zh-TW" sz="700" dirty="0">
                <a:latin typeface="Source Code Pro" panose="020B0509030403020204" pitchFamily="49" charset="0"/>
              </a:rPr>
              <a:t> 7, 8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ret</a:t>
            </a:r>
          </a:p>
          <a:p>
            <a:r>
              <a:rPr lang="en-US" altLang="zh-TW" sz="700" dirty="0">
                <a:latin typeface="Source Code Pro" panose="020B0509030403020204" pitchFamily="49" charset="0"/>
              </a:rPr>
              <a:t>        .</a:t>
            </a:r>
            <a:r>
              <a:rPr lang="en-US" altLang="zh-TW" sz="700" dirty="0" err="1">
                <a:latin typeface="Source Code Pro" panose="020B0509030403020204" pitchFamily="49" charset="0"/>
              </a:rPr>
              <a:t>cfi_endproc</a:t>
            </a:r>
            <a:endParaRPr lang="en-US" altLang="zh-TW" sz="700" dirty="0">
              <a:latin typeface="Source Code Pro" panose="020B0509030403020204" pitchFamily="49" charset="0"/>
            </a:endParaRPr>
          </a:p>
        </p:txBody>
      </p:sp>
      <p:sp>
        <p:nvSpPr>
          <p:cNvPr id="16" name="向右箭號 15"/>
          <p:cNvSpPr/>
          <p:nvPr/>
        </p:nvSpPr>
        <p:spPr>
          <a:xfrm rot="10800000">
            <a:off x="3978909" y="1845734"/>
            <a:ext cx="1231900" cy="977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右箭號 35"/>
          <p:cNvSpPr/>
          <p:nvPr/>
        </p:nvSpPr>
        <p:spPr>
          <a:xfrm rot="10800000">
            <a:off x="1928493" y="4478550"/>
            <a:ext cx="2917191" cy="977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89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0. </a:t>
            </a:r>
            <a:r>
              <a:rPr lang="zh-TW" altLang="en-US" dirty="0" smtClean="0"/>
              <a:t>把程式編成組合語言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2959" y="2565400"/>
            <a:ext cx="5609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altLang="zh-TW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input.c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-S </a:t>
            </a:r>
            <a:r>
              <a:rPr lang="en-US" altLang="zh-TW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input.s</a:t>
            </a:r>
            <a:endParaRPr lang="zh-TW" alt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2959" y="3826662"/>
            <a:ext cx="8547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PHP :</a:t>
            </a:r>
          </a:p>
          <a:p>
            <a:r>
              <a:rPr lang="en-US" altLang="zh-TW" sz="3200" dirty="0" smtClean="0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$command 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 “</a:t>
            </a:r>
            <a:r>
              <a:rPr lang="en-US" altLang="zh-TW" sz="32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dirty="0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altLang="zh-TW" sz="3200" dirty="0" err="1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altLang="zh-TW" sz="32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</a:t>
            </a:r>
            <a:r>
              <a:rPr lang="en-US" altLang="zh-TW" sz="3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-S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dirty="0" smtClean="0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altLang="zh-TW" sz="3200" dirty="0" err="1" smtClean="0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altLang="zh-TW" sz="32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”;</a:t>
            </a:r>
          </a:p>
          <a:p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system(</a:t>
            </a:r>
            <a:r>
              <a:rPr lang="en-US" altLang="zh-TW" sz="3200" dirty="0" smtClean="0">
                <a:solidFill>
                  <a:srgbClr val="0D73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$command</a:t>
            </a:r>
            <a:r>
              <a:rPr lang="en-US" altLang="zh-TW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TW" alt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45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1</a:t>
            </a:r>
            <a:r>
              <a:rPr lang="en-US" altLang="zh-TW" dirty="0"/>
              <a:t>. </a:t>
            </a:r>
            <a:r>
              <a:rPr lang="zh-TW" altLang="en-US" dirty="0"/>
              <a:t>選出每組</a:t>
            </a:r>
            <a:r>
              <a:rPr lang="en-US" altLang="zh-TW" dirty="0"/>
              <a:t>100</a:t>
            </a:r>
            <a:r>
              <a:rPr lang="zh-TW" altLang="en-US" dirty="0"/>
              <a:t>個，共</a:t>
            </a:r>
            <a:r>
              <a:rPr lang="en-US" altLang="zh-TW" dirty="0"/>
              <a:t>400</a:t>
            </a:r>
            <a:r>
              <a:rPr lang="zh-TW" altLang="en-US" dirty="0"/>
              <a:t>個</a:t>
            </a:r>
            <a:r>
              <a:rPr lang="en-US" altLang="zh-TW" dirty="0" err="1" smtClean="0"/>
              <a:t>trainingDataList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trainingDataList.json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利用這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</a:rPr>
              <a:t>TrainDataList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和所有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作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CI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及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LCS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完成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Cache</a:t>
            </a:r>
          </a:p>
          <a:p>
            <a:pPr lvl="1"/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resultCache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在各個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個裡面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，利用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k-means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選出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個做為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用的</a:t>
            </a:r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TraingDatalist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km05.json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利用每組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個共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</a:rPr>
              <a:t>TrainingData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和第一步選出的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進行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 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bksTable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利用得到的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表和所有資料跑過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結果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result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6.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回到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第一步繼續跑，直到跑出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組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1050998" y="2390069"/>
            <a:ext cx="7042006" cy="1191717"/>
            <a:chOff x="1050998" y="3019655"/>
            <a:chExt cx="7042006" cy="1191717"/>
          </a:xfrm>
        </p:grpSpPr>
        <p:sp>
          <p:nvSpPr>
            <p:cNvPr id="4" name="矩形 3"/>
            <p:cNvSpPr/>
            <p:nvPr/>
          </p:nvSpPr>
          <p:spPr>
            <a:xfrm>
              <a:off x="1050998" y="3057994"/>
              <a:ext cx="1401580" cy="1146748"/>
            </a:xfrm>
            <a:prstGeom prst="rect">
              <a:avLst/>
            </a:prstGeom>
            <a:solidFill>
              <a:srgbClr val="F6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931140" y="3057994"/>
              <a:ext cx="1401580" cy="1146748"/>
            </a:xfrm>
            <a:prstGeom prst="rect">
              <a:avLst/>
            </a:prstGeom>
            <a:solidFill>
              <a:srgbClr val="BCBD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811282" y="3057994"/>
              <a:ext cx="1401580" cy="1146748"/>
            </a:xfrm>
            <a:prstGeom prst="rect">
              <a:avLst/>
            </a:prstGeom>
            <a:solidFill>
              <a:srgbClr val="F5F9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691423" y="3057994"/>
              <a:ext cx="1401580" cy="1146748"/>
            </a:xfrm>
            <a:prstGeom prst="rect">
              <a:avLst/>
            </a:prstGeom>
            <a:solidFill>
              <a:srgbClr val="BCF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067947" y="3019655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48089" y="305655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828231" y="305655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708373" y="3019655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1462286" y="3681522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x256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359377" y="3681522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x175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239519" y="3688152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x270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119661" y="3675170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x510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1034049" y="4903420"/>
            <a:ext cx="1401580" cy="1185087"/>
            <a:chOff x="1034049" y="4903420"/>
            <a:chExt cx="1401580" cy="1185087"/>
          </a:xfrm>
        </p:grpSpPr>
        <p:sp>
          <p:nvSpPr>
            <p:cNvPr id="19" name="矩形 18"/>
            <p:cNvSpPr/>
            <p:nvPr/>
          </p:nvSpPr>
          <p:spPr>
            <a:xfrm>
              <a:off x="1034049" y="4941759"/>
              <a:ext cx="1401580" cy="1146748"/>
            </a:xfrm>
            <a:prstGeom prst="rect">
              <a:avLst/>
            </a:prstGeom>
            <a:solidFill>
              <a:srgbClr val="E61A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1050998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1445337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2914191" y="4940324"/>
            <a:ext cx="1401580" cy="1148183"/>
            <a:chOff x="2914191" y="4940324"/>
            <a:chExt cx="1401580" cy="1148183"/>
          </a:xfrm>
        </p:grpSpPr>
        <p:sp>
          <p:nvSpPr>
            <p:cNvPr id="20" name="矩形 19"/>
            <p:cNvSpPr/>
            <p:nvPr/>
          </p:nvSpPr>
          <p:spPr>
            <a:xfrm>
              <a:off x="2914191" y="4941759"/>
              <a:ext cx="1401580" cy="1146748"/>
            </a:xfrm>
            <a:prstGeom prst="rect">
              <a:avLst/>
            </a:prstGeom>
            <a:solidFill>
              <a:srgbClr val="1A1A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2931140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342428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4794333" y="4940324"/>
            <a:ext cx="1401580" cy="1154813"/>
            <a:chOff x="4794333" y="4940324"/>
            <a:chExt cx="1401580" cy="1154813"/>
          </a:xfrm>
        </p:grpSpPr>
        <p:sp>
          <p:nvSpPr>
            <p:cNvPr id="21" name="矩形 20"/>
            <p:cNvSpPr/>
            <p:nvPr/>
          </p:nvSpPr>
          <p:spPr>
            <a:xfrm>
              <a:off x="4794333" y="4941759"/>
              <a:ext cx="1401580" cy="1146748"/>
            </a:xfrm>
            <a:prstGeom prst="rect">
              <a:avLst/>
            </a:prstGeom>
            <a:solidFill>
              <a:srgbClr val="CEE6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4811282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5222570" y="55719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6674474" y="4903420"/>
            <a:ext cx="1401581" cy="1185087"/>
            <a:chOff x="6674474" y="4903420"/>
            <a:chExt cx="1401581" cy="1185087"/>
          </a:xfrm>
        </p:grpSpPr>
        <p:sp>
          <p:nvSpPr>
            <p:cNvPr id="22" name="矩形 21"/>
            <p:cNvSpPr/>
            <p:nvPr/>
          </p:nvSpPr>
          <p:spPr>
            <a:xfrm>
              <a:off x="6674474" y="4941759"/>
              <a:ext cx="1401580" cy="1146748"/>
            </a:xfrm>
            <a:prstGeom prst="rect">
              <a:avLst/>
            </a:prstGeom>
            <a:solidFill>
              <a:srgbClr val="1AE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691424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7102712" y="5558935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1" name="向下箭號 30"/>
          <p:cNvSpPr/>
          <p:nvPr/>
        </p:nvSpPr>
        <p:spPr>
          <a:xfrm>
            <a:off x="4346125" y="3776061"/>
            <a:ext cx="495511" cy="9619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1773667" y="3919612"/>
            <a:ext cx="5640426" cy="449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Random Select</a:t>
            </a:r>
            <a:endParaRPr lang="zh-TW" altLang="en-US" dirty="0"/>
          </a:p>
        </p:txBody>
      </p:sp>
      <p:pic>
        <p:nvPicPr>
          <p:cNvPr id="1028" name="Picture 4" descr="dice-white.png (300×300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089" y="3740916"/>
            <a:ext cx="833828" cy="8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63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2</a:t>
            </a:r>
            <a:r>
              <a:rPr lang="en-US" altLang="zh-TW" dirty="0"/>
              <a:t>. </a:t>
            </a:r>
            <a:r>
              <a:rPr lang="zh-TW" altLang="en-US" dirty="0"/>
              <a:t>利用這</a:t>
            </a:r>
            <a:r>
              <a:rPr lang="en-US" altLang="zh-TW" dirty="0"/>
              <a:t>100</a:t>
            </a:r>
            <a:r>
              <a:rPr lang="zh-TW" altLang="en-US" dirty="0"/>
              <a:t>個</a:t>
            </a:r>
            <a:r>
              <a:rPr lang="en-US" altLang="zh-TW" dirty="0" err="1"/>
              <a:t>TrainDataList</a:t>
            </a:r>
            <a:r>
              <a:rPr lang="zh-TW" altLang="en-US" dirty="0"/>
              <a:t>和所有</a:t>
            </a:r>
            <a:r>
              <a:rPr lang="en-US" altLang="zh-TW" dirty="0"/>
              <a:t>Data</a:t>
            </a:r>
            <a:r>
              <a:rPr lang="zh-TW" altLang="en-US" dirty="0"/>
              <a:t>作</a:t>
            </a:r>
            <a:r>
              <a:rPr lang="en-US" altLang="zh-TW" dirty="0"/>
              <a:t>CI</a:t>
            </a:r>
            <a:r>
              <a:rPr lang="zh-TW" altLang="en-US" dirty="0"/>
              <a:t>及</a:t>
            </a:r>
            <a:r>
              <a:rPr lang="en-US" altLang="zh-TW" dirty="0"/>
              <a:t>LCS</a:t>
            </a:r>
            <a:r>
              <a:rPr lang="zh-TW" altLang="en-US" dirty="0"/>
              <a:t>完成</a:t>
            </a:r>
            <a:r>
              <a:rPr lang="en-US" altLang="zh-TW" dirty="0" smtClean="0"/>
              <a:t>Cache</a:t>
            </a:r>
          </a:p>
          <a:p>
            <a:pPr lvl="1"/>
            <a:r>
              <a:rPr lang="en-US" altLang="zh-TW" dirty="0" err="1" smtClean="0"/>
              <a:t>resultCache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在各個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個裡面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，利用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k-means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選出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個做為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用的</a:t>
            </a:r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TraingDatalist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km05.json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利用每組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個共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</a:rPr>
              <a:t>TrainingData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和第一步選出的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進行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 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bksTable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利用得到的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表和所有資料跑過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結果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result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6.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回到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第一步繼續跑，直到跑出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組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1. </a:t>
            </a:r>
            <a:r>
              <a:rPr lang="zh-TW" altLang="en-US" dirty="0">
                <a:solidFill>
                  <a:schemeClr val="bg1"/>
                </a:solidFill>
              </a:rPr>
              <a:t>選出每組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個，共</a:t>
            </a:r>
            <a:r>
              <a:rPr lang="en-US" altLang="zh-TW" dirty="0">
                <a:solidFill>
                  <a:schemeClr val="bg1"/>
                </a:solidFill>
              </a:rPr>
              <a:t>400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trainingDataList.json</a:t>
            </a:r>
            <a:endParaRPr lang="en-US" altLang="zh-TW" dirty="0">
              <a:solidFill>
                <a:schemeClr val="bg1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2427890" y="2373930"/>
            <a:ext cx="1401580" cy="1185087"/>
            <a:chOff x="1050998" y="2390069"/>
            <a:chExt cx="1401580" cy="1185087"/>
          </a:xfrm>
        </p:grpSpPr>
        <p:sp>
          <p:nvSpPr>
            <p:cNvPr id="5" name="矩形 4"/>
            <p:cNvSpPr/>
            <p:nvPr/>
          </p:nvSpPr>
          <p:spPr>
            <a:xfrm>
              <a:off x="1050998" y="2428408"/>
              <a:ext cx="1401580" cy="1146748"/>
            </a:xfrm>
            <a:prstGeom prst="rect">
              <a:avLst/>
            </a:prstGeom>
            <a:solidFill>
              <a:srgbClr val="F6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067947" y="239006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1462286" y="305193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x256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849068" y="2414149"/>
            <a:ext cx="1401580" cy="1148183"/>
            <a:chOff x="2931140" y="2426973"/>
            <a:chExt cx="1401580" cy="1148183"/>
          </a:xfrm>
        </p:grpSpPr>
        <p:sp>
          <p:nvSpPr>
            <p:cNvPr id="6" name="矩形 5"/>
            <p:cNvSpPr/>
            <p:nvPr/>
          </p:nvSpPr>
          <p:spPr>
            <a:xfrm>
              <a:off x="2931140" y="2428408"/>
              <a:ext cx="1401580" cy="1146748"/>
            </a:xfrm>
            <a:prstGeom prst="rect">
              <a:avLst/>
            </a:prstGeom>
            <a:solidFill>
              <a:srgbClr val="BCBD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48089" y="2426973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359377" y="305193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x175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5270246" y="2410834"/>
            <a:ext cx="1401580" cy="1154813"/>
            <a:chOff x="4811282" y="2426973"/>
            <a:chExt cx="1401580" cy="1154813"/>
          </a:xfrm>
        </p:grpSpPr>
        <p:sp>
          <p:nvSpPr>
            <p:cNvPr id="7" name="矩形 6"/>
            <p:cNvSpPr/>
            <p:nvPr/>
          </p:nvSpPr>
          <p:spPr>
            <a:xfrm>
              <a:off x="4811282" y="2428408"/>
              <a:ext cx="1401580" cy="1146748"/>
            </a:xfrm>
            <a:prstGeom prst="rect">
              <a:avLst/>
            </a:prstGeom>
            <a:solidFill>
              <a:srgbClr val="F5F9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828231" y="2426973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239519" y="305856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x270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688775" y="2386912"/>
            <a:ext cx="1401580" cy="1178735"/>
            <a:chOff x="6691424" y="2390069"/>
            <a:chExt cx="1401580" cy="1178735"/>
          </a:xfrm>
        </p:grpSpPr>
        <p:sp>
          <p:nvSpPr>
            <p:cNvPr id="8" name="矩形 7"/>
            <p:cNvSpPr/>
            <p:nvPr/>
          </p:nvSpPr>
          <p:spPr>
            <a:xfrm>
              <a:off x="6691424" y="2413271"/>
              <a:ext cx="1401580" cy="1146748"/>
            </a:xfrm>
            <a:prstGeom prst="rect">
              <a:avLst/>
            </a:prstGeom>
            <a:solidFill>
              <a:srgbClr val="BCF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708373" y="239006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119661" y="3045584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x510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6420" y="3440380"/>
            <a:ext cx="1401580" cy="1185087"/>
            <a:chOff x="1034049" y="4903420"/>
            <a:chExt cx="1401580" cy="1185087"/>
          </a:xfrm>
        </p:grpSpPr>
        <p:sp>
          <p:nvSpPr>
            <p:cNvPr id="22" name="矩形 21"/>
            <p:cNvSpPr/>
            <p:nvPr/>
          </p:nvSpPr>
          <p:spPr>
            <a:xfrm>
              <a:off x="1034049" y="4941759"/>
              <a:ext cx="1401580" cy="1146748"/>
            </a:xfrm>
            <a:prstGeom prst="rect">
              <a:avLst/>
            </a:prstGeom>
            <a:solidFill>
              <a:srgbClr val="E61A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1050998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1445337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822959" y="3857414"/>
            <a:ext cx="1401580" cy="1148183"/>
            <a:chOff x="2914191" y="4940324"/>
            <a:chExt cx="1401580" cy="1148183"/>
          </a:xfrm>
        </p:grpSpPr>
        <p:sp>
          <p:nvSpPr>
            <p:cNvPr id="26" name="矩形 25"/>
            <p:cNvSpPr/>
            <p:nvPr/>
          </p:nvSpPr>
          <p:spPr>
            <a:xfrm>
              <a:off x="2914191" y="4941759"/>
              <a:ext cx="1401580" cy="1146748"/>
            </a:xfrm>
            <a:prstGeom prst="rect">
              <a:avLst/>
            </a:prstGeom>
            <a:solidFill>
              <a:srgbClr val="1A1A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931140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342428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0" y="4467808"/>
            <a:ext cx="1401580" cy="1154813"/>
            <a:chOff x="4794333" y="4940324"/>
            <a:chExt cx="1401580" cy="1154813"/>
          </a:xfrm>
        </p:grpSpPr>
        <p:sp>
          <p:nvSpPr>
            <p:cNvPr id="30" name="矩形 29"/>
            <p:cNvSpPr/>
            <p:nvPr/>
          </p:nvSpPr>
          <p:spPr>
            <a:xfrm>
              <a:off x="4794333" y="4941759"/>
              <a:ext cx="1401580" cy="1146748"/>
            </a:xfrm>
            <a:prstGeom prst="rect">
              <a:avLst/>
            </a:prstGeom>
            <a:solidFill>
              <a:srgbClr val="CEE6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811282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5222570" y="55719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839908" y="4884842"/>
            <a:ext cx="1401581" cy="1185087"/>
            <a:chOff x="6674474" y="4903420"/>
            <a:chExt cx="1401581" cy="1185087"/>
          </a:xfrm>
        </p:grpSpPr>
        <p:sp>
          <p:nvSpPr>
            <p:cNvPr id="34" name="矩形 33"/>
            <p:cNvSpPr/>
            <p:nvPr/>
          </p:nvSpPr>
          <p:spPr>
            <a:xfrm>
              <a:off x="6674474" y="4941759"/>
              <a:ext cx="1401580" cy="1146748"/>
            </a:xfrm>
            <a:prstGeom prst="rect">
              <a:avLst/>
            </a:prstGeom>
            <a:solidFill>
              <a:srgbClr val="1AE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691424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7102712" y="5558935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7" name="流程圖: 預設處理作業 36"/>
          <p:cNvSpPr/>
          <p:nvPr/>
        </p:nvSpPr>
        <p:spPr>
          <a:xfrm>
            <a:off x="3800421" y="4142757"/>
            <a:ext cx="1310640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41" name="流程圖: 預設處理作業 40"/>
          <p:cNvSpPr/>
          <p:nvPr/>
        </p:nvSpPr>
        <p:spPr>
          <a:xfrm>
            <a:off x="3800420" y="5486756"/>
            <a:ext cx="1310640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CI</a:t>
            </a:r>
            <a:endParaRPr lang="zh-TW" altLang="en-US" dirty="0"/>
          </a:p>
        </p:txBody>
      </p:sp>
      <p:sp>
        <p:nvSpPr>
          <p:cNvPr id="43" name="向右箭號 42"/>
          <p:cNvSpPr/>
          <p:nvPr/>
        </p:nvSpPr>
        <p:spPr>
          <a:xfrm rot="6795675">
            <a:off x="5060157" y="5144858"/>
            <a:ext cx="347084" cy="26161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右箭號 43"/>
          <p:cNvSpPr/>
          <p:nvPr/>
        </p:nvSpPr>
        <p:spPr>
          <a:xfrm rot="6795675">
            <a:off x="5077105" y="3797544"/>
            <a:ext cx="347084" cy="26161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向右箭號 44"/>
          <p:cNvSpPr/>
          <p:nvPr/>
        </p:nvSpPr>
        <p:spPr>
          <a:xfrm>
            <a:off x="3287680" y="4272444"/>
            <a:ext cx="347084" cy="26161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向右箭號 45"/>
          <p:cNvSpPr/>
          <p:nvPr/>
        </p:nvSpPr>
        <p:spPr>
          <a:xfrm>
            <a:off x="3283316" y="5622621"/>
            <a:ext cx="347084" cy="26161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向右箭號 46"/>
          <p:cNvSpPr/>
          <p:nvPr/>
        </p:nvSpPr>
        <p:spPr>
          <a:xfrm>
            <a:off x="5479972" y="4311423"/>
            <a:ext cx="838175" cy="26161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右箭號 47"/>
          <p:cNvSpPr/>
          <p:nvPr/>
        </p:nvSpPr>
        <p:spPr>
          <a:xfrm>
            <a:off x="5479972" y="5622621"/>
            <a:ext cx="838175" cy="26161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3" name="群組 52"/>
          <p:cNvGrpSpPr/>
          <p:nvPr/>
        </p:nvGrpSpPr>
        <p:grpSpPr>
          <a:xfrm>
            <a:off x="6352046" y="4102247"/>
            <a:ext cx="773728" cy="934313"/>
            <a:chOff x="6352046" y="4102247"/>
            <a:chExt cx="773728" cy="934313"/>
          </a:xfrm>
        </p:grpSpPr>
        <p:pic>
          <p:nvPicPr>
            <p:cNvPr id="2050" name="Picture 2" descr="database-149760_640.png (530×640)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2046" y="4102247"/>
              <a:ext cx="773728" cy="934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文字方塊 41"/>
            <p:cNvSpPr txBox="1"/>
            <p:nvPr/>
          </p:nvSpPr>
          <p:spPr>
            <a:xfrm>
              <a:off x="6473452" y="4467808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  <a:latin typeface="Bauhaus 93" panose="04030905020B02020C02" pitchFamily="82" charset="0"/>
                </a:rPr>
                <a:t>LCS</a:t>
              </a: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6352046" y="5334810"/>
            <a:ext cx="773728" cy="934313"/>
            <a:chOff x="6352046" y="5334810"/>
            <a:chExt cx="773728" cy="934313"/>
          </a:xfrm>
        </p:grpSpPr>
        <p:pic>
          <p:nvPicPr>
            <p:cNvPr id="40" name="Picture 2" descr="database-149760_640.png (530×640)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2046" y="5334810"/>
              <a:ext cx="773728" cy="934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文字方塊 49"/>
            <p:cNvSpPr txBox="1"/>
            <p:nvPr/>
          </p:nvSpPr>
          <p:spPr>
            <a:xfrm>
              <a:off x="6521542" y="568442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  <a:latin typeface="Bauhaus 93" panose="04030905020B02020C02" pitchFamily="82" charset="0"/>
                </a:rPr>
                <a:t>CI</a:t>
              </a:r>
            </a:p>
          </p:txBody>
        </p:sp>
      </p:grpSp>
      <p:sp>
        <p:nvSpPr>
          <p:cNvPr id="51" name="文字方塊 50"/>
          <p:cNvSpPr txBox="1"/>
          <p:nvPr/>
        </p:nvSpPr>
        <p:spPr>
          <a:xfrm>
            <a:off x="7159673" y="4534054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 x484.4k</a:t>
            </a:r>
            <a:endParaRPr lang="zh-TW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131910" y="5730655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 x484.4k</a:t>
            </a:r>
            <a:endParaRPr lang="zh-TW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113510" y="3934358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(256+175+270+510)</a:t>
            </a:r>
            <a:endParaRPr lang="zh-TW" altLang="en-US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7120584" y="5126402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(256+175+270+510)</a:t>
            </a:r>
            <a:endParaRPr lang="zh-TW" altLang="en-US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7027740" y="4294410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x(100+100+100+100)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7040252" y="5486524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x(100+100+100+100)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356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3</a:t>
            </a:r>
            <a:r>
              <a:rPr lang="en-US" altLang="zh-TW" dirty="0"/>
              <a:t>. </a:t>
            </a:r>
            <a:r>
              <a:rPr lang="zh-TW" altLang="en-US" dirty="0"/>
              <a:t>在各個</a:t>
            </a:r>
            <a:r>
              <a:rPr lang="en-US" altLang="zh-TW" dirty="0"/>
              <a:t>100</a:t>
            </a:r>
            <a:r>
              <a:rPr lang="zh-TW" altLang="en-US" dirty="0"/>
              <a:t>個裡面</a:t>
            </a:r>
            <a:r>
              <a:rPr lang="zh-TW" altLang="en-US" dirty="0" smtClean="0"/>
              <a:t>，利用</a:t>
            </a:r>
            <a:r>
              <a:rPr lang="en-US" altLang="zh-TW" dirty="0" smtClean="0"/>
              <a:t>k-means</a:t>
            </a:r>
            <a:r>
              <a:rPr lang="zh-TW" altLang="en-US" dirty="0" smtClean="0"/>
              <a:t>選出</a:t>
            </a:r>
            <a:r>
              <a:rPr lang="en-US" altLang="zh-TW" dirty="0"/>
              <a:t>5</a:t>
            </a:r>
            <a:r>
              <a:rPr lang="zh-TW" altLang="en-US" dirty="0"/>
              <a:t>個做為</a:t>
            </a:r>
            <a:r>
              <a:rPr lang="en-US" altLang="zh-TW" dirty="0"/>
              <a:t>BKS</a:t>
            </a:r>
            <a:r>
              <a:rPr lang="zh-TW" altLang="en-US" dirty="0"/>
              <a:t>用的</a:t>
            </a:r>
            <a:r>
              <a:rPr lang="en-US" altLang="zh-TW" dirty="0" err="1" smtClean="0"/>
              <a:t>TraingDatalist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km05.json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利用每組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個共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</a:rPr>
              <a:t>TrainingData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和第一步選出的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400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個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進行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 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zh-TW" dirty="0" err="1" smtClean="0">
                <a:solidFill>
                  <a:schemeClr val="bg1">
                    <a:lumMod val="95000"/>
                  </a:schemeClr>
                </a:solidFill>
              </a:rPr>
              <a:t>bksTable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利用得到的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表和所有資料跑過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結果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result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6.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回到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第一步繼續跑，直到跑出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組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1. </a:t>
            </a:r>
            <a:r>
              <a:rPr lang="zh-TW" altLang="en-US" dirty="0">
                <a:solidFill>
                  <a:schemeClr val="bg1"/>
                </a:solidFill>
              </a:rPr>
              <a:t>選出每組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個，共</a:t>
            </a:r>
            <a:r>
              <a:rPr lang="en-US" altLang="zh-TW" dirty="0">
                <a:solidFill>
                  <a:schemeClr val="bg1"/>
                </a:solidFill>
              </a:rPr>
              <a:t>400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trainingDataList.json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2. </a:t>
            </a:r>
            <a:r>
              <a:rPr lang="zh-TW" altLang="en-US" dirty="0">
                <a:solidFill>
                  <a:schemeClr val="bg1"/>
                </a:solidFill>
              </a:rPr>
              <a:t>利用這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TrainDataList</a:t>
            </a:r>
            <a:r>
              <a:rPr lang="zh-TW" altLang="en-US" dirty="0">
                <a:solidFill>
                  <a:schemeClr val="bg1"/>
                </a:solidFill>
              </a:rPr>
              <a:t>和所有</a:t>
            </a:r>
            <a:r>
              <a:rPr lang="en-US" altLang="zh-TW" dirty="0">
                <a:solidFill>
                  <a:schemeClr val="bg1"/>
                </a:solidFill>
              </a:rPr>
              <a:t>Data</a:t>
            </a:r>
            <a:r>
              <a:rPr lang="zh-TW" altLang="en-US" dirty="0">
                <a:solidFill>
                  <a:schemeClr val="bg1"/>
                </a:solidFill>
              </a:rPr>
              <a:t>作</a:t>
            </a:r>
            <a:r>
              <a:rPr lang="en-US" altLang="zh-TW" dirty="0">
                <a:solidFill>
                  <a:schemeClr val="bg1"/>
                </a:solidFill>
              </a:rPr>
              <a:t>CI</a:t>
            </a:r>
            <a:r>
              <a:rPr lang="zh-TW" altLang="en-US" dirty="0">
                <a:solidFill>
                  <a:schemeClr val="bg1"/>
                </a:solidFill>
              </a:rPr>
              <a:t>及</a:t>
            </a:r>
            <a:r>
              <a:rPr lang="en-US" altLang="zh-TW" dirty="0">
                <a:solidFill>
                  <a:schemeClr val="bg1"/>
                </a:solidFill>
              </a:rPr>
              <a:t>LCS</a:t>
            </a:r>
            <a:r>
              <a:rPr lang="zh-TW" altLang="en-US" dirty="0">
                <a:solidFill>
                  <a:schemeClr val="bg1"/>
                </a:solidFill>
              </a:rPr>
              <a:t>完成</a:t>
            </a:r>
            <a:r>
              <a:rPr lang="en-US" altLang="zh-TW" dirty="0">
                <a:solidFill>
                  <a:schemeClr val="bg1"/>
                </a:solidFill>
              </a:rPr>
              <a:t>Cache</a:t>
            </a: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resultCache</a:t>
            </a:r>
            <a:endParaRPr lang="en-US" altLang="zh-TW" dirty="0">
              <a:solidFill>
                <a:schemeClr val="bg1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420" y="3440380"/>
            <a:ext cx="1401580" cy="1185087"/>
            <a:chOff x="1034049" y="4903420"/>
            <a:chExt cx="1401580" cy="1185087"/>
          </a:xfrm>
        </p:grpSpPr>
        <p:sp>
          <p:nvSpPr>
            <p:cNvPr id="5" name="矩形 4"/>
            <p:cNvSpPr/>
            <p:nvPr/>
          </p:nvSpPr>
          <p:spPr>
            <a:xfrm>
              <a:off x="1034049" y="4941759"/>
              <a:ext cx="1401580" cy="1146748"/>
            </a:xfrm>
            <a:prstGeom prst="rect">
              <a:avLst/>
            </a:prstGeom>
            <a:solidFill>
              <a:srgbClr val="E61A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1050998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445337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822959" y="3857414"/>
            <a:ext cx="1401580" cy="1148183"/>
            <a:chOff x="2914191" y="4940324"/>
            <a:chExt cx="1401580" cy="1148183"/>
          </a:xfrm>
        </p:grpSpPr>
        <p:sp>
          <p:nvSpPr>
            <p:cNvPr id="9" name="矩形 8"/>
            <p:cNvSpPr/>
            <p:nvPr/>
          </p:nvSpPr>
          <p:spPr>
            <a:xfrm>
              <a:off x="2914191" y="4941759"/>
              <a:ext cx="1401580" cy="1146748"/>
            </a:xfrm>
            <a:prstGeom prst="rect">
              <a:avLst/>
            </a:prstGeom>
            <a:solidFill>
              <a:srgbClr val="1A1A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31140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342428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0" y="4467808"/>
            <a:ext cx="1401580" cy="1154813"/>
            <a:chOff x="4794333" y="4940324"/>
            <a:chExt cx="1401580" cy="1154813"/>
          </a:xfrm>
        </p:grpSpPr>
        <p:sp>
          <p:nvSpPr>
            <p:cNvPr id="13" name="矩形 12"/>
            <p:cNvSpPr/>
            <p:nvPr/>
          </p:nvSpPr>
          <p:spPr>
            <a:xfrm>
              <a:off x="4794333" y="4941759"/>
              <a:ext cx="1401580" cy="1146748"/>
            </a:xfrm>
            <a:prstGeom prst="rect">
              <a:avLst/>
            </a:prstGeom>
            <a:solidFill>
              <a:srgbClr val="CEE6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811282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222570" y="55719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839908" y="4884842"/>
            <a:ext cx="1401581" cy="1185087"/>
            <a:chOff x="6674474" y="4903420"/>
            <a:chExt cx="1401581" cy="1185087"/>
          </a:xfrm>
        </p:grpSpPr>
        <p:sp>
          <p:nvSpPr>
            <p:cNvPr id="17" name="矩形 16"/>
            <p:cNvSpPr/>
            <p:nvPr/>
          </p:nvSpPr>
          <p:spPr>
            <a:xfrm>
              <a:off x="6674474" y="4941759"/>
              <a:ext cx="1401580" cy="1146748"/>
            </a:xfrm>
            <a:prstGeom prst="rect">
              <a:avLst/>
            </a:prstGeom>
            <a:solidFill>
              <a:srgbClr val="1AE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6691424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102712" y="5558935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0" name="流程圖: 預設處理作業 19"/>
          <p:cNvSpPr/>
          <p:nvPr/>
        </p:nvSpPr>
        <p:spPr>
          <a:xfrm>
            <a:off x="3030800" y="2740677"/>
            <a:ext cx="1678359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Random</a:t>
            </a:r>
            <a:endParaRPr lang="zh-TW" altLang="en-US" dirty="0"/>
          </a:p>
        </p:txBody>
      </p:sp>
      <p:sp>
        <p:nvSpPr>
          <p:cNvPr id="21" name="流程圖: 預設處理作業 20"/>
          <p:cNvSpPr/>
          <p:nvPr/>
        </p:nvSpPr>
        <p:spPr>
          <a:xfrm>
            <a:off x="3253489" y="3471361"/>
            <a:ext cx="2042160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Clustering</a:t>
            </a:r>
            <a:endParaRPr lang="zh-TW" altLang="en-US" dirty="0"/>
          </a:p>
        </p:txBody>
      </p:sp>
      <p:pic>
        <p:nvPicPr>
          <p:cNvPr id="3074" name="Picture 2" descr="220px-Cluster-2.svg.png (220×147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830" y="3563559"/>
            <a:ext cx="538528" cy="35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dice-white.png (300×300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247" y="2768608"/>
            <a:ext cx="465122" cy="46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流程圖: 預設處理作業 23"/>
          <p:cNvSpPr/>
          <p:nvPr/>
        </p:nvSpPr>
        <p:spPr>
          <a:xfrm>
            <a:off x="3490830" y="4202045"/>
            <a:ext cx="2042160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Scoring</a:t>
            </a:r>
            <a:endParaRPr lang="zh-TW" altLang="en-US" dirty="0"/>
          </a:p>
        </p:txBody>
      </p:sp>
      <p:pic>
        <p:nvPicPr>
          <p:cNvPr id="3076" name="Picture 4" descr="Image-4-Scoring.jpg (3000×2250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979" y="4296079"/>
            <a:ext cx="496795" cy="37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流程圖: 預設處理作業 27"/>
          <p:cNvSpPr/>
          <p:nvPr/>
        </p:nvSpPr>
        <p:spPr>
          <a:xfrm>
            <a:off x="3760094" y="4932729"/>
            <a:ext cx="2329577" cy="52098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Find New Center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 rot="3156128">
            <a:off x="4782206" y="3079565"/>
            <a:ext cx="322288" cy="277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右箭號 29"/>
          <p:cNvSpPr/>
          <p:nvPr/>
        </p:nvSpPr>
        <p:spPr>
          <a:xfrm rot="3156128">
            <a:off x="5335866" y="3849035"/>
            <a:ext cx="322288" cy="277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右箭號 30"/>
          <p:cNvSpPr/>
          <p:nvPr/>
        </p:nvSpPr>
        <p:spPr>
          <a:xfrm rot="3156128">
            <a:off x="5579927" y="4542790"/>
            <a:ext cx="322288" cy="277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右箭號 24"/>
          <p:cNvSpPr/>
          <p:nvPr/>
        </p:nvSpPr>
        <p:spPr>
          <a:xfrm rot="16200000">
            <a:off x="2736865" y="4615153"/>
            <a:ext cx="1178092" cy="1296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3303373" y="5198269"/>
            <a:ext cx="404233" cy="7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2819400" y="2453640"/>
            <a:ext cx="3604260" cy="3848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3575990" y="5588439"/>
            <a:ext cx="2037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向右箭號 32"/>
          <p:cNvSpPr/>
          <p:nvPr/>
        </p:nvSpPr>
        <p:spPr>
          <a:xfrm>
            <a:off x="2353959" y="3963168"/>
            <a:ext cx="297180" cy="1639141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4" name="群組 33"/>
          <p:cNvGrpSpPr/>
          <p:nvPr/>
        </p:nvGrpSpPr>
        <p:grpSpPr>
          <a:xfrm>
            <a:off x="6819368" y="3225821"/>
            <a:ext cx="2275771" cy="2629549"/>
            <a:chOff x="6819368" y="3225821"/>
            <a:chExt cx="2275771" cy="2629549"/>
          </a:xfrm>
        </p:grpSpPr>
        <p:grpSp>
          <p:nvGrpSpPr>
            <p:cNvPr id="38" name="群組 37"/>
            <p:cNvGrpSpPr/>
            <p:nvPr/>
          </p:nvGrpSpPr>
          <p:grpSpPr>
            <a:xfrm>
              <a:off x="6835788" y="3225821"/>
              <a:ext cx="1401580" cy="1185087"/>
              <a:chOff x="1034049" y="4903420"/>
              <a:chExt cx="1401580" cy="1185087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1034049" y="4941759"/>
                <a:ext cx="1401580" cy="1146748"/>
              </a:xfrm>
              <a:prstGeom prst="rect">
                <a:avLst/>
              </a:prstGeom>
              <a:solidFill>
                <a:srgbClr val="730D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1050998" y="4903420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#10931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1823255" y="5557087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42" name="群組 41"/>
            <p:cNvGrpSpPr/>
            <p:nvPr/>
          </p:nvGrpSpPr>
          <p:grpSpPr>
            <a:xfrm>
              <a:off x="7642327" y="3642855"/>
              <a:ext cx="1401580" cy="1152698"/>
              <a:chOff x="2914191" y="4940324"/>
              <a:chExt cx="1401580" cy="1152698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2914191" y="4941759"/>
                <a:ext cx="1401580" cy="1146748"/>
              </a:xfrm>
              <a:prstGeom prst="rect">
                <a:avLst/>
              </a:prstGeom>
              <a:solidFill>
                <a:srgbClr val="0D0D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文字方塊 43"/>
              <p:cNvSpPr txBox="1"/>
              <p:nvPr/>
            </p:nvSpPr>
            <p:spPr>
              <a:xfrm>
                <a:off x="2931140" y="4940324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#10190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>
                <a:off x="3732184" y="5569802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46" name="群組 45"/>
            <p:cNvGrpSpPr/>
            <p:nvPr/>
          </p:nvGrpSpPr>
          <p:grpSpPr>
            <a:xfrm>
              <a:off x="6819368" y="4253249"/>
              <a:ext cx="1401580" cy="1148183"/>
              <a:chOff x="4794333" y="4940324"/>
              <a:chExt cx="1401580" cy="1148183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4794333" y="4941759"/>
                <a:ext cx="1401580" cy="1146748"/>
              </a:xfrm>
              <a:prstGeom prst="rect">
                <a:avLst/>
              </a:prstGeom>
              <a:solidFill>
                <a:srgbClr val="6773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文字方塊 47"/>
              <p:cNvSpPr txBox="1"/>
              <p:nvPr/>
            </p:nvSpPr>
            <p:spPr>
              <a:xfrm>
                <a:off x="4811282" y="4940324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#12602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>
                <a:off x="5599958" y="5550428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659276" y="4670283"/>
              <a:ext cx="1435863" cy="1185087"/>
              <a:chOff x="6674474" y="4903420"/>
              <a:chExt cx="1435863" cy="1185087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6674474" y="4941759"/>
                <a:ext cx="1401580" cy="1146748"/>
              </a:xfrm>
              <a:prstGeom prst="rect">
                <a:avLst/>
              </a:prstGeom>
              <a:solidFill>
                <a:srgbClr val="0D73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文字方塊 51"/>
              <p:cNvSpPr txBox="1"/>
              <p:nvPr/>
            </p:nvSpPr>
            <p:spPr>
              <a:xfrm>
                <a:off x="6691424" y="4903420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#10783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53" name="文字方塊 52"/>
              <p:cNvSpPr txBox="1"/>
              <p:nvPr/>
            </p:nvSpPr>
            <p:spPr>
              <a:xfrm>
                <a:off x="7531332" y="5559966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  <p:sp>
        <p:nvSpPr>
          <p:cNvPr id="54" name="向右箭號 53"/>
          <p:cNvSpPr/>
          <p:nvPr/>
        </p:nvSpPr>
        <p:spPr>
          <a:xfrm>
            <a:off x="6473528" y="3992997"/>
            <a:ext cx="297180" cy="1639141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13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4</a:t>
            </a:r>
            <a:r>
              <a:rPr lang="en-US" altLang="zh-TW" dirty="0"/>
              <a:t>. </a:t>
            </a:r>
            <a:r>
              <a:rPr lang="zh-TW" altLang="en-US" dirty="0"/>
              <a:t>利用每組</a:t>
            </a:r>
            <a:r>
              <a:rPr lang="en-US" altLang="zh-TW" dirty="0"/>
              <a:t>5</a:t>
            </a:r>
            <a:r>
              <a:rPr lang="zh-TW" altLang="en-US" dirty="0"/>
              <a:t>個共</a:t>
            </a:r>
            <a:r>
              <a:rPr lang="en-US" altLang="zh-TW" dirty="0"/>
              <a:t>20</a:t>
            </a:r>
            <a:r>
              <a:rPr lang="zh-TW" altLang="en-US" dirty="0"/>
              <a:t>個</a:t>
            </a:r>
            <a:r>
              <a:rPr lang="en-US" altLang="zh-TW" dirty="0" err="1"/>
              <a:t>TrainingData</a:t>
            </a:r>
            <a:r>
              <a:rPr lang="zh-TW" altLang="en-US" dirty="0"/>
              <a:t>和第一步選出的</a:t>
            </a:r>
            <a:r>
              <a:rPr lang="en-US" altLang="zh-TW" dirty="0"/>
              <a:t>400</a:t>
            </a:r>
            <a:r>
              <a:rPr lang="zh-TW" altLang="en-US" dirty="0"/>
              <a:t>個</a:t>
            </a:r>
            <a:r>
              <a:rPr lang="en-US" altLang="zh-TW" dirty="0"/>
              <a:t>data</a:t>
            </a:r>
            <a:r>
              <a:rPr lang="zh-TW" altLang="en-US" dirty="0"/>
              <a:t>進行</a:t>
            </a:r>
            <a:r>
              <a:rPr lang="en-US" altLang="zh-TW" dirty="0"/>
              <a:t>BKS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bksTable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5.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利用得到的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BKS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表和所有資料跑過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結果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result</a:t>
            </a:r>
            <a:endParaRPr lang="en-US" altLang="zh-TW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6.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回到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第一步繼續跑，直到跑出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組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1. </a:t>
            </a:r>
            <a:r>
              <a:rPr lang="zh-TW" altLang="en-US" dirty="0">
                <a:solidFill>
                  <a:schemeClr val="bg1"/>
                </a:solidFill>
              </a:rPr>
              <a:t>選出每組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個，共</a:t>
            </a:r>
            <a:r>
              <a:rPr lang="en-US" altLang="zh-TW" dirty="0">
                <a:solidFill>
                  <a:schemeClr val="bg1"/>
                </a:solidFill>
              </a:rPr>
              <a:t>400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trainingDataList.json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2. </a:t>
            </a:r>
            <a:r>
              <a:rPr lang="zh-TW" altLang="en-US" dirty="0">
                <a:solidFill>
                  <a:schemeClr val="bg1"/>
                </a:solidFill>
              </a:rPr>
              <a:t>利用這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TrainDataList</a:t>
            </a:r>
            <a:r>
              <a:rPr lang="zh-TW" altLang="en-US" dirty="0">
                <a:solidFill>
                  <a:schemeClr val="bg1"/>
                </a:solidFill>
              </a:rPr>
              <a:t>和所有</a:t>
            </a:r>
            <a:r>
              <a:rPr lang="en-US" altLang="zh-TW" dirty="0">
                <a:solidFill>
                  <a:schemeClr val="bg1"/>
                </a:solidFill>
              </a:rPr>
              <a:t>Data</a:t>
            </a:r>
            <a:r>
              <a:rPr lang="zh-TW" altLang="en-US" dirty="0">
                <a:solidFill>
                  <a:schemeClr val="bg1"/>
                </a:solidFill>
              </a:rPr>
              <a:t>作</a:t>
            </a:r>
            <a:r>
              <a:rPr lang="en-US" altLang="zh-TW" dirty="0">
                <a:solidFill>
                  <a:schemeClr val="bg1"/>
                </a:solidFill>
              </a:rPr>
              <a:t>CI</a:t>
            </a:r>
            <a:r>
              <a:rPr lang="zh-TW" altLang="en-US" dirty="0">
                <a:solidFill>
                  <a:schemeClr val="bg1"/>
                </a:solidFill>
              </a:rPr>
              <a:t>及</a:t>
            </a:r>
            <a:r>
              <a:rPr lang="en-US" altLang="zh-TW" dirty="0">
                <a:solidFill>
                  <a:schemeClr val="bg1"/>
                </a:solidFill>
              </a:rPr>
              <a:t>LCS</a:t>
            </a:r>
            <a:r>
              <a:rPr lang="zh-TW" altLang="en-US" dirty="0">
                <a:solidFill>
                  <a:schemeClr val="bg1"/>
                </a:solidFill>
              </a:rPr>
              <a:t>完成</a:t>
            </a:r>
            <a:r>
              <a:rPr lang="en-US" altLang="zh-TW" dirty="0">
                <a:solidFill>
                  <a:schemeClr val="bg1"/>
                </a:solidFill>
              </a:rPr>
              <a:t>Cache</a:t>
            </a: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resultCache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3. </a:t>
            </a:r>
            <a:r>
              <a:rPr lang="zh-TW" altLang="en-US" dirty="0">
                <a:solidFill>
                  <a:schemeClr val="bg1"/>
                </a:solidFill>
              </a:rPr>
              <a:t>在各個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個裡面，利用</a:t>
            </a:r>
            <a:r>
              <a:rPr lang="en-US" altLang="zh-TW" dirty="0">
                <a:solidFill>
                  <a:schemeClr val="bg1"/>
                </a:solidFill>
              </a:rPr>
              <a:t>k-means</a:t>
            </a:r>
            <a:r>
              <a:rPr lang="zh-TW" altLang="en-US" dirty="0">
                <a:solidFill>
                  <a:schemeClr val="bg1"/>
                </a:solidFill>
              </a:rPr>
              <a:t>選出</a:t>
            </a:r>
            <a:r>
              <a:rPr lang="en-US" altLang="zh-TW" dirty="0">
                <a:solidFill>
                  <a:schemeClr val="bg1"/>
                </a:solidFill>
              </a:rPr>
              <a:t>5</a:t>
            </a:r>
            <a:r>
              <a:rPr lang="zh-TW" altLang="en-US" dirty="0">
                <a:solidFill>
                  <a:schemeClr val="bg1"/>
                </a:solidFill>
              </a:rPr>
              <a:t>個做為</a:t>
            </a:r>
            <a:r>
              <a:rPr lang="en-US" altLang="zh-TW" dirty="0">
                <a:solidFill>
                  <a:schemeClr val="bg1"/>
                </a:solidFill>
              </a:rPr>
              <a:t>BKS</a:t>
            </a:r>
            <a:r>
              <a:rPr lang="zh-TW" altLang="en-US" dirty="0">
                <a:solidFill>
                  <a:schemeClr val="bg1"/>
                </a:solidFill>
              </a:rPr>
              <a:t>用的</a:t>
            </a:r>
            <a:r>
              <a:rPr lang="en-US" altLang="zh-TW" dirty="0" err="1">
                <a:solidFill>
                  <a:schemeClr val="bg1"/>
                </a:solidFill>
              </a:rPr>
              <a:t>TraingDatalist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km05.json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0" y="3239545"/>
            <a:ext cx="2275771" cy="2629549"/>
            <a:chOff x="6819368" y="3225821"/>
            <a:chExt cx="2275771" cy="2629549"/>
          </a:xfrm>
        </p:grpSpPr>
        <p:grpSp>
          <p:nvGrpSpPr>
            <p:cNvPr id="5" name="群組 4"/>
            <p:cNvGrpSpPr/>
            <p:nvPr/>
          </p:nvGrpSpPr>
          <p:grpSpPr>
            <a:xfrm>
              <a:off x="6835788" y="3225821"/>
              <a:ext cx="1401580" cy="1185087"/>
              <a:chOff x="1034049" y="4903420"/>
              <a:chExt cx="1401580" cy="118508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034049" y="4941759"/>
                <a:ext cx="1401580" cy="1146748"/>
              </a:xfrm>
              <a:prstGeom prst="rect">
                <a:avLst/>
              </a:prstGeom>
              <a:solidFill>
                <a:srgbClr val="730D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1050998" y="4903420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#10931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0" name="文字方塊 19"/>
              <p:cNvSpPr txBox="1"/>
              <p:nvPr/>
            </p:nvSpPr>
            <p:spPr>
              <a:xfrm>
                <a:off x="1823255" y="5557087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6" name="群組 5"/>
            <p:cNvGrpSpPr/>
            <p:nvPr/>
          </p:nvGrpSpPr>
          <p:grpSpPr>
            <a:xfrm>
              <a:off x="7642327" y="3642855"/>
              <a:ext cx="1401580" cy="1152698"/>
              <a:chOff x="2914191" y="4940324"/>
              <a:chExt cx="1401580" cy="1152698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914191" y="4941759"/>
                <a:ext cx="1401580" cy="1146748"/>
              </a:xfrm>
              <a:prstGeom prst="rect">
                <a:avLst/>
              </a:prstGeom>
              <a:solidFill>
                <a:srgbClr val="0D0D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931140" y="4940324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#10190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3732184" y="5569802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7" name="群組 6"/>
            <p:cNvGrpSpPr/>
            <p:nvPr/>
          </p:nvGrpSpPr>
          <p:grpSpPr>
            <a:xfrm>
              <a:off x="6819368" y="4253249"/>
              <a:ext cx="1401580" cy="1148183"/>
              <a:chOff x="4794333" y="4940324"/>
              <a:chExt cx="1401580" cy="1148183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4794333" y="4941759"/>
                <a:ext cx="1401580" cy="1146748"/>
              </a:xfrm>
              <a:prstGeom prst="rect">
                <a:avLst/>
              </a:prstGeom>
              <a:solidFill>
                <a:srgbClr val="6773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4811282" y="4940324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#12602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" name="文字方塊 13"/>
              <p:cNvSpPr txBox="1"/>
              <p:nvPr/>
            </p:nvSpPr>
            <p:spPr>
              <a:xfrm>
                <a:off x="5599958" y="5550428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8" name="群組 7"/>
            <p:cNvGrpSpPr/>
            <p:nvPr/>
          </p:nvGrpSpPr>
          <p:grpSpPr>
            <a:xfrm>
              <a:off x="7659276" y="4670283"/>
              <a:ext cx="1435863" cy="1185087"/>
              <a:chOff x="6674474" y="4903420"/>
              <a:chExt cx="1435863" cy="1185087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674474" y="4941759"/>
                <a:ext cx="1401580" cy="1146748"/>
              </a:xfrm>
              <a:prstGeom prst="rect">
                <a:avLst/>
              </a:prstGeom>
              <a:solidFill>
                <a:srgbClr val="0D73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6691424" y="4903420"/>
                <a:ext cx="13676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#10783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文字方塊 10"/>
              <p:cNvSpPr txBox="1"/>
              <p:nvPr/>
            </p:nvSpPr>
            <p:spPr>
              <a:xfrm>
                <a:off x="7531332" y="5559966"/>
                <a:ext cx="579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chemeClr val="bg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x5</a:t>
                </a:r>
                <a:endParaRPr lang="zh-TW" altLang="en-US" sz="2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  <p:grpSp>
        <p:nvGrpSpPr>
          <p:cNvPr id="37" name="群組 36"/>
          <p:cNvGrpSpPr/>
          <p:nvPr/>
        </p:nvGrpSpPr>
        <p:grpSpPr>
          <a:xfrm>
            <a:off x="3056114" y="2182656"/>
            <a:ext cx="1401580" cy="1185087"/>
            <a:chOff x="1034049" y="4903420"/>
            <a:chExt cx="1401580" cy="1185087"/>
          </a:xfrm>
        </p:grpSpPr>
        <p:sp>
          <p:nvSpPr>
            <p:cNvPr id="38" name="矩形 37"/>
            <p:cNvSpPr/>
            <p:nvPr/>
          </p:nvSpPr>
          <p:spPr>
            <a:xfrm>
              <a:off x="1034049" y="4941759"/>
              <a:ext cx="1401580" cy="1146748"/>
            </a:xfrm>
            <a:prstGeom prst="rect">
              <a:avLst/>
            </a:prstGeom>
            <a:solidFill>
              <a:srgbClr val="E61A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1050998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445337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4459051" y="2225560"/>
            <a:ext cx="1401580" cy="1148183"/>
            <a:chOff x="2914191" y="4940324"/>
            <a:chExt cx="1401580" cy="1148183"/>
          </a:xfrm>
        </p:grpSpPr>
        <p:sp>
          <p:nvSpPr>
            <p:cNvPr id="42" name="矩形 41"/>
            <p:cNvSpPr/>
            <p:nvPr/>
          </p:nvSpPr>
          <p:spPr>
            <a:xfrm>
              <a:off x="2914191" y="4941759"/>
              <a:ext cx="1401580" cy="1146748"/>
            </a:xfrm>
            <a:prstGeom prst="rect">
              <a:avLst/>
            </a:prstGeom>
            <a:solidFill>
              <a:srgbClr val="1A1A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931140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3342428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5866733" y="2212930"/>
            <a:ext cx="1401580" cy="1154813"/>
            <a:chOff x="4794333" y="4940324"/>
            <a:chExt cx="1401580" cy="1154813"/>
          </a:xfrm>
        </p:grpSpPr>
        <p:sp>
          <p:nvSpPr>
            <p:cNvPr id="46" name="矩形 45"/>
            <p:cNvSpPr/>
            <p:nvPr/>
          </p:nvSpPr>
          <p:spPr>
            <a:xfrm>
              <a:off x="4794333" y="4941759"/>
              <a:ext cx="1401580" cy="1146748"/>
            </a:xfrm>
            <a:prstGeom prst="rect">
              <a:avLst/>
            </a:prstGeom>
            <a:solidFill>
              <a:srgbClr val="CEE6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811282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222570" y="55719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7263568" y="2182656"/>
            <a:ext cx="1401581" cy="1185087"/>
            <a:chOff x="6674474" y="4903420"/>
            <a:chExt cx="1401581" cy="1185087"/>
          </a:xfrm>
        </p:grpSpPr>
        <p:sp>
          <p:nvSpPr>
            <p:cNvPr id="50" name="矩形 49"/>
            <p:cNvSpPr/>
            <p:nvPr/>
          </p:nvSpPr>
          <p:spPr>
            <a:xfrm>
              <a:off x="6674474" y="4941759"/>
              <a:ext cx="1401580" cy="1146748"/>
            </a:xfrm>
            <a:prstGeom prst="rect">
              <a:avLst/>
            </a:prstGeom>
            <a:solidFill>
              <a:srgbClr val="1AE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6691424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7102712" y="5558935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3105497" y="3851258"/>
            <a:ext cx="52612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Source Code Pro" panose="020B0509030403020204" pitchFamily="49" charset="0"/>
              </a:rPr>
              <a:t>|   [CI,LCS]   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|10931|10783|12602|10190</a:t>
            </a:r>
            <a:r>
              <a:rPr lang="en-US" altLang="zh-TW" sz="1600" dirty="0">
                <a:latin typeface="Source Code Pro" panose="020B0509030403020204" pitchFamily="49" charset="0"/>
              </a:rPr>
              <a:t>|</a:t>
            </a:r>
          </a:p>
          <a:p>
            <a:r>
              <a:rPr lang="en-US" altLang="zh-TW" sz="1600" dirty="0">
                <a:latin typeface="Source Code Pro" panose="020B0509030403020204" pitchFamily="49" charset="0"/>
              </a:rPr>
              <a:t>| [10190,10190]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2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</a:t>
            </a:r>
            <a:r>
              <a:rPr lang="en-US" altLang="zh-TW" sz="1600" dirty="0">
                <a:latin typeface="Source Code Pro" panose="020B0509030403020204" pitchFamily="49" charset="0"/>
              </a:rPr>
              <a:t>64|</a:t>
            </a:r>
          </a:p>
          <a:p>
            <a:r>
              <a:rPr lang="en-US" altLang="zh-TW" sz="1600" dirty="0">
                <a:latin typeface="Source Code Pro" panose="020B0509030403020204" pitchFamily="49" charset="0"/>
              </a:rPr>
              <a:t>| [10190,10783]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1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5|</a:t>
            </a:r>
          </a:p>
          <a:p>
            <a:r>
              <a:rPr lang="en-US" altLang="zh-TW" sz="1600" dirty="0" smtClean="0">
                <a:latin typeface="Source Code Pro" panose="020B0509030403020204" pitchFamily="49" charset="0"/>
              </a:rPr>
              <a:t>| </a:t>
            </a:r>
            <a:r>
              <a:rPr lang="en-US" altLang="zh-TW" sz="1600" dirty="0">
                <a:latin typeface="Source Code Pro" panose="020B0509030403020204" pitchFamily="49" charset="0"/>
              </a:rPr>
              <a:t>[10783,12602]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3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1600" dirty="0">
                <a:latin typeface="Source Code Pro" panose="020B0509030403020204" pitchFamily="49" charset="0"/>
              </a:rPr>
              <a:t>| [10190,12602]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2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1600" dirty="0">
                <a:latin typeface="Source Code Pro" panose="020B0509030403020204" pitchFamily="49" charset="0"/>
              </a:rPr>
              <a:t>| [10931,12602]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2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1600" dirty="0">
                <a:latin typeface="Source Code Pro" panose="020B0509030403020204" pitchFamily="49" charset="0"/>
              </a:rPr>
              <a:t>| [10931,10783] | 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1600" dirty="0">
                <a:latin typeface="Source Code Pro" panose="020B0509030403020204" pitchFamily="49" charset="0"/>
              </a:rPr>
              <a:t>7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1600" dirty="0">
                <a:latin typeface="Source Code Pro" panose="020B0509030403020204" pitchFamily="49" charset="0"/>
              </a:rPr>
              <a:t>0</a:t>
            </a:r>
            <a:r>
              <a:rPr lang="en-US" altLang="zh-TW" sz="1600" dirty="0" smtClean="0">
                <a:latin typeface="Source Code Pro" panose="020B0509030403020204" pitchFamily="49" charset="0"/>
              </a:rPr>
              <a:t>|</a:t>
            </a:r>
          </a:p>
          <a:p>
            <a:r>
              <a:rPr lang="en-US" altLang="zh-TW" sz="1600" dirty="0" smtClean="0">
                <a:latin typeface="Source Code Pro" panose="020B0509030403020204" pitchFamily="49" charset="0"/>
              </a:rPr>
              <a:t>… …</a:t>
            </a:r>
          </a:p>
          <a:p>
            <a:r>
              <a:rPr lang="en-US" altLang="zh-TW" sz="1600" dirty="0" smtClean="0">
                <a:latin typeface="Source Code Pro" panose="020B0509030403020204" pitchFamily="49" charset="0"/>
              </a:rPr>
              <a:t>… …</a:t>
            </a:r>
            <a:endParaRPr lang="en-US" altLang="zh-TW" sz="1600" dirty="0">
              <a:latin typeface="Source Code Pro" panose="020B0509030403020204" pitchFamily="49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870616" y="5596800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Bauhaus 93" panose="04030905020B02020C02" pitchFamily="82" charset="0"/>
              </a:rPr>
              <a:t>BKS TABLE</a:t>
            </a:r>
            <a:endParaRPr lang="zh-TW" altLang="en-US" sz="32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8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r>
              <a:rPr lang="zh-TW" altLang="en-US" dirty="0"/>
              <a:t>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5</a:t>
            </a:r>
            <a:r>
              <a:rPr lang="en-US" altLang="zh-TW" dirty="0"/>
              <a:t>. </a:t>
            </a:r>
            <a:r>
              <a:rPr lang="zh-TW" altLang="en-US" dirty="0"/>
              <a:t>利用得到的</a:t>
            </a:r>
            <a:r>
              <a:rPr lang="en-US" altLang="zh-TW" dirty="0"/>
              <a:t>BKS</a:t>
            </a:r>
            <a:r>
              <a:rPr lang="zh-TW" altLang="en-US" dirty="0"/>
              <a:t>表和所有資料跑過</a:t>
            </a:r>
            <a:r>
              <a:rPr lang="zh-TW" altLang="en-US" dirty="0" smtClean="0"/>
              <a:t>結果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 </a:t>
            </a:r>
            <a:r>
              <a:rPr lang="en-US" altLang="zh-TW" dirty="0" smtClean="0"/>
              <a:t>result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6.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回到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第一步繼續跑，直到跑出</a:t>
            </a:r>
            <a:r>
              <a:rPr lang="en-US" altLang="zh-TW" dirty="0" smtClean="0">
                <a:solidFill>
                  <a:schemeClr val="bg1">
                    <a:lumMod val="95000"/>
                  </a:schemeClr>
                </a:solidFill>
              </a:rPr>
              <a:t>100</a:t>
            </a:r>
            <a:r>
              <a:rPr lang="zh-TW" altLang="en-US" dirty="0" smtClean="0">
                <a:solidFill>
                  <a:schemeClr val="bg1">
                    <a:lumMod val="95000"/>
                  </a:schemeClr>
                </a:solidFill>
              </a:rPr>
              <a:t>組</a:t>
            </a:r>
            <a:endParaRPr lang="en-US" altLang="zh-TW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1. </a:t>
            </a:r>
            <a:r>
              <a:rPr lang="zh-TW" altLang="en-US" dirty="0">
                <a:solidFill>
                  <a:schemeClr val="bg1"/>
                </a:solidFill>
              </a:rPr>
              <a:t>選出每組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個，共</a:t>
            </a:r>
            <a:r>
              <a:rPr lang="en-US" altLang="zh-TW" dirty="0">
                <a:solidFill>
                  <a:schemeClr val="bg1"/>
                </a:solidFill>
              </a:rPr>
              <a:t>400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trainingDataList.json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2. </a:t>
            </a:r>
            <a:r>
              <a:rPr lang="zh-TW" altLang="en-US" dirty="0">
                <a:solidFill>
                  <a:schemeClr val="bg1"/>
                </a:solidFill>
              </a:rPr>
              <a:t>利用這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TrainDataList</a:t>
            </a:r>
            <a:r>
              <a:rPr lang="zh-TW" altLang="en-US" dirty="0">
                <a:solidFill>
                  <a:schemeClr val="bg1"/>
                </a:solidFill>
              </a:rPr>
              <a:t>和所有</a:t>
            </a:r>
            <a:r>
              <a:rPr lang="en-US" altLang="zh-TW" dirty="0">
                <a:solidFill>
                  <a:schemeClr val="bg1"/>
                </a:solidFill>
              </a:rPr>
              <a:t>Data</a:t>
            </a:r>
            <a:r>
              <a:rPr lang="zh-TW" altLang="en-US" dirty="0">
                <a:solidFill>
                  <a:schemeClr val="bg1"/>
                </a:solidFill>
              </a:rPr>
              <a:t>作</a:t>
            </a:r>
            <a:r>
              <a:rPr lang="en-US" altLang="zh-TW" dirty="0">
                <a:solidFill>
                  <a:schemeClr val="bg1"/>
                </a:solidFill>
              </a:rPr>
              <a:t>CI</a:t>
            </a:r>
            <a:r>
              <a:rPr lang="zh-TW" altLang="en-US" dirty="0">
                <a:solidFill>
                  <a:schemeClr val="bg1"/>
                </a:solidFill>
              </a:rPr>
              <a:t>及</a:t>
            </a:r>
            <a:r>
              <a:rPr lang="en-US" altLang="zh-TW" dirty="0">
                <a:solidFill>
                  <a:schemeClr val="bg1"/>
                </a:solidFill>
              </a:rPr>
              <a:t>LCS</a:t>
            </a:r>
            <a:r>
              <a:rPr lang="zh-TW" altLang="en-US" dirty="0">
                <a:solidFill>
                  <a:schemeClr val="bg1"/>
                </a:solidFill>
              </a:rPr>
              <a:t>完成</a:t>
            </a:r>
            <a:r>
              <a:rPr lang="en-US" altLang="zh-TW" dirty="0">
                <a:solidFill>
                  <a:schemeClr val="bg1"/>
                </a:solidFill>
              </a:rPr>
              <a:t>Cache</a:t>
            </a: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resultCache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3. </a:t>
            </a:r>
            <a:r>
              <a:rPr lang="zh-TW" altLang="en-US" dirty="0">
                <a:solidFill>
                  <a:schemeClr val="bg1"/>
                </a:solidFill>
              </a:rPr>
              <a:t>在各個</a:t>
            </a:r>
            <a:r>
              <a:rPr lang="en-US" altLang="zh-TW" dirty="0">
                <a:solidFill>
                  <a:schemeClr val="bg1"/>
                </a:solidFill>
              </a:rPr>
              <a:t>100</a:t>
            </a:r>
            <a:r>
              <a:rPr lang="zh-TW" altLang="en-US" dirty="0">
                <a:solidFill>
                  <a:schemeClr val="bg1"/>
                </a:solidFill>
              </a:rPr>
              <a:t>個裡面，利用</a:t>
            </a:r>
            <a:r>
              <a:rPr lang="en-US" altLang="zh-TW" dirty="0">
                <a:solidFill>
                  <a:schemeClr val="bg1"/>
                </a:solidFill>
              </a:rPr>
              <a:t>k-means</a:t>
            </a:r>
            <a:r>
              <a:rPr lang="zh-TW" altLang="en-US" dirty="0">
                <a:solidFill>
                  <a:schemeClr val="bg1"/>
                </a:solidFill>
              </a:rPr>
              <a:t>選出</a:t>
            </a:r>
            <a:r>
              <a:rPr lang="en-US" altLang="zh-TW" dirty="0">
                <a:solidFill>
                  <a:schemeClr val="bg1"/>
                </a:solidFill>
              </a:rPr>
              <a:t>5</a:t>
            </a:r>
            <a:r>
              <a:rPr lang="zh-TW" altLang="en-US" dirty="0">
                <a:solidFill>
                  <a:schemeClr val="bg1"/>
                </a:solidFill>
              </a:rPr>
              <a:t>個做為</a:t>
            </a:r>
            <a:r>
              <a:rPr lang="en-US" altLang="zh-TW" dirty="0">
                <a:solidFill>
                  <a:schemeClr val="bg1"/>
                </a:solidFill>
              </a:rPr>
              <a:t>BKS</a:t>
            </a:r>
            <a:r>
              <a:rPr lang="zh-TW" altLang="en-US" dirty="0">
                <a:solidFill>
                  <a:schemeClr val="bg1"/>
                </a:solidFill>
              </a:rPr>
              <a:t>用的</a:t>
            </a:r>
            <a:r>
              <a:rPr lang="en-US" altLang="zh-TW" dirty="0" err="1">
                <a:solidFill>
                  <a:schemeClr val="bg1"/>
                </a:solidFill>
              </a:rPr>
              <a:t>TraingDatalist</a:t>
            </a:r>
            <a:endParaRPr lang="en-US" altLang="zh-TW" dirty="0">
              <a:solidFill>
                <a:schemeClr val="bg1"/>
              </a:solidFill>
            </a:endParaRP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km05.json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4. </a:t>
            </a:r>
            <a:r>
              <a:rPr lang="zh-TW" altLang="en-US" dirty="0">
                <a:solidFill>
                  <a:schemeClr val="bg1"/>
                </a:solidFill>
              </a:rPr>
              <a:t>利用每組</a:t>
            </a:r>
            <a:r>
              <a:rPr lang="en-US" altLang="zh-TW" dirty="0">
                <a:solidFill>
                  <a:schemeClr val="bg1"/>
                </a:solidFill>
              </a:rPr>
              <a:t>5</a:t>
            </a:r>
            <a:r>
              <a:rPr lang="zh-TW" altLang="en-US" dirty="0">
                <a:solidFill>
                  <a:schemeClr val="bg1"/>
                </a:solidFill>
              </a:rPr>
              <a:t>個共</a:t>
            </a:r>
            <a:r>
              <a:rPr lang="en-US" altLang="zh-TW" dirty="0">
                <a:solidFill>
                  <a:schemeClr val="bg1"/>
                </a:solidFill>
              </a:rPr>
              <a:t>20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 err="1">
                <a:solidFill>
                  <a:schemeClr val="bg1"/>
                </a:solidFill>
              </a:rPr>
              <a:t>TrainingData</a:t>
            </a:r>
            <a:r>
              <a:rPr lang="zh-TW" altLang="en-US" dirty="0">
                <a:solidFill>
                  <a:schemeClr val="bg1"/>
                </a:solidFill>
              </a:rPr>
              <a:t>和第一步選出的</a:t>
            </a:r>
            <a:r>
              <a:rPr lang="en-US" altLang="zh-TW" dirty="0">
                <a:solidFill>
                  <a:schemeClr val="bg1"/>
                </a:solidFill>
              </a:rPr>
              <a:t>400</a:t>
            </a:r>
            <a:r>
              <a:rPr lang="zh-TW" altLang="en-US" dirty="0">
                <a:solidFill>
                  <a:schemeClr val="bg1"/>
                </a:solidFill>
              </a:rPr>
              <a:t>個</a:t>
            </a:r>
            <a:r>
              <a:rPr lang="en-US" altLang="zh-TW" dirty="0">
                <a:solidFill>
                  <a:schemeClr val="bg1"/>
                </a:solidFill>
              </a:rPr>
              <a:t>data</a:t>
            </a:r>
            <a:r>
              <a:rPr lang="zh-TW" altLang="en-US" dirty="0">
                <a:solidFill>
                  <a:schemeClr val="bg1"/>
                </a:solidFill>
              </a:rPr>
              <a:t>進行</a:t>
            </a:r>
            <a:r>
              <a:rPr lang="en-US" altLang="zh-TW" dirty="0">
                <a:solidFill>
                  <a:schemeClr val="bg1"/>
                </a:solidFill>
              </a:rPr>
              <a:t>BKS </a:t>
            </a:r>
          </a:p>
          <a:p>
            <a:pPr lvl="1"/>
            <a:r>
              <a:rPr lang="en-US" altLang="zh-TW" dirty="0" err="1">
                <a:solidFill>
                  <a:schemeClr val="bg1"/>
                </a:solidFill>
              </a:rPr>
              <a:t>bksTable</a:t>
            </a:r>
            <a:endParaRPr lang="en-US" altLang="zh-TW" dirty="0">
              <a:solidFill>
                <a:schemeClr val="bg1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420" y="3440380"/>
            <a:ext cx="1401580" cy="1185087"/>
            <a:chOff x="1034049" y="4903420"/>
            <a:chExt cx="1401580" cy="1185087"/>
          </a:xfrm>
        </p:grpSpPr>
        <p:sp>
          <p:nvSpPr>
            <p:cNvPr id="5" name="矩形 4"/>
            <p:cNvSpPr/>
            <p:nvPr/>
          </p:nvSpPr>
          <p:spPr>
            <a:xfrm>
              <a:off x="1034049" y="4941759"/>
              <a:ext cx="1401580" cy="1146748"/>
            </a:xfrm>
            <a:prstGeom prst="rect">
              <a:avLst/>
            </a:prstGeom>
            <a:solidFill>
              <a:srgbClr val="E61A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1050998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445337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822959" y="3857414"/>
            <a:ext cx="1401580" cy="1148183"/>
            <a:chOff x="2914191" y="4940324"/>
            <a:chExt cx="1401580" cy="1148183"/>
          </a:xfrm>
        </p:grpSpPr>
        <p:sp>
          <p:nvSpPr>
            <p:cNvPr id="9" name="矩形 8"/>
            <p:cNvSpPr/>
            <p:nvPr/>
          </p:nvSpPr>
          <p:spPr>
            <a:xfrm>
              <a:off x="2914191" y="4941759"/>
              <a:ext cx="1401580" cy="1146748"/>
            </a:xfrm>
            <a:prstGeom prst="rect">
              <a:avLst/>
            </a:prstGeom>
            <a:solidFill>
              <a:srgbClr val="1A1A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31140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342428" y="556528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0" y="4467808"/>
            <a:ext cx="1401580" cy="1154813"/>
            <a:chOff x="4794333" y="4940324"/>
            <a:chExt cx="1401580" cy="1154813"/>
          </a:xfrm>
        </p:grpSpPr>
        <p:sp>
          <p:nvSpPr>
            <p:cNvPr id="13" name="矩形 12"/>
            <p:cNvSpPr/>
            <p:nvPr/>
          </p:nvSpPr>
          <p:spPr>
            <a:xfrm>
              <a:off x="4794333" y="4941759"/>
              <a:ext cx="1401580" cy="1146748"/>
            </a:xfrm>
            <a:prstGeom prst="rect">
              <a:avLst/>
            </a:prstGeom>
            <a:solidFill>
              <a:srgbClr val="CEE6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811282" y="4940324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222570" y="55719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839908" y="4884842"/>
            <a:ext cx="1401581" cy="1185087"/>
            <a:chOff x="6674474" y="4903420"/>
            <a:chExt cx="1401581" cy="1185087"/>
          </a:xfrm>
        </p:grpSpPr>
        <p:sp>
          <p:nvSpPr>
            <p:cNvPr id="17" name="矩形 16"/>
            <p:cNvSpPr/>
            <p:nvPr/>
          </p:nvSpPr>
          <p:spPr>
            <a:xfrm>
              <a:off x="6674474" y="4941759"/>
              <a:ext cx="1401580" cy="1146748"/>
            </a:xfrm>
            <a:prstGeom prst="rect">
              <a:avLst/>
            </a:prstGeom>
            <a:solidFill>
              <a:srgbClr val="1AE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6691424" y="4903420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102712" y="5558935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x100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792663" y="4071284"/>
            <a:ext cx="773728" cy="934313"/>
            <a:chOff x="6352046" y="4102247"/>
            <a:chExt cx="773728" cy="934313"/>
          </a:xfrm>
        </p:grpSpPr>
        <p:pic>
          <p:nvPicPr>
            <p:cNvPr id="37" name="Picture 2" descr="database-149760_640.png (530×640)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2046" y="4102247"/>
              <a:ext cx="773728" cy="934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文字方塊 37"/>
            <p:cNvSpPr txBox="1"/>
            <p:nvPr/>
          </p:nvSpPr>
          <p:spPr>
            <a:xfrm>
              <a:off x="6473452" y="4467808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  <a:latin typeface="Bauhaus 93" panose="04030905020B02020C02" pitchFamily="82" charset="0"/>
                </a:rPr>
                <a:t>LCS</a:t>
              </a: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792663" y="5129264"/>
            <a:ext cx="773728" cy="934313"/>
            <a:chOff x="6352046" y="5334810"/>
            <a:chExt cx="773728" cy="934313"/>
          </a:xfrm>
        </p:grpSpPr>
        <p:pic>
          <p:nvPicPr>
            <p:cNvPr id="43" name="Picture 2" descr="database-149760_640.png (530×640)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2046" y="5334810"/>
              <a:ext cx="773728" cy="934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文字方塊 43"/>
            <p:cNvSpPr txBox="1"/>
            <p:nvPr/>
          </p:nvSpPr>
          <p:spPr>
            <a:xfrm>
              <a:off x="6521542" y="568442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  <a:latin typeface="Bauhaus 93" panose="04030905020B02020C02" pitchFamily="82" charset="0"/>
                </a:rPr>
                <a:t>CI</a:t>
              </a:r>
            </a:p>
          </p:txBody>
        </p:sp>
      </p:grpSp>
      <p:sp>
        <p:nvSpPr>
          <p:cNvPr id="45" name="向右箭號 44"/>
          <p:cNvSpPr/>
          <p:nvPr/>
        </p:nvSpPr>
        <p:spPr>
          <a:xfrm rot="6795675">
            <a:off x="3450272" y="3933645"/>
            <a:ext cx="347084" cy="26161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向右箭號 45"/>
          <p:cNvSpPr/>
          <p:nvPr/>
        </p:nvSpPr>
        <p:spPr>
          <a:xfrm rot="6795675">
            <a:off x="3450271" y="4962729"/>
            <a:ext cx="347084" cy="26161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向右箭號 46"/>
          <p:cNvSpPr/>
          <p:nvPr/>
        </p:nvSpPr>
        <p:spPr>
          <a:xfrm>
            <a:off x="2393328" y="4364402"/>
            <a:ext cx="347084" cy="26161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右箭號 47"/>
          <p:cNvSpPr/>
          <p:nvPr/>
        </p:nvSpPr>
        <p:spPr>
          <a:xfrm>
            <a:off x="2393328" y="5485186"/>
            <a:ext cx="347084" cy="26161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4261093" y="4495207"/>
            <a:ext cx="27542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800" dirty="0">
                <a:latin typeface="Source Code Pro" panose="020B0509030403020204" pitchFamily="49" charset="0"/>
              </a:rPr>
              <a:t>|   [CI,LCS]   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|10931|10783|12602|10190</a:t>
            </a:r>
            <a:r>
              <a:rPr lang="en-US" altLang="zh-TW" sz="800" dirty="0">
                <a:latin typeface="Source Code Pro" panose="020B0509030403020204" pitchFamily="49" charset="0"/>
              </a:rPr>
              <a:t>|</a:t>
            </a:r>
          </a:p>
          <a:p>
            <a:r>
              <a:rPr lang="en-US" altLang="zh-TW" sz="800" dirty="0">
                <a:latin typeface="Source Code Pro" panose="020B0509030403020204" pitchFamily="49" charset="0"/>
              </a:rPr>
              <a:t>| [10190,10190]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2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</a:t>
            </a:r>
            <a:r>
              <a:rPr lang="en-US" altLang="zh-TW" sz="800" dirty="0">
                <a:latin typeface="Source Code Pro" panose="020B0509030403020204" pitchFamily="49" charset="0"/>
              </a:rPr>
              <a:t>64|</a:t>
            </a:r>
          </a:p>
          <a:p>
            <a:r>
              <a:rPr lang="en-US" altLang="zh-TW" sz="800" dirty="0">
                <a:latin typeface="Source Code Pro" panose="020B0509030403020204" pitchFamily="49" charset="0"/>
              </a:rPr>
              <a:t>| [10190,10783]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1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5|</a:t>
            </a:r>
          </a:p>
          <a:p>
            <a:r>
              <a:rPr lang="en-US" altLang="zh-TW" sz="800" dirty="0" smtClean="0">
                <a:latin typeface="Source Code Pro" panose="020B0509030403020204" pitchFamily="49" charset="0"/>
              </a:rPr>
              <a:t>| </a:t>
            </a:r>
            <a:r>
              <a:rPr lang="en-US" altLang="zh-TW" sz="800" dirty="0">
                <a:latin typeface="Source Code Pro" panose="020B0509030403020204" pitchFamily="49" charset="0"/>
              </a:rPr>
              <a:t>[10783,12602]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3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800" dirty="0">
                <a:latin typeface="Source Code Pro" panose="020B0509030403020204" pitchFamily="49" charset="0"/>
              </a:rPr>
              <a:t>| [10190,12602]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2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800" dirty="0">
                <a:latin typeface="Source Code Pro" panose="020B0509030403020204" pitchFamily="49" charset="0"/>
              </a:rPr>
              <a:t>| [10931,12602]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2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0|</a:t>
            </a:r>
          </a:p>
          <a:p>
            <a:r>
              <a:rPr lang="en-US" altLang="zh-TW" sz="800" dirty="0">
                <a:latin typeface="Source Code Pro" panose="020B0509030403020204" pitchFamily="49" charset="0"/>
              </a:rPr>
              <a:t>| [10931,10783] | 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   </a:t>
            </a:r>
            <a:r>
              <a:rPr lang="en-US" altLang="zh-TW" sz="800" dirty="0">
                <a:latin typeface="Source Code Pro" panose="020B0509030403020204" pitchFamily="49" charset="0"/>
              </a:rPr>
              <a:t>7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    </a:t>
            </a:r>
            <a:r>
              <a:rPr lang="en-US" altLang="zh-TW" sz="800" dirty="0">
                <a:latin typeface="Source Code Pro" panose="020B0509030403020204" pitchFamily="49" charset="0"/>
              </a:rPr>
              <a:t>0</a:t>
            </a:r>
            <a:r>
              <a:rPr lang="en-US" altLang="zh-TW" sz="800" dirty="0" smtClean="0">
                <a:latin typeface="Source Code Pro" panose="020B0509030403020204" pitchFamily="49" charset="0"/>
              </a:rPr>
              <a:t>|</a:t>
            </a:r>
          </a:p>
          <a:p>
            <a:r>
              <a:rPr lang="en-US" altLang="zh-TW" sz="800" dirty="0" smtClean="0">
                <a:latin typeface="Source Code Pro" panose="020B0509030403020204" pitchFamily="49" charset="0"/>
              </a:rPr>
              <a:t>… …</a:t>
            </a:r>
          </a:p>
          <a:p>
            <a:r>
              <a:rPr lang="en-US" altLang="zh-TW" sz="800" dirty="0" smtClean="0">
                <a:latin typeface="Source Code Pro" panose="020B0509030403020204" pitchFamily="49" charset="0"/>
              </a:rPr>
              <a:t>… …</a:t>
            </a:r>
            <a:endParaRPr lang="en-US" altLang="zh-TW" sz="800" dirty="0">
              <a:latin typeface="Source Code Pro" panose="020B0509030403020204" pitchFamily="49" charset="0"/>
            </a:endParaRPr>
          </a:p>
        </p:txBody>
      </p:sp>
      <p:sp>
        <p:nvSpPr>
          <p:cNvPr id="50" name="向右箭號 49"/>
          <p:cNvSpPr/>
          <p:nvPr/>
        </p:nvSpPr>
        <p:spPr>
          <a:xfrm>
            <a:off x="3760233" y="4433381"/>
            <a:ext cx="347084" cy="26161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向右箭號 52"/>
          <p:cNvSpPr/>
          <p:nvPr/>
        </p:nvSpPr>
        <p:spPr>
          <a:xfrm>
            <a:off x="3760233" y="5560616"/>
            <a:ext cx="347084" cy="26161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4802019" y="5408062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Bauhaus 93" panose="04030905020B02020C02" pitchFamily="82" charset="0"/>
              </a:rPr>
              <a:t>BKS TABLE</a:t>
            </a:r>
            <a:endParaRPr lang="zh-TW" altLang="en-US" sz="3200" dirty="0">
              <a:latin typeface="Bauhaus 93" panose="04030905020B02020C02" pitchFamily="82" charset="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2427890" y="2373930"/>
            <a:ext cx="1401580" cy="1185087"/>
            <a:chOff x="1050998" y="2390069"/>
            <a:chExt cx="1401580" cy="1185087"/>
          </a:xfrm>
        </p:grpSpPr>
        <p:sp>
          <p:nvSpPr>
            <p:cNvPr id="56" name="矩形 55"/>
            <p:cNvSpPr/>
            <p:nvPr/>
          </p:nvSpPr>
          <p:spPr>
            <a:xfrm>
              <a:off x="1050998" y="2428408"/>
              <a:ext cx="1401580" cy="1146748"/>
            </a:xfrm>
            <a:prstGeom prst="rect">
              <a:avLst/>
            </a:prstGeom>
            <a:solidFill>
              <a:srgbClr val="F6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067947" y="239006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#10931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1462286" y="305193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x256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849068" y="2414149"/>
            <a:ext cx="1401580" cy="1148183"/>
            <a:chOff x="2931140" y="2426973"/>
            <a:chExt cx="1401580" cy="1148183"/>
          </a:xfrm>
        </p:grpSpPr>
        <p:sp>
          <p:nvSpPr>
            <p:cNvPr id="60" name="矩形 59"/>
            <p:cNvSpPr/>
            <p:nvPr/>
          </p:nvSpPr>
          <p:spPr>
            <a:xfrm>
              <a:off x="2931140" y="2428408"/>
              <a:ext cx="1401580" cy="1146748"/>
            </a:xfrm>
            <a:prstGeom prst="rect">
              <a:avLst/>
            </a:prstGeom>
            <a:solidFill>
              <a:srgbClr val="BCBD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2948089" y="2426973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#10190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359377" y="305193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x175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5270246" y="2410834"/>
            <a:ext cx="1401580" cy="1154813"/>
            <a:chOff x="4811282" y="2426973"/>
            <a:chExt cx="1401580" cy="1154813"/>
          </a:xfrm>
        </p:grpSpPr>
        <p:sp>
          <p:nvSpPr>
            <p:cNvPr id="64" name="矩形 63"/>
            <p:cNvSpPr/>
            <p:nvPr/>
          </p:nvSpPr>
          <p:spPr>
            <a:xfrm>
              <a:off x="4811282" y="2428408"/>
              <a:ext cx="1401580" cy="1146748"/>
            </a:xfrm>
            <a:prstGeom prst="rect">
              <a:avLst/>
            </a:prstGeom>
            <a:solidFill>
              <a:srgbClr val="F5F9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4828231" y="2426973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#12602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5239519" y="3058566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x270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7" name="群組 66"/>
          <p:cNvGrpSpPr/>
          <p:nvPr/>
        </p:nvGrpSpPr>
        <p:grpSpPr>
          <a:xfrm>
            <a:off x="6688775" y="2386912"/>
            <a:ext cx="1401580" cy="1178735"/>
            <a:chOff x="6691424" y="2390069"/>
            <a:chExt cx="1401580" cy="1178735"/>
          </a:xfrm>
        </p:grpSpPr>
        <p:sp>
          <p:nvSpPr>
            <p:cNvPr id="68" name="矩形 67"/>
            <p:cNvSpPr/>
            <p:nvPr/>
          </p:nvSpPr>
          <p:spPr>
            <a:xfrm>
              <a:off x="6691424" y="2413271"/>
              <a:ext cx="1401580" cy="1146748"/>
            </a:xfrm>
            <a:prstGeom prst="rect">
              <a:avLst/>
            </a:prstGeom>
            <a:solidFill>
              <a:srgbClr val="BCF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6708373" y="2390069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#10783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7119661" y="3045584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x510</a:t>
              </a:r>
              <a:endParaRPr lang="zh-TW" alt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71" name="向右箭號 70"/>
          <p:cNvSpPr/>
          <p:nvPr/>
        </p:nvSpPr>
        <p:spPr>
          <a:xfrm>
            <a:off x="6943470" y="4962729"/>
            <a:ext cx="347084" cy="2616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2" name="圖片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656" y="4649698"/>
            <a:ext cx="1466912" cy="846857"/>
          </a:xfrm>
          <a:prstGeom prst="rect">
            <a:avLst/>
          </a:prstGeom>
        </p:spPr>
      </p:pic>
      <p:sp>
        <p:nvSpPr>
          <p:cNvPr id="73" name="文字方塊 72"/>
          <p:cNvSpPr txBox="1"/>
          <p:nvPr/>
        </p:nvSpPr>
        <p:spPr>
          <a:xfrm>
            <a:off x="7548818" y="5483980"/>
            <a:ext cx="1388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Bauhaus 93" panose="04030905020B02020C02" pitchFamily="82" charset="0"/>
              </a:rPr>
              <a:t>RESULT</a:t>
            </a:r>
            <a:endParaRPr lang="zh-TW" altLang="en-US" sz="32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55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目前</a:t>
            </a:r>
            <a:r>
              <a:rPr lang="zh-TW" altLang="en-US" dirty="0" smtClean="0"/>
              <a:t>結果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930013"/>
              </p:ext>
            </p:extLst>
          </p:nvPr>
        </p:nvGraphicFramePr>
        <p:xfrm>
          <a:off x="-1" y="1583935"/>
          <a:ext cx="9144000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191"/>
                <a:gridCol w="1223191"/>
                <a:gridCol w="1075311"/>
                <a:gridCol w="671802"/>
                <a:gridCol w="990101"/>
                <a:gridCol w="990101"/>
                <a:gridCol w="990101"/>
                <a:gridCol w="990101"/>
                <a:gridCol w="990101"/>
              </a:tblGrid>
              <a:tr h="34309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資料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方法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演算法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10931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10190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12602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10783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AVG</a:t>
                      </a:r>
                      <a:endParaRPr lang="zh-TW" altLang="en-US" dirty="0"/>
                    </a:p>
                  </a:txBody>
                  <a:tcPr/>
                </a:tc>
              </a:tr>
              <a:tr h="34309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1</a:t>
                      </a:r>
                      <a:r>
                        <a:rPr lang="zh-TW" altLang="en-US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組訓練集</a:t>
                      </a:r>
                      <a:endParaRPr lang="zh-TW" altLang="en-US" dirty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  <a:p>
                      <a:pPr algn="ctr"/>
                      <a:r>
                        <a:rPr lang="zh-TW" altLang="en-US" sz="16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每組訓練集</a:t>
                      </a:r>
                      <a:endParaRPr lang="en-US" altLang="zh-TW" sz="1600" dirty="0" smtClean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  <a:p>
                      <a:pPr algn="ctr"/>
                      <a:r>
                        <a:rPr lang="en-US" altLang="zh-TW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100</a:t>
                      </a:r>
                      <a:r>
                        <a:rPr lang="zh-TW" altLang="en-US" sz="12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個程式碼</a:t>
                      </a:r>
                      <a:endParaRPr lang="zh-TW" altLang="en-US" dirty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Random</a:t>
                      </a:r>
                    </a:p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zh-TW" altLang="en-US" dirty="0" smtClean="0"/>
                        <a:t>一千次</a:t>
                      </a:r>
                      <a:r>
                        <a:rPr lang="en-US" altLang="zh-TW" dirty="0" smtClean="0"/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LCS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AVG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89.7%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85.2%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95.8%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91.9%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90.6%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4309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5.9%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6.2%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3.7%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3.4%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4.8%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4309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CI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AVG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81.2%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71.5%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84.6%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95.0%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83.2%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4309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6.6%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9.8%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5.8%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2.4%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6.1%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543226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K-Means</a:t>
                      </a:r>
                    </a:p>
                    <a:p>
                      <a:pPr algn="ctr"/>
                      <a:r>
                        <a:rPr lang="en-US" altLang="zh-TW" dirty="0" smtClean="0"/>
                        <a:t>K = 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LCS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82.0%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88.0%</a:t>
                      </a:r>
                      <a:endParaRPr lang="en-US" altLang="zh-TW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98.1%</a:t>
                      </a:r>
                      <a:endParaRPr lang="en-US" altLang="zh-TW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93.9%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90.5%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54322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CI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91.0%</a:t>
                      </a:r>
                      <a:endParaRPr lang="en-US" altLang="zh-TW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85.7%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95.6%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98.8%</a:t>
                      </a:r>
                      <a:endParaRPr lang="en-US" altLang="zh-TW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92.8%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54322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BKS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92.2%</a:t>
                      </a:r>
                      <a:endParaRPr lang="en-US" altLang="zh-TW" sz="20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93.1%</a:t>
                      </a:r>
                      <a:endParaRPr lang="en-US" altLang="zh-TW" sz="20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97.4%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93.5%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94.1%</a:t>
                      </a:r>
                      <a:endParaRPr lang="en-US" altLang="zh-TW" sz="20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1681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100</a:t>
                      </a:r>
                      <a:r>
                        <a:rPr lang="zh-TW" altLang="en-US" sz="11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組</a:t>
                      </a:r>
                      <a:r>
                        <a:rPr lang="zh-TW" altLang="en-US" sz="12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訓練集</a:t>
                      </a:r>
                      <a:endParaRPr lang="zh-TW" altLang="en-US" dirty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  <a:p>
                      <a:pPr algn="ctr"/>
                      <a:r>
                        <a:rPr lang="zh-TW" altLang="en-US" sz="16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每組訓練集</a:t>
                      </a:r>
                      <a:endParaRPr lang="en-US" altLang="zh-TW" sz="1600" dirty="0" smtClean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  <a:p>
                      <a:pPr algn="ctr"/>
                      <a:r>
                        <a:rPr lang="en-US" altLang="zh-TW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100</a:t>
                      </a:r>
                      <a:r>
                        <a:rPr lang="zh-TW" altLang="en-US" sz="1200" dirty="0" smtClean="0">
                          <a:latin typeface="Noto Sans CJK TC DemiLight" panose="020B0400000000000000" pitchFamily="34" charset="-120"/>
                          <a:ea typeface="Noto Sans CJK TC DemiLight" panose="020B0400000000000000" pitchFamily="34" charset="-120"/>
                        </a:rPr>
                        <a:t>個程式碼</a:t>
                      </a:r>
                      <a:endParaRPr lang="zh-TW" altLang="en-US" sz="1600" dirty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100</a:t>
                      </a:r>
                      <a:r>
                        <a:rPr lang="en-US" altLang="zh-TW" baseline="0" dirty="0" smtClean="0"/>
                        <a:t> times K-Means</a:t>
                      </a:r>
                      <a:endParaRPr lang="zh-TW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BKS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AVG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89.9%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88.9%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94.2%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94.1%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91.6%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168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STD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4.9%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3.4%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2.7%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1681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Noto Sans CJK TC DemiLight" panose="020B0400000000000000" pitchFamily="34" charset="-120"/>
                        <a:ea typeface="Noto Sans CJK TC DemiLight" panose="020B0400000000000000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10K times</a:t>
                      </a:r>
                    </a:p>
                    <a:p>
                      <a:pPr algn="ctr"/>
                      <a:r>
                        <a:rPr lang="en-US" altLang="zh-TW" dirty="0" smtClean="0"/>
                        <a:t>K-Means</a:t>
                      </a:r>
                      <a:endParaRPr lang="zh-TW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BKS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AVG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89.6%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87.6%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94.7%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94.5%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91.6%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168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STD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4.7%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3.0%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2.3%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3.6%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468952"/>
              </p:ext>
            </p:extLst>
          </p:nvPr>
        </p:nvGraphicFramePr>
        <p:xfrm>
          <a:off x="822325" y="1846263"/>
          <a:ext cx="75438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  <a:gridCol w="15087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Problem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12602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10931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10783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10190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</a:t>
                      </a:r>
                      <a:r>
                        <a:rPr lang="en-US" altLang="zh-TW" baseline="0" dirty="0" smtClean="0"/>
                        <a:t> 1nn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92.9%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97.8%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97.7%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1nn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99.6%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94.9%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94.3%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</a:t>
                      </a:r>
                      <a:r>
                        <a:rPr lang="en-US" altLang="zh-TW" baseline="0" dirty="0" smtClean="0"/>
                        <a:t> 3nn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89.5%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3nn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95.7%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95.7%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96.0%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5nn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89.5%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5nn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95.3%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96.0%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7nn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97.4%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90.6%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97.5%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97.1%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7nn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93.8%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96.6%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9nn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97.0%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93.0%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97.3</a:t>
                      </a:r>
                      <a:r>
                        <a:rPr lang="en-US" altLang="zh-TW" dirty="0" smtClean="0"/>
                        <a:t>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94.3%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9nn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95.3%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96.0%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76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14414"/>
              </p:ext>
            </p:extLst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21746"/>
              </p:ext>
            </p:extLst>
          </p:nvPr>
        </p:nvGraphicFramePr>
        <p:xfrm>
          <a:off x="302547" y="4453942"/>
          <a:ext cx="28502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53"/>
                <a:gridCol w="120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[1,2][3,4]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29270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(0110)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0" dirty="0" smtClean="0"/>
                        <a:t> (1110)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928141" y="3302797"/>
            <a:ext cx="330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+x+1 (0011)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85909"/>
              </p:ext>
            </p:extLst>
          </p:nvPr>
        </p:nvGraphicFramePr>
        <p:xfrm>
          <a:off x="323897" y="2305388"/>
          <a:ext cx="1971628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86"/>
                <a:gridCol w="14775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2574341" y="3463352"/>
            <a:ext cx="1393066" cy="1592601"/>
          </a:xfrm>
          <a:prstGeom prst="uturnArrow">
            <a:avLst>
              <a:gd name="adj1" fmla="val 12473"/>
              <a:gd name="adj2" fmla="val 20814"/>
              <a:gd name="adj3" fmla="val 29340"/>
              <a:gd name="adj4" fmla="val 43750"/>
              <a:gd name="adj5" fmla="val 559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62878" y="319378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795730" y="3311678"/>
            <a:ext cx="2248191" cy="19080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4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303307" y="223241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971942"/>
              </p:ext>
            </p:extLst>
          </p:nvPr>
        </p:nvGraphicFramePr>
        <p:xfrm>
          <a:off x="5437154" y="482600"/>
          <a:ext cx="1515291" cy="1112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22811"/>
                <a:gridCol w="383178"/>
                <a:gridCol w="409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GF(2)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521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01418"/>
              </p:ext>
            </p:extLst>
          </p:nvPr>
        </p:nvGraphicFramePr>
        <p:xfrm>
          <a:off x="302547" y="4453942"/>
          <a:ext cx="28502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53"/>
                <a:gridCol w="120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(1111)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83279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1000"/>
                <a:gridCol w="1551000"/>
                <a:gridCol w="1551000"/>
                <a:gridCol w="1551000"/>
              </a:tblGrid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(0110)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</a:t>
                      </a:r>
                      <a:r>
                        <a:rPr lang="en-US" altLang="zh-TW" sz="1200" dirty="0" smtClean="0"/>
                        <a:t>(1111)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baseline="0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928141" y="3302797"/>
            <a:ext cx="345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</a:t>
            </a:r>
            <a:r>
              <a:rPr lang="en-US" altLang="zh-TW" sz="3600" baseline="30000" dirty="0" smtClean="0"/>
              <a:t>3</a:t>
            </a:r>
            <a:r>
              <a:rPr lang="en-US" altLang="zh-TW" sz="3600" dirty="0" smtClean="0"/>
              <a:t>+1 (1001)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05437"/>
              </p:ext>
            </p:extLst>
          </p:nvPr>
        </p:nvGraphicFramePr>
        <p:xfrm>
          <a:off x="323897" y="2305388"/>
          <a:ext cx="1971628" cy="175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86"/>
                <a:gridCol w="14775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(1111)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2574341" y="3463352"/>
            <a:ext cx="1393066" cy="1592601"/>
          </a:xfrm>
          <a:prstGeom prst="uturnArrow">
            <a:avLst>
              <a:gd name="adj1" fmla="val 12473"/>
              <a:gd name="adj2" fmla="val 20814"/>
              <a:gd name="adj3" fmla="val 29340"/>
              <a:gd name="adj4" fmla="val 43750"/>
              <a:gd name="adj5" fmla="val 559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62878" y="319378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795730" y="3311678"/>
            <a:ext cx="2248191" cy="19080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303307" y="223241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510302"/>
              </p:ext>
            </p:extLst>
          </p:nvPr>
        </p:nvGraphicFramePr>
        <p:xfrm>
          <a:off x="5437154" y="482600"/>
          <a:ext cx="1515291" cy="1112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22811"/>
                <a:gridCol w="383178"/>
                <a:gridCol w="409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GF(2)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47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Primitive Root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If X is </a:t>
                </a:r>
                <a:r>
                  <a:rPr lang="en-US" altLang="zh-TW" dirty="0"/>
                  <a:t>p</a:t>
                </a:r>
                <a:r>
                  <a:rPr lang="en-US" altLang="zh-TW" dirty="0" smtClean="0"/>
                  <a:t>rimitive root of GF(p</a:t>
                </a:r>
                <a:r>
                  <a:rPr lang="en-US" altLang="zh-TW" baseline="30000" dirty="0" smtClean="0"/>
                  <a:t>m</a:t>
                </a:r>
                <a:r>
                  <a:rPr lang="en-US" altLang="zh-TW" dirty="0" smtClean="0"/>
                  <a:t>), </a:t>
                </a:r>
                <a:r>
                  <a:rPr lang="en-US" altLang="zh-TW" dirty="0"/>
                  <a:t>that all element expect zero can be represent as product of </a:t>
                </a:r>
                <a:r>
                  <a:rPr lang="en-US" altLang="zh-TW" dirty="0" smtClean="0"/>
                  <a:t>X, </a:t>
                </a:r>
                <a:r>
                  <a:rPr lang="de-DE" altLang="zh-TW" dirty="0" smtClean="0"/>
                  <a:t>so </a:t>
                </a:r>
                <a:r>
                  <a:rPr lang="de-DE" altLang="zh-TW" dirty="0"/>
                  <a:t>GF(x) = </a:t>
                </a:r>
                <a:r>
                  <a:rPr lang="de-DE" altLang="zh-TW" dirty="0" smtClean="0"/>
                  <a:t>{0</a:t>
                </a:r>
                <a:r>
                  <a:rPr lang="de-DE" altLang="zh-TW" dirty="0"/>
                  <a:t>,</a:t>
                </a:r>
                <a:r>
                  <a:rPr lang="de-DE" altLang="zh-TW" dirty="0" smtClean="0"/>
                  <a:t> 1, X, X2</a:t>
                </a:r>
                <a:r>
                  <a:rPr lang="de-DE" altLang="zh-TW" dirty="0"/>
                  <a:t>,</a:t>
                </a:r>
                <a:r>
                  <a:rPr lang="de-DE" altLang="zh-TW" dirty="0" smtClean="0"/>
                  <a:t> X3, ... ...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de-DE" altLang="zh-TW" dirty="0" smtClean="0"/>
                  <a:t>}.</a:t>
                </a:r>
              </a:p>
              <a:p>
                <a:r>
                  <a:rPr lang="en-US" altLang="zh-TW" dirty="0" smtClean="0"/>
                  <a:t>There are </a:t>
                </a:r>
                <a:r>
                  <a:rPr lang="el-GR" altLang="zh-TW" i="1" dirty="0" smtClean="0"/>
                  <a:t>ϕ</a:t>
                </a:r>
                <a:r>
                  <a:rPr lang="en-US" altLang="zh-TW" dirty="0" smtClean="0"/>
                  <a:t>(p</a:t>
                </a:r>
                <a:r>
                  <a:rPr lang="en-US" altLang="zh-TW" baseline="30000" dirty="0" smtClean="0"/>
                  <a:t>m</a:t>
                </a:r>
                <a:r>
                  <a:rPr lang="en-US" altLang="zh-TW" dirty="0" smtClean="0"/>
                  <a:t>-1) primitive root in GF(</a:t>
                </a:r>
                <a:r>
                  <a:rPr lang="en-US" altLang="zh-TW" dirty="0"/>
                  <a:t>p</a:t>
                </a:r>
                <a:r>
                  <a:rPr lang="en-US" altLang="zh-TW" baseline="30000" dirty="0"/>
                  <a:t>m</a:t>
                </a:r>
                <a:r>
                  <a:rPr lang="en-US" altLang="zh-TW" dirty="0" smtClean="0"/>
                  <a:t>)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de-DE" altLang="zh-TW" dirty="0" smtClean="0"/>
              </a:p>
              <a:p>
                <a:r>
                  <a:rPr lang="en-US" altLang="zh-TW" dirty="0" smtClean="0"/>
                  <a:t>(x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+x+1)(</a:t>
                </a:r>
                <a:r>
                  <a:rPr lang="en-US" altLang="zh-TW" dirty="0"/>
                  <a:t>x</a:t>
                </a:r>
                <a:r>
                  <a:rPr lang="en-US" altLang="zh-TW" baseline="30000" dirty="0"/>
                  <a:t>3</a:t>
                </a:r>
                <a:r>
                  <a:rPr lang="en-US" altLang="zh-TW" dirty="0"/>
                  <a:t>+x+1</a:t>
                </a:r>
                <a:r>
                  <a:rPr lang="en-US" altLang="zh-TW" dirty="0" smtClean="0"/>
                  <a:t>) = x</a:t>
                </a:r>
                <a:r>
                  <a:rPr lang="en-US" altLang="zh-TW" baseline="30000" dirty="0" smtClean="0"/>
                  <a:t>5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+1 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≡</a:t>
                </a:r>
                <a:r>
                  <a:rPr lang="en-US" altLang="zh-TW" dirty="0" smtClean="0"/>
                  <a:t> x+1 (mod x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3</a:t>
                </a:r>
                <a:r>
                  <a:rPr lang="en-US" altLang="zh-TW" dirty="0" smtClean="0"/>
                  <a:t>+1)</a:t>
                </a:r>
              </a:p>
              <a:p>
                <a:r>
                  <a:rPr lang="en-US" altLang="zh-TW" dirty="0" smtClean="0"/>
                  <a:t>(x)</a:t>
                </a:r>
                <a:r>
                  <a:rPr lang="en-US" altLang="zh-TW" baseline="30000" dirty="0" smtClean="0"/>
                  <a:t>7</a:t>
                </a:r>
                <a:r>
                  <a:rPr lang="en-US" altLang="zh-TW" dirty="0" smtClean="0"/>
                  <a:t>(x)</a:t>
                </a:r>
                <a:r>
                  <a:rPr lang="en-US" altLang="zh-TW" baseline="30000" dirty="0" smtClean="0"/>
                  <a:t>5</a:t>
                </a:r>
                <a:r>
                  <a:rPr lang="en-US" altLang="zh-TW" dirty="0" smtClean="0"/>
                  <a:t> = (x)</a:t>
                </a:r>
                <a:r>
                  <a:rPr lang="en-US" altLang="zh-TW" baseline="30000" dirty="0" smtClean="0"/>
                  <a:t>(7+5)</a:t>
                </a:r>
                <a:r>
                  <a:rPr lang="en-US" altLang="zh-TW" dirty="0" smtClean="0"/>
                  <a:t> = (x)</a:t>
                </a:r>
                <a:r>
                  <a:rPr lang="en-US" altLang="zh-TW" baseline="30000" dirty="0" smtClean="0"/>
                  <a:t>12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≡ x+1 (mod </a:t>
                </a:r>
                <a:r>
                  <a:rPr lang="en-US" altLang="zh-TW" dirty="0"/>
                  <a:t>x</a:t>
                </a:r>
                <a:r>
                  <a:rPr lang="en-US" altLang="zh-TW" baseline="30000" dirty="0"/>
                  <a:t>4</a:t>
                </a:r>
                <a:r>
                  <a:rPr lang="en-US" altLang="zh-TW" dirty="0"/>
                  <a:t>+x</a:t>
                </a:r>
                <a:r>
                  <a:rPr lang="en-US" altLang="zh-TW" baseline="30000" dirty="0"/>
                  <a:t>3</a:t>
                </a:r>
                <a:r>
                  <a:rPr lang="en-US" altLang="zh-TW" dirty="0"/>
                  <a:t>+1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endParaRPr lang="de-DE" altLang="zh-TW" dirty="0" smtClean="0"/>
              </a:p>
              <a:p>
                <a:endParaRPr lang="de-DE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808" t="-2273"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64813"/>
              </p:ext>
            </p:extLst>
          </p:nvPr>
        </p:nvGraphicFramePr>
        <p:xfrm>
          <a:off x="889634" y="2927139"/>
          <a:ext cx="5225416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3177"/>
                <a:gridCol w="653177"/>
                <a:gridCol w="653177"/>
                <a:gridCol w="653177"/>
                <a:gridCol w="653177"/>
                <a:gridCol w="653177"/>
                <a:gridCol w="653177"/>
                <a:gridCol w="65317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22959" y="4407697"/>
            <a:ext cx="345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</a:t>
            </a:r>
            <a:r>
              <a:rPr lang="en-US" altLang="zh-TW" sz="3600" baseline="30000" dirty="0" smtClean="0"/>
              <a:t>3</a:t>
            </a:r>
            <a:r>
              <a:rPr lang="en-US" altLang="zh-TW" sz="3600" dirty="0" smtClean="0"/>
              <a:t>+1 (1001)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7401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This proposal provide three type algorithm for common combination interval problem.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33517"/>
              </p:ext>
            </p:extLst>
          </p:nvPr>
        </p:nvGraphicFramePr>
        <p:xfrm>
          <a:off x="914401" y="2625725"/>
          <a:ext cx="7452359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2235707"/>
                <a:gridCol w="1863090"/>
                <a:gridCol w="18630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Time Complexity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Pros.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Cons.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Easy</a:t>
                      </a:r>
                      <a:r>
                        <a:rPr lang="en-US" altLang="zh-TW" baseline="0" dirty="0" smtClean="0"/>
                        <a:t> for implement.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Time complexity is high.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The lowest Time complexity.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The</a:t>
                      </a:r>
                      <a:r>
                        <a:rPr lang="en-US" altLang="zh-TW" baseline="0" dirty="0" smtClean="0"/>
                        <a:t> cost of compare key may be high.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((1+p)|</a:t>
                      </a:r>
                      <a:r>
                        <a:rPr lang="en-US" altLang="zh-TW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∑</a:t>
                      </a:r>
                      <a:r>
                        <a:rPr lang="en-US" altLang="zh-TW" dirty="0" smtClean="0"/>
                        <a:t>|))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(|</a:t>
                      </a:r>
                      <a:r>
                        <a:rPr lang="en-US" altLang="zh-TW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∑</a:t>
                      </a:r>
                      <a:r>
                        <a:rPr lang="en-US" altLang="zh-TW" dirty="0" smtClean="0"/>
                        <a:t>|))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Random</a:t>
                      </a:r>
                      <a:r>
                        <a:rPr lang="en-US" altLang="zh-TW" baseline="0" dirty="0" smtClean="0"/>
                        <a:t> execute time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14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進一步修正組合語言，</a:t>
            </a:r>
            <a:r>
              <a:rPr lang="zh-TW" altLang="en-US" sz="28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將雜訊去除或是強調某些特徵值。</a:t>
            </a:r>
            <a:endParaRPr lang="en-US" altLang="zh-TW" sz="2800" dirty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雜訊：編譯器資訊、</a:t>
            </a:r>
            <a:r>
              <a:rPr lang="en-US" altLang="zh-TW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main</a:t>
            </a:r>
            <a:r>
              <a:rPr lang="zh-TW" altLang="en-US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的</a:t>
            </a:r>
            <a:r>
              <a:rPr lang="en-US" altLang="zh-TW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function name</a:t>
            </a:r>
          </a:p>
          <a:p>
            <a:pPr lvl="1"/>
            <a:r>
              <a:rPr lang="zh-TW" altLang="en-US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特徵：變數名稱、輸出入格式</a:t>
            </a:r>
            <a:endParaRPr lang="en-US" altLang="zh-TW" sz="26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2"/>
            <a:r>
              <a:rPr lang="en-US" altLang="zh-TW" sz="2200" dirty="0" err="1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printf</a:t>
            </a:r>
            <a:r>
              <a:rPr lang="en-US" altLang="zh-TW" sz="2200" dirty="0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(</a:t>
            </a:r>
            <a:r>
              <a:rPr lang="en-US" altLang="zh-TW" sz="2200" dirty="0" smtClean="0">
                <a:solidFill>
                  <a:srgbClr val="FF0000"/>
                </a:solidFill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“%d %d\</a:t>
            </a:r>
            <a:r>
              <a:rPr lang="en-US" altLang="zh-TW" sz="2200" dirty="0" err="1" smtClean="0">
                <a:solidFill>
                  <a:srgbClr val="FF0000"/>
                </a:solidFill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n”</a:t>
            </a:r>
            <a:r>
              <a:rPr lang="en-US" altLang="zh-TW" sz="2200" dirty="0" err="1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,n</a:t>
            </a:r>
            <a:r>
              <a:rPr lang="en-US" altLang="zh-TW" sz="2200" dirty="0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);</a:t>
            </a:r>
          </a:p>
          <a:p>
            <a:pPr lvl="2"/>
            <a:r>
              <a:rPr lang="en-US" altLang="zh-TW" sz="2200" dirty="0" err="1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printf</a:t>
            </a:r>
            <a:r>
              <a:rPr lang="en-US" altLang="zh-TW" sz="2200" dirty="0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(</a:t>
            </a:r>
            <a:r>
              <a:rPr lang="en-US" altLang="zh-TW" sz="2200" dirty="0" smtClean="0">
                <a:solidFill>
                  <a:srgbClr val="FF0000"/>
                </a:solidFill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“It’s apple.”</a:t>
            </a:r>
            <a:r>
              <a:rPr lang="en-US" altLang="zh-TW" sz="2200" dirty="0" smtClean="0">
                <a:latin typeface="Source Code Pro Light" panose="020B0409030403020204" pitchFamily="49" charset="0"/>
                <a:ea typeface="Noto Sans CJK TC DemiLight" panose="020B0400000000000000" pitchFamily="34" charset="-120"/>
              </a:rPr>
              <a:t>);</a:t>
            </a:r>
          </a:p>
          <a:p>
            <a:r>
              <a:rPr lang="zh-TW" altLang="en-US" sz="28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調整</a:t>
            </a:r>
            <a:r>
              <a:rPr lang="en-US" altLang="zh-TW" sz="28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Common Combination Interval</a:t>
            </a:r>
            <a:r>
              <a:rPr lang="zh-TW" altLang="en-US" sz="28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的參數</a:t>
            </a:r>
            <a:endParaRPr lang="en-US" altLang="zh-TW" sz="28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調整記入的門檻值</a:t>
            </a:r>
            <a:endParaRPr lang="en-US" altLang="zh-TW" sz="26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marL="201168" lvl="1" indent="0">
              <a:buNone/>
            </a:pPr>
            <a:r>
              <a:rPr lang="zh-TW" altLang="en-US" sz="26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確認不同題組之間題目特性</a:t>
            </a:r>
            <a:endParaRPr lang="en-US" altLang="zh-TW" sz="26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4163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047110" y="2321005"/>
            <a:ext cx="504978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Q &amp; A</a:t>
            </a:r>
            <a:endParaRPr lang="zh-TW" altLang="en-US" sz="13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3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謠言澄清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未來方向</a:t>
            </a:r>
            <a:r>
              <a:rPr lang="en-US" altLang="zh-TW" sz="24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  <a:sym typeface="Wingdings" panose="05000000000000000000" pitchFamily="2" charset="2"/>
              </a:rPr>
              <a:t></a:t>
            </a:r>
            <a:r>
              <a:rPr lang="zh-TW" altLang="en-US" sz="24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抓作弊？</a:t>
            </a:r>
            <a:endParaRPr lang="en-US" altLang="zh-TW" sz="24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不實謠言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會發現只是因為編成組語的時候發現檔案一模一樣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這個階段還沒用到</a:t>
            </a:r>
            <a:r>
              <a:rPr lang="en-US" altLang="zh-TW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CI</a:t>
            </a:r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或是</a:t>
            </a:r>
            <a:r>
              <a:rPr lang="en-US" altLang="zh-TW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LCS</a:t>
            </a:r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之類的演算法，只是在步驟零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r>
              <a:rPr lang="zh-TW" altLang="en-US" sz="24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還原現場：</a:t>
            </a:r>
            <a:endParaRPr lang="en-US" altLang="zh-TW" sz="24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「另外，還發現了有些資料同樣作者但是不同程式碼」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「然後還有一些資料同樣程式碼但是不同作者」</a:t>
            </a:r>
            <a:endParaRPr lang="en-US" altLang="zh-TW" sz="2000" dirty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r>
              <a:rPr lang="zh-TW" altLang="en-US" sz="24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要抓作弊什麼的，和抓假油一樣難</a:t>
            </a:r>
            <a:endParaRPr lang="en-US" altLang="zh-TW" sz="24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誰知道他到底用什麼創意加了什麼東西。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  <a:p>
            <a:pPr lvl="1"/>
            <a:r>
              <a:rPr lang="zh-TW" altLang="en-US" sz="2000" dirty="0" smtClean="0">
                <a:latin typeface="Noto Sans CJK TC DemiLight" panose="020B0400000000000000" pitchFamily="34" charset="-120"/>
                <a:ea typeface="Noto Sans CJK TC DemiLight" panose="020B0400000000000000" pitchFamily="34" charset="-120"/>
              </a:rPr>
              <a:t>頂多是東西煮到一半出現奇怪的味道才會開始懷疑有問題。</a:t>
            </a:r>
            <a:endParaRPr lang="en-US" altLang="zh-TW" sz="2000" dirty="0" smtClean="0">
              <a:latin typeface="Noto Sans CJK TC DemiLight" panose="020B0400000000000000" pitchFamily="34" charset="-120"/>
              <a:ea typeface="Noto Sans CJK TC DemiLight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195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33242</TotalTime>
  <Words>4761</Words>
  <Application>Microsoft Office PowerPoint</Application>
  <PresentationFormat>如螢幕大小 (4:3)</PresentationFormat>
  <Paragraphs>1301</Paragraphs>
  <Slides>35</Slides>
  <Notes>5</Notes>
  <HiddenSlides>5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8" baseType="lpstr">
      <vt:lpstr>Wingdings</vt:lpstr>
      <vt:lpstr>Consolas</vt:lpstr>
      <vt:lpstr>Source Code Pro Light</vt:lpstr>
      <vt:lpstr>Noto Sans CJK TC DemiLight</vt:lpstr>
      <vt:lpstr>新細明體</vt:lpstr>
      <vt:lpstr>Arial</vt:lpstr>
      <vt:lpstr>Cambria Math</vt:lpstr>
      <vt:lpstr>Calibri</vt:lpstr>
      <vt:lpstr>Source Code Pro</vt:lpstr>
      <vt:lpstr>Bauhaus 93</vt:lpstr>
      <vt:lpstr>Calibri Light</vt:lpstr>
      <vt:lpstr>Times New Roman</vt:lpstr>
      <vt:lpstr>回顧</vt:lpstr>
      <vt:lpstr>Efficient  Algorithm for Common Combination Interval Problem</vt:lpstr>
      <vt:lpstr>Outline</vt:lpstr>
      <vt:lpstr>Common Interval of Two Permutations</vt:lpstr>
      <vt:lpstr>Common Interval of K Permutations</vt:lpstr>
      <vt:lpstr>Common Interval of Two Sequences</vt:lpstr>
      <vt:lpstr>Common Interval of K Sequences</vt:lpstr>
      <vt:lpstr>Common Combination Interval</vt:lpstr>
      <vt:lpstr>Common Interval</vt:lpstr>
      <vt:lpstr>Movement</vt:lpstr>
      <vt:lpstr>Method I</vt:lpstr>
      <vt:lpstr>Method II</vt:lpstr>
      <vt:lpstr>Method III</vt:lpstr>
      <vt:lpstr>Method III</vt:lpstr>
      <vt:lpstr>Method IV</vt:lpstr>
      <vt:lpstr>Method IV</vt:lpstr>
      <vt:lpstr>實驗流程</vt:lpstr>
      <vt:lpstr>實驗流程</vt:lpstr>
      <vt:lpstr>實驗流程</vt:lpstr>
      <vt:lpstr>實驗流程</vt:lpstr>
      <vt:lpstr>實驗流程</vt:lpstr>
      <vt:lpstr>實驗流程</vt:lpstr>
      <vt:lpstr>實驗流程</vt:lpstr>
      <vt:lpstr>實驗流程</vt:lpstr>
      <vt:lpstr>實驗流程</vt:lpstr>
      <vt:lpstr>實驗流程</vt:lpstr>
      <vt:lpstr>實驗流程</vt:lpstr>
      <vt:lpstr>目前結果</vt:lpstr>
      <vt:lpstr>Result</vt:lpstr>
      <vt:lpstr>Method III</vt:lpstr>
      <vt:lpstr>Method III</vt:lpstr>
      <vt:lpstr>Primitive Root</vt:lpstr>
      <vt:lpstr>Conclusions</vt:lpstr>
      <vt:lpstr>Future Work</vt:lpstr>
      <vt:lpstr>PowerPoint 簡報</vt:lpstr>
      <vt:lpstr>謠言澄清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 Common Interval in Two Sequences</dc:title>
  <dc:creator>Pichu</dc:creator>
  <cp:lastModifiedBy>Pichu</cp:lastModifiedBy>
  <cp:revision>92</cp:revision>
  <cp:lastPrinted>2014-04-15T09:17:13Z</cp:lastPrinted>
  <dcterms:created xsi:type="dcterms:W3CDTF">2014-04-13T13:27:15Z</dcterms:created>
  <dcterms:modified xsi:type="dcterms:W3CDTF">2014-10-21T12:22:28Z</dcterms:modified>
</cp:coreProperties>
</file>