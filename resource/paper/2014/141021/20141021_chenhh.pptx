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Default Extension="gif" ContentType="image/gif"/>
  <Override PartName="/ppt/comments/comment1.xml" ContentType="application/vnd.openxmlformats-officedocument.presentationml.comment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1"/>
  </p:notesMasterIdLst>
  <p:sldIdLst>
    <p:sldId id="256" r:id="rId2"/>
    <p:sldId id="257" r:id="rId3"/>
    <p:sldId id="294" r:id="rId4"/>
    <p:sldId id="297" r:id="rId5"/>
    <p:sldId id="275" r:id="rId6"/>
    <p:sldId id="262" r:id="rId7"/>
    <p:sldId id="271" r:id="rId8"/>
    <p:sldId id="272" r:id="rId9"/>
    <p:sldId id="264" r:id="rId10"/>
    <p:sldId id="265" r:id="rId11"/>
    <p:sldId id="266" r:id="rId12"/>
    <p:sldId id="267" r:id="rId13"/>
    <p:sldId id="268" r:id="rId14"/>
    <p:sldId id="269" r:id="rId15"/>
    <p:sldId id="270" r:id="rId16"/>
    <p:sldId id="273" r:id="rId17"/>
    <p:sldId id="278" r:id="rId18"/>
    <p:sldId id="279" r:id="rId19"/>
    <p:sldId id="280" r:id="rId20"/>
    <p:sldId id="274" r:id="rId21"/>
    <p:sldId id="276" r:id="rId22"/>
    <p:sldId id="277" r:id="rId23"/>
    <p:sldId id="283" r:id="rId24"/>
    <p:sldId id="298" r:id="rId25"/>
    <p:sldId id="299" r:id="rId26"/>
    <p:sldId id="284" r:id="rId27"/>
    <p:sldId id="296" r:id="rId28"/>
    <p:sldId id="286" r:id="rId29"/>
    <p:sldId id="300" r:id="rId30"/>
    <p:sldId id="301" r:id="rId31"/>
    <p:sldId id="302" r:id="rId32"/>
    <p:sldId id="303" r:id="rId33"/>
    <p:sldId id="306" r:id="rId34"/>
    <p:sldId id="287" r:id="rId35"/>
    <p:sldId id="291" r:id="rId36"/>
    <p:sldId id="304" r:id="rId37"/>
    <p:sldId id="305" r:id="rId38"/>
    <p:sldId id="307" r:id="rId39"/>
    <p:sldId id="293" r:id="rId4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陳紘昕" initials="陳紘昕" lastIdx="2"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D0FE"/>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3" d="100"/>
          <a:sy n="63" d="100"/>
        </p:scale>
        <p:origin x="-126" y="-20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4-10-14T21:41:24.520" idx="1">
    <p:pos x="4023" y="2499"/>
    <p:text>2013 IF: 3.198</p:text>
    <p:extLst>
      <p:ext uri="{C676402C-5697-4E1C-873F-D02D1690AC5C}">
        <p15:threadingInfo xmlns:p15="http://schemas.microsoft.com/office/powerpoint/2012/main" xmlns="" timeZoneBias="-480"/>
      </p:ext>
    </p:extLst>
  </p:cm>
  <p:cm authorId="1" dt="2014-10-14T21:41:51.844" idx="2">
    <p:pos x="10" y="10"/>
    <p:text>NGINEERING, ELECTRICAL &amp; ELECTRONIC,	23/247, Q1</p:text>
    <p:extLst>
      <p:ext uri="{C676402C-5697-4E1C-873F-D02D1690AC5C}">
        <p15:threadingInfo xmlns:p15="http://schemas.microsoft.com/office/powerpoint/2012/main" xmlns=""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54ACB7-2CB2-49CF-B67E-FB9B87B049EB}" type="datetimeFigureOut">
              <a:rPr lang="zh-TW" altLang="en-US" smtClean="0"/>
              <a:pPr/>
              <a:t>2014/10/21</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B2D4A8-2285-4D8D-B5C7-F8706CD22FFA}" type="slidenum">
              <a:rPr lang="zh-TW" altLang="en-US" smtClean="0"/>
              <a:pPr/>
              <a:t>‹#›</a:t>
            </a:fld>
            <a:endParaRPr lang="zh-TW" altLang="en-US"/>
          </a:p>
        </p:txBody>
      </p:sp>
    </p:spTree>
    <p:extLst>
      <p:ext uri="{BB962C8B-B14F-4D97-AF65-F5344CB8AC3E}">
        <p14:creationId xmlns:p14="http://schemas.microsoft.com/office/powerpoint/2010/main" xmlns="" val="1466596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64B2D4A8-2285-4D8D-B5C7-F8706CD22FFA}" type="slidenum">
              <a:rPr lang="zh-TW" altLang="en-US" smtClean="0"/>
              <a:pPr/>
              <a:t>1</a:t>
            </a:fld>
            <a:endParaRPr lang="zh-TW" altLang="en-US"/>
          </a:p>
        </p:txBody>
      </p:sp>
    </p:spTree>
    <p:extLst>
      <p:ext uri="{BB962C8B-B14F-4D97-AF65-F5344CB8AC3E}">
        <p14:creationId xmlns:p14="http://schemas.microsoft.com/office/powerpoint/2010/main" xmlns="" val="39624446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91E323E3-0C10-4C09-9F01-A44B34BCFFA3}" type="datetime1">
              <a:rPr lang="zh-TW" altLang="en-US" smtClean="0"/>
              <a:pPr/>
              <a:t>2014/10/21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325430-07F2-45E8-A5C9-B73C13C9C571}" type="slidenum">
              <a:rPr lang="zh-TW" altLang="en-US" smtClean="0"/>
              <a:pPr/>
              <a:t>‹#›</a:t>
            </a:fld>
            <a:endParaRPr lang="zh-TW" altLang="en-US"/>
          </a:p>
        </p:txBody>
      </p:sp>
    </p:spTree>
    <p:extLst>
      <p:ext uri="{BB962C8B-B14F-4D97-AF65-F5344CB8AC3E}">
        <p14:creationId xmlns:p14="http://schemas.microsoft.com/office/powerpoint/2010/main" xmlns="" val="984425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65AEDE8-61E8-465A-852C-44D61C93322C}" type="datetime1">
              <a:rPr lang="zh-TW" altLang="en-US" smtClean="0"/>
              <a:pPr/>
              <a:t>2014/10/21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325430-07F2-45E8-A5C9-B73C13C9C571}" type="slidenum">
              <a:rPr lang="zh-TW" altLang="en-US" smtClean="0"/>
              <a:pPr/>
              <a:t>‹#›</a:t>
            </a:fld>
            <a:endParaRPr lang="zh-TW" altLang="en-US"/>
          </a:p>
        </p:txBody>
      </p:sp>
    </p:spTree>
    <p:extLst>
      <p:ext uri="{BB962C8B-B14F-4D97-AF65-F5344CB8AC3E}">
        <p14:creationId xmlns:p14="http://schemas.microsoft.com/office/powerpoint/2010/main" xmlns="" val="1903762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2B625ADA-43E4-41DC-A9AC-991D73005956}" type="datetime1">
              <a:rPr lang="zh-TW" altLang="en-US" smtClean="0"/>
              <a:pPr/>
              <a:t>2014/10/21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325430-07F2-45E8-A5C9-B73C13C9C571}" type="slidenum">
              <a:rPr lang="zh-TW" altLang="en-US" smtClean="0"/>
              <a:pPr/>
              <a:t>‹#›</a:t>
            </a:fld>
            <a:endParaRPr lang="zh-TW" altLang="en-US"/>
          </a:p>
        </p:txBody>
      </p:sp>
    </p:spTree>
    <p:extLst>
      <p:ext uri="{BB962C8B-B14F-4D97-AF65-F5344CB8AC3E}">
        <p14:creationId xmlns:p14="http://schemas.microsoft.com/office/powerpoint/2010/main" xmlns="" val="2872838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33111F56-846A-424C-86E4-AB061C710506}" type="datetime1">
              <a:rPr lang="zh-TW" altLang="en-US" smtClean="0"/>
              <a:pPr/>
              <a:t>2014/10/21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0325430-07F2-45E8-A5C9-B73C13C9C571}" type="slidenum">
              <a:rPr lang="zh-TW" altLang="en-US" smtClean="0"/>
              <a:pPr/>
              <a:t>‹#›</a:t>
            </a:fld>
            <a:endParaRPr lang="zh-TW" altLang="en-US"/>
          </a:p>
        </p:txBody>
      </p:sp>
    </p:spTree>
    <p:extLst>
      <p:ext uri="{BB962C8B-B14F-4D97-AF65-F5344CB8AC3E}">
        <p14:creationId xmlns:p14="http://schemas.microsoft.com/office/powerpoint/2010/main" xmlns="" val="3136131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C08D1E62-89C6-4325-8782-C10292BF444C}" type="datetime1">
              <a:rPr lang="zh-TW" altLang="en-US" smtClean="0"/>
              <a:pPr/>
              <a:t>2014/10/21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0325430-07F2-45E8-A5C9-B73C13C9C571}" type="slidenum">
              <a:rPr lang="zh-TW" altLang="en-US" smtClean="0"/>
              <a:pPr/>
              <a:t>‹#›</a:t>
            </a:fld>
            <a:endParaRPr lang="zh-TW" altLang="en-US"/>
          </a:p>
        </p:txBody>
      </p:sp>
    </p:spTree>
    <p:extLst>
      <p:ext uri="{BB962C8B-B14F-4D97-AF65-F5344CB8AC3E}">
        <p14:creationId xmlns:p14="http://schemas.microsoft.com/office/powerpoint/2010/main" xmlns="" val="2895945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AB1916C8-6507-4DEA-A060-98F41821FF67}" type="datetime1">
              <a:rPr lang="zh-TW" altLang="en-US" smtClean="0"/>
              <a:pPr/>
              <a:t>2014/10/21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0325430-07F2-45E8-A5C9-B73C13C9C571}" type="slidenum">
              <a:rPr lang="zh-TW" altLang="en-US" smtClean="0"/>
              <a:pPr/>
              <a:t>‹#›</a:t>
            </a:fld>
            <a:endParaRPr lang="zh-TW" altLang="en-US"/>
          </a:p>
        </p:txBody>
      </p:sp>
    </p:spTree>
    <p:extLst>
      <p:ext uri="{BB962C8B-B14F-4D97-AF65-F5344CB8AC3E}">
        <p14:creationId xmlns:p14="http://schemas.microsoft.com/office/powerpoint/2010/main" xmlns="" val="2096990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AA5E0CA1-9638-48B0-9771-CB3435495F69}" type="datetime1">
              <a:rPr lang="zh-TW" altLang="en-US" smtClean="0"/>
              <a:pPr/>
              <a:t>2014/10/21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0325430-07F2-45E8-A5C9-B73C13C9C571}" type="slidenum">
              <a:rPr lang="zh-TW" altLang="en-US" smtClean="0"/>
              <a:pPr/>
              <a:t>‹#›</a:t>
            </a:fld>
            <a:endParaRPr lang="zh-TW" altLang="en-US"/>
          </a:p>
        </p:txBody>
      </p:sp>
    </p:spTree>
    <p:extLst>
      <p:ext uri="{BB962C8B-B14F-4D97-AF65-F5344CB8AC3E}">
        <p14:creationId xmlns:p14="http://schemas.microsoft.com/office/powerpoint/2010/main" xmlns="" val="2424204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E4AD56E1-BF4B-499C-9999-6FCBD40C7940}" type="datetime1">
              <a:rPr lang="zh-TW" altLang="en-US" smtClean="0"/>
              <a:pPr/>
              <a:t>2014/10/21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0325430-07F2-45E8-A5C9-B73C13C9C571}" type="slidenum">
              <a:rPr lang="zh-TW" altLang="en-US" smtClean="0"/>
              <a:pPr/>
              <a:t>‹#›</a:t>
            </a:fld>
            <a:endParaRPr lang="zh-TW" altLang="en-US"/>
          </a:p>
        </p:txBody>
      </p:sp>
    </p:spTree>
    <p:extLst>
      <p:ext uri="{BB962C8B-B14F-4D97-AF65-F5344CB8AC3E}">
        <p14:creationId xmlns:p14="http://schemas.microsoft.com/office/powerpoint/2010/main" xmlns="" val="808625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C8C5165-5227-4B38-A7FB-70D118CB1DB8}" type="datetime1">
              <a:rPr lang="zh-TW" altLang="en-US" smtClean="0"/>
              <a:pPr/>
              <a:t>2014/10/21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0325430-07F2-45E8-A5C9-B73C13C9C571}" type="slidenum">
              <a:rPr lang="zh-TW" altLang="en-US" smtClean="0"/>
              <a:pPr/>
              <a:t>‹#›</a:t>
            </a:fld>
            <a:endParaRPr lang="zh-TW" altLang="en-US"/>
          </a:p>
        </p:txBody>
      </p:sp>
    </p:spTree>
    <p:extLst>
      <p:ext uri="{BB962C8B-B14F-4D97-AF65-F5344CB8AC3E}">
        <p14:creationId xmlns:p14="http://schemas.microsoft.com/office/powerpoint/2010/main" xmlns="" val="1067040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AF7B6195-FF3D-4BCF-8977-7B78A8B7B284}" type="datetime1">
              <a:rPr lang="zh-TW" altLang="en-US" smtClean="0"/>
              <a:pPr/>
              <a:t>2014/10/21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325430-07F2-45E8-A5C9-B73C13C9C571}" type="slidenum">
              <a:rPr lang="zh-TW" altLang="en-US" smtClean="0"/>
              <a:pPr/>
              <a:t>‹#›</a:t>
            </a:fld>
            <a:endParaRPr lang="zh-TW" altLang="en-US"/>
          </a:p>
        </p:txBody>
      </p:sp>
    </p:spTree>
    <p:extLst>
      <p:ext uri="{BB962C8B-B14F-4D97-AF65-F5344CB8AC3E}">
        <p14:creationId xmlns:p14="http://schemas.microsoft.com/office/powerpoint/2010/main" xmlns="" val="1704913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0B7B5477-267D-42F8-91B4-22C6455EF33B}" type="datetime1">
              <a:rPr lang="zh-TW" altLang="en-US" smtClean="0"/>
              <a:pPr/>
              <a:t>2014/10/21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325430-07F2-45E8-A5C9-B73C13C9C571}" type="slidenum">
              <a:rPr lang="zh-TW" altLang="en-US" smtClean="0"/>
              <a:pPr/>
              <a:t>‹#›</a:t>
            </a:fld>
            <a:endParaRPr lang="zh-TW" altLang="en-US"/>
          </a:p>
        </p:txBody>
      </p:sp>
    </p:spTree>
    <p:extLst>
      <p:ext uri="{BB962C8B-B14F-4D97-AF65-F5344CB8AC3E}">
        <p14:creationId xmlns:p14="http://schemas.microsoft.com/office/powerpoint/2010/main" xmlns="" val="3970291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17F5A2-B47A-4A3F-B611-B1A7B5E0DE02}" type="datetime1">
              <a:rPr lang="zh-TW" altLang="en-US" smtClean="0"/>
              <a:pPr/>
              <a:t>2014/10/21</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325430-07F2-45E8-A5C9-B73C13C9C571}" type="slidenum">
              <a:rPr lang="zh-TW" altLang="en-US" smtClean="0"/>
              <a:pPr/>
              <a:t>‹#›</a:t>
            </a:fld>
            <a:endParaRPr lang="zh-TW" altLang="en-US"/>
          </a:p>
        </p:txBody>
      </p:sp>
    </p:spTree>
    <p:extLst>
      <p:ext uri="{BB962C8B-B14F-4D97-AF65-F5344CB8AC3E}">
        <p14:creationId xmlns:p14="http://schemas.microsoft.com/office/powerpoint/2010/main" xmlns="" val="1514209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holar.google.com.tw/scholar?q=A+Tutorial+on+Particle+Filters+for+Online+Nonlinear/Non-Gaussian+Bayesian+Tracking&amp;hl=zh-TW&amp;as_sdt=0&amp;as_vis=1&amp;lookup=0&amp;oi=scholart&amp;sa=X&amp;ei=ZiU9VPiTH8Lf8AXjgoHQDQ&amp;ved=0CBsQgQMwAA"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comments" Target="../comments/comment1.xml"/><Relationship Id="rId4"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www.youtube.com/watch?v=O1FZyWz_yj4" TargetMode="Externa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 Id="rId4" Type="http://schemas.openxmlformats.org/officeDocument/2006/relationships/hyperlink" Target="https://pykalman.github.io/"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6.xml"/><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emf"/><Relationship Id="rId1" Type="http://schemas.openxmlformats.org/officeDocument/2006/relationships/slideLayout" Target="../slideLayouts/slideLayout2.xml"/><Relationship Id="rId5" Type="http://schemas.openxmlformats.org/officeDocument/2006/relationships/image" Target="../media/image57.emf"/><Relationship Id="rId4" Type="http://schemas.openxmlformats.org/officeDocument/2006/relationships/image" Target="../media/image56.png"/></Relationships>
</file>

<file path=ppt/slides/_rels/slide33.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png"/><Relationship Id="rId1" Type="http://schemas.openxmlformats.org/officeDocument/2006/relationships/slideLayout" Target="../slideLayouts/slideLayout7.xml"/><Relationship Id="rId5" Type="http://schemas.openxmlformats.org/officeDocument/2006/relationships/image" Target="../media/image60.png"/><Relationship Id="rId4" Type="http://schemas.openxmlformats.org/officeDocument/2006/relationships/image" Target="../media/image56.png"/></Relationships>
</file>

<file path=ppt/slides/_rels/slide34.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3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6.xml"/><Relationship Id="rId4" Type="http://schemas.openxmlformats.org/officeDocument/2006/relationships/image" Target="../media/image66.png"/></Relationships>
</file>

<file path=ppt/slides/_rels/slide3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3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837360"/>
            <a:ext cx="9144000" cy="2387600"/>
          </a:xfrm>
        </p:spPr>
        <p:txBody>
          <a:bodyPr>
            <a:normAutofit fontScale="90000"/>
          </a:bodyPr>
          <a:lstStyle/>
          <a:p>
            <a:r>
              <a:rPr lang="en-US" altLang="zh-TW" dirty="0" smtClean="0"/>
              <a:t>A Tutorial on Particle Filters for Online Nonlinear/Non-Gaussian Bayesian Tracking</a:t>
            </a:r>
            <a:endParaRPr lang="zh-TW" altLang="en-US" dirty="0"/>
          </a:p>
        </p:txBody>
      </p:sp>
      <p:sp>
        <p:nvSpPr>
          <p:cNvPr id="3" name="副標題 2"/>
          <p:cNvSpPr>
            <a:spLocks noGrp="1"/>
          </p:cNvSpPr>
          <p:nvPr>
            <p:ph type="subTitle" idx="1"/>
          </p:nvPr>
        </p:nvSpPr>
        <p:spPr/>
        <p:txBody>
          <a:bodyPr/>
          <a:lstStyle/>
          <a:p>
            <a:r>
              <a:rPr lang="en-US" altLang="zh-TW" dirty="0" smtClean="0"/>
              <a:t>M. Sanjeev </a:t>
            </a:r>
            <a:r>
              <a:rPr lang="en-US" altLang="zh-TW" dirty="0" err="1" smtClean="0"/>
              <a:t>Arulampalam</a:t>
            </a:r>
            <a:r>
              <a:rPr lang="en-US" altLang="zh-TW" dirty="0" smtClean="0"/>
              <a:t>, Simon </a:t>
            </a:r>
            <a:r>
              <a:rPr lang="en-US" altLang="zh-TW" dirty="0" err="1" smtClean="0"/>
              <a:t>Maskell</a:t>
            </a:r>
            <a:r>
              <a:rPr lang="en-US" altLang="zh-TW" dirty="0" smtClean="0"/>
              <a:t>, Neil Gordon, and Tim Clapp</a:t>
            </a:r>
          </a:p>
          <a:p>
            <a:r>
              <a:rPr lang="en-US" altLang="zh-TW" dirty="0" smtClean="0"/>
              <a:t>IEEE Transactions on Signal Processing, Vol. 50, No. 2, pp.174-188, 2002</a:t>
            </a:r>
            <a:endParaRPr lang="zh-TW" altLang="en-US" dirty="0"/>
          </a:p>
        </p:txBody>
      </p:sp>
      <p:sp>
        <p:nvSpPr>
          <p:cNvPr id="4" name="文字方塊 3"/>
          <p:cNvSpPr txBox="1"/>
          <p:nvPr/>
        </p:nvSpPr>
        <p:spPr>
          <a:xfrm>
            <a:off x="6237028" y="5257800"/>
            <a:ext cx="5022376" cy="830997"/>
          </a:xfrm>
          <a:prstGeom prst="rect">
            <a:avLst/>
          </a:prstGeom>
          <a:noFill/>
        </p:spPr>
        <p:txBody>
          <a:bodyPr wrap="square" rtlCol="0">
            <a:spAutoFit/>
          </a:bodyPr>
          <a:lstStyle/>
          <a:p>
            <a:r>
              <a:rPr lang="en-US" altLang="zh-TW" sz="2400" dirty="0" smtClean="0"/>
              <a:t>Date: Oct. 21, 2014</a:t>
            </a:r>
          </a:p>
          <a:p>
            <a:r>
              <a:rPr lang="en-US" altLang="zh-TW" sz="2400" dirty="0" smtClean="0"/>
              <a:t>Presenter: Hung-</a:t>
            </a:r>
            <a:r>
              <a:rPr lang="en-US" altLang="zh-TW" sz="2400" dirty="0" err="1" smtClean="0"/>
              <a:t>Hsin</a:t>
            </a:r>
            <a:r>
              <a:rPr lang="en-US" altLang="zh-TW" sz="2400" dirty="0" smtClean="0"/>
              <a:t> Chen (</a:t>
            </a:r>
            <a:r>
              <a:rPr lang="zh-TW" altLang="en-US" sz="2400" dirty="0" smtClean="0"/>
              <a:t>陳紘昕</a:t>
            </a:r>
            <a:r>
              <a:rPr lang="en-US" altLang="zh-TW" sz="2400" dirty="0" smtClean="0"/>
              <a:t>)</a:t>
            </a:r>
          </a:p>
        </p:txBody>
      </p:sp>
      <p:pic>
        <p:nvPicPr>
          <p:cNvPr id="6" name="圖片 5">
            <a:hlinkClick r:id="rId3"/>
          </p:cNvPr>
          <p:cNvPicPr>
            <a:picLocks noChangeAspect="1"/>
          </p:cNvPicPr>
          <p:nvPr/>
        </p:nvPicPr>
        <p:blipFill>
          <a:blip r:embed="rId4">
            <a:extLst>
              <a:ext uri="{28A0092B-C50C-407E-A947-70E740481C1C}">
                <a14:useLocalDpi xmlns:a14="http://schemas.microsoft.com/office/drawing/2010/main" xmlns=""/>
              </a:ext>
            </a:extLst>
          </a:blip>
          <a:stretch>
            <a:fillRect/>
          </a:stretch>
        </p:blipFill>
        <p:spPr>
          <a:xfrm>
            <a:off x="777921" y="4697745"/>
            <a:ext cx="3165427" cy="1874266"/>
          </a:xfrm>
          <a:prstGeom prst="rect">
            <a:avLst/>
          </a:prstGeom>
        </p:spPr>
      </p:pic>
    </p:spTree>
    <p:extLst>
      <p:ext uri="{BB962C8B-B14F-4D97-AF65-F5344CB8AC3E}">
        <p14:creationId xmlns:p14="http://schemas.microsoft.com/office/powerpoint/2010/main" xmlns="" val="2565857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a:xfrm>
            <a:off x="838200" y="1433015"/>
            <a:ext cx="10515600" cy="4743948"/>
          </a:xfrm>
        </p:spPr>
        <p:txBody>
          <a:bodyPr>
            <a:normAutofit fontScale="92500" lnSpcReduction="10000"/>
          </a:bodyPr>
          <a:lstStyle/>
          <a:p>
            <a:pPr marL="0" indent="0" algn="just">
              <a:buNone/>
            </a:pPr>
            <a:r>
              <a:rPr lang="en-US" altLang="zh-TW" dirty="0" smtClean="0"/>
              <a:t>Increasingly, for many application areas, it is becoming important to include elements of </a:t>
            </a:r>
            <a:r>
              <a:rPr lang="en-US" altLang="zh-TW" dirty="0" smtClean="0">
                <a:solidFill>
                  <a:srgbClr val="FF0000"/>
                </a:solidFill>
              </a:rPr>
              <a:t>nonlinearity and non-</a:t>
            </a:r>
            <a:r>
              <a:rPr lang="en-US" altLang="zh-TW" dirty="0" err="1" smtClean="0">
                <a:solidFill>
                  <a:srgbClr val="FF0000"/>
                </a:solidFill>
              </a:rPr>
              <a:t>Gaussianity</a:t>
            </a:r>
            <a:r>
              <a:rPr lang="en-US" altLang="zh-TW" dirty="0" smtClean="0"/>
              <a:t> in order to model accurately the underlying dynamics of a physical system. Moreover, it is typically </a:t>
            </a:r>
            <a:r>
              <a:rPr lang="en-US" altLang="zh-TW" dirty="0" smtClean="0">
                <a:solidFill>
                  <a:srgbClr val="00B0F0"/>
                </a:solidFill>
              </a:rPr>
              <a:t>crucial to process data on-line as it arrives</a:t>
            </a:r>
            <a:r>
              <a:rPr lang="en-US" altLang="zh-TW" dirty="0" smtClean="0"/>
              <a:t>, both from the point of view of storage costs as well as for rapid adaptation to changing signal characteristics. In this paper, we review both optimal and suboptimal Bayesian algorithms for nonlinear/non-Gaussian tracking problems, with a focus on </a:t>
            </a:r>
            <a:r>
              <a:rPr lang="en-US" altLang="zh-TW" dirty="0" smtClean="0">
                <a:solidFill>
                  <a:srgbClr val="FF0000"/>
                </a:solidFill>
              </a:rPr>
              <a:t>particle filters</a:t>
            </a:r>
            <a:r>
              <a:rPr lang="en-US" altLang="zh-TW" dirty="0" smtClean="0"/>
              <a:t>. </a:t>
            </a:r>
            <a:r>
              <a:rPr lang="en-US" altLang="zh-TW" dirty="0" smtClean="0">
                <a:solidFill>
                  <a:srgbClr val="00B0F0"/>
                </a:solidFill>
              </a:rPr>
              <a:t>Particle filters are sequential Monte Carlo methods based on point mass (or “particle”) representations of probability densities</a:t>
            </a:r>
            <a:r>
              <a:rPr lang="en-US" altLang="zh-TW" dirty="0" smtClean="0"/>
              <a:t>, which can be applied to any </a:t>
            </a:r>
            <a:r>
              <a:rPr lang="en-US" altLang="zh-TW" dirty="0" smtClean="0">
                <a:solidFill>
                  <a:srgbClr val="00B0F0"/>
                </a:solidFill>
              </a:rPr>
              <a:t>state-space model </a:t>
            </a:r>
            <a:r>
              <a:rPr lang="en-US" altLang="zh-TW" dirty="0" smtClean="0"/>
              <a:t>and which generalize the traditional Kalman filtering methods. Several variants of the particle filter such as SIR, ASIR, and RPF are introduced within a generic framework of the sequential importance sampling (SIS) algorithm. These are discussed and compared with the standard EKF through an illustrative example.</a:t>
            </a:r>
            <a:endParaRPr lang="zh-TW" altLang="en-US" dirty="0"/>
          </a:p>
        </p:txBody>
      </p:sp>
      <p:sp>
        <p:nvSpPr>
          <p:cNvPr id="4" name="投影片編號版面配置區 3"/>
          <p:cNvSpPr>
            <a:spLocks noGrp="1"/>
          </p:cNvSpPr>
          <p:nvPr>
            <p:ph type="sldNum" sz="quarter" idx="12"/>
          </p:nvPr>
        </p:nvSpPr>
        <p:spPr/>
        <p:txBody>
          <a:bodyPr/>
          <a:lstStyle/>
          <a:p>
            <a:fld id="{60325430-07F2-45E8-A5C9-B73C13C9C571}" type="slidenum">
              <a:rPr lang="zh-TW" altLang="en-US" smtClean="0"/>
              <a:pPr/>
              <a:t>2</a:t>
            </a:fld>
            <a:endParaRPr lang="zh-TW" altLang="en-US"/>
          </a:p>
        </p:txBody>
      </p:sp>
    </p:spTree>
    <p:extLst>
      <p:ext uri="{BB962C8B-B14F-4D97-AF65-F5344CB8AC3E}">
        <p14:creationId xmlns:p14="http://schemas.microsoft.com/office/powerpoint/2010/main" xmlns="" val="29155802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Particle filter applications</a:t>
            </a:r>
            <a:endParaRPr lang="zh-TW" altLang="en-US" dirty="0"/>
          </a:p>
        </p:txBody>
      </p:sp>
      <p:sp>
        <p:nvSpPr>
          <p:cNvPr id="4" name="投影片編號版面配置區 3"/>
          <p:cNvSpPr>
            <a:spLocks noGrp="1"/>
          </p:cNvSpPr>
          <p:nvPr>
            <p:ph type="sldNum" sz="quarter" idx="12"/>
          </p:nvPr>
        </p:nvSpPr>
        <p:spPr/>
        <p:txBody>
          <a:bodyPr/>
          <a:lstStyle/>
          <a:p>
            <a:fld id="{60325430-07F2-45E8-A5C9-B73C13C9C571}" type="slidenum">
              <a:rPr lang="zh-TW" altLang="en-US" smtClean="0"/>
              <a:pPr/>
              <a:t>3</a:t>
            </a:fld>
            <a:endParaRPr lang="zh-TW" altLang="en-US"/>
          </a:p>
        </p:txBody>
      </p:sp>
      <p:pic>
        <p:nvPicPr>
          <p:cNvPr id="6" name="圖片 5">
            <a:hlinkClick r:id="rId2"/>
          </p:cNvPr>
          <p:cNvPicPr>
            <a:picLocks noChangeAspect="1"/>
          </p:cNvPicPr>
          <p:nvPr/>
        </p:nvPicPr>
        <p:blipFill>
          <a:blip r:embed="rId3">
            <a:extLst>
              <a:ext uri="{28A0092B-C50C-407E-A947-70E740481C1C}">
                <a14:useLocalDpi xmlns:a14="http://schemas.microsoft.com/office/drawing/2010/main" xmlns=""/>
              </a:ext>
            </a:extLst>
          </a:blip>
          <a:stretch>
            <a:fillRect/>
          </a:stretch>
        </p:blipFill>
        <p:spPr>
          <a:xfrm>
            <a:off x="5974355" y="1569997"/>
            <a:ext cx="6076617" cy="4557463"/>
          </a:xfrm>
          <a:prstGeom prst="rect">
            <a:avLst/>
          </a:prstGeom>
        </p:spPr>
      </p:pic>
      <p:pic>
        <p:nvPicPr>
          <p:cNvPr id="7" name="內容版面配置區 6"/>
          <p:cNvPicPr>
            <a:picLocks noGrp="1" noChangeAspect="1"/>
          </p:cNvPicPr>
          <p:nvPr>
            <p:ph idx="1"/>
          </p:nvPr>
        </p:nvPicPr>
        <p:blipFill>
          <a:blip r:embed="rId4">
            <a:extLst>
              <a:ext uri="{28A0092B-C50C-407E-A947-70E740481C1C}">
                <a14:useLocalDpi xmlns:a14="http://schemas.microsoft.com/office/drawing/2010/main" xmlns=""/>
              </a:ext>
            </a:extLst>
          </a:blip>
          <a:stretch>
            <a:fillRect/>
          </a:stretch>
        </p:blipFill>
        <p:spPr>
          <a:xfrm>
            <a:off x="340910" y="1642698"/>
            <a:ext cx="4517693" cy="4532752"/>
          </a:xfrm>
        </p:spPr>
      </p:pic>
    </p:spTree>
    <p:extLst>
      <p:ext uri="{BB962C8B-B14F-4D97-AF65-F5344CB8AC3E}">
        <p14:creationId xmlns:p14="http://schemas.microsoft.com/office/powerpoint/2010/main" xmlns="" val="17452839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60325430-07F2-45E8-A5C9-B73C13C9C571}" type="slidenum">
              <a:rPr lang="zh-TW" altLang="en-US" smtClean="0"/>
              <a:pPr/>
              <a:t>4</a:t>
            </a:fld>
            <a:endParaRPr lang="zh-TW" altLang="en-US"/>
          </a:p>
        </p:txBody>
      </p:sp>
      <p:pic>
        <p:nvPicPr>
          <p:cNvPr id="5" name="圖片 4"/>
          <p:cNvPicPr>
            <a:picLocks noChangeAspect="1"/>
          </p:cNvPicPr>
          <p:nvPr/>
        </p:nvPicPr>
        <p:blipFill>
          <a:blip r:embed="rId2"/>
          <a:stretch>
            <a:fillRect/>
          </a:stretch>
        </p:blipFill>
        <p:spPr>
          <a:xfrm>
            <a:off x="170734" y="481647"/>
            <a:ext cx="11728537" cy="5874703"/>
          </a:xfrm>
          <a:prstGeom prst="rect">
            <a:avLst/>
          </a:prstGeom>
        </p:spPr>
      </p:pic>
    </p:spTree>
    <p:extLst>
      <p:ext uri="{BB962C8B-B14F-4D97-AF65-F5344CB8AC3E}">
        <p14:creationId xmlns:p14="http://schemas.microsoft.com/office/powerpoint/2010/main" xmlns="" val="1813543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a:xfrm>
            <a:off x="806302" y="2853143"/>
            <a:ext cx="10515600" cy="1325563"/>
          </a:xfrm>
        </p:spPr>
        <p:txBody>
          <a:bodyPr/>
          <a:lstStyle/>
          <a:p>
            <a:pPr algn="ctr"/>
            <a:r>
              <a:rPr lang="en-US" altLang="zh-TW" dirty="0" smtClean="0"/>
              <a:t>Gaussian hypothesis method</a:t>
            </a:r>
            <a:endParaRPr lang="zh-TW" altLang="en-US" dirty="0"/>
          </a:p>
        </p:txBody>
      </p:sp>
      <p:sp>
        <p:nvSpPr>
          <p:cNvPr id="4" name="投影片編號版面配置區 3"/>
          <p:cNvSpPr>
            <a:spLocks noGrp="1"/>
          </p:cNvSpPr>
          <p:nvPr>
            <p:ph type="sldNum" sz="quarter" idx="12"/>
          </p:nvPr>
        </p:nvSpPr>
        <p:spPr/>
        <p:txBody>
          <a:bodyPr/>
          <a:lstStyle/>
          <a:p>
            <a:fld id="{60325430-07F2-45E8-A5C9-B73C13C9C571}" type="slidenum">
              <a:rPr lang="zh-TW" altLang="en-US" smtClean="0"/>
              <a:pPr/>
              <a:t>5</a:t>
            </a:fld>
            <a:endParaRPr lang="zh-TW" altLang="en-US"/>
          </a:p>
        </p:txBody>
      </p:sp>
    </p:spTree>
    <p:extLst>
      <p:ext uri="{BB962C8B-B14F-4D97-AF65-F5344CB8AC3E}">
        <p14:creationId xmlns:p14="http://schemas.microsoft.com/office/powerpoint/2010/main" xmlns="" val="33462377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37303" y="219161"/>
            <a:ext cx="10058400" cy="952816"/>
          </a:xfrm>
        </p:spPr>
        <p:txBody>
          <a:bodyPr/>
          <a:lstStyle/>
          <a:p>
            <a:r>
              <a:rPr lang="en-US" altLang="zh-TW" dirty="0" smtClean="0"/>
              <a:t>Linear state-space model</a:t>
            </a:r>
            <a:endParaRPr lang="zh-TW" altLang="en-US" dirty="0"/>
          </a:p>
        </p:txBody>
      </p:sp>
      <p:sp>
        <p:nvSpPr>
          <p:cNvPr id="3" name="投影片編號版面配置區 2"/>
          <p:cNvSpPr>
            <a:spLocks noGrp="1"/>
          </p:cNvSpPr>
          <p:nvPr>
            <p:ph type="sldNum" sz="quarter" idx="12"/>
          </p:nvPr>
        </p:nvSpPr>
        <p:spPr/>
        <p:txBody>
          <a:bodyPr/>
          <a:lstStyle/>
          <a:p>
            <a:fld id="{EDBC11D7-B428-46C8-AE33-EA48ADD530EC}" type="slidenum">
              <a:rPr lang="zh-TW" altLang="en-US" smtClean="0"/>
              <a:pPr/>
              <a:t>6</a:t>
            </a:fld>
            <a:endParaRPr lang="zh-TW" altLang="en-US"/>
          </a:p>
        </p:txBody>
      </p:sp>
      <mc:AlternateContent xmlns:mc="http://schemas.openxmlformats.org/markup-compatibility/2006">
        <mc:Choice xmlns:a14="http://schemas.microsoft.com/office/drawing/2010/main" xmlns="" Requires="a14">
          <p:sp>
            <p:nvSpPr>
              <p:cNvPr id="5" name="文字方塊 4"/>
              <p:cNvSpPr txBox="1"/>
              <p:nvPr/>
            </p:nvSpPr>
            <p:spPr>
              <a:xfrm>
                <a:off x="543317" y="1410690"/>
                <a:ext cx="9154173" cy="954107"/>
              </a:xfrm>
              <a:prstGeom prst="rect">
                <a:avLst/>
              </a:prstGeom>
              <a:noFill/>
            </p:spPr>
            <p:txBody>
              <a:bodyPr wrap="none" rtlCol="0">
                <a:spAutoFit/>
              </a:bodyPr>
              <a:lstStyle/>
              <a:p>
                <a14:m>
                  <m:oMath xmlns:m="http://schemas.openxmlformats.org/officeDocument/2006/math">
                    <m:sSub>
                      <m:sSubPr>
                        <m:ctrlPr>
                          <a:rPr lang="en-US" altLang="zh-TW" sz="2800" b="1" i="1" smtClean="0">
                            <a:solidFill>
                              <a:srgbClr val="00B050"/>
                            </a:solidFill>
                            <a:latin typeface="Cambria Math" panose="02040503050406030204" pitchFamily="18" charset="0"/>
                          </a:rPr>
                        </m:ctrlPr>
                      </m:sSubPr>
                      <m:e>
                        <m:r>
                          <a:rPr lang="en-US" altLang="zh-TW" sz="2800" b="1" i="1">
                            <a:solidFill>
                              <a:srgbClr val="00B050"/>
                            </a:solidFill>
                            <a:latin typeface="Cambria Math"/>
                          </a:rPr>
                          <m:t>𝒙</m:t>
                        </m:r>
                      </m:e>
                      <m:sub>
                        <m:r>
                          <a:rPr lang="en-US" altLang="zh-TW" sz="2800" b="1" i="1" smtClean="0">
                            <a:solidFill>
                              <a:srgbClr val="00B050"/>
                            </a:solidFill>
                            <a:latin typeface="Cambria Math"/>
                          </a:rPr>
                          <m:t>𝒕</m:t>
                        </m:r>
                      </m:sub>
                    </m:sSub>
                    <m:r>
                      <a:rPr lang="en-US" altLang="zh-TW" sz="2800" b="0" i="1" smtClean="0">
                        <a:latin typeface="Cambria Math"/>
                      </a:rPr>
                      <m:t>=</m:t>
                    </m:r>
                    <m:sSub>
                      <m:sSubPr>
                        <m:ctrlPr>
                          <a:rPr lang="en-US" altLang="zh-TW" sz="2800" b="1" i="1" smtClean="0">
                            <a:solidFill>
                              <a:srgbClr val="00B050"/>
                            </a:solidFill>
                            <a:latin typeface="Cambria Math" panose="02040503050406030204" pitchFamily="18" charset="0"/>
                          </a:rPr>
                        </m:ctrlPr>
                      </m:sSubPr>
                      <m:e>
                        <m:r>
                          <a:rPr lang="en-US" altLang="zh-TW" sz="2800" b="1" i="1" smtClean="0">
                            <a:solidFill>
                              <a:srgbClr val="00B050"/>
                            </a:solidFill>
                            <a:latin typeface="Cambria Math"/>
                          </a:rPr>
                          <m:t>𝑨</m:t>
                        </m:r>
                      </m:e>
                      <m:sub>
                        <m:r>
                          <a:rPr lang="en-US" altLang="zh-TW" sz="2800" b="1" i="1" smtClean="0">
                            <a:solidFill>
                              <a:srgbClr val="00B050"/>
                            </a:solidFill>
                            <a:latin typeface="Cambria Math"/>
                          </a:rPr>
                          <m:t>𝒕</m:t>
                        </m:r>
                      </m:sub>
                    </m:sSub>
                    <m:sSub>
                      <m:sSubPr>
                        <m:ctrlPr>
                          <a:rPr lang="en-US" altLang="zh-TW" sz="2800" b="1" i="1" smtClean="0">
                            <a:solidFill>
                              <a:srgbClr val="00B0F0"/>
                            </a:solidFill>
                            <a:latin typeface="Cambria Math" panose="02040503050406030204" pitchFamily="18" charset="0"/>
                          </a:rPr>
                        </m:ctrlPr>
                      </m:sSubPr>
                      <m:e>
                        <m:r>
                          <a:rPr lang="en-US" altLang="zh-TW" sz="2800" b="1" i="1" smtClean="0">
                            <a:solidFill>
                              <a:srgbClr val="00B0F0"/>
                            </a:solidFill>
                            <a:latin typeface="Cambria Math"/>
                          </a:rPr>
                          <m:t>𝒙</m:t>
                        </m:r>
                      </m:e>
                      <m:sub>
                        <m:r>
                          <a:rPr lang="en-US" altLang="zh-TW" sz="2800" b="1" i="1" smtClean="0">
                            <a:solidFill>
                              <a:srgbClr val="00B0F0"/>
                            </a:solidFill>
                            <a:latin typeface="Cambria Math"/>
                          </a:rPr>
                          <m:t>𝒕</m:t>
                        </m:r>
                        <m:r>
                          <a:rPr lang="en-US" altLang="zh-TW" sz="2800" b="1" i="1" smtClean="0">
                            <a:solidFill>
                              <a:srgbClr val="00B0F0"/>
                            </a:solidFill>
                            <a:latin typeface="Cambria Math"/>
                          </a:rPr>
                          <m:t>−</m:t>
                        </m:r>
                        <m:r>
                          <a:rPr lang="en-US" altLang="zh-TW" sz="2800" b="1" i="1" smtClean="0">
                            <a:solidFill>
                              <a:srgbClr val="00B0F0"/>
                            </a:solidFill>
                            <a:latin typeface="Cambria Math"/>
                          </a:rPr>
                          <m:t>𝟏</m:t>
                        </m:r>
                      </m:sub>
                    </m:sSub>
                    <m:r>
                      <a:rPr lang="en-US" altLang="zh-TW" sz="2800" b="1" i="1" smtClean="0">
                        <a:latin typeface="Cambria Math"/>
                      </a:rPr>
                      <m:t>+</m:t>
                    </m:r>
                    <m:sSub>
                      <m:sSubPr>
                        <m:ctrlPr>
                          <a:rPr lang="en-US" altLang="zh-TW" sz="2800" b="1" i="1" smtClean="0">
                            <a:solidFill>
                              <a:srgbClr val="00B050"/>
                            </a:solidFill>
                            <a:latin typeface="Cambria Math" panose="02040503050406030204" pitchFamily="18" charset="0"/>
                          </a:rPr>
                        </m:ctrlPr>
                      </m:sSubPr>
                      <m:e>
                        <m:r>
                          <a:rPr lang="en-US" altLang="zh-TW" sz="2800" b="1" i="1" smtClean="0">
                            <a:solidFill>
                              <a:srgbClr val="00B050"/>
                            </a:solidFill>
                            <a:latin typeface="Cambria Math"/>
                          </a:rPr>
                          <m:t>𝑩</m:t>
                        </m:r>
                      </m:e>
                      <m:sub>
                        <m:r>
                          <a:rPr lang="en-US" altLang="zh-TW" sz="2800" b="1" i="1" smtClean="0">
                            <a:solidFill>
                              <a:srgbClr val="00B050"/>
                            </a:solidFill>
                            <a:latin typeface="Cambria Math"/>
                          </a:rPr>
                          <m:t>𝒕</m:t>
                        </m:r>
                      </m:sub>
                    </m:sSub>
                    <m:sSub>
                      <m:sSubPr>
                        <m:ctrlPr>
                          <a:rPr lang="en-US" altLang="zh-TW" sz="2800" b="1" i="1" smtClean="0">
                            <a:solidFill>
                              <a:srgbClr val="00B0F0"/>
                            </a:solidFill>
                            <a:latin typeface="Cambria Math" panose="02040503050406030204" pitchFamily="18" charset="0"/>
                          </a:rPr>
                        </m:ctrlPr>
                      </m:sSubPr>
                      <m:e>
                        <m:r>
                          <a:rPr lang="en-US" altLang="zh-TW" sz="2800" b="1" i="1" smtClean="0">
                            <a:solidFill>
                              <a:srgbClr val="00B0F0"/>
                            </a:solidFill>
                            <a:latin typeface="Cambria Math"/>
                          </a:rPr>
                          <m:t>𝒖</m:t>
                        </m:r>
                      </m:e>
                      <m:sub>
                        <m:r>
                          <a:rPr lang="en-US" altLang="zh-TW" sz="2800" b="1" i="1" smtClean="0">
                            <a:solidFill>
                              <a:srgbClr val="00B0F0"/>
                            </a:solidFill>
                            <a:latin typeface="Cambria Math"/>
                          </a:rPr>
                          <m:t>𝒕</m:t>
                        </m:r>
                      </m:sub>
                    </m:sSub>
                    <m:r>
                      <a:rPr lang="en-US" altLang="zh-TW" sz="2800" b="1" i="1" smtClean="0">
                        <a:latin typeface="Cambria Math"/>
                      </a:rPr>
                      <m:t>+</m:t>
                    </m:r>
                    <m:sSub>
                      <m:sSubPr>
                        <m:ctrlPr>
                          <a:rPr lang="en-US" altLang="zh-TW" sz="2800" b="1" i="1" smtClean="0">
                            <a:latin typeface="Cambria Math" panose="02040503050406030204" pitchFamily="18" charset="0"/>
                          </a:rPr>
                        </m:ctrlPr>
                      </m:sSubPr>
                      <m:e>
                        <m:r>
                          <a:rPr lang="en-US" altLang="zh-TW" sz="2800" b="1" i="1" smtClean="0">
                            <a:latin typeface="Cambria Math"/>
                          </a:rPr>
                          <m:t>𝒘</m:t>
                        </m:r>
                      </m:e>
                      <m:sub>
                        <m:r>
                          <a:rPr lang="en-US" altLang="zh-TW" sz="2800" b="1" i="1" smtClean="0">
                            <a:latin typeface="Cambria Math"/>
                          </a:rPr>
                          <m:t>𝒕</m:t>
                        </m:r>
                      </m:sub>
                    </m:sSub>
                    <m:r>
                      <a:rPr lang="en-US" altLang="zh-TW" sz="2800" b="1" i="1" smtClean="0">
                        <a:latin typeface="Cambria Math" panose="02040503050406030204" pitchFamily="18" charset="0"/>
                      </a:rPr>
                      <m:t>, </m:t>
                    </m:r>
                    <m:sSub>
                      <m:sSubPr>
                        <m:ctrlPr>
                          <a:rPr lang="en-US" altLang="zh-TW" sz="2800" b="1" i="1" smtClean="0">
                            <a:latin typeface="Cambria Math" panose="02040503050406030204" pitchFamily="18" charset="0"/>
                          </a:rPr>
                        </m:ctrlPr>
                      </m:sSubPr>
                      <m:e>
                        <m:r>
                          <a:rPr lang="en-US" altLang="zh-TW" sz="2800" b="1" i="1" smtClean="0">
                            <a:latin typeface="Cambria Math" panose="02040503050406030204" pitchFamily="18" charset="0"/>
                          </a:rPr>
                          <m:t>𝒘</m:t>
                        </m:r>
                      </m:e>
                      <m:sub>
                        <m:r>
                          <a:rPr lang="en-US" altLang="zh-TW" sz="2800" b="1" i="1" smtClean="0">
                            <a:latin typeface="Cambria Math" panose="02040503050406030204" pitchFamily="18" charset="0"/>
                          </a:rPr>
                          <m:t>𝒕</m:t>
                        </m:r>
                      </m:sub>
                    </m:sSub>
                    <m:r>
                      <a:rPr lang="en-US" altLang="zh-TW" sz="2800" b="1" i="1" smtClean="0">
                        <a:latin typeface="Cambria Math" panose="02040503050406030204" pitchFamily="18" charset="0"/>
                      </a:rPr>
                      <m:t>~</m:t>
                    </m:r>
                    <m:r>
                      <a:rPr lang="en-US" altLang="zh-TW" sz="2800" b="1" i="1" smtClean="0">
                        <a:latin typeface="Cambria Math" panose="02040503050406030204" pitchFamily="18" charset="0"/>
                      </a:rPr>
                      <m:t>𝑵</m:t>
                    </m:r>
                    <m:d>
                      <m:dPr>
                        <m:ctrlPr>
                          <a:rPr lang="en-US" altLang="zh-TW" sz="2800" b="1" i="1" smtClean="0">
                            <a:latin typeface="Cambria Math" panose="02040503050406030204" pitchFamily="18" charset="0"/>
                          </a:rPr>
                        </m:ctrlPr>
                      </m:dPr>
                      <m:e>
                        <m:r>
                          <a:rPr lang="en-US" altLang="zh-TW" sz="2800" b="1" i="1" smtClean="0">
                            <a:latin typeface="Cambria Math" panose="02040503050406030204" pitchFamily="18" charset="0"/>
                          </a:rPr>
                          <m:t>𝟎</m:t>
                        </m:r>
                        <m:r>
                          <a:rPr lang="en-US" altLang="zh-TW" sz="2800" b="1" i="1" smtClean="0">
                            <a:latin typeface="Cambria Math" panose="02040503050406030204" pitchFamily="18" charset="0"/>
                          </a:rPr>
                          <m:t>, </m:t>
                        </m:r>
                        <m:sSub>
                          <m:sSubPr>
                            <m:ctrlPr>
                              <a:rPr lang="en-US" altLang="zh-TW" sz="2800" b="1" i="1" smtClean="0">
                                <a:solidFill>
                                  <a:srgbClr val="00B050"/>
                                </a:solidFill>
                                <a:latin typeface="Cambria Math" panose="02040503050406030204" pitchFamily="18" charset="0"/>
                              </a:rPr>
                            </m:ctrlPr>
                          </m:sSubPr>
                          <m:e>
                            <m:r>
                              <a:rPr lang="en-US" altLang="zh-TW" sz="2800" b="1" i="1" smtClean="0">
                                <a:solidFill>
                                  <a:srgbClr val="00B050"/>
                                </a:solidFill>
                                <a:latin typeface="Cambria Math" panose="02040503050406030204" pitchFamily="18" charset="0"/>
                              </a:rPr>
                              <m:t>𝑸</m:t>
                            </m:r>
                          </m:e>
                          <m:sub>
                            <m:r>
                              <a:rPr lang="en-US" altLang="zh-TW" sz="2800" b="1" i="1" smtClean="0">
                                <a:solidFill>
                                  <a:srgbClr val="00B050"/>
                                </a:solidFill>
                                <a:latin typeface="Cambria Math" panose="02040503050406030204" pitchFamily="18" charset="0"/>
                              </a:rPr>
                              <m:t>𝒕</m:t>
                            </m:r>
                          </m:sub>
                        </m:sSub>
                      </m:e>
                    </m:d>
                  </m:oMath>
                </a14:m>
                <a:r>
                  <a:rPr lang="en-US" altLang="zh-TW" sz="2800" dirty="0" smtClean="0">
                    <a:solidFill>
                      <a:srgbClr val="00B0F0"/>
                    </a:solidFill>
                  </a:rPr>
                  <a:t/>
                </a:r>
                <a:r>
                  <a:rPr lang="en-US" altLang="zh-TW" sz="2800" dirty="0" smtClean="0"/>
                  <a:t>(processing model)</a:t>
                </a:r>
              </a:p>
              <a:p>
                <a14:m>
                  <m:oMath xmlns:m="http://schemas.openxmlformats.org/officeDocument/2006/math">
                    <m:sSub>
                      <m:sSubPr>
                        <m:ctrlPr>
                          <a:rPr lang="en-US" altLang="zh-TW" sz="2800" b="1" i="1" smtClean="0">
                            <a:solidFill>
                              <a:srgbClr val="00B0F0"/>
                            </a:solidFill>
                            <a:latin typeface="Cambria Math" panose="02040503050406030204" pitchFamily="18" charset="0"/>
                          </a:rPr>
                        </m:ctrlPr>
                      </m:sSubPr>
                      <m:e>
                        <m:r>
                          <a:rPr lang="en-US" altLang="zh-TW" sz="2800" b="1" i="1" smtClean="0">
                            <a:solidFill>
                              <a:srgbClr val="00B0F0"/>
                            </a:solidFill>
                            <a:latin typeface="Cambria Math" panose="02040503050406030204" pitchFamily="18" charset="0"/>
                          </a:rPr>
                          <m:t>𝒛</m:t>
                        </m:r>
                      </m:e>
                      <m:sub>
                        <m:r>
                          <a:rPr lang="en-US" altLang="zh-TW" sz="2800" b="1" i="1" smtClean="0">
                            <a:solidFill>
                              <a:srgbClr val="00B0F0"/>
                            </a:solidFill>
                            <a:latin typeface="Cambria Math"/>
                          </a:rPr>
                          <m:t>𝒕</m:t>
                        </m:r>
                      </m:sub>
                    </m:sSub>
                    <m:r>
                      <a:rPr lang="en-US" altLang="zh-TW" sz="2800" b="0" i="1" smtClean="0">
                        <a:latin typeface="Cambria Math"/>
                      </a:rPr>
                      <m:t>=</m:t>
                    </m:r>
                    <m:sSub>
                      <m:sSubPr>
                        <m:ctrlPr>
                          <a:rPr lang="en-US" altLang="zh-TW" sz="2800" b="1" i="1" smtClean="0">
                            <a:solidFill>
                              <a:srgbClr val="00B050"/>
                            </a:solidFill>
                            <a:latin typeface="Cambria Math" panose="02040503050406030204" pitchFamily="18" charset="0"/>
                          </a:rPr>
                        </m:ctrlPr>
                      </m:sSubPr>
                      <m:e>
                        <m:r>
                          <a:rPr lang="en-US" altLang="zh-TW" sz="2800" b="1" i="1" smtClean="0">
                            <a:solidFill>
                              <a:srgbClr val="00B050"/>
                            </a:solidFill>
                            <a:latin typeface="Cambria Math"/>
                          </a:rPr>
                          <m:t>𝑯</m:t>
                        </m:r>
                      </m:e>
                      <m:sub>
                        <m:r>
                          <a:rPr lang="en-US" altLang="zh-TW" sz="2800" b="1" i="1" smtClean="0">
                            <a:solidFill>
                              <a:srgbClr val="00B050"/>
                            </a:solidFill>
                            <a:latin typeface="Cambria Math"/>
                          </a:rPr>
                          <m:t>𝒕</m:t>
                        </m:r>
                      </m:sub>
                    </m:sSub>
                    <m:sSub>
                      <m:sSubPr>
                        <m:ctrlPr>
                          <a:rPr lang="en-US" altLang="zh-TW" sz="2800" b="1" i="1" smtClean="0">
                            <a:solidFill>
                              <a:srgbClr val="00B050"/>
                            </a:solidFill>
                            <a:latin typeface="Cambria Math" panose="02040503050406030204" pitchFamily="18" charset="0"/>
                          </a:rPr>
                        </m:ctrlPr>
                      </m:sSubPr>
                      <m:e>
                        <m:r>
                          <a:rPr lang="en-US" altLang="zh-TW" sz="2800" b="1" i="1" smtClean="0">
                            <a:solidFill>
                              <a:srgbClr val="00B050"/>
                            </a:solidFill>
                            <a:latin typeface="Cambria Math"/>
                          </a:rPr>
                          <m:t>𝒙</m:t>
                        </m:r>
                      </m:e>
                      <m:sub>
                        <m:r>
                          <a:rPr lang="en-US" altLang="zh-TW" sz="2800" b="1" i="1" smtClean="0">
                            <a:solidFill>
                              <a:srgbClr val="00B050"/>
                            </a:solidFill>
                            <a:latin typeface="Cambria Math"/>
                          </a:rPr>
                          <m:t>𝒕</m:t>
                        </m:r>
                      </m:sub>
                    </m:sSub>
                    <m:r>
                      <a:rPr lang="en-US" altLang="zh-TW" sz="2800" b="0" i="1" smtClean="0">
                        <a:latin typeface="Cambria Math"/>
                      </a:rPr>
                      <m:t>+</m:t>
                    </m:r>
                    <m:sSub>
                      <m:sSubPr>
                        <m:ctrlPr>
                          <a:rPr lang="en-US" altLang="zh-TW" sz="2800" b="1" i="1" smtClean="0">
                            <a:latin typeface="Cambria Math" panose="02040503050406030204" pitchFamily="18" charset="0"/>
                          </a:rPr>
                        </m:ctrlPr>
                      </m:sSubPr>
                      <m:e>
                        <m:r>
                          <a:rPr lang="en-US" altLang="zh-TW" sz="2800" b="1" i="1" smtClean="0">
                            <a:latin typeface="Cambria Math"/>
                          </a:rPr>
                          <m:t>𝒗</m:t>
                        </m:r>
                      </m:e>
                      <m:sub>
                        <m:r>
                          <a:rPr lang="en-US" altLang="zh-TW" sz="2800" b="1" i="1" smtClean="0">
                            <a:latin typeface="Cambria Math"/>
                          </a:rPr>
                          <m:t>𝒕</m:t>
                        </m:r>
                      </m:sub>
                    </m:sSub>
                    <m:r>
                      <a:rPr lang="en-US" altLang="zh-TW" sz="2800" b="1" i="1" smtClean="0">
                        <a:latin typeface="Cambria Math" panose="02040503050406030204" pitchFamily="18" charset="0"/>
                      </a:rPr>
                      <m:t>, </m:t>
                    </m:r>
                    <m:sSub>
                      <m:sSubPr>
                        <m:ctrlPr>
                          <a:rPr lang="en-US" altLang="zh-TW" sz="2800" b="1" i="1" smtClean="0">
                            <a:latin typeface="Cambria Math" panose="02040503050406030204" pitchFamily="18" charset="0"/>
                          </a:rPr>
                        </m:ctrlPr>
                      </m:sSubPr>
                      <m:e>
                        <m:r>
                          <a:rPr lang="en-US" altLang="zh-TW" sz="2800" b="1" i="1" smtClean="0">
                            <a:latin typeface="Cambria Math" panose="02040503050406030204" pitchFamily="18" charset="0"/>
                          </a:rPr>
                          <m:t>𝒗</m:t>
                        </m:r>
                      </m:e>
                      <m:sub>
                        <m:r>
                          <a:rPr lang="en-US" altLang="zh-TW" sz="2800" b="1" i="1" smtClean="0">
                            <a:latin typeface="Cambria Math" panose="02040503050406030204" pitchFamily="18" charset="0"/>
                          </a:rPr>
                          <m:t>𝒕</m:t>
                        </m:r>
                      </m:sub>
                    </m:sSub>
                    <m:r>
                      <a:rPr lang="en-US" altLang="zh-TW" sz="2800" b="1" i="1" smtClean="0">
                        <a:latin typeface="Cambria Math" panose="02040503050406030204" pitchFamily="18" charset="0"/>
                      </a:rPr>
                      <m:t>~</m:t>
                    </m:r>
                    <m:r>
                      <a:rPr lang="en-US" altLang="zh-TW" sz="2800" b="1" i="1" smtClean="0">
                        <a:latin typeface="Cambria Math" panose="02040503050406030204" pitchFamily="18" charset="0"/>
                      </a:rPr>
                      <m:t>𝑵</m:t>
                    </m:r>
                    <m:r>
                      <a:rPr lang="en-US" altLang="zh-TW" sz="2800" b="1" i="1" smtClean="0">
                        <a:latin typeface="Cambria Math" panose="02040503050406030204" pitchFamily="18" charset="0"/>
                      </a:rPr>
                      <m:t>(</m:t>
                    </m:r>
                    <m:r>
                      <a:rPr lang="en-US" altLang="zh-TW" sz="2800" b="1" i="1" smtClean="0">
                        <a:latin typeface="Cambria Math" panose="02040503050406030204" pitchFamily="18" charset="0"/>
                      </a:rPr>
                      <m:t>𝟎</m:t>
                    </m:r>
                    <m:r>
                      <a:rPr lang="en-US" altLang="zh-TW" sz="2800" b="1" i="1" smtClean="0">
                        <a:latin typeface="Cambria Math" panose="02040503050406030204" pitchFamily="18" charset="0"/>
                      </a:rPr>
                      <m:t>, </m:t>
                    </m:r>
                    <m:sSub>
                      <m:sSubPr>
                        <m:ctrlPr>
                          <a:rPr lang="en-US" altLang="zh-TW" sz="2800" b="1" i="1" smtClean="0">
                            <a:solidFill>
                              <a:srgbClr val="00B050"/>
                            </a:solidFill>
                            <a:latin typeface="Cambria Math" panose="02040503050406030204" pitchFamily="18" charset="0"/>
                          </a:rPr>
                        </m:ctrlPr>
                      </m:sSubPr>
                      <m:e>
                        <m:r>
                          <a:rPr lang="en-US" altLang="zh-TW" sz="2800" b="1" i="1" smtClean="0">
                            <a:solidFill>
                              <a:srgbClr val="00B050"/>
                            </a:solidFill>
                            <a:latin typeface="Cambria Math" panose="02040503050406030204" pitchFamily="18" charset="0"/>
                          </a:rPr>
                          <m:t>𝑹</m:t>
                        </m:r>
                      </m:e>
                      <m:sub>
                        <m:r>
                          <a:rPr lang="en-US" altLang="zh-TW" sz="2800" b="1" i="1" smtClean="0">
                            <a:solidFill>
                              <a:srgbClr val="00B050"/>
                            </a:solidFill>
                            <a:latin typeface="Cambria Math" panose="02040503050406030204" pitchFamily="18" charset="0"/>
                          </a:rPr>
                          <m:t>𝒕</m:t>
                        </m:r>
                      </m:sub>
                    </m:sSub>
                    <m:r>
                      <a:rPr lang="en-US" altLang="zh-TW" sz="2800" b="1" i="1" smtClean="0">
                        <a:latin typeface="Cambria Math" panose="02040503050406030204" pitchFamily="18" charset="0"/>
                      </a:rPr>
                      <m:t>)</m:t>
                    </m:r>
                  </m:oMath>
                </a14:m>
                <a:r>
                  <a:rPr lang="zh-TW" altLang="en-US" sz="2800" b="1" dirty="0" smtClean="0"/>
                  <a:t/>
                </a:r>
                <a:r>
                  <a:rPr lang="en-US" altLang="zh-TW" sz="2800" dirty="0" smtClean="0"/>
                  <a:t>(measurement model)</a:t>
                </a:r>
                <a:endParaRPr lang="zh-TW" altLang="en-US" sz="2800" dirty="0"/>
              </a:p>
            </p:txBody>
          </p:sp>
        </mc:Choice>
        <mc:Fallback>
          <p:sp>
            <p:nvSpPr>
              <p:cNvPr id="5" name="文字方塊 4"/>
              <p:cNvSpPr txBox="1">
                <a:spLocks noRot="1" noChangeAspect="1" noMove="1" noResize="1" noEditPoints="1" noAdjustHandles="1" noChangeArrowheads="1" noChangeShapeType="1" noTextEdit="1"/>
              </p:cNvSpPr>
              <p:nvPr/>
            </p:nvSpPr>
            <p:spPr>
              <a:xfrm>
                <a:off x="543317" y="1410690"/>
                <a:ext cx="9154173" cy="954107"/>
              </a:xfrm>
              <a:prstGeom prst="rect">
                <a:avLst/>
              </a:prstGeom>
              <a:blipFill rotWithShape="0">
                <a:blip r:embed="rId2"/>
                <a:stretch>
                  <a:fillRect t="-5732" b="-1719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6" name="文字方塊 5"/>
              <p:cNvSpPr txBox="1"/>
              <p:nvPr/>
            </p:nvSpPr>
            <p:spPr>
              <a:xfrm>
                <a:off x="192627" y="2710488"/>
                <a:ext cx="7367271" cy="3816429"/>
              </a:xfrm>
              <a:prstGeom prst="rect">
                <a:avLst/>
              </a:prstGeom>
              <a:noFill/>
            </p:spPr>
            <p:txBody>
              <a:bodyPr wrap="square" rtlCol="0">
                <a:spAutoFit/>
              </a:bodyPr>
              <a:lstStyle/>
              <a:p>
                <a:pPr marL="342900" indent="-342900">
                  <a:buFont typeface="Arial" panose="020B0604020202020204" pitchFamily="34" charset="0"/>
                  <a:buChar char="•"/>
                </a:pPr>
                <a14:m>
                  <m:oMath xmlns:m="http://schemas.openxmlformats.org/officeDocument/2006/math">
                    <m:sSub>
                      <m:sSubPr>
                        <m:ctrlPr>
                          <a:rPr lang="en-US" altLang="zh-TW" sz="2200" b="1" i="1" smtClean="0">
                            <a:latin typeface="Cambria Math" panose="02040503050406030204" pitchFamily="18" charset="0"/>
                          </a:rPr>
                        </m:ctrlPr>
                      </m:sSubPr>
                      <m:e>
                        <m:r>
                          <a:rPr lang="en-US" altLang="zh-TW" sz="2200" b="1" i="1" smtClean="0">
                            <a:latin typeface="Cambria Math" panose="02040503050406030204" pitchFamily="18" charset="0"/>
                          </a:rPr>
                          <m:t>𝒙</m:t>
                        </m:r>
                      </m:e>
                      <m:sub>
                        <m:r>
                          <a:rPr lang="en-US" altLang="zh-TW" sz="2200" b="1" i="1" smtClean="0">
                            <a:latin typeface="Cambria Math"/>
                          </a:rPr>
                          <m:t>𝒕</m:t>
                        </m:r>
                      </m:sub>
                    </m:sSub>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ℝ</m:t>
                        </m:r>
                      </m:e>
                      <m:sup>
                        <m:r>
                          <a:rPr lang="en-US" altLang="zh-TW" sz="2200" b="0" i="1" smtClean="0">
                            <a:latin typeface="Cambria Math" panose="02040503050406030204" pitchFamily="18" charset="0"/>
                          </a:rPr>
                          <m:t>𝑛</m:t>
                        </m:r>
                      </m:sup>
                    </m:sSup>
                  </m:oMath>
                </a14:m>
                <a:r>
                  <a:rPr lang="en-US" altLang="zh-TW" sz="2200" dirty="0" smtClean="0"/>
                  <a:t>: </a:t>
                </a:r>
                <a:r>
                  <a:rPr lang="zh-TW" altLang="en-US" sz="2200" dirty="0" smtClean="0"/>
                  <a:t>系統在時間</a:t>
                </a:r>
                <a:r>
                  <a:rPr lang="en-US" altLang="zh-TW" sz="2200" dirty="0" smtClean="0"/>
                  <a:t>t</a:t>
                </a:r>
                <a:r>
                  <a:rPr lang="zh-TW" altLang="en-US" sz="2200" dirty="0" smtClean="0"/>
                  <a:t>時的真正</a:t>
                </a:r>
                <a:r>
                  <a:rPr lang="en-US" altLang="zh-TW" sz="2200" b="1" dirty="0" smtClean="0">
                    <a:solidFill>
                      <a:srgbClr val="FF0000"/>
                    </a:solidFill>
                  </a:rPr>
                  <a:t>(real)</a:t>
                </a:r>
                <a:r>
                  <a:rPr lang="zh-TW" altLang="en-US" sz="2200" dirty="0" smtClean="0"/>
                  <a:t>狀態</a:t>
                </a:r>
                <a:r>
                  <a:rPr lang="en-US" altLang="zh-TW" sz="2200" dirty="0" smtClean="0"/>
                  <a:t>, </a:t>
                </a:r>
                <a:r>
                  <a:rPr lang="en-US" altLang="zh-TW" sz="2200" dirty="0" smtClean="0">
                    <a:solidFill>
                      <a:srgbClr val="FF0000"/>
                    </a:solidFill>
                  </a:rPr>
                  <a:t>hidden</a:t>
                </a:r>
              </a:p>
              <a:p>
                <a:pPr marL="342900" indent="-342900">
                  <a:buFont typeface="Arial" panose="020B0604020202020204" pitchFamily="34" charset="0"/>
                  <a:buChar char="•"/>
                </a:pPr>
                <a14:m>
                  <m:oMath xmlns:m="http://schemas.openxmlformats.org/officeDocument/2006/math">
                    <m:sSub>
                      <m:sSubPr>
                        <m:ctrlPr>
                          <a:rPr lang="en-US" altLang="zh-TW" sz="2200" b="1" i="1" smtClean="0">
                            <a:latin typeface="Cambria Math" panose="02040503050406030204" pitchFamily="18" charset="0"/>
                          </a:rPr>
                        </m:ctrlPr>
                      </m:sSubPr>
                      <m:e>
                        <m:r>
                          <a:rPr lang="en-US" altLang="zh-TW" sz="2200" b="1" i="1" smtClean="0">
                            <a:latin typeface="Cambria Math" panose="02040503050406030204" pitchFamily="18" charset="0"/>
                          </a:rPr>
                          <m:t>𝑨</m:t>
                        </m:r>
                      </m:e>
                      <m:sub>
                        <m:r>
                          <a:rPr lang="en-US" altLang="zh-TW" sz="2200" b="1" i="1" smtClean="0">
                            <a:latin typeface="Cambria Math"/>
                          </a:rPr>
                          <m:t>𝒕</m:t>
                        </m:r>
                      </m:sub>
                    </m:sSub>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ℝ</m:t>
                        </m:r>
                      </m:e>
                      <m:sup>
                        <m:r>
                          <a:rPr lang="en-US" altLang="zh-TW" sz="2200" b="0" i="1" smtClean="0">
                            <a:latin typeface="Cambria Math" panose="02040503050406030204" pitchFamily="18" charset="0"/>
                          </a:rPr>
                          <m:t>𝑛</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𝑛</m:t>
                        </m:r>
                      </m:sup>
                    </m:sSup>
                  </m:oMath>
                </a14:m>
                <a:r>
                  <a:rPr lang="en-US" altLang="zh-TW" sz="2200" dirty="0" smtClean="0"/>
                  <a:t>: </a:t>
                </a:r>
                <a:r>
                  <a:rPr lang="zh-TW" altLang="en-US" sz="2200" dirty="0" smtClean="0"/>
                  <a:t>系統在時間</a:t>
                </a:r>
                <a:r>
                  <a:rPr lang="en-US" altLang="zh-TW" sz="2200" dirty="0" smtClean="0"/>
                  <a:t>t</a:t>
                </a:r>
                <a:r>
                  <a:rPr lang="zh-TW" altLang="en-US" sz="2200" dirty="0" smtClean="0"/>
                  <a:t>時的狀態轉移矩陣</a:t>
                </a:r>
                <a:endParaRPr lang="en-US" altLang="zh-TW" sz="2200" dirty="0" smtClean="0"/>
              </a:p>
              <a:p>
                <a:pPr marL="342900" indent="-342900">
                  <a:buFont typeface="Arial" panose="020B0604020202020204" pitchFamily="34" charset="0"/>
                  <a:buChar char="•"/>
                </a:pPr>
                <a14:m>
                  <m:oMath xmlns:m="http://schemas.openxmlformats.org/officeDocument/2006/math">
                    <m:sSub>
                      <m:sSubPr>
                        <m:ctrlPr>
                          <a:rPr lang="en-US" altLang="zh-TW" sz="2200" b="1" i="1" smtClean="0">
                            <a:latin typeface="Cambria Math" panose="02040503050406030204" pitchFamily="18" charset="0"/>
                          </a:rPr>
                        </m:ctrlPr>
                      </m:sSubPr>
                      <m:e>
                        <m:r>
                          <a:rPr lang="en-US" altLang="zh-TW" sz="2200" b="1" i="1" smtClean="0">
                            <a:latin typeface="Cambria Math" panose="02040503050406030204" pitchFamily="18" charset="0"/>
                          </a:rPr>
                          <m:t>𝑩</m:t>
                        </m:r>
                      </m:e>
                      <m:sub>
                        <m:r>
                          <a:rPr lang="en-US" altLang="zh-TW" sz="2200" b="1" i="1" smtClean="0">
                            <a:latin typeface="Cambria Math"/>
                          </a:rPr>
                          <m:t>𝒕</m:t>
                        </m:r>
                      </m:sub>
                    </m:sSub>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ℝ</m:t>
                        </m:r>
                      </m:e>
                      <m:sup>
                        <m:r>
                          <a:rPr lang="en-US" altLang="zh-TW" sz="2200" b="0" i="1" smtClean="0">
                            <a:latin typeface="Cambria Math" panose="02040503050406030204" pitchFamily="18" charset="0"/>
                          </a:rPr>
                          <m:t>𝑛</m:t>
                        </m:r>
                      </m:sup>
                    </m:sSup>
                  </m:oMath>
                </a14:m>
                <a:r>
                  <a:rPr lang="en-US" altLang="zh-TW" sz="2200" dirty="0" smtClean="0"/>
                  <a:t>: </a:t>
                </a:r>
                <a:r>
                  <a:rPr lang="zh-TW" altLang="en-US" sz="2200" dirty="0" smtClean="0"/>
                  <a:t>外部輸入轉移矩陣</a:t>
                </a:r>
                <a:endParaRPr lang="en-US" altLang="zh-TW" sz="2200" dirty="0" smtClean="0"/>
              </a:p>
              <a:p>
                <a:pPr marL="342900" indent="-342900">
                  <a:buFont typeface="Arial" panose="020B0604020202020204" pitchFamily="34" charset="0"/>
                  <a:buChar char="•"/>
                </a:pPr>
                <a14:m>
                  <m:oMath xmlns:m="http://schemas.openxmlformats.org/officeDocument/2006/math">
                    <m:r>
                      <a:rPr lang="en-US" altLang="zh-TW" sz="2200" b="1" i="1" smtClean="0">
                        <a:latin typeface="Cambria Math"/>
                      </a:rPr>
                      <m:t>𝒖</m:t>
                    </m:r>
                    <m:r>
                      <a:rPr lang="en-US" altLang="zh-TW" sz="2200" b="1" i="1" baseline="-25000" smtClean="0">
                        <a:latin typeface="Cambria Math"/>
                      </a:rPr>
                      <m:t>𝒕</m:t>
                    </m:r>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ℝ</m:t>
                        </m:r>
                      </m:e>
                      <m:sup>
                        <m:r>
                          <a:rPr lang="en-US" altLang="zh-TW" sz="2200" b="0" i="1" smtClean="0">
                            <a:latin typeface="Cambria Math" panose="02040503050406030204" pitchFamily="18" charset="0"/>
                          </a:rPr>
                          <m:t>𝑛</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𝑛</m:t>
                        </m:r>
                      </m:sup>
                    </m:sSup>
                  </m:oMath>
                </a14:m>
                <a:r>
                  <a:rPr lang="en-US" altLang="zh-TW" sz="2200" dirty="0" smtClean="0"/>
                  <a:t>:</a:t>
                </a:r>
                <a:r>
                  <a:rPr lang="zh-TW" altLang="en-US" sz="2200" dirty="0" smtClean="0"/>
                  <a:t>外部輸入向量</a:t>
                </a:r>
                <a:endParaRPr lang="en-US" altLang="zh-TW" sz="2200" dirty="0" smtClean="0"/>
              </a:p>
              <a:p>
                <a:pPr marL="342900" indent="-342900">
                  <a:buFont typeface="Arial" panose="020B0604020202020204" pitchFamily="34" charset="0"/>
                  <a:buChar char="•"/>
                </a:pPr>
                <a14:m>
                  <m:oMath xmlns:m="http://schemas.openxmlformats.org/officeDocument/2006/math">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𝑤</m:t>
                        </m:r>
                      </m:e>
                      <m:sub>
                        <m:r>
                          <a:rPr lang="en-US" altLang="zh-TW" sz="2200" b="0" i="1" smtClean="0">
                            <a:latin typeface="Cambria Math"/>
                          </a:rPr>
                          <m:t>𝑡</m:t>
                        </m:r>
                      </m:sub>
                    </m:sSub>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ℝ</m:t>
                        </m:r>
                      </m:e>
                      <m:sup>
                        <m:r>
                          <a:rPr lang="en-US" altLang="zh-TW" sz="2200" b="0" i="1" smtClean="0">
                            <a:latin typeface="Cambria Math" panose="02040503050406030204" pitchFamily="18" charset="0"/>
                          </a:rPr>
                          <m:t>𝑛</m:t>
                        </m:r>
                      </m:sup>
                    </m:sSup>
                  </m:oMath>
                </a14:m>
                <a:r>
                  <a:rPr lang="en-US" altLang="zh-TW" sz="2200" dirty="0" smtClean="0"/>
                  <a:t>: process noise~</a:t>
                </a:r>
                <a14:m>
                  <m:oMath xmlns:m="http://schemas.openxmlformats.org/officeDocument/2006/math">
                    <m:r>
                      <a:rPr lang="en-US" altLang="zh-TW" sz="2200" b="0" i="1" smtClean="0">
                        <a:latin typeface="Cambria Math"/>
                      </a:rPr>
                      <m:t>𝑁</m:t>
                    </m:r>
                    <m:r>
                      <a:rPr lang="en-US" altLang="zh-TW" sz="2200" b="0" i="1" smtClean="0">
                        <a:latin typeface="Cambria Math"/>
                      </a:rPr>
                      <m:t>(0, </m:t>
                    </m:r>
                    <m:sSub>
                      <m:sSubPr>
                        <m:ctrlPr>
                          <a:rPr lang="en-US" altLang="zh-TW" sz="2200" b="1" i="1" smtClean="0">
                            <a:latin typeface="Cambria Math" panose="02040503050406030204" pitchFamily="18" charset="0"/>
                          </a:rPr>
                        </m:ctrlPr>
                      </m:sSubPr>
                      <m:e>
                        <m:r>
                          <a:rPr lang="en-US" altLang="zh-TW" sz="2200" b="1" i="1" smtClean="0">
                            <a:latin typeface="Cambria Math"/>
                          </a:rPr>
                          <m:t>𝑸</m:t>
                        </m:r>
                      </m:e>
                      <m:sub>
                        <m:r>
                          <a:rPr lang="en-US" altLang="zh-TW" sz="2200" b="1" i="1" smtClean="0">
                            <a:latin typeface="Cambria Math"/>
                          </a:rPr>
                          <m:t>𝒕</m:t>
                        </m:r>
                      </m:sub>
                    </m:sSub>
                    <m:r>
                      <a:rPr lang="en-US" altLang="zh-TW" sz="2200" b="0" i="1" smtClean="0">
                        <a:latin typeface="Cambria Math"/>
                      </a:rPr>
                      <m:t>)</m:t>
                    </m:r>
                  </m:oMath>
                </a14:m>
                <a:r>
                  <a:rPr lang="zh-TW" altLang="en-US" sz="2200" dirty="0" smtClean="0"/>
                  <a:t/>
                </a:r>
                <a:r>
                  <a:rPr lang="en-US" altLang="zh-TW" sz="2200" dirty="0" smtClean="0"/>
                  <a:t>(white noise)</a:t>
                </a:r>
              </a:p>
              <a:p>
                <a:pPr marL="342900" indent="-342900">
                  <a:buFont typeface="Arial" panose="020B0604020202020204" pitchFamily="34" charset="0"/>
                  <a:buChar char="•"/>
                </a:pPr>
                <a:endParaRPr lang="en-US" altLang="zh-TW" sz="2200" dirty="0"/>
              </a:p>
              <a:p>
                <a:pPr marL="342900" indent="-342900">
                  <a:buFont typeface="Arial" panose="020B0604020202020204" pitchFamily="34" charset="0"/>
                  <a:buChar char="•"/>
                </a:pPr>
                <a14:m>
                  <m:oMath xmlns:m="http://schemas.openxmlformats.org/officeDocument/2006/math">
                    <m:sSub>
                      <m:sSubPr>
                        <m:ctrlPr>
                          <a:rPr lang="en-US" altLang="zh-TW" sz="2200" b="1" i="1" dirty="0" smtClean="0">
                            <a:latin typeface="Cambria Math" panose="02040503050406030204" pitchFamily="18" charset="0"/>
                          </a:rPr>
                        </m:ctrlPr>
                      </m:sSubPr>
                      <m:e>
                        <m:r>
                          <a:rPr lang="en-US" altLang="zh-TW" sz="2200" b="1" i="1" dirty="0" smtClean="0">
                            <a:latin typeface="Cambria Math" panose="02040503050406030204" pitchFamily="18" charset="0"/>
                          </a:rPr>
                          <m:t>𝒛</m:t>
                        </m:r>
                      </m:e>
                      <m:sub>
                        <m:r>
                          <a:rPr lang="en-US" altLang="zh-TW" sz="2200" b="1" i="1" dirty="0" smtClean="0">
                            <a:latin typeface="Cambria Math"/>
                          </a:rPr>
                          <m:t>𝒕</m:t>
                        </m:r>
                      </m:sub>
                    </m:sSub>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ℝ</m:t>
                        </m:r>
                      </m:e>
                      <m:sup>
                        <m:r>
                          <a:rPr lang="en-US" altLang="zh-TW" sz="2200" b="0" i="1" smtClean="0">
                            <a:latin typeface="Cambria Math" panose="02040503050406030204" pitchFamily="18" charset="0"/>
                          </a:rPr>
                          <m:t>𝑚</m:t>
                        </m:r>
                      </m:sup>
                    </m:sSup>
                  </m:oMath>
                </a14:m>
                <a:r>
                  <a:rPr lang="en-US" altLang="zh-TW" sz="2200" dirty="0" smtClean="0"/>
                  <a:t>: </a:t>
                </a:r>
                <a:r>
                  <a:rPr lang="zh-TW" altLang="en-US" sz="2200" dirty="0" smtClean="0"/>
                  <a:t>在時間</a:t>
                </a:r>
                <a:r>
                  <a:rPr lang="en-US" altLang="zh-TW" sz="2200" dirty="0" smtClean="0"/>
                  <a:t>t</a:t>
                </a:r>
                <a:r>
                  <a:rPr lang="zh-TW" altLang="en-US" sz="2200" dirty="0" smtClean="0"/>
                  <a:t>時的</a:t>
                </a:r>
                <a:r>
                  <a:rPr lang="zh-TW" altLang="en-US" sz="2200" b="1" dirty="0" smtClean="0">
                    <a:solidFill>
                      <a:srgbClr val="FF0000"/>
                    </a:solidFill>
                  </a:rPr>
                  <a:t>量測值</a:t>
                </a:r>
                <a:r>
                  <a:rPr lang="en-US" altLang="zh-TW" sz="2200" dirty="0" smtClean="0">
                    <a:solidFill>
                      <a:srgbClr val="FF0000"/>
                    </a:solidFill>
                  </a:rPr>
                  <a:t>(</a:t>
                </a:r>
                <a:r>
                  <a:rPr lang="zh-TW" altLang="en-US" sz="2200" dirty="0" smtClean="0">
                    <a:solidFill>
                      <a:srgbClr val="FF0000"/>
                    </a:solidFill>
                  </a:rPr>
                  <a:t>或觀測值</a:t>
                </a:r>
                <a:r>
                  <a:rPr lang="en-US" altLang="zh-TW" sz="2200" dirty="0" smtClean="0">
                    <a:solidFill>
                      <a:srgbClr val="FF0000"/>
                    </a:solidFill>
                  </a:rPr>
                  <a:t>)</a:t>
                </a:r>
                <a:endParaRPr lang="en-US" altLang="zh-TW" sz="2200" dirty="0" smtClean="0"/>
              </a:p>
              <a:p>
                <a:pPr marL="342900" indent="-342900">
                  <a:buFont typeface="Arial" panose="020B0604020202020204" pitchFamily="34" charset="0"/>
                  <a:buChar char="•"/>
                </a:pPr>
                <a14:m>
                  <m:oMath xmlns:m="http://schemas.openxmlformats.org/officeDocument/2006/math">
                    <m:sSub>
                      <m:sSubPr>
                        <m:ctrlPr>
                          <a:rPr lang="en-US" altLang="zh-TW" sz="2200" b="1" i="1" smtClean="0">
                            <a:latin typeface="Cambria Math" panose="02040503050406030204" pitchFamily="18" charset="0"/>
                          </a:rPr>
                        </m:ctrlPr>
                      </m:sSubPr>
                      <m:e>
                        <m:r>
                          <a:rPr lang="en-US" altLang="zh-TW" sz="2200" b="1" i="0" smtClean="0">
                            <a:latin typeface="Cambria Math" panose="02040503050406030204" pitchFamily="18" charset="0"/>
                          </a:rPr>
                          <m:t>𝐇</m:t>
                        </m:r>
                      </m:e>
                      <m:sub>
                        <m:r>
                          <a:rPr lang="en-US" altLang="zh-TW" sz="2200" b="1" i="0" smtClean="0">
                            <a:latin typeface="Cambria Math"/>
                          </a:rPr>
                          <m:t>𝐭</m:t>
                        </m:r>
                      </m:sub>
                    </m:sSub>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ℝ</m:t>
                        </m:r>
                      </m:e>
                      <m:sup>
                        <m:r>
                          <a:rPr lang="en-US" altLang="zh-TW" sz="2200" b="0" i="1" smtClean="0">
                            <a:latin typeface="Cambria Math" panose="02040503050406030204" pitchFamily="18" charset="0"/>
                          </a:rPr>
                          <m:t>𝑚</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𝑛</m:t>
                        </m:r>
                      </m:sup>
                    </m:sSup>
                  </m:oMath>
                </a14:m>
                <a:r>
                  <a:rPr lang="en-US" altLang="zh-TW" sz="2200" dirty="0" smtClean="0"/>
                  <a:t>: </a:t>
                </a:r>
                <a:r>
                  <a:rPr lang="zh-TW" altLang="en-US" sz="2200" dirty="0" smtClean="0"/>
                  <a:t>時間</a:t>
                </a:r>
                <a:r>
                  <a:rPr lang="en-US" altLang="zh-TW" sz="2200" dirty="0" smtClean="0"/>
                  <a:t>t</a:t>
                </a:r>
                <a:r>
                  <a:rPr lang="zh-TW" altLang="en-US" sz="2200" dirty="0" smtClean="0"/>
                  <a:t>時的狀態</a:t>
                </a:r>
                <a:r>
                  <a:rPr lang="en-US" altLang="zh-TW" sz="2200" dirty="0" smtClean="0"/>
                  <a:t>-</a:t>
                </a:r>
                <a:r>
                  <a:rPr lang="zh-TW" altLang="en-US" sz="2200" dirty="0" smtClean="0"/>
                  <a:t>量測值轉移矩陣</a:t>
                </a:r>
                <a:endParaRPr lang="en-US" altLang="zh-TW" sz="2200" dirty="0" smtClean="0"/>
              </a:p>
              <a:p>
                <a:pPr marL="342900" indent="-342900">
                  <a:buFont typeface="Arial" panose="020B0604020202020204" pitchFamily="34" charset="0"/>
                  <a:buChar char="•"/>
                </a:pPr>
                <a14:m>
                  <m:oMath xmlns:m="http://schemas.openxmlformats.org/officeDocument/2006/math">
                    <m:sSub>
                      <m:sSubPr>
                        <m:ctrlPr>
                          <a:rPr lang="en-US" altLang="zh-TW" sz="2200" b="1" i="1" smtClean="0">
                            <a:latin typeface="Cambria Math" panose="02040503050406030204" pitchFamily="18" charset="0"/>
                          </a:rPr>
                        </m:ctrlPr>
                      </m:sSubPr>
                      <m:e>
                        <m:r>
                          <a:rPr lang="en-US" altLang="zh-TW" sz="2200" b="1" i="1" smtClean="0">
                            <a:latin typeface="Cambria Math" panose="02040503050406030204" pitchFamily="18" charset="0"/>
                          </a:rPr>
                          <m:t>𝒗</m:t>
                        </m:r>
                      </m:e>
                      <m:sub>
                        <m:r>
                          <a:rPr lang="en-US" altLang="zh-TW" sz="2200" b="1" i="1" smtClean="0">
                            <a:latin typeface="Cambria Math"/>
                          </a:rPr>
                          <m:t>𝒕</m:t>
                        </m:r>
                      </m:sub>
                    </m:sSub>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ℝ</m:t>
                        </m:r>
                      </m:e>
                      <m:sup>
                        <m:r>
                          <a:rPr lang="en-US" altLang="zh-TW" sz="2200" b="0" i="1" smtClean="0">
                            <a:latin typeface="Cambria Math" panose="02040503050406030204" pitchFamily="18" charset="0"/>
                          </a:rPr>
                          <m:t>𝑚</m:t>
                        </m:r>
                      </m:sup>
                    </m:sSup>
                  </m:oMath>
                </a14:m>
                <a:r>
                  <a:rPr lang="en-US" altLang="zh-TW" sz="2200" dirty="0" smtClean="0"/>
                  <a:t>: measurement noise~</a:t>
                </a:r>
                <a14:m>
                  <m:oMath xmlns:m="http://schemas.openxmlformats.org/officeDocument/2006/math">
                    <m:r>
                      <a:rPr lang="en-US" altLang="zh-TW" sz="2200" b="0" i="1" smtClean="0">
                        <a:latin typeface="Cambria Math"/>
                      </a:rPr>
                      <m:t>𝑁</m:t>
                    </m:r>
                    <m:r>
                      <a:rPr lang="en-US" altLang="zh-TW" sz="2200" b="0" i="1" smtClean="0">
                        <a:latin typeface="Cambria Math"/>
                      </a:rPr>
                      <m:t>(0, </m:t>
                    </m:r>
                    <m:sSub>
                      <m:sSubPr>
                        <m:ctrlPr>
                          <a:rPr lang="en-US" altLang="zh-TW" sz="2200" b="1" i="1" smtClean="0">
                            <a:latin typeface="Cambria Math" panose="02040503050406030204" pitchFamily="18" charset="0"/>
                          </a:rPr>
                        </m:ctrlPr>
                      </m:sSubPr>
                      <m:e>
                        <m:r>
                          <a:rPr lang="en-US" altLang="zh-TW" sz="2200" b="1" i="1" smtClean="0">
                            <a:latin typeface="Cambria Math"/>
                          </a:rPr>
                          <m:t>𝑹</m:t>
                        </m:r>
                      </m:e>
                      <m:sub>
                        <m:r>
                          <a:rPr lang="en-US" altLang="zh-TW" sz="2200" b="1" i="1" smtClean="0">
                            <a:latin typeface="Cambria Math"/>
                          </a:rPr>
                          <m:t>𝒕</m:t>
                        </m:r>
                      </m:sub>
                    </m:sSub>
                    <m:r>
                      <a:rPr lang="en-US" altLang="zh-TW" sz="2200" b="0" i="1" smtClean="0">
                        <a:latin typeface="Cambria Math"/>
                      </a:rPr>
                      <m:t>)</m:t>
                    </m:r>
                  </m:oMath>
                </a14:m>
                <a:r>
                  <a:rPr lang="zh-TW" altLang="en-US" sz="2200" dirty="0" smtClean="0"/>
                  <a:t/>
                </a:r>
                <a:r>
                  <a:rPr lang="en-US" altLang="zh-TW" sz="2200" dirty="0" smtClean="0"/>
                  <a:t>(white noise)</a:t>
                </a:r>
              </a:p>
              <a:p>
                <a:pPr marL="342900" indent="-342900">
                  <a:buFont typeface="Arial" panose="020B0604020202020204" pitchFamily="34" charset="0"/>
                  <a:buChar char="•"/>
                </a:pPr>
                <a14:m>
                  <m:oMath xmlns:m="http://schemas.openxmlformats.org/officeDocument/2006/math">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𝑤</m:t>
                        </m:r>
                      </m:e>
                      <m:sub>
                        <m:r>
                          <a:rPr lang="en-US" altLang="zh-TW" sz="2200" b="0" i="1" smtClean="0">
                            <a:latin typeface="Cambria Math"/>
                          </a:rPr>
                          <m:t>𝑡</m:t>
                        </m:r>
                      </m:sub>
                    </m:sSub>
                    <m:r>
                      <a:rPr lang="en-US" altLang="zh-TW" sz="2200" b="0" i="1" smtClean="0">
                        <a:latin typeface="Cambria Math" panose="02040503050406030204" pitchFamily="18" charset="0"/>
                      </a:rPr>
                      <m:t>, </m:t>
                    </m:r>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𝑣</m:t>
                        </m:r>
                      </m:e>
                      <m:sub>
                        <m:r>
                          <a:rPr lang="en-US" altLang="zh-TW" sz="2200" b="0" i="1" smtClean="0">
                            <a:latin typeface="Cambria Math"/>
                          </a:rPr>
                          <m:t>𝑡</m:t>
                        </m:r>
                      </m:sub>
                    </m:sSub>
                  </m:oMath>
                </a14:m>
                <a:r>
                  <a:rPr lang="zh-TW" altLang="en-US" sz="2200" dirty="0" smtClean="0"/>
                  <a:t/>
                </a:r>
                <a:r>
                  <a:rPr lang="en-US" altLang="zh-TW" sz="2200" dirty="0" smtClean="0"/>
                  <a:t>independent</a:t>
                </a:r>
                <a:endParaRPr lang="zh-TW" altLang="en-US" sz="2200" dirty="0"/>
              </a:p>
              <a:p>
                <a:pPr marL="342900" indent="-342900">
                  <a:buFont typeface="Arial" panose="020B0604020202020204" pitchFamily="34" charset="0"/>
                  <a:buChar char="•"/>
                </a:pPr>
                <a:endParaRPr lang="zh-TW" altLang="en-US" sz="2200" dirty="0"/>
              </a:p>
            </p:txBody>
          </p:sp>
        </mc:Choice>
        <mc:Fallback>
          <p:sp>
            <p:nvSpPr>
              <p:cNvPr id="6" name="文字方塊 5"/>
              <p:cNvSpPr txBox="1">
                <a:spLocks noRot="1" noChangeAspect="1" noMove="1" noResize="1" noEditPoints="1" noAdjustHandles="1" noChangeArrowheads="1" noChangeShapeType="1" noTextEdit="1"/>
              </p:cNvSpPr>
              <p:nvPr/>
            </p:nvSpPr>
            <p:spPr>
              <a:xfrm>
                <a:off x="192627" y="2710488"/>
                <a:ext cx="7367271" cy="3816429"/>
              </a:xfrm>
              <a:prstGeom prst="rect">
                <a:avLst/>
              </a:prstGeom>
              <a:blipFill rotWithShape="0">
                <a:blip r:embed="rId3"/>
                <a:stretch>
                  <a:fillRect l="-993" t="-1278"/>
                </a:stretch>
              </a:blipFill>
            </p:spPr>
            <p:txBody>
              <a:bodyPr/>
              <a:lstStyle/>
              <a:p>
                <a:r>
                  <a:rPr lang="zh-TW" altLang="en-US">
                    <a:noFill/>
                  </a:rPr>
                  <a:t> </a:t>
                </a:r>
              </a:p>
            </p:txBody>
          </p:sp>
        </mc:Fallback>
      </mc:AlternateContent>
      <p:sp>
        <p:nvSpPr>
          <p:cNvPr id="8" name="文字方塊 7"/>
          <p:cNvSpPr txBox="1"/>
          <p:nvPr/>
        </p:nvSpPr>
        <p:spPr>
          <a:xfrm>
            <a:off x="7149550" y="2603510"/>
            <a:ext cx="4535417" cy="2308324"/>
          </a:xfrm>
          <a:prstGeom prst="rect">
            <a:avLst/>
          </a:prstGeom>
          <a:noFill/>
        </p:spPr>
        <p:txBody>
          <a:bodyPr wrap="square" rtlCol="0">
            <a:spAutoFit/>
          </a:bodyPr>
          <a:lstStyle/>
          <a:p>
            <a:pPr marL="342900" indent="-342900">
              <a:buFont typeface="Arial" panose="020B0604020202020204" pitchFamily="34" charset="0"/>
              <a:buChar char="•"/>
            </a:pPr>
            <a:r>
              <a:rPr lang="zh-TW" altLang="en-US" sz="2400" dirty="0" smtClean="0"/>
              <a:t>系統在狀態轉移時會受到系統雜訊</a:t>
            </a:r>
            <a:r>
              <a:rPr lang="en-US" altLang="zh-TW" sz="2400" dirty="0" smtClean="0"/>
              <a:t>(</a:t>
            </a:r>
            <a:r>
              <a:rPr lang="en-US" altLang="zh-TW" sz="2400" b="1" dirty="0" err="1" smtClean="0"/>
              <a:t>w</a:t>
            </a:r>
            <a:r>
              <a:rPr lang="en-US" altLang="zh-TW" sz="2400" b="1" baseline="-25000" dirty="0" err="1" smtClean="0"/>
              <a:t>t</a:t>
            </a:r>
            <a:r>
              <a:rPr lang="en-US" altLang="zh-TW" sz="2400" dirty="0" smtClean="0"/>
              <a:t>)</a:t>
            </a:r>
            <a:r>
              <a:rPr lang="zh-TW" altLang="en-US" sz="2400" dirty="0" smtClean="0"/>
              <a:t>的影響。</a:t>
            </a:r>
            <a:endParaRPr lang="en-US" altLang="zh-TW" sz="2400" dirty="0" smtClean="0"/>
          </a:p>
          <a:p>
            <a:pPr marL="342900" indent="-342900">
              <a:buFont typeface="Arial" panose="020B0604020202020204" pitchFamily="34" charset="0"/>
              <a:buChar char="•"/>
            </a:pPr>
            <a:r>
              <a:rPr lang="zh-TW" altLang="en-US" sz="2400" dirty="0" smtClean="0"/>
              <a:t>量測資料時，也會受到量測誤差</a:t>
            </a:r>
            <a:r>
              <a:rPr lang="en-US" altLang="zh-TW" sz="2400" dirty="0" smtClean="0"/>
              <a:t>(</a:t>
            </a:r>
            <a:r>
              <a:rPr lang="en-US" altLang="zh-TW" sz="2400" b="1" dirty="0" err="1" smtClean="0"/>
              <a:t>v</a:t>
            </a:r>
            <a:r>
              <a:rPr lang="en-US" altLang="zh-TW" sz="2400" b="1" baseline="-25000" dirty="0" err="1" smtClean="0"/>
              <a:t>t</a:t>
            </a:r>
            <a:r>
              <a:rPr lang="en-US" altLang="zh-TW" sz="2400" dirty="0" smtClean="0"/>
              <a:t>)</a:t>
            </a:r>
            <a:r>
              <a:rPr lang="zh-TW" altLang="en-US" sz="2400" dirty="0" smtClean="0"/>
              <a:t>的影響。</a:t>
            </a:r>
            <a:endParaRPr lang="en-US" altLang="zh-TW" sz="2400" dirty="0" smtClean="0"/>
          </a:p>
          <a:p>
            <a:pPr marL="342900" indent="-342900">
              <a:buFont typeface="Arial" panose="020B0604020202020204" pitchFamily="34" charset="0"/>
              <a:buChar char="•"/>
            </a:pPr>
            <a:r>
              <a:rPr lang="en-US" altLang="zh-TW" sz="2400" dirty="0" smtClean="0">
                <a:solidFill>
                  <a:srgbClr val="FF0000"/>
                </a:solidFill>
              </a:rPr>
              <a:t>Goal: </a:t>
            </a:r>
            <a:r>
              <a:rPr lang="zh-TW" altLang="en-US" sz="2400" dirty="0" smtClean="0">
                <a:solidFill>
                  <a:srgbClr val="FF0000"/>
                </a:solidFill>
              </a:rPr>
              <a:t>如何估計出系統真正的狀態</a:t>
            </a:r>
            <a:r>
              <a:rPr lang="en-US" altLang="zh-TW" sz="2400" b="1" dirty="0" err="1" smtClean="0">
                <a:solidFill>
                  <a:srgbClr val="FF0000"/>
                </a:solidFill>
              </a:rPr>
              <a:t>x</a:t>
            </a:r>
            <a:r>
              <a:rPr lang="en-US" altLang="zh-TW" sz="2400" b="1" baseline="-25000" dirty="0" err="1" smtClean="0">
                <a:solidFill>
                  <a:srgbClr val="FF0000"/>
                </a:solidFill>
              </a:rPr>
              <a:t>t</a:t>
            </a:r>
            <a:r>
              <a:rPr lang="en-US" altLang="zh-TW" sz="2400" dirty="0" smtClean="0">
                <a:solidFill>
                  <a:srgbClr val="FF0000"/>
                </a:solidFill>
              </a:rPr>
              <a:t>, t=12,…</a:t>
            </a:r>
            <a:endParaRPr lang="zh-TW" altLang="en-US" sz="2400" dirty="0">
              <a:solidFill>
                <a:srgbClr val="FF0000"/>
              </a:solidFill>
            </a:endParaRPr>
          </a:p>
        </p:txBody>
      </p:sp>
      <p:sp>
        <p:nvSpPr>
          <p:cNvPr id="4" name="文字方塊 3"/>
          <p:cNvSpPr txBox="1"/>
          <p:nvPr/>
        </p:nvSpPr>
        <p:spPr>
          <a:xfrm>
            <a:off x="7896230" y="741833"/>
            <a:ext cx="3362977" cy="646331"/>
          </a:xfrm>
          <a:prstGeom prst="rect">
            <a:avLst/>
          </a:prstGeom>
          <a:noFill/>
        </p:spPr>
        <p:txBody>
          <a:bodyPr wrap="square" rtlCol="0">
            <a:spAutoFit/>
          </a:bodyPr>
          <a:lstStyle/>
          <a:p>
            <a:r>
              <a:rPr lang="en-US" altLang="zh-TW" dirty="0" smtClean="0">
                <a:solidFill>
                  <a:srgbClr val="00B050"/>
                </a:solidFill>
                <a:latin typeface="Calibri" panose="020F0502020204030204" pitchFamily="34" charset="0"/>
              </a:rPr>
              <a:t>■: unknown</a:t>
            </a:r>
          </a:p>
          <a:p>
            <a:r>
              <a:rPr lang="en-US" altLang="zh-TW" dirty="0" smtClean="0">
                <a:solidFill>
                  <a:srgbClr val="00B0F0"/>
                </a:solidFill>
                <a:latin typeface="Calibri" panose="020F0502020204030204" pitchFamily="34" charset="0"/>
              </a:rPr>
              <a:t>■: known or specified by users</a:t>
            </a:r>
            <a:endParaRPr lang="zh-TW" altLang="en-US" dirty="0">
              <a:solidFill>
                <a:srgbClr val="00B0F0"/>
              </a:solidFill>
            </a:endParaRPr>
          </a:p>
        </p:txBody>
      </p:sp>
      <p:pic>
        <p:nvPicPr>
          <p:cNvPr id="9" name="圖片 8"/>
          <p:cNvPicPr>
            <a:picLocks noChangeAspect="1"/>
          </p:cNvPicPr>
          <p:nvPr/>
        </p:nvPicPr>
        <p:blipFill>
          <a:blip r:embed="rId4">
            <a:extLst>
              <a:ext uri="{28A0092B-C50C-407E-A947-70E740481C1C}">
                <a14:useLocalDpi xmlns:a14="http://schemas.microsoft.com/office/drawing/2010/main" xmlns=""/>
              </a:ext>
            </a:extLst>
          </a:blip>
          <a:stretch>
            <a:fillRect/>
          </a:stretch>
        </p:blipFill>
        <p:spPr>
          <a:xfrm>
            <a:off x="8171353" y="5076881"/>
            <a:ext cx="2491810" cy="1644594"/>
          </a:xfrm>
          <a:prstGeom prst="rect">
            <a:avLst/>
          </a:prstGeom>
        </p:spPr>
      </p:pic>
    </p:spTree>
    <p:extLst>
      <p:ext uri="{BB962C8B-B14F-4D97-AF65-F5344CB8AC3E}">
        <p14:creationId xmlns:p14="http://schemas.microsoft.com/office/powerpoint/2010/main" xmlns="" val="19134516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Kalman filter example</a:t>
            </a:r>
            <a:endParaRPr lang="zh-TW" altLang="en-US" dirty="0"/>
          </a:p>
        </p:txBody>
      </p:sp>
      <p:sp>
        <p:nvSpPr>
          <p:cNvPr id="3" name="矩形 2"/>
          <p:cNvSpPr/>
          <p:nvPr/>
        </p:nvSpPr>
        <p:spPr>
          <a:xfrm>
            <a:off x="6728058" y="857140"/>
            <a:ext cx="4658070" cy="369332"/>
          </a:xfrm>
          <a:prstGeom prst="rect">
            <a:avLst/>
          </a:prstGeom>
        </p:spPr>
        <p:txBody>
          <a:bodyPr wrap="none">
            <a:spAutoFit/>
          </a:bodyPr>
          <a:lstStyle/>
          <a:p>
            <a:r>
              <a:rPr lang="zh-TW" altLang="en-US" dirty="0"/>
              <a:t>http://wiki.scipy.org/Cookbook/KalmanFiltering</a:t>
            </a:r>
          </a:p>
        </p:txBody>
      </p:sp>
      <p:sp>
        <p:nvSpPr>
          <p:cNvPr id="6" name="Rectangle 3"/>
          <p:cNvSpPr>
            <a:spLocks noChangeArrowheads="1"/>
          </p:cNvSpPr>
          <p:nvPr/>
        </p:nvSpPr>
        <p:spPr bwMode="auto">
          <a:xfrm>
            <a:off x="541158" y="1889363"/>
            <a:ext cx="9530120" cy="4228850"/>
          </a:xfrm>
          <a:prstGeom prst="rect">
            <a:avLst/>
          </a:prstGeom>
          <a:solidFill>
            <a:srgbClr val="F0F0F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zh-TW" altLang="zh-TW" sz="1400" b="1" i="0" u="none" strike="noStrike" cap="none" normalizeH="0" baseline="0" dirty="0" smtClean="0">
                <a:ln>
                  <a:noFill/>
                </a:ln>
                <a:solidFill>
                  <a:srgbClr val="007020"/>
                </a:solidFill>
                <a:effectLst/>
                <a:latin typeface="Consolas" panose="020B0609020204030204" pitchFamily="49" charset="0"/>
                <a:cs typeface="Consolas" panose="020B0609020204030204" pitchFamily="49" charset="0"/>
              </a:rPr>
              <a:t>import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1" i="0" u="none" strike="noStrike" cap="none" normalizeH="0" baseline="0" dirty="0" smtClean="0">
                <a:ln>
                  <a:noFill/>
                </a:ln>
                <a:solidFill>
                  <a:srgbClr val="0E84B5"/>
                </a:solidFill>
                <a:effectLst/>
                <a:latin typeface="Consolas" panose="020B0609020204030204" pitchFamily="49" charset="0"/>
                <a:cs typeface="Consolas" panose="020B0609020204030204" pitchFamily="49" charset="0"/>
              </a:rPr>
              <a:t>numpy</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zh-TW" altLang="zh-TW" sz="1400" b="1" i="0" u="none" strike="noStrike" cap="none" normalizeH="0" baseline="0" dirty="0" smtClean="0">
                <a:ln>
                  <a:noFill/>
                </a:ln>
                <a:solidFill>
                  <a:srgbClr val="007020"/>
                </a:solidFill>
                <a:effectLst/>
                <a:latin typeface="Consolas" panose="020B0609020204030204" pitchFamily="49" charset="0"/>
                <a:cs typeface="Consolas" panose="020B0609020204030204" pitchFamily="49" charset="0"/>
              </a:rPr>
              <a:t>import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1" i="0" u="none" strike="noStrike" cap="none" normalizeH="0" baseline="0" dirty="0" smtClean="0">
                <a:ln>
                  <a:noFill/>
                </a:ln>
                <a:solidFill>
                  <a:srgbClr val="0E84B5"/>
                </a:solidFill>
                <a:effectLst/>
                <a:latin typeface="Consolas" panose="020B0609020204030204" pitchFamily="49" charset="0"/>
                <a:cs typeface="Consolas" panose="020B0609020204030204" pitchFamily="49" charset="0"/>
              </a:rPr>
              <a:t>pylab</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zh-TW" altLang="zh-TW" sz="1400" b="0" i="1" u="none" strike="noStrike" cap="none" normalizeH="0" baseline="0" dirty="0" smtClean="0">
                <a:ln>
                  <a:noFill/>
                </a:ln>
                <a:solidFill>
                  <a:srgbClr val="60A0B0"/>
                </a:solidFill>
                <a:effectLst/>
                <a:latin typeface="Consolas" panose="020B0609020204030204" pitchFamily="49" charset="0"/>
                <a:cs typeface="Consolas" panose="020B0609020204030204" pitchFamily="49" charset="0"/>
              </a:rPr>
              <a:t># intial parameters</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zh-TW" altLang="zh-TW" sz="1400" b="0" i="0" u="none" strike="noStrike" cap="none" normalizeH="0" baseline="0" dirty="0" smtClean="0">
                <a:ln>
                  <a:noFill/>
                </a:ln>
                <a:solidFill>
                  <a:schemeClr val="tx1"/>
                </a:solidFill>
                <a:effectLst/>
                <a:latin typeface="Arial" panose="020B0604020202020204" pitchFamily="34" charset="0"/>
              </a:rPr>
              <a:t>n_iter</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40A070"/>
                </a:solidFill>
                <a:effectLst/>
                <a:latin typeface="Consolas" panose="020B0609020204030204" pitchFamily="49" charset="0"/>
                <a:cs typeface="Consolas" panose="020B0609020204030204" pitchFamily="49" charset="0"/>
              </a:rPr>
              <a:t>50</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zh-TW" altLang="zh-TW" sz="1400" b="0" i="0" u="none" strike="noStrike" cap="none" normalizeH="0" baseline="0" dirty="0" smtClean="0">
                <a:ln>
                  <a:noFill/>
                </a:ln>
                <a:solidFill>
                  <a:schemeClr val="tx1"/>
                </a:solidFill>
                <a:effectLst/>
                <a:latin typeface="Arial" panose="020B0604020202020204" pitchFamily="34" charset="0"/>
              </a:rPr>
              <a:t>sz</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chemeClr val="tx1"/>
                </a:solidFill>
                <a:effectLst/>
                <a:latin typeface="Arial" panose="020B0604020202020204" pitchFamily="34" charset="0"/>
              </a:rPr>
              <a:t>n_iter</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1" u="none" strike="noStrike" cap="none" normalizeH="0" baseline="0" dirty="0" smtClean="0">
                <a:ln>
                  <a:noFill/>
                </a:ln>
                <a:solidFill>
                  <a:srgbClr val="60A0B0"/>
                </a:solidFill>
                <a:effectLst/>
                <a:latin typeface="Consolas" panose="020B0609020204030204" pitchFamily="49" charset="0"/>
                <a:cs typeface="Consolas" panose="020B0609020204030204" pitchFamily="49" charset="0"/>
              </a:rPr>
              <a:t># size of array</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zh-TW" altLang="zh-TW" sz="1400" b="0" i="0" u="none" strike="noStrike" cap="none" normalizeH="0" baseline="0" dirty="0" smtClean="0">
                <a:ln>
                  <a:noFill/>
                </a:ln>
                <a:solidFill>
                  <a:schemeClr val="tx1"/>
                </a:solidFill>
                <a:effectLst/>
                <a:latin typeface="Arial" panose="020B0604020202020204" pitchFamily="34" charset="0"/>
              </a:rPr>
              <a:t>x</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rgbClr val="40A070"/>
                </a:solidFill>
                <a:effectLst/>
                <a:latin typeface="Consolas" panose="020B0609020204030204" pitchFamily="49" charset="0"/>
                <a:cs typeface="Consolas" panose="020B0609020204030204" pitchFamily="49" charset="0"/>
              </a:rPr>
              <a:t>0.37727</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1" u="none" strike="noStrike" cap="none" normalizeH="0" baseline="0" dirty="0" smtClean="0">
                <a:ln>
                  <a:noFill/>
                </a:ln>
                <a:solidFill>
                  <a:srgbClr val="60A0B0"/>
                </a:solidFill>
                <a:effectLst/>
                <a:latin typeface="Consolas" panose="020B0609020204030204" pitchFamily="49" charset="0"/>
                <a:cs typeface="Consolas" panose="020B0609020204030204" pitchFamily="49" charset="0"/>
              </a:rPr>
              <a:t># truth value </a:t>
            </a:r>
            <a:endParaRPr kumimoji="0" lang="en-US" altLang="zh-TW" sz="1400" b="0" i="1" u="none" strike="noStrike" cap="none" normalizeH="0" baseline="0" dirty="0" smtClean="0">
              <a:ln>
                <a:noFill/>
              </a:ln>
              <a:solidFill>
                <a:srgbClr val="60A0B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zh-TW" altLang="zh-TW" sz="1400" b="0" i="0" u="none" strike="noStrike" cap="none" normalizeH="0" baseline="0" dirty="0" smtClean="0">
                <a:ln>
                  <a:noFill/>
                </a:ln>
                <a:solidFill>
                  <a:schemeClr val="tx1"/>
                </a:solidFill>
                <a:effectLst/>
                <a:latin typeface="Arial" panose="020B0604020202020204" pitchFamily="34" charset="0"/>
              </a:rPr>
              <a:t>z</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chemeClr val="tx1"/>
                </a:solidFill>
                <a:effectLst/>
                <a:latin typeface="Arial" panose="020B0604020202020204" pitchFamily="34" charset="0"/>
              </a:rPr>
              <a:t>numpy</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random</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normal</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x</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40A070"/>
                </a:solidFill>
                <a:effectLst/>
                <a:latin typeface="Consolas" panose="020B0609020204030204" pitchFamily="49" charset="0"/>
                <a:cs typeface="Consolas" panose="020B0609020204030204" pitchFamily="49" charset="0"/>
              </a:rPr>
              <a:t>0.1</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chemeClr val="tx1"/>
                </a:solidFill>
                <a:effectLst/>
                <a:latin typeface="Arial" panose="020B0604020202020204" pitchFamily="34" charset="0"/>
              </a:rPr>
              <a:t>size</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sz</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1" u="none" strike="noStrike" cap="none" normalizeH="0" baseline="0" dirty="0" smtClean="0">
                <a:ln>
                  <a:noFill/>
                </a:ln>
                <a:solidFill>
                  <a:srgbClr val="60A0B0"/>
                </a:solidFill>
                <a:effectLst/>
                <a:latin typeface="Consolas" panose="020B0609020204030204" pitchFamily="49" charset="0"/>
                <a:cs typeface="Consolas" panose="020B0609020204030204" pitchFamily="49" charset="0"/>
              </a:rPr>
              <a:t># observations (normal about x, sigma=0.1)</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zh-TW" altLang="zh-TW" sz="1400" b="0" i="0" u="none" strike="noStrike" cap="none" normalizeH="0" baseline="0" dirty="0" smtClean="0">
                <a:ln>
                  <a:noFill/>
                </a:ln>
                <a:solidFill>
                  <a:schemeClr val="tx1"/>
                </a:solidFill>
                <a:effectLst/>
                <a:latin typeface="Arial" panose="020B0604020202020204" pitchFamily="34" charset="0"/>
              </a:rPr>
              <a:t>Q</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40A070"/>
                </a:solidFill>
                <a:effectLst/>
                <a:latin typeface="Consolas" panose="020B0609020204030204" pitchFamily="49" charset="0"/>
                <a:cs typeface="Consolas" panose="020B0609020204030204" pitchFamily="49" charset="0"/>
              </a:rPr>
              <a:t>1e-5</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1" u="none" strike="noStrike" cap="none" normalizeH="0" baseline="0" dirty="0" smtClean="0">
                <a:ln>
                  <a:noFill/>
                </a:ln>
                <a:solidFill>
                  <a:srgbClr val="60A0B0"/>
                </a:solidFill>
                <a:effectLst/>
                <a:latin typeface="Consolas" panose="020B0609020204030204" pitchFamily="49" charset="0"/>
                <a:cs typeface="Consolas" panose="020B0609020204030204" pitchFamily="49" charset="0"/>
              </a:rPr>
              <a:t># process variance</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endParaRPr kumimoji="0" lang="en-US" altLang="zh-TW" sz="1400" b="0" i="1" u="none" strike="noStrike" cap="none" normalizeH="0" baseline="0" dirty="0" smtClean="0">
              <a:ln>
                <a:noFill/>
              </a:ln>
              <a:solidFill>
                <a:srgbClr val="60A0B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zh-TW" altLang="zh-TW" sz="1400" b="0" i="1" u="none" strike="noStrike" cap="none" normalizeH="0" baseline="0" dirty="0" smtClean="0">
                <a:ln>
                  <a:noFill/>
                </a:ln>
                <a:solidFill>
                  <a:srgbClr val="60A0B0"/>
                </a:solidFill>
                <a:effectLst/>
                <a:latin typeface="Consolas" panose="020B0609020204030204" pitchFamily="49" charset="0"/>
                <a:cs typeface="Consolas" panose="020B0609020204030204" pitchFamily="49" charset="0"/>
              </a:rPr>
              <a:t># allocate space for arrays</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zh-TW" altLang="zh-TW" sz="1400" b="0" i="0" u="none" strike="noStrike" cap="none" normalizeH="0" baseline="0" dirty="0" smtClean="0">
                <a:ln>
                  <a:noFill/>
                </a:ln>
                <a:solidFill>
                  <a:schemeClr val="tx1"/>
                </a:solidFill>
                <a:effectLst/>
                <a:latin typeface="Arial" panose="020B0604020202020204" pitchFamily="34" charset="0"/>
              </a:rPr>
              <a:t>xhat</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numpy</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zeros</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sz</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1" u="none" strike="noStrike" cap="none" normalizeH="0" baseline="0" dirty="0" smtClean="0">
                <a:ln>
                  <a:noFill/>
                </a:ln>
                <a:solidFill>
                  <a:srgbClr val="60A0B0"/>
                </a:solidFill>
                <a:effectLst/>
                <a:latin typeface="Consolas" panose="020B0609020204030204" pitchFamily="49" charset="0"/>
                <a:cs typeface="Consolas" panose="020B0609020204030204" pitchFamily="49" charset="0"/>
              </a:rPr>
              <a:t># a posteri estimate of x</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zh-TW" altLang="zh-TW" sz="1400" b="0" i="0" u="none" strike="noStrike" cap="none" normalizeH="0" baseline="0" dirty="0" smtClean="0">
                <a:ln>
                  <a:noFill/>
                </a:ln>
                <a:solidFill>
                  <a:schemeClr val="tx1"/>
                </a:solidFill>
                <a:effectLst/>
                <a:latin typeface="Arial" panose="020B0604020202020204" pitchFamily="34" charset="0"/>
              </a:rPr>
              <a:t>P</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numpy</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zeros</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sz</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1" u="none" strike="noStrike" cap="none" normalizeH="0" baseline="0" dirty="0" smtClean="0">
                <a:ln>
                  <a:noFill/>
                </a:ln>
                <a:solidFill>
                  <a:srgbClr val="60A0B0"/>
                </a:solidFill>
                <a:effectLst/>
                <a:latin typeface="Consolas" panose="020B0609020204030204" pitchFamily="49" charset="0"/>
                <a:cs typeface="Consolas" panose="020B0609020204030204" pitchFamily="49" charset="0"/>
              </a:rPr>
              <a:t># a posteri error estimate</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zh-TW" altLang="zh-TW" sz="1400" b="0" i="0" u="none" strike="noStrike" cap="none" normalizeH="0" baseline="0" dirty="0" smtClean="0">
                <a:ln>
                  <a:noFill/>
                </a:ln>
                <a:solidFill>
                  <a:schemeClr val="tx1"/>
                </a:solidFill>
                <a:effectLst/>
                <a:latin typeface="Arial" panose="020B0604020202020204" pitchFamily="34" charset="0"/>
              </a:rPr>
              <a:t>xhatminus</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numpy</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zeros</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sz</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1" u="none" strike="noStrike" cap="none" normalizeH="0" baseline="0" dirty="0" smtClean="0">
                <a:ln>
                  <a:noFill/>
                </a:ln>
                <a:solidFill>
                  <a:srgbClr val="60A0B0"/>
                </a:solidFill>
                <a:effectLst/>
                <a:latin typeface="Consolas" panose="020B0609020204030204" pitchFamily="49" charset="0"/>
                <a:cs typeface="Consolas" panose="020B0609020204030204" pitchFamily="49" charset="0"/>
              </a:rPr>
              <a:t># a priori estimate of x</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zh-TW" altLang="zh-TW" sz="1400" b="0" i="0" u="none" strike="noStrike" cap="none" normalizeH="0" baseline="0" dirty="0" smtClean="0">
                <a:ln>
                  <a:noFill/>
                </a:ln>
                <a:solidFill>
                  <a:schemeClr val="tx1"/>
                </a:solidFill>
                <a:effectLst/>
                <a:latin typeface="Arial" panose="020B0604020202020204" pitchFamily="34" charset="0"/>
              </a:rPr>
              <a:t>Pminus</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numpy</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zeros</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sz</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1" u="none" strike="noStrike" cap="none" normalizeH="0" baseline="0" dirty="0" smtClean="0">
                <a:ln>
                  <a:noFill/>
                </a:ln>
                <a:solidFill>
                  <a:srgbClr val="60A0B0"/>
                </a:solidFill>
                <a:effectLst/>
                <a:latin typeface="Consolas" panose="020B0609020204030204" pitchFamily="49" charset="0"/>
                <a:cs typeface="Consolas" panose="020B0609020204030204" pitchFamily="49" charset="0"/>
              </a:rPr>
              <a:t># a priori error estimate</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zh-TW" altLang="zh-TW" sz="1400" b="0" i="0" u="none" strike="noStrike" cap="none" normalizeH="0" baseline="0" dirty="0" smtClean="0">
                <a:ln>
                  <a:noFill/>
                </a:ln>
                <a:solidFill>
                  <a:schemeClr val="tx1"/>
                </a:solidFill>
                <a:effectLst/>
                <a:latin typeface="Arial" panose="020B0604020202020204" pitchFamily="34" charset="0"/>
              </a:rPr>
              <a:t>K</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numpy</a:t>
            </a:r>
            <a:r>
              <a:rPr kumimoji="0" lang="zh-TW" altLang="zh-TW" sz="1400" b="0" i="0" u="none" strike="noStrike" cap="none" normalizeH="0" baseline="0" dirty="0" smtClean="0">
                <a:ln>
                  <a:noFill/>
                </a:ln>
                <a:solidFill>
                  <a:srgbClr val="666666"/>
                </a:solidFill>
                <a:effectLst/>
                <a:latin typeface="Arial" panose="020B0604020202020204" pitchFamily="34"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zeros</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latin typeface="Arial" panose="020B0604020202020204" pitchFamily="34" charset="0"/>
              </a:rPr>
              <a:t>sz</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1" u="none" strike="noStrike" cap="none" normalizeH="0" baseline="0" dirty="0" smtClean="0">
                <a:ln>
                  <a:noFill/>
                </a:ln>
                <a:solidFill>
                  <a:srgbClr val="60A0B0"/>
                </a:solidFill>
                <a:effectLst/>
                <a:latin typeface="Consolas" panose="020B0609020204030204" pitchFamily="49" charset="0"/>
                <a:cs typeface="Consolas" panose="020B0609020204030204" pitchFamily="49" charset="0"/>
              </a:rPr>
              <a:t># gain or blending factor</a:t>
            </a:r>
            <a:r>
              <a:rPr kumimoji="0" lang="zh-TW" altLang="zh-TW" sz="1400" b="0" i="0" u="none" strike="noStrike" cap="none" normalizeH="0" baseline="0" dirty="0" smtClean="0">
                <a:ln>
                  <a:noFill/>
                </a:ln>
                <a:solidFill>
                  <a:schemeClr val="tx1"/>
                </a:solidFill>
                <a:effectLst/>
              </a:rPr>
              <a:t> </a:t>
            </a:r>
            <a:endParaRPr kumimoji="0" lang="zh-TW" altLang="zh-TW" sz="1400" b="0" i="0" u="none" strike="noStrike" cap="none" normalizeH="0" baseline="0" dirty="0" smtClean="0">
              <a:ln>
                <a:noFill/>
              </a:ln>
              <a:solidFill>
                <a:schemeClr val="tx1"/>
              </a:solidFill>
              <a:effectLst/>
              <a:latin typeface="Arial" panose="020B0604020202020204" pitchFamily="34" charset="0"/>
            </a:endParaRPr>
          </a:p>
        </p:txBody>
      </p:sp>
      <mc:AlternateContent xmlns:mc="http://schemas.openxmlformats.org/markup-compatibility/2006">
        <mc:Choice xmlns:a14="http://schemas.microsoft.com/office/drawing/2010/main" xmlns="" Requires="a14">
          <p:sp>
            <p:nvSpPr>
              <p:cNvPr id="8" name="圓角矩形 7"/>
              <p:cNvSpPr/>
              <p:nvPr/>
            </p:nvSpPr>
            <p:spPr>
              <a:xfrm>
                <a:off x="5149672" y="1507128"/>
                <a:ext cx="5937992" cy="83712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14:m>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𝑨</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r>
                          <a:rPr lang="en-US" altLang="zh-TW" sz="2400" b="1" i="1">
                            <a:latin typeface="Cambria Math"/>
                          </a:rPr>
                          <m:t>−</m:t>
                        </m:r>
                        <m:r>
                          <a:rPr lang="en-US" altLang="zh-TW" sz="2400" b="1" i="1">
                            <a:latin typeface="Cambria Math"/>
                          </a:rPr>
                          <m:t>𝟏</m:t>
                        </m:r>
                      </m:sub>
                    </m:sSub>
                    <m:r>
                      <a:rPr lang="en-US" altLang="zh-TW" sz="2400" b="1"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𝑩</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𝒖</m:t>
                        </m:r>
                      </m:e>
                      <m:sub>
                        <m:r>
                          <a:rPr lang="en-US" altLang="zh-TW" sz="2400" b="1" i="1" smtClean="0">
                            <a:latin typeface="Cambria Math"/>
                          </a:rPr>
                          <m:t>𝒕</m:t>
                        </m:r>
                      </m:sub>
                    </m:sSub>
                    <m:r>
                      <a:rPr lang="en-US" altLang="zh-TW" sz="2400" b="1"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𝒘</m:t>
                        </m:r>
                      </m:e>
                      <m:sub>
                        <m:r>
                          <a:rPr lang="en-US" altLang="zh-TW" sz="2400" b="1" i="1" smtClean="0">
                            <a:latin typeface="Cambria Math"/>
                          </a:rPr>
                          <m:t>𝒕</m:t>
                        </m:r>
                      </m:sub>
                    </m:sSub>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𝒘</m:t>
                        </m:r>
                      </m:e>
                      <m:sub>
                        <m:r>
                          <a:rPr lang="en-US" altLang="zh-TW" sz="2400" b="1" i="1" smtClean="0">
                            <a:latin typeface="Cambria Math"/>
                          </a:rPr>
                          <m:t>𝒕</m:t>
                        </m:r>
                      </m:sub>
                    </m:sSub>
                    <m:r>
                      <a:rPr lang="en-US" altLang="zh-TW" sz="2400" b="1" i="1" smtClean="0">
                        <a:latin typeface="Cambria Math"/>
                      </a:rPr>
                      <m:t>~</m:t>
                    </m:r>
                    <m:r>
                      <a:rPr lang="en-US" altLang="zh-TW" sz="2400" b="1" i="1" smtClean="0">
                        <a:latin typeface="Cambria Math"/>
                      </a:rPr>
                      <m:t>𝑵</m:t>
                    </m:r>
                    <m:r>
                      <a:rPr lang="en-US" altLang="zh-TW" sz="2400" b="1" i="1" smtClean="0">
                        <a:latin typeface="Cambria Math"/>
                      </a:rPr>
                      <m:t>(</m:t>
                    </m:r>
                    <m:r>
                      <a:rPr lang="en-US" altLang="zh-TW" sz="2400" b="1" i="1" smtClean="0">
                        <a:latin typeface="Cambria Math"/>
                      </a:rPr>
                      <m:t>𝟎</m:t>
                    </m:r>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𝑸</m:t>
                        </m:r>
                      </m:e>
                      <m:sub>
                        <m:r>
                          <a:rPr lang="en-US" altLang="zh-TW" sz="2400" b="1" i="1" smtClean="0">
                            <a:latin typeface="Cambria Math"/>
                          </a:rPr>
                          <m:t>𝒕</m:t>
                        </m:r>
                      </m:sub>
                    </m:sSub>
                    <m:r>
                      <a:rPr lang="en-US" altLang="zh-TW" sz="2400" b="1" i="1" smtClean="0">
                        <a:latin typeface="Cambria Math"/>
                      </a:rPr>
                      <m:t>)</m:t>
                    </m:r>
                  </m:oMath>
                </a14:m>
                <a:r>
                  <a:rPr lang="en-US" altLang="zh-TW" sz="2400" b="1" dirty="0" smtClean="0"/>
                  <a:t/>
                </a:r>
                <a:endParaRPr lang="en-US" altLang="zh-TW" sz="2400" b="1" i="1" dirty="0" smtClean="0">
                  <a:latin typeface="Cambria Math"/>
                </a:endParaRPr>
              </a:p>
              <a:p>
                <a:pPr/>
                <a14:m>
                  <m:oMathPara xmlns:m="http://schemas.openxmlformats.org/officeDocument/2006/math">
                    <m:oMathParaPr>
                      <m:jc m:val="left"/>
                    </m:oMathParaPr>
                    <m:oMath xmlns:m="http://schemas.openxmlformats.org/officeDocument/2006/math">
                      <m:sSub>
                        <m:sSubPr>
                          <m:ctrlPr>
                            <a:rPr lang="en-US" altLang="zh-TW" sz="2400" b="1" i="1">
                              <a:latin typeface="Cambria Math" panose="02040503050406030204" pitchFamily="18" charset="0"/>
                            </a:rPr>
                          </m:ctrlPr>
                        </m:sSubPr>
                        <m:e>
                          <m:r>
                            <a:rPr lang="en-US" altLang="zh-TW" sz="2400" b="1" i="1" smtClean="0">
                              <a:latin typeface="Cambria Math" panose="02040503050406030204" pitchFamily="18" charset="0"/>
                            </a:rPr>
                            <m:t>𝒛</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𝑯</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𝒗</m:t>
                          </m:r>
                        </m:e>
                        <m:sub>
                          <m:r>
                            <a:rPr lang="en-US" altLang="zh-TW" sz="2400" b="1" i="1" smtClean="0">
                              <a:latin typeface="Cambria Math"/>
                            </a:rPr>
                            <m:t>𝒕</m:t>
                          </m:r>
                        </m:sub>
                      </m:sSub>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𝒗</m:t>
                          </m:r>
                        </m:e>
                        <m:sub>
                          <m:r>
                            <a:rPr lang="en-US" altLang="zh-TW" sz="2400" b="1" i="1" smtClean="0">
                              <a:latin typeface="Cambria Math"/>
                            </a:rPr>
                            <m:t>𝒕</m:t>
                          </m:r>
                        </m:sub>
                      </m:sSub>
                      <m:r>
                        <a:rPr lang="en-US" altLang="zh-TW" sz="2400" b="1" i="1" smtClean="0">
                          <a:latin typeface="Cambria Math"/>
                        </a:rPr>
                        <m:t>~</m:t>
                      </m:r>
                      <m:r>
                        <a:rPr lang="en-US" altLang="zh-TW" sz="2400" b="1" i="1" smtClean="0">
                          <a:latin typeface="Cambria Math"/>
                        </a:rPr>
                        <m:t>𝑵</m:t>
                      </m:r>
                      <m:r>
                        <a:rPr lang="en-US" altLang="zh-TW" sz="2400" b="1" i="1" smtClean="0">
                          <a:latin typeface="Cambria Math"/>
                        </a:rPr>
                        <m:t>(</m:t>
                      </m:r>
                      <m:r>
                        <a:rPr lang="en-US" altLang="zh-TW" sz="2400" b="1" i="1" smtClean="0">
                          <a:latin typeface="Cambria Math"/>
                        </a:rPr>
                        <m:t>𝟎</m:t>
                      </m:r>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𝑹</m:t>
                          </m:r>
                        </m:e>
                        <m:sub>
                          <m:r>
                            <a:rPr lang="en-US" altLang="zh-TW" sz="2400" b="1" i="1" smtClean="0">
                              <a:latin typeface="Cambria Math"/>
                            </a:rPr>
                            <m:t>𝒕</m:t>
                          </m:r>
                        </m:sub>
                      </m:sSub>
                      <m:r>
                        <a:rPr lang="en-US" altLang="zh-TW" sz="2400" b="1" i="1" smtClean="0">
                          <a:latin typeface="Cambria Math"/>
                        </a:rPr>
                        <m:t>)</m:t>
                      </m:r>
                    </m:oMath>
                  </m:oMathPara>
                </a14:m>
                <a:endParaRPr lang="zh-TW" altLang="en-US" sz="2400" dirty="0"/>
              </a:p>
            </p:txBody>
          </p:sp>
        </mc:Choice>
        <mc:Fallback>
          <p:sp>
            <p:nvSpPr>
              <p:cNvPr id="8" name="圓角矩形 7"/>
              <p:cNvSpPr>
                <a:spLocks noRot="1" noChangeAspect="1" noMove="1" noResize="1" noEditPoints="1" noAdjustHandles="1" noChangeArrowheads="1" noChangeShapeType="1" noTextEdit="1"/>
              </p:cNvSpPr>
              <p:nvPr/>
            </p:nvSpPr>
            <p:spPr>
              <a:xfrm>
                <a:off x="5149672" y="1507128"/>
                <a:ext cx="5937992" cy="837127"/>
              </a:xfrm>
              <a:prstGeom prst="roundRect">
                <a:avLst/>
              </a:prstGeom>
              <a:blipFill rotWithShape="1">
                <a:blip r:embed="rId2"/>
                <a:stretch>
                  <a:fillRect b="-7914"/>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41501191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90152" y="163502"/>
            <a:ext cx="11445771" cy="3388620"/>
          </a:xfrm>
          <a:prstGeom prst="rect">
            <a:avLst/>
          </a:prstGeom>
          <a:solidFill>
            <a:srgbClr val="F0F0F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zh-TW" altLang="zh-TW" sz="1400" b="0" i="0" u="none" strike="noStrike" cap="none" normalizeH="0" baseline="0" dirty="0" smtClean="0">
                <a:ln>
                  <a:noFill/>
                </a:ln>
                <a:solidFill>
                  <a:schemeClr val="tx1"/>
                </a:solidFill>
                <a:effectLst/>
              </a:rPr>
              <a:t>R</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40A070"/>
                </a:solidFill>
                <a:effectLst/>
                <a:latin typeface="Consolas" panose="020B0609020204030204" pitchFamily="49" charset="0"/>
                <a:cs typeface="Consolas" panose="020B0609020204030204" pitchFamily="49" charset="0"/>
              </a:rPr>
              <a:t>0.1</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rgbClr val="40A070"/>
                </a:solidFill>
                <a:effectLst/>
                <a:latin typeface="Consolas" panose="020B0609020204030204" pitchFamily="49" charset="0"/>
                <a:cs typeface="Consolas" panose="020B0609020204030204" pitchFamily="49" charset="0"/>
              </a:rPr>
              <a:t>2</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1" u="none" strike="noStrike" cap="none" normalizeH="0" baseline="0" dirty="0" smtClean="0">
                <a:ln>
                  <a:noFill/>
                </a:ln>
                <a:solidFill>
                  <a:srgbClr val="60A0B0"/>
                </a:solidFill>
                <a:effectLst/>
                <a:latin typeface="Consolas" panose="020B0609020204030204" pitchFamily="49" charset="0"/>
                <a:cs typeface="Consolas" panose="020B0609020204030204" pitchFamily="49" charset="0"/>
              </a:rPr>
              <a:t># estimate of measurement variance, change to see effect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1" u="none" strike="noStrike" cap="none" normalizeH="0" baseline="0" dirty="0" smtClean="0">
                <a:ln>
                  <a:noFill/>
                </a:ln>
                <a:solidFill>
                  <a:srgbClr val="60A0B0"/>
                </a:solidFill>
                <a:effectLst/>
                <a:latin typeface="Consolas" panose="020B0609020204030204" pitchFamily="49" charset="0"/>
                <a:cs typeface="Consolas" panose="020B0609020204030204" pitchFamily="49" charset="0"/>
              </a:rPr>
              <a:t># intial guesses</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zh-TW" altLang="zh-TW" sz="1400" b="0" i="0" u="none" strike="noStrike" cap="none" normalizeH="0" baseline="0" dirty="0" smtClean="0">
                <a:ln>
                  <a:noFill/>
                </a:ln>
                <a:solidFill>
                  <a:schemeClr val="tx1"/>
                </a:solidFill>
                <a:effectLst/>
              </a:rPr>
              <a:t>xhat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rgbClr val="40A070"/>
                </a:solidFill>
                <a:effectLst/>
                <a:latin typeface="Consolas" panose="020B0609020204030204" pitchFamily="49" charset="0"/>
                <a:cs typeface="Consolas" panose="020B0609020204030204" pitchFamily="49" charset="0"/>
              </a:rPr>
              <a:t>0</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40A070"/>
                </a:solidFill>
                <a:effectLst/>
                <a:latin typeface="Consolas" panose="020B0609020204030204" pitchFamily="49" charset="0"/>
                <a:cs typeface="Consolas" panose="020B0609020204030204" pitchFamily="49" charset="0"/>
              </a:rPr>
              <a:t>0.0</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zh-TW" altLang="zh-TW" sz="1400" b="0" i="0" u="none" strike="noStrike" cap="none" normalizeH="0" baseline="0" dirty="0" smtClean="0">
                <a:ln>
                  <a:noFill/>
                </a:ln>
                <a:solidFill>
                  <a:schemeClr val="tx1"/>
                </a:solidFill>
                <a:effectLst/>
              </a:rPr>
              <a:t>P</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rgbClr val="40A070"/>
                </a:solidFill>
                <a:effectLst/>
                <a:latin typeface="Consolas" panose="020B0609020204030204" pitchFamily="49" charset="0"/>
                <a:cs typeface="Consolas" panose="020B0609020204030204" pitchFamily="49" charset="0"/>
              </a:rPr>
              <a:t>0</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40A070"/>
                </a:solidFill>
                <a:effectLst/>
                <a:latin typeface="Consolas" panose="020B0609020204030204" pitchFamily="49" charset="0"/>
                <a:cs typeface="Consolas" panose="020B0609020204030204" pitchFamily="49" charset="0"/>
              </a:rPr>
              <a:t>1.0</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zh-TW" altLang="zh-TW" sz="1400" b="1" i="0" u="none" strike="noStrike" cap="none" normalizeH="0" baseline="0" dirty="0" smtClean="0">
                <a:ln>
                  <a:noFill/>
                </a:ln>
                <a:solidFill>
                  <a:srgbClr val="007020"/>
                </a:solidFill>
                <a:effectLst/>
                <a:latin typeface="Consolas" panose="020B0609020204030204" pitchFamily="49" charset="0"/>
                <a:cs typeface="Consolas" panose="020B0609020204030204" pitchFamily="49" charset="0"/>
              </a:rPr>
              <a:t>for</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1" i="0" u="none" strike="noStrike" cap="none" normalizeH="0" baseline="0" dirty="0" smtClean="0">
                <a:ln>
                  <a:noFill/>
                </a:ln>
                <a:solidFill>
                  <a:srgbClr val="007020"/>
                </a:solidFill>
                <a:effectLst/>
                <a:latin typeface="Consolas" panose="020B0609020204030204" pitchFamily="49" charset="0"/>
                <a:cs typeface="Consolas" panose="020B0609020204030204" pitchFamily="49" charset="0"/>
              </a:rPr>
              <a:t>in</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40A070"/>
                </a:solidFill>
                <a:effectLst/>
                <a:latin typeface="Consolas" panose="020B0609020204030204" pitchFamily="49" charset="0"/>
                <a:cs typeface="Consolas" panose="020B0609020204030204" pitchFamily="49" charset="0"/>
              </a:rPr>
              <a:t>1</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rPr>
              <a:t>n_iter</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lang="en-US" altLang="zh-TW" sz="1400" dirty="0">
                <a:solidFill>
                  <a:srgbClr val="000000"/>
                </a:solidFill>
                <a:latin typeface="Consolas" panose="020B0609020204030204" pitchFamily="49" charset="0"/>
                <a:cs typeface="Consolas" panose="020B0609020204030204" pitchFamily="49" charset="0"/>
              </a:rPr>
              <a:t> </a:t>
            </a:r>
            <a:r>
              <a:rPr lang="en-US" altLang="zh-TW" sz="1400" dirty="0" smtClean="0">
                <a:solidFill>
                  <a:srgbClr val="000000"/>
                </a:solidFill>
                <a:latin typeface="Consolas" panose="020B0609020204030204" pitchFamily="49" charset="0"/>
                <a:cs typeface="Consolas" panose="020B0609020204030204" pitchFamily="49" charset="0"/>
              </a:rPr>
              <a:t>   </a:t>
            </a:r>
            <a:r>
              <a:rPr kumimoji="0" lang="zh-TW" altLang="zh-TW" sz="1400" b="0" i="1" u="none" strike="noStrike" cap="none" normalizeH="0" baseline="0" dirty="0" smtClean="0">
                <a:ln>
                  <a:noFill/>
                </a:ln>
                <a:solidFill>
                  <a:srgbClr val="60A0B0"/>
                </a:solidFill>
                <a:effectLst/>
                <a:latin typeface="Consolas" panose="020B0609020204030204" pitchFamily="49" charset="0"/>
                <a:cs typeface="Consolas" panose="020B0609020204030204" pitchFamily="49" charset="0"/>
              </a:rPr>
              <a:t># time update</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lang="en-US" altLang="zh-TW" sz="1400" dirty="0">
                <a:solidFill>
                  <a:srgbClr val="000000"/>
                </a:solidFill>
                <a:latin typeface="Consolas" panose="020B0609020204030204" pitchFamily="49" charset="0"/>
                <a:cs typeface="Consolas" panose="020B0609020204030204" pitchFamily="49" charset="0"/>
              </a:rPr>
              <a:t> </a:t>
            </a:r>
            <a:r>
              <a:rPr lang="en-US" altLang="zh-TW" sz="1400" dirty="0" smtClean="0">
                <a:solidFill>
                  <a:srgbClr val="000000"/>
                </a:solidFill>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chemeClr val="tx1"/>
                </a:solidFill>
                <a:effectLst/>
              </a:rPr>
              <a:t>xhatminus</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chemeClr val="tx1"/>
                </a:solidFill>
                <a:effectLst/>
              </a:rPr>
              <a:t>xhat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rgbClr val="40A070"/>
                </a:solidFill>
                <a:effectLst/>
                <a:latin typeface="Consolas" panose="020B0609020204030204" pitchFamily="49" charset="0"/>
                <a:cs typeface="Consolas" panose="020B0609020204030204" pitchFamily="49" charset="0"/>
              </a:rPr>
              <a:t>1</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lang="en-US" altLang="zh-TW" sz="1400" dirty="0">
                <a:solidFill>
                  <a:srgbClr val="000000"/>
                </a:solidFill>
                <a:latin typeface="Consolas" panose="020B0609020204030204" pitchFamily="49" charset="0"/>
                <a:cs typeface="Consolas" panose="020B0609020204030204" pitchFamily="49" charset="0"/>
              </a:rPr>
              <a:t> </a:t>
            </a:r>
            <a:r>
              <a:rPr lang="en-US" altLang="zh-TW" sz="1400" dirty="0" smtClean="0">
                <a:solidFill>
                  <a:srgbClr val="000000"/>
                </a:solidFill>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chemeClr val="tx1"/>
                </a:solidFill>
                <a:effectLst/>
              </a:rPr>
              <a:t>Pminus</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chemeClr val="tx1"/>
                </a:solidFill>
                <a:effectLst/>
              </a:rPr>
              <a:t>P</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rgbClr val="40A070"/>
                </a:solidFill>
                <a:effectLst/>
                <a:latin typeface="Consolas" panose="020B0609020204030204" pitchFamily="49" charset="0"/>
                <a:cs typeface="Consolas" panose="020B0609020204030204" pitchFamily="49" charset="0"/>
              </a:rPr>
              <a:t>1</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chemeClr val="tx1"/>
                </a:solidFill>
                <a:effectLst/>
              </a:rPr>
              <a:t>Q</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lang="en-US" altLang="zh-TW" sz="1400" dirty="0">
                <a:solidFill>
                  <a:srgbClr val="000000"/>
                </a:solidFill>
                <a:latin typeface="Consolas" panose="020B0609020204030204" pitchFamily="49" charset="0"/>
                <a:cs typeface="Consolas" panose="020B0609020204030204" pitchFamily="49" charset="0"/>
              </a:rPr>
              <a:t> </a:t>
            </a:r>
            <a:r>
              <a:rPr lang="en-US" altLang="zh-TW" sz="1400" dirty="0" smtClean="0">
                <a:solidFill>
                  <a:srgbClr val="000000"/>
                </a:solidFill>
                <a:latin typeface="Consolas" panose="020B0609020204030204" pitchFamily="49" charset="0"/>
                <a:cs typeface="Consolas" panose="020B0609020204030204" pitchFamily="49" charset="0"/>
              </a:rPr>
              <a:t>   </a:t>
            </a:r>
            <a:r>
              <a:rPr kumimoji="0" lang="zh-TW" altLang="zh-TW" sz="1400" b="0" i="1" u="none" strike="noStrike" cap="none" normalizeH="0" baseline="0" dirty="0" smtClean="0">
                <a:ln>
                  <a:noFill/>
                </a:ln>
                <a:solidFill>
                  <a:srgbClr val="60A0B0"/>
                </a:solidFill>
                <a:effectLst/>
                <a:latin typeface="Consolas" panose="020B0609020204030204" pitchFamily="49" charset="0"/>
                <a:cs typeface="Consolas" panose="020B0609020204030204" pitchFamily="49" charset="0"/>
              </a:rPr>
              <a:t># measurement update</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lang="en-US" altLang="zh-TW" sz="1400" dirty="0">
                <a:solidFill>
                  <a:srgbClr val="000000"/>
                </a:solidFill>
                <a:latin typeface="Consolas" panose="020B0609020204030204" pitchFamily="49" charset="0"/>
                <a:cs typeface="Consolas" panose="020B0609020204030204" pitchFamily="49" charset="0"/>
              </a:rPr>
              <a:t> </a:t>
            </a:r>
            <a:r>
              <a:rPr lang="en-US" altLang="zh-TW" sz="1400" dirty="0" smtClean="0">
                <a:solidFill>
                  <a:srgbClr val="000000"/>
                </a:solidFill>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chemeClr val="tx1"/>
                </a:solidFill>
                <a:effectLst/>
              </a:rPr>
              <a:t>Pminus</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chemeClr val="tx1"/>
                </a:solidFill>
                <a:effectLst/>
              </a:rPr>
              <a:t>Pminus</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chemeClr val="tx1"/>
                </a:solidFill>
                <a:effectLst/>
              </a:rPr>
              <a:t>R</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lang="en-US" altLang="zh-TW" sz="1400" dirty="0">
                <a:solidFill>
                  <a:srgbClr val="000000"/>
                </a:solidFill>
                <a:latin typeface="Consolas" panose="020B0609020204030204" pitchFamily="49" charset="0"/>
                <a:cs typeface="Consolas" panose="020B0609020204030204" pitchFamily="49" charset="0"/>
              </a:rPr>
              <a:t> </a:t>
            </a:r>
            <a:r>
              <a:rPr lang="en-US" altLang="zh-TW" sz="1400" dirty="0" smtClean="0">
                <a:solidFill>
                  <a:srgbClr val="000000"/>
                </a:solidFill>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chemeClr val="tx1"/>
                </a:solidFill>
                <a:effectLst/>
              </a:rPr>
              <a:t>xhat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chemeClr val="tx1"/>
                </a:solidFill>
                <a:effectLst/>
              </a:rPr>
              <a:t>xhatminus</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rPr>
              <a:t>z</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chemeClr val="tx1"/>
                </a:solidFill>
                <a:effectLst/>
              </a:rPr>
              <a:t>xhatminus</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lang="en-US" altLang="zh-TW" sz="1400" dirty="0">
                <a:solidFill>
                  <a:srgbClr val="000000"/>
                </a:solidFill>
                <a:latin typeface="Consolas" panose="020B0609020204030204" pitchFamily="49" charset="0"/>
                <a:cs typeface="Consolas" panose="020B0609020204030204" pitchFamily="49" charset="0"/>
              </a:rPr>
              <a:t> </a:t>
            </a:r>
            <a:r>
              <a:rPr lang="en-US" altLang="zh-TW" sz="1400" dirty="0" smtClean="0">
                <a:solidFill>
                  <a:srgbClr val="000000"/>
                </a:solidFill>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chemeClr val="tx1"/>
                </a:solidFill>
                <a:effectLst/>
              </a:rPr>
              <a:t>P</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r>
              <a:rPr kumimoji="0" lang="zh-TW" altLang="zh-TW" sz="1400" b="0" i="0" u="none" strike="noStrike" cap="none" normalizeH="0" baseline="0" dirty="0" smtClean="0">
                <a:ln>
                  <a:noFill/>
                </a:ln>
                <a:solidFill>
                  <a:srgbClr val="40A070"/>
                </a:solidFill>
                <a:effectLst/>
                <a:latin typeface="Consolas" panose="020B0609020204030204" pitchFamily="49" charset="0"/>
                <a:cs typeface="Consolas" panose="020B0609020204030204" pitchFamily="49" charset="0"/>
              </a:rPr>
              <a:t>1</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rgbClr val="666666"/>
                </a:solidFill>
                <a:effectLst/>
              </a:rPr>
              <a:t>*</a:t>
            </a:r>
            <a:r>
              <a:rPr kumimoji="0" lang="zh-TW" altLang="zh-TW" sz="1400" b="0" i="0" u="none" strike="noStrike" cap="none" normalizeH="0" baseline="0" dirty="0" smtClean="0">
                <a:ln>
                  <a:noFill/>
                </a:ln>
                <a:solidFill>
                  <a:schemeClr val="tx1"/>
                </a:solidFill>
                <a:effectLst/>
              </a:rPr>
              <a:t>Pminus</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a:t>
            </a:r>
            <a:r>
              <a:rPr kumimoji="0" lang="zh-TW" altLang="zh-TW" sz="1400" b="0" i="0" u="none" strike="noStrike" cap="none" normalizeH="0" baseline="0" dirty="0" smtClean="0">
                <a:ln>
                  <a:noFill/>
                </a:ln>
                <a:solidFill>
                  <a:schemeClr val="tx1"/>
                </a:solidFill>
                <a:effectLst/>
              </a:rPr>
              <a:t>k</a:t>
            </a:r>
            <a:r>
              <a:rPr kumimoji="0" lang="zh-TW"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rPr>
              <a:t>] </a:t>
            </a:r>
            <a:endParaRPr kumimoji="0" lang="en-US" altLang="zh-TW" sz="1400" b="0" i="0" u="none" strike="noStrike" cap="none" normalizeH="0" baseline="0" dirty="0" smtClean="0">
              <a:ln>
                <a:noFill/>
              </a:ln>
              <a:solidFill>
                <a:srgbClr val="000000"/>
              </a:solidFill>
              <a:effectLst/>
              <a:latin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tabLst/>
            </a:pPr>
            <a:endParaRPr lang="en-US" altLang="zh-TW" sz="1400" dirty="0">
              <a:solidFill>
                <a:srgbClr val="000000"/>
              </a:solidFill>
              <a:latin typeface="Consolas" panose="020B0609020204030204" pitchFamily="49" charset="0"/>
              <a:cs typeface="Consolas" panose="020B0609020204030204" pitchFamily="49" charset="0"/>
            </a:endParaRPr>
          </a:p>
        </p:txBody>
      </p:sp>
      <p:pic>
        <p:nvPicPr>
          <p:cNvPr id="4" name="圖片 3"/>
          <p:cNvPicPr>
            <a:picLocks noChangeAspect="1"/>
          </p:cNvPicPr>
          <p:nvPr/>
        </p:nvPicPr>
        <p:blipFill>
          <a:blip r:embed="rId2">
            <a:extLst>
              <a:ext uri="{28A0092B-C50C-407E-A947-70E740481C1C}">
                <a14:useLocalDpi xmlns:a14="http://schemas.microsoft.com/office/drawing/2010/main" xmlns=""/>
              </a:ext>
            </a:extLst>
          </a:blip>
          <a:stretch>
            <a:fillRect/>
          </a:stretch>
        </p:blipFill>
        <p:spPr>
          <a:xfrm>
            <a:off x="1184855" y="3614693"/>
            <a:ext cx="4314424" cy="3073464"/>
          </a:xfrm>
          <a:prstGeom prst="rect">
            <a:avLst/>
          </a:prstGeom>
        </p:spPr>
      </p:pic>
      <p:pic>
        <p:nvPicPr>
          <p:cNvPr id="5" name="圖片 4"/>
          <p:cNvPicPr>
            <a:picLocks noChangeAspect="1"/>
          </p:cNvPicPr>
          <p:nvPr/>
        </p:nvPicPr>
        <p:blipFill>
          <a:blip r:embed="rId3">
            <a:extLst>
              <a:ext uri="{28A0092B-C50C-407E-A947-70E740481C1C}">
                <a14:useLocalDpi xmlns:a14="http://schemas.microsoft.com/office/drawing/2010/main" xmlns=""/>
              </a:ext>
            </a:extLst>
          </a:blip>
          <a:stretch>
            <a:fillRect/>
          </a:stretch>
        </p:blipFill>
        <p:spPr>
          <a:xfrm>
            <a:off x="6568225" y="3614693"/>
            <a:ext cx="4028807" cy="2992644"/>
          </a:xfrm>
          <a:prstGeom prst="rect">
            <a:avLst/>
          </a:prstGeom>
        </p:spPr>
      </p:pic>
      <mc:AlternateContent xmlns:mc="http://schemas.openxmlformats.org/markup-compatibility/2006">
        <mc:Choice xmlns:a14="http://schemas.microsoft.com/office/drawing/2010/main" xmlns="" Requires="a14">
          <p:sp>
            <p:nvSpPr>
              <p:cNvPr id="7" name="圓角矩形 6"/>
              <p:cNvSpPr/>
              <p:nvPr/>
            </p:nvSpPr>
            <p:spPr>
              <a:xfrm>
                <a:off x="5266630" y="618186"/>
                <a:ext cx="5937992" cy="83712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14:m>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𝑨</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r>
                          <a:rPr lang="en-US" altLang="zh-TW" sz="2400" b="1" i="1">
                            <a:latin typeface="Cambria Math"/>
                          </a:rPr>
                          <m:t>−</m:t>
                        </m:r>
                        <m:r>
                          <a:rPr lang="en-US" altLang="zh-TW" sz="2400" b="1" i="1">
                            <a:latin typeface="Cambria Math"/>
                          </a:rPr>
                          <m:t>𝟏</m:t>
                        </m:r>
                      </m:sub>
                    </m:sSub>
                    <m:r>
                      <a:rPr lang="en-US" altLang="zh-TW" sz="2400" b="1"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𝑩</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𝒖</m:t>
                        </m:r>
                      </m:e>
                      <m:sub>
                        <m:r>
                          <a:rPr lang="en-US" altLang="zh-TW" sz="2400" b="1" i="1" smtClean="0">
                            <a:latin typeface="Cambria Math"/>
                          </a:rPr>
                          <m:t>𝒕</m:t>
                        </m:r>
                      </m:sub>
                    </m:sSub>
                    <m:r>
                      <a:rPr lang="en-US" altLang="zh-TW" sz="2400" b="1"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𝒘</m:t>
                        </m:r>
                      </m:e>
                      <m:sub>
                        <m:r>
                          <a:rPr lang="en-US" altLang="zh-TW" sz="2400" b="1" i="1" smtClean="0">
                            <a:latin typeface="Cambria Math"/>
                          </a:rPr>
                          <m:t>𝒕</m:t>
                        </m:r>
                      </m:sub>
                    </m:sSub>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𝒘</m:t>
                        </m:r>
                      </m:e>
                      <m:sub>
                        <m:r>
                          <a:rPr lang="en-US" altLang="zh-TW" sz="2400" b="1" i="1" smtClean="0">
                            <a:latin typeface="Cambria Math"/>
                          </a:rPr>
                          <m:t>𝒕</m:t>
                        </m:r>
                      </m:sub>
                    </m:sSub>
                    <m:r>
                      <a:rPr lang="en-US" altLang="zh-TW" sz="2400" b="1" i="1" smtClean="0">
                        <a:latin typeface="Cambria Math"/>
                      </a:rPr>
                      <m:t>~</m:t>
                    </m:r>
                    <m:r>
                      <a:rPr lang="en-US" altLang="zh-TW" sz="2400" b="1" i="1" smtClean="0">
                        <a:latin typeface="Cambria Math"/>
                      </a:rPr>
                      <m:t>𝑵</m:t>
                    </m:r>
                    <m:r>
                      <a:rPr lang="en-US" altLang="zh-TW" sz="2400" b="1" i="1" smtClean="0">
                        <a:latin typeface="Cambria Math"/>
                      </a:rPr>
                      <m:t>(</m:t>
                    </m:r>
                    <m:r>
                      <a:rPr lang="en-US" altLang="zh-TW" sz="2400" b="1" i="1" smtClean="0">
                        <a:latin typeface="Cambria Math"/>
                      </a:rPr>
                      <m:t>𝟎</m:t>
                    </m:r>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𝑸</m:t>
                        </m:r>
                      </m:e>
                      <m:sub>
                        <m:r>
                          <a:rPr lang="en-US" altLang="zh-TW" sz="2400" b="1" i="1" smtClean="0">
                            <a:latin typeface="Cambria Math"/>
                          </a:rPr>
                          <m:t>𝒕</m:t>
                        </m:r>
                      </m:sub>
                    </m:sSub>
                    <m:r>
                      <a:rPr lang="en-US" altLang="zh-TW" sz="2400" b="1" i="1" smtClean="0">
                        <a:latin typeface="Cambria Math"/>
                      </a:rPr>
                      <m:t>)</m:t>
                    </m:r>
                  </m:oMath>
                </a14:m>
                <a:r>
                  <a:rPr lang="en-US" altLang="zh-TW" sz="2400" b="1" dirty="0" smtClean="0"/>
                  <a:t/>
                </a:r>
                <a:endParaRPr lang="en-US" altLang="zh-TW" sz="2400" b="1" i="1" dirty="0" smtClean="0">
                  <a:latin typeface="Cambria Math"/>
                </a:endParaRPr>
              </a:p>
              <a:p>
                <a:pPr/>
                <a14:m>
                  <m:oMathPara xmlns:m="http://schemas.openxmlformats.org/officeDocument/2006/math">
                    <m:oMathParaPr>
                      <m:jc m:val="left"/>
                    </m:oMathParaPr>
                    <m:oMath xmlns:m="http://schemas.openxmlformats.org/officeDocument/2006/math">
                      <m:sSub>
                        <m:sSubPr>
                          <m:ctrlPr>
                            <a:rPr lang="en-US" altLang="zh-TW" sz="2400" b="1" i="1">
                              <a:latin typeface="Cambria Math" panose="02040503050406030204" pitchFamily="18" charset="0"/>
                            </a:rPr>
                          </m:ctrlPr>
                        </m:sSubPr>
                        <m:e>
                          <m:r>
                            <a:rPr lang="en-US" altLang="zh-TW" sz="2400" b="1" i="1" smtClean="0">
                              <a:latin typeface="Cambria Math" panose="02040503050406030204" pitchFamily="18" charset="0"/>
                            </a:rPr>
                            <m:t>𝒛</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𝑯</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𝒗</m:t>
                          </m:r>
                        </m:e>
                        <m:sub>
                          <m:r>
                            <a:rPr lang="en-US" altLang="zh-TW" sz="2400" b="1" i="1" smtClean="0">
                              <a:latin typeface="Cambria Math"/>
                            </a:rPr>
                            <m:t>𝒕</m:t>
                          </m:r>
                        </m:sub>
                      </m:sSub>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𝒗</m:t>
                          </m:r>
                        </m:e>
                        <m:sub>
                          <m:r>
                            <a:rPr lang="en-US" altLang="zh-TW" sz="2400" b="1" i="1" smtClean="0">
                              <a:latin typeface="Cambria Math"/>
                            </a:rPr>
                            <m:t>𝒕</m:t>
                          </m:r>
                        </m:sub>
                      </m:sSub>
                      <m:r>
                        <a:rPr lang="en-US" altLang="zh-TW" sz="2400" b="1" i="1" smtClean="0">
                          <a:latin typeface="Cambria Math"/>
                        </a:rPr>
                        <m:t>~</m:t>
                      </m:r>
                      <m:r>
                        <a:rPr lang="en-US" altLang="zh-TW" sz="2400" b="1" i="1" smtClean="0">
                          <a:latin typeface="Cambria Math"/>
                        </a:rPr>
                        <m:t>𝑵</m:t>
                      </m:r>
                      <m:r>
                        <a:rPr lang="en-US" altLang="zh-TW" sz="2400" b="1" i="1" smtClean="0">
                          <a:latin typeface="Cambria Math"/>
                        </a:rPr>
                        <m:t>(</m:t>
                      </m:r>
                      <m:r>
                        <a:rPr lang="en-US" altLang="zh-TW" sz="2400" b="1" i="1" smtClean="0">
                          <a:latin typeface="Cambria Math"/>
                        </a:rPr>
                        <m:t>𝟎</m:t>
                      </m:r>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𝑹</m:t>
                          </m:r>
                        </m:e>
                        <m:sub>
                          <m:r>
                            <a:rPr lang="en-US" altLang="zh-TW" sz="2400" b="1" i="1" smtClean="0">
                              <a:latin typeface="Cambria Math"/>
                            </a:rPr>
                            <m:t>𝒕</m:t>
                          </m:r>
                        </m:sub>
                      </m:sSub>
                      <m:r>
                        <a:rPr lang="en-US" altLang="zh-TW" sz="2400" b="1" i="1" smtClean="0">
                          <a:latin typeface="Cambria Math"/>
                        </a:rPr>
                        <m:t>)</m:t>
                      </m:r>
                    </m:oMath>
                  </m:oMathPara>
                </a14:m>
                <a:endParaRPr lang="zh-TW" altLang="en-US" sz="2400" dirty="0"/>
              </a:p>
            </p:txBody>
          </p:sp>
        </mc:Choice>
        <mc:Fallback>
          <p:sp>
            <p:nvSpPr>
              <p:cNvPr id="7" name="圓角矩形 6"/>
              <p:cNvSpPr>
                <a:spLocks noRot="1" noChangeAspect="1" noMove="1" noResize="1" noEditPoints="1" noAdjustHandles="1" noChangeArrowheads="1" noChangeShapeType="1" noTextEdit="1"/>
              </p:cNvSpPr>
              <p:nvPr/>
            </p:nvSpPr>
            <p:spPr>
              <a:xfrm>
                <a:off x="5266630" y="618186"/>
                <a:ext cx="5937992" cy="837127"/>
              </a:xfrm>
              <a:prstGeom prst="roundRect">
                <a:avLst/>
              </a:prstGeom>
              <a:blipFill rotWithShape="1">
                <a:blip r:embed="rId4"/>
                <a:stretch>
                  <a:fillRect b="-86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27320471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Kalman filter (1) </a:t>
            </a:r>
            <a:endParaRPr lang="zh-TW" altLang="en-US" dirty="0"/>
          </a:p>
        </p:txBody>
      </p:sp>
      <p:sp>
        <p:nvSpPr>
          <p:cNvPr id="3" name="投影片編號版面配置區 2"/>
          <p:cNvSpPr>
            <a:spLocks noGrp="1"/>
          </p:cNvSpPr>
          <p:nvPr>
            <p:ph type="sldNum" sz="quarter" idx="12"/>
          </p:nvPr>
        </p:nvSpPr>
        <p:spPr/>
        <p:txBody>
          <a:bodyPr/>
          <a:lstStyle/>
          <a:p>
            <a:fld id="{EDBC11D7-B428-46C8-AE33-EA48ADD530EC}" type="slidenum">
              <a:rPr lang="zh-TW" altLang="en-US" smtClean="0"/>
              <a:pPr/>
              <a:t>9</a:t>
            </a:fld>
            <a:endParaRPr lang="zh-TW" altLang="en-US"/>
          </a:p>
        </p:txBody>
      </p:sp>
      <mc:AlternateContent xmlns:mc="http://schemas.openxmlformats.org/markup-compatibility/2006">
        <mc:Choice xmlns:a14="http://schemas.microsoft.com/office/drawing/2010/main" xmlns="" Requires="a14">
          <p:sp>
            <p:nvSpPr>
              <p:cNvPr id="4" name="文字方塊 3"/>
              <p:cNvSpPr txBox="1"/>
              <p:nvPr/>
            </p:nvSpPr>
            <p:spPr>
              <a:xfrm>
                <a:off x="403122" y="1897626"/>
                <a:ext cx="4670323" cy="4187108"/>
              </a:xfrm>
              <a:prstGeom prst="rect">
                <a:avLst/>
              </a:prstGeom>
              <a:noFill/>
            </p:spPr>
            <p:txBody>
              <a:bodyPr wrap="square" rtlCol="0">
                <a:spAutoFit/>
              </a:bodyPr>
              <a:lstStyle/>
              <a:p>
                <a:r>
                  <a:rPr lang="zh-TW" altLang="en-US" sz="2400" dirty="0" smtClean="0"/>
                  <a:t>假設</a:t>
                </a:r>
                <a:r>
                  <a:rPr lang="en-US" altLang="zh-TW" sz="2400" dirty="0" smtClean="0"/>
                  <a:t>system noise, measurement noise</a:t>
                </a:r>
                <a:r>
                  <a:rPr lang="zh-TW" altLang="en-US" sz="2400" dirty="0" smtClean="0"/>
                  <a:t>為</a:t>
                </a:r>
                <a:r>
                  <a:rPr lang="en-US" altLang="zh-TW" sz="2400" dirty="0" smtClean="0"/>
                  <a:t>white noise</a:t>
                </a:r>
                <a:r>
                  <a:rPr lang="zh-TW" altLang="en-US" sz="2400" dirty="0" smtClean="0"/>
                  <a:t>，且互相獨立</a:t>
                </a:r>
                <a:r>
                  <a:rPr lang="en-US" altLang="zh-TW" sz="2400" dirty="0" smtClean="0"/>
                  <a:t>, i.e.</a:t>
                </a:r>
              </a:p>
              <a:p>
                <a:endParaRPr lang="en-US" altLang="zh-TW" sz="2400" dirty="0" smtClean="0"/>
              </a:p>
              <a:p>
                <a:pPr algn="ctr"/>
                <a14:m>
                  <m:oMathPara xmlns:m="http://schemas.openxmlformats.org/officeDocument/2006/math">
                    <m:oMathParaPr>
                      <m:jc m:val="left"/>
                    </m:oMathParaPr>
                    <m:oMath xmlns:m="http://schemas.openxmlformats.org/officeDocument/2006/math">
                      <m:r>
                        <a:rPr lang="en-US" altLang="zh-TW" sz="2400" b="0" i="1" smtClean="0">
                          <a:latin typeface="Cambria Math"/>
                        </a:rPr>
                        <m:t>𝐸</m:t>
                      </m:r>
                      <m:d>
                        <m:dPr>
                          <m:ctrlPr>
                            <a:rPr lang="en-US" altLang="zh-TW" sz="2400" b="0" i="1" smtClean="0">
                              <a:latin typeface="Cambria Math" panose="02040503050406030204" pitchFamily="18" charset="0"/>
                            </a:rPr>
                          </m:ctrlPr>
                        </m:dPr>
                        <m:e>
                          <m:sSub>
                            <m:sSubPr>
                              <m:ctrlPr>
                                <a:rPr lang="en-US" altLang="zh-TW" sz="2400" b="1" i="1" smtClean="0">
                                  <a:latin typeface="Cambria Math" panose="02040503050406030204" pitchFamily="18" charset="0"/>
                                </a:rPr>
                              </m:ctrlPr>
                            </m:sSubPr>
                            <m:e>
                              <m:r>
                                <a:rPr lang="en-US" altLang="zh-TW" sz="2400" b="1" i="1" smtClean="0">
                                  <a:latin typeface="Cambria Math"/>
                                </a:rPr>
                                <m:t>𝒘</m:t>
                              </m:r>
                            </m:e>
                            <m:sub>
                              <m:r>
                                <a:rPr lang="en-US" altLang="zh-TW" sz="2400" b="1" i="1" smtClean="0">
                                  <a:latin typeface="Cambria Math"/>
                                </a:rPr>
                                <m:t>𝒊</m:t>
                              </m:r>
                            </m:sub>
                          </m:sSub>
                          <m:sSubSup>
                            <m:sSubSupPr>
                              <m:ctrlPr>
                                <a:rPr lang="en-US" altLang="zh-TW" sz="2400" b="1" i="1" smtClean="0">
                                  <a:latin typeface="Cambria Math" panose="02040503050406030204" pitchFamily="18" charset="0"/>
                                </a:rPr>
                              </m:ctrlPr>
                            </m:sSubSupPr>
                            <m:e>
                              <m:r>
                                <a:rPr lang="en-US" altLang="zh-TW" sz="2400" b="1" i="1" smtClean="0">
                                  <a:latin typeface="Cambria Math"/>
                                </a:rPr>
                                <m:t>𝒘</m:t>
                              </m:r>
                            </m:e>
                            <m:sub>
                              <m:r>
                                <a:rPr lang="en-US" altLang="zh-TW" sz="2400" b="1" i="1" smtClean="0">
                                  <a:latin typeface="Cambria Math"/>
                                </a:rPr>
                                <m:t>𝒋</m:t>
                              </m:r>
                            </m:sub>
                            <m:sup>
                              <m:r>
                                <a:rPr lang="en-US" altLang="zh-TW" sz="2400" b="1" i="1" smtClean="0">
                                  <a:latin typeface="Cambria Math"/>
                                </a:rPr>
                                <m:t>𝑻</m:t>
                              </m:r>
                            </m:sup>
                          </m:sSubSup>
                        </m:e>
                      </m:d>
                      <m:r>
                        <a:rPr lang="en-US" altLang="zh-TW" sz="2400" b="0" i="1" smtClean="0">
                          <a:latin typeface="Cambria Math"/>
                        </a:rPr>
                        <m:t>=</m:t>
                      </m:r>
                      <m:d>
                        <m:dPr>
                          <m:begChr m:val="{"/>
                          <m:endChr m:val=""/>
                          <m:ctrlPr>
                            <a:rPr lang="en-US" altLang="zh-TW" sz="2400" b="0" i="1" smtClean="0">
                              <a:latin typeface="Cambria Math" panose="02040503050406030204" pitchFamily="18" charset="0"/>
                            </a:rPr>
                          </m:ctrlPr>
                        </m:dPr>
                        <m:e>
                          <m:m>
                            <m:mPr>
                              <m:mcs>
                                <m:mc>
                                  <m:mcPr>
                                    <m:count m:val="1"/>
                                    <m:mcJc m:val="center"/>
                                  </m:mcPr>
                                </m:mc>
                              </m:mcs>
                              <m:ctrlPr>
                                <a:rPr lang="en-US" altLang="zh-TW" sz="2400" b="0" i="1" smtClean="0">
                                  <a:latin typeface="Cambria Math" panose="02040503050406030204" pitchFamily="18" charset="0"/>
                                </a:rPr>
                              </m:ctrlPr>
                            </m:mPr>
                            <m:mr>
                              <m:e>
                                <m:sSub>
                                  <m:sSubPr>
                                    <m:ctrlPr>
                                      <a:rPr lang="en-US" altLang="zh-TW" sz="2400" b="1" i="1">
                                        <a:latin typeface="Cambria Math" panose="02040503050406030204" pitchFamily="18" charset="0"/>
                                      </a:rPr>
                                    </m:ctrlPr>
                                  </m:sSubPr>
                                  <m:e>
                                    <m:r>
                                      <a:rPr lang="en-US" altLang="zh-TW" sz="2400" b="1" i="1">
                                        <a:latin typeface="Cambria Math"/>
                                      </a:rPr>
                                      <m:t>𝑸</m:t>
                                    </m:r>
                                  </m:e>
                                  <m:sub>
                                    <m:r>
                                      <a:rPr lang="en-US" altLang="zh-TW" sz="2400" b="1" i="1" smtClean="0">
                                        <a:latin typeface="Cambria Math"/>
                                      </a:rPr>
                                      <m:t>𝒕</m:t>
                                    </m:r>
                                  </m:sub>
                                </m:sSub>
                                <m:r>
                                  <a:rPr lang="en-US" altLang="zh-TW" sz="2400" i="1">
                                    <a:latin typeface="Cambria Math"/>
                                  </a:rPr>
                                  <m:t> </m:t>
                                </m:r>
                                <m:r>
                                  <a:rPr lang="en-US" altLang="zh-TW" sz="2400" i="1">
                                    <a:latin typeface="Cambria Math"/>
                                  </a:rPr>
                                  <m:t>𝑖𝑓</m:t>
                                </m:r>
                                <m:r>
                                  <a:rPr lang="en-US" altLang="zh-TW" sz="2400" i="1">
                                    <a:latin typeface="Cambria Math"/>
                                  </a:rPr>
                                  <m:t> </m:t>
                                </m:r>
                                <m:r>
                                  <a:rPr lang="en-US" altLang="zh-TW" sz="2400" i="1">
                                    <a:latin typeface="Cambria Math"/>
                                  </a:rPr>
                                  <m:t>𝑖</m:t>
                                </m:r>
                                <m:r>
                                  <a:rPr lang="en-US" altLang="zh-TW" sz="2400" i="1">
                                    <a:latin typeface="Cambria Math"/>
                                  </a:rPr>
                                  <m:t>=</m:t>
                                </m:r>
                                <m:r>
                                  <a:rPr lang="en-US" altLang="zh-TW" sz="2400" b="0" i="1" smtClean="0">
                                    <a:latin typeface="Cambria Math"/>
                                  </a:rPr>
                                  <m:t>𝑗</m:t>
                                </m:r>
                              </m:e>
                            </m:mr>
                            <m:mr>
                              <m:e>
                                <m:r>
                                  <a:rPr lang="en-US" altLang="zh-TW" sz="2400" b="1" i="1" smtClean="0">
                                    <a:latin typeface="Cambria Math"/>
                                  </a:rPr>
                                  <m:t>𝟎</m:t>
                                </m:r>
                                <m:r>
                                  <a:rPr lang="en-US" altLang="zh-TW" sz="2400" b="0" i="1" smtClean="0">
                                    <a:latin typeface="Cambria Math"/>
                                  </a:rPr>
                                  <m:t>, </m:t>
                                </m:r>
                                <m:r>
                                  <a:rPr lang="en-US" altLang="zh-TW" sz="2400" b="0" i="1" smtClean="0">
                                    <a:latin typeface="Cambria Math"/>
                                  </a:rPr>
                                  <m:t>𝑖𝑓𝑖</m:t>
                                </m:r>
                                <m:r>
                                  <a:rPr lang="en-US" altLang="zh-TW" sz="2400" b="0" i="1" smtClean="0">
                                    <a:latin typeface="Cambria Math"/>
                                  </a:rPr>
                                  <m:t>≠</m:t>
                                </m:r>
                                <m:r>
                                  <a:rPr lang="en-US" altLang="zh-TW" sz="2400" b="0" i="1" smtClean="0">
                                    <a:latin typeface="Cambria Math"/>
                                  </a:rPr>
                                  <m:t>𝑗</m:t>
                                </m:r>
                              </m:e>
                            </m:mr>
                          </m:m>
                        </m:e>
                      </m:d>
                      <m:r>
                        <a:rPr lang="en-US" altLang="zh-TW" sz="2400" b="0" i="1" smtClean="0">
                          <a:latin typeface="Cambria Math"/>
                        </a:rPr>
                        <m:t>,</m:t>
                      </m:r>
                    </m:oMath>
                  </m:oMathPara>
                </a14:m>
                <a:endParaRPr lang="en-US" altLang="zh-TW" sz="2400" b="0" i="1" dirty="0" smtClean="0">
                  <a:latin typeface="Cambria Math"/>
                </a:endParaRPr>
              </a:p>
              <a:p>
                <a:pPr algn="ctr"/>
                <a:endParaRPr lang="en-US" altLang="zh-TW" sz="2400" b="0" i="1" dirty="0" smtClean="0">
                  <a:latin typeface="Cambria Math"/>
                </a:endParaRPr>
              </a:p>
              <a:p>
                <a:pPr algn="ctr"/>
                <a14:m>
                  <m:oMathPara xmlns:m="http://schemas.openxmlformats.org/officeDocument/2006/math">
                    <m:oMathParaPr>
                      <m:jc m:val="left"/>
                    </m:oMathParaPr>
                    <m:oMath xmlns:m="http://schemas.openxmlformats.org/officeDocument/2006/math">
                      <m:r>
                        <a:rPr lang="en-US" altLang="zh-TW" sz="2400" i="1">
                          <a:latin typeface="Cambria Math"/>
                        </a:rPr>
                        <m:t>𝐸</m:t>
                      </m:r>
                      <m:d>
                        <m:dPr>
                          <m:ctrlPr>
                            <a:rPr lang="en-US" altLang="zh-TW" sz="2400" i="1">
                              <a:latin typeface="Cambria Math" panose="02040503050406030204" pitchFamily="18" charset="0"/>
                            </a:rPr>
                          </m:ctrlPr>
                        </m:dPr>
                        <m:e>
                          <m:sSub>
                            <m:sSubPr>
                              <m:ctrlPr>
                                <a:rPr lang="en-US" altLang="zh-TW" sz="2400" b="1" i="1">
                                  <a:latin typeface="Cambria Math" panose="02040503050406030204" pitchFamily="18" charset="0"/>
                                </a:rPr>
                              </m:ctrlPr>
                            </m:sSubPr>
                            <m:e>
                              <m:r>
                                <a:rPr lang="en-US" altLang="zh-TW" sz="2400" b="1" i="1" smtClean="0">
                                  <a:latin typeface="Cambria Math"/>
                                </a:rPr>
                                <m:t>𝒗</m:t>
                              </m:r>
                            </m:e>
                            <m:sub>
                              <m:r>
                                <a:rPr lang="en-US" altLang="zh-TW" sz="2400" b="1" i="1" smtClean="0">
                                  <a:latin typeface="Cambria Math"/>
                                </a:rPr>
                                <m:t>𝒊</m:t>
                              </m:r>
                            </m:sub>
                          </m:sSub>
                          <m:sSubSup>
                            <m:sSubSupPr>
                              <m:ctrlPr>
                                <a:rPr lang="en-US" altLang="zh-TW" sz="2400" b="1" i="1">
                                  <a:latin typeface="Cambria Math" panose="02040503050406030204" pitchFamily="18" charset="0"/>
                                </a:rPr>
                              </m:ctrlPr>
                            </m:sSubSupPr>
                            <m:e>
                              <m:r>
                                <a:rPr lang="en-US" altLang="zh-TW" sz="2400" b="1" i="1" smtClean="0">
                                  <a:latin typeface="Cambria Math"/>
                                </a:rPr>
                                <m:t>𝒗</m:t>
                              </m:r>
                            </m:e>
                            <m:sub>
                              <m:r>
                                <a:rPr lang="en-US" altLang="zh-TW" sz="2400" b="1" i="1" smtClean="0">
                                  <a:latin typeface="Cambria Math"/>
                                </a:rPr>
                                <m:t>𝒋</m:t>
                              </m:r>
                            </m:sub>
                            <m:sup>
                              <m:r>
                                <a:rPr lang="en-US" altLang="zh-TW" sz="2400" b="1" i="1">
                                  <a:latin typeface="Cambria Math"/>
                                </a:rPr>
                                <m:t>𝑻</m:t>
                              </m:r>
                            </m:sup>
                          </m:sSubSup>
                        </m:e>
                      </m:d>
                      <m:r>
                        <a:rPr lang="en-US" altLang="zh-TW" sz="2400" i="1">
                          <a:latin typeface="Cambria Math"/>
                        </a:rPr>
                        <m:t>=</m:t>
                      </m:r>
                      <m:d>
                        <m:dPr>
                          <m:begChr m:val="{"/>
                          <m:endChr m:val=""/>
                          <m:ctrlPr>
                            <a:rPr lang="en-US" altLang="zh-TW" sz="2400" i="1">
                              <a:latin typeface="Cambria Math" panose="02040503050406030204" pitchFamily="18" charset="0"/>
                            </a:rPr>
                          </m:ctrlPr>
                        </m:dPr>
                        <m:e>
                          <m:m>
                            <m:mPr>
                              <m:mcs>
                                <m:mc>
                                  <m:mcPr>
                                    <m:count m:val="1"/>
                                    <m:mcJc m:val="center"/>
                                  </m:mcPr>
                                </m:mc>
                              </m:mcs>
                              <m:ctrlPr>
                                <a:rPr lang="en-US" altLang="zh-TW" sz="2400" i="1">
                                  <a:latin typeface="Cambria Math" panose="02040503050406030204" pitchFamily="18" charset="0"/>
                                </a:rPr>
                              </m:ctrlPr>
                            </m:mPr>
                            <m:mr>
                              <m:e>
                                <m:sSub>
                                  <m:sSubPr>
                                    <m:ctrlPr>
                                      <a:rPr lang="en-US" altLang="zh-TW" sz="2400" b="1" i="1">
                                        <a:latin typeface="Cambria Math" panose="02040503050406030204" pitchFamily="18" charset="0"/>
                                      </a:rPr>
                                    </m:ctrlPr>
                                  </m:sSubPr>
                                  <m:e>
                                    <m:r>
                                      <a:rPr lang="en-US" altLang="zh-TW" sz="2400" b="1" i="1" smtClean="0">
                                        <a:latin typeface="Cambria Math"/>
                                      </a:rPr>
                                      <m:t>𝑹</m:t>
                                    </m:r>
                                  </m:e>
                                  <m:sub>
                                    <m:r>
                                      <a:rPr lang="en-US" altLang="zh-TW" sz="2400" b="1" i="1" smtClean="0">
                                        <a:latin typeface="Cambria Math"/>
                                      </a:rPr>
                                      <m:t>𝒕</m:t>
                                    </m:r>
                                  </m:sub>
                                </m:sSub>
                                <m:r>
                                  <a:rPr lang="en-US" altLang="zh-TW" sz="2400" i="1">
                                    <a:latin typeface="Cambria Math"/>
                                  </a:rPr>
                                  <m:t> </m:t>
                                </m:r>
                                <m:r>
                                  <a:rPr lang="en-US" altLang="zh-TW" sz="2400" i="1">
                                    <a:latin typeface="Cambria Math"/>
                                  </a:rPr>
                                  <m:t>𝑖𝑓</m:t>
                                </m:r>
                                <m:r>
                                  <a:rPr lang="en-US" altLang="zh-TW" sz="2400" i="1">
                                    <a:latin typeface="Cambria Math"/>
                                  </a:rPr>
                                  <m:t> </m:t>
                                </m:r>
                                <m:r>
                                  <a:rPr lang="en-US" altLang="zh-TW" sz="2400" i="1">
                                    <a:latin typeface="Cambria Math"/>
                                  </a:rPr>
                                  <m:t>𝑖</m:t>
                                </m:r>
                                <m:r>
                                  <a:rPr lang="en-US" altLang="zh-TW" sz="2400" i="1">
                                    <a:latin typeface="Cambria Math"/>
                                  </a:rPr>
                                  <m:t>=</m:t>
                                </m:r>
                                <m:r>
                                  <a:rPr lang="en-US" altLang="zh-TW" sz="2400" b="0" i="1" smtClean="0">
                                    <a:latin typeface="Cambria Math"/>
                                  </a:rPr>
                                  <m:t>𝑗</m:t>
                                </m:r>
                              </m:e>
                            </m:mr>
                            <m:mr>
                              <m:e>
                                <m:r>
                                  <a:rPr lang="en-US" altLang="zh-TW" sz="2400" b="1" i="1">
                                    <a:latin typeface="Cambria Math"/>
                                  </a:rPr>
                                  <m:t>𝟎</m:t>
                                </m:r>
                                <m:r>
                                  <a:rPr lang="en-US" altLang="zh-TW" sz="2400" i="1">
                                    <a:latin typeface="Cambria Math"/>
                                  </a:rPr>
                                  <m:t>, </m:t>
                                </m:r>
                                <m:r>
                                  <a:rPr lang="en-US" altLang="zh-TW" sz="2400" i="1">
                                    <a:latin typeface="Cambria Math"/>
                                  </a:rPr>
                                  <m:t>𝑖𝑓𝑖</m:t>
                                </m:r>
                                <m:r>
                                  <a:rPr lang="en-US" altLang="zh-TW" sz="2400" i="1">
                                    <a:latin typeface="Cambria Math"/>
                                  </a:rPr>
                                  <m:t>≠</m:t>
                                </m:r>
                                <m:r>
                                  <a:rPr lang="en-US" altLang="zh-TW" sz="2400" b="0" i="1" smtClean="0">
                                    <a:latin typeface="Cambria Math"/>
                                  </a:rPr>
                                  <m:t>𝑗</m:t>
                                </m:r>
                              </m:e>
                            </m:mr>
                          </m:m>
                        </m:e>
                      </m:d>
                      <m:r>
                        <a:rPr lang="en-US" altLang="zh-TW" sz="2400" b="0" i="1" smtClean="0">
                          <a:latin typeface="Cambria Math"/>
                        </a:rPr>
                        <m:t>, </m:t>
                      </m:r>
                    </m:oMath>
                  </m:oMathPara>
                </a14:m>
                <a:endParaRPr lang="en-US" altLang="zh-TW" sz="2400" b="0" i="1" dirty="0" smtClean="0">
                  <a:latin typeface="Cambria Math"/>
                </a:endParaRPr>
              </a:p>
              <a:p>
                <a:pPr algn="ctr"/>
                <a:endParaRPr lang="en-US" altLang="zh-TW" sz="2400" b="0" i="1" dirty="0" smtClean="0">
                  <a:latin typeface="Cambria Math"/>
                </a:endParaRPr>
              </a:p>
              <a:p>
                <a:pPr algn="ctr"/>
                <a14:m>
                  <m:oMathPara xmlns:m="http://schemas.openxmlformats.org/officeDocument/2006/math">
                    <m:oMathParaPr>
                      <m:jc m:val="left"/>
                    </m:oMathParaPr>
                    <m:oMath xmlns:m="http://schemas.openxmlformats.org/officeDocument/2006/math">
                      <m:r>
                        <a:rPr lang="en-US" altLang="zh-TW" sz="2400" b="0" i="1" smtClean="0">
                          <a:latin typeface="Cambria Math"/>
                        </a:rPr>
                        <m:t>𝐸</m:t>
                      </m:r>
                      <m:d>
                        <m:dPr>
                          <m:ctrlPr>
                            <a:rPr lang="en-US" altLang="zh-TW" sz="2400" b="0" i="1" smtClean="0">
                              <a:latin typeface="Cambria Math" panose="02040503050406030204" pitchFamily="18" charset="0"/>
                            </a:rPr>
                          </m:ctrlPr>
                        </m:dPr>
                        <m:e>
                          <m:sSub>
                            <m:sSubPr>
                              <m:ctrlPr>
                                <a:rPr lang="en-US" altLang="zh-TW" sz="2400" b="1" i="1" smtClean="0">
                                  <a:latin typeface="Cambria Math" panose="02040503050406030204" pitchFamily="18" charset="0"/>
                                </a:rPr>
                              </m:ctrlPr>
                            </m:sSubPr>
                            <m:e>
                              <m:r>
                                <a:rPr lang="en-US" altLang="zh-TW" sz="2400" b="1" i="1" smtClean="0">
                                  <a:latin typeface="Cambria Math"/>
                                </a:rPr>
                                <m:t>𝒘</m:t>
                              </m:r>
                            </m:e>
                            <m:sub>
                              <m:r>
                                <a:rPr lang="en-US" altLang="zh-TW" sz="2400" b="1" i="1" smtClean="0">
                                  <a:latin typeface="Cambria Math"/>
                                </a:rPr>
                                <m:t>𝒊</m:t>
                              </m:r>
                            </m:sub>
                          </m:sSub>
                          <m:sSubSup>
                            <m:sSubSupPr>
                              <m:ctrlPr>
                                <a:rPr lang="en-US" altLang="zh-TW" sz="2400" b="1" i="1" smtClean="0">
                                  <a:latin typeface="Cambria Math" panose="02040503050406030204" pitchFamily="18" charset="0"/>
                                </a:rPr>
                              </m:ctrlPr>
                            </m:sSubSupPr>
                            <m:e>
                              <m:r>
                                <a:rPr lang="en-US" altLang="zh-TW" sz="2400" b="1" i="1" smtClean="0">
                                  <a:latin typeface="Cambria Math"/>
                                </a:rPr>
                                <m:t>𝒗</m:t>
                              </m:r>
                            </m:e>
                            <m:sub>
                              <m:r>
                                <a:rPr lang="en-US" altLang="zh-TW" sz="2400" b="1" i="1" smtClean="0">
                                  <a:latin typeface="Cambria Math"/>
                                </a:rPr>
                                <m:t>𝒋</m:t>
                              </m:r>
                            </m:sub>
                            <m:sup>
                              <m:r>
                                <a:rPr lang="en-US" altLang="zh-TW" sz="2400" b="1" i="1" smtClean="0">
                                  <a:latin typeface="Cambria Math"/>
                                </a:rPr>
                                <m:t>𝑻</m:t>
                              </m:r>
                            </m:sup>
                          </m:sSubSup>
                        </m:e>
                      </m:d>
                      <m:r>
                        <a:rPr lang="en-US" altLang="zh-TW" sz="2400" b="0" i="1" smtClean="0">
                          <a:latin typeface="Cambria Math"/>
                        </a:rPr>
                        <m:t>=</m:t>
                      </m:r>
                      <m:r>
                        <a:rPr lang="en-US" altLang="zh-TW" sz="2400" b="1" i="1" smtClean="0">
                          <a:latin typeface="Cambria Math"/>
                        </a:rPr>
                        <m:t>𝟎</m:t>
                      </m:r>
                      <m:r>
                        <a:rPr lang="en-US" altLang="zh-TW" sz="2400" b="0" i="1" smtClean="0">
                          <a:latin typeface="Cambria Math"/>
                        </a:rPr>
                        <m:t> ∀</m:t>
                      </m:r>
                      <m:r>
                        <a:rPr lang="en-US" altLang="zh-TW" sz="2400" b="0" i="1" smtClean="0">
                          <a:latin typeface="Cambria Math"/>
                        </a:rPr>
                        <m:t>𝑖</m:t>
                      </m:r>
                      <m:r>
                        <a:rPr lang="en-US" altLang="zh-TW" sz="2400" b="0" i="1" smtClean="0">
                          <a:latin typeface="Cambria Math"/>
                        </a:rPr>
                        <m:t>, </m:t>
                      </m:r>
                      <m:r>
                        <a:rPr lang="en-US" altLang="zh-TW" sz="2400" b="0" i="1" smtClean="0">
                          <a:latin typeface="Cambria Math"/>
                        </a:rPr>
                        <m:t>𝑗</m:t>
                      </m:r>
                    </m:oMath>
                  </m:oMathPara>
                </a14:m>
                <a:endParaRPr lang="en-US" altLang="zh-TW" sz="2400" dirty="0" smtClean="0"/>
              </a:p>
            </p:txBody>
          </p:sp>
        </mc:Choice>
        <mc:Fallback>
          <p:sp>
            <p:nvSpPr>
              <p:cNvPr id="4" name="文字方塊 3"/>
              <p:cNvSpPr txBox="1">
                <a:spLocks noRot="1" noChangeAspect="1" noMove="1" noResize="1" noEditPoints="1" noAdjustHandles="1" noChangeArrowheads="1" noChangeShapeType="1" noTextEdit="1"/>
              </p:cNvSpPr>
              <p:nvPr/>
            </p:nvSpPr>
            <p:spPr>
              <a:xfrm>
                <a:off x="403122" y="1897626"/>
                <a:ext cx="4670323" cy="4187108"/>
              </a:xfrm>
              <a:prstGeom prst="rect">
                <a:avLst/>
              </a:prstGeom>
              <a:blipFill rotWithShape="1">
                <a:blip r:embed="rId2"/>
                <a:stretch>
                  <a:fillRect l="-1958" t="-131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6" name="文字方塊 5"/>
              <p:cNvSpPr txBox="1"/>
              <p:nvPr/>
            </p:nvSpPr>
            <p:spPr>
              <a:xfrm>
                <a:off x="4992414" y="2005781"/>
                <a:ext cx="6926317" cy="3816429"/>
              </a:xfrm>
              <a:prstGeom prst="rect">
                <a:avLst/>
              </a:prstGeom>
              <a:noFill/>
            </p:spPr>
            <p:txBody>
              <a:bodyPr wrap="square" rtlCol="0">
                <a:spAutoFit/>
              </a:bodyPr>
              <a:lstStyle/>
              <a:p>
                <a:r>
                  <a:rPr lang="zh-TW" altLang="en-US" sz="2200" dirty="0" smtClean="0"/>
                  <a:t>如果在時間</a:t>
                </a:r>
                <a:r>
                  <a:rPr lang="en-US" altLang="zh-TW" sz="2200" dirty="0" smtClean="0"/>
                  <a:t>t</a:t>
                </a:r>
                <a:r>
                  <a:rPr lang="zh-TW" altLang="en-US" sz="2200" dirty="0" smtClean="0"/>
                  <a:t>之間</a:t>
                </a:r>
                <a:r>
                  <a:rPr lang="en-US" altLang="zh-TW" sz="2200" dirty="0" smtClean="0"/>
                  <a:t>(</a:t>
                </a:r>
                <a:r>
                  <a:rPr lang="zh-TW" altLang="en-US" sz="2200" dirty="0" smtClean="0"/>
                  <a:t>尚未得到時間</a:t>
                </a:r>
                <a:r>
                  <a:rPr lang="en-US" altLang="zh-TW" sz="2200" dirty="0" smtClean="0"/>
                  <a:t>t</a:t>
                </a:r>
                <a:r>
                  <a:rPr lang="zh-TW" altLang="en-US" sz="2200" dirty="0" smtClean="0"/>
                  <a:t>之量測值</a:t>
                </a:r>
                <a:r>
                  <a:rPr lang="en-US" altLang="zh-TW" sz="2200" b="1" dirty="0" err="1" smtClean="0"/>
                  <a:t>z</a:t>
                </a:r>
                <a:r>
                  <a:rPr lang="en-US" altLang="zh-TW" sz="2200" b="1" baseline="-25000" dirty="0" err="1" smtClean="0"/>
                  <a:t>t</a:t>
                </a:r>
                <a:r>
                  <a:rPr lang="en-US" altLang="zh-TW" sz="2200" dirty="0" smtClean="0"/>
                  <a:t>)</a:t>
                </a:r>
                <a:r>
                  <a:rPr lang="zh-TW" altLang="en-US" sz="2200" dirty="0" smtClean="0"/>
                  <a:t>，此時使用</a:t>
                </a:r>
                <a14:m>
                  <m:oMath xmlns:m="http://schemas.openxmlformats.org/officeDocument/2006/math">
                    <m:sSub>
                      <m:sSubPr>
                        <m:ctrlPr>
                          <a:rPr lang="en-US" altLang="zh-TW" sz="2200" b="1" i="1" smtClean="0">
                            <a:latin typeface="Cambria Math" panose="02040503050406030204" pitchFamily="18" charset="0"/>
                          </a:rPr>
                        </m:ctrlPr>
                      </m:sSubPr>
                      <m:e>
                        <m:r>
                          <a:rPr lang="en-US" altLang="zh-TW" sz="2200" b="1" i="1" smtClean="0">
                            <a:latin typeface="Cambria Math" panose="02040503050406030204" pitchFamily="18" charset="0"/>
                          </a:rPr>
                          <m:t>𝒛</m:t>
                        </m:r>
                      </m:e>
                      <m:sub>
                        <m:r>
                          <a:rPr lang="en-US" altLang="zh-TW" sz="2200" b="1" i="1" smtClean="0">
                            <a:latin typeface="Cambria Math" panose="02040503050406030204" pitchFamily="18" charset="0"/>
                          </a:rPr>
                          <m:t>𝟏</m:t>
                        </m:r>
                        <m:r>
                          <a:rPr lang="en-US" altLang="zh-TW" sz="2200" b="1" i="1" smtClean="0">
                            <a:latin typeface="Cambria Math" panose="02040503050406030204" pitchFamily="18" charset="0"/>
                          </a:rPr>
                          <m:t>:</m:t>
                        </m:r>
                        <m:r>
                          <a:rPr lang="en-US" altLang="zh-TW" sz="2200" b="1" i="1" smtClean="0">
                            <a:latin typeface="Cambria Math" panose="02040503050406030204" pitchFamily="18" charset="0"/>
                          </a:rPr>
                          <m:t>𝒕</m:t>
                        </m:r>
                        <m:r>
                          <a:rPr lang="en-US" altLang="zh-TW" sz="2200" b="1" i="1" smtClean="0">
                            <a:latin typeface="Cambria Math" panose="02040503050406030204" pitchFamily="18" charset="0"/>
                          </a:rPr>
                          <m:t>−</m:t>
                        </m:r>
                        <m:r>
                          <a:rPr lang="en-US" altLang="zh-TW" sz="2200" b="1" i="1" smtClean="0">
                            <a:latin typeface="Cambria Math" panose="02040503050406030204" pitchFamily="18" charset="0"/>
                          </a:rPr>
                          <m:t>𝟏</m:t>
                        </m:r>
                      </m:sub>
                    </m:sSub>
                    <m:r>
                      <a:rPr lang="en-US" altLang="zh-TW" sz="2200" b="0" i="1" smtClean="0">
                        <a:latin typeface="Cambria Math" panose="02040503050406030204" pitchFamily="18" charset="0"/>
                      </a:rPr>
                      <m:t>=</m:t>
                    </m:r>
                    <m:d>
                      <m:dPr>
                        <m:begChr m:val="{"/>
                        <m:endChr m:val="}"/>
                        <m:ctrlPr>
                          <a:rPr lang="en-US" altLang="zh-TW" sz="2200" b="0" i="1" smtClean="0">
                            <a:latin typeface="Cambria Math" panose="02040503050406030204" pitchFamily="18" charset="0"/>
                          </a:rPr>
                        </m:ctrlPr>
                      </m:dPr>
                      <m:e>
                        <m:sSub>
                          <m:sSubPr>
                            <m:ctrlPr>
                              <a:rPr lang="en-US" altLang="zh-TW" sz="2200" b="1" i="1" dirty="0">
                                <a:latin typeface="Cambria Math" panose="02040503050406030204" pitchFamily="18" charset="0"/>
                              </a:rPr>
                            </m:ctrlPr>
                          </m:sSubPr>
                          <m:e>
                            <m:r>
                              <a:rPr lang="en-US" altLang="zh-TW" sz="2200" b="1" i="1" dirty="0">
                                <a:latin typeface="Cambria Math" panose="02040503050406030204" pitchFamily="18" charset="0"/>
                              </a:rPr>
                              <m:t>𝒛</m:t>
                            </m:r>
                          </m:e>
                          <m:sub>
                            <m:r>
                              <a:rPr lang="en-US" altLang="zh-TW" sz="2200" b="1" i="1" dirty="0">
                                <a:latin typeface="Cambria Math"/>
                              </a:rPr>
                              <m:t>𝟏</m:t>
                            </m:r>
                          </m:sub>
                        </m:sSub>
                        <m:r>
                          <a:rPr lang="en-US" altLang="zh-TW" sz="2200" b="1" i="1" dirty="0">
                            <a:latin typeface="Cambria Math"/>
                          </a:rPr>
                          <m:t>,</m:t>
                        </m:r>
                        <m:sSub>
                          <m:sSubPr>
                            <m:ctrlPr>
                              <a:rPr lang="en-US" altLang="zh-TW" sz="2200" b="1" i="1" dirty="0">
                                <a:latin typeface="Cambria Math" panose="02040503050406030204" pitchFamily="18" charset="0"/>
                              </a:rPr>
                            </m:ctrlPr>
                          </m:sSubPr>
                          <m:e>
                            <m:r>
                              <a:rPr lang="en-US" altLang="zh-TW" sz="2200" b="1" i="1" dirty="0">
                                <a:latin typeface="Cambria Math" panose="02040503050406030204" pitchFamily="18" charset="0"/>
                              </a:rPr>
                              <m:t>𝒛</m:t>
                            </m:r>
                          </m:e>
                          <m:sub>
                            <m:r>
                              <a:rPr lang="en-US" altLang="zh-TW" sz="2200" b="1" i="1" dirty="0">
                                <a:latin typeface="Cambria Math"/>
                              </a:rPr>
                              <m:t>𝟐</m:t>
                            </m:r>
                          </m:sub>
                        </m:sSub>
                        <m:r>
                          <a:rPr lang="en-US" altLang="zh-TW" sz="2200" b="1" i="1" dirty="0">
                            <a:latin typeface="Cambria Math"/>
                          </a:rPr>
                          <m:t>,….</m:t>
                        </m:r>
                        <m:sSub>
                          <m:sSubPr>
                            <m:ctrlPr>
                              <a:rPr lang="en-US" altLang="zh-TW" sz="2200" b="1" i="1" dirty="0">
                                <a:latin typeface="Cambria Math" panose="02040503050406030204" pitchFamily="18" charset="0"/>
                              </a:rPr>
                            </m:ctrlPr>
                          </m:sSubPr>
                          <m:e>
                            <m:r>
                              <a:rPr lang="en-US" altLang="zh-TW" sz="2200" b="1" i="1" dirty="0">
                                <a:latin typeface="Cambria Math" panose="02040503050406030204" pitchFamily="18" charset="0"/>
                              </a:rPr>
                              <m:t>𝒛</m:t>
                            </m:r>
                          </m:e>
                          <m:sub>
                            <m:r>
                              <a:rPr lang="en-US" altLang="zh-TW" sz="2200" b="1" i="1" dirty="0">
                                <a:latin typeface="Cambria Math"/>
                              </a:rPr>
                              <m:t>𝒕</m:t>
                            </m:r>
                            <m:r>
                              <a:rPr lang="en-US" altLang="zh-TW" sz="2200" b="1" i="1" dirty="0">
                                <a:latin typeface="Cambria Math"/>
                              </a:rPr>
                              <m:t>−</m:t>
                            </m:r>
                            <m:r>
                              <a:rPr lang="en-US" altLang="zh-TW" sz="2200" b="1" i="1" dirty="0">
                                <a:latin typeface="Cambria Math"/>
                              </a:rPr>
                              <m:t>𝟏</m:t>
                            </m:r>
                          </m:sub>
                        </m:sSub>
                      </m:e>
                    </m:d>
                  </m:oMath>
                </a14:m>
                <a:r>
                  <a:rPr lang="zh-TW" altLang="en-US" sz="2200" dirty="0" smtClean="0"/>
                  <a:t>所估計</a:t>
                </a:r>
                <a:r>
                  <a:rPr lang="en-US" altLang="zh-TW" sz="2200" dirty="0" smtClean="0"/>
                  <a:t>(</a:t>
                </a:r>
                <a:r>
                  <a:rPr lang="zh-TW" altLang="en-US" sz="2200" dirty="0" smtClean="0"/>
                  <a:t>預測</a:t>
                </a:r>
                <a:r>
                  <a:rPr lang="en-US" altLang="zh-TW" sz="2200" dirty="0" smtClean="0"/>
                  <a:t>)</a:t>
                </a:r>
                <a:r>
                  <a:rPr lang="zh-TW" altLang="en-US" sz="2200" dirty="0" smtClean="0"/>
                  <a:t>的狀態，稱為</a:t>
                </a:r>
                <a:r>
                  <a:rPr lang="en-US" altLang="zh-TW" sz="2200" b="1" dirty="0" smtClean="0">
                    <a:solidFill>
                      <a:srgbClr val="00B0F0"/>
                    </a:solidFill>
                  </a:rPr>
                  <a:t>prior state</a:t>
                </a:r>
              </a:p>
              <a:p>
                <a:pPr/>
                <a14:m>
                  <m:oMathPara xmlns:m="http://schemas.openxmlformats.org/officeDocument/2006/math">
                    <m:oMathParaPr>
                      <m:jc m:val="centerGroup"/>
                    </m:oMathParaPr>
                    <m:oMath xmlns:m="http://schemas.openxmlformats.org/officeDocument/2006/math">
                      <m:sSubSup>
                        <m:sSubSupPr>
                          <m:ctrlPr>
                            <a:rPr lang="en-US" altLang="zh-TW" sz="2200" b="1" i="1" dirty="0">
                              <a:latin typeface="Cambria Math" panose="02040503050406030204" pitchFamily="18" charset="0"/>
                            </a:rPr>
                          </m:ctrlPr>
                        </m:sSubSupPr>
                        <m:e>
                          <m:acc>
                            <m:accPr>
                              <m:chr m:val="̂"/>
                              <m:ctrlPr>
                                <a:rPr lang="en-US" altLang="zh-TW" sz="2200" b="1" i="1">
                                  <a:latin typeface="Cambria Math" panose="02040503050406030204" pitchFamily="18" charset="0"/>
                                </a:rPr>
                              </m:ctrlPr>
                            </m:accPr>
                            <m:e>
                              <m:r>
                                <a:rPr lang="en-US" altLang="zh-TW" sz="2200" b="1" i="1">
                                  <a:latin typeface="Cambria Math"/>
                                </a:rPr>
                                <m:t>𝒙</m:t>
                              </m:r>
                            </m:e>
                          </m:acc>
                        </m:e>
                        <m:sub>
                          <m:r>
                            <a:rPr lang="en-US" altLang="zh-TW" sz="2200" b="1" i="1" dirty="0" smtClean="0">
                              <a:latin typeface="Cambria Math"/>
                            </a:rPr>
                            <m:t>𝒕</m:t>
                          </m:r>
                        </m:sub>
                        <m:sup>
                          <m:r>
                            <a:rPr lang="en-US" altLang="zh-TW" sz="2200" b="1" i="1" dirty="0">
                              <a:latin typeface="Cambria Math"/>
                            </a:rPr>
                            <m:t>−</m:t>
                          </m:r>
                        </m:sup>
                      </m:sSubSup>
                      <m:r>
                        <a:rPr lang="en-US" altLang="zh-TW" sz="2200" b="0" i="1" dirty="0" smtClean="0">
                          <a:latin typeface="Cambria Math"/>
                        </a:rPr>
                        <m:t>=</m:t>
                      </m:r>
                      <m:r>
                        <a:rPr lang="en-US" altLang="zh-TW" sz="2200" b="0" i="1" dirty="0" smtClean="0">
                          <a:latin typeface="Cambria Math"/>
                        </a:rPr>
                        <m:t>𝐸</m:t>
                      </m:r>
                      <m:d>
                        <m:dPr>
                          <m:ctrlPr>
                            <a:rPr lang="en-US" altLang="zh-TW" sz="2200" b="0" i="1" dirty="0" smtClean="0">
                              <a:latin typeface="Cambria Math" panose="02040503050406030204" pitchFamily="18" charset="0"/>
                            </a:rPr>
                          </m:ctrlPr>
                        </m:dPr>
                        <m:e>
                          <m:sSub>
                            <m:sSubPr>
                              <m:ctrlPr>
                                <a:rPr lang="en-US" altLang="zh-TW" sz="2200" b="1" i="1" dirty="0" smtClean="0">
                                  <a:latin typeface="Cambria Math" panose="02040503050406030204" pitchFamily="18" charset="0"/>
                                </a:rPr>
                              </m:ctrlPr>
                            </m:sSubPr>
                            <m:e>
                              <m:r>
                                <a:rPr lang="en-US" altLang="zh-TW" sz="2200" b="1" i="1" dirty="0" smtClean="0">
                                  <a:latin typeface="Cambria Math"/>
                                </a:rPr>
                                <m:t>𝒙</m:t>
                              </m:r>
                            </m:e>
                            <m:sub>
                              <m:r>
                                <a:rPr lang="en-US" altLang="zh-TW" sz="2200" b="1" i="1" dirty="0" smtClean="0">
                                  <a:latin typeface="Cambria Math"/>
                                </a:rPr>
                                <m:t>𝒕</m:t>
                              </m:r>
                            </m:sub>
                          </m:sSub>
                          <m:r>
                            <a:rPr lang="en-US" altLang="zh-TW" sz="2200" b="0" i="1" dirty="0" smtClean="0">
                              <a:latin typeface="Cambria Math"/>
                            </a:rPr>
                            <m:t>|</m:t>
                          </m:r>
                          <m:sSub>
                            <m:sSubPr>
                              <m:ctrlPr>
                                <a:rPr lang="en-US" altLang="zh-TW" sz="2200" b="1" i="1">
                                  <a:latin typeface="Cambria Math" panose="02040503050406030204" pitchFamily="18" charset="0"/>
                                </a:rPr>
                              </m:ctrlPr>
                            </m:sSubPr>
                            <m:e>
                              <m:r>
                                <a:rPr lang="en-US" altLang="zh-TW" sz="2200" b="1" i="1">
                                  <a:latin typeface="Cambria Math" panose="02040503050406030204" pitchFamily="18" charset="0"/>
                                </a:rPr>
                                <m:t>𝒛</m:t>
                              </m:r>
                            </m:e>
                            <m:sub>
                              <m:r>
                                <a:rPr lang="en-US" altLang="zh-TW" sz="2200" b="1" i="1">
                                  <a:latin typeface="Cambria Math" panose="02040503050406030204" pitchFamily="18" charset="0"/>
                                </a:rPr>
                                <m:t>𝟏</m:t>
                              </m:r>
                              <m:r>
                                <a:rPr lang="en-US" altLang="zh-TW" sz="2200" b="1" i="1">
                                  <a:latin typeface="Cambria Math" panose="02040503050406030204" pitchFamily="18" charset="0"/>
                                </a:rPr>
                                <m:t>:</m:t>
                              </m:r>
                              <m:r>
                                <a:rPr lang="en-US" altLang="zh-TW" sz="2200" b="1" i="1">
                                  <a:latin typeface="Cambria Math" panose="02040503050406030204" pitchFamily="18" charset="0"/>
                                </a:rPr>
                                <m:t>𝒕</m:t>
                              </m:r>
                              <m:r>
                                <a:rPr lang="en-US" altLang="zh-TW" sz="2200" b="1" i="1">
                                  <a:latin typeface="Cambria Math" panose="02040503050406030204" pitchFamily="18" charset="0"/>
                                </a:rPr>
                                <m:t>−</m:t>
                              </m:r>
                              <m:r>
                                <a:rPr lang="en-US" altLang="zh-TW" sz="2200" b="1" i="1">
                                  <a:latin typeface="Cambria Math" panose="02040503050406030204" pitchFamily="18" charset="0"/>
                                </a:rPr>
                                <m:t>𝟏</m:t>
                              </m:r>
                            </m:sub>
                          </m:sSub>
                        </m:e>
                      </m:d>
                    </m:oMath>
                  </m:oMathPara>
                </a14:m>
                <a:endParaRPr lang="en-US" altLang="zh-TW" sz="2200" dirty="0"/>
              </a:p>
              <a:p>
                <a:endParaRPr lang="en-US" altLang="zh-TW" sz="2200" dirty="0" smtClean="0"/>
              </a:p>
              <a:p>
                <a:endParaRPr lang="en-US" altLang="zh-TW" sz="2200" dirty="0"/>
              </a:p>
              <a:p>
                <a:r>
                  <a:rPr lang="zh-TW" altLang="en-US" sz="2200" dirty="0" smtClean="0"/>
                  <a:t>如果已知時間</a:t>
                </a:r>
                <a:r>
                  <a:rPr lang="en-US" altLang="zh-TW" sz="2200" dirty="0" smtClean="0"/>
                  <a:t>t</a:t>
                </a:r>
                <a:r>
                  <a:rPr lang="zh-TW" altLang="en-US" sz="2200" dirty="0" smtClean="0"/>
                  <a:t>之</a:t>
                </a:r>
                <a:r>
                  <a:rPr lang="zh-TW" altLang="en-US" sz="2200" dirty="0"/>
                  <a:t>量測</a:t>
                </a:r>
                <a:r>
                  <a:rPr lang="zh-TW" altLang="en-US" sz="2200" dirty="0" smtClean="0"/>
                  <a:t>值</a:t>
                </a:r>
                <a:r>
                  <a:rPr lang="en-US" altLang="zh-TW" sz="2200" b="1" dirty="0" err="1" smtClean="0"/>
                  <a:t>z</a:t>
                </a:r>
                <a:r>
                  <a:rPr lang="en-US" altLang="zh-TW" sz="2200" b="1" baseline="-25000" dirty="0" err="1" smtClean="0"/>
                  <a:t>t</a:t>
                </a:r>
                <a:r>
                  <a:rPr lang="zh-TW" altLang="en-US" sz="2200" dirty="0" smtClean="0"/>
                  <a:t>，此時使用</a:t>
                </a:r>
                <a14:m>
                  <m:oMath xmlns:m="http://schemas.openxmlformats.org/officeDocument/2006/math">
                    <m:sSub>
                      <m:sSubPr>
                        <m:ctrlPr>
                          <a:rPr lang="en-US" altLang="zh-TW" sz="2200" b="1" i="1" smtClean="0">
                            <a:latin typeface="Cambria Math" panose="02040503050406030204" pitchFamily="18" charset="0"/>
                          </a:rPr>
                        </m:ctrlPr>
                      </m:sSubPr>
                      <m:e>
                        <m:r>
                          <a:rPr lang="en-US" altLang="zh-TW" sz="2200" b="1" i="1" smtClean="0">
                            <a:latin typeface="Cambria Math" panose="02040503050406030204" pitchFamily="18" charset="0"/>
                          </a:rPr>
                          <m:t>𝒛</m:t>
                        </m:r>
                      </m:e>
                      <m:sub>
                        <m:r>
                          <a:rPr lang="en-US" altLang="zh-TW" sz="2200" b="1" i="1" smtClean="0">
                            <a:latin typeface="Cambria Math" panose="02040503050406030204" pitchFamily="18" charset="0"/>
                          </a:rPr>
                          <m:t>𝟏</m:t>
                        </m:r>
                        <m:r>
                          <a:rPr lang="en-US" altLang="zh-TW" sz="2200" b="1" i="1" smtClean="0">
                            <a:latin typeface="Cambria Math" panose="02040503050406030204" pitchFamily="18" charset="0"/>
                          </a:rPr>
                          <m:t>:</m:t>
                        </m:r>
                        <m:r>
                          <a:rPr lang="en-US" altLang="zh-TW" sz="2200" b="1" i="1" smtClean="0">
                            <a:latin typeface="Cambria Math" panose="02040503050406030204" pitchFamily="18" charset="0"/>
                          </a:rPr>
                          <m:t>𝒕</m:t>
                        </m:r>
                      </m:sub>
                    </m:sSub>
                    <m:r>
                      <a:rPr lang="en-US" altLang="zh-TW" sz="2200" b="0" i="1" smtClean="0">
                        <a:latin typeface="Cambria Math" panose="02040503050406030204" pitchFamily="18" charset="0"/>
                      </a:rPr>
                      <m:t>=</m:t>
                    </m:r>
                    <m:d>
                      <m:dPr>
                        <m:begChr m:val="{"/>
                        <m:endChr m:val="}"/>
                        <m:ctrlPr>
                          <a:rPr lang="en-US" altLang="zh-TW" sz="2200" b="0" i="1" smtClean="0">
                            <a:latin typeface="Cambria Math" panose="02040503050406030204" pitchFamily="18" charset="0"/>
                          </a:rPr>
                        </m:ctrlPr>
                      </m:dPr>
                      <m:e>
                        <m:sSub>
                          <m:sSubPr>
                            <m:ctrlPr>
                              <a:rPr lang="en-US" altLang="zh-TW" sz="2200" b="1" i="1" dirty="0">
                                <a:latin typeface="Cambria Math" panose="02040503050406030204" pitchFamily="18" charset="0"/>
                              </a:rPr>
                            </m:ctrlPr>
                          </m:sSubPr>
                          <m:e>
                            <m:r>
                              <a:rPr lang="en-US" altLang="zh-TW" sz="2200" b="1" i="1" dirty="0">
                                <a:latin typeface="Cambria Math" panose="02040503050406030204" pitchFamily="18" charset="0"/>
                              </a:rPr>
                              <m:t>𝒛</m:t>
                            </m:r>
                          </m:e>
                          <m:sub>
                            <m:r>
                              <a:rPr lang="en-US" altLang="zh-TW" sz="2200" b="1" i="1" dirty="0">
                                <a:latin typeface="Cambria Math"/>
                              </a:rPr>
                              <m:t>𝟏</m:t>
                            </m:r>
                          </m:sub>
                        </m:sSub>
                        <m:r>
                          <a:rPr lang="en-US" altLang="zh-TW" sz="2200" b="1" i="1" dirty="0">
                            <a:latin typeface="Cambria Math"/>
                          </a:rPr>
                          <m:t>,</m:t>
                        </m:r>
                        <m:sSub>
                          <m:sSubPr>
                            <m:ctrlPr>
                              <a:rPr lang="en-US" altLang="zh-TW" sz="2200" b="1" i="1" dirty="0">
                                <a:latin typeface="Cambria Math" panose="02040503050406030204" pitchFamily="18" charset="0"/>
                              </a:rPr>
                            </m:ctrlPr>
                          </m:sSubPr>
                          <m:e>
                            <m:r>
                              <a:rPr lang="en-US" altLang="zh-TW" sz="2200" b="1" i="1" dirty="0">
                                <a:latin typeface="Cambria Math" panose="02040503050406030204" pitchFamily="18" charset="0"/>
                              </a:rPr>
                              <m:t>𝒛</m:t>
                            </m:r>
                          </m:e>
                          <m:sub>
                            <m:r>
                              <a:rPr lang="en-US" altLang="zh-TW" sz="2200" b="1" i="1" dirty="0">
                                <a:latin typeface="Cambria Math"/>
                              </a:rPr>
                              <m:t>𝟐</m:t>
                            </m:r>
                          </m:sub>
                        </m:sSub>
                        <m:r>
                          <a:rPr lang="en-US" altLang="zh-TW" sz="2200" b="1" i="1" dirty="0">
                            <a:latin typeface="Cambria Math"/>
                          </a:rPr>
                          <m:t>,….</m:t>
                        </m:r>
                        <m:r>
                          <a:rPr lang="en-US" altLang="zh-TW" sz="2200" b="1" i="1" dirty="0">
                            <a:latin typeface="Cambria Math" panose="02040503050406030204" pitchFamily="18" charset="0"/>
                          </a:rPr>
                          <m:t>,</m:t>
                        </m:r>
                        <m:sSub>
                          <m:sSubPr>
                            <m:ctrlPr>
                              <a:rPr lang="en-US" altLang="zh-TW" sz="2200" b="1" i="1" dirty="0">
                                <a:latin typeface="Cambria Math" panose="02040503050406030204" pitchFamily="18" charset="0"/>
                              </a:rPr>
                            </m:ctrlPr>
                          </m:sSubPr>
                          <m:e>
                            <m:r>
                              <a:rPr lang="en-US" altLang="zh-TW" sz="2200" b="1" i="1" dirty="0">
                                <a:latin typeface="Cambria Math" panose="02040503050406030204" pitchFamily="18" charset="0"/>
                              </a:rPr>
                              <m:t>𝒛</m:t>
                            </m:r>
                          </m:e>
                          <m:sub>
                            <m:r>
                              <a:rPr lang="en-US" altLang="zh-TW" sz="2200" b="1" i="1" dirty="0">
                                <a:latin typeface="Cambria Math"/>
                              </a:rPr>
                              <m:t>𝒕</m:t>
                            </m:r>
                            <m:r>
                              <a:rPr lang="en-US" altLang="zh-TW" sz="2200" b="1" i="1" dirty="0">
                                <a:latin typeface="Cambria Math"/>
                              </a:rPr>
                              <m:t>−</m:t>
                            </m:r>
                            <m:r>
                              <a:rPr lang="en-US" altLang="zh-TW" sz="2200" b="1" i="1" dirty="0">
                                <a:latin typeface="Cambria Math"/>
                              </a:rPr>
                              <m:t>𝟏</m:t>
                            </m:r>
                          </m:sub>
                        </m:sSub>
                        <m:r>
                          <a:rPr lang="en-US" altLang="zh-TW" sz="2200" b="1" i="1" dirty="0">
                            <a:latin typeface="Cambria Math"/>
                          </a:rPr>
                          <m:t>, </m:t>
                        </m:r>
                        <m:sSub>
                          <m:sSubPr>
                            <m:ctrlPr>
                              <a:rPr lang="en-US" altLang="zh-TW" sz="2200" b="1" i="1" dirty="0">
                                <a:solidFill>
                                  <a:srgbClr val="FF0000"/>
                                </a:solidFill>
                                <a:latin typeface="Cambria Math" panose="02040503050406030204" pitchFamily="18" charset="0"/>
                              </a:rPr>
                            </m:ctrlPr>
                          </m:sSubPr>
                          <m:e>
                            <m:r>
                              <a:rPr lang="en-US" altLang="zh-TW" sz="2200" b="1" i="1" dirty="0">
                                <a:solidFill>
                                  <a:srgbClr val="FF0000"/>
                                </a:solidFill>
                                <a:latin typeface="Cambria Math" panose="02040503050406030204" pitchFamily="18" charset="0"/>
                              </a:rPr>
                              <m:t>𝒛</m:t>
                            </m:r>
                          </m:e>
                          <m:sub>
                            <m:r>
                              <a:rPr lang="en-US" altLang="zh-TW" sz="2200" b="1" i="1" dirty="0">
                                <a:solidFill>
                                  <a:srgbClr val="FF0000"/>
                                </a:solidFill>
                                <a:latin typeface="Cambria Math"/>
                              </a:rPr>
                              <m:t>𝒕</m:t>
                            </m:r>
                          </m:sub>
                        </m:sSub>
                      </m:e>
                    </m:d>
                  </m:oMath>
                </a14:m>
                <a:r>
                  <a:rPr lang="zh-TW" altLang="en-US" sz="2200" dirty="0" smtClean="0"/>
                  <a:t>所估計的</a:t>
                </a:r>
                <a:r>
                  <a:rPr lang="zh-TW" altLang="en-US" sz="2200" dirty="0"/>
                  <a:t>狀態，稱為</a:t>
                </a:r>
                <a:r>
                  <a:rPr lang="en-US" altLang="zh-TW" sz="2200" b="1" dirty="0" smtClean="0">
                    <a:solidFill>
                      <a:srgbClr val="00B0F0"/>
                    </a:solidFill>
                  </a:rPr>
                  <a:t>posterior </a:t>
                </a:r>
                <a:r>
                  <a:rPr lang="en-US" altLang="zh-TW" sz="2200" b="1" dirty="0">
                    <a:solidFill>
                      <a:srgbClr val="00B0F0"/>
                    </a:solidFill>
                  </a:rPr>
                  <a:t>state</a:t>
                </a:r>
              </a:p>
              <a:p>
                <a:pPr/>
                <a14:m>
                  <m:oMathPara xmlns:m="http://schemas.openxmlformats.org/officeDocument/2006/math">
                    <m:oMathParaPr>
                      <m:jc m:val="centerGroup"/>
                    </m:oMathParaPr>
                    <m:oMath xmlns:m="http://schemas.openxmlformats.org/officeDocument/2006/math">
                      <m:sSubSup>
                        <m:sSubSupPr>
                          <m:ctrlPr>
                            <a:rPr lang="en-US" altLang="zh-TW" sz="2200" i="1" dirty="0">
                              <a:latin typeface="Cambria Math" panose="02040503050406030204" pitchFamily="18" charset="0"/>
                            </a:rPr>
                          </m:ctrlPr>
                        </m:sSubSupPr>
                        <m:e>
                          <m:acc>
                            <m:accPr>
                              <m:chr m:val="̂"/>
                              <m:ctrlPr>
                                <a:rPr lang="en-US" altLang="zh-TW" sz="2200" i="1">
                                  <a:latin typeface="Cambria Math" panose="02040503050406030204" pitchFamily="18" charset="0"/>
                                </a:rPr>
                              </m:ctrlPr>
                            </m:accPr>
                            <m:e>
                              <m:r>
                                <a:rPr lang="en-US" altLang="zh-TW" sz="2200" i="1">
                                  <a:latin typeface="Cambria Math"/>
                                </a:rPr>
                                <m:t>𝑥</m:t>
                              </m:r>
                            </m:e>
                          </m:acc>
                        </m:e>
                        <m:sub>
                          <m:r>
                            <a:rPr lang="en-US" altLang="zh-TW" sz="2200" b="0" i="1" dirty="0" smtClean="0">
                              <a:latin typeface="Cambria Math"/>
                            </a:rPr>
                            <m:t>𝑡</m:t>
                          </m:r>
                        </m:sub>
                        <m:sup>
                          <m:r>
                            <a:rPr lang="en-US" altLang="zh-TW" sz="2200" b="0" i="1" dirty="0" smtClean="0">
                              <a:latin typeface="Cambria Math"/>
                            </a:rPr>
                            <m:t>+</m:t>
                          </m:r>
                        </m:sup>
                      </m:sSubSup>
                      <m:r>
                        <a:rPr lang="en-US" altLang="zh-TW" sz="2200" i="1" dirty="0">
                          <a:latin typeface="Cambria Math"/>
                        </a:rPr>
                        <m:t>=</m:t>
                      </m:r>
                      <m:r>
                        <a:rPr lang="en-US" altLang="zh-TW" sz="2200" i="1" dirty="0">
                          <a:latin typeface="Cambria Math"/>
                        </a:rPr>
                        <m:t>𝐸</m:t>
                      </m:r>
                      <m:d>
                        <m:dPr>
                          <m:ctrlPr>
                            <a:rPr lang="en-US" altLang="zh-TW" sz="2200" i="1" dirty="0">
                              <a:latin typeface="Cambria Math" panose="02040503050406030204" pitchFamily="18" charset="0"/>
                            </a:rPr>
                          </m:ctrlPr>
                        </m:dPr>
                        <m:e>
                          <m:sSub>
                            <m:sSubPr>
                              <m:ctrlPr>
                                <a:rPr lang="en-US" altLang="zh-TW" sz="2200" b="1" i="1" dirty="0">
                                  <a:latin typeface="Cambria Math" panose="02040503050406030204" pitchFamily="18" charset="0"/>
                                </a:rPr>
                              </m:ctrlPr>
                            </m:sSubPr>
                            <m:e>
                              <m:r>
                                <a:rPr lang="en-US" altLang="zh-TW" sz="2200" b="1" i="1" dirty="0">
                                  <a:latin typeface="Cambria Math"/>
                                </a:rPr>
                                <m:t>𝒙</m:t>
                              </m:r>
                            </m:e>
                            <m:sub>
                              <m:r>
                                <a:rPr lang="en-US" altLang="zh-TW" sz="2200" b="1" i="1" dirty="0" smtClean="0">
                                  <a:latin typeface="Cambria Math"/>
                                </a:rPr>
                                <m:t>𝒕</m:t>
                              </m:r>
                            </m:sub>
                          </m:sSub>
                          <m:r>
                            <a:rPr lang="en-US" altLang="zh-TW" sz="2200" i="1" dirty="0">
                              <a:latin typeface="Cambria Math"/>
                            </a:rPr>
                            <m:t>|</m:t>
                          </m:r>
                          <m:sSub>
                            <m:sSubPr>
                              <m:ctrlPr>
                                <a:rPr lang="en-US" altLang="zh-TW" sz="2200" b="1" i="1" dirty="0" smtClean="0">
                                  <a:latin typeface="Cambria Math" panose="02040503050406030204" pitchFamily="18" charset="0"/>
                                </a:rPr>
                              </m:ctrlPr>
                            </m:sSubPr>
                            <m:e>
                              <m:r>
                                <a:rPr lang="en-US" altLang="zh-TW" sz="2200" b="1" i="1" dirty="0" smtClean="0">
                                  <a:latin typeface="Cambria Math" panose="02040503050406030204" pitchFamily="18" charset="0"/>
                                </a:rPr>
                                <m:t>𝒛</m:t>
                              </m:r>
                            </m:e>
                            <m:sub>
                              <m:r>
                                <a:rPr lang="en-US" altLang="zh-TW" sz="2200" b="1" i="1" dirty="0" smtClean="0">
                                  <a:latin typeface="Cambria Math" panose="02040503050406030204" pitchFamily="18" charset="0"/>
                                </a:rPr>
                                <m:t>𝟏</m:t>
                              </m:r>
                              <m:r>
                                <a:rPr lang="en-US" altLang="zh-TW" sz="2200" b="1" i="1" dirty="0" smtClean="0">
                                  <a:latin typeface="Cambria Math" panose="02040503050406030204" pitchFamily="18" charset="0"/>
                                </a:rPr>
                                <m:t>:</m:t>
                              </m:r>
                              <m:r>
                                <a:rPr lang="en-US" altLang="zh-TW" sz="2200" b="1" i="1" dirty="0" smtClean="0">
                                  <a:latin typeface="Cambria Math" panose="02040503050406030204" pitchFamily="18" charset="0"/>
                                </a:rPr>
                                <m:t>𝒕</m:t>
                              </m:r>
                            </m:sub>
                          </m:sSub>
                        </m:e>
                      </m:d>
                    </m:oMath>
                  </m:oMathPara>
                </a14:m>
                <a:endParaRPr lang="en-US" altLang="zh-TW" sz="2200" dirty="0"/>
              </a:p>
              <a:p>
                <a:endParaRPr lang="zh-TW" altLang="en-US" sz="2200" dirty="0"/>
              </a:p>
              <a:p>
                <a:endParaRPr lang="zh-TW" altLang="en-US" sz="2200" dirty="0"/>
              </a:p>
            </p:txBody>
          </p:sp>
        </mc:Choice>
        <mc:Fallback>
          <p:sp>
            <p:nvSpPr>
              <p:cNvPr id="6" name="文字方塊 5"/>
              <p:cNvSpPr txBox="1">
                <a:spLocks noRot="1" noChangeAspect="1" noMove="1" noResize="1" noEditPoints="1" noAdjustHandles="1" noChangeArrowheads="1" noChangeShapeType="1" noTextEdit="1"/>
              </p:cNvSpPr>
              <p:nvPr/>
            </p:nvSpPr>
            <p:spPr>
              <a:xfrm>
                <a:off x="4992414" y="2005781"/>
                <a:ext cx="6926317" cy="3816429"/>
              </a:xfrm>
              <a:prstGeom prst="rect">
                <a:avLst/>
              </a:prstGeom>
              <a:blipFill rotWithShape="0">
                <a:blip r:embed="rId3"/>
                <a:stretch>
                  <a:fillRect l="-1144" t="-1278" r="-158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5" name="圓角矩形 4"/>
              <p:cNvSpPr/>
              <p:nvPr/>
            </p:nvSpPr>
            <p:spPr>
              <a:xfrm>
                <a:off x="5266630" y="618186"/>
                <a:ext cx="5937992" cy="83712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14:m>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𝑨</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r>
                          <a:rPr lang="en-US" altLang="zh-TW" sz="2400" b="1" i="1">
                            <a:latin typeface="Cambria Math"/>
                          </a:rPr>
                          <m:t>−</m:t>
                        </m:r>
                        <m:r>
                          <a:rPr lang="en-US" altLang="zh-TW" sz="2400" b="1" i="1">
                            <a:latin typeface="Cambria Math"/>
                          </a:rPr>
                          <m:t>𝟏</m:t>
                        </m:r>
                      </m:sub>
                    </m:sSub>
                    <m:r>
                      <a:rPr lang="en-US" altLang="zh-TW" sz="2400" b="1"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𝑩</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𝒖</m:t>
                        </m:r>
                      </m:e>
                      <m:sub>
                        <m:r>
                          <a:rPr lang="en-US" altLang="zh-TW" sz="2400" b="1" i="1" smtClean="0">
                            <a:latin typeface="Cambria Math"/>
                          </a:rPr>
                          <m:t>𝒕</m:t>
                        </m:r>
                      </m:sub>
                    </m:sSub>
                    <m:r>
                      <a:rPr lang="en-US" altLang="zh-TW" sz="2400" b="1"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𝒘</m:t>
                        </m:r>
                      </m:e>
                      <m:sub>
                        <m:r>
                          <a:rPr lang="en-US" altLang="zh-TW" sz="2400" b="1" i="1" smtClean="0">
                            <a:latin typeface="Cambria Math"/>
                          </a:rPr>
                          <m:t>𝒕</m:t>
                        </m:r>
                      </m:sub>
                    </m:sSub>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𝒘</m:t>
                        </m:r>
                      </m:e>
                      <m:sub>
                        <m:r>
                          <a:rPr lang="en-US" altLang="zh-TW" sz="2400" b="1" i="1" smtClean="0">
                            <a:latin typeface="Cambria Math"/>
                          </a:rPr>
                          <m:t>𝒕</m:t>
                        </m:r>
                      </m:sub>
                    </m:sSub>
                    <m:r>
                      <a:rPr lang="en-US" altLang="zh-TW" sz="2400" b="1" i="1" smtClean="0">
                        <a:latin typeface="Cambria Math"/>
                      </a:rPr>
                      <m:t>~</m:t>
                    </m:r>
                    <m:r>
                      <a:rPr lang="en-US" altLang="zh-TW" sz="2400" b="1" i="1" smtClean="0">
                        <a:latin typeface="Cambria Math"/>
                      </a:rPr>
                      <m:t>𝑵</m:t>
                    </m:r>
                    <m:r>
                      <a:rPr lang="en-US" altLang="zh-TW" sz="2400" b="1" i="1" smtClean="0">
                        <a:latin typeface="Cambria Math"/>
                      </a:rPr>
                      <m:t>(</m:t>
                    </m:r>
                    <m:r>
                      <a:rPr lang="en-US" altLang="zh-TW" sz="2400" b="1" i="1" smtClean="0">
                        <a:latin typeface="Cambria Math"/>
                      </a:rPr>
                      <m:t>𝟎</m:t>
                    </m:r>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𝑸</m:t>
                        </m:r>
                      </m:e>
                      <m:sub>
                        <m:r>
                          <a:rPr lang="en-US" altLang="zh-TW" sz="2400" b="1" i="1" smtClean="0">
                            <a:latin typeface="Cambria Math"/>
                          </a:rPr>
                          <m:t>𝒕</m:t>
                        </m:r>
                      </m:sub>
                    </m:sSub>
                    <m:r>
                      <a:rPr lang="en-US" altLang="zh-TW" sz="2400" b="1" i="1" smtClean="0">
                        <a:latin typeface="Cambria Math"/>
                      </a:rPr>
                      <m:t>)</m:t>
                    </m:r>
                  </m:oMath>
                </a14:m>
                <a:r>
                  <a:rPr lang="en-US" altLang="zh-TW" sz="2400" b="1" dirty="0" smtClean="0"/>
                  <a:t/>
                </a:r>
                <a:endParaRPr lang="en-US" altLang="zh-TW" sz="2400" b="1" i="1" dirty="0" smtClean="0">
                  <a:latin typeface="Cambria Math"/>
                </a:endParaRPr>
              </a:p>
              <a:p>
                <a:pPr/>
                <a14:m>
                  <m:oMathPara xmlns:m="http://schemas.openxmlformats.org/officeDocument/2006/math">
                    <m:oMathParaPr>
                      <m:jc m:val="left"/>
                    </m:oMathParaPr>
                    <m:oMath xmlns:m="http://schemas.openxmlformats.org/officeDocument/2006/math">
                      <m:sSub>
                        <m:sSubPr>
                          <m:ctrlPr>
                            <a:rPr lang="en-US" altLang="zh-TW" sz="2400" b="1" i="1">
                              <a:latin typeface="Cambria Math" panose="02040503050406030204" pitchFamily="18" charset="0"/>
                            </a:rPr>
                          </m:ctrlPr>
                        </m:sSubPr>
                        <m:e>
                          <m:r>
                            <a:rPr lang="en-US" altLang="zh-TW" sz="2400" b="1" i="1" smtClean="0">
                              <a:latin typeface="Cambria Math" panose="02040503050406030204" pitchFamily="18" charset="0"/>
                            </a:rPr>
                            <m:t>𝒛</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𝑯</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𝒗</m:t>
                          </m:r>
                        </m:e>
                        <m:sub>
                          <m:r>
                            <a:rPr lang="en-US" altLang="zh-TW" sz="2400" b="1" i="1" smtClean="0">
                              <a:latin typeface="Cambria Math"/>
                            </a:rPr>
                            <m:t>𝒕</m:t>
                          </m:r>
                        </m:sub>
                      </m:sSub>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𝒗</m:t>
                          </m:r>
                        </m:e>
                        <m:sub>
                          <m:r>
                            <a:rPr lang="en-US" altLang="zh-TW" sz="2400" b="1" i="1" smtClean="0">
                              <a:latin typeface="Cambria Math"/>
                            </a:rPr>
                            <m:t>𝒕</m:t>
                          </m:r>
                        </m:sub>
                      </m:sSub>
                      <m:r>
                        <a:rPr lang="en-US" altLang="zh-TW" sz="2400" b="1" i="1" smtClean="0">
                          <a:latin typeface="Cambria Math"/>
                        </a:rPr>
                        <m:t>~</m:t>
                      </m:r>
                      <m:r>
                        <a:rPr lang="en-US" altLang="zh-TW" sz="2400" b="1" i="1" smtClean="0">
                          <a:latin typeface="Cambria Math"/>
                        </a:rPr>
                        <m:t>𝑵</m:t>
                      </m:r>
                      <m:r>
                        <a:rPr lang="en-US" altLang="zh-TW" sz="2400" b="1" i="1" smtClean="0">
                          <a:latin typeface="Cambria Math"/>
                        </a:rPr>
                        <m:t>(</m:t>
                      </m:r>
                      <m:r>
                        <a:rPr lang="en-US" altLang="zh-TW" sz="2400" b="1" i="1" smtClean="0">
                          <a:latin typeface="Cambria Math"/>
                        </a:rPr>
                        <m:t>𝟎</m:t>
                      </m:r>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𝑹</m:t>
                          </m:r>
                        </m:e>
                        <m:sub>
                          <m:r>
                            <a:rPr lang="en-US" altLang="zh-TW" sz="2400" b="1" i="1" smtClean="0">
                              <a:latin typeface="Cambria Math"/>
                            </a:rPr>
                            <m:t>𝒕</m:t>
                          </m:r>
                        </m:sub>
                      </m:sSub>
                      <m:r>
                        <a:rPr lang="en-US" altLang="zh-TW" sz="2400" b="1" i="1" smtClean="0">
                          <a:latin typeface="Cambria Math"/>
                        </a:rPr>
                        <m:t>)</m:t>
                      </m:r>
                    </m:oMath>
                  </m:oMathPara>
                </a14:m>
                <a:endParaRPr lang="zh-TW" altLang="en-US" sz="2400" dirty="0"/>
              </a:p>
            </p:txBody>
          </p:sp>
        </mc:Choice>
        <mc:Fallback>
          <p:sp>
            <p:nvSpPr>
              <p:cNvPr id="5" name="圓角矩形 4"/>
              <p:cNvSpPr>
                <a:spLocks noRot="1" noChangeAspect="1" noMove="1" noResize="1" noEditPoints="1" noAdjustHandles="1" noChangeArrowheads="1" noChangeShapeType="1" noTextEdit="1"/>
              </p:cNvSpPr>
              <p:nvPr/>
            </p:nvSpPr>
            <p:spPr>
              <a:xfrm>
                <a:off x="5266630" y="618186"/>
                <a:ext cx="5937992" cy="837127"/>
              </a:xfrm>
              <a:prstGeom prst="roundRect">
                <a:avLst/>
              </a:prstGeom>
              <a:blipFill rotWithShape="1">
                <a:blip r:embed="rId4"/>
                <a:stretch>
                  <a:fillRect b="-86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28071476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Kalman </a:t>
            </a:r>
            <a:r>
              <a:rPr lang="en-US" altLang="zh-TW" dirty="0" smtClean="0"/>
              <a:t>filter (2) </a:t>
            </a:r>
            <a:endParaRPr lang="zh-TW" altLang="en-US" dirty="0"/>
          </a:p>
        </p:txBody>
      </p:sp>
      <p:sp>
        <p:nvSpPr>
          <p:cNvPr id="3" name="投影片編號版面配置區 2"/>
          <p:cNvSpPr>
            <a:spLocks noGrp="1"/>
          </p:cNvSpPr>
          <p:nvPr>
            <p:ph type="sldNum" sz="quarter" idx="12"/>
          </p:nvPr>
        </p:nvSpPr>
        <p:spPr/>
        <p:txBody>
          <a:bodyPr/>
          <a:lstStyle/>
          <a:p>
            <a:fld id="{EDBC11D7-B428-46C8-AE33-EA48ADD530EC}" type="slidenum">
              <a:rPr lang="zh-TW" altLang="en-US" smtClean="0"/>
              <a:pPr/>
              <a:t>10</a:t>
            </a:fld>
            <a:endParaRPr lang="zh-TW" altLang="en-US"/>
          </a:p>
        </p:txBody>
      </p:sp>
      <mc:AlternateContent xmlns:mc="http://schemas.openxmlformats.org/markup-compatibility/2006">
        <mc:Choice xmlns:a14="http://schemas.microsoft.com/office/drawing/2010/main" xmlns="" Requires="a14">
          <p:sp>
            <p:nvSpPr>
              <p:cNvPr id="5" name="文字方塊 4"/>
              <p:cNvSpPr txBox="1"/>
              <p:nvPr/>
            </p:nvSpPr>
            <p:spPr>
              <a:xfrm>
                <a:off x="373627" y="1936955"/>
                <a:ext cx="10341596" cy="4409990"/>
              </a:xfrm>
              <a:prstGeom prst="rect">
                <a:avLst/>
              </a:prstGeom>
              <a:noFill/>
            </p:spPr>
            <p:txBody>
              <a:bodyPr wrap="square" rtlCol="0">
                <a:spAutoFit/>
              </a:bodyPr>
              <a:lstStyle/>
              <a:p>
                <a:pPr marL="342900" indent="-342900">
                  <a:buFont typeface="Arial" panose="020B0604020202020204" pitchFamily="34" charset="0"/>
                  <a:buChar char="•"/>
                </a:pPr>
                <a:r>
                  <a:rPr lang="en-US" altLang="zh-TW" sz="2400" dirty="0" smtClean="0"/>
                  <a:t>prior state </a:t>
                </a:r>
                <a14:m>
                  <m:oMath xmlns:m="http://schemas.openxmlformats.org/officeDocument/2006/math">
                    <m:sSubSup>
                      <m:sSubSupPr>
                        <m:ctrlPr>
                          <a:rPr lang="en-US" altLang="zh-TW" sz="2400" b="1" i="1" dirty="0">
                            <a:latin typeface="Cambria Math" panose="02040503050406030204" pitchFamily="18" charset="0"/>
                          </a:rPr>
                        </m:ctrlPr>
                      </m:sSubSupPr>
                      <m:e>
                        <m:acc>
                          <m:accPr>
                            <m:chr m:val="̂"/>
                            <m:ctrlPr>
                              <a:rPr lang="en-US" altLang="zh-TW" sz="2400" b="1" i="1">
                                <a:latin typeface="Cambria Math" panose="02040503050406030204" pitchFamily="18" charset="0"/>
                              </a:rPr>
                            </m:ctrlPr>
                          </m:accPr>
                          <m:e>
                            <m:r>
                              <a:rPr lang="en-US" altLang="zh-TW" sz="2400" b="1" i="1">
                                <a:latin typeface="Cambria Math"/>
                              </a:rPr>
                              <m:t>𝒙</m:t>
                            </m:r>
                          </m:e>
                        </m:acc>
                      </m:e>
                      <m:sub>
                        <m:r>
                          <a:rPr lang="en-US" altLang="zh-TW" sz="2400" b="1" i="1" dirty="0" smtClean="0">
                            <a:latin typeface="Cambria Math"/>
                          </a:rPr>
                          <m:t>𝒕</m:t>
                        </m:r>
                      </m:sub>
                      <m:sup>
                        <m:r>
                          <a:rPr lang="en-US" altLang="zh-TW" sz="2400" b="1" i="1" dirty="0">
                            <a:latin typeface="Cambria Math"/>
                          </a:rPr>
                          <m:t>−</m:t>
                        </m:r>
                      </m:sup>
                    </m:sSubSup>
                    <m:r>
                      <a:rPr lang="en-US" altLang="zh-TW" sz="2400" b="0" i="1" dirty="0" smtClean="0">
                        <a:latin typeface="Cambria Math"/>
                      </a:rPr>
                      <m:t>=</m:t>
                    </m:r>
                    <m:r>
                      <a:rPr lang="en-US" altLang="zh-TW" sz="2400" b="0" i="1" dirty="0" smtClean="0">
                        <a:latin typeface="Cambria Math"/>
                      </a:rPr>
                      <m:t>𝐸</m:t>
                    </m:r>
                    <m:d>
                      <m:dPr>
                        <m:ctrlPr>
                          <a:rPr lang="en-US" altLang="zh-TW" sz="2400" b="0" i="1" dirty="0" smtClean="0">
                            <a:latin typeface="Cambria Math" panose="02040503050406030204" pitchFamily="18" charset="0"/>
                          </a:rPr>
                        </m:ctrlPr>
                      </m:dPr>
                      <m:e>
                        <m:sSub>
                          <m:sSubPr>
                            <m:ctrlPr>
                              <a:rPr lang="en-US" altLang="zh-TW" sz="2400" b="1" i="1" dirty="0" smtClean="0">
                                <a:latin typeface="Cambria Math" panose="02040503050406030204" pitchFamily="18" charset="0"/>
                              </a:rPr>
                            </m:ctrlPr>
                          </m:sSubPr>
                          <m:e>
                            <m:r>
                              <a:rPr lang="en-US" altLang="zh-TW" sz="2400" b="1" i="1" dirty="0" smtClean="0">
                                <a:latin typeface="Cambria Math"/>
                              </a:rPr>
                              <m:t>𝒙</m:t>
                            </m:r>
                          </m:e>
                          <m:sub>
                            <m:r>
                              <a:rPr lang="en-US" altLang="zh-TW" sz="2400" b="1" i="1" dirty="0" smtClean="0">
                                <a:latin typeface="Cambria Math"/>
                              </a:rPr>
                              <m:t>𝒕</m:t>
                            </m:r>
                          </m:sub>
                        </m:sSub>
                        <m:r>
                          <a:rPr lang="en-US" altLang="zh-TW" sz="2400" b="0" i="1" dirty="0" smtClean="0">
                            <a:latin typeface="Cambria Math"/>
                          </a:rPr>
                          <m:t>|</m:t>
                        </m:r>
                        <m:sSub>
                          <m:sSubPr>
                            <m:ctrlPr>
                              <a:rPr lang="en-US" altLang="zh-TW" sz="2400" b="1" i="1" dirty="0" smtClean="0">
                                <a:latin typeface="Cambria Math" panose="02040503050406030204" pitchFamily="18" charset="0"/>
                              </a:rPr>
                            </m:ctrlPr>
                          </m:sSubPr>
                          <m:e>
                            <m:r>
                              <a:rPr lang="en-US" altLang="zh-TW" sz="2400" b="1" i="1" dirty="0" smtClean="0">
                                <a:latin typeface="Cambria Math" panose="02040503050406030204" pitchFamily="18" charset="0"/>
                              </a:rPr>
                              <m:t>𝒛</m:t>
                            </m:r>
                          </m:e>
                          <m:sub>
                            <m:r>
                              <a:rPr lang="en-US" altLang="zh-TW" sz="2400" b="1" i="1" dirty="0" smtClean="0">
                                <a:latin typeface="Cambria Math" panose="02040503050406030204" pitchFamily="18" charset="0"/>
                              </a:rPr>
                              <m:t>𝟏</m:t>
                            </m:r>
                            <m:r>
                              <a:rPr lang="en-US" altLang="zh-TW" sz="2400" b="1" i="1" dirty="0" smtClean="0">
                                <a:latin typeface="Cambria Math" panose="02040503050406030204" pitchFamily="18" charset="0"/>
                              </a:rPr>
                              <m:t>:</m:t>
                            </m:r>
                            <m:r>
                              <a:rPr lang="en-US" altLang="zh-TW" sz="2400" b="1" i="1" dirty="0" smtClean="0">
                                <a:latin typeface="Cambria Math" panose="02040503050406030204" pitchFamily="18" charset="0"/>
                              </a:rPr>
                              <m:t>𝒕</m:t>
                            </m:r>
                            <m:r>
                              <a:rPr lang="en-US" altLang="zh-TW" sz="2400" b="1" i="1" dirty="0" smtClean="0">
                                <a:latin typeface="Cambria Math" panose="02040503050406030204" pitchFamily="18" charset="0"/>
                              </a:rPr>
                              <m:t>−</m:t>
                            </m:r>
                            <m:r>
                              <a:rPr lang="en-US" altLang="zh-TW" sz="2400" b="1" i="1" dirty="0" smtClean="0">
                                <a:latin typeface="Cambria Math" panose="02040503050406030204" pitchFamily="18" charset="0"/>
                              </a:rPr>
                              <m:t>𝟏</m:t>
                            </m:r>
                          </m:sub>
                        </m:sSub>
                      </m:e>
                    </m:d>
                  </m:oMath>
                </a14:m>
                <a:endParaRPr lang="en-US" altLang="zh-TW" sz="2400" dirty="0"/>
              </a:p>
              <a:p>
                <a:pPr marL="342900" indent="-342900">
                  <a:buFont typeface="Arial" panose="020B0604020202020204" pitchFamily="34" charset="0"/>
                  <a:buChar char="•"/>
                </a:pPr>
                <a:r>
                  <a:rPr lang="en-US" altLang="zh-TW" sz="2400" dirty="0" smtClean="0"/>
                  <a:t>posterior </a:t>
                </a:r>
                <a:r>
                  <a:rPr lang="en-US" altLang="zh-TW" sz="2400" dirty="0"/>
                  <a:t>state</a:t>
                </a:r>
                <a14:m>
                  <m:oMath xmlns:m="http://schemas.openxmlformats.org/officeDocument/2006/math">
                    <m:r>
                      <a:rPr lang="en-US" altLang="zh-TW" sz="2400" b="0" i="0" dirty="0" smtClean="0">
                        <a:latin typeface="Cambria Math"/>
                      </a:rPr>
                      <m:t> </m:t>
                    </m:r>
                    <m:sSubSup>
                      <m:sSubSupPr>
                        <m:ctrlPr>
                          <a:rPr lang="en-US" altLang="zh-TW" sz="2400" i="1" dirty="0">
                            <a:latin typeface="Cambria Math" panose="02040503050406030204" pitchFamily="18" charset="0"/>
                          </a:rPr>
                        </m:ctrlPr>
                      </m:sSubSupPr>
                      <m:e>
                        <m:acc>
                          <m:accPr>
                            <m:chr m:val="̂"/>
                            <m:ctrlPr>
                              <a:rPr lang="en-US" altLang="zh-TW" sz="2400" i="1">
                                <a:latin typeface="Cambria Math" panose="02040503050406030204" pitchFamily="18" charset="0"/>
                              </a:rPr>
                            </m:ctrlPr>
                          </m:accPr>
                          <m:e>
                            <m:r>
                              <a:rPr lang="en-US" altLang="zh-TW" sz="2400" i="1">
                                <a:latin typeface="Cambria Math"/>
                              </a:rPr>
                              <m:t>𝑥</m:t>
                            </m:r>
                          </m:e>
                        </m:acc>
                      </m:e>
                      <m:sub>
                        <m:r>
                          <a:rPr lang="en-US" altLang="zh-TW" sz="2400" i="1" dirty="0">
                            <a:latin typeface="Cambria Math"/>
                          </a:rPr>
                          <m:t>𝑘</m:t>
                        </m:r>
                      </m:sub>
                      <m:sup>
                        <m:r>
                          <a:rPr lang="en-US" altLang="zh-TW" sz="2400" b="0" i="1" dirty="0" smtClean="0">
                            <a:latin typeface="Cambria Math"/>
                          </a:rPr>
                          <m:t>+</m:t>
                        </m:r>
                      </m:sup>
                    </m:sSubSup>
                    <m:r>
                      <a:rPr lang="en-US" altLang="zh-TW" sz="2400" i="1" dirty="0">
                        <a:latin typeface="Cambria Math"/>
                      </a:rPr>
                      <m:t>=</m:t>
                    </m:r>
                    <m:r>
                      <a:rPr lang="en-US" altLang="zh-TW" sz="2400" i="1" dirty="0">
                        <a:latin typeface="Cambria Math"/>
                      </a:rPr>
                      <m:t>𝐸</m:t>
                    </m:r>
                    <m:d>
                      <m:dPr>
                        <m:ctrlPr>
                          <a:rPr lang="en-US" altLang="zh-TW" sz="2400" i="1" dirty="0">
                            <a:latin typeface="Cambria Math" panose="02040503050406030204" pitchFamily="18" charset="0"/>
                          </a:rPr>
                        </m:ctrlPr>
                      </m:dPr>
                      <m:e>
                        <m:sSub>
                          <m:sSubPr>
                            <m:ctrlPr>
                              <a:rPr lang="en-US" altLang="zh-TW" sz="2400" b="1" i="1" dirty="0">
                                <a:latin typeface="Cambria Math" panose="02040503050406030204" pitchFamily="18" charset="0"/>
                              </a:rPr>
                            </m:ctrlPr>
                          </m:sSubPr>
                          <m:e>
                            <m:r>
                              <a:rPr lang="en-US" altLang="zh-TW" sz="2400" b="1" i="1" dirty="0">
                                <a:latin typeface="Cambria Math"/>
                              </a:rPr>
                              <m:t>𝒙</m:t>
                            </m:r>
                          </m:e>
                          <m:sub>
                            <m:r>
                              <a:rPr lang="en-US" altLang="zh-TW" sz="2400" b="1" i="1" dirty="0" smtClean="0">
                                <a:latin typeface="Cambria Math"/>
                              </a:rPr>
                              <m:t>𝒕</m:t>
                            </m:r>
                          </m:sub>
                        </m:sSub>
                        <m:r>
                          <a:rPr lang="en-US" altLang="zh-TW" sz="2400" i="1" dirty="0">
                            <a:latin typeface="Cambria Math"/>
                          </a:rPr>
                          <m:t>|</m:t>
                        </m:r>
                        <m:sSub>
                          <m:sSubPr>
                            <m:ctrlPr>
                              <a:rPr lang="en-US" altLang="zh-TW" sz="2400" b="1" i="1" dirty="0" smtClean="0">
                                <a:latin typeface="Cambria Math" panose="02040503050406030204" pitchFamily="18" charset="0"/>
                              </a:rPr>
                            </m:ctrlPr>
                          </m:sSubPr>
                          <m:e>
                            <m:r>
                              <a:rPr lang="en-US" altLang="zh-TW" sz="2400" b="1" i="1" dirty="0" smtClean="0">
                                <a:latin typeface="Cambria Math" panose="02040503050406030204" pitchFamily="18" charset="0"/>
                              </a:rPr>
                              <m:t>𝒛</m:t>
                            </m:r>
                          </m:e>
                          <m:sub>
                            <m:r>
                              <a:rPr lang="en-US" altLang="zh-TW" sz="2400" b="1" i="1" dirty="0" smtClean="0">
                                <a:latin typeface="Cambria Math" panose="02040503050406030204" pitchFamily="18" charset="0"/>
                              </a:rPr>
                              <m:t>𝟏</m:t>
                            </m:r>
                            <m:r>
                              <a:rPr lang="en-US" altLang="zh-TW" sz="2400" b="1" i="1" dirty="0" smtClean="0">
                                <a:latin typeface="Cambria Math" panose="02040503050406030204" pitchFamily="18" charset="0"/>
                              </a:rPr>
                              <m:t>:</m:t>
                            </m:r>
                            <m:r>
                              <a:rPr lang="en-US" altLang="zh-TW" sz="2400" b="1" i="1" dirty="0" smtClean="0">
                                <a:solidFill>
                                  <a:srgbClr val="FF0000"/>
                                </a:solidFill>
                                <a:latin typeface="Cambria Math" panose="02040503050406030204" pitchFamily="18" charset="0"/>
                              </a:rPr>
                              <m:t>𝒕</m:t>
                            </m:r>
                          </m:sub>
                        </m:sSub>
                      </m:e>
                    </m:d>
                  </m:oMath>
                </a14:m>
                <a:endParaRPr lang="en-US" altLang="zh-TW" sz="2400" dirty="0" smtClean="0"/>
              </a:p>
              <a:p>
                <a:pPr marL="342900" indent="-342900">
                  <a:buFont typeface="Arial" panose="020B0604020202020204" pitchFamily="34" charset="0"/>
                  <a:buChar char="•"/>
                </a:pPr>
                <a:endParaRPr lang="en-US" altLang="zh-TW" sz="2400" dirty="0"/>
              </a:p>
              <a:p>
                <a:pPr marL="342900" indent="-342900">
                  <a:buFont typeface="Arial" panose="020B0604020202020204" pitchFamily="34" charset="0"/>
                  <a:buChar char="•"/>
                </a:pPr>
                <a:r>
                  <a:rPr lang="en-US" altLang="zh-TW" sz="2400" dirty="0" smtClean="0">
                    <a:solidFill>
                      <a:srgbClr val="00B0F0"/>
                    </a:solidFill>
                  </a:rPr>
                  <a:t>Define:</a:t>
                </a:r>
              </a:p>
              <a:p>
                <a:pPr marL="342900" indent="-342900">
                  <a:buFont typeface="Arial" panose="020B0604020202020204" pitchFamily="34" charset="0"/>
                  <a:buChar char="•"/>
                </a:pPr>
                <a:r>
                  <a:rPr lang="en-US" altLang="zh-TW" sz="2400" dirty="0" smtClean="0"/>
                  <a:t>prior estimate error </a:t>
                </a:r>
                <a14:m>
                  <m:oMath xmlns:m="http://schemas.openxmlformats.org/officeDocument/2006/math">
                    <m:sSubSup>
                      <m:sSubSupPr>
                        <m:ctrlPr>
                          <a:rPr lang="en-US" altLang="zh-TW" sz="2400" b="1" i="1" smtClean="0">
                            <a:latin typeface="Cambria Math" panose="02040503050406030204" pitchFamily="18" charset="0"/>
                          </a:rPr>
                        </m:ctrlPr>
                      </m:sSubSupPr>
                      <m:e>
                        <m:r>
                          <a:rPr lang="en-US" altLang="zh-TW" sz="2400" b="1" i="1" smtClean="0">
                            <a:latin typeface="Cambria Math"/>
                          </a:rPr>
                          <m:t>𝒆</m:t>
                        </m:r>
                      </m:e>
                      <m:sub>
                        <m:r>
                          <a:rPr lang="en-US" altLang="zh-TW" sz="2400" b="1" i="1" smtClean="0">
                            <a:latin typeface="Cambria Math"/>
                          </a:rPr>
                          <m:t>𝒕</m:t>
                        </m:r>
                      </m:sub>
                      <m:sup>
                        <m:r>
                          <a:rPr lang="en-US" altLang="zh-TW" sz="2400" b="1" i="1" smtClean="0">
                            <a:latin typeface="Cambria Math"/>
                          </a:rPr>
                          <m:t>−</m:t>
                        </m:r>
                      </m:sup>
                    </m:sSubSup>
                    <m:r>
                      <a:rPr lang="en-US" altLang="zh-TW" sz="2400" b="0" i="0" smtClean="0">
                        <a:latin typeface="Cambria Math"/>
                      </a:rPr>
                      <m:t>=</m:t>
                    </m:r>
                    <m:sSub>
                      <m:sSubPr>
                        <m:ctrlPr>
                          <a:rPr lang="en-US" altLang="zh-TW" sz="2400" b="1" i="1" smtClean="0">
                            <a:latin typeface="Cambria Math" panose="02040503050406030204" pitchFamily="18" charset="0"/>
                          </a:rPr>
                        </m:ctrlPr>
                      </m:sSubPr>
                      <m:e>
                        <m:r>
                          <a:rPr lang="en-US" altLang="zh-TW" sz="2400" b="1" i="0" smtClean="0">
                            <a:latin typeface="Cambria Math"/>
                          </a:rPr>
                          <m:t>𝐱</m:t>
                        </m:r>
                      </m:e>
                      <m:sub>
                        <m:r>
                          <a:rPr lang="en-US" altLang="zh-TW" sz="2400" b="1" i="0" smtClean="0">
                            <a:latin typeface="Cambria Math"/>
                          </a:rPr>
                          <m:t>𝐭</m:t>
                        </m:r>
                      </m:sub>
                    </m:sSub>
                    <m:r>
                      <a:rPr lang="en-US" altLang="zh-TW" sz="2400" b="0" i="0" smtClean="0">
                        <a:latin typeface="Cambria Math"/>
                      </a:rPr>
                      <m:t>−</m:t>
                    </m:r>
                    <m:sSubSup>
                      <m:sSubSupPr>
                        <m:ctrlPr>
                          <a:rPr lang="en-US" altLang="zh-TW" sz="2400" b="1" i="1" smtClean="0">
                            <a:latin typeface="Cambria Math" panose="02040503050406030204" pitchFamily="18" charset="0"/>
                          </a:rPr>
                        </m:ctrlPr>
                      </m:sSubSupPr>
                      <m:e>
                        <m:acc>
                          <m:accPr>
                            <m:chr m:val="̂"/>
                            <m:ctrlPr>
                              <a:rPr lang="en-US" altLang="zh-TW" sz="2400" b="1" i="1" smtClean="0">
                                <a:latin typeface="Cambria Math" panose="02040503050406030204" pitchFamily="18" charset="0"/>
                              </a:rPr>
                            </m:ctrlPr>
                          </m:accPr>
                          <m:e>
                            <m:r>
                              <a:rPr lang="en-US" altLang="zh-TW" sz="2400" b="1" i="1" smtClean="0">
                                <a:latin typeface="Cambria Math"/>
                              </a:rPr>
                              <m:t>𝒙</m:t>
                            </m:r>
                          </m:e>
                        </m:acc>
                      </m:e>
                      <m:sub>
                        <m:r>
                          <a:rPr lang="en-US" altLang="zh-TW" sz="2400" b="1" i="1" smtClean="0">
                            <a:latin typeface="Cambria Math"/>
                          </a:rPr>
                          <m:t>𝒕</m:t>
                        </m:r>
                      </m:sub>
                      <m:sup>
                        <m:r>
                          <a:rPr lang="en-US" altLang="zh-TW" sz="2400" b="1" i="1" smtClean="0">
                            <a:latin typeface="Cambria Math"/>
                          </a:rPr>
                          <m:t>−</m:t>
                        </m:r>
                      </m:sup>
                    </m:sSubSup>
                  </m:oMath>
                </a14:m>
                <a:endParaRPr lang="en-US" altLang="zh-TW" sz="2400" b="1" dirty="0" smtClean="0"/>
              </a:p>
              <a:p>
                <a:pPr marL="342900" indent="-342900">
                  <a:buFont typeface="Arial" panose="020B0604020202020204" pitchFamily="34" charset="0"/>
                  <a:buChar char="•"/>
                </a:pPr>
                <a:r>
                  <a:rPr lang="en-US" altLang="zh-TW" sz="2400" dirty="0" smtClean="0"/>
                  <a:t>Posterior estimate error </a:t>
                </a:r>
                <a14:m>
                  <m:oMath xmlns:m="http://schemas.openxmlformats.org/officeDocument/2006/math">
                    <m:sSubSup>
                      <m:sSubSupPr>
                        <m:ctrlPr>
                          <a:rPr lang="en-US" altLang="zh-TW" sz="2400" b="1" i="1">
                            <a:latin typeface="Cambria Math" panose="02040503050406030204" pitchFamily="18" charset="0"/>
                          </a:rPr>
                        </m:ctrlPr>
                      </m:sSubSupPr>
                      <m:e>
                        <m:r>
                          <a:rPr lang="en-US" altLang="zh-TW" sz="2400" b="1" i="1">
                            <a:latin typeface="Cambria Math"/>
                          </a:rPr>
                          <m:t>𝒆</m:t>
                        </m:r>
                      </m:e>
                      <m:sub>
                        <m:r>
                          <a:rPr lang="en-US" altLang="zh-TW" sz="2400" b="1" i="1" smtClean="0">
                            <a:latin typeface="Cambria Math"/>
                          </a:rPr>
                          <m:t>𝒕</m:t>
                        </m:r>
                      </m:sub>
                      <m:sup>
                        <m:r>
                          <a:rPr lang="en-US" altLang="zh-TW" sz="2400" b="1" i="1" smtClean="0">
                            <a:latin typeface="Cambria Math"/>
                          </a:rPr>
                          <m:t>+</m:t>
                        </m:r>
                      </m:sup>
                    </m:sSubSup>
                    <m:r>
                      <a:rPr lang="en-US" altLang="zh-TW" sz="2400">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a:latin typeface="Cambria Math"/>
                      </a:rPr>
                      <m:t>−</m:t>
                    </m:r>
                    <m:sSubSup>
                      <m:sSubSupPr>
                        <m:ctrlPr>
                          <a:rPr lang="en-US" altLang="zh-TW" sz="2400" b="1" i="1">
                            <a:latin typeface="Cambria Math" panose="02040503050406030204" pitchFamily="18" charset="0"/>
                          </a:rPr>
                        </m:ctrlPr>
                      </m:sSubSupPr>
                      <m:e>
                        <m:acc>
                          <m:accPr>
                            <m:chr m:val="̂"/>
                            <m:ctrlPr>
                              <a:rPr lang="en-US" altLang="zh-TW" sz="2400" b="1" i="1">
                                <a:latin typeface="Cambria Math" panose="02040503050406030204" pitchFamily="18" charset="0"/>
                              </a:rPr>
                            </m:ctrlPr>
                          </m:accPr>
                          <m:e>
                            <m:r>
                              <a:rPr lang="en-US" altLang="zh-TW" sz="2400" b="1" i="1">
                                <a:latin typeface="Cambria Math"/>
                              </a:rPr>
                              <m:t>𝒙</m:t>
                            </m:r>
                          </m:e>
                        </m:acc>
                      </m:e>
                      <m:sub>
                        <m:r>
                          <a:rPr lang="en-US" altLang="zh-TW" sz="2400" b="1" i="1" smtClean="0">
                            <a:latin typeface="Cambria Math"/>
                          </a:rPr>
                          <m:t>𝒕</m:t>
                        </m:r>
                      </m:sub>
                      <m:sup>
                        <m:r>
                          <a:rPr lang="en-US" altLang="zh-TW" sz="2400" b="1" i="1" smtClean="0">
                            <a:latin typeface="Cambria Math"/>
                          </a:rPr>
                          <m:t>+</m:t>
                        </m:r>
                      </m:sup>
                    </m:sSubSup>
                  </m:oMath>
                </a14:m>
                <a:endParaRPr lang="en-US" altLang="zh-TW" sz="2400" b="1" dirty="0" smtClean="0"/>
              </a:p>
              <a:p>
                <a:pPr marL="342900" indent="-342900">
                  <a:buFont typeface="Arial" panose="020B0604020202020204" pitchFamily="34" charset="0"/>
                  <a:buChar char="•"/>
                </a:pPr>
                <a:endParaRPr lang="en-US" altLang="zh-TW" sz="2400" dirty="0" smtClean="0"/>
              </a:p>
              <a:p>
                <a:pPr marL="342900" indent="-342900">
                  <a:buFont typeface="Arial" panose="020B0604020202020204" pitchFamily="34" charset="0"/>
                  <a:buChar char="•"/>
                </a:pPr>
                <a:r>
                  <a:rPr lang="en-US" altLang="zh-TW" sz="2400" dirty="0" smtClean="0">
                    <a:solidFill>
                      <a:srgbClr val="FF0000"/>
                    </a:solidFill>
                  </a:rPr>
                  <a:t>Covariance matrix:</a:t>
                </a:r>
              </a:p>
              <a:p>
                <a:pPr marL="342900" indent="-342900">
                  <a:buFont typeface="Arial" panose="020B0604020202020204" pitchFamily="34" charset="0"/>
                  <a:buChar char="•"/>
                </a:pPr>
                <a14:m>
                  <m:oMath xmlns:m="http://schemas.openxmlformats.org/officeDocument/2006/math">
                    <m:sSubSup>
                      <m:sSubSupPr>
                        <m:ctrlPr>
                          <a:rPr lang="en-US" altLang="zh-TW" sz="2400" b="1" i="1" smtClean="0">
                            <a:latin typeface="Cambria Math" panose="02040503050406030204" pitchFamily="18" charset="0"/>
                          </a:rPr>
                        </m:ctrlPr>
                      </m:sSubSupPr>
                      <m:e>
                        <m:r>
                          <a:rPr lang="en-US" altLang="zh-TW" sz="2400" b="1" i="1" smtClean="0">
                            <a:latin typeface="Cambria Math"/>
                          </a:rPr>
                          <m:t>𝑷</m:t>
                        </m:r>
                      </m:e>
                      <m:sub>
                        <m:r>
                          <a:rPr lang="en-US" altLang="zh-TW" sz="2400" b="1" i="1" smtClean="0">
                            <a:latin typeface="Cambria Math"/>
                          </a:rPr>
                          <m:t>𝒕</m:t>
                        </m:r>
                      </m:sub>
                      <m:sup>
                        <m:r>
                          <a:rPr lang="en-US" altLang="zh-TW" sz="2400" b="1" i="1" smtClean="0">
                            <a:latin typeface="Cambria Math"/>
                          </a:rPr>
                          <m:t>−</m:t>
                        </m:r>
                      </m:sup>
                    </m:sSubSup>
                    <m:r>
                      <a:rPr lang="en-US" altLang="zh-TW" sz="2400" b="0" i="1" smtClean="0">
                        <a:latin typeface="Cambria Math"/>
                      </a:rPr>
                      <m:t>=</m:t>
                    </m:r>
                    <m:r>
                      <a:rPr lang="en-US" altLang="zh-TW" sz="2400" b="0" i="1" smtClean="0">
                        <a:latin typeface="Cambria Math"/>
                      </a:rPr>
                      <m:t>𝐸</m:t>
                    </m:r>
                    <m:d>
                      <m:dPr>
                        <m:ctrlPr>
                          <a:rPr lang="en-US" altLang="zh-TW" sz="2400" b="0" i="1" smtClean="0">
                            <a:latin typeface="Cambria Math" panose="02040503050406030204" pitchFamily="18" charset="0"/>
                          </a:rPr>
                        </m:ctrlPr>
                      </m:dPr>
                      <m:e>
                        <m:sSubSup>
                          <m:sSubSupPr>
                            <m:ctrlPr>
                              <a:rPr lang="en-US" altLang="zh-TW" sz="2400" b="1" i="1" smtClean="0">
                                <a:latin typeface="Cambria Math" panose="02040503050406030204" pitchFamily="18" charset="0"/>
                              </a:rPr>
                            </m:ctrlPr>
                          </m:sSubSupPr>
                          <m:e>
                            <m:r>
                              <a:rPr lang="en-US" altLang="zh-TW" sz="2400" b="1" i="1" smtClean="0">
                                <a:latin typeface="Cambria Math"/>
                              </a:rPr>
                              <m:t>𝒆</m:t>
                            </m:r>
                          </m:e>
                          <m:sub>
                            <m:r>
                              <a:rPr lang="en-US" altLang="zh-TW" sz="2400" b="1" i="1" smtClean="0">
                                <a:latin typeface="Cambria Math"/>
                              </a:rPr>
                              <m:t>𝒕</m:t>
                            </m:r>
                          </m:sub>
                          <m:sup>
                            <m:r>
                              <a:rPr lang="en-US" altLang="zh-TW" sz="2400" b="1" i="1" smtClean="0">
                                <a:latin typeface="Cambria Math"/>
                              </a:rPr>
                              <m:t>−</m:t>
                            </m:r>
                          </m:sup>
                        </m:sSubSup>
                        <m:sSup>
                          <m:sSupPr>
                            <m:ctrlPr>
                              <a:rPr lang="en-US" altLang="zh-TW" sz="2400" b="1" i="1" smtClean="0">
                                <a:latin typeface="Cambria Math" panose="02040503050406030204" pitchFamily="18" charset="0"/>
                              </a:rPr>
                            </m:ctrlPr>
                          </m:sSupPr>
                          <m:e>
                            <m:sSubSup>
                              <m:sSubSupPr>
                                <m:ctrlPr>
                                  <a:rPr lang="en-US" altLang="zh-TW" sz="2400" b="1" i="1" smtClean="0">
                                    <a:latin typeface="Cambria Math" panose="02040503050406030204" pitchFamily="18" charset="0"/>
                                  </a:rPr>
                                </m:ctrlPr>
                              </m:sSubSupPr>
                              <m:e>
                                <m:r>
                                  <a:rPr lang="en-US" altLang="zh-TW" sz="2400" b="1" i="1" smtClean="0">
                                    <a:latin typeface="Cambria Math"/>
                                  </a:rPr>
                                  <m:t>𝒆</m:t>
                                </m:r>
                              </m:e>
                              <m:sub>
                                <m:r>
                                  <a:rPr lang="en-US" altLang="zh-TW" sz="2400" b="1" i="1" smtClean="0">
                                    <a:latin typeface="Cambria Math"/>
                                  </a:rPr>
                                  <m:t>𝒕</m:t>
                                </m:r>
                              </m:sub>
                              <m:sup>
                                <m:r>
                                  <a:rPr lang="en-US" altLang="zh-TW" sz="2400" b="1" i="1" smtClean="0">
                                    <a:latin typeface="Cambria Math"/>
                                  </a:rPr>
                                  <m:t>−</m:t>
                                </m:r>
                              </m:sup>
                            </m:sSubSup>
                          </m:e>
                          <m:sup>
                            <m:r>
                              <a:rPr lang="en-US" altLang="zh-TW" sz="2400" b="1" i="1" smtClean="0">
                                <a:latin typeface="Cambria Math"/>
                              </a:rPr>
                              <m:t>𝑻</m:t>
                            </m:r>
                          </m:sup>
                        </m:sSup>
                      </m:e>
                    </m:d>
                  </m:oMath>
                </a14:m>
                <a:endParaRPr lang="en-US" altLang="zh-TW" sz="2400" dirty="0" smtClean="0"/>
              </a:p>
              <a:p>
                <a:pPr marL="342900" indent="-342900">
                  <a:buFont typeface="Arial" panose="020B0604020202020204" pitchFamily="34" charset="0"/>
                  <a:buChar char="•"/>
                </a:pPr>
                <a14:m>
                  <m:oMath xmlns:m="http://schemas.openxmlformats.org/officeDocument/2006/math">
                    <m:sSubSup>
                      <m:sSubSupPr>
                        <m:ctrlPr>
                          <a:rPr lang="en-US" altLang="zh-TW" sz="2400" b="1" i="1">
                            <a:latin typeface="Cambria Math" panose="02040503050406030204" pitchFamily="18" charset="0"/>
                          </a:rPr>
                        </m:ctrlPr>
                      </m:sSubSupPr>
                      <m:e>
                        <m:r>
                          <a:rPr lang="en-US" altLang="zh-TW" sz="2400" b="1" i="1">
                            <a:latin typeface="Cambria Math"/>
                          </a:rPr>
                          <m:t>𝑷</m:t>
                        </m:r>
                      </m:e>
                      <m:sub>
                        <m:r>
                          <a:rPr lang="en-US" altLang="zh-TW" sz="2400" b="1" i="1" smtClean="0">
                            <a:latin typeface="Cambria Math"/>
                          </a:rPr>
                          <m:t>𝒕</m:t>
                        </m:r>
                      </m:sub>
                      <m:sup>
                        <m:r>
                          <a:rPr lang="en-US" altLang="zh-TW" sz="2400" b="1" i="1" smtClean="0">
                            <a:latin typeface="Cambria Math"/>
                          </a:rPr>
                          <m:t>+</m:t>
                        </m:r>
                      </m:sup>
                    </m:sSubSup>
                    <m:r>
                      <a:rPr lang="en-US" altLang="zh-TW" sz="2400" i="1">
                        <a:latin typeface="Cambria Math"/>
                      </a:rPr>
                      <m:t>=</m:t>
                    </m:r>
                    <m:r>
                      <a:rPr lang="en-US" altLang="zh-TW" sz="2400" i="1">
                        <a:latin typeface="Cambria Math"/>
                      </a:rPr>
                      <m:t>𝐸</m:t>
                    </m:r>
                    <m:d>
                      <m:dPr>
                        <m:ctrlPr>
                          <a:rPr lang="en-US" altLang="zh-TW" sz="2400" i="1">
                            <a:latin typeface="Cambria Math" panose="02040503050406030204" pitchFamily="18" charset="0"/>
                          </a:rPr>
                        </m:ctrlPr>
                      </m:dPr>
                      <m:e>
                        <m:sSubSup>
                          <m:sSubSupPr>
                            <m:ctrlPr>
                              <a:rPr lang="en-US" altLang="zh-TW" sz="2400" b="1" i="1">
                                <a:latin typeface="Cambria Math" panose="02040503050406030204" pitchFamily="18" charset="0"/>
                              </a:rPr>
                            </m:ctrlPr>
                          </m:sSubSupPr>
                          <m:e>
                            <m:r>
                              <a:rPr lang="en-US" altLang="zh-TW" sz="2400" b="1" i="1">
                                <a:latin typeface="Cambria Math"/>
                              </a:rPr>
                              <m:t>𝒆</m:t>
                            </m:r>
                          </m:e>
                          <m:sub>
                            <m:r>
                              <a:rPr lang="en-US" altLang="zh-TW" sz="2400" b="1" i="1" smtClean="0">
                                <a:latin typeface="Cambria Math"/>
                              </a:rPr>
                              <m:t>𝒕</m:t>
                            </m:r>
                          </m:sub>
                          <m:sup>
                            <m:r>
                              <a:rPr lang="en-US" altLang="zh-TW" sz="2400" b="1" i="1" smtClean="0">
                                <a:latin typeface="Cambria Math"/>
                              </a:rPr>
                              <m:t>+</m:t>
                            </m:r>
                          </m:sup>
                        </m:sSubSup>
                        <m:sSup>
                          <m:sSupPr>
                            <m:ctrlPr>
                              <a:rPr lang="en-US" altLang="zh-TW" sz="2400" b="1" i="1">
                                <a:latin typeface="Cambria Math" panose="02040503050406030204" pitchFamily="18" charset="0"/>
                              </a:rPr>
                            </m:ctrlPr>
                          </m:sSupPr>
                          <m:e>
                            <m:sSubSup>
                              <m:sSubSupPr>
                                <m:ctrlPr>
                                  <a:rPr lang="en-US" altLang="zh-TW" sz="2400" b="1" i="1">
                                    <a:latin typeface="Cambria Math" panose="02040503050406030204" pitchFamily="18" charset="0"/>
                                  </a:rPr>
                                </m:ctrlPr>
                              </m:sSubSupPr>
                              <m:e>
                                <m:r>
                                  <a:rPr lang="en-US" altLang="zh-TW" sz="2400" b="1" i="1">
                                    <a:latin typeface="Cambria Math"/>
                                  </a:rPr>
                                  <m:t>𝒆</m:t>
                                </m:r>
                              </m:e>
                              <m:sub>
                                <m:r>
                                  <a:rPr lang="en-US" altLang="zh-TW" sz="2400" b="1" i="1" smtClean="0">
                                    <a:latin typeface="Cambria Math"/>
                                  </a:rPr>
                                  <m:t>𝒕</m:t>
                                </m:r>
                              </m:sub>
                              <m:sup>
                                <m:r>
                                  <a:rPr lang="en-US" altLang="zh-TW" sz="2400" b="1" i="1" smtClean="0">
                                    <a:latin typeface="Cambria Math"/>
                                  </a:rPr>
                                  <m:t>+</m:t>
                                </m:r>
                              </m:sup>
                            </m:sSubSup>
                          </m:e>
                          <m:sup>
                            <m:r>
                              <a:rPr lang="en-US" altLang="zh-TW" sz="2400" b="1" i="1">
                                <a:latin typeface="Cambria Math"/>
                              </a:rPr>
                              <m:t>𝑻</m:t>
                            </m:r>
                          </m:sup>
                        </m:sSup>
                      </m:e>
                    </m:d>
                  </m:oMath>
                </a14:m>
                <a:endParaRPr lang="en-US" altLang="zh-TW" sz="2400" dirty="0"/>
              </a:p>
              <a:p>
                <a:pPr marL="342900" indent="-342900">
                  <a:buFont typeface="Arial" panose="020B0604020202020204" pitchFamily="34" charset="0"/>
                  <a:buChar char="•"/>
                </a:pPr>
                <a:endParaRPr lang="zh-TW" altLang="en-US" sz="2400" dirty="0"/>
              </a:p>
            </p:txBody>
          </p:sp>
        </mc:Choice>
        <mc:Fallback>
          <p:sp>
            <p:nvSpPr>
              <p:cNvPr id="5" name="文字方塊 4"/>
              <p:cNvSpPr txBox="1">
                <a:spLocks noRot="1" noChangeAspect="1" noMove="1" noResize="1" noEditPoints="1" noAdjustHandles="1" noChangeArrowheads="1" noChangeShapeType="1" noTextEdit="1"/>
              </p:cNvSpPr>
              <p:nvPr/>
            </p:nvSpPr>
            <p:spPr>
              <a:xfrm>
                <a:off x="373627" y="1936955"/>
                <a:ext cx="10341596" cy="4409990"/>
              </a:xfrm>
              <a:prstGeom prst="rect">
                <a:avLst/>
              </a:prstGeom>
              <a:blipFill rotWithShape="0">
                <a:blip r:embed="rId2"/>
                <a:stretch>
                  <a:fillRect l="-766" t="-110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6" name="圓角矩形 5"/>
              <p:cNvSpPr/>
              <p:nvPr/>
            </p:nvSpPr>
            <p:spPr>
              <a:xfrm>
                <a:off x="5266630" y="618186"/>
                <a:ext cx="5937992" cy="83712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14:m>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𝑨</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r>
                          <a:rPr lang="en-US" altLang="zh-TW" sz="2400" b="1" i="1">
                            <a:latin typeface="Cambria Math"/>
                          </a:rPr>
                          <m:t>−</m:t>
                        </m:r>
                        <m:r>
                          <a:rPr lang="en-US" altLang="zh-TW" sz="2400" b="1" i="1">
                            <a:latin typeface="Cambria Math"/>
                          </a:rPr>
                          <m:t>𝟏</m:t>
                        </m:r>
                      </m:sub>
                    </m:sSub>
                    <m:r>
                      <a:rPr lang="en-US" altLang="zh-TW" sz="2400" b="1"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𝑩</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𝒖</m:t>
                        </m:r>
                      </m:e>
                      <m:sub>
                        <m:r>
                          <a:rPr lang="en-US" altLang="zh-TW" sz="2400" b="1" i="1" smtClean="0">
                            <a:latin typeface="Cambria Math"/>
                          </a:rPr>
                          <m:t>𝒕</m:t>
                        </m:r>
                      </m:sub>
                    </m:sSub>
                    <m:r>
                      <a:rPr lang="en-US" altLang="zh-TW" sz="2400" b="1"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𝒘</m:t>
                        </m:r>
                      </m:e>
                      <m:sub>
                        <m:r>
                          <a:rPr lang="en-US" altLang="zh-TW" sz="2400" b="1" i="1" smtClean="0">
                            <a:latin typeface="Cambria Math"/>
                          </a:rPr>
                          <m:t>𝒕</m:t>
                        </m:r>
                      </m:sub>
                    </m:sSub>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𝒘</m:t>
                        </m:r>
                      </m:e>
                      <m:sub>
                        <m:r>
                          <a:rPr lang="en-US" altLang="zh-TW" sz="2400" b="1" i="1" smtClean="0">
                            <a:latin typeface="Cambria Math"/>
                          </a:rPr>
                          <m:t>𝒕</m:t>
                        </m:r>
                      </m:sub>
                    </m:sSub>
                    <m:r>
                      <a:rPr lang="en-US" altLang="zh-TW" sz="2400" b="1" i="1" smtClean="0">
                        <a:latin typeface="Cambria Math"/>
                      </a:rPr>
                      <m:t>~</m:t>
                    </m:r>
                    <m:r>
                      <a:rPr lang="en-US" altLang="zh-TW" sz="2400" b="1" i="1" smtClean="0">
                        <a:latin typeface="Cambria Math"/>
                      </a:rPr>
                      <m:t>𝑵</m:t>
                    </m:r>
                    <m:r>
                      <a:rPr lang="en-US" altLang="zh-TW" sz="2400" b="1" i="1" smtClean="0">
                        <a:latin typeface="Cambria Math"/>
                      </a:rPr>
                      <m:t>(</m:t>
                    </m:r>
                    <m:r>
                      <a:rPr lang="en-US" altLang="zh-TW" sz="2400" b="1" i="1" smtClean="0">
                        <a:latin typeface="Cambria Math"/>
                      </a:rPr>
                      <m:t>𝟎</m:t>
                    </m:r>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𝑸</m:t>
                        </m:r>
                      </m:e>
                      <m:sub>
                        <m:r>
                          <a:rPr lang="en-US" altLang="zh-TW" sz="2400" b="1" i="1" smtClean="0">
                            <a:latin typeface="Cambria Math"/>
                          </a:rPr>
                          <m:t>𝒕</m:t>
                        </m:r>
                      </m:sub>
                    </m:sSub>
                    <m:r>
                      <a:rPr lang="en-US" altLang="zh-TW" sz="2400" b="1" i="1" smtClean="0">
                        <a:latin typeface="Cambria Math"/>
                      </a:rPr>
                      <m:t>)</m:t>
                    </m:r>
                  </m:oMath>
                </a14:m>
                <a:r>
                  <a:rPr lang="en-US" altLang="zh-TW" sz="2400" b="1" dirty="0" smtClean="0"/>
                  <a:t/>
                </a:r>
                <a:endParaRPr lang="en-US" altLang="zh-TW" sz="2400" b="1" i="1" dirty="0" smtClean="0">
                  <a:latin typeface="Cambria Math"/>
                </a:endParaRPr>
              </a:p>
              <a:p>
                <a:pPr/>
                <a14:m>
                  <m:oMathPara xmlns:m="http://schemas.openxmlformats.org/officeDocument/2006/math">
                    <m:oMathParaPr>
                      <m:jc m:val="left"/>
                    </m:oMathParaPr>
                    <m:oMath xmlns:m="http://schemas.openxmlformats.org/officeDocument/2006/math">
                      <m:sSub>
                        <m:sSubPr>
                          <m:ctrlPr>
                            <a:rPr lang="en-US" altLang="zh-TW" sz="2400" b="1" i="1">
                              <a:latin typeface="Cambria Math" panose="02040503050406030204" pitchFamily="18" charset="0"/>
                            </a:rPr>
                          </m:ctrlPr>
                        </m:sSubPr>
                        <m:e>
                          <m:r>
                            <a:rPr lang="en-US" altLang="zh-TW" sz="2400" b="1" i="1" smtClean="0">
                              <a:latin typeface="Cambria Math" panose="02040503050406030204" pitchFamily="18" charset="0"/>
                            </a:rPr>
                            <m:t>𝒛</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𝑯</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𝒗</m:t>
                          </m:r>
                        </m:e>
                        <m:sub>
                          <m:r>
                            <a:rPr lang="en-US" altLang="zh-TW" sz="2400" b="1" i="1" smtClean="0">
                              <a:latin typeface="Cambria Math"/>
                            </a:rPr>
                            <m:t>𝒕</m:t>
                          </m:r>
                        </m:sub>
                      </m:sSub>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𝒗</m:t>
                          </m:r>
                        </m:e>
                        <m:sub>
                          <m:r>
                            <a:rPr lang="en-US" altLang="zh-TW" sz="2400" b="1" i="1" smtClean="0">
                              <a:latin typeface="Cambria Math"/>
                            </a:rPr>
                            <m:t>𝒕</m:t>
                          </m:r>
                        </m:sub>
                      </m:sSub>
                      <m:r>
                        <a:rPr lang="en-US" altLang="zh-TW" sz="2400" b="1" i="1" smtClean="0">
                          <a:latin typeface="Cambria Math"/>
                        </a:rPr>
                        <m:t>~</m:t>
                      </m:r>
                      <m:r>
                        <a:rPr lang="en-US" altLang="zh-TW" sz="2400" b="1" i="1" smtClean="0">
                          <a:latin typeface="Cambria Math"/>
                        </a:rPr>
                        <m:t>𝑵</m:t>
                      </m:r>
                      <m:r>
                        <a:rPr lang="en-US" altLang="zh-TW" sz="2400" b="1" i="1" smtClean="0">
                          <a:latin typeface="Cambria Math"/>
                        </a:rPr>
                        <m:t>(</m:t>
                      </m:r>
                      <m:r>
                        <a:rPr lang="en-US" altLang="zh-TW" sz="2400" b="1" i="1" smtClean="0">
                          <a:latin typeface="Cambria Math"/>
                        </a:rPr>
                        <m:t>𝟎</m:t>
                      </m:r>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𝑹</m:t>
                          </m:r>
                        </m:e>
                        <m:sub>
                          <m:r>
                            <a:rPr lang="en-US" altLang="zh-TW" sz="2400" b="1" i="1" smtClean="0">
                              <a:latin typeface="Cambria Math"/>
                            </a:rPr>
                            <m:t>𝒕</m:t>
                          </m:r>
                        </m:sub>
                      </m:sSub>
                      <m:r>
                        <a:rPr lang="en-US" altLang="zh-TW" sz="2400" b="1" i="1" smtClean="0">
                          <a:latin typeface="Cambria Math"/>
                        </a:rPr>
                        <m:t>)</m:t>
                      </m:r>
                    </m:oMath>
                  </m:oMathPara>
                </a14:m>
                <a:endParaRPr lang="zh-TW" altLang="en-US" sz="2400" dirty="0"/>
              </a:p>
            </p:txBody>
          </p:sp>
        </mc:Choice>
        <mc:Fallback>
          <p:sp>
            <p:nvSpPr>
              <p:cNvPr id="6" name="圓角矩形 5"/>
              <p:cNvSpPr>
                <a:spLocks noRot="1" noChangeAspect="1" noMove="1" noResize="1" noEditPoints="1" noAdjustHandles="1" noChangeArrowheads="1" noChangeShapeType="1" noTextEdit="1"/>
              </p:cNvSpPr>
              <p:nvPr/>
            </p:nvSpPr>
            <p:spPr>
              <a:xfrm>
                <a:off x="5266630" y="618186"/>
                <a:ext cx="5937992" cy="837127"/>
              </a:xfrm>
              <a:prstGeom prst="roundRect">
                <a:avLst/>
              </a:prstGeom>
              <a:blipFill rotWithShape="1">
                <a:blip r:embed="rId3"/>
                <a:stretch>
                  <a:fillRect b="-86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2718319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Kalman filter(3)</a:t>
            </a:r>
            <a:endParaRPr lang="zh-TW" altLang="en-US" dirty="0"/>
          </a:p>
        </p:txBody>
      </p:sp>
      <mc:AlternateContent xmlns:mc="http://schemas.openxmlformats.org/markup-compatibility/2006">
        <mc:Choice xmlns:a14="http://schemas.microsoft.com/office/drawing/2010/main" xmlns="" Requires="a14">
          <p:sp>
            <p:nvSpPr>
              <p:cNvPr id="3" name="文字方塊 2"/>
              <p:cNvSpPr txBox="1"/>
              <p:nvPr/>
            </p:nvSpPr>
            <p:spPr>
              <a:xfrm>
                <a:off x="404715" y="1576345"/>
                <a:ext cx="11382569" cy="4185185"/>
              </a:xfrm>
              <a:prstGeom prst="rect">
                <a:avLst/>
              </a:prstGeom>
              <a:noFill/>
            </p:spPr>
            <p:txBody>
              <a:bodyPr wrap="square" rtlCol="0">
                <a:spAutoFit/>
              </a:bodyPr>
              <a:lstStyle/>
              <a:p>
                <a:r>
                  <a:rPr lang="zh-TW" altLang="en-US" sz="2400" dirty="0" smtClean="0"/>
                  <a:t>使用</a:t>
                </a:r>
                <a:r>
                  <a:rPr lang="en-US" altLang="zh-TW" sz="2400" dirty="0" smtClean="0"/>
                  <a:t>measurement</a:t>
                </a:r>
                <a:r>
                  <a:rPr lang="zh-TW" altLang="en-US" sz="2400" dirty="0" smtClean="0"/>
                  <a:t>修正</a:t>
                </a:r>
                <a:r>
                  <a:rPr lang="en-US" altLang="zh-TW" sz="2400" dirty="0" smtClean="0"/>
                  <a:t>prior state(posterior state estimate</a:t>
                </a:r>
                <a:r>
                  <a:rPr lang="zh-TW" altLang="en-US" sz="2400" dirty="0" smtClean="0"/>
                  <a:t>為</a:t>
                </a:r>
                <a:r>
                  <a:rPr lang="en-US" altLang="zh-TW" sz="2400" dirty="0" smtClean="0"/>
                  <a:t>prior estimate</a:t>
                </a:r>
                <a:r>
                  <a:rPr lang="zh-TW" altLang="en-US" sz="2400" dirty="0" smtClean="0"/>
                  <a:t>與觀測值預測誤差之線性組合</a:t>
                </a:r>
                <a:r>
                  <a:rPr lang="en-US" altLang="zh-TW" sz="2400" dirty="0" smtClean="0"/>
                  <a:t>)</a:t>
                </a:r>
              </a:p>
              <a:p>
                <a14:m>
                  <m:oMath xmlns:m="http://schemas.openxmlformats.org/officeDocument/2006/math">
                    <m:sSubSup>
                      <m:sSubSupPr>
                        <m:ctrlPr>
                          <a:rPr lang="en-US" altLang="zh-TW" sz="2400" b="1" i="1" dirty="0" smtClean="0">
                            <a:solidFill>
                              <a:srgbClr val="FF0000"/>
                            </a:solidFill>
                            <a:latin typeface="Cambria Math" panose="02040503050406030204" pitchFamily="18" charset="0"/>
                          </a:rPr>
                        </m:ctrlPr>
                      </m:sSubSupPr>
                      <m:e>
                        <m:acc>
                          <m:accPr>
                            <m:chr m:val="̂"/>
                            <m:ctrlPr>
                              <a:rPr lang="en-US" altLang="zh-TW" sz="2400" b="1" i="1" smtClean="0">
                                <a:solidFill>
                                  <a:srgbClr val="FF0000"/>
                                </a:solidFill>
                                <a:latin typeface="Cambria Math" panose="02040503050406030204" pitchFamily="18" charset="0"/>
                              </a:rPr>
                            </m:ctrlPr>
                          </m:accPr>
                          <m:e>
                            <m:r>
                              <a:rPr lang="en-US" altLang="zh-TW" sz="2400" b="1" i="1" smtClean="0">
                                <a:solidFill>
                                  <a:srgbClr val="FF0000"/>
                                </a:solidFill>
                                <a:latin typeface="Cambria Math"/>
                              </a:rPr>
                              <m:t>𝒙</m:t>
                            </m:r>
                          </m:e>
                        </m:acc>
                      </m:e>
                      <m:sub>
                        <m:r>
                          <a:rPr lang="en-US" altLang="zh-TW" sz="2400" b="1" i="1" dirty="0" smtClean="0">
                            <a:solidFill>
                              <a:srgbClr val="FF0000"/>
                            </a:solidFill>
                            <a:latin typeface="Cambria Math"/>
                          </a:rPr>
                          <m:t>𝒕</m:t>
                        </m:r>
                      </m:sub>
                      <m:sup>
                        <m:r>
                          <a:rPr lang="en-US" altLang="zh-TW" sz="2400" b="1" i="1" dirty="0" smtClean="0">
                            <a:solidFill>
                              <a:srgbClr val="FF0000"/>
                            </a:solidFill>
                            <a:latin typeface="Cambria Math"/>
                          </a:rPr>
                          <m:t>+</m:t>
                        </m:r>
                      </m:sup>
                    </m:sSubSup>
                    <m:r>
                      <a:rPr lang="en-US" altLang="zh-TW" sz="2400" b="0" i="1" dirty="0" smtClean="0">
                        <a:solidFill>
                          <a:srgbClr val="FF0000"/>
                        </a:solidFill>
                        <a:latin typeface="Cambria Math"/>
                      </a:rPr>
                      <m:t>=</m:t>
                    </m:r>
                    <m:sSubSup>
                      <m:sSubSupPr>
                        <m:ctrlPr>
                          <a:rPr lang="en-US" altLang="zh-TW" sz="2400" b="1" i="1" dirty="0">
                            <a:solidFill>
                              <a:srgbClr val="FF0000"/>
                            </a:solidFill>
                            <a:latin typeface="Cambria Math" panose="02040503050406030204" pitchFamily="18" charset="0"/>
                          </a:rPr>
                        </m:ctrlPr>
                      </m:sSubSupPr>
                      <m:e>
                        <m:acc>
                          <m:accPr>
                            <m:chr m:val="̂"/>
                            <m:ctrlPr>
                              <a:rPr lang="en-US" altLang="zh-TW" sz="2400" b="1" i="1">
                                <a:solidFill>
                                  <a:srgbClr val="FF0000"/>
                                </a:solidFill>
                                <a:latin typeface="Cambria Math" panose="02040503050406030204" pitchFamily="18" charset="0"/>
                              </a:rPr>
                            </m:ctrlPr>
                          </m:accPr>
                          <m:e>
                            <m:r>
                              <a:rPr lang="en-US" altLang="zh-TW" sz="2400" b="1" i="1">
                                <a:solidFill>
                                  <a:srgbClr val="FF0000"/>
                                </a:solidFill>
                                <a:latin typeface="Cambria Math"/>
                              </a:rPr>
                              <m:t>𝒙</m:t>
                            </m:r>
                          </m:e>
                        </m:acc>
                      </m:e>
                      <m:sub>
                        <m:r>
                          <a:rPr lang="en-US" altLang="zh-TW" sz="2400" b="1" i="1" dirty="0" smtClean="0">
                            <a:solidFill>
                              <a:srgbClr val="FF0000"/>
                            </a:solidFill>
                            <a:latin typeface="Cambria Math"/>
                          </a:rPr>
                          <m:t>𝒕</m:t>
                        </m:r>
                      </m:sub>
                      <m:sup>
                        <m:r>
                          <a:rPr lang="en-US" altLang="zh-TW" sz="2400" b="1" i="1" dirty="0" smtClean="0">
                            <a:solidFill>
                              <a:srgbClr val="FF0000"/>
                            </a:solidFill>
                            <a:latin typeface="Cambria Math"/>
                          </a:rPr>
                          <m:t>−</m:t>
                        </m:r>
                      </m:sup>
                    </m:sSubSup>
                    <m:r>
                      <a:rPr lang="en-US" altLang="zh-TW" sz="2400" b="0" i="1" dirty="0" smtClean="0">
                        <a:solidFill>
                          <a:srgbClr val="FF0000"/>
                        </a:solidFill>
                        <a:latin typeface="Cambria Math"/>
                      </a:rPr>
                      <m:t>+</m:t>
                    </m:r>
                    <m:sSub>
                      <m:sSubPr>
                        <m:ctrlPr>
                          <a:rPr lang="en-US" altLang="zh-TW" sz="2400" b="1" i="1" dirty="0" smtClean="0">
                            <a:solidFill>
                              <a:srgbClr val="FF0000"/>
                            </a:solidFill>
                            <a:latin typeface="Cambria Math" panose="02040503050406030204" pitchFamily="18" charset="0"/>
                          </a:rPr>
                        </m:ctrlPr>
                      </m:sSubPr>
                      <m:e>
                        <m:r>
                          <a:rPr lang="en-US" altLang="zh-TW" sz="2400" b="1" i="1" dirty="0" smtClean="0">
                            <a:solidFill>
                              <a:srgbClr val="FF0000"/>
                            </a:solidFill>
                            <a:latin typeface="Cambria Math"/>
                          </a:rPr>
                          <m:t>𝑲</m:t>
                        </m:r>
                      </m:e>
                      <m:sub>
                        <m:r>
                          <a:rPr lang="en-US" altLang="zh-TW" sz="2400" b="1" i="1" dirty="0" smtClean="0">
                            <a:solidFill>
                              <a:srgbClr val="FF0000"/>
                            </a:solidFill>
                            <a:latin typeface="Cambria Math"/>
                          </a:rPr>
                          <m:t>𝒕</m:t>
                        </m:r>
                      </m:sub>
                    </m:sSub>
                    <m:d>
                      <m:dPr>
                        <m:ctrlPr>
                          <a:rPr lang="en-US" altLang="zh-TW" sz="2400" b="0" i="1" dirty="0" smtClean="0">
                            <a:solidFill>
                              <a:srgbClr val="FF0000"/>
                            </a:solidFill>
                            <a:latin typeface="Cambria Math" panose="02040503050406030204" pitchFamily="18" charset="0"/>
                          </a:rPr>
                        </m:ctrlPr>
                      </m:dPr>
                      <m:e>
                        <m:sSub>
                          <m:sSubPr>
                            <m:ctrlPr>
                              <a:rPr lang="en-US" altLang="zh-TW" sz="2400" b="1" i="1" dirty="0" smtClean="0">
                                <a:solidFill>
                                  <a:srgbClr val="FF0000"/>
                                </a:solidFill>
                                <a:latin typeface="Cambria Math" panose="02040503050406030204" pitchFamily="18" charset="0"/>
                              </a:rPr>
                            </m:ctrlPr>
                          </m:sSubPr>
                          <m:e>
                            <m:r>
                              <a:rPr lang="en-US" altLang="zh-TW" sz="2400" b="1" i="1" dirty="0" smtClean="0">
                                <a:solidFill>
                                  <a:srgbClr val="FF0000"/>
                                </a:solidFill>
                                <a:latin typeface="Cambria Math" panose="02040503050406030204" pitchFamily="18" charset="0"/>
                              </a:rPr>
                              <m:t>𝒛</m:t>
                            </m:r>
                          </m:e>
                          <m:sub>
                            <m:r>
                              <a:rPr lang="en-US" altLang="zh-TW" sz="2400" b="1" i="1" dirty="0" smtClean="0">
                                <a:solidFill>
                                  <a:srgbClr val="FF0000"/>
                                </a:solidFill>
                                <a:latin typeface="Cambria Math"/>
                              </a:rPr>
                              <m:t>𝒕</m:t>
                            </m:r>
                          </m:sub>
                        </m:sSub>
                        <m:r>
                          <a:rPr lang="en-US" altLang="zh-TW" sz="2400" b="1" i="1" dirty="0" smtClean="0">
                            <a:solidFill>
                              <a:srgbClr val="FF0000"/>
                            </a:solidFill>
                            <a:latin typeface="Cambria Math"/>
                          </a:rPr>
                          <m:t>−</m:t>
                        </m:r>
                        <m:sSub>
                          <m:sSubPr>
                            <m:ctrlPr>
                              <a:rPr lang="en-US" altLang="zh-TW" sz="2400" b="1" i="1" dirty="0" smtClean="0">
                                <a:solidFill>
                                  <a:srgbClr val="FF0000"/>
                                </a:solidFill>
                                <a:latin typeface="Cambria Math" panose="02040503050406030204" pitchFamily="18" charset="0"/>
                              </a:rPr>
                            </m:ctrlPr>
                          </m:sSubPr>
                          <m:e>
                            <m:r>
                              <a:rPr lang="en-US" altLang="zh-TW" sz="2400" b="1" i="1" dirty="0" smtClean="0">
                                <a:solidFill>
                                  <a:srgbClr val="FF0000"/>
                                </a:solidFill>
                                <a:latin typeface="Cambria Math"/>
                              </a:rPr>
                              <m:t>𝑯</m:t>
                            </m:r>
                          </m:e>
                          <m:sub>
                            <m:r>
                              <a:rPr lang="en-US" altLang="zh-TW" sz="2400" b="1" i="1" dirty="0" smtClean="0">
                                <a:solidFill>
                                  <a:srgbClr val="FF0000"/>
                                </a:solidFill>
                                <a:latin typeface="Cambria Math"/>
                              </a:rPr>
                              <m:t>𝒕</m:t>
                            </m:r>
                          </m:sub>
                        </m:sSub>
                        <m:sSubSup>
                          <m:sSubSupPr>
                            <m:ctrlPr>
                              <a:rPr lang="en-US" altLang="zh-TW" sz="2400" b="1" i="1" dirty="0">
                                <a:solidFill>
                                  <a:srgbClr val="FF0000"/>
                                </a:solidFill>
                                <a:latin typeface="Cambria Math" panose="02040503050406030204" pitchFamily="18" charset="0"/>
                              </a:rPr>
                            </m:ctrlPr>
                          </m:sSubSupPr>
                          <m:e>
                            <m:acc>
                              <m:accPr>
                                <m:chr m:val="̂"/>
                                <m:ctrlPr>
                                  <a:rPr lang="en-US" altLang="zh-TW" sz="2400" b="1" i="1">
                                    <a:solidFill>
                                      <a:srgbClr val="FF0000"/>
                                    </a:solidFill>
                                    <a:latin typeface="Cambria Math" panose="02040503050406030204" pitchFamily="18" charset="0"/>
                                  </a:rPr>
                                </m:ctrlPr>
                              </m:accPr>
                              <m:e>
                                <m:r>
                                  <a:rPr lang="en-US" altLang="zh-TW" sz="2400" b="1" i="1">
                                    <a:solidFill>
                                      <a:srgbClr val="FF0000"/>
                                    </a:solidFill>
                                    <a:latin typeface="Cambria Math"/>
                                  </a:rPr>
                                  <m:t>𝒙</m:t>
                                </m:r>
                              </m:e>
                            </m:acc>
                          </m:e>
                          <m:sub>
                            <m:r>
                              <a:rPr lang="en-US" altLang="zh-TW" sz="2400" b="1" i="1" dirty="0" smtClean="0">
                                <a:solidFill>
                                  <a:srgbClr val="FF0000"/>
                                </a:solidFill>
                                <a:latin typeface="Cambria Math"/>
                              </a:rPr>
                              <m:t>𝒕</m:t>
                            </m:r>
                          </m:sub>
                          <m:sup>
                            <m:r>
                              <a:rPr lang="en-US" altLang="zh-TW" sz="2400" b="1" i="1" dirty="0">
                                <a:solidFill>
                                  <a:srgbClr val="FF0000"/>
                                </a:solidFill>
                                <a:latin typeface="Cambria Math"/>
                              </a:rPr>
                              <m:t>−</m:t>
                            </m:r>
                          </m:sup>
                        </m:sSubSup>
                      </m:e>
                    </m:d>
                    <m:r>
                      <a:rPr lang="en-US" altLang="zh-TW" sz="2400" b="0" i="0" dirty="0" smtClean="0">
                        <a:solidFill>
                          <a:srgbClr val="FF0000"/>
                        </a:solidFill>
                        <a:latin typeface="Cambria Math"/>
                      </a:rPr>
                      <m:t>,  </m:t>
                    </m:r>
                    <m:sSub>
                      <m:sSubPr>
                        <m:ctrlPr>
                          <a:rPr lang="en-US" altLang="zh-TW" sz="2400" b="0" i="1" dirty="0" smtClean="0">
                            <a:solidFill>
                              <a:srgbClr val="FF0000"/>
                            </a:solidFill>
                            <a:latin typeface="Cambria Math" panose="02040503050406030204" pitchFamily="18" charset="0"/>
                          </a:rPr>
                        </m:ctrlPr>
                      </m:sSubPr>
                      <m:e>
                        <m:r>
                          <m:rPr>
                            <m:sty m:val="p"/>
                          </m:rPr>
                          <a:rPr lang="en-US" altLang="zh-TW" sz="2400" b="0" i="0" dirty="0" smtClean="0">
                            <a:solidFill>
                              <a:srgbClr val="FF0000"/>
                            </a:solidFill>
                            <a:latin typeface="Cambria Math"/>
                          </a:rPr>
                          <m:t>K</m:t>
                        </m:r>
                      </m:e>
                      <m:sub>
                        <m:r>
                          <m:rPr>
                            <m:sty m:val="p"/>
                          </m:rPr>
                          <a:rPr lang="en-US" altLang="zh-TW" sz="2400" b="0" i="0" dirty="0" smtClean="0">
                            <a:solidFill>
                              <a:srgbClr val="FF0000"/>
                            </a:solidFill>
                            <a:latin typeface="Cambria Math"/>
                          </a:rPr>
                          <m:t>t</m:t>
                        </m:r>
                      </m:sub>
                    </m:sSub>
                    <m:r>
                      <a:rPr lang="en-US" altLang="zh-TW" sz="2400" b="0" i="1" dirty="0" smtClean="0">
                        <a:solidFill>
                          <a:srgbClr val="FF0000"/>
                        </a:solidFill>
                        <a:latin typeface="Cambria Math" panose="02040503050406030204" pitchFamily="18" charset="0"/>
                      </a:rPr>
                      <m:t>∈</m:t>
                    </m:r>
                    <m:sSup>
                      <m:sSupPr>
                        <m:ctrlPr>
                          <a:rPr lang="en-US" altLang="zh-TW" sz="2400" b="0" i="1" dirty="0" smtClean="0">
                            <a:solidFill>
                              <a:srgbClr val="FF0000"/>
                            </a:solidFill>
                            <a:latin typeface="Cambria Math" panose="02040503050406030204" pitchFamily="18" charset="0"/>
                          </a:rPr>
                        </m:ctrlPr>
                      </m:sSupPr>
                      <m:e>
                        <m:r>
                          <a:rPr lang="en-US" altLang="zh-TW" sz="2400" b="0" i="1" dirty="0" smtClean="0">
                            <a:solidFill>
                              <a:srgbClr val="FF0000"/>
                            </a:solidFill>
                            <a:latin typeface="Cambria Math" panose="02040503050406030204" pitchFamily="18" charset="0"/>
                          </a:rPr>
                          <m:t>ℝ</m:t>
                        </m:r>
                      </m:e>
                      <m:sup>
                        <m:r>
                          <a:rPr lang="en-US" altLang="zh-TW" sz="2400" b="0" i="1" dirty="0" smtClean="0">
                            <a:solidFill>
                              <a:srgbClr val="FF0000"/>
                            </a:solidFill>
                            <a:latin typeface="Cambria Math" panose="02040503050406030204" pitchFamily="18" charset="0"/>
                          </a:rPr>
                          <m:t>𝑛</m:t>
                        </m:r>
                        <m:r>
                          <a:rPr lang="en-US" altLang="zh-TW" sz="2400" b="0" i="1" dirty="0" smtClean="0">
                            <a:solidFill>
                              <a:srgbClr val="FF0000"/>
                            </a:solidFill>
                            <a:latin typeface="Cambria Math" panose="02040503050406030204" pitchFamily="18" charset="0"/>
                          </a:rPr>
                          <m:t>×</m:t>
                        </m:r>
                        <m:r>
                          <a:rPr lang="en-US" altLang="zh-TW" sz="2400" b="0" i="1" dirty="0" smtClean="0">
                            <a:solidFill>
                              <a:srgbClr val="FF0000"/>
                            </a:solidFill>
                            <a:latin typeface="Cambria Math" panose="02040503050406030204" pitchFamily="18" charset="0"/>
                          </a:rPr>
                          <m:t>𝑛</m:t>
                        </m:r>
                      </m:sup>
                    </m:sSup>
                    <m:r>
                      <a:rPr lang="zh-TW" altLang="en-US" sz="2400" b="0" i="1" dirty="0" smtClean="0">
                        <a:solidFill>
                          <a:srgbClr val="FF0000"/>
                        </a:solidFill>
                        <a:latin typeface="Cambria Math"/>
                      </a:rPr>
                      <m:t>為未知的參數</m:t>
                    </m:r>
                  </m:oMath>
                </a14:m>
                <a:r>
                  <a:rPr lang="en-US" altLang="zh-TW" sz="2400" dirty="0" smtClean="0">
                    <a:solidFill>
                      <a:srgbClr val="FF0000"/>
                    </a:solidFill>
                  </a:rPr>
                  <a:t>, </a:t>
                </a:r>
                <a:r>
                  <a:rPr lang="zh-TW" altLang="en-US" sz="2400" dirty="0" smtClean="0">
                    <a:solidFill>
                      <a:srgbClr val="FF0000"/>
                    </a:solidFill>
                  </a:rPr>
                  <a:t>稱為</a:t>
                </a:r>
                <a:r>
                  <a:rPr lang="en-US" altLang="zh-TW" sz="2400" dirty="0" err="1" smtClean="0">
                    <a:solidFill>
                      <a:srgbClr val="FF0000"/>
                    </a:solidFill>
                  </a:rPr>
                  <a:t>Kalman</a:t>
                </a:r>
                <a:r>
                  <a:rPr lang="en-US" altLang="zh-TW" sz="2400" dirty="0" smtClean="0">
                    <a:solidFill>
                      <a:srgbClr val="FF0000"/>
                    </a:solidFill>
                  </a:rPr>
                  <a:t> gain</a:t>
                </a:r>
              </a:p>
              <a:p>
                <a:endParaRPr lang="en-US" altLang="zh-TW" sz="2400" dirty="0"/>
              </a:p>
              <a:p>
                <a:pPr/>
                <a14:m>
                  <m:oMathPara xmlns:m="http://schemas.openxmlformats.org/officeDocument/2006/math">
                    <m:oMathParaPr>
                      <m:jc m:val="centerGroup"/>
                    </m:oMathParaPr>
                    <m:oMath xmlns:m="http://schemas.openxmlformats.org/officeDocument/2006/math">
                      <m:r>
                        <a:rPr lang="en-US" altLang="zh-TW" sz="2400" b="0" i="1" smtClean="0">
                          <a:latin typeface="Cambria Math"/>
                        </a:rPr>
                        <m:t>∵</m:t>
                      </m:r>
                      <m:sSubSup>
                        <m:sSubSupPr>
                          <m:ctrlPr>
                            <a:rPr lang="en-US" altLang="zh-TW" sz="2400" b="1" i="1">
                              <a:latin typeface="Cambria Math" panose="02040503050406030204" pitchFamily="18" charset="0"/>
                            </a:rPr>
                          </m:ctrlPr>
                        </m:sSubSupPr>
                        <m:e>
                          <m:r>
                            <a:rPr lang="en-US" altLang="zh-TW" sz="2400" b="1" i="1">
                              <a:latin typeface="Cambria Math"/>
                            </a:rPr>
                            <m:t>𝑷</m:t>
                          </m:r>
                        </m:e>
                        <m:sub>
                          <m:r>
                            <a:rPr lang="en-US" altLang="zh-TW" sz="2400" b="1" i="1" smtClean="0">
                              <a:latin typeface="Cambria Math"/>
                            </a:rPr>
                            <m:t>𝒕</m:t>
                          </m:r>
                        </m:sub>
                        <m:sup>
                          <m:r>
                            <a:rPr lang="en-US" altLang="zh-TW" sz="2400" b="1" i="1">
                              <a:latin typeface="Cambria Math"/>
                            </a:rPr>
                            <m:t>+</m:t>
                          </m:r>
                        </m:sup>
                      </m:sSubSup>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𝑐𝑜𝑣</m:t>
                      </m:r>
                      <m:d>
                        <m:dPr>
                          <m:ctrlPr>
                            <a:rPr lang="en-US" altLang="zh-TW" sz="2400" b="0" i="1" smtClean="0">
                              <a:latin typeface="Cambria Math" panose="02040503050406030204" pitchFamily="18" charset="0"/>
                            </a:rPr>
                          </m:ctrlPr>
                        </m:dPr>
                        <m:e>
                          <m:sSubSup>
                            <m:sSubSupPr>
                              <m:ctrlPr>
                                <a:rPr lang="en-US" altLang="zh-TW" sz="2400" b="1" i="1" smtClean="0">
                                  <a:latin typeface="Cambria Math" panose="02040503050406030204" pitchFamily="18" charset="0"/>
                                </a:rPr>
                              </m:ctrlPr>
                            </m:sSubSupPr>
                            <m:e>
                              <m:r>
                                <a:rPr lang="en-US" altLang="zh-TW" sz="2400" b="1" i="1" smtClean="0">
                                  <a:latin typeface="Cambria Math" panose="02040503050406030204" pitchFamily="18" charset="0"/>
                                </a:rPr>
                                <m:t>𝒆</m:t>
                              </m:r>
                            </m:e>
                            <m:sub>
                              <m:r>
                                <a:rPr lang="en-US" altLang="zh-TW" sz="2400" b="1" i="1" smtClean="0">
                                  <a:latin typeface="Cambria Math"/>
                                </a:rPr>
                                <m:t>𝒕</m:t>
                              </m:r>
                            </m:sub>
                            <m:sup>
                              <m:r>
                                <a:rPr lang="en-US" altLang="zh-TW" sz="2400" b="1" i="1" smtClean="0">
                                  <a:latin typeface="Cambria Math" panose="02040503050406030204" pitchFamily="18" charset="0"/>
                                </a:rPr>
                                <m:t>+</m:t>
                              </m:r>
                            </m:sup>
                          </m:sSubSup>
                        </m:e>
                      </m:d>
                      <m:r>
                        <a:rPr lang="en-US" altLang="zh-TW" sz="2400" b="0" i="1" smtClean="0">
                          <a:latin typeface="Cambria Math" panose="02040503050406030204" pitchFamily="18" charset="0"/>
                        </a:rPr>
                        <m:t>=</m:t>
                      </m:r>
                      <m:r>
                        <a:rPr lang="en-US" altLang="zh-TW" sz="2400" i="1">
                          <a:latin typeface="Cambria Math"/>
                        </a:rPr>
                        <m:t>𝐸</m:t>
                      </m:r>
                      <m:d>
                        <m:dPr>
                          <m:ctrlPr>
                            <a:rPr lang="en-US" altLang="zh-TW" sz="2400" i="1">
                              <a:latin typeface="Cambria Math" panose="02040503050406030204" pitchFamily="18" charset="0"/>
                            </a:rPr>
                          </m:ctrlPr>
                        </m:dPr>
                        <m:e>
                          <m:sSubSup>
                            <m:sSubSupPr>
                              <m:ctrlPr>
                                <a:rPr lang="en-US" altLang="zh-TW" sz="2400" b="1" i="1">
                                  <a:latin typeface="Cambria Math" panose="02040503050406030204" pitchFamily="18" charset="0"/>
                                </a:rPr>
                              </m:ctrlPr>
                            </m:sSubSupPr>
                            <m:e>
                              <m:r>
                                <a:rPr lang="en-US" altLang="zh-TW" sz="2400" b="1" i="1">
                                  <a:latin typeface="Cambria Math"/>
                                </a:rPr>
                                <m:t>𝒆</m:t>
                              </m:r>
                            </m:e>
                            <m:sub>
                              <m:r>
                                <a:rPr lang="en-US" altLang="zh-TW" sz="2400" b="1" i="1" smtClean="0">
                                  <a:latin typeface="Cambria Math"/>
                                </a:rPr>
                                <m:t>𝒕</m:t>
                              </m:r>
                            </m:sub>
                            <m:sup>
                              <m:r>
                                <a:rPr lang="en-US" altLang="zh-TW" sz="2400" b="1" i="1">
                                  <a:latin typeface="Cambria Math"/>
                                </a:rPr>
                                <m:t>+</m:t>
                              </m:r>
                            </m:sup>
                          </m:sSubSup>
                          <m:sSup>
                            <m:sSupPr>
                              <m:ctrlPr>
                                <a:rPr lang="en-US" altLang="zh-TW" sz="2400" b="1" i="1">
                                  <a:latin typeface="Cambria Math" panose="02040503050406030204" pitchFamily="18" charset="0"/>
                                </a:rPr>
                              </m:ctrlPr>
                            </m:sSupPr>
                            <m:e>
                              <m:sSubSup>
                                <m:sSubSupPr>
                                  <m:ctrlPr>
                                    <a:rPr lang="en-US" altLang="zh-TW" sz="2400" b="1" i="1">
                                      <a:latin typeface="Cambria Math" panose="02040503050406030204" pitchFamily="18" charset="0"/>
                                    </a:rPr>
                                  </m:ctrlPr>
                                </m:sSubSupPr>
                                <m:e>
                                  <m:r>
                                    <a:rPr lang="en-US" altLang="zh-TW" sz="2400" b="1" i="1">
                                      <a:latin typeface="Cambria Math"/>
                                    </a:rPr>
                                    <m:t>𝒆</m:t>
                                  </m:r>
                                </m:e>
                                <m:sub>
                                  <m:r>
                                    <a:rPr lang="en-US" altLang="zh-TW" sz="2400" b="1" i="1" smtClean="0">
                                      <a:latin typeface="Cambria Math"/>
                                    </a:rPr>
                                    <m:t>𝒕</m:t>
                                  </m:r>
                                </m:sub>
                                <m:sup>
                                  <m:r>
                                    <a:rPr lang="en-US" altLang="zh-TW" sz="2400" b="1" i="1">
                                      <a:latin typeface="Cambria Math"/>
                                    </a:rPr>
                                    <m:t>+</m:t>
                                  </m:r>
                                </m:sup>
                              </m:sSubSup>
                            </m:e>
                            <m:sup>
                              <m:r>
                                <a:rPr lang="en-US" altLang="zh-TW" sz="2400" b="1" i="1">
                                  <a:latin typeface="Cambria Math"/>
                                </a:rPr>
                                <m:t>𝑻</m:t>
                              </m:r>
                            </m:sup>
                          </m:sSup>
                        </m:e>
                      </m:d>
                      <m:r>
                        <a:rPr lang="en-US" altLang="zh-TW" sz="2400" b="0" i="0" smtClean="0">
                          <a:latin typeface="Cambria Math"/>
                        </a:rPr>
                        <m:t>=</m:t>
                      </m:r>
                      <m:r>
                        <m:rPr>
                          <m:sty m:val="p"/>
                        </m:rPr>
                        <a:rPr lang="en-US" altLang="zh-TW" sz="2400" b="0" i="0" smtClean="0">
                          <a:latin typeface="Cambria Math"/>
                        </a:rPr>
                        <m:t>E</m:t>
                      </m:r>
                      <m:d>
                        <m:dPr>
                          <m:ctrlPr>
                            <a:rPr lang="en-US" altLang="zh-TW" sz="2400" b="0" i="1" smtClean="0">
                              <a:latin typeface="Cambria Math" panose="02040503050406030204" pitchFamily="18" charset="0"/>
                            </a:rPr>
                          </m:ctrlPr>
                        </m:dPr>
                        <m:e>
                          <m:d>
                            <m:dPr>
                              <m:ctrlPr>
                                <a:rPr lang="en-US" altLang="zh-TW" sz="2400" b="1" i="1" smtClean="0">
                                  <a:latin typeface="Cambria Math" panose="02040503050406030204" pitchFamily="18" charset="0"/>
                                </a:rPr>
                              </m:ctrlPr>
                            </m:dPr>
                            <m:e>
                              <m:sSub>
                                <m:sSubPr>
                                  <m:ctrlPr>
                                    <a:rPr lang="en-US" altLang="zh-TW" sz="2400" b="1" i="1" smtClean="0">
                                      <a:latin typeface="Cambria Math" panose="02040503050406030204" pitchFamily="18" charset="0"/>
                                    </a:rPr>
                                  </m:ctrlPr>
                                </m:sSubPr>
                                <m:e>
                                  <m:r>
                                    <a:rPr lang="en-US" altLang="zh-TW" sz="2400" b="1" i="1" smtClean="0">
                                      <a:latin typeface="Cambria Math"/>
                                    </a:rPr>
                                    <m:t>𝒙</m:t>
                                  </m:r>
                                </m:e>
                                <m:sub>
                                  <m:r>
                                    <a:rPr lang="en-US" altLang="zh-TW" sz="2400" b="1" i="1" smtClean="0">
                                      <a:latin typeface="Cambria Math"/>
                                    </a:rPr>
                                    <m:t>𝒕</m:t>
                                  </m:r>
                                </m:sub>
                              </m:sSub>
                              <m:r>
                                <a:rPr lang="en-US" altLang="zh-TW" sz="2400" b="1" i="1" smtClean="0">
                                  <a:latin typeface="Cambria Math"/>
                                </a:rPr>
                                <m:t>−</m:t>
                              </m:r>
                              <m:sSubSup>
                                <m:sSubSupPr>
                                  <m:ctrlPr>
                                    <a:rPr lang="en-US" altLang="zh-TW" sz="2400" b="1" i="1" smtClean="0">
                                      <a:latin typeface="Cambria Math" panose="02040503050406030204" pitchFamily="18" charset="0"/>
                                    </a:rPr>
                                  </m:ctrlPr>
                                </m:sSubSupPr>
                                <m:e>
                                  <m:acc>
                                    <m:accPr>
                                      <m:chr m:val="̂"/>
                                      <m:ctrlPr>
                                        <a:rPr lang="en-US" altLang="zh-TW" sz="2400" b="1" i="1" smtClean="0">
                                          <a:latin typeface="Cambria Math" panose="02040503050406030204" pitchFamily="18" charset="0"/>
                                        </a:rPr>
                                      </m:ctrlPr>
                                    </m:accPr>
                                    <m:e>
                                      <m:r>
                                        <a:rPr lang="en-US" altLang="zh-TW" sz="2400" b="1" i="1" smtClean="0">
                                          <a:latin typeface="Cambria Math"/>
                                        </a:rPr>
                                        <m:t>𝒙</m:t>
                                      </m:r>
                                    </m:e>
                                  </m:acc>
                                </m:e>
                                <m:sub>
                                  <m:r>
                                    <a:rPr lang="en-US" altLang="zh-TW" sz="2400" b="1" i="1" smtClean="0">
                                      <a:latin typeface="Cambria Math"/>
                                    </a:rPr>
                                    <m:t>𝒕</m:t>
                                  </m:r>
                                </m:sub>
                                <m:sup>
                                  <m:r>
                                    <a:rPr lang="en-US" altLang="zh-TW" sz="2400" b="1" i="1" smtClean="0">
                                      <a:latin typeface="Cambria Math"/>
                                    </a:rPr>
                                    <m:t>+</m:t>
                                  </m:r>
                                </m:sup>
                              </m:sSubSup>
                            </m:e>
                          </m:d>
                          <m:d>
                            <m:dPr>
                              <m:ctrlPr>
                                <a:rPr lang="en-US" altLang="zh-TW" sz="2400" b="1" i="1">
                                  <a:latin typeface="Cambria Math" panose="02040503050406030204" pitchFamily="18" charset="0"/>
                                </a:rPr>
                              </m:ctrlPr>
                            </m:dPr>
                            <m:e>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a:latin typeface="Cambria Math"/>
                                    </a:rPr>
                                    <m:t>𝒌</m:t>
                                  </m:r>
                                </m:sub>
                              </m:sSub>
                              <m:r>
                                <a:rPr lang="en-US" altLang="zh-TW" sz="2400" b="1" i="1">
                                  <a:latin typeface="Cambria Math"/>
                                </a:rPr>
                                <m:t>−</m:t>
                              </m:r>
                              <m:sSubSup>
                                <m:sSubSupPr>
                                  <m:ctrlPr>
                                    <a:rPr lang="en-US" altLang="zh-TW" sz="2400" b="1" i="1">
                                      <a:latin typeface="Cambria Math" panose="02040503050406030204" pitchFamily="18" charset="0"/>
                                    </a:rPr>
                                  </m:ctrlPr>
                                </m:sSubSupPr>
                                <m:e>
                                  <m:acc>
                                    <m:accPr>
                                      <m:chr m:val="̂"/>
                                      <m:ctrlPr>
                                        <a:rPr lang="en-US" altLang="zh-TW" sz="2400" b="1" i="1">
                                          <a:latin typeface="Cambria Math" panose="02040503050406030204" pitchFamily="18" charset="0"/>
                                        </a:rPr>
                                      </m:ctrlPr>
                                    </m:accPr>
                                    <m:e>
                                      <m:r>
                                        <a:rPr lang="en-US" altLang="zh-TW" sz="2400" b="1" i="1">
                                          <a:latin typeface="Cambria Math"/>
                                        </a:rPr>
                                        <m:t>𝒙</m:t>
                                      </m:r>
                                    </m:e>
                                  </m:acc>
                                </m:e>
                                <m:sub>
                                  <m:r>
                                    <a:rPr lang="en-US" altLang="zh-TW" sz="2400" b="1" i="1" smtClean="0">
                                      <a:latin typeface="Cambria Math"/>
                                    </a:rPr>
                                    <m:t>𝒕</m:t>
                                  </m:r>
                                </m:sub>
                                <m:sup>
                                  <m:r>
                                    <a:rPr lang="en-US" altLang="zh-TW" sz="2400" b="1" i="1" smtClean="0">
                                      <a:latin typeface="Cambria Math"/>
                                    </a:rPr>
                                    <m:t>+</m:t>
                                  </m:r>
                                </m:sup>
                              </m:sSubSup>
                            </m:e>
                          </m:d>
                        </m:e>
                      </m:d>
                      <m:r>
                        <a:rPr lang="en-US" altLang="zh-TW" sz="2400" b="0" i="1" smtClean="0">
                          <a:latin typeface="Cambria Math"/>
                        </a:rPr>
                        <m:t>=</m:t>
                      </m:r>
                      <m:r>
                        <a:rPr lang="en-US" altLang="zh-TW" sz="2400" b="0" i="1" smtClean="0">
                          <a:latin typeface="Cambria Math"/>
                        </a:rPr>
                        <m:t>𝐸</m:t>
                      </m:r>
                      <m:d>
                        <m:dPr>
                          <m:begChr m:val="{"/>
                          <m:endChr m:val="}"/>
                          <m:ctrlPr>
                            <a:rPr lang="en-US" altLang="zh-TW" sz="2400" b="0" i="1" smtClean="0">
                              <a:latin typeface="Cambria Math" panose="02040503050406030204" pitchFamily="18" charset="0"/>
                            </a:rPr>
                          </m:ctrlPr>
                        </m:dPr>
                        <m:e>
                          <m:d>
                            <m:dPr>
                              <m:begChr m:val="["/>
                              <m:endChr m:val="]"/>
                              <m:ctrlPr>
                                <a:rPr lang="en-US" altLang="zh-TW" sz="2400" b="0" i="1" smtClean="0">
                                  <a:latin typeface="Cambria Math" panose="02040503050406030204" pitchFamily="18" charset="0"/>
                                </a:rPr>
                              </m:ctrlPr>
                            </m:dPr>
                            <m:e>
                              <m:d>
                                <m:dPr>
                                  <m:ctrlPr>
                                    <a:rPr lang="en-US" altLang="zh-TW" sz="2400" b="0" i="1" smtClean="0">
                                      <a:latin typeface="Cambria Math" panose="02040503050406030204" pitchFamily="18" charset="0"/>
                                    </a:rPr>
                                  </m:ctrlPr>
                                </m:dPr>
                                <m:e>
                                  <m:sSub>
                                    <m:sSubPr>
                                      <m:ctrlPr>
                                        <a:rPr lang="en-US" altLang="zh-TW" sz="2400" b="1" i="1" smtClean="0">
                                          <a:latin typeface="Cambria Math" panose="02040503050406030204" pitchFamily="18" charset="0"/>
                                        </a:rPr>
                                      </m:ctrlPr>
                                    </m:sSubPr>
                                    <m:e>
                                      <m:r>
                                        <a:rPr lang="en-US" altLang="zh-TW" sz="2400" b="1" i="1" smtClean="0">
                                          <a:latin typeface="Cambria Math"/>
                                        </a:rPr>
                                        <m:t>𝒙</m:t>
                                      </m:r>
                                    </m:e>
                                    <m:sub>
                                      <m:r>
                                        <a:rPr lang="en-US" altLang="zh-TW" sz="2400" b="1" i="1" smtClean="0">
                                          <a:latin typeface="Cambria Math"/>
                                        </a:rPr>
                                        <m:t>𝒕</m:t>
                                      </m:r>
                                    </m:sub>
                                  </m:sSub>
                                  <m:r>
                                    <a:rPr lang="en-US" altLang="zh-TW" sz="2400" b="1" i="1" smtClean="0">
                                      <a:latin typeface="Cambria Math"/>
                                    </a:rPr>
                                    <m:t>−</m:t>
                                  </m:r>
                                  <m:sSubSup>
                                    <m:sSubSupPr>
                                      <m:ctrlPr>
                                        <a:rPr lang="en-US" altLang="zh-TW" sz="2400" b="1" i="1" smtClean="0">
                                          <a:latin typeface="Cambria Math" panose="02040503050406030204" pitchFamily="18" charset="0"/>
                                        </a:rPr>
                                      </m:ctrlPr>
                                    </m:sSubSupPr>
                                    <m:e>
                                      <m:acc>
                                        <m:accPr>
                                          <m:chr m:val="̂"/>
                                          <m:ctrlPr>
                                            <a:rPr lang="en-US" altLang="zh-TW" sz="2400" b="1" i="1" smtClean="0">
                                              <a:latin typeface="Cambria Math" panose="02040503050406030204" pitchFamily="18" charset="0"/>
                                            </a:rPr>
                                          </m:ctrlPr>
                                        </m:accPr>
                                        <m:e>
                                          <m:r>
                                            <a:rPr lang="en-US" altLang="zh-TW" sz="2400" b="1" i="1" smtClean="0">
                                              <a:latin typeface="Cambria Math"/>
                                            </a:rPr>
                                            <m:t>𝒙</m:t>
                                          </m:r>
                                        </m:e>
                                      </m:acc>
                                    </m:e>
                                    <m:sub>
                                      <m:r>
                                        <a:rPr lang="en-US" altLang="zh-TW" sz="2400" b="1" i="1" smtClean="0">
                                          <a:latin typeface="Cambria Math"/>
                                        </a:rPr>
                                        <m:t>𝒕</m:t>
                                      </m:r>
                                    </m:sub>
                                    <m:sup>
                                      <m:r>
                                        <a:rPr lang="en-US" altLang="zh-TW" sz="2400" b="1" i="1" smtClean="0">
                                          <a:latin typeface="Cambria Math"/>
                                        </a:rPr>
                                        <m:t>−</m:t>
                                      </m:r>
                                    </m:sup>
                                  </m:sSubSup>
                                </m:e>
                              </m:d>
                              <m:r>
                                <a:rPr lang="en-US" altLang="zh-TW" sz="2400" b="0"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𝑲</m:t>
                                  </m:r>
                                </m:e>
                                <m:sub>
                                  <m:r>
                                    <a:rPr lang="en-US" altLang="zh-TW" sz="2400" b="1" i="1" smtClean="0">
                                      <a:latin typeface="Cambria Math"/>
                                    </a:rPr>
                                    <m:t>𝒕</m:t>
                                  </m:r>
                                </m:sub>
                              </m:sSub>
                              <m:d>
                                <m:dPr>
                                  <m:ctrlPr>
                                    <a:rPr lang="en-US" altLang="zh-TW" sz="2400" b="0" i="1" smtClean="0">
                                      <a:latin typeface="Cambria Math" panose="02040503050406030204" pitchFamily="18" charset="0"/>
                                    </a:rPr>
                                  </m:ctrlPr>
                                </m:dPr>
                                <m:e>
                                  <m:sSub>
                                    <m:sSubPr>
                                      <m:ctrlPr>
                                        <a:rPr lang="en-US" altLang="zh-TW" sz="2400" b="1" i="1" smtClean="0">
                                          <a:latin typeface="Cambria Math" panose="02040503050406030204" pitchFamily="18" charset="0"/>
                                        </a:rPr>
                                      </m:ctrlPr>
                                    </m:sSubPr>
                                    <m:e>
                                      <m:r>
                                        <a:rPr lang="en-US" altLang="zh-TW" sz="2400" b="1" i="1" smtClean="0">
                                          <a:latin typeface="Cambria Math"/>
                                        </a:rPr>
                                        <m:t>𝑯</m:t>
                                      </m:r>
                                    </m:e>
                                    <m:sub>
                                      <m:r>
                                        <a:rPr lang="en-US" altLang="zh-TW" sz="2400" b="1" i="1" smtClean="0">
                                          <a:latin typeface="Cambria Math"/>
                                        </a:rPr>
                                        <m:t>𝒕</m:t>
                                      </m:r>
                                    </m:sub>
                                  </m:sSub>
                                  <m:sSub>
                                    <m:sSubPr>
                                      <m:ctrlPr>
                                        <a:rPr lang="en-US" altLang="zh-TW" sz="2400" b="1" i="1" smtClean="0">
                                          <a:latin typeface="Cambria Math" panose="02040503050406030204" pitchFamily="18" charset="0"/>
                                        </a:rPr>
                                      </m:ctrlPr>
                                    </m:sSubPr>
                                    <m:e>
                                      <m:r>
                                        <a:rPr lang="en-US" altLang="zh-TW" sz="2400" b="1" i="1" smtClean="0">
                                          <a:latin typeface="Cambria Math"/>
                                        </a:rPr>
                                        <m:t>𝒙</m:t>
                                      </m:r>
                                    </m:e>
                                    <m:sub>
                                      <m:r>
                                        <a:rPr lang="en-US" altLang="zh-TW" sz="2400" b="1" i="1" smtClean="0">
                                          <a:latin typeface="Cambria Math"/>
                                        </a:rPr>
                                        <m:t>𝒕</m:t>
                                      </m:r>
                                    </m:sub>
                                  </m:sSub>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𝒗</m:t>
                                      </m:r>
                                    </m:e>
                                    <m:sub>
                                      <m:r>
                                        <a:rPr lang="en-US" altLang="zh-TW" sz="2400" b="1" i="1" smtClean="0">
                                          <a:latin typeface="Cambria Math"/>
                                        </a:rPr>
                                        <m:t>𝒕</m:t>
                                      </m:r>
                                    </m:sub>
                                  </m:sSub>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𝑯</m:t>
                                      </m:r>
                                    </m:e>
                                    <m:sub>
                                      <m:r>
                                        <a:rPr lang="en-US" altLang="zh-TW" sz="2400" b="1" i="1" smtClean="0">
                                          <a:latin typeface="Cambria Math"/>
                                        </a:rPr>
                                        <m:t>𝒕</m:t>
                                      </m:r>
                                    </m:sub>
                                  </m:sSub>
                                  <m:sSubSup>
                                    <m:sSubSupPr>
                                      <m:ctrlPr>
                                        <a:rPr lang="en-US" altLang="zh-TW" sz="2400" b="1" i="1">
                                          <a:latin typeface="Cambria Math" panose="02040503050406030204" pitchFamily="18" charset="0"/>
                                        </a:rPr>
                                      </m:ctrlPr>
                                    </m:sSubSupPr>
                                    <m:e>
                                      <m:acc>
                                        <m:accPr>
                                          <m:chr m:val="̂"/>
                                          <m:ctrlPr>
                                            <a:rPr lang="en-US" altLang="zh-TW" sz="2400" b="1" i="1">
                                              <a:latin typeface="Cambria Math" panose="02040503050406030204" pitchFamily="18" charset="0"/>
                                            </a:rPr>
                                          </m:ctrlPr>
                                        </m:accPr>
                                        <m:e>
                                          <m:r>
                                            <a:rPr lang="en-US" altLang="zh-TW" sz="2400" b="1" i="1">
                                              <a:latin typeface="Cambria Math"/>
                                            </a:rPr>
                                            <m:t>𝒙</m:t>
                                          </m:r>
                                        </m:e>
                                      </m:acc>
                                    </m:e>
                                    <m:sub>
                                      <m:r>
                                        <a:rPr lang="en-US" altLang="zh-TW" sz="2400" b="1" i="1" smtClean="0">
                                          <a:latin typeface="Cambria Math"/>
                                        </a:rPr>
                                        <m:t>𝒕</m:t>
                                      </m:r>
                                    </m:sub>
                                    <m:sup>
                                      <m:r>
                                        <a:rPr lang="en-US" altLang="zh-TW" sz="2400" b="1" i="1">
                                          <a:latin typeface="Cambria Math"/>
                                        </a:rPr>
                                        <m:t>−</m:t>
                                      </m:r>
                                    </m:sup>
                                  </m:sSubSup>
                                </m:e>
                              </m:d>
                            </m:e>
                          </m:d>
                          <m:sSup>
                            <m:sSupPr>
                              <m:ctrlPr>
                                <a:rPr lang="en-US" altLang="zh-TW" sz="2400" b="0" i="1" smtClean="0">
                                  <a:latin typeface="Cambria Math" panose="02040503050406030204" pitchFamily="18" charset="0"/>
                                </a:rPr>
                              </m:ctrlPr>
                            </m:sSupPr>
                            <m:e>
                              <m:d>
                                <m:dPr>
                                  <m:begChr m:val="["/>
                                  <m:endChr m:val="]"/>
                                  <m:ctrlPr>
                                    <a:rPr lang="en-US" altLang="zh-TW" sz="2400" b="0" i="1" smtClean="0">
                                      <a:latin typeface="Cambria Math" panose="02040503050406030204" pitchFamily="18" charset="0"/>
                                    </a:rPr>
                                  </m:ctrlPr>
                                </m:dPr>
                                <m:e>
                                  <m:d>
                                    <m:dPr>
                                      <m:ctrlPr>
                                        <a:rPr lang="en-US" altLang="zh-TW" sz="2400" i="1">
                                          <a:latin typeface="Cambria Math" panose="02040503050406030204" pitchFamily="18" charset="0"/>
                                        </a:rPr>
                                      </m:ctrlPr>
                                    </m:dPr>
                                    <m:e>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b="1" i="1">
                                          <a:latin typeface="Cambria Math"/>
                                        </a:rPr>
                                        <m:t>−</m:t>
                                      </m:r>
                                      <m:sSubSup>
                                        <m:sSubSupPr>
                                          <m:ctrlPr>
                                            <a:rPr lang="en-US" altLang="zh-TW" sz="2400" b="1" i="1">
                                              <a:latin typeface="Cambria Math" panose="02040503050406030204" pitchFamily="18" charset="0"/>
                                            </a:rPr>
                                          </m:ctrlPr>
                                        </m:sSubSupPr>
                                        <m:e>
                                          <m:acc>
                                            <m:accPr>
                                              <m:chr m:val="̂"/>
                                              <m:ctrlPr>
                                                <a:rPr lang="en-US" altLang="zh-TW" sz="2400" b="1" i="1">
                                                  <a:latin typeface="Cambria Math" panose="02040503050406030204" pitchFamily="18" charset="0"/>
                                                </a:rPr>
                                              </m:ctrlPr>
                                            </m:accPr>
                                            <m:e>
                                              <m:r>
                                                <a:rPr lang="en-US" altLang="zh-TW" sz="2400" b="1" i="1">
                                                  <a:latin typeface="Cambria Math"/>
                                                </a:rPr>
                                                <m:t>𝒙</m:t>
                                              </m:r>
                                            </m:e>
                                          </m:acc>
                                        </m:e>
                                        <m:sub>
                                          <m:r>
                                            <a:rPr lang="en-US" altLang="zh-TW" sz="2400" b="1" i="1" smtClean="0">
                                              <a:latin typeface="Cambria Math"/>
                                            </a:rPr>
                                            <m:t>𝒕</m:t>
                                          </m:r>
                                        </m:sub>
                                        <m:sup>
                                          <m:r>
                                            <a:rPr lang="en-US" altLang="zh-TW" sz="2400" b="1" i="1">
                                              <a:latin typeface="Cambria Math"/>
                                            </a:rPr>
                                            <m:t>−</m:t>
                                          </m:r>
                                        </m:sup>
                                      </m:sSubSup>
                                    </m:e>
                                  </m:d>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𝑲</m:t>
                                      </m:r>
                                    </m:e>
                                    <m:sub>
                                      <m:r>
                                        <a:rPr lang="en-US" altLang="zh-TW" sz="2400" b="1" i="1" smtClean="0">
                                          <a:latin typeface="Cambria Math"/>
                                        </a:rPr>
                                        <m:t>𝒕</m:t>
                                      </m:r>
                                    </m:sub>
                                  </m:sSub>
                                  <m:d>
                                    <m:dPr>
                                      <m:ctrlPr>
                                        <a:rPr lang="en-US" altLang="zh-TW" sz="2400" i="1">
                                          <a:latin typeface="Cambria Math" panose="02040503050406030204" pitchFamily="18" charset="0"/>
                                        </a:rPr>
                                      </m:ctrlPr>
                                    </m:dPr>
                                    <m:e>
                                      <m:sSub>
                                        <m:sSubPr>
                                          <m:ctrlPr>
                                            <a:rPr lang="en-US" altLang="zh-TW" sz="2400" b="1" i="1">
                                              <a:latin typeface="Cambria Math" panose="02040503050406030204" pitchFamily="18" charset="0"/>
                                            </a:rPr>
                                          </m:ctrlPr>
                                        </m:sSubPr>
                                        <m:e>
                                          <m:r>
                                            <a:rPr lang="en-US" altLang="zh-TW" sz="2400" b="1" i="1">
                                              <a:latin typeface="Cambria Math"/>
                                            </a:rPr>
                                            <m:t>𝑯</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b="1"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𝒗</m:t>
                                          </m:r>
                                        </m:e>
                                        <m:sub>
                                          <m:r>
                                            <a:rPr lang="en-US" altLang="zh-TW" sz="2400" b="1" i="1" smtClean="0">
                                              <a:latin typeface="Cambria Math"/>
                                            </a:rPr>
                                            <m:t>𝒕</m:t>
                                          </m:r>
                                        </m:sub>
                                      </m:sSub>
                                      <m:r>
                                        <a:rPr lang="en-US" altLang="zh-TW" sz="2400" b="1"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𝑯</m:t>
                                          </m:r>
                                        </m:e>
                                        <m:sub>
                                          <m:r>
                                            <a:rPr lang="en-US" altLang="zh-TW" sz="2400" b="1" i="1" smtClean="0">
                                              <a:latin typeface="Cambria Math"/>
                                            </a:rPr>
                                            <m:t>𝒕</m:t>
                                          </m:r>
                                        </m:sub>
                                      </m:sSub>
                                      <m:sSubSup>
                                        <m:sSubSupPr>
                                          <m:ctrlPr>
                                            <a:rPr lang="en-US" altLang="zh-TW" sz="2400" b="1" i="1">
                                              <a:latin typeface="Cambria Math" panose="02040503050406030204" pitchFamily="18" charset="0"/>
                                            </a:rPr>
                                          </m:ctrlPr>
                                        </m:sSubSupPr>
                                        <m:e>
                                          <m:acc>
                                            <m:accPr>
                                              <m:chr m:val="̂"/>
                                              <m:ctrlPr>
                                                <a:rPr lang="en-US" altLang="zh-TW" sz="2400" b="1" i="1">
                                                  <a:latin typeface="Cambria Math" panose="02040503050406030204" pitchFamily="18" charset="0"/>
                                                </a:rPr>
                                              </m:ctrlPr>
                                            </m:accPr>
                                            <m:e>
                                              <m:r>
                                                <a:rPr lang="en-US" altLang="zh-TW" sz="2400" b="1" i="1">
                                                  <a:latin typeface="Cambria Math"/>
                                                </a:rPr>
                                                <m:t>𝒙</m:t>
                                              </m:r>
                                            </m:e>
                                          </m:acc>
                                        </m:e>
                                        <m:sub>
                                          <m:r>
                                            <a:rPr lang="en-US" altLang="zh-TW" sz="2400" b="1" i="1" smtClean="0">
                                              <a:latin typeface="Cambria Math"/>
                                            </a:rPr>
                                            <m:t>𝒕</m:t>
                                          </m:r>
                                        </m:sub>
                                        <m:sup>
                                          <m:r>
                                            <a:rPr lang="en-US" altLang="zh-TW" sz="2400" b="1" i="1">
                                              <a:latin typeface="Cambria Math"/>
                                            </a:rPr>
                                            <m:t>−</m:t>
                                          </m:r>
                                        </m:sup>
                                      </m:sSubSup>
                                    </m:e>
                                  </m:d>
                                </m:e>
                              </m:d>
                            </m:e>
                            <m:sup>
                              <m:r>
                                <a:rPr lang="en-US" altLang="zh-TW" sz="2400" b="0" i="1" smtClean="0">
                                  <a:latin typeface="Cambria Math"/>
                                </a:rPr>
                                <m:t>𝑇</m:t>
                              </m:r>
                            </m:sup>
                          </m:sSup>
                        </m:e>
                      </m:d>
                    </m:oMath>
                  </m:oMathPara>
                </a14:m>
                <a:endParaRPr lang="en-US" altLang="zh-TW" sz="2400" dirty="0" smtClean="0"/>
              </a:p>
              <a:p>
                <a:pPr/>
                <a14:m>
                  <m:oMathPara xmlns:m="http://schemas.openxmlformats.org/officeDocument/2006/math">
                    <m:oMathParaPr>
                      <m:jc m:val="left"/>
                    </m:oMathParaPr>
                    <m:oMath xmlns:m="http://schemas.openxmlformats.org/officeDocument/2006/math">
                      <m:r>
                        <a:rPr lang="en-US" altLang="zh-TW" sz="2400" b="0" i="1" smtClean="0">
                          <a:latin typeface="Cambria Math"/>
                        </a:rPr>
                        <m:t>∵</m:t>
                      </m:r>
                      <m:r>
                        <a:rPr lang="en-US" altLang="zh-TW" sz="2400" b="0" i="1" smtClean="0">
                          <a:latin typeface="Cambria Math"/>
                        </a:rPr>
                        <m:t>𝑝𝑟𝑖𝑜𝑟𝑖</m:t>
                      </m:r>
                      <m:r>
                        <a:rPr lang="en-US" altLang="zh-TW" sz="2400" b="0" i="1" smtClean="0">
                          <a:latin typeface="Cambria Math"/>
                        </a:rPr>
                        <m:t> </m:t>
                      </m:r>
                      <m:r>
                        <a:rPr lang="en-US" altLang="zh-TW" sz="2400" b="0" i="1" smtClean="0">
                          <a:latin typeface="Cambria Math"/>
                        </a:rPr>
                        <m:t>𝑒𝑠𝑡𝑖𝑚𝑎𝑡𝑒</m:t>
                      </m:r>
                      <m:r>
                        <a:rPr lang="en-US" altLang="zh-TW" sz="2400" b="0" i="1" smtClean="0">
                          <a:latin typeface="Cambria Math"/>
                        </a:rPr>
                        <m:t> </m:t>
                      </m:r>
                      <m:r>
                        <a:rPr lang="en-US" altLang="zh-TW" sz="2400" b="0" i="1" smtClean="0">
                          <a:latin typeface="Cambria Math"/>
                        </a:rPr>
                        <m:t>𝑒𝑟𝑟𝑜𝑟</m:t>
                      </m:r>
                      <m:r>
                        <a:rPr lang="en-US" altLang="zh-TW" sz="2400" b="0" i="1" smtClean="0">
                          <a:latin typeface="Cambria Math"/>
                        </a:rPr>
                        <m:t> </m:t>
                      </m:r>
                      <m:sSubSup>
                        <m:sSubSupPr>
                          <m:ctrlPr>
                            <a:rPr lang="en-US" altLang="zh-TW" sz="2400" b="1" i="1" smtClean="0">
                              <a:latin typeface="Cambria Math" panose="02040503050406030204" pitchFamily="18" charset="0"/>
                            </a:rPr>
                          </m:ctrlPr>
                        </m:sSubSupPr>
                        <m:e>
                          <m:r>
                            <a:rPr lang="en-US" altLang="zh-TW" sz="2400" b="1" i="1" smtClean="0">
                              <a:latin typeface="Cambria Math"/>
                            </a:rPr>
                            <m:t>𝒆</m:t>
                          </m:r>
                        </m:e>
                        <m:sub>
                          <m:r>
                            <a:rPr lang="en-US" altLang="zh-TW" sz="2400" b="1" i="1" smtClean="0">
                              <a:latin typeface="Cambria Math"/>
                            </a:rPr>
                            <m:t>𝒕</m:t>
                          </m:r>
                        </m:sub>
                        <m:sup>
                          <m:r>
                            <a:rPr lang="en-US" altLang="zh-TW" sz="2400" b="1" i="1" smtClean="0">
                              <a:latin typeface="Cambria Math"/>
                            </a:rPr>
                            <m:t>−</m:t>
                          </m:r>
                        </m:sup>
                      </m:sSubSup>
                      <m:r>
                        <a:rPr lang="zh-TW" altLang="en-US" sz="2400" b="0" i="1" smtClean="0">
                          <a:latin typeface="Cambria Math"/>
                        </a:rPr>
                        <m:t>與</m:t>
                      </m:r>
                      <m:sSub>
                        <m:sSubPr>
                          <m:ctrlPr>
                            <a:rPr lang="en-US" altLang="zh-TW" sz="2400" b="1" i="1" smtClean="0">
                              <a:latin typeface="Cambria Math" panose="02040503050406030204" pitchFamily="18" charset="0"/>
                            </a:rPr>
                          </m:ctrlPr>
                        </m:sSubPr>
                        <m:e>
                          <m:r>
                            <a:rPr lang="en-US" altLang="zh-TW" sz="2400" b="1" i="1" smtClean="0">
                              <a:latin typeface="Cambria Math"/>
                            </a:rPr>
                            <m:t>𝑹</m:t>
                          </m:r>
                        </m:e>
                        <m:sub>
                          <m:r>
                            <a:rPr lang="en-US" altLang="zh-TW" sz="2400" b="1" i="1" smtClean="0">
                              <a:latin typeface="Cambria Math"/>
                            </a:rPr>
                            <m:t>𝒕</m:t>
                          </m:r>
                        </m:sub>
                      </m:sSub>
                      <m:r>
                        <a:rPr lang="zh-TW" altLang="en-US" sz="2400" b="0" i="1" smtClean="0">
                          <a:latin typeface="Cambria Math"/>
                        </a:rPr>
                        <m:t>不相關</m:t>
                      </m:r>
                    </m:oMath>
                  </m:oMathPara>
                </a14:m>
                <a:endParaRPr lang="en-US" altLang="zh-TW" sz="2400" dirty="0" smtClean="0"/>
              </a:p>
              <a:p>
                <a:pPr>
                  <a:lnSpc>
                    <a:spcPct val="120000"/>
                  </a:lnSpc>
                </a:pPr>
                <a14:m>
                  <m:oMathPara xmlns:m="http://schemas.openxmlformats.org/officeDocument/2006/math">
                    <m:oMathParaPr>
                      <m:jc m:val="left"/>
                    </m:oMathParaPr>
                    <m:oMath xmlns:m="http://schemas.openxmlformats.org/officeDocument/2006/math">
                      <m:r>
                        <a:rPr lang="en-US" altLang="zh-TW" sz="2400" b="0" i="1" smtClean="0">
                          <a:latin typeface="Cambria Math"/>
                        </a:rPr>
                        <m:t>∴</m:t>
                      </m:r>
                      <m:sSubSup>
                        <m:sSubSupPr>
                          <m:ctrlPr>
                            <a:rPr lang="en-US" altLang="zh-TW" sz="2400" b="1" i="1">
                              <a:latin typeface="Cambria Math" panose="02040503050406030204" pitchFamily="18" charset="0"/>
                            </a:rPr>
                          </m:ctrlPr>
                        </m:sSubSupPr>
                        <m:e>
                          <m:r>
                            <a:rPr lang="en-US" altLang="zh-TW" sz="2400" b="1" i="1">
                              <a:latin typeface="Cambria Math"/>
                            </a:rPr>
                            <m:t>𝑷</m:t>
                          </m:r>
                        </m:e>
                        <m:sub>
                          <m:r>
                            <a:rPr lang="en-US" altLang="zh-TW" sz="2400" b="1" i="1" smtClean="0">
                              <a:latin typeface="Cambria Math"/>
                            </a:rPr>
                            <m:t>𝒕</m:t>
                          </m:r>
                        </m:sub>
                        <m:sup>
                          <m:r>
                            <a:rPr lang="en-US" altLang="zh-TW" sz="2400" b="1" i="1">
                              <a:latin typeface="Cambria Math"/>
                            </a:rPr>
                            <m:t>+</m:t>
                          </m:r>
                        </m:sup>
                      </m:sSubSup>
                      <m:r>
                        <a:rPr lang="en-US" altLang="zh-TW" sz="2400" b="1" i="1" smtClean="0">
                          <a:latin typeface="Cambria Math"/>
                        </a:rPr>
                        <m:t>=</m:t>
                      </m:r>
                      <m:d>
                        <m:dPr>
                          <m:ctrlPr>
                            <a:rPr lang="en-US" altLang="zh-TW" sz="2400" b="1" i="1" smtClean="0">
                              <a:latin typeface="Cambria Math" panose="02040503050406030204" pitchFamily="18" charset="0"/>
                            </a:rPr>
                          </m:ctrlPr>
                        </m:dPr>
                        <m:e>
                          <m:r>
                            <a:rPr lang="en-US" altLang="zh-TW" sz="2400" b="1" i="1" smtClean="0">
                              <a:latin typeface="Cambria Math" panose="02040503050406030204" pitchFamily="18" charset="0"/>
                            </a:rPr>
                            <m:t>𝑰</m:t>
                          </m:r>
                          <m:r>
                            <a:rPr lang="en-US" altLang="zh-TW" sz="2400" b="1" i="1" smtClean="0">
                              <a:latin typeface="Cambria Math" panose="02040503050406030204" pitchFamily="18" charset="0"/>
                            </a:rPr>
                            <m:t>−</m:t>
                          </m:r>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𝑲</m:t>
                              </m:r>
                            </m:e>
                            <m:sub>
                              <m:r>
                                <a:rPr lang="en-US" altLang="zh-TW" sz="2400" b="1" i="1" smtClean="0">
                                  <a:latin typeface="Cambria Math"/>
                                </a:rPr>
                                <m:t>𝒕</m:t>
                              </m:r>
                            </m:sub>
                          </m:sSub>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𝑯</m:t>
                              </m:r>
                            </m:e>
                            <m:sub>
                              <m:r>
                                <a:rPr lang="en-US" altLang="zh-TW" sz="2400" b="1" i="1" smtClean="0">
                                  <a:latin typeface="Cambria Math"/>
                                </a:rPr>
                                <m:t>𝒕</m:t>
                              </m:r>
                            </m:sub>
                          </m:sSub>
                        </m:e>
                      </m:d>
                      <m:sSubSup>
                        <m:sSubSupPr>
                          <m:ctrlPr>
                            <a:rPr lang="en-US" altLang="zh-TW" sz="2400" b="1" i="1" smtClean="0">
                              <a:latin typeface="Cambria Math" panose="02040503050406030204" pitchFamily="18" charset="0"/>
                            </a:rPr>
                          </m:ctrlPr>
                        </m:sSubSupPr>
                        <m:e>
                          <m:r>
                            <a:rPr lang="en-US" altLang="zh-TW" sz="2400" b="1" i="1" smtClean="0">
                              <a:latin typeface="Cambria Math"/>
                            </a:rPr>
                            <m:t>𝑷</m:t>
                          </m:r>
                        </m:e>
                        <m:sub>
                          <m:r>
                            <a:rPr lang="en-US" altLang="zh-TW" sz="2400" b="1" i="1" smtClean="0">
                              <a:latin typeface="Cambria Math"/>
                            </a:rPr>
                            <m:t>𝒕</m:t>
                          </m:r>
                        </m:sub>
                        <m:sup>
                          <m:r>
                            <a:rPr lang="en-US" altLang="zh-TW" sz="2400" b="1" i="1" smtClean="0">
                              <a:latin typeface="Cambria Math"/>
                            </a:rPr>
                            <m:t>−</m:t>
                          </m:r>
                        </m:sup>
                      </m:sSubSup>
                      <m:sSup>
                        <m:sSupPr>
                          <m:ctrlPr>
                            <a:rPr lang="en-US" altLang="zh-TW" sz="2400" b="1" i="1" smtClean="0">
                              <a:latin typeface="Cambria Math" panose="02040503050406030204" pitchFamily="18" charset="0"/>
                            </a:rPr>
                          </m:ctrlPr>
                        </m:sSupPr>
                        <m:e>
                          <m:d>
                            <m:dPr>
                              <m:ctrlPr>
                                <a:rPr lang="en-US" altLang="zh-TW" sz="2400" b="1" i="1" smtClean="0">
                                  <a:latin typeface="Cambria Math" panose="02040503050406030204" pitchFamily="18" charset="0"/>
                                </a:rPr>
                              </m:ctrlPr>
                            </m:dPr>
                            <m:e>
                              <m:r>
                                <a:rPr lang="en-US" altLang="zh-TW" sz="2400" b="1" i="1" smtClean="0">
                                  <a:latin typeface="Cambria Math" panose="02040503050406030204" pitchFamily="18" charset="0"/>
                                </a:rPr>
                                <m:t>𝑰</m:t>
                              </m:r>
                              <m:r>
                                <a:rPr lang="en-US" altLang="zh-TW" sz="2400" b="1" i="1" smtClean="0">
                                  <a:latin typeface="Cambria Math" panose="02040503050406030204" pitchFamily="18" charset="0"/>
                                </a:rPr>
                                <m:t>−</m:t>
                              </m:r>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𝑲</m:t>
                                  </m:r>
                                </m:e>
                                <m:sub>
                                  <m:r>
                                    <a:rPr lang="en-US" altLang="zh-TW" sz="2400" b="1" i="1" smtClean="0">
                                      <a:latin typeface="Cambria Math"/>
                                    </a:rPr>
                                    <m:t>𝒕</m:t>
                                  </m:r>
                                </m:sub>
                              </m:sSub>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𝑯</m:t>
                                  </m:r>
                                </m:e>
                                <m:sub>
                                  <m:r>
                                    <a:rPr lang="en-US" altLang="zh-TW" sz="2400" b="1" i="1" smtClean="0">
                                      <a:latin typeface="Cambria Math"/>
                                    </a:rPr>
                                    <m:t>𝒕</m:t>
                                  </m:r>
                                </m:sub>
                              </m:sSub>
                            </m:e>
                          </m:d>
                        </m:e>
                        <m:sup>
                          <m:r>
                            <a:rPr lang="en-US" altLang="zh-TW" sz="2400" b="1" i="1" smtClean="0">
                              <a:latin typeface="Cambria Math" panose="02040503050406030204" pitchFamily="18" charset="0"/>
                            </a:rPr>
                            <m:t>𝑻</m:t>
                          </m:r>
                        </m:sup>
                      </m:sSup>
                      <m:r>
                        <a:rPr lang="en-US" altLang="zh-TW" sz="2400" b="1" i="1" smtClean="0">
                          <a:latin typeface="Cambria Math" panose="02040503050406030204" pitchFamily="18" charset="0"/>
                        </a:rPr>
                        <m:t>+</m:t>
                      </m:r>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𝑲</m:t>
                          </m:r>
                        </m:e>
                        <m:sub>
                          <m:r>
                            <a:rPr lang="en-US" altLang="zh-TW" sz="2400" b="1" i="1" smtClean="0">
                              <a:latin typeface="Cambria Math"/>
                            </a:rPr>
                            <m:t>𝒕</m:t>
                          </m:r>
                        </m:sub>
                      </m:sSub>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𝑹</m:t>
                          </m:r>
                        </m:e>
                        <m:sub>
                          <m:r>
                            <a:rPr lang="en-US" altLang="zh-TW" sz="2400" b="1" i="1" smtClean="0">
                              <a:latin typeface="Cambria Math"/>
                            </a:rPr>
                            <m:t>𝒕</m:t>
                          </m:r>
                        </m:sub>
                      </m:sSub>
                      <m:sSubSup>
                        <m:sSubSupPr>
                          <m:ctrlPr>
                            <a:rPr lang="en-US" altLang="zh-TW" sz="2400" b="1" i="1" smtClean="0">
                              <a:latin typeface="Cambria Math" panose="02040503050406030204" pitchFamily="18" charset="0"/>
                            </a:rPr>
                          </m:ctrlPr>
                        </m:sSubSupPr>
                        <m:e>
                          <m:r>
                            <a:rPr lang="en-US" altLang="zh-TW" sz="2400" b="1" i="1" smtClean="0">
                              <a:latin typeface="Cambria Math" panose="02040503050406030204" pitchFamily="18" charset="0"/>
                            </a:rPr>
                            <m:t>𝑲</m:t>
                          </m:r>
                        </m:e>
                        <m:sub>
                          <m:r>
                            <a:rPr lang="en-US" altLang="zh-TW" sz="2400" b="1" i="1" smtClean="0">
                              <a:latin typeface="Cambria Math"/>
                            </a:rPr>
                            <m:t>𝒕</m:t>
                          </m:r>
                        </m:sub>
                        <m:sup>
                          <m:r>
                            <a:rPr lang="en-US" altLang="zh-TW" sz="2400" b="1" i="1" smtClean="0">
                              <a:latin typeface="Cambria Math" panose="02040503050406030204" pitchFamily="18" charset="0"/>
                            </a:rPr>
                            <m:t>𝑻</m:t>
                          </m:r>
                        </m:sup>
                      </m:sSubSup>
                      <m:r>
                        <m:rPr>
                          <m:aln/>
                        </m:rPr>
                        <a:rPr lang="en-US" altLang="zh-TW" sz="2400" b="1" i="1" smtClean="0">
                          <a:latin typeface="Cambria Math" panose="02040503050406030204" pitchFamily="18" charset="0"/>
                        </a:rPr>
                        <m:t>=</m:t>
                      </m:r>
                      <m:sSubSup>
                        <m:sSubSupPr>
                          <m:ctrlPr>
                            <a:rPr lang="en-US" altLang="zh-TW" sz="2400" b="1" i="1" smtClean="0">
                              <a:latin typeface="Cambria Math" panose="02040503050406030204" pitchFamily="18" charset="0"/>
                            </a:rPr>
                          </m:ctrlPr>
                        </m:sSubSupPr>
                        <m:e>
                          <m:r>
                            <a:rPr lang="en-US" altLang="zh-TW" sz="2400" b="1" i="1" smtClean="0">
                              <a:latin typeface="Cambria Math"/>
                            </a:rPr>
                            <m:t>𝑷</m:t>
                          </m:r>
                        </m:e>
                        <m:sub>
                          <m:r>
                            <a:rPr lang="en-US" altLang="zh-TW" sz="2400" b="1" i="1" smtClean="0">
                              <a:latin typeface="Cambria Math"/>
                            </a:rPr>
                            <m:t>𝒕</m:t>
                          </m:r>
                        </m:sub>
                        <m:sup>
                          <m:r>
                            <a:rPr lang="en-US" altLang="zh-TW" sz="2400" b="1" i="1" smtClean="0">
                              <a:latin typeface="Cambria Math"/>
                            </a:rPr>
                            <m:t>−</m:t>
                          </m:r>
                        </m:sup>
                      </m:sSubSup>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𝑲</m:t>
                          </m:r>
                        </m:e>
                        <m:sub>
                          <m:r>
                            <a:rPr lang="en-US" altLang="zh-TW" sz="2400" b="1" i="1" smtClean="0">
                              <a:latin typeface="Cambria Math"/>
                            </a:rPr>
                            <m:t>𝒕</m:t>
                          </m:r>
                        </m:sub>
                      </m:sSub>
                      <m:sSub>
                        <m:sSubPr>
                          <m:ctrlPr>
                            <a:rPr lang="en-US" altLang="zh-TW" sz="2400" b="1" i="1" smtClean="0">
                              <a:latin typeface="Cambria Math" panose="02040503050406030204" pitchFamily="18" charset="0"/>
                            </a:rPr>
                          </m:ctrlPr>
                        </m:sSubPr>
                        <m:e>
                          <m:r>
                            <a:rPr lang="en-US" altLang="zh-TW" sz="2400" b="1" i="1" smtClean="0">
                              <a:latin typeface="Cambria Math"/>
                            </a:rPr>
                            <m:t>𝑯</m:t>
                          </m:r>
                        </m:e>
                        <m:sub>
                          <m:r>
                            <a:rPr lang="en-US" altLang="zh-TW" sz="2400" b="1" i="1" smtClean="0">
                              <a:latin typeface="Cambria Math"/>
                            </a:rPr>
                            <m:t>𝒕</m:t>
                          </m:r>
                        </m:sub>
                      </m:sSub>
                      <m:sSubSup>
                        <m:sSubSupPr>
                          <m:ctrlPr>
                            <a:rPr lang="en-US" altLang="zh-TW" sz="2400" b="1" i="1" smtClean="0">
                              <a:latin typeface="Cambria Math" panose="02040503050406030204" pitchFamily="18" charset="0"/>
                            </a:rPr>
                          </m:ctrlPr>
                        </m:sSubSupPr>
                        <m:e>
                          <m:r>
                            <a:rPr lang="en-US" altLang="zh-TW" sz="2400" b="1" i="1" smtClean="0">
                              <a:latin typeface="Cambria Math"/>
                            </a:rPr>
                            <m:t>𝑷</m:t>
                          </m:r>
                        </m:e>
                        <m:sub>
                          <m:r>
                            <a:rPr lang="en-US" altLang="zh-TW" sz="2400" b="1" i="1" smtClean="0">
                              <a:latin typeface="Cambria Math"/>
                            </a:rPr>
                            <m:t>𝒕</m:t>
                          </m:r>
                        </m:sub>
                        <m:sup>
                          <m:r>
                            <a:rPr lang="en-US" altLang="zh-TW" sz="2400" b="1" i="1" smtClean="0">
                              <a:latin typeface="Cambria Math"/>
                            </a:rPr>
                            <m:t>−</m:t>
                          </m:r>
                        </m:sup>
                      </m:sSubSup>
                      <m:r>
                        <a:rPr lang="en-US" altLang="zh-TW" sz="2400" b="1" i="1" smtClean="0">
                          <a:latin typeface="Cambria Math"/>
                        </a:rPr>
                        <m:t>−</m:t>
                      </m:r>
                      <m:sSubSup>
                        <m:sSubSupPr>
                          <m:ctrlPr>
                            <a:rPr lang="en-US" altLang="zh-TW" sz="2400" b="1" i="1" smtClean="0">
                              <a:latin typeface="Cambria Math" panose="02040503050406030204" pitchFamily="18" charset="0"/>
                            </a:rPr>
                          </m:ctrlPr>
                        </m:sSubSupPr>
                        <m:e>
                          <m:r>
                            <a:rPr lang="en-US" altLang="zh-TW" sz="2400" b="1" i="1" smtClean="0">
                              <a:latin typeface="Cambria Math"/>
                            </a:rPr>
                            <m:t>𝑷</m:t>
                          </m:r>
                        </m:e>
                        <m:sub>
                          <m:r>
                            <a:rPr lang="en-US" altLang="zh-TW" sz="2400" b="1" i="1" smtClean="0">
                              <a:latin typeface="Cambria Math"/>
                            </a:rPr>
                            <m:t>𝒕</m:t>
                          </m:r>
                        </m:sub>
                        <m:sup>
                          <m:r>
                            <a:rPr lang="en-US" altLang="zh-TW" sz="2400" b="1" i="1" smtClean="0">
                              <a:latin typeface="Cambria Math" panose="02040503050406030204" pitchFamily="18" charset="0"/>
                            </a:rPr>
                            <m:t>−</m:t>
                          </m:r>
                        </m:sup>
                      </m:sSubSup>
                      <m:sSubSup>
                        <m:sSubSupPr>
                          <m:ctrlPr>
                            <a:rPr lang="en-US" altLang="zh-TW" sz="2400" b="1" i="1" smtClean="0">
                              <a:latin typeface="Cambria Math" panose="02040503050406030204" pitchFamily="18" charset="0"/>
                            </a:rPr>
                          </m:ctrlPr>
                        </m:sSubSupPr>
                        <m:e>
                          <m:r>
                            <a:rPr lang="en-US" altLang="zh-TW" sz="2400" b="1" i="1" smtClean="0">
                              <a:latin typeface="Cambria Math"/>
                            </a:rPr>
                            <m:t>𝑯</m:t>
                          </m:r>
                        </m:e>
                        <m:sub>
                          <m:r>
                            <a:rPr lang="en-US" altLang="zh-TW" sz="2400" b="1" i="1" smtClean="0">
                              <a:latin typeface="Cambria Math"/>
                            </a:rPr>
                            <m:t>𝒕</m:t>
                          </m:r>
                        </m:sub>
                        <m:sup>
                          <m:r>
                            <a:rPr lang="en-US" altLang="zh-TW" sz="2400" b="1" i="1" smtClean="0">
                              <a:latin typeface="Cambria Math"/>
                            </a:rPr>
                            <m:t>𝑻</m:t>
                          </m:r>
                        </m:sup>
                      </m:sSubSup>
                      <m:sSubSup>
                        <m:sSubSupPr>
                          <m:ctrlPr>
                            <a:rPr lang="en-US" altLang="zh-TW" sz="2400" b="1" i="1" smtClean="0">
                              <a:latin typeface="Cambria Math" panose="02040503050406030204" pitchFamily="18" charset="0"/>
                            </a:rPr>
                          </m:ctrlPr>
                        </m:sSubSupPr>
                        <m:e>
                          <m:r>
                            <a:rPr lang="en-US" altLang="zh-TW" sz="2400" b="1" i="1" smtClean="0">
                              <a:latin typeface="Cambria Math"/>
                            </a:rPr>
                            <m:t>𝑲</m:t>
                          </m:r>
                        </m:e>
                        <m:sub>
                          <m:r>
                            <a:rPr lang="en-US" altLang="zh-TW" sz="2400" b="1" i="1" smtClean="0">
                              <a:latin typeface="Cambria Math"/>
                            </a:rPr>
                            <m:t>𝒕</m:t>
                          </m:r>
                        </m:sub>
                        <m:sup>
                          <m:r>
                            <a:rPr lang="en-US" altLang="zh-TW" sz="2400" b="1" i="1" smtClean="0">
                              <a:latin typeface="Cambria Math"/>
                            </a:rPr>
                            <m:t>𝑻</m:t>
                          </m:r>
                        </m:sup>
                      </m:sSubSup>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𝑲</m:t>
                          </m:r>
                        </m:e>
                        <m:sub>
                          <m:r>
                            <a:rPr lang="en-US" altLang="zh-TW" sz="2400" b="1" i="1" smtClean="0">
                              <a:latin typeface="Cambria Math"/>
                            </a:rPr>
                            <m:t>𝒕</m:t>
                          </m:r>
                        </m:sub>
                      </m:sSub>
                      <m:d>
                        <m:dPr>
                          <m:ctrlPr>
                            <a:rPr lang="en-US" altLang="zh-TW" sz="2400" b="1" i="1" smtClean="0">
                              <a:latin typeface="Cambria Math" panose="02040503050406030204" pitchFamily="18" charset="0"/>
                            </a:rPr>
                          </m:ctrlPr>
                        </m:dPr>
                        <m:e>
                          <m:sSub>
                            <m:sSubPr>
                              <m:ctrlPr>
                                <a:rPr lang="en-US" altLang="zh-TW" sz="2400" b="1" i="1" smtClean="0">
                                  <a:latin typeface="Cambria Math" panose="02040503050406030204" pitchFamily="18" charset="0"/>
                                </a:rPr>
                              </m:ctrlPr>
                            </m:sSubPr>
                            <m:e>
                              <m:r>
                                <a:rPr lang="en-US" altLang="zh-TW" sz="2400" b="1" i="1" smtClean="0">
                                  <a:latin typeface="Cambria Math"/>
                                </a:rPr>
                                <m:t>𝑯</m:t>
                              </m:r>
                            </m:e>
                            <m:sub>
                              <m:r>
                                <a:rPr lang="en-US" altLang="zh-TW" sz="2400" b="1" i="1" smtClean="0">
                                  <a:latin typeface="Cambria Math"/>
                                </a:rPr>
                                <m:t>𝒕</m:t>
                              </m:r>
                            </m:sub>
                          </m:sSub>
                          <m:sSubSup>
                            <m:sSubSupPr>
                              <m:ctrlPr>
                                <a:rPr lang="en-US" altLang="zh-TW" sz="2400" b="1" i="1" smtClean="0">
                                  <a:latin typeface="Cambria Math" panose="02040503050406030204" pitchFamily="18" charset="0"/>
                                </a:rPr>
                              </m:ctrlPr>
                            </m:sSubSupPr>
                            <m:e>
                              <m:r>
                                <a:rPr lang="en-US" altLang="zh-TW" sz="2400" b="1" i="1" smtClean="0">
                                  <a:latin typeface="Cambria Math"/>
                                </a:rPr>
                                <m:t>𝑷</m:t>
                              </m:r>
                            </m:e>
                            <m:sub>
                              <m:r>
                                <a:rPr lang="en-US" altLang="zh-TW" sz="2400" b="1" i="1" smtClean="0">
                                  <a:latin typeface="Cambria Math"/>
                                </a:rPr>
                                <m:t>𝒕</m:t>
                              </m:r>
                            </m:sub>
                            <m:sup>
                              <m:r>
                                <a:rPr lang="en-US" altLang="zh-TW" sz="2400" b="1" i="1" smtClean="0">
                                  <a:latin typeface="Cambria Math"/>
                                </a:rPr>
                                <m:t>−</m:t>
                              </m:r>
                            </m:sup>
                          </m:sSubSup>
                          <m:sSubSup>
                            <m:sSubSupPr>
                              <m:ctrlPr>
                                <a:rPr lang="en-US" altLang="zh-TW" sz="2400" b="1" i="1" smtClean="0">
                                  <a:latin typeface="Cambria Math" panose="02040503050406030204" pitchFamily="18" charset="0"/>
                                </a:rPr>
                              </m:ctrlPr>
                            </m:sSubSupPr>
                            <m:e>
                              <m:r>
                                <a:rPr lang="en-US" altLang="zh-TW" sz="2400" b="1" i="1" smtClean="0">
                                  <a:latin typeface="Cambria Math"/>
                                </a:rPr>
                                <m:t>𝑯</m:t>
                              </m:r>
                            </m:e>
                            <m:sub>
                              <m:r>
                                <a:rPr lang="en-US" altLang="zh-TW" sz="2400" b="1" i="1" smtClean="0">
                                  <a:latin typeface="Cambria Math"/>
                                </a:rPr>
                                <m:t>𝒕</m:t>
                              </m:r>
                            </m:sub>
                            <m:sup>
                              <m:r>
                                <a:rPr lang="en-US" altLang="zh-TW" sz="2400" b="1" i="1" smtClean="0">
                                  <a:latin typeface="Cambria Math"/>
                                </a:rPr>
                                <m:t>𝑻</m:t>
                              </m:r>
                            </m:sup>
                          </m:sSubSup>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𝑹</m:t>
                              </m:r>
                            </m:e>
                            <m:sub>
                              <m:r>
                                <a:rPr lang="en-US" altLang="zh-TW" sz="2400" b="1" i="1" smtClean="0">
                                  <a:latin typeface="Cambria Math"/>
                                </a:rPr>
                                <m:t>𝒕</m:t>
                              </m:r>
                            </m:sub>
                          </m:sSub>
                        </m:e>
                      </m:d>
                      <m:sSubSup>
                        <m:sSubSupPr>
                          <m:ctrlPr>
                            <a:rPr lang="en-US" altLang="zh-TW" sz="2400" b="1" i="1" smtClean="0">
                              <a:latin typeface="Cambria Math" panose="02040503050406030204" pitchFamily="18" charset="0"/>
                            </a:rPr>
                          </m:ctrlPr>
                        </m:sSubSupPr>
                        <m:e>
                          <m:r>
                            <a:rPr lang="en-US" altLang="zh-TW" sz="2400" b="1" i="1" smtClean="0">
                              <a:latin typeface="Cambria Math"/>
                            </a:rPr>
                            <m:t>𝑲</m:t>
                          </m:r>
                        </m:e>
                        <m:sub>
                          <m:r>
                            <a:rPr lang="en-US" altLang="zh-TW" sz="2400" b="1" i="1" smtClean="0">
                              <a:latin typeface="Cambria Math"/>
                            </a:rPr>
                            <m:t>𝒕</m:t>
                          </m:r>
                        </m:sub>
                        <m:sup>
                          <m:r>
                            <a:rPr lang="en-US" altLang="zh-TW" sz="2400" b="1" i="1" smtClean="0">
                              <a:latin typeface="Cambria Math"/>
                            </a:rPr>
                            <m:t>𝑻</m:t>
                          </m:r>
                        </m:sup>
                      </m:sSubSup>
                    </m:oMath>
                  </m:oMathPara>
                </a14:m>
                <a:endParaRPr lang="en-US" altLang="zh-TW" sz="2400" dirty="0" smtClean="0"/>
              </a:p>
              <a:p>
                <a:endParaRPr lang="zh-TW" altLang="en-US" sz="2400" b="1" dirty="0"/>
              </a:p>
            </p:txBody>
          </p:sp>
        </mc:Choice>
        <mc:Fallback>
          <p:sp>
            <p:nvSpPr>
              <p:cNvPr id="3" name="文字方塊 2"/>
              <p:cNvSpPr txBox="1">
                <a:spLocks noRot="1" noChangeAspect="1" noMove="1" noResize="1" noEditPoints="1" noAdjustHandles="1" noChangeArrowheads="1" noChangeShapeType="1" noTextEdit="1"/>
              </p:cNvSpPr>
              <p:nvPr/>
            </p:nvSpPr>
            <p:spPr>
              <a:xfrm>
                <a:off x="404715" y="1576345"/>
                <a:ext cx="11382569" cy="4185185"/>
              </a:xfrm>
              <a:prstGeom prst="rect">
                <a:avLst/>
              </a:prstGeom>
              <a:blipFill rotWithShape="0">
                <a:blip r:embed="rId2"/>
                <a:stretch>
                  <a:fillRect l="-803" t="-1312" r="-428"/>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5" name="圓角矩形 4"/>
              <p:cNvSpPr/>
              <p:nvPr/>
            </p:nvSpPr>
            <p:spPr>
              <a:xfrm>
                <a:off x="5266630" y="618186"/>
                <a:ext cx="5937992" cy="83712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14:m>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𝑨</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r>
                          <a:rPr lang="en-US" altLang="zh-TW" sz="2400" b="1" i="1">
                            <a:latin typeface="Cambria Math"/>
                          </a:rPr>
                          <m:t>−</m:t>
                        </m:r>
                        <m:r>
                          <a:rPr lang="en-US" altLang="zh-TW" sz="2400" b="1" i="1">
                            <a:latin typeface="Cambria Math"/>
                          </a:rPr>
                          <m:t>𝟏</m:t>
                        </m:r>
                      </m:sub>
                    </m:sSub>
                    <m:r>
                      <a:rPr lang="en-US" altLang="zh-TW" sz="2400" b="1"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𝑩</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𝒖</m:t>
                        </m:r>
                      </m:e>
                      <m:sub>
                        <m:r>
                          <a:rPr lang="en-US" altLang="zh-TW" sz="2400" b="1" i="1" smtClean="0">
                            <a:latin typeface="Cambria Math"/>
                          </a:rPr>
                          <m:t>𝒕</m:t>
                        </m:r>
                      </m:sub>
                    </m:sSub>
                    <m:r>
                      <a:rPr lang="en-US" altLang="zh-TW" sz="2400" b="1"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𝒘</m:t>
                        </m:r>
                      </m:e>
                      <m:sub>
                        <m:r>
                          <a:rPr lang="en-US" altLang="zh-TW" sz="2400" b="1" i="1" smtClean="0">
                            <a:latin typeface="Cambria Math"/>
                          </a:rPr>
                          <m:t>𝒕</m:t>
                        </m:r>
                      </m:sub>
                    </m:sSub>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𝒘</m:t>
                        </m:r>
                      </m:e>
                      <m:sub>
                        <m:r>
                          <a:rPr lang="en-US" altLang="zh-TW" sz="2400" b="1" i="1" smtClean="0">
                            <a:latin typeface="Cambria Math"/>
                          </a:rPr>
                          <m:t>𝒕</m:t>
                        </m:r>
                      </m:sub>
                    </m:sSub>
                    <m:r>
                      <a:rPr lang="en-US" altLang="zh-TW" sz="2400" b="1" i="1" smtClean="0">
                        <a:latin typeface="Cambria Math"/>
                      </a:rPr>
                      <m:t>~</m:t>
                    </m:r>
                    <m:r>
                      <a:rPr lang="en-US" altLang="zh-TW" sz="2400" b="1" i="1" smtClean="0">
                        <a:latin typeface="Cambria Math"/>
                      </a:rPr>
                      <m:t>𝑵</m:t>
                    </m:r>
                    <m:r>
                      <a:rPr lang="en-US" altLang="zh-TW" sz="2400" b="1" i="1" smtClean="0">
                        <a:latin typeface="Cambria Math"/>
                      </a:rPr>
                      <m:t>(</m:t>
                    </m:r>
                    <m:r>
                      <a:rPr lang="en-US" altLang="zh-TW" sz="2400" b="1" i="1" smtClean="0">
                        <a:latin typeface="Cambria Math"/>
                      </a:rPr>
                      <m:t>𝟎</m:t>
                    </m:r>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𝑸</m:t>
                        </m:r>
                      </m:e>
                      <m:sub>
                        <m:r>
                          <a:rPr lang="en-US" altLang="zh-TW" sz="2400" b="1" i="1" smtClean="0">
                            <a:latin typeface="Cambria Math"/>
                          </a:rPr>
                          <m:t>𝒕</m:t>
                        </m:r>
                      </m:sub>
                    </m:sSub>
                    <m:r>
                      <a:rPr lang="en-US" altLang="zh-TW" sz="2400" b="1" i="1" smtClean="0">
                        <a:latin typeface="Cambria Math"/>
                      </a:rPr>
                      <m:t>)</m:t>
                    </m:r>
                  </m:oMath>
                </a14:m>
                <a:r>
                  <a:rPr lang="en-US" altLang="zh-TW" sz="2400" b="1" dirty="0" smtClean="0"/>
                  <a:t/>
                </a:r>
                <a:endParaRPr lang="en-US" altLang="zh-TW" sz="2400" b="1" i="1" dirty="0" smtClean="0">
                  <a:latin typeface="Cambria Math"/>
                </a:endParaRPr>
              </a:p>
              <a:p>
                <a:pPr/>
                <a14:m>
                  <m:oMathPara xmlns:m="http://schemas.openxmlformats.org/officeDocument/2006/math">
                    <m:oMathParaPr>
                      <m:jc m:val="left"/>
                    </m:oMathParaPr>
                    <m:oMath xmlns:m="http://schemas.openxmlformats.org/officeDocument/2006/math">
                      <m:sSub>
                        <m:sSubPr>
                          <m:ctrlPr>
                            <a:rPr lang="en-US" altLang="zh-TW" sz="2400" b="1" i="1">
                              <a:latin typeface="Cambria Math" panose="02040503050406030204" pitchFamily="18" charset="0"/>
                            </a:rPr>
                          </m:ctrlPr>
                        </m:sSubPr>
                        <m:e>
                          <m:r>
                            <a:rPr lang="en-US" altLang="zh-TW" sz="2400" b="1" i="1" smtClean="0">
                              <a:latin typeface="Cambria Math" panose="02040503050406030204" pitchFamily="18" charset="0"/>
                            </a:rPr>
                            <m:t>𝒛</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𝑯</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𝒗</m:t>
                          </m:r>
                        </m:e>
                        <m:sub>
                          <m:r>
                            <a:rPr lang="en-US" altLang="zh-TW" sz="2400" b="1" i="1" smtClean="0">
                              <a:latin typeface="Cambria Math"/>
                            </a:rPr>
                            <m:t>𝒕</m:t>
                          </m:r>
                        </m:sub>
                      </m:sSub>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𝒗</m:t>
                          </m:r>
                        </m:e>
                        <m:sub>
                          <m:r>
                            <a:rPr lang="en-US" altLang="zh-TW" sz="2400" b="1" i="1" smtClean="0">
                              <a:latin typeface="Cambria Math"/>
                            </a:rPr>
                            <m:t>𝒕</m:t>
                          </m:r>
                        </m:sub>
                      </m:sSub>
                      <m:r>
                        <a:rPr lang="en-US" altLang="zh-TW" sz="2400" b="1" i="1" smtClean="0">
                          <a:latin typeface="Cambria Math"/>
                        </a:rPr>
                        <m:t>~</m:t>
                      </m:r>
                      <m:r>
                        <a:rPr lang="en-US" altLang="zh-TW" sz="2400" b="1" i="1" smtClean="0">
                          <a:latin typeface="Cambria Math"/>
                        </a:rPr>
                        <m:t>𝑵</m:t>
                      </m:r>
                      <m:r>
                        <a:rPr lang="en-US" altLang="zh-TW" sz="2400" b="1" i="1" smtClean="0">
                          <a:latin typeface="Cambria Math"/>
                        </a:rPr>
                        <m:t>(</m:t>
                      </m:r>
                      <m:r>
                        <a:rPr lang="en-US" altLang="zh-TW" sz="2400" b="1" i="1" smtClean="0">
                          <a:latin typeface="Cambria Math"/>
                        </a:rPr>
                        <m:t>𝟎</m:t>
                      </m:r>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𝑹</m:t>
                          </m:r>
                        </m:e>
                        <m:sub>
                          <m:r>
                            <a:rPr lang="en-US" altLang="zh-TW" sz="2400" b="1" i="1" smtClean="0">
                              <a:latin typeface="Cambria Math"/>
                            </a:rPr>
                            <m:t>𝒕</m:t>
                          </m:r>
                        </m:sub>
                      </m:sSub>
                      <m:r>
                        <a:rPr lang="en-US" altLang="zh-TW" sz="2400" b="1" i="1" smtClean="0">
                          <a:latin typeface="Cambria Math"/>
                        </a:rPr>
                        <m:t>)</m:t>
                      </m:r>
                    </m:oMath>
                  </m:oMathPara>
                </a14:m>
                <a:endParaRPr lang="zh-TW" altLang="en-US" sz="2400" dirty="0"/>
              </a:p>
            </p:txBody>
          </p:sp>
        </mc:Choice>
        <mc:Fallback>
          <p:sp>
            <p:nvSpPr>
              <p:cNvPr id="5" name="圓角矩形 4"/>
              <p:cNvSpPr>
                <a:spLocks noRot="1" noChangeAspect="1" noMove="1" noResize="1" noEditPoints="1" noAdjustHandles="1" noChangeArrowheads="1" noChangeShapeType="1" noTextEdit="1"/>
              </p:cNvSpPr>
              <p:nvPr/>
            </p:nvSpPr>
            <p:spPr>
              <a:xfrm>
                <a:off x="5266630" y="618186"/>
                <a:ext cx="5937992" cy="837127"/>
              </a:xfrm>
              <a:prstGeom prst="roundRect">
                <a:avLst/>
              </a:prstGeom>
              <a:blipFill rotWithShape="1">
                <a:blip r:embed="rId3"/>
                <a:stretch>
                  <a:fillRect b="-86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28713391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Kalman gain</a:t>
            </a:r>
            <a:endParaRPr lang="zh-TW" altLang="en-US" dirty="0"/>
          </a:p>
        </p:txBody>
      </p:sp>
      <mc:AlternateContent xmlns:mc="http://schemas.openxmlformats.org/markup-compatibility/2006">
        <mc:Choice xmlns:a14="http://schemas.microsoft.com/office/drawing/2010/main" xmlns="" Requires="a14">
          <p:sp>
            <p:nvSpPr>
              <p:cNvPr id="3" name="矩形 2"/>
              <p:cNvSpPr/>
              <p:nvPr/>
            </p:nvSpPr>
            <p:spPr>
              <a:xfrm>
                <a:off x="1051774" y="1690688"/>
                <a:ext cx="10302025" cy="4037708"/>
              </a:xfrm>
              <a:prstGeom prst="rect">
                <a:avLst/>
              </a:prstGeom>
            </p:spPr>
            <p:txBody>
              <a:bodyPr wrap="square">
                <a:spAutoFit/>
              </a:bodyPr>
              <a:lstStyle/>
              <a:p>
                <a:pPr>
                  <a:lnSpc>
                    <a:spcPct val="120000"/>
                  </a:lnSpc>
                </a:pPr>
                <a:r>
                  <a:rPr lang="en-US" altLang="zh-TW" sz="2400" dirty="0" smtClean="0">
                    <a:solidFill>
                      <a:srgbClr val="FF0000"/>
                    </a:solidFill>
                  </a:rPr>
                  <a:t>To get best Kalman </a:t>
                </a:r>
                <a14:m>
                  <m:oMath xmlns:m="http://schemas.openxmlformats.org/officeDocument/2006/math">
                    <m:sSubSup>
                      <m:sSubSupPr>
                        <m:ctrlPr>
                          <a:rPr lang="en-US" altLang="zh-TW" sz="2400" b="0" i="1" smtClean="0">
                            <a:solidFill>
                              <a:srgbClr val="FF0000"/>
                            </a:solidFill>
                            <a:latin typeface="Cambria Math" panose="02040503050406030204" pitchFamily="18" charset="0"/>
                          </a:rPr>
                        </m:ctrlPr>
                      </m:sSubSupPr>
                      <m:e>
                        <m:r>
                          <a:rPr lang="en-US" altLang="zh-TW" sz="2400" b="0" i="1" smtClean="0">
                            <a:solidFill>
                              <a:srgbClr val="FF0000"/>
                            </a:solidFill>
                            <a:latin typeface="Cambria Math" panose="02040503050406030204" pitchFamily="18" charset="0"/>
                          </a:rPr>
                          <m:t>𝐾</m:t>
                        </m:r>
                      </m:e>
                      <m:sub>
                        <m:r>
                          <a:rPr lang="en-US" altLang="zh-TW" sz="2400" b="0" i="1" smtClean="0">
                            <a:solidFill>
                              <a:srgbClr val="FF0000"/>
                            </a:solidFill>
                            <a:latin typeface="Cambria Math"/>
                          </a:rPr>
                          <m:t>𝑡</m:t>
                        </m:r>
                      </m:sub>
                      <m:sup>
                        <m:r>
                          <a:rPr lang="en-US" altLang="zh-TW" sz="2400" b="0" i="1" smtClean="0">
                            <a:solidFill>
                              <a:srgbClr val="FF0000"/>
                            </a:solidFill>
                            <a:latin typeface="Cambria Math" panose="02040503050406030204" pitchFamily="18" charset="0"/>
                          </a:rPr>
                          <m:t>∗</m:t>
                        </m:r>
                      </m:sup>
                    </m:sSubSup>
                  </m:oMath>
                </a14:m>
                <a:r>
                  <a:rPr lang="en-US" altLang="zh-TW" sz="2400" dirty="0" smtClean="0">
                    <a:solidFill>
                      <a:srgbClr val="FF0000"/>
                    </a:solidFill>
                  </a:rPr>
                  <a:t> equivalent to </a:t>
                </a:r>
                <a:r>
                  <a:rPr lang="en-US" altLang="zh-TW" sz="2400" b="1" dirty="0" smtClean="0">
                    <a:solidFill>
                      <a:srgbClr val="FF0000"/>
                    </a:solidFill>
                  </a:rPr>
                  <a:t>minimize</a:t>
                </a:r>
                <a:r>
                  <a:rPr lang="en-US" altLang="zh-TW" sz="2400" dirty="0" smtClean="0">
                    <a:solidFill>
                      <a:srgbClr val="FF0000"/>
                    </a:solidFill>
                  </a:rPr>
                  <a:t> the a </a:t>
                </a:r>
                <a:r>
                  <a:rPr lang="en-US" altLang="zh-TW" sz="2400" dirty="0" err="1" smtClean="0">
                    <a:solidFill>
                      <a:srgbClr val="FF0000"/>
                    </a:solidFill>
                  </a:rPr>
                  <a:t>posteror</a:t>
                </a:r>
                <a:r>
                  <a:rPr lang="en-US" altLang="zh-TW" sz="2400" dirty="0" smtClean="0">
                    <a:solidFill>
                      <a:srgbClr val="FF0000"/>
                    </a:solidFill>
                  </a:rPr>
                  <a:t> error </a:t>
                </a:r>
                <a14:m>
                  <m:oMath xmlns:m="http://schemas.openxmlformats.org/officeDocument/2006/math">
                    <m:sSubSup>
                      <m:sSubSupPr>
                        <m:ctrlPr>
                          <a:rPr lang="en-US" altLang="zh-TW" sz="2400" b="1" i="1" smtClean="0">
                            <a:solidFill>
                              <a:srgbClr val="FF0000"/>
                            </a:solidFill>
                            <a:latin typeface="Cambria Math" panose="02040503050406030204" pitchFamily="18" charset="0"/>
                          </a:rPr>
                        </m:ctrlPr>
                      </m:sSubSupPr>
                      <m:e>
                        <m:r>
                          <a:rPr lang="en-US" altLang="zh-TW" sz="2400" b="1" i="1" smtClean="0">
                            <a:solidFill>
                              <a:srgbClr val="FF0000"/>
                            </a:solidFill>
                            <a:latin typeface="Cambria Math" panose="02040503050406030204" pitchFamily="18" charset="0"/>
                          </a:rPr>
                          <m:t>𝑷</m:t>
                        </m:r>
                      </m:e>
                      <m:sub>
                        <m:r>
                          <a:rPr lang="en-US" altLang="zh-TW" sz="2400" b="1" i="1" smtClean="0">
                            <a:solidFill>
                              <a:srgbClr val="FF0000"/>
                            </a:solidFill>
                            <a:latin typeface="Cambria Math"/>
                          </a:rPr>
                          <m:t>𝒕</m:t>
                        </m:r>
                      </m:sub>
                      <m:sup>
                        <m:r>
                          <a:rPr lang="en-US" altLang="zh-TW" sz="2400" b="1" i="1" smtClean="0">
                            <a:solidFill>
                              <a:srgbClr val="FF0000"/>
                            </a:solidFill>
                            <a:latin typeface="Cambria Math" panose="02040503050406030204" pitchFamily="18" charset="0"/>
                          </a:rPr>
                          <m:t>+</m:t>
                        </m:r>
                      </m:sup>
                    </m:sSubSup>
                  </m:oMath>
                </a14:m>
                <a:r>
                  <a:rPr lang="en-US" altLang="zh-TW" sz="2400" b="1" dirty="0" smtClean="0"/>
                  <a:t>.</a:t>
                </a:r>
              </a:p>
              <a:p>
                <a:pPr>
                  <a:lnSpc>
                    <a:spcPct val="120000"/>
                  </a:lnSpc>
                </a:pPr>
                <a:r>
                  <a:rPr lang="en-US" altLang="zh-TW" sz="2400" b="1" dirty="0" smtClean="0"/>
                  <a:t>i.e. minimize </a:t>
                </a:r>
                <a14:m>
                  <m:oMath xmlns:m="http://schemas.openxmlformats.org/officeDocument/2006/math">
                    <m:r>
                      <a:rPr lang="en-US" altLang="zh-TW" sz="2400" b="1" i="1" smtClean="0">
                        <a:latin typeface="Cambria Math" panose="02040503050406030204" pitchFamily="18" charset="0"/>
                      </a:rPr>
                      <m:t>𝑬</m:t>
                    </m:r>
                    <m:d>
                      <m:dPr>
                        <m:ctrlPr>
                          <a:rPr lang="en-US" altLang="zh-TW" sz="2400" b="1" i="1" smtClean="0">
                            <a:latin typeface="Cambria Math" panose="02040503050406030204" pitchFamily="18" charset="0"/>
                          </a:rPr>
                        </m:ctrlPr>
                      </m:dPr>
                      <m:e>
                        <m:sSup>
                          <m:sSupPr>
                            <m:ctrlPr>
                              <a:rPr lang="en-US" altLang="zh-TW" sz="2400" b="1" i="1" smtClean="0">
                                <a:latin typeface="Cambria Math" panose="02040503050406030204" pitchFamily="18" charset="0"/>
                              </a:rPr>
                            </m:ctrlPr>
                          </m:sSupPr>
                          <m:e>
                            <m:d>
                              <m:dPr>
                                <m:begChr m:val="‖"/>
                                <m:endChr m:val="‖"/>
                                <m:ctrlPr>
                                  <a:rPr lang="en-US" altLang="zh-TW" sz="2400" b="1" i="1" smtClean="0">
                                    <a:latin typeface="Cambria Math" panose="02040503050406030204" pitchFamily="18" charset="0"/>
                                  </a:rPr>
                                </m:ctrlPr>
                              </m:dPr>
                              <m:e>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𝒙</m:t>
                                    </m:r>
                                  </m:e>
                                  <m:sub>
                                    <m:r>
                                      <a:rPr lang="en-US" altLang="zh-TW" sz="2400" b="1" i="1" smtClean="0">
                                        <a:latin typeface="Cambria Math"/>
                                      </a:rPr>
                                      <m:t>𝒕</m:t>
                                    </m:r>
                                  </m:sub>
                                </m:sSub>
                                <m:r>
                                  <a:rPr lang="en-US" altLang="zh-TW" sz="2400" b="1" i="1" smtClean="0">
                                    <a:latin typeface="Cambria Math" panose="02040503050406030204" pitchFamily="18" charset="0"/>
                                  </a:rPr>
                                  <m:t>−</m:t>
                                </m:r>
                                <m:sSubSup>
                                  <m:sSubSupPr>
                                    <m:ctrlPr>
                                      <a:rPr lang="en-US" altLang="zh-TW" sz="2400" b="1" i="1" smtClean="0">
                                        <a:latin typeface="Cambria Math" panose="02040503050406030204" pitchFamily="18" charset="0"/>
                                      </a:rPr>
                                    </m:ctrlPr>
                                  </m:sSubSupPr>
                                  <m:e>
                                    <m:acc>
                                      <m:accPr>
                                        <m:chr m:val="̂"/>
                                        <m:ctrlPr>
                                          <a:rPr lang="en-US" altLang="zh-TW" sz="2400" b="1" i="1" smtClean="0">
                                            <a:latin typeface="Cambria Math" panose="02040503050406030204" pitchFamily="18" charset="0"/>
                                          </a:rPr>
                                        </m:ctrlPr>
                                      </m:accPr>
                                      <m:e>
                                        <m:r>
                                          <a:rPr lang="en-US" altLang="zh-TW" sz="2400" b="1" i="1" smtClean="0">
                                            <a:latin typeface="Cambria Math" panose="02040503050406030204" pitchFamily="18" charset="0"/>
                                          </a:rPr>
                                          <m:t>𝒙</m:t>
                                        </m:r>
                                      </m:e>
                                    </m:acc>
                                  </m:e>
                                  <m:sub>
                                    <m:r>
                                      <a:rPr lang="en-US" altLang="zh-TW" sz="2400" b="1" i="1" smtClean="0">
                                        <a:latin typeface="Cambria Math"/>
                                      </a:rPr>
                                      <m:t>𝒕</m:t>
                                    </m:r>
                                  </m:sub>
                                  <m:sup>
                                    <m:r>
                                      <a:rPr lang="en-US" altLang="zh-TW" sz="2400" b="1" i="1" smtClean="0">
                                        <a:latin typeface="Cambria Math" panose="02040503050406030204" pitchFamily="18" charset="0"/>
                                      </a:rPr>
                                      <m:t>+</m:t>
                                    </m:r>
                                  </m:sup>
                                </m:sSubSup>
                              </m:e>
                            </m:d>
                          </m:e>
                          <m:sup>
                            <m:r>
                              <a:rPr lang="en-US" altLang="zh-TW" sz="2400" b="1" i="1" smtClean="0">
                                <a:latin typeface="Cambria Math" panose="02040503050406030204" pitchFamily="18" charset="0"/>
                              </a:rPr>
                              <m:t>𝟐</m:t>
                            </m:r>
                          </m:sup>
                        </m:sSup>
                      </m:e>
                    </m:d>
                    <m:r>
                      <a:rPr lang="en-US" altLang="zh-TW" sz="2400" b="1" i="1" smtClean="0">
                        <a:latin typeface="Cambria Math" panose="02040503050406030204" pitchFamily="18" charset="0"/>
                        <a:ea typeface="Cambria Math" panose="02040503050406030204" pitchFamily="18" charset="0"/>
                      </a:rPr>
                      <m:t>⟺</m:t>
                    </m:r>
                  </m:oMath>
                </a14:m>
                <a:r>
                  <a:rPr lang="en-US" altLang="zh-TW" sz="2400" b="1" dirty="0" smtClean="0"/>
                  <a:t>minimize the trace of </a:t>
                </a:r>
                <a14:m>
                  <m:oMath xmlns:m="http://schemas.openxmlformats.org/officeDocument/2006/math">
                    <m:sSubSup>
                      <m:sSubSupPr>
                        <m:ctrlPr>
                          <a:rPr lang="en-US" altLang="zh-TW" sz="2400" b="1" i="1" smtClean="0">
                            <a:latin typeface="Cambria Math" panose="02040503050406030204" pitchFamily="18" charset="0"/>
                          </a:rPr>
                        </m:ctrlPr>
                      </m:sSubSupPr>
                      <m:e>
                        <m:r>
                          <a:rPr lang="en-US" altLang="zh-TW" sz="2400" b="1" i="1" smtClean="0">
                            <a:latin typeface="Cambria Math" panose="02040503050406030204" pitchFamily="18" charset="0"/>
                          </a:rPr>
                          <m:t>𝑷</m:t>
                        </m:r>
                      </m:e>
                      <m:sub>
                        <m:r>
                          <a:rPr lang="en-US" altLang="zh-TW" sz="2400" b="1" i="1" smtClean="0">
                            <a:latin typeface="Cambria Math"/>
                          </a:rPr>
                          <m:t>𝒕</m:t>
                        </m:r>
                      </m:sub>
                      <m:sup>
                        <m:r>
                          <a:rPr lang="en-US" altLang="zh-TW" sz="2400" b="1" i="1" smtClean="0">
                            <a:latin typeface="Cambria Math" panose="02040503050406030204" pitchFamily="18" charset="0"/>
                          </a:rPr>
                          <m:t>+</m:t>
                        </m:r>
                      </m:sup>
                    </m:sSubSup>
                  </m:oMath>
                </a14:m>
                <a:endParaRPr lang="en-US" altLang="zh-TW" sz="2400" b="1" dirty="0" smtClean="0"/>
              </a:p>
              <a:p>
                <a:pPr>
                  <a:lnSpc>
                    <a:spcPct val="120000"/>
                  </a:lnSpc>
                </a:pPr>
                <a:endParaRPr lang="en-US" altLang="zh-TW" sz="2400" dirty="0" smtClean="0"/>
              </a:p>
              <a:p>
                <a:pPr>
                  <a:lnSpc>
                    <a:spcPct val="120000"/>
                  </a:lnSpc>
                </a:pPr>
                <a14:m>
                  <m:oMathPara xmlns:m="http://schemas.openxmlformats.org/officeDocument/2006/math">
                    <m:oMathParaPr>
                      <m:jc m:val="left"/>
                    </m:oMathParaPr>
                    <m:oMath xmlns:m="http://schemas.openxmlformats.org/officeDocument/2006/math">
                      <m:r>
                        <a:rPr lang="en-US" altLang="zh-TW" sz="2400" b="1" i="1" smtClean="0">
                          <a:latin typeface="Cambria Math" panose="02040503050406030204" pitchFamily="18" charset="0"/>
                        </a:rPr>
                        <m:t>∵</m:t>
                      </m:r>
                      <m:sSubSup>
                        <m:sSubSupPr>
                          <m:ctrlPr>
                            <a:rPr lang="en-US" altLang="zh-TW" sz="2400" b="1" i="1" smtClean="0">
                              <a:latin typeface="Cambria Math" panose="02040503050406030204" pitchFamily="18" charset="0"/>
                            </a:rPr>
                          </m:ctrlPr>
                        </m:sSubSupPr>
                        <m:e>
                          <m:r>
                            <a:rPr lang="en-US" altLang="zh-TW" sz="2400" b="1" i="1">
                              <a:latin typeface="Cambria Math"/>
                            </a:rPr>
                            <m:t>𝑷</m:t>
                          </m:r>
                        </m:e>
                        <m:sub>
                          <m:r>
                            <a:rPr lang="en-US" altLang="zh-TW" sz="2400" b="1" i="1" smtClean="0">
                              <a:latin typeface="Cambria Math"/>
                            </a:rPr>
                            <m:t>𝒕</m:t>
                          </m:r>
                        </m:sub>
                        <m:sup>
                          <m:r>
                            <a:rPr lang="en-US" altLang="zh-TW" sz="2400" b="1" i="1">
                              <a:latin typeface="Cambria Math"/>
                            </a:rPr>
                            <m:t>+</m:t>
                          </m:r>
                        </m:sup>
                      </m:sSubSup>
                      <m:r>
                        <m:rPr>
                          <m:aln/>
                        </m:rPr>
                        <a:rPr lang="en-US" altLang="zh-TW" sz="2400" b="1" i="1" smtClean="0">
                          <a:latin typeface="Cambria Math" panose="02040503050406030204" pitchFamily="18" charset="0"/>
                        </a:rPr>
                        <m:t>=</m:t>
                      </m:r>
                      <m:sSubSup>
                        <m:sSubSupPr>
                          <m:ctrlPr>
                            <a:rPr lang="en-US" altLang="zh-TW" sz="2400" b="1" i="1" smtClean="0">
                              <a:latin typeface="Cambria Math" panose="02040503050406030204" pitchFamily="18" charset="0"/>
                            </a:rPr>
                          </m:ctrlPr>
                        </m:sSubSupPr>
                        <m:e>
                          <m:r>
                            <a:rPr lang="en-US" altLang="zh-TW" sz="2400" b="1" i="1" smtClean="0">
                              <a:latin typeface="Cambria Math"/>
                            </a:rPr>
                            <m:t>𝑷</m:t>
                          </m:r>
                        </m:e>
                        <m:sub>
                          <m:r>
                            <a:rPr lang="en-US" altLang="zh-TW" sz="2400" b="1" i="1" smtClean="0">
                              <a:latin typeface="Cambria Math"/>
                            </a:rPr>
                            <m:t>𝒕</m:t>
                          </m:r>
                        </m:sub>
                        <m:sup>
                          <m:r>
                            <a:rPr lang="en-US" altLang="zh-TW" sz="2400" b="1" i="1" smtClean="0">
                              <a:latin typeface="Cambria Math"/>
                            </a:rPr>
                            <m:t>−</m:t>
                          </m:r>
                        </m:sup>
                      </m:sSubSup>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𝑲</m:t>
                          </m:r>
                        </m:e>
                        <m:sub>
                          <m:r>
                            <a:rPr lang="en-US" altLang="zh-TW" sz="2400" b="1" i="1" smtClean="0">
                              <a:latin typeface="Cambria Math"/>
                            </a:rPr>
                            <m:t>𝒕</m:t>
                          </m:r>
                        </m:sub>
                      </m:sSub>
                      <m:sSub>
                        <m:sSubPr>
                          <m:ctrlPr>
                            <a:rPr lang="en-US" altLang="zh-TW" sz="2400" b="1" i="1" smtClean="0">
                              <a:latin typeface="Cambria Math" panose="02040503050406030204" pitchFamily="18" charset="0"/>
                            </a:rPr>
                          </m:ctrlPr>
                        </m:sSubPr>
                        <m:e>
                          <m:r>
                            <a:rPr lang="en-US" altLang="zh-TW" sz="2400" b="1" i="1" smtClean="0">
                              <a:latin typeface="Cambria Math"/>
                            </a:rPr>
                            <m:t>𝑯</m:t>
                          </m:r>
                        </m:e>
                        <m:sub>
                          <m:r>
                            <a:rPr lang="en-US" altLang="zh-TW" sz="2400" b="1" i="1" smtClean="0">
                              <a:latin typeface="Cambria Math"/>
                            </a:rPr>
                            <m:t>𝒕</m:t>
                          </m:r>
                        </m:sub>
                      </m:sSub>
                      <m:sSubSup>
                        <m:sSubSupPr>
                          <m:ctrlPr>
                            <a:rPr lang="en-US" altLang="zh-TW" sz="2400" b="1" i="1" smtClean="0">
                              <a:latin typeface="Cambria Math" panose="02040503050406030204" pitchFamily="18" charset="0"/>
                            </a:rPr>
                          </m:ctrlPr>
                        </m:sSubSupPr>
                        <m:e>
                          <m:r>
                            <a:rPr lang="en-US" altLang="zh-TW" sz="2400" b="1" i="1" smtClean="0">
                              <a:latin typeface="Cambria Math"/>
                            </a:rPr>
                            <m:t>𝑷</m:t>
                          </m:r>
                        </m:e>
                        <m:sub>
                          <m:r>
                            <a:rPr lang="en-US" altLang="zh-TW" sz="2400" b="1" i="1" smtClean="0">
                              <a:latin typeface="Cambria Math"/>
                            </a:rPr>
                            <m:t>𝒕</m:t>
                          </m:r>
                        </m:sub>
                        <m:sup>
                          <m:r>
                            <a:rPr lang="en-US" altLang="zh-TW" sz="2400" b="1" i="1" smtClean="0">
                              <a:latin typeface="Cambria Math"/>
                            </a:rPr>
                            <m:t>−</m:t>
                          </m:r>
                        </m:sup>
                      </m:sSubSup>
                      <m:r>
                        <a:rPr lang="en-US" altLang="zh-TW" sz="2400" b="1" i="1" smtClean="0">
                          <a:latin typeface="Cambria Math"/>
                        </a:rPr>
                        <m:t>−</m:t>
                      </m:r>
                      <m:sSubSup>
                        <m:sSubSupPr>
                          <m:ctrlPr>
                            <a:rPr lang="en-US" altLang="zh-TW" sz="2400" b="1" i="1" smtClean="0">
                              <a:latin typeface="Cambria Math" panose="02040503050406030204" pitchFamily="18" charset="0"/>
                            </a:rPr>
                          </m:ctrlPr>
                        </m:sSubSupPr>
                        <m:e>
                          <m:r>
                            <a:rPr lang="en-US" altLang="zh-TW" sz="2400" b="1" i="1" smtClean="0">
                              <a:latin typeface="Cambria Math"/>
                            </a:rPr>
                            <m:t>𝑷</m:t>
                          </m:r>
                        </m:e>
                        <m:sub>
                          <m:r>
                            <a:rPr lang="en-US" altLang="zh-TW" sz="2400" b="1" i="1" smtClean="0">
                              <a:latin typeface="Cambria Math"/>
                            </a:rPr>
                            <m:t>𝒕</m:t>
                          </m:r>
                        </m:sub>
                        <m:sup>
                          <m:r>
                            <a:rPr lang="en-US" altLang="zh-TW" sz="2400" b="1" i="1" smtClean="0">
                              <a:latin typeface="Cambria Math" panose="02040503050406030204" pitchFamily="18" charset="0"/>
                            </a:rPr>
                            <m:t>−</m:t>
                          </m:r>
                        </m:sup>
                      </m:sSubSup>
                      <m:sSubSup>
                        <m:sSubSupPr>
                          <m:ctrlPr>
                            <a:rPr lang="en-US" altLang="zh-TW" sz="2400" b="1" i="1" smtClean="0">
                              <a:latin typeface="Cambria Math" panose="02040503050406030204" pitchFamily="18" charset="0"/>
                            </a:rPr>
                          </m:ctrlPr>
                        </m:sSubSupPr>
                        <m:e>
                          <m:r>
                            <a:rPr lang="en-US" altLang="zh-TW" sz="2400" b="1" i="1" smtClean="0">
                              <a:latin typeface="Cambria Math"/>
                            </a:rPr>
                            <m:t>𝑯</m:t>
                          </m:r>
                        </m:e>
                        <m:sub>
                          <m:r>
                            <a:rPr lang="en-US" altLang="zh-TW" sz="2400" b="1" i="1" smtClean="0">
                              <a:latin typeface="Cambria Math"/>
                            </a:rPr>
                            <m:t>𝒕</m:t>
                          </m:r>
                        </m:sub>
                        <m:sup>
                          <m:r>
                            <a:rPr lang="en-US" altLang="zh-TW" sz="2400" b="1" i="1" smtClean="0">
                              <a:latin typeface="Cambria Math"/>
                            </a:rPr>
                            <m:t>𝑻</m:t>
                          </m:r>
                        </m:sup>
                      </m:sSubSup>
                      <m:sSubSup>
                        <m:sSubSupPr>
                          <m:ctrlPr>
                            <a:rPr lang="en-US" altLang="zh-TW" sz="2400" b="1" i="1" smtClean="0">
                              <a:latin typeface="Cambria Math" panose="02040503050406030204" pitchFamily="18" charset="0"/>
                            </a:rPr>
                          </m:ctrlPr>
                        </m:sSubSupPr>
                        <m:e>
                          <m:r>
                            <a:rPr lang="en-US" altLang="zh-TW" sz="2400" b="1" i="1" smtClean="0">
                              <a:latin typeface="Cambria Math"/>
                            </a:rPr>
                            <m:t>𝑲</m:t>
                          </m:r>
                        </m:e>
                        <m:sub>
                          <m:r>
                            <a:rPr lang="en-US" altLang="zh-TW" sz="2400" b="1" i="1" smtClean="0">
                              <a:latin typeface="Cambria Math"/>
                            </a:rPr>
                            <m:t>𝒕</m:t>
                          </m:r>
                        </m:sub>
                        <m:sup>
                          <m:r>
                            <a:rPr lang="en-US" altLang="zh-TW" sz="2400" b="1" i="1" smtClean="0">
                              <a:latin typeface="Cambria Math"/>
                            </a:rPr>
                            <m:t>𝑻</m:t>
                          </m:r>
                        </m:sup>
                      </m:sSubSup>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𝑲</m:t>
                          </m:r>
                        </m:e>
                        <m:sub>
                          <m:r>
                            <a:rPr lang="en-US" altLang="zh-TW" sz="2400" b="1" i="1" smtClean="0">
                              <a:latin typeface="Cambria Math"/>
                            </a:rPr>
                            <m:t>𝒕</m:t>
                          </m:r>
                        </m:sub>
                      </m:sSub>
                      <m:d>
                        <m:dPr>
                          <m:ctrlPr>
                            <a:rPr lang="en-US" altLang="zh-TW" sz="2400" b="1" i="1" smtClean="0">
                              <a:latin typeface="Cambria Math" panose="02040503050406030204" pitchFamily="18" charset="0"/>
                            </a:rPr>
                          </m:ctrlPr>
                        </m:dPr>
                        <m:e>
                          <m:sSub>
                            <m:sSubPr>
                              <m:ctrlPr>
                                <a:rPr lang="en-US" altLang="zh-TW" sz="2400" b="1" i="1" smtClean="0">
                                  <a:latin typeface="Cambria Math" panose="02040503050406030204" pitchFamily="18" charset="0"/>
                                </a:rPr>
                              </m:ctrlPr>
                            </m:sSubPr>
                            <m:e>
                              <m:r>
                                <a:rPr lang="en-US" altLang="zh-TW" sz="2400" b="1" i="1" smtClean="0">
                                  <a:latin typeface="Cambria Math"/>
                                </a:rPr>
                                <m:t>𝑯</m:t>
                              </m:r>
                            </m:e>
                            <m:sub>
                              <m:r>
                                <a:rPr lang="en-US" altLang="zh-TW" sz="2400" b="1" i="1" smtClean="0">
                                  <a:latin typeface="Cambria Math"/>
                                </a:rPr>
                                <m:t>𝒕</m:t>
                              </m:r>
                            </m:sub>
                          </m:sSub>
                          <m:sSubSup>
                            <m:sSubSupPr>
                              <m:ctrlPr>
                                <a:rPr lang="en-US" altLang="zh-TW" sz="2400" b="1" i="1" smtClean="0">
                                  <a:latin typeface="Cambria Math" panose="02040503050406030204" pitchFamily="18" charset="0"/>
                                </a:rPr>
                              </m:ctrlPr>
                            </m:sSubSupPr>
                            <m:e>
                              <m:r>
                                <a:rPr lang="en-US" altLang="zh-TW" sz="2400" b="1" i="1" smtClean="0">
                                  <a:latin typeface="Cambria Math"/>
                                </a:rPr>
                                <m:t>𝑷</m:t>
                              </m:r>
                            </m:e>
                            <m:sub>
                              <m:r>
                                <a:rPr lang="en-US" altLang="zh-TW" sz="2400" b="1" i="1" smtClean="0">
                                  <a:latin typeface="Cambria Math"/>
                                </a:rPr>
                                <m:t>𝒕</m:t>
                              </m:r>
                            </m:sub>
                            <m:sup>
                              <m:r>
                                <a:rPr lang="en-US" altLang="zh-TW" sz="2400" b="1" i="1" smtClean="0">
                                  <a:latin typeface="Cambria Math"/>
                                </a:rPr>
                                <m:t>−</m:t>
                              </m:r>
                            </m:sup>
                          </m:sSubSup>
                          <m:sSubSup>
                            <m:sSubSupPr>
                              <m:ctrlPr>
                                <a:rPr lang="en-US" altLang="zh-TW" sz="2400" b="1" i="1" smtClean="0">
                                  <a:latin typeface="Cambria Math" panose="02040503050406030204" pitchFamily="18" charset="0"/>
                                </a:rPr>
                              </m:ctrlPr>
                            </m:sSubSupPr>
                            <m:e>
                              <m:r>
                                <a:rPr lang="en-US" altLang="zh-TW" sz="2400" b="1" i="1" smtClean="0">
                                  <a:latin typeface="Cambria Math"/>
                                </a:rPr>
                                <m:t>𝑯</m:t>
                              </m:r>
                            </m:e>
                            <m:sub>
                              <m:r>
                                <a:rPr lang="en-US" altLang="zh-TW" sz="2400" b="1" i="1" smtClean="0">
                                  <a:latin typeface="Cambria Math"/>
                                </a:rPr>
                                <m:t>𝒕</m:t>
                              </m:r>
                            </m:sub>
                            <m:sup>
                              <m:r>
                                <a:rPr lang="en-US" altLang="zh-TW" sz="2400" b="1" i="1" smtClean="0">
                                  <a:latin typeface="Cambria Math"/>
                                </a:rPr>
                                <m:t>𝑻</m:t>
                              </m:r>
                            </m:sup>
                          </m:sSubSup>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𝑹</m:t>
                              </m:r>
                            </m:e>
                            <m:sub>
                              <m:r>
                                <a:rPr lang="en-US" altLang="zh-TW" sz="2400" b="1" i="1" smtClean="0">
                                  <a:latin typeface="Cambria Math"/>
                                </a:rPr>
                                <m:t>𝒕</m:t>
                              </m:r>
                            </m:sub>
                          </m:sSub>
                        </m:e>
                      </m:d>
                      <m:sSubSup>
                        <m:sSubSupPr>
                          <m:ctrlPr>
                            <a:rPr lang="en-US" altLang="zh-TW" sz="2400" b="1" i="1" smtClean="0">
                              <a:latin typeface="Cambria Math" panose="02040503050406030204" pitchFamily="18" charset="0"/>
                            </a:rPr>
                          </m:ctrlPr>
                        </m:sSubSupPr>
                        <m:e>
                          <m:r>
                            <a:rPr lang="en-US" altLang="zh-TW" sz="2400" b="1" i="1" smtClean="0">
                              <a:latin typeface="Cambria Math"/>
                            </a:rPr>
                            <m:t>𝑲</m:t>
                          </m:r>
                        </m:e>
                        <m:sub>
                          <m:r>
                            <a:rPr lang="en-US" altLang="zh-TW" sz="2400" b="1" i="1" smtClean="0">
                              <a:latin typeface="Cambria Math"/>
                            </a:rPr>
                            <m:t>𝒕</m:t>
                          </m:r>
                        </m:sub>
                        <m:sup>
                          <m:r>
                            <a:rPr lang="en-US" altLang="zh-TW" sz="2400" b="1" i="1" smtClean="0">
                              <a:latin typeface="Cambria Math"/>
                            </a:rPr>
                            <m:t>𝑻</m:t>
                          </m:r>
                        </m:sup>
                      </m:sSubSup>
                    </m:oMath>
                  </m:oMathPara>
                </a14:m>
                <a:endParaRPr lang="en-US" altLang="zh-TW" sz="2400" dirty="0" smtClean="0"/>
              </a:p>
              <a:p>
                <a:pPr>
                  <a:lnSpc>
                    <a:spcPct val="120000"/>
                  </a:lnSpc>
                </a:pPr>
                <a:r>
                  <a:rPr lang="en-US" altLang="zh-TW" sz="2400" dirty="0" smtClean="0"/>
                  <a:t>Let </a:t>
                </a:r>
                <a14:m>
                  <m:oMath xmlns:m="http://schemas.openxmlformats.org/officeDocument/2006/math">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m:t>
                        </m:r>
                        <m:d>
                          <m:dPr>
                            <m:ctrlPr>
                              <a:rPr lang="en-US" altLang="zh-TW" sz="2400" b="0" i="1" smtClean="0">
                                <a:latin typeface="Cambria Math" panose="02040503050406030204" pitchFamily="18" charset="0"/>
                              </a:rPr>
                            </m:ctrlPr>
                          </m:dPr>
                          <m:e>
                            <m:sSubSup>
                              <m:sSubSupPr>
                                <m:ctrlPr>
                                  <a:rPr lang="en-US" altLang="zh-TW" sz="2400" b="1" i="1" smtClean="0">
                                    <a:latin typeface="Cambria Math" panose="02040503050406030204" pitchFamily="18" charset="0"/>
                                  </a:rPr>
                                </m:ctrlPr>
                              </m:sSubSupPr>
                              <m:e>
                                <m:r>
                                  <a:rPr lang="en-US" altLang="zh-TW" sz="2400" b="1" i="1" smtClean="0">
                                    <a:latin typeface="Cambria Math" panose="02040503050406030204" pitchFamily="18" charset="0"/>
                                  </a:rPr>
                                  <m:t>𝑷</m:t>
                                </m:r>
                              </m:e>
                              <m:sub>
                                <m:r>
                                  <a:rPr lang="en-US" altLang="zh-TW" sz="2400" b="1" i="1" smtClean="0">
                                    <a:latin typeface="Cambria Math"/>
                                  </a:rPr>
                                  <m:t>𝒕</m:t>
                                </m:r>
                              </m:sub>
                              <m:sup>
                                <m:r>
                                  <a:rPr lang="en-US" altLang="zh-TW" sz="2400" b="1" i="1" smtClean="0">
                                    <a:latin typeface="Cambria Math" panose="02040503050406030204" pitchFamily="18" charset="0"/>
                                  </a:rPr>
                                  <m:t>+</m:t>
                                </m:r>
                              </m:sup>
                            </m:sSubSup>
                          </m:e>
                        </m:d>
                      </m:num>
                      <m:den>
                        <m:r>
                          <a:rPr lang="en-US" altLang="zh-TW" sz="2400" b="0" i="1" smtClean="0">
                            <a:latin typeface="Cambria Math" panose="02040503050406030204" pitchFamily="18" charset="0"/>
                          </a:rPr>
                          <m:t>𝜕</m:t>
                        </m:r>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𝑲</m:t>
                            </m:r>
                          </m:e>
                          <m:sub>
                            <m:r>
                              <a:rPr lang="en-US" altLang="zh-TW" sz="2400" b="1" i="1" smtClean="0">
                                <a:latin typeface="Cambria Math"/>
                              </a:rPr>
                              <m:t>𝒕</m:t>
                            </m:r>
                          </m:sub>
                        </m:sSub>
                      </m:den>
                    </m:f>
                    <m:r>
                      <a:rPr lang="en-US" altLang="zh-TW" sz="2400" b="0" i="1" smtClean="0">
                        <a:latin typeface="Cambria Math" panose="02040503050406030204" pitchFamily="18" charset="0"/>
                      </a:rPr>
                      <m:t>=−2</m:t>
                    </m:r>
                    <m:sSup>
                      <m:sSupPr>
                        <m:ctrlPr>
                          <a:rPr lang="en-US" altLang="zh-TW" sz="2400" b="0" i="1" smtClean="0">
                            <a:latin typeface="Cambria Math" panose="02040503050406030204" pitchFamily="18" charset="0"/>
                          </a:rPr>
                        </m:ctrlPr>
                      </m:sSupPr>
                      <m:e>
                        <m:d>
                          <m:dPr>
                            <m:ctrlPr>
                              <a:rPr lang="en-US" altLang="zh-TW" sz="2400" b="0" i="1" smtClean="0">
                                <a:latin typeface="Cambria Math" panose="02040503050406030204" pitchFamily="18" charset="0"/>
                              </a:rPr>
                            </m:ctrlPr>
                          </m:dPr>
                          <m:e>
                            <m:sSub>
                              <m:sSubPr>
                                <m:ctrlPr>
                                  <a:rPr lang="en-US" altLang="zh-TW" sz="2400" b="1" i="1" smtClean="0">
                                    <a:latin typeface="Cambria Math" panose="02040503050406030204" pitchFamily="18" charset="0"/>
                                  </a:rPr>
                                </m:ctrlPr>
                              </m:sSubPr>
                              <m:e>
                                <m:r>
                                  <a:rPr lang="en-US" altLang="zh-TW" sz="2400" b="1" i="1" smtClean="0">
                                    <a:latin typeface="Cambria Math"/>
                                  </a:rPr>
                                  <m:t>𝑯</m:t>
                                </m:r>
                              </m:e>
                              <m:sub>
                                <m:r>
                                  <a:rPr lang="en-US" altLang="zh-TW" sz="2400" b="1" i="1" smtClean="0">
                                    <a:latin typeface="Cambria Math"/>
                                  </a:rPr>
                                  <m:t>𝒕</m:t>
                                </m:r>
                              </m:sub>
                            </m:sSub>
                            <m:sSubSup>
                              <m:sSubSupPr>
                                <m:ctrlPr>
                                  <a:rPr lang="en-US" altLang="zh-TW" sz="2400" b="1" i="1" smtClean="0">
                                    <a:latin typeface="Cambria Math" panose="02040503050406030204" pitchFamily="18" charset="0"/>
                                  </a:rPr>
                                </m:ctrlPr>
                              </m:sSubSupPr>
                              <m:e>
                                <m:r>
                                  <a:rPr lang="en-US" altLang="zh-TW" sz="2400" b="1" i="1" smtClean="0">
                                    <a:latin typeface="Cambria Math"/>
                                  </a:rPr>
                                  <m:t>𝑷</m:t>
                                </m:r>
                              </m:e>
                              <m:sub>
                                <m:r>
                                  <a:rPr lang="en-US" altLang="zh-TW" sz="2400" b="1" i="1" smtClean="0">
                                    <a:latin typeface="Cambria Math"/>
                                  </a:rPr>
                                  <m:t>𝒕</m:t>
                                </m:r>
                              </m:sub>
                              <m:sup>
                                <m:r>
                                  <a:rPr lang="en-US" altLang="zh-TW" sz="2400" b="1" i="1" smtClean="0">
                                    <a:latin typeface="Cambria Math"/>
                                  </a:rPr>
                                  <m:t>−</m:t>
                                </m:r>
                              </m:sup>
                            </m:sSubSup>
                          </m:e>
                        </m:d>
                      </m:e>
                      <m:sup>
                        <m:r>
                          <a:rPr lang="en-US" altLang="zh-TW" sz="2400" b="0" i="1" smtClean="0">
                            <a:latin typeface="Cambria Math" panose="02040503050406030204" pitchFamily="18" charset="0"/>
                          </a:rPr>
                          <m:t>𝑇</m:t>
                        </m:r>
                      </m:sup>
                    </m:sSup>
                    <m:r>
                      <a:rPr lang="en-US" altLang="zh-TW" sz="2400" b="0" i="1" smtClean="0">
                        <a:latin typeface="Cambria Math" panose="02040503050406030204" pitchFamily="18" charset="0"/>
                      </a:rPr>
                      <m:t>+2</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𝐾</m:t>
                        </m:r>
                      </m:e>
                      <m:sub>
                        <m:r>
                          <a:rPr lang="en-US" altLang="zh-TW" sz="2400" b="0" i="1" smtClean="0">
                            <a:latin typeface="Cambria Math"/>
                          </a:rPr>
                          <m:t>𝑡</m:t>
                        </m:r>
                      </m:sub>
                    </m:sSub>
                    <m:d>
                      <m:dPr>
                        <m:ctrlPr>
                          <a:rPr lang="en-US" altLang="zh-TW" sz="2400" b="1" i="1" smtClean="0">
                            <a:latin typeface="Cambria Math" panose="02040503050406030204" pitchFamily="18" charset="0"/>
                          </a:rPr>
                        </m:ctrlPr>
                      </m:dPr>
                      <m:e>
                        <m:sSub>
                          <m:sSubPr>
                            <m:ctrlPr>
                              <a:rPr lang="en-US" altLang="zh-TW" sz="2400" b="1" i="1" smtClean="0">
                                <a:latin typeface="Cambria Math" panose="02040503050406030204" pitchFamily="18" charset="0"/>
                              </a:rPr>
                            </m:ctrlPr>
                          </m:sSubPr>
                          <m:e>
                            <m:r>
                              <a:rPr lang="en-US" altLang="zh-TW" sz="2400" b="1" i="1" smtClean="0">
                                <a:latin typeface="Cambria Math"/>
                              </a:rPr>
                              <m:t>𝑯</m:t>
                            </m:r>
                          </m:e>
                          <m:sub>
                            <m:r>
                              <a:rPr lang="en-US" altLang="zh-TW" sz="2400" b="1" i="1" smtClean="0">
                                <a:latin typeface="Cambria Math"/>
                              </a:rPr>
                              <m:t>𝒕</m:t>
                            </m:r>
                          </m:sub>
                        </m:sSub>
                        <m:sSubSup>
                          <m:sSubSupPr>
                            <m:ctrlPr>
                              <a:rPr lang="en-US" altLang="zh-TW" sz="2400" b="1" i="1" smtClean="0">
                                <a:latin typeface="Cambria Math" panose="02040503050406030204" pitchFamily="18" charset="0"/>
                              </a:rPr>
                            </m:ctrlPr>
                          </m:sSubSupPr>
                          <m:e>
                            <m:r>
                              <a:rPr lang="en-US" altLang="zh-TW" sz="2400" b="1" i="1" smtClean="0">
                                <a:latin typeface="Cambria Math"/>
                              </a:rPr>
                              <m:t>𝑷</m:t>
                            </m:r>
                          </m:e>
                          <m:sub>
                            <m:r>
                              <a:rPr lang="en-US" altLang="zh-TW" sz="2400" b="1" i="1" smtClean="0">
                                <a:latin typeface="Cambria Math"/>
                              </a:rPr>
                              <m:t>𝒕</m:t>
                            </m:r>
                          </m:sub>
                          <m:sup>
                            <m:r>
                              <a:rPr lang="en-US" altLang="zh-TW" sz="2400" b="1" i="1" smtClean="0">
                                <a:latin typeface="Cambria Math"/>
                              </a:rPr>
                              <m:t>−</m:t>
                            </m:r>
                          </m:sup>
                        </m:sSubSup>
                        <m:sSubSup>
                          <m:sSubSupPr>
                            <m:ctrlPr>
                              <a:rPr lang="en-US" altLang="zh-TW" sz="2400" b="1" i="1" smtClean="0">
                                <a:latin typeface="Cambria Math" panose="02040503050406030204" pitchFamily="18" charset="0"/>
                              </a:rPr>
                            </m:ctrlPr>
                          </m:sSubSupPr>
                          <m:e>
                            <m:r>
                              <a:rPr lang="en-US" altLang="zh-TW" sz="2400" b="1" i="1" smtClean="0">
                                <a:latin typeface="Cambria Math"/>
                              </a:rPr>
                              <m:t>𝑯</m:t>
                            </m:r>
                          </m:e>
                          <m:sub>
                            <m:r>
                              <a:rPr lang="en-US" altLang="zh-TW" sz="2400" b="1" i="1" smtClean="0">
                                <a:latin typeface="Cambria Math"/>
                              </a:rPr>
                              <m:t>𝒕</m:t>
                            </m:r>
                          </m:sub>
                          <m:sup>
                            <m:r>
                              <a:rPr lang="en-US" altLang="zh-TW" sz="2400" b="1" i="1" smtClean="0">
                                <a:latin typeface="Cambria Math"/>
                              </a:rPr>
                              <m:t>𝑻</m:t>
                            </m:r>
                          </m:sup>
                        </m:sSubSup>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𝑹</m:t>
                            </m:r>
                          </m:e>
                          <m:sub>
                            <m:r>
                              <a:rPr lang="en-US" altLang="zh-TW" sz="2400" b="1" i="1" smtClean="0">
                                <a:latin typeface="Cambria Math"/>
                              </a:rPr>
                              <m:t>𝒕</m:t>
                            </m:r>
                          </m:sub>
                        </m:sSub>
                      </m:e>
                    </m:d>
                    <m:r>
                      <a:rPr lang="en-US" altLang="zh-TW" sz="2400" b="1" i="1" smtClean="0">
                        <a:latin typeface="Cambria Math" panose="02040503050406030204" pitchFamily="18" charset="0"/>
                      </a:rPr>
                      <m:t>=</m:t>
                    </m:r>
                    <m:r>
                      <a:rPr lang="en-US" altLang="zh-TW" sz="2400" b="1" i="1" smtClean="0">
                        <a:latin typeface="Cambria Math" panose="02040503050406030204" pitchFamily="18" charset="0"/>
                      </a:rPr>
                      <m:t>𝟎</m:t>
                    </m:r>
                  </m:oMath>
                </a14:m>
                <a:endParaRPr lang="en-US" altLang="zh-TW" sz="2400" dirty="0" smtClean="0"/>
              </a:p>
              <a:p>
                <a:pPr>
                  <a:lnSpc>
                    <a:spcPct val="120000"/>
                  </a:lnSpc>
                </a:pPr>
                <a14:m>
                  <m:oMathPara xmlns:m="http://schemas.openxmlformats.org/officeDocument/2006/math">
                    <m:oMathParaPr>
                      <m:jc m:val="left"/>
                    </m:oMathParaPr>
                    <m:oMath xmlns:m="http://schemas.openxmlformats.org/officeDocument/2006/math">
                      <m:func>
                        <m:funcPr>
                          <m:ctrlPr>
                            <a:rPr lang="en-US" altLang="zh-TW" sz="2400" i="1" smtClean="0">
                              <a:latin typeface="Cambria Math" panose="02040503050406030204" pitchFamily="18" charset="0"/>
                            </a:rPr>
                          </m:ctrlPr>
                        </m:funcPr>
                        <m:fName>
                          <m:limLow>
                            <m:limLowPr>
                              <m:ctrlPr>
                                <a:rPr lang="en-US" altLang="zh-TW" sz="2400" i="1" smtClean="0">
                                  <a:latin typeface="Cambria Math" panose="02040503050406030204" pitchFamily="18" charset="0"/>
                                </a:rPr>
                              </m:ctrlPr>
                            </m:limLowPr>
                            <m:e>
                              <m:r>
                                <a:rPr lang="en-US" altLang="zh-TW" sz="2400" b="0" i="1" smtClean="0">
                                  <a:latin typeface="Cambria Math"/>
                                </a:rPr>
                                <m:t>𝑎𝑟𝑔</m:t>
                              </m:r>
                              <m:r>
                                <m:rPr>
                                  <m:sty m:val="p"/>
                                </m:rPr>
                                <a:rPr lang="en-US" altLang="zh-TW" sz="2400" i="0" smtClean="0">
                                  <a:latin typeface="Cambria Math"/>
                                </a:rPr>
                                <m:t>max</m:t>
                              </m:r>
                            </m:e>
                            <m:lim>
                              <m:sSub>
                                <m:sSubPr>
                                  <m:ctrlPr>
                                    <a:rPr lang="en-US" altLang="zh-TW" sz="2400" b="1" i="1" smtClean="0">
                                      <a:latin typeface="Cambria Math" panose="02040503050406030204" pitchFamily="18" charset="0"/>
                                    </a:rPr>
                                  </m:ctrlPr>
                                </m:sSubPr>
                                <m:e>
                                  <m:r>
                                    <a:rPr lang="en-US" altLang="zh-TW" sz="2400" b="1" i="1" smtClean="0">
                                      <a:latin typeface="Cambria Math"/>
                                    </a:rPr>
                                    <m:t>𝑲</m:t>
                                  </m:r>
                                </m:e>
                                <m:sub>
                                  <m:r>
                                    <a:rPr lang="en-US" altLang="zh-TW" sz="2400" b="1" i="1" smtClean="0">
                                      <a:latin typeface="Cambria Math"/>
                                    </a:rPr>
                                    <m:t>𝒕</m:t>
                                  </m:r>
                                </m:sub>
                              </m:sSub>
                            </m:lim>
                          </m:limLow>
                        </m:fName>
                        <m:e>
                          <m:sSubSup>
                            <m:sSubSupPr>
                              <m:ctrlPr>
                                <a:rPr lang="en-US" altLang="zh-TW" sz="2400" b="1" i="1" smtClean="0">
                                  <a:latin typeface="Cambria Math" panose="02040503050406030204" pitchFamily="18" charset="0"/>
                                </a:rPr>
                              </m:ctrlPr>
                            </m:sSubSupPr>
                            <m:e>
                              <m:r>
                                <a:rPr lang="en-US" altLang="zh-TW" sz="2400" b="1" i="1" smtClean="0">
                                  <a:latin typeface="Cambria Math"/>
                                </a:rPr>
                                <m:t>𝑷</m:t>
                              </m:r>
                            </m:e>
                            <m:sub>
                              <m:r>
                                <a:rPr lang="en-US" altLang="zh-TW" sz="2400" b="1" i="1" smtClean="0">
                                  <a:latin typeface="Cambria Math"/>
                                </a:rPr>
                                <m:t>𝒕</m:t>
                              </m:r>
                            </m:sub>
                            <m:sup>
                              <m:r>
                                <a:rPr lang="en-US" altLang="zh-TW" sz="2400" b="1" i="1" smtClean="0">
                                  <a:latin typeface="Cambria Math"/>
                                </a:rPr>
                                <m:t>+</m:t>
                              </m:r>
                            </m:sup>
                          </m:sSubSup>
                        </m:e>
                      </m:func>
                      <m:r>
                        <a:rPr lang="en-US" altLang="zh-TW" sz="2400" b="0" i="1" smtClean="0">
                          <a:latin typeface="Cambria Math"/>
                        </a:rPr>
                        <m:t>=</m:t>
                      </m:r>
                      <m:sSubSup>
                        <m:sSubSupPr>
                          <m:ctrlPr>
                            <a:rPr lang="en-US" altLang="zh-TW" sz="2400" b="1" i="1" smtClean="0">
                              <a:solidFill>
                                <a:srgbClr val="FF0000"/>
                              </a:solidFill>
                              <a:latin typeface="Cambria Math" panose="02040503050406030204" pitchFamily="18" charset="0"/>
                            </a:rPr>
                          </m:ctrlPr>
                        </m:sSubSupPr>
                        <m:e>
                          <m:r>
                            <a:rPr lang="en-US" altLang="zh-TW" sz="2400" b="1" i="1" smtClean="0">
                              <a:solidFill>
                                <a:srgbClr val="FF0000"/>
                              </a:solidFill>
                              <a:latin typeface="Cambria Math"/>
                            </a:rPr>
                            <m:t>𝑲</m:t>
                          </m:r>
                        </m:e>
                        <m:sub>
                          <m:r>
                            <a:rPr lang="en-US" altLang="zh-TW" sz="2400" b="1" i="1" smtClean="0">
                              <a:solidFill>
                                <a:srgbClr val="FF0000"/>
                              </a:solidFill>
                              <a:latin typeface="Cambria Math"/>
                            </a:rPr>
                            <m:t>𝒕</m:t>
                          </m:r>
                        </m:sub>
                        <m:sup>
                          <m:r>
                            <a:rPr lang="en-US" altLang="zh-TW" sz="2400" b="1" i="1" smtClean="0">
                              <a:solidFill>
                                <a:srgbClr val="FF0000"/>
                              </a:solidFill>
                              <a:latin typeface="Cambria Math"/>
                            </a:rPr>
                            <m:t>∗</m:t>
                          </m:r>
                        </m:sup>
                      </m:sSubSup>
                      <m:r>
                        <a:rPr lang="en-US" altLang="zh-TW" sz="2400" b="0" i="1" smtClean="0">
                          <a:solidFill>
                            <a:srgbClr val="FF0000"/>
                          </a:solidFill>
                          <a:latin typeface="Cambria Math"/>
                        </a:rPr>
                        <m:t>=</m:t>
                      </m:r>
                      <m:sSubSup>
                        <m:sSubSupPr>
                          <m:ctrlPr>
                            <a:rPr lang="en-US" altLang="zh-TW" sz="2400" b="1" i="1" smtClean="0">
                              <a:solidFill>
                                <a:srgbClr val="FF0000"/>
                              </a:solidFill>
                              <a:latin typeface="Cambria Math" panose="02040503050406030204" pitchFamily="18" charset="0"/>
                            </a:rPr>
                          </m:ctrlPr>
                        </m:sSubSupPr>
                        <m:e>
                          <m:r>
                            <a:rPr lang="en-US" altLang="zh-TW" sz="2400" b="1" i="1" smtClean="0">
                              <a:solidFill>
                                <a:srgbClr val="FF0000"/>
                              </a:solidFill>
                              <a:latin typeface="Cambria Math"/>
                            </a:rPr>
                            <m:t>𝑷</m:t>
                          </m:r>
                        </m:e>
                        <m:sub>
                          <m:r>
                            <a:rPr lang="en-US" altLang="zh-TW" sz="2400" b="1" i="1" smtClean="0">
                              <a:solidFill>
                                <a:srgbClr val="FF0000"/>
                              </a:solidFill>
                              <a:latin typeface="Cambria Math"/>
                            </a:rPr>
                            <m:t>𝒕</m:t>
                          </m:r>
                        </m:sub>
                        <m:sup>
                          <m:r>
                            <a:rPr lang="en-US" altLang="zh-TW" sz="2400" b="1" i="1" smtClean="0">
                              <a:solidFill>
                                <a:srgbClr val="FF0000"/>
                              </a:solidFill>
                              <a:latin typeface="Cambria Math"/>
                            </a:rPr>
                            <m:t>−</m:t>
                          </m:r>
                        </m:sup>
                      </m:sSubSup>
                      <m:sSubSup>
                        <m:sSubSupPr>
                          <m:ctrlPr>
                            <a:rPr lang="en-US" altLang="zh-TW" sz="2400" b="1" i="1" smtClean="0">
                              <a:solidFill>
                                <a:srgbClr val="FF0000"/>
                              </a:solidFill>
                              <a:latin typeface="Cambria Math" panose="02040503050406030204" pitchFamily="18" charset="0"/>
                            </a:rPr>
                          </m:ctrlPr>
                        </m:sSubSupPr>
                        <m:e>
                          <m:r>
                            <a:rPr lang="en-US" altLang="zh-TW" sz="2400" b="1" i="1" smtClean="0">
                              <a:solidFill>
                                <a:srgbClr val="FF0000"/>
                              </a:solidFill>
                              <a:latin typeface="Cambria Math"/>
                            </a:rPr>
                            <m:t>𝑯</m:t>
                          </m:r>
                        </m:e>
                        <m:sub>
                          <m:r>
                            <a:rPr lang="en-US" altLang="zh-TW" sz="2400" b="1" i="1" smtClean="0">
                              <a:solidFill>
                                <a:srgbClr val="FF0000"/>
                              </a:solidFill>
                              <a:latin typeface="Cambria Math"/>
                            </a:rPr>
                            <m:t>𝒕</m:t>
                          </m:r>
                        </m:sub>
                        <m:sup>
                          <m:r>
                            <a:rPr lang="en-US" altLang="zh-TW" sz="2400" b="1" i="1" smtClean="0">
                              <a:solidFill>
                                <a:srgbClr val="FF0000"/>
                              </a:solidFill>
                              <a:latin typeface="Cambria Math"/>
                            </a:rPr>
                            <m:t>𝑻</m:t>
                          </m:r>
                        </m:sup>
                      </m:sSubSup>
                      <m:sSup>
                        <m:sSupPr>
                          <m:ctrlPr>
                            <a:rPr lang="en-US" altLang="zh-TW" sz="2400" b="1" i="1" smtClean="0">
                              <a:solidFill>
                                <a:srgbClr val="FF0000"/>
                              </a:solidFill>
                              <a:latin typeface="Cambria Math" panose="02040503050406030204" pitchFamily="18" charset="0"/>
                            </a:rPr>
                          </m:ctrlPr>
                        </m:sSupPr>
                        <m:e>
                          <m:d>
                            <m:dPr>
                              <m:begChr m:val="["/>
                              <m:endChr m:val="]"/>
                              <m:ctrlPr>
                                <a:rPr lang="en-US" altLang="zh-TW" sz="2400" b="1" i="1" smtClean="0">
                                  <a:solidFill>
                                    <a:srgbClr val="FF0000"/>
                                  </a:solidFill>
                                  <a:latin typeface="Cambria Math" panose="02040503050406030204" pitchFamily="18" charset="0"/>
                                </a:rPr>
                              </m:ctrlPr>
                            </m:dPr>
                            <m:e>
                              <m:sSub>
                                <m:sSubPr>
                                  <m:ctrlPr>
                                    <a:rPr lang="en-US" altLang="zh-TW" sz="2400" b="1" i="1" smtClean="0">
                                      <a:solidFill>
                                        <a:srgbClr val="FF0000"/>
                                      </a:solidFill>
                                      <a:latin typeface="Cambria Math" panose="02040503050406030204" pitchFamily="18" charset="0"/>
                                    </a:rPr>
                                  </m:ctrlPr>
                                </m:sSubPr>
                                <m:e>
                                  <m:r>
                                    <a:rPr lang="en-US" altLang="zh-TW" sz="2400" b="1" i="1" smtClean="0">
                                      <a:solidFill>
                                        <a:srgbClr val="FF0000"/>
                                      </a:solidFill>
                                      <a:latin typeface="Cambria Math"/>
                                    </a:rPr>
                                    <m:t>𝑯</m:t>
                                  </m:r>
                                </m:e>
                                <m:sub>
                                  <m:r>
                                    <a:rPr lang="en-US" altLang="zh-TW" sz="2400" b="1" i="1" smtClean="0">
                                      <a:solidFill>
                                        <a:srgbClr val="FF0000"/>
                                      </a:solidFill>
                                      <a:latin typeface="Cambria Math"/>
                                    </a:rPr>
                                    <m:t>𝒕</m:t>
                                  </m:r>
                                </m:sub>
                              </m:sSub>
                              <m:sSubSup>
                                <m:sSubSupPr>
                                  <m:ctrlPr>
                                    <a:rPr lang="en-US" altLang="zh-TW" sz="2400" b="1" i="1" smtClean="0">
                                      <a:solidFill>
                                        <a:srgbClr val="FF0000"/>
                                      </a:solidFill>
                                      <a:latin typeface="Cambria Math" panose="02040503050406030204" pitchFamily="18" charset="0"/>
                                    </a:rPr>
                                  </m:ctrlPr>
                                </m:sSubSupPr>
                                <m:e>
                                  <m:r>
                                    <a:rPr lang="en-US" altLang="zh-TW" sz="2400" b="1" i="1" smtClean="0">
                                      <a:solidFill>
                                        <a:srgbClr val="FF0000"/>
                                      </a:solidFill>
                                      <a:latin typeface="Cambria Math"/>
                                    </a:rPr>
                                    <m:t>𝑷</m:t>
                                  </m:r>
                                </m:e>
                                <m:sub>
                                  <m:r>
                                    <a:rPr lang="en-US" altLang="zh-TW" sz="2400" b="1" i="1" smtClean="0">
                                      <a:solidFill>
                                        <a:srgbClr val="FF0000"/>
                                      </a:solidFill>
                                      <a:latin typeface="Cambria Math"/>
                                    </a:rPr>
                                    <m:t>𝒕</m:t>
                                  </m:r>
                                </m:sub>
                                <m:sup>
                                  <m:r>
                                    <a:rPr lang="en-US" altLang="zh-TW" sz="2400" b="1" i="1" smtClean="0">
                                      <a:solidFill>
                                        <a:srgbClr val="FF0000"/>
                                      </a:solidFill>
                                      <a:latin typeface="Cambria Math"/>
                                    </a:rPr>
                                    <m:t>−</m:t>
                                  </m:r>
                                </m:sup>
                              </m:sSubSup>
                              <m:sSubSup>
                                <m:sSubSupPr>
                                  <m:ctrlPr>
                                    <a:rPr lang="en-US" altLang="zh-TW" sz="2400" b="1" i="1" smtClean="0">
                                      <a:solidFill>
                                        <a:srgbClr val="FF0000"/>
                                      </a:solidFill>
                                      <a:latin typeface="Cambria Math" panose="02040503050406030204" pitchFamily="18" charset="0"/>
                                    </a:rPr>
                                  </m:ctrlPr>
                                </m:sSubSupPr>
                                <m:e>
                                  <m:r>
                                    <a:rPr lang="en-US" altLang="zh-TW" sz="2400" b="1" i="1" smtClean="0">
                                      <a:solidFill>
                                        <a:srgbClr val="FF0000"/>
                                      </a:solidFill>
                                      <a:latin typeface="Cambria Math"/>
                                    </a:rPr>
                                    <m:t>𝑯</m:t>
                                  </m:r>
                                </m:e>
                                <m:sub>
                                  <m:r>
                                    <a:rPr lang="en-US" altLang="zh-TW" sz="2400" b="1" i="1" smtClean="0">
                                      <a:solidFill>
                                        <a:srgbClr val="FF0000"/>
                                      </a:solidFill>
                                      <a:latin typeface="Cambria Math"/>
                                    </a:rPr>
                                    <m:t>𝒕</m:t>
                                  </m:r>
                                </m:sub>
                                <m:sup>
                                  <m:r>
                                    <a:rPr lang="en-US" altLang="zh-TW" sz="2400" b="1" i="1" smtClean="0">
                                      <a:solidFill>
                                        <a:srgbClr val="FF0000"/>
                                      </a:solidFill>
                                      <a:latin typeface="Cambria Math"/>
                                    </a:rPr>
                                    <m:t>𝑻</m:t>
                                  </m:r>
                                </m:sup>
                              </m:sSubSup>
                              <m:r>
                                <a:rPr lang="en-US" altLang="zh-TW" sz="2400" b="1" i="1" smtClean="0">
                                  <a:solidFill>
                                    <a:srgbClr val="FF0000"/>
                                  </a:solidFill>
                                  <a:latin typeface="Cambria Math"/>
                                </a:rPr>
                                <m:t>+</m:t>
                              </m:r>
                              <m:sSub>
                                <m:sSubPr>
                                  <m:ctrlPr>
                                    <a:rPr lang="en-US" altLang="zh-TW" sz="2400" b="1" i="1" smtClean="0">
                                      <a:solidFill>
                                        <a:srgbClr val="FF0000"/>
                                      </a:solidFill>
                                      <a:latin typeface="Cambria Math" panose="02040503050406030204" pitchFamily="18" charset="0"/>
                                    </a:rPr>
                                  </m:ctrlPr>
                                </m:sSubPr>
                                <m:e>
                                  <m:r>
                                    <a:rPr lang="en-US" altLang="zh-TW" sz="2400" b="1" i="1" smtClean="0">
                                      <a:solidFill>
                                        <a:srgbClr val="FF0000"/>
                                      </a:solidFill>
                                      <a:latin typeface="Cambria Math"/>
                                    </a:rPr>
                                    <m:t>𝑹</m:t>
                                  </m:r>
                                </m:e>
                                <m:sub>
                                  <m:r>
                                    <a:rPr lang="en-US" altLang="zh-TW" sz="2400" b="1" i="1" smtClean="0">
                                      <a:solidFill>
                                        <a:srgbClr val="FF0000"/>
                                      </a:solidFill>
                                      <a:latin typeface="Cambria Math"/>
                                    </a:rPr>
                                    <m:t>𝒕</m:t>
                                  </m:r>
                                </m:sub>
                              </m:sSub>
                            </m:e>
                          </m:d>
                        </m:e>
                        <m:sup>
                          <m:r>
                            <a:rPr lang="en-US" altLang="zh-TW" sz="2400" b="1" i="1" smtClean="0">
                              <a:solidFill>
                                <a:srgbClr val="FF0000"/>
                              </a:solidFill>
                              <a:latin typeface="Cambria Math"/>
                            </a:rPr>
                            <m:t>−</m:t>
                          </m:r>
                          <m:r>
                            <a:rPr lang="en-US" altLang="zh-TW" sz="2400" b="1" i="1" smtClean="0">
                              <a:solidFill>
                                <a:srgbClr val="FF0000"/>
                              </a:solidFill>
                              <a:latin typeface="Cambria Math"/>
                            </a:rPr>
                            <m:t>𝟏</m:t>
                          </m:r>
                        </m:sup>
                      </m:sSup>
                    </m:oMath>
                  </m:oMathPara>
                </a14:m>
                <a:endParaRPr lang="en-US" altLang="zh-TW" sz="2400" b="1" dirty="0" smtClean="0"/>
              </a:p>
              <a:p>
                <a:pPr>
                  <a:lnSpc>
                    <a:spcPct val="120000"/>
                  </a:lnSpc>
                </a:pPr>
                <a:r>
                  <a:rPr lang="zh-TW" altLang="en-US" sz="2400" dirty="0" smtClean="0"/>
                  <a:t>代回</a:t>
                </a:r>
                <a14:m>
                  <m:oMath xmlns:m="http://schemas.openxmlformats.org/officeDocument/2006/math">
                    <m:sSubSup>
                      <m:sSubSupPr>
                        <m:ctrlPr>
                          <a:rPr lang="en-US" altLang="zh-TW" sz="2400" b="1" i="1" smtClean="0">
                            <a:latin typeface="Cambria Math" panose="02040503050406030204" pitchFamily="18" charset="0"/>
                          </a:rPr>
                        </m:ctrlPr>
                      </m:sSubSupPr>
                      <m:e>
                        <m:r>
                          <a:rPr lang="en-US" altLang="zh-TW" sz="2400" b="1" i="1" smtClean="0">
                            <a:latin typeface="Cambria Math"/>
                          </a:rPr>
                          <m:t>𝑷</m:t>
                        </m:r>
                      </m:e>
                      <m:sub>
                        <m:r>
                          <a:rPr lang="en-US" altLang="zh-TW" sz="2400" b="1" i="1" smtClean="0">
                            <a:latin typeface="Cambria Math"/>
                          </a:rPr>
                          <m:t>𝒕</m:t>
                        </m:r>
                      </m:sub>
                      <m:sup>
                        <m:r>
                          <a:rPr lang="en-US" altLang="zh-TW" sz="2400" b="1" i="1" smtClean="0">
                            <a:latin typeface="Cambria Math"/>
                          </a:rPr>
                          <m:t>+</m:t>
                        </m:r>
                      </m:sup>
                    </m:sSubSup>
                    <m:r>
                      <a:rPr lang="zh-TW" altLang="en-US" sz="2400" b="0" i="1" smtClean="0">
                        <a:latin typeface="Cambria Math"/>
                      </a:rPr>
                      <m:t>可得</m:t>
                    </m:r>
                    <m:sSubSup>
                      <m:sSubSupPr>
                        <m:ctrlPr>
                          <a:rPr lang="en-US" altLang="zh-TW" sz="2400" b="1" i="1">
                            <a:latin typeface="Cambria Math" panose="02040503050406030204" pitchFamily="18" charset="0"/>
                          </a:rPr>
                        </m:ctrlPr>
                      </m:sSubSupPr>
                      <m:e>
                        <m:r>
                          <a:rPr lang="en-US" altLang="zh-TW" sz="2400" b="1" i="1">
                            <a:latin typeface="Cambria Math"/>
                          </a:rPr>
                          <m:t>𝑷</m:t>
                        </m:r>
                      </m:e>
                      <m:sub>
                        <m:r>
                          <a:rPr lang="en-US" altLang="zh-TW" sz="2400" b="1" i="1" smtClean="0">
                            <a:latin typeface="Cambria Math"/>
                          </a:rPr>
                          <m:t>𝒕</m:t>
                        </m:r>
                      </m:sub>
                      <m:sup>
                        <m:r>
                          <a:rPr lang="en-US" altLang="zh-TW" sz="2400" b="1" i="1">
                            <a:latin typeface="Cambria Math"/>
                          </a:rPr>
                          <m:t>+</m:t>
                        </m:r>
                      </m:sup>
                    </m:sSubSup>
                    <m:r>
                      <a:rPr lang="en-US" altLang="zh-TW" sz="2400" b="1" i="1" smtClean="0">
                        <a:latin typeface="Cambria Math"/>
                      </a:rPr>
                      <m:t>=</m:t>
                    </m:r>
                    <m:d>
                      <m:dPr>
                        <m:ctrlPr>
                          <a:rPr lang="en-US" altLang="zh-TW" sz="2400" b="1" i="1" smtClean="0">
                            <a:latin typeface="Cambria Math" panose="02040503050406030204" pitchFamily="18" charset="0"/>
                          </a:rPr>
                        </m:ctrlPr>
                      </m:dPr>
                      <m:e>
                        <m:r>
                          <a:rPr lang="en-US" altLang="zh-TW" sz="2400" b="1" i="1" smtClean="0">
                            <a:latin typeface="Cambria Math"/>
                          </a:rPr>
                          <m:t>𝑰</m:t>
                        </m:r>
                        <m:r>
                          <a:rPr lang="en-US" altLang="zh-TW" sz="2400" b="1" i="1" smtClean="0">
                            <a:latin typeface="Cambria Math"/>
                          </a:rPr>
                          <m:t>−</m:t>
                        </m:r>
                        <m:sSubSup>
                          <m:sSubSupPr>
                            <m:ctrlPr>
                              <a:rPr lang="en-US" altLang="zh-TW" sz="2400" b="1" i="1" smtClean="0">
                                <a:latin typeface="Cambria Math" panose="02040503050406030204" pitchFamily="18" charset="0"/>
                              </a:rPr>
                            </m:ctrlPr>
                          </m:sSubSupPr>
                          <m:e>
                            <m:r>
                              <a:rPr lang="en-US" altLang="zh-TW" sz="2400" b="1" i="1" smtClean="0">
                                <a:latin typeface="Cambria Math"/>
                              </a:rPr>
                              <m:t>𝑲</m:t>
                            </m:r>
                          </m:e>
                          <m:sub>
                            <m:r>
                              <a:rPr lang="en-US" altLang="zh-TW" sz="2400" b="1" i="1" smtClean="0">
                                <a:latin typeface="Cambria Math"/>
                              </a:rPr>
                              <m:t>𝒕</m:t>
                            </m:r>
                          </m:sub>
                          <m:sup>
                            <m:r>
                              <a:rPr lang="en-US" altLang="zh-TW" sz="2400" b="1" i="1" smtClean="0">
                                <a:latin typeface="Cambria Math" panose="02040503050406030204" pitchFamily="18" charset="0"/>
                              </a:rPr>
                              <m:t>∗</m:t>
                            </m:r>
                          </m:sup>
                        </m:sSubSup>
                        <m:sSub>
                          <m:sSubPr>
                            <m:ctrlPr>
                              <a:rPr lang="en-US" altLang="zh-TW" sz="2400" b="1" i="1" smtClean="0">
                                <a:latin typeface="Cambria Math" panose="02040503050406030204" pitchFamily="18" charset="0"/>
                              </a:rPr>
                            </m:ctrlPr>
                          </m:sSubPr>
                          <m:e>
                            <m:r>
                              <a:rPr lang="en-US" altLang="zh-TW" sz="2400" b="1" i="1" smtClean="0">
                                <a:latin typeface="Cambria Math"/>
                              </a:rPr>
                              <m:t>𝑯</m:t>
                            </m:r>
                          </m:e>
                          <m:sub>
                            <m:r>
                              <a:rPr lang="en-US" altLang="zh-TW" sz="2400" b="1" i="1" smtClean="0">
                                <a:latin typeface="Cambria Math"/>
                              </a:rPr>
                              <m:t>𝒕</m:t>
                            </m:r>
                          </m:sub>
                        </m:sSub>
                      </m:e>
                    </m:d>
                    <m:sSubSup>
                      <m:sSubSupPr>
                        <m:ctrlPr>
                          <a:rPr lang="en-US" altLang="zh-TW" sz="2400" b="1" i="1" smtClean="0">
                            <a:latin typeface="Cambria Math" panose="02040503050406030204" pitchFamily="18" charset="0"/>
                          </a:rPr>
                        </m:ctrlPr>
                      </m:sSubSupPr>
                      <m:e>
                        <m:r>
                          <a:rPr lang="en-US" altLang="zh-TW" sz="2400" b="1" i="1" smtClean="0">
                            <a:latin typeface="Cambria Math"/>
                          </a:rPr>
                          <m:t>𝑷</m:t>
                        </m:r>
                      </m:e>
                      <m:sub>
                        <m:r>
                          <a:rPr lang="en-US" altLang="zh-TW" sz="2400" b="1" i="1" smtClean="0">
                            <a:latin typeface="Cambria Math"/>
                          </a:rPr>
                          <m:t>𝒕</m:t>
                        </m:r>
                      </m:sub>
                      <m:sup>
                        <m:r>
                          <a:rPr lang="en-US" altLang="zh-TW" sz="2400" b="1" i="1" smtClean="0">
                            <a:latin typeface="Cambria Math"/>
                          </a:rPr>
                          <m:t>−</m:t>
                        </m:r>
                      </m:sup>
                    </m:sSubSup>
                  </m:oMath>
                </a14:m>
                <a:endParaRPr lang="zh-TW" altLang="en-US" sz="2400" dirty="0"/>
              </a:p>
            </p:txBody>
          </p:sp>
        </mc:Choice>
        <mc:Fallback>
          <p:sp>
            <p:nvSpPr>
              <p:cNvPr id="3" name="矩形 2"/>
              <p:cNvSpPr>
                <a:spLocks noRot="1" noChangeAspect="1" noMove="1" noResize="1" noEditPoints="1" noAdjustHandles="1" noChangeArrowheads="1" noChangeShapeType="1" noTextEdit="1"/>
              </p:cNvSpPr>
              <p:nvPr/>
            </p:nvSpPr>
            <p:spPr>
              <a:xfrm>
                <a:off x="1051774" y="1690688"/>
                <a:ext cx="10302025" cy="4037708"/>
              </a:xfrm>
              <a:prstGeom prst="rect">
                <a:avLst/>
              </a:prstGeom>
              <a:blipFill rotWithShape="0">
                <a:blip r:embed="rId2"/>
                <a:stretch>
                  <a:fillRect l="-947" t="-151" b="-1357"/>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19281904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Kalman gain</a:t>
            </a:r>
            <a:endParaRPr lang="zh-TW" altLang="en-US" dirty="0"/>
          </a:p>
        </p:txBody>
      </p:sp>
      <mc:AlternateContent xmlns:mc="http://schemas.openxmlformats.org/markup-compatibility/2006">
        <mc:Choice xmlns:a14="http://schemas.microsoft.com/office/drawing/2010/main" xmlns="" Requires="a14">
          <p:sp>
            <p:nvSpPr>
              <p:cNvPr id="3" name="矩形 2"/>
              <p:cNvSpPr/>
              <p:nvPr/>
            </p:nvSpPr>
            <p:spPr>
              <a:xfrm>
                <a:off x="838200" y="1690688"/>
                <a:ext cx="10444766" cy="3524363"/>
              </a:xfrm>
              <a:prstGeom prst="rect">
                <a:avLst/>
              </a:prstGeom>
            </p:spPr>
            <p:txBody>
              <a:bodyPr wrap="square">
                <a:spAutoFit/>
              </a:bodyPr>
              <a:lstStyle/>
              <a:p>
                <a14:m>
                  <m:oMath xmlns:m="http://schemas.openxmlformats.org/officeDocument/2006/math">
                    <m:sSubSup>
                      <m:sSubSupPr>
                        <m:ctrlPr>
                          <a:rPr lang="en-US" altLang="zh-TW" sz="2400" b="1" i="1" dirty="0" smtClean="0">
                            <a:solidFill>
                              <a:srgbClr val="FF0000"/>
                            </a:solidFill>
                            <a:latin typeface="Cambria Math" panose="02040503050406030204" pitchFamily="18" charset="0"/>
                          </a:rPr>
                        </m:ctrlPr>
                      </m:sSubSupPr>
                      <m:e>
                        <m:acc>
                          <m:accPr>
                            <m:chr m:val="̂"/>
                            <m:ctrlPr>
                              <a:rPr lang="en-US" altLang="zh-TW" sz="2400" b="1" i="1" smtClean="0">
                                <a:solidFill>
                                  <a:srgbClr val="FF0000"/>
                                </a:solidFill>
                                <a:latin typeface="Cambria Math" panose="02040503050406030204" pitchFamily="18" charset="0"/>
                              </a:rPr>
                            </m:ctrlPr>
                          </m:accPr>
                          <m:e>
                            <m:r>
                              <a:rPr lang="en-US" altLang="zh-TW" sz="2400" b="1" i="1" smtClean="0">
                                <a:solidFill>
                                  <a:srgbClr val="FF0000"/>
                                </a:solidFill>
                                <a:latin typeface="Cambria Math"/>
                              </a:rPr>
                              <m:t>𝒙</m:t>
                            </m:r>
                          </m:e>
                        </m:acc>
                      </m:e>
                      <m:sub>
                        <m:r>
                          <a:rPr lang="en-US" altLang="zh-TW" sz="2400" b="1" i="1" dirty="0" smtClean="0">
                            <a:solidFill>
                              <a:srgbClr val="FF0000"/>
                            </a:solidFill>
                            <a:latin typeface="Cambria Math"/>
                          </a:rPr>
                          <m:t>𝒕</m:t>
                        </m:r>
                      </m:sub>
                      <m:sup>
                        <m:r>
                          <a:rPr lang="en-US" altLang="zh-TW" sz="2400" b="1" i="1" dirty="0" smtClean="0">
                            <a:solidFill>
                              <a:srgbClr val="FF0000"/>
                            </a:solidFill>
                            <a:latin typeface="Cambria Math"/>
                          </a:rPr>
                          <m:t>+</m:t>
                        </m:r>
                      </m:sup>
                    </m:sSubSup>
                    <m:r>
                      <a:rPr lang="en-US" altLang="zh-TW" sz="2400" b="0" i="1" dirty="0" smtClean="0">
                        <a:solidFill>
                          <a:srgbClr val="FF0000"/>
                        </a:solidFill>
                        <a:latin typeface="Cambria Math"/>
                      </a:rPr>
                      <m:t>=</m:t>
                    </m:r>
                    <m:sSubSup>
                      <m:sSubSupPr>
                        <m:ctrlPr>
                          <a:rPr lang="en-US" altLang="zh-TW" sz="2400" b="1" i="1" dirty="0">
                            <a:solidFill>
                              <a:srgbClr val="FF0000"/>
                            </a:solidFill>
                            <a:latin typeface="Cambria Math" panose="02040503050406030204" pitchFamily="18" charset="0"/>
                          </a:rPr>
                        </m:ctrlPr>
                      </m:sSubSupPr>
                      <m:e>
                        <m:acc>
                          <m:accPr>
                            <m:chr m:val="̂"/>
                            <m:ctrlPr>
                              <a:rPr lang="en-US" altLang="zh-TW" sz="2400" b="1" i="1">
                                <a:solidFill>
                                  <a:srgbClr val="FF0000"/>
                                </a:solidFill>
                                <a:latin typeface="Cambria Math" panose="02040503050406030204" pitchFamily="18" charset="0"/>
                              </a:rPr>
                            </m:ctrlPr>
                          </m:accPr>
                          <m:e>
                            <m:r>
                              <a:rPr lang="en-US" altLang="zh-TW" sz="2400" b="1" i="1">
                                <a:solidFill>
                                  <a:srgbClr val="FF0000"/>
                                </a:solidFill>
                                <a:latin typeface="Cambria Math"/>
                              </a:rPr>
                              <m:t>𝒙</m:t>
                            </m:r>
                          </m:e>
                        </m:acc>
                      </m:e>
                      <m:sub>
                        <m:r>
                          <a:rPr lang="en-US" altLang="zh-TW" sz="2400" b="1" i="1" dirty="0" smtClean="0">
                            <a:solidFill>
                              <a:srgbClr val="FF0000"/>
                            </a:solidFill>
                            <a:latin typeface="Cambria Math"/>
                          </a:rPr>
                          <m:t>𝒕</m:t>
                        </m:r>
                      </m:sub>
                      <m:sup>
                        <m:r>
                          <a:rPr lang="en-US" altLang="zh-TW" sz="2400" b="1" i="1" dirty="0" smtClean="0">
                            <a:solidFill>
                              <a:srgbClr val="FF0000"/>
                            </a:solidFill>
                            <a:latin typeface="Cambria Math"/>
                          </a:rPr>
                          <m:t>−</m:t>
                        </m:r>
                      </m:sup>
                    </m:sSubSup>
                    <m:r>
                      <a:rPr lang="en-US" altLang="zh-TW" sz="2400" b="0" i="1" dirty="0" smtClean="0">
                        <a:solidFill>
                          <a:srgbClr val="FF0000"/>
                        </a:solidFill>
                        <a:latin typeface="Cambria Math"/>
                      </a:rPr>
                      <m:t>+</m:t>
                    </m:r>
                    <m:sSub>
                      <m:sSubPr>
                        <m:ctrlPr>
                          <a:rPr lang="en-US" altLang="zh-TW" sz="2400" b="1" i="1" dirty="0" smtClean="0">
                            <a:solidFill>
                              <a:srgbClr val="FF0000"/>
                            </a:solidFill>
                            <a:latin typeface="Cambria Math" panose="02040503050406030204" pitchFamily="18" charset="0"/>
                          </a:rPr>
                        </m:ctrlPr>
                      </m:sSubPr>
                      <m:e>
                        <m:r>
                          <a:rPr lang="en-US" altLang="zh-TW" sz="2400" b="1" i="1" dirty="0" smtClean="0">
                            <a:solidFill>
                              <a:srgbClr val="FF0000"/>
                            </a:solidFill>
                            <a:latin typeface="Cambria Math"/>
                          </a:rPr>
                          <m:t>𝑲</m:t>
                        </m:r>
                      </m:e>
                      <m:sub>
                        <m:r>
                          <a:rPr lang="en-US" altLang="zh-TW" sz="2400" b="1" i="1" dirty="0" smtClean="0">
                            <a:solidFill>
                              <a:srgbClr val="FF0000"/>
                            </a:solidFill>
                            <a:latin typeface="Cambria Math"/>
                          </a:rPr>
                          <m:t>𝒕</m:t>
                        </m:r>
                      </m:sub>
                    </m:sSub>
                    <m:d>
                      <m:dPr>
                        <m:ctrlPr>
                          <a:rPr lang="en-US" altLang="zh-TW" sz="2400" b="0" i="1" dirty="0" smtClean="0">
                            <a:solidFill>
                              <a:srgbClr val="FF0000"/>
                            </a:solidFill>
                            <a:latin typeface="Cambria Math" panose="02040503050406030204" pitchFamily="18" charset="0"/>
                          </a:rPr>
                        </m:ctrlPr>
                      </m:dPr>
                      <m:e>
                        <m:sSub>
                          <m:sSubPr>
                            <m:ctrlPr>
                              <a:rPr lang="en-US" altLang="zh-TW" sz="2400" b="1" i="1" dirty="0" smtClean="0">
                                <a:solidFill>
                                  <a:srgbClr val="FF0000"/>
                                </a:solidFill>
                                <a:latin typeface="Cambria Math" panose="02040503050406030204" pitchFamily="18" charset="0"/>
                              </a:rPr>
                            </m:ctrlPr>
                          </m:sSubPr>
                          <m:e>
                            <m:r>
                              <a:rPr lang="en-US" altLang="zh-TW" sz="2400" b="1" i="1" dirty="0" smtClean="0">
                                <a:solidFill>
                                  <a:srgbClr val="FF0000"/>
                                </a:solidFill>
                                <a:latin typeface="Cambria Math" panose="02040503050406030204" pitchFamily="18" charset="0"/>
                              </a:rPr>
                              <m:t>𝒛</m:t>
                            </m:r>
                          </m:e>
                          <m:sub>
                            <m:r>
                              <a:rPr lang="en-US" altLang="zh-TW" sz="2400" b="1" i="1" dirty="0" smtClean="0">
                                <a:solidFill>
                                  <a:srgbClr val="FF0000"/>
                                </a:solidFill>
                                <a:latin typeface="Cambria Math"/>
                              </a:rPr>
                              <m:t>𝒕</m:t>
                            </m:r>
                          </m:sub>
                        </m:sSub>
                        <m:r>
                          <a:rPr lang="en-US" altLang="zh-TW" sz="2400" b="1" i="1" dirty="0" smtClean="0">
                            <a:solidFill>
                              <a:srgbClr val="FF0000"/>
                            </a:solidFill>
                            <a:latin typeface="Cambria Math"/>
                          </a:rPr>
                          <m:t>−</m:t>
                        </m:r>
                        <m:sSub>
                          <m:sSubPr>
                            <m:ctrlPr>
                              <a:rPr lang="en-US" altLang="zh-TW" sz="2400" b="1" i="1" dirty="0" smtClean="0">
                                <a:solidFill>
                                  <a:srgbClr val="FF0000"/>
                                </a:solidFill>
                                <a:latin typeface="Cambria Math" panose="02040503050406030204" pitchFamily="18" charset="0"/>
                              </a:rPr>
                            </m:ctrlPr>
                          </m:sSubPr>
                          <m:e>
                            <m:r>
                              <a:rPr lang="en-US" altLang="zh-TW" sz="2400" b="1" i="1" dirty="0" smtClean="0">
                                <a:solidFill>
                                  <a:srgbClr val="FF0000"/>
                                </a:solidFill>
                                <a:latin typeface="Cambria Math"/>
                              </a:rPr>
                              <m:t>𝑯</m:t>
                            </m:r>
                          </m:e>
                          <m:sub>
                            <m:r>
                              <a:rPr lang="en-US" altLang="zh-TW" sz="2400" b="1" i="1" dirty="0" smtClean="0">
                                <a:solidFill>
                                  <a:srgbClr val="FF0000"/>
                                </a:solidFill>
                                <a:latin typeface="Cambria Math"/>
                              </a:rPr>
                              <m:t>𝒕</m:t>
                            </m:r>
                          </m:sub>
                        </m:sSub>
                        <m:sSubSup>
                          <m:sSubSupPr>
                            <m:ctrlPr>
                              <a:rPr lang="en-US" altLang="zh-TW" sz="2400" b="1" i="1" dirty="0">
                                <a:solidFill>
                                  <a:srgbClr val="FF0000"/>
                                </a:solidFill>
                                <a:latin typeface="Cambria Math" panose="02040503050406030204" pitchFamily="18" charset="0"/>
                              </a:rPr>
                            </m:ctrlPr>
                          </m:sSubSupPr>
                          <m:e>
                            <m:acc>
                              <m:accPr>
                                <m:chr m:val="̂"/>
                                <m:ctrlPr>
                                  <a:rPr lang="en-US" altLang="zh-TW" sz="2400" b="1" i="1">
                                    <a:solidFill>
                                      <a:srgbClr val="FF0000"/>
                                    </a:solidFill>
                                    <a:latin typeface="Cambria Math" panose="02040503050406030204" pitchFamily="18" charset="0"/>
                                  </a:rPr>
                                </m:ctrlPr>
                              </m:accPr>
                              <m:e>
                                <m:r>
                                  <a:rPr lang="en-US" altLang="zh-TW" sz="2400" b="1" i="1">
                                    <a:solidFill>
                                      <a:srgbClr val="FF0000"/>
                                    </a:solidFill>
                                    <a:latin typeface="Cambria Math"/>
                                  </a:rPr>
                                  <m:t>𝒙</m:t>
                                </m:r>
                              </m:e>
                            </m:acc>
                          </m:e>
                          <m:sub>
                            <m:r>
                              <a:rPr lang="en-US" altLang="zh-TW" sz="2400" b="1" i="1" dirty="0" smtClean="0">
                                <a:solidFill>
                                  <a:srgbClr val="FF0000"/>
                                </a:solidFill>
                                <a:latin typeface="Cambria Math"/>
                              </a:rPr>
                              <m:t>𝒕</m:t>
                            </m:r>
                          </m:sub>
                          <m:sup>
                            <m:r>
                              <a:rPr lang="en-US" altLang="zh-TW" sz="2400" b="1" i="1" dirty="0">
                                <a:solidFill>
                                  <a:srgbClr val="FF0000"/>
                                </a:solidFill>
                                <a:latin typeface="Cambria Math"/>
                              </a:rPr>
                              <m:t>−</m:t>
                            </m:r>
                          </m:sup>
                        </m:sSubSup>
                      </m:e>
                    </m:d>
                    <m:r>
                      <a:rPr lang="en-US" altLang="zh-TW" sz="2400" b="0" i="0" dirty="0" smtClean="0">
                        <a:solidFill>
                          <a:srgbClr val="FF0000"/>
                        </a:solidFill>
                        <a:latin typeface="Cambria Math"/>
                      </a:rPr>
                      <m:t>,  </m:t>
                    </m:r>
                    <m:sSub>
                      <m:sSubPr>
                        <m:ctrlPr>
                          <a:rPr lang="en-US" altLang="zh-TW" sz="2400" b="0" i="1" dirty="0" smtClean="0">
                            <a:solidFill>
                              <a:srgbClr val="FF0000"/>
                            </a:solidFill>
                            <a:latin typeface="Cambria Math" panose="02040503050406030204" pitchFamily="18" charset="0"/>
                          </a:rPr>
                        </m:ctrlPr>
                      </m:sSubPr>
                      <m:e>
                        <m:r>
                          <m:rPr>
                            <m:sty m:val="p"/>
                          </m:rPr>
                          <a:rPr lang="en-US" altLang="zh-TW" sz="2400" b="0" i="0" dirty="0" smtClean="0">
                            <a:solidFill>
                              <a:srgbClr val="FF0000"/>
                            </a:solidFill>
                            <a:latin typeface="Cambria Math"/>
                          </a:rPr>
                          <m:t>K</m:t>
                        </m:r>
                      </m:e>
                      <m:sub>
                        <m:r>
                          <m:rPr>
                            <m:sty m:val="p"/>
                          </m:rPr>
                          <a:rPr lang="en-US" altLang="zh-TW" sz="2400" b="0" i="0" dirty="0" smtClean="0">
                            <a:solidFill>
                              <a:srgbClr val="FF0000"/>
                            </a:solidFill>
                            <a:latin typeface="Cambria Math"/>
                          </a:rPr>
                          <m:t>t</m:t>
                        </m:r>
                      </m:sub>
                    </m:sSub>
                  </m:oMath>
                </a14:m>
                <a:r>
                  <a:rPr lang="en-US" altLang="zh-TW" sz="2400" dirty="0" smtClean="0">
                    <a:solidFill>
                      <a:srgbClr val="FF0000"/>
                    </a:solidFill>
                  </a:rPr>
                  <a:t> is the Kalman gain</a:t>
                </a:r>
              </a:p>
              <a:p>
                <a:pPr/>
                <a14:m>
                  <m:oMathPara xmlns:m="http://schemas.openxmlformats.org/officeDocument/2006/math">
                    <m:oMathParaPr>
                      <m:jc m:val="left"/>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𝐾</m:t>
                          </m:r>
                        </m:e>
                        <m:sub>
                          <m:r>
                            <a:rPr lang="en-US" altLang="zh-TW" sz="2400" b="0" i="1" smtClean="0">
                              <a:latin typeface="Cambria Math"/>
                            </a:rPr>
                            <m:t>𝑡</m:t>
                          </m:r>
                        </m:sub>
                      </m:sSub>
                      <m:r>
                        <a:rPr lang="en-US" altLang="zh-TW" sz="2400" b="0" i="1" smtClean="0">
                          <a:latin typeface="Cambria Math"/>
                        </a:rPr>
                        <m:t>=</m:t>
                      </m:r>
                      <m:sSubSup>
                        <m:sSubSupPr>
                          <m:ctrlPr>
                            <a:rPr lang="en-US" altLang="zh-TW" sz="2400" b="1" i="1" smtClean="0">
                              <a:latin typeface="Cambria Math" panose="02040503050406030204" pitchFamily="18" charset="0"/>
                            </a:rPr>
                          </m:ctrlPr>
                        </m:sSubSupPr>
                        <m:e>
                          <m:r>
                            <a:rPr lang="en-US" altLang="zh-TW" sz="2400" b="1" i="1" smtClean="0">
                              <a:latin typeface="Cambria Math"/>
                            </a:rPr>
                            <m:t>𝑷</m:t>
                          </m:r>
                        </m:e>
                        <m:sub>
                          <m:r>
                            <a:rPr lang="en-US" altLang="zh-TW" sz="2400" b="1" i="1" smtClean="0">
                              <a:latin typeface="Cambria Math"/>
                            </a:rPr>
                            <m:t>𝒕</m:t>
                          </m:r>
                        </m:sub>
                        <m:sup>
                          <m:r>
                            <a:rPr lang="en-US" altLang="zh-TW" sz="2400" b="1" i="1" smtClean="0">
                              <a:latin typeface="Cambria Math"/>
                            </a:rPr>
                            <m:t>−</m:t>
                          </m:r>
                        </m:sup>
                      </m:sSubSup>
                      <m:sSubSup>
                        <m:sSubSupPr>
                          <m:ctrlPr>
                            <a:rPr lang="en-US" altLang="zh-TW" sz="2400" b="1" i="1" smtClean="0">
                              <a:latin typeface="Cambria Math" panose="02040503050406030204" pitchFamily="18" charset="0"/>
                            </a:rPr>
                          </m:ctrlPr>
                        </m:sSubSupPr>
                        <m:e>
                          <m:r>
                            <a:rPr lang="en-US" altLang="zh-TW" sz="2400" b="1" i="1" smtClean="0">
                              <a:latin typeface="Cambria Math"/>
                            </a:rPr>
                            <m:t>𝑯</m:t>
                          </m:r>
                        </m:e>
                        <m:sub>
                          <m:r>
                            <a:rPr lang="en-US" altLang="zh-TW" sz="2400" b="1" i="1" smtClean="0">
                              <a:latin typeface="Cambria Math"/>
                            </a:rPr>
                            <m:t>𝒕</m:t>
                          </m:r>
                        </m:sub>
                        <m:sup>
                          <m:r>
                            <a:rPr lang="en-US" altLang="zh-TW" sz="2400" b="1" i="1" smtClean="0">
                              <a:latin typeface="Cambria Math"/>
                            </a:rPr>
                            <m:t>𝑻</m:t>
                          </m:r>
                        </m:sup>
                      </m:sSubSup>
                      <m:sSup>
                        <m:sSupPr>
                          <m:ctrlPr>
                            <a:rPr lang="en-US" altLang="zh-TW" sz="2400" b="1" i="1" smtClean="0">
                              <a:latin typeface="Cambria Math" panose="02040503050406030204" pitchFamily="18" charset="0"/>
                            </a:rPr>
                          </m:ctrlPr>
                        </m:sSupPr>
                        <m:e>
                          <m:d>
                            <m:dPr>
                              <m:begChr m:val="["/>
                              <m:endChr m:val="]"/>
                              <m:ctrlPr>
                                <a:rPr lang="en-US" altLang="zh-TW" sz="2400" b="1" i="1" smtClean="0">
                                  <a:latin typeface="Cambria Math" panose="02040503050406030204" pitchFamily="18" charset="0"/>
                                </a:rPr>
                              </m:ctrlPr>
                            </m:dPr>
                            <m:e>
                              <m:sSub>
                                <m:sSubPr>
                                  <m:ctrlPr>
                                    <a:rPr lang="en-US" altLang="zh-TW" sz="2400" b="1" i="1" smtClean="0">
                                      <a:latin typeface="Cambria Math" panose="02040503050406030204" pitchFamily="18" charset="0"/>
                                    </a:rPr>
                                  </m:ctrlPr>
                                </m:sSubPr>
                                <m:e>
                                  <m:r>
                                    <a:rPr lang="en-US" altLang="zh-TW" sz="2400" b="1" i="1" smtClean="0">
                                      <a:latin typeface="Cambria Math"/>
                                    </a:rPr>
                                    <m:t>𝑯</m:t>
                                  </m:r>
                                </m:e>
                                <m:sub>
                                  <m:r>
                                    <a:rPr lang="en-US" altLang="zh-TW" sz="2400" b="1" i="1" smtClean="0">
                                      <a:latin typeface="Cambria Math"/>
                                    </a:rPr>
                                    <m:t>𝒕</m:t>
                                  </m:r>
                                </m:sub>
                              </m:sSub>
                              <m:sSubSup>
                                <m:sSubSupPr>
                                  <m:ctrlPr>
                                    <a:rPr lang="en-US" altLang="zh-TW" sz="2400" b="1" i="1" smtClean="0">
                                      <a:latin typeface="Cambria Math" panose="02040503050406030204" pitchFamily="18" charset="0"/>
                                    </a:rPr>
                                  </m:ctrlPr>
                                </m:sSubSupPr>
                                <m:e>
                                  <m:r>
                                    <a:rPr lang="en-US" altLang="zh-TW" sz="2400" b="1" i="1" smtClean="0">
                                      <a:latin typeface="Cambria Math"/>
                                    </a:rPr>
                                    <m:t>𝑷</m:t>
                                  </m:r>
                                </m:e>
                                <m:sub>
                                  <m:r>
                                    <a:rPr lang="en-US" altLang="zh-TW" sz="2400" b="1" i="1" smtClean="0">
                                      <a:latin typeface="Cambria Math"/>
                                    </a:rPr>
                                    <m:t>𝒕</m:t>
                                  </m:r>
                                </m:sub>
                                <m:sup>
                                  <m:r>
                                    <a:rPr lang="en-US" altLang="zh-TW" sz="2400" b="1" i="1" smtClean="0">
                                      <a:latin typeface="Cambria Math"/>
                                    </a:rPr>
                                    <m:t>−</m:t>
                                  </m:r>
                                </m:sup>
                              </m:sSubSup>
                              <m:sSubSup>
                                <m:sSubSupPr>
                                  <m:ctrlPr>
                                    <a:rPr lang="en-US" altLang="zh-TW" sz="2400" b="1" i="1" smtClean="0">
                                      <a:latin typeface="Cambria Math" panose="02040503050406030204" pitchFamily="18" charset="0"/>
                                    </a:rPr>
                                  </m:ctrlPr>
                                </m:sSubSupPr>
                                <m:e>
                                  <m:r>
                                    <a:rPr lang="en-US" altLang="zh-TW" sz="2400" b="1" i="1" smtClean="0">
                                      <a:latin typeface="Cambria Math"/>
                                    </a:rPr>
                                    <m:t>𝑯</m:t>
                                  </m:r>
                                </m:e>
                                <m:sub>
                                  <m:r>
                                    <a:rPr lang="en-US" altLang="zh-TW" sz="2400" b="1" i="1" smtClean="0">
                                      <a:latin typeface="Cambria Math"/>
                                    </a:rPr>
                                    <m:t>𝒕</m:t>
                                  </m:r>
                                </m:sub>
                                <m:sup>
                                  <m:r>
                                    <a:rPr lang="en-US" altLang="zh-TW" sz="2400" b="1" i="1" smtClean="0">
                                      <a:latin typeface="Cambria Math"/>
                                    </a:rPr>
                                    <m:t>𝑻</m:t>
                                  </m:r>
                                </m:sup>
                              </m:sSubSup>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𝑹</m:t>
                                  </m:r>
                                </m:e>
                                <m:sub>
                                  <m:r>
                                    <a:rPr lang="en-US" altLang="zh-TW" sz="2400" b="1" i="1" smtClean="0">
                                      <a:latin typeface="Cambria Math"/>
                                    </a:rPr>
                                    <m:t>𝒕</m:t>
                                  </m:r>
                                </m:sub>
                              </m:sSub>
                            </m:e>
                          </m:d>
                        </m:e>
                        <m:sup>
                          <m:r>
                            <a:rPr lang="en-US" altLang="zh-TW" sz="2400" b="1" i="1" smtClean="0">
                              <a:latin typeface="Cambria Math"/>
                            </a:rPr>
                            <m:t>−</m:t>
                          </m:r>
                          <m:r>
                            <a:rPr lang="en-US" altLang="zh-TW" sz="2400" b="1" i="1" smtClean="0">
                              <a:latin typeface="Cambria Math"/>
                            </a:rPr>
                            <m:t>𝟏</m:t>
                          </m:r>
                        </m:sup>
                      </m:sSup>
                    </m:oMath>
                  </m:oMathPara>
                </a14:m>
                <a:endParaRPr lang="en-US" altLang="zh-TW" sz="2400" dirty="0" smtClean="0"/>
              </a:p>
              <a:p>
                <a:endParaRPr lang="en-US" altLang="zh-TW" sz="2400" dirty="0"/>
              </a:p>
              <a:p>
                <a:pPr marL="342900" indent="-342900">
                  <a:buFont typeface="Arial" panose="020B0604020202020204" pitchFamily="34" charset="0"/>
                  <a:buChar char="•"/>
                </a:pPr>
                <a:r>
                  <a:rPr lang="en-US" altLang="zh-TW" sz="2400" dirty="0" smtClean="0"/>
                  <a:t>If the measurement error approaches 0, then </a:t>
                </a:r>
                <a14:m>
                  <m:oMath xmlns:m="http://schemas.openxmlformats.org/officeDocument/2006/math">
                    <m:func>
                      <m:funcPr>
                        <m:ctrlPr>
                          <a:rPr lang="en-US" altLang="zh-TW" sz="2400" i="1" smtClean="0">
                            <a:latin typeface="Cambria Math" panose="02040503050406030204" pitchFamily="18" charset="0"/>
                          </a:rPr>
                        </m:ctrlPr>
                      </m:funcPr>
                      <m:fName>
                        <m:limLow>
                          <m:limLowPr>
                            <m:ctrlPr>
                              <a:rPr lang="en-US" altLang="zh-TW" sz="2400" i="1" smtClean="0">
                                <a:latin typeface="Cambria Math" panose="02040503050406030204" pitchFamily="18" charset="0"/>
                              </a:rPr>
                            </m:ctrlPr>
                          </m:limLowPr>
                          <m:e>
                            <m:r>
                              <m:rPr>
                                <m:sty m:val="p"/>
                              </m:rPr>
                              <a:rPr lang="en-US" altLang="zh-TW" sz="2400" i="0" smtClean="0">
                                <a:latin typeface="Cambria Math" panose="02040503050406030204" pitchFamily="18" charset="0"/>
                              </a:rPr>
                              <m:t>lim</m:t>
                            </m:r>
                          </m:e>
                          <m:lim>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𝑹</m:t>
                                </m:r>
                              </m:e>
                              <m:sub>
                                <m:r>
                                  <a:rPr lang="en-US" altLang="zh-TW" sz="2400" b="1" i="1" smtClean="0">
                                    <a:latin typeface="Cambria Math"/>
                                  </a:rPr>
                                  <m:t>𝒕</m:t>
                                </m:r>
                              </m:sub>
                            </m:sSub>
                            <m:r>
                              <a:rPr lang="en-US" altLang="zh-TW" sz="2400" b="0" i="1" smtClean="0">
                                <a:latin typeface="Cambria Math" panose="02040503050406030204" pitchFamily="18" charset="0"/>
                              </a:rPr>
                              <m:t>→0</m:t>
                            </m:r>
                          </m:lim>
                        </m:limLow>
                      </m:fName>
                      <m:e>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𝑲</m:t>
                            </m:r>
                          </m:e>
                          <m:sub>
                            <m:r>
                              <a:rPr lang="en-US" altLang="zh-TW" sz="2400" b="1" i="1" smtClean="0">
                                <a:latin typeface="Cambria Math"/>
                              </a:rPr>
                              <m:t>𝒕</m:t>
                            </m:r>
                          </m:sub>
                        </m:sSub>
                      </m:e>
                    </m:func>
                    <m:r>
                      <a:rPr lang="en-US" altLang="zh-TW" sz="2400" b="0" i="1" smtClean="0">
                        <a:latin typeface="Cambria Math" panose="02040503050406030204" pitchFamily="18" charset="0"/>
                      </a:rPr>
                      <m:t>=</m:t>
                    </m:r>
                    <m:sSup>
                      <m:sSupPr>
                        <m:ctrlPr>
                          <a:rPr lang="en-US" altLang="zh-TW" sz="2400" b="0" i="1" smtClean="0">
                            <a:latin typeface="Cambria Math" panose="02040503050406030204" pitchFamily="18" charset="0"/>
                          </a:rPr>
                        </m:ctrlPr>
                      </m:sSupPr>
                      <m:e>
                        <m:r>
                          <a:rPr lang="en-US" altLang="zh-TW" sz="2400" b="1" i="1" smtClean="0">
                            <a:latin typeface="Cambria Math" panose="02040503050406030204" pitchFamily="18" charset="0"/>
                          </a:rPr>
                          <m:t>𝑯</m:t>
                        </m:r>
                      </m:e>
                      <m:sup>
                        <m:r>
                          <a:rPr lang="en-US" altLang="zh-TW" sz="2400" b="0" i="1" smtClean="0">
                            <a:latin typeface="Cambria Math" panose="02040503050406030204" pitchFamily="18" charset="0"/>
                          </a:rPr>
                          <m:t>−1</m:t>
                        </m:r>
                      </m:sup>
                    </m:sSup>
                  </m:oMath>
                </a14:m>
                <a:endParaRPr lang="en-US" altLang="zh-TW" sz="2400" dirty="0" smtClean="0"/>
              </a:p>
              <a:p>
                <a:pPr marL="342900" indent="-342900">
                  <a:buFont typeface="Arial" panose="020B0604020202020204" pitchFamily="34" charset="0"/>
                  <a:buChar char="•"/>
                </a:pPr>
                <a:r>
                  <a:rPr lang="zh-TW" altLang="en-US" sz="2400" dirty="0" smtClean="0"/>
                  <a:t>即若量測誤差非常小時，則相信觀測值多一點，而較不相信預測值</a:t>
                </a:r>
                <a14:m>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𝑯</m:t>
                        </m:r>
                      </m:e>
                      <m:sub>
                        <m:r>
                          <a:rPr lang="en-US" altLang="zh-TW" sz="2400" b="1" i="1" smtClean="0">
                            <a:latin typeface="Cambria Math"/>
                          </a:rPr>
                          <m:t>𝒕</m:t>
                        </m:r>
                      </m:sub>
                    </m:sSub>
                    <m:sSub>
                      <m:sSubPr>
                        <m:ctrlPr>
                          <a:rPr lang="en-US" altLang="zh-TW" sz="2400" b="1" i="1" smtClean="0">
                            <a:latin typeface="Cambria Math" panose="02040503050406030204" pitchFamily="18" charset="0"/>
                          </a:rPr>
                        </m:ctrlPr>
                      </m:sSubPr>
                      <m:e>
                        <m:acc>
                          <m:accPr>
                            <m:chr m:val="̂"/>
                            <m:ctrlPr>
                              <a:rPr lang="en-US" altLang="zh-TW" sz="2400" b="1" i="1" smtClean="0">
                                <a:latin typeface="Cambria Math" panose="02040503050406030204" pitchFamily="18" charset="0"/>
                              </a:rPr>
                            </m:ctrlPr>
                          </m:accPr>
                          <m:e>
                            <m:r>
                              <a:rPr lang="en-US" altLang="zh-TW" sz="2400" b="1" i="1" smtClean="0">
                                <a:latin typeface="Cambria Math" panose="02040503050406030204" pitchFamily="18" charset="0"/>
                              </a:rPr>
                              <m:t>𝒙</m:t>
                            </m:r>
                          </m:e>
                        </m:acc>
                      </m:e>
                      <m:sub>
                        <m:r>
                          <a:rPr lang="en-US" altLang="zh-TW" sz="2400" b="1" i="1" smtClean="0">
                            <a:latin typeface="Cambria Math"/>
                          </a:rPr>
                          <m:t>𝒕</m:t>
                        </m:r>
                      </m:sub>
                    </m:sSub>
                  </m:oMath>
                </a14:m>
                <a:r>
                  <a:rPr lang="zh-TW" altLang="en-US" sz="2400" dirty="0" smtClean="0"/>
                  <a:t>。</a:t>
                </a:r>
                <a:endParaRPr lang="en-US" altLang="zh-TW" sz="2400" dirty="0" smtClean="0"/>
              </a:p>
              <a:p>
                <a:pPr marL="342900" indent="-342900">
                  <a:buFont typeface="Arial" panose="020B0604020202020204" pitchFamily="34" charset="0"/>
                  <a:buChar char="•"/>
                </a:pPr>
                <a:endParaRPr lang="en-US" altLang="zh-TW" sz="2400" dirty="0" smtClean="0"/>
              </a:p>
              <a:p>
                <a:pPr marL="342900" indent="-342900">
                  <a:buFont typeface="Arial" panose="020B0604020202020204" pitchFamily="34" charset="0"/>
                  <a:buChar char="•"/>
                </a:pPr>
                <a:r>
                  <a:rPr lang="en-US" altLang="zh-TW" sz="2400" dirty="0" smtClean="0"/>
                  <a:t>If the priori estimate error approaches 0, then </a:t>
                </a:r>
                <a14:m>
                  <m:oMath xmlns:m="http://schemas.openxmlformats.org/officeDocument/2006/math">
                    <m:func>
                      <m:funcPr>
                        <m:ctrlPr>
                          <a:rPr lang="en-US" altLang="zh-TW" sz="2400" i="1" smtClean="0">
                            <a:latin typeface="Cambria Math" panose="02040503050406030204" pitchFamily="18" charset="0"/>
                          </a:rPr>
                        </m:ctrlPr>
                      </m:funcPr>
                      <m:fName>
                        <m:limLow>
                          <m:limLowPr>
                            <m:ctrlPr>
                              <a:rPr lang="en-US" altLang="zh-TW" sz="2400" i="1" smtClean="0">
                                <a:latin typeface="Cambria Math" panose="02040503050406030204" pitchFamily="18" charset="0"/>
                              </a:rPr>
                            </m:ctrlPr>
                          </m:limLowPr>
                          <m:e>
                            <m:r>
                              <m:rPr>
                                <m:sty m:val="p"/>
                              </m:rPr>
                              <a:rPr lang="en-US" altLang="zh-TW" sz="2400" i="0" smtClean="0">
                                <a:latin typeface="Cambria Math" panose="02040503050406030204" pitchFamily="18" charset="0"/>
                              </a:rPr>
                              <m:t>lim</m:t>
                            </m:r>
                          </m:e>
                          <m:lim>
                            <m:sSubSup>
                              <m:sSubSupPr>
                                <m:ctrlPr>
                                  <a:rPr lang="en-US" altLang="zh-TW" sz="2400" b="1" i="1" smtClean="0">
                                    <a:latin typeface="Cambria Math" panose="02040503050406030204" pitchFamily="18" charset="0"/>
                                  </a:rPr>
                                </m:ctrlPr>
                              </m:sSubSupPr>
                              <m:e>
                                <m:r>
                                  <a:rPr lang="en-US" altLang="zh-TW" sz="2400" b="1" i="1" smtClean="0">
                                    <a:latin typeface="Cambria Math" panose="02040503050406030204" pitchFamily="18" charset="0"/>
                                  </a:rPr>
                                  <m:t>𝑷</m:t>
                                </m:r>
                              </m:e>
                              <m:sub>
                                <m:r>
                                  <a:rPr lang="en-US" altLang="zh-TW" sz="2400" b="1" i="1" smtClean="0">
                                    <a:latin typeface="Cambria Math"/>
                                  </a:rPr>
                                  <m:t>𝒕</m:t>
                                </m:r>
                              </m:sub>
                              <m:sup>
                                <m:r>
                                  <a:rPr lang="en-US" altLang="zh-TW" sz="2400" b="1" i="1" smtClean="0">
                                    <a:latin typeface="Cambria Math" panose="02040503050406030204" pitchFamily="18" charset="0"/>
                                  </a:rPr>
                                  <m:t>−</m:t>
                                </m:r>
                              </m:sup>
                            </m:sSubSup>
                            <m:r>
                              <a:rPr lang="en-US" altLang="zh-TW" sz="2400" b="0" i="1" smtClean="0">
                                <a:latin typeface="Cambria Math" panose="02040503050406030204" pitchFamily="18" charset="0"/>
                              </a:rPr>
                              <m:t>→0</m:t>
                            </m:r>
                          </m:lim>
                        </m:limLow>
                      </m:fName>
                      <m:e>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𝑲</m:t>
                            </m:r>
                          </m:e>
                          <m:sub>
                            <m:r>
                              <a:rPr lang="en-US" altLang="zh-TW" sz="2400" b="1" i="1" smtClean="0">
                                <a:latin typeface="Cambria Math"/>
                              </a:rPr>
                              <m:t>𝒕</m:t>
                            </m:r>
                          </m:sub>
                        </m:sSub>
                      </m:e>
                    </m:func>
                    <m:r>
                      <a:rPr lang="en-US" altLang="zh-TW" sz="2400" b="0" i="1" smtClean="0">
                        <a:latin typeface="Cambria Math" panose="02040503050406030204" pitchFamily="18" charset="0"/>
                      </a:rPr>
                      <m:t>=0</m:t>
                    </m:r>
                  </m:oMath>
                </a14:m>
                <a:endParaRPr lang="en-US" altLang="zh-TW" sz="2400" dirty="0" smtClean="0"/>
              </a:p>
              <a:p>
                <a:pPr marL="342900" indent="-342900">
                  <a:buFont typeface="Arial" panose="020B0604020202020204" pitchFamily="34" charset="0"/>
                  <a:buChar char="•"/>
                </a:pPr>
                <a:r>
                  <a:rPr lang="zh-TW" altLang="en-US" sz="2400" dirty="0" smtClean="0"/>
                  <a:t>即若事前預測誤差非常小時，則較不相信觀測值，比較相信預測值</a:t>
                </a:r>
                <a:endParaRPr lang="zh-TW" altLang="en-US" sz="2400" dirty="0"/>
              </a:p>
            </p:txBody>
          </p:sp>
        </mc:Choice>
        <mc:Fallback>
          <p:sp>
            <p:nvSpPr>
              <p:cNvPr id="3" name="矩形 2"/>
              <p:cNvSpPr>
                <a:spLocks noRot="1" noChangeAspect="1" noMove="1" noResize="1" noEditPoints="1" noAdjustHandles="1" noChangeArrowheads="1" noChangeShapeType="1" noTextEdit="1"/>
              </p:cNvSpPr>
              <p:nvPr/>
            </p:nvSpPr>
            <p:spPr>
              <a:xfrm>
                <a:off x="838200" y="1690688"/>
                <a:ext cx="10444766" cy="3524363"/>
              </a:xfrm>
              <a:prstGeom prst="rect">
                <a:avLst/>
              </a:prstGeom>
              <a:blipFill rotWithShape="1">
                <a:blip r:embed="rId2"/>
                <a:stretch>
                  <a:fillRect l="-817" t="-1384" b="-2595"/>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6" name="圓角矩形 5"/>
              <p:cNvSpPr/>
              <p:nvPr/>
            </p:nvSpPr>
            <p:spPr>
              <a:xfrm>
                <a:off x="5266630" y="618186"/>
                <a:ext cx="5937992" cy="83712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14:m>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𝑨</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r>
                          <a:rPr lang="en-US" altLang="zh-TW" sz="2400" b="1" i="1">
                            <a:latin typeface="Cambria Math"/>
                          </a:rPr>
                          <m:t>−</m:t>
                        </m:r>
                        <m:r>
                          <a:rPr lang="en-US" altLang="zh-TW" sz="2400" b="1" i="1">
                            <a:latin typeface="Cambria Math"/>
                          </a:rPr>
                          <m:t>𝟏</m:t>
                        </m:r>
                      </m:sub>
                    </m:sSub>
                    <m:r>
                      <a:rPr lang="en-US" altLang="zh-TW" sz="2400" b="1"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𝑩</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𝒖</m:t>
                        </m:r>
                      </m:e>
                      <m:sub>
                        <m:r>
                          <a:rPr lang="en-US" altLang="zh-TW" sz="2400" b="1" i="1" smtClean="0">
                            <a:latin typeface="Cambria Math"/>
                          </a:rPr>
                          <m:t>𝒕</m:t>
                        </m:r>
                      </m:sub>
                    </m:sSub>
                    <m:r>
                      <a:rPr lang="en-US" altLang="zh-TW" sz="2400" b="1"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𝒘</m:t>
                        </m:r>
                      </m:e>
                      <m:sub>
                        <m:r>
                          <a:rPr lang="en-US" altLang="zh-TW" sz="2400" b="1" i="1" smtClean="0">
                            <a:latin typeface="Cambria Math"/>
                          </a:rPr>
                          <m:t>𝒕</m:t>
                        </m:r>
                      </m:sub>
                    </m:sSub>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𝒘</m:t>
                        </m:r>
                      </m:e>
                      <m:sub>
                        <m:r>
                          <a:rPr lang="en-US" altLang="zh-TW" sz="2400" b="1" i="1" smtClean="0">
                            <a:latin typeface="Cambria Math"/>
                          </a:rPr>
                          <m:t>𝒕</m:t>
                        </m:r>
                      </m:sub>
                    </m:sSub>
                    <m:r>
                      <a:rPr lang="en-US" altLang="zh-TW" sz="2400" b="1" i="1" smtClean="0">
                        <a:latin typeface="Cambria Math"/>
                      </a:rPr>
                      <m:t>~</m:t>
                    </m:r>
                    <m:r>
                      <a:rPr lang="en-US" altLang="zh-TW" sz="2400" b="1" i="1" smtClean="0">
                        <a:latin typeface="Cambria Math"/>
                      </a:rPr>
                      <m:t>𝑵</m:t>
                    </m:r>
                    <m:r>
                      <a:rPr lang="en-US" altLang="zh-TW" sz="2400" b="1" i="1" smtClean="0">
                        <a:latin typeface="Cambria Math"/>
                      </a:rPr>
                      <m:t>(</m:t>
                    </m:r>
                    <m:r>
                      <a:rPr lang="en-US" altLang="zh-TW" sz="2400" b="1" i="1" smtClean="0">
                        <a:latin typeface="Cambria Math"/>
                      </a:rPr>
                      <m:t>𝟎</m:t>
                    </m:r>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𝑸</m:t>
                        </m:r>
                      </m:e>
                      <m:sub>
                        <m:r>
                          <a:rPr lang="en-US" altLang="zh-TW" sz="2400" b="1" i="1" smtClean="0">
                            <a:latin typeface="Cambria Math"/>
                          </a:rPr>
                          <m:t>𝒕</m:t>
                        </m:r>
                      </m:sub>
                    </m:sSub>
                    <m:r>
                      <a:rPr lang="en-US" altLang="zh-TW" sz="2400" b="1" i="1" smtClean="0">
                        <a:latin typeface="Cambria Math"/>
                      </a:rPr>
                      <m:t>)</m:t>
                    </m:r>
                  </m:oMath>
                </a14:m>
                <a:r>
                  <a:rPr lang="en-US" altLang="zh-TW" sz="2400" b="1" dirty="0" smtClean="0"/>
                  <a:t/>
                </a:r>
                <a:endParaRPr lang="en-US" altLang="zh-TW" sz="2400" b="1" i="1" dirty="0" smtClean="0">
                  <a:latin typeface="Cambria Math"/>
                </a:endParaRPr>
              </a:p>
              <a:p>
                <a:pPr/>
                <a14:m>
                  <m:oMathPara xmlns:m="http://schemas.openxmlformats.org/officeDocument/2006/math">
                    <m:oMathParaPr>
                      <m:jc m:val="left"/>
                    </m:oMathParaPr>
                    <m:oMath xmlns:m="http://schemas.openxmlformats.org/officeDocument/2006/math">
                      <m:sSub>
                        <m:sSubPr>
                          <m:ctrlPr>
                            <a:rPr lang="en-US" altLang="zh-TW" sz="2400" b="1" i="1">
                              <a:latin typeface="Cambria Math" panose="02040503050406030204" pitchFamily="18" charset="0"/>
                            </a:rPr>
                          </m:ctrlPr>
                        </m:sSubPr>
                        <m:e>
                          <m:r>
                            <a:rPr lang="en-US" altLang="zh-TW" sz="2400" b="1" i="1" smtClean="0">
                              <a:latin typeface="Cambria Math" panose="02040503050406030204" pitchFamily="18" charset="0"/>
                            </a:rPr>
                            <m:t>𝒛</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𝑯</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𝒗</m:t>
                          </m:r>
                        </m:e>
                        <m:sub>
                          <m:r>
                            <a:rPr lang="en-US" altLang="zh-TW" sz="2400" b="1" i="1" smtClean="0">
                              <a:latin typeface="Cambria Math"/>
                            </a:rPr>
                            <m:t>𝒕</m:t>
                          </m:r>
                        </m:sub>
                      </m:sSub>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𝒗</m:t>
                          </m:r>
                        </m:e>
                        <m:sub>
                          <m:r>
                            <a:rPr lang="en-US" altLang="zh-TW" sz="2400" b="1" i="1" smtClean="0">
                              <a:latin typeface="Cambria Math"/>
                            </a:rPr>
                            <m:t>𝒕</m:t>
                          </m:r>
                        </m:sub>
                      </m:sSub>
                      <m:r>
                        <a:rPr lang="en-US" altLang="zh-TW" sz="2400" b="1" i="1" smtClean="0">
                          <a:latin typeface="Cambria Math"/>
                        </a:rPr>
                        <m:t>~</m:t>
                      </m:r>
                      <m:r>
                        <a:rPr lang="en-US" altLang="zh-TW" sz="2400" b="1" i="1" smtClean="0">
                          <a:latin typeface="Cambria Math"/>
                        </a:rPr>
                        <m:t>𝑵</m:t>
                      </m:r>
                      <m:r>
                        <a:rPr lang="en-US" altLang="zh-TW" sz="2400" b="1" i="1" smtClean="0">
                          <a:latin typeface="Cambria Math"/>
                        </a:rPr>
                        <m:t>(</m:t>
                      </m:r>
                      <m:r>
                        <a:rPr lang="en-US" altLang="zh-TW" sz="2400" b="1" i="1" smtClean="0">
                          <a:latin typeface="Cambria Math"/>
                        </a:rPr>
                        <m:t>𝟎</m:t>
                      </m:r>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𝑹</m:t>
                          </m:r>
                        </m:e>
                        <m:sub>
                          <m:r>
                            <a:rPr lang="en-US" altLang="zh-TW" sz="2400" b="1" i="1" smtClean="0">
                              <a:latin typeface="Cambria Math"/>
                            </a:rPr>
                            <m:t>𝒕</m:t>
                          </m:r>
                        </m:sub>
                      </m:sSub>
                      <m:r>
                        <a:rPr lang="en-US" altLang="zh-TW" sz="2400" b="1" i="1" smtClean="0">
                          <a:latin typeface="Cambria Math"/>
                        </a:rPr>
                        <m:t>)</m:t>
                      </m:r>
                    </m:oMath>
                  </m:oMathPara>
                </a14:m>
                <a:endParaRPr lang="zh-TW" altLang="en-US" sz="2400" dirty="0"/>
              </a:p>
            </p:txBody>
          </p:sp>
        </mc:Choice>
        <mc:Fallback>
          <p:sp>
            <p:nvSpPr>
              <p:cNvPr id="6" name="圓角矩形 5"/>
              <p:cNvSpPr>
                <a:spLocks noRot="1" noChangeAspect="1" noMove="1" noResize="1" noEditPoints="1" noAdjustHandles="1" noChangeArrowheads="1" noChangeShapeType="1" noTextEdit="1"/>
              </p:cNvSpPr>
              <p:nvPr/>
            </p:nvSpPr>
            <p:spPr>
              <a:xfrm>
                <a:off x="5266630" y="618186"/>
                <a:ext cx="5937992" cy="837127"/>
              </a:xfrm>
              <a:prstGeom prst="roundRect">
                <a:avLst/>
              </a:prstGeom>
              <a:blipFill rotWithShape="1">
                <a:blip r:embed="rId3"/>
                <a:stretch>
                  <a:fillRect b="-86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37185810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179990"/>
            <a:ext cx="10515600" cy="1325563"/>
          </a:xfrm>
        </p:spPr>
        <p:txBody>
          <a:bodyPr/>
          <a:lstStyle/>
          <a:p>
            <a:r>
              <a:rPr lang="en-US" altLang="zh-TW" dirty="0" smtClean="0"/>
              <a:t>Kalman filter steps:</a:t>
            </a:r>
            <a:endParaRPr lang="zh-TW" altLang="en-US" dirty="0"/>
          </a:p>
        </p:txBody>
      </p:sp>
      <p:sp>
        <p:nvSpPr>
          <p:cNvPr id="3" name="投影片編號版面配置區 2"/>
          <p:cNvSpPr>
            <a:spLocks noGrp="1"/>
          </p:cNvSpPr>
          <p:nvPr>
            <p:ph type="sldNum" sz="quarter" idx="12"/>
          </p:nvPr>
        </p:nvSpPr>
        <p:spPr/>
        <p:txBody>
          <a:bodyPr/>
          <a:lstStyle/>
          <a:p>
            <a:fld id="{EDBC11D7-B428-46C8-AE33-EA48ADD530EC}" type="slidenum">
              <a:rPr lang="zh-TW" altLang="en-US" smtClean="0"/>
              <a:pPr/>
              <a:t>14</a:t>
            </a:fld>
            <a:endParaRPr lang="zh-TW" altLang="en-US"/>
          </a:p>
        </p:txBody>
      </p:sp>
      <mc:AlternateContent xmlns:mc="http://schemas.openxmlformats.org/markup-compatibility/2006">
        <mc:Choice xmlns:a14="http://schemas.microsoft.com/office/drawing/2010/main" xmlns="" Requires="a14">
          <p:sp>
            <p:nvSpPr>
              <p:cNvPr id="4" name="文字方塊 3"/>
              <p:cNvSpPr txBox="1"/>
              <p:nvPr/>
            </p:nvSpPr>
            <p:spPr>
              <a:xfrm>
                <a:off x="450761" y="1163607"/>
                <a:ext cx="10786818" cy="5557868"/>
              </a:xfrm>
              <a:prstGeom prst="rect">
                <a:avLst/>
              </a:prstGeom>
              <a:noFill/>
            </p:spPr>
            <p:txBody>
              <a:bodyPr wrap="square" rtlCol="0">
                <a:spAutoFit/>
              </a:bodyPr>
              <a:lstStyle/>
              <a:p>
                <a:r>
                  <a:rPr lang="en-US" altLang="zh-TW" sz="2800" b="1" dirty="0" smtClean="0">
                    <a:solidFill>
                      <a:srgbClr val="FF0000"/>
                    </a:solidFill>
                  </a:rPr>
                  <a:t>Predict phase</a:t>
                </a:r>
                <a:r>
                  <a:rPr lang="en-US" altLang="zh-TW" sz="2800" dirty="0" smtClean="0"/>
                  <a:t>:</a:t>
                </a:r>
              </a:p>
              <a:p>
                <a:pPr marL="342900" indent="-342900">
                  <a:buFont typeface="+mj-lt"/>
                  <a:buAutoNum type="arabicPeriod"/>
                </a:pPr>
                <a:r>
                  <a:rPr lang="zh-TW" altLang="en-US" sz="2800" dirty="0" smtClean="0"/>
                  <a:t>已知</a:t>
                </a:r>
                <a:r>
                  <a:rPr lang="en-US" altLang="zh-TW" sz="2800" dirty="0" smtClean="0"/>
                  <a:t>t-1 state</a:t>
                </a:r>
                <a:r>
                  <a:rPr lang="zh-TW" altLang="en-US" sz="2800" dirty="0" smtClean="0"/>
                  <a:t>的估計值</a:t>
                </a:r>
                <a14:m>
                  <m:oMath xmlns:m="http://schemas.openxmlformats.org/officeDocument/2006/math">
                    <m:sSub>
                      <m:sSubPr>
                        <m:ctrlPr>
                          <a:rPr lang="en-US" altLang="zh-TW" sz="2800" b="1" i="1" dirty="0" smtClean="0">
                            <a:latin typeface="Cambria Math" panose="02040503050406030204" pitchFamily="18" charset="0"/>
                          </a:rPr>
                        </m:ctrlPr>
                      </m:sSubPr>
                      <m:e>
                        <m:acc>
                          <m:accPr>
                            <m:chr m:val="̂"/>
                            <m:ctrlPr>
                              <a:rPr lang="en-US" altLang="zh-TW" sz="2800" b="1" i="1" smtClean="0">
                                <a:latin typeface="Cambria Math" panose="02040503050406030204" pitchFamily="18" charset="0"/>
                              </a:rPr>
                            </m:ctrlPr>
                          </m:accPr>
                          <m:e>
                            <m:r>
                              <a:rPr lang="en-US" altLang="zh-TW" sz="2800" b="1" i="1" smtClean="0">
                                <a:latin typeface="Cambria Math" panose="02040503050406030204" pitchFamily="18" charset="0"/>
                              </a:rPr>
                              <m:t>𝒙</m:t>
                            </m:r>
                          </m:e>
                        </m:acc>
                      </m:e>
                      <m:sub>
                        <m:r>
                          <a:rPr lang="en-US" altLang="zh-TW" sz="2800" b="1" i="1" dirty="0" smtClean="0">
                            <a:latin typeface="Cambria Math"/>
                          </a:rPr>
                          <m:t>𝒕</m:t>
                        </m:r>
                        <m:r>
                          <a:rPr lang="en-US" altLang="zh-TW" sz="2800" b="1" i="1" dirty="0" smtClean="0">
                            <a:latin typeface="Cambria Math" panose="02040503050406030204" pitchFamily="18" charset="0"/>
                          </a:rPr>
                          <m:t>−</m:t>
                        </m:r>
                        <m:r>
                          <a:rPr lang="en-US" altLang="zh-TW" sz="2800" b="1" i="1" dirty="0" smtClean="0">
                            <a:latin typeface="Cambria Math" panose="02040503050406030204" pitchFamily="18" charset="0"/>
                          </a:rPr>
                          <m:t>𝟏</m:t>
                        </m:r>
                      </m:sub>
                    </m:sSub>
                  </m:oMath>
                </a14:m>
                <a:r>
                  <a:rPr lang="zh-TW" altLang="en-US" sz="2800" dirty="0" smtClean="0"/>
                  <a:t>與</a:t>
                </a:r>
                <a:r>
                  <a:rPr lang="en-US" altLang="zh-TW" sz="2800" dirty="0" smtClean="0"/>
                  <a:t>error covariance matrix </a:t>
                </a:r>
                <a14:m>
                  <m:oMath xmlns:m="http://schemas.openxmlformats.org/officeDocument/2006/math">
                    <m:sSubSup>
                      <m:sSubSupPr>
                        <m:ctrlPr>
                          <a:rPr lang="en-US" altLang="zh-TW" sz="2800" b="1" i="1" dirty="0" smtClean="0">
                            <a:latin typeface="Cambria Math" panose="02040503050406030204" pitchFamily="18" charset="0"/>
                          </a:rPr>
                        </m:ctrlPr>
                      </m:sSubSupPr>
                      <m:e>
                        <m:r>
                          <a:rPr lang="en-US" altLang="zh-TW" sz="2800" b="1" i="1" dirty="0" smtClean="0">
                            <a:latin typeface="Cambria Math" panose="02040503050406030204" pitchFamily="18" charset="0"/>
                          </a:rPr>
                          <m:t>𝒑</m:t>
                        </m:r>
                      </m:e>
                      <m:sub>
                        <m:r>
                          <a:rPr lang="en-US" altLang="zh-TW" sz="2800" b="1" i="1" dirty="0" smtClean="0">
                            <a:latin typeface="Cambria Math"/>
                          </a:rPr>
                          <m:t>𝒕</m:t>
                        </m:r>
                        <m:r>
                          <a:rPr lang="en-US" altLang="zh-TW" sz="2800" b="1" i="1" dirty="0" smtClean="0">
                            <a:latin typeface="Cambria Math" panose="02040503050406030204" pitchFamily="18" charset="0"/>
                          </a:rPr>
                          <m:t>−</m:t>
                        </m:r>
                        <m:r>
                          <a:rPr lang="en-US" altLang="zh-TW" sz="2800" b="1" i="1" dirty="0" smtClean="0">
                            <a:latin typeface="Cambria Math" panose="02040503050406030204" pitchFamily="18" charset="0"/>
                          </a:rPr>
                          <m:t>𝟏</m:t>
                        </m:r>
                      </m:sub>
                      <m:sup>
                        <m:r>
                          <a:rPr lang="en-US" altLang="zh-TW" sz="2800" b="1" i="1" dirty="0" smtClean="0">
                            <a:latin typeface="Cambria Math" panose="02040503050406030204" pitchFamily="18" charset="0"/>
                          </a:rPr>
                          <m:t>−</m:t>
                        </m:r>
                      </m:sup>
                    </m:sSubSup>
                  </m:oMath>
                </a14:m>
                <a:r>
                  <a:rPr lang="en-US" altLang="zh-TW" sz="2800" dirty="0" smtClean="0"/>
                  <a:t/>
                </a:r>
                <a:br>
                  <a:rPr lang="en-US" altLang="zh-TW" sz="2800" dirty="0" smtClean="0"/>
                </a:br>
                <a:r>
                  <a:rPr lang="zh-TW" altLang="en-US" sz="2800" dirty="0" smtClean="0"/>
                  <a:t>代入公式得</a:t>
                </a:r>
                <a:r>
                  <a:rPr lang="en-US" altLang="zh-TW" sz="2800" dirty="0" smtClean="0"/>
                  <a:t>prior state </a:t>
                </a:r>
                <a14:m>
                  <m:oMath xmlns:m="http://schemas.openxmlformats.org/officeDocument/2006/math">
                    <m:sSubSup>
                      <m:sSubSupPr>
                        <m:ctrlPr>
                          <a:rPr lang="en-US" altLang="zh-TW" sz="2800" b="1" i="1" smtClean="0">
                            <a:latin typeface="Cambria Math" panose="02040503050406030204" pitchFamily="18" charset="0"/>
                          </a:rPr>
                        </m:ctrlPr>
                      </m:sSubSupPr>
                      <m:e>
                        <m:acc>
                          <m:accPr>
                            <m:chr m:val="̂"/>
                            <m:ctrlPr>
                              <a:rPr lang="en-US" altLang="zh-TW" sz="2800" b="1" i="1" smtClean="0">
                                <a:latin typeface="Cambria Math" panose="02040503050406030204" pitchFamily="18" charset="0"/>
                              </a:rPr>
                            </m:ctrlPr>
                          </m:accPr>
                          <m:e>
                            <m:r>
                              <a:rPr lang="en-US" altLang="zh-TW" sz="2800" b="1" i="1" smtClean="0">
                                <a:latin typeface="Cambria Math" panose="02040503050406030204" pitchFamily="18" charset="0"/>
                              </a:rPr>
                              <m:t>𝒙</m:t>
                            </m:r>
                          </m:e>
                        </m:acc>
                      </m:e>
                      <m:sub>
                        <m:r>
                          <a:rPr lang="en-US" altLang="zh-TW" sz="2800" b="1" i="1" smtClean="0">
                            <a:latin typeface="Cambria Math"/>
                          </a:rPr>
                          <m:t>𝒕</m:t>
                        </m:r>
                      </m:sub>
                      <m:sup>
                        <m:r>
                          <a:rPr lang="en-US" altLang="zh-TW" sz="2800" b="1" i="1" smtClean="0">
                            <a:latin typeface="Cambria Math" panose="02040503050406030204" pitchFamily="18" charset="0"/>
                          </a:rPr>
                          <m:t>−</m:t>
                        </m:r>
                      </m:sup>
                    </m:sSubSup>
                    <m:r>
                      <a:rPr lang="en-US" altLang="zh-TW" sz="2800" b="0" i="1" smtClean="0">
                        <a:latin typeface="Cambria Math" panose="02040503050406030204" pitchFamily="18" charset="0"/>
                      </a:rPr>
                      <m:t>=</m:t>
                    </m:r>
                    <m:sSub>
                      <m:sSubPr>
                        <m:ctrlPr>
                          <a:rPr lang="en-US" altLang="zh-TW" sz="2800" b="1" i="1" smtClean="0">
                            <a:latin typeface="Cambria Math" panose="02040503050406030204" pitchFamily="18" charset="0"/>
                          </a:rPr>
                        </m:ctrlPr>
                      </m:sSubPr>
                      <m:e>
                        <m:r>
                          <a:rPr lang="en-US" altLang="zh-TW" sz="2800" b="1" i="1" smtClean="0">
                            <a:latin typeface="Cambria Math" panose="02040503050406030204" pitchFamily="18" charset="0"/>
                          </a:rPr>
                          <m:t>𝑨</m:t>
                        </m:r>
                      </m:e>
                      <m:sub>
                        <m:r>
                          <a:rPr lang="en-US" altLang="zh-TW" sz="2800" b="1" i="1" smtClean="0">
                            <a:latin typeface="Cambria Math"/>
                          </a:rPr>
                          <m:t>𝒕</m:t>
                        </m:r>
                      </m:sub>
                    </m:sSub>
                    <m:sSub>
                      <m:sSubPr>
                        <m:ctrlPr>
                          <a:rPr lang="en-US" altLang="zh-TW" sz="2800" b="1" i="1" dirty="0" smtClean="0">
                            <a:latin typeface="Cambria Math" panose="02040503050406030204" pitchFamily="18" charset="0"/>
                          </a:rPr>
                        </m:ctrlPr>
                      </m:sSubPr>
                      <m:e>
                        <m:acc>
                          <m:accPr>
                            <m:chr m:val="̂"/>
                            <m:ctrlPr>
                              <a:rPr lang="en-US" altLang="zh-TW" sz="2800" b="1" i="1" smtClean="0">
                                <a:latin typeface="Cambria Math" panose="02040503050406030204" pitchFamily="18" charset="0"/>
                              </a:rPr>
                            </m:ctrlPr>
                          </m:accPr>
                          <m:e>
                            <m:r>
                              <a:rPr lang="en-US" altLang="zh-TW" sz="2800" b="1" i="1" smtClean="0">
                                <a:latin typeface="Cambria Math" panose="02040503050406030204" pitchFamily="18" charset="0"/>
                              </a:rPr>
                              <m:t>𝒙</m:t>
                            </m:r>
                          </m:e>
                        </m:acc>
                      </m:e>
                      <m:sub>
                        <m:r>
                          <a:rPr lang="en-US" altLang="zh-TW" sz="2800" b="1" i="1" dirty="0" smtClean="0">
                            <a:latin typeface="Cambria Math"/>
                          </a:rPr>
                          <m:t>𝒕</m:t>
                        </m:r>
                        <m:r>
                          <a:rPr lang="en-US" altLang="zh-TW" sz="2800" b="1" i="1" dirty="0" smtClean="0">
                            <a:latin typeface="Cambria Math" panose="02040503050406030204" pitchFamily="18" charset="0"/>
                          </a:rPr>
                          <m:t>−</m:t>
                        </m:r>
                        <m:r>
                          <a:rPr lang="en-US" altLang="zh-TW" sz="2800" b="1" i="1" dirty="0" smtClean="0">
                            <a:latin typeface="Cambria Math" panose="02040503050406030204" pitchFamily="18" charset="0"/>
                          </a:rPr>
                          <m:t>𝟏</m:t>
                        </m:r>
                      </m:sub>
                    </m:sSub>
                    <m:r>
                      <a:rPr lang="en-US" altLang="zh-TW" sz="2800" b="0" i="1" dirty="0" smtClean="0">
                        <a:latin typeface="Cambria Math" panose="02040503050406030204" pitchFamily="18" charset="0"/>
                      </a:rPr>
                      <m:t>+</m:t>
                    </m:r>
                    <m:sSub>
                      <m:sSubPr>
                        <m:ctrlPr>
                          <a:rPr lang="en-US" altLang="zh-TW" sz="2800" b="1" i="1" dirty="0" smtClean="0">
                            <a:latin typeface="Cambria Math" panose="02040503050406030204" pitchFamily="18" charset="0"/>
                          </a:rPr>
                        </m:ctrlPr>
                      </m:sSubPr>
                      <m:e>
                        <m:r>
                          <a:rPr lang="en-US" altLang="zh-TW" sz="2800" b="1" i="1" dirty="0" smtClean="0">
                            <a:latin typeface="Cambria Math" panose="02040503050406030204" pitchFamily="18" charset="0"/>
                          </a:rPr>
                          <m:t>𝑩</m:t>
                        </m:r>
                      </m:e>
                      <m:sub>
                        <m:r>
                          <a:rPr lang="en-US" altLang="zh-TW" sz="2800" b="1" i="1" dirty="0" smtClean="0">
                            <a:latin typeface="Cambria Math"/>
                          </a:rPr>
                          <m:t>𝒕</m:t>
                        </m:r>
                      </m:sub>
                    </m:sSub>
                    <m:sSub>
                      <m:sSubPr>
                        <m:ctrlPr>
                          <a:rPr lang="en-US" altLang="zh-TW" sz="2800" b="1" i="1" dirty="0" smtClean="0">
                            <a:latin typeface="Cambria Math" panose="02040503050406030204" pitchFamily="18" charset="0"/>
                          </a:rPr>
                        </m:ctrlPr>
                      </m:sSubPr>
                      <m:e>
                        <m:r>
                          <a:rPr lang="en-US" altLang="zh-TW" sz="2800" b="1" i="1" dirty="0" smtClean="0">
                            <a:latin typeface="Cambria Math" panose="02040503050406030204" pitchFamily="18" charset="0"/>
                          </a:rPr>
                          <m:t>𝒖</m:t>
                        </m:r>
                      </m:e>
                      <m:sub>
                        <m:r>
                          <a:rPr lang="en-US" altLang="zh-TW" sz="2800" b="1" i="1" dirty="0" smtClean="0">
                            <a:latin typeface="Cambria Math"/>
                          </a:rPr>
                          <m:t>𝒕</m:t>
                        </m:r>
                      </m:sub>
                    </m:sSub>
                  </m:oMath>
                </a14:m>
                <a:endParaRPr lang="en-US" altLang="zh-TW" sz="2800" b="1" dirty="0" smtClean="0"/>
              </a:p>
              <a:p>
                <a:pPr marL="342900" indent="-342900">
                  <a:buFont typeface="+mj-lt"/>
                  <a:buAutoNum type="arabicPeriod"/>
                </a:pPr>
                <a:r>
                  <a:rPr lang="zh-TW" altLang="en-US" sz="2800" dirty="0" smtClean="0"/>
                  <a:t>計算</a:t>
                </a:r>
                <a:r>
                  <a:rPr lang="en-US" altLang="zh-TW" sz="2800" dirty="0" smtClean="0"/>
                  <a:t>prior estimate error covariance matrix </a:t>
                </a:r>
                <a:r>
                  <a:rPr lang="en-US" altLang="zh-TW" sz="3200" b="1" i="1" dirty="0" smtClean="0">
                    <a:latin typeface="Cambria Math" panose="02040503050406030204" pitchFamily="18" charset="0"/>
                  </a:rPr>
                  <a:t/>
                </a:r>
                <a:br>
                  <a:rPr lang="en-US" altLang="zh-TW" sz="3200" b="1" i="1" dirty="0" smtClean="0">
                    <a:latin typeface="Cambria Math" panose="02040503050406030204" pitchFamily="18" charset="0"/>
                  </a:rPr>
                </a:br>
                <a14:m>
                  <m:oMath xmlns:m="http://schemas.openxmlformats.org/officeDocument/2006/math">
                    <m:sSubSup>
                      <m:sSubSupPr>
                        <m:ctrlPr>
                          <a:rPr lang="en-US" altLang="zh-TW" sz="3200" b="1" i="1" smtClean="0">
                            <a:latin typeface="Cambria Math" panose="02040503050406030204" pitchFamily="18" charset="0"/>
                          </a:rPr>
                        </m:ctrlPr>
                      </m:sSubSupPr>
                      <m:e>
                        <m:r>
                          <a:rPr lang="en-US" altLang="zh-TW" sz="3200" b="1" i="1" smtClean="0">
                            <a:latin typeface="Cambria Math"/>
                          </a:rPr>
                          <m:t>𝒑</m:t>
                        </m:r>
                      </m:e>
                      <m:sub>
                        <m:r>
                          <a:rPr lang="en-US" altLang="zh-TW" sz="3200" b="1" i="1" smtClean="0">
                            <a:latin typeface="Cambria Math"/>
                          </a:rPr>
                          <m:t>𝒕</m:t>
                        </m:r>
                      </m:sub>
                      <m:sup>
                        <m:r>
                          <a:rPr lang="en-US" altLang="zh-TW" sz="3200" b="1" i="1" smtClean="0">
                            <a:latin typeface="Cambria Math"/>
                          </a:rPr>
                          <m:t>−</m:t>
                        </m:r>
                      </m:sup>
                    </m:sSubSup>
                    <m:r>
                      <a:rPr lang="en-US" altLang="zh-TW" sz="3200" b="1" i="1" smtClean="0">
                        <a:latin typeface="Cambria Math" panose="02040503050406030204" pitchFamily="18" charset="0"/>
                      </a:rPr>
                      <m:t>=</m:t>
                    </m:r>
                    <m:r>
                      <a:rPr lang="en-US" altLang="zh-TW" sz="2800" b="0" i="1" smtClean="0">
                        <a:latin typeface="Cambria Math"/>
                      </a:rPr>
                      <m:t>𝐸</m:t>
                    </m:r>
                    <m:d>
                      <m:dPr>
                        <m:ctrlPr>
                          <a:rPr lang="en-US" altLang="zh-TW" sz="2800" b="0" i="1" smtClean="0">
                            <a:latin typeface="Cambria Math" panose="02040503050406030204" pitchFamily="18" charset="0"/>
                          </a:rPr>
                        </m:ctrlPr>
                      </m:dPr>
                      <m:e>
                        <m:sSubSup>
                          <m:sSubSupPr>
                            <m:ctrlPr>
                              <a:rPr lang="en-US" altLang="zh-TW" sz="2800" b="1" i="1" smtClean="0">
                                <a:latin typeface="Cambria Math" panose="02040503050406030204" pitchFamily="18" charset="0"/>
                              </a:rPr>
                            </m:ctrlPr>
                          </m:sSubSupPr>
                          <m:e>
                            <m:r>
                              <a:rPr lang="en-US" altLang="zh-TW" sz="2800" b="1" i="1" smtClean="0">
                                <a:latin typeface="Cambria Math"/>
                              </a:rPr>
                              <m:t>𝒆</m:t>
                            </m:r>
                          </m:e>
                          <m:sub>
                            <m:r>
                              <a:rPr lang="en-US" altLang="zh-TW" sz="2800" b="1" i="1" smtClean="0">
                                <a:latin typeface="Cambria Math"/>
                              </a:rPr>
                              <m:t>𝒕</m:t>
                            </m:r>
                          </m:sub>
                          <m:sup>
                            <m:r>
                              <a:rPr lang="en-US" altLang="zh-TW" sz="2800" b="1" i="1" smtClean="0">
                                <a:latin typeface="Cambria Math"/>
                              </a:rPr>
                              <m:t>−</m:t>
                            </m:r>
                          </m:sup>
                        </m:sSubSup>
                        <m:sSup>
                          <m:sSupPr>
                            <m:ctrlPr>
                              <a:rPr lang="en-US" altLang="zh-TW" sz="2800" b="1" i="1" smtClean="0">
                                <a:latin typeface="Cambria Math" panose="02040503050406030204" pitchFamily="18" charset="0"/>
                              </a:rPr>
                            </m:ctrlPr>
                          </m:sSupPr>
                          <m:e>
                            <m:sSubSup>
                              <m:sSubSupPr>
                                <m:ctrlPr>
                                  <a:rPr lang="en-US" altLang="zh-TW" sz="2800" b="1" i="1" smtClean="0">
                                    <a:latin typeface="Cambria Math" panose="02040503050406030204" pitchFamily="18" charset="0"/>
                                  </a:rPr>
                                </m:ctrlPr>
                              </m:sSubSupPr>
                              <m:e>
                                <m:r>
                                  <a:rPr lang="en-US" altLang="zh-TW" sz="2800" b="1" i="1" smtClean="0">
                                    <a:latin typeface="Cambria Math"/>
                                  </a:rPr>
                                  <m:t>𝒆</m:t>
                                </m:r>
                              </m:e>
                              <m:sub>
                                <m:r>
                                  <a:rPr lang="en-US" altLang="zh-TW" sz="2800" b="1" i="1" smtClean="0">
                                    <a:latin typeface="Cambria Math"/>
                                  </a:rPr>
                                  <m:t>𝒕</m:t>
                                </m:r>
                              </m:sub>
                              <m:sup>
                                <m:r>
                                  <a:rPr lang="en-US" altLang="zh-TW" sz="2800" b="1" i="1" smtClean="0">
                                    <a:latin typeface="Cambria Math"/>
                                  </a:rPr>
                                  <m:t>−</m:t>
                                </m:r>
                              </m:sup>
                            </m:sSubSup>
                          </m:e>
                          <m:sup>
                            <m:r>
                              <a:rPr lang="en-US" altLang="zh-TW" sz="2800" b="1" i="1" smtClean="0">
                                <a:latin typeface="Cambria Math"/>
                              </a:rPr>
                              <m:t>𝑻</m:t>
                            </m:r>
                          </m:sup>
                        </m:sSup>
                      </m:e>
                    </m:d>
                    <m:r>
                      <a:rPr lang="en-US" altLang="zh-TW" sz="2800" b="0" i="1" smtClean="0">
                        <a:latin typeface="Cambria Math" panose="02040503050406030204" pitchFamily="18" charset="0"/>
                      </a:rPr>
                      <m:t>=</m:t>
                    </m:r>
                    <m:sSub>
                      <m:sSubPr>
                        <m:ctrlPr>
                          <a:rPr lang="en-US" altLang="zh-TW" sz="2800" b="1" i="1" smtClean="0">
                            <a:latin typeface="Cambria Math" panose="02040503050406030204" pitchFamily="18" charset="0"/>
                          </a:rPr>
                        </m:ctrlPr>
                      </m:sSubPr>
                      <m:e>
                        <m:r>
                          <a:rPr lang="en-US" altLang="zh-TW" sz="2800" b="1" i="1" smtClean="0">
                            <a:latin typeface="Cambria Math" panose="02040503050406030204" pitchFamily="18" charset="0"/>
                          </a:rPr>
                          <m:t>𝑨</m:t>
                        </m:r>
                      </m:e>
                      <m:sub>
                        <m:r>
                          <a:rPr lang="en-US" altLang="zh-TW" sz="2800" b="1" i="1" smtClean="0">
                            <a:latin typeface="Cambria Math"/>
                          </a:rPr>
                          <m:t>𝒕</m:t>
                        </m:r>
                      </m:sub>
                    </m:sSub>
                    <m:sSub>
                      <m:sSubPr>
                        <m:ctrlPr>
                          <a:rPr lang="en-US" altLang="zh-TW" sz="2800" b="1" i="1" smtClean="0">
                            <a:latin typeface="Cambria Math" panose="02040503050406030204" pitchFamily="18" charset="0"/>
                          </a:rPr>
                        </m:ctrlPr>
                      </m:sSubPr>
                      <m:e>
                        <m:r>
                          <a:rPr lang="en-US" altLang="zh-TW" sz="2800" b="1" i="1" smtClean="0">
                            <a:latin typeface="Cambria Math" panose="02040503050406030204" pitchFamily="18" charset="0"/>
                          </a:rPr>
                          <m:t>𝑷</m:t>
                        </m:r>
                      </m:e>
                      <m:sub>
                        <m:r>
                          <a:rPr lang="en-US" altLang="zh-TW" sz="2800" b="1" i="1" smtClean="0">
                            <a:latin typeface="Cambria Math"/>
                          </a:rPr>
                          <m:t>𝒕</m:t>
                        </m:r>
                        <m:r>
                          <a:rPr lang="en-US" altLang="zh-TW" sz="2800" b="1" i="1" smtClean="0">
                            <a:latin typeface="Cambria Math" panose="02040503050406030204" pitchFamily="18" charset="0"/>
                          </a:rPr>
                          <m:t>−</m:t>
                        </m:r>
                        <m:r>
                          <a:rPr lang="en-US" altLang="zh-TW" sz="2800" b="1" i="1" smtClean="0">
                            <a:latin typeface="Cambria Math" panose="02040503050406030204" pitchFamily="18" charset="0"/>
                          </a:rPr>
                          <m:t>𝟏</m:t>
                        </m:r>
                      </m:sub>
                    </m:sSub>
                    <m:sSubSup>
                      <m:sSubSupPr>
                        <m:ctrlPr>
                          <a:rPr lang="en-US" altLang="zh-TW" sz="2800" b="1" i="1" smtClean="0">
                            <a:latin typeface="Cambria Math" panose="02040503050406030204" pitchFamily="18" charset="0"/>
                          </a:rPr>
                        </m:ctrlPr>
                      </m:sSubSupPr>
                      <m:e>
                        <m:r>
                          <a:rPr lang="en-US" altLang="zh-TW" sz="2800" b="1" i="1" smtClean="0">
                            <a:latin typeface="Cambria Math" panose="02040503050406030204" pitchFamily="18" charset="0"/>
                          </a:rPr>
                          <m:t>𝑨</m:t>
                        </m:r>
                      </m:e>
                      <m:sub>
                        <m:r>
                          <a:rPr lang="en-US" altLang="zh-TW" sz="2800" b="1" i="1" smtClean="0">
                            <a:latin typeface="Cambria Math"/>
                          </a:rPr>
                          <m:t>𝒕</m:t>
                        </m:r>
                      </m:sub>
                      <m:sup>
                        <m:r>
                          <a:rPr lang="en-US" altLang="zh-TW" sz="2800" b="1" i="1" smtClean="0">
                            <a:latin typeface="Cambria Math" panose="02040503050406030204" pitchFamily="18" charset="0"/>
                          </a:rPr>
                          <m:t>𝑻</m:t>
                        </m:r>
                      </m:sup>
                    </m:sSubSup>
                    <m:r>
                      <a:rPr lang="en-US" altLang="zh-TW" sz="2800" b="0" i="1" smtClean="0">
                        <a:latin typeface="Cambria Math" panose="02040503050406030204" pitchFamily="18" charset="0"/>
                      </a:rPr>
                      <m:t>+</m:t>
                    </m:r>
                    <m:sSub>
                      <m:sSubPr>
                        <m:ctrlPr>
                          <a:rPr lang="en-US" altLang="zh-TW" sz="2800" b="1" i="1" smtClean="0">
                            <a:latin typeface="Cambria Math" panose="02040503050406030204" pitchFamily="18" charset="0"/>
                          </a:rPr>
                        </m:ctrlPr>
                      </m:sSubPr>
                      <m:e>
                        <m:r>
                          <a:rPr lang="en-US" altLang="zh-TW" sz="2800" b="1" i="1" smtClean="0">
                            <a:latin typeface="Cambria Math" panose="02040503050406030204" pitchFamily="18" charset="0"/>
                          </a:rPr>
                          <m:t>𝑸</m:t>
                        </m:r>
                      </m:e>
                      <m:sub>
                        <m:r>
                          <a:rPr lang="en-US" altLang="zh-TW" sz="2800" b="1" i="1" smtClean="0">
                            <a:latin typeface="Cambria Math"/>
                          </a:rPr>
                          <m:t>𝒕</m:t>
                        </m:r>
                      </m:sub>
                    </m:sSub>
                  </m:oMath>
                </a14:m>
                <a:endParaRPr lang="en-US" altLang="zh-TW" sz="2800" b="1" dirty="0" smtClean="0"/>
              </a:p>
              <a:p>
                <a:r>
                  <a:rPr lang="en-US" altLang="zh-TW" sz="2800" b="1" dirty="0" smtClean="0">
                    <a:solidFill>
                      <a:srgbClr val="FF0000"/>
                    </a:solidFill>
                  </a:rPr>
                  <a:t>Update phase</a:t>
                </a:r>
                <a:r>
                  <a:rPr lang="en-US" altLang="zh-TW" sz="2800" b="1" dirty="0" smtClean="0"/>
                  <a:t>:</a:t>
                </a:r>
              </a:p>
              <a:p>
                <a:pPr marL="342900" indent="-342900">
                  <a:buFont typeface="+mj-lt"/>
                  <a:buAutoNum type="arabicPeriod"/>
                </a:pPr>
                <a:r>
                  <a:rPr lang="zh-TW" altLang="en-US" sz="2800" dirty="0" smtClean="0"/>
                  <a:t>計算</a:t>
                </a:r>
                <a:r>
                  <a:rPr lang="en-US" altLang="zh-TW" sz="2800" dirty="0" err="1" smtClean="0">
                    <a:solidFill>
                      <a:srgbClr val="FF0000"/>
                    </a:solidFill>
                  </a:rPr>
                  <a:t>Kalman</a:t>
                </a:r>
                <a:r>
                  <a:rPr lang="en-US" altLang="zh-TW" sz="2800" dirty="0" smtClean="0">
                    <a:solidFill>
                      <a:srgbClr val="FF0000"/>
                    </a:solidFill>
                  </a:rPr>
                  <a:t> gain</a:t>
                </a:r>
                <a:r>
                  <a:rPr lang="en-US" altLang="zh-TW" sz="2800" dirty="0" smtClean="0"/>
                  <a:t/>
                </a:r>
                <a14:m>
                  <m:oMath xmlns:m="http://schemas.openxmlformats.org/officeDocument/2006/math">
                    <m:sSub>
                      <m:sSubPr>
                        <m:ctrlPr>
                          <a:rPr lang="en-US" altLang="zh-TW" sz="2800" b="1" i="1" smtClean="0">
                            <a:latin typeface="Cambria Math" panose="02040503050406030204" pitchFamily="18" charset="0"/>
                          </a:rPr>
                        </m:ctrlPr>
                      </m:sSubPr>
                      <m:e>
                        <m:r>
                          <a:rPr lang="en-US" altLang="zh-TW" sz="2800" b="1" i="1" smtClean="0">
                            <a:latin typeface="Cambria Math"/>
                          </a:rPr>
                          <m:t>𝑲</m:t>
                        </m:r>
                      </m:e>
                      <m:sub>
                        <m:r>
                          <a:rPr lang="en-US" altLang="zh-TW" sz="2800" b="1" i="1" smtClean="0">
                            <a:latin typeface="Cambria Math"/>
                          </a:rPr>
                          <m:t>𝒕</m:t>
                        </m:r>
                      </m:sub>
                    </m:sSub>
                    <m:r>
                      <a:rPr lang="en-US" altLang="zh-TW" sz="2800" b="1" i="1" smtClean="0">
                        <a:latin typeface="Cambria Math"/>
                      </a:rPr>
                      <m:t>=</m:t>
                    </m:r>
                    <m:sSubSup>
                      <m:sSubSupPr>
                        <m:ctrlPr>
                          <a:rPr lang="en-US" altLang="zh-TW" sz="2800" b="1" i="1">
                            <a:latin typeface="Cambria Math" panose="02040503050406030204" pitchFamily="18" charset="0"/>
                          </a:rPr>
                        </m:ctrlPr>
                      </m:sSubSupPr>
                      <m:e>
                        <m:r>
                          <a:rPr lang="en-US" altLang="zh-TW" sz="2800" b="1" i="1">
                            <a:latin typeface="Cambria Math"/>
                          </a:rPr>
                          <m:t>𝑷</m:t>
                        </m:r>
                      </m:e>
                      <m:sub>
                        <m:r>
                          <a:rPr lang="en-US" altLang="zh-TW" sz="2800" b="1" i="1" smtClean="0">
                            <a:latin typeface="Cambria Math"/>
                          </a:rPr>
                          <m:t>𝒕</m:t>
                        </m:r>
                      </m:sub>
                      <m:sup>
                        <m:r>
                          <a:rPr lang="en-US" altLang="zh-TW" sz="2800" b="1" i="1">
                            <a:latin typeface="Cambria Math"/>
                          </a:rPr>
                          <m:t>−</m:t>
                        </m:r>
                      </m:sup>
                    </m:sSubSup>
                    <m:sSubSup>
                      <m:sSubSupPr>
                        <m:ctrlPr>
                          <a:rPr lang="en-US" altLang="zh-TW" sz="2800" b="1" i="1">
                            <a:latin typeface="Cambria Math" panose="02040503050406030204" pitchFamily="18" charset="0"/>
                          </a:rPr>
                        </m:ctrlPr>
                      </m:sSubSupPr>
                      <m:e>
                        <m:r>
                          <a:rPr lang="en-US" altLang="zh-TW" sz="2800" b="1" i="1">
                            <a:latin typeface="Cambria Math"/>
                          </a:rPr>
                          <m:t>𝑯</m:t>
                        </m:r>
                      </m:e>
                      <m:sub>
                        <m:r>
                          <a:rPr lang="en-US" altLang="zh-TW" sz="2800" b="1" i="1" smtClean="0">
                            <a:latin typeface="Cambria Math"/>
                          </a:rPr>
                          <m:t>𝒕</m:t>
                        </m:r>
                      </m:sub>
                      <m:sup>
                        <m:r>
                          <a:rPr lang="en-US" altLang="zh-TW" sz="2800" b="1" i="1">
                            <a:latin typeface="Cambria Math"/>
                          </a:rPr>
                          <m:t>𝑻</m:t>
                        </m:r>
                      </m:sup>
                    </m:sSubSup>
                    <m:sSup>
                      <m:sSupPr>
                        <m:ctrlPr>
                          <a:rPr lang="en-US" altLang="zh-TW" sz="2800" b="1" i="1">
                            <a:latin typeface="Cambria Math" panose="02040503050406030204" pitchFamily="18" charset="0"/>
                          </a:rPr>
                        </m:ctrlPr>
                      </m:sSupPr>
                      <m:e>
                        <m:d>
                          <m:dPr>
                            <m:begChr m:val="["/>
                            <m:endChr m:val="]"/>
                            <m:ctrlPr>
                              <a:rPr lang="en-US" altLang="zh-TW" sz="2800" b="1" i="1">
                                <a:latin typeface="Cambria Math" panose="02040503050406030204" pitchFamily="18" charset="0"/>
                              </a:rPr>
                            </m:ctrlPr>
                          </m:dPr>
                          <m:e>
                            <m:sSub>
                              <m:sSubPr>
                                <m:ctrlPr>
                                  <a:rPr lang="en-US" altLang="zh-TW" sz="2800" b="1" i="1">
                                    <a:latin typeface="Cambria Math" panose="02040503050406030204" pitchFamily="18" charset="0"/>
                                  </a:rPr>
                                </m:ctrlPr>
                              </m:sSubPr>
                              <m:e>
                                <m:r>
                                  <a:rPr lang="en-US" altLang="zh-TW" sz="2800" b="1" i="1">
                                    <a:latin typeface="Cambria Math"/>
                                  </a:rPr>
                                  <m:t>𝑯</m:t>
                                </m:r>
                              </m:e>
                              <m:sub>
                                <m:r>
                                  <a:rPr lang="en-US" altLang="zh-TW" sz="2800" b="1" i="1" smtClean="0">
                                    <a:latin typeface="Cambria Math"/>
                                  </a:rPr>
                                  <m:t>𝒕</m:t>
                                </m:r>
                              </m:sub>
                            </m:sSub>
                            <m:sSubSup>
                              <m:sSubSupPr>
                                <m:ctrlPr>
                                  <a:rPr lang="en-US" altLang="zh-TW" sz="2800" b="1" i="1">
                                    <a:latin typeface="Cambria Math" panose="02040503050406030204" pitchFamily="18" charset="0"/>
                                  </a:rPr>
                                </m:ctrlPr>
                              </m:sSubSupPr>
                              <m:e>
                                <m:r>
                                  <a:rPr lang="en-US" altLang="zh-TW" sz="2800" b="1" i="1">
                                    <a:latin typeface="Cambria Math"/>
                                  </a:rPr>
                                  <m:t>𝑷</m:t>
                                </m:r>
                              </m:e>
                              <m:sub>
                                <m:r>
                                  <a:rPr lang="en-US" altLang="zh-TW" sz="2800" b="1" i="1" smtClean="0">
                                    <a:latin typeface="Cambria Math"/>
                                  </a:rPr>
                                  <m:t>𝒕</m:t>
                                </m:r>
                              </m:sub>
                              <m:sup>
                                <m:r>
                                  <a:rPr lang="en-US" altLang="zh-TW" sz="2800" b="1" i="1">
                                    <a:latin typeface="Cambria Math"/>
                                  </a:rPr>
                                  <m:t>−</m:t>
                                </m:r>
                              </m:sup>
                            </m:sSubSup>
                            <m:sSubSup>
                              <m:sSubSupPr>
                                <m:ctrlPr>
                                  <a:rPr lang="en-US" altLang="zh-TW" sz="2800" b="1" i="1">
                                    <a:latin typeface="Cambria Math" panose="02040503050406030204" pitchFamily="18" charset="0"/>
                                  </a:rPr>
                                </m:ctrlPr>
                              </m:sSubSupPr>
                              <m:e>
                                <m:r>
                                  <a:rPr lang="en-US" altLang="zh-TW" sz="2800" b="1" i="1">
                                    <a:latin typeface="Cambria Math"/>
                                  </a:rPr>
                                  <m:t>𝑯</m:t>
                                </m:r>
                              </m:e>
                              <m:sub>
                                <m:r>
                                  <a:rPr lang="en-US" altLang="zh-TW" sz="2800" b="1" i="1" smtClean="0">
                                    <a:latin typeface="Cambria Math"/>
                                  </a:rPr>
                                  <m:t>𝒕</m:t>
                                </m:r>
                              </m:sub>
                              <m:sup>
                                <m:r>
                                  <a:rPr lang="en-US" altLang="zh-TW" sz="2800" b="1" i="1">
                                    <a:latin typeface="Cambria Math"/>
                                  </a:rPr>
                                  <m:t>𝑻</m:t>
                                </m:r>
                              </m:sup>
                            </m:sSubSup>
                            <m:r>
                              <a:rPr lang="en-US" altLang="zh-TW" sz="2800" b="1" i="1">
                                <a:latin typeface="Cambria Math"/>
                              </a:rPr>
                              <m:t>+</m:t>
                            </m:r>
                            <m:sSub>
                              <m:sSubPr>
                                <m:ctrlPr>
                                  <a:rPr lang="en-US" altLang="zh-TW" sz="2800" b="1" i="1">
                                    <a:latin typeface="Cambria Math" panose="02040503050406030204" pitchFamily="18" charset="0"/>
                                  </a:rPr>
                                </m:ctrlPr>
                              </m:sSubPr>
                              <m:e>
                                <m:r>
                                  <a:rPr lang="en-US" altLang="zh-TW" sz="2800" b="1" i="1">
                                    <a:latin typeface="Cambria Math"/>
                                  </a:rPr>
                                  <m:t>𝑹</m:t>
                                </m:r>
                              </m:e>
                              <m:sub>
                                <m:r>
                                  <a:rPr lang="en-US" altLang="zh-TW" sz="2800" b="1" i="1" smtClean="0">
                                    <a:latin typeface="Cambria Math"/>
                                  </a:rPr>
                                  <m:t>𝒕</m:t>
                                </m:r>
                              </m:sub>
                            </m:sSub>
                          </m:e>
                        </m:d>
                      </m:e>
                      <m:sup>
                        <m:r>
                          <a:rPr lang="en-US" altLang="zh-TW" sz="2800" b="1" i="1">
                            <a:latin typeface="Cambria Math"/>
                          </a:rPr>
                          <m:t>−</m:t>
                        </m:r>
                        <m:r>
                          <a:rPr lang="en-US" altLang="zh-TW" sz="2800" b="1" i="1">
                            <a:latin typeface="Cambria Math"/>
                          </a:rPr>
                          <m:t>𝟏</m:t>
                        </m:r>
                      </m:sup>
                    </m:sSup>
                  </m:oMath>
                </a14:m>
                <a:endParaRPr lang="en-US" altLang="zh-TW" sz="2800" b="1" dirty="0" smtClean="0"/>
              </a:p>
              <a:p>
                <a:pPr marL="342900" indent="-342900">
                  <a:buFont typeface="+mj-lt"/>
                  <a:buAutoNum type="arabicPeriod"/>
                </a:pPr>
                <a:r>
                  <a:rPr lang="zh-TW" altLang="en-US" sz="2800" dirty="0" smtClean="0"/>
                  <a:t>得到量測值</a:t>
                </a:r>
                <a14:m>
                  <m:oMath xmlns:m="http://schemas.openxmlformats.org/officeDocument/2006/math">
                    <m:sSub>
                      <m:sSubPr>
                        <m:ctrlPr>
                          <a:rPr lang="en-US" altLang="zh-TW" sz="2800" b="1" i="1" dirty="0" smtClean="0">
                            <a:latin typeface="Cambria Math" panose="02040503050406030204" pitchFamily="18" charset="0"/>
                          </a:rPr>
                        </m:ctrlPr>
                      </m:sSubPr>
                      <m:e>
                        <m:r>
                          <a:rPr lang="en-US" altLang="zh-TW" sz="2800" b="1" i="1" dirty="0" smtClean="0">
                            <a:latin typeface="Cambria Math"/>
                          </a:rPr>
                          <m:t>𝒛</m:t>
                        </m:r>
                      </m:e>
                      <m:sub>
                        <m:r>
                          <a:rPr lang="en-US" altLang="zh-TW" sz="2800" b="1" i="1" dirty="0" smtClean="0">
                            <a:latin typeface="Cambria Math"/>
                          </a:rPr>
                          <m:t>𝒕</m:t>
                        </m:r>
                      </m:sub>
                    </m:sSub>
                  </m:oMath>
                </a14:m>
                <a:r>
                  <a:rPr lang="zh-TW" altLang="en-US" sz="2800" dirty="0" smtClean="0"/>
                  <a:t>後，更新</a:t>
                </a:r>
                <a:r>
                  <a:rPr lang="en-US" altLang="zh-TW" sz="2800" dirty="0" smtClean="0"/>
                  <a:t>posterior state: </a:t>
                </a:r>
                <a14:m>
                  <m:oMath xmlns:m="http://schemas.openxmlformats.org/officeDocument/2006/math">
                    <m:sSubSup>
                      <m:sSubSupPr>
                        <m:ctrlPr>
                          <a:rPr lang="en-US" altLang="zh-TW" sz="2800" b="1" i="1" dirty="0" smtClean="0">
                            <a:solidFill>
                              <a:schemeClr val="tx1"/>
                            </a:solidFill>
                            <a:latin typeface="Cambria Math" panose="02040503050406030204" pitchFamily="18" charset="0"/>
                          </a:rPr>
                        </m:ctrlPr>
                      </m:sSubSupPr>
                      <m:e>
                        <m:acc>
                          <m:accPr>
                            <m:chr m:val="̂"/>
                            <m:ctrlPr>
                              <a:rPr lang="en-US" altLang="zh-TW" sz="2800" b="1" i="1">
                                <a:solidFill>
                                  <a:schemeClr val="tx1"/>
                                </a:solidFill>
                                <a:latin typeface="Cambria Math" panose="02040503050406030204" pitchFamily="18" charset="0"/>
                              </a:rPr>
                            </m:ctrlPr>
                          </m:accPr>
                          <m:e>
                            <m:r>
                              <a:rPr lang="en-US" altLang="zh-TW" sz="2800" b="1" i="1">
                                <a:solidFill>
                                  <a:schemeClr val="tx1"/>
                                </a:solidFill>
                                <a:latin typeface="Cambria Math"/>
                              </a:rPr>
                              <m:t>𝒙</m:t>
                            </m:r>
                          </m:e>
                        </m:acc>
                      </m:e>
                      <m:sub>
                        <m:r>
                          <a:rPr lang="en-US" altLang="zh-TW" sz="2800" b="1" i="1" dirty="0" smtClean="0">
                            <a:solidFill>
                              <a:schemeClr val="tx1"/>
                            </a:solidFill>
                            <a:latin typeface="Cambria Math"/>
                          </a:rPr>
                          <m:t>𝒕</m:t>
                        </m:r>
                      </m:sub>
                      <m:sup>
                        <m:r>
                          <a:rPr lang="en-US" altLang="zh-TW" sz="2800" b="1" i="1" dirty="0">
                            <a:solidFill>
                              <a:schemeClr val="tx1"/>
                            </a:solidFill>
                            <a:latin typeface="Cambria Math"/>
                          </a:rPr>
                          <m:t>+</m:t>
                        </m:r>
                      </m:sup>
                    </m:sSubSup>
                    <m:r>
                      <a:rPr lang="en-US" altLang="zh-TW" sz="2800" i="1" dirty="0">
                        <a:solidFill>
                          <a:schemeClr val="tx1"/>
                        </a:solidFill>
                        <a:latin typeface="Cambria Math"/>
                      </a:rPr>
                      <m:t>=</m:t>
                    </m:r>
                    <m:sSubSup>
                      <m:sSubSupPr>
                        <m:ctrlPr>
                          <a:rPr lang="en-US" altLang="zh-TW" sz="2800" b="1" i="1" dirty="0">
                            <a:solidFill>
                              <a:schemeClr val="tx1"/>
                            </a:solidFill>
                            <a:latin typeface="Cambria Math" panose="02040503050406030204" pitchFamily="18" charset="0"/>
                          </a:rPr>
                        </m:ctrlPr>
                      </m:sSubSupPr>
                      <m:e>
                        <m:acc>
                          <m:accPr>
                            <m:chr m:val="̂"/>
                            <m:ctrlPr>
                              <a:rPr lang="en-US" altLang="zh-TW" sz="2800" b="1" i="1">
                                <a:solidFill>
                                  <a:schemeClr val="tx1"/>
                                </a:solidFill>
                                <a:latin typeface="Cambria Math" panose="02040503050406030204" pitchFamily="18" charset="0"/>
                              </a:rPr>
                            </m:ctrlPr>
                          </m:accPr>
                          <m:e>
                            <m:r>
                              <a:rPr lang="en-US" altLang="zh-TW" sz="2800" b="1" i="1">
                                <a:solidFill>
                                  <a:schemeClr val="tx1"/>
                                </a:solidFill>
                                <a:latin typeface="Cambria Math"/>
                              </a:rPr>
                              <m:t>𝒙</m:t>
                            </m:r>
                          </m:e>
                        </m:acc>
                      </m:e>
                      <m:sub>
                        <m:r>
                          <a:rPr lang="en-US" altLang="zh-TW" sz="2800" b="1" i="1" dirty="0" smtClean="0">
                            <a:solidFill>
                              <a:schemeClr val="tx1"/>
                            </a:solidFill>
                            <a:latin typeface="Cambria Math"/>
                          </a:rPr>
                          <m:t>𝒕</m:t>
                        </m:r>
                      </m:sub>
                      <m:sup>
                        <m:r>
                          <a:rPr lang="en-US" altLang="zh-TW" sz="2800" b="1" i="1" dirty="0">
                            <a:solidFill>
                              <a:schemeClr val="tx1"/>
                            </a:solidFill>
                            <a:latin typeface="Cambria Math"/>
                          </a:rPr>
                          <m:t>−</m:t>
                        </m:r>
                      </m:sup>
                    </m:sSubSup>
                    <m:r>
                      <a:rPr lang="en-US" altLang="zh-TW" sz="2800" i="1" dirty="0">
                        <a:solidFill>
                          <a:schemeClr val="tx1"/>
                        </a:solidFill>
                        <a:latin typeface="Cambria Math"/>
                      </a:rPr>
                      <m:t>+</m:t>
                    </m:r>
                    <m:sSub>
                      <m:sSubPr>
                        <m:ctrlPr>
                          <a:rPr lang="en-US" altLang="zh-TW" sz="2800" b="1" i="1" dirty="0">
                            <a:solidFill>
                              <a:schemeClr val="tx1"/>
                            </a:solidFill>
                            <a:latin typeface="Cambria Math" panose="02040503050406030204" pitchFamily="18" charset="0"/>
                          </a:rPr>
                        </m:ctrlPr>
                      </m:sSubPr>
                      <m:e>
                        <m:r>
                          <a:rPr lang="en-US" altLang="zh-TW" sz="2800" b="1" i="1" dirty="0">
                            <a:solidFill>
                              <a:schemeClr val="tx1"/>
                            </a:solidFill>
                            <a:latin typeface="Cambria Math"/>
                          </a:rPr>
                          <m:t>𝑲</m:t>
                        </m:r>
                      </m:e>
                      <m:sub>
                        <m:r>
                          <a:rPr lang="en-US" altLang="zh-TW" sz="2800" b="1" i="1" dirty="0" smtClean="0">
                            <a:solidFill>
                              <a:schemeClr val="tx1"/>
                            </a:solidFill>
                            <a:latin typeface="Cambria Math"/>
                          </a:rPr>
                          <m:t>𝒕</m:t>
                        </m:r>
                      </m:sub>
                    </m:sSub>
                    <m:d>
                      <m:dPr>
                        <m:ctrlPr>
                          <a:rPr lang="en-US" altLang="zh-TW" sz="2800" i="1" dirty="0">
                            <a:solidFill>
                              <a:schemeClr val="tx1"/>
                            </a:solidFill>
                            <a:latin typeface="Cambria Math" panose="02040503050406030204" pitchFamily="18" charset="0"/>
                          </a:rPr>
                        </m:ctrlPr>
                      </m:dPr>
                      <m:e>
                        <m:sSub>
                          <m:sSubPr>
                            <m:ctrlPr>
                              <a:rPr lang="en-US" altLang="zh-TW" sz="2800" b="1" i="1" dirty="0">
                                <a:solidFill>
                                  <a:schemeClr val="tx1"/>
                                </a:solidFill>
                                <a:latin typeface="Cambria Math" panose="02040503050406030204" pitchFamily="18" charset="0"/>
                              </a:rPr>
                            </m:ctrlPr>
                          </m:sSubPr>
                          <m:e>
                            <m:r>
                              <a:rPr lang="en-US" altLang="zh-TW" sz="2800" b="1" i="1" dirty="0" smtClean="0">
                                <a:solidFill>
                                  <a:schemeClr val="tx1"/>
                                </a:solidFill>
                                <a:latin typeface="Cambria Math" panose="02040503050406030204" pitchFamily="18" charset="0"/>
                              </a:rPr>
                              <m:t>𝒛</m:t>
                            </m:r>
                          </m:e>
                          <m:sub>
                            <m:r>
                              <a:rPr lang="en-US" altLang="zh-TW" sz="2800" b="1" i="1" dirty="0" smtClean="0">
                                <a:solidFill>
                                  <a:schemeClr val="tx1"/>
                                </a:solidFill>
                                <a:latin typeface="Cambria Math"/>
                              </a:rPr>
                              <m:t>𝒕</m:t>
                            </m:r>
                          </m:sub>
                        </m:sSub>
                        <m:r>
                          <a:rPr lang="en-US" altLang="zh-TW" sz="2800" b="1" i="1" dirty="0">
                            <a:solidFill>
                              <a:schemeClr val="tx1"/>
                            </a:solidFill>
                            <a:latin typeface="Cambria Math"/>
                          </a:rPr>
                          <m:t>−</m:t>
                        </m:r>
                        <m:sSub>
                          <m:sSubPr>
                            <m:ctrlPr>
                              <a:rPr lang="en-US" altLang="zh-TW" sz="2800" b="1" i="1" dirty="0">
                                <a:solidFill>
                                  <a:schemeClr val="tx1"/>
                                </a:solidFill>
                                <a:latin typeface="Cambria Math" panose="02040503050406030204" pitchFamily="18" charset="0"/>
                              </a:rPr>
                            </m:ctrlPr>
                          </m:sSubPr>
                          <m:e>
                            <m:r>
                              <a:rPr lang="en-US" altLang="zh-TW" sz="2800" b="1" i="1" dirty="0">
                                <a:solidFill>
                                  <a:schemeClr val="tx1"/>
                                </a:solidFill>
                                <a:latin typeface="Cambria Math"/>
                              </a:rPr>
                              <m:t>𝑯</m:t>
                            </m:r>
                          </m:e>
                          <m:sub>
                            <m:r>
                              <a:rPr lang="en-US" altLang="zh-TW" sz="2800" b="1" i="1" dirty="0" smtClean="0">
                                <a:solidFill>
                                  <a:schemeClr val="tx1"/>
                                </a:solidFill>
                                <a:latin typeface="Cambria Math"/>
                              </a:rPr>
                              <m:t>𝒕</m:t>
                            </m:r>
                          </m:sub>
                        </m:sSub>
                        <m:sSubSup>
                          <m:sSubSupPr>
                            <m:ctrlPr>
                              <a:rPr lang="en-US" altLang="zh-TW" sz="2800" b="1" i="1" dirty="0">
                                <a:solidFill>
                                  <a:schemeClr val="tx1"/>
                                </a:solidFill>
                                <a:latin typeface="Cambria Math" panose="02040503050406030204" pitchFamily="18" charset="0"/>
                              </a:rPr>
                            </m:ctrlPr>
                          </m:sSubSupPr>
                          <m:e>
                            <m:acc>
                              <m:accPr>
                                <m:chr m:val="̂"/>
                                <m:ctrlPr>
                                  <a:rPr lang="en-US" altLang="zh-TW" sz="2800" b="1" i="1">
                                    <a:solidFill>
                                      <a:schemeClr val="tx1"/>
                                    </a:solidFill>
                                    <a:latin typeface="Cambria Math" panose="02040503050406030204" pitchFamily="18" charset="0"/>
                                  </a:rPr>
                                </m:ctrlPr>
                              </m:accPr>
                              <m:e>
                                <m:r>
                                  <a:rPr lang="en-US" altLang="zh-TW" sz="2800" b="1" i="1">
                                    <a:solidFill>
                                      <a:schemeClr val="tx1"/>
                                    </a:solidFill>
                                    <a:latin typeface="Cambria Math"/>
                                  </a:rPr>
                                  <m:t>𝒙</m:t>
                                </m:r>
                              </m:e>
                            </m:acc>
                          </m:e>
                          <m:sub>
                            <m:r>
                              <a:rPr lang="en-US" altLang="zh-TW" sz="2800" b="1" i="1" dirty="0" smtClean="0">
                                <a:solidFill>
                                  <a:schemeClr val="tx1"/>
                                </a:solidFill>
                                <a:latin typeface="Cambria Math"/>
                              </a:rPr>
                              <m:t>𝒕</m:t>
                            </m:r>
                          </m:sub>
                          <m:sup>
                            <m:r>
                              <a:rPr lang="en-US" altLang="zh-TW" sz="2800" b="1" i="1" dirty="0">
                                <a:solidFill>
                                  <a:schemeClr val="tx1"/>
                                </a:solidFill>
                                <a:latin typeface="Cambria Math"/>
                              </a:rPr>
                              <m:t>−</m:t>
                            </m:r>
                          </m:sup>
                        </m:sSubSup>
                      </m:e>
                    </m:d>
                  </m:oMath>
                </a14:m>
                <a:endParaRPr lang="en-US" altLang="zh-TW" sz="2800" dirty="0" smtClean="0"/>
              </a:p>
              <a:p>
                <a:pPr marL="342900" indent="-342900">
                  <a:buFont typeface="+mj-lt"/>
                  <a:buAutoNum type="arabicPeriod"/>
                </a:pPr>
                <a:r>
                  <a:rPr lang="zh-TW" altLang="en-US" sz="2800" dirty="0" smtClean="0"/>
                  <a:t>更新</a:t>
                </a:r>
                <a:r>
                  <a:rPr lang="en-US" altLang="zh-TW" sz="2800" dirty="0" smtClean="0"/>
                  <a:t>posterior estimate error covariance matrix: </a:t>
                </a:r>
                <a14:m>
                  <m:oMath xmlns:m="http://schemas.openxmlformats.org/officeDocument/2006/math">
                    <m:sSubSup>
                      <m:sSubSupPr>
                        <m:ctrlPr>
                          <a:rPr lang="en-US" altLang="zh-TW" sz="2800" b="1" i="1">
                            <a:latin typeface="Cambria Math" panose="02040503050406030204" pitchFamily="18" charset="0"/>
                          </a:rPr>
                        </m:ctrlPr>
                      </m:sSubSupPr>
                      <m:e>
                        <m:r>
                          <a:rPr lang="en-US" altLang="zh-TW" sz="2800" b="1" i="1">
                            <a:latin typeface="Cambria Math"/>
                          </a:rPr>
                          <m:t>𝑷</m:t>
                        </m:r>
                      </m:e>
                      <m:sub>
                        <m:r>
                          <a:rPr lang="en-US" altLang="zh-TW" sz="2800" b="1" i="1" smtClean="0">
                            <a:latin typeface="Cambria Math"/>
                          </a:rPr>
                          <m:t>𝒕</m:t>
                        </m:r>
                      </m:sub>
                      <m:sup>
                        <m:r>
                          <a:rPr lang="en-US" altLang="zh-TW" sz="2800" b="1" i="1">
                            <a:latin typeface="Cambria Math"/>
                          </a:rPr>
                          <m:t>+</m:t>
                        </m:r>
                      </m:sup>
                    </m:sSubSup>
                    <m:r>
                      <a:rPr lang="en-US" altLang="zh-TW" sz="2800" b="1" i="1">
                        <a:latin typeface="Cambria Math"/>
                      </a:rPr>
                      <m:t>=</m:t>
                    </m:r>
                    <m:d>
                      <m:dPr>
                        <m:ctrlPr>
                          <a:rPr lang="en-US" altLang="zh-TW" sz="2800" b="1" i="1">
                            <a:latin typeface="Cambria Math" panose="02040503050406030204" pitchFamily="18" charset="0"/>
                          </a:rPr>
                        </m:ctrlPr>
                      </m:dPr>
                      <m:e>
                        <m:r>
                          <a:rPr lang="en-US" altLang="zh-TW" sz="2800" b="1" i="1">
                            <a:latin typeface="Cambria Math"/>
                          </a:rPr>
                          <m:t>𝑰</m:t>
                        </m:r>
                        <m:r>
                          <a:rPr lang="en-US" altLang="zh-TW" sz="2800" b="1" i="1">
                            <a:latin typeface="Cambria Math"/>
                          </a:rPr>
                          <m:t>−</m:t>
                        </m:r>
                        <m:sSub>
                          <m:sSubPr>
                            <m:ctrlPr>
                              <a:rPr lang="en-US" altLang="zh-TW" sz="2800" b="1" i="1">
                                <a:latin typeface="Cambria Math" panose="02040503050406030204" pitchFamily="18" charset="0"/>
                              </a:rPr>
                            </m:ctrlPr>
                          </m:sSubPr>
                          <m:e>
                            <m:r>
                              <a:rPr lang="en-US" altLang="zh-TW" sz="2800" b="1" i="1">
                                <a:latin typeface="Cambria Math"/>
                              </a:rPr>
                              <m:t>𝑲</m:t>
                            </m:r>
                          </m:e>
                          <m:sub>
                            <m:r>
                              <a:rPr lang="en-US" altLang="zh-TW" sz="2800" b="1" i="1" smtClean="0">
                                <a:latin typeface="Cambria Math"/>
                              </a:rPr>
                              <m:t>𝒕</m:t>
                            </m:r>
                          </m:sub>
                        </m:sSub>
                        <m:sSub>
                          <m:sSubPr>
                            <m:ctrlPr>
                              <a:rPr lang="en-US" altLang="zh-TW" sz="2800" b="1" i="1">
                                <a:latin typeface="Cambria Math" panose="02040503050406030204" pitchFamily="18" charset="0"/>
                              </a:rPr>
                            </m:ctrlPr>
                          </m:sSubPr>
                          <m:e>
                            <m:r>
                              <a:rPr lang="en-US" altLang="zh-TW" sz="2800" b="1" i="1">
                                <a:latin typeface="Cambria Math"/>
                              </a:rPr>
                              <m:t>𝑯</m:t>
                            </m:r>
                          </m:e>
                          <m:sub>
                            <m:r>
                              <a:rPr lang="en-US" altLang="zh-TW" sz="2800" b="1" i="1" smtClean="0">
                                <a:latin typeface="Cambria Math"/>
                              </a:rPr>
                              <m:t>𝒕</m:t>
                            </m:r>
                          </m:sub>
                        </m:sSub>
                      </m:e>
                    </m:d>
                    <m:sSubSup>
                      <m:sSubSupPr>
                        <m:ctrlPr>
                          <a:rPr lang="en-US" altLang="zh-TW" sz="2800" b="1" i="1">
                            <a:latin typeface="Cambria Math" panose="02040503050406030204" pitchFamily="18" charset="0"/>
                          </a:rPr>
                        </m:ctrlPr>
                      </m:sSubSupPr>
                      <m:e>
                        <m:r>
                          <a:rPr lang="en-US" altLang="zh-TW" sz="2800" b="1" i="1">
                            <a:latin typeface="Cambria Math"/>
                          </a:rPr>
                          <m:t>𝑷</m:t>
                        </m:r>
                      </m:e>
                      <m:sub>
                        <m:r>
                          <a:rPr lang="en-US" altLang="zh-TW" sz="2800" b="1" i="1" smtClean="0">
                            <a:latin typeface="Cambria Math"/>
                          </a:rPr>
                          <m:t>𝒕</m:t>
                        </m:r>
                      </m:sub>
                      <m:sup>
                        <m:r>
                          <a:rPr lang="en-US" altLang="zh-TW" sz="2800" b="1" i="1">
                            <a:latin typeface="Cambria Math"/>
                          </a:rPr>
                          <m:t>−</m:t>
                        </m:r>
                      </m:sup>
                    </m:sSubSup>
                  </m:oMath>
                </a14:m>
                <a:endParaRPr lang="en-US" altLang="zh-TW" sz="2800" dirty="0" smtClean="0"/>
              </a:p>
              <a:p>
                <a:pPr marL="342900" indent="-342900">
                  <a:buFont typeface="+mj-lt"/>
                  <a:buAutoNum type="arabicPeriod"/>
                </a:pPr>
                <a:r>
                  <a:rPr lang="zh-TW" altLang="en-US" sz="2800" dirty="0" smtClean="0"/>
                  <a:t>計算</a:t>
                </a:r>
                <a:r>
                  <a:rPr lang="en-US" altLang="zh-TW" sz="2800" dirty="0" smtClean="0"/>
                  <a:t>k+1</a:t>
                </a:r>
                <a:r>
                  <a:rPr lang="zh-TW" altLang="en-US" sz="2800" dirty="0" smtClean="0"/>
                  <a:t>步之參數</a:t>
                </a:r>
                <a:r>
                  <a:rPr lang="en-US" altLang="zh-TW" sz="2800" dirty="0" smtClean="0"/>
                  <a:t/>
                </a:r>
                <a:br>
                  <a:rPr lang="en-US" altLang="zh-TW" sz="2800" dirty="0" smtClean="0"/>
                </a:br>
                <a14:m>
                  <m:oMath xmlns:m="http://schemas.openxmlformats.org/officeDocument/2006/math">
                    <m:sSubSup>
                      <m:sSubSupPr>
                        <m:ctrlPr>
                          <a:rPr lang="en-US" altLang="zh-TW" sz="2800" b="1" i="1" dirty="0">
                            <a:latin typeface="Cambria Math" panose="02040503050406030204" pitchFamily="18" charset="0"/>
                          </a:rPr>
                        </m:ctrlPr>
                      </m:sSubSupPr>
                      <m:e>
                        <m:acc>
                          <m:accPr>
                            <m:chr m:val="̂"/>
                            <m:ctrlPr>
                              <a:rPr lang="en-US" altLang="zh-TW" sz="2800" b="1" i="1">
                                <a:latin typeface="Cambria Math" panose="02040503050406030204" pitchFamily="18" charset="0"/>
                              </a:rPr>
                            </m:ctrlPr>
                          </m:accPr>
                          <m:e>
                            <m:r>
                              <a:rPr lang="en-US" altLang="zh-TW" sz="2800" b="1" i="1">
                                <a:latin typeface="Cambria Math"/>
                              </a:rPr>
                              <m:t>𝒙</m:t>
                            </m:r>
                          </m:e>
                        </m:acc>
                      </m:e>
                      <m:sub>
                        <m:r>
                          <a:rPr lang="en-US" altLang="zh-TW" sz="2800" b="1" i="1" dirty="0" smtClean="0">
                            <a:latin typeface="Cambria Math"/>
                          </a:rPr>
                          <m:t>𝒕</m:t>
                        </m:r>
                        <m:r>
                          <a:rPr lang="en-US" altLang="zh-TW" sz="2800" b="1" i="1" dirty="0" smtClean="0">
                            <a:latin typeface="Cambria Math" panose="02040503050406030204" pitchFamily="18" charset="0"/>
                          </a:rPr>
                          <m:t>+</m:t>
                        </m:r>
                        <m:r>
                          <a:rPr lang="en-US" altLang="zh-TW" sz="2800" b="1" i="1" dirty="0">
                            <a:latin typeface="Cambria Math"/>
                          </a:rPr>
                          <m:t>𝟏</m:t>
                        </m:r>
                      </m:sub>
                      <m:sup>
                        <m:r>
                          <a:rPr lang="en-US" altLang="zh-TW" sz="2800" b="1" i="1" dirty="0">
                            <a:latin typeface="Cambria Math"/>
                          </a:rPr>
                          <m:t>−</m:t>
                        </m:r>
                      </m:sup>
                    </m:sSubSup>
                    <m:r>
                      <a:rPr lang="en-US" altLang="zh-TW" sz="2800" b="1" i="1" dirty="0" smtClean="0">
                        <a:latin typeface="Cambria Math"/>
                      </a:rPr>
                      <m:t>=</m:t>
                    </m:r>
                    <m:sSub>
                      <m:sSubPr>
                        <m:ctrlPr>
                          <a:rPr lang="en-US" altLang="zh-TW" sz="2800" b="1" i="1" dirty="0" smtClean="0">
                            <a:latin typeface="Cambria Math" panose="02040503050406030204" pitchFamily="18" charset="0"/>
                          </a:rPr>
                        </m:ctrlPr>
                      </m:sSubPr>
                      <m:e>
                        <m:r>
                          <a:rPr lang="en-US" altLang="zh-TW" sz="2800" b="1" i="1" dirty="0" smtClean="0">
                            <a:latin typeface="Cambria Math"/>
                          </a:rPr>
                          <m:t>𝑨</m:t>
                        </m:r>
                      </m:e>
                      <m:sub>
                        <m:r>
                          <a:rPr lang="en-US" altLang="zh-TW" sz="2800" b="1" i="1" dirty="0" smtClean="0">
                            <a:latin typeface="Cambria Math"/>
                          </a:rPr>
                          <m:t>𝒕</m:t>
                        </m:r>
                      </m:sub>
                    </m:sSub>
                    <m:sSubSup>
                      <m:sSubSupPr>
                        <m:ctrlPr>
                          <a:rPr lang="en-US" altLang="zh-TW" sz="2800" b="1" i="1" dirty="0">
                            <a:latin typeface="Cambria Math" panose="02040503050406030204" pitchFamily="18" charset="0"/>
                          </a:rPr>
                        </m:ctrlPr>
                      </m:sSubSupPr>
                      <m:e>
                        <m:acc>
                          <m:accPr>
                            <m:chr m:val="̂"/>
                            <m:ctrlPr>
                              <a:rPr lang="en-US" altLang="zh-TW" sz="2800" b="1" i="1">
                                <a:latin typeface="Cambria Math" panose="02040503050406030204" pitchFamily="18" charset="0"/>
                              </a:rPr>
                            </m:ctrlPr>
                          </m:accPr>
                          <m:e>
                            <m:r>
                              <a:rPr lang="en-US" altLang="zh-TW" sz="2800" b="1" i="1">
                                <a:latin typeface="Cambria Math"/>
                              </a:rPr>
                              <m:t>𝒙</m:t>
                            </m:r>
                          </m:e>
                        </m:acc>
                      </m:e>
                      <m:sub>
                        <m:r>
                          <a:rPr lang="en-US" altLang="zh-TW" sz="2800" b="1" i="1" dirty="0" smtClean="0">
                            <a:latin typeface="Cambria Math"/>
                          </a:rPr>
                          <m:t>𝒕</m:t>
                        </m:r>
                      </m:sub>
                      <m:sup>
                        <m:r>
                          <a:rPr lang="en-US" altLang="zh-TW" sz="2800" b="1" i="1" dirty="0">
                            <a:latin typeface="Cambria Math"/>
                          </a:rPr>
                          <m:t>+</m:t>
                        </m:r>
                      </m:sup>
                    </m:sSubSup>
                    <m:r>
                      <a:rPr lang="en-US" altLang="zh-TW" sz="2800" b="0" i="0" dirty="0" smtClean="0">
                        <a:latin typeface="Cambria Math"/>
                      </a:rPr>
                      <m:t>+</m:t>
                    </m:r>
                    <m:sSub>
                      <m:sSubPr>
                        <m:ctrlPr>
                          <a:rPr lang="en-US" altLang="zh-TW" sz="2800" b="1" i="1">
                            <a:latin typeface="Cambria Math" panose="02040503050406030204" pitchFamily="18" charset="0"/>
                          </a:rPr>
                        </m:ctrlPr>
                      </m:sSubPr>
                      <m:e>
                        <m:r>
                          <a:rPr lang="en-US" altLang="zh-TW" sz="2800" b="1" i="1">
                            <a:latin typeface="Cambria Math"/>
                          </a:rPr>
                          <m:t>𝑩</m:t>
                        </m:r>
                      </m:e>
                      <m:sub>
                        <m:r>
                          <a:rPr lang="en-US" altLang="zh-TW" sz="2800" b="1" i="1" smtClean="0">
                            <a:latin typeface="Cambria Math"/>
                          </a:rPr>
                          <m:t>𝒕</m:t>
                        </m:r>
                      </m:sub>
                    </m:sSub>
                    <m:sSub>
                      <m:sSubPr>
                        <m:ctrlPr>
                          <a:rPr lang="en-US" altLang="zh-TW" sz="2800" b="1" i="1">
                            <a:latin typeface="Cambria Math" panose="02040503050406030204" pitchFamily="18" charset="0"/>
                          </a:rPr>
                        </m:ctrlPr>
                      </m:sSubPr>
                      <m:e>
                        <m:r>
                          <a:rPr lang="en-US" altLang="zh-TW" sz="2800" b="1" i="1">
                            <a:latin typeface="Cambria Math"/>
                          </a:rPr>
                          <m:t>𝒖</m:t>
                        </m:r>
                      </m:e>
                      <m:sub>
                        <m:r>
                          <a:rPr lang="en-US" altLang="zh-TW" sz="2800" b="1" i="1" smtClean="0">
                            <a:latin typeface="Cambria Math"/>
                          </a:rPr>
                          <m:t>𝒕</m:t>
                        </m:r>
                      </m:sub>
                    </m:sSub>
                  </m:oMath>
                </a14:m>
                <a:r>
                  <a:rPr lang="en-US" altLang="zh-TW" sz="2800" dirty="0" smtClean="0"/>
                  <a:t/>
                </a:r>
                <a:br>
                  <a:rPr lang="en-US" altLang="zh-TW" sz="2800" dirty="0" smtClean="0"/>
                </a:br>
                <a14:m>
                  <m:oMath xmlns:m="http://schemas.openxmlformats.org/officeDocument/2006/math">
                    <m:sSubSup>
                      <m:sSubSupPr>
                        <m:ctrlPr>
                          <a:rPr lang="en-US" altLang="zh-TW" sz="2800" b="1" i="1">
                            <a:latin typeface="Cambria Math" panose="02040503050406030204" pitchFamily="18" charset="0"/>
                          </a:rPr>
                        </m:ctrlPr>
                      </m:sSubSupPr>
                      <m:e>
                        <m:r>
                          <a:rPr lang="en-US" altLang="zh-TW" sz="2800" b="1" i="1">
                            <a:latin typeface="Cambria Math"/>
                          </a:rPr>
                          <m:t>𝒑</m:t>
                        </m:r>
                      </m:e>
                      <m:sub>
                        <m:r>
                          <a:rPr lang="en-US" altLang="zh-TW" sz="2800" b="1" i="1" smtClean="0">
                            <a:latin typeface="Cambria Math"/>
                          </a:rPr>
                          <m:t>𝒕</m:t>
                        </m:r>
                        <m:r>
                          <a:rPr lang="en-US" altLang="zh-TW" sz="2800" b="1" i="1" smtClean="0">
                            <a:latin typeface="Cambria Math"/>
                          </a:rPr>
                          <m:t>+</m:t>
                        </m:r>
                        <m:r>
                          <a:rPr lang="en-US" altLang="zh-TW" sz="2800" b="1" i="1">
                            <a:latin typeface="Cambria Math"/>
                          </a:rPr>
                          <m:t>𝟏</m:t>
                        </m:r>
                      </m:sub>
                      <m:sup>
                        <m:r>
                          <a:rPr lang="en-US" altLang="zh-TW" sz="2800" b="1" i="1">
                            <a:latin typeface="Cambria Math"/>
                          </a:rPr>
                          <m:t>−</m:t>
                        </m:r>
                      </m:sup>
                    </m:sSubSup>
                    <m:r>
                      <a:rPr lang="en-US" altLang="zh-TW" sz="2800" b="1" i="1" smtClean="0">
                        <a:latin typeface="Cambria Math"/>
                      </a:rPr>
                      <m:t>=</m:t>
                    </m:r>
                    <m:sSub>
                      <m:sSubPr>
                        <m:ctrlPr>
                          <a:rPr lang="en-US" altLang="zh-TW" sz="2800" b="1" i="1" smtClean="0">
                            <a:latin typeface="Cambria Math" panose="02040503050406030204" pitchFamily="18" charset="0"/>
                          </a:rPr>
                        </m:ctrlPr>
                      </m:sSubPr>
                      <m:e>
                        <m:r>
                          <a:rPr lang="en-US" altLang="zh-TW" sz="2800" b="1" i="1" smtClean="0">
                            <a:latin typeface="Cambria Math"/>
                          </a:rPr>
                          <m:t>𝑨</m:t>
                        </m:r>
                      </m:e>
                      <m:sub>
                        <m:r>
                          <a:rPr lang="en-US" altLang="zh-TW" sz="2800" b="1" i="1" smtClean="0">
                            <a:latin typeface="Cambria Math"/>
                          </a:rPr>
                          <m:t>𝒕</m:t>
                        </m:r>
                      </m:sub>
                    </m:sSub>
                    <m:sSubSup>
                      <m:sSubSupPr>
                        <m:ctrlPr>
                          <a:rPr lang="en-US" altLang="zh-TW" sz="2800" b="1" i="1" smtClean="0">
                            <a:latin typeface="Cambria Math" panose="02040503050406030204" pitchFamily="18" charset="0"/>
                          </a:rPr>
                        </m:ctrlPr>
                      </m:sSubSupPr>
                      <m:e>
                        <m:r>
                          <a:rPr lang="en-US" altLang="zh-TW" sz="2800" b="1" i="1" smtClean="0">
                            <a:latin typeface="Cambria Math"/>
                          </a:rPr>
                          <m:t>𝑷</m:t>
                        </m:r>
                      </m:e>
                      <m:sub>
                        <m:r>
                          <a:rPr lang="en-US" altLang="zh-TW" sz="2800" b="1" i="1" smtClean="0">
                            <a:latin typeface="Cambria Math"/>
                          </a:rPr>
                          <m:t>𝒕</m:t>
                        </m:r>
                      </m:sub>
                      <m:sup>
                        <m:r>
                          <a:rPr lang="en-US" altLang="zh-TW" sz="2800" b="1" i="1" smtClean="0">
                            <a:latin typeface="Cambria Math"/>
                          </a:rPr>
                          <m:t>+</m:t>
                        </m:r>
                      </m:sup>
                    </m:sSubSup>
                    <m:sSubSup>
                      <m:sSubSupPr>
                        <m:ctrlPr>
                          <a:rPr lang="en-US" altLang="zh-TW" sz="2800" b="1" i="1" smtClean="0">
                            <a:latin typeface="Cambria Math" panose="02040503050406030204" pitchFamily="18" charset="0"/>
                          </a:rPr>
                        </m:ctrlPr>
                      </m:sSubSupPr>
                      <m:e>
                        <m:r>
                          <a:rPr lang="en-US" altLang="zh-TW" sz="2800" b="1" i="1" smtClean="0">
                            <a:latin typeface="Cambria Math"/>
                          </a:rPr>
                          <m:t>𝑨</m:t>
                        </m:r>
                      </m:e>
                      <m:sub>
                        <m:r>
                          <a:rPr lang="en-US" altLang="zh-TW" sz="2800" b="1" i="1" smtClean="0">
                            <a:latin typeface="Cambria Math"/>
                          </a:rPr>
                          <m:t>𝒕</m:t>
                        </m:r>
                      </m:sub>
                      <m:sup>
                        <m:r>
                          <a:rPr lang="en-US" altLang="zh-TW" sz="2800" b="1" i="1" smtClean="0">
                            <a:latin typeface="Cambria Math"/>
                          </a:rPr>
                          <m:t>𝑻</m:t>
                        </m:r>
                      </m:sup>
                    </m:sSubSup>
                    <m:r>
                      <a:rPr lang="en-US" altLang="zh-TW" sz="2800" b="0" i="0" smtClean="0">
                        <a:latin typeface="Cambria Math"/>
                      </a:rPr>
                      <m:t>+</m:t>
                    </m:r>
                    <m:sSub>
                      <m:sSubPr>
                        <m:ctrlPr>
                          <a:rPr lang="en-US" altLang="zh-TW" sz="2800" b="1" i="1" smtClean="0">
                            <a:latin typeface="Cambria Math" panose="02040503050406030204" pitchFamily="18" charset="0"/>
                          </a:rPr>
                        </m:ctrlPr>
                      </m:sSubPr>
                      <m:e>
                        <m:r>
                          <a:rPr lang="en-US" altLang="zh-TW" sz="2800" b="1" i="0" smtClean="0">
                            <a:latin typeface="Cambria Math"/>
                          </a:rPr>
                          <m:t>𝐐</m:t>
                        </m:r>
                      </m:e>
                      <m:sub>
                        <m:r>
                          <a:rPr lang="en-US" altLang="zh-TW" sz="2800" b="1" i="0" smtClean="0">
                            <a:latin typeface="Cambria Math"/>
                          </a:rPr>
                          <m:t>𝐭</m:t>
                        </m:r>
                      </m:sub>
                    </m:sSub>
                  </m:oMath>
                </a14:m>
                <a:endParaRPr lang="zh-TW" altLang="en-US" sz="2800" b="1" dirty="0"/>
              </a:p>
            </p:txBody>
          </p:sp>
        </mc:Choice>
        <mc:Fallback>
          <p:sp>
            <p:nvSpPr>
              <p:cNvPr id="4" name="文字方塊 3"/>
              <p:cNvSpPr txBox="1">
                <a:spLocks noRot="1" noChangeAspect="1" noMove="1" noResize="1" noEditPoints="1" noAdjustHandles="1" noChangeArrowheads="1" noChangeShapeType="1" noTextEdit="1"/>
              </p:cNvSpPr>
              <p:nvPr/>
            </p:nvSpPr>
            <p:spPr>
              <a:xfrm>
                <a:off x="450761" y="1163607"/>
                <a:ext cx="10786818" cy="5557868"/>
              </a:xfrm>
              <a:prstGeom prst="rect">
                <a:avLst/>
              </a:prstGeom>
              <a:blipFill rotWithShape="0">
                <a:blip r:embed="rId2"/>
                <a:stretch>
                  <a:fillRect l="-1187" t="-109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6" name="圓角矩形 5"/>
              <p:cNvSpPr/>
              <p:nvPr/>
            </p:nvSpPr>
            <p:spPr>
              <a:xfrm>
                <a:off x="5844170" y="501228"/>
                <a:ext cx="5937992" cy="83712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14:m>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𝑨</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r>
                          <a:rPr lang="en-US" altLang="zh-TW" sz="2400" b="1" i="1">
                            <a:latin typeface="Cambria Math"/>
                          </a:rPr>
                          <m:t>−</m:t>
                        </m:r>
                        <m:r>
                          <a:rPr lang="en-US" altLang="zh-TW" sz="2400" b="1" i="1">
                            <a:latin typeface="Cambria Math"/>
                          </a:rPr>
                          <m:t>𝟏</m:t>
                        </m:r>
                      </m:sub>
                    </m:sSub>
                    <m:r>
                      <a:rPr lang="en-US" altLang="zh-TW" sz="2400" b="1"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𝑩</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𝒖</m:t>
                        </m:r>
                      </m:e>
                      <m:sub>
                        <m:r>
                          <a:rPr lang="en-US" altLang="zh-TW" sz="2400" b="1" i="1" smtClean="0">
                            <a:latin typeface="Cambria Math"/>
                          </a:rPr>
                          <m:t>𝒕</m:t>
                        </m:r>
                      </m:sub>
                    </m:sSub>
                    <m:r>
                      <a:rPr lang="en-US" altLang="zh-TW" sz="2400" b="1"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𝒘</m:t>
                        </m:r>
                      </m:e>
                      <m:sub>
                        <m:r>
                          <a:rPr lang="en-US" altLang="zh-TW" sz="2400" b="1" i="1" smtClean="0">
                            <a:latin typeface="Cambria Math"/>
                          </a:rPr>
                          <m:t>𝒕</m:t>
                        </m:r>
                      </m:sub>
                    </m:sSub>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𝒘</m:t>
                        </m:r>
                      </m:e>
                      <m:sub>
                        <m:r>
                          <a:rPr lang="en-US" altLang="zh-TW" sz="2400" b="1" i="1" smtClean="0">
                            <a:latin typeface="Cambria Math"/>
                          </a:rPr>
                          <m:t>𝒕</m:t>
                        </m:r>
                      </m:sub>
                    </m:sSub>
                    <m:r>
                      <a:rPr lang="en-US" altLang="zh-TW" sz="2400" b="1" i="1" smtClean="0">
                        <a:latin typeface="Cambria Math"/>
                      </a:rPr>
                      <m:t>~</m:t>
                    </m:r>
                    <m:r>
                      <a:rPr lang="en-US" altLang="zh-TW" sz="2400" b="1" i="1" smtClean="0">
                        <a:latin typeface="Cambria Math"/>
                      </a:rPr>
                      <m:t>𝑵</m:t>
                    </m:r>
                    <m:r>
                      <a:rPr lang="en-US" altLang="zh-TW" sz="2400" b="1" i="1" smtClean="0">
                        <a:latin typeface="Cambria Math"/>
                      </a:rPr>
                      <m:t>(</m:t>
                    </m:r>
                    <m:r>
                      <a:rPr lang="en-US" altLang="zh-TW" sz="2400" b="1" i="1" smtClean="0">
                        <a:latin typeface="Cambria Math"/>
                      </a:rPr>
                      <m:t>𝟎</m:t>
                    </m:r>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𝑸</m:t>
                        </m:r>
                      </m:e>
                      <m:sub>
                        <m:r>
                          <a:rPr lang="en-US" altLang="zh-TW" sz="2400" b="1" i="1" smtClean="0">
                            <a:latin typeface="Cambria Math"/>
                          </a:rPr>
                          <m:t>𝒕</m:t>
                        </m:r>
                      </m:sub>
                    </m:sSub>
                    <m:r>
                      <a:rPr lang="en-US" altLang="zh-TW" sz="2400" b="1" i="1" smtClean="0">
                        <a:latin typeface="Cambria Math"/>
                      </a:rPr>
                      <m:t>)</m:t>
                    </m:r>
                  </m:oMath>
                </a14:m>
                <a:r>
                  <a:rPr lang="en-US" altLang="zh-TW" sz="2400" b="1" dirty="0" smtClean="0"/>
                  <a:t/>
                </a:r>
                <a:endParaRPr lang="en-US" altLang="zh-TW" sz="2400" b="1" i="1" dirty="0" smtClean="0">
                  <a:latin typeface="Cambria Math"/>
                </a:endParaRPr>
              </a:p>
              <a:p>
                <a:pPr/>
                <a14:m>
                  <m:oMathPara xmlns:m="http://schemas.openxmlformats.org/officeDocument/2006/math">
                    <m:oMathParaPr>
                      <m:jc m:val="left"/>
                    </m:oMathParaPr>
                    <m:oMath xmlns:m="http://schemas.openxmlformats.org/officeDocument/2006/math">
                      <m:sSub>
                        <m:sSubPr>
                          <m:ctrlPr>
                            <a:rPr lang="en-US" altLang="zh-TW" sz="2400" b="1" i="1">
                              <a:latin typeface="Cambria Math" panose="02040503050406030204" pitchFamily="18" charset="0"/>
                            </a:rPr>
                          </m:ctrlPr>
                        </m:sSubPr>
                        <m:e>
                          <m:r>
                            <a:rPr lang="en-US" altLang="zh-TW" sz="2400" b="1" i="1" smtClean="0">
                              <a:latin typeface="Cambria Math" panose="02040503050406030204" pitchFamily="18" charset="0"/>
                            </a:rPr>
                            <m:t>𝒛</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𝑯</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𝒗</m:t>
                          </m:r>
                        </m:e>
                        <m:sub>
                          <m:r>
                            <a:rPr lang="en-US" altLang="zh-TW" sz="2400" b="1" i="1" smtClean="0">
                              <a:latin typeface="Cambria Math"/>
                            </a:rPr>
                            <m:t>𝒕</m:t>
                          </m:r>
                        </m:sub>
                      </m:sSub>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𝒗</m:t>
                          </m:r>
                        </m:e>
                        <m:sub>
                          <m:r>
                            <a:rPr lang="en-US" altLang="zh-TW" sz="2400" b="1" i="1" smtClean="0">
                              <a:latin typeface="Cambria Math"/>
                            </a:rPr>
                            <m:t>𝒕</m:t>
                          </m:r>
                        </m:sub>
                      </m:sSub>
                      <m:r>
                        <a:rPr lang="en-US" altLang="zh-TW" sz="2400" b="1" i="1" smtClean="0">
                          <a:latin typeface="Cambria Math"/>
                        </a:rPr>
                        <m:t>~</m:t>
                      </m:r>
                      <m:r>
                        <a:rPr lang="en-US" altLang="zh-TW" sz="2400" b="1" i="1" smtClean="0">
                          <a:latin typeface="Cambria Math"/>
                        </a:rPr>
                        <m:t>𝑵</m:t>
                      </m:r>
                      <m:r>
                        <a:rPr lang="en-US" altLang="zh-TW" sz="2400" b="1" i="1" smtClean="0">
                          <a:latin typeface="Cambria Math"/>
                        </a:rPr>
                        <m:t>(</m:t>
                      </m:r>
                      <m:r>
                        <a:rPr lang="en-US" altLang="zh-TW" sz="2400" b="1" i="1" smtClean="0">
                          <a:latin typeface="Cambria Math"/>
                        </a:rPr>
                        <m:t>𝟎</m:t>
                      </m:r>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𝑹</m:t>
                          </m:r>
                        </m:e>
                        <m:sub>
                          <m:r>
                            <a:rPr lang="en-US" altLang="zh-TW" sz="2400" b="1" i="1" smtClean="0">
                              <a:latin typeface="Cambria Math"/>
                            </a:rPr>
                            <m:t>𝒕</m:t>
                          </m:r>
                        </m:sub>
                      </m:sSub>
                      <m:r>
                        <a:rPr lang="en-US" altLang="zh-TW" sz="2400" b="1" i="1" smtClean="0">
                          <a:latin typeface="Cambria Math"/>
                        </a:rPr>
                        <m:t>)</m:t>
                      </m:r>
                    </m:oMath>
                  </m:oMathPara>
                </a14:m>
                <a:endParaRPr lang="zh-TW" altLang="en-US" sz="2400" dirty="0"/>
              </a:p>
            </p:txBody>
          </p:sp>
        </mc:Choice>
        <mc:Fallback>
          <p:sp>
            <p:nvSpPr>
              <p:cNvPr id="6" name="圓角矩形 5"/>
              <p:cNvSpPr>
                <a:spLocks noRot="1" noChangeAspect="1" noMove="1" noResize="1" noEditPoints="1" noAdjustHandles="1" noChangeArrowheads="1" noChangeShapeType="1" noTextEdit="1"/>
              </p:cNvSpPr>
              <p:nvPr/>
            </p:nvSpPr>
            <p:spPr>
              <a:xfrm>
                <a:off x="5844170" y="501228"/>
                <a:ext cx="5937992" cy="837127"/>
              </a:xfrm>
              <a:prstGeom prst="roundRect">
                <a:avLst/>
              </a:prstGeom>
              <a:blipFill rotWithShape="1">
                <a:blip r:embed="rId3"/>
                <a:stretch>
                  <a:fillRect b="-7914"/>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3382134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Kalman filter parameter estimation</a:t>
            </a:r>
            <a:endParaRPr lang="zh-TW" altLang="en-US" dirty="0"/>
          </a:p>
        </p:txBody>
      </p:sp>
      <p:sp>
        <p:nvSpPr>
          <p:cNvPr id="3" name="投影片編號版面配置區 2"/>
          <p:cNvSpPr>
            <a:spLocks noGrp="1"/>
          </p:cNvSpPr>
          <p:nvPr>
            <p:ph type="sldNum" sz="quarter" idx="12"/>
          </p:nvPr>
        </p:nvSpPr>
        <p:spPr/>
        <p:txBody>
          <a:bodyPr/>
          <a:lstStyle/>
          <a:p>
            <a:fld id="{60325430-07F2-45E8-A5C9-B73C13C9C571}" type="slidenum">
              <a:rPr lang="zh-TW" altLang="en-US" smtClean="0"/>
              <a:pPr/>
              <a:t>15</a:t>
            </a:fld>
            <a:endParaRPr lang="zh-TW" altLang="en-US"/>
          </a:p>
        </p:txBody>
      </p:sp>
      <mc:AlternateContent xmlns:mc="http://schemas.openxmlformats.org/markup-compatibility/2006">
        <mc:Choice xmlns:a14="http://schemas.microsoft.com/office/drawing/2010/main" xmlns="" Requires="a14">
          <p:sp>
            <p:nvSpPr>
              <p:cNvPr id="4" name="圓角矩形 3"/>
              <p:cNvSpPr/>
              <p:nvPr/>
            </p:nvSpPr>
            <p:spPr>
              <a:xfrm>
                <a:off x="4276352" y="1702708"/>
                <a:ext cx="5937992" cy="83712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14:m>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𝑨</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r>
                          <a:rPr lang="en-US" altLang="zh-TW" sz="2400" b="1" i="1">
                            <a:latin typeface="Cambria Math"/>
                          </a:rPr>
                          <m:t>−</m:t>
                        </m:r>
                        <m:r>
                          <a:rPr lang="en-US" altLang="zh-TW" sz="2400" b="1" i="1">
                            <a:latin typeface="Cambria Math"/>
                          </a:rPr>
                          <m:t>𝟏</m:t>
                        </m:r>
                      </m:sub>
                    </m:sSub>
                    <m:r>
                      <a:rPr lang="en-US" altLang="zh-TW" sz="2400" b="1"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𝑩</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𝒖</m:t>
                        </m:r>
                      </m:e>
                      <m:sub>
                        <m:r>
                          <a:rPr lang="en-US" altLang="zh-TW" sz="2400" b="1" i="1" smtClean="0">
                            <a:latin typeface="Cambria Math"/>
                          </a:rPr>
                          <m:t>𝒕</m:t>
                        </m:r>
                      </m:sub>
                    </m:sSub>
                    <m:r>
                      <a:rPr lang="en-US" altLang="zh-TW" sz="2400" b="1"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𝒘</m:t>
                        </m:r>
                      </m:e>
                      <m:sub>
                        <m:r>
                          <a:rPr lang="en-US" altLang="zh-TW" sz="2400" b="1" i="1" smtClean="0">
                            <a:latin typeface="Cambria Math"/>
                          </a:rPr>
                          <m:t>𝒕</m:t>
                        </m:r>
                      </m:sub>
                    </m:sSub>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𝒘</m:t>
                        </m:r>
                      </m:e>
                      <m:sub>
                        <m:r>
                          <a:rPr lang="en-US" altLang="zh-TW" sz="2400" b="1" i="1" smtClean="0">
                            <a:latin typeface="Cambria Math"/>
                          </a:rPr>
                          <m:t>𝒕</m:t>
                        </m:r>
                      </m:sub>
                    </m:sSub>
                    <m:r>
                      <a:rPr lang="en-US" altLang="zh-TW" sz="2400" b="1" i="1" smtClean="0">
                        <a:latin typeface="Cambria Math"/>
                      </a:rPr>
                      <m:t>~</m:t>
                    </m:r>
                    <m:r>
                      <a:rPr lang="en-US" altLang="zh-TW" sz="2400" b="1" i="1" smtClean="0">
                        <a:latin typeface="Cambria Math"/>
                      </a:rPr>
                      <m:t>𝑵</m:t>
                    </m:r>
                    <m:r>
                      <a:rPr lang="en-US" altLang="zh-TW" sz="2400" b="1" i="1" smtClean="0">
                        <a:latin typeface="Cambria Math"/>
                      </a:rPr>
                      <m:t>(</m:t>
                    </m:r>
                    <m:r>
                      <a:rPr lang="en-US" altLang="zh-TW" sz="2400" b="1" i="1" smtClean="0">
                        <a:latin typeface="Cambria Math"/>
                      </a:rPr>
                      <m:t>𝟎</m:t>
                    </m:r>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𝑸</m:t>
                        </m:r>
                      </m:e>
                      <m:sub>
                        <m:r>
                          <a:rPr lang="en-US" altLang="zh-TW" sz="2400" b="1" i="1" smtClean="0">
                            <a:latin typeface="Cambria Math"/>
                          </a:rPr>
                          <m:t>𝒕</m:t>
                        </m:r>
                      </m:sub>
                    </m:sSub>
                    <m:r>
                      <a:rPr lang="en-US" altLang="zh-TW" sz="2400" b="1" i="1" smtClean="0">
                        <a:latin typeface="Cambria Math"/>
                      </a:rPr>
                      <m:t>)</m:t>
                    </m:r>
                  </m:oMath>
                </a14:m>
                <a:r>
                  <a:rPr lang="en-US" altLang="zh-TW" sz="2400" b="1" dirty="0" smtClean="0"/>
                  <a:t/>
                </a:r>
                <a:endParaRPr lang="en-US" altLang="zh-TW" sz="2400" b="1" i="1" dirty="0" smtClean="0">
                  <a:latin typeface="Cambria Math"/>
                </a:endParaRPr>
              </a:p>
              <a:p>
                <a:pPr/>
                <a14:m>
                  <m:oMathPara xmlns:m="http://schemas.openxmlformats.org/officeDocument/2006/math">
                    <m:oMathParaPr>
                      <m:jc m:val="left"/>
                    </m:oMathParaPr>
                    <m:oMath xmlns:m="http://schemas.openxmlformats.org/officeDocument/2006/math">
                      <m:sSub>
                        <m:sSubPr>
                          <m:ctrlPr>
                            <a:rPr lang="en-US" altLang="zh-TW" sz="2400" b="1" i="1">
                              <a:latin typeface="Cambria Math" panose="02040503050406030204" pitchFamily="18" charset="0"/>
                            </a:rPr>
                          </m:ctrlPr>
                        </m:sSubPr>
                        <m:e>
                          <m:r>
                            <a:rPr lang="en-US" altLang="zh-TW" sz="2400" b="1" i="1" smtClean="0">
                              <a:latin typeface="Cambria Math" panose="02040503050406030204" pitchFamily="18" charset="0"/>
                            </a:rPr>
                            <m:t>𝒛</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𝑯</m:t>
                          </m:r>
                        </m:e>
                        <m:sub>
                          <m:r>
                            <a:rPr lang="en-US" altLang="zh-TW" sz="2400" b="1" i="1" smtClean="0">
                              <a:latin typeface="Cambria Math"/>
                            </a:rPr>
                            <m:t>𝒕</m:t>
                          </m:r>
                        </m:sub>
                      </m:sSub>
                      <m:sSub>
                        <m:sSubPr>
                          <m:ctrlPr>
                            <a:rPr lang="en-US" altLang="zh-TW" sz="2400" b="1" i="1">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i="1">
                          <a:latin typeface="Cambria Math"/>
                        </a:rPr>
                        <m:t>+</m:t>
                      </m:r>
                      <m:sSub>
                        <m:sSubPr>
                          <m:ctrlPr>
                            <a:rPr lang="en-US" altLang="zh-TW" sz="2400" b="1" i="1">
                              <a:latin typeface="Cambria Math" panose="02040503050406030204" pitchFamily="18" charset="0"/>
                            </a:rPr>
                          </m:ctrlPr>
                        </m:sSubPr>
                        <m:e>
                          <m:r>
                            <a:rPr lang="en-US" altLang="zh-TW" sz="2400" b="1" i="1">
                              <a:latin typeface="Cambria Math"/>
                            </a:rPr>
                            <m:t>𝒗</m:t>
                          </m:r>
                        </m:e>
                        <m:sub>
                          <m:r>
                            <a:rPr lang="en-US" altLang="zh-TW" sz="2400" b="1" i="1" smtClean="0">
                              <a:latin typeface="Cambria Math"/>
                            </a:rPr>
                            <m:t>𝒕</m:t>
                          </m:r>
                        </m:sub>
                      </m:sSub>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𝒗</m:t>
                          </m:r>
                        </m:e>
                        <m:sub>
                          <m:r>
                            <a:rPr lang="en-US" altLang="zh-TW" sz="2400" b="1" i="1" smtClean="0">
                              <a:latin typeface="Cambria Math"/>
                            </a:rPr>
                            <m:t>𝒕</m:t>
                          </m:r>
                        </m:sub>
                      </m:sSub>
                      <m:r>
                        <a:rPr lang="en-US" altLang="zh-TW" sz="2400" b="1" i="1" smtClean="0">
                          <a:latin typeface="Cambria Math"/>
                        </a:rPr>
                        <m:t>~</m:t>
                      </m:r>
                      <m:r>
                        <a:rPr lang="en-US" altLang="zh-TW" sz="2400" b="1" i="1" smtClean="0">
                          <a:latin typeface="Cambria Math"/>
                        </a:rPr>
                        <m:t>𝑵</m:t>
                      </m:r>
                      <m:r>
                        <a:rPr lang="en-US" altLang="zh-TW" sz="2400" b="1" i="1" smtClean="0">
                          <a:latin typeface="Cambria Math"/>
                        </a:rPr>
                        <m:t>(</m:t>
                      </m:r>
                      <m:r>
                        <a:rPr lang="en-US" altLang="zh-TW" sz="2400" b="1" i="1" smtClean="0">
                          <a:latin typeface="Cambria Math"/>
                        </a:rPr>
                        <m:t>𝟎</m:t>
                      </m:r>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𝑹</m:t>
                          </m:r>
                        </m:e>
                        <m:sub>
                          <m:r>
                            <a:rPr lang="en-US" altLang="zh-TW" sz="2400" b="1" i="1" smtClean="0">
                              <a:latin typeface="Cambria Math"/>
                            </a:rPr>
                            <m:t>𝒕</m:t>
                          </m:r>
                        </m:sub>
                      </m:sSub>
                      <m:r>
                        <a:rPr lang="en-US" altLang="zh-TW" sz="2400" b="1" i="1" smtClean="0">
                          <a:latin typeface="Cambria Math"/>
                        </a:rPr>
                        <m:t>)</m:t>
                      </m:r>
                    </m:oMath>
                  </m:oMathPara>
                </a14:m>
                <a:endParaRPr lang="zh-TW" altLang="en-US" sz="2400" dirty="0"/>
              </a:p>
            </p:txBody>
          </p:sp>
        </mc:Choice>
        <mc:Fallback>
          <p:sp>
            <p:nvSpPr>
              <p:cNvPr id="4" name="圓角矩形 3"/>
              <p:cNvSpPr>
                <a:spLocks noRot="1" noChangeAspect="1" noMove="1" noResize="1" noEditPoints="1" noAdjustHandles="1" noChangeArrowheads="1" noChangeShapeType="1" noTextEdit="1"/>
              </p:cNvSpPr>
              <p:nvPr/>
            </p:nvSpPr>
            <p:spPr>
              <a:xfrm>
                <a:off x="4276352" y="1702708"/>
                <a:ext cx="5937992" cy="837127"/>
              </a:xfrm>
              <a:prstGeom prst="roundRect">
                <a:avLst/>
              </a:prstGeom>
              <a:blipFill rotWithShape="1">
                <a:blip r:embed="rId2"/>
                <a:stretch>
                  <a:fillRect b="-7914"/>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5" name="文字方塊 4"/>
              <p:cNvSpPr txBox="1"/>
              <p:nvPr/>
            </p:nvSpPr>
            <p:spPr>
              <a:xfrm>
                <a:off x="458299" y="1702708"/>
                <a:ext cx="10241231" cy="2245743"/>
              </a:xfrm>
              <a:prstGeom prst="rect">
                <a:avLst/>
              </a:prstGeom>
              <a:noFill/>
            </p:spPr>
            <p:txBody>
              <a:bodyPr wrap="square" rtlCol="0">
                <a:spAutoFit/>
              </a:bodyPr>
              <a:lstStyle/>
              <a:p>
                <a:pPr>
                  <a:lnSpc>
                    <a:spcPct val="120000"/>
                  </a:lnSpc>
                </a:pPr>
                <a:r>
                  <a:rPr lang="zh-TW" altLang="en-US" sz="2800" dirty="0" smtClean="0"/>
                  <a:t>如何估計</a:t>
                </a:r>
                <a14:m>
                  <m:oMath xmlns:m="http://schemas.openxmlformats.org/officeDocument/2006/math">
                    <m:sSub>
                      <m:sSubPr>
                        <m:ctrlPr>
                          <a:rPr lang="en-US" altLang="zh-TW" sz="2800" b="0" i="1" smtClean="0">
                            <a:latin typeface="Cambria Math" panose="02040503050406030204" pitchFamily="18" charset="0"/>
                          </a:rPr>
                        </m:ctrlPr>
                      </m:sSubPr>
                      <m:e>
                        <m:r>
                          <a:rPr lang="en-US" altLang="zh-TW" sz="2800" b="0" i="1" smtClean="0">
                            <a:latin typeface="Cambria Math"/>
                          </a:rPr>
                          <m:t>𝐴</m:t>
                        </m:r>
                      </m:e>
                      <m:sub>
                        <m:r>
                          <a:rPr lang="en-US" altLang="zh-TW" sz="2800" b="0" i="1" smtClean="0">
                            <a:latin typeface="Cambria Math"/>
                          </a:rPr>
                          <m:t>𝑡</m:t>
                        </m:r>
                      </m:sub>
                    </m:sSub>
                    <m:r>
                      <a:rPr lang="en-US" altLang="zh-TW" sz="2800" b="0" i="1" smtClean="0">
                        <a:latin typeface="Cambria Math"/>
                      </a:rPr>
                      <m:t>, </m:t>
                    </m:r>
                    <m:sSub>
                      <m:sSubPr>
                        <m:ctrlPr>
                          <a:rPr lang="en-US" altLang="zh-TW" sz="2800" b="0" i="1" smtClean="0">
                            <a:latin typeface="Cambria Math" panose="02040503050406030204" pitchFamily="18" charset="0"/>
                          </a:rPr>
                        </m:ctrlPr>
                      </m:sSubPr>
                      <m:e>
                        <m:r>
                          <a:rPr lang="en-US" altLang="zh-TW" sz="2800" b="0" i="1" smtClean="0">
                            <a:latin typeface="Cambria Math"/>
                          </a:rPr>
                          <m:t>𝐻</m:t>
                        </m:r>
                      </m:e>
                      <m:sub>
                        <m:r>
                          <a:rPr lang="en-US" altLang="zh-TW" sz="2800" b="0" i="1" smtClean="0">
                            <a:latin typeface="Cambria Math"/>
                          </a:rPr>
                          <m:t>𝑡</m:t>
                        </m:r>
                      </m:sub>
                    </m:sSub>
                  </m:oMath>
                </a14:m>
                <a:r>
                  <a:rPr lang="en-US" altLang="zh-TW" sz="2800" dirty="0" smtClean="0"/>
                  <a:t>?</a:t>
                </a:r>
              </a:p>
              <a:p>
                <a:pPr>
                  <a:lnSpc>
                    <a:spcPct val="120000"/>
                  </a:lnSpc>
                </a:pPr>
                <a:endParaRPr lang="en-US" altLang="zh-TW" sz="2800" dirty="0"/>
              </a:p>
              <a:p>
                <a:pPr marL="285750" indent="-285750">
                  <a:lnSpc>
                    <a:spcPct val="120000"/>
                  </a:lnSpc>
                  <a:buFont typeface="Arial" panose="020B0604020202020204" pitchFamily="34" charset="0"/>
                  <a:buChar char="•"/>
                </a:pPr>
                <a:r>
                  <a:rPr lang="en-US" altLang="zh-TW" sz="2800" dirty="0" smtClean="0"/>
                  <a:t>ARMA (p, q)model: </a:t>
                </a:r>
                <a14:m>
                  <m:oMath xmlns:m="http://schemas.openxmlformats.org/officeDocument/2006/math">
                    <m:sSub>
                      <m:sSubPr>
                        <m:ctrlPr>
                          <a:rPr lang="en-US" altLang="zh-TW" sz="2800" b="0" i="1" smtClean="0">
                            <a:latin typeface="Cambria Math" panose="02040503050406030204" pitchFamily="18" charset="0"/>
                          </a:rPr>
                        </m:ctrlPr>
                      </m:sSubPr>
                      <m:e>
                        <m:r>
                          <a:rPr lang="en-US" altLang="zh-TW" sz="2800" b="0" i="1" smtClean="0">
                            <a:latin typeface="Cambria Math"/>
                          </a:rPr>
                          <m:t>𝑥</m:t>
                        </m:r>
                      </m:e>
                      <m:sub>
                        <m:r>
                          <a:rPr lang="en-US" altLang="zh-TW" sz="2800" b="0" i="1" smtClean="0">
                            <a:latin typeface="Cambria Math"/>
                          </a:rPr>
                          <m:t>𝑡</m:t>
                        </m:r>
                      </m:sub>
                    </m:sSub>
                    <m:r>
                      <a:rPr lang="en-US" altLang="zh-TW" sz="2800" b="0" i="1" smtClean="0">
                        <a:latin typeface="Cambria Math"/>
                      </a:rPr>
                      <m:t>=</m:t>
                    </m:r>
                    <m:nary>
                      <m:naryPr>
                        <m:chr m:val="∑"/>
                        <m:ctrlPr>
                          <a:rPr lang="en-US" altLang="zh-TW" sz="2800" b="0" i="1" smtClean="0">
                            <a:latin typeface="Cambria Math" panose="02040503050406030204" pitchFamily="18" charset="0"/>
                          </a:rPr>
                        </m:ctrlPr>
                      </m:naryPr>
                      <m:sub>
                        <m:r>
                          <a:rPr lang="en-US" altLang="zh-TW" sz="2800" b="0" i="1" smtClean="0">
                            <a:latin typeface="Cambria Math"/>
                          </a:rPr>
                          <m:t>𝑖</m:t>
                        </m:r>
                        <m:r>
                          <a:rPr lang="en-US" altLang="zh-TW" sz="2800" b="0" i="1" smtClean="0">
                            <a:latin typeface="Cambria Math"/>
                          </a:rPr>
                          <m:t>=1</m:t>
                        </m:r>
                      </m:sub>
                      <m:sup>
                        <m:r>
                          <a:rPr lang="en-US" altLang="zh-TW" sz="2800" b="0" i="1" smtClean="0">
                            <a:latin typeface="Cambria Math"/>
                          </a:rPr>
                          <m:t>𝑝</m:t>
                        </m:r>
                      </m:sup>
                      <m:e>
                        <m:sSub>
                          <m:sSubPr>
                            <m:ctrlPr>
                              <a:rPr lang="en-US" altLang="zh-TW" sz="2800" b="0" i="1" smtClean="0">
                                <a:latin typeface="Cambria Math" panose="02040503050406030204" pitchFamily="18" charset="0"/>
                              </a:rPr>
                            </m:ctrlPr>
                          </m:sSubPr>
                          <m:e>
                            <m:r>
                              <a:rPr lang="en-US" altLang="zh-TW" sz="2800" b="0" i="1" smtClean="0">
                                <a:latin typeface="Cambria Math"/>
                              </a:rPr>
                              <m:t>𝑎</m:t>
                            </m:r>
                          </m:e>
                          <m:sub>
                            <m:r>
                              <a:rPr lang="en-US" altLang="zh-TW" sz="2800" b="0" i="1" smtClean="0">
                                <a:latin typeface="Cambria Math"/>
                              </a:rPr>
                              <m:t>𝑖</m:t>
                            </m:r>
                          </m:sub>
                        </m:sSub>
                        <m:sSub>
                          <m:sSubPr>
                            <m:ctrlPr>
                              <a:rPr lang="en-US" altLang="zh-TW" sz="2800" b="0" i="1" smtClean="0">
                                <a:latin typeface="Cambria Math" panose="02040503050406030204" pitchFamily="18" charset="0"/>
                              </a:rPr>
                            </m:ctrlPr>
                          </m:sSubPr>
                          <m:e>
                            <m:r>
                              <a:rPr lang="en-US" altLang="zh-TW" sz="2800" b="0" i="1" smtClean="0">
                                <a:latin typeface="Cambria Math"/>
                              </a:rPr>
                              <m:t>𝑥</m:t>
                            </m:r>
                          </m:e>
                          <m:sub>
                            <m:r>
                              <a:rPr lang="en-US" altLang="zh-TW" sz="2800" b="0" i="1" smtClean="0">
                                <a:latin typeface="Cambria Math"/>
                              </a:rPr>
                              <m:t>𝑡</m:t>
                            </m:r>
                            <m:r>
                              <a:rPr lang="en-US" altLang="zh-TW" sz="2800" b="0" i="1" smtClean="0">
                                <a:latin typeface="Cambria Math"/>
                              </a:rPr>
                              <m:t>−</m:t>
                            </m:r>
                            <m:r>
                              <a:rPr lang="en-US" altLang="zh-TW" sz="2800" b="0" i="1" smtClean="0">
                                <a:latin typeface="Cambria Math"/>
                              </a:rPr>
                              <m:t>𝑖</m:t>
                            </m:r>
                          </m:sub>
                        </m:sSub>
                        <m:r>
                          <a:rPr lang="en-US" altLang="zh-TW" sz="2800" b="0" i="1" smtClean="0">
                            <a:latin typeface="Cambria Math"/>
                          </a:rPr>
                          <m:t>+</m:t>
                        </m:r>
                        <m:nary>
                          <m:naryPr>
                            <m:chr m:val="∑"/>
                            <m:ctrlPr>
                              <a:rPr lang="en-US" altLang="zh-TW" sz="2800" b="0" i="1" smtClean="0">
                                <a:latin typeface="Cambria Math" panose="02040503050406030204" pitchFamily="18" charset="0"/>
                              </a:rPr>
                            </m:ctrlPr>
                          </m:naryPr>
                          <m:sub>
                            <m:r>
                              <a:rPr lang="en-US" altLang="zh-TW" sz="2800" b="0" i="1" smtClean="0">
                                <a:latin typeface="Cambria Math"/>
                              </a:rPr>
                              <m:t>𝑗</m:t>
                            </m:r>
                            <m:r>
                              <a:rPr lang="en-US" altLang="zh-TW" sz="2800" b="0" i="1" smtClean="0">
                                <a:latin typeface="Cambria Math"/>
                              </a:rPr>
                              <m:t>=0</m:t>
                            </m:r>
                          </m:sub>
                          <m:sup>
                            <m:r>
                              <a:rPr lang="en-US" altLang="zh-TW" sz="2800" b="0" i="1" smtClean="0">
                                <a:latin typeface="Cambria Math"/>
                              </a:rPr>
                              <m:t>𝑞</m:t>
                            </m:r>
                          </m:sup>
                          <m:e>
                            <m:sSub>
                              <m:sSubPr>
                                <m:ctrlPr>
                                  <a:rPr lang="en-US" altLang="zh-TW" sz="2800" b="0" i="1" smtClean="0">
                                    <a:latin typeface="Cambria Math" panose="02040503050406030204" pitchFamily="18" charset="0"/>
                                  </a:rPr>
                                </m:ctrlPr>
                              </m:sSubPr>
                              <m:e>
                                <m:r>
                                  <a:rPr lang="en-US" altLang="zh-TW" sz="2800" b="0" i="1" smtClean="0">
                                    <a:latin typeface="Cambria Math"/>
                                  </a:rPr>
                                  <m:t>𝜖</m:t>
                                </m:r>
                              </m:e>
                              <m:sub>
                                <m:r>
                                  <a:rPr lang="en-US" altLang="zh-TW" sz="2800" b="0" i="1" smtClean="0">
                                    <a:latin typeface="Cambria Math"/>
                                  </a:rPr>
                                  <m:t>𝑡</m:t>
                                </m:r>
                              </m:sub>
                            </m:sSub>
                          </m:e>
                        </m:nary>
                        <m:r>
                          <a:rPr lang="en-US" altLang="zh-TW" sz="2800" b="0" i="1" smtClean="0">
                            <a:latin typeface="Cambria Math"/>
                          </a:rPr>
                          <m:t>, </m:t>
                        </m:r>
                        <m:sSub>
                          <m:sSubPr>
                            <m:ctrlPr>
                              <a:rPr lang="en-US" altLang="zh-TW" sz="2800" b="0" i="1" smtClean="0">
                                <a:latin typeface="Cambria Math" panose="02040503050406030204" pitchFamily="18" charset="0"/>
                              </a:rPr>
                            </m:ctrlPr>
                          </m:sSubPr>
                          <m:e>
                            <m:r>
                              <a:rPr lang="en-US" altLang="zh-TW" sz="2800" b="0" i="1" smtClean="0">
                                <a:latin typeface="Cambria Math"/>
                              </a:rPr>
                              <m:t>𝜖</m:t>
                            </m:r>
                          </m:e>
                          <m:sub>
                            <m:r>
                              <a:rPr lang="en-US" altLang="zh-TW" sz="2800" b="0" i="1" smtClean="0">
                                <a:latin typeface="Cambria Math"/>
                              </a:rPr>
                              <m:t>𝑡</m:t>
                            </m:r>
                          </m:sub>
                        </m:sSub>
                        <m:r>
                          <a:rPr lang="en-US" altLang="zh-TW" sz="2800" b="0" i="1" smtClean="0">
                            <a:latin typeface="Cambria Math"/>
                          </a:rPr>
                          <m:t>~</m:t>
                        </m:r>
                        <m:r>
                          <a:rPr lang="en-US" altLang="zh-TW" sz="2800" b="0" i="1" smtClean="0">
                            <a:latin typeface="Cambria Math"/>
                          </a:rPr>
                          <m:t>𝑊𝑁</m:t>
                        </m:r>
                        <m:r>
                          <a:rPr lang="en-US" altLang="zh-TW" sz="2800" b="0" i="1" smtClean="0">
                            <a:latin typeface="Cambria Math"/>
                          </a:rPr>
                          <m:t>(0, </m:t>
                        </m:r>
                        <m:sSubSup>
                          <m:sSubSupPr>
                            <m:ctrlPr>
                              <a:rPr lang="en-US" altLang="zh-TW" sz="2800" b="0" i="1" smtClean="0">
                                <a:latin typeface="Cambria Math" panose="02040503050406030204" pitchFamily="18" charset="0"/>
                              </a:rPr>
                            </m:ctrlPr>
                          </m:sSubSupPr>
                          <m:e>
                            <m:r>
                              <a:rPr lang="en-US" altLang="zh-TW" sz="2800" b="0" i="1" smtClean="0">
                                <a:latin typeface="Cambria Math"/>
                              </a:rPr>
                              <m:t>𝜎</m:t>
                            </m:r>
                          </m:e>
                          <m:sub>
                            <m:r>
                              <a:rPr lang="en-US" altLang="zh-TW" sz="2800" b="0" i="1" smtClean="0">
                                <a:latin typeface="Cambria Math"/>
                              </a:rPr>
                              <m:t>𝜖</m:t>
                            </m:r>
                          </m:sub>
                          <m:sup>
                            <m:r>
                              <a:rPr lang="en-US" altLang="zh-TW" sz="2800" b="0" i="1" smtClean="0">
                                <a:latin typeface="Cambria Math"/>
                              </a:rPr>
                              <m:t>2</m:t>
                            </m:r>
                          </m:sup>
                        </m:sSubSup>
                        <m:r>
                          <a:rPr lang="en-US" altLang="zh-TW" sz="2800" b="0" i="1" smtClean="0">
                            <a:latin typeface="Cambria Math"/>
                          </a:rPr>
                          <m:t>)</m:t>
                        </m:r>
                      </m:e>
                    </m:nary>
                  </m:oMath>
                </a14:m>
                <a:endParaRPr lang="en-US" altLang="zh-TW" sz="2800" dirty="0" smtClean="0"/>
              </a:p>
              <a:p>
                <a:pPr marL="285750" indent="-285750">
                  <a:lnSpc>
                    <a:spcPct val="120000"/>
                  </a:lnSpc>
                  <a:buFont typeface="Arial" panose="020B0604020202020204" pitchFamily="34" charset="0"/>
                  <a:buChar char="•"/>
                </a:pPr>
                <a:r>
                  <a:rPr lang="en-US" altLang="zh-TW" sz="2800" dirty="0" smtClean="0"/>
                  <a:t>EM (expectation maximization) algorithm </a:t>
                </a:r>
                <a:endParaRPr lang="zh-TW" altLang="en-US" sz="2800" dirty="0"/>
              </a:p>
            </p:txBody>
          </p:sp>
        </mc:Choice>
        <mc:Fallback>
          <p:sp>
            <p:nvSpPr>
              <p:cNvPr id="5" name="文字方塊 4"/>
              <p:cNvSpPr txBox="1">
                <a:spLocks noRot="1" noChangeAspect="1" noMove="1" noResize="1" noEditPoints="1" noAdjustHandles="1" noChangeArrowheads="1" noChangeShapeType="1" noTextEdit="1"/>
              </p:cNvSpPr>
              <p:nvPr/>
            </p:nvSpPr>
            <p:spPr>
              <a:xfrm>
                <a:off x="458299" y="1702708"/>
                <a:ext cx="10241231" cy="2245743"/>
              </a:xfrm>
              <a:prstGeom prst="rect">
                <a:avLst/>
              </a:prstGeom>
              <a:blipFill rotWithShape="0">
                <a:blip r:embed="rId3"/>
                <a:stretch>
                  <a:fillRect l="-1190" t="-813" b="-6504"/>
                </a:stretch>
              </a:blipFill>
            </p:spPr>
            <p:txBody>
              <a:bodyPr/>
              <a:lstStyle/>
              <a:p>
                <a:r>
                  <a:rPr lang="zh-TW" altLang="en-US">
                    <a:noFill/>
                  </a:rPr>
                  <a:t> </a:t>
                </a:r>
              </a:p>
            </p:txBody>
          </p:sp>
        </mc:Fallback>
      </mc:AlternateContent>
      <p:sp>
        <p:nvSpPr>
          <p:cNvPr id="6" name="文字方塊 5"/>
          <p:cNvSpPr txBox="1"/>
          <p:nvPr/>
        </p:nvSpPr>
        <p:spPr>
          <a:xfrm>
            <a:off x="701748" y="5114244"/>
            <a:ext cx="8155172" cy="584775"/>
          </a:xfrm>
          <a:prstGeom prst="rect">
            <a:avLst/>
          </a:prstGeom>
          <a:noFill/>
        </p:spPr>
        <p:txBody>
          <a:bodyPr wrap="square" rtlCol="0">
            <a:spAutoFit/>
          </a:bodyPr>
          <a:lstStyle/>
          <a:p>
            <a:r>
              <a:rPr lang="en-US" altLang="zh-TW" sz="3200" dirty="0" err="1" smtClean="0">
                <a:hlinkClick r:id="rId4"/>
              </a:rPr>
              <a:t>Pykalman</a:t>
            </a:r>
            <a:r>
              <a:rPr lang="en-US" altLang="zh-TW" sz="3200" dirty="0" smtClean="0">
                <a:hlinkClick r:id="rId4"/>
              </a:rPr>
              <a:t> python package</a:t>
            </a:r>
            <a:endParaRPr lang="zh-TW" altLang="en-US" sz="3200" dirty="0"/>
          </a:p>
        </p:txBody>
      </p:sp>
    </p:spTree>
    <p:extLst>
      <p:ext uri="{BB962C8B-B14F-4D97-AF65-F5344CB8AC3E}">
        <p14:creationId xmlns:p14="http://schemas.microsoft.com/office/powerpoint/2010/main" xmlns="" val="31434651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Nonlinear state space model</a:t>
            </a:r>
            <a:endParaRPr lang="zh-TW" altLang="en-US" dirty="0"/>
          </a:p>
        </p:txBody>
      </p:sp>
      <p:sp>
        <p:nvSpPr>
          <p:cNvPr id="3" name="投影片編號版面配置區 2"/>
          <p:cNvSpPr>
            <a:spLocks noGrp="1"/>
          </p:cNvSpPr>
          <p:nvPr>
            <p:ph type="sldNum" sz="quarter" idx="12"/>
          </p:nvPr>
        </p:nvSpPr>
        <p:spPr/>
        <p:txBody>
          <a:bodyPr/>
          <a:lstStyle/>
          <a:p>
            <a:fld id="{60325430-07F2-45E8-A5C9-B73C13C9C571}" type="slidenum">
              <a:rPr lang="zh-TW" altLang="en-US" smtClean="0"/>
              <a:pPr/>
              <a:t>16</a:t>
            </a:fld>
            <a:endParaRPr lang="zh-TW" altLang="en-US"/>
          </a:p>
        </p:txBody>
      </p:sp>
      <mc:AlternateContent xmlns:mc="http://schemas.openxmlformats.org/markup-compatibility/2006">
        <mc:Choice xmlns:a14="http://schemas.microsoft.com/office/drawing/2010/main" xmlns="" Requires="a14">
          <p:sp>
            <p:nvSpPr>
              <p:cNvPr id="4" name="文字方塊 3"/>
              <p:cNvSpPr txBox="1"/>
              <p:nvPr/>
            </p:nvSpPr>
            <p:spPr>
              <a:xfrm>
                <a:off x="1025817" y="2603449"/>
                <a:ext cx="10140366" cy="3416320"/>
              </a:xfrm>
              <a:prstGeom prst="rect">
                <a:avLst/>
              </a:prstGeom>
              <a:noFill/>
            </p:spPr>
            <p:txBody>
              <a:bodyPr wrap="square" rtlCol="0">
                <a:spAutoFit/>
              </a:bodyPr>
              <a:lstStyle/>
              <a:p>
                <a:r>
                  <a:rPr lang="en-US" altLang="zh-TW" sz="2400" dirty="0" smtClean="0"/>
                  <a:t>The system is governed by </a:t>
                </a:r>
                <a:r>
                  <a:rPr lang="en-US" altLang="zh-TW" sz="2400" dirty="0" smtClean="0">
                    <a:solidFill>
                      <a:srgbClr val="00B0F0"/>
                    </a:solidFill>
                  </a:rPr>
                  <a:t>non-linear equations (depend on problems)</a:t>
                </a:r>
                <a:r>
                  <a:rPr lang="en-US" altLang="zh-TW" sz="2400" dirty="0" smtClean="0"/>
                  <a:t>:</a:t>
                </a:r>
              </a:p>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a:rPr>
                            <m:t>𝑡</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𝑓</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a:rPr>
                                <m:t>𝑡</m:t>
                              </m:r>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𝑢</m:t>
                              </m:r>
                            </m:e>
                            <m:sub>
                              <m:r>
                                <a:rPr lang="en-US" altLang="zh-TW" sz="2400" b="0" i="1" smtClean="0">
                                  <a:latin typeface="Cambria Math"/>
                                </a:rPr>
                                <m:t>𝑡</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a:rPr>
                                <m:t>𝑡</m:t>
                              </m:r>
                              <m:r>
                                <a:rPr lang="en-US" altLang="zh-TW" sz="2400" b="0" i="1" smtClean="0">
                                  <a:latin typeface="Cambria Math" panose="02040503050406030204" pitchFamily="18" charset="0"/>
                                </a:rPr>
                                <m:t>−1</m:t>
                              </m:r>
                            </m:sub>
                          </m:sSub>
                        </m:e>
                      </m:d>
                      <m:r>
                        <a:rPr lang="en-US" altLang="zh-TW" sz="2400" b="0" i="1" smtClean="0">
                          <a:latin typeface="Cambria Math" panose="02040503050406030204" pitchFamily="18" charset="0"/>
                        </a:rPr>
                        <m:t>∈</m:t>
                      </m:r>
                      <m:sSup>
                        <m:sSupPr>
                          <m:ctrlPr>
                            <a:rPr lang="en-US" altLang="zh-TW" sz="2400" b="0" i="1" smtClean="0">
                              <a:latin typeface="Cambria Math" panose="02040503050406030204" pitchFamily="18" charset="0"/>
                            </a:rPr>
                          </m:ctrlPr>
                        </m:sSupPr>
                        <m:e>
                          <m:r>
                            <a:rPr lang="en-US" altLang="zh-TW" sz="2400" b="0" i="1" smtClean="0">
                              <a:latin typeface="Cambria Math" panose="02040503050406030204" pitchFamily="18" charset="0"/>
                            </a:rPr>
                            <m:t>ℝ</m:t>
                          </m:r>
                        </m:e>
                        <m:sup>
                          <m:r>
                            <a:rPr lang="en-US" altLang="zh-TW" sz="2400" b="0" i="1" smtClean="0">
                              <a:latin typeface="Cambria Math" panose="02040503050406030204" pitchFamily="18" charset="0"/>
                            </a:rPr>
                            <m:t>𝑛</m:t>
                          </m:r>
                        </m:sup>
                      </m:sSup>
                    </m:oMath>
                  </m:oMathPara>
                </a14:m>
                <a:endParaRPr lang="en-US" altLang="zh-TW" sz="2400" dirty="0" smtClean="0"/>
              </a:p>
              <a:p>
                <a:r>
                  <a:rPr lang="en-US" altLang="zh-TW" sz="2400" dirty="0" smtClean="0"/>
                  <a:t>With a measure </a:t>
                </a:r>
              </a:p>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a:rPr>
                            <m:t>𝑡</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h</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a:rPr>
                                <m:t>𝑡</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𝑣</m:t>
                              </m:r>
                            </m:e>
                            <m:sub>
                              <m:r>
                                <a:rPr lang="en-US" altLang="zh-TW" sz="2400" b="0" i="1" smtClean="0">
                                  <a:latin typeface="Cambria Math"/>
                                </a:rPr>
                                <m:t>𝑡</m:t>
                              </m:r>
                            </m:sub>
                          </m:sSub>
                        </m:e>
                      </m:d>
                      <m:r>
                        <a:rPr lang="en-US" altLang="zh-TW" sz="2400" b="0" i="1" smtClean="0">
                          <a:latin typeface="Cambria Math" panose="02040503050406030204" pitchFamily="18" charset="0"/>
                        </a:rPr>
                        <m:t>∈</m:t>
                      </m:r>
                      <m:sSup>
                        <m:sSupPr>
                          <m:ctrlPr>
                            <a:rPr lang="en-US" altLang="zh-TW" sz="2400" b="0" i="1" smtClean="0">
                              <a:latin typeface="Cambria Math" panose="02040503050406030204" pitchFamily="18" charset="0"/>
                            </a:rPr>
                          </m:ctrlPr>
                        </m:sSupPr>
                        <m:e>
                          <m:r>
                            <a:rPr lang="en-US" altLang="zh-TW" sz="2400" b="0" i="1" smtClean="0">
                              <a:latin typeface="Cambria Math" panose="02040503050406030204" pitchFamily="18" charset="0"/>
                            </a:rPr>
                            <m:t>ℝ</m:t>
                          </m:r>
                        </m:e>
                        <m:sup>
                          <m:r>
                            <a:rPr lang="en-US" altLang="zh-TW" sz="2400" b="0" i="1" smtClean="0">
                              <a:latin typeface="Cambria Math" panose="02040503050406030204" pitchFamily="18" charset="0"/>
                            </a:rPr>
                            <m:t>𝑚</m:t>
                          </m:r>
                        </m:sup>
                      </m:sSup>
                    </m:oMath>
                  </m:oMathPara>
                </a14:m>
                <a:endParaRPr lang="en-US" altLang="zh-TW" sz="2400" dirty="0" smtClean="0"/>
              </a:p>
              <a:p>
                <a:endParaRPr lang="en-US" altLang="zh-TW" sz="2400" dirty="0"/>
              </a:p>
              <a:p>
                <a:pPr marL="342900" indent="-342900">
                  <a:buFont typeface="Arial" panose="020B0604020202020204" pitchFamily="34" charset="0"/>
                  <a:buChar char="•"/>
                </a:pPr>
                <a14:m>
                  <m:oMath xmlns:m="http://schemas.openxmlformats.org/officeDocument/2006/math">
                    <m:r>
                      <a:rPr lang="en-US" altLang="zh-TW" sz="2400" b="1" i="1">
                        <a:latin typeface="Cambria Math"/>
                      </a:rPr>
                      <m:t>𝒖</m:t>
                    </m:r>
                    <m:r>
                      <a:rPr lang="en-US" altLang="zh-TW" sz="2400" b="1" i="1" baseline="-25000" smtClean="0">
                        <a:latin typeface="Cambria Math"/>
                      </a:rPr>
                      <m:t>𝒕</m:t>
                    </m:r>
                    <m:r>
                      <a:rPr lang="en-US" altLang="zh-TW" sz="2400" i="1">
                        <a:latin typeface="Cambria Math" panose="02040503050406030204" pitchFamily="18" charset="0"/>
                      </a:rPr>
                      <m:t>∈</m:t>
                    </m:r>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ℝ</m:t>
                        </m:r>
                      </m:e>
                      <m:sup>
                        <m:r>
                          <a:rPr lang="en-US" altLang="zh-TW" sz="2400" i="1">
                            <a:latin typeface="Cambria Math" panose="02040503050406030204" pitchFamily="18" charset="0"/>
                          </a:rPr>
                          <m:t>𝑛</m:t>
                        </m:r>
                      </m:sup>
                    </m:sSup>
                  </m:oMath>
                </a14:m>
                <a:r>
                  <a:rPr lang="en-US" altLang="zh-TW" sz="2400" dirty="0"/>
                  <a:t>:</a:t>
                </a:r>
                <a:r>
                  <a:rPr lang="zh-TW" altLang="en-US" sz="2400" dirty="0"/>
                  <a:t>外部輸入向量</a:t>
                </a:r>
                <a:endParaRPr lang="en-US" altLang="zh-TW" sz="2400" dirty="0"/>
              </a:p>
              <a:p>
                <a:pPr marL="342900" indent="-342900">
                  <a:buFont typeface="Arial" panose="020B0604020202020204" pitchFamily="34" charset="0"/>
                  <a:buChar char="•"/>
                </a:pPr>
                <a14:m>
                  <m:oMath xmlns:m="http://schemas.openxmlformats.org/officeDocument/2006/math">
                    <m:sSub>
                      <m:sSubPr>
                        <m:ctrlPr>
                          <a:rPr lang="en-US" altLang="zh-TW" sz="2400" b="1" i="1">
                            <a:latin typeface="Cambria Math" panose="02040503050406030204" pitchFamily="18" charset="0"/>
                          </a:rPr>
                        </m:ctrlPr>
                      </m:sSubPr>
                      <m:e>
                        <m:r>
                          <a:rPr lang="en-US" altLang="zh-TW" sz="2400" b="1" i="1">
                            <a:latin typeface="Cambria Math" panose="02040503050406030204" pitchFamily="18" charset="0"/>
                          </a:rPr>
                          <m:t>𝒘</m:t>
                        </m:r>
                      </m:e>
                      <m:sub>
                        <m:r>
                          <a:rPr lang="en-US" altLang="zh-TW" sz="2400" b="1" i="1" smtClean="0">
                            <a:latin typeface="Cambria Math"/>
                          </a:rPr>
                          <m:t>𝒕</m:t>
                        </m:r>
                      </m:sub>
                    </m:sSub>
                    <m:r>
                      <a:rPr lang="en-US" altLang="zh-TW" sz="2400" i="1">
                        <a:latin typeface="Cambria Math" panose="02040503050406030204" pitchFamily="18" charset="0"/>
                      </a:rPr>
                      <m:t>∈</m:t>
                    </m:r>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ℝ</m:t>
                        </m:r>
                      </m:e>
                      <m:sup>
                        <m:r>
                          <a:rPr lang="en-US" altLang="zh-TW" sz="2400" i="1">
                            <a:latin typeface="Cambria Math" panose="02040503050406030204" pitchFamily="18" charset="0"/>
                          </a:rPr>
                          <m:t>𝑛</m:t>
                        </m:r>
                      </m:sup>
                    </m:sSup>
                  </m:oMath>
                </a14:m>
                <a:r>
                  <a:rPr lang="en-US" altLang="zh-TW" sz="2400" dirty="0"/>
                  <a:t>: process noise~</a:t>
                </a:r>
                <a14:m>
                  <m:oMath xmlns:m="http://schemas.openxmlformats.org/officeDocument/2006/math">
                    <m:r>
                      <a:rPr lang="en-US" altLang="zh-TW" sz="2400" i="1">
                        <a:latin typeface="Cambria Math"/>
                      </a:rPr>
                      <m:t>𝑁</m:t>
                    </m:r>
                    <m:r>
                      <a:rPr lang="en-US" altLang="zh-TW" sz="2400" i="1">
                        <a:latin typeface="Cambria Math"/>
                      </a:rPr>
                      <m:t>(0, </m:t>
                    </m:r>
                    <m:sSub>
                      <m:sSubPr>
                        <m:ctrlPr>
                          <a:rPr lang="en-US" altLang="zh-TW" sz="2400" b="1" i="1">
                            <a:latin typeface="Cambria Math" panose="02040503050406030204" pitchFamily="18" charset="0"/>
                          </a:rPr>
                        </m:ctrlPr>
                      </m:sSubPr>
                      <m:e>
                        <m:r>
                          <a:rPr lang="en-US" altLang="zh-TW" sz="2400" b="1" i="1">
                            <a:latin typeface="Cambria Math"/>
                          </a:rPr>
                          <m:t>𝑸</m:t>
                        </m:r>
                      </m:e>
                      <m:sub>
                        <m:r>
                          <a:rPr lang="en-US" altLang="zh-TW" sz="2400" b="1" i="1" smtClean="0">
                            <a:latin typeface="Cambria Math"/>
                          </a:rPr>
                          <m:t>𝒕</m:t>
                        </m:r>
                      </m:sub>
                    </m:sSub>
                    <m:r>
                      <a:rPr lang="en-US" altLang="zh-TW" sz="2400" i="1">
                        <a:latin typeface="Cambria Math"/>
                      </a:rPr>
                      <m:t>)</m:t>
                    </m:r>
                  </m:oMath>
                </a14:m>
                <a:r>
                  <a:rPr lang="zh-TW" altLang="en-US" sz="2400" dirty="0"/>
                  <a:t/>
                </a:r>
                <a:r>
                  <a:rPr lang="en-US" altLang="zh-TW" sz="2400" dirty="0"/>
                  <a:t>(white noise</a:t>
                </a:r>
                <a:r>
                  <a:rPr lang="en-US" altLang="zh-TW" sz="2400" dirty="0" smtClean="0"/>
                  <a:t>)</a:t>
                </a:r>
              </a:p>
              <a:p>
                <a:pPr marL="342900" indent="-342900">
                  <a:buFont typeface="Arial" panose="020B0604020202020204" pitchFamily="34" charset="0"/>
                  <a:buChar char="•"/>
                </a:pPr>
                <a14:m>
                  <m:oMath xmlns:m="http://schemas.openxmlformats.org/officeDocument/2006/math">
                    <m:sSub>
                      <m:sSubPr>
                        <m:ctrlPr>
                          <a:rPr lang="en-US" altLang="zh-TW" sz="2400" b="1" i="1">
                            <a:latin typeface="Cambria Math" panose="02040503050406030204" pitchFamily="18" charset="0"/>
                          </a:rPr>
                        </m:ctrlPr>
                      </m:sSubPr>
                      <m:e>
                        <m:r>
                          <a:rPr lang="en-US" altLang="zh-TW" sz="2400" b="1" i="1">
                            <a:latin typeface="Cambria Math" panose="02040503050406030204" pitchFamily="18" charset="0"/>
                          </a:rPr>
                          <m:t>𝒗</m:t>
                        </m:r>
                      </m:e>
                      <m:sub>
                        <m:r>
                          <a:rPr lang="en-US" altLang="zh-TW" sz="2400" b="1" i="1" smtClean="0">
                            <a:latin typeface="Cambria Math"/>
                          </a:rPr>
                          <m:t>𝒕</m:t>
                        </m:r>
                      </m:sub>
                    </m:sSub>
                    <m:r>
                      <a:rPr lang="en-US" altLang="zh-TW" sz="2400" i="1">
                        <a:latin typeface="Cambria Math" panose="02040503050406030204" pitchFamily="18" charset="0"/>
                      </a:rPr>
                      <m:t>∈</m:t>
                    </m:r>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ℝ</m:t>
                        </m:r>
                      </m:e>
                      <m:sup>
                        <m:r>
                          <a:rPr lang="en-US" altLang="zh-TW" sz="2400" i="1">
                            <a:latin typeface="Cambria Math" panose="02040503050406030204" pitchFamily="18" charset="0"/>
                          </a:rPr>
                          <m:t>𝑚</m:t>
                        </m:r>
                      </m:sup>
                    </m:sSup>
                  </m:oMath>
                </a14:m>
                <a:r>
                  <a:rPr lang="en-US" altLang="zh-TW" sz="2400" dirty="0"/>
                  <a:t>: measurement noise~</a:t>
                </a:r>
                <a14:m>
                  <m:oMath xmlns:m="http://schemas.openxmlformats.org/officeDocument/2006/math">
                    <m:r>
                      <a:rPr lang="en-US" altLang="zh-TW" sz="2400" i="1">
                        <a:latin typeface="Cambria Math"/>
                      </a:rPr>
                      <m:t>𝑁</m:t>
                    </m:r>
                    <m:r>
                      <a:rPr lang="en-US" altLang="zh-TW" sz="2400" i="1">
                        <a:latin typeface="Cambria Math"/>
                      </a:rPr>
                      <m:t>(0, </m:t>
                    </m:r>
                    <m:sSub>
                      <m:sSubPr>
                        <m:ctrlPr>
                          <a:rPr lang="en-US" altLang="zh-TW" sz="2400" b="1" i="1">
                            <a:latin typeface="Cambria Math" panose="02040503050406030204" pitchFamily="18" charset="0"/>
                          </a:rPr>
                        </m:ctrlPr>
                      </m:sSubPr>
                      <m:e>
                        <m:r>
                          <a:rPr lang="en-US" altLang="zh-TW" sz="2400" b="1" i="1">
                            <a:latin typeface="Cambria Math"/>
                          </a:rPr>
                          <m:t>𝑹</m:t>
                        </m:r>
                      </m:e>
                      <m:sub>
                        <m:r>
                          <a:rPr lang="en-US" altLang="zh-TW" sz="2400" b="1" i="1" smtClean="0">
                            <a:latin typeface="Cambria Math"/>
                          </a:rPr>
                          <m:t>𝒕</m:t>
                        </m:r>
                      </m:sub>
                    </m:sSub>
                    <m:r>
                      <a:rPr lang="en-US" altLang="zh-TW" sz="2400" i="1">
                        <a:latin typeface="Cambria Math"/>
                      </a:rPr>
                      <m:t>)</m:t>
                    </m:r>
                  </m:oMath>
                </a14:m>
                <a:r>
                  <a:rPr lang="zh-TW" altLang="en-US" sz="2400" dirty="0"/>
                  <a:t/>
                </a:r>
                <a:r>
                  <a:rPr lang="en-US" altLang="zh-TW" sz="2400" dirty="0"/>
                  <a:t>(white noise)</a:t>
                </a:r>
              </a:p>
              <a:p>
                <a:pPr marL="342900" indent="-342900">
                  <a:buFont typeface="Arial" panose="020B0604020202020204" pitchFamily="34" charset="0"/>
                  <a:buChar char="•"/>
                </a:pPr>
                <a14:m>
                  <m:oMath xmlns:m="http://schemas.openxmlformats.org/officeDocument/2006/math">
                    <m:sSub>
                      <m:sSubPr>
                        <m:ctrlPr>
                          <a:rPr lang="en-US" altLang="zh-TW" sz="2400" b="1" i="1">
                            <a:latin typeface="Cambria Math" panose="02040503050406030204" pitchFamily="18" charset="0"/>
                          </a:rPr>
                        </m:ctrlPr>
                      </m:sSubPr>
                      <m:e>
                        <m:r>
                          <a:rPr lang="en-US" altLang="zh-TW" sz="2400" b="1" i="1">
                            <a:latin typeface="Cambria Math" panose="02040503050406030204" pitchFamily="18" charset="0"/>
                          </a:rPr>
                          <m:t>𝒘</m:t>
                        </m:r>
                      </m:e>
                      <m:sub>
                        <m:r>
                          <a:rPr lang="en-US" altLang="zh-TW" sz="2400" b="1" i="1" smtClean="0">
                            <a:latin typeface="Cambria Math"/>
                          </a:rPr>
                          <m:t>𝒕</m:t>
                        </m:r>
                      </m:sub>
                    </m:sSub>
                    <m:r>
                      <a:rPr lang="en-US" altLang="zh-TW" sz="2400" b="1" i="1">
                        <a:latin typeface="Cambria Math" panose="02040503050406030204" pitchFamily="18" charset="0"/>
                      </a:rPr>
                      <m:t>, </m:t>
                    </m:r>
                    <m:sSub>
                      <m:sSubPr>
                        <m:ctrlPr>
                          <a:rPr lang="en-US" altLang="zh-TW" sz="2400" b="1" i="1">
                            <a:latin typeface="Cambria Math" panose="02040503050406030204" pitchFamily="18" charset="0"/>
                          </a:rPr>
                        </m:ctrlPr>
                      </m:sSubPr>
                      <m:e>
                        <m:r>
                          <a:rPr lang="en-US" altLang="zh-TW" sz="2400" b="1" i="1">
                            <a:latin typeface="Cambria Math" panose="02040503050406030204" pitchFamily="18" charset="0"/>
                          </a:rPr>
                          <m:t>𝒗</m:t>
                        </m:r>
                      </m:e>
                      <m:sub>
                        <m:r>
                          <a:rPr lang="en-US" altLang="zh-TW" sz="2400" b="1" i="1" smtClean="0">
                            <a:latin typeface="Cambria Math"/>
                          </a:rPr>
                          <m:t>𝒕</m:t>
                        </m:r>
                      </m:sub>
                    </m:sSub>
                  </m:oMath>
                </a14:m>
                <a:r>
                  <a:rPr lang="zh-TW" altLang="en-US" sz="2400" dirty="0"/>
                  <a:t/>
                </a:r>
                <a:r>
                  <a:rPr lang="en-US" altLang="zh-TW" sz="2400" dirty="0" smtClean="0"/>
                  <a:t>independent</a:t>
                </a:r>
                <a:endParaRPr lang="zh-TW" altLang="en-US" sz="2400" dirty="0"/>
              </a:p>
            </p:txBody>
          </p:sp>
        </mc:Choice>
        <mc:Fallback>
          <p:sp>
            <p:nvSpPr>
              <p:cNvPr id="4" name="文字方塊 3"/>
              <p:cNvSpPr txBox="1">
                <a:spLocks noRot="1" noChangeAspect="1" noMove="1" noResize="1" noEditPoints="1" noAdjustHandles="1" noChangeArrowheads="1" noChangeShapeType="1" noTextEdit="1"/>
              </p:cNvSpPr>
              <p:nvPr/>
            </p:nvSpPr>
            <p:spPr>
              <a:xfrm>
                <a:off x="1025817" y="2603449"/>
                <a:ext cx="10140366" cy="3416320"/>
              </a:xfrm>
              <a:prstGeom prst="rect">
                <a:avLst/>
              </a:prstGeom>
              <a:blipFill rotWithShape="0">
                <a:blip r:embed="rId2"/>
                <a:stretch>
                  <a:fillRect l="-901" t="-1429" b="-3214"/>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5" name="圓角矩形 4"/>
              <p:cNvSpPr/>
              <p:nvPr/>
            </p:nvSpPr>
            <p:spPr>
              <a:xfrm>
                <a:off x="3255504" y="1440415"/>
                <a:ext cx="4984606" cy="837127"/>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14:m>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a:latin typeface="Cambria Math"/>
                          </a:rPr>
                          <m:t>𝒙</m:t>
                        </m:r>
                      </m:e>
                      <m:sub>
                        <m:r>
                          <a:rPr lang="en-US" altLang="zh-TW" sz="2400" b="1" i="1" smtClean="0">
                            <a:latin typeface="Cambria Math"/>
                          </a:rPr>
                          <m:t>𝒕</m:t>
                        </m:r>
                      </m:sub>
                    </m:sSub>
                    <m:r>
                      <a:rPr lang="en-US" altLang="zh-TW" sz="2400" i="1">
                        <a:latin typeface="Cambria Math"/>
                      </a:rPr>
                      <m:t>=</m:t>
                    </m:r>
                    <m:r>
                      <a:rPr lang="en-US" altLang="zh-TW" sz="2400" i="1">
                        <a:latin typeface="Cambria Math" panose="02040503050406030204" pitchFamily="18" charset="0"/>
                      </a:rPr>
                      <m:t>𝑓</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a:rPr>
                              <m:t>𝑡</m:t>
                            </m:r>
                            <m:r>
                              <a:rPr lang="en-US" altLang="zh-TW" sz="2400" i="1">
                                <a:latin typeface="Cambria Math" panose="02040503050406030204" pitchFamily="18" charset="0"/>
                              </a:rPr>
                              <m:t>−1</m:t>
                            </m:r>
                          </m:sub>
                        </m:sSub>
                        <m:r>
                          <a:rPr lang="en-US" altLang="zh-TW" sz="2400" i="1">
                            <a:latin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𝑢</m:t>
                            </m:r>
                          </m:e>
                          <m:sub>
                            <m:r>
                              <a:rPr lang="en-US" altLang="zh-TW" sz="2400" i="1">
                                <a:latin typeface="Cambria Math"/>
                              </a:rPr>
                              <m:t>𝑡</m:t>
                            </m:r>
                          </m:sub>
                        </m:sSub>
                        <m:r>
                          <a:rPr lang="en-US" altLang="zh-TW" sz="2400" i="1">
                            <a:latin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a:rPr>
                              <m:t>𝑡</m:t>
                            </m:r>
                            <m:r>
                              <a:rPr lang="en-US" altLang="zh-TW" sz="2400" b="0" i="1" smtClean="0">
                                <a:latin typeface="Cambria Math" panose="02040503050406030204" pitchFamily="18" charset="0"/>
                              </a:rPr>
                              <m:t>−1</m:t>
                            </m:r>
                          </m:sub>
                        </m:sSub>
                      </m:e>
                    </m:d>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𝒘</m:t>
                        </m:r>
                      </m:e>
                      <m:sub>
                        <m:r>
                          <a:rPr lang="en-US" altLang="zh-TW" sz="2400" b="1" i="1" smtClean="0">
                            <a:latin typeface="Cambria Math"/>
                          </a:rPr>
                          <m:t>𝒕</m:t>
                        </m:r>
                      </m:sub>
                    </m:sSub>
                    <m:r>
                      <a:rPr lang="en-US" altLang="zh-TW" sz="2400" b="1" i="1" smtClean="0">
                        <a:latin typeface="Cambria Math"/>
                      </a:rPr>
                      <m:t>~</m:t>
                    </m:r>
                    <m:r>
                      <a:rPr lang="en-US" altLang="zh-TW" sz="2400" b="1" i="1" smtClean="0">
                        <a:latin typeface="Cambria Math"/>
                      </a:rPr>
                      <m:t>𝑵</m:t>
                    </m:r>
                    <m:r>
                      <a:rPr lang="en-US" altLang="zh-TW" sz="2400" b="1" i="1" smtClean="0">
                        <a:latin typeface="Cambria Math"/>
                      </a:rPr>
                      <m:t>(</m:t>
                    </m:r>
                    <m:r>
                      <a:rPr lang="en-US" altLang="zh-TW" sz="2400" b="1" i="1" smtClean="0">
                        <a:latin typeface="Cambria Math"/>
                      </a:rPr>
                      <m:t>𝟎</m:t>
                    </m:r>
                    <m:r>
                      <a:rPr lang="en-US" altLang="zh-TW" sz="2400" b="1" i="1" smtClean="0">
                        <a:latin typeface="Cambria Math"/>
                      </a:rPr>
                      <m:t>,</m:t>
                    </m:r>
                    <m:sSub>
                      <m:sSubPr>
                        <m:ctrlPr>
                          <a:rPr lang="en-US" altLang="zh-TW" sz="2400" b="1" i="1" smtClean="0">
                            <a:latin typeface="Cambria Math" panose="02040503050406030204" pitchFamily="18" charset="0"/>
                          </a:rPr>
                        </m:ctrlPr>
                      </m:sSubPr>
                      <m:e>
                        <m:r>
                          <a:rPr lang="en-US" altLang="zh-TW" sz="2400" b="1" i="1" smtClean="0">
                            <a:latin typeface="Cambria Math"/>
                          </a:rPr>
                          <m:t>𝑸</m:t>
                        </m:r>
                      </m:e>
                      <m:sub>
                        <m:r>
                          <a:rPr lang="en-US" altLang="zh-TW" sz="2400" b="1" i="1" smtClean="0">
                            <a:latin typeface="Cambria Math"/>
                          </a:rPr>
                          <m:t>𝒕</m:t>
                        </m:r>
                      </m:sub>
                    </m:sSub>
                    <m:r>
                      <a:rPr lang="en-US" altLang="zh-TW" sz="2400" b="1" i="1" smtClean="0">
                        <a:latin typeface="Cambria Math"/>
                      </a:rPr>
                      <m:t>)</m:t>
                    </m:r>
                  </m:oMath>
                </a14:m>
                <a:r>
                  <a:rPr lang="en-US" altLang="zh-TW" sz="2400" b="1" dirty="0" smtClean="0"/>
                  <a:t/>
                </a:r>
                <a:endParaRPr lang="en-US" altLang="zh-TW" sz="2400" b="1" i="1" dirty="0" smtClean="0">
                  <a:latin typeface="Cambria Math"/>
                </a:endParaRPr>
              </a:p>
              <a:p>
                <a:pPr/>
                <a14:m>
                  <m:oMathPara xmlns:m="http://schemas.openxmlformats.org/officeDocument/2006/math">
                    <m:oMathParaPr>
                      <m:jc m:val="left"/>
                    </m:oMathParaPr>
                    <m:oMath xmlns:m="http://schemas.openxmlformats.org/officeDocument/2006/math">
                      <m:sSub>
                        <m:sSubPr>
                          <m:ctrlPr>
                            <a:rPr lang="en-US" altLang="zh-TW" sz="2400" b="1" i="1">
                              <a:latin typeface="Cambria Math" panose="02040503050406030204" pitchFamily="18" charset="0"/>
                            </a:rPr>
                          </m:ctrlPr>
                        </m:sSubPr>
                        <m:e>
                          <m:r>
                            <a:rPr lang="en-US" altLang="zh-TW" sz="2400" b="1" i="1" smtClean="0">
                              <a:latin typeface="Cambria Math" panose="02040503050406030204" pitchFamily="18" charset="0"/>
                            </a:rPr>
                            <m:t>𝒛</m:t>
                          </m:r>
                        </m:e>
                        <m:sub>
                          <m:r>
                            <a:rPr lang="en-US" altLang="zh-TW" sz="2400" b="1" i="1" smtClean="0">
                              <a:latin typeface="Cambria Math"/>
                            </a:rPr>
                            <m:t>𝒕</m:t>
                          </m:r>
                        </m:sub>
                      </m:sSub>
                      <m:r>
                        <a:rPr lang="en-US" altLang="zh-TW" sz="2400" i="1">
                          <a:latin typeface="Cambria Math"/>
                        </a:rPr>
                        <m:t>=</m:t>
                      </m:r>
                      <m:r>
                        <a:rPr lang="en-US" altLang="zh-TW" sz="2400" i="1">
                          <a:latin typeface="Cambria Math" panose="02040503050406030204" pitchFamily="18" charset="0"/>
                        </a:rPr>
                        <m:t>h</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a:rPr>
                                <m:t>𝑡</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𝑣</m:t>
                              </m:r>
                            </m:e>
                            <m:sub>
                              <m:r>
                                <a:rPr lang="en-US" altLang="zh-TW" sz="2400" i="1">
                                  <a:latin typeface="Cambria Math"/>
                                </a:rPr>
                                <m:t>𝑡</m:t>
                              </m:r>
                            </m:sub>
                          </m:sSub>
                        </m:e>
                      </m:d>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𝒗</m:t>
                          </m:r>
                        </m:e>
                        <m:sub>
                          <m:r>
                            <a:rPr lang="en-US" altLang="zh-TW" sz="2400" b="1" i="1" smtClean="0">
                              <a:latin typeface="Cambria Math"/>
                            </a:rPr>
                            <m:t>𝒕</m:t>
                          </m:r>
                        </m:sub>
                      </m:sSub>
                      <m:r>
                        <a:rPr lang="en-US" altLang="zh-TW" sz="2400" b="1" i="1" smtClean="0">
                          <a:latin typeface="Cambria Math"/>
                        </a:rPr>
                        <m:t>~</m:t>
                      </m:r>
                      <m:r>
                        <a:rPr lang="en-US" altLang="zh-TW" sz="2400" b="1" i="1" smtClean="0">
                          <a:latin typeface="Cambria Math"/>
                        </a:rPr>
                        <m:t>𝑵</m:t>
                      </m:r>
                      <m:r>
                        <a:rPr lang="en-US" altLang="zh-TW" sz="2400" b="1" i="1" smtClean="0">
                          <a:latin typeface="Cambria Math"/>
                        </a:rPr>
                        <m:t>(</m:t>
                      </m:r>
                      <m:r>
                        <a:rPr lang="en-US" altLang="zh-TW" sz="2400" b="1" i="1" smtClean="0">
                          <a:latin typeface="Cambria Math"/>
                        </a:rPr>
                        <m:t>𝟎</m:t>
                      </m:r>
                      <m:r>
                        <a:rPr lang="en-US" altLang="zh-TW" sz="2400" b="1" i="1" smtClean="0">
                          <a:latin typeface="Cambria Math"/>
                        </a:rPr>
                        <m:t>, </m:t>
                      </m:r>
                      <m:sSub>
                        <m:sSubPr>
                          <m:ctrlPr>
                            <a:rPr lang="en-US" altLang="zh-TW" sz="2400" b="1" i="1" smtClean="0">
                              <a:latin typeface="Cambria Math" panose="02040503050406030204" pitchFamily="18" charset="0"/>
                            </a:rPr>
                          </m:ctrlPr>
                        </m:sSubPr>
                        <m:e>
                          <m:r>
                            <a:rPr lang="en-US" altLang="zh-TW" sz="2400" b="1" i="1" smtClean="0">
                              <a:latin typeface="Cambria Math"/>
                            </a:rPr>
                            <m:t>𝑹</m:t>
                          </m:r>
                        </m:e>
                        <m:sub>
                          <m:r>
                            <a:rPr lang="en-US" altLang="zh-TW" sz="2400" b="1" i="1" smtClean="0">
                              <a:latin typeface="Cambria Math"/>
                            </a:rPr>
                            <m:t>𝒕</m:t>
                          </m:r>
                        </m:sub>
                      </m:sSub>
                      <m:r>
                        <a:rPr lang="en-US" altLang="zh-TW" sz="2400" b="1" i="1" smtClean="0">
                          <a:latin typeface="Cambria Math"/>
                        </a:rPr>
                        <m:t>)</m:t>
                      </m:r>
                    </m:oMath>
                  </m:oMathPara>
                </a14:m>
                <a:endParaRPr lang="zh-TW" altLang="en-US" sz="2400" dirty="0"/>
              </a:p>
            </p:txBody>
          </p:sp>
        </mc:Choice>
        <mc:Fallback>
          <p:sp>
            <p:nvSpPr>
              <p:cNvPr id="5" name="圓角矩形 4"/>
              <p:cNvSpPr>
                <a:spLocks noRot="1" noChangeAspect="1" noMove="1" noResize="1" noEditPoints="1" noAdjustHandles="1" noChangeArrowheads="1" noChangeShapeType="1" noTextEdit="1"/>
              </p:cNvSpPr>
              <p:nvPr/>
            </p:nvSpPr>
            <p:spPr>
              <a:xfrm>
                <a:off x="3255504" y="1440415"/>
                <a:ext cx="4984606" cy="837127"/>
              </a:xfrm>
              <a:prstGeom prst="roundRect">
                <a:avLst/>
              </a:prstGeom>
              <a:blipFill rotWithShape="0">
                <a:blip r:embed="rId3"/>
                <a:stretch>
                  <a:fillRect b="-7914"/>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27411205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rotWithShape="1">
          <a:blip r:embed="rId2" cstate="print">
            <a:extLst>
              <a:ext uri="{28A0092B-C50C-407E-A947-70E740481C1C}">
                <a14:useLocalDpi xmlns:a14="http://schemas.microsoft.com/office/drawing/2010/main" xmlns=""/>
              </a:ext>
            </a:extLst>
          </a:blip>
          <a:srcRect l="25961" r="25882"/>
          <a:stretch/>
        </p:blipFill>
        <p:spPr>
          <a:xfrm>
            <a:off x="0" y="91177"/>
            <a:ext cx="1108398" cy="1051021"/>
          </a:xfrm>
          <a:prstGeom prst="rect">
            <a:avLst/>
          </a:prstGeom>
        </p:spPr>
      </p:pic>
      <p:sp>
        <p:nvSpPr>
          <p:cNvPr id="2" name="標題 1"/>
          <p:cNvSpPr>
            <a:spLocks noGrp="1"/>
          </p:cNvSpPr>
          <p:nvPr>
            <p:ph type="title"/>
          </p:nvPr>
        </p:nvSpPr>
        <p:spPr/>
        <p:txBody>
          <a:bodyPr/>
          <a:lstStyle/>
          <a:p>
            <a:r>
              <a:rPr lang="en-US" altLang="zh-TW" dirty="0" smtClean="0"/>
              <a:t>Non-linear transition  function of stock price</a:t>
            </a:r>
            <a:endParaRPr lang="zh-TW" altLang="en-US" dirty="0"/>
          </a:p>
        </p:txBody>
      </p:sp>
      <mc:AlternateContent xmlns:mc="http://schemas.openxmlformats.org/markup-compatibility/2006">
        <mc:Choice xmlns:a14="http://schemas.microsoft.com/office/drawing/2010/main" xmlns="" Requires="a14">
          <p:sp>
            <p:nvSpPr>
              <p:cNvPr id="4" name="內容版面配置區 3"/>
              <p:cNvSpPr>
                <a:spLocks noGrp="1"/>
              </p:cNvSpPr>
              <p:nvPr>
                <p:ph idx="1"/>
              </p:nvPr>
            </p:nvSpPr>
            <p:spPr>
              <a:xfrm>
                <a:off x="354724" y="1825625"/>
                <a:ext cx="10515600" cy="4351338"/>
              </a:xfrm>
            </p:spPr>
            <p:txBody>
              <a:bodyPr>
                <a:normAutofit fontScale="92500"/>
              </a:bodyPr>
              <a:lstStyle/>
              <a:p>
                <a:r>
                  <a:rPr lang="en-US" altLang="zh-TW" dirty="0" smtClean="0">
                    <a:solidFill>
                      <a:srgbClr val="FF0000"/>
                    </a:solidFill>
                  </a:rPr>
                  <a:t>Geometric Brownian motion (GBM)</a:t>
                </a:r>
                <a:endParaRPr lang="en-US" altLang="zh-TW" dirty="0"/>
              </a:p>
              <a:p>
                <a:r>
                  <a:rPr lang="en-US" altLang="zh-TW" dirty="0"/>
                  <a:t>A stochastic process </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a:rPr>
                          <m:t>𝑆</m:t>
                        </m:r>
                      </m:e>
                      <m:sub>
                        <m:r>
                          <a:rPr lang="en-US" altLang="zh-TW" b="0" i="1" smtClean="0">
                            <a:latin typeface="Cambria Math"/>
                          </a:rPr>
                          <m:t>𝑡</m:t>
                        </m:r>
                      </m:sub>
                    </m:sSub>
                  </m:oMath>
                </a14:m>
                <a:r>
                  <a:rPr lang="en-US" altLang="zh-TW" dirty="0" smtClean="0"/>
                  <a:t> (observation) is </a:t>
                </a:r>
                <a:r>
                  <a:rPr lang="en-US" altLang="zh-TW" dirty="0"/>
                  <a:t>said to follow a GBM if it satisfies the following stochastic differential equation (SDE):</a:t>
                </a:r>
                <a:endParaRPr lang="en-US" altLang="zh-TW" dirty="0" smtClean="0"/>
              </a:p>
              <a:p>
                <a:pPr lvl="1"/>
                <a14:m>
                  <m:oMath xmlns:m="http://schemas.openxmlformats.org/officeDocument/2006/math">
                    <m:r>
                      <a:rPr lang="en-US" altLang="zh-TW" b="0" i="1" smtClean="0">
                        <a:solidFill>
                          <a:srgbClr val="00B0F0"/>
                        </a:solidFill>
                        <a:latin typeface="Cambria Math"/>
                      </a:rPr>
                      <m:t>𝑑</m:t>
                    </m:r>
                    <m:sSub>
                      <m:sSubPr>
                        <m:ctrlPr>
                          <a:rPr lang="en-US" altLang="zh-TW" b="0" i="1" smtClean="0">
                            <a:solidFill>
                              <a:srgbClr val="00B0F0"/>
                            </a:solidFill>
                            <a:latin typeface="Cambria Math" panose="02040503050406030204" pitchFamily="18" charset="0"/>
                          </a:rPr>
                        </m:ctrlPr>
                      </m:sSubPr>
                      <m:e>
                        <m:r>
                          <a:rPr lang="en-US" altLang="zh-TW" b="0" i="1" smtClean="0">
                            <a:solidFill>
                              <a:srgbClr val="00B0F0"/>
                            </a:solidFill>
                            <a:latin typeface="Cambria Math"/>
                          </a:rPr>
                          <m:t>𝑆</m:t>
                        </m:r>
                      </m:e>
                      <m:sub>
                        <m:r>
                          <a:rPr lang="en-US" altLang="zh-TW" b="0" i="1" smtClean="0">
                            <a:solidFill>
                              <a:srgbClr val="00B0F0"/>
                            </a:solidFill>
                            <a:latin typeface="Cambria Math"/>
                          </a:rPr>
                          <m:t>𝑡</m:t>
                        </m:r>
                      </m:sub>
                    </m:sSub>
                    <m:r>
                      <a:rPr lang="en-US" altLang="zh-TW" b="0" i="1" smtClean="0">
                        <a:solidFill>
                          <a:srgbClr val="00B0F0"/>
                        </a:solidFill>
                        <a:latin typeface="Cambria Math"/>
                      </a:rPr>
                      <m:t>=</m:t>
                    </m:r>
                    <m:r>
                      <a:rPr lang="en-US" altLang="zh-TW" b="0" i="1" smtClean="0">
                        <a:solidFill>
                          <a:srgbClr val="00B0F0"/>
                        </a:solidFill>
                        <a:latin typeface="Cambria Math"/>
                      </a:rPr>
                      <m:t>𝜇</m:t>
                    </m:r>
                    <m:sSub>
                      <m:sSubPr>
                        <m:ctrlPr>
                          <a:rPr lang="en-US" altLang="zh-TW" b="0" i="1" smtClean="0">
                            <a:solidFill>
                              <a:srgbClr val="00B0F0"/>
                            </a:solidFill>
                            <a:latin typeface="Cambria Math" panose="02040503050406030204" pitchFamily="18" charset="0"/>
                          </a:rPr>
                        </m:ctrlPr>
                      </m:sSubPr>
                      <m:e>
                        <m:r>
                          <a:rPr lang="en-US" altLang="zh-TW" b="0" i="1" smtClean="0">
                            <a:solidFill>
                              <a:srgbClr val="00B0F0"/>
                            </a:solidFill>
                            <a:latin typeface="Cambria Math"/>
                          </a:rPr>
                          <m:t>𝑆</m:t>
                        </m:r>
                      </m:e>
                      <m:sub>
                        <m:r>
                          <a:rPr lang="en-US" altLang="zh-TW" b="0" i="1" smtClean="0">
                            <a:solidFill>
                              <a:srgbClr val="00B0F0"/>
                            </a:solidFill>
                            <a:latin typeface="Cambria Math"/>
                          </a:rPr>
                          <m:t>𝑡</m:t>
                        </m:r>
                      </m:sub>
                    </m:sSub>
                    <m:r>
                      <a:rPr lang="en-US" altLang="zh-TW" b="0" i="1" smtClean="0">
                        <a:solidFill>
                          <a:srgbClr val="00B0F0"/>
                        </a:solidFill>
                        <a:latin typeface="Cambria Math"/>
                      </a:rPr>
                      <m:t>𝑑𝑡</m:t>
                    </m:r>
                    <m:r>
                      <a:rPr lang="en-US" altLang="zh-TW" b="0" i="1" smtClean="0">
                        <a:solidFill>
                          <a:srgbClr val="00B0F0"/>
                        </a:solidFill>
                        <a:latin typeface="Cambria Math"/>
                      </a:rPr>
                      <m:t>+</m:t>
                    </m:r>
                    <m:r>
                      <a:rPr lang="en-US" altLang="zh-TW" b="0" i="1" smtClean="0">
                        <a:solidFill>
                          <a:srgbClr val="00B0F0"/>
                        </a:solidFill>
                        <a:latin typeface="Cambria Math"/>
                      </a:rPr>
                      <m:t>𝜎</m:t>
                    </m:r>
                    <m:sSub>
                      <m:sSubPr>
                        <m:ctrlPr>
                          <a:rPr lang="en-US" altLang="zh-TW" b="0" i="1" smtClean="0">
                            <a:solidFill>
                              <a:srgbClr val="00B0F0"/>
                            </a:solidFill>
                            <a:latin typeface="Cambria Math" panose="02040503050406030204" pitchFamily="18" charset="0"/>
                          </a:rPr>
                        </m:ctrlPr>
                      </m:sSubPr>
                      <m:e>
                        <m:r>
                          <a:rPr lang="en-US" altLang="zh-TW" b="0" i="1" smtClean="0">
                            <a:solidFill>
                              <a:srgbClr val="00B0F0"/>
                            </a:solidFill>
                            <a:latin typeface="Cambria Math"/>
                          </a:rPr>
                          <m:t>𝑆</m:t>
                        </m:r>
                      </m:e>
                      <m:sub>
                        <m:r>
                          <a:rPr lang="en-US" altLang="zh-TW" b="0" i="1" smtClean="0">
                            <a:solidFill>
                              <a:srgbClr val="00B0F0"/>
                            </a:solidFill>
                            <a:latin typeface="Cambria Math"/>
                          </a:rPr>
                          <m:t>𝑡</m:t>
                        </m:r>
                      </m:sub>
                    </m:sSub>
                    <m:r>
                      <a:rPr lang="en-US" altLang="zh-TW" b="0" i="1" smtClean="0">
                        <a:solidFill>
                          <a:srgbClr val="00B0F0"/>
                        </a:solidFill>
                        <a:latin typeface="Cambria Math"/>
                      </a:rPr>
                      <m:t>𝑑</m:t>
                    </m:r>
                    <m:sSub>
                      <m:sSubPr>
                        <m:ctrlPr>
                          <a:rPr lang="en-US" altLang="zh-TW" b="0" i="1" smtClean="0">
                            <a:solidFill>
                              <a:srgbClr val="00B0F0"/>
                            </a:solidFill>
                            <a:latin typeface="Cambria Math" panose="02040503050406030204" pitchFamily="18" charset="0"/>
                          </a:rPr>
                        </m:ctrlPr>
                      </m:sSubPr>
                      <m:e>
                        <m:r>
                          <a:rPr lang="en-US" altLang="zh-TW" b="0" i="1" smtClean="0">
                            <a:solidFill>
                              <a:srgbClr val="00B0F0"/>
                            </a:solidFill>
                            <a:latin typeface="Cambria Math"/>
                          </a:rPr>
                          <m:t>𝑊</m:t>
                        </m:r>
                      </m:e>
                      <m:sub>
                        <m:r>
                          <a:rPr lang="en-US" altLang="zh-TW" b="0" i="1" smtClean="0">
                            <a:solidFill>
                              <a:srgbClr val="00B0F0"/>
                            </a:solidFill>
                            <a:latin typeface="Cambria Math"/>
                          </a:rPr>
                          <m:t>𝑡</m:t>
                        </m:r>
                      </m:sub>
                    </m:sSub>
                  </m:oMath>
                </a14:m>
                <a:endParaRPr lang="en-US" altLang="zh-TW" dirty="0" smtClean="0">
                  <a:solidFill>
                    <a:srgbClr val="00B0F0"/>
                  </a:solidFill>
                </a:endParaRPr>
              </a:p>
              <a:p>
                <a:pPr lvl="1"/>
                <a:r>
                  <a:rPr lang="zh-TW" altLang="en-US" sz="2200" dirty="0" smtClean="0">
                    <a:solidFill>
                      <a:srgbClr val="00B0F0"/>
                    </a:solidFill>
                  </a:rPr>
                  <a:t>股價的瞬時變化量</a:t>
                </a:r>
                <a14:m>
                  <m:oMath xmlns:m="http://schemas.openxmlformats.org/officeDocument/2006/math">
                    <m:r>
                      <a:rPr lang="en-US" altLang="zh-TW" sz="2200" b="0" i="1" smtClean="0">
                        <a:solidFill>
                          <a:srgbClr val="00B0F0"/>
                        </a:solidFill>
                        <a:latin typeface="Cambria Math" panose="02040503050406030204" pitchFamily="18" charset="0"/>
                      </a:rPr>
                      <m:t>(</m:t>
                    </m:r>
                    <m:r>
                      <a:rPr lang="en-US" altLang="zh-TW" sz="2200" b="0" i="1" smtClean="0">
                        <a:solidFill>
                          <a:srgbClr val="00B0F0"/>
                        </a:solidFill>
                        <a:latin typeface="Cambria Math" panose="02040503050406030204" pitchFamily="18" charset="0"/>
                      </a:rPr>
                      <m:t>𝑑</m:t>
                    </m:r>
                    <m:sSub>
                      <m:sSubPr>
                        <m:ctrlPr>
                          <a:rPr lang="en-US" altLang="zh-TW" sz="2200" b="0" i="1" smtClean="0">
                            <a:solidFill>
                              <a:srgbClr val="00B0F0"/>
                            </a:solidFill>
                            <a:latin typeface="Cambria Math" panose="02040503050406030204" pitchFamily="18" charset="0"/>
                          </a:rPr>
                        </m:ctrlPr>
                      </m:sSubPr>
                      <m:e>
                        <m:r>
                          <a:rPr lang="en-US" altLang="zh-TW" sz="2200" b="0" i="1" smtClean="0">
                            <a:solidFill>
                              <a:srgbClr val="00B0F0"/>
                            </a:solidFill>
                            <a:latin typeface="Cambria Math" panose="02040503050406030204" pitchFamily="18" charset="0"/>
                          </a:rPr>
                          <m:t>𝑆</m:t>
                        </m:r>
                      </m:e>
                      <m:sub>
                        <m:r>
                          <a:rPr lang="en-US" altLang="zh-TW" sz="2200" b="0" i="1" smtClean="0">
                            <a:solidFill>
                              <a:srgbClr val="00B0F0"/>
                            </a:solidFill>
                            <a:latin typeface="Cambria Math" panose="02040503050406030204" pitchFamily="18" charset="0"/>
                          </a:rPr>
                          <m:t>𝑡</m:t>
                        </m:r>
                      </m:sub>
                    </m:sSub>
                    <m:r>
                      <a:rPr lang="en-US" altLang="zh-TW" sz="2200" b="0" i="1" smtClean="0">
                        <a:solidFill>
                          <a:srgbClr val="00B0F0"/>
                        </a:solidFill>
                        <a:latin typeface="Cambria Math" panose="02040503050406030204" pitchFamily="18" charset="0"/>
                      </a:rPr>
                      <m:t>)</m:t>
                    </m:r>
                  </m:oMath>
                </a14:m>
                <a:r>
                  <a:rPr lang="en-US" altLang="zh-TW" sz="2200" dirty="0" smtClean="0">
                    <a:solidFill>
                      <a:srgbClr val="00B0F0"/>
                    </a:solidFill>
                  </a:rPr>
                  <a:t>=</a:t>
                </a:r>
                <a:r>
                  <a:rPr lang="zh-TW" altLang="en-US" sz="2200" dirty="0" smtClean="0">
                    <a:solidFill>
                      <a:srgbClr val="00B0F0"/>
                    </a:solidFill>
                  </a:rPr>
                  <a:t>確定的趨勢變化量</a:t>
                </a:r>
                <a:r>
                  <a:rPr lang="en-US" altLang="zh-TW" sz="2200" dirty="0" smtClean="0">
                    <a:solidFill>
                      <a:srgbClr val="00B0F0"/>
                    </a:solidFill>
                  </a:rPr>
                  <a:t>(</a:t>
                </a:r>
                <a14:m>
                  <m:oMath xmlns:m="http://schemas.openxmlformats.org/officeDocument/2006/math">
                    <m:r>
                      <a:rPr lang="en-US" altLang="zh-TW" sz="2200" i="1">
                        <a:solidFill>
                          <a:srgbClr val="00B0F0"/>
                        </a:solidFill>
                        <a:latin typeface="Cambria Math"/>
                      </a:rPr>
                      <m:t>𝜇</m:t>
                    </m:r>
                    <m:sSub>
                      <m:sSubPr>
                        <m:ctrlPr>
                          <a:rPr lang="en-US" altLang="zh-TW" sz="2200" i="1">
                            <a:solidFill>
                              <a:srgbClr val="00B0F0"/>
                            </a:solidFill>
                            <a:latin typeface="Cambria Math" panose="02040503050406030204" pitchFamily="18" charset="0"/>
                          </a:rPr>
                        </m:ctrlPr>
                      </m:sSubPr>
                      <m:e>
                        <m:r>
                          <a:rPr lang="en-US" altLang="zh-TW" sz="2200" i="1">
                            <a:solidFill>
                              <a:srgbClr val="00B0F0"/>
                            </a:solidFill>
                            <a:latin typeface="Cambria Math"/>
                          </a:rPr>
                          <m:t>𝑆</m:t>
                        </m:r>
                      </m:e>
                      <m:sub>
                        <m:r>
                          <a:rPr lang="en-US" altLang="zh-TW" sz="2200" i="1">
                            <a:solidFill>
                              <a:srgbClr val="00B0F0"/>
                            </a:solidFill>
                            <a:latin typeface="Cambria Math"/>
                          </a:rPr>
                          <m:t>𝑡</m:t>
                        </m:r>
                      </m:sub>
                    </m:sSub>
                    <m:r>
                      <a:rPr lang="en-US" altLang="zh-TW" sz="2200" i="1">
                        <a:solidFill>
                          <a:srgbClr val="00B0F0"/>
                        </a:solidFill>
                        <a:latin typeface="Cambria Math"/>
                      </a:rPr>
                      <m:t>𝑑𝑡</m:t>
                    </m:r>
                  </m:oMath>
                </a14:m>
                <a:r>
                  <a:rPr lang="en-US" altLang="zh-TW" sz="2200" dirty="0" smtClean="0">
                    <a:solidFill>
                      <a:srgbClr val="00B0F0"/>
                    </a:solidFill>
                  </a:rPr>
                  <a:t>)</a:t>
                </a:r>
                <a:r>
                  <a:rPr lang="zh-TW" altLang="en-US" sz="2200" dirty="0" smtClean="0">
                    <a:solidFill>
                      <a:srgbClr val="00B0F0"/>
                    </a:solidFill>
                  </a:rPr>
                  <a:t>＋隨機的變化量</a:t>
                </a:r>
                <a:r>
                  <a:rPr lang="en-US" altLang="zh-TW" sz="2200" dirty="0" smtClean="0">
                    <a:solidFill>
                      <a:srgbClr val="00B0F0"/>
                    </a:solidFill>
                  </a:rPr>
                  <a:t>(</a:t>
                </a:r>
                <a:r>
                  <a:rPr lang="zh-TW" altLang="en-US" sz="2200" dirty="0" smtClean="0">
                    <a:solidFill>
                      <a:srgbClr val="00B0F0"/>
                    </a:solidFill>
                  </a:rPr>
                  <a:t>波動</a:t>
                </a:r>
                <a:r>
                  <a:rPr lang="en-US" altLang="zh-TW" sz="2200" dirty="0" smtClean="0">
                    <a:solidFill>
                      <a:srgbClr val="00B0F0"/>
                    </a:solidFill>
                  </a:rPr>
                  <a:t>)</a:t>
                </a:r>
                <a:r>
                  <a:rPr lang="zh-TW" altLang="en-US" sz="2200" dirty="0" smtClean="0">
                    <a:solidFill>
                      <a:srgbClr val="00B0F0"/>
                    </a:solidFill>
                  </a:rPr>
                  <a:t>（</a:t>
                </a:r>
                <a14:m>
                  <m:oMath xmlns:m="http://schemas.openxmlformats.org/officeDocument/2006/math">
                    <m:r>
                      <a:rPr lang="en-US" altLang="zh-TW" sz="2200" i="1">
                        <a:solidFill>
                          <a:srgbClr val="00B0F0"/>
                        </a:solidFill>
                        <a:latin typeface="Cambria Math"/>
                      </a:rPr>
                      <m:t>𝜎</m:t>
                    </m:r>
                    <m:sSub>
                      <m:sSubPr>
                        <m:ctrlPr>
                          <a:rPr lang="en-US" altLang="zh-TW" sz="2200" i="1">
                            <a:solidFill>
                              <a:srgbClr val="00B0F0"/>
                            </a:solidFill>
                            <a:latin typeface="Cambria Math" panose="02040503050406030204" pitchFamily="18" charset="0"/>
                          </a:rPr>
                        </m:ctrlPr>
                      </m:sSubPr>
                      <m:e>
                        <m:r>
                          <a:rPr lang="en-US" altLang="zh-TW" sz="2200" i="1">
                            <a:solidFill>
                              <a:srgbClr val="00B0F0"/>
                            </a:solidFill>
                            <a:latin typeface="Cambria Math"/>
                          </a:rPr>
                          <m:t>𝑆</m:t>
                        </m:r>
                      </m:e>
                      <m:sub>
                        <m:r>
                          <a:rPr lang="en-US" altLang="zh-TW" sz="2200" i="1">
                            <a:solidFill>
                              <a:srgbClr val="00B0F0"/>
                            </a:solidFill>
                            <a:latin typeface="Cambria Math"/>
                          </a:rPr>
                          <m:t>𝑡</m:t>
                        </m:r>
                      </m:sub>
                    </m:sSub>
                    <m:r>
                      <a:rPr lang="en-US" altLang="zh-TW" sz="2200" i="1">
                        <a:solidFill>
                          <a:srgbClr val="00B0F0"/>
                        </a:solidFill>
                        <a:latin typeface="Cambria Math"/>
                      </a:rPr>
                      <m:t>𝑑</m:t>
                    </m:r>
                    <m:sSub>
                      <m:sSubPr>
                        <m:ctrlPr>
                          <a:rPr lang="en-US" altLang="zh-TW" sz="2200" i="1">
                            <a:solidFill>
                              <a:srgbClr val="00B0F0"/>
                            </a:solidFill>
                            <a:latin typeface="Cambria Math" panose="02040503050406030204" pitchFamily="18" charset="0"/>
                          </a:rPr>
                        </m:ctrlPr>
                      </m:sSubPr>
                      <m:e>
                        <m:r>
                          <a:rPr lang="en-US" altLang="zh-TW" sz="2200" i="1">
                            <a:solidFill>
                              <a:srgbClr val="00B0F0"/>
                            </a:solidFill>
                            <a:latin typeface="Cambria Math"/>
                          </a:rPr>
                          <m:t>𝑊</m:t>
                        </m:r>
                      </m:e>
                      <m:sub>
                        <m:r>
                          <a:rPr lang="en-US" altLang="zh-TW" sz="2200" i="1">
                            <a:solidFill>
                              <a:srgbClr val="00B0F0"/>
                            </a:solidFill>
                            <a:latin typeface="Cambria Math"/>
                          </a:rPr>
                          <m:t>𝑡</m:t>
                        </m:r>
                      </m:sub>
                    </m:sSub>
                  </m:oMath>
                </a14:m>
                <a:r>
                  <a:rPr lang="zh-TW" altLang="en-US" sz="2200" dirty="0" smtClean="0">
                    <a:solidFill>
                      <a:srgbClr val="00B0F0"/>
                    </a:solidFill>
                  </a:rPr>
                  <a:t>）</a:t>
                </a:r>
                <a:endParaRPr lang="en-US" altLang="zh-TW" sz="2200" dirty="0" smtClean="0">
                  <a:solidFill>
                    <a:srgbClr val="00B0F0"/>
                  </a:solidFill>
                </a:endParaRPr>
              </a:p>
              <a:p>
                <a:pPr lvl="1"/>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a:rPr>
                          <m:t>𝑊</m:t>
                        </m:r>
                      </m:e>
                      <m:sub>
                        <m:r>
                          <a:rPr lang="en-US" altLang="zh-TW" b="0" i="1" smtClean="0">
                            <a:latin typeface="Cambria Math"/>
                          </a:rPr>
                          <m:t>𝑡</m:t>
                        </m:r>
                      </m:sub>
                    </m:sSub>
                  </m:oMath>
                </a14:m>
                <a:r>
                  <a:rPr lang="en-US" altLang="zh-TW" dirty="0" smtClean="0"/>
                  <a:t> is a Wiener (standard Brownian) process</a:t>
                </a:r>
              </a:p>
              <a:p>
                <a:r>
                  <a:rPr lang="en-US" altLang="zh-TW" dirty="0" smtClean="0"/>
                  <a:t>Solution of the SDE: </a:t>
                </a:r>
                <a:br>
                  <a:rPr lang="en-US" altLang="zh-TW" dirty="0" smtClean="0"/>
                </a:br>
                <a14:m>
                  <m:oMath xmlns:m="http://schemas.openxmlformats.org/officeDocument/2006/math">
                    <m:func>
                      <m:funcPr>
                        <m:ctrlPr>
                          <a:rPr lang="en-US" altLang="zh-TW" b="0" i="1" smtClean="0">
                            <a:solidFill>
                              <a:srgbClr val="FF0000"/>
                            </a:solidFill>
                            <a:latin typeface="Cambria Math" panose="02040503050406030204" pitchFamily="18" charset="0"/>
                          </a:rPr>
                        </m:ctrlPr>
                      </m:funcPr>
                      <m:fName>
                        <m:r>
                          <m:rPr>
                            <m:sty m:val="p"/>
                          </m:rPr>
                          <a:rPr lang="en-US" altLang="zh-TW" b="0" i="0" smtClean="0">
                            <a:solidFill>
                              <a:srgbClr val="FF0000"/>
                            </a:solidFill>
                            <a:latin typeface="Cambria Math"/>
                          </a:rPr>
                          <m:t>ln</m:t>
                        </m:r>
                      </m:fName>
                      <m:e>
                        <m:f>
                          <m:fPr>
                            <m:ctrlPr>
                              <a:rPr lang="en-US" altLang="zh-TW" b="0" i="1" smtClean="0">
                                <a:solidFill>
                                  <a:srgbClr val="FF0000"/>
                                </a:solidFill>
                                <a:latin typeface="Cambria Math" panose="02040503050406030204" pitchFamily="18" charset="0"/>
                              </a:rPr>
                            </m:ctrlPr>
                          </m:fPr>
                          <m:num>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a:rPr>
                                  <m:t>𝑆</m:t>
                                </m:r>
                              </m:e>
                              <m:sub>
                                <m:r>
                                  <a:rPr lang="en-US" altLang="zh-TW" b="0" i="1" smtClean="0">
                                    <a:solidFill>
                                      <a:srgbClr val="FF0000"/>
                                    </a:solidFill>
                                    <a:latin typeface="Cambria Math"/>
                                  </a:rPr>
                                  <m:t>𝑡</m:t>
                                </m:r>
                              </m:sub>
                            </m:sSub>
                          </m:num>
                          <m:den>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a:rPr>
                                  <m:t>𝑆</m:t>
                                </m:r>
                              </m:e>
                              <m:sub>
                                <m:r>
                                  <a:rPr lang="en-US" altLang="zh-TW" b="0" i="1" smtClean="0">
                                    <a:solidFill>
                                      <a:srgbClr val="FF0000"/>
                                    </a:solidFill>
                                    <a:latin typeface="Cambria Math"/>
                                  </a:rPr>
                                  <m:t>0</m:t>
                                </m:r>
                              </m:sub>
                            </m:sSub>
                          </m:den>
                        </m:f>
                        <m:r>
                          <a:rPr lang="en-US" altLang="zh-TW" b="0" i="1" smtClean="0">
                            <a:solidFill>
                              <a:srgbClr val="FF0000"/>
                            </a:solidFill>
                            <a:latin typeface="Cambria Math"/>
                          </a:rPr>
                          <m:t>=</m:t>
                        </m:r>
                        <m:d>
                          <m:dPr>
                            <m:ctrlPr>
                              <a:rPr lang="en-US" altLang="zh-TW" b="0" i="1" smtClean="0">
                                <a:solidFill>
                                  <a:srgbClr val="FF0000"/>
                                </a:solidFill>
                                <a:latin typeface="Cambria Math" panose="02040503050406030204" pitchFamily="18" charset="0"/>
                              </a:rPr>
                            </m:ctrlPr>
                          </m:dPr>
                          <m:e>
                            <m:r>
                              <a:rPr lang="en-US" altLang="zh-TW" b="0" i="1" smtClean="0">
                                <a:solidFill>
                                  <a:srgbClr val="FF0000"/>
                                </a:solidFill>
                                <a:latin typeface="Cambria Math"/>
                              </a:rPr>
                              <m:t>𝜇</m:t>
                            </m:r>
                            <m:r>
                              <a:rPr lang="en-US" altLang="zh-TW" b="0" i="1" smtClean="0">
                                <a:solidFill>
                                  <a:srgbClr val="FF0000"/>
                                </a:solidFill>
                                <a:latin typeface="Cambria Math"/>
                              </a:rPr>
                              <m:t>−</m:t>
                            </m:r>
                            <m:f>
                              <m:fPr>
                                <m:ctrlPr>
                                  <a:rPr lang="en-US" altLang="zh-TW" b="0" i="1" smtClean="0">
                                    <a:solidFill>
                                      <a:srgbClr val="FF0000"/>
                                    </a:solidFill>
                                    <a:latin typeface="Cambria Math" panose="02040503050406030204" pitchFamily="18" charset="0"/>
                                  </a:rPr>
                                </m:ctrlPr>
                              </m:fPr>
                              <m:num>
                                <m:sSup>
                                  <m:sSupPr>
                                    <m:ctrlPr>
                                      <a:rPr lang="en-US" altLang="zh-TW" b="0" i="1" smtClean="0">
                                        <a:solidFill>
                                          <a:srgbClr val="FF0000"/>
                                        </a:solidFill>
                                        <a:latin typeface="Cambria Math" panose="02040503050406030204" pitchFamily="18" charset="0"/>
                                      </a:rPr>
                                    </m:ctrlPr>
                                  </m:sSupPr>
                                  <m:e>
                                    <m:r>
                                      <a:rPr lang="en-US" altLang="zh-TW" b="0" i="1" smtClean="0">
                                        <a:solidFill>
                                          <a:srgbClr val="FF0000"/>
                                        </a:solidFill>
                                        <a:latin typeface="Cambria Math"/>
                                      </a:rPr>
                                      <m:t>𝜎</m:t>
                                    </m:r>
                                  </m:e>
                                  <m:sup>
                                    <m:r>
                                      <a:rPr lang="en-US" altLang="zh-TW" b="0" i="1" smtClean="0">
                                        <a:solidFill>
                                          <a:srgbClr val="FF0000"/>
                                        </a:solidFill>
                                        <a:latin typeface="Cambria Math"/>
                                      </a:rPr>
                                      <m:t>2</m:t>
                                    </m:r>
                                  </m:sup>
                                </m:sSup>
                              </m:num>
                              <m:den>
                                <m:r>
                                  <a:rPr lang="en-US" altLang="zh-TW" b="0" i="1" smtClean="0">
                                    <a:solidFill>
                                      <a:srgbClr val="FF0000"/>
                                    </a:solidFill>
                                    <a:latin typeface="Cambria Math"/>
                                  </a:rPr>
                                  <m:t>2</m:t>
                                </m:r>
                              </m:den>
                            </m:f>
                          </m:e>
                        </m:d>
                        <m:r>
                          <a:rPr lang="en-US" altLang="zh-TW" b="0" i="1" smtClean="0">
                            <a:solidFill>
                              <a:srgbClr val="FF0000"/>
                            </a:solidFill>
                            <a:latin typeface="Cambria Math"/>
                          </a:rPr>
                          <m:t>𝑡</m:t>
                        </m:r>
                        <m:r>
                          <a:rPr lang="en-US" altLang="zh-TW" b="0" i="1" smtClean="0">
                            <a:solidFill>
                              <a:srgbClr val="FF0000"/>
                            </a:solidFill>
                            <a:latin typeface="Cambria Math"/>
                          </a:rPr>
                          <m:t>+</m:t>
                        </m:r>
                        <m:r>
                          <a:rPr lang="en-US" altLang="zh-TW" b="0" i="1" smtClean="0">
                            <a:solidFill>
                              <a:srgbClr val="FF0000"/>
                            </a:solidFill>
                            <a:latin typeface="Cambria Math"/>
                          </a:rPr>
                          <m:t>𝜎</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a:rPr>
                              <m:t>𝑊</m:t>
                            </m:r>
                          </m:e>
                          <m:sub>
                            <m:r>
                              <a:rPr lang="en-US" altLang="zh-TW" b="0" i="1" smtClean="0">
                                <a:solidFill>
                                  <a:srgbClr val="FF0000"/>
                                </a:solidFill>
                                <a:latin typeface="Cambria Math"/>
                              </a:rPr>
                              <m:t>𝑡</m:t>
                            </m:r>
                          </m:sub>
                        </m:sSub>
                      </m:e>
                    </m:func>
                    <m:r>
                      <m:rPr>
                        <m:sty m:val="p"/>
                      </m:rPr>
                      <a:rPr lang="en-US" altLang="zh-TW" b="0" i="0" smtClean="0">
                        <a:solidFill>
                          <a:srgbClr val="FF0000"/>
                        </a:solidFill>
                        <a:latin typeface="Cambria Math"/>
                      </a:rPr>
                      <m:t>or</m:t>
                    </m:r>
                  </m:oMath>
                </a14:m>
                <a:r>
                  <a:rPr lang="en-US" altLang="zh-TW" b="0" i="0" dirty="0" smtClean="0">
                    <a:solidFill>
                      <a:srgbClr val="FF0000"/>
                    </a:solidFill>
                    <a:latin typeface="Cambria Math"/>
                  </a:rPr>
                  <a:t/>
                </a:r>
                <a:br>
                  <a:rPr lang="en-US" altLang="zh-TW" b="0" i="0" dirty="0" smtClean="0">
                    <a:solidFill>
                      <a:srgbClr val="FF0000"/>
                    </a:solidFill>
                    <a:latin typeface="Cambria Math"/>
                  </a:rPr>
                </a:br>
                <a14:m>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zh-TW" altLang="en-US" b="0" i="1" smtClean="0">
                            <a:solidFill>
                              <a:srgbClr val="FF0000"/>
                            </a:solidFill>
                            <a:latin typeface="Cambria Math" panose="02040503050406030204" pitchFamily="18" charset="0"/>
                          </a:rPr>
                          <m:t>𝑠</m:t>
                        </m:r>
                      </m:e>
                      <m:sub>
                        <m:r>
                          <a:rPr lang="en-US" altLang="zh-TW" b="0" i="1" smtClean="0">
                            <a:solidFill>
                              <a:srgbClr val="FF0000"/>
                            </a:solidFill>
                            <a:latin typeface="Cambria Math"/>
                          </a:rPr>
                          <m:t>𝑡</m:t>
                        </m:r>
                      </m:sub>
                    </m:sSub>
                    <m:r>
                      <a:rPr lang="en-US" altLang="zh-TW" b="0" i="1" smtClean="0">
                        <a:solidFill>
                          <a:srgbClr val="FF0000"/>
                        </a:solidFill>
                        <a:latin typeface="Cambria Math"/>
                      </a:rPr>
                      <m:t>=</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a:rPr>
                          <m:t>𝑠</m:t>
                        </m:r>
                      </m:e>
                      <m:sub>
                        <m:r>
                          <a:rPr lang="en-US" altLang="zh-TW" b="0" i="1" smtClean="0">
                            <a:solidFill>
                              <a:srgbClr val="FF0000"/>
                            </a:solidFill>
                            <a:latin typeface="Cambria Math"/>
                          </a:rPr>
                          <m:t>0</m:t>
                        </m:r>
                      </m:sub>
                    </m:sSub>
                    <m:sSup>
                      <m:sSupPr>
                        <m:ctrlPr>
                          <a:rPr lang="en-US" altLang="zh-TW" b="0" i="1" smtClean="0">
                            <a:solidFill>
                              <a:srgbClr val="FF0000"/>
                            </a:solidFill>
                            <a:latin typeface="Cambria Math" panose="02040503050406030204" pitchFamily="18" charset="0"/>
                          </a:rPr>
                        </m:ctrlPr>
                      </m:sSupPr>
                      <m:e>
                        <m:r>
                          <a:rPr lang="en-US" altLang="zh-TW" b="0" i="1" smtClean="0">
                            <a:solidFill>
                              <a:srgbClr val="FF0000"/>
                            </a:solidFill>
                            <a:latin typeface="Cambria Math"/>
                          </a:rPr>
                          <m:t>𝑒</m:t>
                        </m:r>
                      </m:e>
                      <m:sup>
                        <m:d>
                          <m:dPr>
                            <m:ctrlPr>
                              <a:rPr lang="en-US" altLang="zh-TW" i="1">
                                <a:solidFill>
                                  <a:srgbClr val="FF0000"/>
                                </a:solidFill>
                                <a:latin typeface="Cambria Math" panose="02040503050406030204" pitchFamily="18" charset="0"/>
                              </a:rPr>
                            </m:ctrlPr>
                          </m:dPr>
                          <m:e>
                            <m:r>
                              <a:rPr lang="en-US" altLang="zh-TW" i="1">
                                <a:solidFill>
                                  <a:srgbClr val="FF0000"/>
                                </a:solidFill>
                                <a:latin typeface="Cambria Math"/>
                              </a:rPr>
                              <m:t>𝜇</m:t>
                            </m:r>
                            <m:r>
                              <a:rPr lang="en-US" altLang="zh-TW" i="1">
                                <a:solidFill>
                                  <a:srgbClr val="FF0000"/>
                                </a:solidFill>
                                <a:latin typeface="Cambria Math"/>
                              </a:rPr>
                              <m:t>−</m:t>
                            </m:r>
                            <m:f>
                              <m:fPr>
                                <m:ctrlPr>
                                  <a:rPr lang="en-US" altLang="zh-TW" i="1">
                                    <a:solidFill>
                                      <a:srgbClr val="FF0000"/>
                                    </a:solidFill>
                                    <a:latin typeface="Cambria Math" panose="02040503050406030204" pitchFamily="18" charset="0"/>
                                  </a:rPr>
                                </m:ctrlPr>
                              </m:fPr>
                              <m:num>
                                <m:sSup>
                                  <m:sSupPr>
                                    <m:ctrlPr>
                                      <a:rPr lang="en-US" altLang="zh-TW" i="1">
                                        <a:solidFill>
                                          <a:srgbClr val="FF0000"/>
                                        </a:solidFill>
                                        <a:latin typeface="Cambria Math" panose="02040503050406030204" pitchFamily="18" charset="0"/>
                                      </a:rPr>
                                    </m:ctrlPr>
                                  </m:sSupPr>
                                  <m:e>
                                    <m:r>
                                      <a:rPr lang="en-US" altLang="zh-TW" i="1">
                                        <a:solidFill>
                                          <a:srgbClr val="FF0000"/>
                                        </a:solidFill>
                                        <a:latin typeface="Cambria Math"/>
                                      </a:rPr>
                                      <m:t>𝜎</m:t>
                                    </m:r>
                                  </m:e>
                                  <m:sup>
                                    <m:r>
                                      <a:rPr lang="en-US" altLang="zh-TW" i="1">
                                        <a:solidFill>
                                          <a:srgbClr val="FF0000"/>
                                        </a:solidFill>
                                        <a:latin typeface="Cambria Math"/>
                                      </a:rPr>
                                      <m:t>2</m:t>
                                    </m:r>
                                  </m:sup>
                                </m:sSup>
                              </m:num>
                              <m:den>
                                <m:r>
                                  <a:rPr lang="en-US" altLang="zh-TW" i="1">
                                    <a:solidFill>
                                      <a:srgbClr val="FF0000"/>
                                    </a:solidFill>
                                    <a:latin typeface="Cambria Math"/>
                                  </a:rPr>
                                  <m:t>2</m:t>
                                </m:r>
                              </m:den>
                            </m:f>
                          </m:e>
                        </m:d>
                        <m:r>
                          <a:rPr lang="en-US" altLang="zh-TW" i="1">
                            <a:solidFill>
                              <a:srgbClr val="FF0000"/>
                            </a:solidFill>
                            <a:latin typeface="Cambria Math"/>
                          </a:rPr>
                          <m:t>𝑡</m:t>
                        </m:r>
                        <m:r>
                          <a:rPr lang="en-US" altLang="zh-TW" i="1">
                            <a:solidFill>
                              <a:srgbClr val="FF0000"/>
                            </a:solidFill>
                            <a:latin typeface="Cambria Math"/>
                          </a:rPr>
                          <m:t>+</m:t>
                        </m:r>
                        <m:r>
                          <a:rPr lang="en-US" altLang="zh-TW" i="1">
                            <a:solidFill>
                              <a:srgbClr val="FF0000"/>
                            </a:solidFill>
                            <a:latin typeface="Cambria Math"/>
                          </a:rPr>
                          <m:t>𝜎</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𝑊</m:t>
                            </m:r>
                          </m:e>
                          <m:sub>
                            <m:r>
                              <a:rPr lang="en-US" altLang="zh-TW" i="1">
                                <a:solidFill>
                                  <a:srgbClr val="FF0000"/>
                                </a:solidFill>
                                <a:latin typeface="Cambria Math"/>
                              </a:rPr>
                              <m:t>𝑡</m:t>
                            </m:r>
                          </m:sub>
                        </m:sSub>
                      </m:sup>
                    </m:sSup>
                  </m:oMath>
                </a14:m>
                <a:endParaRPr lang="en-US" altLang="zh-TW" dirty="0" smtClean="0"/>
              </a:p>
              <a:p>
                <a:endParaRPr lang="zh-TW" altLang="en-US" dirty="0"/>
              </a:p>
            </p:txBody>
          </p:sp>
        </mc:Choice>
        <mc:Fallback>
          <p:sp>
            <p:nvSpPr>
              <p:cNvPr id="4" name="內容版面配置區 3"/>
              <p:cNvSpPr>
                <a:spLocks noGrp="1" noRot="1" noChangeAspect="1" noMove="1" noResize="1" noEditPoints="1" noAdjustHandles="1" noChangeArrowheads="1" noChangeShapeType="1" noTextEdit="1"/>
              </p:cNvSpPr>
              <p:nvPr>
                <p:ph idx="1"/>
              </p:nvPr>
            </p:nvSpPr>
            <p:spPr>
              <a:xfrm>
                <a:off x="354724" y="1825625"/>
                <a:ext cx="10515600" cy="4351338"/>
              </a:xfrm>
              <a:blipFill rotWithShape="0">
                <a:blip r:embed="rId3"/>
                <a:stretch>
                  <a:fillRect l="-870" t="-2101"/>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60325430-07F2-45E8-A5C9-B73C13C9C571}" type="slidenum">
              <a:rPr lang="zh-TW" altLang="en-US" smtClean="0"/>
              <a:pPr/>
              <a:t>17</a:t>
            </a:fld>
            <a:endParaRPr lang="zh-TW" altLang="en-US"/>
          </a:p>
        </p:txBody>
      </p:sp>
      <mc:AlternateContent xmlns:mc="http://schemas.openxmlformats.org/markup-compatibility/2006">
        <mc:Choice xmlns:a14="http://schemas.microsoft.com/office/drawing/2010/main" xmlns="" Requires="a14">
          <p:sp>
            <p:nvSpPr>
              <p:cNvPr id="6" name="文字方塊 5"/>
              <p:cNvSpPr txBox="1"/>
              <p:nvPr/>
            </p:nvSpPr>
            <p:spPr>
              <a:xfrm>
                <a:off x="8523889" y="4048026"/>
                <a:ext cx="3594539" cy="2308324"/>
              </a:xfrm>
              <a:prstGeom prst="rect">
                <a:avLst/>
              </a:prstGeom>
              <a:noFill/>
            </p:spPr>
            <p:txBody>
              <a:bodyPr wrap="square" rtlCol="0">
                <a:spAutoFit/>
              </a:bodyPr>
              <a:lstStyle/>
              <a:p>
                <a:r>
                  <a:rPr lang="en-US" altLang="zh-TW" sz="1600" dirty="0" smtClean="0">
                    <a:solidFill>
                      <a:srgbClr val="00B050"/>
                    </a:solidFill>
                  </a:rPr>
                  <a:t>Brownian process </a:t>
                </a:r>
                <a14:m>
                  <m:oMath xmlns:m="http://schemas.openxmlformats.org/officeDocument/2006/math">
                    <m:d>
                      <m:dPr>
                        <m:begChr m:val="{"/>
                        <m:endChr m:val="}"/>
                        <m:ctrlPr>
                          <a:rPr lang="en-US" altLang="zh-TW" sz="1600" b="0" i="1" smtClean="0">
                            <a:solidFill>
                              <a:srgbClr val="00B050"/>
                            </a:solidFill>
                            <a:latin typeface="Cambria Math" panose="02040503050406030204" pitchFamily="18" charset="0"/>
                          </a:rPr>
                        </m:ctrlPr>
                      </m:dPr>
                      <m:e>
                        <m:sSub>
                          <m:sSubPr>
                            <m:ctrlPr>
                              <a:rPr lang="en-US" altLang="zh-TW" sz="1600" b="0" i="1" smtClean="0">
                                <a:solidFill>
                                  <a:srgbClr val="00B050"/>
                                </a:solidFill>
                                <a:latin typeface="Cambria Math" panose="02040503050406030204" pitchFamily="18" charset="0"/>
                              </a:rPr>
                            </m:ctrlPr>
                          </m:sSubPr>
                          <m:e>
                            <m:r>
                              <a:rPr lang="en-US" altLang="zh-TW" sz="1600" b="0" i="1" smtClean="0">
                                <a:solidFill>
                                  <a:srgbClr val="00B050"/>
                                </a:solidFill>
                                <a:latin typeface="Cambria Math" panose="02040503050406030204" pitchFamily="18" charset="0"/>
                              </a:rPr>
                              <m:t>𝐵</m:t>
                            </m:r>
                          </m:e>
                          <m:sub>
                            <m:r>
                              <a:rPr lang="en-US" altLang="zh-TW" sz="1600" b="0" i="1" smtClean="0">
                                <a:solidFill>
                                  <a:srgbClr val="00B050"/>
                                </a:solidFill>
                                <a:latin typeface="Cambria Math" panose="02040503050406030204" pitchFamily="18" charset="0"/>
                              </a:rPr>
                              <m:t>𝑡</m:t>
                            </m:r>
                          </m:sub>
                        </m:sSub>
                      </m:e>
                    </m:d>
                  </m:oMath>
                </a14:m>
                <a:r>
                  <a:rPr lang="en-US" altLang="zh-TW" sz="1600" dirty="0">
                    <a:solidFill>
                      <a:srgbClr val="00B050"/>
                    </a:solidFill>
                  </a:rPr>
                  <a:t> (</a:t>
                </a:r>
                <a:r>
                  <a:rPr lang="en-US" altLang="zh-TW" sz="1600" dirty="0" smtClean="0">
                    <a:solidFill>
                      <a:srgbClr val="00B050"/>
                    </a:solidFill>
                  </a:rPr>
                  <a:t>Einstein, 1905):</a:t>
                </a:r>
              </a:p>
              <a:p>
                <a:pPr marL="285750" indent="-285750">
                  <a:buFont typeface="Arial" panose="020B0604020202020204" pitchFamily="34" charset="0"/>
                  <a:buChar char="•"/>
                </a:pPr>
                <a14:m>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𝐵</m:t>
                        </m:r>
                      </m:e>
                      <m:sub>
                        <m:r>
                          <a:rPr lang="en-US" altLang="zh-TW" sz="1600" b="0" i="1" smtClean="0">
                            <a:latin typeface="Cambria Math" panose="02040503050406030204" pitchFamily="18" charset="0"/>
                          </a:rPr>
                          <m:t>0</m:t>
                        </m:r>
                      </m:sub>
                    </m:sSub>
                    <m:r>
                      <a:rPr lang="en-US" altLang="zh-TW" sz="1600" b="0" i="1" smtClean="0">
                        <a:latin typeface="Cambria Math" panose="02040503050406030204" pitchFamily="18" charset="0"/>
                      </a:rPr>
                      <m:t>=0</m:t>
                    </m:r>
                  </m:oMath>
                </a14:m>
                <a:endParaRPr lang="en-US" altLang="zh-TW" sz="1600" b="0" dirty="0" smtClean="0"/>
              </a:p>
              <a:p>
                <a:pPr marL="285750" indent="-285750">
                  <a:buFont typeface="Arial" panose="020B0604020202020204" pitchFamily="34" charset="0"/>
                  <a:buChar char="•"/>
                </a:pPr>
                <a14:m>
                  <m:oMath xmlns:m="http://schemas.openxmlformats.org/officeDocument/2006/math">
                    <m:d>
                      <m:dPr>
                        <m:begChr m:val="{"/>
                        <m:endChr m:val="}"/>
                        <m:ctrlPr>
                          <a:rPr lang="en-US" altLang="zh-TW" sz="1600" b="0" i="1" smtClean="0">
                            <a:latin typeface="Cambria Math" panose="02040503050406030204" pitchFamily="18" charset="0"/>
                          </a:rPr>
                        </m:ctrlPr>
                      </m:dPr>
                      <m:e>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𝐵</m:t>
                            </m:r>
                          </m:e>
                          <m:sub>
                            <m:r>
                              <a:rPr lang="en-US" altLang="zh-TW" sz="1600" b="0" i="1" smtClean="0">
                                <a:latin typeface="Cambria Math" panose="02040503050406030204" pitchFamily="18" charset="0"/>
                              </a:rPr>
                              <m:t>𝑡</m:t>
                            </m:r>
                          </m:sub>
                        </m:sSub>
                        <m:r>
                          <a:rPr lang="en-US" altLang="zh-TW" sz="1600" b="0" i="1" smtClean="0">
                            <a:latin typeface="Cambria Math" panose="02040503050406030204" pitchFamily="18" charset="0"/>
                          </a:rPr>
                          <m:t>−</m:t>
                        </m:r>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𝐵</m:t>
                            </m:r>
                          </m:e>
                          <m:sub>
                            <m:r>
                              <a:rPr lang="en-US" altLang="zh-TW" sz="1600" b="0" i="1" smtClean="0">
                                <a:latin typeface="Cambria Math" panose="02040503050406030204" pitchFamily="18" charset="0"/>
                              </a:rPr>
                              <m:t>𝑠</m:t>
                            </m:r>
                          </m:sub>
                        </m:sSub>
                      </m:e>
                    </m:d>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𝑁</m:t>
                    </m:r>
                    <m:r>
                      <a:rPr lang="en-US" altLang="zh-TW" sz="1600" b="0" i="1" smtClean="0">
                        <a:latin typeface="Cambria Math" panose="02040503050406030204" pitchFamily="18" charset="0"/>
                      </a:rPr>
                      <m:t>(0, </m:t>
                    </m:r>
                    <m:sSup>
                      <m:sSupPr>
                        <m:ctrlPr>
                          <a:rPr lang="en-US" altLang="zh-TW" sz="1600" b="0" i="1" smtClean="0">
                            <a:latin typeface="Cambria Math" panose="02040503050406030204" pitchFamily="18" charset="0"/>
                          </a:rPr>
                        </m:ctrlPr>
                      </m:sSupPr>
                      <m:e>
                        <m:r>
                          <a:rPr lang="en-US" altLang="zh-TW" sz="1600" b="0" i="1" smtClean="0">
                            <a:latin typeface="Cambria Math" panose="02040503050406030204" pitchFamily="18" charset="0"/>
                          </a:rPr>
                          <m:t>𝜎</m:t>
                        </m:r>
                      </m:e>
                      <m:sup>
                        <m:r>
                          <a:rPr lang="en-US" altLang="zh-TW" sz="1600" b="0" i="1" smtClean="0">
                            <a:latin typeface="Cambria Math" panose="02040503050406030204" pitchFamily="18" charset="0"/>
                          </a:rPr>
                          <m:t>2</m:t>
                        </m:r>
                      </m:sup>
                    </m:sSup>
                    <m:d>
                      <m:dPr>
                        <m:ctrlPr>
                          <a:rPr lang="en-US" altLang="zh-TW" sz="1600" b="0" i="1" smtClean="0">
                            <a:latin typeface="Cambria Math" panose="02040503050406030204" pitchFamily="18" charset="0"/>
                          </a:rPr>
                        </m:ctrlPr>
                      </m:dPr>
                      <m:e>
                        <m:r>
                          <a:rPr lang="en-US" altLang="zh-TW" sz="1600" b="0" i="1" smtClean="0">
                            <a:latin typeface="Cambria Math" panose="02040503050406030204" pitchFamily="18" charset="0"/>
                          </a:rPr>
                          <m:t>𝑡</m:t>
                        </m:r>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𝑠</m:t>
                        </m:r>
                      </m:e>
                    </m:d>
                    <m:r>
                      <a:rPr lang="en-US" altLang="zh-TW" sz="1600" b="0" i="1" smtClean="0">
                        <a:latin typeface="Cambria Math" panose="02040503050406030204" pitchFamily="18" charset="0"/>
                      </a:rPr>
                      <m:t>)</m:t>
                    </m:r>
                  </m:oMath>
                </a14:m>
                <a:endParaRPr lang="en-US" altLang="zh-TW" sz="1600" dirty="0" smtClean="0"/>
              </a:p>
              <a:p>
                <a:pPr marL="285750" indent="-285750">
                  <a:buFont typeface="Arial" panose="020B0604020202020204" pitchFamily="34" charset="0"/>
                  <a:buChar char="•"/>
                </a:pPr>
                <a:r>
                  <a:rPr lang="en-US" altLang="zh-TW" sz="1600" dirty="0" smtClean="0"/>
                  <a:t>Independent increment</a:t>
                </a:r>
              </a:p>
              <a:p>
                <a:pPr marL="285750" indent="-285750">
                  <a:buFont typeface="Arial" panose="020B0604020202020204" pitchFamily="34" charset="0"/>
                  <a:buChar char="•"/>
                </a:pPr>
                <a14:m>
                  <m:oMath xmlns:m="http://schemas.openxmlformats.org/officeDocument/2006/math">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𝑡</m:t>
                    </m:r>
                    <m:r>
                      <a:rPr lang="en-US" altLang="zh-TW" sz="1600" b="0" i="1" smtClean="0">
                        <a:latin typeface="Cambria Math" panose="02040503050406030204" pitchFamily="18" charset="0"/>
                      </a:rPr>
                      <m:t>&gt;0, </m:t>
                    </m:r>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𝐵</m:t>
                        </m:r>
                      </m:e>
                      <m:sub>
                        <m:r>
                          <a:rPr lang="en-US" altLang="zh-TW" sz="1600" b="0" i="1" smtClean="0">
                            <a:latin typeface="Cambria Math" panose="02040503050406030204" pitchFamily="18" charset="0"/>
                          </a:rPr>
                          <m:t>𝑡</m:t>
                        </m:r>
                      </m:sub>
                    </m:sSub>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𝑁</m:t>
                    </m:r>
                    <m:r>
                      <a:rPr lang="en-US" altLang="zh-TW" sz="1600" b="0" i="1" smtClean="0">
                        <a:latin typeface="Cambria Math" panose="02040503050406030204" pitchFamily="18" charset="0"/>
                      </a:rPr>
                      <m:t>(0, </m:t>
                    </m:r>
                    <m:sSup>
                      <m:sSupPr>
                        <m:ctrlPr>
                          <a:rPr lang="en-US" altLang="zh-TW" sz="1600" b="0" i="1" smtClean="0">
                            <a:latin typeface="Cambria Math" panose="02040503050406030204" pitchFamily="18" charset="0"/>
                          </a:rPr>
                        </m:ctrlPr>
                      </m:sSupPr>
                      <m:e>
                        <m:r>
                          <a:rPr lang="en-US" altLang="zh-TW" sz="1600" b="0" i="1" smtClean="0">
                            <a:latin typeface="Cambria Math" panose="02040503050406030204" pitchFamily="18" charset="0"/>
                          </a:rPr>
                          <m:t>𝜎</m:t>
                        </m:r>
                      </m:e>
                      <m:sup>
                        <m:r>
                          <a:rPr lang="en-US" altLang="zh-TW" sz="1600" b="0" i="1" smtClean="0">
                            <a:latin typeface="Cambria Math" panose="02040503050406030204" pitchFamily="18" charset="0"/>
                          </a:rPr>
                          <m:t>2</m:t>
                        </m:r>
                      </m:sup>
                    </m:sSup>
                    <m:r>
                      <a:rPr lang="en-US" altLang="zh-TW" sz="1600" b="0" i="1" smtClean="0">
                        <a:latin typeface="Cambria Math" panose="02040503050406030204" pitchFamily="18" charset="0"/>
                      </a:rPr>
                      <m:t>𝑡</m:t>
                    </m:r>
                    <m:r>
                      <a:rPr lang="en-US" altLang="zh-TW" sz="1600" b="0" i="1" smtClean="0">
                        <a:latin typeface="Cambria Math" panose="02040503050406030204" pitchFamily="18" charset="0"/>
                      </a:rPr>
                      <m:t>)</m:t>
                    </m:r>
                  </m:oMath>
                </a14:m>
                <a:endParaRPr lang="en-US" altLang="zh-TW" sz="1600" dirty="0" smtClean="0"/>
              </a:p>
              <a:p>
                <a:pPr marL="285750" indent="-285750">
                  <a:buFont typeface="Arial" panose="020B0604020202020204" pitchFamily="34" charset="0"/>
                  <a:buChar char="•"/>
                </a:pPr>
                <a14:m>
                  <m:oMath xmlns:m="http://schemas.openxmlformats.org/officeDocument/2006/math">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𝐵</m:t>
                        </m:r>
                      </m:e>
                      <m:sub>
                        <m:r>
                          <a:rPr lang="en-US" altLang="zh-TW" sz="1600" b="0" i="1" smtClean="0">
                            <a:latin typeface="Cambria Math" panose="02040503050406030204" pitchFamily="18" charset="0"/>
                          </a:rPr>
                          <m:t>𝑡</m:t>
                        </m:r>
                      </m:sub>
                    </m:sSub>
                  </m:oMath>
                </a14:m>
                <a:r>
                  <a:rPr lang="zh-TW" altLang="en-US" sz="1600" dirty="0" smtClean="0"/>
                  <a:t/>
                </a:r>
                <a:r>
                  <a:rPr lang="en-US" altLang="zh-TW" sz="1600" dirty="0" smtClean="0"/>
                  <a:t>is continuous</a:t>
                </a:r>
              </a:p>
              <a:p>
                <a:pPr marL="285750" indent="-285750">
                  <a:buFont typeface="Arial" panose="020B0604020202020204" pitchFamily="34" charset="0"/>
                  <a:buChar char="•"/>
                </a:pPr>
                <a:endParaRPr lang="en-US" altLang="zh-TW" sz="1600" dirty="0"/>
              </a:p>
              <a:p>
                <a:pPr marL="285750" indent="-285750">
                  <a:buFont typeface="Arial" panose="020B0604020202020204" pitchFamily="34" charset="0"/>
                  <a:buChar char="•"/>
                </a:pPr>
                <a:endParaRPr lang="en-US" altLang="zh-TW" sz="1600" dirty="0" smtClean="0"/>
              </a:p>
              <a:p>
                <a:pPr marL="285750" indent="-285750">
                  <a:buFont typeface="Arial" panose="020B0604020202020204" pitchFamily="34" charset="0"/>
                  <a:buChar char="•"/>
                </a:pPr>
                <a:r>
                  <a:rPr lang="en-US" altLang="zh-TW" sz="1600" dirty="0" smtClean="0"/>
                  <a:t>If </a:t>
                </a:r>
                <a14:m>
                  <m:oMath xmlns:m="http://schemas.openxmlformats.org/officeDocument/2006/math">
                    <m:sSup>
                      <m:sSupPr>
                        <m:ctrlPr>
                          <a:rPr lang="en-US" altLang="zh-TW" sz="1600" b="0" i="1" smtClean="0">
                            <a:latin typeface="Cambria Math" panose="02040503050406030204" pitchFamily="18" charset="0"/>
                          </a:rPr>
                        </m:ctrlPr>
                      </m:sSupPr>
                      <m:e>
                        <m:r>
                          <a:rPr lang="en-US" altLang="zh-TW" sz="1600" b="0" i="1" smtClean="0">
                            <a:latin typeface="Cambria Math" panose="02040503050406030204" pitchFamily="18" charset="0"/>
                          </a:rPr>
                          <m:t>𝜎</m:t>
                        </m:r>
                      </m:e>
                      <m:sup>
                        <m:r>
                          <a:rPr lang="en-US" altLang="zh-TW" sz="1600" b="0" i="1" smtClean="0">
                            <a:latin typeface="Cambria Math" panose="02040503050406030204" pitchFamily="18" charset="0"/>
                          </a:rPr>
                          <m:t>2</m:t>
                        </m:r>
                      </m:sup>
                    </m:sSup>
                    <m:r>
                      <a:rPr lang="en-US" altLang="zh-TW" sz="1600" b="0" i="1" smtClean="0">
                        <a:latin typeface="Cambria Math" panose="02040503050406030204" pitchFamily="18" charset="0"/>
                      </a:rPr>
                      <m:t>=1</m:t>
                    </m:r>
                  </m:oMath>
                </a14:m>
                <a:r>
                  <a:rPr lang="en-US" altLang="zh-TW" sz="1600" dirty="0" smtClean="0"/>
                  <a:t>,</a:t>
                </a:r>
                <a:r>
                  <a:rPr lang="zh-TW" altLang="en-US" sz="1600" dirty="0" smtClean="0"/>
                  <a:t/>
                </a:r>
                <a:r>
                  <a:rPr lang="en-US" altLang="zh-TW" sz="1600" dirty="0" smtClean="0"/>
                  <a:t>it’s </a:t>
                </a:r>
                <a:r>
                  <a:rPr lang="en-US" altLang="zh-TW" sz="1600" dirty="0" smtClean="0">
                    <a:solidFill>
                      <a:srgbClr val="00B050"/>
                    </a:solidFill>
                  </a:rPr>
                  <a:t>Wiener process </a:t>
                </a:r>
                <a14:m>
                  <m:oMath xmlns:m="http://schemas.openxmlformats.org/officeDocument/2006/math">
                    <m:d>
                      <m:dPr>
                        <m:begChr m:val="{"/>
                        <m:endChr m:val="}"/>
                        <m:ctrlPr>
                          <a:rPr lang="en-US" altLang="zh-TW" sz="1600" b="0" i="1" smtClean="0">
                            <a:solidFill>
                              <a:srgbClr val="00B050"/>
                            </a:solidFill>
                            <a:latin typeface="Cambria Math" panose="02040503050406030204" pitchFamily="18" charset="0"/>
                          </a:rPr>
                        </m:ctrlPr>
                      </m:dPr>
                      <m:e>
                        <m:sSub>
                          <m:sSubPr>
                            <m:ctrlPr>
                              <a:rPr lang="en-US" altLang="zh-TW" sz="1600" b="0" i="1" smtClean="0">
                                <a:solidFill>
                                  <a:srgbClr val="00B050"/>
                                </a:solidFill>
                                <a:latin typeface="Cambria Math" panose="02040503050406030204" pitchFamily="18" charset="0"/>
                              </a:rPr>
                            </m:ctrlPr>
                          </m:sSubPr>
                          <m:e>
                            <m:r>
                              <a:rPr lang="en-US" altLang="zh-TW" sz="1600" b="0" i="1" smtClean="0">
                                <a:solidFill>
                                  <a:srgbClr val="00B050"/>
                                </a:solidFill>
                                <a:latin typeface="Cambria Math" panose="02040503050406030204" pitchFamily="18" charset="0"/>
                              </a:rPr>
                              <m:t>𝑊</m:t>
                            </m:r>
                          </m:e>
                          <m:sub>
                            <m:r>
                              <a:rPr lang="en-US" altLang="zh-TW" sz="1600" b="0" i="1" smtClean="0">
                                <a:solidFill>
                                  <a:srgbClr val="00B050"/>
                                </a:solidFill>
                                <a:latin typeface="Cambria Math" panose="02040503050406030204" pitchFamily="18" charset="0"/>
                              </a:rPr>
                              <m:t>𝑡</m:t>
                            </m:r>
                          </m:sub>
                        </m:sSub>
                      </m:e>
                    </m:d>
                  </m:oMath>
                </a14:m>
                <a:endParaRPr lang="zh-TW" altLang="en-US" sz="1600" dirty="0">
                  <a:solidFill>
                    <a:srgbClr val="00B050"/>
                  </a:solidFill>
                </a:endParaRPr>
              </a:p>
            </p:txBody>
          </p:sp>
        </mc:Choice>
        <mc:Fallback>
          <p:sp>
            <p:nvSpPr>
              <p:cNvPr id="6" name="文字方塊 5"/>
              <p:cNvSpPr txBox="1">
                <a:spLocks noRot="1" noChangeAspect="1" noMove="1" noResize="1" noEditPoints="1" noAdjustHandles="1" noChangeArrowheads="1" noChangeShapeType="1" noTextEdit="1"/>
              </p:cNvSpPr>
              <p:nvPr/>
            </p:nvSpPr>
            <p:spPr>
              <a:xfrm>
                <a:off x="8523889" y="4048026"/>
                <a:ext cx="3594539" cy="2308324"/>
              </a:xfrm>
              <a:prstGeom prst="rect">
                <a:avLst/>
              </a:prstGeom>
              <a:blipFill rotWithShape="0">
                <a:blip r:embed="rId4"/>
                <a:stretch>
                  <a:fillRect l="-847" t="-792" b="-2375"/>
                </a:stretch>
              </a:blipFill>
            </p:spPr>
            <p:txBody>
              <a:bodyPr/>
              <a:lstStyle/>
              <a:p>
                <a:r>
                  <a:rPr lang="zh-TW" altLang="en-US">
                    <a:noFill/>
                  </a:rPr>
                  <a:t> </a:t>
                </a:r>
              </a:p>
            </p:txBody>
          </p:sp>
        </mc:Fallback>
      </mc:AlternateContent>
      <p:pic>
        <p:nvPicPr>
          <p:cNvPr id="7" name="圖片 6"/>
          <p:cNvPicPr>
            <a:picLocks noChangeAspect="1"/>
          </p:cNvPicPr>
          <p:nvPr/>
        </p:nvPicPr>
        <p:blipFill>
          <a:blip r:embed="rId5">
            <a:extLst>
              <a:ext uri="{28A0092B-C50C-407E-A947-70E740481C1C}">
                <a14:useLocalDpi xmlns:a14="http://schemas.microsoft.com/office/drawing/2010/main" xmlns=""/>
              </a:ext>
            </a:extLst>
          </a:blip>
          <a:stretch>
            <a:fillRect/>
          </a:stretch>
        </p:blipFill>
        <p:spPr>
          <a:xfrm>
            <a:off x="303062" y="4786062"/>
            <a:ext cx="2986676" cy="1971206"/>
          </a:xfrm>
          <a:prstGeom prst="rect">
            <a:avLst/>
          </a:prstGeom>
        </p:spPr>
      </p:pic>
      <p:pic>
        <p:nvPicPr>
          <p:cNvPr id="8" name="圖片 7"/>
          <p:cNvPicPr>
            <a:picLocks noChangeAspect="1"/>
          </p:cNvPicPr>
          <p:nvPr/>
        </p:nvPicPr>
        <p:blipFill>
          <a:blip r:embed="rId6" cstate="print">
            <a:extLst>
              <a:ext uri="{28A0092B-C50C-407E-A947-70E740481C1C}">
                <a14:useLocalDpi xmlns:a14="http://schemas.microsoft.com/office/drawing/2010/main" xmlns=""/>
              </a:ext>
            </a:extLst>
          </a:blip>
          <a:stretch>
            <a:fillRect/>
          </a:stretch>
        </p:blipFill>
        <p:spPr>
          <a:xfrm>
            <a:off x="10998633" y="125696"/>
            <a:ext cx="1016502" cy="1016502"/>
          </a:xfrm>
          <a:prstGeom prst="rect">
            <a:avLst/>
          </a:prstGeom>
        </p:spPr>
      </p:pic>
    </p:spTree>
    <p:extLst>
      <p:ext uri="{BB962C8B-B14F-4D97-AF65-F5344CB8AC3E}">
        <p14:creationId xmlns:p14="http://schemas.microsoft.com/office/powerpoint/2010/main" xmlns="" val="20518805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rotWithShape="1">
          <a:blip r:embed="rId2" cstate="print">
            <a:extLst>
              <a:ext uri="{28A0092B-C50C-407E-A947-70E740481C1C}">
                <a14:useLocalDpi xmlns:a14="http://schemas.microsoft.com/office/drawing/2010/main" xmlns=""/>
              </a:ext>
            </a:extLst>
          </a:blip>
          <a:srcRect l="25961" r="25882"/>
          <a:stretch/>
        </p:blipFill>
        <p:spPr>
          <a:xfrm>
            <a:off x="0" y="91177"/>
            <a:ext cx="1108398" cy="1051021"/>
          </a:xfrm>
          <a:prstGeom prst="rect">
            <a:avLst/>
          </a:prstGeom>
        </p:spPr>
      </p:pic>
      <p:sp>
        <p:nvSpPr>
          <p:cNvPr id="2" name="標題 1"/>
          <p:cNvSpPr>
            <a:spLocks noGrp="1"/>
          </p:cNvSpPr>
          <p:nvPr>
            <p:ph type="title"/>
          </p:nvPr>
        </p:nvSpPr>
        <p:spPr/>
        <p:txBody>
          <a:bodyPr/>
          <a:lstStyle/>
          <a:p>
            <a:r>
              <a:rPr lang="en-US" altLang="zh-TW" dirty="0"/>
              <a:t>Non-linear transition  function of stock price</a:t>
            </a:r>
            <a:endParaRPr lang="zh-TW" altLang="en-US" dirty="0"/>
          </a:p>
        </p:txBody>
      </p:sp>
      <p:sp>
        <p:nvSpPr>
          <p:cNvPr id="3" name="內容版面配置區 2"/>
          <p:cNvSpPr>
            <a:spLocks noGrp="1"/>
          </p:cNvSpPr>
          <p:nvPr>
            <p:ph idx="1"/>
          </p:nvPr>
        </p:nvSpPr>
        <p:spPr/>
        <p:txBody>
          <a:bodyPr/>
          <a:lstStyle/>
          <a:p>
            <a:r>
              <a:rPr lang="en-US" altLang="zh-TW" dirty="0" smtClean="0"/>
              <a:t>GARCH (generalized autoregressive conditional </a:t>
            </a:r>
            <a:r>
              <a:rPr lang="en-US" altLang="zh-TW" dirty="0" err="1" smtClean="0"/>
              <a:t>heteroskedasticity</a:t>
            </a:r>
            <a:r>
              <a:rPr lang="en-US" altLang="zh-TW" dirty="0" smtClean="0"/>
              <a:t>) family model (Engle</a:t>
            </a:r>
            <a:r>
              <a:rPr lang="en-US" altLang="zh-TW" dirty="0"/>
              <a:t>, 2003 Nobel Economic </a:t>
            </a:r>
            <a:r>
              <a:rPr lang="en-US" altLang="zh-TW" dirty="0" smtClean="0"/>
              <a:t>Prize)</a:t>
            </a:r>
          </a:p>
        </p:txBody>
      </p:sp>
      <p:sp>
        <p:nvSpPr>
          <p:cNvPr id="4" name="投影片編號版面配置區 3"/>
          <p:cNvSpPr>
            <a:spLocks noGrp="1"/>
          </p:cNvSpPr>
          <p:nvPr>
            <p:ph type="sldNum" sz="quarter" idx="12"/>
          </p:nvPr>
        </p:nvSpPr>
        <p:spPr/>
        <p:txBody>
          <a:bodyPr/>
          <a:lstStyle/>
          <a:p>
            <a:fld id="{60325430-07F2-45E8-A5C9-B73C13C9C571}" type="slidenum">
              <a:rPr lang="zh-TW" altLang="en-US" smtClean="0"/>
              <a:pPr/>
              <a:t>18</a:t>
            </a:fld>
            <a:endParaRPr lang="zh-TW" altLang="en-US"/>
          </a:p>
        </p:txBody>
      </p:sp>
      <mc:AlternateContent xmlns:mc="http://schemas.openxmlformats.org/markup-compatibility/2006">
        <mc:Choice xmlns:a14="http://schemas.microsoft.com/office/drawing/2010/main" xmlns="" Requires="a14">
          <p:sp>
            <p:nvSpPr>
              <p:cNvPr id="6" name="文字方塊 5"/>
              <p:cNvSpPr txBox="1"/>
              <p:nvPr/>
            </p:nvSpPr>
            <p:spPr>
              <a:xfrm>
                <a:off x="3316135" y="2811272"/>
                <a:ext cx="6134986" cy="1405193"/>
              </a:xfrm>
              <a:prstGeom prst="rect">
                <a:avLst/>
              </a:prstGeom>
              <a:noFill/>
            </p:spPr>
            <p:txBody>
              <a:bodyPr wrap="square" rtlCol="0">
                <a:spAutoFit/>
              </a:bodyPr>
              <a:lstStyle/>
              <a:p>
                <a:pPr marL="342900" indent="-342900">
                  <a:lnSpc>
                    <a:spcPct val="110000"/>
                  </a:lnSpc>
                  <a:buFont typeface="Arial" panose="020B0604020202020204" pitchFamily="34" charset="0"/>
                  <a:buChar char="•"/>
                </a:pPr>
                <a14:m>
                  <m:oMath xmlns:m="http://schemas.openxmlformats.org/officeDocument/2006/math">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a:rPr>
                          <m:t>𝑧</m:t>
                        </m:r>
                      </m:e>
                      <m:sub>
                        <m:r>
                          <a:rPr lang="en-US" altLang="zh-TW" sz="2400" b="0" i="1" smtClean="0">
                            <a:solidFill>
                              <a:srgbClr val="FF0000"/>
                            </a:solidFill>
                            <a:latin typeface="Cambria Math"/>
                          </a:rPr>
                          <m:t>𝑡</m:t>
                        </m:r>
                      </m:sub>
                    </m:sSub>
                    <m:r>
                      <a:rPr lang="en-US" altLang="zh-TW" sz="2400" b="0" i="1" smtClean="0">
                        <a:solidFill>
                          <a:srgbClr val="FF0000"/>
                        </a:solidFill>
                        <a:latin typeface="Cambria Math"/>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a:rPr>
                          <m:t>𝑥</m:t>
                        </m:r>
                      </m:e>
                      <m:sub>
                        <m:r>
                          <a:rPr lang="en-US" altLang="zh-TW" sz="2400" b="0" i="1" smtClean="0">
                            <a:solidFill>
                              <a:srgbClr val="FF0000"/>
                            </a:solidFill>
                            <a:latin typeface="Cambria Math"/>
                          </a:rPr>
                          <m:t>𝑡</m:t>
                        </m:r>
                      </m:sub>
                    </m:sSub>
                    <m:r>
                      <a:rPr lang="en-US" altLang="zh-TW" sz="2400" b="0" i="1" smtClean="0">
                        <a:solidFill>
                          <a:srgbClr val="FF0000"/>
                        </a:solidFill>
                        <a:latin typeface="Cambria Math"/>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a:rPr>
                          <m:t>𝜖</m:t>
                        </m:r>
                      </m:e>
                      <m:sub>
                        <m:r>
                          <a:rPr lang="en-US" altLang="zh-TW" sz="2400" b="0" i="1" smtClean="0">
                            <a:solidFill>
                              <a:srgbClr val="FF0000"/>
                            </a:solidFill>
                            <a:latin typeface="Cambria Math"/>
                          </a:rPr>
                          <m:t>𝑡</m:t>
                        </m:r>
                      </m:sub>
                    </m:sSub>
                    <m:r>
                      <a:rPr lang="en-US" altLang="zh-TW" sz="2400" b="0" i="1" smtClean="0">
                        <a:solidFill>
                          <a:srgbClr val="FF0000"/>
                        </a:solidFill>
                        <a:latin typeface="Cambria Math"/>
                      </a:rPr>
                      <m:t>,</m:t>
                    </m:r>
                  </m:oMath>
                </a14:m>
                <a:endParaRPr lang="en-US" altLang="zh-TW" sz="2400" b="0" dirty="0" smtClean="0">
                  <a:solidFill>
                    <a:srgbClr val="FF0000"/>
                  </a:solidFill>
                </a:endParaRPr>
              </a:p>
              <a:p>
                <a:pPr marL="342900" indent="-342900">
                  <a:lnSpc>
                    <a:spcPct val="110000"/>
                  </a:lnSpc>
                  <a:buFont typeface="Arial" panose="020B0604020202020204" pitchFamily="34" charset="0"/>
                  <a:buChar char="•"/>
                </a:pPr>
                <a14:m>
                  <m:oMath xmlns:m="http://schemas.openxmlformats.org/officeDocument/2006/math">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a:rPr>
                          <m:t>𝜖</m:t>
                        </m:r>
                      </m:e>
                      <m:sub>
                        <m:r>
                          <a:rPr lang="en-US" altLang="zh-TW" sz="2400" b="0" i="1" smtClean="0">
                            <a:solidFill>
                              <a:srgbClr val="FF0000"/>
                            </a:solidFill>
                            <a:latin typeface="Cambria Math"/>
                          </a:rPr>
                          <m:t>𝑡</m:t>
                        </m:r>
                      </m:sub>
                    </m:sSub>
                    <m:r>
                      <a:rPr lang="en-US" altLang="zh-TW" sz="2400" b="0" i="1" smtClean="0">
                        <a:solidFill>
                          <a:srgbClr val="FF0000"/>
                        </a:solidFill>
                        <a:latin typeface="Cambria Math"/>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a:rPr>
                          <m:t>𝜎</m:t>
                        </m:r>
                      </m:e>
                      <m:sub>
                        <m:r>
                          <a:rPr lang="en-US" altLang="zh-TW" sz="2400" b="0" i="1" smtClean="0">
                            <a:solidFill>
                              <a:srgbClr val="FF0000"/>
                            </a:solidFill>
                            <a:latin typeface="Cambria Math"/>
                          </a:rPr>
                          <m:t>𝑡</m:t>
                        </m:r>
                      </m:sub>
                    </m:sSub>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a:rPr>
                          <m:t>𝑣</m:t>
                        </m:r>
                      </m:e>
                      <m:sub>
                        <m:r>
                          <a:rPr lang="en-US" altLang="zh-TW" sz="2400" b="0" i="1" smtClean="0">
                            <a:solidFill>
                              <a:srgbClr val="FF0000"/>
                            </a:solidFill>
                            <a:latin typeface="Cambria Math"/>
                          </a:rPr>
                          <m:t>𝑡</m:t>
                        </m:r>
                      </m:sub>
                    </m:sSub>
                    <m:r>
                      <a:rPr lang="en-US" altLang="zh-TW" sz="2400" b="0" i="1" smtClean="0">
                        <a:solidFill>
                          <a:srgbClr val="FF0000"/>
                        </a:solidFill>
                        <a:latin typeface="Cambria Math"/>
                      </a:rPr>
                      <m:t>, </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a:rPr>
                          <m:t>𝑣</m:t>
                        </m:r>
                      </m:e>
                      <m:sub>
                        <m:r>
                          <a:rPr lang="en-US" altLang="zh-TW" sz="2400" b="0" i="1" smtClean="0">
                            <a:solidFill>
                              <a:srgbClr val="FF0000"/>
                            </a:solidFill>
                            <a:latin typeface="Cambria Math"/>
                          </a:rPr>
                          <m:t>𝑡</m:t>
                        </m:r>
                      </m:sub>
                    </m:sSub>
                    <m:r>
                      <a:rPr lang="en-US" altLang="zh-TW" sz="2400" b="0" i="1" smtClean="0">
                        <a:solidFill>
                          <a:srgbClr val="FF0000"/>
                        </a:solidFill>
                        <a:latin typeface="Cambria Math"/>
                      </a:rPr>
                      <m:t>~</m:t>
                    </m:r>
                    <m:r>
                      <a:rPr lang="en-US" altLang="zh-TW" sz="2400" b="0" i="1" smtClean="0">
                        <a:solidFill>
                          <a:srgbClr val="FF0000"/>
                        </a:solidFill>
                        <a:latin typeface="Cambria Math"/>
                      </a:rPr>
                      <m:t>𝑊𝑁</m:t>
                    </m:r>
                    <m:d>
                      <m:dPr>
                        <m:ctrlPr>
                          <a:rPr lang="en-US" altLang="zh-TW" sz="2400" b="0" i="1" smtClean="0">
                            <a:solidFill>
                              <a:srgbClr val="FF0000"/>
                            </a:solidFill>
                            <a:latin typeface="Cambria Math" panose="02040503050406030204" pitchFamily="18" charset="0"/>
                          </a:rPr>
                        </m:ctrlPr>
                      </m:dPr>
                      <m:e>
                        <m:r>
                          <a:rPr lang="en-US" altLang="zh-TW" sz="2400" b="0" i="1" smtClean="0">
                            <a:solidFill>
                              <a:srgbClr val="FF0000"/>
                            </a:solidFill>
                            <a:latin typeface="Cambria Math"/>
                          </a:rPr>
                          <m:t>0,1</m:t>
                        </m:r>
                      </m:e>
                    </m:d>
                    <m:r>
                      <a:rPr lang="en-US" altLang="zh-TW" sz="2400" b="0" i="1" smtClean="0">
                        <a:solidFill>
                          <a:srgbClr val="FF0000"/>
                        </a:solidFill>
                        <a:latin typeface="Cambria Math"/>
                      </a:rPr>
                      <m:t>𝑖</m:t>
                    </m:r>
                    <m:r>
                      <a:rPr lang="en-US" altLang="zh-TW" sz="2400" b="0" i="1" smtClean="0">
                        <a:solidFill>
                          <a:srgbClr val="FF0000"/>
                        </a:solidFill>
                        <a:latin typeface="Cambria Math" panose="02040503050406030204" pitchFamily="18" charset="0"/>
                      </a:rPr>
                      <m:t>.</m:t>
                    </m:r>
                    <m:r>
                      <a:rPr lang="en-US" altLang="zh-TW" sz="2400" b="0" i="1" smtClean="0">
                        <a:solidFill>
                          <a:srgbClr val="FF0000"/>
                        </a:solidFill>
                        <a:latin typeface="Cambria Math"/>
                      </a:rPr>
                      <m:t>𝑖</m:t>
                    </m:r>
                    <m:r>
                      <a:rPr lang="en-US" altLang="zh-TW" sz="2400" b="0" i="1" smtClean="0">
                        <a:solidFill>
                          <a:srgbClr val="FF0000"/>
                        </a:solidFill>
                        <a:latin typeface="Cambria Math" panose="02040503050406030204" pitchFamily="18" charset="0"/>
                      </a:rPr>
                      <m:t>.</m:t>
                    </m:r>
                    <m:r>
                      <a:rPr lang="en-US" altLang="zh-TW" sz="2400" b="0" i="1" smtClean="0">
                        <a:solidFill>
                          <a:srgbClr val="FF0000"/>
                        </a:solidFill>
                        <a:latin typeface="Cambria Math"/>
                      </a:rPr>
                      <m:t>𝑑</m:t>
                    </m:r>
                    <m:r>
                      <a:rPr lang="en-US" altLang="zh-TW" sz="2400" b="0" i="1" smtClean="0">
                        <a:solidFill>
                          <a:srgbClr val="FF0000"/>
                        </a:solidFill>
                        <a:latin typeface="Cambria Math" panose="02040503050406030204" pitchFamily="18" charset="0"/>
                      </a:rPr>
                      <m:t>.</m:t>
                    </m:r>
                  </m:oMath>
                </a14:m>
                <a:endParaRPr lang="en-US" altLang="zh-TW" sz="2400" b="0" dirty="0" smtClean="0">
                  <a:solidFill>
                    <a:srgbClr val="FF0000"/>
                  </a:solidFill>
                </a:endParaRPr>
              </a:p>
              <a:p>
                <a:pPr marL="342900" indent="-342900">
                  <a:lnSpc>
                    <a:spcPct val="110000"/>
                  </a:lnSpc>
                  <a:buFont typeface="Arial" panose="020B0604020202020204" pitchFamily="34" charset="0"/>
                  <a:buChar char="•"/>
                </a:pPr>
                <a14:m>
                  <m:oMath xmlns:m="http://schemas.openxmlformats.org/officeDocument/2006/math">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a:rPr>
                          <m:t>𝜎</m:t>
                        </m:r>
                      </m:e>
                      <m:sub>
                        <m:r>
                          <a:rPr lang="en-US" altLang="zh-TW" sz="2400" b="0" i="1" smtClean="0">
                            <a:solidFill>
                              <a:srgbClr val="FF0000"/>
                            </a:solidFill>
                            <a:latin typeface="Cambria Math"/>
                          </a:rPr>
                          <m:t>𝑡</m:t>
                        </m:r>
                      </m:sub>
                    </m:sSub>
                    <m:r>
                      <a:rPr lang="en-US" altLang="zh-TW" sz="2400" b="0" i="1" smtClean="0">
                        <a:solidFill>
                          <a:srgbClr val="FF0000"/>
                        </a:solidFill>
                        <a:latin typeface="Cambria Math"/>
                      </a:rPr>
                      <m:t>=</m:t>
                    </m:r>
                    <m:nary>
                      <m:naryPr>
                        <m:chr m:val="∑"/>
                        <m:ctrlPr>
                          <a:rPr lang="en-US" altLang="zh-TW" sz="2400" b="0" i="1" smtClean="0">
                            <a:solidFill>
                              <a:srgbClr val="FF0000"/>
                            </a:solidFill>
                            <a:latin typeface="Cambria Math" panose="02040503050406030204" pitchFamily="18" charset="0"/>
                          </a:rPr>
                        </m:ctrlPr>
                      </m:naryPr>
                      <m:sub>
                        <m:r>
                          <a:rPr lang="en-US" altLang="zh-TW" sz="2400" b="0" i="1" smtClean="0">
                            <a:solidFill>
                              <a:srgbClr val="FF0000"/>
                            </a:solidFill>
                            <a:latin typeface="Cambria Math"/>
                          </a:rPr>
                          <m:t>𝑖</m:t>
                        </m:r>
                        <m:r>
                          <a:rPr lang="en-US" altLang="zh-TW" sz="2400" b="0" i="1" smtClean="0">
                            <a:solidFill>
                              <a:srgbClr val="FF0000"/>
                            </a:solidFill>
                            <a:latin typeface="Cambria Math"/>
                          </a:rPr>
                          <m:t>=1</m:t>
                        </m:r>
                      </m:sub>
                      <m:sup>
                        <m:r>
                          <a:rPr lang="en-US" altLang="zh-TW" sz="2400" b="0" i="1" smtClean="0">
                            <a:solidFill>
                              <a:srgbClr val="FF0000"/>
                            </a:solidFill>
                            <a:latin typeface="Cambria Math"/>
                          </a:rPr>
                          <m:t>𝑝</m:t>
                        </m:r>
                      </m:sup>
                      <m:e>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a:rPr>
                              <m:t>𝑎</m:t>
                            </m:r>
                          </m:e>
                          <m:sub>
                            <m:r>
                              <a:rPr lang="en-US" altLang="zh-TW" sz="2400" b="0" i="1" smtClean="0">
                                <a:solidFill>
                                  <a:srgbClr val="FF0000"/>
                                </a:solidFill>
                                <a:latin typeface="Cambria Math"/>
                              </a:rPr>
                              <m:t>𝑖</m:t>
                            </m:r>
                          </m:sub>
                        </m:sSub>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a:rPr>
                              <m:t>𝜎</m:t>
                            </m:r>
                          </m:e>
                          <m:sub>
                            <m:r>
                              <a:rPr lang="en-US" altLang="zh-TW" sz="2400" b="0" i="1" smtClean="0">
                                <a:solidFill>
                                  <a:srgbClr val="FF0000"/>
                                </a:solidFill>
                                <a:latin typeface="Cambria Math"/>
                              </a:rPr>
                              <m:t>𝑡</m:t>
                            </m:r>
                            <m:r>
                              <a:rPr lang="en-US" altLang="zh-TW" sz="2400" b="0" i="1" smtClean="0">
                                <a:solidFill>
                                  <a:srgbClr val="FF0000"/>
                                </a:solidFill>
                                <a:latin typeface="Cambria Math"/>
                              </a:rPr>
                              <m:t>−</m:t>
                            </m:r>
                            <m:r>
                              <a:rPr lang="en-US" altLang="zh-TW" sz="2400" b="0" i="1" smtClean="0">
                                <a:solidFill>
                                  <a:srgbClr val="FF0000"/>
                                </a:solidFill>
                                <a:latin typeface="Cambria Math"/>
                              </a:rPr>
                              <m:t>𝑖</m:t>
                            </m:r>
                          </m:sub>
                        </m:sSub>
                        <m:r>
                          <a:rPr lang="en-US" altLang="zh-TW" sz="2400" b="0" i="1" smtClean="0">
                            <a:solidFill>
                              <a:srgbClr val="FF0000"/>
                            </a:solidFill>
                            <a:latin typeface="Cambria Math"/>
                          </a:rPr>
                          <m:t>+</m:t>
                        </m:r>
                        <m:nary>
                          <m:naryPr>
                            <m:chr m:val="∑"/>
                            <m:ctrlPr>
                              <a:rPr lang="en-US" altLang="zh-TW" sz="2400" b="0" i="1" smtClean="0">
                                <a:solidFill>
                                  <a:srgbClr val="FF0000"/>
                                </a:solidFill>
                                <a:latin typeface="Cambria Math" panose="02040503050406030204" pitchFamily="18" charset="0"/>
                              </a:rPr>
                            </m:ctrlPr>
                          </m:naryPr>
                          <m:sub>
                            <m:r>
                              <a:rPr lang="en-US" altLang="zh-TW" sz="2400" b="0" i="1" smtClean="0">
                                <a:solidFill>
                                  <a:srgbClr val="FF0000"/>
                                </a:solidFill>
                                <a:latin typeface="Cambria Math"/>
                              </a:rPr>
                              <m:t>𝑗</m:t>
                            </m:r>
                            <m:r>
                              <a:rPr lang="en-US" altLang="zh-TW" sz="2400" b="0" i="1" smtClean="0">
                                <a:solidFill>
                                  <a:srgbClr val="FF0000"/>
                                </a:solidFill>
                                <a:latin typeface="Cambria Math"/>
                              </a:rPr>
                              <m:t>=1</m:t>
                            </m:r>
                          </m:sub>
                          <m:sup>
                            <m:r>
                              <a:rPr lang="en-US" altLang="zh-TW" sz="2400" b="0" i="1" smtClean="0">
                                <a:solidFill>
                                  <a:srgbClr val="FF0000"/>
                                </a:solidFill>
                                <a:latin typeface="Cambria Math"/>
                              </a:rPr>
                              <m:t>𝑞</m:t>
                            </m:r>
                          </m:sup>
                          <m:e>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a:rPr>
                                  <m:t>𝑏</m:t>
                                </m:r>
                              </m:e>
                              <m:sub>
                                <m:r>
                                  <a:rPr lang="en-US" altLang="zh-TW" sz="2400" b="0" i="1" smtClean="0">
                                    <a:solidFill>
                                      <a:srgbClr val="FF0000"/>
                                    </a:solidFill>
                                    <a:latin typeface="Cambria Math"/>
                                  </a:rPr>
                                  <m:t>𝑗</m:t>
                                </m:r>
                              </m:sub>
                            </m:sSub>
                            <m:sSubSup>
                              <m:sSubSupPr>
                                <m:ctrlPr>
                                  <a:rPr lang="en-US" altLang="zh-TW" sz="2400" b="0" i="1" smtClean="0">
                                    <a:solidFill>
                                      <a:srgbClr val="FF0000"/>
                                    </a:solidFill>
                                    <a:latin typeface="Cambria Math" panose="02040503050406030204" pitchFamily="18" charset="0"/>
                                  </a:rPr>
                                </m:ctrlPr>
                              </m:sSubSupPr>
                              <m:e>
                                <m:r>
                                  <a:rPr lang="en-US" altLang="zh-TW" sz="2400" b="0" i="1" smtClean="0">
                                    <a:solidFill>
                                      <a:srgbClr val="FF0000"/>
                                    </a:solidFill>
                                    <a:latin typeface="Cambria Math"/>
                                  </a:rPr>
                                  <m:t>𝜖</m:t>
                                </m:r>
                              </m:e>
                              <m:sub>
                                <m:r>
                                  <a:rPr lang="en-US" altLang="zh-TW" sz="2400" b="0" i="1" smtClean="0">
                                    <a:solidFill>
                                      <a:srgbClr val="FF0000"/>
                                    </a:solidFill>
                                    <a:latin typeface="Cambria Math"/>
                                  </a:rPr>
                                  <m:t>𝑡</m:t>
                                </m:r>
                              </m:sub>
                              <m:sup>
                                <m:r>
                                  <a:rPr lang="en-US" altLang="zh-TW" sz="2400" b="0" i="1" smtClean="0">
                                    <a:solidFill>
                                      <a:srgbClr val="FF0000"/>
                                    </a:solidFill>
                                    <a:latin typeface="Cambria Math"/>
                                  </a:rPr>
                                  <m:t>2</m:t>
                                </m:r>
                              </m:sup>
                            </m:sSubSup>
                            <m:r>
                              <a:rPr lang="en-US" altLang="zh-TW" sz="2400" b="0" i="1" smtClean="0">
                                <a:solidFill>
                                  <a:srgbClr val="FF0000"/>
                                </a:solidFill>
                                <a:latin typeface="Cambria Math"/>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a:rPr>
                                  <m:t>𝑏</m:t>
                                </m:r>
                              </m:e>
                              <m:sub>
                                <m:r>
                                  <a:rPr lang="en-US" altLang="zh-TW" sz="2400" b="0" i="1" smtClean="0">
                                    <a:solidFill>
                                      <a:srgbClr val="FF0000"/>
                                    </a:solidFill>
                                    <a:latin typeface="Cambria Math"/>
                                  </a:rPr>
                                  <m:t>0</m:t>
                                </m:r>
                              </m:sub>
                            </m:sSub>
                          </m:e>
                        </m:nary>
                      </m:e>
                    </m:nary>
                  </m:oMath>
                </a14:m>
                <a:endParaRPr lang="zh-TW" altLang="en-US" sz="2400" dirty="0"/>
              </a:p>
            </p:txBody>
          </p:sp>
        </mc:Choice>
        <mc:Fallback>
          <p:sp>
            <p:nvSpPr>
              <p:cNvPr id="6" name="文字方塊 5"/>
              <p:cNvSpPr txBox="1">
                <a:spLocks noRot="1" noChangeAspect="1" noMove="1" noResize="1" noEditPoints="1" noAdjustHandles="1" noChangeArrowheads="1" noChangeShapeType="1" noTextEdit="1"/>
              </p:cNvSpPr>
              <p:nvPr/>
            </p:nvSpPr>
            <p:spPr>
              <a:xfrm>
                <a:off x="3316135" y="2811272"/>
                <a:ext cx="6134986" cy="1405193"/>
              </a:xfrm>
              <a:prstGeom prst="rect">
                <a:avLst/>
              </a:prstGeom>
              <a:blipFill rotWithShape="0">
                <a:blip r:embed="rId3"/>
                <a:stretch>
                  <a:fillRect l="-1392" t="-866"/>
                </a:stretch>
              </a:blipFill>
            </p:spPr>
            <p:txBody>
              <a:bodyPr/>
              <a:lstStyle/>
              <a:p>
                <a:r>
                  <a:rPr lang="zh-TW" altLang="en-US">
                    <a:noFill/>
                  </a:rPr>
                  <a:t> </a:t>
                </a:r>
              </a:p>
            </p:txBody>
          </p:sp>
        </mc:Fallback>
      </mc:AlternateContent>
      <p:pic>
        <p:nvPicPr>
          <p:cNvPr id="7" name="圖片 6"/>
          <p:cNvPicPr>
            <a:picLocks noChangeAspect="1"/>
          </p:cNvPicPr>
          <p:nvPr/>
        </p:nvPicPr>
        <p:blipFill>
          <a:blip r:embed="rId4" cstate="print">
            <a:extLst>
              <a:ext uri="{28A0092B-C50C-407E-A947-70E740481C1C}">
                <a14:useLocalDpi xmlns:a14="http://schemas.microsoft.com/office/drawing/2010/main" xmlns=""/>
              </a:ext>
            </a:extLst>
          </a:blip>
          <a:stretch>
            <a:fillRect/>
          </a:stretch>
        </p:blipFill>
        <p:spPr>
          <a:xfrm>
            <a:off x="10998633" y="125696"/>
            <a:ext cx="1016502" cy="1016502"/>
          </a:xfrm>
          <a:prstGeom prst="rect">
            <a:avLst/>
          </a:prstGeom>
        </p:spPr>
      </p:pic>
      <p:sp>
        <p:nvSpPr>
          <p:cNvPr id="9" name="矩形 8"/>
          <p:cNvSpPr/>
          <p:nvPr/>
        </p:nvSpPr>
        <p:spPr>
          <a:xfrm>
            <a:off x="1540724" y="4443587"/>
            <a:ext cx="9320048" cy="1938992"/>
          </a:xfrm>
          <a:prstGeom prst="rect">
            <a:avLst/>
          </a:prstGeom>
        </p:spPr>
        <p:txBody>
          <a:bodyPr wrap="square">
            <a:spAutoFit/>
          </a:bodyPr>
          <a:lstStyle/>
          <a:p>
            <a:r>
              <a:rPr lang="en-US" altLang="zh-TW" sz="2400" dirty="0" smtClean="0">
                <a:latin typeface="UMingTW"/>
              </a:rPr>
              <a:t>GARCH</a:t>
            </a:r>
            <a:r>
              <a:rPr lang="zh-TW" altLang="en-US" sz="2400" dirty="0" smtClean="0">
                <a:latin typeface="UMingTW"/>
              </a:rPr>
              <a:t>可描述以下金融時間序列性質</a:t>
            </a:r>
            <a:r>
              <a:rPr lang="en-US" altLang="zh-TW" sz="2400" dirty="0">
                <a:latin typeface="UMingTW"/>
              </a:rPr>
              <a:t>(Stylized </a:t>
            </a:r>
            <a:r>
              <a:rPr lang="en-US" altLang="zh-TW" sz="2400" dirty="0" smtClean="0">
                <a:latin typeface="UMingTW"/>
              </a:rPr>
              <a:t>facts)</a:t>
            </a:r>
            <a:r>
              <a:rPr lang="zh-TW" altLang="en-US" sz="2400" dirty="0" smtClean="0">
                <a:latin typeface="UMingTW"/>
              </a:rPr>
              <a:t>：</a:t>
            </a:r>
            <a:endParaRPr lang="en-US" altLang="zh-TW" sz="2400" dirty="0" smtClean="0">
              <a:latin typeface="UMingTW"/>
            </a:endParaRPr>
          </a:p>
          <a:p>
            <a:pPr marL="285750" indent="-285750">
              <a:buFont typeface="Arial" panose="020B0604020202020204" pitchFamily="34" charset="0"/>
              <a:buChar char="•"/>
            </a:pPr>
            <a:r>
              <a:rPr lang="zh-TW" altLang="en-US" sz="2400" dirty="0" smtClean="0">
                <a:latin typeface="UMingTW"/>
              </a:rPr>
              <a:t>波動</a:t>
            </a:r>
            <a:r>
              <a:rPr lang="en-US" altLang="zh-TW" sz="2400" dirty="0">
                <a:latin typeface="LMRoman12-Regular-Identity-H"/>
              </a:rPr>
              <a:t>(Volatility) </a:t>
            </a:r>
            <a:r>
              <a:rPr lang="zh-TW" altLang="en-US" sz="2400" dirty="0">
                <a:latin typeface="UMingTW"/>
              </a:rPr>
              <a:t>會隨時間變動而改變。</a:t>
            </a:r>
          </a:p>
          <a:p>
            <a:pPr marL="285750" indent="-285750">
              <a:buFont typeface="Arial" panose="020B0604020202020204" pitchFamily="34" charset="0"/>
              <a:buChar char="•"/>
            </a:pPr>
            <a:r>
              <a:rPr lang="zh-TW" altLang="en-US" sz="2400" dirty="0" smtClean="0">
                <a:latin typeface="UMingTW"/>
              </a:rPr>
              <a:t>波動</a:t>
            </a:r>
            <a:r>
              <a:rPr lang="zh-TW" altLang="en-US" sz="2400" dirty="0">
                <a:latin typeface="UMingTW"/>
              </a:rPr>
              <a:t>不會發散到無窮大，會在固定範圍內變化。</a:t>
            </a:r>
          </a:p>
          <a:p>
            <a:pPr marL="285750" indent="-285750">
              <a:buFont typeface="Arial" panose="020B0604020202020204" pitchFamily="34" charset="0"/>
              <a:buChar char="•"/>
            </a:pPr>
            <a:r>
              <a:rPr lang="zh-TW" altLang="en-US" sz="2400" dirty="0" smtClean="0">
                <a:latin typeface="UMingTW"/>
              </a:rPr>
              <a:t>波動</a:t>
            </a:r>
            <a:r>
              <a:rPr lang="zh-TW" altLang="en-US" sz="2400" dirty="0">
                <a:latin typeface="UMingTW"/>
              </a:rPr>
              <a:t>具有很強的持續性，即「叢集效應」</a:t>
            </a:r>
            <a:r>
              <a:rPr lang="en-US" altLang="zh-TW" sz="2400" dirty="0">
                <a:latin typeface="LMRoman12-Regular-Identity-H"/>
              </a:rPr>
              <a:t>( volatility clustering )</a:t>
            </a:r>
            <a:r>
              <a:rPr lang="zh-TW" altLang="en-US" sz="2400" dirty="0">
                <a:latin typeface="UMingTW"/>
              </a:rPr>
              <a:t>。</a:t>
            </a:r>
          </a:p>
          <a:p>
            <a:pPr marL="285750" indent="-285750">
              <a:buFont typeface="Arial" panose="020B0604020202020204" pitchFamily="34" charset="0"/>
              <a:buChar char="•"/>
            </a:pPr>
            <a:r>
              <a:rPr lang="zh-TW" altLang="en-US" sz="2400" dirty="0" smtClean="0">
                <a:latin typeface="UMingTW"/>
              </a:rPr>
              <a:t>資</a:t>
            </a:r>
            <a:r>
              <a:rPr lang="zh-TW" altLang="en-US" sz="2400" dirty="0">
                <a:latin typeface="UMingTW"/>
              </a:rPr>
              <a:t>料</a:t>
            </a:r>
            <a:r>
              <a:rPr lang="zh-TW" altLang="en-US" sz="2400" dirty="0" smtClean="0">
                <a:latin typeface="UMingTW"/>
              </a:rPr>
              <a:t>分佈具</a:t>
            </a:r>
            <a:r>
              <a:rPr lang="zh-TW" altLang="en-US" sz="2400" dirty="0">
                <a:latin typeface="UMingTW"/>
              </a:rPr>
              <a:t>厚尾</a:t>
            </a:r>
            <a:r>
              <a:rPr lang="en-US" altLang="zh-TW" sz="2400" dirty="0">
                <a:latin typeface="LMRoman12-Regular-Identity-H"/>
              </a:rPr>
              <a:t>(fat-tail) </a:t>
            </a:r>
            <a:r>
              <a:rPr lang="zh-TW" altLang="en-US" sz="2400" dirty="0">
                <a:latin typeface="UMingTW"/>
              </a:rPr>
              <a:t>性質，即峰度大於</a:t>
            </a:r>
            <a:r>
              <a:rPr lang="en-US" altLang="zh-TW" sz="2400" dirty="0">
                <a:latin typeface="LMRoman12-Regular-Identity-H"/>
              </a:rPr>
              <a:t>3</a:t>
            </a:r>
            <a:r>
              <a:rPr lang="zh-TW" altLang="en-US" sz="2400" dirty="0">
                <a:latin typeface="UMingTW"/>
              </a:rPr>
              <a:t>。</a:t>
            </a:r>
            <a:endParaRPr lang="zh-TW" altLang="en-US" sz="2400" dirty="0"/>
          </a:p>
        </p:txBody>
      </p:sp>
    </p:spTree>
    <p:extLst>
      <p:ext uri="{BB962C8B-B14F-4D97-AF65-F5344CB8AC3E}">
        <p14:creationId xmlns:p14="http://schemas.microsoft.com/office/powerpoint/2010/main" xmlns="" val="368733505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rotWithShape="1">
          <a:blip r:embed="rId2" cstate="print">
            <a:extLst>
              <a:ext uri="{28A0092B-C50C-407E-A947-70E740481C1C}">
                <a14:useLocalDpi xmlns:a14="http://schemas.microsoft.com/office/drawing/2010/main" xmlns=""/>
              </a:ext>
            </a:extLst>
          </a:blip>
          <a:srcRect l="25961" r="25882"/>
          <a:stretch/>
        </p:blipFill>
        <p:spPr>
          <a:xfrm>
            <a:off x="0" y="91177"/>
            <a:ext cx="1108398" cy="1051021"/>
          </a:xfrm>
          <a:prstGeom prst="rect">
            <a:avLst/>
          </a:prstGeom>
        </p:spPr>
      </p:pic>
      <p:sp>
        <p:nvSpPr>
          <p:cNvPr id="2" name="標題 1"/>
          <p:cNvSpPr>
            <a:spLocks noGrp="1"/>
          </p:cNvSpPr>
          <p:nvPr>
            <p:ph type="title"/>
          </p:nvPr>
        </p:nvSpPr>
        <p:spPr/>
        <p:txBody>
          <a:bodyPr/>
          <a:lstStyle/>
          <a:p>
            <a:r>
              <a:rPr lang="en-US" altLang="zh-TW" dirty="0"/>
              <a:t>Non-linear transition  function of stock price</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p:txBody>
              <a:bodyPr/>
              <a:lstStyle/>
              <a:p>
                <a:pPr marL="228600" lvl="1">
                  <a:spcBef>
                    <a:spcPts val="1000"/>
                  </a:spcBef>
                </a:pPr>
                <a:r>
                  <a:rPr lang="en-US" altLang="zh-TW" dirty="0" smtClean="0"/>
                  <a:t>In GBM, the SDE uses </a:t>
                </a:r>
                <a:r>
                  <a:rPr lang="en-US" altLang="zh-TW" dirty="0" smtClean="0">
                    <a:solidFill>
                      <a:srgbClr val="FF0000"/>
                    </a:solidFill>
                  </a:rPr>
                  <a:t>constant volatility </a:t>
                </a:r>
                <a14:m>
                  <m:oMath xmlns:m="http://schemas.openxmlformats.org/officeDocument/2006/math">
                    <m:r>
                      <a:rPr lang="en-US" altLang="zh-TW" b="0" i="1" smtClean="0">
                        <a:solidFill>
                          <a:srgbClr val="FF0000"/>
                        </a:solidFill>
                        <a:latin typeface="Cambria Math"/>
                      </a:rPr>
                      <m:t>𝜎</m:t>
                    </m:r>
                  </m:oMath>
                </a14:m>
                <a:r>
                  <a:rPr lang="en-US" altLang="zh-TW" dirty="0" smtClean="0">
                    <a:solidFill>
                      <a:srgbClr val="00B0F0"/>
                    </a:solidFill>
                  </a:rPr>
                  <a:t/>
                </a:r>
                <a:r>
                  <a:rPr lang="en-US" altLang="zh-TW" dirty="0" smtClean="0"/>
                  <a:t>in whole periods,  </a:t>
                </a:r>
                <a:br>
                  <a:rPr lang="en-US" altLang="zh-TW" dirty="0" smtClean="0"/>
                </a:br>
                <a14:m>
                  <m:oMath xmlns:m="http://schemas.openxmlformats.org/officeDocument/2006/math">
                    <m:r>
                      <a:rPr lang="en-US" altLang="zh-TW" i="1">
                        <a:solidFill>
                          <a:srgbClr val="00B0F0"/>
                        </a:solidFill>
                        <a:latin typeface="Cambria Math"/>
                      </a:rPr>
                      <m:t>𝑑</m:t>
                    </m:r>
                    <m:sSub>
                      <m:sSubPr>
                        <m:ctrlPr>
                          <a:rPr lang="en-US" altLang="zh-TW" i="1">
                            <a:solidFill>
                              <a:srgbClr val="00B0F0"/>
                            </a:solidFill>
                            <a:latin typeface="Cambria Math" panose="02040503050406030204" pitchFamily="18" charset="0"/>
                          </a:rPr>
                        </m:ctrlPr>
                      </m:sSubPr>
                      <m:e>
                        <m:r>
                          <a:rPr lang="en-US" altLang="zh-TW" i="1">
                            <a:solidFill>
                              <a:srgbClr val="00B0F0"/>
                            </a:solidFill>
                            <a:latin typeface="Cambria Math"/>
                          </a:rPr>
                          <m:t>𝑆</m:t>
                        </m:r>
                      </m:e>
                      <m:sub>
                        <m:r>
                          <a:rPr lang="en-US" altLang="zh-TW" i="1">
                            <a:solidFill>
                              <a:srgbClr val="00B0F0"/>
                            </a:solidFill>
                            <a:latin typeface="Cambria Math"/>
                          </a:rPr>
                          <m:t>𝑡</m:t>
                        </m:r>
                      </m:sub>
                    </m:sSub>
                    <m:r>
                      <a:rPr lang="en-US" altLang="zh-TW" i="1">
                        <a:solidFill>
                          <a:srgbClr val="00B0F0"/>
                        </a:solidFill>
                        <a:latin typeface="Cambria Math"/>
                      </a:rPr>
                      <m:t>=</m:t>
                    </m:r>
                    <m:r>
                      <a:rPr lang="en-US" altLang="zh-TW" i="1">
                        <a:solidFill>
                          <a:srgbClr val="00B0F0"/>
                        </a:solidFill>
                        <a:latin typeface="Cambria Math"/>
                      </a:rPr>
                      <m:t>𝜇</m:t>
                    </m:r>
                    <m:sSub>
                      <m:sSubPr>
                        <m:ctrlPr>
                          <a:rPr lang="en-US" altLang="zh-TW" i="1">
                            <a:solidFill>
                              <a:srgbClr val="00B0F0"/>
                            </a:solidFill>
                            <a:latin typeface="Cambria Math" panose="02040503050406030204" pitchFamily="18" charset="0"/>
                          </a:rPr>
                        </m:ctrlPr>
                      </m:sSubPr>
                      <m:e>
                        <m:r>
                          <a:rPr lang="en-US" altLang="zh-TW" i="1">
                            <a:solidFill>
                              <a:srgbClr val="00B0F0"/>
                            </a:solidFill>
                            <a:latin typeface="Cambria Math"/>
                          </a:rPr>
                          <m:t>𝑆</m:t>
                        </m:r>
                      </m:e>
                      <m:sub>
                        <m:r>
                          <a:rPr lang="en-US" altLang="zh-TW" i="1">
                            <a:solidFill>
                              <a:srgbClr val="00B0F0"/>
                            </a:solidFill>
                            <a:latin typeface="Cambria Math"/>
                          </a:rPr>
                          <m:t>𝑡</m:t>
                        </m:r>
                      </m:sub>
                    </m:sSub>
                    <m:r>
                      <a:rPr lang="en-US" altLang="zh-TW" i="1">
                        <a:solidFill>
                          <a:srgbClr val="00B0F0"/>
                        </a:solidFill>
                        <a:latin typeface="Cambria Math"/>
                      </a:rPr>
                      <m:t>𝑑𝑡</m:t>
                    </m:r>
                    <m:r>
                      <a:rPr lang="en-US" altLang="zh-TW" i="1">
                        <a:solidFill>
                          <a:srgbClr val="00B0F0"/>
                        </a:solidFill>
                        <a:latin typeface="Cambria Math"/>
                      </a:rPr>
                      <m:t>+</m:t>
                    </m:r>
                    <m:r>
                      <a:rPr lang="en-US" altLang="zh-TW" i="1" smtClean="0">
                        <a:solidFill>
                          <a:srgbClr val="FF0000"/>
                        </a:solidFill>
                        <a:latin typeface="Cambria Math"/>
                      </a:rPr>
                      <m:t>𝜎</m:t>
                    </m:r>
                    <m:sSub>
                      <m:sSubPr>
                        <m:ctrlPr>
                          <a:rPr lang="en-US" altLang="zh-TW" i="1">
                            <a:solidFill>
                              <a:srgbClr val="00B0F0"/>
                            </a:solidFill>
                            <a:latin typeface="Cambria Math" panose="02040503050406030204" pitchFamily="18" charset="0"/>
                          </a:rPr>
                        </m:ctrlPr>
                      </m:sSubPr>
                      <m:e>
                        <m:r>
                          <a:rPr lang="en-US" altLang="zh-TW" i="1">
                            <a:solidFill>
                              <a:srgbClr val="00B0F0"/>
                            </a:solidFill>
                            <a:latin typeface="Cambria Math"/>
                          </a:rPr>
                          <m:t>𝑆</m:t>
                        </m:r>
                      </m:e>
                      <m:sub>
                        <m:r>
                          <a:rPr lang="en-US" altLang="zh-TW" i="1">
                            <a:solidFill>
                              <a:srgbClr val="00B0F0"/>
                            </a:solidFill>
                            <a:latin typeface="Cambria Math"/>
                          </a:rPr>
                          <m:t>𝑡</m:t>
                        </m:r>
                      </m:sub>
                    </m:sSub>
                    <m:r>
                      <a:rPr lang="en-US" altLang="zh-TW" i="1">
                        <a:solidFill>
                          <a:srgbClr val="00B0F0"/>
                        </a:solidFill>
                        <a:latin typeface="Cambria Math"/>
                      </a:rPr>
                      <m:t>𝑑</m:t>
                    </m:r>
                    <m:sSub>
                      <m:sSubPr>
                        <m:ctrlPr>
                          <a:rPr lang="en-US" altLang="zh-TW" i="1">
                            <a:solidFill>
                              <a:srgbClr val="00B0F0"/>
                            </a:solidFill>
                            <a:latin typeface="Cambria Math" panose="02040503050406030204" pitchFamily="18" charset="0"/>
                          </a:rPr>
                        </m:ctrlPr>
                      </m:sSubPr>
                      <m:e>
                        <m:r>
                          <a:rPr lang="en-US" altLang="zh-TW" i="1">
                            <a:solidFill>
                              <a:srgbClr val="00B0F0"/>
                            </a:solidFill>
                            <a:latin typeface="Cambria Math"/>
                          </a:rPr>
                          <m:t>𝑊</m:t>
                        </m:r>
                      </m:e>
                      <m:sub>
                        <m:r>
                          <a:rPr lang="en-US" altLang="zh-TW" i="1">
                            <a:solidFill>
                              <a:srgbClr val="00B0F0"/>
                            </a:solidFill>
                            <a:latin typeface="Cambria Math"/>
                          </a:rPr>
                          <m:t>𝑡</m:t>
                        </m:r>
                      </m:sub>
                    </m:sSub>
                  </m:oMath>
                </a14:m>
                <a:endParaRPr lang="en-US" altLang="zh-TW" dirty="0" smtClean="0"/>
              </a:p>
              <a:p>
                <a:endParaRPr lang="en-US" altLang="zh-TW" dirty="0"/>
              </a:p>
              <a:p>
                <a:r>
                  <a:rPr lang="en-US" altLang="zh-TW" dirty="0" smtClean="0"/>
                  <a:t>Stochastic volatility replaces </a:t>
                </a:r>
                <a:r>
                  <a:rPr lang="en-US" altLang="zh-TW" dirty="0"/>
                  <a:t>the constant volatility  </a:t>
                </a:r>
                <a14:m>
                  <m:oMath xmlns:m="http://schemas.openxmlformats.org/officeDocument/2006/math">
                    <m:r>
                      <a:rPr lang="en-US" altLang="zh-TW" b="0" i="1" smtClean="0">
                        <a:latin typeface="Cambria Math"/>
                      </a:rPr>
                      <m:t>𝜎</m:t>
                    </m:r>
                    <m:r>
                      <a:rPr lang="en-US" altLang="zh-TW" b="0" i="1" smtClean="0">
                        <a:latin typeface="Cambria Math"/>
                      </a:rPr>
                      <m:t> </m:t>
                    </m:r>
                  </m:oMath>
                </a14:m>
                <a:r>
                  <a:rPr lang="en-US" altLang="zh-TW" dirty="0" smtClean="0"/>
                  <a:t>with </a:t>
                </a:r>
                <a:r>
                  <a:rPr lang="en-US" altLang="zh-TW" dirty="0"/>
                  <a:t>a </a:t>
                </a:r>
                <a:r>
                  <a:rPr lang="en-US" altLang="zh-TW" dirty="0" smtClean="0"/>
                  <a:t>function </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a:rPr>
                          <m:t>𝜈</m:t>
                        </m:r>
                      </m:e>
                      <m:sub>
                        <m:r>
                          <a:rPr lang="en-US" altLang="zh-TW" b="0" i="1" smtClean="0">
                            <a:latin typeface="Cambria Math"/>
                          </a:rPr>
                          <m:t>𝑡</m:t>
                        </m:r>
                      </m:sub>
                    </m:sSub>
                  </m:oMath>
                </a14:m>
                <a:r>
                  <a:rPr lang="en-US" altLang="zh-TW" dirty="0"/>
                  <a:t> , that models the variance of </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a:rPr>
                          <m:t>𝑠</m:t>
                        </m:r>
                      </m:e>
                      <m:sub>
                        <m:r>
                          <a:rPr lang="en-US" altLang="zh-TW" b="0" i="1" smtClean="0">
                            <a:latin typeface="Cambria Math"/>
                          </a:rPr>
                          <m:t>𝑡</m:t>
                        </m:r>
                      </m:sub>
                    </m:sSub>
                  </m:oMath>
                </a14:m>
                <a:endParaRPr lang="en-US" altLang="zh-TW" dirty="0" smtClean="0"/>
              </a:p>
              <a:p>
                <a14:m>
                  <m:oMath xmlns:m="http://schemas.openxmlformats.org/officeDocument/2006/math">
                    <m:r>
                      <a:rPr lang="en-US" altLang="zh-TW" b="0" i="1" smtClean="0">
                        <a:solidFill>
                          <a:srgbClr val="FF0000"/>
                        </a:solidFill>
                        <a:latin typeface="Cambria Math"/>
                      </a:rPr>
                      <m:t>𝑑</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a:rPr>
                          <m:t>𝑆</m:t>
                        </m:r>
                      </m:e>
                      <m:sub>
                        <m:r>
                          <a:rPr lang="en-US" altLang="zh-TW" b="0" i="1" smtClean="0">
                            <a:solidFill>
                              <a:srgbClr val="FF0000"/>
                            </a:solidFill>
                            <a:latin typeface="Cambria Math"/>
                          </a:rPr>
                          <m:t>𝑡</m:t>
                        </m:r>
                      </m:sub>
                    </m:sSub>
                    <m:r>
                      <a:rPr lang="en-US" altLang="zh-TW" b="0" i="1" smtClean="0">
                        <a:solidFill>
                          <a:srgbClr val="FF0000"/>
                        </a:solidFill>
                        <a:latin typeface="Cambria Math"/>
                      </a:rPr>
                      <m:t>=</m:t>
                    </m:r>
                    <m:r>
                      <a:rPr lang="en-US" altLang="zh-TW" b="0" i="1" smtClean="0">
                        <a:solidFill>
                          <a:srgbClr val="FF0000"/>
                        </a:solidFill>
                        <a:latin typeface="Cambria Math"/>
                      </a:rPr>
                      <m:t>𝑢</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a:rPr>
                          <m:t>𝑆</m:t>
                        </m:r>
                      </m:e>
                      <m:sub>
                        <m:r>
                          <a:rPr lang="en-US" altLang="zh-TW" b="0" i="1" smtClean="0">
                            <a:solidFill>
                              <a:srgbClr val="FF0000"/>
                            </a:solidFill>
                            <a:latin typeface="Cambria Math"/>
                          </a:rPr>
                          <m:t>𝑡</m:t>
                        </m:r>
                      </m:sub>
                    </m:sSub>
                    <m:r>
                      <a:rPr lang="en-US" altLang="zh-TW" b="0" i="1" smtClean="0">
                        <a:solidFill>
                          <a:srgbClr val="FF0000"/>
                        </a:solidFill>
                        <a:latin typeface="Cambria Math"/>
                      </a:rPr>
                      <m:t>𝑑𝑡</m:t>
                    </m:r>
                    <m:r>
                      <a:rPr lang="en-US" altLang="zh-TW" b="0" i="1" smtClean="0">
                        <a:solidFill>
                          <a:srgbClr val="FF0000"/>
                        </a:solidFill>
                        <a:latin typeface="Cambria Math"/>
                      </a:rPr>
                      <m:t>+</m:t>
                    </m:r>
                    <m:rad>
                      <m:radPr>
                        <m:degHide m:val="on"/>
                        <m:ctrlPr>
                          <a:rPr lang="en-US" altLang="zh-TW" b="0" i="1" smtClean="0">
                            <a:solidFill>
                              <a:srgbClr val="FF0000"/>
                            </a:solidFill>
                            <a:latin typeface="Cambria Math" panose="02040503050406030204" pitchFamily="18" charset="0"/>
                          </a:rPr>
                        </m:ctrlPr>
                      </m:radPr>
                      <m:deg/>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a:rPr>
                              <m:t>𝜈</m:t>
                            </m:r>
                          </m:e>
                          <m:sub>
                            <m:r>
                              <a:rPr lang="en-US" altLang="zh-TW" b="0" i="1" smtClean="0">
                                <a:solidFill>
                                  <a:srgbClr val="FF0000"/>
                                </a:solidFill>
                                <a:latin typeface="Cambria Math"/>
                              </a:rPr>
                              <m:t>𝑡</m:t>
                            </m:r>
                          </m:sub>
                        </m:sSub>
                      </m:e>
                    </m:rad>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a:rPr>
                          <m:t>𝑆</m:t>
                        </m:r>
                      </m:e>
                      <m:sub>
                        <m:r>
                          <a:rPr lang="en-US" altLang="zh-TW" b="0" i="1" smtClean="0">
                            <a:solidFill>
                              <a:srgbClr val="FF0000"/>
                            </a:solidFill>
                            <a:latin typeface="Cambria Math"/>
                          </a:rPr>
                          <m:t>𝑡</m:t>
                        </m:r>
                      </m:sub>
                    </m:sSub>
                    <m:r>
                      <a:rPr lang="en-US" altLang="zh-TW" b="0" i="1" smtClean="0">
                        <a:solidFill>
                          <a:srgbClr val="FF0000"/>
                        </a:solidFill>
                        <a:latin typeface="Cambria Math"/>
                      </a:rPr>
                      <m:t>𝑑</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a:rPr>
                          <m:t>𝑊</m:t>
                        </m:r>
                      </m:e>
                      <m:sub>
                        <m:r>
                          <a:rPr lang="en-US" altLang="zh-TW" b="0" i="1" smtClean="0">
                            <a:solidFill>
                              <a:srgbClr val="FF0000"/>
                            </a:solidFill>
                            <a:latin typeface="Cambria Math"/>
                          </a:rPr>
                          <m:t>𝑡</m:t>
                        </m:r>
                      </m:sub>
                    </m:sSub>
                  </m:oMath>
                </a14:m>
                <a:endParaRPr lang="en-US" altLang="zh-TW" dirty="0" smtClean="0">
                  <a:solidFill>
                    <a:srgbClr val="FF0000"/>
                  </a:solidFill>
                </a:endParaRPr>
              </a:p>
              <a:p>
                <a14:m>
                  <m:oMath xmlns:m="http://schemas.openxmlformats.org/officeDocument/2006/math">
                    <m:r>
                      <a:rPr lang="en-US" altLang="zh-TW" b="0" i="1" smtClean="0">
                        <a:solidFill>
                          <a:srgbClr val="FF0000"/>
                        </a:solidFill>
                        <a:latin typeface="Cambria Math"/>
                      </a:rPr>
                      <m:t>𝑑</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a:rPr>
                          <m:t>𝜈</m:t>
                        </m:r>
                      </m:e>
                      <m:sub>
                        <m:r>
                          <a:rPr lang="en-US" altLang="zh-TW" b="0" i="1" smtClean="0">
                            <a:solidFill>
                              <a:srgbClr val="FF0000"/>
                            </a:solidFill>
                            <a:latin typeface="Cambria Math"/>
                          </a:rPr>
                          <m:t>𝑡</m:t>
                        </m:r>
                      </m:sub>
                    </m:sSub>
                    <m:r>
                      <a:rPr lang="en-US" altLang="zh-TW" b="0" i="1" smtClean="0">
                        <a:solidFill>
                          <a:srgbClr val="FF0000"/>
                        </a:solidFill>
                        <a:latin typeface="Cambria Math"/>
                      </a:rPr>
                      <m:t>=</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a:rPr>
                          <m:t>𝛼</m:t>
                        </m:r>
                      </m:e>
                      <m:sub>
                        <m:r>
                          <a:rPr lang="en-US" altLang="zh-TW" b="0" i="1" smtClean="0">
                            <a:solidFill>
                              <a:srgbClr val="FF0000"/>
                            </a:solidFill>
                            <a:latin typeface="Cambria Math"/>
                          </a:rPr>
                          <m:t>𝑠</m:t>
                        </m:r>
                        <m:r>
                          <a:rPr lang="en-US" altLang="zh-TW" b="0" i="1" smtClean="0">
                            <a:solidFill>
                              <a:srgbClr val="FF0000"/>
                            </a:solidFill>
                            <a:latin typeface="Cambria Math"/>
                          </a:rPr>
                          <m:t>,</m:t>
                        </m:r>
                        <m:r>
                          <a:rPr lang="en-US" altLang="zh-TW" b="0" i="1" smtClean="0">
                            <a:solidFill>
                              <a:srgbClr val="FF0000"/>
                            </a:solidFill>
                            <a:latin typeface="Cambria Math"/>
                          </a:rPr>
                          <m:t>𝑡</m:t>
                        </m:r>
                      </m:sub>
                    </m:sSub>
                    <m:r>
                      <a:rPr lang="en-US" altLang="zh-TW" b="0" i="1" smtClean="0">
                        <a:solidFill>
                          <a:srgbClr val="FF0000"/>
                        </a:solidFill>
                        <a:latin typeface="Cambria Math"/>
                      </a:rPr>
                      <m:t>𝑑𝑡</m:t>
                    </m:r>
                    <m:r>
                      <a:rPr lang="en-US" altLang="zh-TW" b="0" i="1" smtClean="0">
                        <a:solidFill>
                          <a:srgbClr val="FF0000"/>
                        </a:solidFill>
                        <a:latin typeface="Cambria Math"/>
                      </a:rPr>
                      <m:t>+</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a:rPr>
                          <m:t>𝛽</m:t>
                        </m:r>
                      </m:e>
                      <m:sub>
                        <m:r>
                          <a:rPr lang="en-US" altLang="zh-TW" b="0" i="1" smtClean="0">
                            <a:solidFill>
                              <a:srgbClr val="FF0000"/>
                            </a:solidFill>
                            <a:latin typeface="Cambria Math"/>
                          </a:rPr>
                          <m:t>𝑠</m:t>
                        </m:r>
                        <m:r>
                          <a:rPr lang="en-US" altLang="zh-TW" b="0" i="1" smtClean="0">
                            <a:solidFill>
                              <a:srgbClr val="FF0000"/>
                            </a:solidFill>
                            <a:latin typeface="Cambria Math"/>
                          </a:rPr>
                          <m:t>,</m:t>
                        </m:r>
                        <m:r>
                          <a:rPr lang="en-US" altLang="zh-TW" b="0" i="1" smtClean="0">
                            <a:solidFill>
                              <a:srgbClr val="FF0000"/>
                            </a:solidFill>
                            <a:latin typeface="Cambria Math"/>
                          </a:rPr>
                          <m:t>𝑡</m:t>
                        </m:r>
                      </m:sub>
                    </m:sSub>
                    <m:r>
                      <a:rPr lang="en-US" altLang="zh-TW" b="0" i="1" smtClean="0">
                        <a:solidFill>
                          <a:srgbClr val="FF0000"/>
                        </a:solidFill>
                        <a:latin typeface="Cambria Math"/>
                      </a:rPr>
                      <m:t>𝑑</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a:rPr>
                          <m:t>𝐵</m:t>
                        </m:r>
                      </m:e>
                      <m:sub>
                        <m:r>
                          <a:rPr lang="en-US" altLang="zh-TW" b="0" i="1" smtClean="0">
                            <a:solidFill>
                              <a:srgbClr val="FF0000"/>
                            </a:solidFill>
                            <a:latin typeface="Cambria Math"/>
                          </a:rPr>
                          <m:t>𝑡</m:t>
                        </m:r>
                      </m:sub>
                    </m:sSub>
                  </m:oMath>
                </a14:m>
                <a:endParaRPr lang="en-US" altLang="zh-TW" dirty="0" smtClean="0">
                  <a:solidFill>
                    <a:srgbClr val="FF0000"/>
                  </a:solidFill>
                </a:endParaRPr>
              </a:p>
              <a:p>
                <a14:m>
                  <m:oMath xmlns:m="http://schemas.openxmlformats.org/officeDocument/2006/math">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a:rPr>
                          <m:t>𝛼</m:t>
                        </m:r>
                      </m:e>
                      <m:sub>
                        <m:r>
                          <a:rPr lang="en-US" altLang="zh-TW" b="0" i="1" smtClean="0">
                            <a:solidFill>
                              <a:schemeClr val="tx1"/>
                            </a:solidFill>
                            <a:latin typeface="Cambria Math"/>
                          </a:rPr>
                          <m:t>𝑠</m:t>
                        </m:r>
                        <m:r>
                          <a:rPr lang="en-US" altLang="zh-TW" b="0" i="1" smtClean="0">
                            <a:solidFill>
                              <a:schemeClr val="tx1"/>
                            </a:solidFill>
                            <a:latin typeface="Cambria Math"/>
                          </a:rPr>
                          <m:t>,</m:t>
                        </m:r>
                        <m:r>
                          <a:rPr lang="en-US" altLang="zh-TW" b="0" i="1" smtClean="0">
                            <a:solidFill>
                              <a:schemeClr val="tx1"/>
                            </a:solidFill>
                            <a:latin typeface="Cambria Math"/>
                          </a:rPr>
                          <m:t>𝑡</m:t>
                        </m:r>
                      </m:sub>
                    </m:sSub>
                  </m:oMath>
                </a14:m>
                <a:r>
                  <a:rPr lang="en-US" altLang="zh-TW" dirty="0" smtClean="0">
                    <a:solidFill>
                      <a:schemeClr val="tx1"/>
                    </a:solidFill>
                  </a:rPr>
                  <a:t> and </a:t>
                </a:r>
                <a14:m>
                  <m:oMath xmlns:m="http://schemas.openxmlformats.org/officeDocument/2006/math">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a:rPr>
                          <m:t>𝛽</m:t>
                        </m:r>
                      </m:e>
                      <m:sub>
                        <m:r>
                          <a:rPr lang="en-US" altLang="zh-TW" b="0" i="1" smtClean="0">
                            <a:solidFill>
                              <a:schemeClr val="tx1"/>
                            </a:solidFill>
                            <a:latin typeface="Cambria Math"/>
                          </a:rPr>
                          <m:t>𝑠</m:t>
                        </m:r>
                        <m:r>
                          <a:rPr lang="en-US" altLang="zh-TW" b="0" i="1" smtClean="0">
                            <a:solidFill>
                              <a:schemeClr val="tx1"/>
                            </a:solidFill>
                            <a:latin typeface="Cambria Math"/>
                          </a:rPr>
                          <m:t>,</m:t>
                        </m:r>
                        <m:r>
                          <a:rPr lang="en-US" altLang="zh-TW" b="0" i="1" smtClean="0">
                            <a:solidFill>
                              <a:schemeClr val="tx1"/>
                            </a:solidFill>
                            <a:latin typeface="Cambria Math"/>
                          </a:rPr>
                          <m:t>𝑡</m:t>
                        </m:r>
                      </m:sub>
                    </m:sSub>
                  </m:oMath>
                </a14:m>
                <a:r>
                  <a:rPr lang="en-US" altLang="zh-TW" dirty="0" smtClean="0">
                    <a:solidFill>
                      <a:schemeClr val="tx1"/>
                    </a:solidFill>
                  </a:rPr>
                  <a:t> are functions of </a:t>
                </a:r>
                <a14:m>
                  <m:oMath xmlns:m="http://schemas.openxmlformats.org/officeDocument/2006/math">
                    <m:sSub>
                      <m:sSubPr>
                        <m:ctrlPr>
                          <a:rPr lang="en-US" altLang="zh-TW" b="0" i="1" smtClean="0">
                            <a:solidFill>
                              <a:schemeClr val="tx1"/>
                            </a:solidFill>
                            <a:latin typeface="Cambria Math" panose="02040503050406030204" pitchFamily="18" charset="0"/>
                          </a:rPr>
                        </m:ctrlPr>
                      </m:sSubPr>
                      <m:e>
                        <m:r>
                          <a:rPr lang="en-US" altLang="zh-TW" b="0" i="1" smtClean="0">
                            <a:solidFill>
                              <a:schemeClr val="tx1"/>
                            </a:solidFill>
                            <a:latin typeface="Cambria Math"/>
                          </a:rPr>
                          <m:t>𝜈</m:t>
                        </m:r>
                      </m:e>
                      <m:sub>
                        <m:r>
                          <a:rPr lang="en-US" altLang="zh-TW" b="0" i="1" smtClean="0">
                            <a:solidFill>
                              <a:schemeClr val="tx1"/>
                            </a:solidFill>
                            <a:latin typeface="Cambria Math"/>
                          </a:rPr>
                          <m:t>𝑡</m:t>
                        </m:r>
                      </m:sub>
                    </m:sSub>
                  </m:oMath>
                </a14:m>
                <a:r>
                  <a:rPr lang="en-US" altLang="zh-TW" dirty="0" smtClean="0">
                    <a:solidFill>
                      <a:schemeClr val="tx1"/>
                    </a:solidFill>
                  </a:rPr>
                  <a:t>, </a:t>
                </a:r>
                <a14:m>
                  <m:oMath xmlns:m="http://schemas.openxmlformats.org/officeDocument/2006/math">
                    <m:sSub>
                      <m:sSubPr>
                        <m:ctrlPr>
                          <a:rPr lang="en-US" altLang="zh-TW" b="0" i="1" dirty="0" smtClean="0">
                            <a:solidFill>
                              <a:schemeClr val="tx1"/>
                            </a:solidFill>
                            <a:latin typeface="Cambria Math" panose="02040503050406030204" pitchFamily="18" charset="0"/>
                          </a:rPr>
                        </m:ctrlPr>
                      </m:sSubPr>
                      <m:e>
                        <m:r>
                          <a:rPr lang="en-US" altLang="zh-TW" b="0" i="1" dirty="0" smtClean="0">
                            <a:solidFill>
                              <a:schemeClr val="tx1"/>
                            </a:solidFill>
                            <a:latin typeface="Cambria Math"/>
                          </a:rPr>
                          <m:t>𝐵</m:t>
                        </m:r>
                      </m:e>
                      <m:sub>
                        <m:r>
                          <a:rPr lang="en-US" altLang="zh-TW" b="0" i="1" dirty="0" smtClean="0">
                            <a:solidFill>
                              <a:schemeClr val="tx1"/>
                            </a:solidFill>
                            <a:latin typeface="Cambria Math"/>
                          </a:rPr>
                          <m:t>𝑡</m:t>
                        </m:r>
                      </m:sub>
                    </m:sSub>
                  </m:oMath>
                </a14:m>
                <a:r>
                  <a:rPr lang="en-US" altLang="zh-TW" dirty="0" smtClean="0">
                    <a:solidFill>
                      <a:schemeClr val="tx1"/>
                    </a:solidFill>
                  </a:rPr>
                  <a:t> is Brownian motion</a:t>
                </a:r>
                <a:endParaRPr lang="en-US" altLang="zh-TW" dirty="0">
                  <a:solidFill>
                    <a:schemeClr val="tx1"/>
                  </a:solidFill>
                </a:endParaRPr>
              </a:p>
              <a:p>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3"/>
                <a:stretch>
                  <a:fillRect l="-1043" t="-196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60325430-07F2-45E8-A5C9-B73C13C9C571}" type="slidenum">
              <a:rPr lang="zh-TW" altLang="en-US" smtClean="0"/>
              <a:pPr/>
              <a:t>19</a:t>
            </a:fld>
            <a:endParaRPr lang="zh-TW" altLang="en-US"/>
          </a:p>
        </p:txBody>
      </p:sp>
      <p:pic>
        <p:nvPicPr>
          <p:cNvPr id="6" name="圖片 5"/>
          <p:cNvPicPr>
            <a:picLocks noChangeAspect="1"/>
          </p:cNvPicPr>
          <p:nvPr/>
        </p:nvPicPr>
        <p:blipFill>
          <a:blip r:embed="rId4" cstate="print">
            <a:extLst>
              <a:ext uri="{28A0092B-C50C-407E-A947-70E740481C1C}">
                <a14:useLocalDpi xmlns:a14="http://schemas.microsoft.com/office/drawing/2010/main" xmlns=""/>
              </a:ext>
            </a:extLst>
          </a:blip>
          <a:stretch>
            <a:fillRect/>
          </a:stretch>
        </p:blipFill>
        <p:spPr>
          <a:xfrm>
            <a:off x="10998633" y="125696"/>
            <a:ext cx="1016502" cy="1016502"/>
          </a:xfrm>
          <a:prstGeom prst="rect">
            <a:avLst/>
          </a:prstGeom>
        </p:spPr>
      </p:pic>
    </p:spTree>
    <p:extLst>
      <p:ext uri="{BB962C8B-B14F-4D97-AF65-F5344CB8AC3E}">
        <p14:creationId xmlns:p14="http://schemas.microsoft.com/office/powerpoint/2010/main" xmlns="" val="38756416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76836" y="352247"/>
            <a:ext cx="10515600" cy="1325563"/>
          </a:xfrm>
        </p:spPr>
        <p:txBody>
          <a:bodyPr/>
          <a:lstStyle/>
          <a:p>
            <a:r>
              <a:rPr lang="en-US" altLang="zh-TW" dirty="0" smtClean="0"/>
              <a:t>Extend KF(EKF):</a:t>
            </a:r>
            <a:endParaRPr lang="zh-TW" altLang="en-US" dirty="0"/>
          </a:p>
        </p:txBody>
      </p:sp>
      <mc:AlternateContent xmlns:mc="http://schemas.openxmlformats.org/markup-compatibility/2006">
        <mc:Choice xmlns:a14="http://schemas.microsoft.com/office/drawing/2010/main" xmlns="" Requires="a14">
          <p:sp>
            <p:nvSpPr>
              <p:cNvPr id="3" name="文字方塊 2"/>
              <p:cNvSpPr txBox="1"/>
              <p:nvPr/>
            </p:nvSpPr>
            <p:spPr>
              <a:xfrm>
                <a:off x="5807381" y="625250"/>
                <a:ext cx="5585055" cy="961417"/>
              </a:xfrm>
              <a:prstGeom prst="rect">
                <a:avLst/>
              </a:prstGeom>
              <a:noFill/>
            </p:spPr>
            <p:txBody>
              <a:bodyPr wrap="none" rtlCol="0">
                <a:spAutoFit/>
              </a:bodyPr>
              <a:lstStyle/>
              <a:p>
                <a14:m>
                  <m:oMath xmlns:m="http://schemas.openxmlformats.org/officeDocument/2006/math">
                    <m:sSub>
                      <m:sSubPr>
                        <m:ctrlPr>
                          <a:rPr lang="en-US" altLang="zh-TW" sz="2800" b="1" i="1" smtClean="0">
                            <a:latin typeface="Cambria Math" panose="02040503050406030204" pitchFamily="18" charset="0"/>
                          </a:rPr>
                        </m:ctrlPr>
                      </m:sSubPr>
                      <m:e>
                        <m:r>
                          <a:rPr lang="en-US" altLang="zh-TW" sz="2800" b="1" i="1">
                            <a:latin typeface="Cambria Math"/>
                          </a:rPr>
                          <m:t>𝒙</m:t>
                        </m:r>
                      </m:e>
                      <m:sub>
                        <m:r>
                          <a:rPr lang="en-US" altLang="zh-TW" sz="2800" b="1" i="1" smtClean="0">
                            <a:latin typeface="Cambria Math"/>
                          </a:rPr>
                          <m:t>𝒕</m:t>
                        </m:r>
                      </m:sub>
                    </m:sSub>
                    <m:r>
                      <a:rPr lang="en-US" altLang="zh-TW" sz="2800" i="1">
                        <a:latin typeface="Cambria Math"/>
                        <a:ea typeface="Cambria Math" panose="02040503050406030204" pitchFamily="18" charset="0"/>
                      </a:rPr>
                      <m:t>≈</m:t>
                    </m:r>
                    <m:sSub>
                      <m:sSubPr>
                        <m:ctrlPr>
                          <a:rPr lang="en-US" altLang="zh-TW" sz="2800" b="1" i="1" smtClean="0">
                            <a:latin typeface="Cambria Math" panose="02040503050406030204" pitchFamily="18" charset="0"/>
                            <a:ea typeface="Cambria Math" panose="02040503050406030204" pitchFamily="18" charset="0"/>
                          </a:rPr>
                        </m:ctrlPr>
                      </m:sSubPr>
                      <m:e>
                        <m:acc>
                          <m:accPr>
                            <m:chr m:val="̃"/>
                            <m:ctrlPr>
                              <a:rPr lang="en-US" altLang="zh-TW" sz="2800" b="1" i="1" smtClean="0">
                                <a:latin typeface="Cambria Math" panose="02040503050406030204" pitchFamily="18" charset="0"/>
                                <a:ea typeface="Cambria Math" panose="02040503050406030204" pitchFamily="18" charset="0"/>
                              </a:rPr>
                            </m:ctrlPr>
                          </m:accPr>
                          <m:e>
                            <m:r>
                              <a:rPr lang="en-US" altLang="zh-TW" sz="2800" b="1" i="1" smtClean="0">
                                <a:latin typeface="Cambria Math" panose="02040503050406030204" pitchFamily="18" charset="0"/>
                                <a:ea typeface="Cambria Math" panose="02040503050406030204" pitchFamily="18" charset="0"/>
                              </a:rPr>
                              <m:t>𝒙</m:t>
                            </m:r>
                          </m:e>
                        </m:acc>
                      </m:e>
                      <m:sub>
                        <m:r>
                          <a:rPr lang="en-US" altLang="zh-TW" sz="2800" b="1" i="1" smtClean="0">
                            <a:latin typeface="Cambria Math"/>
                            <a:ea typeface="Cambria Math" panose="02040503050406030204" pitchFamily="18" charset="0"/>
                          </a:rPr>
                          <m:t>𝒕</m:t>
                        </m:r>
                      </m:sub>
                    </m:sSub>
                    <m:r>
                      <a:rPr lang="en-US" altLang="zh-TW" sz="2800" b="0" i="1" smtClean="0">
                        <a:latin typeface="Cambria Math" panose="02040503050406030204" pitchFamily="18" charset="0"/>
                        <a:ea typeface="Cambria Math" panose="02040503050406030204" pitchFamily="18" charset="0"/>
                      </a:rPr>
                      <m:t>+</m:t>
                    </m:r>
                    <m:sSub>
                      <m:sSubPr>
                        <m:ctrlPr>
                          <a:rPr lang="en-US" altLang="zh-TW" sz="2800" b="1" i="1" smtClean="0">
                            <a:latin typeface="Cambria Math" panose="02040503050406030204" pitchFamily="18" charset="0"/>
                          </a:rPr>
                        </m:ctrlPr>
                      </m:sSubPr>
                      <m:e>
                        <m:r>
                          <a:rPr lang="en-US" altLang="zh-TW" sz="2800" b="1" i="1" smtClean="0">
                            <a:latin typeface="Cambria Math"/>
                          </a:rPr>
                          <m:t>𝑨</m:t>
                        </m:r>
                      </m:e>
                      <m:sub>
                        <m:r>
                          <a:rPr lang="en-US" altLang="zh-TW" sz="2800" b="1" i="1" smtClean="0">
                            <a:latin typeface="Cambria Math"/>
                          </a:rPr>
                          <m:t>𝒕</m:t>
                        </m:r>
                      </m:sub>
                    </m:sSub>
                    <m:d>
                      <m:dPr>
                        <m:ctrlPr>
                          <a:rPr lang="en-US" altLang="zh-TW" sz="2800" b="1" i="1" smtClean="0">
                            <a:latin typeface="Cambria Math" panose="02040503050406030204" pitchFamily="18" charset="0"/>
                          </a:rPr>
                        </m:ctrlPr>
                      </m:dPr>
                      <m:e>
                        <m:sSub>
                          <m:sSubPr>
                            <m:ctrlPr>
                              <a:rPr lang="en-US" altLang="zh-TW" sz="2800" b="1" i="1">
                                <a:latin typeface="Cambria Math" panose="02040503050406030204" pitchFamily="18" charset="0"/>
                              </a:rPr>
                            </m:ctrlPr>
                          </m:sSubPr>
                          <m:e>
                            <m:r>
                              <a:rPr lang="en-US" altLang="zh-TW" sz="2800" b="1" i="1">
                                <a:latin typeface="Cambria Math"/>
                              </a:rPr>
                              <m:t>𝒙</m:t>
                            </m:r>
                          </m:e>
                          <m:sub>
                            <m:r>
                              <a:rPr lang="en-US" altLang="zh-TW" sz="2800" b="1" i="1" smtClean="0">
                                <a:latin typeface="Cambria Math"/>
                              </a:rPr>
                              <m:t>𝒕</m:t>
                            </m:r>
                            <m:r>
                              <a:rPr lang="en-US" altLang="zh-TW" sz="2800" b="1" i="1">
                                <a:latin typeface="Cambria Math"/>
                              </a:rPr>
                              <m:t>−</m:t>
                            </m:r>
                            <m:r>
                              <a:rPr lang="en-US" altLang="zh-TW" sz="2800" b="1" i="1">
                                <a:latin typeface="Cambria Math"/>
                              </a:rPr>
                              <m:t>𝟏</m:t>
                            </m:r>
                          </m:sub>
                        </m:sSub>
                        <m:r>
                          <a:rPr lang="en-US" altLang="zh-TW" sz="2800" b="1" i="1" smtClean="0">
                            <a:latin typeface="Cambria Math" panose="02040503050406030204" pitchFamily="18" charset="0"/>
                          </a:rPr>
                          <m:t>−</m:t>
                        </m:r>
                        <m:sSubSup>
                          <m:sSubSupPr>
                            <m:ctrlPr>
                              <a:rPr lang="en-US" altLang="zh-TW" sz="2800" b="1" i="1" smtClean="0">
                                <a:latin typeface="Cambria Math" panose="02040503050406030204" pitchFamily="18" charset="0"/>
                              </a:rPr>
                            </m:ctrlPr>
                          </m:sSubSupPr>
                          <m:e>
                            <m:r>
                              <a:rPr lang="en-US" altLang="zh-TW" sz="2800" b="1" i="1">
                                <a:latin typeface="Cambria Math"/>
                              </a:rPr>
                              <m:t>𝒙</m:t>
                            </m:r>
                          </m:e>
                          <m:sub>
                            <m:r>
                              <a:rPr lang="en-US" altLang="zh-TW" sz="2800" b="1" i="1" smtClean="0">
                                <a:latin typeface="Cambria Math"/>
                              </a:rPr>
                              <m:t>𝒕</m:t>
                            </m:r>
                            <m:r>
                              <a:rPr lang="en-US" altLang="zh-TW" sz="2800" b="1" i="1">
                                <a:latin typeface="Cambria Math"/>
                              </a:rPr>
                              <m:t>−</m:t>
                            </m:r>
                            <m:r>
                              <a:rPr lang="en-US" altLang="zh-TW" sz="2800" b="1" i="1">
                                <a:latin typeface="Cambria Math"/>
                              </a:rPr>
                              <m:t>𝟏</m:t>
                            </m:r>
                          </m:sub>
                          <m:sup>
                            <m:r>
                              <a:rPr lang="en-US" altLang="zh-TW" sz="2800" b="1" i="1" smtClean="0">
                                <a:latin typeface="Cambria Math" panose="02040503050406030204" pitchFamily="18" charset="0"/>
                              </a:rPr>
                              <m:t>+</m:t>
                            </m:r>
                          </m:sup>
                        </m:sSubSup>
                      </m:e>
                    </m:d>
                    <m:r>
                      <a:rPr lang="en-US" altLang="zh-TW" sz="2800" b="1" i="1" smtClean="0">
                        <a:latin typeface="Cambria Math"/>
                      </a:rPr>
                      <m:t>+</m:t>
                    </m:r>
                    <m:sSub>
                      <m:sSubPr>
                        <m:ctrlPr>
                          <a:rPr lang="en-US" altLang="zh-TW" sz="2800" b="1" i="1" smtClean="0">
                            <a:latin typeface="Cambria Math" panose="02040503050406030204" pitchFamily="18" charset="0"/>
                          </a:rPr>
                        </m:ctrlPr>
                      </m:sSubPr>
                      <m:e>
                        <m:r>
                          <a:rPr lang="en-US" altLang="zh-TW" sz="2800" b="1" i="1" smtClean="0">
                            <a:latin typeface="Cambria Math" panose="02040503050406030204" pitchFamily="18" charset="0"/>
                          </a:rPr>
                          <m:t>𝑾</m:t>
                        </m:r>
                      </m:e>
                      <m:sub>
                        <m:r>
                          <a:rPr lang="en-US" altLang="zh-TW" sz="2800" b="1" i="1" smtClean="0">
                            <a:latin typeface="Cambria Math"/>
                          </a:rPr>
                          <m:t>𝒕</m:t>
                        </m:r>
                      </m:sub>
                    </m:sSub>
                    <m:sSub>
                      <m:sSubPr>
                        <m:ctrlPr>
                          <a:rPr lang="en-US" altLang="zh-TW" sz="2800" b="1" i="1" smtClean="0">
                            <a:latin typeface="Cambria Math" panose="02040503050406030204" pitchFamily="18" charset="0"/>
                          </a:rPr>
                        </m:ctrlPr>
                      </m:sSubPr>
                      <m:e>
                        <m:r>
                          <a:rPr lang="en-US" altLang="zh-TW" sz="2800" b="1" i="1" smtClean="0">
                            <a:latin typeface="Cambria Math"/>
                          </a:rPr>
                          <m:t>𝒘</m:t>
                        </m:r>
                      </m:e>
                      <m:sub>
                        <m:r>
                          <a:rPr lang="en-US" altLang="zh-TW" sz="2800" b="1" i="1" smtClean="0">
                            <a:latin typeface="Cambria Math"/>
                          </a:rPr>
                          <m:t>𝒕</m:t>
                        </m:r>
                      </m:sub>
                    </m:sSub>
                  </m:oMath>
                </a14:m>
                <a:r>
                  <a:rPr lang="en-US" altLang="zh-TW" sz="2800" dirty="0" smtClean="0">
                    <a:solidFill>
                      <a:srgbClr val="00B0F0"/>
                    </a:solidFill>
                  </a:rPr>
                  <a:t/>
                </a:r>
              </a:p>
              <a:p>
                <a14:m>
                  <m:oMath xmlns:m="http://schemas.openxmlformats.org/officeDocument/2006/math">
                    <m:sSub>
                      <m:sSubPr>
                        <m:ctrlPr>
                          <a:rPr lang="en-US" altLang="zh-TW" sz="2800" b="1" i="1">
                            <a:latin typeface="Cambria Math" panose="02040503050406030204" pitchFamily="18" charset="0"/>
                          </a:rPr>
                        </m:ctrlPr>
                      </m:sSubPr>
                      <m:e>
                        <m:r>
                          <a:rPr lang="en-US" altLang="zh-TW" sz="2800" b="1" i="1" smtClean="0">
                            <a:latin typeface="Cambria Math" panose="02040503050406030204" pitchFamily="18" charset="0"/>
                          </a:rPr>
                          <m:t>𝒛</m:t>
                        </m:r>
                      </m:e>
                      <m:sub>
                        <m:r>
                          <a:rPr lang="en-US" altLang="zh-TW" sz="2800" b="1" i="1" smtClean="0">
                            <a:latin typeface="Cambria Math"/>
                          </a:rPr>
                          <m:t>𝒕</m:t>
                        </m:r>
                      </m:sub>
                    </m:sSub>
                    <m:r>
                      <a:rPr lang="en-US" altLang="zh-TW" sz="2800" i="1">
                        <a:latin typeface="Cambria Math"/>
                        <a:ea typeface="Cambria Math" panose="02040503050406030204" pitchFamily="18" charset="0"/>
                      </a:rPr>
                      <m:t>≈</m:t>
                    </m:r>
                    <m:sSub>
                      <m:sSubPr>
                        <m:ctrlPr>
                          <a:rPr lang="en-US" altLang="zh-TW" sz="2800" b="1" i="1">
                            <a:latin typeface="Cambria Math" panose="02040503050406030204" pitchFamily="18" charset="0"/>
                            <a:ea typeface="Cambria Math" panose="02040503050406030204" pitchFamily="18" charset="0"/>
                          </a:rPr>
                        </m:ctrlPr>
                      </m:sSubPr>
                      <m:e>
                        <m:acc>
                          <m:accPr>
                            <m:chr m:val="̃"/>
                            <m:ctrlPr>
                              <a:rPr lang="en-US" altLang="zh-TW" sz="2800" b="1" i="1">
                                <a:latin typeface="Cambria Math" panose="02040503050406030204" pitchFamily="18" charset="0"/>
                                <a:ea typeface="Cambria Math" panose="02040503050406030204" pitchFamily="18" charset="0"/>
                              </a:rPr>
                            </m:ctrlPr>
                          </m:accPr>
                          <m:e>
                            <m:r>
                              <a:rPr lang="en-US" altLang="zh-TW" sz="2800" b="1" i="1" smtClean="0">
                                <a:latin typeface="Cambria Math" panose="02040503050406030204" pitchFamily="18" charset="0"/>
                                <a:ea typeface="Cambria Math" panose="02040503050406030204" pitchFamily="18" charset="0"/>
                              </a:rPr>
                              <m:t>𝒛</m:t>
                            </m:r>
                          </m:e>
                        </m:acc>
                      </m:e>
                      <m:sub>
                        <m:r>
                          <a:rPr lang="en-US" altLang="zh-TW" sz="2800" b="1" i="1" smtClean="0">
                            <a:latin typeface="Cambria Math"/>
                            <a:ea typeface="Cambria Math" panose="02040503050406030204" pitchFamily="18" charset="0"/>
                          </a:rPr>
                          <m:t>𝒕</m:t>
                        </m:r>
                      </m:sub>
                    </m:sSub>
                    <m:r>
                      <a:rPr lang="en-US" altLang="zh-TW" sz="2800" b="1" i="1" smtClean="0">
                        <a:latin typeface="Cambria Math" panose="02040503050406030204" pitchFamily="18" charset="0"/>
                        <a:ea typeface="Cambria Math" panose="02040503050406030204" pitchFamily="18" charset="0"/>
                      </a:rPr>
                      <m:t>+</m:t>
                    </m:r>
                    <m:sSub>
                      <m:sSubPr>
                        <m:ctrlPr>
                          <a:rPr lang="en-US" altLang="zh-TW" sz="2800" b="1" i="1" smtClean="0">
                            <a:latin typeface="Cambria Math" panose="02040503050406030204" pitchFamily="18" charset="0"/>
                          </a:rPr>
                        </m:ctrlPr>
                      </m:sSubPr>
                      <m:e>
                        <m:r>
                          <a:rPr lang="en-US" altLang="zh-TW" sz="2800" b="1" i="1" smtClean="0">
                            <a:latin typeface="Cambria Math"/>
                          </a:rPr>
                          <m:t>𝑯</m:t>
                        </m:r>
                      </m:e>
                      <m:sub>
                        <m:r>
                          <a:rPr lang="en-US" altLang="zh-TW" sz="2800" b="1" i="1" smtClean="0">
                            <a:latin typeface="Cambria Math"/>
                          </a:rPr>
                          <m:t>𝒕</m:t>
                        </m:r>
                      </m:sub>
                    </m:sSub>
                    <m:d>
                      <m:dPr>
                        <m:ctrlPr>
                          <a:rPr lang="en-US" altLang="zh-TW" sz="2800" b="1" i="1" smtClean="0">
                            <a:latin typeface="Cambria Math" panose="02040503050406030204" pitchFamily="18" charset="0"/>
                          </a:rPr>
                        </m:ctrlPr>
                      </m:dPr>
                      <m:e>
                        <m:sSub>
                          <m:sSubPr>
                            <m:ctrlPr>
                              <a:rPr lang="en-US" altLang="zh-TW" sz="2800" b="1" i="1">
                                <a:latin typeface="Cambria Math" panose="02040503050406030204" pitchFamily="18" charset="0"/>
                              </a:rPr>
                            </m:ctrlPr>
                          </m:sSubPr>
                          <m:e>
                            <m:r>
                              <a:rPr lang="en-US" altLang="zh-TW" sz="2800" b="1" i="1">
                                <a:latin typeface="Cambria Math"/>
                              </a:rPr>
                              <m:t>𝒙</m:t>
                            </m:r>
                          </m:e>
                          <m:sub>
                            <m:r>
                              <a:rPr lang="en-US" altLang="zh-TW" sz="2800" b="1" i="1" smtClean="0">
                                <a:latin typeface="Cambria Math"/>
                              </a:rPr>
                              <m:t>𝒕</m:t>
                            </m:r>
                          </m:sub>
                        </m:sSub>
                        <m:r>
                          <a:rPr lang="en-US" altLang="zh-TW" sz="2800" b="1" i="1" smtClean="0">
                            <a:latin typeface="Cambria Math" panose="02040503050406030204" pitchFamily="18" charset="0"/>
                          </a:rPr>
                          <m:t>−</m:t>
                        </m:r>
                        <m:sSub>
                          <m:sSubPr>
                            <m:ctrlPr>
                              <a:rPr lang="en-US" altLang="zh-TW" sz="2800" b="1" i="1">
                                <a:latin typeface="Cambria Math" panose="02040503050406030204" pitchFamily="18" charset="0"/>
                                <a:ea typeface="Cambria Math" panose="02040503050406030204" pitchFamily="18" charset="0"/>
                              </a:rPr>
                            </m:ctrlPr>
                          </m:sSubPr>
                          <m:e>
                            <m:acc>
                              <m:accPr>
                                <m:chr m:val="̃"/>
                                <m:ctrlPr>
                                  <a:rPr lang="en-US" altLang="zh-TW" sz="2800" b="1" i="1">
                                    <a:latin typeface="Cambria Math" panose="02040503050406030204" pitchFamily="18" charset="0"/>
                                    <a:ea typeface="Cambria Math" panose="02040503050406030204" pitchFamily="18" charset="0"/>
                                  </a:rPr>
                                </m:ctrlPr>
                              </m:accPr>
                              <m:e>
                                <m:r>
                                  <a:rPr lang="en-US" altLang="zh-TW" sz="2800" b="1" i="1">
                                    <a:latin typeface="Cambria Math" panose="02040503050406030204" pitchFamily="18" charset="0"/>
                                    <a:ea typeface="Cambria Math" panose="02040503050406030204" pitchFamily="18" charset="0"/>
                                  </a:rPr>
                                  <m:t>𝒙</m:t>
                                </m:r>
                              </m:e>
                            </m:acc>
                          </m:e>
                          <m:sub>
                            <m:r>
                              <a:rPr lang="en-US" altLang="zh-TW" sz="2800" b="1" i="1" smtClean="0">
                                <a:latin typeface="Cambria Math"/>
                                <a:ea typeface="Cambria Math" panose="02040503050406030204" pitchFamily="18" charset="0"/>
                              </a:rPr>
                              <m:t>𝒕</m:t>
                            </m:r>
                          </m:sub>
                        </m:sSub>
                      </m:e>
                    </m:d>
                    <m:r>
                      <a:rPr lang="en-US" altLang="zh-TW" sz="2800" b="0" i="1" smtClean="0">
                        <a:latin typeface="Cambria Math"/>
                      </a:rPr>
                      <m:t>+</m:t>
                    </m:r>
                    <m:sSub>
                      <m:sSubPr>
                        <m:ctrlPr>
                          <a:rPr lang="en-US" altLang="zh-TW" sz="2800" b="1" i="1" smtClean="0">
                            <a:latin typeface="Cambria Math" panose="02040503050406030204" pitchFamily="18" charset="0"/>
                          </a:rPr>
                        </m:ctrlPr>
                      </m:sSubPr>
                      <m:e>
                        <m:r>
                          <a:rPr lang="en-US" altLang="zh-TW" sz="2800" b="1" i="1" smtClean="0">
                            <a:latin typeface="Cambria Math" panose="02040503050406030204" pitchFamily="18" charset="0"/>
                          </a:rPr>
                          <m:t>𝑽</m:t>
                        </m:r>
                      </m:e>
                      <m:sub>
                        <m:r>
                          <a:rPr lang="en-US" altLang="zh-TW" sz="2800" b="1" i="1" smtClean="0">
                            <a:latin typeface="Cambria Math"/>
                          </a:rPr>
                          <m:t>𝒕</m:t>
                        </m:r>
                      </m:sub>
                    </m:sSub>
                    <m:sSub>
                      <m:sSubPr>
                        <m:ctrlPr>
                          <a:rPr lang="en-US" altLang="zh-TW" sz="2800" b="1" i="1" smtClean="0">
                            <a:latin typeface="Cambria Math" panose="02040503050406030204" pitchFamily="18" charset="0"/>
                          </a:rPr>
                        </m:ctrlPr>
                      </m:sSubPr>
                      <m:e>
                        <m:r>
                          <a:rPr lang="en-US" altLang="zh-TW" sz="2800" b="1" i="1" smtClean="0">
                            <a:latin typeface="Cambria Math"/>
                          </a:rPr>
                          <m:t>𝒗</m:t>
                        </m:r>
                      </m:e>
                      <m:sub>
                        <m:r>
                          <a:rPr lang="en-US" altLang="zh-TW" sz="2800" b="1" i="1" smtClean="0">
                            <a:latin typeface="Cambria Math"/>
                          </a:rPr>
                          <m:t>𝒕</m:t>
                        </m:r>
                      </m:sub>
                    </m:sSub>
                  </m:oMath>
                </a14:m>
                <a:r>
                  <a:rPr lang="zh-TW" altLang="en-US" sz="2800" b="1" dirty="0" smtClean="0"/>
                  <a:t/>
                </a:r>
                <a:endParaRPr lang="zh-TW" altLang="en-US" sz="2800" b="1" dirty="0">
                  <a:solidFill>
                    <a:srgbClr val="00B0F0"/>
                  </a:solidFill>
                </a:endParaRPr>
              </a:p>
            </p:txBody>
          </p:sp>
        </mc:Choice>
        <mc:Fallback>
          <p:sp>
            <p:nvSpPr>
              <p:cNvPr id="3" name="文字方塊 2"/>
              <p:cNvSpPr txBox="1">
                <a:spLocks noRot="1" noChangeAspect="1" noMove="1" noResize="1" noEditPoints="1" noAdjustHandles="1" noChangeArrowheads="1" noChangeShapeType="1" noTextEdit="1"/>
              </p:cNvSpPr>
              <p:nvPr/>
            </p:nvSpPr>
            <p:spPr>
              <a:xfrm>
                <a:off x="5807381" y="625250"/>
                <a:ext cx="5585055" cy="961417"/>
              </a:xfrm>
              <a:prstGeom prst="rect">
                <a:avLst/>
              </a:prstGeom>
              <a:blipFill rotWithShape="0">
                <a:blip r:embed="rId2"/>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6" name="文字方塊 5"/>
              <p:cNvSpPr txBox="1"/>
              <p:nvPr/>
            </p:nvSpPr>
            <p:spPr>
              <a:xfrm>
                <a:off x="311412" y="1813286"/>
                <a:ext cx="11646447" cy="5044714"/>
              </a:xfrm>
              <a:prstGeom prst="rect">
                <a:avLst/>
              </a:prstGeom>
              <a:noFill/>
            </p:spPr>
            <p:txBody>
              <a:bodyPr wrap="square" rtlCol="0">
                <a:spAutoFit/>
              </a:bodyPr>
              <a:lstStyle/>
              <a:p>
                <a:pPr marL="342900" indent="-342900">
                  <a:buFont typeface="Arial" panose="020B0604020202020204" pitchFamily="34" charset="0"/>
                  <a:buChar char="•"/>
                </a:pPr>
                <a14:m>
                  <m:oMath xmlns:m="http://schemas.openxmlformats.org/officeDocument/2006/math">
                    <m:sSub>
                      <m:sSubPr>
                        <m:ctrlPr>
                          <a:rPr lang="en-US" altLang="zh-TW" sz="2200" b="1" i="1" smtClean="0">
                            <a:latin typeface="Cambria Math" panose="02040503050406030204" pitchFamily="18" charset="0"/>
                          </a:rPr>
                        </m:ctrlPr>
                      </m:sSubPr>
                      <m:e>
                        <m:r>
                          <a:rPr lang="en-US" altLang="zh-TW" sz="2200" b="1" i="1" smtClean="0">
                            <a:latin typeface="Cambria Math" panose="02040503050406030204" pitchFamily="18" charset="0"/>
                          </a:rPr>
                          <m:t>𝒙</m:t>
                        </m:r>
                      </m:e>
                      <m:sub>
                        <m:r>
                          <a:rPr lang="en-US" altLang="zh-TW" sz="2200" b="1" i="1" smtClean="0">
                            <a:latin typeface="Cambria Math"/>
                          </a:rPr>
                          <m:t>𝒕</m:t>
                        </m:r>
                      </m:sub>
                    </m:sSub>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ℝ</m:t>
                        </m:r>
                      </m:e>
                      <m:sup>
                        <m:r>
                          <a:rPr lang="en-US" altLang="zh-TW" sz="2200" b="0" i="1" smtClean="0">
                            <a:latin typeface="Cambria Math" panose="02040503050406030204" pitchFamily="18" charset="0"/>
                          </a:rPr>
                          <m:t>𝑛</m:t>
                        </m:r>
                      </m:sup>
                    </m:sSup>
                  </m:oMath>
                </a14:m>
                <a:r>
                  <a:rPr lang="en-US" altLang="zh-TW" sz="2200" dirty="0" smtClean="0"/>
                  <a:t>: </a:t>
                </a:r>
                <a:r>
                  <a:rPr lang="zh-TW" altLang="en-US" sz="2200" dirty="0" smtClean="0"/>
                  <a:t>系統在時間</a:t>
                </a:r>
                <a:r>
                  <a:rPr lang="en-US" altLang="zh-TW" sz="2200" dirty="0" smtClean="0"/>
                  <a:t>t</a:t>
                </a:r>
                <a:r>
                  <a:rPr lang="zh-TW" altLang="en-US" sz="2200" dirty="0" smtClean="0"/>
                  <a:t>時的真正狀態</a:t>
                </a:r>
                <a:endParaRPr lang="en-US" altLang="zh-TW" sz="2200" dirty="0" smtClean="0"/>
              </a:p>
              <a:p>
                <a:pPr marL="342900" indent="-342900">
                  <a:buFont typeface="Arial" panose="020B0604020202020204" pitchFamily="34" charset="0"/>
                  <a:buChar char="•"/>
                </a:pPr>
                <a14:m>
                  <m:oMath xmlns:m="http://schemas.openxmlformats.org/officeDocument/2006/math">
                    <m:sSub>
                      <m:sSubPr>
                        <m:ctrlPr>
                          <a:rPr lang="en-US" altLang="zh-TW" sz="2000" b="1" i="1" smtClean="0">
                            <a:latin typeface="Cambria Math" panose="02040503050406030204" pitchFamily="18" charset="0"/>
                          </a:rPr>
                        </m:ctrlPr>
                      </m:sSubPr>
                      <m:e>
                        <m:acc>
                          <m:accPr>
                            <m:chr m:val="̃"/>
                            <m:ctrlPr>
                              <a:rPr lang="en-US" altLang="zh-TW" sz="2000" b="0" i="1" smtClean="0">
                                <a:latin typeface="Cambria Math" panose="02040503050406030204" pitchFamily="18" charset="0"/>
                              </a:rPr>
                            </m:ctrlPr>
                          </m:accPr>
                          <m:e>
                            <m:r>
                              <a:rPr lang="en-US" altLang="zh-TW" sz="2000" b="1" i="1" smtClean="0">
                                <a:latin typeface="Cambria Math" panose="02040503050406030204" pitchFamily="18" charset="0"/>
                              </a:rPr>
                              <m:t>𝒙</m:t>
                            </m:r>
                          </m:e>
                        </m:acc>
                      </m:e>
                      <m:sub>
                        <m:r>
                          <a:rPr lang="en-US" altLang="zh-TW" sz="2000" b="1" i="1" smtClean="0">
                            <a:latin typeface="Cambria Math"/>
                          </a:rPr>
                          <m:t>𝒕</m:t>
                        </m:r>
                      </m:sub>
                    </m:sSub>
                    <m:r>
                      <a:rPr lang="en-US" altLang="zh-TW" sz="2000" b="1" i="1" smtClean="0">
                        <a:latin typeface="Cambria Math" panose="02040503050406030204" pitchFamily="18" charset="0"/>
                      </a:rPr>
                      <m:t>=</m:t>
                    </m:r>
                    <m:r>
                      <a:rPr lang="en-US" altLang="zh-TW" sz="2400" i="1">
                        <a:latin typeface="Cambria Math" panose="02040503050406030204" pitchFamily="18" charset="0"/>
                      </a:rPr>
                      <m:t>𝑓</m:t>
                    </m:r>
                    <m:d>
                      <m:dPr>
                        <m:ctrlPr>
                          <a:rPr lang="en-US" altLang="zh-TW" sz="2400" i="1">
                            <a:latin typeface="Cambria Math" panose="02040503050406030204" pitchFamily="18" charset="0"/>
                          </a:rPr>
                        </m:ctrlPr>
                      </m:dPr>
                      <m:e>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𝑥</m:t>
                            </m:r>
                          </m:e>
                          <m:sub>
                            <m:r>
                              <a:rPr lang="en-US" altLang="zh-TW" sz="2400" b="0" i="1" smtClean="0">
                                <a:latin typeface="Cambria Math"/>
                              </a:rPr>
                              <m:t>𝑡</m:t>
                            </m:r>
                            <m:r>
                              <a:rPr lang="en-US" altLang="zh-TW" sz="2400" i="1">
                                <a:latin typeface="Cambria Math" panose="02040503050406030204" pitchFamily="18" charset="0"/>
                              </a:rPr>
                              <m:t>−1</m:t>
                            </m:r>
                          </m:sub>
                          <m:sup>
                            <m:r>
                              <a:rPr lang="en-US" altLang="zh-TW" sz="2400" i="1">
                                <a:latin typeface="Cambria Math" panose="02040503050406030204" pitchFamily="18" charset="0"/>
                              </a:rPr>
                              <m:t>+</m:t>
                            </m:r>
                          </m:sup>
                        </m:sSubSup>
                        <m:r>
                          <a:rPr lang="en-US" altLang="zh-TW" sz="2400" i="1">
                            <a:latin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𝑢</m:t>
                            </m:r>
                          </m:e>
                          <m:sub>
                            <m:r>
                              <a:rPr lang="en-US" altLang="zh-TW" sz="2400" b="0" i="1" smtClean="0">
                                <a:latin typeface="Cambria Math"/>
                              </a:rPr>
                              <m:t>𝑡</m:t>
                            </m:r>
                          </m:sub>
                        </m:sSub>
                        <m:r>
                          <a:rPr lang="en-US" altLang="zh-TW" sz="2400" i="1">
                            <a:latin typeface="Cambria Math" panose="02040503050406030204" pitchFamily="18" charset="0"/>
                          </a:rPr>
                          <m:t>, 0</m:t>
                        </m:r>
                      </m:e>
                    </m:d>
                    <m:r>
                      <a:rPr lang="en-US" altLang="zh-TW" sz="2000" b="1" i="1" smtClean="0">
                        <a:latin typeface="Cambria Math" panose="02040503050406030204" pitchFamily="18" charset="0"/>
                      </a:rPr>
                      <m:t>∈</m:t>
                    </m:r>
                    <m:sSup>
                      <m:sSupPr>
                        <m:ctrlPr>
                          <a:rPr lang="en-US" altLang="zh-TW" sz="2000" b="1" i="1" smtClean="0">
                            <a:latin typeface="Cambria Math" panose="02040503050406030204" pitchFamily="18" charset="0"/>
                          </a:rPr>
                        </m:ctrlPr>
                      </m:sSupPr>
                      <m:e>
                        <m:r>
                          <a:rPr lang="en-US" altLang="zh-TW" sz="2000" b="1" i="1" smtClean="0">
                            <a:latin typeface="Cambria Math" panose="02040503050406030204" pitchFamily="18" charset="0"/>
                          </a:rPr>
                          <m:t>ℝ</m:t>
                        </m:r>
                      </m:e>
                      <m:sup>
                        <m:r>
                          <a:rPr lang="en-US" altLang="zh-TW" sz="2000" b="1" i="1" smtClean="0">
                            <a:latin typeface="Cambria Math" panose="02040503050406030204" pitchFamily="18" charset="0"/>
                          </a:rPr>
                          <m:t>𝒏</m:t>
                        </m:r>
                      </m:sup>
                    </m:sSup>
                  </m:oMath>
                </a14:m>
                <a:endParaRPr lang="en-US" altLang="zh-TW" sz="2200" dirty="0" smtClean="0"/>
              </a:p>
              <a:p>
                <a:pPr marL="342900" indent="-342900">
                  <a:buFont typeface="Arial" panose="020B0604020202020204" pitchFamily="34" charset="0"/>
                  <a:buChar char="•"/>
                </a:pPr>
                <a14:m>
                  <m:oMath xmlns:m="http://schemas.openxmlformats.org/officeDocument/2006/math">
                    <m:sSub>
                      <m:sSubPr>
                        <m:ctrlPr>
                          <a:rPr lang="en-US" altLang="zh-TW" sz="2200" b="1" i="1" smtClean="0">
                            <a:latin typeface="Cambria Math" panose="02040503050406030204" pitchFamily="18" charset="0"/>
                          </a:rPr>
                        </m:ctrlPr>
                      </m:sSubPr>
                      <m:e>
                        <m:r>
                          <a:rPr lang="en-US" altLang="zh-TW" sz="2200" b="1" i="1" smtClean="0">
                            <a:latin typeface="Cambria Math" panose="02040503050406030204" pitchFamily="18" charset="0"/>
                          </a:rPr>
                          <m:t>𝑨</m:t>
                        </m:r>
                      </m:e>
                      <m:sub>
                        <m:r>
                          <a:rPr lang="en-US" altLang="zh-TW" sz="2200" b="1" i="1" smtClean="0">
                            <a:latin typeface="Cambria Math"/>
                          </a:rPr>
                          <m:t>𝒕</m:t>
                        </m:r>
                      </m:sub>
                    </m:sSub>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ℝ</m:t>
                        </m:r>
                      </m:e>
                      <m:sup>
                        <m:r>
                          <a:rPr lang="en-US" altLang="zh-TW" sz="2200" b="0" i="1" smtClean="0">
                            <a:latin typeface="Cambria Math" panose="02040503050406030204" pitchFamily="18" charset="0"/>
                          </a:rPr>
                          <m:t>𝑛</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𝑛</m:t>
                        </m:r>
                      </m:sup>
                    </m:sSup>
                  </m:oMath>
                </a14:m>
                <a:r>
                  <a:rPr lang="en-US" altLang="zh-TW" sz="2200" dirty="0" smtClean="0"/>
                  <a:t>,</a:t>
                </a:r>
                <a:r>
                  <a:rPr lang="zh-TW" altLang="en-US" sz="2200" dirty="0" smtClean="0"/>
                  <a:t>時間</a:t>
                </a:r>
                <a:r>
                  <a:rPr lang="en-US" altLang="zh-TW" sz="2200" dirty="0" smtClean="0"/>
                  <a:t>t</a:t>
                </a:r>
                <a:r>
                  <a:rPr lang="zh-TW" altLang="en-US" sz="2200" dirty="0" smtClean="0"/>
                  <a:t>時的系統狀態</a:t>
                </a:r>
                <a:r>
                  <a:rPr lang="zh-TW" altLang="en-US" sz="2200" dirty="0"/>
                  <a:t>轉移</a:t>
                </a:r>
                <a:r>
                  <a:rPr lang="zh-TW" altLang="en-US" sz="2200" dirty="0" smtClean="0"/>
                  <a:t>矩陣，</a:t>
                </a:r>
                <a:r>
                  <a:rPr lang="en-US" altLang="zh-TW" sz="2200" dirty="0" err="1" smtClean="0">
                    <a:solidFill>
                      <a:srgbClr val="0070C0"/>
                    </a:solidFill>
                  </a:rPr>
                  <a:t>Jacobian</a:t>
                </a:r>
                <a:r>
                  <a:rPr lang="en-US" altLang="zh-TW" sz="2200" dirty="0" smtClean="0">
                    <a:solidFill>
                      <a:srgbClr val="0070C0"/>
                    </a:solidFill>
                  </a:rPr>
                  <a:t> matrix </a:t>
                </a:r>
                <a14:m>
                  <m:oMath xmlns:m="http://schemas.openxmlformats.org/officeDocument/2006/math">
                    <m:sSub>
                      <m:sSubPr>
                        <m:ctrlPr>
                          <a:rPr lang="en-US" altLang="zh-TW" sz="2200" b="0" i="1" smtClean="0">
                            <a:solidFill>
                              <a:srgbClr val="0070C0"/>
                            </a:solidFill>
                            <a:latin typeface="Cambria Math" panose="02040503050406030204" pitchFamily="18" charset="0"/>
                          </a:rPr>
                        </m:ctrlPr>
                      </m:sSubPr>
                      <m:e>
                        <m:r>
                          <a:rPr lang="en-US" altLang="zh-TW" sz="2200" b="0" i="1" smtClean="0">
                            <a:solidFill>
                              <a:srgbClr val="0070C0"/>
                            </a:solidFill>
                            <a:latin typeface="Cambria Math" panose="02040503050406030204" pitchFamily="18" charset="0"/>
                          </a:rPr>
                          <m:t>𝐴</m:t>
                        </m:r>
                      </m:e>
                      <m:sub>
                        <m:r>
                          <a:rPr lang="en-US" altLang="zh-TW" sz="2200" b="0" i="1" smtClean="0">
                            <a:solidFill>
                              <a:srgbClr val="0070C0"/>
                            </a:solidFill>
                            <a:latin typeface="Cambria Math"/>
                          </a:rPr>
                          <m:t>𝑡</m:t>
                        </m:r>
                      </m:sub>
                    </m:sSub>
                    <m:d>
                      <m:dPr>
                        <m:begChr m:val="["/>
                        <m:endChr m:val="]"/>
                        <m:ctrlPr>
                          <a:rPr lang="en-US" altLang="zh-TW" sz="2200" b="0" i="1" smtClean="0">
                            <a:solidFill>
                              <a:srgbClr val="0070C0"/>
                            </a:solidFill>
                            <a:latin typeface="Cambria Math" panose="02040503050406030204" pitchFamily="18" charset="0"/>
                          </a:rPr>
                        </m:ctrlPr>
                      </m:dPr>
                      <m:e>
                        <m:r>
                          <a:rPr lang="en-US" altLang="zh-TW" sz="2200" b="0" i="1" smtClean="0">
                            <a:solidFill>
                              <a:srgbClr val="0070C0"/>
                            </a:solidFill>
                            <a:latin typeface="Cambria Math" panose="02040503050406030204" pitchFamily="18" charset="0"/>
                          </a:rPr>
                          <m:t>𝑖</m:t>
                        </m:r>
                        <m:r>
                          <a:rPr lang="en-US" altLang="zh-TW" sz="2200" b="0" i="1" smtClean="0">
                            <a:solidFill>
                              <a:srgbClr val="0070C0"/>
                            </a:solidFill>
                            <a:latin typeface="Cambria Math" panose="02040503050406030204" pitchFamily="18" charset="0"/>
                          </a:rPr>
                          <m:t>,</m:t>
                        </m:r>
                        <m:r>
                          <a:rPr lang="en-US" altLang="zh-TW" sz="2200" b="0" i="1" smtClean="0">
                            <a:solidFill>
                              <a:srgbClr val="0070C0"/>
                            </a:solidFill>
                            <a:latin typeface="Cambria Math" panose="02040503050406030204" pitchFamily="18" charset="0"/>
                          </a:rPr>
                          <m:t>𝑗</m:t>
                        </m:r>
                      </m:e>
                    </m:d>
                    <m:r>
                      <a:rPr lang="en-US" altLang="zh-TW" sz="2200" b="0" i="1" smtClean="0">
                        <a:solidFill>
                          <a:srgbClr val="0070C0"/>
                        </a:solidFill>
                        <a:latin typeface="Cambria Math" panose="02040503050406030204" pitchFamily="18" charset="0"/>
                      </a:rPr>
                      <m:t>=</m:t>
                    </m:r>
                    <m:f>
                      <m:fPr>
                        <m:ctrlPr>
                          <a:rPr lang="en-US" altLang="zh-TW" sz="2200" b="0" i="1" smtClean="0">
                            <a:solidFill>
                              <a:srgbClr val="0070C0"/>
                            </a:solidFill>
                            <a:latin typeface="Cambria Math" panose="02040503050406030204" pitchFamily="18" charset="0"/>
                          </a:rPr>
                        </m:ctrlPr>
                      </m:fPr>
                      <m:num>
                        <m:r>
                          <a:rPr lang="en-US" altLang="zh-TW" sz="2200" b="0" i="1" smtClean="0">
                            <a:solidFill>
                              <a:srgbClr val="0070C0"/>
                            </a:solidFill>
                            <a:latin typeface="Cambria Math" panose="02040503050406030204" pitchFamily="18" charset="0"/>
                          </a:rPr>
                          <m:t>𝜕</m:t>
                        </m:r>
                        <m:r>
                          <a:rPr lang="en-US" altLang="zh-TW" sz="2200" b="0" i="1" smtClean="0">
                            <a:solidFill>
                              <a:srgbClr val="0070C0"/>
                            </a:solidFill>
                            <a:latin typeface="Cambria Math" panose="02040503050406030204" pitchFamily="18" charset="0"/>
                          </a:rPr>
                          <m:t>𝑓</m:t>
                        </m:r>
                        <m:d>
                          <m:dPr>
                            <m:begChr m:val="["/>
                            <m:endChr m:val="]"/>
                            <m:ctrlPr>
                              <a:rPr lang="en-US" altLang="zh-TW" sz="2200" b="0" i="1" smtClean="0">
                                <a:solidFill>
                                  <a:srgbClr val="0070C0"/>
                                </a:solidFill>
                                <a:latin typeface="Cambria Math" panose="02040503050406030204" pitchFamily="18" charset="0"/>
                              </a:rPr>
                            </m:ctrlPr>
                          </m:dPr>
                          <m:e>
                            <m:r>
                              <a:rPr lang="en-US" altLang="zh-TW" sz="2200" b="0" i="1" smtClean="0">
                                <a:solidFill>
                                  <a:srgbClr val="0070C0"/>
                                </a:solidFill>
                                <a:latin typeface="Cambria Math" panose="02040503050406030204" pitchFamily="18" charset="0"/>
                              </a:rPr>
                              <m:t>𝑖</m:t>
                            </m:r>
                          </m:e>
                        </m:d>
                      </m:num>
                      <m:den>
                        <m:r>
                          <a:rPr lang="en-US" altLang="zh-TW" sz="2200" b="0" i="1" smtClean="0">
                            <a:solidFill>
                              <a:srgbClr val="0070C0"/>
                            </a:solidFill>
                            <a:latin typeface="Cambria Math" panose="02040503050406030204" pitchFamily="18" charset="0"/>
                          </a:rPr>
                          <m:t>𝜕</m:t>
                        </m:r>
                        <m:r>
                          <a:rPr lang="en-US" altLang="zh-TW" sz="2200" b="0" i="1" smtClean="0">
                            <a:solidFill>
                              <a:srgbClr val="0070C0"/>
                            </a:solidFill>
                            <a:latin typeface="Cambria Math" panose="02040503050406030204" pitchFamily="18" charset="0"/>
                          </a:rPr>
                          <m:t>𝑥</m:t>
                        </m:r>
                        <m:d>
                          <m:dPr>
                            <m:begChr m:val="["/>
                            <m:endChr m:val="]"/>
                            <m:ctrlPr>
                              <a:rPr lang="en-US" altLang="zh-TW" sz="2200" b="0" i="1" smtClean="0">
                                <a:solidFill>
                                  <a:srgbClr val="0070C0"/>
                                </a:solidFill>
                                <a:latin typeface="Cambria Math" panose="02040503050406030204" pitchFamily="18" charset="0"/>
                              </a:rPr>
                            </m:ctrlPr>
                          </m:dPr>
                          <m:e>
                            <m:r>
                              <a:rPr lang="en-US" altLang="zh-TW" sz="2200" b="0" i="1" smtClean="0">
                                <a:solidFill>
                                  <a:srgbClr val="0070C0"/>
                                </a:solidFill>
                                <a:latin typeface="Cambria Math" panose="02040503050406030204" pitchFamily="18" charset="0"/>
                              </a:rPr>
                              <m:t>𝑗</m:t>
                            </m:r>
                          </m:e>
                        </m:d>
                      </m:den>
                    </m:f>
                    <m:d>
                      <m:dPr>
                        <m:ctrlPr>
                          <a:rPr lang="en-US" altLang="zh-TW" sz="2200" b="0" i="1" smtClean="0">
                            <a:solidFill>
                              <a:srgbClr val="0070C0"/>
                            </a:solidFill>
                            <a:latin typeface="Cambria Math" panose="02040503050406030204" pitchFamily="18" charset="0"/>
                          </a:rPr>
                        </m:ctrlPr>
                      </m:dPr>
                      <m:e>
                        <m:sSubSup>
                          <m:sSubSupPr>
                            <m:ctrlPr>
                              <a:rPr lang="en-US" altLang="zh-TW" sz="2200" b="0" i="1" smtClean="0">
                                <a:solidFill>
                                  <a:srgbClr val="0070C0"/>
                                </a:solidFill>
                                <a:latin typeface="Cambria Math" panose="02040503050406030204" pitchFamily="18" charset="0"/>
                              </a:rPr>
                            </m:ctrlPr>
                          </m:sSubSupPr>
                          <m:e>
                            <m:r>
                              <a:rPr lang="en-US" altLang="zh-TW" sz="2200" b="0" i="1" smtClean="0">
                                <a:solidFill>
                                  <a:srgbClr val="0070C0"/>
                                </a:solidFill>
                                <a:latin typeface="Cambria Math" panose="02040503050406030204" pitchFamily="18" charset="0"/>
                              </a:rPr>
                              <m:t>𝑥</m:t>
                            </m:r>
                          </m:e>
                          <m:sub>
                            <m:r>
                              <a:rPr lang="en-US" altLang="zh-TW" sz="2200" b="0" i="1" smtClean="0">
                                <a:solidFill>
                                  <a:srgbClr val="0070C0"/>
                                </a:solidFill>
                                <a:latin typeface="Cambria Math"/>
                              </a:rPr>
                              <m:t>𝑡</m:t>
                            </m:r>
                            <m:r>
                              <a:rPr lang="en-US" altLang="zh-TW" sz="2200" b="0" i="1" smtClean="0">
                                <a:solidFill>
                                  <a:srgbClr val="0070C0"/>
                                </a:solidFill>
                                <a:latin typeface="Cambria Math" panose="02040503050406030204" pitchFamily="18" charset="0"/>
                              </a:rPr>
                              <m:t>−1</m:t>
                            </m:r>
                          </m:sub>
                          <m:sup>
                            <m:r>
                              <a:rPr lang="en-US" altLang="zh-TW" sz="2200" b="0" i="1" smtClean="0">
                                <a:solidFill>
                                  <a:srgbClr val="0070C0"/>
                                </a:solidFill>
                                <a:latin typeface="Cambria Math" panose="02040503050406030204" pitchFamily="18" charset="0"/>
                              </a:rPr>
                              <m:t>+</m:t>
                            </m:r>
                          </m:sup>
                        </m:sSubSup>
                        <m:r>
                          <a:rPr lang="en-US" altLang="zh-TW" sz="2200" b="0" i="1" smtClean="0">
                            <a:solidFill>
                              <a:srgbClr val="0070C0"/>
                            </a:solidFill>
                            <a:latin typeface="Cambria Math" panose="02040503050406030204" pitchFamily="18" charset="0"/>
                          </a:rPr>
                          <m:t>,</m:t>
                        </m:r>
                        <m:sSub>
                          <m:sSubPr>
                            <m:ctrlPr>
                              <a:rPr lang="en-US" altLang="zh-TW" sz="2200" b="0" i="1" smtClean="0">
                                <a:solidFill>
                                  <a:srgbClr val="0070C0"/>
                                </a:solidFill>
                                <a:latin typeface="Cambria Math" panose="02040503050406030204" pitchFamily="18" charset="0"/>
                              </a:rPr>
                            </m:ctrlPr>
                          </m:sSubPr>
                          <m:e>
                            <m:r>
                              <a:rPr lang="en-US" altLang="zh-TW" sz="2200" b="0" i="1" smtClean="0">
                                <a:solidFill>
                                  <a:srgbClr val="0070C0"/>
                                </a:solidFill>
                                <a:latin typeface="Cambria Math" panose="02040503050406030204" pitchFamily="18" charset="0"/>
                              </a:rPr>
                              <m:t>𝑢</m:t>
                            </m:r>
                          </m:e>
                          <m:sub>
                            <m:r>
                              <a:rPr lang="en-US" altLang="zh-TW" sz="2200" b="0" i="1" smtClean="0">
                                <a:solidFill>
                                  <a:srgbClr val="0070C0"/>
                                </a:solidFill>
                                <a:latin typeface="Cambria Math"/>
                              </a:rPr>
                              <m:t>𝑡</m:t>
                            </m:r>
                          </m:sub>
                        </m:sSub>
                        <m:r>
                          <a:rPr lang="en-US" altLang="zh-TW" sz="2200" b="0" i="1" smtClean="0">
                            <a:solidFill>
                              <a:srgbClr val="0070C0"/>
                            </a:solidFill>
                            <a:latin typeface="Cambria Math" panose="02040503050406030204" pitchFamily="18" charset="0"/>
                          </a:rPr>
                          <m:t>,0</m:t>
                        </m:r>
                      </m:e>
                    </m:d>
                  </m:oMath>
                </a14:m>
                <a:endParaRPr lang="en-US" altLang="zh-TW" sz="2200" dirty="0" smtClean="0"/>
              </a:p>
              <a:p>
                <a:pPr marL="342900" indent="-342900">
                  <a:buFont typeface="Arial" panose="020B0604020202020204" pitchFamily="34" charset="0"/>
                  <a:buChar char="•"/>
                </a:pPr>
                <a14:m>
                  <m:oMath xmlns:m="http://schemas.openxmlformats.org/officeDocument/2006/math">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𝑊</m:t>
                        </m:r>
                      </m:e>
                      <m:sub>
                        <m:r>
                          <a:rPr lang="en-US" altLang="zh-TW" sz="2200" b="0" i="1" smtClean="0">
                            <a:latin typeface="Cambria Math"/>
                          </a:rPr>
                          <m:t>𝑡</m:t>
                        </m:r>
                      </m:sub>
                    </m:sSub>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ℝ</m:t>
                        </m:r>
                      </m:e>
                      <m:sup>
                        <m:r>
                          <a:rPr lang="en-US" altLang="zh-TW" sz="2200" b="0" i="1" smtClean="0">
                            <a:latin typeface="Cambria Math" panose="02040503050406030204" pitchFamily="18" charset="0"/>
                          </a:rPr>
                          <m:t>𝑛</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𝑛</m:t>
                        </m:r>
                      </m:sup>
                    </m:sSup>
                  </m:oMath>
                </a14:m>
                <a:r>
                  <a:rPr lang="en-US" altLang="zh-TW" sz="2200" dirty="0" smtClean="0">
                    <a:solidFill>
                      <a:srgbClr val="0070C0"/>
                    </a:solidFill>
                  </a:rPr>
                  <a:t>,</a:t>
                </a:r>
                <a:r>
                  <a:rPr lang="zh-TW" altLang="en-US" sz="2200" dirty="0" smtClean="0"/>
                  <a:t>時間</a:t>
                </a:r>
                <a:r>
                  <a:rPr lang="en-US" altLang="zh-TW" sz="2200" dirty="0" smtClean="0"/>
                  <a:t>t</a:t>
                </a:r>
                <a:r>
                  <a:rPr lang="zh-TW" altLang="en-US" sz="2200" dirty="0" smtClean="0"/>
                  <a:t>時</a:t>
                </a:r>
                <a:r>
                  <a:rPr lang="zh-TW" altLang="en-US" sz="2200" dirty="0"/>
                  <a:t>的</a:t>
                </a:r>
                <a:r>
                  <a:rPr lang="zh-TW" altLang="en-US" sz="2200" dirty="0" smtClean="0"/>
                  <a:t>系統誤差轉移矩陣</a:t>
                </a:r>
                <a:r>
                  <a:rPr lang="en-US" altLang="zh-TW" sz="2200" dirty="0" smtClean="0"/>
                  <a:t>, </a:t>
                </a:r>
                <a:r>
                  <a:rPr lang="en-US" altLang="zh-TW" sz="2200" dirty="0" err="1" smtClean="0">
                    <a:solidFill>
                      <a:srgbClr val="0070C0"/>
                    </a:solidFill>
                  </a:rPr>
                  <a:t>Jacobian</a:t>
                </a:r>
                <a:r>
                  <a:rPr lang="en-US" altLang="zh-TW" sz="2200" dirty="0" smtClean="0">
                    <a:solidFill>
                      <a:srgbClr val="0070C0"/>
                    </a:solidFill>
                  </a:rPr>
                  <a:t> matrix </a:t>
                </a:r>
                <a:r>
                  <a:rPr lang="en-US" altLang="zh-TW" sz="2200" dirty="0" smtClean="0"/>
                  <a:t>, </a:t>
                </a:r>
                <a14:m>
                  <m:oMath xmlns:m="http://schemas.openxmlformats.org/officeDocument/2006/math">
                    <m:sSub>
                      <m:sSubPr>
                        <m:ctrlPr>
                          <a:rPr lang="en-US" altLang="zh-TW" sz="2200" i="1">
                            <a:solidFill>
                              <a:srgbClr val="0070C0"/>
                            </a:solidFill>
                            <a:latin typeface="Cambria Math" panose="02040503050406030204" pitchFamily="18" charset="0"/>
                          </a:rPr>
                        </m:ctrlPr>
                      </m:sSubPr>
                      <m:e>
                        <m:r>
                          <a:rPr lang="en-US" altLang="zh-TW" sz="2200" b="0" i="1" smtClean="0">
                            <a:solidFill>
                              <a:srgbClr val="0070C0"/>
                            </a:solidFill>
                            <a:latin typeface="Cambria Math" panose="02040503050406030204" pitchFamily="18" charset="0"/>
                          </a:rPr>
                          <m:t>𝑊</m:t>
                        </m:r>
                      </m:e>
                      <m:sub>
                        <m:r>
                          <a:rPr lang="en-US" altLang="zh-TW" sz="2200" b="0" i="1" smtClean="0">
                            <a:solidFill>
                              <a:srgbClr val="0070C0"/>
                            </a:solidFill>
                            <a:latin typeface="Cambria Math"/>
                          </a:rPr>
                          <m:t>𝑡</m:t>
                        </m:r>
                      </m:sub>
                    </m:sSub>
                    <m:d>
                      <m:dPr>
                        <m:begChr m:val="["/>
                        <m:endChr m:val="]"/>
                        <m:ctrlPr>
                          <a:rPr lang="en-US" altLang="zh-TW" sz="2200" i="1">
                            <a:solidFill>
                              <a:srgbClr val="0070C0"/>
                            </a:solidFill>
                            <a:latin typeface="Cambria Math" panose="02040503050406030204" pitchFamily="18" charset="0"/>
                          </a:rPr>
                        </m:ctrlPr>
                      </m:dPr>
                      <m:e>
                        <m:r>
                          <a:rPr lang="en-US" altLang="zh-TW" sz="2200" i="1">
                            <a:solidFill>
                              <a:srgbClr val="0070C0"/>
                            </a:solidFill>
                            <a:latin typeface="Cambria Math" panose="02040503050406030204" pitchFamily="18" charset="0"/>
                          </a:rPr>
                          <m:t>𝑖</m:t>
                        </m:r>
                        <m:r>
                          <a:rPr lang="en-US" altLang="zh-TW" sz="2200" i="1">
                            <a:solidFill>
                              <a:srgbClr val="0070C0"/>
                            </a:solidFill>
                            <a:latin typeface="Cambria Math" panose="02040503050406030204" pitchFamily="18" charset="0"/>
                          </a:rPr>
                          <m:t>,</m:t>
                        </m:r>
                        <m:r>
                          <a:rPr lang="en-US" altLang="zh-TW" sz="2200" i="1">
                            <a:solidFill>
                              <a:srgbClr val="0070C0"/>
                            </a:solidFill>
                            <a:latin typeface="Cambria Math" panose="02040503050406030204" pitchFamily="18" charset="0"/>
                          </a:rPr>
                          <m:t>𝑗</m:t>
                        </m:r>
                      </m:e>
                    </m:d>
                    <m:r>
                      <a:rPr lang="en-US" altLang="zh-TW" sz="2200" i="1">
                        <a:solidFill>
                          <a:srgbClr val="0070C0"/>
                        </a:solidFill>
                        <a:latin typeface="Cambria Math" panose="02040503050406030204" pitchFamily="18" charset="0"/>
                      </a:rPr>
                      <m:t>=</m:t>
                    </m:r>
                    <m:f>
                      <m:fPr>
                        <m:ctrlPr>
                          <a:rPr lang="en-US" altLang="zh-TW" sz="2200" i="1">
                            <a:solidFill>
                              <a:srgbClr val="0070C0"/>
                            </a:solidFill>
                            <a:latin typeface="Cambria Math" panose="02040503050406030204" pitchFamily="18" charset="0"/>
                          </a:rPr>
                        </m:ctrlPr>
                      </m:fPr>
                      <m:num>
                        <m:r>
                          <a:rPr lang="en-US" altLang="zh-TW" sz="2200" i="1">
                            <a:solidFill>
                              <a:srgbClr val="0070C0"/>
                            </a:solidFill>
                            <a:latin typeface="Cambria Math" panose="02040503050406030204" pitchFamily="18" charset="0"/>
                          </a:rPr>
                          <m:t>𝜕</m:t>
                        </m:r>
                        <m:r>
                          <a:rPr lang="en-US" altLang="zh-TW" sz="2200" i="1">
                            <a:solidFill>
                              <a:srgbClr val="0070C0"/>
                            </a:solidFill>
                            <a:latin typeface="Cambria Math" panose="02040503050406030204" pitchFamily="18" charset="0"/>
                          </a:rPr>
                          <m:t>𝑓</m:t>
                        </m:r>
                        <m:d>
                          <m:dPr>
                            <m:begChr m:val="["/>
                            <m:endChr m:val="]"/>
                            <m:ctrlPr>
                              <a:rPr lang="en-US" altLang="zh-TW" sz="2200" i="1">
                                <a:solidFill>
                                  <a:srgbClr val="0070C0"/>
                                </a:solidFill>
                                <a:latin typeface="Cambria Math" panose="02040503050406030204" pitchFamily="18" charset="0"/>
                              </a:rPr>
                            </m:ctrlPr>
                          </m:dPr>
                          <m:e>
                            <m:r>
                              <a:rPr lang="en-US" altLang="zh-TW" sz="2200" i="1">
                                <a:solidFill>
                                  <a:srgbClr val="0070C0"/>
                                </a:solidFill>
                                <a:latin typeface="Cambria Math" panose="02040503050406030204" pitchFamily="18" charset="0"/>
                              </a:rPr>
                              <m:t>𝑖</m:t>
                            </m:r>
                          </m:e>
                        </m:d>
                      </m:num>
                      <m:den>
                        <m:r>
                          <a:rPr lang="en-US" altLang="zh-TW" sz="2200" i="1">
                            <a:solidFill>
                              <a:srgbClr val="0070C0"/>
                            </a:solidFill>
                            <a:latin typeface="Cambria Math" panose="02040503050406030204" pitchFamily="18" charset="0"/>
                          </a:rPr>
                          <m:t>𝜕</m:t>
                        </m:r>
                        <m:r>
                          <a:rPr lang="en-US" altLang="zh-TW" sz="2200" b="0" i="1" smtClean="0">
                            <a:solidFill>
                              <a:srgbClr val="0070C0"/>
                            </a:solidFill>
                            <a:latin typeface="Cambria Math" panose="02040503050406030204" pitchFamily="18" charset="0"/>
                          </a:rPr>
                          <m:t>𝑤</m:t>
                        </m:r>
                        <m:d>
                          <m:dPr>
                            <m:begChr m:val="["/>
                            <m:endChr m:val="]"/>
                            <m:ctrlPr>
                              <a:rPr lang="en-US" altLang="zh-TW" sz="2200" i="1">
                                <a:solidFill>
                                  <a:srgbClr val="0070C0"/>
                                </a:solidFill>
                                <a:latin typeface="Cambria Math" panose="02040503050406030204" pitchFamily="18" charset="0"/>
                              </a:rPr>
                            </m:ctrlPr>
                          </m:dPr>
                          <m:e>
                            <m:r>
                              <a:rPr lang="en-US" altLang="zh-TW" sz="2200" i="1">
                                <a:solidFill>
                                  <a:srgbClr val="0070C0"/>
                                </a:solidFill>
                                <a:latin typeface="Cambria Math" panose="02040503050406030204" pitchFamily="18" charset="0"/>
                              </a:rPr>
                              <m:t>𝑗</m:t>
                            </m:r>
                          </m:e>
                        </m:d>
                      </m:den>
                    </m:f>
                    <m:d>
                      <m:dPr>
                        <m:ctrlPr>
                          <a:rPr lang="en-US" altLang="zh-TW" sz="2200" i="1">
                            <a:solidFill>
                              <a:srgbClr val="0070C0"/>
                            </a:solidFill>
                            <a:latin typeface="Cambria Math" panose="02040503050406030204" pitchFamily="18" charset="0"/>
                          </a:rPr>
                        </m:ctrlPr>
                      </m:dPr>
                      <m:e>
                        <m:sSubSup>
                          <m:sSubSupPr>
                            <m:ctrlPr>
                              <a:rPr lang="en-US" altLang="zh-TW" sz="2200" i="1">
                                <a:solidFill>
                                  <a:srgbClr val="0070C0"/>
                                </a:solidFill>
                                <a:latin typeface="Cambria Math" panose="02040503050406030204" pitchFamily="18" charset="0"/>
                              </a:rPr>
                            </m:ctrlPr>
                          </m:sSubSupPr>
                          <m:e>
                            <m:r>
                              <a:rPr lang="en-US" altLang="zh-TW" sz="2200" i="1">
                                <a:solidFill>
                                  <a:srgbClr val="0070C0"/>
                                </a:solidFill>
                                <a:latin typeface="Cambria Math" panose="02040503050406030204" pitchFamily="18" charset="0"/>
                              </a:rPr>
                              <m:t>𝑥</m:t>
                            </m:r>
                          </m:e>
                          <m:sub>
                            <m:r>
                              <a:rPr lang="en-US" altLang="zh-TW" sz="2200" b="0" i="1" smtClean="0">
                                <a:solidFill>
                                  <a:srgbClr val="0070C0"/>
                                </a:solidFill>
                                <a:latin typeface="Cambria Math"/>
                              </a:rPr>
                              <m:t>𝑡</m:t>
                            </m:r>
                            <m:r>
                              <a:rPr lang="en-US" altLang="zh-TW" sz="2200" i="1">
                                <a:solidFill>
                                  <a:srgbClr val="0070C0"/>
                                </a:solidFill>
                                <a:latin typeface="Cambria Math" panose="02040503050406030204" pitchFamily="18" charset="0"/>
                              </a:rPr>
                              <m:t>−1</m:t>
                            </m:r>
                          </m:sub>
                          <m:sup>
                            <m:r>
                              <a:rPr lang="en-US" altLang="zh-TW" sz="2200" i="1">
                                <a:solidFill>
                                  <a:srgbClr val="0070C0"/>
                                </a:solidFill>
                                <a:latin typeface="Cambria Math" panose="02040503050406030204" pitchFamily="18" charset="0"/>
                              </a:rPr>
                              <m:t>+</m:t>
                            </m:r>
                          </m:sup>
                        </m:sSubSup>
                        <m:r>
                          <a:rPr lang="en-US" altLang="zh-TW" sz="2200" i="1">
                            <a:solidFill>
                              <a:srgbClr val="0070C0"/>
                            </a:solidFill>
                            <a:latin typeface="Cambria Math" panose="02040503050406030204" pitchFamily="18" charset="0"/>
                          </a:rPr>
                          <m:t>,</m:t>
                        </m:r>
                        <m:sSub>
                          <m:sSubPr>
                            <m:ctrlPr>
                              <a:rPr lang="en-US" altLang="zh-TW" sz="2200" i="1">
                                <a:solidFill>
                                  <a:srgbClr val="0070C0"/>
                                </a:solidFill>
                                <a:latin typeface="Cambria Math" panose="02040503050406030204" pitchFamily="18" charset="0"/>
                              </a:rPr>
                            </m:ctrlPr>
                          </m:sSubPr>
                          <m:e>
                            <m:r>
                              <a:rPr lang="en-US" altLang="zh-TW" sz="2200" i="1">
                                <a:solidFill>
                                  <a:srgbClr val="0070C0"/>
                                </a:solidFill>
                                <a:latin typeface="Cambria Math" panose="02040503050406030204" pitchFamily="18" charset="0"/>
                              </a:rPr>
                              <m:t>𝑢</m:t>
                            </m:r>
                          </m:e>
                          <m:sub>
                            <m:r>
                              <a:rPr lang="en-US" altLang="zh-TW" sz="2200" b="0" i="1" smtClean="0">
                                <a:solidFill>
                                  <a:srgbClr val="0070C0"/>
                                </a:solidFill>
                                <a:latin typeface="Cambria Math"/>
                              </a:rPr>
                              <m:t>𝑡</m:t>
                            </m:r>
                          </m:sub>
                        </m:sSub>
                        <m:r>
                          <a:rPr lang="en-US" altLang="zh-TW" sz="2200" i="1">
                            <a:solidFill>
                              <a:srgbClr val="0070C0"/>
                            </a:solidFill>
                            <a:latin typeface="Cambria Math" panose="02040503050406030204" pitchFamily="18" charset="0"/>
                          </a:rPr>
                          <m:t>,0</m:t>
                        </m:r>
                      </m:e>
                    </m:d>
                  </m:oMath>
                </a14:m>
                <a:endParaRPr lang="en-US" altLang="zh-TW" sz="2200" dirty="0" smtClean="0"/>
              </a:p>
              <a:p>
                <a:pPr marL="342900" indent="-342900">
                  <a:buFont typeface="Arial" panose="020B0604020202020204" pitchFamily="34" charset="0"/>
                  <a:buChar char="•"/>
                </a:pPr>
                <a14:m>
                  <m:oMath xmlns:m="http://schemas.openxmlformats.org/officeDocument/2006/math">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𝑤</m:t>
                        </m:r>
                      </m:e>
                      <m:sub>
                        <m:r>
                          <a:rPr lang="en-US" altLang="zh-TW" sz="2200" b="0" i="1" smtClean="0">
                            <a:latin typeface="Cambria Math"/>
                          </a:rPr>
                          <m:t>𝑡</m:t>
                        </m:r>
                      </m:sub>
                    </m:sSub>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ℝ</m:t>
                        </m:r>
                      </m:e>
                      <m:sup>
                        <m:r>
                          <a:rPr lang="en-US" altLang="zh-TW" sz="2200" b="0" i="1" smtClean="0">
                            <a:latin typeface="Cambria Math" panose="02040503050406030204" pitchFamily="18" charset="0"/>
                          </a:rPr>
                          <m:t>𝑛</m:t>
                        </m:r>
                      </m:sup>
                    </m:sSup>
                  </m:oMath>
                </a14:m>
                <a:r>
                  <a:rPr lang="en-US" altLang="zh-TW" sz="2200" dirty="0" smtClean="0"/>
                  <a:t>: process noise~</a:t>
                </a:r>
                <a14:m>
                  <m:oMath xmlns:m="http://schemas.openxmlformats.org/officeDocument/2006/math">
                    <m:r>
                      <a:rPr lang="en-US" altLang="zh-TW" sz="2200" b="0" i="1" smtClean="0">
                        <a:latin typeface="Cambria Math"/>
                      </a:rPr>
                      <m:t>𝑁</m:t>
                    </m:r>
                    <m:r>
                      <a:rPr lang="en-US" altLang="zh-TW" sz="2200" b="0" i="1" smtClean="0">
                        <a:latin typeface="Cambria Math"/>
                      </a:rPr>
                      <m:t>(0, </m:t>
                    </m:r>
                    <m:sSub>
                      <m:sSubPr>
                        <m:ctrlPr>
                          <a:rPr lang="en-US" altLang="zh-TW" sz="2200" b="1" i="1" smtClean="0">
                            <a:latin typeface="Cambria Math" panose="02040503050406030204" pitchFamily="18" charset="0"/>
                          </a:rPr>
                        </m:ctrlPr>
                      </m:sSubPr>
                      <m:e>
                        <m:r>
                          <a:rPr lang="en-US" altLang="zh-TW" sz="2200" b="1" i="1" smtClean="0">
                            <a:latin typeface="Cambria Math"/>
                          </a:rPr>
                          <m:t>𝑸</m:t>
                        </m:r>
                      </m:e>
                      <m:sub>
                        <m:r>
                          <a:rPr lang="en-US" altLang="zh-TW" sz="2200" b="1" i="1" smtClean="0">
                            <a:latin typeface="Cambria Math"/>
                          </a:rPr>
                          <m:t>𝒕</m:t>
                        </m:r>
                      </m:sub>
                    </m:sSub>
                    <m:r>
                      <a:rPr lang="en-US" altLang="zh-TW" sz="2200" b="0" i="1" smtClean="0">
                        <a:latin typeface="Cambria Math"/>
                      </a:rPr>
                      <m:t>)</m:t>
                    </m:r>
                  </m:oMath>
                </a14:m>
                <a:r>
                  <a:rPr lang="zh-TW" altLang="en-US" sz="2200" dirty="0" smtClean="0"/>
                  <a:t/>
                </a:r>
                <a:r>
                  <a:rPr lang="en-US" altLang="zh-TW" sz="2200" dirty="0" smtClean="0"/>
                  <a:t>(white noise)</a:t>
                </a:r>
              </a:p>
              <a:p>
                <a:pPr marL="342900" indent="-342900">
                  <a:buFont typeface="Arial" panose="020B0604020202020204" pitchFamily="34" charset="0"/>
                  <a:buChar char="•"/>
                </a:pPr>
                <a:endParaRPr lang="en-US" altLang="zh-TW" sz="2200" dirty="0"/>
              </a:p>
              <a:p>
                <a:pPr marL="342900" indent="-342900">
                  <a:buFont typeface="Arial" panose="020B0604020202020204" pitchFamily="34" charset="0"/>
                  <a:buChar char="•"/>
                </a:pPr>
                <a14:m>
                  <m:oMath xmlns:m="http://schemas.openxmlformats.org/officeDocument/2006/math">
                    <m:sSub>
                      <m:sSubPr>
                        <m:ctrlPr>
                          <a:rPr lang="en-US" altLang="zh-TW" sz="2200" b="1" i="1" dirty="0" smtClean="0">
                            <a:latin typeface="Cambria Math" panose="02040503050406030204" pitchFamily="18" charset="0"/>
                          </a:rPr>
                        </m:ctrlPr>
                      </m:sSubPr>
                      <m:e>
                        <m:r>
                          <a:rPr lang="en-US" altLang="zh-TW" sz="2200" b="1" i="1" dirty="0" smtClean="0">
                            <a:latin typeface="Cambria Math" panose="02040503050406030204" pitchFamily="18" charset="0"/>
                          </a:rPr>
                          <m:t>𝒛</m:t>
                        </m:r>
                      </m:e>
                      <m:sub>
                        <m:r>
                          <a:rPr lang="en-US" altLang="zh-TW" sz="2200" b="1" i="1" dirty="0" smtClean="0">
                            <a:latin typeface="Cambria Math"/>
                          </a:rPr>
                          <m:t>𝒕</m:t>
                        </m:r>
                      </m:sub>
                    </m:sSub>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ℝ</m:t>
                        </m:r>
                      </m:e>
                      <m:sup>
                        <m:r>
                          <a:rPr lang="en-US" altLang="zh-TW" sz="2200" b="0" i="1" smtClean="0">
                            <a:latin typeface="Cambria Math" panose="02040503050406030204" pitchFamily="18" charset="0"/>
                          </a:rPr>
                          <m:t>𝑚</m:t>
                        </m:r>
                      </m:sup>
                    </m:sSup>
                  </m:oMath>
                </a14:m>
                <a:r>
                  <a:rPr lang="en-US" altLang="zh-TW" sz="2200" dirty="0" smtClean="0"/>
                  <a:t>: </a:t>
                </a:r>
                <a:r>
                  <a:rPr lang="zh-TW" altLang="en-US" sz="2200" dirty="0" smtClean="0"/>
                  <a:t>在時間</a:t>
                </a:r>
                <a:r>
                  <a:rPr lang="en-US" altLang="zh-TW" sz="2200" dirty="0" smtClean="0"/>
                  <a:t>t</a:t>
                </a:r>
                <a:r>
                  <a:rPr lang="zh-TW" altLang="en-US" sz="2200" dirty="0" smtClean="0"/>
                  <a:t>時的</a:t>
                </a:r>
                <a:r>
                  <a:rPr lang="zh-TW" altLang="en-US" sz="2200" b="1" dirty="0" smtClean="0">
                    <a:solidFill>
                      <a:srgbClr val="FF0000"/>
                    </a:solidFill>
                  </a:rPr>
                  <a:t>量測值</a:t>
                </a:r>
                <a:r>
                  <a:rPr lang="en-US" altLang="zh-TW" sz="2200" dirty="0" smtClean="0">
                    <a:solidFill>
                      <a:srgbClr val="FF0000"/>
                    </a:solidFill>
                  </a:rPr>
                  <a:t>(</a:t>
                </a:r>
                <a:r>
                  <a:rPr lang="zh-TW" altLang="en-US" sz="2200" dirty="0" smtClean="0">
                    <a:solidFill>
                      <a:srgbClr val="FF0000"/>
                    </a:solidFill>
                  </a:rPr>
                  <a:t>或觀測值</a:t>
                </a:r>
                <a:r>
                  <a:rPr lang="en-US" altLang="zh-TW" sz="2200" dirty="0" smtClean="0">
                    <a:solidFill>
                      <a:srgbClr val="FF0000"/>
                    </a:solidFill>
                  </a:rPr>
                  <a:t>)</a:t>
                </a:r>
                <a:endParaRPr lang="en-US" altLang="zh-TW" sz="2200" dirty="0" smtClean="0"/>
              </a:p>
              <a:p>
                <a:pPr marL="342900" indent="-342900">
                  <a:buFont typeface="Arial" panose="020B0604020202020204" pitchFamily="34" charset="0"/>
                  <a:buChar char="•"/>
                </a:pPr>
                <a14:m>
                  <m:oMath xmlns:m="http://schemas.openxmlformats.org/officeDocument/2006/math">
                    <m:sSub>
                      <m:sSubPr>
                        <m:ctrlPr>
                          <a:rPr lang="en-US" altLang="zh-TW" sz="2200" b="1" i="1" smtClean="0">
                            <a:latin typeface="Cambria Math" panose="02040503050406030204" pitchFamily="18" charset="0"/>
                          </a:rPr>
                        </m:ctrlPr>
                      </m:sSubPr>
                      <m:e>
                        <m:r>
                          <a:rPr lang="en-US" altLang="zh-TW" sz="2200" b="1" i="0" smtClean="0">
                            <a:latin typeface="Cambria Math" panose="02040503050406030204" pitchFamily="18" charset="0"/>
                          </a:rPr>
                          <m:t>𝐇</m:t>
                        </m:r>
                      </m:e>
                      <m:sub>
                        <m:r>
                          <a:rPr lang="en-US" altLang="zh-TW" sz="2200" b="1" i="0" smtClean="0">
                            <a:latin typeface="Cambria Math"/>
                          </a:rPr>
                          <m:t>𝐭</m:t>
                        </m:r>
                      </m:sub>
                    </m:sSub>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ℝ</m:t>
                        </m:r>
                      </m:e>
                      <m:sup>
                        <m:r>
                          <a:rPr lang="en-US" altLang="zh-TW" sz="2200" b="0" i="1" smtClean="0">
                            <a:latin typeface="Cambria Math" panose="02040503050406030204" pitchFamily="18" charset="0"/>
                          </a:rPr>
                          <m:t>𝑚</m:t>
                        </m:r>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𝑛</m:t>
                        </m:r>
                      </m:sup>
                    </m:sSup>
                  </m:oMath>
                </a14:m>
                <a:r>
                  <a:rPr lang="en-US" altLang="zh-TW" sz="2200" dirty="0" smtClean="0"/>
                  <a:t>:</a:t>
                </a:r>
                <a:r>
                  <a:rPr lang="zh-TW" altLang="en-US" sz="2200" dirty="0" smtClean="0"/>
                  <a:t>時間</a:t>
                </a:r>
                <a:r>
                  <a:rPr lang="en-US" altLang="zh-TW" sz="2200" dirty="0" smtClean="0"/>
                  <a:t>t</a:t>
                </a:r>
                <a:r>
                  <a:rPr lang="zh-TW" altLang="en-US" sz="2200" dirty="0" smtClean="0"/>
                  <a:t>時</a:t>
                </a:r>
                <a:r>
                  <a:rPr lang="zh-TW" altLang="en-US" sz="2200" dirty="0"/>
                  <a:t>的狀態</a:t>
                </a:r>
                <a:r>
                  <a:rPr lang="en-US" altLang="zh-TW" sz="2200" dirty="0"/>
                  <a:t>-</a:t>
                </a:r>
                <a:r>
                  <a:rPr lang="zh-TW" altLang="en-US" sz="2200" dirty="0"/>
                  <a:t>量測值轉移</a:t>
                </a:r>
                <a:r>
                  <a:rPr lang="zh-TW" altLang="en-US" sz="2200" dirty="0" smtClean="0"/>
                  <a:t>矩陣</a:t>
                </a:r>
                <a:r>
                  <a:rPr lang="en-US" altLang="zh-TW" sz="2200" dirty="0" smtClean="0"/>
                  <a:t>, </a:t>
                </a:r>
                <a:r>
                  <a:rPr lang="en-US" altLang="zh-TW" sz="2200" dirty="0" err="1" smtClean="0">
                    <a:solidFill>
                      <a:srgbClr val="0070C0"/>
                    </a:solidFill>
                  </a:rPr>
                  <a:t>Jacobian</a:t>
                </a:r>
                <a:r>
                  <a:rPr lang="en-US" altLang="zh-TW" sz="2200" dirty="0" smtClean="0">
                    <a:solidFill>
                      <a:srgbClr val="0070C0"/>
                    </a:solidFill>
                  </a:rPr>
                  <a:t/>
                </a:r>
                <a:r>
                  <a:rPr lang="en-US" altLang="zh-TW" sz="2200" dirty="0">
                    <a:solidFill>
                      <a:srgbClr val="0070C0"/>
                    </a:solidFill>
                  </a:rPr>
                  <a:t>matrix </a:t>
                </a:r>
                <a14:m>
                  <m:oMath xmlns:m="http://schemas.openxmlformats.org/officeDocument/2006/math">
                    <m:sSub>
                      <m:sSubPr>
                        <m:ctrlPr>
                          <a:rPr lang="en-US" altLang="zh-TW" sz="2200" i="1">
                            <a:solidFill>
                              <a:srgbClr val="0070C0"/>
                            </a:solidFill>
                            <a:latin typeface="Cambria Math" panose="02040503050406030204" pitchFamily="18" charset="0"/>
                          </a:rPr>
                        </m:ctrlPr>
                      </m:sSubPr>
                      <m:e>
                        <m:r>
                          <a:rPr lang="en-US" altLang="zh-TW" sz="2200" b="0" i="1" smtClean="0">
                            <a:solidFill>
                              <a:srgbClr val="0070C0"/>
                            </a:solidFill>
                            <a:latin typeface="Cambria Math" panose="02040503050406030204" pitchFamily="18" charset="0"/>
                          </a:rPr>
                          <m:t>𝐻</m:t>
                        </m:r>
                      </m:e>
                      <m:sub>
                        <m:r>
                          <a:rPr lang="en-US" altLang="zh-TW" sz="2200" b="0" i="1" smtClean="0">
                            <a:solidFill>
                              <a:srgbClr val="0070C0"/>
                            </a:solidFill>
                            <a:latin typeface="Cambria Math"/>
                          </a:rPr>
                          <m:t>𝑡</m:t>
                        </m:r>
                      </m:sub>
                    </m:sSub>
                    <m:d>
                      <m:dPr>
                        <m:begChr m:val="["/>
                        <m:endChr m:val="]"/>
                        <m:ctrlPr>
                          <a:rPr lang="en-US" altLang="zh-TW" sz="2200" i="1">
                            <a:solidFill>
                              <a:srgbClr val="0070C0"/>
                            </a:solidFill>
                            <a:latin typeface="Cambria Math" panose="02040503050406030204" pitchFamily="18" charset="0"/>
                          </a:rPr>
                        </m:ctrlPr>
                      </m:dPr>
                      <m:e>
                        <m:r>
                          <a:rPr lang="en-US" altLang="zh-TW" sz="2200" i="1">
                            <a:solidFill>
                              <a:srgbClr val="0070C0"/>
                            </a:solidFill>
                            <a:latin typeface="Cambria Math" panose="02040503050406030204" pitchFamily="18" charset="0"/>
                          </a:rPr>
                          <m:t>𝑖</m:t>
                        </m:r>
                        <m:r>
                          <a:rPr lang="en-US" altLang="zh-TW" sz="2200" i="1">
                            <a:solidFill>
                              <a:srgbClr val="0070C0"/>
                            </a:solidFill>
                            <a:latin typeface="Cambria Math" panose="02040503050406030204" pitchFamily="18" charset="0"/>
                          </a:rPr>
                          <m:t>,</m:t>
                        </m:r>
                        <m:r>
                          <a:rPr lang="en-US" altLang="zh-TW" sz="2200" i="1">
                            <a:solidFill>
                              <a:srgbClr val="0070C0"/>
                            </a:solidFill>
                            <a:latin typeface="Cambria Math" panose="02040503050406030204" pitchFamily="18" charset="0"/>
                          </a:rPr>
                          <m:t>𝑗</m:t>
                        </m:r>
                      </m:e>
                    </m:d>
                    <m:r>
                      <a:rPr lang="en-US" altLang="zh-TW" sz="2200" i="1">
                        <a:solidFill>
                          <a:srgbClr val="0070C0"/>
                        </a:solidFill>
                        <a:latin typeface="Cambria Math" panose="02040503050406030204" pitchFamily="18" charset="0"/>
                      </a:rPr>
                      <m:t>=</m:t>
                    </m:r>
                    <m:f>
                      <m:fPr>
                        <m:ctrlPr>
                          <a:rPr lang="en-US" altLang="zh-TW" sz="2200" i="1">
                            <a:solidFill>
                              <a:srgbClr val="0070C0"/>
                            </a:solidFill>
                            <a:latin typeface="Cambria Math" panose="02040503050406030204" pitchFamily="18" charset="0"/>
                          </a:rPr>
                        </m:ctrlPr>
                      </m:fPr>
                      <m:num>
                        <m:r>
                          <a:rPr lang="en-US" altLang="zh-TW" sz="2200" i="1">
                            <a:solidFill>
                              <a:srgbClr val="0070C0"/>
                            </a:solidFill>
                            <a:latin typeface="Cambria Math" panose="02040503050406030204" pitchFamily="18" charset="0"/>
                          </a:rPr>
                          <m:t>𝜕</m:t>
                        </m:r>
                        <m:r>
                          <a:rPr lang="en-US" altLang="zh-TW" sz="2200" b="0" i="1" smtClean="0">
                            <a:solidFill>
                              <a:srgbClr val="0070C0"/>
                            </a:solidFill>
                            <a:latin typeface="Cambria Math" panose="02040503050406030204" pitchFamily="18" charset="0"/>
                          </a:rPr>
                          <m:t>h</m:t>
                        </m:r>
                        <m:d>
                          <m:dPr>
                            <m:begChr m:val="["/>
                            <m:endChr m:val="]"/>
                            <m:ctrlPr>
                              <a:rPr lang="en-US" altLang="zh-TW" sz="2200" i="1">
                                <a:solidFill>
                                  <a:srgbClr val="0070C0"/>
                                </a:solidFill>
                                <a:latin typeface="Cambria Math" panose="02040503050406030204" pitchFamily="18" charset="0"/>
                              </a:rPr>
                            </m:ctrlPr>
                          </m:dPr>
                          <m:e>
                            <m:r>
                              <a:rPr lang="en-US" altLang="zh-TW" sz="2200" i="1">
                                <a:solidFill>
                                  <a:srgbClr val="0070C0"/>
                                </a:solidFill>
                                <a:latin typeface="Cambria Math" panose="02040503050406030204" pitchFamily="18" charset="0"/>
                              </a:rPr>
                              <m:t>𝑖</m:t>
                            </m:r>
                          </m:e>
                        </m:d>
                      </m:num>
                      <m:den>
                        <m:r>
                          <a:rPr lang="en-US" altLang="zh-TW" sz="2200" i="1">
                            <a:solidFill>
                              <a:srgbClr val="0070C0"/>
                            </a:solidFill>
                            <a:latin typeface="Cambria Math" panose="02040503050406030204" pitchFamily="18" charset="0"/>
                          </a:rPr>
                          <m:t>𝜕</m:t>
                        </m:r>
                        <m:r>
                          <a:rPr lang="en-US" altLang="zh-TW" sz="2200" i="1">
                            <a:solidFill>
                              <a:srgbClr val="0070C0"/>
                            </a:solidFill>
                            <a:latin typeface="Cambria Math" panose="02040503050406030204" pitchFamily="18" charset="0"/>
                          </a:rPr>
                          <m:t>𝑥</m:t>
                        </m:r>
                        <m:d>
                          <m:dPr>
                            <m:begChr m:val="["/>
                            <m:endChr m:val="]"/>
                            <m:ctrlPr>
                              <a:rPr lang="en-US" altLang="zh-TW" sz="2200" i="1">
                                <a:solidFill>
                                  <a:srgbClr val="0070C0"/>
                                </a:solidFill>
                                <a:latin typeface="Cambria Math" panose="02040503050406030204" pitchFamily="18" charset="0"/>
                              </a:rPr>
                            </m:ctrlPr>
                          </m:dPr>
                          <m:e>
                            <m:r>
                              <a:rPr lang="en-US" altLang="zh-TW" sz="2200" i="1">
                                <a:solidFill>
                                  <a:srgbClr val="0070C0"/>
                                </a:solidFill>
                                <a:latin typeface="Cambria Math" panose="02040503050406030204" pitchFamily="18" charset="0"/>
                              </a:rPr>
                              <m:t>𝑗</m:t>
                            </m:r>
                          </m:e>
                        </m:d>
                      </m:den>
                    </m:f>
                    <m:d>
                      <m:dPr>
                        <m:ctrlPr>
                          <a:rPr lang="en-US" altLang="zh-TW" sz="2200" i="1">
                            <a:solidFill>
                              <a:srgbClr val="0070C0"/>
                            </a:solidFill>
                            <a:latin typeface="Cambria Math" panose="02040503050406030204" pitchFamily="18" charset="0"/>
                          </a:rPr>
                        </m:ctrlPr>
                      </m:dPr>
                      <m:e>
                        <m:sSub>
                          <m:sSubPr>
                            <m:ctrlPr>
                              <a:rPr lang="en-US" altLang="zh-TW" sz="2200" b="1" i="1" smtClean="0">
                                <a:solidFill>
                                  <a:srgbClr val="0070C0"/>
                                </a:solidFill>
                                <a:latin typeface="Cambria Math" panose="02040503050406030204" pitchFamily="18" charset="0"/>
                              </a:rPr>
                            </m:ctrlPr>
                          </m:sSubPr>
                          <m:e>
                            <m:acc>
                              <m:accPr>
                                <m:chr m:val="̃"/>
                                <m:ctrlPr>
                                  <a:rPr lang="en-US" altLang="zh-TW" sz="2200" b="0" i="1" smtClean="0">
                                    <a:solidFill>
                                      <a:srgbClr val="0070C0"/>
                                    </a:solidFill>
                                    <a:latin typeface="Cambria Math" panose="02040503050406030204" pitchFamily="18" charset="0"/>
                                  </a:rPr>
                                </m:ctrlPr>
                              </m:accPr>
                              <m:e>
                                <m:r>
                                  <a:rPr lang="en-US" altLang="zh-TW" sz="2200" b="1" i="1" smtClean="0">
                                    <a:solidFill>
                                      <a:srgbClr val="0070C0"/>
                                    </a:solidFill>
                                    <a:latin typeface="Cambria Math" panose="02040503050406030204" pitchFamily="18" charset="0"/>
                                  </a:rPr>
                                  <m:t>𝒙</m:t>
                                </m:r>
                              </m:e>
                            </m:acc>
                          </m:e>
                          <m:sub>
                            <m:r>
                              <a:rPr lang="en-US" altLang="zh-TW" sz="2200" b="1" i="1" smtClean="0">
                                <a:latin typeface="Cambria Math"/>
                              </a:rPr>
                              <m:t>𝒕</m:t>
                            </m:r>
                          </m:sub>
                        </m:sSub>
                        <m:r>
                          <a:rPr lang="en-US" altLang="zh-TW" sz="2200" i="1">
                            <a:solidFill>
                              <a:srgbClr val="0070C0"/>
                            </a:solidFill>
                            <a:latin typeface="Cambria Math" panose="02040503050406030204" pitchFamily="18" charset="0"/>
                          </a:rPr>
                          <m:t>,</m:t>
                        </m:r>
                        <m:r>
                          <a:rPr lang="en-US" altLang="zh-TW" sz="2200" i="1" smtClean="0">
                            <a:solidFill>
                              <a:srgbClr val="0070C0"/>
                            </a:solidFill>
                            <a:latin typeface="Cambria Math" panose="02040503050406030204" pitchFamily="18" charset="0"/>
                          </a:rPr>
                          <m:t> </m:t>
                        </m:r>
                        <m:r>
                          <a:rPr lang="en-US" altLang="zh-TW" sz="2200" i="1">
                            <a:solidFill>
                              <a:srgbClr val="0070C0"/>
                            </a:solidFill>
                            <a:latin typeface="Cambria Math" panose="02040503050406030204" pitchFamily="18" charset="0"/>
                          </a:rPr>
                          <m:t>0</m:t>
                        </m:r>
                      </m:e>
                    </m:d>
                    <m:r>
                      <a:rPr lang="en-US" altLang="zh-TW" sz="2200" b="0" i="1" smtClean="0">
                        <a:solidFill>
                          <a:srgbClr val="0070C0"/>
                        </a:solidFill>
                        <a:latin typeface="Cambria Math" panose="02040503050406030204" pitchFamily="18" charset="0"/>
                      </a:rPr>
                      <m:t>,</m:t>
                    </m:r>
                  </m:oMath>
                </a14:m>
                <a:endParaRPr lang="en-US" altLang="zh-TW" sz="2200" i="1" dirty="0" smtClean="0">
                  <a:solidFill>
                    <a:srgbClr val="0070C0"/>
                  </a:solidFill>
                  <a:latin typeface="Cambria Math" panose="02040503050406030204" pitchFamily="18" charset="0"/>
                </a:endParaRPr>
              </a:p>
              <a:p>
                <a:pPr marL="342900" indent="-342900">
                  <a:buFont typeface="Arial" panose="020B0604020202020204" pitchFamily="34" charset="0"/>
                  <a:buChar char="•"/>
                </a:pPr>
                <a14:m>
                  <m:oMath xmlns:m="http://schemas.openxmlformats.org/officeDocument/2006/math">
                    <m:sSub>
                      <m:sSubPr>
                        <m:ctrlPr>
                          <a:rPr lang="en-US" altLang="zh-TW" sz="2200" b="0" i="1" smtClean="0">
                            <a:solidFill>
                              <a:srgbClr val="0070C0"/>
                            </a:solidFill>
                            <a:latin typeface="Cambria Math" panose="02040503050406030204" pitchFamily="18" charset="0"/>
                          </a:rPr>
                        </m:ctrlPr>
                      </m:sSubPr>
                      <m:e>
                        <m:r>
                          <a:rPr lang="en-US" altLang="zh-TW" sz="2200" b="0" i="1" smtClean="0">
                            <a:solidFill>
                              <a:srgbClr val="0070C0"/>
                            </a:solidFill>
                            <a:latin typeface="Cambria Math" panose="02040503050406030204" pitchFamily="18" charset="0"/>
                          </a:rPr>
                          <m:t>𝑉</m:t>
                        </m:r>
                      </m:e>
                      <m:sub>
                        <m:r>
                          <a:rPr lang="en-US" altLang="zh-TW" sz="2200" b="0" i="1" smtClean="0">
                            <a:solidFill>
                              <a:srgbClr val="0070C0"/>
                            </a:solidFill>
                            <a:latin typeface="Cambria Math"/>
                          </a:rPr>
                          <m:t>𝑡</m:t>
                        </m:r>
                      </m:sub>
                    </m:sSub>
                    <m:r>
                      <a:rPr lang="en-US" altLang="zh-TW" sz="2200" i="1">
                        <a:latin typeface="Cambria Math" panose="02040503050406030204" pitchFamily="18" charset="0"/>
                      </a:rPr>
                      <m:t>∈</m:t>
                    </m:r>
                    <m:sSup>
                      <m:sSupPr>
                        <m:ctrlPr>
                          <a:rPr lang="en-US" altLang="zh-TW" sz="2200" i="1">
                            <a:latin typeface="Cambria Math" panose="02040503050406030204" pitchFamily="18" charset="0"/>
                          </a:rPr>
                        </m:ctrlPr>
                      </m:sSupPr>
                      <m:e>
                        <m:r>
                          <a:rPr lang="en-US" altLang="zh-TW" sz="2200" i="1">
                            <a:latin typeface="Cambria Math" panose="02040503050406030204" pitchFamily="18" charset="0"/>
                          </a:rPr>
                          <m:t>ℝ</m:t>
                        </m:r>
                      </m:e>
                      <m:sup>
                        <m:r>
                          <a:rPr lang="en-US" altLang="zh-TW" sz="2200" i="1">
                            <a:latin typeface="Cambria Math" panose="02040503050406030204" pitchFamily="18" charset="0"/>
                          </a:rPr>
                          <m:t>𝑚</m:t>
                        </m:r>
                        <m:r>
                          <a:rPr lang="en-US" altLang="zh-TW" sz="2200" i="1">
                            <a:latin typeface="Cambria Math" panose="02040503050406030204" pitchFamily="18" charset="0"/>
                          </a:rPr>
                          <m:t>×</m:t>
                        </m:r>
                        <m:r>
                          <a:rPr lang="en-US" altLang="zh-TW" sz="2200" i="1">
                            <a:latin typeface="Cambria Math" panose="02040503050406030204" pitchFamily="18" charset="0"/>
                          </a:rPr>
                          <m:t>𝑛</m:t>
                        </m:r>
                      </m:sup>
                    </m:sSup>
                  </m:oMath>
                </a14:m>
                <a:r>
                  <a:rPr lang="en-US" altLang="zh-TW" sz="2200" i="1" dirty="0" smtClean="0">
                    <a:solidFill>
                      <a:srgbClr val="0070C0"/>
                    </a:solidFill>
                    <a:latin typeface="Cambria Math" panose="02040503050406030204" pitchFamily="18" charset="0"/>
                  </a:rPr>
                  <a:t>,</a:t>
                </a:r>
                <a:r>
                  <a:rPr lang="zh-TW" altLang="en-US" sz="2200" dirty="0" smtClean="0"/>
                  <a:t>時間</a:t>
                </a:r>
                <a:r>
                  <a:rPr lang="en-US" altLang="zh-TW" sz="2200" dirty="0" smtClean="0"/>
                  <a:t>t</a:t>
                </a:r>
                <a:r>
                  <a:rPr lang="zh-TW" altLang="en-US" sz="2200" dirty="0" smtClean="0"/>
                  <a:t>時的量測誤差轉移</a:t>
                </a:r>
                <a:r>
                  <a:rPr lang="zh-TW" altLang="en-US" sz="2200" dirty="0"/>
                  <a:t>矩陣</a:t>
                </a:r>
                <a:r>
                  <a:rPr lang="en-US" altLang="zh-TW" sz="2200" i="1" dirty="0" smtClean="0">
                    <a:solidFill>
                      <a:srgbClr val="0070C0"/>
                    </a:solidFill>
                    <a:latin typeface="Cambria Math" panose="02040503050406030204" pitchFamily="18" charset="0"/>
                  </a:rPr>
                  <a:t>, </a:t>
                </a:r>
                <a:r>
                  <a:rPr lang="en-US" altLang="zh-TW" sz="2200" dirty="0">
                    <a:solidFill>
                      <a:srgbClr val="0070C0"/>
                    </a:solidFill>
                  </a:rPr>
                  <a:t>Jacobian matrix </a:t>
                </a:r>
                <a14:m>
                  <m:oMath xmlns:m="http://schemas.openxmlformats.org/officeDocument/2006/math">
                    <m:sSub>
                      <m:sSubPr>
                        <m:ctrlPr>
                          <a:rPr lang="en-US" altLang="zh-TW" sz="2200" i="1">
                            <a:solidFill>
                              <a:srgbClr val="0070C0"/>
                            </a:solidFill>
                            <a:latin typeface="Cambria Math" panose="02040503050406030204" pitchFamily="18" charset="0"/>
                          </a:rPr>
                        </m:ctrlPr>
                      </m:sSubPr>
                      <m:e>
                        <m:r>
                          <a:rPr lang="en-US" altLang="zh-TW" sz="2200" i="1">
                            <a:solidFill>
                              <a:srgbClr val="0070C0"/>
                            </a:solidFill>
                            <a:latin typeface="Cambria Math" panose="02040503050406030204" pitchFamily="18" charset="0"/>
                          </a:rPr>
                          <m:t>𝐻</m:t>
                        </m:r>
                      </m:e>
                      <m:sub>
                        <m:r>
                          <a:rPr lang="en-US" altLang="zh-TW" sz="2200" b="0" i="1" smtClean="0">
                            <a:solidFill>
                              <a:srgbClr val="0070C0"/>
                            </a:solidFill>
                            <a:latin typeface="Cambria Math"/>
                          </a:rPr>
                          <m:t>𝑡</m:t>
                        </m:r>
                      </m:sub>
                    </m:sSub>
                    <m:d>
                      <m:dPr>
                        <m:begChr m:val="["/>
                        <m:endChr m:val="]"/>
                        <m:ctrlPr>
                          <a:rPr lang="en-US" altLang="zh-TW" sz="2200" i="1">
                            <a:solidFill>
                              <a:srgbClr val="0070C0"/>
                            </a:solidFill>
                            <a:latin typeface="Cambria Math" panose="02040503050406030204" pitchFamily="18" charset="0"/>
                          </a:rPr>
                        </m:ctrlPr>
                      </m:dPr>
                      <m:e>
                        <m:r>
                          <a:rPr lang="en-US" altLang="zh-TW" sz="2200" i="1">
                            <a:solidFill>
                              <a:srgbClr val="0070C0"/>
                            </a:solidFill>
                            <a:latin typeface="Cambria Math" panose="02040503050406030204" pitchFamily="18" charset="0"/>
                          </a:rPr>
                          <m:t>𝑖</m:t>
                        </m:r>
                        <m:r>
                          <a:rPr lang="en-US" altLang="zh-TW" sz="2200" i="1">
                            <a:solidFill>
                              <a:srgbClr val="0070C0"/>
                            </a:solidFill>
                            <a:latin typeface="Cambria Math" panose="02040503050406030204" pitchFamily="18" charset="0"/>
                          </a:rPr>
                          <m:t>,</m:t>
                        </m:r>
                        <m:r>
                          <a:rPr lang="en-US" altLang="zh-TW" sz="2200" i="1">
                            <a:solidFill>
                              <a:srgbClr val="0070C0"/>
                            </a:solidFill>
                            <a:latin typeface="Cambria Math" panose="02040503050406030204" pitchFamily="18" charset="0"/>
                          </a:rPr>
                          <m:t>𝑗</m:t>
                        </m:r>
                      </m:e>
                    </m:d>
                    <m:r>
                      <a:rPr lang="en-US" altLang="zh-TW" sz="2200" i="1">
                        <a:solidFill>
                          <a:srgbClr val="0070C0"/>
                        </a:solidFill>
                        <a:latin typeface="Cambria Math" panose="02040503050406030204" pitchFamily="18" charset="0"/>
                      </a:rPr>
                      <m:t>=</m:t>
                    </m:r>
                    <m:f>
                      <m:fPr>
                        <m:ctrlPr>
                          <a:rPr lang="en-US" altLang="zh-TW" sz="2200" i="1">
                            <a:solidFill>
                              <a:srgbClr val="0070C0"/>
                            </a:solidFill>
                            <a:latin typeface="Cambria Math" panose="02040503050406030204" pitchFamily="18" charset="0"/>
                          </a:rPr>
                        </m:ctrlPr>
                      </m:fPr>
                      <m:num>
                        <m:r>
                          <a:rPr lang="en-US" altLang="zh-TW" sz="2200" i="1">
                            <a:solidFill>
                              <a:srgbClr val="0070C0"/>
                            </a:solidFill>
                            <a:latin typeface="Cambria Math" panose="02040503050406030204" pitchFamily="18" charset="0"/>
                          </a:rPr>
                          <m:t>𝜕</m:t>
                        </m:r>
                        <m:r>
                          <a:rPr lang="en-US" altLang="zh-TW" sz="2200" i="1">
                            <a:solidFill>
                              <a:srgbClr val="0070C0"/>
                            </a:solidFill>
                            <a:latin typeface="Cambria Math" panose="02040503050406030204" pitchFamily="18" charset="0"/>
                          </a:rPr>
                          <m:t>h</m:t>
                        </m:r>
                        <m:d>
                          <m:dPr>
                            <m:begChr m:val="["/>
                            <m:endChr m:val="]"/>
                            <m:ctrlPr>
                              <a:rPr lang="en-US" altLang="zh-TW" sz="2200" i="1">
                                <a:solidFill>
                                  <a:srgbClr val="0070C0"/>
                                </a:solidFill>
                                <a:latin typeface="Cambria Math" panose="02040503050406030204" pitchFamily="18" charset="0"/>
                              </a:rPr>
                            </m:ctrlPr>
                          </m:dPr>
                          <m:e>
                            <m:r>
                              <a:rPr lang="en-US" altLang="zh-TW" sz="2200" i="1">
                                <a:solidFill>
                                  <a:srgbClr val="0070C0"/>
                                </a:solidFill>
                                <a:latin typeface="Cambria Math" panose="02040503050406030204" pitchFamily="18" charset="0"/>
                              </a:rPr>
                              <m:t>𝑖</m:t>
                            </m:r>
                          </m:e>
                        </m:d>
                      </m:num>
                      <m:den>
                        <m:r>
                          <a:rPr lang="en-US" altLang="zh-TW" sz="2200" i="1">
                            <a:solidFill>
                              <a:srgbClr val="0070C0"/>
                            </a:solidFill>
                            <a:latin typeface="Cambria Math" panose="02040503050406030204" pitchFamily="18" charset="0"/>
                          </a:rPr>
                          <m:t>𝜕</m:t>
                        </m:r>
                        <m:r>
                          <a:rPr lang="en-US" altLang="zh-TW" sz="2200" b="0" i="1" smtClean="0">
                            <a:solidFill>
                              <a:srgbClr val="0070C0"/>
                            </a:solidFill>
                            <a:latin typeface="Cambria Math" panose="02040503050406030204" pitchFamily="18" charset="0"/>
                          </a:rPr>
                          <m:t>𝑣</m:t>
                        </m:r>
                        <m:d>
                          <m:dPr>
                            <m:begChr m:val="["/>
                            <m:endChr m:val="]"/>
                            <m:ctrlPr>
                              <a:rPr lang="en-US" altLang="zh-TW" sz="2200" i="1">
                                <a:solidFill>
                                  <a:srgbClr val="0070C0"/>
                                </a:solidFill>
                                <a:latin typeface="Cambria Math" panose="02040503050406030204" pitchFamily="18" charset="0"/>
                              </a:rPr>
                            </m:ctrlPr>
                          </m:dPr>
                          <m:e>
                            <m:r>
                              <a:rPr lang="en-US" altLang="zh-TW" sz="2200" i="1">
                                <a:solidFill>
                                  <a:srgbClr val="0070C0"/>
                                </a:solidFill>
                                <a:latin typeface="Cambria Math" panose="02040503050406030204" pitchFamily="18" charset="0"/>
                              </a:rPr>
                              <m:t>𝑗</m:t>
                            </m:r>
                          </m:e>
                        </m:d>
                      </m:den>
                    </m:f>
                    <m:d>
                      <m:dPr>
                        <m:ctrlPr>
                          <a:rPr lang="en-US" altLang="zh-TW" sz="2200" i="1">
                            <a:solidFill>
                              <a:srgbClr val="0070C0"/>
                            </a:solidFill>
                            <a:latin typeface="Cambria Math" panose="02040503050406030204" pitchFamily="18" charset="0"/>
                          </a:rPr>
                        </m:ctrlPr>
                      </m:dPr>
                      <m:e>
                        <m:sSub>
                          <m:sSubPr>
                            <m:ctrlPr>
                              <a:rPr lang="en-US" altLang="zh-TW" sz="2200" b="1" i="1">
                                <a:solidFill>
                                  <a:srgbClr val="0070C0"/>
                                </a:solidFill>
                                <a:latin typeface="Cambria Math" panose="02040503050406030204" pitchFamily="18" charset="0"/>
                              </a:rPr>
                            </m:ctrlPr>
                          </m:sSubPr>
                          <m:e>
                            <m:acc>
                              <m:accPr>
                                <m:chr m:val="̃"/>
                                <m:ctrlPr>
                                  <a:rPr lang="en-US" altLang="zh-TW" sz="2200" i="1">
                                    <a:solidFill>
                                      <a:srgbClr val="0070C0"/>
                                    </a:solidFill>
                                    <a:latin typeface="Cambria Math" panose="02040503050406030204" pitchFamily="18" charset="0"/>
                                  </a:rPr>
                                </m:ctrlPr>
                              </m:accPr>
                              <m:e>
                                <m:r>
                                  <a:rPr lang="en-US" altLang="zh-TW" sz="2200" b="1" i="1">
                                    <a:solidFill>
                                      <a:srgbClr val="0070C0"/>
                                    </a:solidFill>
                                    <a:latin typeface="Cambria Math" panose="02040503050406030204" pitchFamily="18" charset="0"/>
                                  </a:rPr>
                                  <m:t>𝒙</m:t>
                                </m:r>
                              </m:e>
                            </m:acc>
                          </m:e>
                          <m:sub>
                            <m:r>
                              <a:rPr lang="en-US" altLang="zh-TW" sz="2200" b="1" i="1" smtClean="0">
                                <a:latin typeface="Cambria Math"/>
                              </a:rPr>
                              <m:t>𝒕</m:t>
                            </m:r>
                          </m:sub>
                        </m:sSub>
                        <m:r>
                          <a:rPr lang="en-US" altLang="zh-TW" sz="2200" i="1">
                            <a:solidFill>
                              <a:srgbClr val="0070C0"/>
                            </a:solidFill>
                            <a:latin typeface="Cambria Math" panose="02040503050406030204" pitchFamily="18" charset="0"/>
                          </a:rPr>
                          <m:t>, 0</m:t>
                        </m:r>
                      </m:e>
                    </m:d>
                  </m:oMath>
                </a14:m>
                <a:endParaRPr lang="en-US" altLang="zh-TW" sz="2200" i="1" dirty="0" smtClean="0">
                  <a:solidFill>
                    <a:srgbClr val="0070C0"/>
                  </a:solidFill>
                  <a:latin typeface="Cambria Math" panose="02040503050406030204" pitchFamily="18" charset="0"/>
                </a:endParaRPr>
              </a:p>
              <a:p>
                <a:pPr marL="342900" indent="-342900">
                  <a:buFont typeface="Arial" panose="020B0604020202020204" pitchFamily="34" charset="0"/>
                  <a:buChar char="•"/>
                </a:pPr>
                <a14:m>
                  <m:oMath xmlns:m="http://schemas.openxmlformats.org/officeDocument/2006/math">
                    <m:sSub>
                      <m:sSubPr>
                        <m:ctrlPr>
                          <a:rPr lang="en-US" altLang="zh-TW" sz="2200" b="1" i="1" smtClean="0">
                            <a:latin typeface="Cambria Math" panose="02040503050406030204" pitchFamily="18" charset="0"/>
                          </a:rPr>
                        </m:ctrlPr>
                      </m:sSubPr>
                      <m:e>
                        <m:r>
                          <a:rPr lang="en-US" altLang="zh-TW" sz="2200" b="1" i="1" smtClean="0">
                            <a:latin typeface="Cambria Math" panose="02040503050406030204" pitchFamily="18" charset="0"/>
                          </a:rPr>
                          <m:t>𝒗</m:t>
                        </m:r>
                      </m:e>
                      <m:sub>
                        <m:r>
                          <a:rPr lang="en-US" altLang="zh-TW" sz="2200" b="1" i="1" smtClean="0">
                            <a:latin typeface="Cambria Math"/>
                          </a:rPr>
                          <m:t>𝒕</m:t>
                        </m:r>
                      </m:sub>
                    </m:sSub>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ℝ</m:t>
                        </m:r>
                      </m:e>
                      <m:sup>
                        <m:r>
                          <a:rPr lang="en-US" altLang="zh-TW" sz="2200" b="0" i="1" smtClean="0">
                            <a:latin typeface="Cambria Math" panose="02040503050406030204" pitchFamily="18" charset="0"/>
                          </a:rPr>
                          <m:t>𝑚</m:t>
                        </m:r>
                      </m:sup>
                    </m:sSup>
                  </m:oMath>
                </a14:m>
                <a:r>
                  <a:rPr lang="en-US" altLang="zh-TW" sz="2200" dirty="0" smtClean="0"/>
                  <a:t>: measurement noise~</a:t>
                </a:r>
                <a14:m>
                  <m:oMath xmlns:m="http://schemas.openxmlformats.org/officeDocument/2006/math">
                    <m:r>
                      <a:rPr lang="en-US" altLang="zh-TW" sz="2200" b="0" i="1" smtClean="0">
                        <a:latin typeface="Cambria Math"/>
                      </a:rPr>
                      <m:t>𝑁</m:t>
                    </m:r>
                    <m:r>
                      <a:rPr lang="en-US" altLang="zh-TW" sz="2200" b="0" i="1" smtClean="0">
                        <a:latin typeface="Cambria Math"/>
                      </a:rPr>
                      <m:t>(0, </m:t>
                    </m:r>
                    <m:sSub>
                      <m:sSubPr>
                        <m:ctrlPr>
                          <a:rPr lang="en-US" altLang="zh-TW" sz="2200" b="1" i="1" smtClean="0">
                            <a:latin typeface="Cambria Math" panose="02040503050406030204" pitchFamily="18" charset="0"/>
                          </a:rPr>
                        </m:ctrlPr>
                      </m:sSubPr>
                      <m:e>
                        <m:r>
                          <a:rPr lang="en-US" altLang="zh-TW" sz="2200" b="1" i="1" smtClean="0">
                            <a:latin typeface="Cambria Math"/>
                          </a:rPr>
                          <m:t>𝑹</m:t>
                        </m:r>
                      </m:e>
                      <m:sub>
                        <m:r>
                          <a:rPr lang="en-US" altLang="zh-TW" sz="2200" b="1" i="1" smtClean="0">
                            <a:latin typeface="Cambria Math"/>
                          </a:rPr>
                          <m:t>𝒕</m:t>
                        </m:r>
                      </m:sub>
                    </m:sSub>
                    <m:r>
                      <a:rPr lang="en-US" altLang="zh-TW" sz="2200" b="0" i="1" smtClean="0">
                        <a:latin typeface="Cambria Math"/>
                      </a:rPr>
                      <m:t>)</m:t>
                    </m:r>
                  </m:oMath>
                </a14:m>
                <a:r>
                  <a:rPr lang="zh-TW" altLang="en-US" sz="2200" dirty="0" smtClean="0"/>
                  <a:t/>
                </a:r>
                <a:r>
                  <a:rPr lang="en-US" altLang="zh-TW" sz="2200" dirty="0" smtClean="0"/>
                  <a:t>(white noise)</a:t>
                </a:r>
              </a:p>
              <a:p>
                <a:pPr marL="342900" indent="-342900">
                  <a:buFont typeface="Arial" panose="020B0604020202020204" pitchFamily="34" charset="0"/>
                  <a:buChar char="•"/>
                </a:pPr>
                <a14:m>
                  <m:oMath xmlns:m="http://schemas.openxmlformats.org/officeDocument/2006/math">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𝑤</m:t>
                        </m:r>
                      </m:e>
                      <m:sub>
                        <m:r>
                          <a:rPr lang="en-US" altLang="zh-TW" sz="2200" b="0" i="1" smtClean="0">
                            <a:latin typeface="Cambria Math"/>
                          </a:rPr>
                          <m:t>𝑡</m:t>
                        </m:r>
                      </m:sub>
                    </m:sSub>
                    <m:r>
                      <a:rPr lang="en-US" altLang="zh-TW" sz="2200" b="0" i="1" smtClean="0">
                        <a:latin typeface="Cambria Math" panose="02040503050406030204" pitchFamily="18" charset="0"/>
                      </a:rPr>
                      <m:t>, </m:t>
                    </m:r>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𝑣</m:t>
                        </m:r>
                      </m:e>
                      <m:sub>
                        <m:r>
                          <a:rPr lang="en-US" altLang="zh-TW" sz="2200" b="0" i="1" smtClean="0">
                            <a:latin typeface="Cambria Math"/>
                          </a:rPr>
                          <m:t>𝑡</m:t>
                        </m:r>
                      </m:sub>
                    </m:sSub>
                  </m:oMath>
                </a14:m>
                <a:r>
                  <a:rPr lang="zh-TW" altLang="en-US" sz="2200" dirty="0" smtClean="0"/>
                  <a:t/>
                </a:r>
                <a:r>
                  <a:rPr lang="en-US" altLang="zh-TW" sz="2200" dirty="0" smtClean="0"/>
                  <a:t>independent</a:t>
                </a:r>
                <a:endParaRPr lang="zh-TW" altLang="en-US" sz="2200" dirty="0"/>
              </a:p>
              <a:p>
                <a:pPr marL="342900" indent="-342900">
                  <a:buFont typeface="Arial" panose="020B0604020202020204" pitchFamily="34" charset="0"/>
                  <a:buChar char="•"/>
                </a:pPr>
                <a:endParaRPr lang="zh-TW" altLang="en-US" sz="2200" dirty="0"/>
              </a:p>
            </p:txBody>
          </p:sp>
        </mc:Choice>
        <mc:Fallback>
          <p:sp>
            <p:nvSpPr>
              <p:cNvPr id="6" name="文字方塊 5"/>
              <p:cNvSpPr txBox="1">
                <a:spLocks noRot="1" noChangeAspect="1" noMove="1" noResize="1" noEditPoints="1" noAdjustHandles="1" noChangeArrowheads="1" noChangeShapeType="1" noTextEdit="1"/>
              </p:cNvSpPr>
              <p:nvPr/>
            </p:nvSpPr>
            <p:spPr>
              <a:xfrm>
                <a:off x="311412" y="1813286"/>
                <a:ext cx="11646447" cy="5044714"/>
              </a:xfrm>
              <a:prstGeom prst="rect">
                <a:avLst/>
              </a:prstGeom>
              <a:blipFill rotWithShape="1">
                <a:blip r:embed="rId3"/>
                <a:stretch>
                  <a:fillRect l="-576" t="-845"/>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11565693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3455" y="490809"/>
            <a:ext cx="12191999" cy="5865541"/>
          </a:xfrm>
          <a:prstGeom prst="rect">
            <a:avLst/>
          </a:prstGeom>
          <a:blipFill dpi="0" rotWithShape="1">
            <a:blip r:embed="rId2" cstate="print">
              <a:alphaModFix amt="59000"/>
              <a:extLst>
                <a:ext uri="{28A0092B-C50C-407E-A947-70E740481C1C}">
                  <a14:useLocalDpi xmlns:a14="http://schemas.microsoft.com/office/drawing/2010/main" xmlns=""/>
                </a:ext>
              </a:extLst>
            </a:blip>
            <a:srcRect/>
            <a:stretch>
              <a:fillRect r="549"/>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標題 4"/>
          <p:cNvSpPr>
            <a:spLocks noGrp="1"/>
          </p:cNvSpPr>
          <p:nvPr>
            <p:ph type="title"/>
          </p:nvPr>
        </p:nvSpPr>
        <p:spPr>
          <a:xfrm>
            <a:off x="1072116" y="2629860"/>
            <a:ext cx="10515600" cy="1325563"/>
          </a:xfrm>
        </p:spPr>
        <p:txBody>
          <a:bodyPr/>
          <a:lstStyle/>
          <a:p>
            <a:pPr algn="ctr"/>
            <a:r>
              <a:rPr lang="en-US" altLang="zh-TW" dirty="0" smtClean="0"/>
              <a:t>Monte Carlo sampling method</a:t>
            </a:r>
            <a:endParaRPr lang="zh-TW" altLang="en-US" dirty="0"/>
          </a:p>
        </p:txBody>
      </p:sp>
      <p:sp>
        <p:nvSpPr>
          <p:cNvPr id="4" name="投影片編號版面配置區 3"/>
          <p:cNvSpPr>
            <a:spLocks noGrp="1"/>
          </p:cNvSpPr>
          <p:nvPr>
            <p:ph type="sldNum" sz="quarter" idx="12"/>
          </p:nvPr>
        </p:nvSpPr>
        <p:spPr/>
        <p:txBody>
          <a:bodyPr/>
          <a:lstStyle/>
          <a:p>
            <a:fld id="{60325430-07F2-45E8-A5C9-B73C13C9C571}" type="slidenum">
              <a:rPr lang="zh-TW" altLang="en-US" smtClean="0"/>
              <a:pPr/>
              <a:t>21</a:t>
            </a:fld>
            <a:endParaRPr lang="zh-TW" altLang="en-US"/>
          </a:p>
        </p:txBody>
      </p:sp>
    </p:spTree>
    <p:extLst>
      <p:ext uri="{BB962C8B-B14F-4D97-AF65-F5344CB8AC3E}">
        <p14:creationId xmlns:p14="http://schemas.microsoft.com/office/powerpoint/2010/main" xmlns="" val="238953528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Nonlinear/non-Gaussian state space model</a:t>
            </a:r>
            <a:endParaRPr lang="zh-TW" altLang="en-US" dirty="0"/>
          </a:p>
        </p:txBody>
      </p:sp>
      <p:sp>
        <p:nvSpPr>
          <p:cNvPr id="3" name="投影片編號版面配置區 2"/>
          <p:cNvSpPr>
            <a:spLocks noGrp="1"/>
          </p:cNvSpPr>
          <p:nvPr>
            <p:ph type="sldNum" sz="quarter" idx="12"/>
          </p:nvPr>
        </p:nvSpPr>
        <p:spPr/>
        <p:txBody>
          <a:bodyPr/>
          <a:lstStyle/>
          <a:p>
            <a:fld id="{60325430-07F2-45E8-A5C9-B73C13C9C571}" type="slidenum">
              <a:rPr lang="zh-TW" altLang="en-US" smtClean="0"/>
              <a:pPr/>
              <a:t>22</a:t>
            </a:fld>
            <a:endParaRPr lang="zh-TW" altLang="en-US"/>
          </a:p>
        </p:txBody>
      </p:sp>
      <mc:AlternateContent xmlns:mc="http://schemas.openxmlformats.org/markup-compatibility/2006">
        <mc:Choice xmlns:a14="http://schemas.microsoft.com/office/drawing/2010/main" xmlns="" Requires="a14">
          <p:sp>
            <p:nvSpPr>
              <p:cNvPr id="4" name="矩形 3"/>
              <p:cNvSpPr/>
              <p:nvPr/>
            </p:nvSpPr>
            <p:spPr>
              <a:xfrm>
                <a:off x="600500" y="1489183"/>
                <a:ext cx="11550555" cy="6888039"/>
              </a:xfrm>
              <a:prstGeom prst="rect">
                <a:avLst/>
              </a:prstGeom>
            </p:spPr>
            <p:txBody>
              <a:bodyPr wrap="square">
                <a:spAutoFit/>
              </a:bodyPr>
              <a:lstStyle/>
              <a:p>
                <a:pPr>
                  <a:lnSpc>
                    <a:spcPct val="120000"/>
                  </a:lnSpc>
                </a:pPr>
                <a14:m>
                  <m:oMath xmlns:m="http://schemas.openxmlformats.org/officeDocument/2006/math">
                    <m:sSub>
                      <m:sSubPr>
                        <m:ctrlPr>
                          <a:rPr lang="en-US" altLang="zh-TW" sz="2400" i="1" smtClean="0">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a:rPr>
                          <m:t>𝑡</m:t>
                        </m:r>
                      </m:sub>
                    </m:sSub>
                    <m:r>
                      <a:rPr lang="en-US" altLang="zh-TW" sz="2400" i="1">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b="0" i="1" smtClean="0">
                            <a:latin typeface="Cambria Math" panose="02040503050406030204" pitchFamily="18" charset="0"/>
                          </a:rPr>
                          <m:t>𝑡</m:t>
                        </m:r>
                      </m:sub>
                    </m:sSub>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a:rPr>
                              <m:t>𝑡</m:t>
                            </m:r>
                            <m:r>
                              <a:rPr lang="en-US" altLang="zh-TW" sz="2400" i="1">
                                <a:latin typeface="Cambria Math" panose="02040503050406030204" pitchFamily="18" charset="0"/>
                              </a:rPr>
                              <m:t>−1</m:t>
                            </m:r>
                          </m:sub>
                        </m:sSub>
                        <m:r>
                          <a:rPr lang="en-US" altLang="zh-TW" sz="2400" i="1">
                            <a:latin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𝑢</m:t>
                            </m:r>
                          </m:e>
                          <m:sub>
                            <m:r>
                              <a:rPr lang="en-US" altLang="zh-TW" sz="2400" i="1">
                                <a:latin typeface="Cambria Math"/>
                              </a:rPr>
                              <m:t>𝑡</m:t>
                            </m:r>
                          </m:sub>
                        </m:sSub>
                        <m:r>
                          <a:rPr lang="en-US" altLang="zh-TW" sz="2400" i="1">
                            <a:latin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a:rPr>
                              <m:t>𝑡</m:t>
                            </m:r>
                            <m:r>
                              <a:rPr lang="en-US" altLang="zh-TW" sz="2400" i="1">
                                <a:latin typeface="Cambria Math" panose="02040503050406030204" pitchFamily="18" charset="0"/>
                              </a:rPr>
                              <m:t>−1</m:t>
                            </m:r>
                          </m:sub>
                        </m:sSub>
                      </m:e>
                    </m:d>
                  </m:oMath>
                </a14:m>
                <a:r>
                  <a:rPr lang="en-US" altLang="zh-TW" sz="2400" dirty="0" smtClean="0"/>
                  <a:t>, </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𝑡</m:t>
                        </m:r>
                      </m:sub>
                    </m:sSub>
                  </m:oMath>
                </a14:m>
                <a:r>
                  <a:rPr lang="en-US" altLang="zh-TW" sz="2400" dirty="0" smtClean="0"/>
                  <a:t> is an </a:t>
                </a:r>
                <a:r>
                  <a:rPr lang="en-US" altLang="zh-TW" sz="2400" dirty="0" err="1" smtClean="0"/>
                  <a:t>i.i.d</a:t>
                </a:r>
                <a:r>
                  <a:rPr lang="en-US" altLang="zh-TW" sz="2400" dirty="0" smtClean="0"/>
                  <a:t>. noise process</a:t>
                </a:r>
              </a:p>
              <a:p>
                <a:pPr>
                  <a:lnSpc>
                    <a:spcPct val="120000"/>
                  </a:lnSpc>
                </a:pP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h</m:t>
                        </m:r>
                      </m:e>
                      <m:sub>
                        <m:r>
                          <a:rPr lang="en-US" altLang="zh-TW" sz="2400" b="0" i="1" smtClean="0">
                            <a:latin typeface="Cambria Math" panose="02040503050406030204" pitchFamily="18" charset="0"/>
                          </a:rPr>
                          <m:t>𝑡</m:t>
                        </m:r>
                      </m:sub>
                    </m:sSub>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𝑣</m:t>
                            </m:r>
                          </m:e>
                          <m:sub>
                            <m:r>
                              <a:rPr lang="en-US" altLang="zh-TW" sz="2400" b="0" i="1" smtClean="0">
                                <a:latin typeface="Cambria Math" panose="02040503050406030204" pitchFamily="18" charset="0"/>
                              </a:rPr>
                              <m:t>𝑡</m:t>
                            </m:r>
                          </m:sub>
                        </m:sSub>
                      </m:e>
                    </m:d>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𝑣</m:t>
                        </m:r>
                      </m:e>
                      <m:sub>
                        <m:r>
                          <a:rPr lang="en-US" altLang="zh-TW" sz="2400" b="0" i="1" smtClean="0">
                            <a:latin typeface="Cambria Math" panose="02040503050406030204" pitchFamily="18" charset="0"/>
                          </a:rPr>
                          <m:t>𝑡</m:t>
                        </m:r>
                      </m:sub>
                    </m:sSub>
                  </m:oMath>
                </a14:m>
                <a:r>
                  <a:rPr lang="zh-TW" altLang="en-US" sz="2400" dirty="0" smtClean="0"/>
                  <a:t/>
                </a:r>
                <a:r>
                  <a:rPr lang="en-US" altLang="zh-TW" sz="2400" dirty="0" smtClean="0"/>
                  <a:t>is an </a:t>
                </a:r>
                <a:r>
                  <a:rPr lang="en-US" altLang="zh-TW" sz="2400" dirty="0" err="1" smtClean="0"/>
                  <a:t>i.i.d</a:t>
                </a:r>
                <a:r>
                  <a:rPr lang="en-US" altLang="zh-TW" sz="2400" dirty="0" smtClean="0"/>
                  <a:t>. measurement noise process</a:t>
                </a:r>
              </a:p>
              <a:p>
                <a:pPr>
                  <a:lnSpc>
                    <a:spcPct val="120000"/>
                  </a:lnSpc>
                </a:pP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𝑣</m:t>
                        </m:r>
                      </m:e>
                      <m:sub>
                        <m:r>
                          <a:rPr lang="en-US" altLang="zh-TW" sz="2400" b="0" i="1" smtClean="0">
                            <a:latin typeface="Cambria Math" panose="02040503050406030204" pitchFamily="18" charset="0"/>
                          </a:rPr>
                          <m:t>𝑡</m:t>
                        </m:r>
                      </m:sub>
                    </m:sSub>
                  </m:oMath>
                </a14:m>
                <a:r>
                  <a:rPr lang="en-US" altLang="zh-TW" sz="2400" dirty="0" smtClean="0"/>
                  <a:t> are independent</a:t>
                </a:r>
              </a:p>
              <a:p>
                <a:pPr>
                  <a:lnSpc>
                    <a:spcPct val="120000"/>
                  </a:lnSpc>
                </a:pPr>
                <a:endParaRPr lang="en-US" altLang="zh-TW" sz="2400" dirty="0"/>
              </a:p>
              <a:p>
                <a:pPr marL="342900" indent="-342900">
                  <a:lnSpc>
                    <a:spcPct val="120000"/>
                  </a:lnSpc>
                  <a:buFont typeface="Arial" panose="020B0604020202020204" pitchFamily="34" charset="0"/>
                  <a:buChar char="•"/>
                </a:pPr>
                <a:r>
                  <a:rPr lang="en-US" altLang="zh-TW" sz="2400" dirty="0" smtClean="0">
                    <a:solidFill>
                      <a:srgbClr val="FF0000"/>
                    </a:solidFill>
                  </a:rPr>
                  <a:t>Goal</a:t>
                </a:r>
                <a:r>
                  <a:rPr lang="en-US" altLang="zh-TW" sz="2400" dirty="0" smtClean="0"/>
                  <a:t>: to estimate the pdf </a:t>
                </a:r>
                <a14:m>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𝑡</m:t>
                            </m:r>
                          </m:sub>
                        </m:sSub>
                      </m:e>
                    </m:d>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𝑡</m:t>
                            </m:r>
                          </m:sub>
                        </m:sSub>
                      </m:e>
                    </m:d>
                  </m:oMath>
                </a14:m>
                <a:endParaRPr lang="en-US" altLang="zh-TW" sz="2400" dirty="0" smtClean="0"/>
              </a:p>
              <a:p>
                <a:pPr marL="342900" indent="-342900">
                  <a:lnSpc>
                    <a:spcPct val="120000"/>
                  </a:lnSpc>
                  <a:buFont typeface="Arial" panose="020B0604020202020204" pitchFamily="34" charset="0"/>
                  <a:buChar char="•"/>
                </a:pPr>
                <a:r>
                  <a:rPr lang="en-US" altLang="zh-TW" sz="2400" dirty="0" smtClean="0"/>
                  <a:t>Assuming that the initial pdf </a:t>
                </a:r>
                <a14:m>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0</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0</m:t>
                            </m:r>
                          </m:sub>
                        </m:sSub>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𝑝</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0</m:t>
                            </m:r>
                          </m:sub>
                        </m:sSub>
                      </m:e>
                    </m:d>
                  </m:oMath>
                </a14:m>
                <a:r>
                  <a:rPr lang="zh-TW" altLang="en-US" sz="2400" dirty="0" smtClean="0"/>
                  <a:t/>
                </a:r>
                <a:r>
                  <a:rPr lang="en-US" altLang="zh-TW" sz="2400" dirty="0" smtClean="0"/>
                  <a:t>is available (prior)</a:t>
                </a:r>
              </a:p>
              <a:p>
                <a:pPr marL="342900" indent="-342900">
                  <a:lnSpc>
                    <a:spcPct val="120000"/>
                  </a:lnSpc>
                  <a:buFont typeface="Arial" panose="020B0604020202020204" pitchFamily="34" charset="0"/>
                  <a:buChar char="•"/>
                </a:pPr>
                <a:r>
                  <a:rPr lang="en-US" altLang="zh-TW" sz="2400" dirty="0" smtClean="0"/>
                  <a:t>The </a:t>
                </a:r>
                <a:r>
                  <a:rPr lang="en-US" altLang="zh-TW" sz="2400" dirty="0"/>
                  <a:t>pdf </a:t>
                </a:r>
                <a14:m>
                  <m:oMath xmlns:m="http://schemas.openxmlformats.org/officeDocument/2006/math">
                    <m:r>
                      <a:rPr lang="en-US" altLang="zh-TW" sz="2400" i="1">
                        <a:latin typeface="Cambria Math" panose="02040503050406030204" pitchFamily="18" charset="0"/>
                      </a:rPr>
                      <m:t>𝑃</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𝑡</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𝑧</m:t>
                            </m:r>
                          </m:e>
                          <m:sub>
                            <m:r>
                              <a:rPr lang="en-US" altLang="zh-TW" sz="2400" i="1">
                                <a:latin typeface="Cambria Math" panose="02040503050406030204" pitchFamily="18" charset="0"/>
                              </a:rPr>
                              <m:t>1:</m:t>
                            </m:r>
                            <m:r>
                              <a:rPr lang="en-US" altLang="zh-TW" sz="2400" i="1">
                                <a:latin typeface="Cambria Math" panose="02040503050406030204" pitchFamily="18" charset="0"/>
                              </a:rPr>
                              <m:t>𝑡</m:t>
                            </m:r>
                          </m:sub>
                        </m:sSub>
                      </m:e>
                    </m:d>
                  </m:oMath>
                </a14:m>
                <a:r>
                  <a:rPr lang="en-US" altLang="zh-TW" sz="2400" dirty="0" smtClean="0"/>
                  <a:t> may be obtained, recursively, in two stages: </a:t>
                </a:r>
                <a:r>
                  <a:rPr lang="en-US" altLang="zh-TW" sz="2400" dirty="0" smtClean="0">
                    <a:solidFill>
                      <a:srgbClr val="FF0000"/>
                    </a:solidFill>
                  </a:rPr>
                  <a:t>prediction </a:t>
                </a:r>
                <a:r>
                  <a:rPr lang="en-US" altLang="zh-TW" sz="2400" dirty="0" smtClean="0"/>
                  <a:t>and </a:t>
                </a:r>
                <a:r>
                  <a:rPr lang="en-US" altLang="zh-TW" sz="2400" dirty="0" smtClean="0">
                    <a:solidFill>
                      <a:srgbClr val="FF0000"/>
                    </a:solidFill>
                  </a:rPr>
                  <a:t>update</a:t>
                </a:r>
                <a:r>
                  <a:rPr lang="en-US" altLang="zh-TW" sz="2400" dirty="0" smtClean="0"/>
                  <a:t>.</a:t>
                </a:r>
              </a:p>
              <a:p>
                <a:pPr marL="342900" indent="-342900">
                  <a:lnSpc>
                    <a:spcPct val="120000"/>
                  </a:lnSpc>
                  <a:buFont typeface="Arial" panose="020B0604020202020204" pitchFamily="34" charset="0"/>
                  <a:buChar char="•"/>
                </a:pPr>
                <a:endParaRPr lang="en-US" altLang="zh-TW" sz="2400" dirty="0"/>
              </a:p>
              <a:p>
                <a:pPr marL="285750" indent="-285750">
                  <a:buFont typeface="Arial" panose="020B0604020202020204" pitchFamily="34" charset="0"/>
                  <a:buChar char="•"/>
                </a:pPr>
                <a:r>
                  <a:rPr lang="zh-TW" altLang="en-US" sz="2400" dirty="0">
                    <a:solidFill>
                      <a:srgbClr val="363636"/>
                    </a:solidFill>
                    <a:latin typeface="微軟正黑體" panose="020B0604030504040204" pitchFamily="34" charset="-120"/>
                    <a:ea typeface="微軟正黑體" panose="020B0604030504040204" pitchFamily="34" charset="-120"/>
                  </a:rPr>
                  <a:t>狀態轉移函數</a:t>
                </a:r>
                <a14:m>
                  <m:oMath xmlns:m="http://schemas.openxmlformats.org/officeDocument/2006/math">
                    <m:sSub>
                      <m:sSubPr>
                        <m:ctrlPr>
                          <a:rPr lang="en-US" altLang="zh-TW" sz="2400" i="1">
                            <a:solidFill>
                              <a:srgbClr val="363636"/>
                            </a:solidFill>
                            <a:latin typeface="Cambria Math" panose="02040503050406030204" pitchFamily="18" charset="0"/>
                            <a:ea typeface="微軟正黑體" panose="020B0604030504040204" pitchFamily="34" charset="-120"/>
                          </a:rPr>
                        </m:ctrlPr>
                      </m:sSubPr>
                      <m:e>
                        <m:r>
                          <a:rPr lang="en-US" altLang="zh-TW" sz="2400" i="1">
                            <a:solidFill>
                              <a:srgbClr val="363636"/>
                            </a:solidFill>
                            <a:latin typeface="Cambria Math" panose="02040503050406030204" pitchFamily="18" charset="0"/>
                            <a:ea typeface="微軟正黑體" panose="020B0604030504040204" pitchFamily="34" charset="-120"/>
                          </a:rPr>
                          <m:t>𝑓</m:t>
                        </m:r>
                      </m:e>
                      <m:sub>
                        <m:r>
                          <a:rPr lang="en-US" altLang="zh-TW" sz="2400" i="1">
                            <a:solidFill>
                              <a:srgbClr val="363636"/>
                            </a:solidFill>
                            <a:latin typeface="Cambria Math" panose="02040503050406030204" pitchFamily="18" charset="0"/>
                            <a:ea typeface="微軟正黑體" panose="020B0604030504040204" pitchFamily="34" charset="-120"/>
                          </a:rPr>
                          <m:t>𝑡</m:t>
                        </m:r>
                      </m:sub>
                    </m:sSub>
                  </m:oMath>
                </a14:m>
                <a:r>
                  <a:rPr lang="zh-TW" altLang="en-US" sz="2400" dirty="0">
                    <a:solidFill>
                      <a:srgbClr val="363636"/>
                    </a:solidFill>
                    <a:latin typeface="微軟正黑體" panose="020B0604030504040204" pitchFamily="34" charset="-120"/>
                    <a:ea typeface="微軟正黑體" panose="020B0604030504040204" pitchFamily="34" charset="-120"/>
                  </a:rPr>
                  <a:t>和觀測函數</a:t>
                </a:r>
                <a14:m>
                  <m:oMath xmlns:m="http://schemas.openxmlformats.org/officeDocument/2006/math">
                    <m:sSub>
                      <m:sSubPr>
                        <m:ctrlPr>
                          <a:rPr lang="en-US" altLang="zh-TW" sz="2400" i="1" dirty="0">
                            <a:solidFill>
                              <a:srgbClr val="363636"/>
                            </a:solidFill>
                            <a:latin typeface="Cambria Math" panose="02040503050406030204" pitchFamily="18" charset="0"/>
                            <a:ea typeface="微軟正黑體" panose="020B0604030504040204" pitchFamily="34" charset="-120"/>
                          </a:rPr>
                        </m:ctrlPr>
                      </m:sSubPr>
                      <m:e>
                        <m:r>
                          <a:rPr lang="en-US" altLang="zh-TW" sz="2400" i="1" dirty="0">
                            <a:solidFill>
                              <a:srgbClr val="363636"/>
                            </a:solidFill>
                            <a:latin typeface="Cambria Math" panose="02040503050406030204" pitchFamily="18" charset="0"/>
                            <a:ea typeface="微軟正黑體" panose="020B0604030504040204" pitchFamily="34" charset="-120"/>
                          </a:rPr>
                          <m:t>h</m:t>
                        </m:r>
                      </m:e>
                      <m:sub>
                        <m:r>
                          <a:rPr lang="en-US" altLang="zh-TW" sz="2400" i="1" dirty="0">
                            <a:solidFill>
                              <a:srgbClr val="363636"/>
                            </a:solidFill>
                            <a:latin typeface="Cambria Math" panose="02040503050406030204" pitchFamily="18" charset="0"/>
                            <a:ea typeface="微軟正黑體" panose="020B0604030504040204" pitchFamily="34" charset="-120"/>
                          </a:rPr>
                          <m:t>𝑡</m:t>
                        </m:r>
                      </m:sub>
                    </m:sSub>
                  </m:oMath>
                </a14:m>
                <a:r>
                  <a:rPr lang="zh-TW" altLang="en-US" sz="2400" dirty="0">
                    <a:solidFill>
                      <a:srgbClr val="363636"/>
                    </a:solidFill>
                    <a:latin typeface="微軟正黑體" panose="020B0604030504040204" pitchFamily="34" charset="-120"/>
                    <a:ea typeface="微軟正黑體" panose="020B0604030504040204" pitchFamily="34" charset="-120"/>
                  </a:rPr>
                  <a:t>為</a:t>
                </a:r>
                <a:r>
                  <a:rPr lang="zh-TW" altLang="en-US" sz="2400" dirty="0">
                    <a:solidFill>
                      <a:srgbClr val="FF0000"/>
                    </a:solidFill>
                    <a:latin typeface="微軟正黑體" panose="020B0604030504040204" pitchFamily="34" charset="-120"/>
                    <a:ea typeface="微軟正黑體" panose="020B0604030504040204" pitchFamily="34" charset="-120"/>
                  </a:rPr>
                  <a:t>非線性</a:t>
                </a:r>
                <a:r>
                  <a:rPr lang="zh-TW" altLang="en-US" sz="2400" dirty="0">
                    <a:solidFill>
                      <a:srgbClr val="363636"/>
                    </a:solidFill>
                    <a:latin typeface="微軟正黑體" panose="020B0604030504040204" pitchFamily="34" charset="-120"/>
                    <a:ea typeface="微軟正黑體" panose="020B0604030504040204" pitchFamily="34" charset="-120"/>
                  </a:rPr>
                  <a:t>。</a:t>
                </a:r>
              </a:p>
              <a:p>
                <a:pPr marL="285750" indent="-285750">
                  <a:buFont typeface="Arial" panose="020B0604020202020204" pitchFamily="34" charset="0"/>
                  <a:buChar char="•"/>
                </a:pPr>
                <a14:m>
                  <m:oMath xmlns:m="http://schemas.openxmlformats.org/officeDocument/2006/math">
                    <m:sSub>
                      <m:sSubPr>
                        <m:ctrlPr>
                          <a:rPr lang="en-US" altLang="zh-TW" sz="2400" i="1">
                            <a:solidFill>
                              <a:srgbClr val="363636"/>
                            </a:solidFill>
                            <a:latin typeface="Cambria Math" panose="02040503050406030204" pitchFamily="18" charset="0"/>
                            <a:ea typeface="微軟正黑體" panose="020B0604030504040204" pitchFamily="34" charset="-120"/>
                          </a:rPr>
                        </m:ctrlPr>
                      </m:sSubPr>
                      <m:e>
                        <m:r>
                          <a:rPr lang="en-US" altLang="zh-TW" sz="2400" i="1">
                            <a:solidFill>
                              <a:srgbClr val="363636"/>
                            </a:solidFill>
                            <a:latin typeface="Cambria Math" panose="02040503050406030204" pitchFamily="18" charset="0"/>
                            <a:ea typeface="微軟正黑體" panose="020B0604030504040204" pitchFamily="34" charset="-120"/>
                          </a:rPr>
                          <m:t>𝑤</m:t>
                        </m:r>
                      </m:e>
                      <m:sub>
                        <m:r>
                          <a:rPr lang="en-US" altLang="zh-TW" sz="2400" i="1">
                            <a:solidFill>
                              <a:srgbClr val="363636"/>
                            </a:solidFill>
                            <a:latin typeface="Cambria Math" panose="02040503050406030204" pitchFamily="18" charset="0"/>
                            <a:ea typeface="微軟正黑體" panose="020B0604030504040204" pitchFamily="34" charset="-120"/>
                          </a:rPr>
                          <m:t>𝑡</m:t>
                        </m:r>
                      </m:sub>
                    </m:sSub>
                  </m:oMath>
                </a14:m>
                <a:r>
                  <a:rPr lang="en-US" altLang="zh-TW" sz="2400" dirty="0">
                    <a:solidFill>
                      <a:srgbClr val="363636"/>
                    </a:solidFill>
                    <a:latin typeface="微軟正黑體" panose="020B0604030504040204" pitchFamily="34" charset="-120"/>
                    <a:ea typeface="微軟正黑體" panose="020B0604030504040204" pitchFamily="34" charset="-120"/>
                  </a:rPr>
                  <a:t>, </a:t>
                </a:r>
                <a14:m>
                  <m:oMath xmlns:m="http://schemas.openxmlformats.org/officeDocument/2006/math">
                    <m:sSub>
                      <m:sSubPr>
                        <m:ctrlPr>
                          <a:rPr lang="en-US" altLang="zh-TW" sz="2400" i="1">
                            <a:solidFill>
                              <a:srgbClr val="363636"/>
                            </a:solidFill>
                            <a:latin typeface="Cambria Math" panose="02040503050406030204" pitchFamily="18" charset="0"/>
                            <a:ea typeface="微軟正黑體" panose="020B0604030504040204" pitchFamily="34" charset="-120"/>
                          </a:rPr>
                        </m:ctrlPr>
                      </m:sSubPr>
                      <m:e>
                        <m:r>
                          <a:rPr lang="en-US" altLang="zh-TW" sz="2400" i="1">
                            <a:solidFill>
                              <a:srgbClr val="363636"/>
                            </a:solidFill>
                            <a:latin typeface="Cambria Math" panose="02040503050406030204" pitchFamily="18" charset="0"/>
                            <a:ea typeface="微軟正黑體" panose="020B0604030504040204" pitchFamily="34" charset="-120"/>
                          </a:rPr>
                          <m:t>𝑣</m:t>
                        </m:r>
                      </m:e>
                      <m:sub>
                        <m:r>
                          <a:rPr lang="en-US" altLang="zh-TW" sz="2400" i="1">
                            <a:solidFill>
                              <a:srgbClr val="363636"/>
                            </a:solidFill>
                            <a:latin typeface="Cambria Math" panose="02040503050406030204" pitchFamily="18" charset="0"/>
                            <a:ea typeface="微軟正黑體" panose="020B0604030504040204" pitchFamily="34" charset="-120"/>
                          </a:rPr>
                          <m:t>𝑡</m:t>
                        </m:r>
                      </m:sub>
                    </m:sSub>
                  </m:oMath>
                </a14:m>
                <a:r>
                  <a:rPr lang="zh-TW" altLang="en-US" sz="2400" dirty="0">
                    <a:solidFill>
                      <a:srgbClr val="363636"/>
                    </a:solidFill>
                    <a:latin typeface="微軟正黑體" panose="020B0604030504040204" pitchFamily="34" charset="-120"/>
                    <a:ea typeface="微軟正黑體" panose="020B0604030504040204" pitchFamily="34" charset="-120"/>
                  </a:rPr>
                  <a:t>兩個</a:t>
                </a:r>
                <a:r>
                  <a:rPr lang="en-US" altLang="zh-TW" sz="2400" dirty="0">
                    <a:solidFill>
                      <a:srgbClr val="363636"/>
                    </a:solidFill>
                    <a:latin typeface="微軟正黑體" panose="020B0604030504040204" pitchFamily="34" charset="-120"/>
                    <a:ea typeface="微軟正黑體" panose="020B0604030504040204" pitchFamily="34" charset="-120"/>
                  </a:rPr>
                  <a:t>noise</a:t>
                </a:r>
                <a:r>
                  <a:rPr lang="zh-TW" altLang="en-US" sz="2400" dirty="0">
                    <a:solidFill>
                      <a:srgbClr val="363636"/>
                    </a:solidFill>
                    <a:latin typeface="微軟正黑體" panose="020B0604030504040204" pitchFamily="34" charset="-120"/>
                    <a:ea typeface="微軟正黑體" panose="020B0604030504040204" pitchFamily="34" charset="-120"/>
                  </a:rPr>
                  <a:t>的分佈</a:t>
                </a:r>
                <a:r>
                  <a:rPr lang="zh-TW" altLang="en-US" sz="2400" dirty="0">
                    <a:solidFill>
                      <a:srgbClr val="FF0000"/>
                    </a:solidFill>
                    <a:latin typeface="微軟正黑體" panose="020B0604030504040204" pitchFamily="34" charset="-120"/>
                    <a:ea typeface="微軟正黑體" panose="020B0604030504040204" pitchFamily="34" charset="-120"/>
                  </a:rPr>
                  <a:t>非高斯分佈</a:t>
                </a:r>
                <a:r>
                  <a:rPr lang="zh-TW" altLang="en-US" sz="2400" dirty="0">
                    <a:solidFill>
                      <a:srgbClr val="363636"/>
                    </a:solidFill>
                    <a:latin typeface="微軟正黑體" panose="020B0604030504040204" pitchFamily="34" charset="-120"/>
                    <a:ea typeface="微軟正黑體" panose="020B0604030504040204" pitchFamily="34" charset="-120"/>
                  </a:rPr>
                  <a:t>。</a:t>
                </a:r>
              </a:p>
              <a:p>
                <a:pPr marL="285750" indent="-285750">
                  <a:buFont typeface="Arial" panose="020B0604020202020204" pitchFamily="34" charset="0"/>
                  <a:buChar char="•"/>
                </a:pPr>
                <a:r>
                  <a:rPr lang="zh-TW" altLang="en-US" sz="2400" dirty="0">
                    <a:solidFill>
                      <a:srgbClr val="363636"/>
                    </a:solidFill>
                    <a:latin typeface="微軟正黑體" panose="020B0604030504040204" pitchFamily="34" charset="-120"/>
                    <a:ea typeface="微軟正黑體" panose="020B0604030504040204" pitchFamily="34" charset="-120"/>
                  </a:rPr>
                  <a:t>如果已知過程程轉移為線性和</a:t>
                </a:r>
                <a:r>
                  <a:rPr lang="en-US" altLang="zh-TW" sz="2400" dirty="0" smtClean="0">
                    <a:solidFill>
                      <a:srgbClr val="363636"/>
                    </a:solidFill>
                    <a:latin typeface="微軟正黑體" panose="020B0604030504040204" pitchFamily="34" charset="-120"/>
                    <a:ea typeface="微軟正黑體" panose="020B0604030504040204" pitchFamily="34" charset="-120"/>
                  </a:rPr>
                  <a:t>noise</a:t>
                </a:r>
                <a:r>
                  <a:rPr lang="zh-TW" altLang="en-US" sz="2400" dirty="0" smtClean="0">
                    <a:solidFill>
                      <a:srgbClr val="363636"/>
                    </a:solidFill>
                    <a:latin typeface="微軟正黑體" panose="020B0604030504040204" pitchFamily="34" charset="-120"/>
                    <a:ea typeface="微軟正黑體" panose="020B0604030504040204" pitchFamily="34" charset="-120"/>
                  </a:rPr>
                  <a:t>為</a:t>
                </a:r>
                <a:r>
                  <a:rPr lang="zh-TW" altLang="en-US" sz="2400" dirty="0">
                    <a:solidFill>
                      <a:srgbClr val="363636"/>
                    </a:solidFill>
                    <a:latin typeface="微軟正黑體" panose="020B0604030504040204" pitchFamily="34" charset="-120"/>
                    <a:ea typeface="微軟正黑體" panose="020B0604030504040204" pitchFamily="34" charset="-120"/>
                  </a:rPr>
                  <a:t>高斯</a:t>
                </a:r>
                <a:r>
                  <a:rPr lang="zh-TW" altLang="en-US" sz="2400" dirty="0" smtClean="0">
                    <a:solidFill>
                      <a:srgbClr val="363636"/>
                    </a:solidFill>
                    <a:latin typeface="微軟正黑體" panose="020B0604030504040204" pitchFamily="34" charset="-120"/>
                    <a:ea typeface="微軟正黑體" panose="020B0604030504040204" pitchFamily="34" charset="-120"/>
                  </a:rPr>
                  <a:t>分佈</a:t>
                </a:r>
                <a:r>
                  <a:rPr lang="zh-TW" altLang="en-US" sz="2400" dirty="0">
                    <a:solidFill>
                      <a:srgbClr val="363636"/>
                    </a:solidFill>
                    <a:latin typeface="微軟正黑體" panose="020B0604030504040204" pitchFamily="34" charset="-120"/>
                    <a:ea typeface="微軟正黑體" panose="020B0604030504040204" pitchFamily="34" charset="-120"/>
                  </a:rPr>
                  <a:t>，</a:t>
                </a:r>
                <a:r>
                  <a:rPr lang="zh-TW" altLang="en-US" sz="2400" dirty="0" smtClean="0">
                    <a:solidFill>
                      <a:srgbClr val="363636"/>
                    </a:solidFill>
                    <a:latin typeface="微軟正黑體" panose="020B0604030504040204" pitchFamily="34" charset="-120"/>
                    <a:ea typeface="微軟正黑體" panose="020B0604030504040204" pitchFamily="34" charset="-120"/>
                  </a:rPr>
                  <a:t>則</a:t>
                </a:r>
                <a:r>
                  <a:rPr lang="en-US" altLang="zh-TW" sz="2400" dirty="0" err="1">
                    <a:solidFill>
                      <a:srgbClr val="363636"/>
                    </a:solidFill>
                    <a:latin typeface="微軟正黑體" panose="020B0604030504040204" pitchFamily="34" charset="-120"/>
                    <a:ea typeface="微軟正黑體" panose="020B0604030504040204" pitchFamily="34" charset="-120"/>
                  </a:rPr>
                  <a:t>Kalman</a:t>
                </a:r>
                <a:r>
                  <a:rPr lang="en-US" altLang="zh-TW" sz="2400" dirty="0">
                    <a:solidFill>
                      <a:srgbClr val="363636"/>
                    </a:solidFill>
                    <a:latin typeface="微軟正黑體" panose="020B0604030504040204" pitchFamily="34" charset="-120"/>
                    <a:ea typeface="微軟正黑體" panose="020B0604030504040204" pitchFamily="34" charset="-120"/>
                  </a:rPr>
                  <a:t/>
                </a:r>
                <a:r>
                  <a:rPr lang="en-US" altLang="zh-TW" sz="2400" dirty="0" smtClean="0">
                    <a:solidFill>
                      <a:srgbClr val="363636"/>
                    </a:solidFill>
                    <a:latin typeface="微軟正黑體" panose="020B0604030504040204" pitchFamily="34" charset="-120"/>
                    <a:ea typeface="微軟正黑體" panose="020B0604030504040204" pitchFamily="34" charset="-120"/>
                  </a:rPr>
                  <a:t>filter</a:t>
                </a:r>
                <a:r>
                  <a:rPr lang="zh-TW" altLang="en-US" sz="2400" dirty="0" smtClean="0">
                    <a:solidFill>
                      <a:srgbClr val="363636"/>
                    </a:solidFill>
                    <a:latin typeface="微軟正黑體" panose="020B0604030504040204" pitchFamily="34" charset="-120"/>
                    <a:ea typeface="微軟正黑體" panose="020B0604030504040204" pitchFamily="34" charset="-120"/>
                  </a:rPr>
                  <a:t>是最佳</a:t>
                </a:r>
                <a:r>
                  <a:rPr lang="en-US" altLang="zh-TW" sz="2400" dirty="0" smtClean="0">
                    <a:solidFill>
                      <a:srgbClr val="363636"/>
                    </a:solidFill>
                    <a:latin typeface="微軟正黑體" panose="020B0604030504040204" pitchFamily="34" charset="-120"/>
                    <a:ea typeface="微軟正黑體" panose="020B0604030504040204" pitchFamily="34" charset="-120"/>
                  </a:rPr>
                  <a:t>(optimal)</a:t>
                </a:r>
                <a:r>
                  <a:rPr lang="zh-TW" altLang="en-US" sz="2400" dirty="0" smtClean="0">
                    <a:solidFill>
                      <a:srgbClr val="363636"/>
                    </a:solidFill>
                    <a:latin typeface="微軟正黑體" panose="020B0604030504040204" pitchFamily="34" charset="-120"/>
                    <a:ea typeface="微軟正黑體" panose="020B0604030504040204" pitchFamily="34" charset="-120"/>
                  </a:rPr>
                  <a:t>的</a:t>
                </a:r>
                <a:r>
                  <a:rPr lang="zh-TW" altLang="en-US" sz="2400" dirty="0">
                    <a:solidFill>
                      <a:srgbClr val="363636"/>
                    </a:solidFill>
                    <a:latin typeface="微軟正黑體" panose="020B0604030504040204" pitchFamily="34" charset="-120"/>
                    <a:ea typeface="微軟正黑體" panose="020B0604030504040204" pitchFamily="34" charset="-120"/>
                  </a:rPr>
                  <a:t>濾波器</a:t>
                </a:r>
              </a:p>
              <a:p>
                <a:pPr marL="342900" indent="-342900">
                  <a:lnSpc>
                    <a:spcPct val="120000"/>
                  </a:lnSpc>
                  <a:buFont typeface="Arial" panose="020B0604020202020204" pitchFamily="34" charset="0"/>
                  <a:buChar char="•"/>
                </a:pPr>
                <a:endParaRPr lang="en-US" altLang="zh-TW" sz="2400" dirty="0" smtClean="0"/>
              </a:p>
              <a:p>
                <a:pPr marL="342900" indent="-342900">
                  <a:lnSpc>
                    <a:spcPct val="120000"/>
                  </a:lnSpc>
                  <a:buFont typeface="Arial" panose="020B0604020202020204" pitchFamily="34" charset="0"/>
                  <a:buChar char="•"/>
                </a:pPr>
                <a:endParaRPr lang="en-US" altLang="zh-TW" sz="2400" dirty="0"/>
              </a:p>
              <a:p>
                <a:pPr marL="342900" indent="-342900">
                  <a:lnSpc>
                    <a:spcPct val="120000"/>
                  </a:lnSpc>
                  <a:buFont typeface="Arial" panose="020B0604020202020204" pitchFamily="34" charset="0"/>
                  <a:buChar char="•"/>
                </a:pPr>
                <a:endParaRPr lang="en-US" altLang="zh-TW" sz="2400" dirty="0" smtClean="0"/>
              </a:p>
              <a:p>
                <a:pPr>
                  <a:lnSpc>
                    <a:spcPct val="120000"/>
                  </a:lnSpc>
                </a:pPr>
                <a:endParaRPr lang="zh-TW" altLang="en-US" sz="2400" dirty="0"/>
              </a:p>
            </p:txBody>
          </p:sp>
        </mc:Choice>
        <mc:Fallback>
          <p:sp>
            <p:nvSpPr>
              <p:cNvPr id="4" name="矩形 3"/>
              <p:cNvSpPr>
                <a:spLocks noRot="1" noChangeAspect="1" noMove="1" noResize="1" noEditPoints="1" noAdjustHandles="1" noChangeArrowheads="1" noChangeShapeType="1" noTextEdit="1"/>
              </p:cNvSpPr>
              <p:nvPr/>
            </p:nvSpPr>
            <p:spPr>
              <a:xfrm>
                <a:off x="600500" y="1489183"/>
                <a:ext cx="11550555" cy="6888039"/>
              </a:xfrm>
              <a:prstGeom prst="rect">
                <a:avLst/>
              </a:prstGeom>
              <a:blipFill rotWithShape="0">
                <a:blip r:embed="rId2"/>
                <a:stretch>
                  <a:fillRect l="-739" t="-88"/>
                </a:stretch>
              </a:blipFill>
            </p:spPr>
            <p:txBody>
              <a:bodyPr/>
              <a:lstStyle/>
              <a:p>
                <a:r>
                  <a:rPr lang="zh-TW" altLang="en-US">
                    <a:noFill/>
                  </a:rPr>
                  <a:t> </a:t>
                </a:r>
              </a:p>
            </p:txBody>
          </p:sp>
        </mc:Fallback>
      </mc:AlternateContent>
      <p:sp>
        <p:nvSpPr>
          <p:cNvPr id="6" name="圓角矩形 5"/>
          <p:cNvSpPr/>
          <p:nvPr/>
        </p:nvSpPr>
        <p:spPr>
          <a:xfrm>
            <a:off x="641445" y="1489182"/>
            <a:ext cx="7165074" cy="1340431"/>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p:cNvPicPr>
            <a:picLocks noChangeAspect="1"/>
          </p:cNvPicPr>
          <p:nvPr/>
        </p:nvPicPr>
        <p:blipFill>
          <a:blip r:embed="rId3">
            <a:extLst>
              <a:ext uri="{28A0092B-C50C-407E-A947-70E740481C1C}">
                <a14:useLocalDpi xmlns:a14="http://schemas.microsoft.com/office/drawing/2010/main" xmlns=""/>
              </a:ext>
            </a:extLst>
          </a:blip>
          <a:stretch>
            <a:fillRect/>
          </a:stretch>
        </p:blipFill>
        <p:spPr>
          <a:xfrm>
            <a:off x="8893070" y="1279244"/>
            <a:ext cx="3057192" cy="2321555"/>
          </a:xfrm>
          <a:prstGeom prst="rect">
            <a:avLst/>
          </a:prstGeom>
        </p:spPr>
      </p:pic>
      <p:sp>
        <p:nvSpPr>
          <p:cNvPr id="9" name="圓角矩形 8"/>
          <p:cNvSpPr/>
          <p:nvPr/>
        </p:nvSpPr>
        <p:spPr>
          <a:xfrm>
            <a:off x="995151" y="3316406"/>
            <a:ext cx="7165074" cy="409433"/>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xmlns="" val="109231147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85976"/>
            <a:ext cx="10515600" cy="1325563"/>
          </a:xfrm>
        </p:spPr>
        <p:txBody>
          <a:bodyPr/>
          <a:lstStyle/>
          <a:p>
            <a:r>
              <a:rPr lang="en-US" altLang="zh-TW" dirty="0"/>
              <a:t>Nonlinear Bayesian tracking</a:t>
            </a:r>
            <a:endParaRPr lang="zh-TW" altLang="en-US" dirty="0"/>
          </a:p>
        </p:txBody>
      </p:sp>
      <p:sp>
        <p:nvSpPr>
          <p:cNvPr id="3" name="投影片編號版面配置區 2"/>
          <p:cNvSpPr>
            <a:spLocks noGrp="1"/>
          </p:cNvSpPr>
          <p:nvPr>
            <p:ph type="sldNum" sz="quarter" idx="12"/>
          </p:nvPr>
        </p:nvSpPr>
        <p:spPr/>
        <p:txBody>
          <a:bodyPr/>
          <a:lstStyle/>
          <a:p>
            <a:fld id="{60325430-07F2-45E8-A5C9-B73C13C9C571}" type="slidenum">
              <a:rPr lang="zh-TW" altLang="en-US" smtClean="0"/>
              <a:pPr/>
              <a:t>23</a:t>
            </a:fld>
            <a:endParaRPr lang="zh-TW" altLang="en-US"/>
          </a:p>
        </p:txBody>
      </p:sp>
      <mc:AlternateContent xmlns:mc="http://schemas.openxmlformats.org/markup-compatibility/2006">
        <mc:Choice xmlns:a14="http://schemas.microsoft.com/office/drawing/2010/main" xmlns="" Requires="a14">
          <p:sp>
            <p:nvSpPr>
              <p:cNvPr id="5" name="矩形 4"/>
              <p:cNvSpPr/>
              <p:nvPr/>
            </p:nvSpPr>
            <p:spPr>
              <a:xfrm>
                <a:off x="298293" y="1411539"/>
                <a:ext cx="11595413" cy="3279167"/>
              </a:xfrm>
              <a:prstGeom prst="rect">
                <a:avLst/>
              </a:prstGeom>
            </p:spPr>
            <p:txBody>
              <a:bodyPr wrap="square">
                <a:spAutoFit/>
              </a:bodyPr>
              <a:lstStyle/>
              <a:p>
                <a:pPr marL="342900" indent="-342900">
                  <a:lnSpc>
                    <a:spcPct val="120000"/>
                  </a:lnSpc>
                  <a:buFont typeface="Arial" panose="020B0604020202020204" pitchFamily="34" charset="0"/>
                  <a:buChar char="•"/>
                </a:pPr>
                <a:r>
                  <a:rPr lang="en-US" altLang="zh-TW" sz="2400" dirty="0" smtClean="0">
                    <a:solidFill>
                      <a:srgbClr val="FF0000"/>
                    </a:solidFill>
                    <a:latin typeface="Cambria Math" panose="02040503050406030204" pitchFamily="18" charset="0"/>
                  </a:rPr>
                  <a:t>Assumption</a:t>
                </a:r>
                <a:r>
                  <a:rPr lang="en-US" altLang="zh-TW" sz="2400" dirty="0" smtClean="0">
                    <a:solidFill>
                      <a:srgbClr val="00B0F0"/>
                    </a:solidFill>
                    <a:latin typeface="Cambria Math" panose="02040503050406030204" pitchFamily="18" charset="0"/>
                  </a:rPr>
                  <a:t>:</a:t>
                </a:r>
              </a:p>
              <a:p>
                <a:pPr marL="342900" indent="-342900">
                  <a:lnSpc>
                    <a:spcPct val="120000"/>
                  </a:lnSpc>
                  <a:buFont typeface="Arial" panose="020B0604020202020204" pitchFamily="34" charset="0"/>
                  <a:buChar char="•"/>
                </a:pPr>
                <a14:m>
                  <m:oMath xmlns:m="http://schemas.openxmlformats.org/officeDocument/2006/math">
                    <m:d>
                      <m:dPr>
                        <m:begChr m:val="{"/>
                        <m:endChr m:val="}"/>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sub>
                        </m:sSub>
                      </m:e>
                    </m:d>
                  </m:oMath>
                </a14:m>
                <a:r>
                  <a:rPr lang="en-US" altLang="zh-TW" sz="2400" dirty="0" smtClean="0">
                    <a:latin typeface="Cambria Math" panose="02040503050406030204" pitchFamily="18" charset="0"/>
                  </a:rPr>
                  <a:t> is a </a:t>
                </a:r>
                <a:r>
                  <a:rPr lang="en-US" altLang="zh-TW" sz="2400" dirty="0" smtClean="0">
                    <a:solidFill>
                      <a:srgbClr val="00B050"/>
                    </a:solidFill>
                    <a:latin typeface="Cambria Math" panose="02040503050406030204" pitchFamily="18" charset="0"/>
                  </a:rPr>
                  <a:t>Markov process</a:t>
                </a:r>
                <a:r>
                  <a:rPr lang="en-US" altLang="zh-TW" sz="2400" dirty="0" smtClean="0">
                    <a:latin typeface="Cambria Math" panose="02040503050406030204" pitchFamily="18" charset="0"/>
                  </a:rPr>
                  <a:t>, i.e. </a:t>
                </a:r>
                <a14:m>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0,</m:t>
                            </m:r>
                          </m:sub>
                        </m:sSub>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 </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−1</m:t>
                            </m:r>
                          </m:sub>
                        </m:sSub>
                      </m:e>
                    </m:d>
                  </m:oMath>
                </a14:m>
                <a:endParaRPr lang="en-US" altLang="zh-TW" sz="2400" dirty="0" smtClean="0">
                  <a:latin typeface="Cambria Math" panose="02040503050406030204" pitchFamily="18" charset="0"/>
                </a:endParaRPr>
              </a:p>
              <a:p>
                <a:pPr marL="342900" indent="-342900">
                  <a:lnSpc>
                    <a:spcPct val="120000"/>
                  </a:lnSpc>
                  <a:buFont typeface="Arial" panose="020B0604020202020204" pitchFamily="34" charset="0"/>
                  <a:buChar char="•"/>
                </a:pPr>
                <a14:m>
                  <m:oMath xmlns:m="http://schemas.openxmlformats.org/officeDocument/2006/math">
                    <m:d>
                      <m:dPr>
                        <m:begChr m:val="{"/>
                        <m:endChr m:val="}"/>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𝑡</m:t>
                            </m:r>
                          </m:sub>
                        </m:sSub>
                      </m:e>
                    </m:d>
                    <m:r>
                      <a:rPr lang="en-US" altLang="zh-TW" sz="2400" b="0" i="0" smtClean="0">
                        <a:latin typeface="Cambria Math" panose="02040503050406030204" pitchFamily="18" charset="0"/>
                      </a:rPr>
                      <m:t> </m:t>
                    </m:r>
                  </m:oMath>
                </a14:m>
                <a:r>
                  <a:rPr lang="en-US" altLang="zh-TW" sz="2400" dirty="0" smtClean="0">
                    <a:latin typeface="Cambria Math" panose="02040503050406030204" pitchFamily="18" charset="0"/>
                  </a:rPr>
                  <a:t/>
                </a:r>
                <a:r>
                  <a:rPr lang="en-US" altLang="zh-TW" sz="2400" dirty="0" smtClean="0">
                    <a:solidFill>
                      <a:srgbClr val="00B050"/>
                    </a:solidFill>
                    <a:latin typeface="Cambria Math" panose="02040503050406030204" pitchFamily="18" charset="0"/>
                  </a:rPr>
                  <a:t>is conditionally independent</a:t>
                </a:r>
                <a:r>
                  <a:rPr lang="en-US" altLang="zh-TW" sz="2400" dirty="0" smtClean="0">
                    <a:latin typeface="Cambria Math" panose="02040503050406030204" pitchFamily="18" charset="0"/>
                  </a:rPr>
                  <a:t> given the process </a:t>
                </a:r>
                <a14:m>
                  <m:oMath xmlns:m="http://schemas.openxmlformats.org/officeDocument/2006/math">
                    <m:d>
                      <m:dPr>
                        <m:begChr m:val="{"/>
                        <m:endChr m:val="}"/>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sub>
                        </m:sSub>
                      </m:e>
                    </m:d>
                  </m:oMath>
                </a14:m>
                <a:r>
                  <a:rPr lang="en-US" altLang="zh-TW" sz="2400" dirty="0" smtClean="0">
                    <a:latin typeface="Cambria Math" panose="02040503050406030204" pitchFamily="18" charset="0"/>
                  </a:rPr>
                  <a:t> and of marginal distribution </a:t>
                </a:r>
                <a14:m>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sub>
                        </m:sSub>
                      </m:e>
                    </m:d>
                  </m:oMath>
                </a14:m>
                <a:endParaRPr lang="en-US" altLang="zh-TW" sz="2400" dirty="0" smtClean="0">
                  <a:latin typeface="Cambria Math" panose="02040503050406030204" pitchFamily="18" charset="0"/>
                </a:endParaRPr>
              </a:p>
              <a:p>
                <a:pPr marL="342900" indent="-342900">
                  <a:lnSpc>
                    <a:spcPct val="120000"/>
                  </a:lnSpc>
                  <a:buFont typeface="Arial" panose="020B0604020202020204" pitchFamily="34" charset="0"/>
                  <a:buChar char="•"/>
                </a:pPr>
                <a14:m>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0</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0</m:t>
                            </m:r>
                          </m:sub>
                        </m:sSub>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0</m:t>
                            </m:r>
                          </m:sub>
                        </m:sSub>
                      </m:e>
                    </m:d>
                  </m:oMath>
                </a14:m>
                <a:endParaRPr lang="en-US" altLang="zh-TW" sz="2400" dirty="0" smtClean="0">
                  <a:latin typeface="Cambria Math" panose="02040503050406030204" pitchFamily="18" charset="0"/>
                </a:endParaRPr>
              </a:p>
              <a:p>
                <a:pPr marL="342900" indent="-342900">
                  <a:lnSpc>
                    <a:spcPct val="120000"/>
                  </a:lnSpc>
                  <a:buFont typeface="Arial" panose="020B0604020202020204" pitchFamily="34" charset="0"/>
                  <a:buChar char="•"/>
                </a:pPr>
                <a:endParaRPr lang="en-US" altLang="zh-TW" sz="2400" i="1" dirty="0" smtClean="0">
                  <a:latin typeface="Cambria Math" panose="02040503050406030204" pitchFamily="18" charset="0"/>
                </a:endParaRPr>
              </a:p>
              <a:p>
                <a:pPr marL="342900" indent="-342900">
                  <a:lnSpc>
                    <a:spcPct val="120000"/>
                  </a:lnSpc>
                  <a:buFont typeface="Arial" panose="020B0604020202020204" pitchFamily="34" charset="0"/>
                  <a:buChar char="•"/>
                </a:pPr>
                <a:endParaRPr lang="en-US" altLang="zh-TW" sz="2400" dirty="0"/>
              </a:p>
            </p:txBody>
          </p:sp>
        </mc:Choice>
        <mc:Fallback>
          <p:sp>
            <p:nvSpPr>
              <p:cNvPr id="5" name="矩形 4"/>
              <p:cNvSpPr>
                <a:spLocks noRot="1" noChangeAspect="1" noMove="1" noResize="1" noEditPoints="1" noAdjustHandles="1" noChangeArrowheads="1" noChangeShapeType="1" noTextEdit="1"/>
              </p:cNvSpPr>
              <p:nvPr/>
            </p:nvSpPr>
            <p:spPr>
              <a:xfrm>
                <a:off x="298293" y="1411539"/>
                <a:ext cx="11595413" cy="3279167"/>
              </a:xfrm>
              <a:prstGeom prst="rect">
                <a:avLst/>
              </a:prstGeom>
              <a:blipFill rotWithShape="0">
                <a:blip r:embed="rId2"/>
                <a:stretch>
                  <a:fillRect l="-736" t="-559" r="-368"/>
                </a:stretch>
              </a:blipFill>
            </p:spPr>
            <p:txBody>
              <a:bodyPr/>
              <a:lstStyle/>
              <a:p>
                <a:r>
                  <a:rPr lang="zh-TW" altLang="en-US">
                    <a:noFill/>
                  </a:rPr>
                  <a:t> </a:t>
                </a:r>
              </a:p>
            </p:txBody>
          </p:sp>
        </mc:Fallback>
      </mc:AlternateContent>
      <p:pic>
        <p:nvPicPr>
          <p:cNvPr id="4" name="圖片 3"/>
          <p:cNvPicPr>
            <a:picLocks noChangeAspect="1"/>
          </p:cNvPicPr>
          <p:nvPr/>
        </p:nvPicPr>
        <p:blipFill>
          <a:blip r:embed="rId3">
            <a:extLst>
              <a:ext uri="{28A0092B-C50C-407E-A947-70E740481C1C}">
                <a14:useLocalDpi xmlns:a14="http://schemas.microsoft.com/office/drawing/2010/main" xmlns=""/>
              </a:ext>
            </a:extLst>
          </a:blip>
          <a:stretch>
            <a:fillRect/>
          </a:stretch>
        </p:blipFill>
        <p:spPr>
          <a:xfrm>
            <a:off x="437437" y="4047650"/>
            <a:ext cx="5953477" cy="2491262"/>
          </a:xfrm>
          <a:prstGeom prst="rect">
            <a:avLst/>
          </a:prstGeom>
        </p:spPr>
      </p:pic>
      <p:pic>
        <p:nvPicPr>
          <p:cNvPr id="6" name="圖片 5"/>
          <p:cNvPicPr>
            <a:picLocks noChangeAspect="1"/>
          </p:cNvPicPr>
          <p:nvPr/>
        </p:nvPicPr>
        <p:blipFill>
          <a:blip r:embed="rId4" cstate="print">
            <a:extLst>
              <a:ext uri="{28A0092B-C50C-407E-A947-70E740481C1C}">
                <a14:useLocalDpi xmlns:a14="http://schemas.microsoft.com/office/drawing/2010/main" xmlns=""/>
              </a:ext>
            </a:extLst>
          </a:blip>
          <a:stretch>
            <a:fillRect/>
          </a:stretch>
        </p:blipFill>
        <p:spPr>
          <a:xfrm>
            <a:off x="6390914" y="3887953"/>
            <a:ext cx="5641936" cy="2833522"/>
          </a:xfrm>
          <a:prstGeom prst="rect">
            <a:avLst/>
          </a:prstGeom>
        </p:spPr>
      </p:pic>
    </p:spTree>
    <p:extLst>
      <p:ext uri="{BB962C8B-B14F-4D97-AF65-F5344CB8AC3E}">
        <p14:creationId xmlns:p14="http://schemas.microsoft.com/office/powerpoint/2010/main" xmlns="" val="220726781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231867" y="204967"/>
            <a:ext cx="10515600" cy="1325563"/>
          </a:xfrm>
        </p:spPr>
        <p:txBody>
          <a:bodyPr/>
          <a:lstStyle/>
          <a:p>
            <a:r>
              <a:rPr lang="en-US" altLang="zh-TW" dirty="0"/>
              <a:t>Nonlinear Bayesian tracking</a:t>
            </a:r>
            <a:endParaRPr lang="zh-TW" altLang="en-US" dirty="0"/>
          </a:p>
        </p:txBody>
      </p:sp>
      <mc:AlternateContent xmlns:mc="http://schemas.openxmlformats.org/markup-compatibility/2006">
        <mc:Choice xmlns:a14="http://schemas.microsoft.com/office/drawing/2010/main" xmlns="" Requires="a14">
          <p:sp>
            <p:nvSpPr>
              <p:cNvPr id="5" name="內容版面配置區 4"/>
              <p:cNvSpPr>
                <a:spLocks noGrp="1"/>
              </p:cNvSpPr>
              <p:nvPr>
                <p:ph idx="1"/>
              </p:nvPr>
            </p:nvSpPr>
            <p:spPr>
              <a:xfrm>
                <a:off x="341194" y="1378424"/>
                <a:ext cx="11012606" cy="5240740"/>
              </a:xfrm>
            </p:spPr>
            <p:txBody>
              <a:bodyPr>
                <a:normAutofit fontScale="92500" lnSpcReduction="10000"/>
              </a:bodyPr>
              <a:lstStyle/>
              <a:p>
                <a:pPr marL="342900" indent="-342900">
                  <a:lnSpc>
                    <a:spcPct val="120000"/>
                  </a:lnSpc>
                </a:pPr>
                <a:r>
                  <a:rPr lang="en-US" altLang="zh-TW" dirty="0" smtClean="0"/>
                  <a:t>Baye’s rule </a:t>
                </a:r>
                <a14:m>
                  <m:oMath xmlns:m="http://schemas.openxmlformats.org/officeDocument/2006/math">
                    <m:r>
                      <a:rPr lang="en-US" altLang="zh-TW" i="1">
                        <a:latin typeface="Cambria Math" panose="02040503050406030204" pitchFamily="18" charset="0"/>
                      </a:rPr>
                      <m:t>𝑃</m:t>
                    </m:r>
                    <m:d>
                      <m:dPr>
                        <m:ctrlPr>
                          <a:rPr lang="en-US" altLang="zh-TW" i="1">
                            <a:latin typeface="Cambria Math" panose="02040503050406030204" pitchFamily="18" charset="0"/>
                          </a:rPr>
                        </m:ctrlPr>
                      </m:dPr>
                      <m:e>
                        <m:r>
                          <a:rPr lang="en-US" altLang="zh-TW" i="1">
                            <a:latin typeface="Cambria Math" panose="02040503050406030204" pitchFamily="18" charset="0"/>
                          </a:rPr>
                          <m:t>𝑥</m:t>
                        </m:r>
                        <m:r>
                          <a:rPr lang="en-US" altLang="zh-TW" i="1">
                            <a:latin typeface="Cambria Math" panose="02040503050406030204" pitchFamily="18" charset="0"/>
                          </a:rPr>
                          <m:t>|</m:t>
                        </m:r>
                        <m:r>
                          <a:rPr lang="en-US" altLang="zh-TW" i="1">
                            <a:latin typeface="Cambria Math" panose="02040503050406030204" pitchFamily="18" charset="0"/>
                          </a:rPr>
                          <m:t>𝑧</m:t>
                        </m:r>
                      </m:e>
                    </m:d>
                    <m:r>
                      <a:rPr lang="en-US" altLang="zh-TW" i="1">
                        <a:latin typeface="Cambria Math" panose="02040503050406030204" pitchFamily="18" charset="0"/>
                      </a:rPr>
                      <m:t>=</m:t>
                    </m:r>
                    <m:f>
                      <m:fPr>
                        <m:ctrlPr>
                          <a:rPr lang="en-US" altLang="zh-TW" i="1">
                            <a:latin typeface="Cambria Math" panose="02040503050406030204" pitchFamily="18" charset="0"/>
                          </a:rPr>
                        </m:ctrlPr>
                      </m:fPr>
                      <m:num>
                        <m:r>
                          <a:rPr lang="en-US" altLang="zh-TW" i="1">
                            <a:latin typeface="Cambria Math" panose="02040503050406030204" pitchFamily="18" charset="0"/>
                          </a:rPr>
                          <m:t>𝑃</m:t>
                        </m:r>
                        <m:d>
                          <m:dPr>
                            <m:ctrlPr>
                              <a:rPr lang="en-US" altLang="zh-TW" i="1">
                                <a:latin typeface="Cambria Math" panose="02040503050406030204" pitchFamily="18" charset="0"/>
                              </a:rPr>
                            </m:ctrlPr>
                          </m:dPr>
                          <m:e>
                            <m:r>
                              <a:rPr lang="en-US" altLang="zh-TW" i="1">
                                <a:latin typeface="Cambria Math" panose="02040503050406030204" pitchFamily="18" charset="0"/>
                              </a:rPr>
                              <m:t>𝑥</m:t>
                            </m:r>
                            <m:r>
                              <a:rPr lang="en-US" altLang="zh-TW" i="1">
                                <a:latin typeface="Cambria Math" panose="02040503050406030204" pitchFamily="18" charset="0"/>
                              </a:rPr>
                              <m:t>,</m:t>
                            </m:r>
                            <m:r>
                              <a:rPr lang="en-US" altLang="zh-TW" i="1">
                                <a:latin typeface="Cambria Math" panose="02040503050406030204" pitchFamily="18" charset="0"/>
                              </a:rPr>
                              <m:t>𝑧</m:t>
                            </m:r>
                          </m:e>
                        </m:d>
                      </m:num>
                      <m:den>
                        <m:r>
                          <a:rPr lang="en-US" altLang="zh-TW" i="1">
                            <a:latin typeface="Cambria Math" panose="02040503050406030204" pitchFamily="18" charset="0"/>
                          </a:rPr>
                          <m:t>𝑃</m:t>
                        </m:r>
                        <m:d>
                          <m:dPr>
                            <m:ctrlPr>
                              <a:rPr lang="en-US" altLang="zh-TW" i="1">
                                <a:latin typeface="Cambria Math" panose="02040503050406030204" pitchFamily="18" charset="0"/>
                              </a:rPr>
                            </m:ctrlPr>
                          </m:dPr>
                          <m:e>
                            <m:r>
                              <a:rPr lang="en-US" altLang="zh-TW" i="1">
                                <a:latin typeface="Cambria Math" panose="02040503050406030204" pitchFamily="18" charset="0"/>
                              </a:rPr>
                              <m:t>𝑧</m:t>
                            </m:r>
                          </m:e>
                        </m:d>
                      </m:den>
                    </m:f>
                    <m:r>
                      <a:rPr lang="en-US" altLang="zh-TW" i="1">
                        <a:latin typeface="Cambria Math" panose="02040503050406030204" pitchFamily="18" charset="0"/>
                      </a:rPr>
                      <m:t>=</m:t>
                    </m:r>
                    <m:f>
                      <m:fPr>
                        <m:ctrlPr>
                          <a:rPr lang="en-US" altLang="zh-TW" i="1">
                            <a:latin typeface="Cambria Math" panose="02040503050406030204" pitchFamily="18" charset="0"/>
                          </a:rPr>
                        </m:ctrlPr>
                      </m:fPr>
                      <m:num>
                        <m:r>
                          <a:rPr lang="en-US" altLang="zh-TW" i="1">
                            <a:latin typeface="Cambria Math" panose="02040503050406030204" pitchFamily="18" charset="0"/>
                          </a:rPr>
                          <m:t>𝑃</m:t>
                        </m:r>
                        <m:d>
                          <m:dPr>
                            <m:ctrlPr>
                              <a:rPr lang="en-US" altLang="zh-TW" i="1">
                                <a:latin typeface="Cambria Math" panose="02040503050406030204" pitchFamily="18" charset="0"/>
                              </a:rPr>
                            </m:ctrlPr>
                          </m:dPr>
                          <m:e>
                            <m:r>
                              <a:rPr lang="en-US" altLang="zh-TW" i="1">
                                <a:latin typeface="Cambria Math" panose="02040503050406030204" pitchFamily="18" charset="0"/>
                              </a:rPr>
                              <m:t>𝑧</m:t>
                            </m:r>
                            <m:r>
                              <a:rPr lang="en-US" altLang="zh-TW" i="1">
                                <a:latin typeface="Cambria Math" panose="02040503050406030204" pitchFamily="18" charset="0"/>
                              </a:rPr>
                              <m:t>|</m:t>
                            </m:r>
                            <m:r>
                              <a:rPr lang="en-US" altLang="zh-TW" i="1">
                                <a:latin typeface="Cambria Math" panose="02040503050406030204" pitchFamily="18" charset="0"/>
                              </a:rPr>
                              <m:t>𝑥</m:t>
                            </m:r>
                          </m:e>
                        </m:d>
                        <m:r>
                          <a:rPr lang="en-US" altLang="zh-TW" i="1">
                            <a:latin typeface="Cambria Math" panose="02040503050406030204" pitchFamily="18" charset="0"/>
                          </a:rPr>
                          <m:t>𝑃</m:t>
                        </m:r>
                        <m:r>
                          <a:rPr lang="en-US" altLang="zh-TW" i="1">
                            <a:latin typeface="Cambria Math" panose="02040503050406030204" pitchFamily="18" charset="0"/>
                          </a:rPr>
                          <m:t>(</m:t>
                        </m:r>
                        <m:r>
                          <a:rPr lang="en-US" altLang="zh-TW" i="1">
                            <a:latin typeface="Cambria Math" panose="02040503050406030204" pitchFamily="18" charset="0"/>
                          </a:rPr>
                          <m:t>𝑥</m:t>
                        </m:r>
                        <m:r>
                          <a:rPr lang="en-US" altLang="zh-TW" i="1">
                            <a:latin typeface="Cambria Math" panose="02040503050406030204" pitchFamily="18" charset="0"/>
                          </a:rPr>
                          <m:t>)</m:t>
                        </m:r>
                      </m:num>
                      <m:den>
                        <m:r>
                          <a:rPr lang="en-US" altLang="zh-TW" i="1">
                            <a:latin typeface="Cambria Math" panose="02040503050406030204" pitchFamily="18" charset="0"/>
                          </a:rPr>
                          <m:t>𝑃</m:t>
                        </m:r>
                        <m:d>
                          <m:dPr>
                            <m:ctrlPr>
                              <a:rPr lang="en-US" altLang="zh-TW" i="1">
                                <a:latin typeface="Cambria Math" panose="02040503050406030204" pitchFamily="18" charset="0"/>
                              </a:rPr>
                            </m:ctrlPr>
                          </m:dPr>
                          <m:e>
                            <m:r>
                              <a:rPr lang="en-US" altLang="zh-TW" i="1">
                                <a:latin typeface="Cambria Math" panose="02040503050406030204" pitchFamily="18" charset="0"/>
                              </a:rPr>
                              <m:t>𝑧</m:t>
                            </m:r>
                          </m:e>
                        </m:d>
                      </m:den>
                    </m:f>
                  </m:oMath>
                </a14:m>
                <a:endParaRPr lang="en-US" altLang="zh-TW" i="1" dirty="0">
                  <a:latin typeface="Cambria Math" panose="02040503050406030204" pitchFamily="18" charset="0"/>
                </a:endParaRPr>
              </a:p>
              <a:p>
                <a:pPr marL="342900" indent="-342900">
                  <a:lnSpc>
                    <a:spcPct val="120000"/>
                  </a:lnSpc>
                </a:pPr>
                <a:r>
                  <a:rPr lang="en-US" altLang="zh-TW" dirty="0">
                    <a:solidFill>
                      <a:srgbClr val="FF0000"/>
                    </a:solidFill>
                  </a:rPr>
                  <a:t>Prior (prediction</a:t>
                </a:r>
                <a:r>
                  <a:rPr lang="zh-TW" altLang="en-US" dirty="0">
                    <a:solidFill>
                      <a:srgbClr val="FF0000"/>
                    </a:solidFill>
                  </a:rPr>
                  <a:t>，尚未觀察到</a:t>
                </a:r>
                <a14:m>
                  <m:oMath xmlns:m="http://schemas.openxmlformats.org/officeDocument/2006/math">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𝑧</m:t>
                        </m:r>
                      </m:e>
                      <m:sub>
                        <m:r>
                          <a:rPr lang="en-US" altLang="zh-TW" i="1">
                            <a:solidFill>
                              <a:srgbClr val="FF0000"/>
                            </a:solidFill>
                            <a:latin typeface="Cambria Math" panose="02040503050406030204" pitchFamily="18" charset="0"/>
                          </a:rPr>
                          <m:t>𝑡</m:t>
                        </m:r>
                      </m:sub>
                    </m:sSub>
                  </m:oMath>
                </a14:m>
                <a:r>
                  <a:rPr lang="en-US" altLang="zh-TW" dirty="0">
                    <a:solidFill>
                      <a:srgbClr val="FF0000"/>
                    </a:solidFill>
                  </a:rPr>
                  <a:t>) </a:t>
                </a:r>
                <a14:m>
                  <m:oMath xmlns:m="http://schemas.openxmlformats.org/officeDocument/2006/math">
                    <m:r>
                      <a:rPr lang="en-US" altLang="zh-TW" i="1" smtClean="0">
                        <a:solidFill>
                          <a:srgbClr val="00B050"/>
                        </a:solidFill>
                        <a:latin typeface="Cambria Math" panose="02040503050406030204" pitchFamily="18" charset="0"/>
                      </a:rPr>
                      <m:t>𝑃</m:t>
                    </m:r>
                    <m:d>
                      <m:dPr>
                        <m:ctrlPr>
                          <a:rPr lang="en-US" altLang="zh-TW" i="1">
                            <a:solidFill>
                              <a:srgbClr val="00B050"/>
                            </a:solidFill>
                            <a:latin typeface="Cambria Math" panose="02040503050406030204" pitchFamily="18" charset="0"/>
                          </a:rPr>
                        </m:ctrlPr>
                      </m:dPr>
                      <m:e>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𝑥</m:t>
                            </m:r>
                          </m:e>
                          <m:sub>
                            <m:r>
                              <a:rPr lang="en-US" altLang="zh-TW" i="1">
                                <a:solidFill>
                                  <a:srgbClr val="00B050"/>
                                </a:solidFill>
                                <a:latin typeface="Cambria Math" panose="02040503050406030204" pitchFamily="18" charset="0"/>
                              </a:rPr>
                              <m:t>𝑡</m:t>
                            </m:r>
                          </m:sub>
                        </m:sSub>
                        <m:r>
                          <a:rPr lang="en-US" altLang="zh-TW" i="1">
                            <a:solidFill>
                              <a:srgbClr val="00B050"/>
                            </a:solidFill>
                            <a:latin typeface="Cambria Math" panose="02040503050406030204" pitchFamily="18" charset="0"/>
                          </a:rPr>
                          <m:t>|</m:t>
                        </m:r>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𝑧</m:t>
                            </m:r>
                          </m:e>
                          <m:sub>
                            <m:r>
                              <a:rPr lang="en-US" altLang="zh-TW" i="1">
                                <a:solidFill>
                                  <a:srgbClr val="00B050"/>
                                </a:solidFill>
                                <a:latin typeface="Cambria Math" panose="02040503050406030204" pitchFamily="18" charset="0"/>
                              </a:rPr>
                              <m:t>1:</m:t>
                            </m:r>
                            <m:r>
                              <a:rPr lang="en-US" altLang="zh-TW" i="1">
                                <a:solidFill>
                                  <a:srgbClr val="00B050"/>
                                </a:solidFill>
                                <a:latin typeface="Cambria Math" panose="02040503050406030204" pitchFamily="18" charset="0"/>
                              </a:rPr>
                              <m:t>𝑡</m:t>
                            </m:r>
                            <m:r>
                              <a:rPr lang="en-US" altLang="zh-TW" i="1">
                                <a:solidFill>
                                  <a:srgbClr val="00B050"/>
                                </a:solidFill>
                                <a:latin typeface="Cambria Math" panose="02040503050406030204" pitchFamily="18" charset="0"/>
                              </a:rPr>
                              <m:t>−1</m:t>
                            </m:r>
                          </m:sub>
                        </m:sSub>
                      </m:e>
                    </m:d>
                    <m:r>
                      <a:rPr lang="en-US" altLang="zh-TW" i="1">
                        <a:latin typeface="Cambria Math" panose="02040503050406030204" pitchFamily="18" charset="0"/>
                      </a:rPr>
                      <m:t>=</m:t>
                    </m:r>
                    <m:r>
                      <a:rPr lang="en-US" altLang="zh-TW" b="0" i="1" smtClean="0">
                        <a:latin typeface="Cambria Math" panose="02040503050406030204" pitchFamily="18" charset="0"/>
                      </a:rPr>
                      <m:t>∫</m:t>
                    </m:r>
                    <m:r>
                      <a:rPr lang="en-US" altLang="zh-TW" b="0" i="1" smtClean="0">
                        <a:latin typeface="Cambria Math" panose="02040503050406030204" pitchFamily="18" charset="0"/>
                      </a:rPr>
                      <m:t>𝑃</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𝑡</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𝑡</m:t>
                            </m:r>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1:</m:t>
                            </m:r>
                            <m:r>
                              <a:rPr lang="en-US" altLang="zh-TW" b="0" i="1" smtClean="0">
                                <a:latin typeface="Cambria Math" panose="02040503050406030204" pitchFamily="18" charset="0"/>
                              </a:rPr>
                              <m:t>𝑡</m:t>
                            </m:r>
                            <m:r>
                              <a:rPr lang="en-US" altLang="zh-TW" b="0" i="1" smtClean="0">
                                <a:latin typeface="Cambria Math" panose="02040503050406030204" pitchFamily="18" charset="0"/>
                              </a:rPr>
                              <m:t>−1</m:t>
                            </m:r>
                          </m:sub>
                        </m:sSub>
                      </m:e>
                    </m:d>
                    <m:r>
                      <a:rPr lang="en-US" altLang="zh-TW" b="0" i="1" smtClean="0">
                        <a:latin typeface="Cambria Math" panose="02040503050406030204" pitchFamily="18" charset="0"/>
                      </a:rPr>
                      <m:t>𝑑</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𝑡</m:t>
                        </m:r>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i="1">
                        <a:latin typeface="Cambria Math" panose="02040503050406030204" pitchFamily="18" charset="0"/>
                      </a:rPr>
                      <m:t>∫</m:t>
                    </m:r>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sub>
                        </m:sSub>
                        <m:r>
                          <a:rPr lang="en-US" altLang="zh-TW" i="1">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𝑡</m:t>
                            </m:r>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1:</m:t>
                            </m:r>
                            <m:r>
                              <a:rPr lang="en-US" altLang="zh-TW" i="1">
                                <a:latin typeface="Cambria Math" panose="02040503050406030204" pitchFamily="18" charset="0"/>
                              </a:rPr>
                              <m:t>𝑡</m:t>
                            </m:r>
                            <m:r>
                              <a:rPr lang="en-US" altLang="zh-TW" i="1">
                                <a:latin typeface="Cambria Math" panose="02040503050406030204" pitchFamily="18" charset="0"/>
                              </a:rPr>
                              <m:t>−1</m:t>
                            </m:r>
                          </m:sub>
                        </m:sSub>
                      </m:e>
                    </m:d>
                    <m:r>
                      <a:rPr lang="en-US" altLang="zh-TW" b="0" i="1" smtClean="0">
                        <a:latin typeface="Cambria Math" panose="02040503050406030204" pitchFamily="18" charset="0"/>
                      </a:rPr>
                      <m:t>𝑃</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𝑡</m:t>
                            </m:r>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1:</m:t>
                            </m:r>
                            <m:r>
                              <a:rPr lang="en-US" altLang="zh-TW" b="0" i="1" smtClean="0">
                                <a:latin typeface="Cambria Math" panose="02040503050406030204" pitchFamily="18" charset="0"/>
                              </a:rPr>
                              <m:t>𝑡</m:t>
                            </m:r>
                            <m:r>
                              <a:rPr lang="en-US" altLang="zh-TW" b="0" i="1" smtClean="0">
                                <a:latin typeface="Cambria Math" panose="02040503050406030204" pitchFamily="18" charset="0"/>
                              </a:rPr>
                              <m:t>−1</m:t>
                            </m:r>
                          </m:sub>
                        </m:sSub>
                      </m:e>
                    </m:d>
                    <m:r>
                      <a:rPr lang="en-US" altLang="zh-TW" i="1">
                        <a:latin typeface="Cambria Math" panose="02040503050406030204" pitchFamily="18" charset="0"/>
                      </a:rPr>
                      <m:t>𝑑</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r>
                          <a:rPr lang="en-US" altLang="zh-TW" i="1">
                            <a:latin typeface="Cambria Math" panose="02040503050406030204" pitchFamily="18" charset="0"/>
                          </a:rPr>
                          <m:t>−1</m:t>
                        </m:r>
                      </m:sub>
                    </m:sSub>
                    <m:r>
                      <a:rPr lang="en-US" altLang="zh-TW" b="0" i="1" smtClean="0">
                        <a:latin typeface="Cambria Math" panose="02040503050406030204" pitchFamily="18" charset="0"/>
                      </a:rPr>
                      <m:t>= </m:t>
                    </m:r>
                    <m:r>
                      <a:rPr lang="en-US" altLang="zh-TW" i="1" smtClean="0">
                        <a:solidFill>
                          <a:srgbClr val="00B050"/>
                        </a:solidFill>
                        <a:latin typeface="Cambria Math" panose="02040503050406030204" pitchFamily="18" charset="0"/>
                      </a:rPr>
                      <m:t>∫</m:t>
                    </m:r>
                    <m:r>
                      <a:rPr lang="en-US" altLang="zh-TW" i="1" smtClean="0">
                        <a:solidFill>
                          <a:srgbClr val="00B050"/>
                        </a:solidFill>
                        <a:latin typeface="Cambria Math" panose="02040503050406030204" pitchFamily="18" charset="0"/>
                      </a:rPr>
                      <m:t>𝑃</m:t>
                    </m:r>
                    <m:d>
                      <m:dPr>
                        <m:ctrlPr>
                          <a:rPr lang="en-US" altLang="zh-TW" i="1">
                            <a:solidFill>
                              <a:srgbClr val="00B050"/>
                            </a:solidFill>
                            <a:latin typeface="Cambria Math" panose="02040503050406030204" pitchFamily="18" charset="0"/>
                          </a:rPr>
                        </m:ctrlPr>
                      </m:dPr>
                      <m:e>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𝑥</m:t>
                            </m:r>
                          </m:e>
                          <m:sub>
                            <m:r>
                              <a:rPr lang="en-US" altLang="zh-TW" i="1">
                                <a:solidFill>
                                  <a:srgbClr val="00B050"/>
                                </a:solidFill>
                                <a:latin typeface="Cambria Math" panose="02040503050406030204" pitchFamily="18" charset="0"/>
                              </a:rPr>
                              <m:t>𝑡</m:t>
                            </m:r>
                          </m:sub>
                        </m:sSub>
                        <m:r>
                          <a:rPr lang="en-US" altLang="zh-TW" i="1">
                            <a:solidFill>
                              <a:srgbClr val="00B050"/>
                            </a:solidFill>
                            <a:latin typeface="Cambria Math" panose="02040503050406030204" pitchFamily="18" charset="0"/>
                          </a:rPr>
                          <m:t>|</m:t>
                        </m:r>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𝑥</m:t>
                            </m:r>
                          </m:e>
                          <m:sub>
                            <m:r>
                              <a:rPr lang="en-US" altLang="zh-TW" i="1">
                                <a:solidFill>
                                  <a:srgbClr val="00B050"/>
                                </a:solidFill>
                                <a:latin typeface="Cambria Math" panose="02040503050406030204" pitchFamily="18" charset="0"/>
                              </a:rPr>
                              <m:t>𝑡</m:t>
                            </m:r>
                            <m:r>
                              <a:rPr lang="en-US" altLang="zh-TW" i="1">
                                <a:solidFill>
                                  <a:srgbClr val="00B050"/>
                                </a:solidFill>
                                <a:latin typeface="Cambria Math" panose="02040503050406030204" pitchFamily="18" charset="0"/>
                              </a:rPr>
                              <m:t>−1</m:t>
                            </m:r>
                          </m:sub>
                        </m:sSub>
                      </m:e>
                    </m:d>
                    <m:r>
                      <a:rPr lang="en-US" altLang="zh-TW" i="1">
                        <a:solidFill>
                          <a:srgbClr val="00B050"/>
                        </a:solidFill>
                        <a:latin typeface="Cambria Math" panose="02040503050406030204" pitchFamily="18" charset="0"/>
                      </a:rPr>
                      <m:t>𝑃</m:t>
                    </m:r>
                    <m:d>
                      <m:dPr>
                        <m:ctrlPr>
                          <a:rPr lang="en-US" altLang="zh-TW" i="1">
                            <a:solidFill>
                              <a:srgbClr val="00B050"/>
                            </a:solidFill>
                            <a:latin typeface="Cambria Math" panose="02040503050406030204" pitchFamily="18" charset="0"/>
                          </a:rPr>
                        </m:ctrlPr>
                      </m:dPr>
                      <m:e>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𝑥</m:t>
                            </m:r>
                          </m:e>
                          <m:sub>
                            <m:r>
                              <a:rPr lang="en-US" altLang="zh-TW" i="1">
                                <a:solidFill>
                                  <a:srgbClr val="00B050"/>
                                </a:solidFill>
                                <a:latin typeface="Cambria Math" panose="02040503050406030204" pitchFamily="18" charset="0"/>
                              </a:rPr>
                              <m:t>𝑡</m:t>
                            </m:r>
                            <m:r>
                              <a:rPr lang="en-US" altLang="zh-TW" i="1">
                                <a:solidFill>
                                  <a:srgbClr val="00B050"/>
                                </a:solidFill>
                                <a:latin typeface="Cambria Math" panose="02040503050406030204" pitchFamily="18" charset="0"/>
                              </a:rPr>
                              <m:t>−1</m:t>
                            </m:r>
                          </m:sub>
                        </m:sSub>
                        <m:r>
                          <a:rPr lang="en-US" altLang="zh-TW" i="1">
                            <a:solidFill>
                              <a:srgbClr val="00B050"/>
                            </a:solidFill>
                            <a:latin typeface="Cambria Math" panose="02040503050406030204" pitchFamily="18" charset="0"/>
                          </a:rPr>
                          <m:t>|</m:t>
                        </m:r>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𝑧</m:t>
                            </m:r>
                          </m:e>
                          <m:sub>
                            <m:r>
                              <a:rPr lang="en-US" altLang="zh-TW" i="1">
                                <a:solidFill>
                                  <a:srgbClr val="00B050"/>
                                </a:solidFill>
                                <a:latin typeface="Cambria Math" panose="02040503050406030204" pitchFamily="18" charset="0"/>
                              </a:rPr>
                              <m:t>1:</m:t>
                            </m:r>
                            <m:r>
                              <a:rPr lang="en-US" altLang="zh-TW" i="1">
                                <a:solidFill>
                                  <a:srgbClr val="00B050"/>
                                </a:solidFill>
                                <a:latin typeface="Cambria Math" panose="02040503050406030204" pitchFamily="18" charset="0"/>
                              </a:rPr>
                              <m:t>𝑡</m:t>
                            </m:r>
                            <m:r>
                              <a:rPr lang="en-US" altLang="zh-TW" i="1">
                                <a:solidFill>
                                  <a:srgbClr val="00B050"/>
                                </a:solidFill>
                                <a:latin typeface="Cambria Math" panose="02040503050406030204" pitchFamily="18" charset="0"/>
                              </a:rPr>
                              <m:t>−1</m:t>
                            </m:r>
                          </m:sub>
                        </m:sSub>
                      </m:e>
                    </m:d>
                    <m:r>
                      <a:rPr lang="en-US" altLang="zh-TW" i="1">
                        <a:solidFill>
                          <a:srgbClr val="00B050"/>
                        </a:solidFill>
                        <a:latin typeface="Cambria Math" panose="02040503050406030204" pitchFamily="18" charset="0"/>
                      </a:rPr>
                      <m:t>𝑑</m:t>
                    </m:r>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𝑥</m:t>
                        </m:r>
                      </m:e>
                      <m:sub>
                        <m:r>
                          <a:rPr lang="en-US" altLang="zh-TW" i="1">
                            <a:solidFill>
                              <a:srgbClr val="00B050"/>
                            </a:solidFill>
                            <a:latin typeface="Cambria Math" panose="02040503050406030204" pitchFamily="18" charset="0"/>
                          </a:rPr>
                          <m:t>𝑡</m:t>
                        </m:r>
                        <m:r>
                          <a:rPr lang="en-US" altLang="zh-TW" i="1">
                            <a:solidFill>
                              <a:srgbClr val="00B050"/>
                            </a:solidFill>
                            <a:latin typeface="Cambria Math" panose="02040503050406030204" pitchFamily="18" charset="0"/>
                          </a:rPr>
                          <m:t>−1</m:t>
                        </m:r>
                      </m:sub>
                    </m:sSub>
                  </m:oMath>
                </a14:m>
                <a:r>
                  <a:rPr lang="en-US" altLang="zh-TW" dirty="0"/>
                  <a:t/>
                </a:r>
                <a:br>
                  <a:rPr lang="en-US" altLang="zh-TW" dirty="0"/>
                </a:br>
                <a:r>
                  <a:rPr lang="en-US" altLang="zh-TW" dirty="0"/>
                  <a:t>(</a:t>
                </a:r>
                <a14:m>
                  <m:oMath xmlns:m="http://schemas.openxmlformats.org/officeDocument/2006/math">
                    <m:r>
                      <a:rPr lang="en-US" altLang="zh-TW" i="1" dirty="0">
                        <a:latin typeface="Cambria Math"/>
                      </a:rPr>
                      <m:t>∵</m:t>
                    </m:r>
                    <m:r>
                      <a:rPr lang="en-US" altLang="zh-TW" i="1" dirty="0">
                        <a:latin typeface="Cambria Math"/>
                      </a:rPr>
                      <m:t>𝑃</m:t>
                    </m:r>
                    <m:d>
                      <m:dPr>
                        <m:ctrlPr>
                          <a:rPr lang="en-US" altLang="zh-TW" i="1" dirty="0">
                            <a:latin typeface="Cambria Math" panose="02040503050406030204" pitchFamily="18" charset="0"/>
                          </a:rPr>
                        </m:ctrlPr>
                      </m:dPr>
                      <m:e>
                        <m:sSub>
                          <m:sSubPr>
                            <m:ctrlPr>
                              <a:rPr lang="en-US" altLang="zh-TW" i="1" dirty="0">
                                <a:latin typeface="Cambria Math" panose="02040503050406030204" pitchFamily="18" charset="0"/>
                              </a:rPr>
                            </m:ctrlPr>
                          </m:sSubPr>
                          <m:e>
                            <m:r>
                              <a:rPr lang="en-US" altLang="zh-TW" i="1" dirty="0">
                                <a:latin typeface="Cambria Math"/>
                              </a:rPr>
                              <m:t>𝑥</m:t>
                            </m:r>
                          </m:e>
                          <m:sub>
                            <m:r>
                              <a:rPr lang="en-US" altLang="zh-TW" i="1" dirty="0">
                                <a:latin typeface="Cambria Math"/>
                              </a:rPr>
                              <m:t>𝑡</m:t>
                            </m:r>
                          </m:sub>
                        </m:sSub>
                        <m:r>
                          <a:rPr lang="en-US" altLang="zh-TW" i="1" dirty="0">
                            <a:latin typeface="Cambria Math"/>
                          </a:rPr>
                          <m:t>|</m:t>
                        </m:r>
                        <m:sSub>
                          <m:sSubPr>
                            <m:ctrlPr>
                              <a:rPr lang="en-US" altLang="zh-TW" i="1" dirty="0">
                                <a:latin typeface="Cambria Math" panose="02040503050406030204" pitchFamily="18" charset="0"/>
                              </a:rPr>
                            </m:ctrlPr>
                          </m:sSubPr>
                          <m:e>
                            <m:r>
                              <a:rPr lang="en-US" altLang="zh-TW" i="1" dirty="0">
                                <a:latin typeface="Cambria Math"/>
                              </a:rPr>
                              <m:t>𝑥</m:t>
                            </m:r>
                          </m:e>
                          <m:sub>
                            <m:r>
                              <a:rPr lang="en-US" altLang="zh-TW" i="1" dirty="0">
                                <a:latin typeface="Cambria Math"/>
                              </a:rPr>
                              <m:t>𝑡</m:t>
                            </m:r>
                            <m:r>
                              <a:rPr lang="en-US" altLang="zh-TW" i="1" dirty="0">
                                <a:latin typeface="Cambria Math"/>
                              </a:rPr>
                              <m:t>−1</m:t>
                            </m:r>
                          </m:sub>
                        </m:sSub>
                        <m:r>
                          <a:rPr lang="en-US" altLang="zh-TW" i="1" dirty="0">
                            <a:latin typeface="Cambria Math"/>
                          </a:rPr>
                          <m:t>,</m:t>
                        </m:r>
                        <m:sSub>
                          <m:sSubPr>
                            <m:ctrlPr>
                              <a:rPr lang="en-US" altLang="zh-TW" i="1" dirty="0">
                                <a:latin typeface="Cambria Math" panose="02040503050406030204" pitchFamily="18" charset="0"/>
                              </a:rPr>
                            </m:ctrlPr>
                          </m:sSubPr>
                          <m:e>
                            <m:r>
                              <a:rPr lang="en-US" altLang="zh-TW" i="1" dirty="0">
                                <a:latin typeface="Cambria Math"/>
                              </a:rPr>
                              <m:t>𝑧</m:t>
                            </m:r>
                          </m:e>
                          <m:sub>
                            <m:r>
                              <a:rPr lang="en-US" altLang="zh-TW" i="1" dirty="0">
                                <a:latin typeface="Cambria Math"/>
                              </a:rPr>
                              <m:t>1:</m:t>
                            </m:r>
                            <m:r>
                              <a:rPr lang="en-US" altLang="zh-TW" i="1" dirty="0">
                                <a:latin typeface="Cambria Math"/>
                              </a:rPr>
                              <m:t>𝑡</m:t>
                            </m:r>
                            <m:r>
                              <a:rPr lang="en-US" altLang="zh-TW" i="1" dirty="0">
                                <a:latin typeface="Cambria Math"/>
                              </a:rPr>
                              <m:t>−1</m:t>
                            </m:r>
                          </m:sub>
                        </m:sSub>
                      </m:e>
                    </m:d>
                    <m:r>
                      <a:rPr lang="en-US" altLang="zh-TW" i="1" dirty="0">
                        <a:latin typeface="Cambria Math"/>
                      </a:rPr>
                      <m:t>=</m:t>
                    </m:r>
                    <m:r>
                      <a:rPr lang="en-US" altLang="zh-TW" i="1" dirty="0">
                        <a:latin typeface="Cambria Math"/>
                      </a:rPr>
                      <m:t>𝑃</m:t>
                    </m:r>
                    <m:d>
                      <m:dPr>
                        <m:ctrlPr>
                          <a:rPr lang="en-US" altLang="zh-TW" i="1" dirty="0">
                            <a:latin typeface="Cambria Math" panose="02040503050406030204" pitchFamily="18" charset="0"/>
                          </a:rPr>
                        </m:ctrlPr>
                      </m:dPr>
                      <m:e>
                        <m:sSub>
                          <m:sSubPr>
                            <m:ctrlPr>
                              <a:rPr lang="en-US" altLang="zh-TW" i="1" dirty="0">
                                <a:latin typeface="Cambria Math" panose="02040503050406030204" pitchFamily="18" charset="0"/>
                              </a:rPr>
                            </m:ctrlPr>
                          </m:sSubPr>
                          <m:e>
                            <m:r>
                              <a:rPr lang="en-US" altLang="zh-TW" i="1" dirty="0">
                                <a:latin typeface="Cambria Math"/>
                              </a:rPr>
                              <m:t>𝑥</m:t>
                            </m:r>
                          </m:e>
                          <m:sub>
                            <m:r>
                              <a:rPr lang="en-US" altLang="zh-TW" i="1" dirty="0">
                                <a:latin typeface="Cambria Math"/>
                              </a:rPr>
                              <m:t>𝑡</m:t>
                            </m:r>
                          </m:sub>
                        </m:sSub>
                        <m:r>
                          <a:rPr lang="en-US" altLang="zh-TW" i="1" dirty="0">
                            <a:latin typeface="Cambria Math"/>
                          </a:rPr>
                          <m:t>|</m:t>
                        </m:r>
                        <m:sSub>
                          <m:sSubPr>
                            <m:ctrlPr>
                              <a:rPr lang="en-US" altLang="zh-TW" i="1" dirty="0">
                                <a:latin typeface="Cambria Math" panose="02040503050406030204" pitchFamily="18" charset="0"/>
                              </a:rPr>
                            </m:ctrlPr>
                          </m:sSubPr>
                          <m:e>
                            <m:r>
                              <a:rPr lang="en-US" altLang="zh-TW" i="1" dirty="0">
                                <a:latin typeface="Cambria Math"/>
                              </a:rPr>
                              <m:t>𝑥</m:t>
                            </m:r>
                          </m:e>
                          <m:sub>
                            <m:r>
                              <a:rPr lang="en-US" altLang="zh-TW" i="1" dirty="0">
                                <a:latin typeface="Cambria Math"/>
                              </a:rPr>
                              <m:t>𝑡</m:t>
                            </m:r>
                            <m:r>
                              <a:rPr lang="en-US" altLang="zh-TW" i="1" dirty="0">
                                <a:latin typeface="Cambria Math"/>
                              </a:rPr>
                              <m:t>−1</m:t>
                            </m:r>
                          </m:sub>
                        </m:sSub>
                      </m:e>
                    </m:d>
                  </m:oMath>
                </a14:m>
                <a:r>
                  <a:rPr lang="en-US" altLang="zh-TW" dirty="0"/>
                  <a:t>)</a:t>
                </a:r>
              </a:p>
              <a:p>
                <a:pPr marL="342900" indent="-342900">
                  <a:lnSpc>
                    <a:spcPct val="120000"/>
                  </a:lnSpc>
                </a:pPr>
                <a:r>
                  <a:rPr lang="en-US" altLang="zh-TW" dirty="0">
                    <a:solidFill>
                      <a:srgbClr val="FF0000"/>
                    </a:solidFill>
                  </a:rPr>
                  <a:t>Posterior distribution (update, </a:t>
                </a:r>
                <a:r>
                  <a:rPr lang="zh-TW" altLang="en-US" dirty="0">
                    <a:solidFill>
                      <a:srgbClr val="FF0000"/>
                    </a:solidFill>
                  </a:rPr>
                  <a:t>已觀察到</a:t>
                </a:r>
                <a14:m>
                  <m:oMath xmlns:m="http://schemas.openxmlformats.org/officeDocument/2006/math">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𝑧</m:t>
                        </m:r>
                      </m:e>
                      <m:sub>
                        <m:r>
                          <a:rPr lang="en-US" altLang="zh-TW" i="1">
                            <a:solidFill>
                              <a:srgbClr val="FF0000"/>
                            </a:solidFill>
                            <a:latin typeface="Cambria Math" panose="02040503050406030204" pitchFamily="18" charset="0"/>
                          </a:rPr>
                          <m:t>𝑡</m:t>
                        </m:r>
                      </m:sub>
                    </m:sSub>
                  </m:oMath>
                </a14:m>
                <a:r>
                  <a:rPr lang="en-US" altLang="zh-TW" dirty="0">
                    <a:solidFill>
                      <a:srgbClr val="FF0000"/>
                    </a:solidFill>
                  </a:rPr>
                  <a:t>)  </a:t>
                </a:r>
                <a:r>
                  <a:rPr lang="en-US" altLang="zh-TW" dirty="0"/>
                  <a:t/>
                </a:r>
                <a:br>
                  <a:rPr lang="en-US" altLang="zh-TW" dirty="0"/>
                </a:br>
                <a14:m>
                  <m:oMath xmlns:m="http://schemas.openxmlformats.org/officeDocument/2006/math">
                    <m:r>
                      <a:rPr lang="en-US" altLang="zh-TW" i="1" smtClean="0">
                        <a:solidFill>
                          <a:srgbClr val="00B050"/>
                        </a:solidFill>
                        <a:latin typeface="Cambria Math" panose="02040503050406030204" pitchFamily="18" charset="0"/>
                      </a:rPr>
                      <m:t>𝑃</m:t>
                    </m:r>
                    <m:d>
                      <m:dPr>
                        <m:ctrlPr>
                          <a:rPr lang="en-US" altLang="zh-TW" i="1">
                            <a:solidFill>
                              <a:srgbClr val="00B050"/>
                            </a:solidFill>
                            <a:latin typeface="Cambria Math" panose="02040503050406030204" pitchFamily="18" charset="0"/>
                          </a:rPr>
                        </m:ctrlPr>
                      </m:dPr>
                      <m:e>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𝑥</m:t>
                            </m:r>
                          </m:e>
                          <m:sub>
                            <m:r>
                              <a:rPr lang="en-US" altLang="zh-TW" i="1">
                                <a:solidFill>
                                  <a:srgbClr val="00B050"/>
                                </a:solidFill>
                                <a:latin typeface="Cambria Math" panose="02040503050406030204" pitchFamily="18" charset="0"/>
                              </a:rPr>
                              <m:t>𝑡</m:t>
                            </m:r>
                          </m:sub>
                        </m:sSub>
                        <m:r>
                          <a:rPr lang="en-US" altLang="zh-TW" i="1">
                            <a:solidFill>
                              <a:srgbClr val="00B050"/>
                            </a:solidFill>
                            <a:latin typeface="Cambria Math" panose="02040503050406030204" pitchFamily="18" charset="0"/>
                          </a:rPr>
                          <m:t>|</m:t>
                        </m:r>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𝑧</m:t>
                            </m:r>
                          </m:e>
                          <m:sub>
                            <m:r>
                              <a:rPr lang="en-US" altLang="zh-TW" i="1">
                                <a:solidFill>
                                  <a:srgbClr val="00B050"/>
                                </a:solidFill>
                                <a:latin typeface="Cambria Math" panose="02040503050406030204" pitchFamily="18" charset="0"/>
                              </a:rPr>
                              <m:t>1:</m:t>
                            </m:r>
                            <m:r>
                              <a:rPr lang="en-US" altLang="zh-TW" i="1">
                                <a:solidFill>
                                  <a:srgbClr val="00B050"/>
                                </a:solidFill>
                                <a:latin typeface="Cambria Math" panose="02040503050406030204" pitchFamily="18" charset="0"/>
                              </a:rPr>
                              <m:t>𝑡</m:t>
                            </m:r>
                          </m:sub>
                        </m:sSub>
                      </m:e>
                    </m:d>
                    <m:r>
                      <a:rPr lang="en-US" altLang="zh-TW" i="1">
                        <a:latin typeface="Cambria Math" panose="02040503050406030204" pitchFamily="18" charset="0"/>
                      </a:rPr>
                      <m:t>=</m:t>
                    </m:r>
                    <m:f>
                      <m:fPr>
                        <m:ctrlPr>
                          <a:rPr lang="en-US" altLang="zh-TW" i="1">
                            <a:latin typeface="Cambria Math" panose="02040503050406030204" pitchFamily="18" charset="0"/>
                          </a:rPr>
                        </m:ctrlPr>
                      </m:fPr>
                      <m:num>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1:</m:t>
                                </m:r>
                                <m:r>
                                  <a:rPr lang="en-US" altLang="zh-TW" i="1">
                                    <a:latin typeface="Cambria Math" panose="02040503050406030204" pitchFamily="18" charset="0"/>
                                  </a:rPr>
                                  <m:t>𝑡</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sub>
                            </m:sSub>
                          </m:e>
                        </m:d>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sub>
                            </m:sSub>
                          </m:e>
                        </m:d>
                      </m:num>
                      <m:den>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1:</m:t>
                                </m:r>
                                <m:r>
                                  <a:rPr lang="en-US" altLang="zh-TW" i="1">
                                    <a:latin typeface="Cambria Math" panose="02040503050406030204" pitchFamily="18" charset="0"/>
                                  </a:rPr>
                                  <m:t>𝑡</m:t>
                                </m:r>
                              </m:sub>
                            </m:sSub>
                          </m:e>
                        </m:d>
                      </m:den>
                    </m:f>
                    <m:r>
                      <a:rPr lang="en-US" altLang="zh-TW" i="1">
                        <a:latin typeface="Cambria Math"/>
                      </a:rPr>
                      <m:t>=</m:t>
                    </m:r>
                    <m:f>
                      <m:fPr>
                        <m:ctrlPr>
                          <a:rPr lang="en-US" altLang="zh-TW" i="1" smtClean="0">
                            <a:solidFill>
                              <a:srgbClr val="00B050"/>
                            </a:solidFill>
                            <a:latin typeface="Cambria Math" panose="02040503050406030204" pitchFamily="18" charset="0"/>
                          </a:rPr>
                        </m:ctrlPr>
                      </m:fPr>
                      <m:num>
                        <m:r>
                          <a:rPr lang="en-US" altLang="zh-TW" i="1">
                            <a:solidFill>
                              <a:srgbClr val="00B050"/>
                            </a:solidFill>
                            <a:latin typeface="Cambria Math"/>
                          </a:rPr>
                          <m:t>𝑃</m:t>
                        </m:r>
                        <m:d>
                          <m:dPr>
                            <m:ctrlPr>
                              <a:rPr lang="en-US" altLang="zh-TW" i="1">
                                <a:solidFill>
                                  <a:srgbClr val="00B050"/>
                                </a:solidFill>
                                <a:latin typeface="Cambria Math" panose="02040503050406030204" pitchFamily="18" charset="0"/>
                              </a:rPr>
                            </m:ctrlPr>
                          </m:dPr>
                          <m:e>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a:rPr>
                                  <m:t>𝑧</m:t>
                                </m:r>
                              </m:e>
                              <m:sub>
                                <m:r>
                                  <a:rPr lang="en-US" altLang="zh-TW" i="1">
                                    <a:solidFill>
                                      <a:srgbClr val="00B050"/>
                                    </a:solidFill>
                                    <a:latin typeface="Cambria Math"/>
                                  </a:rPr>
                                  <m:t>𝑡</m:t>
                                </m:r>
                              </m:sub>
                            </m:sSub>
                            <m:r>
                              <a:rPr lang="en-US" altLang="zh-TW" i="1">
                                <a:solidFill>
                                  <a:srgbClr val="00B050"/>
                                </a:solidFill>
                                <a:latin typeface="Cambria Math"/>
                              </a:rPr>
                              <m:t>|</m:t>
                            </m:r>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a:rPr>
                                  <m:t>𝑥</m:t>
                                </m:r>
                              </m:e>
                              <m:sub>
                                <m:r>
                                  <a:rPr lang="en-US" altLang="zh-TW" i="1">
                                    <a:solidFill>
                                      <a:srgbClr val="00B050"/>
                                    </a:solidFill>
                                    <a:latin typeface="Cambria Math"/>
                                  </a:rPr>
                                  <m:t>𝑡</m:t>
                                </m:r>
                              </m:sub>
                            </m:sSub>
                          </m:e>
                        </m:d>
                        <m:r>
                          <a:rPr lang="en-US" altLang="zh-TW" i="1">
                            <a:solidFill>
                              <a:srgbClr val="00B050"/>
                            </a:solidFill>
                            <a:latin typeface="Cambria Math"/>
                          </a:rPr>
                          <m:t>𝑃</m:t>
                        </m:r>
                        <m:d>
                          <m:dPr>
                            <m:ctrlPr>
                              <a:rPr lang="en-US" altLang="zh-TW" i="1">
                                <a:solidFill>
                                  <a:srgbClr val="00B050"/>
                                </a:solidFill>
                                <a:latin typeface="Cambria Math" panose="02040503050406030204" pitchFamily="18" charset="0"/>
                              </a:rPr>
                            </m:ctrlPr>
                          </m:dPr>
                          <m:e>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a:rPr>
                                  <m:t>𝑥</m:t>
                                </m:r>
                              </m:e>
                              <m:sub>
                                <m:r>
                                  <a:rPr lang="en-US" altLang="zh-TW" i="1">
                                    <a:solidFill>
                                      <a:srgbClr val="00B050"/>
                                    </a:solidFill>
                                    <a:latin typeface="Cambria Math"/>
                                  </a:rPr>
                                  <m:t>𝑡</m:t>
                                </m:r>
                              </m:sub>
                            </m:sSub>
                            <m:r>
                              <a:rPr lang="en-US" altLang="zh-TW" i="1">
                                <a:solidFill>
                                  <a:srgbClr val="00B050"/>
                                </a:solidFill>
                                <a:latin typeface="Cambria Math"/>
                              </a:rPr>
                              <m:t>|</m:t>
                            </m:r>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a:rPr>
                                  <m:t>𝑧</m:t>
                                </m:r>
                              </m:e>
                              <m:sub>
                                <m:r>
                                  <a:rPr lang="en-US" altLang="zh-TW" i="1">
                                    <a:solidFill>
                                      <a:srgbClr val="00B050"/>
                                    </a:solidFill>
                                    <a:latin typeface="Cambria Math"/>
                                  </a:rPr>
                                  <m:t>1:</m:t>
                                </m:r>
                                <m:r>
                                  <a:rPr lang="en-US" altLang="zh-TW" i="1">
                                    <a:solidFill>
                                      <a:srgbClr val="00B050"/>
                                    </a:solidFill>
                                    <a:latin typeface="Cambria Math"/>
                                  </a:rPr>
                                  <m:t>𝑡</m:t>
                                </m:r>
                                <m:r>
                                  <a:rPr lang="en-US" altLang="zh-TW" i="1">
                                    <a:solidFill>
                                      <a:srgbClr val="00B050"/>
                                    </a:solidFill>
                                    <a:latin typeface="Cambria Math"/>
                                  </a:rPr>
                                  <m:t>−1</m:t>
                                </m:r>
                              </m:sub>
                            </m:sSub>
                          </m:e>
                        </m:d>
                      </m:num>
                      <m:den>
                        <m:r>
                          <a:rPr lang="en-US" altLang="zh-TW" i="1">
                            <a:solidFill>
                              <a:srgbClr val="00B050"/>
                            </a:solidFill>
                            <a:latin typeface="Cambria Math"/>
                          </a:rPr>
                          <m:t>𝑃</m:t>
                        </m:r>
                        <m:d>
                          <m:dPr>
                            <m:ctrlPr>
                              <a:rPr lang="en-US" altLang="zh-TW" i="1">
                                <a:solidFill>
                                  <a:srgbClr val="00B050"/>
                                </a:solidFill>
                                <a:latin typeface="Cambria Math" panose="02040503050406030204" pitchFamily="18" charset="0"/>
                              </a:rPr>
                            </m:ctrlPr>
                          </m:dPr>
                          <m:e>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a:rPr>
                                  <m:t>𝑧</m:t>
                                </m:r>
                              </m:e>
                              <m:sub>
                                <m:r>
                                  <a:rPr lang="en-US" altLang="zh-TW" i="1">
                                    <a:solidFill>
                                      <a:srgbClr val="00B050"/>
                                    </a:solidFill>
                                    <a:latin typeface="Cambria Math"/>
                                  </a:rPr>
                                  <m:t>𝑡</m:t>
                                </m:r>
                              </m:sub>
                            </m:sSub>
                            <m:r>
                              <a:rPr lang="en-US" altLang="zh-TW" i="1">
                                <a:solidFill>
                                  <a:srgbClr val="00B050"/>
                                </a:solidFill>
                                <a:latin typeface="Cambria Math"/>
                              </a:rPr>
                              <m:t>|</m:t>
                            </m:r>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a:rPr>
                                  <m:t>𝑧</m:t>
                                </m:r>
                              </m:e>
                              <m:sub>
                                <m:r>
                                  <a:rPr lang="en-US" altLang="zh-TW" i="1">
                                    <a:solidFill>
                                      <a:srgbClr val="00B050"/>
                                    </a:solidFill>
                                    <a:latin typeface="Cambria Math"/>
                                  </a:rPr>
                                  <m:t>1:</m:t>
                                </m:r>
                                <m:r>
                                  <a:rPr lang="en-US" altLang="zh-TW" i="1">
                                    <a:solidFill>
                                      <a:srgbClr val="00B050"/>
                                    </a:solidFill>
                                    <a:latin typeface="Cambria Math"/>
                                  </a:rPr>
                                  <m:t>𝑡</m:t>
                                </m:r>
                                <m:r>
                                  <a:rPr lang="en-US" altLang="zh-TW" i="1">
                                    <a:solidFill>
                                      <a:srgbClr val="00B050"/>
                                    </a:solidFill>
                                    <a:latin typeface="Cambria Math"/>
                                  </a:rPr>
                                  <m:t>−1</m:t>
                                </m:r>
                              </m:sub>
                            </m:sSub>
                          </m:e>
                        </m:d>
                      </m:den>
                    </m:f>
                  </m:oMath>
                </a14:m>
                <a:r>
                  <a:rPr lang="en-US" altLang="zh-TW" i="1" dirty="0">
                    <a:latin typeface="Cambria Math"/>
                  </a:rPr>
                  <a:t/>
                </a:r>
                <a:br>
                  <a:rPr lang="en-US" altLang="zh-TW" i="1" dirty="0">
                    <a:latin typeface="Cambria Math"/>
                  </a:rPr>
                </a:br>
                <a14:m>
                  <m:oMath xmlns:m="http://schemas.openxmlformats.org/officeDocument/2006/math">
                    <m:r>
                      <a:rPr lang="en-US" altLang="zh-TW" i="1" smtClean="0">
                        <a:solidFill>
                          <a:srgbClr val="00B050"/>
                        </a:solidFill>
                        <a:latin typeface="Cambria Math" panose="02040503050406030204" pitchFamily="18" charset="0"/>
                      </a:rPr>
                      <m:t>𝑃</m:t>
                    </m:r>
                    <m:d>
                      <m:dPr>
                        <m:ctrlPr>
                          <a:rPr lang="en-US" altLang="zh-TW" i="1">
                            <a:solidFill>
                              <a:srgbClr val="00B050"/>
                            </a:solidFill>
                            <a:latin typeface="Cambria Math" panose="02040503050406030204" pitchFamily="18" charset="0"/>
                          </a:rPr>
                        </m:ctrlPr>
                      </m:dPr>
                      <m:e>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𝑧</m:t>
                            </m:r>
                          </m:e>
                          <m:sub>
                            <m:r>
                              <a:rPr lang="en-US" altLang="zh-TW" i="1">
                                <a:solidFill>
                                  <a:srgbClr val="00B050"/>
                                </a:solidFill>
                                <a:latin typeface="Cambria Math" panose="02040503050406030204" pitchFamily="18" charset="0"/>
                              </a:rPr>
                              <m:t>𝑡</m:t>
                            </m:r>
                          </m:sub>
                        </m:sSub>
                        <m:r>
                          <a:rPr lang="en-US" altLang="zh-TW" i="1">
                            <a:solidFill>
                              <a:srgbClr val="00B050"/>
                            </a:solidFill>
                            <a:latin typeface="Cambria Math" panose="02040503050406030204" pitchFamily="18" charset="0"/>
                          </a:rPr>
                          <m:t>|</m:t>
                        </m:r>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𝑧</m:t>
                            </m:r>
                          </m:e>
                          <m:sub>
                            <m:r>
                              <a:rPr lang="en-US" altLang="zh-TW" b="0" i="1" smtClean="0">
                                <a:solidFill>
                                  <a:srgbClr val="00B050"/>
                                </a:solidFill>
                                <a:latin typeface="Cambria Math" panose="02040503050406030204" pitchFamily="18" charset="0"/>
                              </a:rPr>
                              <m:t>1:</m:t>
                            </m:r>
                            <m:r>
                              <a:rPr lang="en-US" altLang="zh-TW" i="1">
                                <a:solidFill>
                                  <a:srgbClr val="00B050"/>
                                </a:solidFill>
                                <a:latin typeface="Cambria Math" panose="02040503050406030204" pitchFamily="18" charset="0"/>
                              </a:rPr>
                              <m:t>𝑡</m:t>
                            </m:r>
                            <m:r>
                              <a:rPr lang="en-US" altLang="zh-TW" i="1">
                                <a:solidFill>
                                  <a:srgbClr val="00B050"/>
                                </a:solidFill>
                                <a:latin typeface="Cambria Math" panose="02040503050406030204" pitchFamily="18" charset="0"/>
                              </a:rPr>
                              <m:t>−1</m:t>
                            </m:r>
                          </m:sub>
                        </m:sSub>
                      </m:e>
                    </m:d>
                    <m:r>
                      <a:rPr lang="en-US" altLang="zh-TW" i="1">
                        <a:latin typeface="Cambria Math" panose="02040503050406030204" pitchFamily="18" charset="0"/>
                      </a:rPr>
                      <m:t>=</m:t>
                    </m:r>
                    <m:r>
                      <a:rPr lang="en-US" altLang="zh-TW" b="0" i="1" smtClean="0">
                        <a:latin typeface="Cambria Math" panose="02040503050406030204" pitchFamily="18" charset="0"/>
                      </a:rPr>
                      <m:t>∫</m:t>
                    </m:r>
                    <m:r>
                      <a:rPr lang="en-US" altLang="zh-TW" b="0" i="1" smtClean="0">
                        <a:latin typeface="Cambria Math" panose="02040503050406030204" pitchFamily="18" charset="0"/>
                      </a:rPr>
                      <m:t>𝑃</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𝑡</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𝑡</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1:</m:t>
                            </m:r>
                            <m:r>
                              <a:rPr lang="en-US" altLang="zh-TW" b="0" i="1" smtClean="0">
                                <a:latin typeface="Cambria Math" panose="02040503050406030204" pitchFamily="18" charset="0"/>
                              </a:rPr>
                              <m:t>𝑡</m:t>
                            </m:r>
                            <m:r>
                              <a:rPr lang="en-US" altLang="zh-TW" b="0" i="1" smtClean="0">
                                <a:latin typeface="Cambria Math" panose="02040503050406030204" pitchFamily="18" charset="0"/>
                              </a:rPr>
                              <m:t>−1</m:t>
                            </m:r>
                          </m:sub>
                        </m:sSub>
                      </m:e>
                    </m:d>
                    <m:r>
                      <a:rPr lang="en-US" altLang="zh-TW" b="0" i="1" smtClean="0">
                        <a:latin typeface="Cambria Math" panose="02040503050406030204" pitchFamily="18" charset="0"/>
                      </a:rPr>
                      <m:t>𝑑</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𝑡</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𝑃</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𝑡</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𝑡</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1:</m:t>
                            </m:r>
                            <m:r>
                              <a:rPr lang="en-US" altLang="zh-TW" b="0" i="1" smtClean="0">
                                <a:latin typeface="Cambria Math" panose="02040503050406030204" pitchFamily="18" charset="0"/>
                              </a:rPr>
                              <m:t>𝑡</m:t>
                            </m:r>
                            <m:r>
                              <a:rPr lang="en-US" altLang="zh-TW" b="0" i="1" smtClean="0">
                                <a:latin typeface="Cambria Math" panose="02040503050406030204" pitchFamily="18" charset="0"/>
                              </a:rPr>
                              <m:t>−1</m:t>
                            </m:r>
                          </m:sub>
                        </m:sSub>
                      </m:e>
                    </m:d>
                    <m:r>
                      <a:rPr lang="en-US" altLang="zh-TW" b="0" i="1" smtClean="0">
                        <a:latin typeface="Cambria Math" panose="02040503050406030204" pitchFamily="18" charset="0"/>
                      </a:rPr>
                      <m:t>𝑃</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𝑡</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1:</m:t>
                            </m:r>
                            <m:r>
                              <a:rPr lang="en-US" altLang="zh-TW" b="0" i="1" smtClean="0">
                                <a:latin typeface="Cambria Math" panose="02040503050406030204" pitchFamily="18" charset="0"/>
                              </a:rPr>
                              <m:t>𝑡</m:t>
                            </m:r>
                            <m:r>
                              <a:rPr lang="en-US" altLang="zh-TW" b="0" i="1" smtClean="0">
                                <a:latin typeface="Cambria Math" panose="02040503050406030204" pitchFamily="18" charset="0"/>
                              </a:rPr>
                              <m:t>−1</m:t>
                            </m:r>
                          </m:sub>
                        </m:sSub>
                      </m:e>
                    </m:d>
                    <m:r>
                      <a:rPr lang="en-US" altLang="zh-TW" b="0" i="1" smtClean="0">
                        <a:latin typeface="Cambria Math" panose="02040503050406030204" pitchFamily="18" charset="0"/>
                      </a:rPr>
                      <m:t>𝑑</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𝑡</m:t>
                        </m:r>
                      </m:sub>
                    </m:sSub>
                    <m:r>
                      <a:rPr lang="en-US" altLang="zh-TW" b="0" i="1" smtClean="0">
                        <a:latin typeface="Cambria Math" panose="02040503050406030204" pitchFamily="18" charset="0"/>
                      </a:rPr>
                      <m:t>=</m:t>
                    </m:r>
                    <m:r>
                      <a:rPr lang="en-US" altLang="zh-TW" i="1" smtClean="0">
                        <a:solidFill>
                          <a:srgbClr val="00B050"/>
                        </a:solidFill>
                        <a:latin typeface="Cambria Math" panose="02040503050406030204" pitchFamily="18" charset="0"/>
                      </a:rPr>
                      <m:t>∫</m:t>
                    </m:r>
                    <m:r>
                      <a:rPr lang="en-US" altLang="zh-TW" i="1" smtClean="0">
                        <a:solidFill>
                          <a:srgbClr val="00B050"/>
                        </a:solidFill>
                        <a:latin typeface="Cambria Math" panose="02040503050406030204" pitchFamily="18" charset="0"/>
                      </a:rPr>
                      <m:t>𝑃</m:t>
                    </m:r>
                    <m:d>
                      <m:dPr>
                        <m:ctrlPr>
                          <a:rPr lang="en-US" altLang="zh-TW" i="1">
                            <a:solidFill>
                              <a:srgbClr val="00B050"/>
                            </a:solidFill>
                            <a:latin typeface="Cambria Math" panose="02040503050406030204" pitchFamily="18" charset="0"/>
                          </a:rPr>
                        </m:ctrlPr>
                      </m:dPr>
                      <m:e>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𝑧</m:t>
                            </m:r>
                          </m:e>
                          <m:sub>
                            <m:r>
                              <a:rPr lang="en-US" altLang="zh-TW" i="1">
                                <a:solidFill>
                                  <a:srgbClr val="00B050"/>
                                </a:solidFill>
                                <a:latin typeface="Cambria Math" panose="02040503050406030204" pitchFamily="18" charset="0"/>
                              </a:rPr>
                              <m:t>𝑡</m:t>
                            </m:r>
                          </m:sub>
                        </m:sSub>
                        <m:r>
                          <a:rPr lang="en-US" altLang="zh-TW" i="1">
                            <a:solidFill>
                              <a:srgbClr val="00B050"/>
                            </a:solidFill>
                            <a:latin typeface="Cambria Math" panose="02040503050406030204" pitchFamily="18" charset="0"/>
                          </a:rPr>
                          <m:t>|</m:t>
                        </m:r>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𝑥</m:t>
                            </m:r>
                          </m:e>
                          <m:sub>
                            <m:r>
                              <a:rPr lang="en-US" altLang="zh-TW" i="1">
                                <a:solidFill>
                                  <a:srgbClr val="00B050"/>
                                </a:solidFill>
                                <a:latin typeface="Cambria Math" panose="02040503050406030204" pitchFamily="18" charset="0"/>
                              </a:rPr>
                              <m:t>𝑡</m:t>
                            </m:r>
                          </m:sub>
                        </m:sSub>
                      </m:e>
                    </m:d>
                    <m:r>
                      <a:rPr lang="en-US" altLang="zh-TW" i="1">
                        <a:solidFill>
                          <a:srgbClr val="00B050"/>
                        </a:solidFill>
                        <a:latin typeface="Cambria Math" panose="02040503050406030204" pitchFamily="18" charset="0"/>
                      </a:rPr>
                      <m:t>𝑃</m:t>
                    </m:r>
                    <m:d>
                      <m:dPr>
                        <m:ctrlPr>
                          <a:rPr lang="en-US" altLang="zh-TW" i="1">
                            <a:solidFill>
                              <a:srgbClr val="00B050"/>
                            </a:solidFill>
                            <a:latin typeface="Cambria Math" panose="02040503050406030204" pitchFamily="18" charset="0"/>
                          </a:rPr>
                        </m:ctrlPr>
                      </m:dPr>
                      <m:e>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𝑥</m:t>
                            </m:r>
                          </m:e>
                          <m:sub>
                            <m:r>
                              <a:rPr lang="en-US" altLang="zh-TW" i="1">
                                <a:solidFill>
                                  <a:srgbClr val="00B050"/>
                                </a:solidFill>
                                <a:latin typeface="Cambria Math" panose="02040503050406030204" pitchFamily="18" charset="0"/>
                              </a:rPr>
                              <m:t>𝑡</m:t>
                            </m:r>
                          </m:sub>
                        </m:sSub>
                        <m:r>
                          <a:rPr lang="en-US" altLang="zh-TW" i="1">
                            <a:solidFill>
                              <a:srgbClr val="00B050"/>
                            </a:solidFill>
                            <a:latin typeface="Cambria Math" panose="02040503050406030204" pitchFamily="18" charset="0"/>
                          </a:rPr>
                          <m:t>|</m:t>
                        </m:r>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𝑧</m:t>
                            </m:r>
                          </m:e>
                          <m:sub>
                            <m:r>
                              <a:rPr lang="en-US" altLang="zh-TW" b="0" i="1" smtClean="0">
                                <a:solidFill>
                                  <a:srgbClr val="00B050"/>
                                </a:solidFill>
                                <a:latin typeface="Cambria Math" panose="02040503050406030204" pitchFamily="18" charset="0"/>
                              </a:rPr>
                              <m:t>1:</m:t>
                            </m:r>
                            <m:r>
                              <a:rPr lang="en-US" altLang="zh-TW" i="1">
                                <a:solidFill>
                                  <a:srgbClr val="00B050"/>
                                </a:solidFill>
                                <a:latin typeface="Cambria Math" panose="02040503050406030204" pitchFamily="18" charset="0"/>
                              </a:rPr>
                              <m:t>𝑡</m:t>
                            </m:r>
                            <m:r>
                              <a:rPr lang="en-US" altLang="zh-TW" i="1">
                                <a:solidFill>
                                  <a:srgbClr val="00B050"/>
                                </a:solidFill>
                                <a:latin typeface="Cambria Math" panose="02040503050406030204" pitchFamily="18" charset="0"/>
                              </a:rPr>
                              <m:t>−1</m:t>
                            </m:r>
                          </m:sub>
                        </m:sSub>
                      </m:e>
                    </m:d>
                    <m:r>
                      <a:rPr lang="en-US" altLang="zh-TW" i="1">
                        <a:solidFill>
                          <a:srgbClr val="00B050"/>
                        </a:solidFill>
                        <a:latin typeface="Cambria Math" panose="02040503050406030204" pitchFamily="18" charset="0"/>
                      </a:rPr>
                      <m:t>𝑑</m:t>
                    </m:r>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𝑥</m:t>
                        </m:r>
                      </m:e>
                      <m:sub>
                        <m:r>
                          <a:rPr lang="en-US" altLang="zh-TW" i="1">
                            <a:solidFill>
                              <a:srgbClr val="00B050"/>
                            </a:solidFill>
                            <a:latin typeface="Cambria Math" panose="02040503050406030204" pitchFamily="18" charset="0"/>
                          </a:rPr>
                          <m:t>𝑡</m:t>
                        </m:r>
                      </m:sub>
                    </m:sSub>
                  </m:oMath>
                </a14:m>
                <a:endParaRPr lang="zh-TW" altLang="en-US" dirty="0"/>
              </a:p>
            </p:txBody>
          </p:sp>
        </mc:Choice>
        <mc:Fallback>
          <p:sp>
            <p:nvSpPr>
              <p:cNvPr id="5" name="內容版面配置區 4"/>
              <p:cNvSpPr>
                <a:spLocks noGrp="1" noRot="1" noChangeAspect="1" noMove="1" noResize="1" noEditPoints="1" noAdjustHandles="1" noChangeArrowheads="1" noChangeShapeType="1" noTextEdit="1"/>
              </p:cNvSpPr>
              <p:nvPr>
                <p:ph idx="1"/>
              </p:nvPr>
            </p:nvSpPr>
            <p:spPr>
              <a:xfrm>
                <a:off x="341194" y="1378424"/>
                <a:ext cx="11012606" cy="5240740"/>
              </a:xfrm>
              <a:blipFill rotWithShape="0">
                <a:blip r:embed="rId2"/>
                <a:stretch>
                  <a:fillRect l="-885"/>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60325430-07F2-45E8-A5C9-B73C13C9C571}" type="slidenum">
              <a:rPr lang="zh-TW" altLang="en-US" smtClean="0"/>
              <a:pPr/>
              <a:t>24</a:t>
            </a:fld>
            <a:endParaRPr lang="zh-TW" altLang="en-US"/>
          </a:p>
        </p:txBody>
      </p:sp>
      <mc:AlternateContent xmlns:mc="http://schemas.openxmlformats.org/markup-compatibility/2006">
        <mc:Choice xmlns:a14="http://schemas.microsoft.com/office/drawing/2010/main" xmlns="" Requires="a14">
          <p:sp>
            <p:nvSpPr>
              <p:cNvPr id="7" name="圓角矩形 6"/>
              <p:cNvSpPr/>
              <p:nvPr/>
            </p:nvSpPr>
            <p:spPr>
              <a:xfrm>
                <a:off x="7001302" y="204967"/>
                <a:ext cx="5008730" cy="104573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Para xmlns:m="http://schemas.openxmlformats.org/officeDocument/2006/math">
                    <m:oMathParaPr>
                      <m:jc m:val="left"/>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a:rPr>
                            <m:t>𝑡</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𝑡</m:t>
                          </m:r>
                        </m:sub>
                      </m:sSub>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a:rPr>
                                <m:t>𝑡</m:t>
                              </m:r>
                              <m:r>
                                <a:rPr lang="en-US" altLang="zh-TW" sz="2400" i="1">
                                  <a:latin typeface="Cambria Math" panose="02040503050406030204" pitchFamily="18" charset="0"/>
                                </a:rPr>
                                <m:t>−1</m:t>
                              </m:r>
                            </m:sub>
                          </m:sSub>
                          <m:r>
                            <a:rPr lang="en-US" altLang="zh-TW" sz="2400" i="1">
                              <a:latin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𝑢</m:t>
                              </m:r>
                            </m:e>
                            <m:sub>
                              <m:r>
                                <a:rPr lang="en-US" altLang="zh-TW" sz="2400" i="1">
                                  <a:latin typeface="Cambria Math"/>
                                </a:rPr>
                                <m:t>𝑡</m:t>
                              </m:r>
                            </m:sub>
                          </m:sSub>
                          <m:r>
                            <a:rPr lang="en-US" altLang="zh-TW" sz="2400" i="1">
                              <a:latin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a:rPr>
                                <m:t>𝑡</m:t>
                              </m:r>
                              <m:r>
                                <a:rPr lang="en-US" altLang="zh-TW" sz="2400" i="1">
                                  <a:latin typeface="Cambria Math" panose="02040503050406030204" pitchFamily="18" charset="0"/>
                                </a:rPr>
                                <m:t>−1</m:t>
                              </m:r>
                            </m:sub>
                          </m:sSub>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−1</m:t>
                              </m:r>
                            </m:sub>
                          </m:sSub>
                        </m:e>
                      </m:d>
                    </m:oMath>
                  </m:oMathPara>
                </a14:m>
                <a:endParaRPr lang="en-US" altLang="zh-TW" sz="2400" dirty="0" smtClean="0"/>
              </a:p>
              <a:p>
                <a:pPr algn="ctr"/>
                <a14:m>
                  <m:oMathPara xmlns:m="http://schemas.openxmlformats.org/officeDocument/2006/math">
                    <m:oMathParaPr>
                      <m:jc m:val="left"/>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𝑧</m:t>
                          </m:r>
                        </m:e>
                        <m:sub>
                          <m:r>
                            <a:rPr lang="en-US" altLang="zh-TW" sz="2400" i="1">
                              <a:latin typeface="Cambria Math" panose="02040503050406030204" pitchFamily="18" charset="0"/>
                            </a:rPr>
                            <m:t>𝑡</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h</m:t>
                          </m:r>
                        </m:e>
                        <m:sub>
                          <m:r>
                            <a:rPr lang="en-US" altLang="zh-TW" sz="2400" i="1">
                              <a:latin typeface="Cambria Math" panose="02040503050406030204" pitchFamily="18" charset="0"/>
                            </a:rPr>
                            <m:t>𝑡</m:t>
                          </m:r>
                        </m:sub>
                      </m:sSub>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𝑡</m:t>
                              </m:r>
                            </m:sub>
                          </m:sSub>
                          <m:r>
                            <a:rPr lang="en-US" altLang="zh-TW" sz="2400" i="1">
                              <a:latin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𝑣</m:t>
                              </m:r>
                            </m:e>
                            <m:sub>
                              <m:r>
                                <a:rPr lang="en-US" altLang="zh-TW" sz="2400" i="1">
                                  <a:latin typeface="Cambria Math" panose="02040503050406030204" pitchFamily="18" charset="0"/>
                                </a:rPr>
                                <m:t>𝑡</m:t>
                              </m:r>
                            </m:sub>
                          </m:sSub>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sub>
                          </m:sSub>
                        </m:e>
                      </m:d>
                    </m:oMath>
                  </m:oMathPara>
                </a14:m>
                <a:endParaRPr lang="zh-TW" altLang="en-US" sz="2400" dirty="0"/>
              </a:p>
            </p:txBody>
          </p:sp>
        </mc:Choice>
        <mc:Fallback>
          <p:sp>
            <p:nvSpPr>
              <p:cNvPr id="7" name="圓角矩形 6"/>
              <p:cNvSpPr>
                <a:spLocks noRot="1" noChangeAspect="1" noMove="1" noResize="1" noEditPoints="1" noAdjustHandles="1" noChangeArrowheads="1" noChangeShapeType="1" noTextEdit="1"/>
              </p:cNvSpPr>
              <p:nvPr/>
            </p:nvSpPr>
            <p:spPr>
              <a:xfrm>
                <a:off x="7001302" y="204967"/>
                <a:ext cx="5008730" cy="1045736"/>
              </a:xfrm>
              <a:prstGeom prst="roundRect">
                <a:avLst/>
              </a:prstGeom>
              <a:blipFill rotWithShape="0">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412917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37699" y="320675"/>
            <a:ext cx="11670522" cy="1325563"/>
          </a:xfrm>
        </p:spPr>
        <p:txBody>
          <a:bodyPr/>
          <a:lstStyle/>
          <a:p>
            <a:r>
              <a:rPr lang="en-US" altLang="zh-TW" dirty="0"/>
              <a:t>Nonlinear Bayesian tracking</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456807" y="3367084"/>
                <a:ext cx="11012606" cy="4351338"/>
              </a:xfrm>
            </p:spPr>
            <p:txBody>
              <a:bodyPr>
                <a:normAutofit/>
              </a:bodyPr>
              <a:lstStyle/>
              <a:p>
                <a:r>
                  <a:rPr lang="zh-TW" altLang="en-US" dirty="0" smtClean="0"/>
                  <a:t>已知</a:t>
                </a:r>
                <a14:m>
                  <m:oMath xmlns:m="http://schemas.openxmlformats.org/officeDocument/2006/math">
                    <m:r>
                      <a:rPr lang="en-US" altLang="zh-TW" b="0" i="1" smtClean="0">
                        <a:solidFill>
                          <a:srgbClr val="00B050"/>
                        </a:solidFill>
                        <a:latin typeface="Cambria Math" panose="02040503050406030204" pitchFamily="18" charset="0"/>
                      </a:rPr>
                      <m:t>𝑃</m:t>
                    </m:r>
                    <m:d>
                      <m:dPr>
                        <m:ctrlPr>
                          <a:rPr lang="en-US" altLang="zh-TW" b="0" i="1" smtClean="0">
                            <a:solidFill>
                              <a:srgbClr val="00B050"/>
                            </a:solidFill>
                            <a:latin typeface="Cambria Math" panose="02040503050406030204" pitchFamily="18" charset="0"/>
                          </a:rPr>
                        </m:ctrlPr>
                      </m:dPr>
                      <m:e>
                        <m:sSub>
                          <m:sSubPr>
                            <m:ctrlPr>
                              <a:rPr lang="en-US" altLang="zh-TW" b="0" i="1" smtClean="0">
                                <a:solidFill>
                                  <a:srgbClr val="00B050"/>
                                </a:solidFill>
                                <a:latin typeface="Cambria Math" panose="02040503050406030204" pitchFamily="18" charset="0"/>
                              </a:rPr>
                            </m:ctrlPr>
                          </m:sSubPr>
                          <m:e>
                            <m:r>
                              <a:rPr lang="en-US" altLang="zh-TW" b="0" i="1" smtClean="0">
                                <a:solidFill>
                                  <a:srgbClr val="00B050"/>
                                </a:solidFill>
                                <a:latin typeface="Cambria Math" panose="02040503050406030204" pitchFamily="18" charset="0"/>
                              </a:rPr>
                              <m:t>𝑥</m:t>
                            </m:r>
                          </m:e>
                          <m:sub>
                            <m:r>
                              <a:rPr lang="en-US" altLang="zh-TW" b="0" i="1" smtClean="0">
                                <a:solidFill>
                                  <a:srgbClr val="00B050"/>
                                </a:solidFill>
                                <a:latin typeface="Cambria Math" panose="02040503050406030204" pitchFamily="18" charset="0"/>
                              </a:rPr>
                              <m:t>0</m:t>
                            </m:r>
                          </m:sub>
                        </m:sSub>
                        <m:r>
                          <a:rPr lang="en-US" altLang="zh-TW" b="0" i="1" smtClean="0">
                            <a:solidFill>
                              <a:srgbClr val="00B050"/>
                            </a:solidFill>
                            <a:latin typeface="Cambria Math" panose="02040503050406030204" pitchFamily="18" charset="0"/>
                          </a:rPr>
                          <m:t>|</m:t>
                        </m:r>
                        <m:sSub>
                          <m:sSubPr>
                            <m:ctrlPr>
                              <a:rPr lang="en-US" altLang="zh-TW" b="0" i="1" smtClean="0">
                                <a:solidFill>
                                  <a:srgbClr val="00B050"/>
                                </a:solidFill>
                                <a:latin typeface="Cambria Math" panose="02040503050406030204" pitchFamily="18" charset="0"/>
                              </a:rPr>
                            </m:ctrlPr>
                          </m:sSubPr>
                          <m:e>
                            <m:r>
                              <a:rPr lang="en-US" altLang="zh-TW" b="0" i="1" smtClean="0">
                                <a:solidFill>
                                  <a:srgbClr val="00B050"/>
                                </a:solidFill>
                                <a:latin typeface="Cambria Math" panose="02040503050406030204" pitchFamily="18" charset="0"/>
                              </a:rPr>
                              <m:t>𝑧</m:t>
                            </m:r>
                          </m:e>
                          <m:sub>
                            <m:r>
                              <a:rPr lang="en-US" altLang="zh-TW" b="0" i="1" smtClean="0">
                                <a:solidFill>
                                  <a:srgbClr val="00B050"/>
                                </a:solidFill>
                                <a:latin typeface="Cambria Math" panose="02040503050406030204" pitchFamily="18" charset="0"/>
                              </a:rPr>
                              <m:t>0</m:t>
                            </m:r>
                          </m:sub>
                        </m:sSub>
                      </m:e>
                    </m:d>
                    <m:r>
                      <a:rPr lang="en-US" altLang="zh-TW" b="0" i="1" smtClean="0">
                        <a:latin typeface="Cambria Math" panose="02040503050406030204" pitchFamily="18" charset="0"/>
                      </a:rPr>
                      <m:t>=</m:t>
                    </m:r>
                    <m:r>
                      <a:rPr lang="en-US" altLang="zh-TW" b="0" i="1" smtClean="0">
                        <a:solidFill>
                          <a:srgbClr val="00B050"/>
                        </a:solidFill>
                        <a:latin typeface="Cambria Math" panose="02040503050406030204" pitchFamily="18" charset="0"/>
                      </a:rPr>
                      <m:t>𝑃</m:t>
                    </m:r>
                    <m:d>
                      <m:dPr>
                        <m:ctrlPr>
                          <a:rPr lang="en-US" altLang="zh-TW" b="0" i="1" smtClean="0">
                            <a:solidFill>
                              <a:srgbClr val="00B050"/>
                            </a:solidFill>
                            <a:latin typeface="Cambria Math" panose="02040503050406030204" pitchFamily="18" charset="0"/>
                          </a:rPr>
                        </m:ctrlPr>
                      </m:dPr>
                      <m:e>
                        <m:sSub>
                          <m:sSubPr>
                            <m:ctrlPr>
                              <a:rPr lang="en-US" altLang="zh-TW" b="0" i="1" smtClean="0">
                                <a:solidFill>
                                  <a:srgbClr val="00B050"/>
                                </a:solidFill>
                                <a:latin typeface="Cambria Math" panose="02040503050406030204" pitchFamily="18" charset="0"/>
                              </a:rPr>
                            </m:ctrlPr>
                          </m:sSubPr>
                          <m:e>
                            <m:r>
                              <a:rPr lang="en-US" altLang="zh-TW" b="0" i="1" smtClean="0">
                                <a:solidFill>
                                  <a:srgbClr val="00B050"/>
                                </a:solidFill>
                                <a:latin typeface="Cambria Math" panose="02040503050406030204" pitchFamily="18" charset="0"/>
                              </a:rPr>
                              <m:t>𝑥</m:t>
                            </m:r>
                          </m:e>
                          <m:sub>
                            <m:r>
                              <a:rPr lang="en-US" altLang="zh-TW" b="0" i="1" smtClean="0">
                                <a:solidFill>
                                  <a:srgbClr val="00B050"/>
                                </a:solidFill>
                                <a:latin typeface="Cambria Math" panose="02040503050406030204" pitchFamily="18" charset="0"/>
                              </a:rPr>
                              <m:t>0</m:t>
                            </m:r>
                          </m:sub>
                        </m:sSub>
                      </m:e>
                    </m:d>
                  </m:oMath>
                </a14:m>
                <a:endParaRPr lang="en-US" altLang="zh-TW" dirty="0" smtClean="0"/>
              </a:p>
              <a:p>
                <a:r>
                  <a:rPr lang="en-US" altLang="zh-TW" dirty="0" smtClean="0"/>
                  <a:t>Prediction </a:t>
                </a:r>
                <a14:m>
                  <m:oMath xmlns:m="http://schemas.openxmlformats.org/officeDocument/2006/math">
                    <m:r>
                      <a:rPr lang="en-US" altLang="zh-TW" b="0" i="1" smtClean="0">
                        <a:solidFill>
                          <a:srgbClr val="00B0F0"/>
                        </a:solidFill>
                        <a:latin typeface="Cambria Math" panose="02040503050406030204" pitchFamily="18" charset="0"/>
                      </a:rPr>
                      <m:t>𝑃</m:t>
                    </m:r>
                    <m:d>
                      <m:dPr>
                        <m:ctrlPr>
                          <a:rPr lang="en-US" altLang="zh-TW" b="0" i="1" smtClean="0">
                            <a:solidFill>
                              <a:srgbClr val="00B0F0"/>
                            </a:solidFill>
                            <a:latin typeface="Cambria Math" panose="02040503050406030204" pitchFamily="18" charset="0"/>
                          </a:rPr>
                        </m:ctrlPr>
                      </m:dPr>
                      <m:e>
                        <m:sSub>
                          <m:sSubPr>
                            <m:ctrlPr>
                              <a:rPr lang="en-US" altLang="zh-TW" b="0" i="1" smtClean="0">
                                <a:solidFill>
                                  <a:srgbClr val="00B0F0"/>
                                </a:solidFill>
                                <a:latin typeface="Cambria Math" panose="02040503050406030204" pitchFamily="18" charset="0"/>
                              </a:rPr>
                            </m:ctrlPr>
                          </m:sSubPr>
                          <m:e>
                            <m:r>
                              <a:rPr lang="en-US" altLang="zh-TW" b="0" i="1" smtClean="0">
                                <a:solidFill>
                                  <a:srgbClr val="00B0F0"/>
                                </a:solidFill>
                                <a:latin typeface="Cambria Math" panose="02040503050406030204" pitchFamily="18" charset="0"/>
                              </a:rPr>
                              <m:t>𝑥</m:t>
                            </m:r>
                          </m:e>
                          <m:sub>
                            <m:r>
                              <a:rPr lang="en-US" altLang="zh-TW" b="0" i="1" smtClean="0">
                                <a:solidFill>
                                  <a:srgbClr val="00B0F0"/>
                                </a:solidFill>
                                <a:latin typeface="Cambria Math" panose="02040503050406030204" pitchFamily="18" charset="0"/>
                              </a:rPr>
                              <m:t>1</m:t>
                            </m:r>
                          </m:sub>
                        </m:sSub>
                        <m:r>
                          <a:rPr lang="en-US" altLang="zh-TW" b="0" i="1" smtClean="0">
                            <a:solidFill>
                              <a:srgbClr val="00B0F0"/>
                            </a:solidFill>
                            <a:latin typeface="Cambria Math" panose="02040503050406030204" pitchFamily="18" charset="0"/>
                          </a:rPr>
                          <m:t>|</m:t>
                        </m:r>
                        <m:sSub>
                          <m:sSubPr>
                            <m:ctrlPr>
                              <a:rPr lang="en-US" altLang="zh-TW" b="0" i="1" smtClean="0">
                                <a:solidFill>
                                  <a:srgbClr val="00B0F0"/>
                                </a:solidFill>
                                <a:latin typeface="Cambria Math" panose="02040503050406030204" pitchFamily="18" charset="0"/>
                              </a:rPr>
                            </m:ctrlPr>
                          </m:sSubPr>
                          <m:e>
                            <m:r>
                              <a:rPr lang="en-US" altLang="zh-TW" b="0" i="1" smtClean="0">
                                <a:solidFill>
                                  <a:srgbClr val="00B0F0"/>
                                </a:solidFill>
                                <a:latin typeface="Cambria Math" panose="02040503050406030204" pitchFamily="18" charset="0"/>
                              </a:rPr>
                              <m:t>𝑧</m:t>
                            </m:r>
                          </m:e>
                          <m:sub>
                            <m:r>
                              <a:rPr lang="en-US" altLang="zh-TW" b="0" i="1" smtClean="0">
                                <a:solidFill>
                                  <a:srgbClr val="00B0F0"/>
                                </a:solidFill>
                                <a:latin typeface="Cambria Math" panose="02040503050406030204" pitchFamily="18" charset="0"/>
                              </a:rPr>
                              <m:t>0</m:t>
                            </m:r>
                          </m:sub>
                        </m:sSub>
                      </m:e>
                    </m:d>
                    <m:r>
                      <a:rPr lang="en-US" altLang="zh-TW" b="0" i="1" smtClean="0">
                        <a:solidFill>
                          <a:schemeClr val="tx1"/>
                        </a:solidFill>
                        <a:latin typeface="Cambria Math" panose="02040503050406030204" pitchFamily="18" charset="0"/>
                      </a:rPr>
                      <m:t>=</m:t>
                    </m:r>
                    <m:r>
                      <a:rPr lang="en-US" altLang="zh-TW" i="1">
                        <a:solidFill>
                          <a:schemeClr val="tx1"/>
                        </a:solidFill>
                        <a:latin typeface="Cambria Math" panose="02040503050406030204" pitchFamily="18" charset="0"/>
                      </a:rPr>
                      <m:t>∫</m:t>
                    </m:r>
                    <m:r>
                      <a:rPr lang="en-US" altLang="zh-TW" i="1">
                        <a:solidFill>
                          <a:schemeClr val="tx1"/>
                        </a:solidFill>
                        <a:latin typeface="Cambria Math" panose="02040503050406030204" pitchFamily="18" charset="0"/>
                      </a:rPr>
                      <m:t>𝑃</m:t>
                    </m:r>
                    <m:d>
                      <m:dPr>
                        <m:ctrlPr>
                          <a:rPr lang="en-US" altLang="zh-TW" i="1">
                            <a:solidFill>
                              <a:schemeClr val="tx1"/>
                            </a:solidFill>
                            <a:latin typeface="Cambria Math" panose="02040503050406030204" pitchFamily="18" charset="0"/>
                          </a:rPr>
                        </m:ctrlPr>
                      </m:dPr>
                      <m:e>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𝑥</m:t>
                            </m:r>
                          </m:e>
                          <m:sub>
                            <m:r>
                              <a:rPr lang="en-US" altLang="zh-TW" b="0" i="1" smtClean="0">
                                <a:solidFill>
                                  <a:schemeClr val="tx1"/>
                                </a:solidFill>
                                <a:latin typeface="Cambria Math" panose="02040503050406030204" pitchFamily="18" charset="0"/>
                              </a:rPr>
                              <m:t>1</m:t>
                            </m:r>
                          </m:sub>
                        </m:sSub>
                        <m:r>
                          <a:rPr lang="en-US" altLang="zh-TW" i="1">
                            <a:solidFill>
                              <a:schemeClr val="tx1"/>
                            </a:solidFill>
                            <a:latin typeface="Cambria Math" panose="02040503050406030204" pitchFamily="18" charset="0"/>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𝑥</m:t>
                            </m:r>
                          </m:e>
                          <m:sub>
                            <m:r>
                              <a:rPr lang="en-US" altLang="zh-TW" b="0" i="1" smtClean="0">
                                <a:solidFill>
                                  <a:schemeClr val="tx1"/>
                                </a:solidFill>
                                <a:latin typeface="Cambria Math" panose="02040503050406030204" pitchFamily="18" charset="0"/>
                              </a:rPr>
                              <m:t>0</m:t>
                            </m:r>
                          </m:sub>
                        </m:sSub>
                      </m:e>
                    </m:d>
                    <m:r>
                      <a:rPr lang="en-US" altLang="zh-TW" i="1" smtClean="0">
                        <a:solidFill>
                          <a:srgbClr val="00B050"/>
                        </a:solidFill>
                        <a:latin typeface="Cambria Math" panose="02040503050406030204" pitchFamily="18" charset="0"/>
                      </a:rPr>
                      <m:t>𝑃</m:t>
                    </m:r>
                    <m:d>
                      <m:dPr>
                        <m:ctrlPr>
                          <a:rPr lang="en-US" altLang="zh-TW" i="1">
                            <a:solidFill>
                              <a:srgbClr val="00B050"/>
                            </a:solidFill>
                            <a:latin typeface="Cambria Math" panose="02040503050406030204" pitchFamily="18" charset="0"/>
                          </a:rPr>
                        </m:ctrlPr>
                      </m:dPr>
                      <m:e>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𝑥</m:t>
                            </m:r>
                          </m:e>
                          <m:sub>
                            <m:r>
                              <a:rPr lang="en-US" altLang="zh-TW" b="0" i="1" smtClean="0">
                                <a:solidFill>
                                  <a:srgbClr val="00B050"/>
                                </a:solidFill>
                                <a:latin typeface="Cambria Math" panose="02040503050406030204" pitchFamily="18" charset="0"/>
                              </a:rPr>
                              <m:t>0</m:t>
                            </m:r>
                          </m:sub>
                        </m:sSub>
                        <m:r>
                          <a:rPr lang="en-US" altLang="zh-TW" i="1">
                            <a:solidFill>
                              <a:srgbClr val="00B050"/>
                            </a:solidFill>
                            <a:latin typeface="Cambria Math" panose="02040503050406030204" pitchFamily="18" charset="0"/>
                          </a:rPr>
                          <m:t>|</m:t>
                        </m:r>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𝑧</m:t>
                            </m:r>
                          </m:e>
                          <m:sub>
                            <m:r>
                              <a:rPr lang="en-US" altLang="zh-TW" b="0" i="1" smtClean="0">
                                <a:solidFill>
                                  <a:srgbClr val="00B050"/>
                                </a:solidFill>
                                <a:latin typeface="Cambria Math" panose="02040503050406030204" pitchFamily="18" charset="0"/>
                              </a:rPr>
                              <m:t>0</m:t>
                            </m:r>
                          </m:sub>
                        </m:sSub>
                      </m:e>
                    </m:d>
                    <m:r>
                      <a:rPr lang="en-US" altLang="zh-TW" i="1">
                        <a:solidFill>
                          <a:schemeClr val="tx1"/>
                        </a:solidFill>
                        <a:latin typeface="Cambria Math" panose="02040503050406030204" pitchFamily="18" charset="0"/>
                      </a:rPr>
                      <m:t>𝑑</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𝑥</m:t>
                        </m:r>
                      </m:e>
                      <m:sub>
                        <m:r>
                          <a:rPr lang="en-US" altLang="zh-TW" b="0" i="1" smtClean="0">
                            <a:solidFill>
                              <a:schemeClr val="tx1"/>
                            </a:solidFill>
                            <a:latin typeface="Cambria Math" panose="02040503050406030204" pitchFamily="18" charset="0"/>
                          </a:rPr>
                          <m:t>0</m:t>
                        </m:r>
                      </m:sub>
                    </m:sSub>
                    <m:r>
                      <a:rPr lang="en-US" altLang="zh-TW" b="0" i="1" smtClean="0">
                        <a:solidFill>
                          <a:schemeClr val="tx1"/>
                        </a:solidFill>
                        <a:latin typeface="Cambria Math" panose="02040503050406030204" pitchFamily="18" charset="0"/>
                      </a:rPr>
                      <m:t>=</m:t>
                    </m:r>
                    <m:r>
                      <a:rPr lang="en-US" altLang="zh-TW" i="1">
                        <a:solidFill>
                          <a:schemeClr val="tx1"/>
                        </a:solidFill>
                        <a:latin typeface="Cambria Math" panose="02040503050406030204" pitchFamily="18" charset="0"/>
                      </a:rPr>
                      <m:t>∫</m:t>
                    </m:r>
                    <m:r>
                      <a:rPr lang="en-US" altLang="zh-TW" i="1">
                        <a:solidFill>
                          <a:schemeClr val="tx1"/>
                        </a:solidFill>
                        <a:latin typeface="Cambria Math" panose="02040503050406030204" pitchFamily="18" charset="0"/>
                      </a:rPr>
                      <m:t>𝑃</m:t>
                    </m:r>
                    <m:d>
                      <m:dPr>
                        <m:ctrlPr>
                          <a:rPr lang="en-US" altLang="zh-TW" i="1">
                            <a:solidFill>
                              <a:schemeClr val="tx1"/>
                            </a:solidFill>
                            <a:latin typeface="Cambria Math" panose="02040503050406030204" pitchFamily="18" charset="0"/>
                          </a:rPr>
                        </m:ctrlPr>
                      </m:dPr>
                      <m:e>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𝑥</m:t>
                            </m:r>
                          </m:e>
                          <m:sub>
                            <m:r>
                              <a:rPr lang="en-US" altLang="zh-TW" i="1">
                                <a:solidFill>
                                  <a:schemeClr val="tx1"/>
                                </a:solidFill>
                                <a:latin typeface="Cambria Math" panose="02040503050406030204" pitchFamily="18" charset="0"/>
                              </a:rPr>
                              <m:t>1</m:t>
                            </m:r>
                          </m:sub>
                        </m:sSub>
                        <m:r>
                          <a:rPr lang="en-US" altLang="zh-TW" i="1">
                            <a:solidFill>
                              <a:schemeClr val="tx1"/>
                            </a:solidFill>
                            <a:latin typeface="Cambria Math" panose="02040503050406030204" pitchFamily="18" charset="0"/>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𝑥</m:t>
                            </m:r>
                          </m:e>
                          <m:sub>
                            <m:r>
                              <a:rPr lang="en-US" altLang="zh-TW" i="1">
                                <a:solidFill>
                                  <a:schemeClr val="tx1"/>
                                </a:solidFill>
                                <a:latin typeface="Cambria Math" panose="02040503050406030204" pitchFamily="18" charset="0"/>
                              </a:rPr>
                              <m:t>0</m:t>
                            </m:r>
                          </m:sub>
                        </m:sSub>
                      </m:e>
                    </m:d>
                    <m:r>
                      <a:rPr lang="en-US" altLang="zh-TW" b="0" i="1" smtClean="0">
                        <a:solidFill>
                          <a:srgbClr val="00B050"/>
                        </a:solidFill>
                        <a:latin typeface="Cambria Math" panose="02040503050406030204" pitchFamily="18" charset="0"/>
                      </a:rPr>
                      <m:t>𝑃</m:t>
                    </m:r>
                    <m:d>
                      <m:dPr>
                        <m:ctrlPr>
                          <a:rPr lang="en-US" altLang="zh-TW" b="0" i="1" smtClean="0">
                            <a:solidFill>
                              <a:srgbClr val="00B050"/>
                            </a:solidFill>
                            <a:latin typeface="Cambria Math" panose="02040503050406030204" pitchFamily="18" charset="0"/>
                          </a:rPr>
                        </m:ctrlPr>
                      </m:dPr>
                      <m:e>
                        <m:sSub>
                          <m:sSubPr>
                            <m:ctrlPr>
                              <a:rPr lang="en-US" altLang="zh-TW" b="0" i="1" smtClean="0">
                                <a:solidFill>
                                  <a:srgbClr val="00B050"/>
                                </a:solidFill>
                                <a:latin typeface="Cambria Math" panose="02040503050406030204" pitchFamily="18" charset="0"/>
                              </a:rPr>
                            </m:ctrlPr>
                          </m:sSubPr>
                          <m:e>
                            <m:r>
                              <a:rPr lang="en-US" altLang="zh-TW" b="0" i="1" smtClean="0">
                                <a:solidFill>
                                  <a:srgbClr val="00B050"/>
                                </a:solidFill>
                                <a:latin typeface="Cambria Math" panose="02040503050406030204" pitchFamily="18" charset="0"/>
                              </a:rPr>
                              <m:t>𝑥</m:t>
                            </m:r>
                          </m:e>
                          <m:sub>
                            <m:r>
                              <a:rPr lang="en-US" altLang="zh-TW" b="0" i="1" smtClean="0">
                                <a:solidFill>
                                  <a:srgbClr val="00B050"/>
                                </a:solidFill>
                                <a:latin typeface="Cambria Math" panose="02040503050406030204" pitchFamily="18" charset="0"/>
                              </a:rPr>
                              <m:t>0</m:t>
                            </m:r>
                          </m:sub>
                        </m:sSub>
                      </m:e>
                    </m:d>
                    <m:r>
                      <a:rPr lang="en-US" altLang="zh-TW" i="1">
                        <a:solidFill>
                          <a:schemeClr val="tx1"/>
                        </a:solidFill>
                        <a:latin typeface="Cambria Math" panose="02040503050406030204" pitchFamily="18" charset="0"/>
                      </a:rPr>
                      <m:t>𝑑</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𝑥</m:t>
                        </m:r>
                      </m:e>
                      <m:sub>
                        <m:r>
                          <a:rPr lang="en-US" altLang="zh-TW" i="1">
                            <a:solidFill>
                              <a:schemeClr val="tx1"/>
                            </a:solidFill>
                            <a:latin typeface="Cambria Math" panose="02040503050406030204" pitchFamily="18" charset="0"/>
                          </a:rPr>
                          <m:t>0</m:t>
                        </m:r>
                      </m:sub>
                    </m:sSub>
                  </m:oMath>
                </a14:m>
                <a:endParaRPr lang="en-US" altLang="zh-TW" dirty="0" smtClean="0">
                  <a:solidFill>
                    <a:schemeClr val="tx1"/>
                  </a:solidFill>
                </a:endParaRPr>
              </a:p>
              <a:p>
                <a:r>
                  <a:rPr lang="en-US" altLang="zh-TW" dirty="0" smtClean="0">
                    <a:solidFill>
                      <a:schemeClr val="tx1"/>
                    </a:solidFill>
                  </a:rPr>
                  <a:t>Update </a:t>
                </a:r>
                <a14:m>
                  <m:oMath xmlns:m="http://schemas.openxmlformats.org/officeDocument/2006/math">
                    <m:r>
                      <a:rPr lang="en-US" altLang="zh-TW" i="1">
                        <a:solidFill>
                          <a:schemeClr val="tx1"/>
                        </a:solidFill>
                        <a:latin typeface="Cambria Math" panose="02040503050406030204" pitchFamily="18" charset="0"/>
                      </a:rPr>
                      <m:t>𝑃</m:t>
                    </m:r>
                    <m:d>
                      <m:dPr>
                        <m:ctrlPr>
                          <a:rPr lang="en-US" altLang="zh-TW" i="1">
                            <a:solidFill>
                              <a:schemeClr val="tx1"/>
                            </a:solidFill>
                            <a:latin typeface="Cambria Math" panose="02040503050406030204" pitchFamily="18" charset="0"/>
                          </a:rPr>
                        </m:ctrlPr>
                      </m:dPr>
                      <m:e>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𝑥</m:t>
                            </m:r>
                          </m:e>
                          <m:sub>
                            <m:r>
                              <a:rPr lang="en-US" altLang="zh-TW" i="1">
                                <a:solidFill>
                                  <a:schemeClr val="tx1"/>
                                </a:solidFill>
                                <a:latin typeface="Cambria Math" panose="02040503050406030204" pitchFamily="18" charset="0"/>
                              </a:rPr>
                              <m:t>𝑡</m:t>
                            </m:r>
                          </m:sub>
                        </m:sSub>
                        <m:r>
                          <a:rPr lang="en-US" altLang="zh-TW" i="1">
                            <a:solidFill>
                              <a:schemeClr val="tx1"/>
                            </a:solidFill>
                            <a:latin typeface="Cambria Math" panose="02040503050406030204" pitchFamily="18" charset="0"/>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𝑧</m:t>
                            </m:r>
                          </m:e>
                          <m:sub>
                            <m:r>
                              <a:rPr lang="en-US" altLang="zh-TW" b="0" i="1" smtClean="0">
                                <a:solidFill>
                                  <a:schemeClr val="tx1"/>
                                </a:solidFill>
                                <a:latin typeface="Cambria Math" panose="02040503050406030204" pitchFamily="18" charset="0"/>
                              </a:rPr>
                              <m:t>1</m:t>
                            </m:r>
                          </m:sub>
                        </m:sSub>
                      </m:e>
                    </m:d>
                    <m:r>
                      <a:rPr lang="en-US" altLang="zh-TW" b="0" i="1" smtClean="0">
                        <a:solidFill>
                          <a:schemeClr val="tx1"/>
                        </a:solidFill>
                        <a:latin typeface="Cambria Math" panose="02040503050406030204" pitchFamily="18" charset="0"/>
                      </a:rPr>
                      <m:t>=</m:t>
                    </m:r>
                    <m:f>
                      <m:fPr>
                        <m:ctrlPr>
                          <a:rPr lang="en-US" altLang="zh-TW" i="1">
                            <a:solidFill>
                              <a:schemeClr val="tx1"/>
                            </a:solidFill>
                            <a:latin typeface="Cambria Math" panose="02040503050406030204" pitchFamily="18" charset="0"/>
                          </a:rPr>
                        </m:ctrlPr>
                      </m:fPr>
                      <m:num>
                        <m:r>
                          <a:rPr lang="en-US" altLang="zh-TW" i="1">
                            <a:solidFill>
                              <a:schemeClr val="tx1"/>
                            </a:solidFill>
                            <a:latin typeface="Cambria Math"/>
                          </a:rPr>
                          <m:t>𝑃</m:t>
                        </m:r>
                        <m:d>
                          <m:dPr>
                            <m:ctrlPr>
                              <a:rPr lang="en-US" altLang="zh-TW" i="1">
                                <a:solidFill>
                                  <a:schemeClr val="tx1"/>
                                </a:solidFill>
                                <a:latin typeface="Cambria Math" panose="02040503050406030204" pitchFamily="18" charset="0"/>
                              </a:rPr>
                            </m:ctrlPr>
                          </m:dPr>
                          <m:e>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𝑧</m:t>
                                </m:r>
                              </m:e>
                              <m:sub>
                                <m:r>
                                  <a:rPr lang="en-US" altLang="zh-TW" b="0" i="1" smtClean="0">
                                    <a:solidFill>
                                      <a:schemeClr val="tx1"/>
                                    </a:solidFill>
                                    <a:latin typeface="Cambria Math" panose="02040503050406030204" pitchFamily="18" charset="0"/>
                                  </a:rPr>
                                  <m:t>1</m:t>
                                </m:r>
                              </m:sub>
                            </m:sSub>
                            <m:r>
                              <a:rPr lang="en-US" altLang="zh-TW" i="1">
                                <a:solidFill>
                                  <a:schemeClr val="tx1"/>
                                </a:solidFill>
                                <a:latin typeface="Cambria Math"/>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a:rPr>
                                  <m:t>𝑥</m:t>
                                </m:r>
                              </m:e>
                              <m:sub>
                                <m:r>
                                  <a:rPr lang="en-US" altLang="zh-TW" b="0" i="1" smtClean="0">
                                    <a:solidFill>
                                      <a:schemeClr val="tx1"/>
                                    </a:solidFill>
                                    <a:latin typeface="Cambria Math" panose="02040503050406030204" pitchFamily="18" charset="0"/>
                                  </a:rPr>
                                  <m:t>1</m:t>
                                </m:r>
                              </m:sub>
                            </m:sSub>
                          </m:e>
                        </m:d>
                        <m:r>
                          <a:rPr lang="en-US" altLang="zh-TW" i="1" smtClean="0">
                            <a:solidFill>
                              <a:srgbClr val="00B0F0"/>
                            </a:solidFill>
                            <a:latin typeface="Cambria Math"/>
                          </a:rPr>
                          <m:t>𝑃</m:t>
                        </m:r>
                        <m:d>
                          <m:dPr>
                            <m:ctrlPr>
                              <a:rPr lang="en-US" altLang="zh-TW" i="1">
                                <a:solidFill>
                                  <a:srgbClr val="00B0F0"/>
                                </a:solidFill>
                                <a:latin typeface="Cambria Math" panose="02040503050406030204" pitchFamily="18" charset="0"/>
                              </a:rPr>
                            </m:ctrlPr>
                          </m:dPr>
                          <m:e>
                            <m:sSub>
                              <m:sSubPr>
                                <m:ctrlPr>
                                  <a:rPr lang="en-US" altLang="zh-TW" i="1">
                                    <a:solidFill>
                                      <a:srgbClr val="00B0F0"/>
                                    </a:solidFill>
                                    <a:latin typeface="Cambria Math" panose="02040503050406030204" pitchFamily="18" charset="0"/>
                                  </a:rPr>
                                </m:ctrlPr>
                              </m:sSubPr>
                              <m:e>
                                <m:r>
                                  <a:rPr lang="en-US" altLang="zh-TW" i="1">
                                    <a:solidFill>
                                      <a:srgbClr val="00B0F0"/>
                                    </a:solidFill>
                                    <a:latin typeface="Cambria Math"/>
                                  </a:rPr>
                                  <m:t>𝑥</m:t>
                                </m:r>
                              </m:e>
                              <m:sub>
                                <m:r>
                                  <a:rPr lang="en-US" altLang="zh-TW" b="0" i="1" smtClean="0">
                                    <a:solidFill>
                                      <a:srgbClr val="00B0F0"/>
                                    </a:solidFill>
                                    <a:latin typeface="Cambria Math" panose="02040503050406030204" pitchFamily="18" charset="0"/>
                                  </a:rPr>
                                  <m:t>1</m:t>
                                </m:r>
                              </m:sub>
                            </m:sSub>
                            <m:r>
                              <a:rPr lang="en-US" altLang="zh-TW" i="1">
                                <a:solidFill>
                                  <a:srgbClr val="00B0F0"/>
                                </a:solidFill>
                                <a:latin typeface="Cambria Math"/>
                              </a:rPr>
                              <m:t>|</m:t>
                            </m:r>
                            <m:sSub>
                              <m:sSubPr>
                                <m:ctrlPr>
                                  <a:rPr lang="en-US" altLang="zh-TW" i="1">
                                    <a:solidFill>
                                      <a:srgbClr val="00B0F0"/>
                                    </a:solidFill>
                                    <a:latin typeface="Cambria Math" panose="02040503050406030204" pitchFamily="18" charset="0"/>
                                  </a:rPr>
                                </m:ctrlPr>
                              </m:sSubPr>
                              <m:e>
                                <m:r>
                                  <a:rPr lang="en-US" altLang="zh-TW" i="1">
                                    <a:solidFill>
                                      <a:srgbClr val="00B0F0"/>
                                    </a:solidFill>
                                    <a:latin typeface="Cambria Math"/>
                                  </a:rPr>
                                  <m:t>𝑧</m:t>
                                </m:r>
                              </m:e>
                              <m:sub>
                                <m:r>
                                  <a:rPr lang="en-US" altLang="zh-TW" b="0" i="1" smtClean="0">
                                    <a:solidFill>
                                      <a:srgbClr val="00B0F0"/>
                                    </a:solidFill>
                                    <a:latin typeface="Cambria Math" panose="02040503050406030204" pitchFamily="18" charset="0"/>
                                  </a:rPr>
                                  <m:t>0</m:t>
                                </m:r>
                              </m:sub>
                            </m:sSub>
                          </m:e>
                        </m:d>
                      </m:num>
                      <m:den>
                        <m:r>
                          <a:rPr lang="en-US" altLang="zh-TW" i="1" smtClean="0">
                            <a:solidFill>
                              <a:srgbClr val="FF0000"/>
                            </a:solidFill>
                            <a:latin typeface="Cambria Math"/>
                          </a:rPr>
                          <m:t>𝑃</m:t>
                        </m:r>
                        <m:d>
                          <m:dPr>
                            <m:ctrlPr>
                              <a:rPr lang="en-US" altLang="zh-TW" i="1">
                                <a:solidFill>
                                  <a:srgbClr val="FF0000"/>
                                </a:solidFill>
                                <a:latin typeface="Cambria Math" panose="02040503050406030204" pitchFamily="18" charset="0"/>
                              </a:rPr>
                            </m:ctrlPr>
                          </m:dPr>
                          <m:e>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𝑧</m:t>
                                </m:r>
                              </m:e>
                              <m:sub>
                                <m:r>
                                  <a:rPr lang="en-US" altLang="zh-TW" b="0" i="1" smtClean="0">
                                    <a:solidFill>
                                      <a:srgbClr val="FF0000"/>
                                    </a:solidFill>
                                    <a:latin typeface="Cambria Math" panose="02040503050406030204" pitchFamily="18" charset="0"/>
                                  </a:rPr>
                                  <m:t>1</m:t>
                                </m:r>
                              </m:sub>
                            </m:sSub>
                            <m:r>
                              <a:rPr lang="en-US" altLang="zh-TW" i="1">
                                <a:solidFill>
                                  <a:srgbClr val="FF0000"/>
                                </a:solidFill>
                                <a:latin typeface="Cambria Math"/>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a:rPr>
                                  <m:t>𝑧</m:t>
                                </m:r>
                              </m:e>
                              <m:sub>
                                <m:r>
                                  <a:rPr lang="en-US" altLang="zh-TW" b="0" i="1" smtClean="0">
                                    <a:solidFill>
                                      <a:srgbClr val="FF0000"/>
                                    </a:solidFill>
                                    <a:latin typeface="Cambria Math" panose="02040503050406030204" pitchFamily="18" charset="0"/>
                                  </a:rPr>
                                  <m:t>0</m:t>
                                </m:r>
                              </m:sub>
                            </m:sSub>
                          </m:e>
                        </m:d>
                      </m:den>
                    </m:f>
                  </m:oMath>
                </a14:m>
                <a:endParaRPr lang="en-US" altLang="zh-TW" dirty="0" smtClean="0">
                  <a:solidFill>
                    <a:schemeClr val="tx1"/>
                  </a:solidFill>
                </a:endParaRPr>
              </a:p>
              <a:p>
                <a14:m>
                  <m:oMath xmlns:m="http://schemas.openxmlformats.org/officeDocument/2006/math">
                    <m:r>
                      <a:rPr lang="en-US" altLang="zh-TW" i="1" smtClean="0">
                        <a:solidFill>
                          <a:srgbClr val="FF0000"/>
                        </a:solidFill>
                        <a:latin typeface="Cambria Math" panose="02040503050406030204" pitchFamily="18" charset="0"/>
                      </a:rPr>
                      <m:t>𝑃</m:t>
                    </m:r>
                    <m:d>
                      <m:dPr>
                        <m:ctrlPr>
                          <a:rPr lang="en-US" altLang="zh-TW" i="1">
                            <a:solidFill>
                              <a:srgbClr val="FF0000"/>
                            </a:solidFill>
                            <a:latin typeface="Cambria Math" panose="02040503050406030204" pitchFamily="18" charset="0"/>
                          </a:rPr>
                        </m:ctrlPr>
                      </m:dPr>
                      <m:e>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𝑧</m:t>
                            </m:r>
                          </m:e>
                          <m:sub>
                            <m:r>
                              <a:rPr lang="en-US" altLang="zh-TW" b="0" i="1" smtClean="0">
                                <a:solidFill>
                                  <a:srgbClr val="FF0000"/>
                                </a:solidFill>
                                <a:latin typeface="Cambria Math" panose="02040503050406030204" pitchFamily="18" charset="0"/>
                              </a:rPr>
                              <m:t>1</m:t>
                            </m:r>
                          </m:sub>
                        </m:sSub>
                        <m:r>
                          <a:rPr lang="en-US" altLang="zh-TW" i="1">
                            <a:solidFill>
                              <a:srgbClr val="FF0000"/>
                            </a:solidFill>
                            <a:latin typeface="Cambria Math" panose="02040503050406030204" pitchFamily="18" charset="0"/>
                          </a:rPr>
                          <m:t>|</m:t>
                        </m:r>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𝑧</m:t>
                            </m:r>
                          </m:e>
                          <m:sub>
                            <m:r>
                              <a:rPr lang="en-US" altLang="zh-TW" b="0" i="1" smtClean="0">
                                <a:solidFill>
                                  <a:srgbClr val="FF0000"/>
                                </a:solidFill>
                                <a:latin typeface="Cambria Math" panose="02040503050406030204" pitchFamily="18" charset="0"/>
                              </a:rPr>
                              <m:t>0</m:t>
                            </m:r>
                          </m:sub>
                        </m:sSub>
                      </m:e>
                    </m:d>
                    <m:r>
                      <a:rPr lang="en-US" altLang="zh-TW" b="0" i="1" smtClean="0">
                        <a:solidFill>
                          <a:schemeClr val="tx1"/>
                        </a:solidFill>
                        <a:latin typeface="Cambria Math" panose="02040503050406030204" pitchFamily="18" charset="0"/>
                      </a:rPr>
                      <m:t>=</m:t>
                    </m:r>
                    <m:r>
                      <a:rPr lang="en-US" altLang="zh-TW" i="1">
                        <a:solidFill>
                          <a:schemeClr val="tx1"/>
                        </a:solidFill>
                        <a:latin typeface="Cambria Math" panose="02040503050406030204" pitchFamily="18" charset="0"/>
                      </a:rPr>
                      <m:t>∫</m:t>
                    </m:r>
                    <m:r>
                      <a:rPr lang="en-US" altLang="zh-TW" i="1">
                        <a:solidFill>
                          <a:schemeClr val="tx1"/>
                        </a:solidFill>
                        <a:latin typeface="Cambria Math" panose="02040503050406030204" pitchFamily="18" charset="0"/>
                      </a:rPr>
                      <m:t>𝑃</m:t>
                    </m:r>
                    <m:d>
                      <m:dPr>
                        <m:ctrlPr>
                          <a:rPr lang="en-US" altLang="zh-TW" i="1">
                            <a:solidFill>
                              <a:schemeClr val="tx1"/>
                            </a:solidFill>
                            <a:latin typeface="Cambria Math" panose="02040503050406030204" pitchFamily="18" charset="0"/>
                          </a:rPr>
                        </m:ctrlPr>
                      </m:dPr>
                      <m:e>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𝑧</m:t>
                            </m:r>
                          </m:e>
                          <m:sub>
                            <m:r>
                              <a:rPr lang="en-US" altLang="zh-TW" b="0" i="1" smtClean="0">
                                <a:solidFill>
                                  <a:schemeClr val="tx1"/>
                                </a:solidFill>
                                <a:latin typeface="Cambria Math" panose="02040503050406030204" pitchFamily="18" charset="0"/>
                              </a:rPr>
                              <m:t>1</m:t>
                            </m:r>
                          </m:sub>
                        </m:sSub>
                        <m:r>
                          <a:rPr lang="en-US" altLang="zh-TW" i="1">
                            <a:solidFill>
                              <a:schemeClr val="tx1"/>
                            </a:solidFill>
                            <a:latin typeface="Cambria Math" panose="02040503050406030204" pitchFamily="18" charset="0"/>
                          </a:rPr>
                          <m:t>|</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𝑥</m:t>
                            </m:r>
                          </m:e>
                          <m:sub>
                            <m:r>
                              <a:rPr lang="en-US" altLang="zh-TW" b="0" i="1" smtClean="0">
                                <a:solidFill>
                                  <a:schemeClr val="tx1"/>
                                </a:solidFill>
                                <a:latin typeface="Cambria Math" panose="02040503050406030204" pitchFamily="18" charset="0"/>
                              </a:rPr>
                              <m:t>1</m:t>
                            </m:r>
                          </m:sub>
                        </m:sSub>
                      </m:e>
                    </m:d>
                    <m:r>
                      <a:rPr lang="en-US" altLang="zh-TW" i="1" smtClean="0">
                        <a:solidFill>
                          <a:srgbClr val="00B0F0"/>
                        </a:solidFill>
                        <a:latin typeface="Cambria Math" panose="02040503050406030204" pitchFamily="18" charset="0"/>
                      </a:rPr>
                      <m:t>𝑃</m:t>
                    </m:r>
                    <m:d>
                      <m:dPr>
                        <m:ctrlPr>
                          <a:rPr lang="en-US" altLang="zh-TW" i="1">
                            <a:solidFill>
                              <a:srgbClr val="00B0F0"/>
                            </a:solidFill>
                            <a:latin typeface="Cambria Math" panose="02040503050406030204" pitchFamily="18" charset="0"/>
                          </a:rPr>
                        </m:ctrlPr>
                      </m:dPr>
                      <m:e>
                        <m:sSub>
                          <m:sSubPr>
                            <m:ctrlPr>
                              <a:rPr lang="en-US" altLang="zh-TW" i="1">
                                <a:solidFill>
                                  <a:srgbClr val="00B0F0"/>
                                </a:solidFill>
                                <a:latin typeface="Cambria Math" panose="02040503050406030204" pitchFamily="18" charset="0"/>
                              </a:rPr>
                            </m:ctrlPr>
                          </m:sSubPr>
                          <m:e>
                            <m:r>
                              <a:rPr lang="en-US" altLang="zh-TW" i="1">
                                <a:solidFill>
                                  <a:srgbClr val="00B0F0"/>
                                </a:solidFill>
                                <a:latin typeface="Cambria Math" panose="02040503050406030204" pitchFamily="18" charset="0"/>
                              </a:rPr>
                              <m:t>𝑥</m:t>
                            </m:r>
                          </m:e>
                          <m:sub>
                            <m:r>
                              <a:rPr lang="en-US" altLang="zh-TW" b="0" i="1" smtClean="0">
                                <a:solidFill>
                                  <a:srgbClr val="00B0F0"/>
                                </a:solidFill>
                                <a:latin typeface="Cambria Math" panose="02040503050406030204" pitchFamily="18" charset="0"/>
                              </a:rPr>
                              <m:t>1</m:t>
                            </m:r>
                          </m:sub>
                        </m:sSub>
                        <m:r>
                          <a:rPr lang="en-US" altLang="zh-TW" i="1">
                            <a:solidFill>
                              <a:srgbClr val="00B0F0"/>
                            </a:solidFill>
                            <a:latin typeface="Cambria Math" panose="02040503050406030204" pitchFamily="18" charset="0"/>
                          </a:rPr>
                          <m:t>|</m:t>
                        </m:r>
                        <m:sSub>
                          <m:sSubPr>
                            <m:ctrlPr>
                              <a:rPr lang="en-US" altLang="zh-TW" i="1">
                                <a:solidFill>
                                  <a:srgbClr val="00B0F0"/>
                                </a:solidFill>
                                <a:latin typeface="Cambria Math" panose="02040503050406030204" pitchFamily="18" charset="0"/>
                              </a:rPr>
                            </m:ctrlPr>
                          </m:sSubPr>
                          <m:e>
                            <m:r>
                              <a:rPr lang="en-US" altLang="zh-TW" i="1">
                                <a:solidFill>
                                  <a:srgbClr val="00B0F0"/>
                                </a:solidFill>
                                <a:latin typeface="Cambria Math" panose="02040503050406030204" pitchFamily="18" charset="0"/>
                              </a:rPr>
                              <m:t>𝑧</m:t>
                            </m:r>
                          </m:e>
                          <m:sub>
                            <m:r>
                              <a:rPr lang="en-US" altLang="zh-TW" b="0" i="1" smtClean="0">
                                <a:solidFill>
                                  <a:srgbClr val="00B0F0"/>
                                </a:solidFill>
                                <a:latin typeface="Cambria Math" panose="02040503050406030204" pitchFamily="18" charset="0"/>
                              </a:rPr>
                              <m:t>0</m:t>
                            </m:r>
                          </m:sub>
                        </m:sSub>
                      </m:e>
                    </m:d>
                    <m:r>
                      <a:rPr lang="en-US" altLang="zh-TW" i="1">
                        <a:solidFill>
                          <a:schemeClr val="tx1"/>
                        </a:solidFill>
                        <a:latin typeface="Cambria Math" panose="02040503050406030204" pitchFamily="18" charset="0"/>
                      </a:rPr>
                      <m:t>𝑑</m:t>
                    </m:r>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𝑥</m:t>
                        </m:r>
                      </m:e>
                      <m:sub>
                        <m:r>
                          <a:rPr lang="en-US" altLang="zh-TW" b="0" i="1" smtClean="0">
                            <a:solidFill>
                              <a:schemeClr val="tx1"/>
                            </a:solidFill>
                            <a:latin typeface="Cambria Math" panose="02040503050406030204" pitchFamily="18" charset="0"/>
                          </a:rPr>
                          <m:t>1</m:t>
                        </m:r>
                      </m:sub>
                    </m:sSub>
                  </m:oMath>
                </a14:m>
                <a:endParaRPr lang="en-US" altLang="zh-TW" dirty="0" smtClean="0"/>
              </a:p>
              <a:p>
                <a:pPr marL="0" indent="0">
                  <a:buNone/>
                </a:pPr>
                <a:endParaRPr lang="en-US" altLang="zh-TW" dirty="0" smtClean="0"/>
              </a:p>
              <a:p>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456807" y="3367084"/>
                <a:ext cx="11012606" cy="4351338"/>
              </a:xfrm>
              <a:blipFill rotWithShape="0">
                <a:blip r:embed="rId2"/>
                <a:stretch>
                  <a:fillRect l="-997" t="-252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60325430-07F2-45E8-A5C9-B73C13C9C571}" type="slidenum">
              <a:rPr lang="zh-TW" altLang="en-US" smtClean="0"/>
              <a:pPr/>
              <a:t>25</a:t>
            </a:fld>
            <a:endParaRPr lang="zh-TW" altLang="en-US"/>
          </a:p>
        </p:txBody>
      </p:sp>
      <mc:AlternateContent xmlns:mc="http://schemas.openxmlformats.org/markup-compatibility/2006">
        <mc:Choice xmlns:a14="http://schemas.microsoft.com/office/drawing/2010/main" xmlns="" Requires="a14">
          <p:sp>
            <p:nvSpPr>
              <p:cNvPr id="6" name="圓角矩形 5"/>
              <p:cNvSpPr/>
              <p:nvPr/>
            </p:nvSpPr>
            <p:spPr>
              <a:xfrm>
                <a:off x="648035" y="1863391"/>
                <a:ext cx="4976884" cy="89500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Para xmlns:m="http://schemas.openxmlformats.org/officeDocument/2006/math">
                    <m:oMathParaPr>
                      <m:jc m:val="left"/>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a:rPr>
                            <m:t>𝑡</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𝑡</m:t>
                          </m:r>
                        </m:sub>
                      </m:sSub>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a:rPr>
                                <m:t>𝑡</m:t>
                              </m:r>
                              <m:r>
                                <a:rPr lang="en-US" altLang="zh-TW" sz="2400" i="1">
                                  <a:latin typeface="Cambria Math" panose="02040503050406030204" pitchFamily="18" charset="0"/>
                                </a:rPr>
                                <m:t>−1</m:t>
                              </m:r>
                            </m:sub>
                          </m:sSub>
                          <m:r>
                            <a:rPr lang="en-US" altLang="zh-TW" sz="2400" i="1">
                              <a:latin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𝑢</m:t>
                              </m:r>
                            </m:e>
                            <m:sub>
                              <m:r>
                                <a:rPr lang="en-US" altLang="zh-TW" sz="2400" i="1">
                                  <a:latin typeface="Cambria Math"/>
                                </a:rPr>
                                <m:t>𝑡</m:t>
                              </m:r>
                            </m:sub>
                          </m:sSub>
                          <m:r>
                            <a:rPr lang="en-US" altLang="zh-TW" sz="2400" i="1">
                              <a:latin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a:rPr>
                                <m:t>𝑡</m:t>
                              </m:r>
                              <m:r>
                                <a:rPr lang="en-US" altLang="zh-TW" sz="2400" i="1">
                                  <a:latin typeface="Cambria Math" panose="02040503050406030204" pitchFamily="18" charset="0"/>
                                </a:rPr>
                                <m:t>−1</m:t>
                              </m:r>
                            </m:sub>
                          </m:sSub>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−1</m:t>
                              </m:r>
                            </m:sub>
                          </m:sSub>
                        </m:e>
                      </m:d>
                    </m:oMath>
                  </m:oMathPara>
                </a14:m>
                <a:endParaRPr lang="en-US" altLang="zh-TW" sz="2400" dirty="0" smtClean="0"/>
              </a:p>
              <a:p>
                <a:pPr algn="ctr"/>
                <a14:m>
                  <m:oMathPara xmlns:m="http://schemas.openxmlformats.org/officeDocument/2006/math">
                    <m:oMathParaPr>
                      <m:jc m:val="left"/>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𝑧</m:t>
                          </m:r>
                        </m:e>
                        <m:sub>
                          <m:r>
                            <a:rPr lang="en-US" altLang="zh-TW" sz="2400" i="1">
                              <a:latin typeface="Cambria Math" panose="02040503050406030204" pitchFamily="18" charset="0"/>
                            </a:rPr>
                            <m:t>𝑡</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h</m:t>
                          </m:r>
                        </m:e>
                        <m:sub>
                          <m:r>
                            <a:rPr lang="en-US" altLang="zh-TW" sz="2400" i="1">
                              <a:latin typeface="Cambria Math" panose="02040503050406030204" pitchFamily="18" charset="0"/>
                            </a:rPr>
                            <m:t>𝑡</m:t>
                          </m:r>
                        </m:sub>
                      </m:sSub>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𝑡</m:t>
                              </m:r>
                            </m:sub>
                          </m:sSub>
                          <m:r>
                            <a:rPr lang="en-US" altLang="zh-TW" sz="2400" i="1">
                              <a:latin typeface="Cambria Math" panose="02040503050406030204" pitchFamily="18" charset="0"/>
                            </a:rPr>
                            <m:t>, </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𝑣</m:t>
                              </m:r>
                            </m:e>
                            <m:sub>
                              <m:r>
                                <a:rPr lang="en-US" altLang="zh-TW" sz="2400" i="1">
                                  <a:latin typeface="Cambria Math" panose="02040503050406030204" pitchFamily="18" charset="0"/>
                                </a:rPr>
                                <m:t>𝑡</m:t>
                              </m:r>
                            </m:sub>
                          </m:sSub>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sub>
                          </m:sSub>
                        </m:e>
                      </m:d>
                    </m:oMath>
                  </m:oMathPara>
                </a14:m>
                <a:endParaRPr lang="zh-TW" altLang="en-US" sz="2400" dirty="0"/>
              </a:p>
            </p:txBody>
          </p:sp>
        </mc:Choice>
        <mc:Fallback>
          <p:sp>
            <p:nvSpPr>
              <p:cNvPr id="6" name="圓角矩形 5"/>
              <p:cNvSpPr>
                <a:spLocks noRot="1" noChangeAspect="1" noMove="1" noResize="1" noEditPoints="1" noAdjustHandles="1" noChangeArrowheads="1" noChangeShapeType="1" noTextEdit="1"/>
              </p:cNvSpPr>
              <p:nvPr/>
            </p:nvSpPr>
            <p:spPr>
              <a:xfrm>
                <a:off x="648035" y="1863391"/>
                <a:ext cx="4976884" cy="895007"/>
              </a:xfrm>
              <a:prstGeom prst="roundRect">
                <a:avLst/>
              </a:prstGeom>
              <a:blipFill rotWithShape="0">
                <a:blip r:embed="rId3"/>
                <a:stretch>
                  <a:fillRect b="-5442"/>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7" name="圓角矩形 6"/>
              <p:cNvSpPr/>
              <p:nvPr/>
            </p:nvSpPr>
            <p:spPr>
              <a:xfrm>
                <a:off x="6050222" y="1649298"/>
                <a:ext cx="5975497" cy="128654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TW" dirty="0" smtClean="0"/>
                  <a:t>Prior:         </a:t>
                </a:r>
                <a14:m>
                  <m:oMath xmlns:m="http://schemas.openxmlformats.org/officeDocument/2006/math">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1:</m:t>
                            </m:r>
                            <m:r>
                              <a:rPr lang="en-US" altLang="zh-TW" i="1">
                                <a:latin typeface="Cambria Math" panose="02040503050406030204" pitchFamily="18" charset="0"/>
                              </a:rPr>
                              <m:t>𝑡</m:t>
                            </m:r>
                            <m:r>
                              <a:rPr lang="en-US" altLang="zh-TW" i="1">
                                <a:latin typeface="Cambria Math" panose="02040503050406030204" pitchFamily="18" charset="0"/>
                              </a:rPr>
                              <m:t>−1</m:t>
                            </m:r>
                          </m:sub>
                        </m:sSub>
                      </m:e>
                    </m:d>
                    <m:r>
                      <a:rPr lang="en-US" altLang="zh-TW" i="1">
                        <a:latin typeface="Cambria Math" panose="02040503050406030204" pitchFamily="18" charset="0"/>
                      </a:rPr>
                      <m:t>=∫</m:t>
                    </m:r>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r>
                              <a:rPr lang="en-US" altLang="zh-TW" i="1">
                                <a:latin typeface="Cambria Math" panose="02040503050406030204" pitchFamily="18" charset="0"/>
                              </a:rPr>
                              <m:t>−1</m:t>
                            </m:r>
                          </m:sub>
                        </m:sSub>
                      </m:e>
                    </m:d>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1:</m:t>
                            </m:r>
                            <m:r>
                              <a:rPr lang="en-US" altLang="zh-TW" i="1">
                                <a:latin typeface="Cambria Math" panose="02040503050406030204" pitchFamily="18" charset="0"/>
                              </a:rPr>
                              <m:t>𝑡</m:t>
                            </m:r>
                            <m:r>
                              <a:rPr lang="en-US" altLang="zh-TW" i="1">
                                <a:latin typeface="Cambria Math" panose="02040503050406030204" pitchFamily="18" charset="0"/>
                              </a:rPr>
                              <m:t>−1</m:t>
                            </m:r>
                          </m:sub>
                        </m:sSub>
                      </m:e>
                    </m:d>
                    <m:r>
                      <a:rPr lang="en-US" altLang="zh-TW" i="1">
                        <a:latin typeface="Cambria Math" panose="02040503050406030204" pitchFamily="18" charset="0"/>
                      </a:rPr>
                      <m:t>𝑑</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r>
                          <a:rPr lang="en-US" altLang="zh-TW" i="1">
                            <a:latin typeface="Cambria Math" panose="02040503050406030204" pitchFamily="18" charset="0"/>
                          </a:rPr>
                          <m:t>−1</m:t>
                        </m:r>
                      </m:sub>
                    </m:sSub>
                  </m:oMath>
                </a14:m>
                <a:r>
                  <a:rPr lang="en-US" altLang="zh-TW" dirty="0"/>
                  <a:t/>
                </a:r>
                <a:endParaRPr lang="en-US" altLang="zh-TW" dirty="0" smtClean="0"/>
              </a:p>
              <a:p>
                <a:r>
                  <a:rPr lang="en-US" altLang="zh-TW" dirty="0" smtClean="0"/>
                  <a:t>Posterior: </a:t>
                </a:r>
                <a14:m>
                  <m:oMath xmlns:m="http://schemas.openxmlformats.org/officeDocument/2006/math">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1:</m:t>
                            </m:r>
                            <m:r>
                              <a:rPr lang="en-US" altLang="zh-TW" i="1">
                                <a:latin typeface="Cambria Math" panose="02040503050406030204" pitchFamily="18" charset="0"/>
                              </a:rPr>
                              <m:t>𝑡</m:t>
                            </m:r>
                          </m:sub>
                        </m:sSub>
                      </m:e>
                    </m:d>
                    <m:r>
                      <a:rPr lang="en-US" altLang="zh-TW" i="1">
                        <a:latin typeface="Cambria Math" panose="02040503050406030204" pitchFamily="18" charset="0"/>
                      </a:rPr>
                      <m:t>=</m:t>
                    </m:r>
                    <m:f>
                      <m:fPr>
                        <m:ctrlPr>
                          <a:rPr lang="en-US" altLang="zh-TW" i="1">
                            <a:latin typeface="Cambria Math" panose="02040503050406030204" pitchFamily="18" charset="0"/>
                          </a:rPr>
                        </m:ctrlPr>
                      </m:fPr>
                      <m:num>
                        <m:r>
                          <a:rPr lang="en-US" altLang="zh-TW" i="1">
                            <a:latin typeface="Cambria Math"/>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a:rPr>
                                  <m:t>𝑧</m:t>
                                </m:r>
                              </m:e>
                              <m:sub>
                                <m:r>
                                  <a:rPr lang="en-US" altLang="zh-TW" i="1">
                                    <a:latin typeface="Cambria Math"/>
                                  </a:rPr>
                                  <m:t>𝑡</m:t>
                                </m:r>
                              </m:sub>
                            </m:sSub>
                            <m:r>
                              <a:rPr lang="en-US" altLang="zh-TW" i="1">
                                <a:latin typeface="Cambria Math"/>
                              </a:rPr>
                              <m:t>|</m:t>
                            </m:r>
                            <m:sSub>
                              <m:sSubPr>
                                <m:ctrlPr>
                                  <a:rPr lang="en-US" altLang="zh-TW" i="1">
                                    <a:latin typeface="Cambria Math" panose="02040503050406030204" pitchFamily="18" charset="0"/>
                                  </a:rPr>
                                </m:ctrlPr>
                              </m:sSubPr>
                              <m:e>
                                <m:r>
                                  <a:rPr lang="en-US" altLang="zh-TW" i="1">
                                    <a:latin typeface="Cambria Math"/>
                                  </a:rPr>
                                  <m:t>𝑥</m:t>
                                </m:r>
                              </m:e>
                              <m:sub>
                                <m:r>
                                  <a:rPr lang="en-US" altLang="zh-TW" i="1">
                                    <a:latin typeface="Cambria Math"/>
                                  </a:rPr>
                                  <m:t>𝑡</m:t>
                                </m:r>
                              </m:sub>
                            </m:sSub>
                          </m:e>
                        </m:d>
                        <m:r>
                          <a:rPr lang="en-US" altLang="zh-TW" i="1">
                            <a:latin typeface="Cambria Math"/>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a:rPr>
                                  <m:t>𝑥</m:t>
                                </m:r>
                              </m:e>
                              <m:sub>
                                <m:r>
                                  <a:rPr lang="en-US" altLang="zh-TW" i="1">
                                    <a:latin typeface="Cambria Math"/>
                                  </a:rPr>
                                  <m:t>𝑡</m:t>
                                </m:r>
                              </m:sub>
                            </m:sSub>
                            <m:r>
                              <a:rPr lang="en-US" altLang="zh-TW" i="1">
                                <a:latin typeface="Cambria Math"/>
                              </a:rPr>
                              <m:t>|</m:t>
                            </m:r>
                            <m:sSub>
                              <m:sSubPr>
                                <m:ctrlPr>
                                  <a:rPr lang="en-US" altLang="zh-TW" i="1">
                                    <a:latin typeface="Cambria Math" panose="02040503050406030204" pitchFamily="18" charset="0"/>
                                  </a:rPr>
                                </m:ctrlPr>
                              </m:sSubPr>
                              <m:e>
                                <m:r>
                                  <a:rPr lang="en-US" altLang="zh-TW" i="1">
                                    <a:latin typeface="Cambria Math"/>
                                  </a:rPr>
                                  <m:t>𝑧</m:t>
                                </m:r>
                              </m:e>
                              <m:sub>
                                <m:r>
                                  <a:rPr lang="en-US" altLang="zh-TW" i="1">
                                    <a:latin typeface="Cambria Math"/>
                                  </a:rPr>
                                  <m:t>1:</m:t>
                                </m:r>
                                <m:r>
                                  <a:rPr lang="en-US" altLang="zh-TW" i="1">
                                    <a:latin typeface="Cambria Math"/>
                                  </a:rPr>
                                  <m:t>𝑡</m:t>
                                </m:r>
                                <m:r>
                                  <a:rPr lang="en-US" altLang="zh-TW" i="1">
                                    <a:latin typeface="Cambria Math"/>
                                  </a:rPr>
                                  <m:t>−1</m:t>
                                </m:r>
                              </m:sub>
                            </m:sSub>
                          </m:e>
                        </m:d>
                      </m:num>
                      <m:den>
                        <m:r>
                          <a:rPr lang="en-US" altLang="zh-TW" i="1">
                            <a:latin typeface="Cambria Math"/>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a:rPr>
                                  <m:t>𝑧</m:t>
                                </m:r>
                              </m:e>
                              <m:sub>
                                <m:r>
                                  <a:rPr lang="en-US" altLang="zh-TW" i="1">
                                    <a:latin typeface="Cambria Math"/>
                                  </a:rPr>
                                  <m:t>𝑡</m:t>
                                </m:r>
                              </m:sub>
                            </m:sSub>
                            <m:r>
                              <a:rPr lang="en-US" altLang="zh-TW" i="1">
                                <a:latin typeface="Cambria Math"/>
                              </a:rPr>
                              <m:t>|</m:t>
                            </m:r>
                            <m:sSub>
                              <m:sSubPr>
                                <m:ctrlPr>
                                  <a:rPr lang="en-US" altLang="zh-TW" i="1">
                                    <a:latin typeface="Cambria Math" panose="02040503050406030204" pitchFamily="18" charset="0"/>
                                  </a:rPr>
                                </m:ctrlPr>
                              </m:sSubPr>
                              <m:e>
                                <m:r>
                                  <a:rPr lang="en-US" altLang="zh-TW" i="1">
                                    <a:latin typeface="Cambria Math"/>
                                  </a:rPr>
                                  <m:t>𝑧</m:t>
                                </m:r>
                              </m:e>
                              <m:sub>
                                <m:r>
                                  <a:rPr lang="en-US" altLang="zh-TW" i="1">
                                    <a:latin typeface="Cambria Math"/>
                                  </a:rPr>
                                  <m:t>1:</m:t>
                                </m:r>
                                <m:r>
                                  <a:rPr lang="en-US" altLang="zh-TW" i="1">
                                    <a:latin typeface="Cambria Math"/>
                                  </a:rPr>
                                  <m:t>𝑡</m:t>
                                </m:r>
                                <m:r>
                                  <a:rPr lang="en-US" altLang="zh-TW" i="1">
                                    <a:latin typeface="Cambria Math"/>
                                  </a:rPr>
                                  <m:t>−1</m:t>
                                </m:r>
                              </m:sub>
                            </m:sSub>
                          </m:e>
                        </m:d>
                      </m:den>
                    </m:f>
                  </m:oMath>
                </a14:m>
                <a:r>
                  <a:rPr lang="en-US" altLang="zh-TW" i="1" dirty="0">
                    <a:latin typeface="Cambria Math"/>
                  </a:rPr>
                  <a:t/>
                </a:r>
                <a:br>
                  <a:rPr lang="en-US" altLang="zh-TW" i="1" dirty="0">
                    <a:latin typeface="Cambria Math"/>
                  </a:rPr>
                </a:br>
                <a:r>
                  <a:rPr lang="en-US" altLang="zh-TW" i="1" dirty="0" smtClean="0">
                    <a:latin typeface="Cambria Math"/>
                  </a:rPr>
                  <a:t/>
                </a:r>
                <a14:m>
                  <m:oMath xmlns:m="http://schemas.openxmlformats.org/officeDocument/2006/math">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𝑡</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b="0" i="1" smtClean="0">
                                <a:latin typeface="Cambria Math" panose="02040503050406030204" pitchFamily="18" charset="0"/>
                              </a:rPr>
                              <m:t>1:</m:t>
                            </m:r>
                            <m:r>
                              <a:rPr lang="en-US" altLang="zh-TW" i="1">
                                <a:latin typeface="Cambria Math" panose="02040503050406030204" pitchFamily="18" charset="0"/>
                              </a:rPr>
                              <m:t>𝑡</m:t>
                            </m:r>
                            <m:r>
                              <a:rPr lang="en-US" altLang="zh-TW" i="1">
                                <a:latin typeface="Cambria Math" panose="02040503050406030204" pitchFamily="18" charset="0"/>
                              </a:rPr>
                              <m:t>−1</m:t>
                            </m:r>
                          </m:sub>
                        </m:sSub>
                      </m:e>
                    </m:d>
                    <m:r>
                      <a:rPr lang="en-US" altLang="zh-TW" i="1">
                        <a:latin typeface="Cambria Math" panose="02040503050406030204" pitchFamily="18" charset="0"/>
                      </a:rPr>
                      <m:t>=∫</m:t>
                    </m:r>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𝑡</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sub>
                        </m:sSub>
                      </m:e>
                    </m:d>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b="0" i="1" smtClean="0">
                                <a:latin typeface="Cambria Math" panose="02040503050406030204" pitchFamily="18" charset="0"/>
                              </a:rPr>
                              <m:t>1:</m:t>
                            </m:r>
                            <m:r>
                              <a:rPr lang="en-US" altLang="zh-TW" i="1">
                                <a:latin typeface="Cambria Math" panose="02040503050406030204" pitchFamily="18" charset="0"/>
                              </a:rPr>
                              <m:t>𝑡</m:t>
                            </m:r>
                            <m:r>
                              <a:rPr lang="en-US" altLang="zh-TW" i="1">
                                <a:latin typeface="Cambria Math" panose="02040503050406030204" pitchFamily="18" charset="0"/>
                              </a:rPr>
                              <m:t>−1</m:t>
                            </m:r>
                          </m:sub>
                        </m:sSub>
                      </m:e>
                    </m:d>
                    <m:r>
                      <a:rPr lang="en-US" altLang="zh-TW" i="1">
                        <a:latin typeface="Cambria Math" panose="02040503050406030204" pitchFamily="18" charset="0"/>
                      </a:rPr>
                      <m:t>𝑑</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sub>
                    </m:sSub>
                  </m:oMath>
                </a14:m>
                <a:endParaRPr lang="zh-TW" altLang="en-US" dirty="0"/>
              </a:p>
            </p:txBody>
          </p:sp>
        </mc:Choice>
        <mc:Fallback>
          <p:sp>
            <p:nvSpPr>
              <p:cNvPr id="7" name="圓角矩形 6"/>
              <p:cNvSpPr>
                <a:spLocks noRot="1" noChangeAspect="1" noMove="1" noResize="1" noEditPoints="1" noAdjustHandles="1" noChangeArrowheads="1" noChangeShapeType="1" noTextEdit="1"/>
              </p:cNvSpPr>
              <p:nvPr/>
            </p:nvSpPr>
            <p:spPr>
              <a:xfrm>
                <a:off x="6050222" y="1649298"/>
                <a:ext cx="5975497" cy="1286540"/>
              </a:xfrm>
              <a:prstGeom prst="roundRect">
                <a:avLst/>
              </a:prstGeom>
              <a:blipFill rotWithShape="0">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17916930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Importance sampling (IS)</a:t>
            </a:r>
            <a:endParaRPr lang="zh-TW" altLang="en-US" dirty="0"/>
          </a:p>
        </p:txBody>
      </p:sp>
      <p:sp>
        <p:nvSpPr>
          <p:cNvPr id="3" name="投影片編號版面配置區 2"/>
          <p:cNvSpPr>
            <a:spLocks noGrp="1"/>
          </p:cNvSpPr>
          <p:nvPr>
            <p:ph type="sldNum" sz="quarter" idx="12"/>
          </p:nvPr>
        </p:nvSpPr>
        <p:spPr/>
        <p:txBody>
          <a:bodyPr/>
          <a:lstStyle/>
          <a:p>
            <a:fld id="{60325430-07F2-45E8-A5C9-B73C13C9C571}" type="slidenum">
              <a:rPr lang="zh-TW" altLang="en-US" smtClean="0"/>
              <a:pPr/>
              <a:t>26</a:t>
            </a:fld>
            <a:endParaRPr lang="zh-TW" altLang="en-US"/>
          </a:p>
        </p:txBody>
      </p:sp>
      <mc:AlternateContent xmlns:mc="http://schemas.openxmlformats.org/markup-compatibility/2006">
        <mc:Choice xmlns:a14="http://schemas.microsoft.com/office/drawing/2010/main" xmlns="" Requires="a14">
          <p:sp>
            <p:nvSpPr>
              <p:cNvPr id="4" name="矩形 3"/>
              <p:cNvSpPr/>
              <p:nvPr/>
            </p:nvSpPr>
            <p:spPr>
              <a:xfrm>
                <a:off x="838199" y="1690688"/>
                <a:ext cx="11080532" cy="5133906"/>
              </a:xfrm>
              <a:prstGeom prst="rect">
                <a:avLst/>
              </a:prstGeom>
            </p:spPr>
            <p:txBody>
              <a:bodyPr wrap="square">
                <a:spAutoFit/>
              </a:bodyPr>
              <a:lstStyle/>
              <a:p>
                <a:r>
                  <a:rPr lang="zh-TW" altLang="en-US" sz="2400" dirty="0" smtClean="0"/>
                  <a:t>求</a:t>
                </a:r>
                <a14:m>
                  <m:oMath xmlns:m="http://schemas.openxmlformats.org/officeDocument/2006/math">
                    <m:r>
                      <a:rPr lang="en-US" altLang="zh-TW" sz="2400" b="0" i="1" dirty="0" smtClean="0">
                        <a:latin typeface="Cambria Math" panose="02040503050406030204" pitchFamily="18" charset="0"/>
                      </a:rPr>
                      <m:t>𝑃</m:t>
                    </m:r>
                    <m:d>
                      <m:dPr>
                        <m:ctrlPr>
                          <a:rPr lang="en-US" altLang="zh-TW" sz="2400" i="1" dirty="0">
                            <a:latin typeface="Cambria Math" panose="02040503050406030204" pitchFamily="18" charset="0"/>
                          </a:rPr>
                        </m:ctrlPr>
                      </m:dPr>
                      <m:e>
                        <m:r>
                          <a:rPr lang="en-US" altLang="zh-TW" sz="2400" i="1" dirty="0">
                            <a:latin typeface="Cambria Math" panose="02040503050406030204" pitchFamily="18" charset="0"/>
                          </a:rPr>
                          <m:t>𝑥</m:t>
                        </m:r>
                      </m:e>
                    </m:d>
                  </m:oMath>
                </a14:m>
                <a:r>
                  <a:rPr lang="zh-TW" altLang="en-US" sz="2400" dirty="0"/>
                  <a:t>(已知 analytic </a:t>
                </a:r>
                <a:r>
                  <a:rPr lang="zh-TW" altLang="en-US" sz="2400" dirty="0" smtClean="0"/>
                  <a:t>form，但不容易抽出樣本) 之期望值</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𝐸</m:t>
                        </m:r>
                      </m:e>
                      <m:sub>
                        <m:r>
                          <a:rPr lang="en-US" altLang="zh-TW" sz="2400" b="0" i="1" smtClean="0">
                            <a:latin typeface="Cambria Math" panose="02040503050406030204" pitchFamily="18" charset="0"/>
                          </a:rPr>
                          <m:t>𝑃</m:t>
                        </m:r>
                      </m:sub>
                    </m:sSub>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𝑓</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e>
                    </m:d>
                  </m:oMath>
                </a14:m>
                <a:r>
                  <a:rPr lang="zh-TW" altLang="en-US" sz="2400" dirty="0" smtClean="0"/>
                  <a:t>時，可用以下步驟可求值</a:t>
                </a:r>
                <a:r>
                  <a:rPr lang="en-US" altLang="zh-TW" sz="2400" dirty="0" smtClean="0"/>
                  <a:t>:</a:t>
                </a:r>
              </a:p>
              <a:p>
                <a:pPr marL="342900" indent="-342900">
                  <a:buFont typeface="+mj-lt"/>
                  <a:buAutoNum type="arabicPeriod"/>
                </a:pPr>
                <a:r>
                  <a:rPr lang="zh-TW" altLang="en-US" sz="2400" dirty="0"/>
                  <a:t>給定使用者容易抽出樣本之分配 </a:t>
                </a:r>
                <a14:m>
                  <m:oMath xmlns:m="http://schemas.openxmlformats.org/officeDocument/2006/math">
                    <m:r>
                      <a:rPr lang="en-US" altLang="zh-TW" sz="2400" b="0" i="1" smtClean="0">
                        <a:latin typeface="Cambria Math" panose="02040503050406030204" pitchFamily="18" charset="0"/>
                      </a:rPr>
                      <m:t>𝑄</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𝑥</m:t>
                        </m:r>
                      </m:e>
                    </m:d>
                  </m:oMath>
                </a14:m>
                <a:r>
                  <a:rPr lang="en-US" altLang="zh-TW" sz="2400" dirty="0" smtClean="0"/>
                  <a:t/>
                </a:r>
                <a:br>
                  <a:rPr lang="en-US" altLang="zh-TW" sz="2400" dirty="0" smtClean="0"/>
                </a:br>
                <a:r>
                  <a:rPr lang="zh-TW" altLang="en-US" sz="2400" dirty="0" smtClean="0"/>
                  <a:t>(</a:t>
                </a:r>
                <a:r>
                  <a:rPr lang="zh-TW" altLang="en-US" sz="2400" dirty="0"/>
                  <a:t>the same </a:t>
                </a:r>
                <a:r>
                  <a:rPr lang="zh-TW" altLang="en-US" sz="2400" dirty="0" smtClean="0"/>
                  <a:t>support</a:t>
                </a:r>
                <a:r>
                  <a:rPr lang="en-US" altLang="zh-TW" sz="2400" dirty="0" smtClean="0"/>
                  <a:t>, i.e.  </a:t>
                </a:r>
                <a14:m>
                  <m:oMath xmlns:m="http://schemas.openxmlformats.org/officeDocument/2006/math">
                    <m:r>
                      <a:rPr lang="en-US" altLang="zh-TW" sz="2400" b="0" i="1" smtClean="0">
                        <a:latin typeface="Cambria Math"/>
                      </a:rPr>
                      <m:t>∀</m:t>
                    </m:r>
                    <m:r>
                      <a:rPr lang="en-US" altLang="zh-TW" sz="2400" b="0" i="1" smtClean="0">
                        <a:latin typeface="Cambria Math"/>
                      </a:rPr>
                      <m:t>𝑥</m:t>
                    </m:r>
                    <m:r>
                      <a:rPr lang="en-US" altLang="zh-TW" sz="2400" b="0" i="1" smtClean="0">
                        <a:latin typeface="Cambria Math"/>
                      </a:rPr>
                      <m:t> , </m:t>
                    </m:r>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r>
                      <a:rPr lang="en-US" altLang="zh-TW" sz="2400" b="0" i="1" smtClean="0">
                        <a:latin typeface="Cambria Math" panose="02040503050406030204" pitchFamily="18" charset="0"/>
                      </a:rPr>
                      <m:t>&gt;0 </m:t>
                    </m:r>
                    <m:r>
                      <a:rPr lang="en-US" altLang="zh-TW" sz="2400" b="0" i="1" smtClean="0">
                        <a:latin typeface="Cambria Math" panose="02040503050406030204" pitchFamily="18" charset="0"/>
                      </a:rPr>
                      <m:t>𝑎𝑛𝑑</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𝑄</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r>
                      <a:rPr lang="en-US" altLang="zh-TW" sz="2400" b="0" i="1" smtClean="0">
                        <a:latin typeface="Cambria Math" panose="02040503050406030204" pitchFamily="18" charset="0"/>
                      </a:rPr>
                      <m:t>&gt;0</m:t>
                    </m:r>
                  </m:oMath>
                </a14:m>
                <a:r>
                  <a:rPr lang="zh-TW" altLang="en-US" sz="2400" dirty="0" smtClean="0"/>
                  <a:t>)</a:t>
                </a:r>
                <a:endParaRPr lang="en-US" altLang="zh-TW" sz="2400" dirty="0" smtClean="0"/>
              </a:p>
              <a:p>
                <a:pPr marL="342900" indent="-342900">
                  <a:buFont typeface="+mj-lt"/>
                  <a:buAutoNum type="arabicPeriod"/>
                </a:pPr>
                <a14:m>
                  <m:oMath xmlns:m="http://schemas.openxmlformats.org/officeDocument/2006/math">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𝐸</m:t>
                        </m:r>
                      </m:e>
                      <m:sub>
                        <m:r>
                          <a:rPr lang="en-US" altLang="zh-TW" sz="2400" b="0" i="1" smtClean="0">
                            <a:solidFill>
                              <a:srgbClr val="FF0000"/>
                            </a:solidFill>
                            <a:latin typeface="Cambria Math" panose="02040503050406030204" pitchFamily="18" charset="0"/>
                          </a:rPr>
                          <m:t>𝑃</m:t>
                        </m:r>
                      </m:sub>
                    </m:sSub>
                    <m:d>
                      <m:dPr>
                        <m:ctrlPr>
                          <a:rPr lang="en-US" altLang="zh-TW" sz="2400" b="0" i="1" smtClean="0">
                            <a:solidFill>
                              <a:srgbClr val="FF0000"/>
                            </a:solidFill>
                            <a:latin typeface="Cambria Math" panose="02040503050406030204" pitchFamily="18" charset="0"/>
                          </a:rPr>
                        </m:ctrlPr>
                      </m:dPr>
                      <m:e>
                        <m:r>
                          <a:rPr lang="en-US" altLang="zh-TW" sz="2400" b="0" i="1" smtClean="0">
                            <a:solidFill>
                              <a:srgbClr val="FF0000"/>
                            </a:solidFill>
                            <a:latin typeface="Cambria Math" panose="02040503050406030204" pitchFamily="18" charset="0"/>
                          </a:rPr>
                          <m:t>𝑓</m:t>
                        </m:r>
                        <m:d>
                          <m:dPr>
                            <m:ctrlPr>
                              <a:rPr lang="en-US" altLang="zh-TW" sz="2400" b="0" i="1" smtClean="0">
                                <a:solidFill>
                                  <a:srgbClr val="FF0000"/>
                                </a:solidFill>
                                <a:latin typeface="Cambria Math" panose="02040503050406030204" pitchFamily="18" charset="0"/>
                              </a:rPr>
                            </m:ctrlPr>
                          </m:dPr>
                          <m:e>
                            <m:r>
                              <a:rPr lang="en-US" altLang="zh-TW" sz="2400" b="0" i="1" smtClean="0">
                                <a:solidFill>
                                  <a:srgbClr val="FF0000"/>
                                </a:solidFill>
                                <a:latin typeface="Cambria Math" panose="02040503050406030204" pitchFamily="18" charset="0"/>
                              </a:rPr>
                              <m:t>𝑥</m:t>
                            </m:r>
                          </m:e>
                        </m:d>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𝑓</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r>
                      <a:rPr lang="en-US" altLang="zh-TW" sz="2400" b="0" i="1" smtClean="0">
                        <a:latin typeface="Cambria Math" panose="02040503050406030204" pitchFamily="18" charset="0"/>
                      </a:rPr>
                      <m:t>𝑑𝑥</m:t>
                    </m:r>
                  </m:oMath>
                </a14:m>
                <a:r>
                  <a:rPr lang="en-US" altLang="zh-TW" sz="2400" b="0" i="1" dirty="0" smtClean="0">
                    <a:latin typeface="Cambria Math" panose="02040503050406030204" pitchFamily="18" charset="0"/>
                  </a:rPr>
                  <a:t/>
                </a:r>
                <a:br>
                  <a:rPr lang="en-US" altLang="zh-TW" sz="2400" b="0" i="1" dirty="0" smtClean="0">
                    <a:latin typeface="Cambria Math" panose="02040503050406030204" pitchFamily="18" charset="0"/>
                  </a:rPr>
                </a:br>
                <a14:m>
                  <m:oMath xmlns:m="http://schemas.openxmlformats.org/officeDocument/2006/math">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𝑓</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num>
                      <m:den>
                        <m:r>
                          <a:rPr lang="en-US" altLang="zh-TW" sz="2400" b="0" i="1" smtClean="0">
                            <a:latin typeface="Cambria Math" panose="02040503050406030204" pitchFamily="18" charset="0"/>
                          </a:rPr>
                          <m:t>𝑄</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den>
                    </m:f>
                    <m:r>
                      <a:rPr lang="en-US" altLang="zh-TW" sz="2400" b="0" i="1" smtClean="0">
                        <a:latin typeface="Cambria Math" panose="02040503050406030204" pitchFamily="18" charset="0"/>
                      </a:rPr>
                      <m:t>𝑄</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r>
                      <a:rPr lang="en-US" altLang="zh-TW" sz="2400" b="0" i="1" smtClean="0">
                        <a:latin typeface="Cambria Math" panose="02040503050406030204" pitchFamily="18" charset="0"/>
                      </a:rPr>
                      <m:t>𝑑𝑥</m:t>
                    </m:r>
                  </m:oMath>
                </a14:m>
                <a:r>
                  <a:rPr lang="en-US" altLang="zh-TW" sz="2400" b="0" i="1" dirty="0" smtClean="0">
                    <a:latin typeface="Cambria Math" panose="02040503050406030204" pitchFamily="18" charset="0"/>
                  </a:rPr>
                  <a:t/>
                </a:r>
                <a:br>
                  <a:rPr lang="en-US" altLang="zh-TW" sz="2400" b="0" i="1" dirty="0" smtClean="0">
                    <a:latin typeface="Cambria Math" panose="02040503050406030204" pitchFamily="18" charset="0"/>
                  </a:rPr>
                </a:br>
                <a14:m>
                  <m:oMath xmlns:m="http://schemas.openxmlformats.org/officeDocument/2006/math">
                    <m:r>
                      <a:rPr lang="en-US" altLang="zh-TW" sz="2400" b="0" i="1" smtClean="0">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𝐸</m:t>
                        </m:r>
                      </m:e>
                      <m:sub>
                        <m:r>
                          <a:rPr lang="en-US" altLang="zh-TW" sz="2400" b="0" i="1" smtClean="0">
                            <a:solidFill>
                              <a:srgbClr val="FF0000"/>
                            </a:solidFill>
                            <a:latin typeface="Cambria Math" panose="02040503050406030204" pitchFamily="18" charset="0"/>
                          </a:rPr>
                          <m:t>𝑄</m:t>
                        </m:r>
                      </m:sub>
                    </m:sSub>
                    <m:d>
                      <m:dPr>
                        <m:ctrlPr>
                          <a:rPr lang="en-US" altLang="zh-TW" sz="2400" b="0" i="1" smtClean="0">
                            <a:solidFill>
                              <a:srgbClr val="FF0000"/>
                            </a:solidFill>
                            <a:latin typeface="Cambria Math" panose="02040503050406030204" pitchFamily="18" charset="0"/>
                          </a:rPr>
                        </m:ctrlPr>
                      </m:dPr>
                      <m:e>
                        <m:r>
                          <a:rPr lang="en-US" altLang="zh-TW" sz="2400" b="0" i="1" smtClean="0">
                            <a:solidFill>
                              <a:srgbClr val="FF0000"/>
                            </a:solidFill>
                            <a:latin typeface="Cambria Math" panose="02040503050406030204" pitchFamily="18" charset="0"/>
                          </a:rPr>
                          <m:t>𝑓</m:t>
                        </m:r>
                        <m:d>
                          <m:dPr>
                            <m:ctrlPr>
                              <a:rPr lang="en-US" altLang="zh-TW" sz="2400" b="0" i="1" smtClean="0">
                                <a:solidFill>
                                  <a:srgbClr val="FF0000"/>
                                </a:solidFill>
                                <a:latin typeface="Cambria Math" panose="02040503050406030204" pitchFamily="18" charset="0"/>
                              </a:rPr>
                            </m:ctrlPr>
                          </m:dPr>
                          <m:e>
                            <m:r>
                              <a:rPr lang="en-US" altLang="zh-TW" sz="2400" b="0" i="1" smtClean="0">
                                <a:solidFill>
                                  <a:srgbClr val="FF0000"/>
                                </a:solidFill>
                                <a:latin typeface="Cambria Math" panose="02040503050406030204" pitchFamily="18" charset="0"/>
                              </a:rPr>
                              <m:t>𝑥</m:t>
                            </m:r>
                          </m:e>
                        </m:d>
                        <m:f>
                          <m:fPr>
                            <m:ctrlPr>
                              <a:rPr lang="en-US" altLang="zh-TW" sz="2400" b="0" i="1" smtClean="0">
                                <a:solidFill>
                                  <a:srgbClr val="FF0000"/>
                                </a:solidFill>
                                <a:latin typeface="Cambria Math" panose="02040503050406030204" pitchFamily="18" charset="0"/>
                              </a:rPr>
                            </m:ctrlPr>
                          </m:fPr>
                          <m:num>
                            <m:r>
                              <a:rPr lang="en-US" altLang="zh-TW" sz="2400" b="0" i="1" smtClean="0">
                                <a:solidFill>
                                  <a:srgbClr val="FF0000"/>
                                </a:solidFill>
                                <a:latin typeface="Cambria Math" panose="02040503050406030204" pitchFamily="18" charset="0"/>
                              </a:rPr>
                              <m:t>𝑃</m:t>
                            </m:r>
                            <m:d>
                              <m:dPr>
                                <m:ctrlPr>
                                  <a:rPr lang="en-US" altLang="zh-TW" sz="2400" b="0" i="1" smtClean="0">
                                    <a:solidFill>
                                      <a:srgbClr val="FF0000"/>
                                    </a:solidFill>
                                    <a:latin typeface="Cambria Math" panose="02040503050406030204" pitchFamily="18" charset="0"/>
                                  </a:rPr>
                                </m:ctrlPr>
                              </m:dPr>
                              <m:e>
                                <m:r>
                                  <a:rPr lang="en-US" altLang="zh-TW" sz="2400" b="0" i="1" smtClean="0">
                                    <a:solidFill>
                                      <a:srgbClr val="FF0000"/>
                                    </a:solidFill>
                                    <a:latin typeface="Cambria Math" panose="02040503050406030204" pitchFamily="18" charset="0"/>
                                  </a:rPr>
                                  <m:t>𝑥</m:t>
                                </m:r>
                              </m:e>
                            </m:d>
                          </m:num>
                          <m:den>
                            <m:r>
                              <a:rPr lang="en-US" altLang="zh-TW" sz="2400" b="0" i="1" smtClean="0">
                                <a:solidFill>
                                  <a:srgbClr val="FF0000"/>
                                </a:solidFill>
                                <a:latin typeface="Cambria Math" panose="02040503050406030204" pitchFamily="18" charset="0"/>
                              </a:rPr>
                              <m:t>𝑄</m:t>
                            </m:r>
                            <m:d>
                              <m:dPr>
                                <m:ctrlPr>
                                  <a:rPr lang="en-US" altLang="zh-TW" sz="2400" b="0" i="1" smtClean="0">
                                    <a:solidFill>
                                      <a:srgbClr val="FF0000"/>
                                    </a:solidFill>
                                    <a:latin typeface="Cambria Math" panose="02040503050406030204" pitchFamily="18" charset="0"/>
                                  </a:rPr>
                                </m:ctrlPr>
                              </m:dPr>
                              <m:e>
                                <m:r>
                                  <a:rPr lang="en-US" altLang="zh-TW" sz="2400" b="0" i="1" smtClean="0">
                                    <a:solidFill>
                                      <a:srgbClr val="FF0000"/>
                                    </a:solidFill>
                                    <a:latin typeface="Cambria Math" panose="02040503050406030204" pitchFamily="18" charset="0"/>
                                  </a:rPr>
                                  <m:t>𝑥</m:t>
                                </m:r>
                              </m:e>
                            </m:d>
                          </m:den>
                        </m:f>
                      </m:e>
                    </m:d>
                    <m:r>
                      <a:rPr lang="en-US" altLang="zh-TW" sz="2400" b="0" i="1" smtClean="0">
                        <a:latin typeface="Cambria Math" panose="02040503050406030204" pitchFamily="18" charset="0"/>
                        <a:ea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𝑁</m:t>
                        </m:r>
                      </m:den>
                    </m:f>
                    <m:nary>
                      <m:naryPr>
                        <m:chr m:val="∑"/>
                        <m:ctrlPr>
                          <a:rPr lang="en-US" altLang="zh-TW" sz="2400" b="0" i="1" smtClean="0">
                            <a:latin typeface="Cambria Math" panose="02040503050406030204" pitchFamily="18" charset="0"/>
                          </a:rPr>
                        </m:ctrlPr>
                      </m:naryPr>
                      <m:sub>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=1</m:t>
                        </m:r>
                      </m:sub>
                      <m:sup>
                        <m:r>
                          <a:rPr lang="en-US" altLang="zh-TW" sz="2400" b="0" i="1" smtClean="0">
                            <a:latin typeface="Cambria Math" panose="02040503050406030204" pitchFamily="18" charset="0"/>
                          </a:rPr>
                          <m:t>𝑁</m:t>
                        </m:r>
                      </m:sup>
                      <m:e>
                        <m:r>
                          <a:rPr lang="en-US" altLang="zh-TW" sz="2400" b="0" i="1" smtClean="0">
                            <a:latin typeface="Cambria Math" panose="02040503050406030204" pitchFamily="18" charset="0"/>
                          </a:rPr>
                          <m:t>𝑓</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𝑖</m:t>
                                </m:r>
                              </m:sub>
                            </m:sSub>
                          </m:e>
                        </m:d>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𝑖</m:t>
                                    </m:r>
                                  </m:sub>
                                </m:sSub>
                              </m:e>
                            </m:d>
                          </m:num>
                          <m:den>
                            <m:r>
                              <a:rPr lang="en-US" altLang="zh-TW" sz="2400" b="0" i="1" smtClean="0">
                                <a:latin typeface="Cambria Math" panose="02040503050406030204" pitchFamily="18" charset="0"/>
                              </a:rPr>
                              <m:t>𝑄</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𝑖</m:t>
                                    </m:r>
                                  </m:sub>
                                </m:sSub>
                              </m:e>
                            </m:d>
                          </m:den>
                        </m:f>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𝑄</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e>
                    </m:nary>
                  </m:oMath>
                </a14:m>
                <a:endParaRPr lang="en-US" altLang="zh-TW" sz="2400" dirty="0" smtClean="0"/>
              </a:p>
              <a:p>
                <a:pPr marL="342900" indent="-342900">
                  <a:buFont typeface="Arial" panose="020B0604020202020204" pitchFamily="34" charset="0"/>
                  <a:buChar char="•"/>
                </a:pPr>
                <a14:m>
                  <m:oMath xmlns:m="http://schemas.openxmlformats.org/officeDocument/2006/math">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𝑤</m:t>
                        </m:r>
                      </m:e>
                      <m:sub>
                        <m:r>
                          <a:rPr lang="en-US" altLang="zh-TW" sz="2400" b="0" i="1" smtClean="0">
                            <a:solidFill>
                              <a:srgbClr val="FF0000"/>
                            </a:solidFill>
                            <a:latin typeface="Cambria Math" panose="02040503050406030204" pitchFamily="18" charset="0"/>
                          </a:rPr>
                          <m:t>𝑖</m:t>
                        </m:r>
                      </m:sub>
                    </m:sSub>
                    <m:r>
                      <a:rPr lang="en-US" altLang="zh-TW" sz="2400" b="0" i="1" smtClean="0">
                        <a:solidFill>
                          <a:srgbClr val="FF0000"/>
                        </a:solidFill>
                        <a:latin typeface="Cambria Math" panose="02040503050406030204" pitchFamily="18" charset="0"/>
                      </a:rPr>
                      <m:t>=</m:t>
                    </m:r>
                    <m:f>
                      <m:fPr>
                        <m:ctrlPr>
                          <a:rPr lang="en-US" altLang="zh-TW" sz="2400" i="1">
                            <a:solidFill>
                              <a:srgbClr val="FF0000"/>
                            </a:solidFill>
                            <a:latin typeface="Cambria Math" panose="02040503050406030204" pitchFamily="18" charset="0"/>
                          </a:rPr>
                        </m:ctrlPr>
                      </m:fPr>
                      <m:num>
                        <m:r>
                          <a:rPr lang="en-US" altLang="zh-TW" sz="2400" b="0" i="1" smtClean="0">
                            <a:solidFill>
                              <a:srgbClr val="FF0000"/>
                            </a:solidFill>
                            <a:latin typeface="Cambria Math" panose="02040503050406030204" pitchFamily="18" charset="0"/>
                          </a:rPr>
                          <m:t>𝑃</m:t>
                        </m:r>
                        <m:d>
                          <m:dPr>
                            <m:ctrlPr>
                              <a:rPr lang="en-US" altLang="zh-TW" sz="2400" i="1">
                                <a:solidFill>
                                  <a:srgbClr val="FF0000"/>
                                </a:solidFill>
                                <a:latin typeface="Cambria Math" panose="02040503050406030204" pitchFamily="18" charset="0"/>
                              </a:rPr>
                            </m:ctrlPr>
                          </m:dPr>
                          <m:e>
                            <m:sSub>
                              <m:sSubPr>
                                <m:ctrlPr>
                                  <a:rPr lang="en-US" altLang="zh-TW" sz="2400" b="0" i="1" smtClean="0">
                                    <a:solidFill>
                                      <a:srgbClr val="FF0000"/>
                                    </a:solidFill>
                                    <a:latin typeface="Cambria Math" panose="02040503050406030204" pitchFamily="18" charset="0"/>
                                  </a:rPr>
                                </m:ctrlPr>
                              </m:sSubPr>
                              <m:e>
                                <m:r>
                                  <a:rPr lang="en-US" altLang="zh-TW" sz="2400" i="1">
                                    <a:solidFill>
                                      <a:srgbClr val="FF0000"/>
                                    </a:solidFill>
                                    <a:latin typeface="Cambria Math" panose="02040503050406030204" pitchFamily="18" charset="0"/>
                                  </a:rPr>
                                  <m:t>𝑥</m:t>
                                </m:r>
                              </m:e>
                              <m:sub>
                                <m:r>
                                  <a:rPr lang="en-US" altLang="zh-TW" sz="2400" b="0" i="1" smtClean="0">
                                    <a:solidFill>
                                      <a:srgbClr val="FF0000"/>
                                    </a:solidFill>
                                    <a:latin typeface="Cambria Math" panose="02040503050406030204" pitchFamily="18" charset="0"/>
                                  </a:rPr>
                                  <m:t>𝑖</m:t>
                                </m:r>
                              </m:sub>
                            </m:sSub>
                          </m:e>
                        </m:d>
                      </m:num>
                      <m:den>
                        <m:r>
                          <a:rPr lang="en-US" altLang="zh-TW" sz="2400" b="0" i="1" smtClean="0">
                            <a:solidFill>
                              <a:srgbClr val="FF0000"/>
                            </a:solidFill>
                            <a:latin typeface="Cambria Math" panose="02040503050406030204" pitchFamily="18" charset="0"/>
                          </a:rPr>
                          <m:t>𝑄</m:t>
                        </m:r>
                        <m:d>
                          <m:dPr>
                            <m:ctrlPr>
                              <a:rPr lang="en-US" altLang="zh-TW" sz="2400" i="1">
                                <a:solidFill>
                                  <a:srgbClr val="FF0000"/>
                                </a:solidFill>
                                <a:latin typeface="Cambria Math" panose="02040503050406030204" pitchFamily="18" charset="0"/>
                              </a:rPr>
                            </m:ctrlPr>
                          </m:dPr>
                          <m:e>
                            <m:sSub>
                              <m:sSubPr>
                                <m:ctrlPr>
                                  <a:rPr lang="en-US" altLang="zh-TW" sz="2400" b="0" i="1" smtClean="0">
                                    <a:solidFill>
                                      <a:srgbClr val="FF0000"/>
                                    </a:solidFill>
                                    <a:latin typeface="Cambria Math" panose="02040503050406030204" pitchFamily="18" charset="0"/>
                                  </a:rPr>
                                </m:ctrlPr>
                              </m:sSubPr>
                              <m:e>
                                <m:r>
                                  <a:rPr lang="en-US" altLang="zh-TW" sz="2400" i="1">
                                    <a:solidFill>
                                      <a:srgbClr val="FF0000"/>
                                    </a:solidFill>
                                    <a:latin typeface="Cambria Math" panose="02040503050406030204" pitchFamily="18" charset="0"/>
                                  </a:rPr>
                                  <m:t>𝑥</m:t>
                                </m:r>
                              </m:e>
                              <m:sub>
                                <m:r>
                                  <a:rPr lang="en-US" altLang="zh-TW" sz="2400" b="0" i="1" smtClean="0">
                                    <a:solidFill>
                                      <a:srgbClr val="FF0000"/>
                                    </a:solidFill>
                                    <a:latin typeface="Cambria Math" panose="02040503050406030204" pitchFamily="18" charset="0"/>
                                  </a:rPr>
                                  <m:t>𝑖</m:t>
                                </m:r>
                              </m:sub>
                            </m:sSub>
                          </m:e>
                        </m:d>
                      </m:den>
                    </m:f>
                  </m:oMath>
                </a14:m>
                <a:r>
                  <a:rPr lang="en-US" altLang="zh-TW" sz="2400" dirty="0" smtClean="0"/>
                  <a:t> is the weight (importance ) of the </a:t>
                </a:r>
                <a:r>
                  <a:rPr lang="en-US" altLang="zh-TW" sz="2400" i="1" dirty="0" err="1" smtClean="0"/>
                  <a:t>i</a:t>
                </a:r>
                <a:r>
                  <a:rPr lang="en-US" altLang="zh-TW" sz="2400" dirty="0" err="1" smtClean="0"/>
                  <a:t>th</a:t>
                </a:r>
                <a:r>
                  <a:rPr lang="en-US" altLang="zh-TW" sz="2400" dirty="0" smtClean="0"/>
                  <a:t> sample</a:t>
                </a:r>
                <a:endParaRPr lang="en-US" altLang="zh-TW" sz="2400" dirty="0"/>
              </a:p>
              <a:p>
                <a:pPr marL="342900" indent="-342900">
                  <a:buFont typeface="+mj-lt"/>
                  <a:buAutoNum type="arabicPeriod"/>
                </a:pPr>
                <a:endParaRPr lang="en-US" altLang="zh-TW" sz="2400" dirty="0" smtClean="0"/>
              </a:p>
              <a:p>
                <a:pPr marL="342900" indent="-342900">
                  <a:buFont typeface="+mj-lt"/>
                  <a:buAutoNum type="arabicPeriod"/>
                </a:pPr>
                <a:endParaRPr lang="zh-TW" altLang="en-US" sz="2400" dirty="0"/>
              </a:p>
            </p:txBody>
          </p:sp>
        </mc:Choice>
        <mc:Fallback>
          <p:sp>
            <p:nvSpPr>
              <p:cNvPr id="4" name="矩形 3"/>
              <p:cNvSpPr>
                <a:spLocks noRot="1" noChangeAspect="1" noMove="1" noResize="1" noEditPoints="1" noAdjustHandles="1" noChangeArrowheads="1" noChangeShapeType="1" noTextEdit="1"/>
              </p:cNvSpPr>
              <p:nvPr/>
            </p:nvSpPr>
            <p:spPr>
              <a:xfrm>
                <a:off x="838199" y="1690688"/>
                <a:ext cx="11080532" cy="5133906"/>
              </a:xfrm>
              <a:prstGeom prst="rect">
                <a:avLst/>
              </a:prstGeom>
              <a:blipFill rotWithShape="0">
                <a:blip r:embed="rId2"/>
                <a:stretch>
                  <a:fillRect l="-825" t="-1068"/>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259011226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99613" y="52745"/>
            <a:ext cx="10515600" cy="1325563"/>
          </a:xfrm>
        </p:spPr>
        <p:txBody>
          <a:bodyPr/>
          <a:lstStyle/>
          <a:p>
            <a:r>
              <a:rPr lang="en-US" altLang="zh-TW" dirty="0" smtClean="0"/>
              <a:t>IS Example</a:t>
            </a:r>
            <a:endParaRPr lang="zh-TW" altLang="en-US" dirty="0"/>
          </a:p>
        </p:txBody>
      </p:sp>
      <mc:AlternateContent xmlns:mc="http://schemas.openxmlformats.org/markup-compatibility/2006">
        <mc:Choice xmlns:a14="http://schemas.microsoft.com/office/drawing/2010/main" xmlns="" Requires="a14">
          <p:sp>
            <p:nvSpPr>
              <p:cNvPr id="4" name="內容版面配置區 3"/>
              <p:cNvSpPr>
                <a:spLocks noGrp="1"/>
              </p:cNvSpPr>
              <p:nvPr>
                <p:ph idx="1"/>
              </p:nvPr>
            </p:nvSpPr>
            <p:spPr>
              <a:xfrm>
                <a:off x="838200" y="1152963"/>
                <a:ext cx="10515600" cy="4351338"/>
              </a:xfrm>
            </p:spPr>
            <p:txBody>
              <a:bodyPr/>
              <a:lstStyle/>
              <a:p>
                <a:r>
                  <a:rPr lang="en-US" altLang="zh-TW" dirty="0" smtClean="0"/>
                  <a:t>Target value </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𝑞</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𝑓</m:t>
                        </m:r>
                        <m:r>
                          <a:rPr lang="en-US" altLang="zh-TW" b="0" i="1" smtClean="0">
                            <a:latin typeface="Cambria Math" panose="02040503050406030204" pitchFamily="18" charset="0"/>
                          </a:rPr>
                          <m:t>(</m:t>
                        </m:r>
                        <m:r>
                          <a:rPr lang="en-US" altLang="zh-TW" b="0" i="1" smtClean="0">
                            <a:latin typeface="Cambria Math" panose="02040503050406030204" pitchFamily="18" charset="0"/>
                          </a:rPr>
                          <m:t>𝑥</m:t>
                        </m:r>
                        <m:r>
                          <a:rPr lang="en-US" altLang="zh-TW" b="0" i="1" smtClean="0">
                            <a:latin typeface="Cambria Math" panose="02040503050406030204" pitchFamily="18" charset="0"/>
                          </a:rPr>
                          <m:t>)</m:t>
                        </m:r>
                      </m:e>
                    </m:d>
                    <m:r>
                      <a:rPr lang="en-US" altLang="zh-TW" b="0" i="1" smtClean="0">
                        <a:latin typeface="Cambria Math" panose="02040503050406030204" pitchFamily="18" charset="0"/>
                      </a:rPr>
                      <m:t>=</m:t>
                    </m:r>
                    <m:nary>
                      <m:naryPr>
                        <m:ctrlPr>
                          <a:rPr lang="en-US" altLang="zh-TW" b="0" i="1" smtClean="0">
                            <a:latin typeface="Cambria Math" panose="02040503050406030204" pitchFamily="18" charset="0"/>
                          </a:rPr>
                        </m:ctrlPr>
                      </m:naryPr>
                      <m:sub>
                        <m:r>
                          <a:rPr lang="en-US" altLang="zh-TW" b="0" i="1" smtClean="0">
                            <a:latin typeface="Cambria Math" panose="02040503050406030204" pitchFamily="18" charset="0"/>
                          </a:rPr>
                          <m:t>0</m:t>
                        </m:r>
                      </m:sub>
                      <m:sup>
                        <m:r>
                          <a:rPr lang="en-US" altLang="zh-TW" b="0" i="1" smtClean="0">
                            <a:latin typeface="Cambria Math" panose="02040503050406030204" pitchFamily="18" charset="0"/>
                          </a:rPr>
                          <m:t>1</m:t>
                        </m:r>
                      </m:sup>
                      <m:e>
                        <m:f>
                          <m:fPr>
                            <m:ctrlPr>
                              <a:rPr lang="en-US" altLang="zh-TW" b="0" i="1" smtClean="0">
                                <a:latin typeface="Cambria Math" panose="02040503050406030204" pitchFamily="18" charset="0"/>
                              </a:rPr>
                            </m:ctrlPr>
                          </m:fPr>
                          <m:num>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𝑒</m:t>
                                </m:r>
                              </m:e>
                              <m:sup>
                                <m:r>
                                  <a:rPr lang="en-US" altLang="zh-TW" b="0" i="1" smtClean="0">
                                    <a:latin typeface="Cambria Math" panose="02040503050406030204" pitchFamily="18" charset="0"/>
                                  </a:rPr>
                                  <m:t>−</m:t>
                                </m:r>
                                <m:r>
                                  <a:rPr lang="en-US" altLang="zh-TW" b="0" i="1" smtClean="0">
                                    <a:latin typeface="Cambria Math" panose="02040503050406030204" pitchFamily="18" charset="0"/>
                                  </a:rPr>
                                  <m:t>𝑥</m:t>
                                </m:r>
                              </m:sup>
                            </m:sSup>
                          </m:num>
                          <m:den>
                            <m:r>
                              <a:rPr lang="en-US" altLang="zh-TW" b="0" i="1" smtClean="0">
                                <a:latin typeface="Cambria Math" panose="02040503050406030204" pitchFamily="18" charset="0"/>
                              </a:rPr>
                              <m:t>1+</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𝑥</m:t>
                                </m:r>
                              </m:e>
                              <m:sup>
                                <m:r>
                                  <a:rPr lang="en-US" altLang="zh-TW" b="0" i="1" smtClean="0">
                                    <a:latin typeface="Cambria Math" panose="02040503050406030204" pitchFamily="18" charset="0"/>
                                  </a:rPr>
                                  <m:t>2</m:t>
                                </m:r>
                              </m:sup>
                            </m:sSup>
                          </m:den>
                        </m:f>
                        <m:r>
                          <a:rPr lang="en-US" altLang="zh-TW" b="0" i="1" smtClean="0">
                            <a:latin typeface="Cambria Math" panose="02040503050406030204" pitchFamily="18" charset="0"/>
                          </a:rPr>
                          <m:t>𝑑𝑥</m:t>
                        </m:r>
                      </m:e>
                    </m:nary>
                  </m:oMath>
                </a14:m>
                <a:endParaRPr lang="en-US" altLang="zh-TW" b="0" dirty="0" smtClean="0"/>
              </a:p>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𝑄</m:t>
                        </m:r>
                      </m:e>
                      <m:sub>
                        <m:r>
                          <a:rPr lang="en-US" altLang="zh-TW" b="0" i="1" smtClean="0">
                            <a:latin typeface="Cambria Math" panose="02040503050406030204" pitchFamily="18" charset="0"/>
                          </a:rPr>
                          <m:t>1</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=1, 0&lt;</m:t>
                    </m:r>
                    <m:r>
                      <a:rPr lang="en-US" altLang="zh-TW" b="0" i="1" smtClean="0">
                        <a:latin typeface="Cambria Math" panose="02040503050406030204" pitchFamily="18" charset="0"/>
                      </a:rPr>
                      <m:t>𝑥</m:t>
                    </m:r>
                    <m:r>
                      <a:rPr lang="en-US" altLang="zh-TW" b="0" i="1" smtClean="0">
                        <a:latin typeface="Cambria Math" panose="02040503050406030204" pitchFamily="18" charset="0"/>
                      </a:rPr>
                      <m:t>&lt;1</m:t>
                    </m:r>
                  </m:oMath>
                </a14:m>
                <a:r>
                  <a:rPr lang="en-US" altLang="zh-TW" b="0" dirty="0" smtClean="0"/>
                  <a:t> (uniform distribution, U(0,1))</a:t>
                </a:r>
              </a:p>
              <a:p>
                <a:pPr lvl="1"/>
                <a:r>
                  <a:rPr lang="en-US" altLang="zh-TW" dirty="0" smtClean="0"/>
                  <a:t>Weight </a:t>
                </a:r>
                <a14:m>
                  <m:oMath xmlns:m="http://schemas.openxmlformats.org/officeDocument/2006/math">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𝑃</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𝑄</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𝑥</m:t>
                        </m:r>
                        <m:r>
                          <a:rPr lang="en-US" altLang="zh-TW" b="0" i="1" smtClean="0">
                            <a:latin typeface="Cambria Math" panose="02040503050406030204" pitchFamily="18" charset="0"/>
                          </a:rPr>
                          <m:t>)</m:t>
                        </m:r>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sSup>
                          <m:sSupPr>
                            <m:ctrlPr>
                              <a:rPr lang="en-US" altLang="zh-TW" i="1">
                                <a:latin typeface="Cambria Math" panose="02040503050406030204" pitchFamily="18" charset="0"/>
                              </a:rPr>
                            </m:ctrlPr>
                          </m:sSupPr>
                          <m:e>
                            <m:r>
                              <a:rPr lang="en-US" altLang="zh-TW" i="1">
                                <a:latin typeface="Cambria Math" panose="02040503050406030204" pitchFamily="18" charset="0"/>
                              </a:rPr>
                              <m:t>𝑒</m:t>
                            </m:r>
                          </m:e>
                          <m:sup>
                            <m:r>
                              <a:rPr lang="en-US" altLang="zh-TW" i="1">
                                <a:latin typeface="Cambria Math" panose="02040503050406030204" pitchFamily="18" charset="0"/>
                              </a:rPr>
                              <m:t>−</m:t>
                            </m:r>
                            <m:r>
                              <a:rPr lang="en-US" altLang="zh-TW" i="1">
                                <a:latin typeface="Cambria Math" panose="02040503050406030204" pitchFamily="18" charset="0"/>
                              </a:rPr>
                              <m:t>𝑥</m:t>
                            </m:r>
                          </m:sup>
                        </m:sSup>
                      </m:num>
                      <m:den>
                        <m:r>
                          <a:rPr lang="en-US" altLang="zh-TW" i="1">
                            <a:latin typeface="Cambria Math" panose="02040503050406030204" pitchFamily="18" charset="0"/>
                          </a:rPr>
                          <m:t>1+</m:t>
                        </m:r>
                        <m:sSup>
                          <m:sSupPr>
                            <m:ctrlPr>
                              <a:rPr lang="en-US" altLang="zh-TW" i="1">
                                <a:latin typeface="Cambria Math" panose="02040503050406030204" pitchFamily="18" charset="0"/>
                              </a:rPr>
                            </m:ctrlPr>
                          </m:sSupPr>
                          <m:e>
                            <m:r>
                              <a:rPr lang="en-US" altLang="zh-TW" i="1">
                                <a:latin typeface="Cambria Math" panose="02040503050406030204" pitchFamily="18" charset="0"/>
                              </a:rPr>
                              <m:t>𝑥</m:t>
                            </m:r>
                          </m:e>
                          <m:sup>
                            <m:r>
                              <a:rPr lang="en-US" altLang="zh-TW" i="1">
                                <a:latin typeface="Cambria Math" panose="02040503050406030204" pitchFamily="18" charset="0"/>
                              </a:rPr>
                              <m:t>2</m:t>
                            </m:r>
                          </m:sup>
                        </m:sSup>
                      </m:den>
                    </m:f>
                  </m:oMath>
                </a14:m>
                <a:endParaRPr lang="en-US" altLang="zh-TW" b="0" dirty="0" smtClean="0"/>
              </a:p>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𝑄</m:t>
                        </m:r>
                      </m:e>
                      <m:sub>
                        <m:r>
                          <a:rPr lang="en-US" altLang="zh-TW" b="0" i="1" smtClean="0">
                            <a:latin typeface="Cambria Math" panose="02040503050406030204" pitchFamily="18" charset="0"/>
                          </a:rPr>
                          <m:t>2</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𝑒</m:t>
                        </m:r>
                      </m:e>
                      <m:sup>
                        <m:r>
                          <a:rPr lang="en-US" altLang="zh-TW" b="0" i="1" smtClean="0">
                            <a:latin typeface="Cambria Math" panose="02040503050406030204" pitchFamily="18" charset="0"/>
                          </a:rPr>
                          <m:t>−</m:t>
                        </m:r>
                        <m:r>
                          <a:rPr lang="en-US" altLang="zh-TW" b="0" i="1" smtClean="0">
                            <a:latin typeface="Cambria Math" panose="02040503050406030204" pitchFamily="18" charset="0"/>
                          </a:rPr>
                          <m:t>𝑥</m:t>
                        </m:r>
                      </m:sup>
                    </m:sSup>
                    <m:r>
                      <a:rPr lang="en-US" altLang="zh-TW" b="0" i="1" smtClean="0">
                        <a:latin typeface="Cambria Math" panose="02040503050406030204" pitchFamily="18" charset="0"/>
                      </a:rPr>
                      <m:t>, 0&lt;</m:t>
                    </m:r>
                    <m:r>
                      <a:rPr lang="en-US" altLang="zh-TW" b="0" i="1" smtClean="0">
                        <a:latin typeface="Cambria Math" panose="02040503050406030204" pitchFamily="18" charset="0"/>
                      </a:rPr>
                      <m:t>𝑥</m:t>
                    </m:r>
                    <m:r>
                      <a:rPr lang="en-US" altLang="zh-TW" b="0" i="1" smtClean="0">
                        <a:latin typeface="Cambria Math" panose="02040503050406030204" pitchFamily="18" charset="0"/>
                      </a:rPr>
                      <m:t>&lt;∞</m:t>
                    </m:r>
                  </m:oMath>
                </a14:m>
                <a:r>
                  <a:rPr lang="en-US" altLang="zh-TW" b="0" dirty="0" smtClean="0"/>
                  <a:t> (exponential distribution, </a:t>
                </a:r>
                <a:r>
                  <a:rPr lang="en-US" altLang="zh-TW" b="0" dirty="0" err="1" smtClean="0"/>
                  <a:t>Exp</a:t>
                </a:r>
                <a:r>
                  <a:rPr lang="en-US" altLang="zh-TW" b="0" dirty="0" smtClean="0"/>
                  <a:t>(1))</a:t>
                </a:r>
              </a:p>
              <a:p>
                <a:pPr lvl="1"/>
                <a:r>
                  <a:rPr lang="en-US" altLang="zh-TW" b="0" dirty="0" smtClean="0"/>
                  <a:t>Weight </a:t>
                </a:r>
                <a14:m>
                  <m:oMath xmlns:m="http://schemas.openxmlformats.org/officeDocument/2006/math">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𝑃</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𝑄</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𝑥</m:t>
                        </m:r>
                        <m:r>
                          <a:rPr lang="en-US" altLang="zh-TW" b="0" i="1" smtClean="0">
                            <a:latin typeface="Cambria Math" panose="02040503050406030204" pitchFamily="18" charset="0"/>
                          </a:rPr>
                          <m:t>)</m:t>
                        </m:r>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sSup>
                          <m:sSupPr>
                            <m:ctrlPr>
                              <a:rPr lang="en-US" altLang="zh-TW" i="1">
                                <a:latin typeface="Cambria Math" panose="02040503050406030204" pitchFamily="18" charset="0"/>
                              </a:rPr>
                            </m:ctrlPr>
                          </m:sSupPr>
                          <m:e>
                            <m:r>
                              <a:rPr lang="en-US" altLang="zh-TW" i="1">
                                <a:latin typeface="Cambria Math" panose="02040503050406030204" pitchFamily="18" charset="0"/>
                              </a:rPr>
                              <m:t>𝑒</m:t>
                            </m:r>
                          </m:e>
                          <m:sup>
                            <m:r>
                              <a:rPr lang="en-US" altLang="zh-TW" i="1">
                                <a:latin typeface="Cambria Math" panose="02040503050406030204" pitchFamily="18" charset="0"/>
                              </a:rPr>
                              <m:t>−</m:t>
                            </m:r>
                            <m:r>
                              <a:rPr lang="en-US" altLang="zh-TW" i="1">
                                <a:latin typeface="Cambria Math" panose="02040503050406030204" pitchFamily="18" charset="0"/>
                              </a:rPr>
                              <m:t>𝑥</m:t>
                            </m:r>
                          </m:sup>
                        </m:sSup>
                      </m:num>
                      <m:den>
                        <m:r>
                          <a:rPr lang="en-US" altLang="zh-TW" i="1">
                            <a:latin typeface="Cambria Math" panose="02040503050406030204" pitchFamily="18" charset="0"/>
                          </a:rPr>
                          <m:t>1+</m:t>
                        </m:r>
                        <m:sSup>
                          <m:sSupPr>
                            <m:ctrlPr>
                              <a:rPr lang="en-US" altLang="zh-TW" i="1">
                                <a:latin typeface="Cambria Math" panose="02040503050406030204" pitchFamily="18" charset="0"/>
                              </a:rPr>
                            </m:ctrlPr>
                          </m:sSupPr>
                          <m:e>
                            <m:r>
                              <a:rPr lang="en-US" altLang="zh-TW" i="1">
                                <a:latin typeface="Cambria Math" panose="02040503050406030204" pitchFamily="18" charset="0"/>
                              </a:rPr>
                              <m:t>𝑥</m:t>
                            </m:r>
                          </m:e>
                          <m:sup>
                            <m:r>
                              <a:rPr lang="en-US" altLang="zh-TW" i="1">
                                <a:latin typeface="Cambria Math" panose="02040503050406030204" pitchFamily="18" charset="0"/>
                              </a:rPr>
                              <m:t>2</m:t>
                            </m:r>
                          </m:sup>
                        </m:sSup>
                      </m:den>
                    </m:f>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𝑒</m:t>
                            </m:r>
                          </m:e>
                          <m:sup>
                            <m:r>
                              <a:rPr lang="en-US" altLang="zh-TW" b="0" i="1" smtClean="0">
                                <a:latin typeface="Cambria Math" panose="02040503050406030204" pitchFamily="18" charset="0"/>
                              </a:rPr>
                              <m:t>−</m:t>
                            </m:r>
                            <m:r>
                              <a:rPr lang="en-US" altLang="zh-TW" b="0" i="1" smtClean="0">
                                <a:latin typeface="Cambria Math" panose="02040503050406030204" pitchFamily="18" charset="0"/>
                              </a:rPr>
                              <m:t>𝑥</m:t>
                            </m:r>
                          </m:sup>
                        </m:sSup>
                      </m:den>
                    </m:f>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1+</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𝑥</m:t>
                            </m:r>
                          </m:e>
                          <m:sup>
                            <m:r>
                              <a:rPr lang="en-US" altLang="zh-TW" b="0" i="1" smtClean="0">
                                <a:latin typeface="Cambria Math" panose="02040503050406030204" pitchFamily="18" charset="0"/>
                              </a:rPr>
                              <m:t>2</m:t>
                            </m:r>
                          </m:sup>
                        </m:sSup>
                      </m:den>
                    </m:f>
                  </m:oMath>
                </a14:m>
                <a:endParaRPr lang="en-US" altLang="zh-TW" b="0" dirty="0" smtClean="0"/>
              </a:p>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𝑄</m:t>
                        </m:r>
                      </m:e>
                      <m:sub>
                        <m:r>
                          <a:rPr lang="en-US" altLang="zh-TW" b="0" i="1" smtClean="0">
                            <a:latin typeface="Cambria Math" panose="02040503050406030204" pitchFamily="18" charset="0"/>
                          </a:rPr>
                          <m:t>3</m:t>
                        </m:r>
                      </m:sub>
                    </m:sSub>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𝜋</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𝑥</m:t>
                                </m:r>
                              </m:e>
                              <m:sup>
                                <m:r>
                                  <a:rPr lang="en-US" altLang="zh-TW" b="0" i="1" smtClean="0">
                                    <a:latin typeface="Cambria Math" panose="02040503050406030204" pitchFamily="18" charset="0"/>
                                  </a:rPr>
                                  <m:t>2</m:t>
                                </m:r>
                              </m:sup>
                            </m:sSup>
                          </m:e>
                        </m:d>
                      </m:den>
                    </m:f>
                    <m:r>
                      <a:rPr lang="en-US" altLang="zh-TW" b="0" i="1" smtClean="0">
                        <a:latin typeface="Cambria Math" panose="02040503050406030204" pitchFamily="18" charset="0"/>
                      </a:rPr>
                      <m:t>, −∞&lt;</m:t>
                    </m:r>
                    <m:r>
                      <a:rPr lang="en-US" altLang="zh-TW" b="0" i="1" smtClean="0">
                        <a:latin typeface="Cambria Math" panose="02040503050406030204" pitchFamily="18" charset="0"/>
                      </a:rPr>
                      <m:t>𝑥</m:t>
                    </m:r>
                    <m:r>
                      <a:rPr lang="en-US" altLang="zh-TW" b="0" i="1" smtClean="0">
                        <a:latin typeface="Cambria Math" panose="02040503050406030204" pitchFamily="18" charset="0"/>
                      </a:rPr>
                      <m:t>&lt;∞</m:t>
                    </m:r>
                  </m:oMath>
                </a14:m>
                <a:r>
                  <a:rPr lang="en-US" altLang="zh-TW" b="0" dirty="0" smtClean="0"/>
                  <a:t> (standard Cauchy distribution)</a:t>
                </a:r>
              </a:p>
              <a:p>
                <a:pPr lvl="1"/>
                <a:r>
                  <a:rPr lang="en-US" altLang="zh-TW" b="0" dirty="0" smtClean="0"/>
                  <a:t>Weight </a:t>
                </a:r>
                <a14:m>
                  <m:oMath xmlns:m="http://schemas.openxmlformats.org/officeDocument/2006/math">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𝑃</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𝑄</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𝑥</m:t>
                        </m:r>
                        <m:r>
                          <a:rPr lang="en-US" altLang="zh-TW" b="0" i="1" smtClean="0">
                            <a:latin typeface="Cambria Math" panose="02040503050406030204" pitchFamily="18" charset="0"/>
                          </a:rPr>
                          <m:t>)</m:t>
                        </m:r>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sSup>
                          <m:sSupPr>
                            <m:ctrlPr>
                              <a:rPr lang="en-US" altLang="zh-TW" i="1">
                                <a:latin typeface="Cambria Math" panose="02040503050406030204" pitchFamily="18" charset="0"/>
                              </a:rPr>
                            </m:ctrlPr>
                          </m:sSupPr>
                          <m:e>
                            <m:r>
                              <a:rPr lang="en-US" altLang="zh-TW" i="1">
                                <a:latin typeface="Cambria Math" panose="02040503050406030204" pitchFamily="18" charset="0"/>
                              </a:rPr>
                              <m:t>𝑒</m:t>
                            </m:r>
                          </m:e>
                          <m:sup>
                            <m:r>
                              <a:rPr lang="en-US" altLang="zh-TW" i="1">
                                <a:latin typeface="Cambria Math" panose="02040503050406030204" pitchFamily="18" charset="0"/>
                              </a:rPr>
                              <m:t>−</m:t>
                            </m:r>
                            <m:r>
                              <a:rPr lang="en-US" altLang="zh-TW" i="1">
                                <a:latin typeface="Cambria Math" panose="02040503050406030204" pitchFamily="18" charset="0"/>
                              </a:rPr>
                              <m:t>𝑥</m:t>
                            </m:r>
                          </m:sup>
                        </m:sSup>
                      </m:num>
                      <m:den>
                        <m:r>
                          <a:rPr lang="en-US" altLang="zh-TW" i="1">
                            <a:latin typeface="Cambria Math" panose="02040503050406030204" pitchFamily="18" charset="0"/>
                          </a:rPr>
                          <m:t>1+</m:t>
                        </m:r>
                        <m:sSup>
                          <m:sSupPr>
                            <m:ctrlPr>
                              <a:rPr lang="en-US" altLang="zh-TW" i="1">
                                <a:latin typeface="Cambria Math" panose="02040503050406030204" pitchFamily="18" charset="0"/>
                              </a:rPr>
                            </m:ctrlPr>
                          </m:sSupPr>
                          <m:e>
                            <m:r>
                              <a:rPr lang="en-US" altLang="zh-TW" i="1">
                                <a:latin typeface="Cambria Math" panose="02040503050406030204" pitchFamily="18" charset="0"/>
                              </a:rPr>
                              <m:t>𝑥</m:t>
                            </m:r>
                          </m:e>
                          <m:sup>
                            <m:r>
                              <a:rPr lang="en-US" altLang="zh-TW" i="1">
                                <a:latin typeface="Cambria Math" panose="02040503050406030204" pitchFamily="18" charset="0"/>
                              </a:rPr>
                              <m:t>2</m:t>
                            </m:r>
                          </m:sup>
                        </m:sSup>
                      </m:den>
                    </m:f>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𝜋</m:t>
                        </m:r>
                        <m:r>
                          <a:rPr lang="en-US" altLang="zh-TW" b="0" i="1" smtClean="0">
                            <a:latin typeface="Cambria Math" panose="02040503050406030204" pitchFamily="18" charset="0"/>
                          </a:rPr>
                          <m:t>(1+</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𝑥</m:t>
                            </m:r>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den>
                    </m:f>
                  </m:oMath>
                </a14:m>
                <a:endParaRPr lang="en-US" altLang="zh-TW" b="0" dirty="0" smtClean="0"/>
              </a:p>
              <a:p>
                <a:pPr marL="0" indent="0">
                  <a:buNone/>
                </a:pPr>
                <a:endParaRPr lang="zh-TW" altLang="en-US" dirty="0"/>
              </a:p>
            </p:txBody>
          </p:sp>
        </mc:Choice>
        <mc:Fallback>
          <p:sp>
            <p:nvSpPr>
              <p:cNvPr id="4" name="內容版面配置區 3"/>
              <p:cNvSpPr>
                <a:spLocks noGrp="1" noRot="1" noChangeAspect="1" noMove="1" noResize="1" noEditPoints="1" noAdjustHandles="1" noChangeArrowheads="1" noChangeShapeType="1" noTextEdit="1"/>
              </p:cNvSpPr>
              <p:nvPr>
                <p:ph idx="1"/>
              </p:nvPr>
            </p:nvSpPr>
            <p:spPr>
              <a:xfrm>
                <a:off x="838200" y="1152963"/>
                <a:ext cx="10515600" cy="4351338"/>
              </a:xfrm>
              <a:blipFill rotWithShape="0">
                <a:blip r:embed="rId2"/>
                <a:stretch>
                  <a:fillRect l="-1043"/>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60325430-07F2-45E8-A5C9-B73C13C9C571}" type="slidenum">
              <a:rPr lang="zh-TW" altLang="en-US" smtClean="0"/>
              <a:pPr/>
              <a:t>27</a:t>
            </a:fld>
            <a:endParaRPr lang="zh-TW" altLang="en-US"/>
          </a:p>
        </p:txBody>
      </p:sp>
      <p:pic>
        <p:nvPicPr>
          <p:cNvPr id="5" name="圖片 4"/>
          <p:cNvPicPr>
            <a:picLocks noChangeAspect="1"/>
          </p:cNvPicPr>
          <p:nvPr/>
        </p:nvPicPr>
        <p:blipFill rotWithShape="1">
          <a:blip r:embed="rId3" cstate="print">
            <a:extLst>
              <a:ext uri="{28A0092B-C50C-407E-A947-70E740481C1C}">
                <a14:useLocalDpi xmlns:a14="http://schemas.microsoft.com/office/drawing/2010/main" xmlns=""/>
              </a:ext>
            </a:extLst>
          </a:blip>
          <a:srcRect/>
          <a:stretch/>
        </p:blipFill>
        <p:spPr>
          <a:xfrm>
            <a:off x="252246" y="5504301"/>
            <a:ext cx="11410333" cy="929156"/>
          </a:xfrm>
          <a:prstGeom prst="rect">
            <a:avLst/>
          </a:prstGeom>
        </p:spPr>
      </p:pic>
      <p:sp>
        <p:nvSpPr>
          <p:cNvPr id="6" name="圓角矩形 5"/>
          <p:cNvSpPr/>
          <p:nvPr/>
        </p:nvSpPr>
        <p:spPr>
          <a:xfrm>
            <a:off x="438102" y="5843752"/>
            <a:ext cx="4207470" cy="24173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7" name="圖片 6"/>
          <p:cNvPicPr>
            <a:picLocks noChangeAspect="1"/>
          </p:cNvPicPr>
          <p:nvPr/>
        </p:nvPicPr>
        <p:blipFill rotWithShape="1">
          <a:blip r:embed="rId4" cstate="print">
            <a:extLst>
              <a:ext uri="{28A0092B-C50C-407E-A947-70E740481C1C}">
                <a14:useLocalDpi xmlns:a14="http://schemas.microsoft.com/office/drawing/2010/main" xmlns=""/>
              </a:ext>
            </a:extLst>
          </a:blip>
          <a:srcRect/>
          <a:stretch/>
        </p:blipFill>
        <p:spPr>
          <a:xfrm>
            <a:off x="7547006" y="223807"/>
            <a:ext cx="3945381" cy="1415807"/>
          </a:xfrm>
          <a:prstGeom prst="rect">
            <a:avLst/>
          </a:prstGeom>
        </p:spPr>
      </p:pic>
    </p:spTree>
    <p:extLst>
      <p:ext uri="{BB962C8B-B14F-4D97-AF65-F5344CB8AC3E}">
        <p14:creationId xmlns:p14="http://schemas.microsoft.com/office/powerpoint/2010/main" xmlns="" val="137601031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Particle filter</a:t>
            </a:r>
            <a:endParaRPr lang="zh-TW" altLang="en-US" dirty="0"/>
          </a:p>
        </p:txBody>
      </p:sp>
      <p:sp>
        <p:nvSpPr>
          <p:cNvPr id="3" name="投影片編號版面配置區 2"/>
          <p:cNvSpPr>
            <a:spLocks noGrp="1"/>
          </p:cNvSpPr>
          <p:nvPr>
            <p:ph type="sldNum" sz="quarter" idx="12"/>
          </p:nvPr>
        </p:nvSpPr>
        <p:spPr/>
        <p:txBody>
          <a:bodyPr/>
          <a:lstStyle/>
          <a:p>
            <a:fld id="{60325430-07F2-45E8-A5C9-B73C13C9C571}" type="slidenum">
              <a:rPr lang="zh-TW" altLang="en-US" smtClean="0"/>
              <a:pPr/>
              <a:t>28</a:t>
            </a:fld>
            <a:endParaRPr lang="zh-TW" altLang="en-US"/>
          </a:p>
        </p:txBody>
      </p:sp>
      <mc:AlternateContent xmlns:mc="http://schemas.openxmlformats.org/markup-compatibility/2006">
        <mc:Choice xmlns:a14="http://schemas.microsoft.com/office/drawing/2010/main" xmlns="" Requires="a14">
          <p:sp>
            <p:nvSpPr>
              <p:cNvPr id="4" name="矩形 3"/>
              <p:cNvSpPr/>
              <p:nvPr/>
            </p:nvSpPr>
            <p:spPr>
              <a:xfrm>
                <a:off x="441276" y="1690688"/>
                <a:ext cx="11295799" cy="4049891"/>
              </a:xfrm>
              <a:prstGeom prst="rect">
                <a:avLst/>
              </a:prstGeom>
            </p:spPr>
            <p:txBody>
              <a:bodyPr wrap="square">
                <a:spAutoFit/>
              </a:bodyPr>
              <a:lstStyle/>
              <a:p>
                <a:pPr marL="285750" indent="-285750">
                  <a:lnSpc>
                    <a:spcPct val="120000"/>
                  </a:lnSpc>
                  <a:buFont typeface="Arial" panose="020B0604020202020204" pitchFamily="34" charset="0"/>
                  <a:buChar char="•"/>
                </a:pPr>
                <a:r>
                  <a:rPr lang="zh-TW" altLang="en-US" sz="2400" dirty="0" smtClean="0"/>
                  <a:t>Particle Filter</a:t>
                </a:r>
                <a:r>
                  <a:rPr lang="en-US" altLang="zh-TW" sz="2400" dirty="0" smtClean="0"/>
                  <a:t>(</a:t>
                </a:r>
                <a:r>
                  <a:rPr lang="zh-TW" altLang="en-US" sz="2400" dirty="0" smtClean="0"/>
                  <a:t>又稱</a:t>
                </a:r>
                <a:r>
                  <a:rPr lang="en-US" altLang="zh-TW" sz="2400" dirty="0" smtClean="0"/>
                  <a:t>sequential importance sampling (SIS), sequential Monte Carlo)</a:t>
                </a:r>
                <a:r>
                  <a:rPr lang="zh-TW" altLang="en-US" sz="2400" dirty="0" smtClean="0"/>
                  <a:t>利用</a:t>
                </a:r>
                <a:r>
                  <a:rPr lang="zh-TW" altLang="en-US" sz="2400" dirty="0"/>
                  <a:t>Monte Carlo的方法來解決Bayesian </a:t>
                </a:r>
                <a:r>
                  <a:rPr lang="zh-TW" altLang="en-US" sz="2400" dirty="0" smtClean="0"/>
                  <a:t>recursion，</a:t>
                </a:r>
                <a:r>
                  <a:rPr lang="zh-TW" altLang="en-US" sz="2400" dirty="0" smtClean="0">
                    <a:solidFill>
                      <a:srgbClr val="FF0000"/>
                    </a:solidFill>
                  </a:rPr>
                  <a:t>利用</a:t>
                </a:r>
                <a:r>
                  <a:rPr lang="zh-TW" altLang="en-US" sz="2400" dirty="0">
                    <a:solidFill>
                      <a:srgbClr val="FF0000"/>
                    </a:solidFill>
                  </a:rPr>
                  <a:t>有限個具有權重的</a:t>
                </a:r>
                <a:r>
                  <a:rPr lang="zh-TW" altLang="en-US" sz="2400" dirty="0" smtClean="0">
                    <a:solidFill>
                      <a:srgbClr val="FF0000"/>
                    </a:solidFill>
                  </a:rPr>
                  <a:t>粒子</a:t>
                </a:r>
                <a:r>
                  <a:rPr lang="en-US" altLang="zh-TW" sz="2400" dirty="0" smtClean="0">
                    <a:solidFill>
                      <a:srgbClr val="FF0000"/>
                    </a:solidFill>
                  </a:rPr>
                  <a:t>(</a:t>
                </a:r>
                <a:r>
                  <a:rPr lang="zh-TW" altLang="en-US" sz="2400" dirty="0" smtClean="0">
                    <a:solidFill>
                      <a:srgbClr val="FF0000"/>
                    </a:solidFill>
                  </a:rPr>
                  <a:t>樣本</a:t>
                </a:r>
                <a:r>
                  <a:rPr lang="en-US" altLang="zh-TW" sz="2400" dirty="0" smtClean="0">
                    <a:solidFill>
                      <a:srgbClr val="FF0000"/>
                    </a:solidFill>
                  </a:rPr>
                  <a:t>)</a:t>
                </a:r>
                <a:r>
                  <a:rPr lang="zh-TW" altLang="en-US" sz="2400" dirty="0" smtClean="0">
                    <a:solidFill>
                      <a:srgbClr val="FF0000"/>
                    </a:solidFill>
                  </a:rPr>
                  <a:t>來</a:t>
                </a:r>
                <a:r>
                  <a:rPr lang="zh-TW" altLang="en-US" sz="2400" dirty="0">
                    <a:solidFill>
                      <a:srgbClr val="FF0000"/>
                    </a:solidFill>
                  </a:rPr>
                  <a:t>近似後</a:t>
                </a:r>
                <a:r>
                  <a:rPr lang="zh-TW" altLang="en-US" sz="2400" dirty="0" smtClean="0">
                    <a:solidFill>
                      <a:srgbClr val="FF0000"/>
                    </a:solidFill>
                  </a:rPr>
                  <a:t>驗</a:t>
                </a:r>
                <a:r>
                  <a:rPr lang="en-US" altLang="zh-TW" sz="2400" dirty="0" smtClean="0">
                    <a:solidFill>
                      <a:srgbClr val="FF0000"/>
                    </a:solidFill>
                  </a:rPr>
                  <a:t>(posterior)</a:t>
                </a:r>
                <a14:m>
                  <m:oMath xmlns:m="http://schemas.openxmlformats.org/officeDocument/2006/math">
                    <m:r>
                      <a:rPr lang="en-US" altLang="zh-TW" sz="2400" b="0" i="1" smtClean="0">
                        <a:solidFill>
                          <a:srgbClr val="FF0000"/>
                        </a:solidFill>
                        <a:latin typeface="Cambria Math" panose="02040503050406030204" pitchFamily="18" charset="0"/>
                      </a:rPr>
                      <m:t>𝑃</m:t>
                    </m:r>
                    <m:d>
                      <m:dPr>
                        <m:ctrlPr>
                          <a:rPr lang="en-US" altLang="zh-TW" sz="2400" b="0" i="1" smtClean="0">
                            <a:solidFill>
                              <a:srgbClr val="FF0000"/>
                            </a:solidFill>
                            <a:latin typeface="Cambria Math" panose="02040503050406030204" pitchFamily="18" charset="0"/>
                          </a:rPr>
                        </m:ctrlPr>
                      </m:dPr>
                      <m:e>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𝑥</m:t>
                            </m:r>
                          </m:e>
                          <m:sub>
                            <m:r>
                              <a:rPr lang="en-US" altLang="zh-TW" sz="2400" b="0" i="1" smtClean="0">
                                <a:solidFill>
                                  <a:srgbClr val="FF0000"/>
                                </a:solidFill>
                                <a:latin typeface="Cambria Math" panose="02040503050406030204" pitchFamily="18" charset="0"/>
                              </a:rPr>
                              <m:t>𝑡</m:t>
                            </m:r>
                          </m:sub>
                        </m:sSub>
                        <m:r>
                          <a:rPr lang="en-US" altLang="zh-TW" sz="2400" b="0" i="1" smtClean="0">
                            <a:solidFill>
                              <a:srgbClr val="FF0000"/>
                            </a:solidFill>
                            <a:latin typeface="Cambria Math" panose="02040503050406030204" pitchFamily="18" charset="0"/>
                          </a:rPr>
                          <m:t>|</m:t>
                        </m:r>
                        <m:sSub>
                          <m:sSubPr>
                            <m:ctrlPr>
                              <a:rPr lang="en-US" altLang="zh-TW" sz="2400" b="0" i="1" smtClean="0">
                                <a:solidFill>
                                  <a:srgbClr val="FF0000"/>
                                </a:solidFill>
                                <a:latin typeface="Cambria Math" panose="02040503050406030204" pitchFamily="18" charset="0"/>
                              </a:rPr>
                            </m:ctrlPr>
                          </m:sSubPr>
                          <m:e>
                            <m:r>
                              <a:rPr lang="en-US" altLang="zh-TW" sz="2400" b="0" i="1" smtClean="0">
                                <a:solidFill>
                                  <a:srgbClr val="FF0000"/>
                                </a:solidFill>
                                <a:latin typeface="Cambria Math" panose="02040503050406030204" pitchFamily="18" charset="0"/>
                              </a:rPr>
                              <m:t>𝑧</m:t>
                            </m:r>
                          </m:e>
                          <m:sub>
                            <m:r>
                              <a:rPr lang="en-US" altLang="zh-TW" sz="2400" b="0" i="1" smtClean="0">
                                <a:solidFill>
                                  <a:srgbClr val="FF0000"/>
                                </a:solidFill>
                                <a:latin typeface="Cambria Math" panose="02040503050406030204" pitchFamily="18" charset="0"/>
                              </a:rPr>
                              <m:t>1:</m:t>
                            </m:r>
                            <m:r>
                              <a:rPr lang="en-US" altLang="zh-TW" sz="2400" b="0" i="1" smtClean="0">
                                <a:solidFill>
                                  <a:srgbClr val="FF0000"/>
                                </a:solidFill>
                                <a:latin typeface="Cambria Math" panose="02040503050406030204" pitchFamily="18" charset="0"/>
                              </a:rPr>
                              <m:t>𝑡</m:t>
                            </m:r>
                          </m:sub>
                        </m:sSub>
                        <m:r>
                          <a:rPr lang="en-US" altLang="zh-TW" sz="2400" b="0" i="1" smtClean="0">
                            <a:solidFill>
                              <a:srgbClr val="FF0000"/>
                            </a:solidFill>
                            <a:latin typeface="Cambria Math" panose="02040503050406030204" pitchFamily="18" charset="0"/>
                          </a:rPr>
                          <m:t> </m:t>
                        </m:r>
                      </m:e>
                    </m:d>
                  </m:oMath>
                </a14:m>
                <a:r>
                  <a:rPr lang="zh-TW" altLang="en-US" sz="2400" dirty="0" smtClean="0">
                    <a:solidFill>
                      <a:srgbClr val="FF0000"/>
                    </a:solidFill>
                  </a:rPr>
                  <a:t>分佈。</a:t>
                </a:r>
                <a:endParaRPr lang="en-US" altLang="zh-TW" sz="2400" dirty="0" smtClean="0">
                  <a:solidFill>
                    <a:srgbClr val="FF0000"/>
                  </a:solidFill>
                </a:endParaRPr>
              </a:p>
              <a:p>
                <a:pPr marL="285750" indent="-285750">
                  <a:lnSpc>
                    <a:spcPct val="120000"/>
                  </a:lnSpc>
                  <a:buFont typeface="Arial" panose="020B0604020202020204" pitchFamily="34" charset="0"/>
                  <a:buChar char="•"/>
                </a:pPr>
                <a:r>
                  <a:rPr lang="zh-TW" altLang="en-US" sz="2400" dirty="0" smtClean="0"/>
                  <a:t>每</a:t>
                </a:r>
                <a:r>
                  <a:rPr lang="zh-TW" altLang="en-US" sz="2400" dirty="0"/>
                  <a:t>個粒子代表</a:t>
                </a:r>
                <a:r>
                  <a:rPr lang="zh-TW" altLang="en-US" sz="2400" dirty="0" smtClean="0"/>
                  <a:t>一個樣本</a:t>
                </a:r>
                <a:r>
                  <a:rPr lang="zh-TW" altLang="en-US" sz="2400" dirty="0"/>
                  <a:t>，每個粒子皆有各自的權重，即其可信度，粒子數愈多，愈能</a:t>
                </a:r>
                <a:r>
                  <a:rPr lang="zh-TW" altLang="en-US" sz="2400" dirty="0" smtClean="0"/>
                  <a:t>完整</a:t>
                </a:r>
                <a:r>
                  <a:rPr lang="zh-TW" altLang="en-US" sz="2400" dirty="0"/>
                  <a:t>的呈現出系統後驗狀態的 </a:t>
                </a:r>
                <a:r>
                  <a:rPr lang="en-US" altLang="zh-TW" sz="2400" dirty="0"/>
                  <a:t>PDF</a:t>
                </a:r>
                <a:r>
                  <a:rPr lang="zh-TW" altLang="en-US" sz="2400" dirty="0"/>
                  <a:t>，所以</a:t>
                </a:r>
                <a:r>
                  <a:rPr lang="zh-TW" altLang="en-US" sz="2400" dirty="0">
                    <a:solidFill>
                      <a:srgbClr val="FF0000"/>
                    </a:solidFill>
                  </a:rPr>
                  <a:t>非常適合使用於高度非線性</a:t>
                </a:r>
                <a:r>
                  <a:rPr lang="zh-TW" altLang="en-US" sz="2400" dirty="0" smtClean="0">
                    <a:solidFill>
                      <a:srgbClr val="FF0000"/>
                    </a:solidFill>
                  </a:rPr>
                  <a:t>及非</a:t>
                </a:r>
                <a:r>
                  <a:rPr lang="zh-TW" altLang="en-US" sz="2400" dirty="0">
                    <a:solidFill>
                      <a:srgbClr val="FF0000"/>
                    </a:solidFill>
                  </a:rPr>
                  <a:t>高斯分佈的系統中</a:t>
                </a:r>
                <a:r>
                  <a:rPr lang="zh-TW" altLang="en-US" sz="2400" dirty="0" smtClean="0"/>
                  <a:t>。</a:t>
                </a:r>
                <a:endParaRPr lang="en-US" altLang="zh-TW" sz="2400" dirty="0" smtClean="0"/>
              </a:p>
              <a:p>
                <a:pPr marL="285750" indent="-285750">
                  <a:lnSpc>
                    <a:spcPct val="120000"/>
                  </a:lnSpc>
                  <a:buFont typeface="Arial" panose="020B0604020202020204" pitchFamily="34" charset="0"/>
                  <a:buChar char="•"/>
                </a:pPr>
                <a:r>
                  <a:rPr lang="zh-TW" altLang="en-US" sz="2400" dirty="0" smtClean="0"/>
                  <a:t>但是</a:t>
                </a:r>
                <a:r>
                  <a:rPr lang="zh-TW" altLang="en-US" sz="2400" dirty="0"/>
                  <a:t>粒子濾波器由於運算量非常的龐大，</a:t>
                </a:r>
                <a:r>
                  <a:rPr lang="zh-TW" altLang="en-US" sz="2400" dirty="0" smtClean="0"/>
                  <a:t>所以在實作上</a:t>
                </a:r>
                <a:r>
                  <a:rPr lang="zh-TW" altLang="en-US" sz="2400" dirty="0"/>
                  <a:t>，很難處理即時性需求高的</a:t>
                </a:r>
                <a:r>
                  <a:rPr lang="zh-TW" altLang="en-US" sz="2400" dirty="0" smtClean="0"/>
                  <a:t>系統，但因粒子之間彼此獨立，可用</a:t>
                </a:r>
                <a:r>
                  <a:rPr lang="zh-TW" altLang="en-US" sz="2400" dirty="0" smtClean="0">
                    <a:solidFill>
                      <a:srgbClr val="FF0000"/>
                    </a:solidFill>
                  </a:rPr>
                  <a:t>平行處理</a:t>
                </a:r>
                <a:r>
                  <a:rPr lang="zh-TW" altLang="en-US" sz="2400" dirty="0" smtClean="0"/>
                  <a:t>運算克服此問題 </a:t>
                </a:r>
                <a:r>
                  <a:rPr lang="en-US" altLang="zh-TW" sz="2400" dirty="0" smtClean="0"/>
                  <a:t>(GPU, distributed computing, etc.)</a:t>
                </a:r>
                <a:r>
                  <a:rPr lang="zh-TW" altLang="en-US" sz="2400" dirty="0" smtClean="0"/>
                  <a:t>。</a:t>
                </a:r>
                <a:endParaRPr lang="en-US" altLang="zh-TW" sz="2400" dirty="0" smtClean="0"/>
              </a:p>
            </p:txBody>
          </p:sp>
        </mc:Choice>
        <mc:Fallback>
          <p:sp>
            <p:nvSpPr>
              <p:cNvPr id="4" name="矩形 3"/>
              <p:cNvSpPr>
                <a:spLocks noRot="1" noChangeAspect="1" noMove="1" noResize="1" noEditPoints="1" noAdjustHandles="1" noChangeArrowheads="1" noChangeShapeType="1" noTextEdit="1"/>
              </p:cNvSpPr>
              <p:nvPr/>
            </p:nvSpPr>
            <p:spPr>
              <a:xfrm>
                <a:off x="441276" y="1690688"/>
                <a:ext cx="11295799" cy="4049891"/>
              </a:xfrm>
              <a:prstGeom prst="rect">
                <a:avLst/>
              </a:prstGeom>
              <a:blipFill rotWithShape="0">
                <a:blip r:embed="rId2"/>
                <a:stretch>
                  <a:fillRect l="-702" t="-301" r="-648" b="-2406"/>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188927354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Particle filter</a:t>
            </a:r>
            <a:endParaRPr lang="zh-TW" altLang="en-US" dirty="0"/>
          </a:p>
        </p:txBody>
      </p:sp>
      <p:sp>
        <p:nvSpPr>
          <p:cNvPr id="3" name="投影片編號版面配置區 2"/>
          <p:cNvSpPr>
            <a:spLocks noGrp="1"/>
          </p:cNvSpPr>
          <p:nvPr>
            <p:ph type="sldNum" sz="quarter" idx="12"/>
          </p:nvPr>
        </p:nvSpPr>
        <p:spPr/>
        <p:txBody>
          <a:bodyPr/>
          <a:lstStyle/>
          <a:p>
            <a:fld id="{60325430-07F2-45E8-A5C9-B73C13C9C571}" type="slidenum">
              <a:rPr lang="zh-TW" altLang="en-US" smtClean="0"/>
              <a:pPr/>
              <a:t>29</a:t>
            </a:fld>
            <a:endParaRPr lang="zh-TW" altLang="en-US"/>
          </a:p>
        </p:txBody>
      </p:sp>
      <mc:AlternateContent xmlns:mc="http://schemas.openxmlformats.org/markup-compatibility/2006">
        <mc:Choice xmlns:a14="http://schemas.microsoft.com/office/drawing/2010/main" xmlns="" Requires="a14">
          <p:sp>
            <p:nvSpPr>
              <p:cNvPr id="5" name="內容版面配置區 4"/>
              <p:cNvSpPr txBox="1">
                <a:spLocks noGrp="1"/>
              </p:cNvSpPr>
              <p:nvPr>
                <p:ph idx="1"/>
              </p:nvPr>
            </p:nvSpPr>
            <p:spPr>
              <a:xfrm>
                <a:off x="838200" y="1825625"/>
                <a:ext cx="10515600" cy="5100755"/>
              </a:xfrm>
              <a:prstGeom prst="rect">
                <a:avLst/>
              </a:prstGeom>
              <a:noFill/>
            </p:spPr>
            <p:txBody>
              <a:bodyPr wrap="square" rtlCol="0">
                <a:spAutoFit/>
              </a:bodyPr>
              <a:lstStyle/>
              <a:p>
                <a:r>
                  <a:rPr lang="zh-TW" altLang="en-US" dirty="0" smtClean="0">
                    <a:latin typeface="Cambria Math" panose="02040503050406030204" pitchFamily="18" charset="0"/>
                  </a:rPr>
                  <a:t>因為無法直接從</a:t>
                </a:r>
                <a14:m>
                  <m:oMath xmlns:m="http://schemas.openxmlformats.org/officeDocument/2006/math">
                    <m:r>
                      <a:rPr lang="en-US" altLang="zh-TW" b="0" i="1" smtClean="0">
                        <a:latin typeface="Cambria Math" panose="02040503050406030204" pitchFamily="18" charset="0"/>
                      </a:rPr>
                      <m:t>𝑃</m:t>
                    </m:r>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𝑡</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1:</m:t>
                            </m:r>
                            <m:r>
                              <a:rPr lang="en-US" altLang="zh-TW" b="0" i="1" smtClean="0">
                                <a:latin typeface="Cambria Math" panose="02040503050406030204" pitchFamily="18" charset="0"/>
                              </a:rPr>
                              <m:t>𝑡</m:t>
                            </m:r>
                          </m:sub>
                        </m:sSub>
                      </m:e>
                    </m:d>
                  </m:oMath>
                </a14:m>
                <a:r>
                  <a:rPr lang="zh-TW" altLang="en-US" b="0" dirty="0" smtClean="0">
                    <a:latin typeface="Cambria Math" panose="02040503050406030204" pitchFamily="18" charset="0"/>
                  </a:rPr>
                  <a:t>取出樣本，改用一個</a:t>
                </a:r>
                <a:r>
                  <a:rPr lang="zh-TW" altLang="en-US" b="0" dirty="0" smtClean="0">
                    <a:solidFill>
                      <a:srgbClr val="FF0000"/>
                    </a:solidFill>
                    <a:latin typeface="Cambria Math" panose="02040503050406030204" pitchFamily="18" charset="0"/>
                  </a:rPr>
                  <a:t>容易取樣的</a:t>
                </a:r>
                <a:r>
                  <a:rPr lang="en-US" altLang="zh-TW" b="0" dirty="0" smtClean="0">
                    <a:solidFill>
                      <a:srgbClr val="FF0000"/>
                    </a:solidFill>
                    <a:latin typeface="Cambria Math" panose="02040503050406030204" pitchFamily="18" charset="0"/>
                  </a:rPr>
                  <a:t>importance pdf </a:t>
                </a:r>
                <a14:m>
                  <m:oMath xmlns:m="http://schemas.openxmlformats.org/officeDocument/2006/math">
                    <m:r>
                      <a:rPr lang="en-US" altLang="zh-TW" b="0" i="1" smtClean="0">
                        <a:solidFill>
                          <a:srgbClr val="FF0000"/>
                        </a:solidFill>
                        <a:latin typeface="Cambria Math" panose="02040503050406030204" pitchFamily="18" charset="0"/>
                      </a:rPr>
                      <m:t>𝑄</m:t>
                    </m:r>
                    <m:d>
                      <m:dPr>
                        <m:ctrlPr>
                          <a:rPr lang="en-US" altLang="zh-TW" b="0" i="1" smtClean="0">
                            <a:solidFill>
                              <a:srgbClr val="FF0000"/>
                            </a:solidFill>
                            <a:latin typeface="Cambria Math" panose="02040503050406030204" pitchFamily="18" charset="0"/>
                          </a:rPr>
                        </m:ctrlPr>
                      </m:dPr>
                      <m:e>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𝑥</m:t>
                            </m:r>
                          </m:e>
                          <m:sub>
                            <m:r>
                              <a:rPr lang="en-US" altLang="zh-TW" b="0" i="1" smtClean="0">
                                <a:solidFill>
                                  <a:srgbClr val="FF0000"/>
                                </a:solidFill>
                                <a:latin typeface="Cambria Math" panose="02040503050406030204" pitchFamily="18" charset="0"/>
                              </a:rPr>
                              <m:t>𝑡</m:t>
                            </m:r>
                          </m:sub>
                        </m:sSub>
                        <m:r>
                          <a:rPr lang="en-US" altLang="zh-TW" b="0" i="1" smtClean="0">
                            <a:solidFill>
                              <a:srgbClr val="FF0000"/>
                            </a:solidFill>
                            <a:latin typeface="Cambria Math" panose="02040503050406030204" pitchFamily="18" charset="0"/>
                          </a:rPr>
                          <m:t>|</m:t>
                        </m:r>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𝑧</m:t>
                            </m:r>
                          </m:e>
                          <m:sub>
                            <m:r>
                              <a:rPr lang="en-US" altLang="zh-TW" b="0" i="1" smtClean="0">
                                <a:solidFill>
                                  <a:srgbClr val="FF0000"/>
                                </a:solidFill>
                                <a:latin typeface="Cambria Math" panose="02040503050406030204" pitchFamily="18" charset="0"/>
                              </a:rPr>
                              <m:t>1:</m:t>
                            </m:r>
                            <m:r>
                              <a:rPr lang="en-US" altLang="zh-TW" b="0" i="1" smtClean="0">
                                <a:solidFill>
                                  <a:srgbClr val="FF0000"/>
                                </a:solidFill>
                                <a:latin typeface="Cambria Math" panose="02040503050406030204" pitchFamily="18" charset="0"/>
                              </a:rPr>
                              <m:t>𝑡</m:t>
                            </m:r>
                          </m:sub>
                        </m:sSub>
                      </m:e>
                    </m:d>
                  </m:oMath>
                </a14:m>
                <a:r>
                  <a:rPr lang="zh-TW" altLang="en-US" b="0" dirty="0" smtClean="0">
                    <a:latin typeface="Cambria Math" panose="02040503050406030204" pitchFamily="18" charset="0"/>
                  </a:rPr>
                  <a:t>，且</a:t>
                </a:r>
                <a14:m>
                  <m:oMath xmlns:m="http://schemas.openxmlformats.org/officeDocument/2006/math">
                    <m:r>
                      <a:rPr lang="en-US" altLang="zh-TW" b="0" i="1" smtClean="0">
                        <a:latin typeface="Cambria Math" panose="02040503050406030204" pitchFamily="18" charset="0"/>
                      </a:rPr>
                      <m:t>𝑃</m:t>
                    </m:r>
                    <m:d>
                      <m:dPr>
                        <m:ctrlPr>
                          <a:rPr lang="en-US" altLang="zh-TW" b="0"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1:</m:t>
                            </m:r>
                            <m:r>
                              <a:rPr lang="en-US" altLang="zh-TW" i="1">
                                <a:latin typeface="Cambria Math" panose="02040503050406030204" pitchFamily="18" charset="0"/>
                              </a:rPr>
                              <m:t>𝑡</m:t>
                            </m:r>
                          </m:sub>
                        </m:sSub>
                      </m:e>
                    </m:d>
                  </m:oMath>
                </a14:m>
                <a:r>
                  <a:rPr lang="zh-TW" altLang="en-US" b="0" dirty="0" smtClean="0">
                    <a:latin typeface="Cambria Math" panose="02040503050406030204" pitchFamily="18" charset="0"/>
                  </a:rPr>
                  <a:t>與</a:t>
                </a:r>
                <a14:m>
                  <m:oMath xmlns:m="http://schemas.openxmlformats.org/officeDocument/2006/math">
                    <m:r>
                      <a:rPr lang="en-US" altLang="zh-TW" b="0" i="1" dirty="0" smtClean="0">
                        <a:latin typeface="Cambria Math" panose="02040503050406030204" pitchFamily="18" charset="0"/>
                      </a:rPr>
                      <m:t>𝑄</m:t>
                    </m:r>
                    <m:d>
                      <m:dPr>
                        <m:ctrlPr>
                          <a:rPr lang="en-US" altLang="zh-TW" b="0" i="1" dirty="0"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1:</m:t>
                            </m:r>
                            <m:r>
                              <a:rPr lang="en-US" altLang="zh-TW" i="1">
                                <a:latin typeface="Cambria Math" panose="02040503050406030204" pitchFamily="18" charset="0"/>
                              </a:rPr>
                              <m:t>𝑡</m:t>
                            </m:r>
                          </m:sub>
                        </m:sSub>
                      </m:e>
                    </m:d>
                  </m:oMath>
                </a14:m>
                <a:r>
                  <a:rPr lang="zh-TW" altLang="en-US" b="0" dirty="0" smtClean="0">
                    <a:latin typeface="Cambria Math" panose="02040503050406030204" pitchFamily="18" charset="0"/>
                  </a:rPr>
                  <a:t>存在比例關係，即</a:t>
                </a:r>
                <a14:m>
                  <m:oMath xmlns:m="http://schemas.openxmlformats.org/officeDocument/2006/math">
                    <m:r>
                      <a:rPr lang="en-US" altLang="zh-TW" b="0" i="1" smtClean="0">
                        <a:solidFill>
                          <a:srgbClr val="00B050"/>
                        </a:solidFill>
                        <a:latin typeface="Cambria Math" panose="02040503050406030204" pitchFamily="18" charset="0"/>
                      </a:rPr>
                      <m:t>𝑃</m:t>
                    </m:r>
                    <m:r>
                      <a:rPr lang="en-US" altLang="zh-TW" b="0" i="1" smtClean="0">
                        <a:solidFill>
                          <a:srgbClr val="00B050"/>
                        </a:solidFill>
                        <a:latin typeface="Cambria Math" panose="02040503050406030204" pitchFamily="18" charset="0"/>
                      </a:rPr>
                      <m:t>(</m:t>
                    </m:r>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𝑥</m:t>
                        </m:r>
                      </m:e>
                      <m:sub>
                        <m:r>
                          <a:rPr lang="en-US" altLang="zh-TW" i="1">
                            <a:solidFill>
                              <a:srgbClr val="00B050"/>
                            </a:solidFill>
                            <a:latin typeface="Cambria Math" panose="02040503050406030204" pitchFamily="18" charset="0"/>
                          </a:rPr>
                          <m:t>𝑡</m:t>
                        </m:r>
                      </m:sub>
                    </m:sSub>
                    <m:r>
                      <a:rPr lang="en-US" altLang="zh-TW" i="1">
                        <a:solidFill>
                          <a:srgbClr val="00B050"/>
                        </a:solidFill>
                        <a:latin typeface="Cambria Math" panose="02040503050406030204" pitchFamily="18" charset="0"/>
                      </a:rPr>
                      <m:t>|</m:t>
                    </m:r>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𝑧</m:t>
                        </m:r>
                      </m:e>
                      <m:sub>
                        <m:r>
                          <a:rPr lang="en-US" altLang="zh-TW" i="1">
                            <a:solidFill>
                              <a:srgbClr val="00B050"/>
                            </a:solidFill>
                            <a:latin typeface="Cambria Math" panose="02040503050406030204" pitchFamily="18" charset="0"/>
                          </a:rPr>
                          <m:t>1:</m:t>
                        </m:r>
                        <m:r>
                          <a:rPr lang="en-US" altLang="zh-TW" i="1">
                            <a:solidFill>
                              <a:srgbClr val="00B050"/>
                            </a:solidFill>
                            <a:latin typeface="Cambria Math" panose="02040503050406030204" pitchFamily="18" charset="0"/>
                          </a:rPr>
                          <m:t>𝑡</m:t>
                        </m:r>
                      </m:sub>
                    </m:sSub>
                    <m:r>
                      <a:rPr lang="en-US" altLang="zh-TW" b="0" i="1" smtClean="0">
                        <a:solidFill>
                          <a:srgbClr val="00B050"/>
                        </a:solidFill>
                        <a:latin typeface="Cambria Math" panose="02040503050406030204" pitchFamily="18" charset="0"/>
                      </a:rPr>
                      <m:t>)</m:t>
                    </m:r>
                    <m:r>
                      <a:rPr lang="en-US" altLang="zh-TW" b="0" i="1" smtClean="0">
                        <a:solidFill>
                          <a:srgbClr val="00B050"/>
                        </a:solidFill>
                        <a:latin typeface="Cambria Math" panose="02040503050406030204" pitchFamily="18" charset="0"/>
                        <a:ea typeface="Cambria Math" panose="02040503050406030204" pitchFamily="18" charset="0"/>
                      </a:rPr>
                      <m:t>∝</m:t>
                    </m:r>
                    <m:r>
                      <a:rPr lang="en-US" altLang="zh-TW" b="0" i="1" smtClean="0">
                        <a:solidFill>
                          <a:srgbClr val="00B050"/>
                        </a:solidFill>
                        <a:latin typeface="Cambria Math" panose="02040503050406030204" pitchFamily="18" charset="0"/>
                        <a:ea typeface="Cambria Math" panose="02040503050406030204" pitchFamily="18" charset="0"/>
                      </a:rPr>
                      <m:t>𝑄</m:t>
                    </m:r>
                    <m:d>
                      <m:dPr>
                        <m:ctrlPr>
                          <a:rPr lang="en-US" altLang="zh-TW" b="0" i="1" smtClean="0">
                            <a:solidFill>
                              <a:srgbClr val="00B050"/>
                            </a:solidFill>
                            <a:latin typeface="Cambria Math" panose="02040503050406030204" pitchFamily="18" charset="0"/>
                            <a:ea typeface="Cambria Math" panose="02040503050406030204" pitchFamily="18" charset="0"/>
                          </a:rPr>
                        </m:ctrlPr>
                      </m:dPr>
                      <m:e>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𝑥</m:t>
                            </m:r>
                          </m:e>
                          <m:sub>
                            <m:r>
                              <a:rPr lang="en-US" altLang="zh-TW" i="1">
                                <a:solidFill>
                                  <a:srgbClr val="00B050"/>
                                </a:solidFill>
                                <a:latin typeface="Cambria Math" panose="02040503050406030204" pitchFamily="18" charset="0"/>
                              </a:rPr>
                              <m:t>𝑡</m:t>
                            </m:r>
                          </m:sub>
                        </m:sSub>
                        <m:r>
                          <a:rPr lang="en-US" altLang="zh-TW" i="1">
                            <a:solidFill>
                              <a:srgbClr val="00B050"/>
                            </a:solidFill>
                            <a:latin typeface="Cambria Math" panose="02040503050406030204" pitchFamily="18" charset="0"/>
                          </a:rPr>
                          <m:t>|</m:t>
                        </m:r>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𝑧</m:t>
                            </m:r>
                          </m:e>
                          <m:sub>
                            <m:r>
                              <a:rPr lang="en-US" altLang="zh-TW" i="1">
                                <a:solidFill>
                                  <a:srgbClr val="00B050"/>
                                </a:solidFill>
                                <a:latin typeface="Cambria Math" panose="02040503050406030204" pitchFamily="18" charset="0"/>
                              </a:rPr>
                              <m:t>1:</m:t>
                            </m:r>
                            <m:r>
                              <a:rPr lang="en-US" altLang="zh-TW" i="1">
                                <a:solidFill>
                                  <a:srgbClr val="00B050"/>
                                </a:solidFill>
                                <a:latin typeface="Cambria Math" panose="02040503050406030204" pitchFamily="18" charset="0"/>
                              </a:rPr>
                              <m:t>𝑡</m:t>
                            </m:r>
                          </m:sub>
                        </m:sSub>
                      </m:e>
                    </m:d>
                  </m:oMath>
                </a14:m>
                <a:endParaRPr lang="en-US" altLang="zh-TW" b="0" dirty="0" smtClean="0">
                  <a:solidFill>
                    <a:srgbClr val="00B050"/>
                  </a:solidFill>
                  <a:latin typeface="Cambria Math" panose="02040503050406030204" pitchFamily="18" charset="0"/>
                </a:endParaRPr>
              </a:p>
              <a:p>
                <a:endParaRPr lang="en-US" altLang="zh-TW" dirty="0">
                  <a:latin typeface="Cambria Math" panose="02040503050406030204" pitchFamily="18" charset="0"/>
                </a:endParaRPr>
              </a:p>
              <a:p>
                <a:r>
                  <a:rPr lang="en-US" altLang="zh-TW" dirty="0">
                    <a:solidFill>
                      <a:srgbClr val="FF0000"/>
                    </a:solidFill>
                  </a:rPr>
                  <a:t>State estimation</a:t>
                </a:r>
                <a:r>
                  <a:rPr lang="en-US" altLang="zh-TW" dirty="0"/>
                  <a:t>: </a:t>
                </a:r>
                <a14:m>
                  <m:oMath xmlns:m="http://schemas.openxmlformats.org/officeDocument/2006/math">
                    <m:sSubSup>
                      <m:sSubSupPr>
                        <m:ctrlPr>
                          <a:rPr lang="en-US" altLang="zh-TW" i="1" dirty="0" smtClean="0">
                            <a:solidFill>
                              <a:srgbClr val="00B050"/>
                            </a:solidFill>
                            <a:latin typeface="Cambria Math" panose="02040503050406030204" pitchFamily="18" charset="0"/>
                          </a:rPr>
                        </m:ctrlPr>
                      </m:sSubSupPr>
                      <m:e>
                        <m:acc>
                          <m:accPr>
                            <m:chr m:val="̂"/>
                            <m:ctrlPr>
                              <a:rPr lang="en-US" altLang="zh-TW" i="1">
                                <a:solidFill>
                                  <a:srgbClr val="00B050"/>
                                </a:solidFill>
                                <a:latin typeface="Cambria Math" panose="02040503050406030204" pitchFamily="18" charset="0"/>
                              </a:rPr>
                            </m:ctrlPr>
                          </m:accPr>
                          <m:e>
                            <m:r>
                              <a:rPr lang="en-US" altLang="zh-TW" i="1">
                                <a:solidFill>
                                  <a:srgbClr val="00B050"/>
                                </a:solidFill>
                                <a:latin typeface="Cambria Math" panose="02040503050406030204" pitchFamily="18" charset="0"/>
                              </a:rPr>
                              <m:t>𝑥</m:t>
                            </m:r>
                          </m:e>
                        </m:acc>
                      </m:e>
                      <m:sub>
                        <m:r>
                          <a:rPr lang="en-US" altLang="zh-TW" i="1" dirty="0">
                            <a:solidFill>
                              <a:srgbClr val="00B050"/>
                            </a:solidFill>
                            <a:latin typeface="Cambria Math" panose="02040503050406030204" pitchFamily="18" charset="0"/>
                          </a:rPr>
                          <m:t>𝑡</m:t>
                        </m:r>
                      </m:sub>
                      <m:sup>
                        <m:r>
                          <a:rPr lang="en-US" altLang="zh-TW" i="1" dirty="0">
                            <a:solidFill>
                              <a:srgbClr val="00B050"/>
                            </a:solidFill>
                            <a:latin typeface="Cambria Math" panose="02040503050406030204" pitchFamily="18" charset="0"/>
                          </a:rPr>
                          <m:t>+</m:t>
                        </m:r>
                      </m:sup>
                    </m:sSubSup>
                    <m:r>
                      <a:rPr lang="en-US" altLang="zh-TW" i="1" dirty="0">
                        <a:latin typeface="Cambria Math" panose="02040503050406030204" pitchFamily="18" charset="0"/>
                      </a:rPr>
                      <m:t>=</m:t>
                    </m:r>
                    <m:r>
                      <a:rPr lang="en-US" altLang="zh-TW" i="1" dirty="0">
                        <a:latin typeface="Cambria Math" panose="02040503050406030204" pitchFamily="18" charset="0"/>
                      </a:rPr>
                      <m:t>𝐸</m:t>
                    </m:r>
                    <m:d>
                      <m:dPr>
                        <m:ctrlPr>
                          <a:rPr lang="en-US" altLang="zh-TW" i="1" dirty="0">
                            <a:latin typeface="Cambria Math" panose="02040503050406030204" pitchFamily="18" charset="0"/>
                          </a:rPr>
                        </m:ctrlPr>
                      </m:dPr>
                      <m:e>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𝑥</m:t>
                            </m:r>
                          </m:e>
                          <m:sub>
                            <m:r>
                              <a:rPr lang="en-US" altLang="zh-TW" i="1" dirty="0">
                                <a:latin typeface="Cambria Math" panose="02040503050406030204" pitchFamily="18" charset="0"/>
                              </a:rPr>
                              <m:t>𝑡</m:t>
                            </m:r>
                          </m:sub>
                        </m:sSub>
                        <m:r>
                          <a:rPr lang="en-US" altLang="zh-TW" i="1" dirty="0">
                            <a:latin typeface="Cambria Math" panose="02040503050406030204" pitchFamily="18" charset="0"/>
                          </a:rPr>
                          <m:t>|</m:t>
                        </m:r>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𝑧</m:t>
                            </m:r>
                          </m:e>
                          <m:sub>
                            <m:r>
                              <a:rPr lang="en-US" altLang="zh-TW" i="1" dirty="0">
                                <a:latin typeface="Cambria Math" panose="02040503050406030204" pitchFamily="18" charset="0"/>
                              </a:rPr>
                              <m:t>1:</m:t>
                            </m:r>
                            <m:r>
                              <a:rPr lang="en-US" altLang="zh-TW" i="1" dirty="0">
                                <a:latin typeface="Cambria Math" panose="02040503050406030204" pitchFamily="18" charset="0"/>
                              </a:rPr>
                              <m:t>𝑡</m:t>
                            </m:r>
                          </m:sub>
                        </m:sSub>
                      </m:e>
                    </m:d>
                    <m:r>
                      <a:rPr lang="en-US" altLang="zh-TW" i="1" dirty="0">
                        <a:latin typeface="Cambria Math" panose="02040503050406030204" pitchFamily="18" charset="0"/>
                      </a:rPr>
                      <m:t>=</m:t>
                    </m:r>
                    <m:nary>
                      <m:naryPr>
                        <m:subHide m:val="on"/>
                        <m:supHide m:val="on"/>
                        <m:ctrlPr>
                          <a:rPr lang="en-US" altLang="zh-TW" i="1" dirty="0">
                            <a:latin typeface="Cambria Math" panose="02040503050406030204" pitchFamily="18" charset="0"/>
                          </a:rPr>
                        </m:ctrlPr>
                      </m:naryPr>
                      <m:sub/>
                      <m:sup/>
                      <m:e>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𝑥</m:t>
                            </m:r>
                          </m:e>
                          <m:sub>
                            <m:r>
                              <a:rPr lang="en-US" altLang="zh-TW" i="1" dirty="0">
                                <a:latin typeface="Cambria Math" panose="02040503050406030204" pitchFamily="18" charset="0"/>
                              </a:rPr>
                              <m:t>𝑡</m:t>
                            </m:r>
                          </m:sub>
                        </m:sSub>
                      </m:e>
                    </m:nary>
                    <m:r>
                      <a:rPr lang="en-US" altLang="zh-TW" i="1" dirty="0">
                        <a:latin typeface="Cambria Math" panose="02040503050406030204" pitchFamily="18" charset="0"/>
                      </a:rPr>
                      <m:t>𝑃</m:t>
                    </m:r>
                    <m:d>
                      <m:dPr>
                        <m:ctrlPr>
                          <a:rPr lang="en-US" altLang="zh-TW" i="1" dirty="0">
                            <a:latin typeface="Cambria Math" panose="02040503050406030204" pitchFamily="18" charset="0"/>
                          </a:rPr>
                        </m:ctrlPr>
                      </m:dPr>
                      <m:e>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𝑥</m:t>
                            </m:r>
                          </m:e>
                          <m:sub>
                            <m:r>
                              <a:rPr lang="en-US" altLang="zh-TW" i="1" dirty="0">
                                <a:latin typeface="Cambria Math" panose="02040503050406030204" pitchFamily="18" charset="0"/>
                              </a:rPr>
                              <m:t>𝑡</m:t>
                            </m:r>
                          </m:sub>
                        </m:sSub>
                        <m:r>
                          <a:rPr lang="en-US" altLang="zh-TW" i="1" dirty="0">
                            <a:latin typeface="Cambria Math" panose="02040503050406030204" pitchFamily="18" charset="0"/>
                          </a:rPr>
                          <m:t>|</m:t>
                        </m:r>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𝑧</m:t>
                            </m:r>
                          </m:e>
                          <m:sub>
                            <m:r>
                              <a:rPr lang="en-US" altLang="zh-TW" i="1" dirty="0">
                                <a:latin typeface="Cambria Math" panose="02040503050406030204" pitchFamily="18" charset="0"/>
                              </a:rPr>
                              <m:t>1:</m:t>
                            </m:r>
                            <m:r>
                              <a:rPr lang="en-US" altLang="zh-TW" i="1" dirty="0">
                                <a:latin typeface="Cambria Math" panose="02040503050406030204" pitchFamily="18" charset="0"/>
                              </a:rPr>
                              <m:t>𝑡</m:t>
                            </m:r>
                          </m:sub>
                        </m:sSub>
                      </m:e>
                    </m:d>
                    <m:r>
                      <a:rPr lang="en-US" altLang="zh-TW" i="1" dirty="0">
                        <a:latin typeface="Cambria Math" panose="02040503050406030204" pitchFamily="18" charset="0"/>
                      </a:rPr>
                      <m:t>𝑑</m:t>
                    </m:r>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𝑥</m:t>
                        </m:r>
                      </m:e>
                      <m:sub>
                        <m:r>
                          <a:rPr lang="en-US" altLang="zh-TW" i="1" dirty="0">
                            <a:latin typeface="Cambria Math" panose="02040503050406030204" pitchFamily="18" charset="0"/>
                          </a:rPr>
                          <m:t>𝑡</m:t>
                        </m:r>
                      </m:sub>
                    </m:sSub>
                    <m:r>
                      <a:rPr lang="en-US" altLang="zh-TW" b="0" i="1" dirty="0" smtClean="0">
                        <a:latin typeface="Cambria Math" panose="02040503050406030204" pitchFamily="18" charset="0"/>
                      </a:rPr>
                      <m:t>=∫</m:t>
                    </m:r>
                    <m:sSub>
                      <m:sSubPr>
                        <m:ctrlPr>
                          <a:rPr lang="en-US" altLang="zh-TW" b="0" i="1" dirty="0" smtClean="0">
                            <a:latin typeface="Cambria Math" panose="02040503050406030204" pitchFamily="18" charset="0"/>
                          </a:rPr>
                        </m:ctrlPr>
                      </m:sSubPr>
                      <m:e>
                        <m:r>
                          <a:rPr lang="en-US" altLang="zh-TW" b="0" i="1" dirty="0" smtClean="0">
                            <a:latin typeface="Cambria Math" panose="02040503050406030204" pitchFamily="18" charset="0"/>
                          </a:rPr>
                          <m:t>𝑥</m:t>
                        </m:r>
                      </m:e>
                      <m:sub>
                        <m:r>
                          <a:rPr lang="en-US" altLang="zh-TW" b="0" i="1" dirty="0" smtClean="0">
                            <a:latin typeface="Cambria Math" panose="02040503050406030204" pitchFamily="18" charset="0"/>
                          </a:rPr>
                          <m:t>𝑡</m:t>
                        </m:r>
                      </m:sub>
                    </m:sSub>
                    <m:f>
                      <m:fPr>
                        <m:ctrlPr>
                          <a:rPr lang="en-US" altLang="zh-TW" b="0" i="1" dirty="0" smtClean="0">
                            <a:latin typeface="Cambria Math" panose="02040503050406030204" pitchFamily="18" charset="0"/>
                          </a:rPr>
                        </m:ctrlPr>
                      </m:fPr>
                      <m:num>
                        <m:r>
                          <a:rPr lang="en-US" altLang="zh-TW" b="0" i="1" dirty="0" smtClean="0">
                            <a:latin typeface="Cambria Math" panose="02040503050406030204" pitchFamily="18" charset="0"/>
                          </a:rPr>
                          <m:t>𝑃</m:t>
                        </m:r>
                        <m:d>
                          <m:dPr>
                            <m:ctrlPr>
                              <a:rPr lang="en-US" altLang="zh-TW" b="0" i="1" dirty="0" smtClean="0">
                                <a:latin typeface="Cambria Math" panose="02040503050406030204" pitchFamily="18" charset="0"/>
                              </a:rPr>
                            </m:ctrlPr>
                          </m:dPr>
                          <m:e>
                            <m:sSub>
                              <m:sSubPr>
                                <m:ctrlPr>
                                  <a:rPr lang="en-US" altLang="zh-TW" b="0" i="1" dirty="0" smtClean="0">
                                    <a:latin typeface="Cambria Math" panose="02040503050406030204" pitchFamily="18" charset="0"/>
                                  </a:rPr>
                                </m:ctrlPr>
                              </m:sSubPr>
                              <m:e>
                                <m:r>
                                  <a:rPr lang="en-US" altLang="zh-TW" b="0" i="1" dirty="0" smtClean="0">
                                    <a:latin typeface="Cambria Math" panose="02040503050406030204" pitchFamily="18" charset="0"/>
                                  </a:rPr>
                                  <m:t>𝑥</m:t>
                                </m:r>
                              </m:e>
                              <m:sub>
                                <m:r>
                                  <a:rPr lang="en-US" altLang="zh-TW" b="0" i="1" dirty="0" smtClean="0">
                                    <a:latin typeface="Cambria Math" panose="02040503050406030204" pitchFamily="18" charset="0"/>
                                  </a:rPr>
                                  <m:t>𝑡</m:t>
                                </m:r>
                              </m:sub>
                            </m:sSub>
                            <m:r>
                              <a:rPr lang="en-US" altLang="zh-TW" b="0" i="1" dirty="0" smtClean="0">
                                <a:latin typeface="Cambria Math" panose="02040503050406030204" pitchFamily="18" charset="0"/>
                              </a:rPr>
                              <m:t>|</m:t>
                            </m:r>
                            <m:sSub>
                              <m:sSubPr>
                                <m:ctrlPr>
                                  <a:rPr lang="en-US" altLang="zh-TW" b="0" i="1" dirty="0" smtClean="0">
                                    <a:latin typeface="Cambria Math" panose="02040503050406030204" pitchFamily="18" charset="0"/>
                                  </a:rPr>
                                </m:ctrlPr>
                              </m:sSubPr>
                              <m:e>
                                <m:r>
                                  <a:rPr lang="en-US" altLang="zh-TW" b="0" i="1" dirty="0" smtClean="0">
                                    <a:latin typeface="Cambria Math" panose="02040503050406030204" pitchFamily="18" charset="0"/>
                                  </a:rPr>
                                  <m:t>𝑧</m:t>
                                </m:r>
                              </m:e>
                              <m:sub>
                                <m:r>
                                  <a:rPr lang="en-US" altLang="zh-TW" b="0" i="1" dirty="0" smtClean="0">
                                    <a:latin typeface="Cambria Math" panose="02040503050406030204" pitchFamily="18" charset="0"/>
                                  </a:rPr>
                                  <m:t>1:</m:t>
                                </m:r>
                                <m:r>
                                  <a:rPr lang="en-US" altLang="zh-TW" b="0" i="1" dirty="0" smtClean="0">
                                    <a:latin typeface="Cambria Math" panose="02040503050406030204" pitchFamily="18" charset="0"/>
                                  </a:rPr>
                                  <m:t>𝑡</m:t>
                                </m:r>
                              </m:sub>
                            </m:sSub>
                          </m:e>
                        </m:d>
                      </m:num>
                      <m:den>
                        <m:r>
                          <a:rPr lang="en-US" altLang="zh-TW" b="0" i="1" dirty="0" smtClean="0">
                            <a:latin typeface="Cambria Math" panose="02040503050406030204" pitchFamily="18" charset="0"/>
                          </a:rPr>
                          <m:t>𝑄</m:t>
                        </m:r>
                        <m:d>
                          <m:dPr>
                            <m:ctrlPr>
                              <a:rPr lang="en-US" altLang="zh-TW" i="1" dirty="0">
                                <a:latin typeface="Cambria Math" panose="02040503050406030204" pitchFamily="18" charset="0"/>
                              </a:rPr>
                            </m:ctrlPr>
                          </m:dPr>
                          <m:e>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𝑥</m:t>
                                </m:r>
                              </m:e>
                              <m:sub>
                                <m:r>
                                  <a:rPr lang="en-US" altLang="zh-TW" i="1" dirty="0">
                                    <a:latin typeface="Cambria Math" panose="02040503050406030204" pitchFamily="18" charset="0"/>
                                  </a:rPr>
                                  <m:t>𝑡</m:t>
                                </m:r>
                              </m:sub>
                            </m:sSub>
                            <m:r>
                              <a:rPr lang="en-US" altLang="zh-TW" i="1" dirty="0">
                                <a:latin typeface="Cambria Math" panose="02040503050406030204" pitchFamily="18" charset="0"/>
                              </a:rPr>
                              <m:t>|</m:t>
                            </m:r>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𝑧</m:t>
                                </m:r>
                              </m:e>
                              <m:sub>
                                <m:r>
                                  <a:rPr lang="en-US" altLang="zh-TW" i="1" dirty="0">
                                    <a:latin typeface="Cambria Math" panose="02040503050406030204" pitchFamily="18" charset="0"/>
                                  </a:rPr>
                                  <m:t>1:</m:t>
                                </m:r>
                                <m:r>
                                  <a:rPr lang="en-US" altLang="zh-TW" i="1" dirty="0">
                                    <a:latin typeface="Cambria Math" panose="02040503050406030204" pitchFamily="18" charset="0"/>
                                  </a:rPr>
                                  <m:t>𝑡</m:t>
                                </m:r>
                              </m:sub>
                            </m:sSub>
                          </m:e>
                        </m:d>
                      </m:den>
                    </m:f>
                    <m:r>
                      <a:rPr lang="en-US" altLang="zh-TW" b="0" i="1" dirty="0" smtClean="0">
                        <a:latin typeface="Cambria Math" panose="02040503050406030204" pitchFamily="18" charset="0"/>
                      </a:rPr>
                      <m:t>𝑄</m:t>
                    </m:r>
                    <m:d>
                      <m:dPr>
                        <m:ctrlPr>
                          <a:rPr lang="en-US" altLang="zh-TW" i="1" dirty="0">
                            <a:latin typeface="Cambria Math" panose="02040503050406030204" pitchFamily="18" charset="0"/>
                          </a:rPr>
                        </m:ctrlPr>
                      </m:dPr>
                      <m:e>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𝑥</m:t>
                            </m:r>
                          </m:e>
                          <m:sub>
                            <m:r>
                              <a:rPr lang="en-US" altLang="zh-TW" i="1" dirty="0">
                                <a:latin typeface="Cambria Math" panose="02040503050406030204" pitchFamily="18" charset="0"/>
                              </a:rPr>
                              <m:t>𝑡</m:t>
                            </m:r>
                          </m:sub>
                        </m:sSub>
                        <m:r>
                          <a:rPr lang="en-US" altLang="zh-TW" i="1" dirty="0">
                            <a:latin typeface="Cambria Math" panose="02040503050406030204" pitchFamily="18" charset="0"/>
                          </a:rPr>
                          <m:t>|</m:t>
                        </m:r>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𝑧</m:t>
                            </m:r>
                          </m:e>
                          <m:sub>
                            <m:r>
                              <a:rPr lang="en-US" altLang="zh-TW" i="1" dirty="0">
                                <a:latin typeface="Cambria Math" panose="02040503050406030204" pitchFamily="18" charset="0"/>
                              </a:rPr>
                              <m:t>1:</m:t>
                            </m:r>
                            <m:r>
                              <a:rPr lang="en-US" altLang="zh-TW" i="1" dirty="0">
                                <a:latin typeface="Cambria Math" panose="02040503050406030204" pitchFamily="18" charset="0"/>
                              </a:rPr>
                              <m:t>𝑡</m:t>
                            </m:r>
                          </m:sub>
                        </m:sSub>
                      </m:e>
                    </m:d>
                    <m:r>
                      <a:rPr lang="en-US" altLang="zh-TW" b="0" i="1" dirty="0" smtClean="0">
                        <a:latin typeface="Cambria Math" panose="02040503050406030204" pitchFamily="18" charset="0"/>
                      </a:rPr>
                      <m:t>𝑑</m:t>
                    </m:r>
                    <m:sSub>
                      <m:sSubPr>
                        <m:ctrlPr>
                          <a:rPr lang="en-US" altLang="zh-TW" b="0" i="1" dirty="0" smtClean="0">
                            <a:latin typeface="Cambria Math" panose="02040503050406030204" pitchFamily="18" charset="0"/>
                          </a:rPr>
                        </m:ctrlPr>
                      </m:sSubPr>
                      <m:e>
                        <m:r>
                          <a:rPr lang="en-US" altLang="zh-TW" b="0" i="1" dirty="0" smtClean="0">
                            <a:latin typeface="Cambria Math" panose="02040503050406030204" pitchFamily="18" charset="0"/>
                          </a:rPr>
                          <m:t>𝑥</m:t>
                        </m:r>
                      </m:e>
                      <m:sub>
                        <m:r>
                          <a:rPr lang="en-US" altLang="zh-TW" b="0" i="1" dirty="0" smtClean="0">
                            <a:latin typeface="Cambria Math" panose="02040503050406030204" pitchFamily="18" charset="0"/>
                          </a:rPr>
                          <m:t>𝑡</m:t>
                        </m:r>
                      </m:sub>
                    </m:sSub>
                    <m:r>
                      <a:rPr lang="en-US" altLang="zh-TW" b="0" i="1" dirty="0" smtClean="0">
                        <a:latin typeface="Cambria Math" panose="02040503050406030204" pitchFamily="18" charset="0"/>
                      </a:rPr>
                      <m:t>=∫</m:t>
                    </m:r>
                    <m:sSub>
                      <m:sSubPr>
                        <m:ctrlPr>
                          <a:rPr lang="en-US" altLang="zh-TW" b="0" i="1" dirty="0" smtClean="0">
                            <a:latin typeface="Cambria Math" panose="02040503050406030204" pitchFamily="18" charset="0"/>
                          </a:rPr>
                        </m:ctrlPr>
                      </m:sSubPr>
                      <m:e>
                        <m:r>
                          <a:rPr lang="en-US" altLang="zh-TW" b="0" i="1" dirty="0" smtClean="0">
                            <a:latin typeface="Cambria Math" panose="02040503050406030204" pitchFamily="18" charset="0"/>
                          </a:rPr>
                          <m:t>𝑥</m:t>
                        </m:r>
                      </m:e>
                      <m:sub>
                        <m:r>
                          <a:rPr lang="en-US" altLang="zh-TW" b="0" i="1" dirty="0" smtClean="0">
                            <a:latin typeface="Cambria Math" panose="02040503050406030204" pitchFamily="18" charset="0"/>
                          </a:rPr>
                          <m:t>𝑡</m:t>
                        </m:r>
                      </m:sub>
                    </m:sSub>
                    <m:f>
                      <m:fPr>
                        <m:ctrlPr>
                          <a:rPr lang="en-US" altLang="zh-TW" b="0" i="1" dirty="0" smtClean="0">
                            <a:latin typeface="Cambria Math" panose="02040503050406030204" pitchFamily="18" charset="0"/>
                          </a:rPr>
                        </m:ctrlPr>
                      </m:fPr>
                      <m:num>
                        <m:sSub>
                          <m:sSubPr>
                            <m:ctrlPr>
                              <a:rPr lang="en-US" altLang="zh-TW" b="0" i="1" dirty="0" smtClean="0">
                                <a:latin typeface="Cambria Math" panose="02040503050406030204" pitchFamily="18" charset="0"/>
                              </a:rPr>
                            </m:ctrlPr>
                          </m:sSubPr>
                          <m:e>
                            <m:r>
                              <a:rPr lang="en-US" altLang="zh-TW" b="0" i="1" dirty="0" smtClean="0">
                                <a:latin typeface="Cambria Math" panose="02040503050406030204" pitchFamily="18" charset="0"/>
                              </a:rPr>
                              <m:t>𝑤</m:t>
                            </m:r>
                          </m:e>
                          <m:sub>
                            <m:r>
                              <a:rPr lang="en-US" altLang="zh-TW" b="0" i="1" dirty="0" smtClean="0">
                                <a:latin typeface="Cambria Math" panose="02040503050406030204" pitchFamily="18" charset="0"/>
                              </a:rPr>
                              <m:t>𝑡</m:t>
                            </m:r>
                          </m:sub>
                        </m:sSub>
                        <m:d>
                          <m:dPr>
                            <m:ctrlPr>
                              <a:rPr lang="en-US" altLang="zh-TW" b="0" i="1" dirty="0" smtClean="0">
                                <a:latin typeface="Cambria Math" panose="02040503050406030204" pitchFamily="18" charset="0"/>
                              </a:rPr>
                            </m:ctrlPr>
                          </m:dPr>
                          <m:e>
                            <m:sSub>
                              <m:sSubPr>
                                <m:ctrlPr>
                                  <a:rPr lang="en-US" altLang="zh-TW" b="0" i="1" dirty="0" smtClean="0">
                                    <a:latin typeface="Cambria Math" panose="02040503050406030204" pitchFamily="18" charset="0"/>
                                  </a:rPr>
                                </m:ctrlPr>
                              </m:sSubPr>
                              <m:e>
                                <m:r>
                                  <a:rPr lang="en-US" altLang="zh-TW" b="0" i="1" dirty="0" smtClean="0">
                                    <a:latin typeface="Cambria Math" panose="02040503050406030204" pitchFamily="18" charset="0"/>
                                  </a:rPr>
                                  <m:t>𝑥</m:t>
                                </m:r>
                              </m:e>
                              <m:sub>
                                <m:r>
                                  <a:rPr lang="en-US" altLang="zh-TW" b="0" i="1" dirty="0" smtClean="0">
                                    <a:latin typeface="Cambria Math" panose="02040503050406030204" pitchFamily="18" charset="0"/>
                                  </a:rPr>
                                  <m:t>𝑡</m:t>
                                </m:r>
                              </m:sub>
                            </m:sSub>
                          </m:e>
                        </m:d>
                      </m:num>
                      <m:den>
                        <m:r>
                          <a:rPr lang="en-US" altLang="zh-TW" b="0" i="1" dirty="0" smtClean="0">
                            <a:latin typeface="Cambria Math" panose="02040503050406030204" pitchFamily="18" charset="0"/>
                          </a:rPr>
                          <m:t>𝑃</m:t>
                        </m:r>
                        <m:d>
                          <m:dPr>
                            <m:ctrlPr>
                              <a:rPr lang="en-US" altLang="zh-TW" b="0" i="1" dirty="0" smtClean="0">
                                <a:latin typeface="Cambria Math" panose="02040503050406030204" pitchFamily="18" charset="0"/>
                              </a:rPr>
                            </m:ctrlPr>
                          </m:dPr>
                          <m:e>
                            <m:sSub>
                              <m:sSubPr>
                                <m:ctrlPr>
                                  <a:rPr lang="en-US" altLang="zh-TW" b="0" i="1" dirty="0" smtClean="0">
                                    <a:latin typeface="Cambria Math" panose="02040503050406030204" pitchFamily="18" charset="0"/>
                                  </a:rPr>
                                </m:ctrlPr>
                              </m:sSubPr>
                              <m:e>
                                <m:r>
                                  <a:rPr lang="en-US" altLang="zh-TW" b="0" i="1" dirty="0" smtClean="0">
                                    <a:latin typeface="Cambria Math" panose="02040503050406030204" pitchFamily="18" charset="0"/>
                                  </a:rPr>
                                  <m:t>𝑧</m:t>
                                </m:r>
                              </m:e>
                              <m:sub>
                                <m:r>
                                  <a:rPr lang="en-US" altLang="zh-TW" b="0" i="1" dirty="0" smtClean="0">
                                    <a:latin typeface="Cambria Math" panose="02040503050406030204" pitchFamily="18" charset="0"/>
                                  </a:rPr>
                                  <m:t>1:</m:t>
                                </m:r>
                                <m:r>
                                  <a:rPr lang="en-US" altLang="zh-TW" b="0" i="1" dirty="0" smtClean="0">
                                    <a:latin typeface="Cambria Math" panose="02040503050406030204" pitchFamily="18" charset="0"/>
                                  </a:rPr>
                                  <m:t>𝑡</m:t>
                                </m:r>
                              </m:sub>
                            </m:sSub>
                          </m:e>
                        </m:d>
                      </m:den>
                    </m:f>
                    <m:r>
                      <a:rPr lang="en-US" altLang="zh-TW" i="1" dirty="0">
                        <a:latin typeface="Cambria Math" panose="02040503050406030204" pitchFamily="18" charset="0"/>
                      </a:rPr>
                      <m:t>𝑄</m:t>
                    </m:r>
                    <m:d>
                      <m:dPr>
                        <m:ctrlPr>
                          <a:rPr lang="en-US" altLang="zh-TW" i="1" dirty="0">
                            <a:latin typeface="Cambria Math" panose="02040503050406030204" pitchFamily="18" charset="0"/>
                          </a:rPr>
                        </m:ctrlPr>
                      </m:dPr>
                      <m:e>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𝑥</m:t>
                            </m:r>
                          </m:e>
                          <m:sub>
                            <m:r>
                              <a:rPr lang="en-US" altLang="zh-TW" i="1" dirty="0">
                                <a:latin typeface="Cambria Math" panose="02040503050406030204" pitchFamily="18" charset="0"/>
                              </a:rPr>
                              <m:t>𝑡</m:t>
                            </m:r>
                          </m:sub>
                        </m:sSub>
                        <m:r>
                          <a:rPr lang="en-US" altLang="zh-TW" i="1" dirty="0">
                            <a:latin typeface="Cambria Math" panose="02040503050406030204" pitchFamily="18" charset="0"/>
                          </a:rPr>
                          <m:t>|</m:t>
                        </m:r>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𝑧</m:t>
                            </m:r>
                          </m:e>
                          <m:sub>
                            <m:r>
                              <a:rPr lang="en-US" altLang="zh-TW" i="1" dirty="0">
                                <a:latin typeface="Cambria Math" panose="02040503050406030204" pitchFamily="18" charset="0"/>
                              </a:rPr>
                              <m:t>1:</m:t>
                            </m:r>
                            <m:r>
                              <a:rPr lang="en-US" altLang="zh-TW" i="1" dirty="0">
                                <a:latin typeface="Cambria Math" panose="02040503050406030204" pitchFamily="18" charset="0"/>
                              </a:rPr>
                              <m:t>𝑡</m:t>
                            </m:r>
                          </m:sub>
                        </m:sSub>
                      </m:e>
                    </m:d>
                    <m:r>
                      <a:rPr lang="en-US" altLang="zh-TW" i="1" dirty="0">
                        <a:latin typeface="Cambria Math" panose="02040503050406030204" pitchFamily="18" charset="0"/>
                      </a:rPr>
                      <m:t>𝑑</m:t>
                    </m:r>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𝑥</m:t>
                        </m:r>
                      </m:e>
                      <m:sub>
                        <m:r>
                          <a:rPr lang="en-US" altLang="zh-TW" i="1" dirty="0">
                            <a:latin typeface="Cambria Math" panose="02040503050406030204" pitchFamily="18" charset="0"/>
                          </a:rPr>
                          <m:t>𝑡</m:t>
                        </m:r>
                      </m:sub>
                    </m:sSub>
                    <m:r>
                      <a:rPr lang="en-US" altLang="zh-TW" i="1" dirty="0" smtClean="0">
                        <a:latin typeface="Cambria Math" panose="02040503050406030204" pitchFamily="18" charset="0"/>
                        <a:ea typeface="Cambria Math" panose="02040503050406030204" pitchFamily="18" charset="0"/>
                      </a:rPr>
                      <m:t>≈</m:t>
                    </m:r>
                    <m:nary>
                      <m:naryPr>
                        <m:chr m:val="∑"/>
                        <m:ctrlPr>
                          <a:rPr lang="en-US" altLang="zh-TW" b="0" i="1" dirty="0" smtClean="0">
                            <a:solidFill>
                              <a:srgbClr val="00B050"/>
                            </a:solidFill>
                            <a:latin typeface="Cambria Math" panose="02040503050406030204" pitchFamily="18" charset="0"/>
                            <a:ea typeface="Cambria Math" panose="02040503050406030204" pitchFamily="18" charset="0"/>
                          </a:rPr>
                        </m:ctrlPr>
                      </m:naryPr>
                      <m:sub>
                        <m:r>
                          <a:rPr lang="en-US" altLang="zh-TW" b="0" i="1" dirty="0" smtClean="0">
                            <a:solidFill>
                              <a:srgbClr val="00B050"/>
                            </a:solidFill>
                            <a:latin typeface="Cambria Math" panose="02040503050406030204" pitchFamily="18" charset="0"/>
                            <a:ea typeface="Cambria Math" panose="02040503050406030204" pitchFamily="18" charset="0"/>
                          </a:rPr>
                          <m:t>𝑖</m:t>
                        </m:r>
                        <m:r>
                          <a:rPr lang="en-US" altLang="zh-TW" b="0" i="1" dirty="0" smtClean="0">
                            <a:solidFill>
                              <a:srgbClr val="00B050"/>
                            </a:solidFill>
                            <a:latin typeface="Cambria Math" panose="02040503050406030204" pitchFamily="18" charset="0"/>
                            <a:ea typeface="Cambria Math" panose="02040503050406030204" pitchFamily="18" charset="0"/>
                          </a:rPr>
                          <m:t>=1</m:t>
                        </m:r>
                      </m:sub>
                      <m:sup>
                        <m:r>
                          <a:rPr lang="en-US" altLang="zh-TW" b="0" i="1" dirty="0" smtClean="0">
                            <a:solidFill>
                              <a:srgbClr val="00B050"/>
                            </a:solidFill>
                            <a:latin typeface="Cambria Math" panose="02040503050406030204" pitchFamily="18" charset="0"/>
                            <a:ea typeface="Cambria Math" panose="02040503050406030204" pitchFamily="18" charset="0"/>
                          </a:rPr>
                          <m:t>𝑁</m:t>
                        </m:r>
                      </m:sup>
                      <m:e>
                        <m:sSubSup>
                          <m:sSubSupPr>
                            <m:ctrlPr>
                              <a:rPr lang="en-US" altLang="zh-TW" b="0" i="1" dirty="0" smtClean="0">
                                <a:solidFill>
                                  <a:srgbClr val="00B050"/>
                                </a:solidFill>
                                <a:latin typeface="Cambria Math" panose="02040503050406030204" pitchFamily="18" charset="0"/>
                                <a:ea typeface="Cambria Math" panose="02040503050406030204" pitchFamily="18" charset="0"/>
                              </a:rPr>
                            </m:ctrlPr>
                          </m:sSubSupPr>
                          <m:e>
                            <m:r>
                              <a:rPr lang="en-US" altLang="zh-TW" b="0" i="1" dirty="0" smtClean="0">
                                <a:solidFill>
                                  <a:srgbClr val="00B050"/>
                                </a:solidFill>
                                <a:latin typeface="Cambria Math" panose="02040503050406030204" pitchFamily="18" charset="0"/>
                                <a:ea typeface="Cambria Math" panose="02040503050406030204" pitchFamily="18" charset="0"/>
                              </a:rPr>
                              <m:t>𝑤</m:t>
                            </m:r>
                          </m:e>
                          <m:sub>
                            <m:r>
                              <a:rPr lang="en-US" altLang="zh-TW" b="0" i="1" dirty="0" smtClean="0">
                                <a:solidFill>
                                  <a:srgbClr val="00B050"/>
                                </a:solidFill>
                                <a:latin typeface="Cambria Math" panose="02040503050406030204" pitchFamily="18" charset="0"/>
                                <a:ea typeface="Cambria Math" panose="02040503050406030204" pitchFamily="18" charset="0"/>
                              </a:rPr>
                              <m:t>𝑡</m:t>
                            </m:r>
                          </m:sub>
                          <m:sup>
                            <m:r>
                              <a:rPr lang="en-US" altLang="zh-TW" b="0" i="1" dirty="0" smtClean="0">
                                <a:solidFill>
                                  <a:srgbClr val="00B050"/>
                                </a:solidFill>
                                <a:latin typeface="Cambria Math" panose="02040503050406030204" pitchFamily="18" charset="0"/>
                                <a:ea typeface="Cambria Math" panose="02040503050406030204" pitchFamily="18" charset="0"/>
                              </a:rPr>
                              <m:t>𝑖</m:t>
                            </m:r>
                          </m:sup>
                        </m:sSubSup>
                        <m:sSubSup>
                          <m:sSubSupPr>
                            <m:ctrlPr>
                              <a:rPr lang="en-US" altLang="zh-TW" b="0" i="1" dirty="0" smtClean="0">
                                <a:solidFill>
                                  <a:srgbClr val="00B050"/>
                                </a:solidFill>
                                <a:latin typeface="Cambria Math" panose="02040503050406030204" pitchFamily="18" charset="0"/>
                                <a:ea typeface="Cambria Math" panose="02040503050406030204" pitchFamily="18" charset="0"/>
                              </a:rPr>
                            </m:ctrlPr>
                          </m:sSubSupPr>
                          <m:e>
                            <m:r>
                              <a:rPr lang="en-US" altLang="zh-TW" b="0" i="1" dirty="0" smtClean="0">
                                <a:solidFill>
                                  <a:srgbClr val="00B050"/>
                                </a:solidFill>
                                <a:latin typeface="Cambria Math" panose="02040503050406030204" pitchFamily="18" charset="0"/>
                                <a:ea typeface="Cambria Math" panose="02040503050406030204" pitchFamily="18" charset="0"/>
                              </a:rPr>
                              <m:t>𝑥</m:t>
                            </m:r>
                          </m:e>
                          <m:sub>
                            <m:r>
                              <a:rPr lang="en-US" altLang="zh-TW" b="0" i="1" dirty="0" smtClean="0">
                                <a:solidFill>
                                  <a:srgbClr val="00B050"/>
                                </a:solidFill>
                                <a:latin typeface="Cambria Math" panose="02040503050406030204" pitchFamily="18" charset="0"/>
                                <a:ea typeface="Cambria Math" panose="02040503050406030204" pitchFamily="18" charset="0"/>
                              </a:rPr>
                              <m:t>𝑡</m:t>
                            </m:r>
                          </m:sub>
                          <m:sup>
                            <m:r>
                              <a:rPr lang="en-US" altLang="zh-TW" b="0" i="1" dirty="0" smtClean="0">
                                <a:solidFill>
                                  <a:srgbClr val="00B050"/>
                                </a:solidFill>
                                <a:latin typeface="Cambria Math" panose="02040503050406030204" pitchFamily="18" charset="0"/>
                                <a:ea typeface="Cambria Math" panose="02040503050406030204" pitchFamily="18" charset="0"/>
                              </a:rPr>
                              <m:t>𝑖</m:t>
                            </m:r>
                          </m:sup>
                        </m:sSubSup>
                      </m:e>
                    </m:nary>
                  </m:oMath>
                </a14:m>
                <a:endParaRPr lang="en-US" altLang="zh-TW" dirty="0" smtClean="0"/>
              </a:p>
              <a:p>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𝑡</m:t>
                        </m:r>
                      </m:sub>
                    </m:sSub>
                    <m:d>
                      <m:dPr>
                        <m:ctrlPr>
                          <a:rPr lang="en-US" altLang="zh-TW" b="0" i="1" smtClean="0">
                            <a:latin typeface="Cambria Math" panose="02040503050406030204" pitchFamily="18" charset="0"/>
                          </a:rPr>
                        </m:ctrlPr>
                      </m:dPr>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𝑡</m:t>
                            </m:r>
                          </m:sub>
                        </m:sSub>
                      </m:e>
                    </m:d>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r>
                          <a:rPr lang="en-US" altLang="zh-TW" i="1" dirty="0">
                            <a:latin typeface="Cambria Math" panose="02040503050406030204" pitchFamily="18" charset="0"/>
                          </a:rPr>
                          <m:t>𝑃</m:t>
                        </m:r>
                        <m:d>
                          <m:dPr>
                            <m:ctrlPr>
                              <a:rPr lang="en-US" altLang="zh-TW" i="1" dirty="0">
                                <a:latin typeface="Cambria Math" panose="02040503050406030204" pitchFamily="18" charset="0"/>
                              </a:rPr>
                            </m:ctrlPr>
                          </m:dPr>
                          <m:e>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𝑧</m:t>
                                </m:r>
                              </m:e>
                              <m:sub>
                                <m:r>
                                  <a:rPr lang="en-US" altLang="zh-TW" i="1" dirty="0">
                                    <a:latin typeface="Cambria Math" panose="02040503050406030204" pitchFamily="18" charset="0"/>
                                  </a:rPr>
                                  <m:t>1:</m:t>
                                </m:r>
                                <m:r>
                                  <a:rPr lang="en-US" altLang="zh-TW" i="1" dirty="0">
                                    <a:latin typeface="Cambria Math" panose="02040503050406030204" pitchFamily="18" charset="0"/>
                                  </a:rPr>
                                  <m:t>𝑡</m:t>
                                </m:r>
                              </m:sub>
                            </m:sSub>
                            <m:r>
                              <a:rPr lang="en-US" altLang="zh-TW" i="1" dirty="0">
                                <a:latin typeface="Cambria Math" panose="02040503050406030204" pitchFamily="18" charset="0"/>
                              </a:rPr>
                              <m:t>|</m:t>
                            </m:r>
                            <m:sSub>
                              <m:sSubPr>
                                <m:ctrlPr>
                                  <a:rPr lang="en-US" altLang="zh-TW" b="0" i="1" dirty="0" smtClean="0">
                                    <a:latin typeface="Cambria Math" panose="02040503050406030204" pitchFamily="18" charset="0"/>
                                  </a:rPr>
                                </m:ctrlPr>
                              </m:sSubPr>
                              <m:e>
                                <m:r>
                                  <a:rPr lang="en-US" altLang="zh-TW" b="0" i="1" dirty="0" smtClean="0">
                                    <a:latin typeface="Cambria Math" panose="02040503050406030204" pitchFamily="18" charset="0"/>
                                  </a:rPr>
                                  <m:t>𝑥</m:t>
                                </m:r>
                              </m:e>
                              <m:sub>
                                <m:r>
                                  <a:rPr lang="en-US" altLang="zh-TW" b="0" i="1" dirty="0" smtClean="0">
                                    <a:latin typeface="Cambria Math" panose="02040503050406030204" pitchFamily="18" charset="0"/>
                                  </a:rPr>
                                  <m:t>𝑡</m:t>
                                </m:r>
                              </m:sub>
                            </m:sSub>
                          </m:e>
                        </m:d>
                        <m:r>
                          <a:rPr lang="en-US" altLang="zh-TW" b="0" i="1" dirty="0" smtClean="0">
                            <a:latin typeface="Cambria Math" panose="02040503050406030204" pitchFamily="18" charset="0"/>
                          </a:rPr>
                          <m:t>𝑃</m:t>
                        </m:r>
                        <m:d>
                          <m:dPr>
                            <m:ctrlPr>
                              <a:rPr lang="en-US" altLang="zh-TW" b="0" i="1" dirty="0" smtClean="0">
                                <a:latin typeface="Cambria Math" panose="02040503050406030204" pitchFamily="18" charset="0"/>
                              </a:rPr>
                            </m:ctrlPr>
                          </m:dPr>
                          <m:e>
                            <m:sSub>
                              <m:sSubPr>
                                <m:ctrlPr>
                                  <a:rPr lang="en-US" altLang="zh-TW" b="0" i="1" dirty="0" smtClean="0">
                                    <a:latin typeface="Cambria Math" panose="02040503050406030204" pitchFamily="18" charset="0"/>
                                  </a:rPr>
                                </m:ctrlPr>
                              </m:sSubPr>
                              <m:e>
                                <m:r>
                                  <a:rPr lang="en-US" altLang="zh-TW" b="0" i="1" dirty="0" smtClean="0">
                                    <a:latin typeface="Cambria Math" panose="02040503050406030204" pitchFamily="18" charset="0"/>
                                  </a:rPr>
                                  <m:t>𝑥</m:t>
                                </m:r>
                              </m:e>
                              <m:sub>
                                <m:r>
                                  <a:rPr lang="en-US" altLang="zh-TW" b="0" i="1" dirty="0" smtClean="0">
                                    <a:latin typeface="Cambria Math" panose="02040503050406030204" pitchFamily="18" charset="0"/>
                                  </a:rPr>
                                  <m:t>𝑡</m:t>
                                </m:r>
                              </m:sub>
                            </m:sSub>
                          </m:e>
                        </m:d>
                      </m:num>
                      <m:den>
                        <m:r>
                          <a:rPr lang="en-US" altLang="zh-TW" i="1" dirty="0">
                            <a:latin typeface="Cambria Math" panose="02040503050406030204" pitchFamily="18" charset="0"/>
                          </a:rPr>
                          <m:t>𝑄</m:t>
                        </m:r>
                        <m:d>
                          <m:dPr>
                            <m:ctrlPr>
                              <a:rPr lang="en-US" altLang="zh-TW" i="1" dirty="0">
                                <a:latin typeface="Cambria Math" panose="02040503050406030204" pitchFamily="18" charset="0"/>
                              </a:rPr>
                            </m:ctrlPr>
                          </m:dPr>
                          <m:e>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𝑥</m:t>
                                </m:r>
                              </m:e>
                              <m:sub>
                                <m:r>
                                  <a:rPr lang="en-US" altLang="zh-TW" i="1" dirty="0">
                                    <a:latin typeface="Cambria Math" panose="02040503050406030204" pitchFamily="18" charset="0"/>
                                  </a:rPr>
                                  <m:t>𝑡</m:t>
                                </m:r>
                              </m:sub>
                            </m:sSub>
                            <m:r>
                              <a:rPr lang="en-US" altLang="zh-TW" i="1" dirty="0">
                                <a:latin typeface="Cambria Math" panose="02040503050406030204" pitchFamily="18" charset="0"/>
                              </a:rPr>
                              <m:t>|</m:t>
                            </m:r>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𝑧</m:t>
                                </m:r>
                              </m:e>
                              <m:sub>
                                <m:r>
                                  <a:rPr lang="en-US" altLang="zh-TW" i="1" dirty="0">
                                    <a:latin typeface="Cambria Math" panose="02040503050406030204" pitchFamily="18" charset="0"/>
                                  </a:rPr>
                                  <m:t>1:</m:t>
                                </m:r>
                                <m:r>
                                  <a:rPr lang="en-US" altLang="zh-TW" i="1" dirty="0">
                                    <a:latin typeface="Cambria Math" panose="02040503050406030204" pitchFamily="18" charset="0"/>
                                  </a:rPr>
                                  <m:t>𝑡</m:t>
                                </m:r>
                              </m:sub>
                            </m:sSub>
                          </m:e>
                        </m:d>
                      </m:den>
                    </m:f>
                  </m:oMath>
                </a14:m>
                <a:endParaRPr lang="en-US" altLang="zh-TW" b="0" i="1" dirty="0" smtClean="0">
                  <a:latin typeface="Cambria Math" panose="02040503050406030204" pitchFamily="18" charset="0"/>
                </a:endParaRPr>
              </a:p>
              <a:p>
                <a14:m>
                  <m:oMath xmlns:m="http://schemas.openxmlformats.org/officeDocument/2006/math">
                    <m:sSubSup>
                      <m:sSubSupPr>
                        <m:ctrlPr>
                          <a:rPr lang="en-US" altLang="zh-TW" i="1" dirty="0">
                            <a:latin typeface="Cambria Math" panose="02040503050406030204" pitchFamily="18" charset="0"/>
                            <a:ea typeface="Cambria Math" panose="02040503050406030204" pitchFamily="18" charset="0"/>
                          </a:rPr>
                        </m:ctrlPr>
                      </m:sSubSupPr>
                      <m:e>
                        <m:r>
                          <a:rPr lang="en-US" altLang="zh-TW" i="1" dirty="0">
                            <a:latin typeface="Cambria Math" panose="02040503050406030204" pitchFamily="18" charset="0"/>
                            <a:ea typeface="Cambria Math" panose="02040503050406030204" pitchFamily="18" charset="0"/>
                          </a:rPr>
                          <m:t>𝑤</m:t>
                        </m:r>
                      </m:e>
                      <m:sub>
                        <m:r>
                          <a:rPr lang="en-US" altLang="zh-TW" i="1" dirty="0">
                            <a:latin typeface="Cambria Math" panose="02040503050406030204" pitchFamily="18" charset="0"/>
                            <a:ea typeface="Cambria Math" panose="02040503050406030204" pitchFamily="18" charset="0"/>
                          </a:rPr>
                          <m:t>𝑡</m:t>
                        </m:r>
                      </m:sub>
                      <m:sup>
                        <m:r>
                          <a:rPr lang="en-US" altLang="zh-TW" i="1" dirty="0">
                            <a:latin typeface="Cambria Math" panose="02040503050406030204" pitchFamily="18" charset="0"/>
                            <a:ea typeface="Cambria Math" panose="02040503050406030204" pitchFamily="18" charset="0"/>
                          </a:rPr>
                          <m:t>𝑖</m:t>
                        </m:r>
                      </m:sup>
                    </m:sSubSup>
                    <m:r>
                      <a:rPr lang="en-US" altLang="zh-TW" b="0" i="1" dirty="0" smtClean="0">
                        <a:latin typeface="Cambria Math" panose="02040503050406030204" pitchFamily="18" charset="0"/>
                        <a:ea typeface="Cambria Math" panose="02040503050406030204" pitchFamily="18" charset="0"/>
                      </a:rPr>
                      <m:t>=</m:t>
                    </m:r>
                    <m:f>
                      <m:fPr>
                        <m:ctrlPr>
                          <a:rPr lang="en-US" altLang="zh-TW" b="0" i="1" dirty="0" smtClean="0">
                            <a:latin typeface="Cambria Math" panose="02040503050406030204" pitchFamily="18" charset="0"/>
                            <a:ea typeface="Cambria Math" panose="02040503050406030204" pitchFamily="18" charset="0"/>
                          </a:rPr>
                        </m:ctrlPr>
                      </m:fPr>
                      <m:num>
                        <m:sSub>
                          <m:sSubPr>
                            <m:ctrlPr>
                              <a:rPr lang="en-US" altLang="zh-TW" i="1" dirty="0">
                                <a:latin typeface="Cambria Math" panose="02040503050406030204" pitchFamily="18" charset="0"/>
                                <a:ea typeface="Cambria Math" panose="02040503050406030204" pitchFamily="18" charset="0"/>
                              </a:rPr>
                            </m:ctrlPr>
                          </m:sSubPr>
                          <m:e>
                            <m:r>
                              <a:rPr lang="en-US" altLang="zh-TW" i="1" dirty="0">
                                <a:latin typeface="Cambria Math" panose="02040503050406030204" pitchFamily="18" charset="0"/>
                                <a:ea typeface="Cambria Math" panose="02040503050406030204" pitchFamily="18" charset="0"/>
                              </a:rPr>
                              <m:t>𝑤</m:t>
                            </m:r>
                          </m:e>
                          <m:sub>
                            <m:r>
                              <a:rPr lang="en-US" altLang="zh-TW" i="1" dirty="0">
                                <a:latin typeface="Cambria Math" panose="02040503050406030204" pitchFamily="18" charset="0"/>
                                <a:ea typeface="Cambria Math" panose="02040503050406030204" pitchFamily="18" charset="0"/>
                              </a:rPr>
                              <m:t>𝑡</m:t>
                            </m:r>
                          </m:sub>
                        </m:sSub>
                        <m:d>
                          <m:dPr>
                            <m:ctrlPr>
                              <a:rPr lang="en-US" altLang="zh-TW" i="1" dirty="0">
                                <a:latin typeface="Cambria Math" panose="02040503050406030204" pitchFamily="18" charset="0"/>
                                <a:ea typeface="Cambria Math" panose="02040503050406030204" pitchFamily="18" charset="0"/>
                              </a:rPr>
                            </m:ctrlPr>
                          </m:dPr>
                          <m:e>
                            <m:sSubSup>
                              <m:sSubSupPr>
                                <m:ctrlPr>
                                  <a:rPr lang="en-US" altLang="zh-TW" i="1" dirty="0">
                                    <a:latin typeface="Cambria Math" panose="02040503050406030204" pitchFamily="18" charset="0"/>
                                    <a:ea typeface="Cambria Math" panose="02040503050406030204" pitchFamily="18" charset="0"/>
                                  </a:rPr>
                                </m:ctrlPr>
                              </m:sSubSupPr>
                              <m:e>
                                <m:r>
                                  <a:rPr lang="en-US" altLang="zh-TW" i="1" dirty="0">
                                    <a:latin typeface="Cambria Math" panose="02040503050406030204" pitchFamily="18" charset="0"/>
                                    <a:ea typeface="Cambria Math" panose="02040503050406030204" pitchFamily="18" charset="0"/>
                                  </a:rPr>
                                  <m:t>𝑥</m:t>
                                </m:r>
                              </m:e>
                              <m:sub>
                                <m:r>
                                  <a:rPr lang="en-US" altLang="zh-TW" i="1" dirty="0">
                                    <a:latin typeface="Cambria Math" panose="02040503050406030204" pitchFamily="18" charset="0"/>
                                    <a:ea typeface="Cambria Math" panose="02040503050406030204" pitchFamily="18" charset="0"/>
                                  </a:rPr>
                                  <m:t>𝑡</m:t>
                                </m:r>
                              </m:sub>
                              <m:sup>
                                <m:r>
                                  <a:rPr lang="en-US" altLang="zh-TW" i="1" dirty="0">
                                    <a:latin typeface="Cambria Math" panose="02040503050406030204" pitchFamily="18" charset="0"/>
                                    <a:ea typeface="Cambria Math" panose="02040503050406030204" pitchFamily="18" charset="0"/>
                                  </a:rPr>
                                  <m:t>𝑖</m:t>
                                </m:r>
                              </m:sup>
                            </m:sSubSup>
                          </m:e>
                        </m:d>
                      </m:num>
                      <m:den>
                        <m:nary>
                          <m:naryPr>
                            <m:chr m:val="∑"/>
                            <m:ctrlPr>
                              <a:rPr lang="en-US" altLang="zh-TW" b="0" i="1" dirty="0" smtClean="0">
                                <a:latin typeface="Cambria Math" panose="02040503050406030204" pitchFamily="18" charset="0"/>
                                <a:ea typeface="Cambria Math" panose="02040503050406030204" pitchFamily="18" charset="0"/>
                              </a:rPr>
                            </m:ctrlPr>
                          </m:naryPr>
                          <m:sub>
                            <m:r>
                              <a:rPr lang="en-US" altLang="zh-TW" b="0" i="1" dirty="0" smtClean="0">
                                <a:latin typeface="Cambria Math" panose="02040503050406030204" pitchFamily="18" charset="0"/>
                                <a:ea typeface="Cambria Math" panose="02040503050406030204" pitchFamily="18" charset="0"/>
                              </a:rPr>
                              <m:t>𝑖</m:t>
                            </m:r>
                            <m:r>
                              <a:rPr lang="en-US" altLang="zh-TW" b="0" i="1" dirty="0" smtClean="0">
                                <a:latin typeface="Cambria Math" panose="02040503050406030204" pitchFamily="18" charset="0"/>
                                <a:ea typeface="Cambria Math" panose="02040503050406030204" pitchFamily="18" charset="0"/>
                              </a:rPr>
                              <m:t>=1</m:t>
                            </m:r>
                          </m:sub>
                          <m:sup>
                            <m:r>
                              <a:rPr lang="en-US" altLang="zh-TW" b="0" i="1" dirty="0" smtClean="0">
                                <a:latin typeface="Cambria Math" panose="02040503050406030204" pitchFamily="18" charset="0"/>
                                <a:ea typeface="Cambria Math" panose="02040503050406030204" pitchFamily="18" charset="0"/>
                              </a:rPr>
                              <m:t>𝑁</m:t>
                            </m:r>
                          </m:sup>
                          <m:e>
                            <m:sSub>
                              <m:sSubPr>
                                <m:ctrlPr>
                                  <a:rPr lang="en-US" altLang="zh-TW" b="0" i="1" dirty="0" smtClean="0">
                                    <a:latin typeface="Cambria Math" panose="02040503050406030204" pitchFamily="18" charset="0"/>
                                    <a:ea typeface="Cambria Math" panose="02040503050406030204" pitchFamily="18" charset="0"/>
                                  </a:rPr>
                                </m:ctrlPr>
                              </m:sSubPr>
                              <m:e>
                                <m:r>
                                  <a:rPr lang="en-US" altLang="zh-TW" b="0" i="1" dirty="0" smtClean="0">
                                    <a:latin typeface="Cambria Math" panose="02040503050406030204" pitchFamily="18" charset="0"/>
                                    <a:ea typeface="Cambria Math" panose="02040503050406030204" pitchFamily="18" charset="0"/>
                                  </a:rPr>
                                  <m:t>𝑤</m:t>
                                </m:r>
                              </m:e>
                              <m:sub>
                                <m:r>
                                  <a:rPr lang="en-US" altLang="zh-TW" b="0" i="1" dirty="0" smtClean="0">
                                    <a:latin typeface="Cambria Math" panose="02040503050406030204" pitchFamily="18" charset="0"/>
                                    <a:ea typeface="Cambria Math" panose="02040503050406030204" pitchFamily="18" charset="0"/>
                                  </a:rPr>
                                  <m:t>𝑡</m:t>
                                </m:r>
                              </m:sub>
                            </m:sSub>
                            <m:d>
                              <m:dPr>
                                <m:ctrlPr>
                                  <a:rPr lang="en-US" altLang="zh-TW" b="0" i="1" dirty="0" smtClean="0">
                                    <a:latin typeface="Cambria Math" panose="02040503050406030204" pitchFamily="18" charset="0"/>
                                    <a:ea typeface="Cambria Math" panose="02040503050406030204" pitchFamily="18" charset="0"/>
                                  </a:rPr>
                                </m:ctrlPr>
                              </m:dPr>
                              <m:e>
                                <m:sSubSup>
                                  <m:sSubSupPr>
                                    <m:ctrlPr>
                                      <a:rPr lang="en-US" altLang="zh-TW" b="0" i="1" dirty="0" smtClean="0">
                                        <a:latin typeface="Cambria Math" panose="02040503050406030204" pitchFamily="18" charset="0"/>
                                        <a:ea typeface="Cambria Math" panose="02040503050406030204" pitchFamily="18" charset="0"/>
                                      </a:rPr>
                                    </m:ctrlPr>
                                  </m:sSubSupPr>
                                  <m:e>
                                    <m:r>
                                      <a:rPr lang="en-US" altLang="zh-TW" b="0" i="1" dirty="0" smtClean="0">
                                        <a:latin typeface="Cambria Math" panose="02040503050406030204" pitchFamily="18" charset="0"/>
                                        <a:ea typeface="Cambria Math" panose="02040503050406030204" pitchFamily="18" charset="0"/>
                                      </a:rPr>
                                      <m:t>𝑥</m:t>
                                    </m:r>
                                  </m:e>
                                  <m:sub>
                                    <m:r>
                                      <a:rPr lang="en-US" altLang="zh-TW" b="0" i="1" dirty="0" smtClean="0">
                                        <a:latin typeface="Cambria Math" panose="02040503050406030204" pitchFamily="18" charset="0"/>
                                        <a:ea typeface="Cambria Math" panose="02040503050406030204" pitchFamily="18" charset="0"/>
                                      </a:rPr>
                                      <m:t>𝑡</m:t>
                                    </m:r>
                                  </m:sub>
                                  <m:sup>
                                    <m:r>
                                      <a:rPr lang="en-US" altLang="zh-TW" b="0" i="1" dirty="0" smtClean="0">
                                        <a:latin typeface="Cambria Math" panose="02040503050406030204" pitchFamily="18" charset="0"/>
                                        <a:ea typeface="Cambria Math" panose="02040503050406030204" pitchFamily="18" charset="0"/>
                                      </a:rPr>
                                      <m:t>𝑖</m:t>
                                    </m:r>
                                  </m:sup>
                                </m:sSubSup>
                              </m:e>
                            </m:d>
                          </m:e>
                        </m:nary>
                      </m:den>
                    </m:f>
                  </m:oMath>
                </a14:m>
                <a:r>
                  <a:rPr lang="en-US" altLang="zh-TW" dirty="0" smtClean="0"/>
                  <a:t>(normalized weight)</a:t>
                </a:r>
              </a:p>
              <a:p>
                <a:endParaRPr lang="en-US" altLang="zh-TW" dirty="0" smtClean="0"/>
              </a:p>
            </p:txBody>
          </p:sp>
        </mc:Choice>
        <mc:Fallback>
          <p:sp>
            <p:nvSpPr>
              <p:cNvPr id="5" name="內容版面配置區 4"/>
              <p:cNvSpPr txBox="1">
                <a:spLocks noGrp="1" noRot="1" noChangeAspect="1" noMove="1" noResize="1" noEditPoints="1" noAdjustHandles="1" noChangeArrowheads="1" noChangeShapeType="1" noTextEdit="1"/>
              </p:cNvSpPr>
              <p:nvPr>
                <p:ph idx="1"/>
              </p:nvPr>
            </p:nvSpPr>
            <p:spPr>
              <a:xfrm>
                <a:off x="838200" y="1825625"/>
                <a:ext cx="10515600" cy="5100755"/>
              </a:xfrm>
              <a:prstGeom prst="rect">
                <a:avLst/>
              </a:prstGeom>
              <a:blipFill rotWithShape="0">
                <a:blip r:embed="rId2"/>
                <a:stretch>
                  <a:fillRect l="-1043" t="-2031" r="-458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xmlns="" Requires="a14">
          <p:sp>
            <p:nvSpPr>
              <p:cNvPr id="6" name="圓角矩形 5"/>
              <p:cNvSpPr/>
              <p:nvPr/>
            </p:nvSpPr>
            <p:spPr>
              <a:xfrm>
                <a:off x="5622851" y="248150"/>
                <a:ext cx="5975497" cy="128654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TW" dirty="0" smtClean="0"/>
                  <a:t>Prior:         </a:t>
                </a:r>
                <a14:m>
                  <m:oMath xmlns:m="http://schemas.openxmlformats.org/officeDocument/2006/math">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1:</m:t>
                            </m:r>
                            <m:r>
                              <a:rPr lang="en-US" altLang="zh-TW" i="1">
                                <a:latin typeface="Cambria Math" panose="02040503050406030204" pitchFamily="18" charset="0"/>
                              </a:rPr>
                              <m:t>𝑡</m:t>
                            </m:r>
                            <m:r>
                              <a:rPr lang="en-US" altLang="zh-TW" i="1">
                                <a:latin typeface="Cambria Math" panose="02040503050406030204" pitchFamily="18" charset="0"/>
                              </a:rPr>
                              <m:t>−1</m:t>
                            </m:r>
                          </m:sub>
                        </m:sSub>
                      </m:e>
                    </m:d>
                    <m:r>
                      <a:rPr lang="en-US" altLang="zh-TW" i="1">
                        <a:latin typeface="Cambria Math" panose="02040503050406030204" pitchFamily="18" charset="0"/>
                      </a:rPr>
                      <m:t>=∫</m:t>
                    </m:r>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r>
                              <a:rPr lang="en-US" altLang="zh-TW" i="1">
                                <a:latin typeface="Cambria Math" panose="02040503050406030204" pitchFamily="18" charset="0"/>
                              </a:rPr>
                              <m:t>−1</m:t>
                            </m:r>
                          </m:sub>
                        </m:sSub>
                      </m:e>
                    </m:d>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r>
                              <a:rPr lang="en-US" altLang="zh-TW" i="1">
                                <a:latin typeface="Cambria Math" panose="02040503050406030204" pitchFamily="18" charset="0"/>
                              </a:rPr>
                              <m:t>−1</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1:</m:t>
                            </m:r>
                            <m:r>
                              <a:rPr lang="en-US" altLang="zh-TW" i="1">
                                <a:latin typeface="Cambria Math" panose="02040503050406030204" pitchFamily="18" charset="0"/>
                              </a:rPr>
                              <m:t>𝑡</m:t>
                            </m:r>
                            <m:r>
                              <a:rPr lang="en-US" altLang="zh-TW" i="1">
                                <a:latin typeface="Cambria Math" panose="02040503050406030204" pitchFamily="18" charset="0"/>
                              </a:rPr>
                              <m:t>−1</m:t>
                            </m:r>
                          </m:sub>
                        </m:sSub>
                      </m:e>
                    </m:d>
                    <m:r>
                      <a:rPr lang="en-US" altLang="zh-TW" i="1">
                        <a:latin typeface="Cambria Math" panose="02040503050406030204" pitchFamily="18" charset="0"/>
                      </a:rPr>
                      <m:t>𝑑</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r>
                          <a:rPr lang="en-US" altLang="zh-TW" i="1">
                            <a:latin typeface="Cambria Math" panose="02040503050406030204" pitchFamily="18" charset="0"/>
                          </a:rPr>
                          <m:t>−1</m:t>
                        </m:r>
                      </m:sub>
                    </m:sSub>
                  </m:oMath>
                </a14:m>
                <a:r>
                  <a:rPr lang="en-US" altLang="zh-TW" dirty="0"/>
                  <a:t/>
                </a:r>
                <a:endParaRPr lang="en-US" altLang="zh-TW" dirty="0" smtClean="0"/>
              </a:p>
              <a:p>
                <a:r>
                  <a:rPr lang="en-US" altLang="zh-TW" dirty="0" smtClean="0"/>
                  <a:t>Posterior: </a:t>
                </a:r>
                <a14:m>
                  <m:oMath xmlns:m="http://schemas.openxmlformats.org/officeDocument/2006/math">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1:</m:t>
                            </m:r>
                            <m:r>
                              <a:rPr lang="en-US" altLang="zh-TW" i="1">
                                <a:latin typeface="Cambria Math" panose="02040503050406030204" pitchFamily="18" charset="0"/>
                              </a:rPr>
                              <m:t>𝑡</m:t>
                            </m:r>
                          </m:sub>
                        </m:sSub>
                      </m:e>
                    </m:d>
                    <m:r>
                      <a:rPr lang="en-US" altLang="zh-TW" i="1">
                        <a:latin typeface="Cambria Math" panose="02040503050406030204" pitchFamily="18" charset="0"/>
                      </a:rPr>
                      <m:t>=</m:t>
                    </m:r>
                    <m:f>
                      <m:fPr>
                        <m:ctrlPr>
                          <a:rPr lang="en-US" altLang="zh-TW" i="1">
                            <a:latin typeface="Cambria Math" panose="02040503050406030204" pitchFamily="18" charset="0"/>
                          </a:rPr>
                        </m:ctrlPr>
                      </m:fPr>
                      <m:num>
                        <m:r>
                          <a:rPr lang="en-US" altLang="zh-TW" i="1">
                            <a:latin typeface="Cambria Math"/>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a:rPr>
                                  <m:t>𝑧</m:t>
                                </m:r>
                              </m:e>
                              <m:sub>
                                <m:r>
                                  <a:rPr lang="en-US" altLang="zh-TW" i="1">
                                    <a:latin typeface="Cambria Math"/>
                                  </a:rPr>
                                  <m:t>𝑡</m:t>
                                </m:r>
                              </m:sub>
                            </m:sSub>
                            <m:r>
                              <a:rPr lang="en-US" altLang="zh-TW" i="1">
                                <a:latin typeface="Cambria Math"/>
                              </a:rPr>
                              <m:t>|</m:t>
                            </m:r>
                            <m:sSub>
                              <m:sSubPr>
                                <m:ctrlPr>
                                  <a:rPr lang="en-US" altLang="zh-TW" i="1">
                                    <a:latin typeface="Cambria Math" panose="02040503050406030204" pitchFamily="18" charset="0"/>
                                  </a:rPr>
                                </m:ctrlPr>
                              </m:sSubPr>
                              <m:e>
                                <m:r>
                                  <a:rPr lang="en-US" altLang="zh-TW" i="1">
                                    <a:latin typeface="Cambria Math"/>
                                  </a:rPr>
                                  <m:t>𝑥</m:t>
                                </m:r>
                              </m:e>
                              <m:sub>
                                <m:r>
                                  <a:rPr lang="en-US" altLang="zh-TW" i="1">
                                    <a:latin typeface="Cambria Math"/>
                                  </a:rPr>
                                  <m:t>𝑡</m:t>
                                </m:r>
                              </m:sub>
                            </m:sSub>
                          </m:e>
                        </m:d>
                        <m:r>
                          <a:rPr lang="en-US" altLang="zh-TW" i="1">
                            <a:latin typeface="Cambria Math"/>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a:rPr>
                                  <m:t>𝑥</m:t>
                                </m:r>
                              </m:e>
                              <m:sub>
                                <m:r>
                                  <a:rPr lang="en-US" altLang="zh-TW" i="1">
                                    <a:latin typeface="Cambria Math"/>
                                  </a:rPr>
                                  <m:t>𝑡</m:t>
                                </m:r>
                              </m:sub>
                            </m:sSub>
                            <m:r>
                              <a:rPr lang="en-US" altLang="zh-TW" i="1">
                                <a:latin typeface="Cambria Math"/>
                              </a:rPr>
                              <m:t>|</m:t>
                            </m:r>
                            <m:sSub>
                              <m:sSubPr>
                                <m:ctrlPr>
                                  <a:rPr lang="en-US" altLang="zh-TW" i="1">
                                    <a:latin typeface="Cambria Math" panose="02040503050406030204" pitchFamily="18" charset="0"/>
                                  </a:rPr>
                                </m:ctrlPr>
                              </m:sSubPr>
                              <m:e>
                                <m:r>
                                  <a:rPr lang="en-US" altLang="zh-TW" i="1">
                                    <a:latin typeface="Cambria Math"/>
                                  </a:rPr>
                                  <m:t>𝑧</m:t>
                                </m:r>
                              </m:e>
                              <m:sub>
                                <m:r>
                                  <a:rPr lang="en-US" altLang="zh-TW" i="1">
                                    <a:latin typeface="Cambria Math"/>
                                  </a:rPr>
                                  <m:t>1:</m:t>
                                </m:r>
                                <m:r>
                                  <a:rPr lang="en-US" altLang="zh-TW" i="1">
                                    <a:latin typeface="Cambria Math"/>
                                  </a:rPr>
                                  <m:t>𝑡</m:t>
                                </m:r>
                                <m:r>
                                  <a:rPr lang="en-US" altLang="zh-TW" i="1">
                                    <a:latin typeface="Cambria Math"/>
                                  </a:rPr>
                                  <m:t>−1</m:t>
                                </m:r>
                              </m:sub>
                            </m:sSub>
                          </m:e>
                        </m:d>
                      </m:num>
                      <m:den>
                        <m:r>
                          <a:rPr lang="en-US" altLang="zh-TW" i="1">
                            <a:latin typeface="Cambria Math"/>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a:rPr>
                                  <m:t>𝑧</m:t>
                                </m:r>
                              </m:e>
                              <m:sub>
                                <m:r>
                                  <a:rPr lang="en-US" altLang="zh-TW" i="1">
                                    <a:latin typeface="Cambria Math"/>
                                  </a:rPr>
                                  <m:t>𝑡</m:t>
                                </m:r>
                              </m:sub>
                            </m:sSub>
                            <m:r>
                              <a:rPr lang="en-US" altLang="zh-TW" i="1">
                                <a:latin typeface="Cambria Math"/>
                              </a:rPr>
                              <m:t>|</m:t>
                            </m:r>
                            <m:sSub>
                              <m:sSubPr>
                                <m:ctrlPr>
                                  <a:rPr lang="en-US" altLang="zh-TW" i="1">
                                    <a:latin typeface="Cambria Math" panose="02040503050406030204" pitchFamily="18" charset="0"/>
                                  </a:rPr>
                                </m:ctrlPr>
                              </m:sSubPr>
                              <m:e>
                                <m:r>
                                  <a:rPr lang="en-US" altLang="zh-TW" i="1">
                                    <a:latin typeface="Cambria Math"/>
                                  </a:rPr>
                                  <m:t>𝑧</m:t>
                                </m:r>
                              </m:e>
                              <m:sub>
                                <m:r>
                                  <a:rPr lang="en-US" altLang="zh-TW" i="1">
                                    <a:latin typeface="Cambria Math"/>
                                  </a:rPr>
                                  <m:t>1:</m:t>
                                </m:r>
                                <m:r>
                                  <a:rPr lang="en-US" altLang="zh-TW" i="1">
                                    <a:latin typeface="Cambria Math"/>
                                  </a:rPr>
                                  <m:t>𝑡</m:t>
                                </m:r>
                                <m:r>
                                  <a:rPr lang="en-US" altLang="zh-TW" i="1">
                                    <a:latin typeface="Cambria Math"/>
                                  </a:rPr>
                                  <m:t>−1</m:t>
                                </m:r>
                              </m:sub>
                            </m:sSub>
                          </m:e>
                        </m:d>
                      </m:den>
                    </m:f>
                  </m:oMath>
                </a14:m>
                <a:r>
                  <a:rPr lang="en-US" altLang="zh-TW" i="1" dirty="0">
                    <a:latin typeface="Cambria Math"/>
                  </a:rPr>
                  <a:t/>
                </a:r>
                <a:br>
                  <a:rPr lang="en-US" altLang="zh-TW" i="1" dirty="0">
                    <a:latin typeface="Cambria Math"/>
                  </a:rPr>
                </a:br>
                <a:r>
                  <a:rPr lang="en-US" altLang="zh-TW" i="1" dirty="0" smtClean="0">
                    <a:latin typeface="Cambria Math"/>
                  </a:rPr>
                  <a:t/>
                </a:r>
                <a14:m>
                  <m:oMath xmlns:m="http://schemas.openxmlformats.org/officeDocument/2006/math">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𝑡</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b="0" i="1" smtClean="0">
                                <a:latin typeface="Cambria Math" panose="02040503050406030204" pitchFamily="18" charset="0"/>
                              </a:rPr>
                              <m:t>1:</m:t>
                            </m:r>
                            <m:r>
                              <a:rPr lang="en-US" altLang="zh-TW" i="1">
                                <a:latin typeface="Cambria Math" panose="02040503050406030204" pitchFamily="18" charset="0"/>
                              </a:rPr>
                              <m:t>𝑡</m:t>
                            </m:r>
                            <m:r>
                              <a:rPr lang="en-US" altLang="zh-TW" i="1">
                                <a:latin typeface="Cambria Math" panose="02040503050406030204" pitchFamily="18" charset="0"/>
                              </a:rPr>
                              <m:t>−1</m:t>
                            </m:r>
                          </m:sub>
                        </m:sSub>
                      </m:e>
                    </m:d>
                    <m:r>
                      <a:rPr lang="en-US" altLang="zh-TW" i="1">
                        <a:latin typeface="Cambria Math" panose="02040503050406030204" pitchFamily="18" charset="0"/>
                      </a:rPr>
                      <m:t>=∫</m:t>
                    </m:r>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𝑡</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sub>
                        </m:sSub>
                      </m:e>
                    </m:d>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sub>
                        </m:sSub>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b="0" i="1" smtClean="0">
                                <a:latin typeface="Cambria Math" panose="02040503050406030204" pitchFamily="18" charset="0"/>
                              </a:rPr>
                              <m:t>1:</m:t>
                            </m:r>
                            <m:r>
                              <a:rPr lang="en-US" altLang="zh-TW" i="1">
                                <a:latin typeface="Cambria Math" panose="02040503050406030204" pitchFamily="18" charset="0"/>
                              </a:rPr>
                              <m:t>𝑡</m:t>
                            </m:r>
                            <m:r>
                              <a:rPr lang="en-US" altLang="zh-TW" i="1">
                                <a:latin typeface="Cambria Math" panose="02040503050406030204" pitchFamily="18" charset="0"/>
                              </a:rPr>
                              <m:t>−1</m:t>
                            </m:r>
                          </m:sub>
                        </m:sSub>
                      </m:e>
                    </m:d>
                    <m:r>
                      <a:rPr lang="en-US" altLang="zh-TW" i="1">
                        <a:latin typeface="Cambria Math" panose="02040503050406030204" pitchFamily="18" charset="0"/>
                      </a:rPr>
                      <m:t>𝑑</m:t>
                    </m:r>
                    <m:sSub>
                      <m:sSubPr>
                        <m:ctrlPr>
                          <a:rPr lang="en-US" altLang="zh-TW" i="1">
                            <a:latin typeface="Cambria Math" panose="02040503050406030204" pitchFamily="18" charset="0"/>
                          </a:rPr>
                        </m:ctrlPr>
                      </m:sSubPr>
                      <m:e>
                        <m:r>
                          <a:rPr lang="en-US" altLang="zh-TW" i="1">
                            <a:latin typeface="Cambria Math" panose="02040503050406030204" pitchFamily="18" charset="0"/>
                          </a:rPr>
                          <m:t>𝑥</m:t>
                        </m:r>
                      </m:e>
                      <m:sub>
                        <m:r>
                          <a:rPr lang="en-US" altLang="zh-TW" i="1">
                            <a:latin typeface="Cambria Math" panose="02040503050406030204" pitchFamily="18" charset="0"/>
                          </a:rPr>
                          <m:t>𝑡</m:t>
                        </m:r>
                      </m:sub>
                    </m:sSub>
                  </m:oMath>
                </a14:m>
                <a:endParaRPr lang="zh-TW" altLang="en-US" dirty="0"/>
              </a:p>
            </p:txBody>
          </p:sp>
        </mc:Choice>
        <mc:Fallback>
          <p:sp>
            <p:nvSpPr>
              <p:cNvPr id="6" name="圓角矩形 5"/>
              <p:cNvSpPr>
                <a:spLocks noRot="1" noChangeAspect="1" noMove="1" noResize="1" noEditPoints="1" noAdjustHandles="1" noChangeArrowheads="1" noChangeShapeType="1" noTextEdit="1"/>
              </p:cNvSpPr>
              <p:nvPr/>
            </p:nvSpPr>
            <p:spPr>
              <a:xfrm>
                <a:off x="5622851" y="248150"/>
                <a:ext cx="5975497" cy="1286540"/>
              </a:xfrm>
              <a:prstGeom prst="roundRect">
                <a:avLst/>
              </a:prstGeom>
              <a:blipFill rotWithShape="0">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xmlns="" val="10789401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199" y="365125"/>
            <a:ext cx="11102163" cy="1325563"/>
          </a:xfrm>
        </p:spPr>
        <p:txBody>
          <a:bodyPr/>
          <a:lstStyle/>
          <a:p>
            <a:pPr algn="ctr"/>
            <a:r>
              <a:rPr lang="en-US" altLang="zh-TW" dirty="0" smtClean="0"/>
              <a:t>Sample importance resampling (SIR) (bootstrap) particle </a:t>
            </a:r>
            <a:r>
              <a:rPr lang="en-US" altLang="zh-TW" dirty="0"/>
              <a:t>filter</a:t>
            </a:r>
            <a:endParaRPr lang="zh-TW" altLang="en-US" dirty="0"/>
          </a:p>
        </p:txBody>
      </p:sp>
      <mc:AlternateContent xmlns:mc="http://schemas.openxmlformats.org/markup-compatibility/2006">
        <mc:Choice xmlns:a14="http://schemas.microsoft.com/office/drawing/2010/main" xmlns="" Requires="a14">
          <p:sp>
            <p:nvSpPr>
              <p:cNvPr id="3" name="內容版面配置區 2"/>
              <p:cNvSpPr>
                <a:spLocks noGrp="1"/>
              </p:cNvSpPr>
              <p:nvPr>
                <p:ph idx="1"/>
              </p:nvPr>
            </p:nvSpPr>
            <p:spPr>
              <a:xfrm>
                <a:off x="838199" y="1801866"/>
                <a:ext cx="10515600" cy="4737046"/>
              </a:xfrm>
            </p:spPr>
            <p:txBody>
              <a:bodyPr>
                <a:normAutofit/>
              </a:bodyPr>
              <a:lstStyle/>
              <a:p>
                <a:r>
                  <a:rPr lang="en-US" altLang="zh-TW" dirty="0" smtClean="0"/>
                  <a:t>Weight update:</a:t>
                </a:r>
                <a14:m>
                  <m:oMath xmlns:m="http://schemas.openxmlformats.org/officeDocument/2006/math">
                    <m:sSubSup>
                      <m:sSubSupPr>
                        <m:ctrlPr>
                          <a:rPr lang="en-US" altLang="zh-TW" i="1" smtClean="0">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𝑤</m:t>
                        </m:r>
                      </m:e>
                      <m:sub>
                        <m:r>
                          <a:rPr lang="en-US" altLang="zh-TW" i="1">
                            <a:solidFill>
                              <a:srgbClr val="FF0000"/>
                            </a:solidFill>
                            <a:latin typeface="Cambria Math" panose="02040503050406030204" pitchFamily="18" charset="0"/>
                          </a:rPr>
                          <m:t>𝑡</m:t>
                        </m:r>
                      </m:sub>
                      <m:sup>
                        <m:r>
                          <a:rPr lang="en-US" altLang="zh-TW" i="1">
                            <a:solidFill>
                              <a:srgbClr val="FF0000"/>
                            </a:solidFill>
                            <a:latin typeface="Cambria Math" panose="02040503050406030204" pitchFamily="18" charset="0"/>
                          </a:rPr>
                          <m:t>𝑖</m:t>
                        </m:r>
                      </m:sup>
                    </m:sSubSup>
                    <m:r>
                      <a:rPr lang="en-US" altLang="zh-TW" i="1" smtClean="0">
                        <a:solidFill>
                          <a:srgbClr val="FF0000"/>
                        </a:solidFill>
                        <a:latin typeface="Cambria Math" panose="02040503050406030204" pitchFamily="18" charset="0"/>
                        <a:ea typeface="Cambria Math" panose="02040503050406030204" pitchFamily="18" charset="0"/>
                      </a:rPr>
                      <m:t>∝</m:t>
                    </m:r>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𝑤</m:t>
                        </m:r>
                      </m:e>
                      <m:sub>
                        <m:r>
                          <a:rPr lang="en-US" altLang="zh-TW" i="1">
                            <a:solidFill>
                              <a:srgbClr val="FF0000"/>
                            </a:solidFill>
                            <a:latin typeface="Cambria Math" panose="02040503050406030204" pitchFamily="18" charset="0"/>
                          </a:rPr>
                          <m:t>𝑡</m:t>
                        </m:r>
                        <m:r>
                          <a:rPr lang="en-US" altLang="zh-TW" i="1">
                            <a:solidFill>
                              <a:srgbClr val="FF0000"/>
                            </a:solidFill>
                            <a:latin typeface="Cambria Math" panose="02040503050406030204" pitchFamily="18" charset="0"/>
                          </a:rPr>
                          <m:t>−1</m:t>
                        </m:r>
                      </m:sub>
                      <m:sup>
                        <m:r>
                          <a:rPr lang="en-US" altLang="zh-TW" i="1">
                            <a:solidFill>
                              <a:srgbClr val="FF0000"/>
                            </a:solidFill>
                            <a:latin typeface="Cambria Math" panose="02040503050406030204" pitchFamily="18" charset="0"/>
                          </a:rPr>
                          <m:t>𝑖</m:t>
                        </m:r>
                      </m:sup>
                    </m:sSubSup>
                    <m:f>
                      <m:fPr>
                        <m:ctrlPr>
                          <a:rPr lang="en-US" altLang="zh-TW" i="1">
                            <a:solidFill>
                              <a:srgbClr val="FF0000"/>
                            </a:solidFill>
                            <a:latin typeface="Cambria Math" panose="02040503050406030204" pitchFamily="18" charset="0"/>
                          </a:rPr>
                        </m:ctrlPr>
                      </m:fPr>
                      <m:num>
                        <m:r>
                          <a:rPr lang="en-US" altLang="zh-TW" i="1">
                            <a:solidFill>
                              <a:srgbClr val="FF0000"/>
                            </a:solidFill>
                            <a:latin typeface="Cambria Math" panose="02040503050406030204" pitchFamily="18" charset="0"/>
                          </a:rPr>
                          <m:t>𝑃</m:t>
                        </m:r>
                        <m:d>
                          <m:dPr>
                            <m:ctrlPr>
                              <a:rPr lang="en-US" altLang="zh-TW" i="1">
                                <a:solidFill>
                                  <a:srgbClr val="FF0000"/>
                                </a:solidFill>
                                <a:latin typeface="Cambria Math" panose="02040503050406030204" pitchFamily="18" charset="0"/>
                              </a:rPr>
                            </m:ctrlPr>
                          </m:dPr>
                          <m:e>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𝑧</m:t>
                                </m:r>
                              </m:e>
                              <m:sub>
                                <m:r>
                                  <a:rPr lang="en-US" altLang="zh-TW" i="1">
                                    <a:solidFill>
                                      <a:srgbClr val="FF0000"/>
                                    </a:solidFill>
                                    <a:latin typeface="Cambria Math" panose="02040503050406030204" pitchFamily="18" charset="0"/>
                                  </a:rPr>
                                  <m:t>𝑡</m:t>
                                </m:r>
                              </m:sub>
                            </m:sSub>
                            <m:r>
                              <a:rPr lang="en-US" altLang="zh-TW" i="1">
                                <a:solidFill>
                                  <a:srgbClr val="FF0000"/>
                                </a:solidFill>
                                <a:latin typeface="Cambria Math" panose="02040503050406030204" pitchFamily="18" charset="0"/>
                              </a:rPr>
                              <m:t>|</m:t>
                            </m:r>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𝑥</m:t>
                                </m:r>
                              </m:e>
                              <m:sub>
                                <m:r>
                                  <a:rPr lang="en-US" altLang="zh-TW" i="1">
                                    <a:solidFill>
                                      <a:srgbClr val="FF0000"/>
                                    </a:solidFill>
                                    <a:latin typeface="Cambria Math" panose="02040503050406030204" pitchFamily="18" charset="0"/>
                                  </a:rPr>
                                  <m:t>𝑡</m:t>
                                </m:r>
                              </m:sub>
                              <m:sup>
                                <m:r>
                                  <a:rPr lang="en-US" altLang="zh-TW" i="1">
                                    <a:solidFill>
                                      <a:srgbClr val="FF0000"/>
                                    </a:solidFill>
                                    <a:latin typeface="Cambria Math" panose="02040503050406030204" pitchFamily="18" charset="0"/>
                                  </a:rPr>
                                  <m:t>𝑖</m:t>
                                </m:r>
                              </m:sup>
                            </m:sSubSup>
                          </m:e>
                        </m:d>
                        <m:r>
                          <a:rPr lang="en-US" altLang="zh-TW" i="1">
                            <a:solidFill>
                              <a:srgbClr val="FF0000"/>
                            </a:solidFill>
                            <a:latin typeface="Cambria Math" panose="02040503050406030204" pitchFamily="18" charset="0"/>
                          </a:rPr>
                          <m:t>𝑃</m:t>
                        </m:r>
                        <m:r>
                          <a:rPr lang="en-US" altLang="zh-TW" i="1">
                            <a:solidFill>
                              <a:srgbClr val="FF0000"/>
                            </a:solidFill>
                            <a:latin typeface="Cambria Math" panose="02040503050406030204" pitchFamily="18" charset="0"/>
                          </a:rPr>
                          <m:t>(</m:t>
                        </m:r>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𝑥</m:t>
                            </m:r>
                          </m:e>
                          <m:sub>
                            <m:r>
                              <a:rPr lang="en-US" altLang="zh-TW" i="1">
                                <a:solidFill>
                                  <a:srgbClr val="FF0000"/>
                                </a:solidFill>
                                <a:latin typeface="Cambria Math" panose="02040503050406030204" pitchFamily="18" charset="0"/>
                              </a:rPr>
                              <m:t>𝑡</m:t>
                            </m:r>
                          </m:sub>
                          <m:sup>
                            <m:r>
                              <a:rPr lang="en-US" altLang="zh-TW" i="1">
                                <a:solidFill>
                                  <a:srgbClr val="FF0000"/>
                                </a:solidFill>
                                <a:latin typeface="Cambria Math" panose="02040503050406030204" pitchFamily="18" charset="0"/>
                              </a:rPr>
                              <m:t>𝑖</m:t>
                            </m:r>
                          </m:sup>
                        </m:sSubSup>
                        <m:r>
                          <a:rPr lang="en-US" altLang="zh-TW" i="1">
                            <a:solidFill>
                              <a:srgbClr val="FF0000"/>
                            </a:solidFill>
                            <a:latin typeface="Cambria Math" panose="02040503050406030204" pitchFamily="18" charset="0"/>
                          </a:rPr>
                          <m:t>|</m:t>
                        </m:r>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𝑥</m:t>
                            </m:r>
                          </m:e>
                          <m:sub>
                            <m:r>
                              <a:rPr lang="en-US" altLang="zh-TW" i="1">
                                <a:solidFill>
                                  <a:srgbClr val="FF0000"/>
                                </a:solidFill>
                                <a:latin typeface="Cambria Math" panose="02040503050406030204" pitchFamily="18" charset="0"/>
                              </a:rPr>
                              <m:t>𝑡</m:t>
                            </m:r>
                            <m:r>
                              <a:rPr lang="en-US" altLang="zh-TW" i="1">
                                <a:solidFill>
                                  <a:srgbClr val="FF0000"/>
                                </a:solidFill>
                                <a:latin typeface="Cambria Math" panose="02040503050406030204" pitchFamily="18" charset="0"/>
                              </a:rPr>
                              <m:t>−1</m:t>
                            </m:r>
                          </m:sub>
                          <m:sup>
                            <m:r>
                              <a:rPr lang="en-US" altLang="zh-TW" i="1">
                                <a:solidFill>
                                  <a:srgbClr val="FF0000"/>
                                </a:solidFill>
                                <a:latin typeface="Cambria Math" panose="02040503050406030204" pitchFamily="18" charset="0"/>
                              </a:rPr>
                              <m:t>𝑖</m:t>
                            </m:r>
                          </m:sup>
                        </m:sSubSup>
                        <m:r>
                          <a:rPr lang="en-US" altLang="zh-TW" i="1">
                            <a:solidFill>
                              <a:srgbClr val="FF0000"/>
                            </a:solidFill>
                            <a:latin typeface="Cambria Math" panose="02040503050406030204" pitchFamily="18" charset="0"/>
                          </a:rPr>
                          <m:t>)</m:t>
                        </m:r>
                      </m:num>
                      <m:den>
                        <m:r>
                          <a:rPr lang="en-US" altLang="zh-TW" i="1" dirty="0">
                            <a:solidFill>
                              <a:srgbClr val="FF0000"/>
                            </a:solidFill>
                            <a:latin typeface="Cambria Math" panose="02040503050406030204" pitchFamily="18" charset="0"/>
                          </a:rPr>
                          <m:t>𝑄</m:t>
                        </m:r>
                        <m:d>
                          <m:dPr>
                            <m:ctrlPr>
                              <a:rPr lang="en-US" altLang="zh-TW" i="1" dirty="0">
                                <a:solidFill>
                                  <a:srgbClr val="FF0000"/>
                                </a:solidFill>
                                <a:latin typeface="Cambria Math" panose="02040503050406030204" pitchFamily="18" charset="0"/>
                              </a:rPr>
                            </m:ctrlPr>
                          </m:dPr>
                          <m:e>
                            <m:sSubSup>
                              <m:sSubSupPr>
                                <m:ctrlPr>
                                  <a:rPr lang="en-US" altLang="zh-TW" b="0" i="1" dirty="0" smtClean="0">
                                    <a:solidFill>
                                      <a:srgbClr val="FF0000"/>
                                    </a:solidFill>
                                    <a:latin typeface="Cambria Math" panose="02040503050406030204" pitchFamily="18" charset="0"/>
                                  </a:rPr>
                                </m:ctrlPr>
                              </m:sSubSupPr>
                              <m:e>
                                <m:r>
                                  <a:rPr lang="en-US" altLang="zh-TW" i="1" dirty="0">
                                    <a:solidFill>
                                      <a:srgbClr val="FF0000"/>
                                    </a:solidFill>
                                    <a:latin typeface="Cambria Math" panose="02040503050406030204" pitchFamily="18" charset="0"/>
                                  </a:rPr>
                                  <m:t>𝑥</m:t>
                                </m:r>
                              </m:e>
                              <m:sub>
                                <m:r>
                                  <a:rPr lang="en-US" altLang="zh-TW" i="1" dirty="0">
                                    <a:solidFill>
                                      <a:srgbClr val="FF0000"/>
                                    </a:solidFill>
                                    <a:latin typeface="Cambria Math" panose="02040503050406030204" pitchFamily="18" charset="0"/>
                                  </a:rPr>
                                  <m:t>𝑡</m:t>
                                </m:r>
                              </m:sub>
                              <m:sup>
                                <m:r>
                                  <a:rPr lang="en-US" altLang="zh-TW" b="0" i="1" dirty="0" smtClean="0">
                                    <a:solidFill>
                                      <a:srgbClr val="FF0000"/>
                                    </a:solidFill>
                                    <a:latin typeface="Cambria Math" panose="02040503050406030204" pitchFamily="18" charset="0"/>
                                  </a:rPr>
                                  <m:t>𝑖</m:t>
                                </m:r>
                              </m:sup>
                            </m:sSubSup>
                            <m:r>
                              <a:rPr lang="en-US" altLang="zh-TW" i="1" dirty="0">
                                <a:solidFill>
                                  <a:srgbClr val="FF0000"/>
                                </a:solidFill>
                                <a:latin typeface="Cambria Math" panose="02040503050406030204" pitchFamily="18" charset="0"/>
                              </a:rPr>
                              <m:t>|</m:t>
                            </m:r>
                            <m:sSubSup>
                              <m:sSubSupPr>
                                <m:ctrlPr>
                                  <a:rPr lang="en-US" altLang="zh-TW" b="0" i="1" dirty="0" smtClean="0">
                                    <a:solidFill>
                                      <a:srgbClr val="FF0000"/>
                                    </a:solidFill>
                                    <a:latin typeface="Cambria Math" panose="02040503050406030204" pitchFamily="18" charset="0"/>
                                  </a:rPr>
                                </m:ctrlPr>
                              </m:sSubSupPr>
                              <m:e>
                                <m:r>
                                  <a:rPr lang="en-US" altLang="zh-TW" b="0" i="1" dirty="0" smtClean="0">
                                    <a:solidFill>
                                      <a:srgbClr val="FF0000"/>
                                    </a:solidFill>
                                    <a:latin typeface="Cambria Math" panose="02040503050406030204" pitchFamily="18" charset="0"/>
                                  </a:rPr>
                                  <m:t>𝑥</m:t>
                                </m:r>
                              </m:e>
                              <m:sub>
                                <m:r>
                                  <a:rPr lang="en-US" altLang="zh-TW" b="0" i="1" dirty="0" smtClean="0">
                                    <a:solidFill>
                                      <a:srgbClr val="FF0000"/>
                                    </a:solidFill>
                                    <a:latin typeface="Cambria Math" panose="02040503050406030204" pitchFamily="18" charset="0"/>
                                  </a:rPr>
                                  <m:t>0:</m:t>
                                </m:r>
                                <m:r>
                                  <a:rPr lang="en-US" altLang="zh-TW" b="0" i="1" dirty="0" smtClean="0">
                                    <a:solidFill>
                                      <a:srgbClr val="FF0000"/>
                                    </a:solidFill>
                                    <a:latin typeface="Cambria Math" panose="02040503050406030204" pitchFamily="18" charset="0"/>
                                  </a:rPr>
                                  <m:t>𝑡</m:t>
                                </m:r>
                                <m:r>
                                  <a:rPr lang="en-US" altLang="zh-TW" b="0" i="1" dirty="0" smtClean="0">
                                    <a:solidFill>
                                      <a:srgbClr val="FF0000"/>
                                    </a:solidFill>
                                    <a:latin typeface="Cambria Math" panose="02040503050406030204" pitchFamily="18" charset="0"/>
                                  </a:rPr>
                                  <m:t>−1</m:t>
                                </m:r>
                              </m:sub>
                              <m:sup>
                                <m:r>
                                  <a:rPr lang="en-US" altLang="zh-TW" b="0" i="1" dirty="0" smtClean="0">
                                    <a:solidFill>
                                      <a:srgbClr val="FF0000"/>
                                    </a:solidFill>
                                    <a:latin typeface="Cambria Math" panose="02040503050406030204" pitchFamily="18" charset="0"/>
                                  </a:rPr>
                                  <m:t>𝑖</m:t>
                                </m:r>
                              </m:sup>
                            </m:sSubSup>
                            <m:r>
                              <a:rPr lang="en-US" altLang="zh-TW" b="0" i="1" dirty="0" smtClean="0">
                                <a:solidFill>
                                  <a:srgbClr val="FF0000"/>
                                </a:solidFill>
                                <a:latin typeface="Cambria Math" panose="02040503050406030204" pitchFamily="18" charset="0"/>
                              </a:rPr>
                              <m:t>,</m:t>
                            </m:r>
                            <m:sSub>
                              <m:sSubPr>
                                <m:ctrlPr>
                                  <a:rPr lang="en-US" altLang="zh-TW" i="1" dirty="0">
                                    <a:solidFill>
                                      <a:srgbClr val="FF0000"/>
                                    </a:solidFill>
                                    <a:latin typeface="Cambria Math" panose="02040503050406030204" pitchFamily="18" charset="0"/>
                                  </a:rPr>
                                </m:ctrlPr>
                              </m:sSubPr>
                              <m:e>
                                <m:r>
                                  <a:rPr lang="en-US" altLang="zh-TW" i="1" dirty="0">
                                    <a:solidFill>
                                      <a:srgbClr val="FF0000"/>
                                    </a:solidFill>
                                    <a:latin typeface="Cambria Math" panose="02040503050406030204" pitchFamily="18" charset="0"/>
                                  </a:rPr>
                                  <m:t>𝑧</m:t>
                                </m:r>
                              </m:e>
                              <m:sub>
                                <m:r>
                                  <a:rPr lang="en-US" altLang="zh-TW" i="1" dirty="0">
                                    <a:solidFill>
                                      <a:srgbClr val="FF0000"/>
                                    </a:solidFill>
                                    <a:latin typeface="Cambria Math" panose="02040503050406030204" pitchFamily="18" charset="0"/>
                                  </a:rPr>
                                  <m:t>1:</m:t>
                                </m:r>
                                <m:r>
                                  <a:rPr lang="en-US" altLang="zh-TW" i="1" dirty="0">
                                    <a:solidFill>
                                      <a:srgbClr val="FF0000"/>
                                    </a:solidFill>
                                    <a:latin typeface="Cambria Math" panose="02040503050406030204" pitchFamily="18" charset="0"/>
                                  </a:rPr>
                                  <m:t>𝑡</m:t>
                                </m:r>
                              </m:sub>
                            </m:sSub>
                          </m:e>
                        </m:d>
                      </m:den>
                    </m:f>
                  </m:oMath>
                </a14:m>
                <a:endParaRPr lang="en-US" altLang="zh-TW" dirty="0" smtClean="0"/>
              </a:p>
              <a:p>
                <a:r>
                  <a:rPr lang="zh-TW" altLang="en-US" dirty="0" smtClean="0"/>
                  <a:t>如果選擇</a:t>
                </a:r>
                <a14:m>
                  <m:oMath xmlns:m="http://schemas.openxmlformats.org/officeDocument/2006/math">
                    <m:r>
                      <a:rPr lang="en-US" altLang="zh-TW" i="1" dirty="0">
                        <a:latin typeface="Cambria Math" panose="02040503050406030204" pitchFamily="18" charset="0"/>
                      </a:rPr>
                      <m:t>𝑄</m:t>
                    </m:r>
                    <m:d>
                      <m:dPr>
                        <m:ctrlPr>
                          <a:rPr lang="en-US" altLang="zh-TW" i="1" dirty="0">
                            <a:latin typeface="Cambria Math" panose="02040503050406030204" pitchFamily="18" charset="0"/>
                          </a:rPr>
                        </m:ctrlPr>
                      </m:dPr>
                      <m:e>
                        <m:sSubSup>
                          <m:sSubSupPr>
                            <m:ctrlPr>
                              <a:rPr lang="en-US" altLang="zh-TW" i="1" dirty="0">
                                <a:latin typeface="Cambria Math" panose="02040503050406030204" pitchFamily="18" charset="0"/>
                              </a:rPr>
                            </m:ctrlPr>
                          </m:sSubSupPr>
                          <m:e>
                            <m:r>
                              <a:rPr lang="en-US" altLang="zh-TW" i="1" dirty="0">
                                <a:latin typeface="Cambria Math" panose="02040503050406030204" pitchFamily="18" charset="0"/>
                              </a:rPr>
                              <m:t>𝑥</m:t>
                            </m:r>
                          </m:e>
                          <m:sub>
                            <m:r>
                              <a:rPr lang="en-US" altLang="zh-TW" i="1" dirty="0">
                                <a:latin typeface="Cambria Math" panose="02040503050406030204" pitchFamily="18" charset="0"/>
                              </a:rPr>
                              <m:t>𝑡</m:t>
                            </m:r>
                          </m:sub>
                          <m:sup>
                            <m:r>
                              <a:rPr lang="en-US" altLang="zh-TW" i="1" dirty="0">
                                <a:latin typeface="Cambria Math" panose="02040503050406030204" pitchFamily="18" charset="0"/>
                              </a:rPr>
                              <m:t>𝑖</m:t>
                            </m:r>
                          </m:sup>
                        </m:sSubSup>
                        <m:r>
                          <a:rPr lang="en-US" altLang="zh-TW" i="1" dirty="0">
                            <a:latin typeface="Cambria Math" panose="02040503050406030204" pitchFamily="18" charset="0"/>
                          </a:rPr>
                          <m:t>|</m:t>
                        </m:r>
                        <m:sSubSup>
                          <m:sSubSupPr>
                            <m:ctrlPr>
                              <a:rPr lang="en-US" altLang="zh-TW" i="1" dirty="0">
                                <a:latin typeface="Cambria Math" panose="02040503050406030204" pitchFamily="18" charset="0"/>
                              </a:rPr>
                            </m:ctrlPr>
                          </m:sSubSupPr>
                          <m:e>
                            <m:r>
                              <a:rPr lang="en-US" altLang="zh-TW" i="1" dirty="0">
                                <a:latin typeface="Cambria Math" panose="02040503050406030204" pitchFamily="18" charset="0"/>
                              </a:rPr>
                              <m:t>𝑥</m:t>
                            </m:r>
                          </m:e>
                          <m:sub>
                            <m:r>
                              <a:rPr lang="en-US" altLang="zh-TW" i="1" dirty="0">
                                <a:latin typeface="Cambria Math" panose="02040503050406030204" pitchFamily="18" charset="0"/>
                              </a:rPr>
                              <m:t>0:</m:t>
                            </m:r>
                            <m:r>
                              <a:rPr lang="en-US" altLang="zh-TW" i="1" dirty="0">
                                <a:latin typeface="Cambria Math" panose="02040503050406030204" pitchFamily="18" charset="0"/>
                              </a:rPr>
                              <m:t>𝑡</m:t>
                            </m:r>
                            <m:r>
                              <a:rPr lang="en-US" altLang="zh-TW" i="1" dirty="0">
                                <a:latin typeface="Cambria Math" panose="02040503050406030204" pitchFamily="18" charset="0"/>
                              </a:rPr>
                              <m:t>−1</m:t>
                            </m:r>
                          </m:sub>
                          <m:sup>
                            <m:r>
                              <a:rPr lang="en-US" altLang="zh-TW" i="1" dirty="0">
                                <a:latin typeface="Cambria Math" panose="02040503050406030204" pitchFamily="18" charset="0"/>
                              </a:rPr>
                              <m:t>𝑖</m:t>
                            </m:r>
                          </m:sup>
                        </m:sSubSup>
                        <m:r>
                          <a:rPr lang="en-US" altLang="zh-TW" i="1" dirty="0">
                            <a:latin typeface="Cambria Math" panose="02040503050406030204" pitchFamily="18" charset="0"/>
                          </a:rPr>
                          <m:t>,</m:t>
                        </m:r>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𝑧</m:t>
                            </m:r>
                          </m:e>
                          <m:sub>
                            <m:r>
                              <a:rPr lang="en-US" altLang="zh-TW" i="1" dirty="0">
                                <a:latin typeface="Cambria Math" panose="02040503050406030204" pitchFamily="18" charset="0"/>
                              </a:rPr>
                              <m:t>1:</m:t>
                            </m:r>
                            <m:r>
                              <a:rPr lang="en-US" altLang="zh-TW" i="1" dirty="0">
                                <a:latin typeface="Cambria Math" panose="02040503050406030204" pitchFamily="18" charset="0"/>
                              </a:rPr>
                              <m:t>𝑡</m:t>
                            </m:r>
                          </m:sub>
                        </m:sSub>
                      </m:e>
                    </m:d>
                    <m:r>
                      <a:rPr lang="en-US" altLang="zh-TW" b="0" i="0" dirty="0" smtClean="0">
                        <a:latin typeface="Cambria Math" panose="02040503050406030204" pitchFamily="18" charset="0"/>
                      </a:rPr>
                      <m:t>=</m:t>
                    </m:r>
                    <m:r>
                      <a:rPr lang="en-US" altLang="zh-TW" i="1" dirty="0">
                        <a:latin typeface="Cambria Math" panose="02040503050406030204" pitchFamily="18" charset="0"/>
                      </a:rPr>
                      <m:t>𝑄</m:t>
                    </m:r>
                    <m:d>
                      <m:dPr>
                        <m:ctrlPr>
                          <a:rPr lang="en-US" altLang="zh-TW" i="1" dirty="0">
                            <a:latin typeface="Cambria Math" panose="02040503050406030204" pitchFamily="18" charset="0"/>
                          </a:rPr>
                        </m:ctrlPr>
                      </m:dPr>
                      <m:e>
                        <m:sSubSup>
                          <m:sSubSupPr>
                            <m:ctrlPr>
                              <a:rPr lang="en-US" altLang="zh-TW" i="1" dirty="0">
                                <a:latin typeface="Cambria Math" panose="02040503050406030204" pitchFamily="18" charset="0"/>
                              </a:rPr>
                            </m:ctrlPr>
                          </m:sSubSupPr>
                          <m:e>
                            <m:r>
                              <a:rPr lang="en-US" altLang="zh-TW" i="1" dirty="0">
                                <a:latin typeface="Cambria Math" panose="02040503050406030204" pitchFamily="18" charset="0"/>
                              </a:rPr>
                              <m:t>𝑥</m:t>
                            </m:r>
                          </m:e>
                          <m:sub>
                            <m:r>
                              <a:rPr lang="en-US" altLang="zh-TW" i="1" dirty="0">
                                <a:latin typeface="Cambria Math" panose="02040503050406030204" pitchFamily="18" charset="0"/>
                              </a:rPr>
                              <m:t>𝑡</m:t>
                            </m:r>
                          </m:sub>
                          <m:sup>
                            <m:r>
                              <a:rPr lang="en-US" altLang="zh-TW" i="1" dirty="0">
                                <a:latin typeface="Cambria Math" panose="02040503050406030204" pitchFamily="18" charset="0"/>
                              </a:rPr>
                              <m:t>𝑖</m:t>
                            </m:r>
                          </m:sup>
                        </m:sSubSup>
                        <m:r>
                          <a:rPr lang="en-US" altLang="zh-TW" i="1" dirty="0">
                            <a:latin typeface="Cambria Math" panose="02040503050406030204" pitchFamily="18" charset="0"/>
                          </a:rPr>
                          <m:t>|</m:t>
                        </m:r>
                        <m:sSubSup>
                          <m:sSubSupPr>
                            <m:ctrlPr>
                              <a:rPr lang="en-US" altLang="zh-TW" i="1" dirty="0">
                                <a:latin typeface="Cambria Math" panose="02040503050406030204" pitchFamily="18" charset="0"/>
                              </a:rPr>
                            </m:ctrlPr>
                          </m:sSubSupPr>
                          <m:e>
                            <m:r>
                              <a:rPr lang="en-US" altLang="zh-TW" i="1" dirty="0">
                                <a:latin typeface="Cambria Math" panose="02040503050406030204" pitchFamily="18" charset="0"/>
                              </a:rPr>
                              <m:t>𝑥</m:t>
                            </m:r>
                          </m:e>
                          <m:sub>
                            <m:r>
                              <a:rPr lang="en-US" altLang="zh-TW" i="1" dirty="0">
                                <a:latin typeface="Cambria Math" panose="02040503050406030204" pitchFamily="18" charset="0"/>
                              </a:rPr>
                              <m:t>𝑡</m:t>
                            </m:r>
                            <m:r>
                              <a:rPr lang="en-US" altLang="zh-TW" i="1" dirty="0">
                                <a:latin typeface="Cambria Math" panose="02040503050406030204" pitchFamily="18" charset="0"/>
                              </a:rPr>
                              <m:t>−1</m:t>
                            </m:r>
                          </m:sub>
                          <m:sup>
                            <m:r>
                              <a:rPr lang="en-US" altLang="zh-TW" i="1" dirty="0">
                                <a:latin typeface="Cambria Math" panose="02040503050406030204" pitchFamily="18" charset="0"/>
                              </a:rPr>
                              <m:t>𝑖</m:t>
                            </m:r>
                          </m:sup>
                        </m:sSubSup>
                        <m:r>
                          <a:rPr lang="en-US" altLang="zh-TW" i="1" dirty="0">
                            <a:latin typeface="Cambria Math" panose="02040503050406030204" pitchFamily="18" charset="0"/>
                          </a:rPr>
                          <m:t>,</m:t>
                        </m:r>
                        <m:sSub>
                          <m:sSubPr>
                            <m:ctrlPr>
                              <a:rPr lang="en-US" altLang="zh-TW" i="1" dirty="0">
                                <a:latin typeface="Cambria Math" panose="02040503050406030204" pitchFamily="18" charset="0"/>
                              </a:rPr>
                            </m:ctrlPr>
                          </m:sSubPr>
                          <m:e>
                            <m:r>
                              <a:rPr lang="en-US" altLang="zh-TW" i="1" dirty="0">
                                <a:latin typeface="Cambria Math" panose="02040503050406030204" pitchFamily="18" charset="0"/>
                              </a:rPr>
                              <m:t>𝑧</m:t>
                            </m:r>
                          </m:e>
                          <m:sub>
                            <m:r>
                              <a:rPr lang="en-US" altLang="zh-TW" i="1" dirty="0">
                                <a:latin typeface="Cambria Math" panose="02040503050406030204" pitchFamily="18" charset="0"/>
                              </a:rPr>
                              <m:t>𝑡</m:t>
                            </m:r>
                          </m:sub>
                        </m:sSub>
                      </m:e>
                    </m:d>
                  </m:oMath>
                </a14:m>
                <a:r>
                  <a:rPr lang="zh-TW" altLang="en-US" dirty="0" smtClean="0"/>
                  <a:t>，則</a:t>
                </a:r>
                <a:r>
                  <a:rPr lang="en-US" altLang="zh-TW" dirty="0" smtClean="0"/>
                  <a:t>weight</a:t>
                </a:r>
                <a:r>
                  <a:rPr lang="zh-TW" altLang="en-US" dirty="0"/>
                  <a:t/>
                </a:r>
                <a:r>
                  <a:rPr lang="en-US" altLang="zh-TW" dirty="0" smtClean="0"/>
                  <a:t>on time </a:t>
                </a:r>
                <a:r>
                  <a:rPr lang="en-US" altLang="zh-TW" i="1" dirty="0" smtClean="0"/>
                  <a:t>t</a:t>
                </a:r>
                <a:r>
                  <a:rPr lang="en-US" altLang="zh-TW" dirty="0" smtClean="0"/>
                  <a:t>,</a:t>
                </a:r>
                <a:r>
                  <a:rPr lang="zh-TW" altLang="en-US" dirty="0" smtClean="0"/>
                  <a:t>只與</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𝑡</m:t>
                        </m:r>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𝑡</m:t>
                        </m:r>
                      </m:sub>
                    </m:sSub>
                  </m:oMath>
                </a14:m>
                <a:r>
                  <a:rPr lang="zh-TW" altLang="en-US" dirty="0" smtClean="0"/>
                  <a:t>有關。</a:t>
                </a:r>
                <a14:m>
                  <m:oMath xmlns:m="http://schemas.openxmlformats.org/officeDocument/2006/math">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𝑤</m:t>
                        </m:r>
                      </m:e>
                      <m:sub>
                        <m:r>
                          <a:rPr lang="en-US" altLang="zh-TW" i="1">
                            <a:solidFill>
                              <a:srgbClr val="FF0000"/>
                            </a:solidFill>
                            <a:latin typeface="Cambria Math" panose="02040503050406030204" pitchFamily="18" charset="0"/>
                          </a:rPr>
                          <m:t>𝑡</m:t>
                        </m:r>
                      </m:sub>
                      <m:sup>
                        <m:r>
                          <a:rPr lang="en-US" altLang="zh-TW" i="1">
                            <a:solidFill>
                              <a:srgbClr val="FF0000"/>
                            </a:solidFill>
                            <a:latin typeface="Cambria Math" panose="02040503050406030204" pitchFamily="18" charset="0"/>
                          </a:rPr>
                          <m:t>𝑖</m:t>
                        </m:r>
                      </m:sup>
                    </m:sSubSup>
                    <m:r>
                      <a:rPr lang="en-US" altLang="zh-TW" i="1">
                        <a:solidFill>
                          <a:srgbClr val="FF0000"/>
                        </a:solidFill>
                        <a:latin typeface="Cambria Math" panose="02040503050406030204" pitchFamily="18" charset="0"/>
                        <a:ea typeface="Cambria Math" panose="02040503050406030204" pitchFamily="18" charset="0"/>
                      </a:rPr>
                      <m:t>∝</m:t>
                    </m:r>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𝑤</m:t>
                        </m:r>
                      </m:e>
                      <m:sub>
                        <m:r>
                          <a:rPr lang="en-US" altLang="zh-TW" i="1">
                            <a:solidFill>
                              <a:srgbClr val="FF0000"/>
                            </a:solidFill>
                            <a:latin typeface="Cambria Math" panose="02040503050406030204" pitchFamily="18" charset="0"/>
                          </a:rPr>
                          <m:t>𝑡</m:t>
                        </m:r>
                        <m:r>
                          <a:rPr lang="en-US" altLang="zh-TW" i="1">
                            <a:solidFill>
                              <a:srgbClr val="FF0000"/>
                            </a:solidFill>
                            <a:latin typeface="Cambria Math" panose="02040503050406030204" pitchFamily="18" charset="0"/>
                          </a:rPr>
                          <m:t>−1</m:t>
                        </m:r>
                      </m:sub>
                      <m:sup>
                        <m:r>
                          <a:rPr lang="en-US" altLang="zh-TW" i="1">
                            <a:solidFill>
                              <a:srgbClr val="FF0000"/>
                            </a:solidFill>
                            <a:latin typeface="Cambria Math" panose="02040503050406030204" pitchFamily="18" charset="0"/>
                          </a:rPr>
                          <m:t>𝑖</m:t>
                        </m:r>
                      </m:sup>
                    </m:sSubSup>
                    <m:f>
                      <m:fPr>
                        <m:ctrlPr>
                          <a:rPr lang="en-US" altLang="zh-TW" i="1">
                            <a:solidFill>
                              <a:srgbClr val="FF0000"/>
                            </a:solidFill>
                            <a:latin typeface="Cambria Math" panose="02040503050406030204" pitchFamily="18" charset="0"/>
                          </a:rPr>
                        </m:ctrlPr>
                      </m:fPr>
                      <m:num>
                        <m:r>
                          <a:rPr lang="en-US" altLang="zh-TW" i="1">
                            <a:solidFill>
                              <a:srgbClr val="FF0000"/>
                            </a:solidFill>
                            <a:latin typeface="Cambria Math" panose="02040503050406030204" pitchFamily="18" charset="0"/>
                          </a:rPr>
                          <m:t>𝑃</m:t>
                        </m:r>
                        <m:d>
                          <m:dPr>
                            <m:ctrlPr>
                              <a:rPr lang="en-US" altLang="zh-TW" i="1">
                                <a:solidFill>
                                  <a:srgbClr val="FF0000"/>
                                </a:solidFill>
                                <a:latin typeface="Cambria Math" panose="02040503050406030204" pitchFamily="18" charset="0"/>
                              </a:rPr>
                            </m:ctrlPr>
                          </m:dPr>
                          <m:e>
                            <m:sSub>
                              <m:sSubPr>
                                <m:ctrlPr>
                                  <a:rPr lang="en-US" altLang="zh-TW" i="1">
                                    <a:solidFill>
                                      <a:srgbClr val="FF0000"/>
                                    </a:solidFill>
                                    <a:latin typeface="Cambria Math" panose="02040503050406030204" pitchFamily="18" charset="0"/>
                                  </a:rPr>
                                </m:ctrlPr>
                              </m:sSubPr>
                              <m:e>
                                <m:r>
                                  <a:rPr lang="en-US" altLang="zh-TW" i="1">
                                    <a:solidFill>
                                      <a:srgbClr val="FF0000"/>
                                    </a:solidFill>
                                    <a:latin typeface="Cambria Math" panose="02040503050406030204" pitchFamily="18" charset="0"/>
                                  </a:rPr>
                                  <m:t>𝑧</m:t>
                                </m:r>
                              </m:e>
                              <m:sub>
                                <m:r>
                                  <a:rPr lang="en-US" altLang="zh-TW" i="1">
                                    <a:solidFill>
                                      <a:srgbClr val="FF0000"/>
                                    </a:solidFill>
                                    <a:latin typeface="Cambria Math" panose="02040503050406030204" pitchFamily="18" charset="0"/>
                                  </a:rPr>
                                  <m:t>𝑡</m:t>
                                </m:r>
                              </m:sub>
                            </m:sSub>
                            <m:r>
                              <a:rPr lang="en-US" altLang="zh-TW" i="1">
                                <a:solidFill>
                                  <a:srgbClr val="FF0000"/>
                                </a:solidFill>
                                <a:latin typeface="Cambria Math" panose="02040503050406030204" pitchFamily="18" charset="0"/>
                              </a:rPr>
                              <m:t>|</m:t>
                            </m:r>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𝑥</m:t>
                                </m:r>
                              </m:e>
                              <m:sub>
                                <m:r>
                                  <a:rPr lang="en-US" altLang="zh-TW" i="1">
                                    <a:solidFill>
                                      <a:srgbClr val="FF0000"/>
                                    </a:solidFill>
                                    <a:latin typeface="Cambria Math" panose="02040503050406030204" pitchFamily="18" charset="0"/>
                                  </a:rPr>
                                  <m:t>𝑡</m:t>
                                </m:r>
                              </m:sub>
                              <m:sup>
                                <m:r>
                                  <a:rPr lang="en-US" altLang="zh-TW" i="1">
                                    <a:solidFill>
                                      <a:srgbClr val="FF0000"/>
                                    </a:solidFill>
                                    <a:latin typeface="Cambria Math" panose="02040503050406030204" pitchFamily="18" charset="0"/>
                                  </a:rPr>
                                  <m:t>𝑖</m:t>
                                </m:r>
                              </m:sup>
                            </m:sSubSup>
                          </m:e>
                        </m:d>
                        <m:r>
                          <a:rPr lang="en-US" altLang="zh-TW" i="1">
                            <a:solidFill>
                              <a:srgbClr val="FF0000"/>
                            </a:solidFill>
                            <a:latin typeface="Cambria Math" panose="02040503050406030204" pitchFamily="18" charset="0"/>
                          </a:rPr>
                          <m:t>𝑃</m:t>
                        </m:r>
                        <m:r>
                          <a:rPr lang="en-US" altLang="zh-TW" i="1">
                            <a:solidFill>
                              <a:srgbClr val="FF0000"/>
                            </a:solidFill>
                            <a:latin typeface="Cambria Math" panose="02040503050406030204" pitchFamily="18" charset="0"/>
                          </a:rPr>
                          <m:t>(</m:t>
                        </m:r>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𝑥</m:t>
                            </m:r>
                          </m:e>
                          <m:sub>
                            <m:r>
                              <a:rPr lang="en-US" altLang="zh-TW" i="1">
                                <a:solidFill>
                                  <a:srgbClr val="FF0000"/>
                                </a:solidFill>
                                <a:latin typeface="Cambria Math" panose="02040503050406030204" pitchFamily="18" charset="0"/>
                              </a:rPr>
                              <m:t>𝑡</m:t>
                            </m:r>
                          </m:sub>
                          <m:sup>
                            <m:r>
                              <a:rPr lang="en-US" altLang="zh-TW" i="1">
                                <a:solidFill>
                                  <a:srgbClr val="FF0000"/>
                                </a:solidFill>
                                <a:latin typeface="Cambria Math" panose="02040503050406030204" pitchFamily="18" charset="0"/>
                              </a:rPr>
                              <m:t>𝑖</m:t>
                            </m:r>
                          </m:sup>
                        </m:sSubSup>
                        <m:r>
                          <a:rPr lang="en-US" altLang="zh-TW" i="1">
                            <a:solidFill>
                              <a:srgbClr val="FF0000"/>
                            </a:solidFill>
                            <a:latin typeface="Cambria Math" panose="02040503050406030204" pitchFamily="18" charset="0"/>
                          </a:rPr>
                          <m:t>|</m:t>
                        </m:r>
                        <m:sSubSup>
                          <m:sSubSupPr>
                            <m:ctrlPr>
                              <a:rPr lang="en-US" altLang="zh-TW" i="1">
                                <a:solidFill>
                                  <a:srgbClr val="FF0000"/>
                                </a:solidFill>
                                <a:latin typeface="Cambria Math" panose="02040503050406030204" pitchFamily="18" charset="0"/>
                              </a:rPr>
                            </m:ctrlPr>
                          </m:sSubSupPr>
                          <m:e>
                            <m:r>
                              <a:rPr lang="en-US" altLang="zh-TW" i="1">
                                <a:solidFill>
                                  <a:srgbClr val="FF0000"/>
                                </a:solidFill>
                                <a:latin typeface="Cambria Math" panose="02040503050406030204" pitchFamily="18" charset="0"/>
                              </a:rPr>
                              <m:t>𝑥</m:t>
                            </m:r>
                          </m:e>
                          <m:sub>
                            <m:r>
                              <a:rPr lang="en-US" altLang="zh-TW" i="1">
                                <a:solidFill>
                                  <a:srgbClr val="FF0000"/>
                                </a:solidFill>
                                <a:latin typeface="Cambria Math" panose="02040503050406030204" pitchFamily="18" charset="0"/>
                              </a:rPr>
                              <m:t>𝑡</m:t>
                            </m:r>
                            <m:r>
                              <a:rPr lang="en-US" altLang="zh-TW" i="1">
                                <a:solidFill>
                                  <a:srgbClr val="FF0000"/>
                                </a:solidFill>
                                <a:latin typeface="Cambria Math" panose="02040503050406030204" pitchFamily="18" charset="0"/>
                              </a:rPr>
                              <m:t>−1</m:t>
                            </m:r>
                          </m:sub>
                          <m:sup>
                            <m:r>
                              <a:rPr lang="en-US" altLang="zh-TW" i="1">
                                <a:solidFill>
                                  <a:srgbClr val="FF0000"/>
                                </a:solidFill>
                                <a:latin typeface="Cambria Math" panose="02040503050406030204" pitchFamily="18" charset="0"/>
                              </a:rPr>
                              <m:t>𝑖</m:t>
                            </m:r>
                          </m:sup>
                        </m:sSubSup>
                        <m:r>
                          <a:rPr lang="en-US" altLang="zh-TW" i="1">
                            <a:solidFill>
                              <a:srgbClr val="FF0000"/>
                            </a:solidFill>
                            <a:latin typeface="Cambria Math" panose="02040503050406030204" pitchFamily="18" charset="0"/>
                          </a:rPr>
                          <m:t>)</m:t>
                        </m:r>
                      </m:num>
                      <m:den>
                        <m:r>
                          <a:rPr lang="en-US" altLang="zh-TW" i="1" dirty="0">
                            <a:solidFill>
                              <a:srgbClr val="FF0000"/>
                            </a:solidFill>
                            <a:latin typeface="Cambria Math" panose="02040503050406030204" pitchFamily="18" charset="0"/>
                          </a:rPr>
                          <m:t>𝑄</m:t>
                        </m:r>
                        <m:d>
                          <m:dPr>
                            <m:ctrlPr>
                              <a:rPr lang="en-US" altLang="zh-TW" i="1" dirty="0">
                                <a:solidFill>
                                  <a:srgbClr val="FF0000"/>
                                </a:solidFill>
                                <a:latin typeface="Cambria Math" panose="02040503050406030204" pitchFamily="18" charset="0"/>
                              </a:rPr>
                            </m:ctrlPr>
                          </m:dPr>
                          <m:e>
                            <m:sSubSup>
                              <m:sSubSupPr>
                                <m:ctrlPr>
                                  <a:rPr lang="en-US" altLang="zh-TW" i="1" dirty="0">
                                    <a:solidFill>
                                      <a:srgbClr val="FF0000"/>
                                    </a:solidFill>
                                    <a:latin typeface="Cambria Math" panose="02040503050406030204" pitchFamily="18" charset="0"/>
                                  </a:rPr>
                                </m:ctrlPr>
                              </m:sSubSupPr>
                              <m:e>
                                <m:r>
                                  <a:rPr lang="en-US" altLang="zh-TW" i="1" dirty="0">
                                    <a:solidFill>
                                      <a:srgbClr val="FF0000"/>
                                    </a:solidFill>
                                    <a:latin typeface="Cambria Math" panose="02040503050406030204" pitchFamily="18" charset="0"/>
                                  </a:rPr>
                                  <m:t>𝑥</m:t>
                                </m:r>
                              </m:e>
                              <m:sub>
                                <m:r>
                                  <a:rPr lang="en-US" altLang="zh-TW" i="1" dirty="0">
                                    <a:solidFill>
                                      <a:srgbClr val="FF0000"/>
                                    </a:solidFill>
                                    <a:latin typeface="Cambria Math" panose="02040503050406030204" pitchFamily="18" charset="0"/>
                                  </a:rPr>
                                  <m:t>𝑡</m:t>
                                </m:r>
                              </m:sub>
                              <m:sup>
                                <m:r>
                                  <a:rPr lang="en-US" altLang="zh-TW" i="1" dirty="0">
                                    <a:solidFill>
                                      <a:srgbClr val="FF0000"/>
                                    </a:solidFill>
                                    <a:latin typeface="Cambria Math" panose="02040503050406030204" pitchFamily="18" charset="0"/>
                                  </a:rPr>
                                  <m:t>𝑖</m:t>
                                </m:r>
                              </m:sup>
                            </m:sSubSup>
                            <m:r>
                              <a:rPr lang="en-US" altLang="zh-TW" i="1" dirty="0">
                                <a:solidFill>
                                  <a:srgbClr val="FF0000"/>
                                </a:solidFill>
                                <a:latin typeface="Cambria Math" panose="02040503050406030204" pitchFamily="18" charset="0"/>
                              </a:rPr>
                              <m:t>|</m:t>
                            </m:r>
                            <m:sSubSup>
                              <m:sSubSupPr>
                                <m:ctrlPr>
                                  <a:rPr lang="en-US" altLang="zh-TW" i="1" dirty="0">
                                    <a:solidFill>
                                      <a:srgbClr val="FF0000"/>
                                    </a:solidFill>
                                    <a:latin typeface="Cambria Math" panose="02040503050406030204" pitchFamily="18" charset="0"/>
                                  </a:rPr>
                                </m:ctrlPr>
                              </m:sSubSupPr>
                              <m:e>
                                <m:r>
                                  <a:rPr lang="en-US" altLang="zh-TW" i="1" dirty="0">
                                    <a:solidFill>
                                      <a:srgbClr val="FF0000"/>
                                    </a:solidFill>
                                    <a:latin typeface="Cambria Math" panose="02040503050406030204" pitchFamily="18" charset="0"/>
                                  </a:rPr>
                                  <m:t>𝑥</m:t>
                                </m:r>
                              </m:e>
                              <m:sub>
                                <m:r>
                                  <a:rPr lang="en-US" altLang="zh-TW" i="1" dirty="0">
                                    <a:solidFill>
                                      <a:srgbClr val="FF0000"/>
                                    </a:solidFill>
                                    <a:latin typeface="Cambria Math" panose="02040503050406030204" pitchFamily="18" charset="0"/>
                                  </a:rPr>
                                  <m:t>𝑡</m:t>
                                </m:r>
                                <m:r>
                                  <a:rPr lang="en-US" altLang="zh-TW" i="1" dirty="0">
                                    <a:solidFill>
                                      <a:srgbClr val="FF0000"/>
                                    </a:solidFill>
                                    <a:latin typeface="Cambria Math" panose="02040503050406030204" pitchFamily="18" charset="0"/>
                                  </a:rPr>
                                  <m:t>−1</m:t>
                                </m:r>
                              </m:sub>
                              <m:sup>
                                <m:r>
                                  <a:rPr lang="en-US" altLang="zh-TW" i="1" dirty="0">
                                    <a:solidFill>
                                      <a:srgbClr val="FF0000"/>
                                    </a:solidFill>
                                    <a:latin typeface="Cambria Math" panose="02040503050406030204" pitchFamily="18" charset="0"/>
                                  </a:rPr>
                                  <m:t>𝑖</m:t>
                                </m:r>
                              </m:sup>
                            </m:sSubSup>
                            <m:r>
                              <a:rPr lang="en-US" altLang="zh-TW" i="1" dirty="0">
                                <a:solidFill>
                                  <a:srgbClr val="FF0000"/>
                                </a:solidFill>
                                <a:latin typeface="Cambria Math" panose="02040503050406030204" pitchFamily="18" charset="0"/>
                              </a:rPr>
                              <m:t>,</m:t>
                            </m:r>
                            <m:sSub>
                              <m:sSubPr>
                                <m:ctrlPr>
                                  <a:rPr lang="en-US" altLang="zh-TW" i="1" dirty="0">
                                    <a:solidFill>
                                      <a:srgbClr val="FF0000"/>
                                    </a:solidFill>
                                    <a:latin typeface="Cambria Math" panose="02040503050406030204" pitchFamily="18" charset="0"/>
                                  </a:rPr>
                                </m:ctrlPr>
                              </m:sSubPr>
                              <m:e>
                                <m:r>
                                  <a:rPr lang="en-US" altLang="zh-TW" i="1" dirty="0">
                                    <a:solidFill>
                                      <a:srgbClr val="FF0000"/>
                                    </a:solidFill>
                                    <a:latin typeface="Cambria Math" panose="02040503050406030204" pitchFamily="18" charset="0"/>
                                  </a:rPr>
                                  <m:t>𝑧</m:t>
                                </m:r>
                              </m:e>
                              <m:sub>
                                <m:r>
                                  <a:rPr lang="en-US" altLang="zh-TW" i="1" dirty="0">
                                    <a:solidFill>
                                      <a:srgbClr val="FF0000"/>
                                    </a:solidFill>
                                    <a:latin typeface="Cambria Math" panose="02040503050406030204" pitchFamily="18" charset="0"/>
                                  </a:rPr>
                                  <m:t>𝑡</m:t>
                                </m:r>
                              </m:sub>
                            </m:sSub>
                          </m:e>
                        </m:d>
                      </m:den>
                    </m:f>
                  </m:oMath>
                </a14:m>
                <a:endParaRPr lang="en-US" altLang="zh-TW" dirty="0" smtClean="0"/>
              </a:p>
              <a:p>
                <a:endParaRPr lang="en-US" altLang="zh-TW" dirty="0"/>
              </a:p>
              <a:p>
                <a:r>
                  <a:rPr lang="en-US" altLang="zh-TW" dirty="0" smtClean="0"/>
                  <a:t>If the importance function </a:t>
                </a:r>
                <a14:m>
                  <m:oMath xmlns:m="http://schemas.openxmlformats.org/officeDocument/2006/math">
                    <m:r>
                      <a:rPr lang="en-US" altLang="zh-TW" i="1" smtClean="0">
                        <a:solidFill>
                          <a:srgbClr val="00B050"/>
                        </a:solidFill>
                        <a:latin typeface="Cambria Math" panose="02040503050406030204" pitchFamily="18" charset="0"/>
                      </a:rPr>
                      <m:t>𝑄</m:t>
                    </m:r>
                    <m:d>
                      <m:dPr>
                        <m:ctrlPr>
                          <a:rPr lang="en-US" altLang="zh-TW" i="1">
                            <a:solidFill>
                              <a:srgbClr val="00B050"/>
                            </a:solidFill>
                            <a:latin typeface="Cambria Math" panose="02040503050406030204" pitchFamily="18" charset="0"/>
                          </a:rPr>
                        </m:ctrlPr>
                      </m:dPr>
                      <m:e>
                        <m:sSub>
                          <m:sSubPr>
                            <m:ctrlPr>
                              <a:rPr lang="en-US" altLang="zh-TW" i="1">
                                <a:solidFill>
                                  <a:srgbClr val="00B050"/>
                                </a:solidFill>
                                <a:latin typeface="Cambria Math" panose="02040503050406030204" pitchFamily="18" charset="0"/>
                              </a:rPr>
                            </m:ctrlPr>
                          </m:sSubPr>
                          <m:e>
                            <m:r>
                              <a:rPr lang="en-US" altLang="zh-TW" i="1">
                                <a:solidFill>
                                  <a:srgbClr val="00B050"/>
                                </a:solidFill>
                                <a:latin typeface="Cambria Math" panose="02040503050406030204" pitchFamily="18" charset="0"/>
                              </a:rPr>
                              <m:t>𝑥</m:t>
                            </m:r>
                          </m:e>
                          <m:sub>
                            <m:r>
                              <a:rPr lang="en-US" altLang="zh-TW" i="1">
                                <a:solidFill>
                                  <a:srgbClr val="00B050"/>
                                </a:solidFill>
                                <a:latin typeface="Cambria Math" panose="02040503050406030204" pitchFamily="18" charset="0"/>
                              </a:rPr>
                              <m:t>𝑡</m:t>
                            </m:r>
                          </m:sub>
                        </m:sSub>
                        <m:r>
                          <a:rPr lang="en-US" altLang="zh-TW" i="1">
                            <a:solidFill>
                              <a:srgbClr val="00B050"/>
                            </a:solidFill>
                            <a:latin typeface="Cambria Math" panose="02040503050406030204" pitchFamily="18" charset="0"/>
                          </a:rPr>
                          <m:t>|</m:t>
                        </m:r>
                        <m:sSub>
                          <m:sSubPr>
                            <m:ctrlPr>
                              <a:rPr lang="en-US" altLang="zh-TW" i="1">
                                <a:solidFill>
                                  <a:srgbClr val="00B050"/>
                                </a:solidFill>
                                <a:latin typeface="Cambria Math" panose="02040503050406030204" pitchFamily="18" charset="0"/>
                              </a:rPr>
                            </m:ctrlPr>
                          </m:sSubPr>
                          <m:e>
                            <m:sSub>
                              <m:sSubPr>
                                <m:ctrlPr>
                                  <a:rPr lang="en-US" altLang="zh-TW" b="0" i="1" smtClean="0">
                                    <a:solidFill>
                                      <a:srgbClr val="00B050"/>
                                    </a:solidFill>
                                    <a:latin typeface="Cambria Math" panose="02040503050406030204" pitchFamily="18" charset="0"/>
                                  </a:rPr>
                                </m:ctrlPr>
                              </m:sSubPr>
                              <m:e>
                                <m:r>
                                  <a:rPr lang="en-US" altLang="zh-TW" b="0" i="1" smtClean="0">
                                    <a:solidFill>
                                      <a:srgbClr val="00B050"/>
                                    </a:solidFill>
                                    <a:latin typeface="Cambria Math" panose="02040503050406030204" pitchFamily="18" charset="0"/>
                                  </a:rPr>
                                  <m:t>𝑥</m:t>
                                </m:r>
                              </m:e>
                              <m:sub>
                                <m:r>
                                  <a:rPr lang="en-US" altLang="zh-TW" b="0" i="1" smtClean="0">
                                    <a:solidFill>
                                      <a:srgbClr val="00B050"/>
                                    </a:solidFill>
                                    <a:latin typeface="Cambria Math" panose="02040503050406030204" pitchFamily="18" charset="0"/>
                                  </a:rPr>
                                  <m:t>𝑡</m:t>
                                </m:r>
                                <m:r>
                                  <a:rPr lang="en-US" altLang="zh-TW" b="0" i="1" smtClean="0">
                                    <a:solidFill>
                                      <a:srgbClr val="00B050"/>
                                    </a:solidFill>
                                    <a:latin typeface="Cambria Math" panose="02040503050406030204" pitchFamily="18" charset="0"/>
                                  </a:rPr>
                                  <m:t>−1</m:t>
                                </m:r>
                              </m:sub>
                            </m:sSub>
                            <m:r>
                              <a:rPr lang="en-US" altLang="zh-TW" b="0" i="1" smtClean="0">
                                <a:solidFill>
                                  <a:srgbClr val="00B050"/>
                                </a:solidFill>
                                <a:latin typeface="Cambria Math" panose="02040503050406030204" pitchFamily="18" charset="0"/>
                              </a:rPr>
                              <m:t>,</m:t>
                            </m:r>
                            <m:r>
                              <a:rPr lang="en-US" altLang="zh-TW" i="1">
                                <a:solidFill>
                                  <a:srgbClr val="00B050"/>
                                </a:solidFill>
                                <a:latin typeface="Cambria Math" panose="02040503050406030204" pitchFamily="18" charset="0"/>
                              </a:rPr>
                              <m:t>𝑧</m:t>
                            </m:r>
                          </m:e>
                          <m:sub>
                            <m:r>
                              <a:rPr lang="en-US" altLang="zh-TW" i="1">
                                <a:solidFill>
                                  <a:srgbClr val="00B050"/>
                                </a:solidFill>
                                <a:latin typeface="Cambria Math" panose="02040503050406030204" pitchFamily="18" charset="0"/>
                              </a:rPr>
                              <m:t>1:</m:t>
                            </m:r>
                            <m:r>
                              <a:rPr lang="en-US" altLang="zh-TW" i="1">
                                <a:solidFill>
                                  <a:srgbClr val="00B050"/>
                                </a:solidFill>
                                <a:latin typeface="Cambria Math" panose="02040503050406030204" pitchFamily="18" charset="0"/>
                              </a:rPr>
                              <m:t>𝑡</m:t>
                            </m:r>
                          </m:sub>
                        </m:sSub>
                      </m:e>
                    </m:d>
                    <m:r>
                      <a:rPr lang="en-US" altLang="zh-TW" b="0" i="1" smtClean="0">
                        <a:solidFill>
                          <a:srgbClr val="00B050"/>
                        </a:solidFill>
                        <a:latin typeface="Cambria Math" panose="02040503050406030204" pitchFamily="18" charset="0"/>
                      </a:rPr>
                      <m:t>=</m:t>
                    </m:r>
                    <m:r>
                      <a:rPr lang="en-US" altLang="zh-TW" b="0" i="1" smtClean="0">
                        <a:solidFill>
                          <a:srgbClr val="00B050"/>
                        </a:solidFill>
                        <a:latin typeface="Cambria Math" panose="02040503050406030204" pitchFamily="18" charset="0"/>
                      </a:rPr>
                      <m:t>𝑃</m:t>
                    </m:r>
                    <m:d>
                      <m:dPr>
                        <m:ctrlPr>
                          <a:rPr lang="en-US" altLang="zh-TW" b="0" i="1" smtClean="0">
                            <a:solidFill>
                              <a:srgbClr val="00B050"/>
                            </a:solidFill>
                            <a:latin typeface="Cambria Math" panose="02040503050406030204" pitchFamily="18" charset="0"/>
                          </a:rPr>
                        </m:ctrlPr>
                      </m:dPr>
                      <m:e>
                        <m:sSub>
                          <m:sSubPr>
                            <m:ctrlPr>
                              <a:rPr lang="en-US" altLang="zh-TW" b="0" i="1" smtClean="0">
                                <a:solidFill>
                                  <a:srgbClr val="00B050"/>
                                </a:solidFill>
                                <a:latin typeface="Cambria Math" panose="02040503050406030204" pitchFamily="18" charset="0"/>
                              </a:rPr>
                            </m:ctrlPr>
                          </m:sSubPr>
                          <m:e>
                            <m:r>
                              <a:rPr lang="en-US" altLang="zh-TW" b="0" i="1" smtClean="0">
                                <a:solidFill>
                                  <a:srgbClr val="00B050"/>
                                </a:solidFill>
                                <a:latin typeface="Cambria Math" panose="02040503050406030204" pitchFamily="18" charset="0"/>
                              </a:rPr>
                              <m:t>𝑥</m:t>
                            </m:r>
                          </m:e>
                          <m:sub>
                            <m:r>
                              <a:rPr lang="en-US" altLang="zh-TW" b="0" i="1" smtClean="0">
                                <a:solidFill>
                                  <a:srgbClr val="00B050"/>
                                </a:solidFill>
                                <a:latin typeface="Cambria Math" panose="02040503050406030204" pitchFamily="18" charset="0"/>
                              </a:rPr>
                              <m:t>𝑡</m:t>
                            </m:r>
                          </m:sub>
                        </m:sSub>
                        <m:r>
                          <a:rPr lang="en-US" altLang="zh-TW" b="0" i="1" smtClean="0">
                            <a:solidFill>
                              <a:srgbClr val="00B050"/>
                            </a:solidFill>
                            <a:latin typeface="Cambria Math" panose="02040503050406030204" pitchFamily="18" charset="0"/>
                          </a:rPr>
                          <m:t>|</m:t>
                        </m:r>
                        <m:sSub>
                          <m:sSubPr>
                            <m:ctrlPr>
                              <a:rPr lang="en-US" altLang="zh-TW" b="0" i="1" smtClean="0">
                                <a:solidFill>
                                  <a:srgbClr val="00B050"/>
                                </a:solidFill>
                                <a:latin typeface="Cambria Math" panose="02040503050406030204" pitchFamily="18" charset="0"/>
                              </a:rPr>
                            </m:ctrlPr>
                          </m:sSubPr>
                          <m:e>
                            <m:r>
                              <a:rPr lang="en-US" altLang="zh-TW" b="0" i="1" smtClean="0">
                                <a:solidFill>
                                  <a:srgbClr val="00B050"/>
                                </a:solidFill>
                                <a:latin typeface="Cambria Math" panose="02040503050406030204" pitchFamily="18" charset="0"/>
                              </a:rPr>
                              <m:t>𝑥</m:t>
                            </m:r>
                          </m:e>
                          <m:sub>
                            <m:r>
                              <a:rPr lang="en-US" altLang="zh-TW" b="0" i="1" smtClean="0">
                                <a:solidFill>
                                  <a:srgbClr val="00B050"/>
                                </a:solidFill>
                                <a:latin typeface="Cambria Math" panose="02040503050406030204" pitchFamily="18" charset="0"/>
                              </a:rPr>
                              <m:t>𝑡</m:t>
                            </m:r>
                            <m:r>
                              <a:rPr lang="en-US" altLang="zh-TW" b="0" i="1" smtClean="0">
                                <a:solidFill>
                                  <a:srgbClr val="00B050"/>
                                </a:solidFill>
                                <a:latin typeface="Cambria Math" panose="02040503050406030204" pitchFamily="18" charset="0"/>
                              </a:rPr>
                              <m:t>−1</m:t>
                            </m:r>
                          </m:sub>
                        </m:sSub>
                      </m:e>
                    </m:d>
                  </m:oMath>
                </a14:m>
                <a:r>
                  <a:rPr lang="en-US" altLang="zh-TW" dirty="0" smtClean="0"/>
                  <a:t>, it’s called the </a:t>
                </a:r>
                <a:r>
                  <a:rPr lang="en-US" altLang="zh-TW" dirty="0">
                    <a:solidFill>
                      <a:srgbClr val="FF0000"/>
                    </a:solidFill>
                  </a:rPr>
                  <a:t>SIR </a:t>
                </a:r>
                <a:r>
                  <a:rPr lang="en-US" altLang="zh-TW" dirty="0" smtClean="0">
                    <a:solidFill>
                      <a:srgbClr val="FF0000"/>
                    </a:solidFill>
                  </a:rPr>
                  <a:t>(bootstrap) particle filter</a:t>
                </a:r>
                <a:r>
                  <a:rPr lang="en-US" altLang="zh-TW" dirty="0" smtClean="0"/>
                  <a:t>.</a:t>
                </a:r>
              </a:p>
              <a:p>
                <a:r>
                  <a:rPr lang="en-US" altLang="zh-TW" dirty="0" smtClean="0"/>
                  <a:t>Then </a:t>
                </a:r>
                <a14:m>
                  <m:oMath xmlns:m="http://schemas.openxmlformats.org/officeDocument/2006/math">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𝑤</m:t>
                        </m:r>
                      </m:e>
                      <m:sub>
                        <m:r>
                          <a:rPr lang="en-US" altLang="zh-TW" i="1">
                            <a:latin typeface="Cambria Math" panose="02040503050406030204" pitchFamily="18" charset="0"/>
                          </a:rPr>
                          <m:t>𝑡</m:t>
                        </m:r>
                      </m:sub>
                      <m:sup>
                        <m:r>
                          <a:rPr lang="en-US" altLang="zh-TW" i="1">
                            <a:latin typeface="Cambria Math" panose="02040503050406030204" pitchFamily="18" charset="0"/>
                          </a:rPr>
                          <m:t>𝑖</m:t>
                        </m:r>
                      </m:sup>
                    </m:sSubSup>
                    <m:r>
                      <a:rPr lang="en-US" altLang="zh-TW" i="1">
                        <a:latin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𝑤</m:t>
                        </m:r>
                      </m:e>
                      <m:sub>
                        <m:r>
                          <a:rPr lang="en-US" altLang="zh-TW" i="1">
                            <a:latin typeface="Cambria Math" panose="02040503050406030204" pitchFamily="18" charset="0"/>
                          </a:rPr>
                          <m:t>𝑡</m:t>
                        </m:r>
                        <m:r>
                          <a:rPr lang="en-US" altLang="zh-TW" i="1">
                            <a:latin typeface="Cambria Math" panose="02040503050406030204" pitchFamily="18" charset="0"/>
                          </a:rPr>
                          <m:t>−1</m:t>
                        </m:r>
                      </m:sub>
                      <m:sup>
                        <m:r>
                          <a:rPr lang="en-US" altLang="zh-TW" i="1">
                            <a:latin typeface="Cambria Math" panose="02040503050406030204" pitchFamily="18" charset="0"/>
                          </a:rPr>
                          <m:t>𝑖</m:t>
                        </m:r>
                      </m:sup>
                    </m:sSubSup>
                    <m:r>
                      <a:rPr lang="en-US" altLang="zh-TW" i="1">
                        <a:latin typeface="Cambria Math" panose="02040503050406030204" pitchFamily="18" charset="0"/>
                      </a:rPr>
                      <m:t>𝑃</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𝑧</m:t>
                            </m:r>
                          </m:e>
                          <m:sub>
                            <m:r>
                              <a:rPr lang="en-US" altLang="zh-TW" i="1">
                                <a:latin typeface="Cambria Math" panose="02040503050406030204" pitchFamily="18" charset="0"/>
                              </a:rPr>
                              <m:t>𝑡</m:t>
                            </m:r>
                          </m:sub>
                        </m:sSub>
                        <m:r>
                          <a:rPr lang="en-US" altLang="zh-TW" i="1">
                            <a:latin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𝑥</m:t>
                            </m:r>
                          </m:e>
                          <m:sub>
                            <m:r>
                              <a:rPr lang="en-US" altLang="zh-TW" i="1">
                                <a:latin typeface="Cambria Math" panose="02040503050406030204" pitchFamily="18" charset="0"/>
                              </a:rPr>
                              <m:t>𝑡</m:t>
                            </m:r>
                          </m:sub>
                          <m:sup>
                            <m:r>
                              <a:rPr lang="en-US" altLang="zh-TW" i="1">
                                <a:latin typeface="Cambria Math" panose="02040503050406030204" pitchFamily="18" charset="0"/>
                              </a:rPr>
                              <m:t>𝑖</m:t>
                            </m:r>
                          </m:sup>
                        </m:sSubSup>
                      </m:e>
                    </m:d>
                  </m:oMath>
                </a14:m>
                <a:endParaRPr lang="en-US" altLang="zh-TW" dirty="0" smtClean="0"/>
              </a:p>
              <a:p>
                <a:endParaRPr lang="en-US" altLang="zh-TW" dirty="0"/>
              </a:p>
              <a:p>
                <a:endParaRPr lang="en-US" altLang="zh-TW" dirty="0" smtClean="0"/>
              </a:p>
              <a:p>
                <a:endParaRPr lang="en-US" altLang="zh-TW" dirty="0"/>
              </a:p>
              <a:p>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838199" y="1801866"/>
                <a:ext cx="10515600" cy="4737046"/>
              </a:xfrm>
              <a:blipFill rotWithShape="0">
                <a:blip r:embed="rId2"/>
                <a:stretch>
                  <a:fillRect l="-986" r="-522"/>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60325430-07F2-45E8-A5C9-B73C13C9C571}" type="slidenum">
              <a:rPr lang="zh-TW" altLang="en-US" smtClean="0"/>
              <a:pPr/>
              <a:t>30</a:t>
            </a:fld>
            <a:endParaRPr lang="zh-TW" altLang="en-US"/>
          </a:p>
        </p:txBody>
      </p:sp>
    </p:spTree>
    <p:extLst>
      <p:ext uri="{BB962C8B-B14F-4D97-AF65-F5344CB8AC3E}">
        <p14:creationId xmlns:p14="http://schemas.microsoft.com/office/powerpoint/2010/main" xmlns="" val="41475955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124508"/>
            <a:ext cx="10515600" cy="1325563"/>
          </a:xfrm>
        </p:spPr>
        <p:txBody>
          <a:bodyPr/>
          <a:lstStyle/>
          <a:p>
            <a:r>
              <a:rPr lang="en-US" altLang="zh-TW" dirty="0" smtClean="0"/>
              <a:t>Resampling</a:t>
            </a:r>
            <a:endParaRPr lang="zh-TW" altLang="en-US" dirty="0"/>
          </a:p>
        </p:txBody>
      </p:sp>
      <p:sp>
        <p:nvSpPr>
          <p:cNvPr id="3" name="投影片編號版面配置區 2"/>
          <p:cNvSpPr>
            <a:spLocks noGrp="1"/>
          </p:cNvSpPr>
          <p:nvPr>
            <p:ph type="sldNum" sz="quarter" idx="12"/>
          </p:nvPr>
        </p:nvSpPr>
        <p:spPr/>
        <p:txBody>
          <a:bodyPr/>
          <a:lstStyle/>
          <a:p>
            <a:fld id="{60325430-07F2-45E8-A5C9-B73C13C9C571}" type="slidenum">
              <a:rPr lang="zh-TW" altLang="en-US" smtClean="0"/>
              <a:pPr/>
              <a:t>31</a:t>
            </a:fld>
            <a:endParaRPr lang="zh-TW" altLang="en-US"/>
          </a:p>
        </p:txBody>
      </p:sp>
      <mc:AlternateContent xmlns:mc="http://schemas.openxmlformats.org/markup-compatibility/2006">
        <mc:Choice xmlns:a14="http://schemas.microsoft.com/office/drawing/2010/main" xmlns="" Requires="a14">
          <p:sp>
            <p:nvSpPr>
              <p:cNvPr id="4" name="矩形 3"/>
              <p:cNvSpPr/>
              <p:nvPr/>
            </p:nvSpPr>
            <p:spPr>
              <a:xfrm>
                <a:off x="477672" y="1140558"/>
                <a:ext cx="4611686" cy="3833165"/>
              </a:xfrm>
              <a:prstGeom prst="rect">
                <a:avLst/>
              </a:prstGeom>
            </p:spPr>
            <p:txBody>
              <a:bodyPr wrap="square">
                <a:spAutoFit/>
              </a:bodyPr>
              <a:lstStyle/>
              <a:p>
                <a:pPr marL="342900" indent="-342900">
                  <a:buFont typeface="Arial" panose="020B0604020202020204" pitchFamily="34" charset="0"/>
                  <a:buChar char="•"/>
                </a:pPr>
                <a:r>
                  <a:rPr lang="zh-TW" altLang="en-US" sz="2400" dirty="0" smtClean="0"/>
                  <a:t>由於粒子濾波器有粒子退化</a:t>
                </a:r>
                <a14:m>
                  <m:oMath xmlns:m="http://schemas.openxmlformats.org/officeDocument/2006/math">
                    <m:d>
                      <m:dPr>
                        <m:ctrlPr>
                          <a:rPr lang="en-US" altLang="zh-TW" sz="2400" b="0" i="1" smtClean="0">
                            <a:latin typeface="Cambria Math" panose="02040503050406030204" pitchFamily="18" charset="0"/>
                          </a:rPr>
                        </m:ctrlPr>
                      </m:dPr>
                      <m:e>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𝑡</m:t>
                            </m:r>
                          </m:sub>
                          <m:sup>
                            <m:r>
                              <a:rPr lang="en-US" altLang="zh-TW" sz="2400" b="0" i="1" smtClean="0">
                                <a:latin typeface="Cambria Math" panose="02040503050406030204" pitchFamily="18" charset="0"/>
                              </a:rPr>
                              <m:t>𝑖</m:t>
                            </m:r>
                          </m:sup>
                        </m:sSubSup>
                        <m:r>
                          <a:rPr lang="en-US" altLang="zh-TW" sz="2400" b="0" i="1" smtClean="0">
                            <a:latin typeface="Cambria Math" panose="02040503050406030204" pitchFamily="18" charset="0"/>
                          </a:rPr>
                          <m:t>&lt;1, </m:t>
                        </m:r>
                        <m:r>
                          <a:rPr lang="en-US" altLang="zh-TW" sz="2400" b="0" i="1" smtClean="0">
                            <a:latin typeface="Cambria Math" panose="02040503050406030204" pitchFamily="18" charset="0"/>
                          </a:rPr>
                          <m:t>𝑖𝑓</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→0, </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𝑡</m:t>
                            </m:r>
                          </m:sub>
                          <m:sup>
                            <m:r>
                              <a:rPr lang="en-US" altLang="zh-TW" sz="2400" b="0" i="1" smtClean="0">
                                <a:latin typeface="Cambria Math" panose="02040503050406030204" pitchFamily="18" charset="0"/>
                              </a:rPr>
                              <m:t>𝑖</m:t>
                            </m:r>
                          </m:sup>
                        </m:sSubSup>
                        <m:r>
                          <a:rPr lang="en-US" altLang="zh-TW" sz="2400" b="0" i="1" smtClean="0">
                            <a:latin typeface="Cambria Math" panose="02040503050406030204" pitchFamily="18" charset="0"/>
                          </a:rPr>
                          <m:t>→0</m:t>
                        </m:r>
                      </m:e>
                    </m:d>
                  </m:oMath>
                </a14:m>
                <a:r>
                  <a:rPr lang="zh-TW" altLang="en-US" sz="2400" dirty="0" smtClean="0"/>
                  <a:t>的</a:t>
                </a:r>
                <a:r>
                  <a:rPr lang="zh-TW" altLang="en-US" sz="2400" dirty="0"/>
                  <a:t>問題，即在不斷的疊代更新的過程中</a:t>
                </a:r>
                <a:r>
                  <a:rPr lang="zh-TW" altLang="en-US" sz="2400" dirty="0" smtClean="0"/>
                  <a:t>，有</a:t>
                </a:r>
                <a:r>
                  <a:rPr lang="zh-TW" altLang="en-US" sz="2400" dirty="0"/>
                  <a:t>愈來愈多粒子的權重會趨近於零而變為無效樣本，無效樣本對狀</a:t>
                </a:r>
                <a:r>
                  <a:rPr lang="zh-TW" altLang="en-US" sz="2400" dirty="0" smtClean="0"/>
                  <a:t>態的</a:t>
                </a:r>
                <a:r>
                  <a:rPr lang="zh-TW" altLang="en-US" sz="2400" dirty="0"/>
                  <a:t>後驗機率並無意義。由於無效樣本增多，將造成狀態後驗估計會</a:t>
                </a:r>
                <a:r>
                  <a:rPr lang="zh-TW" altLang="en-US" sz="2400" dirty="0" smtClean="0"/>
                  <a:t>有所</a:t>
                </a:r>
                <a:r>
                  <a:rPr lang="zh-TW" altLang="en-US" sz="2400" dirty="0"/>
                  <a:t>偏差</a:t>
                </a:r>
                <a:r>
                  <a:rPr lang="zh-TW" altLang="en-US" sz="2400" dirty="0" smtClean="0"/>
                  <a:t>。</a:t>
                </a:r>
                <a:endParaRPr lang="en-US" altLang="zh-TW" sz="2400" dirty="0" smtClean="0"/>
              </a:p>
              <a:p>
                <a:endParaRPr lang="en-US" altLang="zh-TW" sz="2400" dirty="0"/>
              </a:p>
            </p:txBody>
          </p:sp>
        </mc:Choice>
        <mc:Fallback>
          <p:sp>
            <p:nvSpPr>
              <p:cNvPr id="4" name="矩形 3"/>
              <p:cNvSpPr>
                <a:spLocks noRot="1" noChangeAspect="1" noMove="1" noResize="1" noEditPoints="1" noAdjustHandles="1" noChangeArrowheads="1" noChangeShapeType="1" noTextEdit="1"/>
              </p:cNvSpPr>
              <p:nvPr/>
            </p:nvSpPr>
            <p:spPr>
              <a:xfrm>
                <a:off x="477672" y="1140558"/>
                <a:ext cx="4611686" cy="3833165"/>
              </a:xfrm>
              <a:prstGeom prst="rect">
                <a:avLst/>
              </a:prstGeom>
              <a:blipFill rotWithShape="0">
                <a:blip r:embed="rId2"/>
                <a:stretch>
                  <a:fillRect l="-1717" t="-1272" r="-528"/>
                </a:stretch>
              </a:blipFill>
            </p:spPr>
            <p:txBody>
              <a:bodyPr/>
              <a:lstStyle/>
              <a:p>
                <a:r>
                  <a:rPr lang="zh-TW" altLang="en-US">
                    <a:noFill/>
                  </a:rPr>
                  <a:t> </a:t>
                </a:r>
              </a:p>
            </p:txBody>
          </p:sp>
        </mc:Fallback>
      </mc:AlternateContent>
      <p:pic>
        <p:nvPicPr>
          <p:cNvPr id="5" name="圖片 4"/>
          <p:cNvPicPr>
            <a:picLocks noChangeAspect="1"/>
          </p:cNvPicPr>
          <p:nvPr/>
        </p:nvPicPr>
        <p:blipFill>
          <a:blip r:embed="rId3" cstate="print">
            <a:extLst>
              <a:ext uri="{28A0092B-C50C-407E-A947-70E740481C1C}">
                <a14:useLocalDpi xmlns:a14="http://schemas.microsoft.com/office/drawing/2010/main" xmlns=""/>
              </a:ext>
            </a:extLst>
          </a:blip>
          <a:stretch>
            <a:fillRect/>
          </a:stretch>
        </p:blipFill>
        <p:spPr>
          <a:xfrm>
            <a:off x="5312950" y="1035776"/>
            <a:ext cx="6401378" cy="5437213"/>
          </a:xfrm>
          <a:prstGeom prst="rect">
            <a:avLst/>
          </a:prstGeom>
        </p:spPr>
      </p:pic>
      <p:pic>
        <p:nvPicPr>
          <p:cNvPr id="6" name="圖片 5"/>
          <p:cNvPicPr>
            <a:picLocks noChangeAspect="1"/>
          </p:cNvPicPr>
          <p:nvPr/>
        </p:nvPicPr>
        <p:blipFill>
          <a:blip r:embed="rId4" cstate="print">
            <a:extLst>
              <a:ext uri="{28A0092B-C50C-407E-A947-70E740481C1C}">
                <a14:useLocalDpi xmlns:a14="http://schemas.microsoft.com/office/drawing/2010/main" xmlns=""/>
              </a:ext>
            </a:extLst>
          </a:blip>
          <a:stretch>
            <a:fillRect/>
          </a:stretch>
        </p:blipFill>
        <p:spPr>
          <a:xfrm>
            <a:off x="1395663" y="4701587"/>
            <a:ext cx="3163362" cy="2019888"/>
          </a:xfrm>
          <a:prstGeom prst="rect">
            <a:avLst/>
          </a:prstGeom>
        </p:spPr>
      </p:pic>
    </p:spTree>
    <p:extLst>
      <p:ext uri="{BB962C8B-B14F-4D97-AF65-F5344CB8AC3E}">
        <p14:creationId xmlns:p14="http://schemas.microsoft.com/office/powerpoint/2010/main" xmlns="" val="21430503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p:cNvPicPr>
            <a:picLocks noChangeAspect="1"/>
          </p:cNvPicPr>
          <p:nvPr/>
        </p:nvPicPr>
        <p:blipFill>
          <a:blip r:embed="rId2" cstate="print">
            <a:extLst>
              <a:ext uri="{28A0092B-C50C-407E-A947-70E740481C1C}">
                <a14:useLocalDpi xmlns:a14="http://schemas.microsoft.com/office/drawing/2010/main" xmlns=""/>
              </a:ext>
            </a:extLst>
          </a:blip>
          <a:stretch>
            <a:fillRect/>
          </a:stretch>
        </p:blipFill>
        <p:spPr>
          <a:xfrm>
            <a:off x="1430421" y="7101"/>
            <a:ext cx="5480133" cy="6850899"/>
          </a:xfrm>
          <a:prstGeom prst="rect">
            <a:avLst/>
          </a:prstGeom>
        </p:spPr>
      </p:pic>
      <p:sp>
        <p:nvSpPr>
          <p:cNvPr id="3" name="投影片編號版面配置區 2"/>
          <p:cNvSpPr>
            <a:spLocks noGrp="1"/>
          </p:cNvSpPr>
          <p:nvPr>
            <p:ph type="sldNum" sz="quarter" idx="12"/>
          </p:nvPr>
        </p:nvSpPr>
        <p:spPr/>
        <p:txBody>
          <a:bodyPr/>
          <a:lstStyle/>
          <a:p>
            <a:fld id="{60325430-07F2-45E8-A5C9-B73C13C9C571}" type="slidenum">
              <a:rPr lang="zh-TW" altLang="en-US" smtClean="0"/>
              <a:pPr/>
              <a:t>32</a:t>
            </a:fld>
            <a:endParaRPr lang="zh-TW" altLang="en-US"/>
          </a:p>
        </p:txBody>
      </p:sp>
      <mc:AlternateContent xmlns:mc="http://schemas.openxmlformats.org/markup-compatibility/2006">
        <mc:Choice xmlns:a14="http://schemas.microsoft.com/office/drawing/2010/main" xmlns="" Requires="a14">
          <p:sp>
            <p:nvSpPr>
              <p:cNvPr id="5" name="圓角矩形 4"/>
              <p:cNvSpPr/>
              <p:nvPr/>
            </p:nvSpPr>
            <p:spPr>
              <a:xfrm>
                <a:off x="8038576" y="520954"/>
                <a:ext cx="3841531" cy="115613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marL="342900" indent="-342900" algn="ctr">
                  <a:buFont typeface="Arial" panose="020B0604020202020204" pitchFamily="34" charset="0"/>
                  <a:buChar char="•"/>
                </a:pPr>
                <a14:m>
                  <m:oMath xmlns:m="http://schemas.openxmlformats.org/officeDocument/2006/math">
                    <m:sSub>
                      <m:sSubPr>
                        <m:ctrlPr>
                          <a:rPr lang="en-US" altLang="zh-TW" sz="2000" i="1" smtClean="0">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a:rPr>
                          <m:t>𝑡</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𝑓</m:t>
                        </m:r>
                      </m:e>
                      <m:sub>
                        <m:r>
                          <a:rPr lang="en-US" altLang="zh-TW" sz="2000" i="1">
                            <a:latin typeface="Cambria Math" panose="02040503050406030204" pitchFamily="18" charset="0"/>
                          </a:rPr>
                          <m:t>𝑡</m:t>
                        </m:r>
                      </m:sub>
                    </m:sSub>
                    <m:d>
                      <m:dPr>
                        <m:ctrlPr>
                          <a:rPr lang="en-US" altLang="zh-TW" sz="2000" i="1">
                            <a:latin typeface="Cambria Math" panose="02040503050406030204" pitchFamily="18" charset="0"/>
                          </a:rPr>
                        </m:ctrlPr>
                      </m:dPr>
                      <m:e>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a:rPr>
                              <m:t>𝑡</m:t>
                            </m:r>
                            <m:r>
                              <a:rPr lang="en-US" altLang="zh-TW" sz="2000" i="1">
                                <a:latin typeface="Cambria Math" panose="02040503050406030204" pitchFamily="18" charset="0"/>
                              </a:rPr>
                              <m:t>−1</m:t>
                            </m:r>
                          </m:sub>
                        </m:sSub>
                        <m:r>
                          <a:rPr lang="en-US" altLang="zh-TW" sz="2000" i="1">
                            <a:latin typeface="Cambria Math" panose="02040503050406030204" pitchFamily="18" charset="0"/>
                          </a:rPr>
                          <m:t>, </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𝑢</m:t>
                            </m:r>
                          </m:e>
                          <m:sub>
                            <m:r>
                              <a:rPr lang="en-US" altLang="zh-TW" sz="2000" i="1">
                                <a:latin typeface="Cambria Math"/>
                              </a:rPr>
                              <m:t>𝑡</m:t>
                            </m:r>
                          </m:sub>
                        </m:sSub>
                        <m:r>
                          <a:rPr lang="en-US" altLang="zh-TW" sz="2000" i="1">
                            <a:latin typeface="Cambria Math" panose="02040503050406030204" pitchFamily="18" charset="0"/>
                          </a:rPr>
                          <m:t>, </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𝑤</m:t>
                            </m:r>
                          </m:e>
                          <m:sub>
                            <m:r>
                              <a:rPr lang="en-US" altLang="zh-TW" sz="2000" i="1">
                                <a:latin typeface="Cambria Math"/>
                              </a:rPr>
                              <m:t>𝑡</m:t>
                            </m:r>
                            <m:r>
                              <a:rPr lang="en-US" altLang="zh-TW" sz="2000" i="1">
                                <a:latin typeface="Cambria Math" panose="02040503050406030204" pitchFamily="18" charset="0"/>
                              </a:rPr>
                              <m:t>−1</m:t>
                            </m:r>
                          </m:sub>
                        </m:sSub>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𝑃</m:t>
                    </m:r>
                    <m:d>
                      <m:dPr>
                        <m:ctrlPr>
                          <a:rPr lang="en-US" altLang="zh-TW" sz="2000" b="0" i="1" smtClean="0">
                            <a:latin typeface="Cambria Math" panose="02040503050406030204" pitchFamily="18" charset="0"/>
                          </a:rPr>
                        </m:ctrlPr>
                      </m:dPr>
                      <m:e>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𝑡</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𝑡</m:t>
                            </m:r>
                            <m:r>
                              <a:rPr lang="en-US" altLang="zh-TW" sz="2000" b="0" i="1" smtClean="0">
                                <a:latin typeface="Cambria Math" panose="02040503050406030204" pitchFamily="18" charset="0"/>
                              </a:rPr>
                              <m:t>−1</m:t>
                            </m:r>
                          </m:sub>
                        </m:sSub>
                      </m:e>
                    </m:d>
                  </m:oMath>
                </a14:m>
                <a:endParaRPr lang="en-US" altLang="zh-TW" sz="2000" dirty="0" smtClean="0"/>
              </a:p>
              <a:p>
                <a:pPr marL="342900" indent="-342900" algn="ctr">
                  <a:buFont typeface="Arial" panose="020B0604020202020204" pitchFamily="34" charset="0"/>
                  <a:buChar char="•"/>
                </a:pP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𝑧</m:t>
                        </m:r>
                      </m:e>
                      <m:sub>
                        <m:r>
                          <a:rPr lang="en-US" altLang="zh-TW" sz="2000" i="1">
                            <a:latin typeface="Cambria Math" panose="02040503050406030204" pitchFamily="18" charset="0"/>
                          </a:rPr>
                          <m:t>𝑡</m:t>
                        </m:r>
                      </m:sub>
                    </m:sSub>
                    <m:r>
                      <a:rPr lang="en-US" altLang="zh-TW" sz="2000" i="1">
                        <a:latin typeface="Cambria Math" panose="02040503050406030204" pitchFamily="18" charset="0"/>
                      </a:rPr>
                      <m:t>=</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h</m:t>
                        </m:r>
                      </m:e>
                      <m:sub>
                        <m:r>
                          <a:rPr lang="en-US" altLang="zh-TW" sz="2000" i="1">
                            <a:latin typeface="Cambria Math" panose="02040503050406030204" pitchFamily="18" charset="0"/>
                          </a:rPr>
                          <m:t>𝑡</m:t>
                        </m:r>
                      </m:sub>
                    </m:sSub>
                    <m:d>
                      <m:dPr>
                        <m:ctrlPr>
                          <a:rPr lang="en-US" altLang="zh-TW" sz="2000" i="1">
                            <a:latin typeface="Cambria Math" panose="02040503050406030204" pitchFamily="18" charset="0"/>
                          </a:rPr>
                        </m:ctrlPr>
                      </m:dPr>
                      <m:e>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𝑥</m:t>
                            </m:r>
                          </m:e>
                          <m:sub>
                            <m:r>
                              <a:rPr lang="en-US" altLang="zh-TW" sz="2000" i="1">
                                <a:latin typeface="Cambria Math" panose="02040503050406030204" pitchFamily="18" charset="0"/>
                              </a:rPr>
                              <m:t>𝑡</m:t>
                            </m:r>
                          </m:sub>
                        </m:sSub>
                        <m:r>
                          <a:rPr lang="en-US" altLang="zh-TW" sz="2000" i="1">
                            <a:latin typeface="Cambria Math" panose="02040503050406030204" pitchFamily="18" charset="0"/>
                          </a:rPr>
                          <m:t>, </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𝑣</m:t>
                            </m:r>
                          </m:e>
                          <m:sub>
                            <m:r>
                              <a:rPr lang="en-US" altLang="zh-TW" sz="2000" i="1">
                                <a:latin typeface="Cambria Math" panose="02040503050406030204" pitchFamily="18" charset="0"/>
                              </a:rPr>
                              <m:t>𝑡</m:t>
                            </m:r>
                          </m:sub>
                        </m:sSub>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𝑃</m:t>
                    </m:r>
                    <m:d>
                      <m:dPr>
                        <m:ctrlPr>
                          <a:rPr lang="en-US" altLang="zh-TW" sz="2000" b="0" i="1" smtClean="0">
                            <a:latin typeface="Cambria Math" panose="02040503050406030204" pitchFamily="18" charset="0"/>
                          </a:rPr>
                        </m:ctrlPr>
                      </m:dPr>
                      <m:e>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𝑧</m:t>
                            </m:r>
                          </m:e>
                          <m:sub>
                            <m:r>
                              <a:rPr lang="en-US" altLang="zh-TW" sz="2000" b="0" i="1" smtClean="0">
                                <a:latin typeface="Cambria Math" panose="02040503050406030204" pitchFamily="18" charset="0"/>
                              </a:rPr>
                              <m:t>𝑡</m:t>
                            </m:r>
                          </m:sub>
                        </m:sSub>
                        <m:r>
                          <a:rPr lang="en-US" altLang="zh-TW" sz="2000" b="0" i="1" smtClean="0">
                            <a:latin typeface="Cambria Math" panose="02040503050406030204" pitchFamily="18" charset="0"/>
                          </a:rPr>
                          <m:t>|</m:t>
                        </m:r>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𝑥</m:t>
                            </m:r>
                          </m:e>
                          <m:sub>
                            <m:r>
                              <a:rPr lang="en-US" altLang="zh-TW" sz="2000" b="0" i="1" smtClean="0">
                                <a:latin typeface="Cambria Math" panose="02040503050406030204" pitchFamily="18" charset="0"/>
                              </a:rPr>
                              <m:t>𝑡</m:t>
                            </m:r>
                          </m:sub>
                        </m:sSub>
                      </m:e>
                    </m:d>
                  </m:oMath>
                </a14:m>
                <a:endParaRPr lang="zh-TW" altLang="en-US" sz="2000" dirty="0"/>
              </a:p>
            </p:txBody>
          </p:sp>
        </mc:Choice>
        <mc:Fallback>
          <p:sp>
            <p:nvSpPr>
              <p:cNvPr id="5" name="圓角矩形 4"/>
              <p:cNvSpPr>
                <a:spLocks noRot="1" noChangeAspect="1" noMove="1" noResize="1" noEditPoints="1" noAdjustHandles="1" noChangeArrowheads="1" noChangeShapeType="1" noTextEdit="1"/>
              </p:cNvSpPr>
              <p:nvPr/>
            </p:nvSpPr>
            <p:spPr>
              <a:xfrm>
                <a:off x="8038576" y="520954"/>
                <a:ext cx="3841531" cy="1156138"/>
              </a:xfrm>
              <a:prstGeom prst="roundRect">
                <a:avLst/>
              </a:prstGeom>
              <a:blipFill rotWithShape="0">
                <a:blip r:embed="rId3"/>
                <a:stretch>
                  <a:fillRect b="-524"/>
                </a:stretch>
              </a:blipFill>
            </p:spPr>
            <p:txBody>
              <a:bodyPr/>
              <a:lstStyle/>
              <a:p>
                <a:r>
                  <a:rPr lang="zh-TW" altLang="en-US">
                    <a:noFill/>
                  </a:rPr>
                  <a:t> </a:t>
                </a:r>
              </a:p>
            </p:txBody>
          </p:sp>
        </mc:Fallback>
      </mc:AlternateContent>
      <p:pic>
        <p:nvPicPr>
          <p:cNvPr id="6" name="圖片 5"/>
          <p:cNvPicPr>
            <a:picLocks noChangeAspect="1"/>
          </p:cNvPicPr>
          <p:nvPr/>
        </p:nvPicPr>
        <p:blipFill>
          <a:blip r:embed="rId4"/>
          <a:stretch>
            <a:fillRect/>
          </a:stretch>
        </p:blipFill>
        <p:spPr>
          <a:xfrm>
            <a:off x="7809385" y="2030933"/>
            <a:ext cx="3544415" cy="2263200"/>
          </a:xfrm>
          <a:prstGeom prst="rect">
            <a:avLst/>
          </a:prstGeom>
        </p:spPr>
      </p:pic>
      <p:pic>
        <p:nvPicPr>
          <p:cNvPr id="12" name="圖片 11"/>
          <p:cNvPicPr>
            <a:picLocks noChangeAspect="1"/>
          </p:cNvPicPr>
          <p:nvPr/>
        </p:nvPicPr>
        <p:blipFill>
          <a:blip r:embed="rId5"/>
          <a:stretch>
            <a:fillRect/>
          </a:stretch>
        </p:blipFill>
        <p:spPr>
          <a:xfrm>
            <a:off x="7537936" y="4725010"/>
            <a:ext cx="4362224" cy="1068214"/>
          </a:xfrm>
          <a:prstGeom prst="rect">
            <a:avLst/>
          </a:prstGeom>
        </p:spPr>
      </p:pic>
    </p:spTree>
    <p:extLst>
      <p:ext uri="{BB962C8B-B14F-4D97-AF65-F5344CB8AC3E}">
        <p14:creationId xmlns:p14="http://schemas.microsoft.com/office/powerpoint/2010/main" xmlns="" val="139173214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60325430-07F2-45E8-A5C9-B73C13C9C571}" type="slidenum">
              <a:rPr lang="zh-TW" altLang="en-US" smtClean="0"/>
              <a:pPr/>
              <a:t>33</a:t>
            </a:fld>
            <a:endParaRPr lang="zh-TW" altLang="en-US"/>
          </a:p>
        </p:txBody>
      </p:sp>
      <p:pic>
        <p:nvPicPr>
          <p:cNvPr id="6" name="圖片 5"/>
          <p:cNvPicPr>
            <a:picLocks noChangeAspect="1"/>
          </p:cNvPicPr>
          <p:nvPr/>
        </p:nvPicPr>
        <p:blipFill>
          <a:blip r:embed="rId2" cstate="print">
            <a:extLst>
              <a:ext uri="{28A0092B-C50C-407E-A947-70E740481C1C}">
                <a14:useLocalDpi xmlns:a14="http://schemas.microsoft.com/office/drawing/2010/main" xmlns=""/>
              </a:ext>
            </a:extLst>
          </a:blip>
          <a:stretch>
            <a:fillRect/>
          </a:stretch>
        </p:blipFill>
        <p:spPr>
          <a:xfrm>
            <a:off x="6038649" y="171998"/>
            <a:ext cx="5631180" cy="2612792"/>
          </a:xfrm>
          <a:prstGeom prst="rect">
            <a:avLst/>
          </a:prstGeom>
        </p:spPr>
      </p:pic>
      <p:pic>
        <p:nvPicPr>
          <p:cNvPr id="7" name="圖片 6"/>
          <p:cNvPicPr>
            <a:picLocks noChangeAspect="1"/>
          </p:cNvPicPr>
          <p:nvPr/>
        </p:nvPicPr>
        <p:blipFill>
          <a:blip r:embed="rId3" cstate="print">
            <a:extLst>
              <a:ext uri="{28A0092B-C50C-407E-A947-70E740481C1C}">
                <a14:useLocalDpi xmlns:a14="http://schemas.microsoft.com/office/drawing/2010/main" xmlns=""/>
              </a:ext>
            </a:extLst>
          </a:blip>
          <a:stretch>
            <a:fillRect/>
          </a:stretch>
        </p:blipFill>
        <p:spPr>
          <a:xfrm>
            <a:off x="6038649" y="2670204"/>
            <a:ext cx="4960157" cy="1374482"/>
          </a:xfrm>
          <a:prstGeom prst="rect">
            <a:avLst/>
          </a:prstGeom>
        </p:spPr>
      </p:pic>
      <p:pic>
        <p:nvPicPr>
          <p:cNvPr id="9" name="圖片 8"/>
          <p:cNvPicPr>
            <a:picLocks noChangeAspect="1"/>
          </p:cNvPicPr>
          <p:nvPr/>
        </p:nvPicPr>
        <p:blipFill>
          <a:blip r:embed="rId4" cstate="print">
            <a:extLst>
              <a:ext uri="{28A0092B-C50C-407E-A947-70E740481C1C}">
                <a14:useLocalDpi xmlns:a14="http://schemas.microsoft.com/office/drawing/2010/main" xmlns=""/>
              </a:ext>
            </a:extLst>
          </a:blip>
          <a:stretch>
            <a:fillRect/>
          </a:stretch>
        </p:blipFill>
        <p:spPr>
          <a:xfrm>
            <a:off x="6753464" y="4309760"/>
            <a:ext cx="3468565" cy="2214768"/>
          </a:xfrm>
          <a:prstGeom prst="rect">
            <a:avLst/>
          </a:prstGeom>
        </p:spPr>
      </p:pic>
      <p:sp>
        <p:nvSpPr>
          <p:cNvPr id="10" name="圓角矩形 9"/>
          <p:cNvSpPr/>
          <p:nvPr/>
        </p:nvSpPr>
        <p:spPr>
          <a:xfrm>
            <a:off x="6597054" y="1410308"/>
            <a:ext cx="2818860" cy="233577"/>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 name="圖片 1"/>
          <p:cNvPicPr>
            <a:picLocks noChangeAspect="1"/>
          </p:cNvPicPr>
          <p:nvPr/>
        </p:nvPicPr>
        <p:blipFill>
          <a:blip r:embed="rId5" cstate="print">
            <a:extLst>
              <a:ext uri="{28A0092B-C50C-407E-A947-70E740481C1C}">
                <a14:useLocalDpi xmlns:a14="http://schemas.microsoft.com/office/drawing/2010/main" xmlns=""/>
              </a:ext>
            </a:extLst>
          </a:blip>
          <a:stretch>
            <a:fillRect/>
          </a:stretch>
        </p:blipFill>
        <p:spPr>
          <a:xfrm>
            <a:off x="424916" y="218317"/>
            <a:ext cx="4213645" cy="6639683"/>
          </a:xfrm>
          <a:prstGeom prst="rect">
            <a:avLst/>
          </a:prstGeom>
        </p:spPr>
      </p:pic>
    </p:spTree>
    <p:extLst>
      <p:ext uri="{BB962C8B-B14F-4D97-AF65-F5344CB8AC3E}">
        <p14:creationId xmlns:p14="http://schemas.microsoft.com/office/powerpoint/2010/main" xmlns="" val="415716055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p:txBody>
          <a:bodyPr/>
          <a:lstStyle/>
          <a:p>
            <a:fld id="{60325430-07F2-45E8-A5C9-B73C13C9C571}" type="slidenum">
              <a:rPr lang="zh-TW" altLang="en-US" smtClean="0"/>
              <a:pPr/>
              <a:t>34</a:t>
            </a:fld>
            <a:endParaRPr lang="zh-TW" altLang="en-US"/>
          </a:p>
        </p:txBody>
      </p:sp>
      <p:pic>
        <p:nvPicPr>
          <p:cNvPr id="6" name="圖片 5"/>
          <p:cNvPicPr>
            <a:picLocks noChangeAspect="1"/>
          </p:cNvPicPr>
          <p:nvPr/>
        </p:nvPicPr>
        <p:blipFill>
          <a:blip r:embed="rId2" cstate="print">
            <a:extLst>
              <a:ext uri="{28A0092B-C50C-407E-A947-70E740481C1C}">
                <a14:useLocalDpi xmlns:a14="http://schemas.microsoft.com/office/drawing/2010/main" xmlns=""/>
              </a:ext>
            </a:extLst>
          </a:blip>
          <a:stretch>
            <a:fillRect/>
          </a:stretch>
        </p:blipFill>
        <p:spPr>
          <a:xfrm>
            <a:off x="586851" y="0"/>
            <a:ext cx="6158893" cy="4896033"/>
          </a:xfrm>
          <a:prstGeom prst="rect">
            <a:avLst/>
          </a:prstGeom>
        </p:spPr>
      </p:pic>
      <p:pic>
        <p:nvPicPr>
          <p:cNvPr id="7" name="圖片 6"/>
          <p:cNvPicPr>
            <a:picLocks noChangeAspect="1"/>
          </p:cNvPicPr>
          <p:nvPr/>
        </p:nvPicPr>
        <p:blipFill>
          <a:blip r:embed="rId3" cstate="print">
            <a:extLst>
              <a:ext uri="{28A0092B-C50C-407E-A947-70E740481C1C}">
                <a14:useLocalDpi xmlns:a14="http://schemas.microsoft.com/office/drawing/2010/main" xmlns=""/>
              </a:ext>
            </a:extLst>
          </a:blip>
          <a:stretch>
            <a:fillRect/>
          </a:stretch>
        </p:blipFill>
        <p:spPr>
          <a:xfrm>
            <a:off x="586851" y="4896033"/>
            <a:ext cx="4606045" cy="1849110"/>
          </a:xfrm>
          <a:prstGeom prst="rect">
            <a:avLst/>
          </a:prstGeom>
        </p:spPr>
      </p:pic>
      <p:sp>
        <p:nvSpPr>
          <p:cNvPr id="8" name="圓角矩形 7"/>
          <p:cNvSpPr/>
          <p:nvPr/>
        </p:nvSpPr>
        <p:spPr>
          <a:xfrm>
            <a:off x="1066980" y="1050879"/>
            <a:ext cx="4760613" cy="64144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圖片 8"/>
          <p:cNvPicPr>
            <a:picLocks noChangeAspect="1"/>
          </p:cNvPicPr>
          <p:nvPr/>
        </p:nvPicPr>
        <p:blipFill>
          <a:blip r:embed="rId4" cstate="print">
            <a:extLst>
              <a:ext uri="{28A0092B-C50C-407E-A947-70E740481C1C}">
                <a14:useLocalDpi xmlns:a14="http://schemas.microsoft.com/office/drawing/2010/main" xmlns=""/>
              </a:ext>
            </a:extLst>
          </a:blip>
          <a:stretch>
            <a:fillRect/>
          </a:stretch>
        </p:blipFill>
        <p:spPr>
          <a:xfrm>
            <a:off x="6513396" y="249281"/>
            <a:ext cx="5450770" cy="6472193"/>
          </a:xfrm>
          <a:prstGeom prst="rect">
            <a:avLst/>
          </a:prstGeom>
        </p:spPr>
      </p:pic>
      <p:sp>
        <p:nvSpPr>
          <p:cNvPr id="11" name="圓角矩形 10"/>
          <p:cNvSpPr/>
          <p:nvPr/>
        </p:nvSpPr>
        <p:spPr>
          <a:xfrm>
            <a:off x="6974647" y="3787798"/>
            <a:ext cx="4760613" cy="2568551"/>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xmlns="" val="189250375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Example</a:t>
            </a:r>
            <a:endParaRPr lang="zh-TW" altLang="en-US" dirty="0"/>
          </a:p>
        </p:txBody>
      </p:sp>
      <p:sp>
        <p:nvSpPr>
          <p:cNvPr id="3" name="投影片編號版面配置區 2"/>
          <p:cNvSpPr>
            <a:spLocks noGrp="1"/>
          </p:cNvSpPr>
          <p:nvPr>
            <p:ph type="sldNum" sz="quarter" idx="12"/>
          </p:nvPr>
        </p:nvSpPr>
        <p:spPr/>
        <p:txBody>
          <a:bodyPr/>
          <a:lstStyle/>
          <a:p>
            <a:fld id="{60325430-07F2-45E8-A5C9-B73C13C9C571}" type="slidenum">
              <a:rPr lang="zh-TW" altLang="en-US" smtClean="0"/>
              <a:pPr/>
              <a:t>35</a:t>
            </a:fld>
            <a:endParaRPr lang="zh-TW" altLang="en-US"/>
          </a:p>
        </p:txBody>
      </p:sp>
      <mc:AlternateContent xmlns:mc="http://schemas.openxmlformats.org/markup-compatibility/2006">
        <mc:Choice xmlns:a14="http://schemas.microsoft.com/office/drawing/2010/main" xmlns="" Requires="a14">
          <p:sp>
            <p:nvSpPr>
              <p:cNvPr id="4" name="文字方塊 3"/>
              <p:cNvSpPr txBox="1"/>
              <p:nvPr/>
            </p:nvSpPr>
            <p:spPr>
              <a:xfrm>
                <a:off x="341193" y="1690688"/>
                <a:ext cx="9294126" cy="4084580"/>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−1</m:t>
                            </m:r>
                          </m:sub>
                        </m:sSub>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𝑁</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𝑓</m:t>
                            </m:r>
                          </m:e>
                          <m:sub>
                            <m:r>
                              <a:rPr lang="en-US" altLang="zh-TW" sz="2400" b="0" i="1" smtClean="0">
                                <a:latin typeface="Cambria Math" panose="02040503050406030204" pitchFamily="18" charset="0"/>
                              </a:rPr>
                              <m:t>𝑡</m:t>
                            </m:r>
                          </m:sub>
                        </m:sSub>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𝑡</m:t>
                            </m:r>
                          </m:e>
                        </m:d>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𝑄</m:t>
                            </m:r>
                          </m:e>
                          <m:sub>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−1</m:t>
                            </m:r>
                          </m:sub>
                        </m:sSub>
                      </m:e>
                    </m:d>
                  </m:oMath>
                </a14:m>
                <a:endParaRPr lang="en-US" altLang="zh-TW" sz="2400" b="0" dirty="0" smtClean="0"/>
              </a:p>
              <a:p>
                <a:pPr marL="285750" indent="-285750">
                  <a:buFont typeface="Arial" panose="020B0604020202020204" pitchFamily="34" charset="0"/>
                  <a:buChar char="•"/>
                </a:pPr>
                <a14:m>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sub>
                        </m:sSub>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𝑁</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sub>
                              <m:sup>
                                <m:r>
                                  <a:rPr lang="en-US" altLang="zh-TW" sz="2400" b="0" i="1" smtClean="0">
                                    <a:latin typeface="Cambria Math" panose="02040503050406030204" pitchFamily="18" charset="0"/>
                                  </a:rPr>
                                  <m:t>2</m:t>
                                </m:r>
                              </m:sup>
                            </m:sSubSup>
                          </m:num>
                          <m:den>
                            <m:r>
                              <a:rPr lang="en-US" altLang="zh-TW" sz="2400" b="0" i="1" smtClean="0">
                                <a:latin typeface="Cambria Math" panose="02040503050406030204" pitchFamily="18" charset="0"/>
                              </a:rPr>
                              <m:t>20</m:t>
                            </m:r>
                          </m:den>
                        </m:f>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𝑅</m:t>
                            </m:r>
                          </m:e>
                          <m:sub>
                            <m:r>
                              <a:rPr lang="en-US" altLang="zh-TW" sz="2400" b="0" i="1" smtClean="0">
                                <a:latin typeface="Cambria Math" panose="02040503050406030204" pitchFamily="18" charset="0"/>
                              </a:rPr>
                              <m:t>𝑡</m:t>
                            </m:r>
                          </m:sub>
                        </m:sSub>
                      </m:e>
                    </m:d>
                  </m:oMath>
                </a14:m>
                <a:endParaRPr lang="en-US" altLang="zh-TW" sz="2400" dirty="0" smtClean="0"/>
              </a:p>
              <a:p>
                <a:r>
                  <a:rPr lang="en-US" altLang="zh-TW" sz="2400" dirty="0" smtClean="0"/>
                  <a:t>Or equivalently</a:t>
                </a:r>
              </a:p>
              <a:p>
                <a:pPr marL="285750" indent="-285750">
                  <a:buFont typeface="Arial" panose="020B0604020202020204" pitchFamily="34" charset="0"/>
                  <a:buChar char="•"/>
                </a:pP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𝑓</m:t>
                        </m:r>
                      </m:e>
                      <m:sub>
                        <m:r>
                          <a:rPr lang="en-US" altLang="zh-TW" sz="2400" b="0" i="1" smtClean="0">
                            <a:latin typeface="Cambria Math" panose="02040503050406030204" pitchFamily="18" charset="0"/>
                          </a:rPr>
                          <m:t>𝑡</m:t>
                        </m:r>
                      </m:sub>
                    </m:sSub>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𝑡</m:t>
                        </m:r>
                      </m:e>
                    </m:d>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𝑁</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0, 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𝑄</m:t>
                            </m:r>
                          </m:e>
                          <m:sub>
                            <m:r>
                              <a:rPr lang="en-US" altLang="zh-TW" sz="2400" b="0" i="1" smtClean="0">
                                <a:latin typeface="Cambria Math" panose="02040503050406030204" pitchFamily="18" charset="0"/>
                              </a:rPr>
                              <m:t>𝑡</m:t>
                            </m:r>
                          </m:sub>
                        </m:sSub>
                      </m:e>
                    </m:d>
                  </m:oMath>
                </a14:m>
                <a:endParaRPr lang="en-US" altLang="zh-TW" sz="2400" b="0" dirty="0" smtClean="0"/>
              </a:p>
              <a:p>
                <a:pPr marL="285750" indent="-285750">
                  <a:buFont typeface="Arial" panose="020B0604020202020204" pitchFamily="34" charset="0"/>
                  <a:buChar char="•"/>
                </a:pP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sub>
                          <m:sup>
                            <m:r>
                              <a:rPr lang="en-US" altLang="zh-TW" sz="2400" b="0" i="1" smtClean="0">
                                <a:latin typeface="Cambria Math" panose="02040503050406030204" pitchFamily="18" charset="0"/>
                              </a:rPr>
                              <m:t>2</m:t>
                            </m:r>
                          </m:sup>
                        </m:sSubSup>
                      </m:num>
                      <m:den>
                        <m:r>
                          <a:rPr lang="en-US" altLang="zh-TW" sz="2400" b="0" i="1" smtClean="0">
                            <a:latin typeface="Cambria Math" panose="02040503050406030204" pitchFamily="18" charset="0"/>
                          </a:rPr>
                          <m:t>20</m:t>
                        </m:r>
                      </m:den>
                    </m:f>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𝑣</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𝑣</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𝑁</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0, 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𝑅</m:t>
                            </m:r>
                          </m:e>
                          <m:sub>
                            <m:r>
                              <a:rPr lang="en-US" altLang="zh-TW" sz="2400" b="0" i="1" smtClean="0">
                                <a:latin typeface="Cambria Math" panose="02040503050406030204" pitchFamily="18" charset="0"/>
                              </a:rPr>
                              <m:t>𝑡</m:t>
                            </m:r>
                          </m:sub>
                        </m:sSub>
                      </m:e>
                    </m:d>
                  </m:oMath>
                </a14:m>
                <a:endParaRPr lang="en-US" altLang="zh-TW" sz="2400" dirty="0" smtClean="0"/>
              </a:p>
              <a:p>
                <a:pPr marL="285750" indent="-285750">
                  <a:buFont typeface="Arial" panose="020B0604020202020204" pitchFamily="34" charset="0"/>
                  <a:buChar char="•"/>
                </a:pPr>
                <a14:m>
                  <m:oMath xmlns:m="http://schemas.openxmlformats.org/officeDocument/2006/math">
                    <m:r>
                      <a:rPr lang="en-US" altLang="zh-TW" sz="2400" b="0" i="1" smtClean="0">
                        <a:latin typeface="Cambria Math" panose="02040503050406030204" pitchFamily="18" charset="0"/>
                      </a:rPr>
                      <m:t>𝑤h𝑒𝑟𝑒</m:t>
                    </m:r>
                    <m:r>
                      <a:rPr lang="en-US" altLang="zh-TW" sz="2400" b="0" i="1" smtClean="0">
                        <a:latin typeface="Cambria Math" panose="02040503050406030204" pitchFamily="18" charset="0"/>
                      </a:rPr>
                      <m:t>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𝑓</m:t>
                        </m:r>
                      </m:e>
                      <m:sub>
                        <m:r>
                          <a:rPr lang="en-US" altLang="zh-TW" sz="2400" b="0" i="1" smtClean="0">
                            <a:latin typeface="Cambria Math" panose="02040503050406030204" pitchFamily="18" charset="0"/>
                          </a:rPr>
                          <m:t>𝑡</m:t>
                        </m:r>
                      </m:sub>
                    </m:sSub>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𝑡</m:t>
                        </m:r>
                      </m:e>
                    </m:d>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−1</m:t>
                            </m:r>
                          </m:sub>
                        </m:sSub>
                      </m:num>
                      <m:den>
                        <m:r>
                          <a:rPr lang="en-US" altLang="zh-TW" sz="2400" b="0" i="1" smtClean="0">
                            <a:latin typeface="Cambria Math" panose="02040503050406030204" pitchFamily="18" charset="0"/>
                          </a:rPr>
                          <m:t>2</m:t>
                        </m:r>
                      </m:den>
                    </m:f>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25</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−1</m:t>
                            </m:r>
                          </m:sub>
                        </m:sSub>
                      </m:num>
                      <m:den>
                        <m:r>
                          <a:rPr lang="en-US" altLang="zh-TW" sz="2400" b="0" i="1" smtClean="0">
                            <a:latin typeface="Cambria Math" panose="02040503050406030204" pitchFamily="18" charset="0"/>
                          </a:rPr>
                          <m:t>1+</m:t>
                        </m:r>
                        <m:sSubSup>
                          <m:sSubSupPr>
                            <m:ctrlPr>
                              <a:rPr lang="en-US" altLang="zh-TW" sz="2400" b="0" i="1" smtClean="0">
                                <a:latin typeface="Cambria Math" panose="02040503050406030204" pitchFamily="18" charset="0"/>
                              </a:rPr>
                            </m:ctrlPr>
                          </m:sSubSup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−1</m:t>
                            </m:r>
                          </m:sub>
                          <m:sup>
                            <m:r>
                              <a:rPr lang="en-US" altLang="zh-TW" sz="2400" b="0" i="1" smtClean="0">
                                <a:latin typeface="Cambria Math" panose="02040503050406030204" pitchFamily="18" charset="0"/>
                              </a:rPr>
                              <m:t>2</m:t>
                            </m:r>
                          </m:sup>
                        </m:sSubSup>
                      </m:den>
                    </m:f>
                    <m:r>
                      <a:rPr lang="en-US" altLang="zh-TW" sz="2400" b="0" i="1" smtClean="0">
                        <a:latin typeface="Cambria Math" panose="02040503050406030204" pitchFamily="18" charset="0"/>
                      </a:rPr>
                      <m:t>+8</m:t>
                    </m:r>
                    <m:r>
                      <m:rPr>
                        <m:sty m:val="p"/>
                      </m:rPr>
                      <a:rPr lang="en-US" altLang="zh-TW" sz="2400" b="0" i="0" smtClean="0">
                        <a:latin typeface="Cambria Math" panose="02040503050406030204" pitchFamily="18" charset="0"/>
                      </a:rPr>
                      <m:t>cos</m:t>
                    </m:r>
                    <m:r>
                      <a:rPr lang="en-US" altLang="zh-TW" sz="2400" b="0" i="1" smtClean="0">
                        <a:latin typeface="Cambria Math" panose="02040503050406030204" pitchFamily="18" charset="0"/>
                      </a:rPr>
                      <m:t>⁡(1.2</m:t>
                    </m:r>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m:t>
                    </m:r>
                  </m:oMath>
                </a14:m>
                <a:endParaRPr lang="en-US" altLang="zh-TW" sz="2400" dirty="0" smtClean="0"/>
              </a:p>
              <a:p>
                <a:pPr marL="285750" indent="-285750">
                  <a:buFont typeface="Arial" panose="020B0604020202020204" pitchFamily="34" charset="0"/>
                  <a:buChar char="•"/>
                </a:pPr>
                <a:endParaRPr lang="en-US" altLang="zh-TW" sz="2400" dirty="0"/>
              </a:p>
              <a:p>
                <a:pPr marL="285750" indent="-285750">
                  <a:buFont typeface="Arial" panose="020B0604020202020204" pitchFamily="34" charset="0"/>
                  <a:buChar char="•"/>
                </a:pPr>
                <a:endParaRPr lang="en-US" altLang="zh-TW" sz="2400" dirty="0" smtClean="0"/>
              </a:p>
              <a:p>
                <a:pPr marL="285750" indent="-285750">
                  <a:buFont typeface="Arial" panose="020B0604020202020204" pitchFamily="34" charset="0"/>
                  <a:buChar char="•"/>
                </a:pPr>
                <a:r>
                  <a:rPr lang="en-US" altLang="zh-TW" sz="2400" dirty="0" smtClean="0"/>
                  <a:t>Set </a:t>
                </a:r>
                <a14:m>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𝑄</m:t>
                        </m:r>
                      </m:e>
                      <m:sub>
                        <m:r>
                          <a:rPr lang="en-US" altLang="zh-TW" sz="2400" b="0" i="1" smtClean="0">
                            <a:latin typeface="Cambria Math" panose="02040503050406030204" pitchFamily="18" charset="0"/>
                          </a:rPr>
                          <m:t>𝑡</m:t>
                        </m:r>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=10, </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𝑅</m:t>
                        </m:r>
                      </m:e>
                      <m:sub>
                        <m:r>
                          <a:rPr lang="en-US" altLang="zh-TW" sz="2400" b="0" i="1" smtClean="0">
                            <a:latin typeface="Cambria Math" panose="02040503050406030204" pitchFamily="18" charset="0"/>
                          </a:rPr>
                          <m:t>𝑡</m:t>
                        </m:r>
                      </m:sub>
                    </m:sSub>
                    <m:r>
                      <a:rPr lang="en-US" altLang="zh-TW" sz="2400" b="0" i="1" smtClean="0">
                        <a:latin typeface="Cambria Math" panose="02040503050406030204" pitchFamily="18" charset="0"/>
                      </a:rPr>
                      <m:t>=1</m:t>
                    </m:r>
                  </m:oMath>
                </a14:m>
                <a:endParaRPr lang="zh-TW" altLang="en-US" sz="2400" dirty="0"/>
              </a:p>
            </p:txBody>
          </p:sp>
        </mc:Choice>
        <mc:Fallback>
          <p:sp>
            <p:nvSpPr>
              <p:cNvPr id="4" name="文字方塊 3"/>
              <p:cNvSpPr txBox="1">
                <a:spLocks noRot="1" noChangeAspect="1" noMove="1" noResize="1" noEditPoints="1" noAdjustHandles="1" noChangeArrowheads="1" noChangeShapeType="1" noTextEdit="1"/>
              </p:cNvSpPr>
              <p:nvPr/>
            </p:nvSpPr>
            <p:spPr>
              <a:xfrm>
                <a:off x="341193" y="1690688"/>
                <a:ext cx="9294126" cy="4084580"/>
              </a:xfrm>
              <a:prstGeom prst="rect">
                <a:avLst/>
              </a:prstGeom>
              <a:blipFill rotWithShape="0">
                <a:blip r:embed="rId2"/>
                <a:stretch>
                  <a:fillRect l="-1049" t="-746" b="-2537"/>
                </a:stretch>
              </a:blipFill>
            </p:spPr>
            <p:txBody>
              <a:bodyPr/>
              <a:lstStyle/>
              <a:p>
                <a:r>
                  <a:rPr lang="zh-TW" altLang="en-US">
                    <a:noFill/>
                  </a:rPr>
                  <a:t> </a:t>
                </a:r>
              </a:p>
            </p:txBody>
          </p:sp>
        </mc:Fallback>
      </mc:AlternateContent>
      <p:pic>
        <p:nvPicPr>
          <p:cNvPr id="5" name="圖片 4"/>
          <p:cNvPicPr>
            <a:picLocks noChangeAspect="1"/>
          </p:cNvPicPr>
          <p:nvPr/>
        </p:nvPicPr>
        <p:blipFill>
          <a:blip r:embed="rId3"/>
          <a:stretch>
            <a:fillRect/>
          </a:stretch>
        </p:blipFill>
        <p:spPr>
          <a:xfrm>
            <a:off x="7133348" y="35038"/>
            <a:ext cx="3717140" cy="3226359"/>
          </a:xfrm>
          <a:prstGeom prst="rect">
            <a:avLst/>
          </a:prstGeom>
        </p:spPr>
      </p:pic>
      <p:pic>
        <p:nvPicPr>
          <p:cNvPr id="6" name="圖片 5"/>
          <p:cNvPicPr>
            <a:picLocks noChangeAspect="1"/>
          </p:cNvPicPr>
          <p:nvPr/>
        </p:nvPicPr>
        <p:blipFill>
          <a:blip r:embed="rId4"/>
          <a:stretch>
            <a:fillRect/>
          </a:stretch>
        </p:blipFill>
        <p:spPr>
          <a:xfrm>
            <a:off x="6983782" y="3318630"/>
            <a:ext cx="4016272" cy="3539370"/>
          </a:xfrm>
          <a:prstGeom prst="rect">
            <a:avLst/>
          </a:prstGeom>
        </p:spPr>
      </p:pic>
    </p:spTree>
    <p:extLst>
      <p:ext uri="{BB962C8B-B14F-4D97-AF65-F5344CB8AC3E}">
        <p14:creationId xmlns:p14="http://schemas.microsoft.com/office/powerpoint/2010/main" xmlns="" val="236953169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pPr algn="ctr"/>
            <a:r>
              <a:rPr lang="en-US" altLang="zh-TW" dirty="0" smtClean="0"/>
              <a:t>EKF results</a:t>
            </a:r>
            <a:endParaRPr lang="zh-TW" altLang="en-US" dirty="0"/>
          </a:p>
        </p:txBody>
      </p:sp>
      <p:sp>
        <p:nvSpPr>
          <p:cNvPr id="7" name="內容版面配置區 6"/>
          <p:cNvSpPr>
            <a:spLocks noGrp="1"/>
          </p:cNvSpPr>
          <p:nvPr>
            <p:ph idx="1"/>
          </p:nvPr>
        </p:nvSpPr>
        <p:spPr/>
        <p:txBody>
          <a:bodyPr/>
          <a:lstStyle/>
          <a:p>
            <a:endParaRPr lang="zh-TW" altLang="en-US"/>
          </a:p>
        </p:txBody>
      </p:sp>
      <p:sp>
        <p:nvSpPr>
          <p:cNvPr id="3" name="投影片編號版面配置區 2"/>
          <p:cNvSpPr>
            <a:spLocks noGrp="1"/>
          </p:cNvSpPr>
          <p:nvPr>
            <p:ph type="sldNum" sz="quarter" idx="12"/>
          </p:nvPr>
        </p:nvSpPr>
        <p:spPr/>
        <p:txBody>
          <a:bodyPr/>
          <a:lstStyle/>
          <a:p>
            <a:fld id="{60325430-07F2-45E8-A5C9-B73C13C9C571}" type="slidenum">
              <a:rPr lang="zh-TW" altLang="en-US" smtClean="0"/>
              <a:pPr/>
              <a:t>36</a:t>
            </a:fld>
            <a:endParaRPr lang="zh-TW" altLang="en-US"/>
          </a:p>
        </p:txBody>
      </p:sp>
      <p:pic>
        <p:nvPicPr>
          <p:cNvPr id="4" name="圖片 3"/>
          <p:cNvPicPr>
            <a:picLocks noChangeAspect="1"/>
          </p:cNvPicPr>
          <p:nvPr/>
        </p:nvPicPr>
        <p:blipFill>
          <a:blip r:embed="rId2"/>
          <a:stretch>
            <a:fillRect/>
          </a:stretch>
        </p:blipFill>
        <p:spPr>
          <a:xfrm>
            <a:off x="0" y="1589146"/>
            <a:ext cx="5728294" cy="5132329"/>
          </a:xfrm>
          <a:prstGeom prst="rect">
            <a:avLst/>
          </a:prstGeom>
        </p:spPr>
      </p:pic>
      <p:pic>
        <p:nvPicPr>
          <p:cNvPr id="5" name="圖片 4"/>
          <p:cNvPicPr>
            <a:picLocks noChangeAspect="1"/>
          </p:cNvPicPr>
          <p:nvPr/>
        </p:nvPicPr>
        <p:blipFill>
          <a:blip r:embed="rId3"/>
          <a:stretch>
            <a:fillRect/>
          </a:stretch>
        </p:blipFill>
        <p:spPr>
          <a:xfrm>
            <a:off x="5972006" y="1401442"/>
            <a:ext cx="5683181" cy="5132329"/>
          </a:xfrm>
          <a:prstGeom prst="rect">
            <a:avLst/>
          </a:prstGeom>
        </p:spPr>
      </p:pic>
    </p:spTree>
    <p:extLst>
      <p:ext uri="{BB962C8B-B14F-4D97-AF65-F5344CB8AC3E}">
        <p14:creationId xmlns:p14="http://schemas.microsoft.com/office/powerpoint/2010/main" xmlns="" val="127873301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0"/>
            <a:ext cx="10515600" cy="1325563"/>
          </a:xfrm>
        </p:spPr>
        <p:txBody>
          <a:bodyPr/>
          <a:lstStyle/>
          <a:p>
            <a:r>
              <a:rPr lang="en-US" altLang="zh-TW" dirty="0" smtClean="0"/>
              <a:t>SIR, Auxiliary, Regularized, and likelihood PFs</a:t>
            </a:r>
            <a:endParaRPr lang="zh-TW" altLang="en-US" dirty="0"/>
          </a:p>
        </p:txBody>
      </p:sp>
      <p:pic>
        <p:nvPicPr>
          <p:cNvPr id="5" name="內容版面配置區 4"/>
          <p:cNvPicPr>
            <a:picLocks noGrp="1" noChangeAspect="1"/>
          </p:cNvPicPr>
          <p:nvPr>
            <p:ph idx="1"/>
          </p:nvPr>
        </p:nvPicPr>
        <p:blipFill>
          <a:blip r:embed="rId2" cstate="print">
            <a:extLst>
              <a:ext uri="{28A0092B-C50C-407E-A947-70E740481C1C}">
                <a14:useLocalDpi xmlns:a14="http://schemas.microsoft.com/office/drawing/2010/main" xmlns=""/>
              </a:ext>
            </a:extLst>
          </a:blip>
          <a:stretch>
            <a:fillRect/>
          </a:stretch>
        </p:blipFill>
        <p:spPr>
          <a:xfrm>
            <a:off x="123774" y="895771"/>
            <a:ext cx="3322550" cy="3096187"/>
          </a:xfrm>
          <a:prstGeom prst="rect">
            <a:avLst/>
          </a:prstGeom>
        </p:spPr>
      </p:pic>
      <p:sp>
        <p:nvSpPr>
          <p:cNvPr id="4" name="投影片編號版面配置區 3"/>
          <p:cNvSpPr>
            <a:spLocks noGrp="1"/>
          </p:cNvSpPr>
          <p:nvPr>
            <p:ph type="sldNum" sz="quarter" idx="12"/>
          </p:nvPr>
        </p:nvSpPr>
        <p:spPr/>
        <p:txBody>
          <a:bodyPr/>
          <a:lstStyle/>
          <a:p>
            <a:fld id="{60325430-07F2-45E8-A5C9-B73C13C9C571}" type="slidenum">
              <a:rPr lang="zh-TW" altLang="en-US" smtClean="0"/>
              <a:pPr/>
              <a:t>37</a:t>
            </a:fld>
            <a:endParaRPr lang="zh-TW" altLang="en-US"/>
          </a:p>
        </p:txBody>
      </p:sp>
      <p:pic>
        <p:nvPicPr>
          <p:cNvPr id="6" name="圖片 5"/>
          <p:cNvPicPr>
            <a:picLocks noChangeAspect="1"/>
          </p:cNvPicPr>
          <p:nvPr/>
        </p:nvPicPr>
        <p:blipFill>
          <a:blip r:embed="rId3" cstate="print">
            <a:extLst>
              <a:ext uri="{28A0092B-C50C-407E-A947-70E740481C1C}">
                <a14:useLocalDpi xmlns:a14="http://schemas.microsoft.com/office/drawing/2010/main" xmlns=""/>
              </a:ext>
            </a:extLst>
          </a:blip>
          <a:stretch>
            <a:fillRect/>
          </a:stretch>
        </p:blipFill>
        <p:spPr>
          <a:xfrm>
            <a:off x="293509" y="3947586"/>
            <a:ext cx="3000400" cy="2773889"/>
          </a:xfrm>
          <a:prstGeom prst="rect">
            <a:avLst/>
          </a:prstGeom>
        </p:spPr>
      </p:pic>
      <p:pic>
        <p:nvPicPr>
          <p:cNvPr id="9" name="圖片 8"/>
          <p:cNvPicPr>
            <a:picLocks noChangeAspect="1"/>
          </p:cNvPicPr>
          <p:nvPr/>
        </p:nvPicPr>
        <p:blipFill>
          <a:blip r:embed="rId4"/>
          <a:stretch>
            <a:fillRect/>
          </a:stretch>
        </p:blipFill>
        <p:spPr>
          <a:xfrm>
            <a:off x="3658134" y="895771"/>
            <a:ext cx="3161790" cy="2854394"/>
          </a:xfrm>
          <a:prstGeom prst="rect">
            <a:avLst/>
          </a:prstGeom>
        </p:spPr>
      </p:pic>
      <p:pic>
        <p:nvPicPr>
          <p:cNvPr id="10" name="圖片 9"/>
          <p:cNvPicPr>
            <a:picLocks noChangeAspect="1"/>
          </p:cNvPicPr>
          <p:nvPr/>
        </p:nvPicPr>
        <p:blipFill>
          <a:blip r:embed="rId5"/>
          <a:stretch>
            <a:fillRect/>
          </a:stretch>
        </p:blipFill>
        <p:spPr>
          <a:xfrm>
            <a:off x="3616059" y="3625869"/>
            <a:ext cx="3169055" cy="2828483"/>
          </a:xfrm>
          <a:prstGeom prst="rect">
            <a:avLst/>
          </a:prstGeom>
        </p:spPr>
      </p:pic>
      <p:pic>
        <p:nvPicPr>
          <p:cNvPr id="11" name="圖片 10"/>
          <p:cNvPicPr>
            <a:picLocks noChangeAspect="1"/>
          </p:cNvPicPr>
          <p:nvPr/>
        </p:nvPicPr>
        <p:blipFill>
          <a:blip r:embed="rId6"/>
          <a:stretch>
            <a:fillRect/>
          </a:stretch>
        </p:blipFill>
        <p:spPr>
          <a:xfrm>
            <a:off x="6827189" y="2018687"/>
            <a:ext cx="5195764" cy="2375892"/>
          </a:xfrm>
          <a:prstGeom prst="rect">
            <a:avLst/>
          </a:prstGeom>
        </p:spPr>
      </p:pic>
    </p:spTree>
    <p:extLst>
      <p:ext uri="{BB962C8B-B14F-4D97-AF65-F5344CB8AC3E}">
        <p14:creationId xmlns:p14="http://schemas.microsoft.com/office/powerpoint/2010/main" xmlns="" val="357183195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60325430-07F2-45E8-A5C9-B73C13C9C571}" type="slidenum">
              <a:rPr lang="zh-TW" altLang="en-US" smtClean="0"/>
              <a:pPr/>
              <a:t>38</a:t>
            </a:fld>
            <a:endParaRPr lang="zh-TW" altLang="en-US"/>
          </a:p>
        </p:txBody>
      </p:sp>
      <p:pic>
        <p:nvPicPr>
          <p:cNvPr id="6" name="圖片 5"/>
          <p:cNvPicPr>
            <a:picLocks noChangeAspect="1"/>
          </p:cNvPicPr>
          <p:nvPr/>
        </p:nvPicPr>
        <p:blipFill>
          <a:blip r:embed="rId2" cstate="print">
            <a:extLst>
              <a:ext uri="{28A0092B-C50C-407E-A947-70E740481C1C}">
                <a14:useLocalDpi xmlns:a14="http://schemas.microsoft.com/office/drawing/2010/main" xmlns=""/>
              </a:ext>
            </a:extLst>
          </a:blip>
          <a:stretch>
            <a:fillRect/>
          </a:stretch>
        </p:blipFill>
        <p:spPr>
          <a:xfrm>
            <a:off x="3365834" y="198135"/>
            <a:ext cx="5740065" cy="6158215"/>
          </a:xfrm>
          <a:prstGeom prst="rect">
            <a:avLst/>
          </a:prstGeom>
        </p:spPr>
      </p:pic>
    </p:spTree>
    <p:extLst>
      <p:ext uri="{BB962C8B-B14F-4D97-AF65-F5344CB8AC3E}">
        <p14:creationId xmlns:p14="http://schemas.microsoft.com/office/powerpoint/2010/main" xmlns="" val="5864262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pPr algn="ctr"/>
            <a:r>
              <a:rPr lang="en-US" altLang="zh-TW" dirty="0" smtClean="0"/>
              <a:t>Thanks for your listening!</a:t>
            </a:r>
            <a:endParaRPr lang="zh-TW" altLang="en-US" dirty="0"/>
          </a:p>
        </p:txBody>
      </p:sp>
      <p:sp>
        <p:nvSpPr>
          <p:cNvPr id="3" name="投影片編號版面配置區 2"/>
          <p:cNvSpPr>
            <a:spLocks noGrp="1"/>
          </p:cNvSpPr>
          <p:nvPr>
            <p:ph type="sldNum" sz="quarter" idx="12"/>
          </p:nvPr>
        </p:nvSpPr>
        <p:spPr/>
        <p:txBody>
          <a:bodyPr/>
          <a:lstStyle/>
          <a:p>
            <a:fld id="{EDBC11D7-B428-46C8-AE33-EA48ADD530EC}" type="slidenum">
              <a:rPr lang="zh-TW" altLang="en-US" smtClean="0"/>
              <a:pPr/>
              <a:t>39</a:t>
            </a:fld>
            <a:endParaRPr lang="zh-TW" altLang="en-US"/>
          </a:p>
        </p:txBody>
      </p:sp>
      <p:pic>
        <p:nvPicPr>
          <p:cNvPr id="2" name="圖片 1"/>
          <p:cNvPicPr>
            <a:picLocks noChangeAspect="1"/>
          </p:cNvPicPr>
          <p:nvPr/>
        </p:nvPicPr>
        <p:blipFill>
          <a:blip r:embed="rId2">
            <a:extLst>
              <a:ext uri="{28A0092B-C50C-407E-A947-70E740481C1C}">
                <a14:useLocalDpi xmlns:a14="http://schemas.microsoft.com/office/drawing/2010/main" xmlns=""/>
              </a:ext>
            </a:extLst>
          </a:blip>
          <a:stretch>
            <a:fillRect/>
          </a:stretch>
        </p:blipFill>
        <p:spPr>
          <a:xfrm>
            <a:off x="4079159" y="2022374"/>
            <a:ext cx="3749777" cy="3749777"/>
          </a:xfrm>
          <a:prstGeom prst="rect">
            <a:avLst/>
          </a:prstGeom>
        </p:spPr>
      </p:pic>
    </p:spTree>
    <p:extLst>
      <p:ext uri="{BB962C8B-B14F-4D97-AF65-F5344CB8AC3E}">
        <p14:creationId xmlns:p14="http://schemas.microsoft.com/office/powerpoint/2010/main" xmlns="" val="288729995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1891</TotalTime>
  <Words>820</Words>
  <Application>Microsoft Office PowerPoint</Application>
  <PresentationFormat>自訂</PresentationFormat>
  <Paragraphs>152</Paragraphs>
  <Slides>39</Slides>
  <Notes>1</Notes>
  <HiddenSlides>0</HiddenSlides>
  <MMClips>0</MMClips>
  <ScaleCrop>false</ScaleCrop>
  <HeadingPairs>
    <vt:vector size="4" baseType="variant">
      <vt:variant>
        <vt:lpstr>佈景主題</vt:lpstr>
      </vt:variant>
      <vt:variant>
        <vt:i4>1</vt:i4>
      </vt:variant>
      <vt:variant>
        <vt:lpstr>投影片標題</vt:lpstr>
      </vt:variant>
      <vt:variant>
        <vt:i4>39</vt:i4>
      </vt:variant>
    </vt:vector>
  </HeadingPairs>
  <TitlesOfParts>
    <vt:vector size="40" baseType="lpstr">
      <vt:lpstr>Office 佈景主題</vt:lpstr>
      <vt:lpstr>A Tutorial on Particle Filters for Online Nonlinear/Non-Gaussian Bayesian Tracking</vt:lpstr>
      <vt:lpstr>Abstract</vt:lpstr>
      <vt:lpstr>Particle filter applications</vt:lpstr>
      <vt:lpstr>投影片 4</vt:lpstr>
      <vt:lpstr>Gaussian hypothesis method</vt:lpstr>
      <vt:lpstr>Linear state-space model</vt:lpstr>
      <vt:lpstr>Kalman filter example</vt:lpstr>
      <vt:lpstr>投影片 8</vt:lpstr>
      <vt:lpstr>Kalman filter (1) </vt:lpstr>
      <vt:lpstr>Kalman filter (2) </vt:lpstr>
      <vt:lpstr>Kalman filter(3)</vt:lpstr>
      <vt:lpstr>Kalman gain</vt:lpstr>
      <vt:lpstr>Kalman gain</vt:lpstr>
      <vt:lpstr>Kalman filter steps:</vt:lpstr>
      <vt:lpstr>Kalman filter parameter estimation</vt:lpstr>
      <vt:lpstr>Nonlinear state space model</vt:lpstr>
      <vt:lpstr>Non-linear transition  function of stock price</vt:lpstr>
      <vt:lpstr>Non-linear transition  function of stock price</vt:lpstr>
      <vt:lpstr>Non-linear transition  function of stock price</vt:lpstr>
      <vt:lpstr>Extend KF(EKF):</vt:lpstr>
      <vt:lpstr>Monte Carlo sampling method</vt:lpstr>
      <vt:lpstr>Nonlinear/non-Gaussian state space model</vt:lpstr>
      <vt:lpstr>Nonlinear Bayesian tracking</vt:lpstr>
      <vt:lpstr>Nonlinear Bayesian tracking</vt:lpstr>
      <vt:lpstr>Nonlinear Bayesian tracking</vt:lpstr>
      <vt:lpstr>Importance sampling (IS)</vt:lpstr>
      <vt:lpstr>IS Example</vt:lpstr>
      <vt:lpstr>Particle filter</vt:lpstr>
      <vt:lpstr>Particle filter</vt:lpstr>
      <vt:lpstr>Sample importance resampling (SIR) (bootstrap) particle filter</vt:lpstr>
      <vt:lpstr>Resampling</vt:lpstr>
      <vt:lpstr>投影片 32</vt:lpstr>
      <vt:lpstr>投影片 33</vt:lpstr>
      <vt:lpstr>投影片 34</vt:lpstr>
      <vt:lpstr>Example</vt:lpstr>
      <vt:lpstr>EKF results</vt:lpstr>
      <vt:lpstr>SIR, Auxiliary, Regularized, and likelihood PFs</vt:lpstr>
      <vt:lpstr>投影片 38</vt:lpstr>
      <vt:lpstr>Thanks for your listening!</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Tutorial on Particle Filters for Online Nonlinear/Non-Gaussian Bayesian Tracking</dc:title>
  <dc:creator>陳紘昕</dc:creator>
  <cp:lastModifiedBy>admin</cp:lastModifiedBy>
  <cp:revision>173</cp:revision>
  <dcterms:created xsi:type="dcterms:W3CDTF">2014-10-14T13:29:04Z</dcterms:created>
  <dcterms:modified xsi:type="dcterms:W3CDTF">2014-10-21T10:23:58Z</dcterms:modified>
</cp:coreProperties>
</file>