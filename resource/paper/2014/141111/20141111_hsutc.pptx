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9" r:id="rId3"/>
    <p:sldId id="260" r:id="rId4"/>
    <p:sldId id="261" r:id="rId5"/>
    <p:sldId id="262" r:id="rId6"/>
    <p:sldId id="256" r:id="rId7"/>
    <p:sldId id="263" r:id="rId8"/>
    <p:sldId id="265" r:id="rId9"/>
    <p:sldId id="270" r:id="rId10"/>
    <p:sldId id="269" r:id="rId11"/>
    <p:sldId id="268" r:id="rId12"/>
    <p:sldId id="273" r:id="rId13"/>
    <p:sldId id="275" r:id="rId14"/>
    <p:sldId id="276" r:id="rId15"/>
    <p:sldId id="277" r:id="rId16"/>
    <p:sldId id="271" r:id="rId17"/>
    <p:sldId id="278" r:id="rId18"/>
    <p:sldId id="279" r:id="rId19"/>
    <p:sldId id="272" r:id="rId20"/>
    <p:sldId id="266" r:id="rId21"/>
    <p:sldId id="267" r:id="rId22"/>
    <p:sldId id="284" r:id="rId23"/>
    <p:sldId id="285" r:id="rId24"/>
    <p:sldId id="280" r:id="rId25"/>
    <p:sldId id="287" r:id="rId26"/>
    <p:sldId id="288" r:id="rId27"/>
    <p:sldId id="289" r:id="rId28"/>
    <p:sldId id="290" r:id="rId29"/>
    <p:sldId id="286" r:id="rId30"/>
    <p:sldId id="293" r:id="rId31"/>
    <p:sldId id="292" r:id="rId32"/>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64" d="100"/>
          <a:sy n="64" d="100"/>
        </p:scale>
        <p:origin x="3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9E7CA847-541B-4224-89FE-AC508A797314}" type="datetimeFigureOut">
              <a:rPr lang="zh-TW" altLang="en-US" smtClean="0"/>
              <a:t>2014/11/11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18FC9BF8-A43B-42AC-A40E-BDF32D6618B6}" type="slidenum">
              <a:rPr lang="zh-TW" altLang="en-US" smtClean="0"/>
              <a:t>‹#›</a:t>
            </a:fld>
            <a:endParaRPr lang="zh-TW" altLang="en-US"/>
          </a:p>
        </p:txBody>
      </p:sp>
    </p:spTree>
    <p:extLst>
      <p:ext uri="{BB962C8B-B14F-4D97-AF65-F5344CB8AC3E}">
        <p14:creationId xmlns:p14="http://schemas.microsoft.com/office/powerpoint/2010/main" val="3298946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9E7CA847-541B-4224-89FE-AC508A797314}" type="datetimeFigureOut">
              <a:rPr lang="zh-TW" altLang="en-US" smtClean="0"/>
              <a:t>2014/11/11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18FC9BF8-A43B-42AC-A40E-BDF32D6618B6}" type="slidenum">
              <a:rPr lang="zh-TW" altLang="en-US" smtClean="0"/>
              <a:t>‹#›</a:t>
            </a:fld>
            <a:endParaRPr lang="zh-TW" altLang="en-US"/>
          </a:p>
        </p:txBody>
      </p:sp>
    </p:spTree>
    <p:extLst>
      <p:ext uri="{BB962C8B-B14F-4D97-AF65-F5344CB8AC3E}">
        <p14:creationId xmlns:p14="http://schemas.microsoft.com/office/powerpoint/2010/main" val="3241657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9E7CA847-541B-4224-89FE-AC508A797314}" type="datetimeFigureOut">
              <a:rPr lang="zh-TW" altLang="en-US" smtClean="0"/>
              <a:t>2014/11/11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18FC9BF8-A43B-42AC-A40E-BDF32D6618B6}" type="slidenum">
              <a:rPr lang="zh-TW" altLang="en-US" smtClean="0"/>
              <a:t>‹#›</a:t>
            </a:fld>
            <a:endParaRPr lang="zh-TW" altLang="en-US"/>
          </a:p>
        </p:txBody>
      </p:sp>
    </p:spTree>
    <p:extLst>
      <p:ext uri="{BB962C8B-B14F-4D97-AF65-F5344CB8AC3E}">
        <p14:creationId xmlns:p14="http://schemas.microsoft.com/office/powerpoint/2010/main" val="3997330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9E7CA847-541B-4224-89FE-AC508A797314}" type="datetimeFigureOut">
              <a:rPr lang="zh-TW" altLang="en-US" smtClean="0"/>
              <a:t>2014/11/11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18FC9BF8-A43B-42AC-A40E-BDF32D6618B6}" type="slidenum">
              <a:rPr lang="zh-TW" altLang="en-US" smtClean="0"/>
              <a:t>‹#›</a:t>
            </a:fld>
            <a:endParaRPr lang="zh-TW" altLang="en-US"/>
          </a:p>
        </p:txBody>
      </p:sp>
    </p:spTree>
    <p:extLst>
      <p:ext uri="{BB962C8B-B14F-4D97-AF65-F5344CB8AC3E}">
        <p14:creationId xmlns:p14="http://schemas.microsoft.com/office/powerpoint/2010/main" val="1450212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9E7CA847-541B-4224-89FE-AC508A797314}" type="datetimeFigureOut">
              <a:rPr lang="zh-TW" altLang="en-US" smtClean="0"/>
              <a:t>2014/11/11</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18FC9BF8-A43B-42AC-A40E-BDF32D6618B6}" type="slidenum">
              <a:rPr lang="zh-TW" altLang="en-US" smtClean="0"/>
              <a:t>‹#›</a:t>
            </a:fld>
            <a:endParaRPr lang="zh-TW" altLang="en-US"/>
          </a:p>
        </p:txBody>
      </p:sp>
    </p:spTree>
    <p:extLst>
      <p:ext uri="{BB962C8B-B14F-4D97-AF65-F5344CB8AC3E}">
        <p14:creationId xmlns:p14="http://schemas.microsoft.com/office/powerpoint/2010/main" val="2342114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Date Placeholder 2"/>
          <p:cNvSpPr>
            <a:spLocks noGrp="1"/>
          </p:cNvSpPr>
          <p:nvPr>
            <p:ph type="dt" sz="half" idx="10"/>
          </p:nvPr>
        </p:nvSpPr>
        <p:spPr/>
        <p:txBody>
          <a:bodyPr/>
          <a:lstStyle/>
          <a:p>
            <a:fld id="{9E7CA847-541B-4224-89FE-AC508A797314}" type="datetimeFigureOut">
              <a:rPr lang="zh-TW" altLang="en-US" smtClean="0"/>
              <a:t>2014/11/11</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18FC9BF8-A43B-42AC-A40E-BDF32D6618B6}" type="slidenum">
              <a:rPr lang="zh-TW" altLang="en-US" smtClean="0"/>
              <a:t>‹#›</a:t>
            </a:fld>
            <a:endParaRPr lang="zh-TW" altLang="en-US"/>
          </a:p>
        </p:txBody>
      </p:sp>
    </p:spTree>
    <p:extLst>
      <p:ext uri="{BB962C8B-B14F-4D97-AF65-F5344CB8AC3E}">
        <p14:creationId xmlns:p14="http://schemas.microsoft.com/office/powerpoint/2010/main" val="17217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7CA847-541B-4224-89FE-AC508A797314}" type="datetimeFigureOut">
              <a:rPr lang="zh-TW" altLang="en-US" smtClean="0"/>
              <a:t>2014/11/11</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18FC9BF8-A43B-42AC-A40E-BDF32D6618B6}" type="slidenum">
              <a:rPr lang="zh-TW" altLang="en-US" smtClean="0"/>
              <a:t>‹#›</a:t>
            </a:fld>
            <a:endParaRPr lang="zh-TW" altLang="en-US"/>
          </a:p>
        </p:txBody>
      </p:sp>
    </p:spTree>
    <p:extLst>
      <p:ext uri="{BB962C8B-B14F-4D97-AF65-F5344CB8AC3E}">
        <p14:creationId xmlns:p14="http://schemas.microsoft.com/office/powerpoint/2010/main" val="1090684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9E7CA847-541B-4224-89FE-AC508A797314}" type="datetimeFigureOut">
              <a:rPr lang="zh-TW" altLang="en-US" smtClean="0"/>
              <a:t>2014/11/11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18FC9BF8-A43B-42AC-A40E-BDF32D6618B6}" type="slidenum">
              <a:rPr lang="zh-TW" altLang="en-US" smtClean="0"/>
              <a:t>‹#›</a:t>
            </a:fld>
            <a:endParaRPr lang="zh-TW" altLang="en-US"/>
          </a:p>
        </p:txBody>
      </p:sp>
    </p:spTree>
    <p:extLst>
      <p:ext uri="{BB962C8B-B14F-4D97-AF65-F5344CB8AC3E}">
        <p14:creationId xmlns:p14="http://schemas.microsoft.com/office/powerpoint/2010/main" val="13963221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9E7CA847-541B-4224-89FE-AC508A797314}" type="datetimeFigureOut">
              <a:rPr lang="zh-TW" altLang="en-US" smtClean="0"/>
              <a:t>2014/11/11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18FC9BF8-A43B-42AC-A40E-BDF32D6618B6}" type="slidenum">
              <a:rPr lang="zh-TW" altLang="en-US" smtClean="0"/>
              <a:t>‹#›</a:t>
            </a:fld>
            <a:endParaRPr lang="zh-TW" altLang="en-US"/>
          </a:p>
        </p:txBody>
      </p:sp>
    </p:spTree>
    <p:extLst>
      <p:ext uri="{BB962C8B-B14F-4D97-AF65-F5344CB8AC3E}">
        <p14:creationId xmlns:p14="http://schemas.microsoft.com/office/powerpoint/2010/main" val="347072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9E7CA847-541B-4224-89FE-AC508A797314}" type="datetimeFigureOut">
              <a:rPr lang="zh-TW" altLang="en-US" smtClean="0"/>
              <a:t>2014/11/11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18FC9BF8-A43B-42AC-A40E-BDF32D6618B6}" type="slidenum">
              <a:rPr lang="zh-TW" altLang="en-US" smtClean="0"/>
              <a:t>‹#›</a:t>
            </a:fld>
            <a:endParaRPr lang="zh-TW" altLang="en-US"/>
          </a:p>
        </p:txBody>
      </p:sp>
    </p:spTree>
    <p:extLst>
      <p:ext uri="{BB962C8B-B14F-4D97-AF65-F5344CB8AC3E}">
        <p14:creationId xmlns:p14="http://schemas.microsoft.com/office/powerpoint/2010/main" val="2015906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9E7CA847-541B-4224-89FE-AC508A797314}" type="datetimeFigureOut">
              <a:rPr lang="zh-TW" altLang="en-US" smtClean="0"/>
              <a:t>2014/11/11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18FC9BF8-A43B-42AC-A40E-BDF32D6618B6}" type="slidenum">
              <a:rPr lang="zh-TW" altLang="en-US" smtClean="0"/>
              <a:t>‹#›</a:t>
            </a:fld>
            <a:endParaRPr lang="zh-TW" altLang="en-US"/>
          </a:p>
        </p:txBody>
      </p:sp>
    </p:spTree>
    <p:extLst>
      <p:ext uri="{BB962C8B-B14F-4D97-AF65-F5344CB8AC3E}">
        <p14:creationId xmlns:p14="http://schemas.microsoft.com/office/powerpoint/2010/main" val="3429887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7CA847-541B-4224-89FE-AC508A797314}" type="datetimeFigureOut">
              <a:rPr lang="zh-TW" altLang="en-US" smtClean="0"/>
              <a:t>2014/11/11</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FC9BF8-A43B-42AC-A40E-BDF32D6618B6}" type="slidenum">
              <a:rPr lang="zh-TW" altLang="en-US" smtClean="0"/>
              <a:t>‹#›</a:t>
            </a:fld>
            <a:endParaRPr lang="zh-TW" altLang="en-US"/>
          </a:p>
        </p:txBody>
      </p:sp>
    </p:spTree>
    <p:extLst>
      <p:ext uri="{BB962C8B-B14F-4D97-AF65-F5344CB8AC3E}">
        <p14:creationId xmlns:p14="http://schemas.microsoft.com/office/powerpoint/2010/main" val="12206512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28.png"/><Relationship Id="rId2" Type="http://schemas.openxmlformats.org/officeDocument/2006/relationships/image" Target="../media/image9.PNG"/><Relationship Id="rId16"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2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143000" y="1407792"/>
            <a:ext cx="6858000" cy="1309573"/>
          </a:xfrm>
        </p:spPr>
        <p:txBody>
          <a:bodyPr>
            <a:normAutofit/>
          </a:bodyPr>
          <a:lstStyle/>
          <a:p>
            <a:r>
              <a:rPr lang="en-US" altLang="zh-TW" sz="4050" dirty="0">
                <a:ln w="0"/>
                <a:effectLst>
                  <a:outerShdw blurRad="38100" dist="19050" dir="2700000" algn="tl" rotWithShape="0">
                    <a:schemeClr val="dk1">
                      <a:alpha val="40000"/>
                    </a:schemeClr>
                  </a:outerShdw>
                </a:effectLst>
                <a:latin typeface="+mn-lt"/>
                <a:ea typeface="Tahoma" panose="020B0604030504040204" pitchFamily="34" charset="0"/>
                <a:cs typeface="Tahoma" panose="020B0604030504040204" pitchFamily="34" charset="0"/>
              </a:rPr>
              <a:t>Sparse LCS Common Substring Alignment</a:t>
            </a:r>
            <a:endParaRPr lang="zh-TW" altLang="en-US" sz="4050" dirty="0">
              <a:ln w="0"/>
              <a:effectLst>
                <a:outerShdw blurRad="38100" dist="19050" dir="2700000" algn="tl" rotWithShape="0">
                  <a:schemeClr val="dk1">
                    <a:alpha val="40000"/>
                  </a:schemeClr>
                </a:outerShdw>
              </a:effectLst>
              <a:latin typeface="+mn-lt"/>
              <a:ea typeface="MS Gothic" panose="020B0609070205080204" pitchFamily="49" charset="-128"/>
              <a:cs typeface="Tahoma" panose="020B0604030504040204" pitchFamily="34" charset="0"/>
            </a:endParaRPr>
          </a:p>
        </p:txBody>
      </p:sp>
      <p:sp>
        <p:nvSpPr>
          <p:cNvPr id="3" name="副標題 2"/>
          <p:cNvSpPr>
            <a:spLocks noGrp="1"/>
          </p:cNvSpPr>
          <p:nvPr>
            <p:ph type="subTitle" idx="1"/>
          </p:nvPr>
        </p:nvSpPr>
        <p:spPr>
          <a:xfrm>
            <a:off x="1143000" y="3108035"/>
            <a:ext cx="6858000" cy="1559491"/>
          </a:xfrm>
        </p:spPr>
        <p:txBody>
          <a:bodyPr>
            <a:noAutofit/>
          </a:bodyPr>
          <a:lstStyle/>
          <a:p>
            <a:r>
              <a:rPr lang="de-DE" altLang="zh-TW" sz="2400" dirty="0">
                <a:latin typeface="+mj-lt"/>
              </a:rPr>
              <a:t>Gad M. Landau, Baruch Schieber, Michal Ziv-Ukelson</a:t>
            </a:r>
            <a:endParaRPr lang="en-US" altLang="zh-TW" sz="2400" dirty="0">
              <a:latin typeface="+mj-lt"/>
            </a:endParaRPr>
          </a:p>
          <a:p>
            <a:pPr fontAlgn="base"/>
            <a:r>
              <a:rPr lang="en-US" altLang="zh-TW" sz="2400" dirty="0">
                <a:latin typeface="+mj-lt"/>
              </a:rPr>
              <a:t>Combinatorial Pattern Matching,</a:t>
            </a:r>
          </a:p>
          <a:p>
            <a:pPr fontAlgn="base"/>
            <a:r>
              <a:rPr lang="en-US" altLang="zh-TW" sz="2400" dirty="0">
                <a:latin typeface="+mj-lt"/>
              </a:rPr>
              <a:t>Lecture Notes in Computer Science Volume 2676, 2003, pp. 225-236 (2003)</a:t>
            </a:r>
            <a:endParaRPr lang="zh-TW" altLang="en-US" sz="2400" dirty="0">
              <a:latin typeface="+mj-lt"/>
            </a:endParaRPr>
          </a:p>
        </p:txBody>
      </p:sp>
      <p:sp>
        <p:nvSpPr>
          <p:cNvPr id="4" name="文字方塊 3"/>
          <p:cNvSpPr txBox="1"/>
          <p:nvPr/>
        </p:nvSpPr>
        <p:spPr>
          <a:xfrm>
            <a:off x="1143000" y="4766965"/>
            <a:ext cx="4888283" cy="842538"/>
          </a:xfrm>
          <a:prstGeom prst="rect">
            <a:avLst/>
          </a:prstGeom>
          <a:noFill/>
        </p:spPr>
        <p:txBody>
          <a:bodyPr wrap="square" rtlCol="0">
            <a:spAutoFit/>
          </a:bodyPr>
          <a:lstStyle/>
          <a:p>
            <a:r>
              <a:rPr lang="en-US" altLang="zh-TW" sz="2400" dirty="0"/>
              <a:t>Presenter: Tzu-Chiang Hsu </a:t>
            </a:r>
            <a:r>
              <a:rPr lang="zh-TW" altLang="en-US" sz="2400" dirty="0"/>
              <a:t> </a:t>
            </a:r>
            <a:r>
              <a:rPr lang="en-US" altLang="zh-TW" sz="2400" dirty="0"/>
              <a:t>(</a:t>
            </a:r>
            <a:r>
              <a:rPr lang="zh-TW" altLang="en-US" sz="3000" dirty="0">
                <a:latin typeface="微軟正黑體" panose="020B0604030504040204" pitchFamily="34" charset="-120"/>
                <a:ea typeface="微軟正黑體" panose="020B0604030504040204" pitchFamily="34" charset="-120"/>
              </a:rPr>
              <a:t>徐子強</a:t>
            </a:r>
            <a:r>
              <a:rPr lang="en-US" altLang="zh-TW" sz="2400" dirty="0"/>
              <a:t>)</a:t>
            </a:r>
          </a:p>
          <a:p>
            <a:r>
              <a:rPr lang="en-US" altLang="zh-TW" sz="1875" dirty="0"/>
              <a:t>2014/11/11</a:t>
            </a:r>
            <a:endParaRPr lang="zh-TW" altLang="en-US" sz="1875" dirty="0"/>
          </a:p>
        </p:txBody>
      </p:sp>
    </p:spTree>
    <p:extLst>
      <p:ext uri="{BB962C8B-B14F-4D97-AF65-F5344CB8AC3E}">
        <p14:creationId xmlns:p14="http://schemas.microsoft.com/office/powerpoint/2010/main" val="388037401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Georgia" panose="02040502050405020303" pitchFamily="18" charset="0"/>
                <a:ea typeface="Ebrima" panose="02000000000000000000" pitchFamily="2" charset="0"/>
                <a:cs typeface="Ebrima" panose="02000000000000000000" pitchFamily="2" charset="0"/>
              </a:rPr>
              <a:t>	Abstract (1/3)</a:t>
            </a:r>
            <a:endParaRPr lang="zh-TW" altLang="en-US" dirty="0">
              <a:latin typeface="Georgia" panose="02040502050405020303" pitchFamily="18" charset="0"/>
              <a:cs typeface="Ebrima" panose="02000000000000000000" pitchFamily="2" charset="0"/>
            </a:endParaRPr>
          </a:p>
        </p:txBody>
      </p:sp>
      <p:sp>
        <p:nvSpPr>
          <p:cNvPr id="3" name="內容版面配置區 2"/>
          <p:cNvSpPr>
            <a:spLocks noGrp="1"/>
          </p:cNvSpPr>
          <p:nvPr>
            <p:ph idx="1"/>
          </p:nvPr>
        </p:nvSpPr>
        <p:spPr/>
        <p:txBody>
          <a:bodyPr>
            <a:normAutofit/>
          </a:bodyPr>
          <a:lstStyle/>
          <a:p>
            <a:pPr marL="0" indent="0">
              <a:buNone/>
            </a:pPr>
            <a:r>
              <a:rPr lang="en-US" altLang="zh-TW" sz="3000" dirty="0">
                <a:latin typeface="Jokerman" panose="04090605060D06020702" pitchFamily="82" charset="0"/>
                <a:ea typeface="Malgun Gothic" panose="020B0503020000020004" pitchFamily="34" charset="-127"/>
                <a:cs typeface="MV Boli" panose="02000500030200090000" pitchFamily="2" charset="0"/>
              </a:rPr>
              <a:t>T</a:t>
            </a:r>
            <a:r>
              <a:rPr lang="en-US" altLang="zh-TW" sz="3000" dirty="0">
                <a:latin typeface="+mj-lt"/>
              </a:rPr>
              <a:t>he </a:t>
            </a:r>
            <a:r>
              <a:rPr lang="en-US" altLang="zh-TW" sz="3000" dirty="0">
                <a:latin typeface="+mj-lt"/>
              </a:rPr>
              <a:t>“Common Substring Alignment” problem is defined as follows. The input consists of a set of strings </a:t>
            </a:r>
            <a:r>
              <a:rPr lang="en-US" altLang="zh-TW" sz="3000" dirty="0">
                <a:latin typeface="+mj-lt"/>
              </a:rPr>
              <a:t>S</a:t>
            </a:r>
            <a:r>
              <a:rPr lang="en-US" altLang="zh-TW" sz="3000" baseline="-25000" dirty="0">
                <a:latin typeface="+mj-lt"/>
              </a:rPr>
              <a:t>1</a:t>
            </a:r>
            <a:r>
              <a:rPr lang="en-US" altLang="zh-TW" sz="3000" dirty="0">
                <a:latin typeface="+mj-lt"/>
              </a:rPr>
              <a:t>, </a:t>
            </a:r>
            <a:r>
              <a:rPr lang="en-US" altLang="zh-TW" sz="3000" dirty="0">
                <a:latin typeface="+mj-lt"/>
              </a:rPr>
              <a:t>S</a:t>
            </a:r>
            <a:r>
              <a:rPr lang="en-US" altLang="zh-TW" sz="3000" baseline="-25000" dirty="0">
                <a:latin typeface="+mj-lt"/>
              </a:rPr>
              <a:t>2</a:t>
            </a:r>
            <a:r>
              <a:rPr lang="en-US" altLang="zh-TW" sz="3000" dirty="0">
                <a:latin typeface="+mj-lt"/>
              </a:rPr>
              <a:t> </a:t>
            </a:r>
            <a:r>
              <a:rPr lang="en-US" altLang="zh-TW" sz="3000" dirty="0">
                <a:latin typeface="+mj-lt"/>
              </a:rPr>
              <a:t>... </a:t>
            </a:r>
            <a:r>
              <a:rPr lang="en-US" altLang="zh-TW" sz="3000" dirty="0" err="1">
                <a:latin typeface="+mj-lt"/>
              </a:rPr>
              <a:t>S</a:t>
            </a:r>
            <a:r>
              <a:rPr lang="en-US" altLang="zh-TW" sz="3000" baseline="-25000" dirty="0" err="1">
                <a:latin typeface="+mj-lt"/>
              </a:rPr>
              <a:t>c</a:t>
            </a:r>
            <a:r>
              <a:rPr lang="en-US" altLang="zh-TW" sz="3000" dirty="0">
                <a:latin typeface="+mj-lt"/>
              </a:rPr>
              <a:t>, with a common substring appearing at least once in each of them, and a target string T. The goal is to compute similarity of all strings </a:t>
            </a:r>
            <a:r>
              <a:rPr lang="en-US" altLang="zh-TW" sz="3000" dirty="0">
                <a:latin typeface="+mj-lt"/>
              </a:rPr>
              <a:t>S</a:t>
            </a:r>
            <a:r>
              <a:rPr lang="en-US" altLang="zh-TW" sz="3000" baseline="-25000" dirty="0">
                <a:latin typeface="+mj-lt"/>
              </a:rPr>
              <a:t>i</a:t>
            </a:r>
            <a:r>
              <a:rPr lang="en-US" altLang="zh-TW" sz="3000" dirty="0">
                <a:latin typeface="+mj-lt"/>
              </a:rPr>
              <a:t> </a:t>
            </a:r>
            <a:r>
              <a:rPr lang="en-US" altLang="zh-TW" sz="3000" dirty="0">
                <a:latin typeface="+mj-lt"/>
              </a:rPr>
              <a:t>with T, without computing the part of the common substring over and over </a:t>
            </a:r>
            <a:r>
              <a:rPr lang="en-US" altLang="zh-TW" sz="3000" dirty="0">
                <a:latin typeface="+mj-lt"/>
              </a:rPr>
              <a:t>again.</a:t>
            </a:r>
            <a:endParaRPr lang="zh-TW" altLang="en-US" sz="3000" dirty="0">
              <a:latin typeface="+mj-lt"/>
            </a:endParaRPr>
          </a:p>
        </p:txBody>
      </p:sp>
    </p:spTree>
    <p:extLst>
      <p:ext uri="{BB962C8B-B14F-4D97-AF65-F5344CB8AC3E}">
        <p14:creationId xmlns:p14="http://schemas.microsoft.com/office/powerpoint/2010/main" val="193629706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latin typeface="Georgia" panose="02040502050405020303" pitchFamily="18" charset="0"/>
                <a:ea typeface="Ebrima" panose="02000000000000000000" pitchFamily="2" charset="0"/>
                <a:cs typeface="Ebrima" panose="02000000000000000000" pitchFamily="2" charset="0"/>
              </a:rPr>
              <a:t>	Abstract (2/3)</a:t>
            </a:r>
            <a:endParaRPr lang="zh-TW" altLang="en-US" dirty="0">
              <a:latin typeface="+mn-lt"/>
            </a:endParaRPr>
          </a:p>
        </p:txBody>
      </p:sp>
      <p:sp>
        <p:nvSpPr>
          <p:cNvPr id="3" name="內容版面配置區 2"/>
          <p:cNvSpPr>
            <a:spLocks noGrp="1"/>
          </p:cNvSpPr>
          <p:nvPr>
            <p:ph idx="1"/>
          </p:nvPr>
        </p:nvSpPr>
        <p:spPr/>
        <p:txBody>
          <a:bodyPr>
            <a:normAutofit/>
          </a:bodyPr>
          <a:lstStyle/>
          <a:p>
            <a:pPr marL="0" indent="0">
              <a:buNone/>
            </a:pPr>
            <a:r>
              <a:rPr lang="en-US" altLang="zh-TW" sz="3000" dirty="0">
                <a:latin typeface="+mj-lt"/>
              </a:rPr>
              <a:t>In </a:t>
            </a:r>
            <a:r>
              <a:rPr lang="en-US" altLang="zh-TW" sz="3000" dirty="0">
                <a:latin typeface="+mj-lt"/>
              </a:rPr>
              <a:t>this paper we consider the Common Substring Alignment problem for the LCS (Longest Common Subsequence) similarity metric. Our algorithm gains its efficiency by exploiting the </a:t>
            </a:r>
            <a:r>
              <a:rPr lang="en-US" altLang="zh-TW" sz="3000" dirty="0" err="1">
                <a:latin typeface="+mj-lt"/>
              </a:rPr>
              <a:t>sparsity</a:t>
            </a:r>
            <a:r>
              <a:rPr lang="en-US" altLang="zh-TW" sz="3000" dirty="0">
                <a:latin typeface="+mj-lt"/>
              </a:rPr>
              <a:t> inherent to the LCS problem. Let Y be the common substring, n be the size of the compared sequences, </a:t>
            </a:r>
            <a:r>
              <a:rPr lang="en-US" altLang="zh-TW" sz="3000" dirty="0">
                <a:latin typeface="+mj-lt"/>
              </a:rPr>
              <a:t>L</a:t>
            </a:r>
            <a:r>
              <a:rPr lang="en-US" altLang="zh-TW" sz="3000" baseline="-25000" dirty="0">
                <a:latin typeface="+mj-lt"/>
              </a:rPr>
              <a:t>y</a:t>
            </a:r>
            <a:r>
              <a:rPr lang="en-US" altLang="zh-TW" sz="3000" dirty="0">
                <a:latin typeface="+mj-lt"/>
              </a:rPr>
              <a:t> </a:t>
            </a:r>
            <a:r>
              <a:rPr lang="en-US" altLang="zh-TW" sz="3000" dirty="0">
                <a:latin typeface="+mj-lt"/>
              </a:rPr>
              <a:t>be the length of the LCS of T and Y, denoted |LCS[T, Y]|, and L be max{|LCS[T, </a:t>
            </a:r>
            <a:r>
              <a:rPr lang="en-US" altLang="zh-TW" sz="3000" dirty="0">
                <a:latin typeface="+mj-lt"/>
              </a:rPr>
              <a:t>S</a:t>
            </a:r>
            <a:r>
              <a:rPr lang="en-US" altLang="zh-TW" sz="3000" baseline="-25000" dirty="0">
                <a:latin typeface="+mj-lt"/>
              </a:rPr>
              <a:t>i</a:t>
            </a:r>
            <a:r>
              <a:rPr lang="en-US" altLang="zh-TW" sz="3000" dirty="0">
                <a:latin typeface="+mj-lt"/>
              </a:rPr>
              <a:t>]|}. </a:t>
            </a:r>
            <a:endParaRPr lang="en-US" altLang="zh-TW" sz="3000" dirty="0">
              <a:latin typeface="+mj-lt"/>
            </a:endParaRPr>
          </a:p>
        </p:txBody>
      </p:sp>
    </p:spTree>
    <p:extLst>
      <p:ext uri="{BB962C8B-B14F-4D97-AF65-F5344CB8AC3E}">
        <p14:creationId xmlns:p14="http://schemas.microsoft.com/office/powerpoint/2010/main" val="90352262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Georgia" panose="02040502050405020303" pitchFamily="18" charset="0"/>
                <a:ea typeface="Ebrima" panose="02000000000000000000" pitchFamily="2" charset="0"/>
                <a:cs typeface="Ebrima" panose="02000000000000000000" pitchFamily="2" charset="0"/>
              </a:rPr>
              <a:t>	Abstract (3/3)</a:t>
            </a:r>
            <a:endParaRPr lang="zh-TW" altLang="en-US" dirty="0"/>
          </a:p>
        </p:txBody>
      </p:sp>
      <p:sp>
        <p:nvSpPr>
          <p:cNvPr id="3" name="內容版面配置區 2"/>
          <p:cNvSpPr>
            <a:spLocks noGrp="1"/>
          </p:cNvSpPr>
          <p:nvPr>
            <p:ph idx="1"/>
          </p:nvPr>
        </p:nvSpPr>
        <p:spPr/>
        <p:txBody>
          <a:bodyPr>
            <a:normAutofit/>
          </a:bodyPr>
          <a:lstStyle/>
          <a:p>
            <a:pPr marL="0" indent="0">
              <a:buNone/>
            </a:pPr>
            <a:r>
              <a:rPr lang="en-US" altLang="zh-TW" sz="3000" dirty="0">
                <a:latin typeface="+mj-lt"/>
              </a:rPr>
              <a:t>Our algorithm consists of an </a:t>
            </a:r>
            <a:r>
              <a:rPr lang="en-US" altLang="zh-TW" sz="3000" dirty="0">
                <a:latin typeface="+mj-lt"/>
              </a:rPr>
              <a:t>O(</a:t>
            </a:r>
            <a:r>
              <a:rPr lang="en-US" altLang="zh-TW" sz="3000" dirty="0" err="1">
                <a:latin typeface="+mj-lt"/>
              </a:rPr>
              <a:t>nL</a:t>
            </a:r>
            <a:r>
              <a:rPr lang="en-US" altLang="zh-TW" sz="3000" baseline="-25000" dirty="0" err="1">
                <a:latin typeface="+mj-lt"/>
              </a:rPr>
              <a:t>y</a:t>
            </a:r>
            <a:r>
              <a:rPr lang="en-US" altLang="zh-TW" sz="3000" dirty="0">
                <a:latin typeface="+mj-lt"/>
              </a:rPr>
              <a:t>) time encoding stage that is executed once per common substring, and an O(L) time alignment stage that is executed once for each appearance of the common substring in each source string. The additional running time depends only on the length of the parts of the strings that are not in any common substring</a:t>
            </a:r>
            <a:r>
              <a:rPr lang="en-US" altLang="zh-TW" sz="3000" dirty="0">
                <a:latin typeface="+mj-lt"/>
              </a:rPr>
              <a:t>.</a:t>
            </a:r>
            <a:endParaRPr lang="en-US" altLang="zh-TW" sz="3000" dirty="0">
              <a:latin typeface="+mj-lt"/>
            </a:endParaRPr>
          </a:p>
        </p:txBody>
      </p:sp>
    </p:spTree>
    <p:extLst>
      <p:ext uri="{BB962C8B-B14F-4D97-AF65-F5344CB8AC3E}">
        <p14:creationId xmlns:p14="http://schemas.microsoft.com/office/powerpoint/2010/main" val="21177569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296254965"/>
              </p:ext>
            </p:extLst>
          </p:nvPr>
        </p:nvGraphicFramePr>
        <p:xfrm>
          <a:off x="1362206" y="1725930"/>
          <a:ext cx="7017708" cy="4274820"/>
        </p:xfrm>
        <a:graphic>
          <a:graphicData uri="http://schemas.openxmlformats.org/drawingml/2006/table">
            <a:tbl>
              <a:tblPr firstRow="1" bandRow="1">
                <a:tableStyleId>{2D5ABB26-0587-4C30-8999-92F81FD0307C}</a:tableStyleId>
              </a:tblPr>
              <a:tblGrid>
                <a:gridCol w="584809"/>
                <a:gridCol w="584809"/>
                <a:gridCol w="584809"/>
                <a:gridCol w="584809"/>
                <a:gridCol w="584809"/>
                <a:gridCol w="584809"/>
                <a:gridCol w="584809"/>
                <a:gridCol w="584809"/>
                <a:gridCol w="584809"/>
                <a:gridCol w="584809"/>
                <a:gridCol w="584809"/>
                <a:gridCol w="584809"/>
              </a:tblGrid>
              <a:tr h="388620">
                <a:tc>
                  <a:txBody>
                    <a:bodyPr/>
                    <a:lstStyle/>
                    <a:p>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r>
                        <a:rPr lang="en-US" altLang="zh-TW" sz="2100" dirty="0" smtClean="0">
                          <a:solidFill>
                            <a:srgbClr val="00B050"/>
                          </a:solidFill>
                          <a:latin typeface="+mj-lt"/>
                        </a:rPr>
                        <a:t>B</a:t>
                      </a:r>
                      <a:endParaRPr lang="zh-TW" altLang="en-US" sz="2100" dirty="0">
                        <a:solidFill>
                          <a:srgbClr val="00B050"/>
                        </a:solidFill>
                        <a:latin typeface="+mj-lt"/>
                      </a:endParaRPr>
                    </a:p>
                  </a:txBody>
                  <a:tcPr marL="68580" marR="68580" marT="34290" marB="34290"/>
                </a:tc>
                <a:tc>
                  <a:txBody>
                    <a:bodyPr/>
                    <a:lstStyle/>
                    <a:p>
                      <a:r>
                        <a:rPr lang="en-US" altLang="zh-TW" sz="2100" dirty="0" smtClean="0">
                          <a:solidFill>
                            <a:srgbClr val="00B050"/>
                          </a:solidFill>
                          <a:latin typeface="+mj-lt"/>
                        </a:rPr>
                        <a:t>C</a:t>
                      </a:r>
                      <a:endParaRPr lang="zh-TW" altLang="en-US" sz="2100" dirty="0">
                        <a:solidFill>
                          <a:srgbClr val="00B050"/>
                        </a:solidFill>
                        <a:latin typeface="+mj-lt"/>
                      </a:endParaRPr>
                    </a:p>
                  </a:txBody>
                  <a:tcPr marL="68580" marR="68580" marT="34290" marB="34290"/>
                </a:tc>
                <a:tc>
                  <a:txBody>
                    <a:bodyPr/>
                    <a:lstStyle/>
                    <a:p>
                      <a:r>
                        <a:rPr lang="en-US" altLang="zh-TW" sz="2100" dirty="0" smtClean="0">
                          <a:solidFill>
                            <a:srgbClr val="00B050"/>
                          </a:solidFill>
                          <a:latin typeface="+mj-lt"/>
                        </a:rPr>
                        <a:t>B</a:t>
                      </a:r>
                      <a:endParaRPr lang="zh-TW" altLang="en-US" sz="2100" dirty="0">
                        <a:solidFill>
                          <a:srgbClr val="00B050"/>
                        </a:solidFill>
                        <a:latin typeface="+mj-lt"/>
                      </a:endParaRPr>
                    </a:p>
                  </a:txBody>
                  <a:tcPr marL="68580" marR="68580" marT="34290" marB="34290"/>
                </a:tc>
                <a:tc>
                  <a:txBody>
                    <a:bodyPr/>
                    <a:lstStyle/>
                    <a:p>
                      <a:r>
                        <a:rPr lang="en-US" altLang="zh-TW" sz="2100" dirty="0" smtClean="0">
                          <a:solidFill>
                            <a:srgbClr val="00B050"/>
                          </a:solidFill>
                          <a:latin typeface="+mj-lt"/>
                        </a:rPr>
                        <a:t>A</a:t>
                      </a:r>
                      <a:endParaRPr lang="zh-TW" altLang="en-US" sz="2100" dirty="0">
                        <a:solidFill>
                          <a:srgbClr val="00B050"/>
                        </a:solidFill>
                        <a:latin typeface="+mj-lt"/>
                      </a:endParaRPr>
                    </a:p>
                  </a:txBody>
                  <a:tcPr marL="68580" marR="68580" marT="34290" marB="34290"/>
                </a:tc>
                <a:tc>
                  <a:txBody>
                    <a:bodyPr/>
                    <a:lstStyle/>
                    <a:p>
                      <a:r>
                        <a:rPr lang="en-US" altLang="zh-TW" sz="2100" dirty="0" smtClean="0">
                          <a:solidFill>
                            <a:srgbClr val="00B050"/>
                          </a:solidFill>
                          <a:latin typeface="+mj-lt"/>
                        </a:rPr>
                        <a:t>D</a:t>
                      </a:r>
                      <a:endParaRPr lang="zh-TW" altLang="en-US" sz="2100" dirty="0">
                        <a:solidFill>
                          <a:srgbClr val="00B050"/>
                        </a:solidFill>
                        <a:latin typeface="+mj-lt"/>
                      </a:endParaRPr>
                    </a:p>
                  </a:txBody>
                  <a:tcPr marL="68580" marR="68580" marT="34290" marB="34290"/>
                </a:tc>
                <a:tc>
                  <a:txBody>
                    <a:bodyPr/>
                    <a:lstStyle/>
                    <a:p>
                      <a:r>
                        <a:rPr lang="en-US" altLang="zh-TW" sz="2100" dirty="0" smtClean="0">
                          <a:solidFill>
                            <a:srgbClr val="00B050"/>
                          </a:solidFill>
                          <a:latin typeface="+mj-lt"/>
                        </a:rPr>
                        <a:t>B</a:t>
                      </a:r>
                      <a:endParaRPr lang="zh-TW" altLang="en-US" sz="2100" dirty="0">
                        <a:solidFill>
                          <a:srgbClr val="00B050"/>
                        </a:solidFill>
                        <a:latin typeface="+mj-lt"/>
                      </a:endParaRPr>
                    </a:p>
                  </a:txBody>
                  <a:tcPr marL="68580" marR="68580" marT="34290" marB="34290"/>
                </a:tc>
                <a:tc>
                  <a:txBody>
                    <a:bodyPr/>
                    <a:lstStyle/>
                    <a:p>
                      <a:r>
                        <a:rPr lang="en-US" altLang="zh-TW" sz="2100" dirty="0" smtClean="0">
                          <a:solidFill>
                            <a:srgbClr val="00B050"/>
                          </a:solidFill>
                          <a:latin typeface="+mj-lt"/>
                        </a:rPr>
                        <a:t>D</a:t>
                      </a:r>
                      <a:endParaRPr lang="zh-TW" altLang="en-US" sz="2100" dirty="0">
                        <a:solidFill>
                          <a:srgbClr val="00B050"/>
                        </a:solidFill>
                        <a:latin typeface="+mj-lt"/>
                      </a:endParaRPr>
                    </a:p>
                  </a:txBody>
                  <a:tcPr marL="68580" marR="68580" marT="34290" marB="34290"/>
                </a:tc>
                <a:tc>
                  <a:txBody>
                    <a:bodyPr/>
                    <a:lstStyle/>
                    <a:p>
                      <a:r>
                        <a:rPr lang="en-US" altLang="zh-TW" sz="2100" dirty="0" smtClean="0">
                          <a:solidFill>
                            <a:srgbClr val="00B050"/>
                          </a:solidFill>
                          <a:latin typeface="+mj-lt"/>
                        </a:rPr>
                        <a:t>C</a:t>
                      </a:r>
                      <a:endParaRPr lang="zh-TW" altLang="en-US" sz="2100" dirty="0">
                        <a:solidFill>
                          <a:srgbClr val="00B050"/>
                        </a:solidFill>
                        <a:latin typeface="+mj-lt"/>
                      </a:endParaRPr>
                    </a:p>
                  </a:txBody>
                  <a:tcPr marL="68580" marR="68580" marT="34290" marB="34290"/>
                </a:tc>
                <a:tc>
                  <a:txBody>
                    <a:bodyPr/>
                    <a:lstStyle/>
                    <a:p>
                      <a:r>
                        <a:rPr lang="en-US" altLang="zh-TW" sz="2100" dirty="0" smtClean="0">
                          <a:solidFill>
                            <a:srgbClr val="00B050"/>
                          </a:solidFill>
                          <a:latin typeface="+mj-lt"/>
                        </a:rPr>
                        <a:t>D</a:t>
                      </a:r>
                      <a:endParaRPr lang="zh-TW" altLang="en-US" sz="2100" dirty="0">
                        <a:solidFill>
                          <a:srgbClr val="00B050"/>
                        </a:solidFill>
                        <a:latin typeface="+mj-lt"/>
                      </a:endParaRPr>
                    </a:p>
                  </a:txBody>
                  <a:tcPr marL="68580" marR="68580" marT="34290" marB="34290"/>
                </a:tc>
              </a:tr>
              <a:tr h="388620">
                <a:tc>
                  <a:txBody>
                    <a:bodyPr/>
                    <a:lstStyle/>
                    <a:p>
                      <a:r>
                        <a:rPr lang="en-US" altLang="zh-TW" sz="2100" dirty="0" smtClean="0">
                          <a:latin typeface="+mj-lt"/>
                        </a:rPr>
                        <a:t>A</a:t>
                      </a:r>
                      <a:endParaRPr lang="zh-TW" altLang="en-US" sz="2100" dirty="0">
                        <a:latin typeface="+mj-lt"/>
                      </a:endParaRPr>
                    </a:p>
                  </a:txBody>
                  <a:tcPr marL="68580" marR="68580" marT="34290" marB="34290"/>
                </a:tc>
                <a:tc>
                  <a:txBody>
                    <a:bodyPr/>
                    <a:lstStyle/>
                    <a:p>
                      <a:r>
                        <a:rPr lang="en-US" altLang="zh-TW" sz="2100" dirty="0" smtClean="0">
                          <a:latin typeface="+mj-lt"/>
                        </a:rPr>
                        <a:t>E</a:t>
                      </a:r>
                      <a:endParaRPr lang="zh-TW" altLang="en-US" sz="2100" dirty="0">
                        <a:latin typeface="+mj-lt"/>
                      </a:endParaRPr>
                    </a:p>
                  </a:txBody>
                  <a:tcPr marL="68580" marR="68580" marT="34290" marB="34290"/>
                </a:tc>
                <a:tc>
                  <a:txBody>
                    <a:bodyPr/>
                    <a:lstStyle/>
                    <a:p>
                      <a:r>
                        <a:rPr lang="en-US" altLang="zh-TW" sz="2100" dirty="0" smtClean="0">
                          <a:latin typeface="+mj-lt"/>
                        </a:rPr>
                        <a:t>B</a:t>
                      </a:r>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tc>
              </a:tr>
              <a:tr h="388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100" b="0" i="0" u="none" strike="noStrike" kern="1200" cap="none" spc="0" normalizeH="0" baseline="0" noProof="0" dirty="0" smtClean="0">
                          <a:ln>
                            <a:noFill/>
                          </a:ln>
                          <a:solidFill>
                            <a:prstClr val="black"/>
                          </a:solidFill>
                          <a:effectLst/>
                          <a:uLnTx/>
                          <a:uFillTx/>
                          <a:latin typeface="+mj-lt"/>
                          <a:ea typeface="+mn-ea"/>
                          <a:cs typeface="+mn-cs"/>
                        </a:rPr>
                        <a:t>E</a:t>
                      </a:r>
                      <a:endParaRPr kumimoji="0" lang="zh-TW" altLang="en-US" sz="2100" b="0" i="0" u="none" strike="noStrike" kern="1200" cap="none" spc="0" normalizeH="0" baseline="0" noProof="0" dirty="0" smtClean="0">
                        <a:ln>
                          <a:noFill/>
                        </a:ln>
                        <a:solidFill>
                          <a:prstClr val="black"/>
                        </a:solidFill>
                        <a:effectLst/>
                        <a:uLnTx/>
                        <a:uFillTx/>
                        <a:latin typeface="+mj-lt"/>
                        <a:ea typeface="+mn-ea"/>
                        <a:cs typeface="+mn-cs"/>
                      </a:endParaRPr>
                    </a:p>
                  </a:txBody>
                  <a:tcPr marL="68580" marR="68580" marT="34290" marB="34290"/>
                </a:tc>
                <a:tc>
                  <a:txBody>
                    <a:bodyPr/>
                    <a:lstStyle/>
                    <a:p>
                      <a:r>
                        <a:rPr lang="en-US" altLang="zh-TW" sz="2100" dirty="0" smtClean="0">
                          <a:solidFill>
                            <a:srgbClr val="FF0000"/>
                          </a:solidFill>
                          <a:latin typeface="+mj-lt"/>
                        </a:rPr>
                        <a:t>B</a:t>
                      </a:r>
                      <a:endParaRPr lang="zh-TW" altLang="en-US" sz="2100" dirty="0">
                        <a:solidFill>
                          <a:srgbClr val="FF0000"/>
                        </a:solidFill>
                        <a:latin typeface="+mj-lt"/>
                      </a:endParaRPr>
                    </a:p>
                  </a:txBody>
                  <a:tcPr marL="68580" marR="68580" marT="34290" marB="34290"/>
                </a:tc>
                <a:tc>
                  <a:txBody>
                    <a:bodyPr/>
                    <a:lstStyle/>
                    <a:p>
                      <a:r>
                        <a:rPr lang="en-US" altLang="zh-TW" sz="2100" dirty="0" smtClean="0">
                          <a:latin typeface="+mj-lt"/>
                        </a:rPr>
                        <a:t>C</a:t>
                      </a:r>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r>
              <a:tr h="388620">
                <a:tc>
                  <a:txBody>
                    <a:bodyPr/>
                    <a:lstStyle/>
                    <a:p>
                      <a:r>
                        <a:rPr lang="en-US" altLang="zh-TW" sz="2100" dirty="0" smtClean="0">
                          <a:solidFill>
                            <a:srgbClr val="FF0000"/>
                          </a:solidFill>
                          <a:latin typeface="+mj-lt"/>
                        </a:rPr>
                        <a:t>B</a:t>
                      </a:r>
                      <a:endParaRPr lang="zh-TW" altLang="en-US" sz="2100" dirty="0">
                        <a:solidFill>
                          <a:srgbClr val="FF0000"/>
                        </a:solidFill>
                        <a:latin typeface="+mj-lt"/>
                      </a:endParaRPr>
                    </a:p>
                  </a:txBody>
                  <a:tcPr marL="68580" marR="68580" marT="34290" marB="34290"/>
                </a:tc>
                <a:tc>
                  <a:txBody>
                    <a:bodyPr/>
                    <a:lstStyle/>
                    <a:p>
                      <a:r>
                        <a:rPr lang="en-US" altLang="zh-TW" sz="2100" dirty="0" smtClean="0">
                          <a:solidFill>
                            <a:srgbClr val="FF0000"/>
                          </a:solidFill>
                          <a:latin typeface="+mj-lt"/>
                        </a:rPr>
                        <a:t>C</a:t>
                      </a:r>
                      <a:endParaRPr lang="zh-TW" altLang="en-US" sz="2100" dirty="0">
                        <a:solidFill>
                          <a:srgbClr val="FF0000"/>
                        </a:solidFill>
                        <a:latin typeface="+mj-lt"/>
                      </a:endParaRPr>
                    </a:p>
                  </a:txBody>
                  <a:tcPr marL="68580" marR="68580" marT="34290" marB="34290"/>
                </a:tc>
                <a:tc>
                  <a:txBody>
                    <a:bodyPr/>
                    <a:lstStyle/>
                    <a:p>
                      <a:r>
                        <a:rPr lang="en-US" altLang="zh-TW" sz="2100" dirty="0" smtClean="0">
                          <a:solidFill>
                            <a:srgbClr val="FF0000"/>
                          </a:solidFill>
                          <a:latin typeface="+mj-lt"/>
                        </a:rPr>
                        <a:t>B</a:t>
                      </a:r>
                      <a:endParaRPr lang="zh-TW" altLang="en-US" sz="2100" dirty="0">
                        <a:solidFill>
                          <a:srgbClr val="FF0000"/>
                        </a:solidFill>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r>
              <a:tr h="388620">
                <a:tc>
                  <a:txBody>
                    <a:bodyPr/>
                    <a:lstStyle/>
                    <a:p>
                      <a:r>
                        <a:rPr lang="en-US" altLang="zh-TW" sz="2100" dirty="0" smtClean="0">
                          <a:solidFill>
                            <a:srgbClr val="FF0000"/>
                          </a:solidFill>
                          <a:latin typeface="+mj-lt"/>
                        </a:rPr>
                        <a:t>C</a:t>
                      </a:r>
                      <a:endParaRPr lang="zh-TW" altLang="en-US" sz="2100" dirty="0">
                        <a:solidFill>
                          <a:srgbClr val="FF0000"/>
                        </a:solidFill>
                        <a:latin typeface="+mj-lt"/>
                      </a:endParaRPr>
                    </a:p>
                  </a:txBody>
                  <a:tcPr marL="68580" marR="68580" marT="34290" marB="34290"/>
                </a:tc>
                <a:tc>
                  <a:txBody>
                    <a:bodyPr/>
                    <a:lstStyle/>
                    <a:p>
                      <a:r>
                        <a:rPr lang="en-US" altLang="zh-TW" sz="2100" dirty="0" smtClean="0">
                          <a:solidFill>
                            <a:srgbClr val="FF0000"/>
                          </a:solidFill>
                          <a:latin typeface="+mj-lt"/>
                        </a:rPr>
                        <a:t>B</a:t>
                      </a:r>
                      <a:endParaRPr lang="zh-TW" altLang="en-US" sz="2100" dirty="0">
                        <a:solidFill>
                          <a:srgbClr val="FF0000"/>
                        </a:solidFill>
                        <a:latin typeface="+mj-lt"/>
                      </a:endParaRPr>
                    </a:p>
                  </a:txBody>
                  <a:tcPr marL="68580" marR="68580" marT="34290" marB="34290"/>
                </a:tc>
                <a:tc>
                  <a:txBody>
                    <a:bodyPr/>
                    <a:lstStyle/>
                    <a:p>
                      <a:r>
                        <a:rPr lang="en-US" altLang="zh-TW" sz="2100" dirty="0" smtClean="0">
                          <a:solidFill>
                            <a:srgbClr val="FF0000"/>
                          </a:solidFill>
                          <a:latin typeface="+mj-lt"/>
                        </a:rPr>
                        <a:t>C</a:t>
                      </a:r>
                      <a:endParaRPr lang="zh-TW" altLang="en-US" sz="2100" dirty="0">
                        <a:solidFill>
                          <a:srgbClr val="FF0000"/>
                        </a:solidFill>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r>
              <a:tr h="388620">
                <a:tc>
                  <a:txBody>
                    <a:bodyPr/>
                    <a:lstStyle/>
                    <a:p>
                      <a:r>
                        <a:rPr lang="en-US" altLang="zh-TW" sz="2100" dirty="0" smtClean="0">
                          <a:solidFill>
                            <a:srgbClr val="FF0000"/>
                          </a:solidFill>
                          <a:latin typeface="+mj-lt"/>
                        </a:rPr>
                        <a:t>B</a:t>
                      </a:r>
                      <a:endParaRPr lang="zh-TW" altLang="en-US" sz="2100" dirty="0">
                        <a:solidFill>
                          <a:srgbClr val="FF0000"/>
                        </a:solidFill>
                        <a:latin typeface="+mj-lt"/>
                      </a:endParaRPr>
                    </a:p>
                  </a:txBody>
                  <a:tcPr marL="68580" marR="68580" marT="34290" marB="34290"/>
                </a:tc>
                <a:tc>
                  <a:txBody>
                    <a:bodyPr/>
                    <a:lstStyle/>
                    <a:p>
                      <a:r>
                        <a:rPr lang="en-US" altLang="zh-TW" sz="2100" dirty="0" smtClean="0">
                          <a:solidFill>
                            <a:srgbClr val="FF0000"/>
                          </a:solidFill>
                          <a:latin typeface="+mj-lt"/>
                        </a:rPr>
                        <a:t>D</a:t>
                      </a:r>
                      <a:endParaRPr lang="zh-TW" altLang="en-US" sz="2100" dirty="0">
                        <a:solidFill>
                          <a:srgbClr val="FF0000"/>
                        </a:solidFill>
                        <a:latin typeface="+mj-lt"/>
                      </a:endParaRPr>
                    </a:p>
                  </a:txBody>
                  <a:tcPr marL="68580" marR="68580" marT="34290" marB="34290"/>
                </a:tc>
                <a:tc>
                  <a:txBody>
                    <a:bodyPr/>
                    <a:lstStyle/>
                    <a:p>
                      <a:r>
                        <a:rPr lang="en-US" altLang="zh-TW" sz="2100" dirty="0" smtClean="0">
                          <a:solidFill>
                            <a:srgbClr val="FF0000"/>
                          </a:solidFill>
                          <a:latin typeface="+mj-lt"/>
                        </a:rPr>
                        <a:t>B</a:t>
                      </a:r>
                      <a:endParaRPr lang="zh-TW" altLang="en-US" sz="2100" dirty="0">
                        <a:solidFill>
                          <a:srgbClr val="FF0000"/>
                        </a:solidFill>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r>
              <a:tr h="388620">
                <a:tc>
                  <a:txBody>
                    <a:bodyPr/>
                    <a:lstStyle/>
                    <a:p>
                      <a:r>
                        <a:rPr lang="en-US" altLang="zh-TW" sz="2100" dirty="0" smtClean="0">
                          <a:solidFill>
                            <a:srgbClr val="FF0000"/>
                          </a:solidFill>
                          <a:latin typeface="+mj-lt"/>
                        </a:rPr>
                        <a:t>D</a:t>
                      </a:r>
                      <a:endParaRPr lang="zh-TW" altLang="en-US" sz="2100" dirty="0">
                        <a:solidFill>
                          <a:srgbClr val="FF0000"/>
                        </a:solidFill>
                        <a:latin typeface="+mj-lt"/>
                      </a:endParaRPr>
                    </a:p>
                  </a:txBody>
                  <a:tcPr marL="68580" marR="68580" marT="34290" marB="34290"/>
                </a:tc>
                <a:tc>
                  <a:txBody>
                    <a:bodyPr/>
                    <a:lstStyle/>
                    <a:p>
                      <a:r>
                        <a:rPr lang="en-US" altLang="zh-TW" sz="2100" dirty="0" smtClean="0">
                          <a:latin typeface="+mj-lt"/>
                        </a:rPr>
                        <a:t>D</a:t>
                      </a:r>
                      <a:endParaRPr lang="zh-TW" altLang="en-US" sz="2100" dirty="0">
                        <a:latin typeface="+mj-lt"/>
                      </a:endParaRPr>
                    </a:p>
                  </a:txBody>
                  <a:tcPr marL="68580" marR="68580" marT="34290" marB="34290"/>
                </a:tc>
                <a:tc>
                  <a:txBody>
                    <a:bodyPr/>
                    <a:lstStyle/>
                    <a:p>
                      <a:r>
                        <a:rPr lang="en-US" altLang="zh-TW" sz="2100" dirty="0" smtClean="0">
                          <a:solidFill>
                            <a:srgbClr val="FF0000"/>
                          </a:solidFill>
                          <a:latin typeface="+mj-lt"/>
                        </a:rPr>
                        <a:t>D</a:t>
                      </a:r>
                      <a:endParaRPr lang="zh-TW" altLang="en-US" sz="2100" dirty="0">
                        <a:solidFill>
                          <a:srgbClr val="FF0000"/>
                        </a:solidFill>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r>
              <a:tr h="388620">
                <a:tc>
                  <a:txBody>
                    <a:bodyPr/>
                    <a:lstStyle/>
                    <a:p>
                      <a:r>
                        <a:rPr lang="en-US" altLang="zh-TW" sz="2100" dirty="0" smtClean="0">
                          <a:latin typeface="+mj-lt"/>
                        </a:rPr>
                        <a:t>B</a:t>
                      </a:r>
                      <a:endParaRPr lang="zh-TW" altLang="en-US" sz="2100" dirty="0">
                        <a:latin typeface="+mj-lt"/>
                      </a:endParaRPr>
                    </a:p>
                  </a:txBody>
                  <a:tcPr marL="68580" marR="68580" marT="34290" marB="34290"/>
                </a:tc>
                <a:tc>
                  <a:txBody>
                    <a:bodyPr/>
                    <a:lstStyle/>
                    <a:p>
                      <a:r>
                        <a:rPr lang="en-US" altLang="zh-TW" sz="2100" dirty="0" smtClean="0">
                          <a:solidFill>
                            <a:srgbClr val="FF0000"/>
                          </a:solidFill>
                          <a:latin typeface="+mj-lt"/>
                        </a:rPr>
                        <a:t>B</a:t>
                      </a:r>
                      <a:endParaRPr lang="zh-TW" altLang="en-US" sz="2100" dirty="0">
                        <a:solidFill>
                          <a:srgbClr val="FF0000"/>
                        </a:solidFill>
                        <a:latin typeface="+mj-lt"/>
                      </a:endParaRPr>
                    </a:p>
                  </a:txBody>
                  <a:tcPr marL="68580" marR="68580" marT="34290" marB="34290"/>
                </a:tc>
                <a:tc>
                  <a:txBody>
                    <a:bodyPr/>
                    <a:lstStyle/>
                    <a:p>
                      <a:r>
                        <a:rPr lang="en-US" altLang="zh-TW" sz="2100" dirty="0" smtClean="0">
                          <a:latin typeface="+mj-lt"/>
                        </a:rPr>
                        <a:t>C</a:t>
                      </a:r>
                      <a:endParaRPr lang="zh-TW" altLang="en-US" sz="2100" dirty="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a:latin typeface="+mj-lt"/>
                      </a:endParaRPr>
                    </a:p>
                  </a:txBody>
                  <a:tcPr marL="68580" marR="68580" marT="34290" marB="34290"/>
                </a:tc>
              </a:tr>
              <a:tr h="388620">
                <a:tc>
                  <a:txBody>
                    <a:bodyPr/>
                    <a:lstStyle/>
                    <a:p>
                      <a:r>
                        <a:rPr lang="en-US" altLang="zh-TW" sz="2100" dirty="0" smtClean="0">
                          <a:latin typeface="+mj-lt"/>
                        </a:rPr>
                        <a:t>D</a:t>
                      </a:r>
                      <a:endParaRPr lang="zh-TW" altLang="en-US" sz="2100" dirty="0">
                        <a:latin typeface="+mj-lt"/>
                      </a:endParaRPr>
                    </a:p>
                  </a:txBody>
                  <a:tcPr marL="68580" marR="68580" marT="34290" marB="34290"/>
                </a:tc>
                <a:tc>
                  <a:txBody>
                    <a:bodyPr/>
                    <a:lstStyle/>
                    <a:p>
                      <a:r>
                        <a:rPr lang="en-US" altLang="zh-TW" sz="2100" dirty="0" smtClean="0">
                          <a:solidFill>
                            <a:srgbClr val="FF0000"/>
                          </a:solidFill>
                          <a:latin typeface="+mj-lt"/>
                        </a:rPr>
                        <a:t>C</a:t>
                      </a:r>
                      <a:endParaRPr lang="zh-TW" altLang="en-US" sz="2100" dirty="0">
                        <a:solidFill>
                          <a:srgbClr val="FF0000"/>
                        </a:solidFill>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tc>
              </a:tr>
              <a:tr h="388620">
                <a:tc>
                  <a:txBody>
                    <a:bodyPr/>
                    <a:lstStyle/>
                    <a:p>
                      <a:r>
                        <a:rPr lang="en-US" altLang="zh-TW" sz="2100" dirty="0" smtClean="0">
                          <a:latin typeface="+mj-lt"/>
                        </a:rPr>
                        <a:t>D</a:t>
                      </a:r>
                      <a:endParaRPr lang="zh-TW" altLang="en-US" sz="2100" dirty="0">
                        <a:latin typeface="+mj-lt"/>
                      </a:endParaRPr>
                    </a:p>
                  </a:txBody>
                  <a:tcPr marL="68580" marR="68580" marT="34290" marB="34290"/>
                </a:tc>
                <a:tc>
                  <a:txBody>
                    <a:bodyPr/>
                    <a:lstStyle/>
                    <a:p>
                      <a:r>
                        <a:rPr lang="en-US" altLang="zh-TW" sz="2100" dirty="0" smtClean="0">
                          <a:solidFill>
                            <a:srgbClr val="FF0000"/>
                          </a:solidFill>
                          <a:latin typeface="+mj-lt"/>
                        </a:rPr>
                        <a:t>B</a:t>
                      </a:r>
                      <a:endParaRPr lang="zh-TW" altLang="en-US" sz="2100" dirty="0">
                        <a:solidFill>
                          <a:srgbClr val="FF0000"/>
                        </a:solidFill>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tc>
              </a:tr>
              <a:tr h="388620">
                <a:tc>
                  <a:txBody>
                    <a:bodyPr/>
                    <a:lstStyle/>
                    <a:p>
                      <a:endParaRPr lang="zh-TW" altLang="en-US" sz="2100" dirty="0">
                        <a:latin typeface="+mj-lt"/>
                      </a:endParaRPr>
                    </a:p>
                  </a:txBody>
                  <a:tcPr marL="68580" marR="68580" marT="34290" marB="34290"/>
                </a:tc>
                <a:tc>
                  <a:txBody>
                    <a:bodyPr/>
                    <a:lstStyle/>
                    <a:p>
                      <a:r>
                        <a:rPr lang="en-US" altLang="zh-TW" sz="2100" dirty="0" smtClean="0">
                          <a:solidFill>
                            <a:srgbClr val="FF0000"/>
                          </a:solidFill>
                          <a:latin typeface="+mj-lt"/>
                        </a:rPr>
                        <a:t>D</a:t>
                      </a:r>
                      <a:endParaRPr lang="zh-TW" altLang="en-US" sz="2100" dirty="0">
                        <a:solidFill>
                          <a:srgbClr val="FF0000"/>
                        </a:solidFill>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a:latin typeface="+mj-lt"/>
                      </a:endParaRPr>
                    </a:p>
                  </a:txBody>
                  <a:tcPr marL="68580" marR="68580" marT="34290" marB="34290"/>
                </a:tc>
                <a:tc>
                  <a:txBody>
                    <a:bodyPr/>
                    <a:lstStyle/>
                    <a:p>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tc>
              </a:tr>
            </a:tbl>
          </a:graphicData>
        </a:graphic>
      </p:graphicFrame>
      <p:sp>
        <p:nvSpPr>
          <p:cNvPr id="2" name="矩形 1"/>
          <p:cNvSpPr/>
          <p:nvPr/>
        </p:nvSpPr>
        <p:spPr>
          <a:xfrm>
            <a:off x="406717" y="1100509"/>
            <a:ext cx="7485062" cy="530915"/>
          </a:xfrm>
          <a:prstGeom prst="rect">
            <a:avLst/>
          </a:prstGeom>
          <a:noFill/>
        </p:spPr>
        <p:txBody>
          <a:bodyPr wrap="none" lIns="68580" tIns="34290" rIns="68580" bIns="34290">
            <a:spAutoFit/>
          </a:bodyPr>
          <a:lstStyle/>
          <a:p>
            <a:pPr algn="ctr"/>
            <a:r>
              <a:rPr lang="en-US" altLang="zh-TW" sz="3000" dirty="0">
                <a:latin typeface="Georgia" panose="02040502050405020303" pitchFamily="18" charset="0"/>
                <a:ea typeface="Ebrima" panose="02000000000000000000" pitchFamily="2" charset="0"/>
                <a:cs typeface="Ebrima" panose="02000000000000000000" pitchFamily="2" charset="0"/>
              </a:rPr>
              <a:t>the Common Substring Alignment problem</a:t>
            </a:r>
            <a:endParaRPr lang="zh-TW" altLang="en-US" sz="3000" dirty="0">
              <a:latin typeface="Georgia" panose="02040502050405020303" pitchFamily="18" charset="0"/>
              <a:ea typeface="Ebrima" panose="02000000000000000000" pitchFamily="2" charset="0"/>
              <a:cs typeface="Ebrima" panose="02000000000000000000" pitchFamily="2" charset="0"/>
            </a:endParaRPr>
          </a:p>
        </p:txBody>
      </p:sp>
      <p:sp>
        <p:nvSpPr>
          <p:cNvPr id="8" name="矩形 7"/>
          <p:cNvSpPr/>
          <p:nvPr/>
        </p:nvSpPr>
        <p:spPr>
          <a:xfrm>
            <a:off x="6346300" y="2133905"/>
            <a:ext cx="2419765" cy="530915"/>
          </a:xfrm>
          <a:prstGeom prst="rect">
            <a:avLst/>
          </a:prstGeom>
          <a:noFill/>
          <a:ln w="19050">
            <a:noFill/>
            <a:prstDash val="lgDashDotDot"/>
          </a:ln>
        </p:spPr>
        <p:txBody>
          <a:bodyPr wrap="none" lIns="68580" tIns="34290" rIns="68580" bIns="34290">
            <a:spAutoFit/>
          </a:bodyPr>
          <a:lstStyle/>
          <a:p>
            <a:pPr algn="ctr"/>
            <a:r>
              <a:rPr lang="en-US" altLang="zh-TW" sz="3000" dirty="0">
                <a:ln w="0"/>
                <a:solidFill>
                  <a:srgbClr val="00B050"/>
                </a:solidFill>
                <a:effectLst>
                  <a:outerShdw blurRad="38100" dist="19050" dir="2700000" algn="tl" rotWithShape="0">
                    <a:schemeClr val="dk1">
                      <a:alpha val="40000"/>
                    </a:schemeClr>
                  </a:outerShdw>
                </a:effectLst>
                <a:latin typeface="+mj-lt"/>
              </a:rPr>
              <a:t>[ target string ]</a:t>
            </a:r>
            <a:endParaRPr lang="zh-TW" altLang="en-US" sz="3000" dirty="0">
              <a:ln w="0"/>
              <a:solidFill>
                <a:srgbClr val="00B050"/>
              </a:solidFill>
              <a:effectLst>
                <a:outerShdw blurRad="38100" dist="19050" dir="2700000" algn="tl" rotWithShape="0">
                  <a:schemeClr val="dk1">
                    <a:alpha val="40000"/>
                  </a:schemeClr>
                </a:outerShdw>
              </a:effectLst>
              <a:latin typeface="+mj-lt"/>
            </a:endParaRPr>
          </a:p>
        </p:txBody>
      </p:sp>
    </p:spTree>
    <p:extLst>
      <p:ext uri="{BB962C8B-B14F-4D97-AF65-F5344CB8AC3E}">
        <p14:creationId xmlns:p14="http://schemas.microsoft.com/office/powerpoint/2010/main" val="9788764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354483778"/>
              </p:ext>
            </p:extLst>
          </p:nvPr>
        </p:nvGraphicFramePr>
        <p:xfrm>
          <a:off x="1333240" y="1268228"/>
          <a:ext cx="6432899" cy="4274820"/>
        </p:xfrm>
        <a:graphic>
          <a:graphicData uri="http://schemas.openxmlformats.org/drawingml/2006/table">
            <a:tbl>
              <a:tblPr firstRow="1" bandRow="1">
                <a:tableStyleId>{2D5ABB26-0587-4C30-8999-92F81FD0307C}</a:tableStyleId>
              </a:tblPr>
              <a:tblGrid>
                <a:gridCol w="584809"/>
                <a:gridCol w="584809"/>
                <a:gridCol w="584809"/>
                <a:gridCol w="584809"/>
                <a:gridCol w="584809"/>
                <a:gridCol w="584809"/>
                <a:gridCol w="584809"/>
                <a:gridCol w="584809"/>
                <a:gridCol w="584809"/>
                <a:gridCol w="584809"/>
                <a:gridCol w="584809"/>
              </a:tblGrid>
              <a:tr h="388620">
                <a:tc>
                  <a:txBody>
                    <a:bodyPr/>
                    <a:lstStyle/>
                    <a:p>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r>
                        <a:rPr lang="en-US" altLang="zh-TW" sz="2100" dirty="0" smtClean="0">
                          <a:solidFill>
                            <a:srgbClr val="00B050"/>
                          </a:solidFill>
                          <a:latin typeface="+mj-lt"/>
                        </a:rPr>
                        <a:t>B</a:t>
                      </a:r>
                      <a:endParaRPr lang="zh-TW" altLang="en-US" sz="2100" dirty="0">
                        <a:solidFill>
                          <a:srgbClr val="00B050"/>
                        </a:solidFill>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r>
                        <a:rPr lang="en-US" altLang="zh-TW" sz="2100" dirty="0" smtClean="0">
                          <a:solidFill>
                            <a:srgbClr val="00B050"/>
                          </a:solidFill>
                          <a:latin typeface="+mj-lt"/>
                        </a:rPr>
                        <a:t>C</a:t>
                      </a:r>
                      <a:endParaRPr lang="zh-TW" altLang="en-US" sz="2100" dirty="0">
                        <a:solidFill>
                          <a:srgbClr val="00B050"/>
                        </a:solidFill>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r>
                        <a:rPr lang="en-US" altLang="zh-TW" sz="2100" dirty="0" smtClean="0">
                          <a:solidFill>
                            <a:srgbClr val="00B050"/>
                          </a:solidFill>
                          <a:latin typeface="+mj-lt"/>
                        </a:rPr>
                        <a:t>B</a:t>
                      </a:r>
                      <a:endParaRPr lang="zh-TW" altLang="en-US" sz="2100" dirty="0">
                        <a:solidFill>
                          <a:srgbClr val="00B050"/>
                        </a:solidFill>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r>
                        <a:rPr lang="en-US" altLang="zh-TW" sz="2100" dirty="0" smtClean="0">
                          <a:solidFill>
                            <a:srgbClr val="00B050"/>
                          </a:solidFill>
                          <a:latin typeface="+mj-lt"/>
                        </a:rPr>
                        <a:t>A</a:t>
                      </a:r>
                      <a:endParaRPr lang="zh-TW" altLang="en-US" sz="2100" dirty="0">
                        <a:solidFill>
                          <a:srgbClr val="00B050"/>
                        </a:solidFill>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r>
                        <a:rPr lang="en-US" altLang="zh-TW" sz="2100" dirty="0" smtClean="0">
                          <a:solidFill>
                            <a:srgbClr val="00B050"/>
                          </a:solidFill>
                          <a:latin typeface="+mj-lt"/>
                        </a:rPr>
                        <a:t>D</a:t>
                      </a:r>
                      <a:endParaRPr lang="zh-TW" altLang="en-US" sz="2100" dirty="0">
                        <a:solidFill>
                          <a:srgbClr val="00B050"/>
                        </a:solidFill>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r>
                        <a:rPr lang="en-US" altLang="zh-TW" sz="2100" dirty="0" smtClean="0">
                          <a:solidFill>
                            <a:srgbClr val="00B050"/>
                          </a:solidFill>
                          <a:latin typeface="+mj-lt"/>
                        </a:rPr>
                        <a:t>B</a:t>
                      </a:r>
                      <a:endParaRPr lang="zh-TW" altLang="en-US" sz="2100" dirty="0">
                        <a:solidFill>
                          <a:srgbClr val="00B050"/>
                        </a:solidFill>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r>
                        <a:rPr lang="en-US" altLang="zh-TW" sz="2100" dirty="0" smtClean="0">
                          <a:solidFill>
                            <a:srgbClr val="00B050"/>
                          </a:solidFill>
                          <a:latin typeface="+mj-lt"/>
                        </a:rPr>
                        <a:t>D</a:t>
                      </a:r>
                      <a:endParaRPr lang="zh-TW" altLang="en-US" sz="2100" dirty="0">
                        <a:solidFill>
                          <a:srgbClr val="00B050"/>
                        </a:solidFill>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r>
                        <a:rPr lang="en-US" altLang="zh-TW" sz="2100" dirty="0" smtClean="0">
                          <a:solidFill>
                            <a:srgbClr val="00B050"/>
                          </a:solidFill>
                          <a:latin typeface="+mj-lt"/>
                        </a:rPr>
                        <a:t>C</a:t>
                      </a:r>
                      <a:endParaRPr lang="zh-TW" altLang="en-US" sz="2100" dirty="0">
                        <a:solidFill>
                          <a:srgbClr val="00B050"/>
                        </a:solidFill>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r>
                        <a:rPr lang="en-US" altLang="zh-TW" sz="2100" dirty="0" smtClean="0">
                          <a:solidFill>
                            <a:srgbClr val="00B050"/>
                          </a:solidFill>
                          <a:latin typeface="+mj-lt"/>
                        </a:rPr>
                        <a:t>D</a:t>
                      </a:r>
                      <a:endParaRPr lang="zh-TW" altLang="en-US" sz="2100" dirty="0">
                        <a:solidFill>
                          <a:srgbClr val="00B050"/>
                        </a:solidFill>
                        <a:latin typeface="+mj-lt"/>
                      </a:endParaRPr>
                    </a:p>
                  </a:txBody>
                  <a:tcPr marL="68580" marR="68580" marT="34290" marB="34290">
                    <a:lnB w="12700" cap="flat" cmpd="sng" algn="ctr">
                      <a:solidFill>
                        <a:schemeClr val="tx1"/>
                      </a:solidFill>
                      <a:prstDash val="solid"/>
                      <a:round/>
                      <a:headEnd type="none" w="med" len="med"/>
                      <a:tailEnd type="none" w="med" len="med"/>
                    </a:lnB>
                  </a:tcPr>
                </a:tc>
              </a:tr>
              <a:tr h="388620">
                <a:tc>
                  <a:txBody>
                    <a:bodyPr/>
                    <a:lstStyle/>
                    <a:p>
                      <a:r>
                        <a:rPr lang="en-US" altLang="zh-TW" sz="2100" dirty="0" smtClean="0">
                          <a:latin typeface="+mj-lt"/>
                        </a:rPr>
                        <a:t>B</a:t>
                      </a:r>
                      <a:endParaRPr lang="zh-TW" altLang="en-US" sz="2100" dirty="0">
                        <a:latin typeface="+mj-lt"/>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zh-TW" altLang="en-US" sz="1000" dirty="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88620">
                <a:tc>
                  <a:txBody>
                    <a:bodyPr/>
                    <a:lstStyle/>
                    <a:p>
                      <a:r>
                        <a:rPr lang="en-US" altLang="zh-TW" sz="2100" dirty="0" smtClean="0">
                          <a:latin typeface="+mj-lt"/>
                        </a:rPr>
                        <a:t>C</a:t>
                      </a:r>
                      <a:endParaRPr lang="zh-TW" altLang="en-US" sz="2100" dirty="0">
                        <a:latin typeface="+mj-lt"/>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pPr algn="ctr"/>
                      <a:r>
                        <a:rPr lang="en-US" altLang="zh-TW" sz="1000" dirty="0" smtClean="0">
                          <a:solidFill>
                            <a:schemeClr val="bg1"/>
                          </a:solidFill>
                          <a:latin typeface="+mj-lt"/>
                        </a:rPr>
                        <a:t>0</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1</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2</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2</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2</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2</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2</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2</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2</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2</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r>
              <a:tr h="388620">
                <a:tc>
                  <a:txBody>
                    <a:bodyPr/>
                    <a:lstStyle/>
                    <a:p>
                      <a:endParaRPr lang="zh-TW" altLang="en-US" sz="2100" dirty="0">
                        <a:latin typeface="+mj-lt"/>
                      </a:endParaRPr>
                    </a:p>
                  </a:txBody>
                  <a:tcPr marL="68580" marR="68580" marT="34290" marB="34290"/>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tcPr>
                </a:tc>
              </a:tr>
              <a:tr h="388620">
                <a:tc>
                  <a:txBody>
                    <a:bodyPr/>
                    <a:lstStyle/>
                    <a:p>
                      <a:endParaRPr lang="zh-TW" altLang="en-US" sz="21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r>
              <a:tr h="388620">
                <a:tc>
                  <a:txBody>
                    <a:bodyPr/>
                    <a:lstStyle/>
                    <a:p>
                      <a:r>
                        <a:rPr lang="en-US" altLang="zh-TW" sz="2100" dirty="0" smtClean="0">
                          <a:solidFill>
                            <a:srgbClr val="FF0000"/>
                          </a:solidFill>
                          <a:latin typeface="+mj-lt"/>
                        </a:rPr>
                        <a:t>B</a:t>
                      </a:r>
                      <a:endParaRPr lang="zh-TW" altLang="en-US" sz="2100" dirty="0">
                        <a:solidFill>
                          <a:srgbClr val="FF0000"/>
                        </a:solidFill>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r>
              <a:tr h="388620">
                <a:tc>
                  <a:txBody>
                    <a:bodyPr/>
                    <a:lstStyle/>
                    <a:p>
                      <a:r>
                        <a:rPr lang="en-US" altLang="zh-TW" sz="2100" dirty="0" smtClean="0">
                          <a:solidFill>
                            <a:srgbClr val="FF0000"/>
                          </a:solidFill>
                          <a:latin typeface="+mj-lt"/>
                        </a:rPr>
                        <a:t>C</a:t>
                      </a:r>
                      <a:endParaRPr lang="zh-TW" altLang="en-US" sz="2100" dirty="0">
                        <a:solidFill>
                          <a:srgbClr val="FF0000"/>
                        </a:solidFill>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r>
              <a:tr h="388620">
                <a:tc>
                  <a:txBody>
                    <a:bodyPr/>
                    <a:lstStyle/>
                    <a:p>
                      <a:r>
                        <a:rPr lang="en-US" altLang="zh-TW" sz="2100" dirty="0" smtClean="0">
                          <a:solidFill>
                            <a:srgbClr val="FF0000"/>
                          </a:solidFill>
                          <a:latin typeface="+mj-lt"/>
                        </a:rPr>
                        <a:t>B</a:t>
                      </a:r>
                      <a:endParaRPr lang="zh-TW" altLang="en-US" sz="2100" dirty="0">
                        <a:solidFill>
                          <a:srgbClr val="FF0000"/>
                        </a:solidFill>
                        <a:latin typeface="+mj-lt"/>
                      </a:endParaRPr>
                    </a:p>
                  </a:txBody>
                  <a:tcPr marL="68580" marR="68580" marT="34290" marB="34290"/>
                </a:tc>
                <a:tc>
                  <a:txBody>
                    <a:bodyPr/>
                    <a:lstStyle/>
                    <a:p>
                      <a:endParaRPr lang="zh-TW" altLang="en-US" sz="1000" dirty="0">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B w="12700" cap="flat" cmpd="sng" algn="ctr">
                      <a:solidFill>
                        <a:schemeClr val="tx1"/>
                      </a:solidFill>
                      <a:prstDash val="solid"/>
                      <a:round/>
                      <a:headEnd type="none" w="med" len="med"/>
                      <a:tailEnd type="none" w="med" len="med"/>
                    </a:lnB>
                  </a:tcPr>
                </a:tc>
              </a:tr>
              <a:tr h="388620">
                <a:tc>
                  <a:txBody>
                    <a:bodyPr/>
                    <a:lstStyle/>
                    <a:p>
                      <a:r>
                        <a:rPr lang="en-US" altLang="zh-TW" sz="2100" dirty="0" smtClean="0">
                          <a:solidFill>
                            <a:srgbClr val="FF0000"/>
                          </a:solidFill>
                          <a:latin typeface="+mj-lt"/>
                        </a:rPr>
                        <a:t>D</a:t>
                      </a:r>
                      <a:endParaRPr lang="zh-TW" altLang="en-US" sz="2100" dirty="0">
                        <a:solidFill>
                          <a:srgbClr val="FF0000"/>
                        </a:solidFill>
                        <a:latin typeface="+mj-lt"/>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pPr algn="ctr"/>
                      <a:r>
                        <a:rPr lang="en-US" altLang="zh-TW" sz="1000" dirty="0" smtClean="0">
                          <a:solidFill>
                            <a:schemeClr val="bg1"/>
                          </a:solidFill>
                          <a:latin typeface="+mj-lt"/>
                        </a:rPr>
                        <a:t>0</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1</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2</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3</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3</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4</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4</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5</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5</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5</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r>
              <a:tr h="388620">
                <a:tc>
                  <a:txBody>
                    <a:bodyPr/>
                    <a:lstStyle/>
                    <a:p>
                      <a:endParaRPr lang="zh-TW" altLang="en-US" sz="2100" dirty="0">
                        <a:latin typeface="+mj-lt"/>
                      </a:endParaRPr>
                    </a:p>
                  </a:txBody>
                  <a:tcPr marL="68580" marR="68580" marT="34290" marB="34290"/>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88620">
                <a:tc>
                  <a:txBody>
                    <a:bodyPr/>
                    <a:lstStyle/>
                    <a:p>
                      <a:r>
                        <a:rPr lang="en-US" altLang="zh-TW" sz="2100" dirty="0" smtClean="0">
                          <a:latin typeface="+mj-lt"/>
                        </a:rPr>
                        <a:t>C</a:t>
                      </a:r>
                      <a:endParaRPr lang="zh-TW" altLang="en-US" sz="2100" dirty="0">
                        <a:latin typeface="+mj-lt"/>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zh-TW" altLang="en-US" sz="1000" dirty="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26" name="上彎箭號 25"/>
          <p:cNvSpPr/>
          <p:nvPr/>
        </p:nvSpPr>
        <p:spPr>
          <a:xfrm rot="5400000" flipV="1">
            <a:off x="5768925" y="2346808"/>
            <a:ext cx="526093" cy="873692"/>
          </a:xfrm>
          <a:prstGeom prst="bentUpArrow">
            <a:avLst>
              <a:gd name="adj1" fmla="val 14285"/>
              <a:gd name="adj2" fmla="val 16964"/>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grpSp>
        <p:nvGrpSpPr>
          <p:cNvPr id="28" name="群組 27"/>
          <p:cNvGrpSpPr/>
          <p:nvPr/>
        </p:nvGrpSpPr>
        <p:grpSpPr>
          <a:xfrm>
            <a:off x="4142985" y="2588274"/>
            <a:ext cx="1315232" cy="1499310"/>
            <a:chOff x="2066795" y="1292723"/>
            <a:chExt cx="1753643" cy="1999080"/>
          </a:xfrm>
        </p:grpSpPr>
        <p:grpSp>
          <p:nvGrpSpPr>
            <p:cNvPr id="29" name="群組 28"/>
            <p:cNvGrpSpPr/>
            <p:nvPr/>
          </p:nvGrpSpPr>
          <p:grpSpPr>
            <a:xfrm>
              <a:off x="2066795" y="1292723"/>
              <a:ext cx="1753643" cy="1964044"/>
              <a:chOff x="2066795" y="1292723"/>
              <a:chExt cx="1753643" cy="1964044"/>
            </a:xfrm>
          </p:grpSpPr>
          <p:sp>
            <p:nvSpPr>
              <p:cNvPr id="31" name="矩形 30"/>
              <p:cNvSpPr/>
              <p:nvPr/>
            </p:nvSpPr>
            <p:spPr>
              <a:xfrm>
                <a:off x="2066795" y="1352811"/>
                <a:ext cx="1753643" cy="1903956"/>
              </a:xfrm>
              <a:prstGeom prst="rect">
                <a:avLst/>
              </a:prstGeom>
              <a:solidFill>
                <a:schemeClr val="bg1"/>
              </a:solidFill>
              <a:ln w="762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32" name="矩形 31"/>
              <p:cNvSpPr/>
              <p:nvPr/>
            </p:nvSpPr>
            <p:spPr>
              <a:xfrm>
                <a:off x="2131314" y="1292723"/>
                <a:ext cx="511679" cy="923329"/>
              </a:xfrm>
              <a:prstGeom prst="rect">
                <a:avLst/>
              </a:prstGeom>
              <a:noFill/>
            </p:spPr>
            <p:txBody>
              <a:bodyPr wrap="none" lIns="68580" tIns="34290" rIns="68580" bIns="34290">
                <a:spAutoFit/>
              </a:bodyPr>
              <a:lstStyle/>
              <a:p>
                <a:pPr algn="ctr"/>
                <a:r>
                  <a:rPr lang="en-US" altLang="zh-TW" sz="405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S</a:t>
                </a:r>
                <a:endParaRPr lang="zh-TW" altLang="en-US" sz="405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grpSp>
        <p:sp>
          <p:nvSpPr>
            <p:cNvPr id="30" name="矩形 29"/>
            <p:cNvSpPr/>
            <p:nvPr/>
          </p:nvSpPr>
          <p:spPr>
            <a:xfrm>
              <a:off x="2642992" y="1352811"/>
              <a:ext cx="838691" cy="1938992"/>
            </a:xfrm>
            <a:prstGeom prst="rect">
              <a:avLst/>
            </a:prstGeom>
            <a:noFill/>
          </p:spPr>
          <p:txBody>
            <a:bodyPr wrap="none" lIns="68580" tIns="34290" rIns="68580" bIns="34290">
              <a:spAutoFit/>
            </a:bodyPr>
            <a:lstStyle/>
            <a:p>
              <a:r>
                <a:rPr lang="en-US" altLang="zh-TW" sz="900" dirty="0"/>
                <a:t>0</a:t>
              </a:r>
              <a:r>
                <a:rPr lang="zh-TW" altLang="en-US" sz="900" dirty="0"/>
                <a:t> </a:t>
              </a:r>
              <a:r>
                <a:rPr lang="en-US" altLang="zh-TW" sz="900" dirty="0"/>
                <a:t>1</a:t>
              </a:r>
              <a:r>
                <a:rPr lang="zh-TW" altLang="en-US" sz="900" dirty="0"/>
                <a:t> </a:t>
              </a:r>
              <a:r>
                <a:rPr lang="en-US" altLang="zh-TW" sz="900" dirty="0"/>
                <a:t>2</a:t>
              </a:r>
              <a:r>
                <a:rPr lang="zh-TW" altLang="en-US" sz="900" dirty="0"/>
                <a:t> </a:t>
              </a:r>
              <a:r>
                <a:rPr lang="en-US" altLang="zh-TW" sz="900" dirty="0"/>
                <a:t>3</a:t>
              </a:r>
              <a:r>
                <a:rPr lang="zh-TW" altLang="en-US" sz="900" dirty="0"/>
                <a:t> </a:t>
              </a:r>
              <a:r>
                <a:rPr lang="en-US" altLang="zh-TW" sz="900" dirty="0"/>
                <a:t>5</a:t>
              </a:r>
              <a:r>
                <a:rPr lang="zh-TW" altLang="en-US" sz="900" dirty="0"/>
                <a:t>  </a:t>
              </a:r>
              <a:r>
                <a:rPr lang="en-US" altLang="zh-TW" sz="900" dirty="0"/>
                <a:t>-</a:t>
              </a:r>
            </a:p>
            <a:p>
              <a:r>
                <a:rPr lang="en-US" altLang="zh-TW" sz="900" dirty="0"/>
                <a:t>1</a:t>
              </a:r>
              <a:r>
                <a:rPr lang="zh-TW" altLang="en-US" sz="900" dirty="0"/>
                <a:t> </a:t>
              </a:r>
              <a:r>
                <a:rPr lang="en-US" altLang="zh-TW" sz="900" dirty="0"/>
                <a:t>2</a:t>
              </a:r>
              <a:r>
                <a:rPr lang="zh-TW" altLang="en-US" sz="900" dirty="0"/>
                <a:t> </a:t>
              </a:r>
              <a:r>
                <a:rPr lang="en-US" altLang="zh-TW" sz="900" dirty="0"/>
                <a:t>3</a:t>
              </a:r>
              <a:r>
                <a:rPr lang="zh-TW" altLang="en-US" sz="900" dirty="0"/>
                <a:t> </a:t>
              </a:r>
              <a:r>
                <a:rPr lang="en-US" altLang="zh-TW" sz="900" dirty="0"/>
                <a:t>5</a:t>
              </a:r>
              <a:r>
                <a:rPr lang="zh-TW" altLang="en-US" sz="900" dirty="0"/>
                <a:t>  </a:t>
              </a:r>
              <a:r>
                <a:rPr lang="en-US" altLang="zh-TW" sz="900" dirty="0"/>
                <a:t>-</a:t>
              </a:r>
              <a:r>
                <a:rPr lang="zh-TW" altLang="en-US" sz="900" dirty="0"/>
                <a:t>  </a:t>
              </a:r>
              <a:r>
                <a:rPr lang="en-US" altLang="zh-TW" sz="900" dirty="0"/>
                <a:t>-</a:t>
              </a:r>
            </a:p>
            <a:p>
              <a:r>
                <a:rPr lang="en-US" altLang="zh-TW" sz="900" dirty="0"/>
                <a:t>2</a:t>
              </a:r>
              <a:r>
                <a:rPr lang="zh-TW" altLang="en-US" sz="900" dirty="0"/>
                <a:t> </a:t>
              </a:r>
              <a:r>
                <a:rPr lang="en-US" altLang="zh-TW" sz="900" dirty="0"/>
                <a:t>3</a:t>
              </a:r>
              <a:r>
                <a:rPr lang="zh-TW" altLang="en-US" sz="900" dirty="0"/>
                <a:t> </a:t>
              </a:r>
              <a:r>
                <a:rPr lang="en-US" altLang="zh-TW" sz="900" dirty="0"/>
                <a:t>5</a:t>
              </a:r>
              <a:r>
                <a:rPr lang="zh-TW" altLang="en-US" sz="900" dirty="0"/>
                <a:t> </a:t>
              </a:r>
              <a:r>
                <a:rPr lang="en-US" altLang="zh-TW" sz="900" dirty="0"/>
                <a:t>7</a:t>
              </a:r>
              <a:r>
                <a:rPr lang="zh-TW" altLang="en-US" sz="900" dirty="0"/>
                <a:t>  </a:t>
              </a:r>
              <a:r>
                <a:rPr lang="en-US" altLang="zh-TW" sz="900" dirty="0"/>
                <a:t>-</a:t>
              </a:r>
              <a:r>
                <a:rPr lang="zh-TW" altLang="en-US" sz="900" dirty="0"/>
                <a:t>  </a:t>
              </a:r>
              <a:r>
                <a:rPr lang="en-US" altLang="zh-TW" sz="900" dirty="0"/>
                <a:t>-</a:t>
              </a:r>
            </a:p>
            <a:p>
              <a:r>
                <a:rPr lang="en-US" altLang="zh-TW" sz="900" dirty="0"/>
                <a:t>3</a:t>
              </a:r>
              <a:r>
                <a:rPr lang="zh-TW" altLang="en-US" sz="900" dirty="0"/>
                <a:t> </a:t>
              </a:r>
              <a:r>
                <a:rPr lang="en-US" altLang="zh-TW" sz="900" dirty="0"/>
                <a:t>5</a:t>
              </a:r>
              <a:r>
                <a:rPr lang="zh-TW" altLang="en-US" sz="900" dirty="0"/>
                <a:t> </a:t>
              </a:r>
              <a:r>
                <a:rPr lang="en-US" altLang="zh-TW" sz="900" dirty="0"/>
                <a:t>7</a:t>
              </a:r>
              <a:r>
                <a:rPr lang="zh-TW" altLang="en-US" sz="900" dirty="0"/>
                <a:t> </a:t>
              </a:r>
              <a:r>
                <a:rPr lang="en-US" altLang="zh-TW" sz="900" dirty="0"/>
                <a:t>9</a:t>
              </a:r>
              <a:r>
                <a:rPr lang="zh-TW" altLang="en-US" sz="900" dirty="0"/>
                <a:t>  </a:t>
              </a:r>
              <a:r>
                <a:rPr lang="en-US" altLang="zh-TW" sz="900" dirty="0"/>
                <a:t>-</a:t>
              </a:r>
              <a:r>
                <a:rPr lang="zh-TW" altLang="en-US" sz="900" dirty="0"/>
                <a:t>  </a:t>
              </a:r>
              <a:r>
                <a:rPr lang="en-US" altLang="zh-TW" sz="900" dirty="0"/>
                <a:t>-</a:t>
              </a:r>
            </a:p>
            <a:p>
              <a:r>
                <a:rPr lang="en-US" altLang="zh-TW" sz="900" dirty="0"/>
                <a:t>4</a:t>
              </a:r>
              <a:r>
                <a:rPr lang="zh-TW" altLang="en-US" sz="900" dirty="0"/>
                <a:t> </a:t>
              </a:r>
              <a:r>
                <a:rPr lang="en-US" altLang="zh-TW" sz="900" dirty="0"/>
                <a:t>5</a:t>
              </a:r>
              <a:r>
                <a:rPr lang="zh-TW" altLang="en-US" sz="900" dirty="0"/>
                <a:t> </a:t>
              </a:r>
              <a:r>
                <a:rPr lang="en-US" altLang="zh-TW" sz="900" dirty="0"/>
                <a:t>7</a:t>
              </a:r>
              <a:r>
                <a:rPr lang="zh-TW" altLang="en-US" sz="900" dirty="0"/>
                <a:t> </a:t>
              </a:r>
              <a:r>
                <a:rPr lang="en-US" altLang="zh-TW" sz="900" dirty="0"/>
                <a:t>9</a:t>
              </a:r>
              <a:r>
                <a:rPr lang="zh-TW" altLang="en-US" sz="900" dirty="0"/>
                <a:t>  </a:t>
              </a:r>
              <a:r>
                <a:rPr lang="en-US" altLang="zh-TW" sz="900" dirty="0"/>
                <a:t>-</a:t>
              </a:r>
              <a:r>
                <a:rPr lang="zh-TW" altLang="en-US" sz="900" dirty="0"/>
                <a:t>  </a:t>
              </a:r>
              <a:r>
                <a:rPr lang="en-US" altLang="zh-TW" sz="900" dirty="0"/>
                <a:t>-</a:t>
              </a:r>
            </a:p>
            <a:p>
              <a:r>
                <a:rPr lang="en-US" altLang="zh-TW" sz="900" dirty="0"/>
                <a:t>5</a:t>
              </a:r>
              <a:r>
                <a:rPr lang="zh-TW" altLang="en-US" sz="900" dirty="0"/>
                <a:t> </a:t>
              </a:r>
              <a:r>
                <a:rPr lang="en-US" altLang="zh-TW" sz="900" dirty="0"/>
                <a:t>6</a:t>
              </a:r>
              <a:r>
                <a:rPr lang="zh-TW" altLang="en-US" sz="900" dirty="0"/>
                <a:t> </a:t>
              </a:r>
              <a:r>
                <a:rPr lang="en-US" altLang="zh-TW" sz="900" dirty="0"/>
                <a:t>7</a:t>
              </a:r>
              <a:r>
                <a:rPr lang="zh-TW" altLang="en-US" sz="900" dirty="0"/>
                <a:t> </a:t>
              </a:r>
              <a:r>
                <a:rPr lang="en-US" altLang="zh-TW" sz="900" dirty="0"/>
                <a:t>9</a:t>
              </a:r>
              <a:r>
                <a:rPr lang="zh-TW" altLang="en-US" sz="900" dirty="0"/>
                <a:t>  </a:t>
              </a:r>
              <a:r>
                <a:rPr lang="en-US" altLang="zh-TW" sz="900" dirty="0"/>
                <a:t>-</a:t>
              </a:r>
              <a:r>
                <a:rPr lang="zh-TW" altLang="en-US" sz="900" dirty="0"/>
                <a:t>  </a:t>
              </a:r>
              <a:r>
                <a:rPr lang="en-US" altLang="zh-TW" sz="900" dirty="0"/>
                <a:t>-</a:t>
              </a:r>
            </a:p>
            <a:p>
              <a:r>
                <a:rPr lang="en-US" altLang="zh-TW" sz="900" dirty="0"/>
                <a:t>6</a:t>
              </a:r>
              <a:r>
                <a:rPr lang="zh-TW" altLang="en-US" sz="900" dirty="0"/>
                <a:t> </a:t>
              </a:r>
              <a:r>
                <a:rPr lang="en-US" altLang="zh-TW" sz="900" dirty="0"/>
                <a:t>7</a:t>
              </a:r>
              <a:r>
                <a:rPr lang="zh-TW" altLang="en-US" sz="900" dirty="0"/>
                <a:t> </a:t>
              </a:r>
              <a:r>
                <a:rPr lang="en-US" altLang="zh-TW" sz="900" dirty="0"/>
                <a:t>9</a:t>
              </a:r>
              <a:r>
                <a:rPr lang="zh-TW" altLang="en-US" sz="900" dirty="0"/>
                <a:t>  </a:t>
              </a:r>
              <a:r>
                <a:rPr lang="en-US" altLang="zh-TW" sz="900" dirty="0"/>
                <a:t>-</a:t>
              </a:r>
              <a:r>
                <a:rPr lang="zh-TW" altLang="en-US" sz="900" dirty="0"/>
                <a:t>  </a:t>
              </a:r>
              <a:r>
                <a:rPr lang="en-US" altLang="zh-TW" sz="900" dirty="0"/>
                <a:t>-</a:t>
              </a:r>
              <a:r>
                <a:rPr lang="zh-TW" altLang="en-US" sz="900" dirty="0"/>
                <a:t>  </a:t>
              </a:r>
              <a:r>
                <a:rPr lang="en-US" altLang="zh-TW" sz="900" dirty="0"/>
                <a:t>-</a:t>
              </a:r>
            </a:p>
            <a:p>
              <a:r>
                <a:rPr lang="en-US" altLang="zh-TW" sz="900" dirty="0"/>
                <a:t>7</a:t>
              </a:r>
              <a:r>
                <a:rPr lang="zh-TW" altLang="en-US" sz="900" dirty="0"/>
                <a:t> </a:t>
              </a:r>
              <a:r>
                <a:rPr lang="en-US" altLang="zh-TW" sz="900" dirty="0"/>
                <a:t>8</a:t>
              </a:r>
              <a:r>
                <a:rPr lang="zh-TW" altLang="en-US" sz="900" dirty="0"/>
                <a:t> </a:t>
              </a:r>
              <a:r>
                <a:rPr lang="en-US" altLang="zh-TW" sz="900" dirty="0"/>
                <a:t>9</a:t>
              </a:r>
              <a:r>
                <a:rPr lang="zh-TW" altLang="en-US" sz="900" dirty="0"/>
                <a:t>  </a:t>
              </a:r>
              <a:r>
                <a:rPr lang="en-US" altLang="zh-TW" sz="900" dirty="0"/>
                <a:t>-</a:t>
              </a:r>
              <a:r>
                <a:rPr lang="zh-TW" altLang="en-US" sz="900" dirty="0"/>
                <a:t>  </a:t>
              </a:r>
              <a:r>
                <a:rPr lang="en-US" altLang="zh-TW" sz="900" dirty="0"/>
                <a:t>-</a:t>
              </a:r>
              <a:r>
                <a:rPr lang="zh-TW" altLang="en-US" sz="900" dirty="0"/>
                <a:t>  </a:t>
              </a:r>
              <a:r>
                <a:rPr lang="en-US" altLang="zh-TW" sz="900" dirty="0"/>
                <a:t>-</a:t>
              </a:r>
            </a:p>
            <a:p>
              <a:r>
                <a:rPr lang="en-US" altLang="zh-TW" sz="900" dirty="0"/>
                <a:t>8</a:t>
              </a:r>
              <a:r>
                <a:rPr lang="zh-TW" altLang="en-US" sz="900" dirty="0"/>
                <a:t> </a:t>
              </a:r>
              <a:r>
                <a:rPr lang="en-US" altLang="zh-TW" sz="900" dirty="0"/>
                <a:t>9</a:t>
              </a:r>
              <a:r>
                <a:rPr lang="zh-TW" altLang="en-US" sz="900" dirty="0"/>
                <a:t>  </a:t>
              </a:r>
              <a:r>
                <a:rPr lang="en-US" altLang="zh-TW" sz="900" dirty="0"/>
                <a:t>-</a:t>
              </a:r>
              <a:r>
                <a:rPr lang="zh-TW" altLang="en-US" sz="900" dirty="0"/>
                <a:t>  </a:t>
              </a:r>
              <a:r>
                <a:rPr lang="en-US" altLang="zh-TW" sz="900" dirty="0"/>
                <a:t>-</a:t>
              </a:r>
              <a:r>
                <a:rPr lang="zh-TW" altLang="en-US" sz="900" dirty="0"/>
                <a:t>  </a:t>
              </a:r>
              <a:r>
                <a:rPr lang="en-US" altLang="zh-TW" sz="900" dirty="0"/>
                <a:t>-</a:t>
              </a:r>
              <a:r>
                <a:rPr lang="zh-TW" altLang="en-US" sz="900" dirty="0"/>
                <a:t>  </a:t>
              </a:r>
              <a:r>
                <a:rPr lang="en-US" altLang="zh-TW" sz="900" dirty="0"/>
                <a:t>-</a:t>
              </a:r>
            </a:p>
            <a:p>
              <a:r>
                <a:rPr lang="en-US" altLang="zh-TW" sz="900" dirty="0"/>
                <a:t>9</a:t>
              </a:r>
              <a:r>
                <a:rPr lang="zh-TW" altLang="en-US" sz="900" dirty="0"/>
                <a:t>  </a:t>
              </a:r>
              <a:r>
                <a:rPr lang="en-US" altLang="zh-TW" sz="900" dirty="0"/>
                <a:t>-</a:t>
              </a:r>
              <a:r>
                <a:rPr lang="zh-TW" altLang="en-US" sz="900" dirty="0"/>
                <a:t>  </a:t>
              </a:r>
              <a:r>
                <a:rPr lang="en-US" altLang="zh-TW" sz="900" dirty="0"/>
                <a:t>-</a:t>
              </a:r>
              <a:r>
                <a:rPr lang="zh-TW" altLang="en-US" sz="900" dirty="0"/>
                <a:t>  </a:t>
              </a:r>
              <a:r>
                <a:rPr lang="en-US" altLang="zh-TW" sz="900" dirty="0"/>
                <a:t>-</a:t>
              </a:r>
              <a:r>
                <a:rPr lang="zh-TW" altLang="en-US" sz="900" dirty="0"/>
                <a:t>  </a:t>
              </a:r>
              <a:r>
                <a:rPr lang="en-US" altLang="zh-TW" sz="900" dirty="0"/>
                <a:t>-</a:t>
              </a:r>
              <a:r>
                <a:rPr lang="zh-TW" altLang="en-US" sz="900" dirty="0"/>
                <a:t>  </a:t>
              </a:r>
              <a:r>
                <a:rPr lang="en-US" altLang="zh-TW" sz="900" dirty="0"/>
                <a:t>-</a:t>
              </a:r>
              <a:endParaRPr lang="zh-TW" altLang="en-US" sz="900" dirty="0"/>
            </a:p>
          </p:txBody>
        </p:sp>
      </p:grpSp>
      <p:sp>
        <p:nvSpPr>
          <p:cNvPr id="33" name="上彎箭號 32"/>
          <p:cNvSpPr/>
          <p:nvPr/>
        </p:nvSpPr>
        <p:spPr>
          <a:xfrm flipH="1" flipV="1">
            <a:off x="2952592" y="3760814"/>
            <a:ext cx="1053485" cy="450674"/>
          </a:xfrm>
          <a:prstGeom prst="bentUpArrow">
            <a:avLst>
              <a:gd name="adj1" fmla="val 18454"/>
              <a:gd name="adj2" fmla="val 21133"/>
              <a:gd name="adj3" fmla="val 2708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Tree>
    <p:extLst>
      <p:ext uri="{BB962C8B-B14F-4D97-AF65-F5344CB8AC3E}">
        <p14:creationId xmlns:p14="http://schemas.microsoft.com/office/powerpoint/2010/main" val="78945306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8782" y="1025635"/>
            <a:ext cx="3406436" cy="4806731"/>
          </a:xfrm>
          <a:prstGeom prst="rect">
            <a:avLst/>
          </a:prstGeom>
        </p:spPr>
      </p:pic>
    </p:spTree>
    <p:extLst>
      <p:ext uri="{BB962C8B-B14F-4D97-AF65-F5344CB8AC3E}">
        <p14:creationId xmlns:p14="http://schemas.microsoft.com/office/powerpoint/2010/main" val="17635148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4147" y="1191384"/>
            <a:ext cx="6715707" cy="4475233"/>
          </a:xfrm>
          <a:prstGeom prst="rect">
            <a:avLst/>
          </a:prstGeom>
        </p:spPr>
      </p:pic>
    </p:spTree>
    <p:extLst>
      <p:ext uri="{BB962C8B-B14F-4D97-AF65-F5344CB8AC3E}">
        <p14:creationId xmlns:p14="http://schemas.microsoft.com/office/powerpoint/2010/main" val="257871196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4147" y="1191384"/>
            <a:ext cx="6715707" cy="4475233"/>
          </a:xfrm>
          <a:prstGeom prst="rect">
            <a:avLst/>
          </a:prstGeom>
        </p:spPr>
      </p:pic>
      <p:sp>
        <p:nvSpPr>
          <p:cNvPr id="3" name="矩形 2"/>
          <p:cNvSpPr/>
          <p:nvPr/>
        </p:nvSpPr>
        <p:spPr>
          <a:xfrm>
            <a:off x="3541735" y="2651604"/>
            <a:ext cx="272441" cy="328808"/>
          </a:xfrm>
          <a:prstGeom prst="rect">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7" name="矩形 16"/>
          <p:cNvSpPr/>
          <p:nvPr/>
        </p:nvSpPr>
        <p:spPr>
          <a:xfrm>
            <a:off x="6933156" y="5367093"/>
            <a:ext cx="435718" cy="484748"/>
          </a:xfrm>
          <a:prstGeom prst="rect">
            <a:avLst/>
          </a:prstGeom>
          <a:noFill/>
          <a:ln>
            <a:noFill/>
          </a:ln>
        </p:spPr>
        <p:txBody>
          <a:bodyPr wrap="square" lIns="68580" tIns="34290" rIns="68580" bIns="34290">
            <a:spAutoFit/>
          </a:bodyPr>
          <a:lstStyle/>
          <a:p>
            <a:pPr algn="ctr"/>
            <a:r>
              <a:rPr lang="en-US" altLang="zh-TW" sz="2700" dirty="0">
                <a:ln w="0"/>
                <a:solidFill>
                  <a:srgbClr val="00B0F0"/>
                </a:solidFill>
                <a:effectLst>
                  <a:outerShdw blurRad="38100" dist="19050" dir="2700000" algn="tl" rotWithShape="0">
                    <a:schemeClr val="dk1">
                      <a:alpha val="40000"/>
                    </a:schemeClr>
                  </a:outerShdw>
                </a:effectLst>
              </a:rPr>
              <a:t>4</a:t>
            </a:r>
            <a:endParaRPr lang="zh-TW" altLang="en-US" sz="2700" dirty="0">
              <a:ln w="0"/>
              <a:solidFill>
                <a:srgbClr val="00B0F0"/>
              </a:solidFill>
              <a:effectLst>
                <a:outerShdw blurRad="38100" dist="19050" dir="2700000" algn="tl" rotWithShape="0">
                  <a:schemeClr val="dk1">
                    <a:alpha val="40000"/>
                  </a:schemeClr>
                </a:outerShdw>
              </a:effectLst>
            </a:endParaRPr>
          </a:p>
        </p:txBody>
      </p:sp>
      <p:cxnSp>
        <p:nvCxnSpPr>
          <p:cNvPr id="24" name="直線接點 23"/>
          <p:cNvCxnSpPr/>
          <p:nvPr/>
        </p:nvCxnSpPr>
        <p:spPr>
          <a:xfrm>
            <a:off x="3710836" y="3948048"/>
            <a:ext cx="1080370" cy="89248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5" name="直線接點 24"/>
          <p:cNvCxnSpPr/>
          <p:nvPr/>
        </p:nvCxnSpPr>
        <p:spPr>
          <a:xfrm>
            <a:off x="5280159" y="4840527"/>
            <a:ext cx="469288" cy="472462"/>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8" name="直線接點 27"/>
          <p:cNvCxnSpPr/>
          <p:nvPr/>
        </p:nvCxnSpPr>
        <p:spPr>
          <a:xfrm>
            <a:off x="3677954" y="3515900"/>
            <a:ext cx="0" cy="432148"/>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0" name="直線接點 29"/>
          <p:cNvCxnSpPr/>
          <p:nvPr/>
        </p:nvCxnSpPr>
        <p:spPr>
          <a:xfrm>
            <a:off x="4791205" y="4840527"/>
            <a:ext cx="488954"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1" name="直線接點 30"/>
          <p:cNvCxnSpPr/>
          <p:nvPr/>
        </p:nvCxnSpPr>
        <p:spPr>
          <a:xfrm>
            <a:off x="5749447" y="5312989"/>
            <a:ext cx="807929"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6565423" y="5057968"/>
            <a:ext cx="461240" cy="505937"/>
          </a:xfrm>
          <a:prstGeom prst="rect">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Tree>
    <p:extLst>
      <p:ext uri="{BB962C8B-B14F-4D97-AF65-F5344CB8AC3E}">
        <p14:creationId xmlns:p14="http://schemas.microsoft.com/office/powerpoint/2010/main" val="29092701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4147" y="1191384"/>
            <a:ext cx="6715707" cy="4475233"/>
          </a:xfrm>
          <a:prstGeom prst="rect">
            <a:avLst/>
          </a:prstGeom>
        </p:spPr>
      </p:pic>
      <p:sp>
        <p:nvSpPr>
          <p:cNvPr id="7" name="矩形 6"/>
          <p:cNvSpPr/>
          <p:nvPr/>
        </p:nvSpPr>
        <p:spPr>
          <a:xfrm>
            <a:off x="5523979" y="2660998"/>
            <a:ext cx="272441" cy="328808"/>
          </a:xfrm>
          <a:prstGeom prst="rect">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7" name="矩形 16"/>
          <p:cNvSpPr/>
          <p:nvPr/>
        </p:nvSpPr>
        <p:spPr>
          <a:xfrm>
            <a:off x="6933156" y="5367093"/>
            <a:ext cx="435718" cy="484748"/>
          </a:xfrm>
          <a:prstGeom prst="rect">
            <a:avLst/>
          </a:prstGeom>
          <a:noFill/>
          <a:ln>
            <a:noFill/>
          </a:ln>
        </p:spPr>
        <p:txBody>
          <a:bodyPr wrap="square" lIns="68580" tIns="34290" rIns="68580" bIns="34290">
            <a:spAutoFit/>
          </a:bodyPr>
          <a:lstStyle/>
          <a:p>
            <a:pPr algn="ctr"/>
            <a:r>
              <a:rPr lang="en-US" altLang="zh-TW" sz="2700" dirty="0">
                <a:ln w="0"/>
                <a:solidFill>
                  <a:srgbClr val="00B0F0"/>
                </a:solidFill>
                <a:effectLst>
                  <a:outerShdw blurRad="38100" dist="19050" dir="2700000" algn="tl" rotWithShape="0">
                    <a:schemeClr val="dk1">
                      <a:alpha val="40000"/>
                    </a:schemeClr>
                  </a:outerShdw>
                </a:effectLst>
              </a:rPr>
              <a:t>6</a:t>
            </a:r>
          </a:p>
        </p:txBody>
      </p:sp>
      <p:cxnSp>
        <p:nvCxnSpPr>
          <p:cNvPr id="18" name="直線接點 17"/>
          <p:cNvCxnSpPr/>
          <p:nvPr/>
        </p:nvCxnSpPr>
        <p:spPr>
          <a:xfrm>
            <a:off x="5796420" y="3497111"/>
            <a:ext cx="469288" cy="472462"/>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直線接點 18"/>
          <p:cNvCxnSpPr/>
          <p:nvPr/>
        </p:nvCxnSpPr>
        <p:spPr>
          <a:xfrm>
            <a:off x="6246481" y="4840999"/>
            <a:ext cx="348473" cy="300152"/>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2" name="直線接點 21"/>
          <p:cNvCxnSpPr/>
          <p:nvPr/>
        </p:nvCxnSpPr>
        <p:spPr>
          <a:xfrm>
            <a:off x="6246480" y="3969573"/>
            <a:ext cx="0" cy="871427"/>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6565423" y="5057968"/>
            <a:ext cx="461240" cy="505937"/>
          </a:xfrm>
          <a:prstGeom prst="rect">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Tree>
    <p:extLst>
      <p:ext uri="{BB962C8B-B14F-4D97-AF65-F5344CB8AC3E}">
        <p14:creationId xmlns:p14="http://schemas.microsoft.com/office/powerpoint/2010/main" val="34823945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965" y="1444405"/>
            <a:ext cx="8366056" cy="3986558"/>
          </a:xfrm>
          <a:prstGeom prst="rect">
            <a:avLst/>
          </a:prstGeom>
        </p:spPr>
      </p:pic>
    </p:spTree>
    <p:extLst>
      <p:ext uri="{BB962C8B-B14F-4D97-AF65-F5344CB8AC3E}">
        <p14:creationId xmlns:p14="http://schemas.microsoft.com/office/powerpoint/2010/main" val="34513828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965" y="1444405"/>
            <a:ext cx="8366056" cy="3986558"/>
          </a:xfrm>
          <a:prstGeom prst="rect">
            <a:avLst/>
          </a:prstGeom>
        </p:spPr>
      </p:pic>
      <p:cxnSp>
        <p:nvCxnSpPr>
          <p:cNvPr id="6" name="直線接點 5"/>
          <p:cNvCxnSpPr/>
          <p:nvPr/>
        </p:nvCxnSpPr>
        <p:spPr>
          <a:xfrm>
            <a:off x="7163322" y="3107238"/>
            <a:ext cx="9395" cy="939452"/>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 name="直線接點 7"/>
          <p:cNvCxnSpPr/>
          <p:nvPr/>
        </p:nvCxnSpPr>
        <p:spPr>
          <a:xfrm>
            <a:off x="6735871" y="2660998"/>
            <a:ext cx="427451" cy="44624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 name="直線接點 9"/>
          <p:cNvCxnSpPr/>
          <p:nvPr/>
        </p:nvCxnSpPr>
        <p:spPr>
          <a:xfrm>
            <a:off x="6275540" y="2660998"/>
            <a:ext cx="460332"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 name="直線接點 6"/>
          <p:cNvCxnSpPr/>
          <p:nvPr/>
        </p:nvCxnSpPr>
        <p:spPr>
          <a:xfrm>
            <a:off x="7163323" y="4015375"/>
            <a:ext cx="439976" cy="458767"/>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053613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965" y="1444405"/>
            <a:ext cx="8366056" cy="3986558"/>
          </a:xfrm>
          <a:prstGeom prst="rect">
            <a:avLst/>
          </a:prstGeom>
        </p:spPr>
      </p:pic>
      <p:cxnSp>
        <p:nvCxnSpPr>
          <p:cNvPr id="6" name="直線接點 5"/>
          <p:cNvCxnSpPr/>
          <p:nvPr/>
        </p:nvCxnSpPr>
        <p:spPr>
          <a:xfrm>
            <a:off x="8074590" y="3534690"/>
            <a:ext cx="9395" cy="939452"/>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 name="直線接點 7"/>
          <p:cNvCxnSpPr/>
          <p:nvPr/>
        </p:nvCxnSpPr>
        <p:spPr>
          <a:xfrm>
            <a:off x="6735871" y="2660998"/>
            <a:ext cx="427451" cy="44624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 name="直線接點 9"/>
          <p:cNvCxnSpPr/>
          <p:nvPr/>
        </p:nvCxnSpPr>
        <p:spPr>
          <a:xfrm>
            <a:off x="6275540" y="2660998"/>
            <a:ext cx="460332"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 name="直線接點 6"/>
          <p:cNvCxnSpPr/>
          <p:nvPr/>
        </p:nvCxnSpPr>
        <p:spPr>
          <a:xfrm>
            <a:off x="7634614" y="3107238"/>
            <a:ext cx="439976" cy="458767"/>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 name="直線接點 8"/>
          <p:cNvCxnSpPr/>
          <p:nvPr/>
        </p:nvCxnSpPr>
        <p:spPr>
          <a:xfrm>
            <a:off x="7174282" y="3107237"/>
            <a:ext cx="460332"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085395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965" y="1444405"/>
            <a:ext cx="8366056" cy="3986558"/>
          </a:xfrm>
          <a:prstGeom prst="rect">
            <a:avLst/>
          </a:prstGeom>
        </p:spPr>
      </p:pic>
      <p:cxnSp>
        <p:nvCxnSpPr>
          <p:cNvPr id="6" name="直線接點 5"/>
          <p:cNvCxnSpPr/>
          <p:nvPr/>
        </p:nvCxnSpPr>
        <p:spPr>
          <a:xfrm>
            <a:off x="8074591" y="3534689"/>
            <a:ext cx="21920" cy="493212"/>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 name="直線接點 7"/>
          <p:cNvCxnSpPr/>
          <p:nvPr/>
        </p:nvCxnSpPr>
        <p:spPr>
          <a:xfrm>
            <a:off x="8096510" y="4027902"/>
            <a:ext cx="427451" cy="44624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 name="直線接點 6"/>
          <p:cNvCxnSpPr/>
          <p:nvPr/>
        </p:nvCxnSpPr>
        <p:spPr>
          <a:xfrm>
            <a:off x="7634614" y="3107238"/>
            <a:ext cx="439976" cy="458767"/>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 name="直線接點 8"/>
          <p:cNvCxnSpPr/>
          <p:nvPr/>
        </p:nvCxnSpPr>
        <p:spPr>
          <a:xfrm>
            <a:off x="6341301" y="3107237"/>
            <a:ext cx="1293313" cy="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 name="直線接點 10"/>
          <p:cNvCxnSpPr/>
          <p:nvPr/>
        </p:nvCxnSpPr>
        <p:spPr>
          <a:xfrm>
            <a:off x="6297461" y="2614025"/>
            <a:ext cx="21920" cy="493212"/>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sp>
        <p:nvSpPr>
          <p:cNvPr id="3" name="橢圓 2"/>
          <p:cNvSpPr/>
          <p:nvPr/>
        </p:nvSpPr>
        <p:spPr>
          <a:xfrm>
            <a:off x="2377669" y="3160473"/>
            <a:ext cx="328808" cy="352295"/>
          </a:xfrm>
          <a:prstGeom prst="ellipse">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Tree>
    <p:extLst>
      <p:ext uri="{BB962C8B-B14F-4D97-AF65-F5344CB8AC3E}">
        <p14:creationId xmlns:p14="http://schemas.microsoft.com/office/powerpoint/2010/main" val="148969270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4147" y="1191384"/>
            <a:ext cx="6715707" cy="4475233"/>
          </a:xfrm>
          <a:prstGeom prst="rect">
            <a:avLst/>
          </a:prstGeom>
        </p:spPr>
      </p:pic>
      <p:sp>
        <p:nvSpPr>
          <p:cNvPr id="3" name="橢圓 2"/>
          <p:cNvSpPr/>
          <p:nvPr/>
        </p:nvSpPr>
        <p:spPr>
          <a:xfrm>
            <a:off x="5392456" y="2219456"/>
            <a:ext cx="460331" cy="920663"/>
          </a:xfrm>
          <a:prstGeom prst="ellipse">
            <a:avLst/>
          </a:prstGeom>
          <a:no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5" name="橢圓 4"/>
          <p:cNvSpPr/>
          <p:nvPr/>
        </p:nvSpPr>
        <p:spPr>
          <a:xfrm>
            <a:off x="5929509" y="2219456"/>
            <a:ext cx="460331" cy="920663"/>
          </a:xfrm>
          <a:prstGeom prst="ellipse">
            <a:avLst/>
          </a:prstGeom>
          <a:no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pic>
        <p:nvPicPr>
          <p:cNvPr id="6" name="圖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54094" y="1774047"/>
            <a:ext cx="537053" cy="379647"/>
          </a:xfrm>
          <a:prstGeom prst="rect">
            <a:avLst/>
          </a:prstGeom>
        </p:spPr>
      </p:pic>
    </p:spTree>
    <p:extLst>
      <p:ext uri="{BB962C8B-B14F-4D97-AF65-F5344CB8AC3E}">
        <p14:creationId xmlns:p14="http://schemas.microsoft.com/office/powerpoint/2010/main" val="343608917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2847" y="1125656"/>
            <a:ext cx="5498306" cy="4606689"/>
          </a:xfrm>
          <a:prstGeom prst="rect">
            <a:avLst/>
          </a:prstGeom>
        </p:spPr>
      </p:pic>
      <p:sp>
        <p:nvSpPr>
          <p:cNvPr id="4" name="橢圓 3"/>
          <p:cNvSpPr/>
          <p:nvPr/>
        </p:nvSpPr>
        <p:spPr>
          <a:xfrm>
            <a:off x="5458218" y="1392738"/>
            <a:ext cx="2057399" cy="920662"/>
          </a:xfrm>
          <a:prstGeom prst="ellipse">
            <a:avLst/>
          </a:prstGeom>
          <a:no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8" name="圓角矩形 7"/>
          <p:cNvSpPr/>
          <p:nvPr/>
        </p:nvSpPr>
        <p:spPr>
          <a:xfrm>
            <a:off x="1822846" y="1127673"/>
            <a:ext cx="3250505" cy="1063598"/>
          </a:xfrm>
          <a:prstGeom prst="roundRect">
            <a:avLst/>
          </a:prstGeom>
          <a:no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cxnSp>
        <p:nvCxnSpPr>
          <p:cNvPr id="6" name="直線單箭頭接點 5"/>
          <p:cNvCxnSpPr/>
          <p:nvPr/>
        </p:nvCxnSpPr>
        <p:spPr>
          <a:xfrm>
            <a:off x="4960463" y="1599418"/>
            <a:ext cx="732927" cy="12011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451380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2847" y="1125656"/>
            <a:ext cx="5498306" cy="4606689"/>
          </a:xfrm>
          <a:prstGeom prst="rect">
            <a:avLst/>
          </a:prstGeom>
        </p:spPr>
      </p:pic>
      <p:sp>
        <p:nvSpPr>
          <p:cNvPr id="4" name="橢圓 3"/>
          <p:cNvSpPr/>
          <p:nvPr/>
        </p:nvSpPr>
        <p:spPr>
          <a:xfrm>
            <a:off x="5458218" y="1392738"/>
            <a:ext cx="2057399" cy="920662"/>
          </a:xfrm>
          <a:prstGeom prst="ellipse">
            <a:avLst/>
          </a:prstGeom>
          <a:no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5" name="圓角矩形 4"/>
          <p:cNvSpPr/>
          <p:nvPr/>
        </p:nvSpPr>
        <p:spPr>
          <a:xfrm>
            <a:off x="2602283" y="2022170"/>
            <a:ext cx="2705621" cy="2001033"/>
          </a:xfrm>
          <a:prstGeom prst="roundRect">
            <a:avLst/>
          </a:prstGeom>
          <a:no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cxnSp>
        <p:nvCxnSpPr>
          <p:cNvPr id="8" name="直線單箭頭接點 7"/>
          <p:cNvCxnSpPr/>
          <p:nvPr/>
        </p:nvCxnSpPr>
        <p:spPr>
          <a:xfrm flipH="1">
            <a:off x="5185776" y="2022170"/>
            <a:ext cx="450937" cy="469727"/>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499192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2847" y="1125656"/>
            <a:ext cx="5498306" cy="4606689"/>
          </a:xfrm>
          <a:prstGeom prst="rect">
            <a:avLst/>
          </a:prstGeom>
        </p:spPr>
      </p:pic>
      <p:sp>
        <p:nvSpPr>
          <p:cNvPr id="5" name="圓角矩形 4"/>
          <p:cNvSpPr/>
          <p:nvPr/>
        </p:nvSpPr>
        <p:spPr>
          <a:xfrm>
            <a:off x="2602283" y="2022170"/>
            <a:ext cx="2705621" cy="2001033"/>
          </a:xfrm>
          <a:prstGeom prst="roundRect">
            <a:avLst/>
          </a:prstGeom>
          <a:no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3" name="圓角矩形 2"/>
          <p:cNvSpPr/>
          <p:nvPr/>
        </p:nvSpPr>
        <p:spPr>
          <a:xfrm>
            <a:off x="3898726" y="4023204"/>
            <a:ext cx="3598102" cy="1709141"/>
          </a:xfrm>
          <a:prstGeom prst="roundRect">
            <a:avLst/>
          </a:prstGeom>
          <a:no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cxnSp>
        <p:nvCxnSpPr>
          <p:cNvPr id="10" name="直線單箭頭接點 9"/>
          <p:cNvCxnSpPr/>
          <p:nvPr/>
        </p:nvCxnSpPr>
        <p:spPr>
          <a:xfrm>
            <a:off x="3288082" y="4004085"/>
            <a:ext cx="667011" cy="58246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512774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p:cNvSpPr/>
              <p:nvPr/>
            </p:nvSpPr>
            <p:spPr>
              <a:xfrm>
                <a:off x="1258477" y="2237245"/>
                <a:ext cx="6749925" cy="2133918"/>
              </a:xfrm>
              <a:prstGeom prst="rect">
                <a:avLst/>
              </a:prstGeom>
              <a:noFill/>
            </p:spPr>
            <p:txBody>
              <a:bodyPr wrap="none" lIns="68580" tIns="34290" rIns="68580" bIns="34290">
                <a:spAutoFit/>
              </a:bodyPr>
              <a:lstStyle/>
              <a:p>
                <a:r>
                  <a:rPr lang="en-US" altLang="zh-TW" sz="3600" dirty="0">
                    <a:ln w="0"/>
                    <a:effectLst>
                      <a:outerShdw blurRad="38100" dist="19050" dir="2700000" algn="tl" rotWithShape="0">
                        <a:schemeClr val="dk1">
                          <a:alpha val="40000"/>
                        </a:schemeClr>
                      </a:outerShdw>
                    </a:effectLst>
                    <a:latin typeface="Bradley Hand ITC" panose="03070402050302030203" pitchFamily="66" charset="0"/>
                  </a:rPr>
                  <a:t>De</a:t>
                </a:r>
                <a:r>
                  <a:rPr lang="en-US" altLang="zh-TW" sz="3600" dirty="0">
                    <a:ln w="0"/>
                    <a:effectLst>
                      <a:outerShdw blurRad="38100" dist="19050" dir="2700000" algn="tl" rotWithShape="0">
                        <a:schemeClr val="dk1">
                          <a:alpha val="40000"/>
                        </a:schemeClr>
                      </a:outerShdw>
                    </a:effectLst>
                    <a:latin typeface="Bradley Hand ITC" panose="03070402050302030203" pitchFamily="66" charset="0"/>
                  </a:rPr>
                  <a:t>f:</a:t>
                </a:r>
              </a:p>
              <a:p>
                <a:r>
                  <a:rPr lang="en-US" altLang="zh-TW" sz="3000" dirty="0">
                    <a:ln w="0"/>
                    <a:effectLst>
                      <a:outerShdw blurRad="38100" dist="19050" dir="2700000" algn="tl" rotWithShape="0">
                        <a:schemeClr val="dk1">
                          <a:alpha val="40000"/>
                        </a:schemeClr>
                      </a:outerShdw>
                    </a:effectLst>
                  </a:rPr>
                  <a:t>	</a:t>
                </a:r>
                <a:r>
                  <a:rPr lang="en-US" altLang="zh-TW" sz="3000" dirty="0">
                    <a:ln w="0"/>
                    <a:effectLst>
                      <a:outerShdw blurRad="38100" dist="19050" dir="2700000" algn="tl" rotWithShape="0">
                        <a:schemeClr val="dk1">
                          <a:alpha val="40000"/>
                        </a:schemeClr>
                      </a:outerShdw>
                    </a:effectLst>
                    <a:latin typeface="Centaur" panose="02030504050205020304" pitchFamily="18" charset="0"/>
                  </a:rPr>
                  <a:t>M[ ][ ] is </a:t>
                </a:r>
                <a:r>
                  <a:rPr lang="en-US" altLang="zh-TW" sz="3000" dirty="0">
                    <a:ln w="0"/>
                    <a:solidFill>
                      <a:srgbClr val="00B0F0"/>
                    </a:solidFill>
                    <a:effectLst>
                      <a:outerShdw blurRad="38100" dist="19050" dir="2700000" algn="tl" rotWithShape="0">
                        <a:schemeClr val="dk1">
                          <a:alpha val="40000"/>
                        </a:schemeClr>
                      </a:outerShdw>
                    </a:effectLst>
                    <a:latin typeface="Centaur" panose="02030504050205020304" pitchFamily="18" charset="0"/>
                  </a:rPr>
                  <a:t>Totally </a:t>
                </a:r>
                <a:r>
                  <a:rPr lang="en-US" altLang="zh-TW" sz="3000" dirty="0">
                    <a:ln w="0"/>
                    <a:solidFill>
                      <a:srgbClr val="00B0F0"/>
                    </a:solidFill>
                    <a:effectLst>
                      <a:outerShdw blurRad="38100" dist="19050" dir="2700000" algn="tl" rotWithShape="0">
                        <a:schemeClr val="dk1">
                          <a:alpha val="40000"/>
                        </a:schemeClr>
                      </a:outerShdw>
                    </a:effectLst>
                    <a:latin typeface="Centaur" panose="02030504050205020304" pitchFamily="18" charset="0"/>
                  </a:rPr>
                  <a:t>C</a:t>
                </a:r>
                <a:r>
                  <a:rPr lang="en-US" altLang="zh-TW" sz="3000" dirty="0">
                    <a:ln w="0"/>
                    <a:solidFill>
                      <a:srgbClr val="00B0F0"/>
                    </a:solidFill>
                    <a:effectLst>
                      <a:outerShdw blurRad="38100" dist="19050" dir="2700000" algn="tl" rotWithShape="0">
                        <a:schemeClr val="dk1">
                          <a:alpha val="40000"/>
                        </a:schemeClr>
                      </a:outerShdw>
                    </a:effectLst>
                    <a:latin typeface="Centaur" panose="02030504050205020304" pitchFamily="18" charset="0"/>
                  </a:rPr>
                  <a:t>onvex Monotone</a:t>
                </a:r>
                <a:r>
                  <a:rPr lang="en-US" altLang="zh-TW" sz="3000" dirty="0">
                    <a:ln w="0"/>
                    <a:effectLst>
                      <a:outerShdw blurRad="38100" dist="19050" dir="2700000" algn="tl" rotWithShape="0">
                        <a:schemeClr val="dk1">
                          <a:alpha val="40000"/>
                        </a:schemeClr>
                      </a:outerShdw>
                    </a:effectLst>
                    <a:latin typeface="Centaur" panose="02030504050205020304" pitchFamily="18" charset="0"/>
                  </a:rPr>
                  <a:t> if</a:t>
                </a:r>
              </a:p>
              <a:p>
                <a:r>
                  <a:rPr lang="en-US" altLang="zh-TW" sz="3000" dirty="0">
                    <a:ln w="0"/>
                    <a:effectLst>
                      <a:outerShdw blurRad="38100" dist="19050" dir="2700000" algn="tl" rotWithShape="0">
                        <a:schemeClr val="dk1">
                          <a:alpha val="40000"/>
                        </a:schemeClr>
                      </a:outerShdw>
                    </a:effectLst>
                    <a:latin typeface="Centaur" panose="02030504050205020304" pitchFamily="18" charset="0"/>
                  </a:rPr>
                  <a:t>	</a:t>
                </a:r>
                <a:r>
                  <a:rPr lang="en-US" altLang="zh-TW" sz="3000" dirty="0">
                    <a:ln w="0"/>
                    <a:effectLst>
                      <a:outerShdw blurRad="38100" dist="19050" dir="2700000" algn="tl" rotWithShape="0">
                        <a:schemeClr val="dk1">
                          <a:alpha val="40000"/>
                        </a:schemeClr>
                      </a:outerShdw>
                    </a:effectLst>
                    <a:latin typeface="Centaur" panose="02030504050205020304" pitchFamily="18" charset="0"/>
                  </a:rPr>
                  <a:t>M[a, c] ≥ M[b, c] </a:t>
                </a:r>
                <a14:m>
                  <m:oMath xmlns:m="http://schemas.openxmlformats.org/officeDocument/2006/math">
                    <m:groupChr>
                      <m:groupChrPr>
                        <m:chr m:val="⇒"/>
                        <m:pos m:val="top"/>
                        <m:ctrlPr>
                          <a:rPr lang="en-US" altLang="zh-TW" sz="3000" i="1">
                            <a:ln w="0"/>
                            <a:effectLst>
                              <a:outerShdw blurRad="38100" dist="19050" dir="2700000" algn="tl" rotWithShape="0">
                                <a:schemeClr val="dk1">
                                  <a:alpha val="40000"/>
                                </a:schemeClr>
                              </a:outerShdw>
                            </a:effectLst>
                            <a:latin typeface="Cambria Math" panose="02040503050406030204" pitchFamily="18" charset="0"/>
                          </a:rPr>
                        </m:ctrlPr>
                      </m:groupChrPr>
                      <m:e>
                        <m:r>
                          <m:rPr>
                            <m:brk m:alnAt="1"/>
                          </m:rPr>
                          <a:rPr lang="en-US" altLang="zh-TW" sz="3000" i="1">
                            <a:ln w="0"/>
                            <a:effectLst>
                              <a:outerShdw blurRad="38100" dist="19050" dir="2700000" algn="tl" rotWithShape="0">
                                <a:schemeClr val="dk1">
                                  <a:alpha val="40000"/>
                                </a:schemeClr>
                              </a:outerShdw>
                            </a:effectLst>
                            <a:latin typeface="Cambria Math" panose="02040503050406030204" pitchFamily="18" charset="0"/>
                          </a:rPr>
                          <m:t> </m:t>
                        </m:r>
                      </m:e>
                    </m:groupChr>
                  </m:oMath>
                </a14:m>
                <a:r>
                  <a:rPr lang="en-US" altLang="zh-TW" sz="3000" dirty="0">
                    <a:ln w="0"/>
                    <a:effectLst>
                      <a:outerShdw blurRad="38100" dist="19050" dir="2700000" algn="tl" rotWithShape="0">
                        <a:schemeClr val="dk1">
                          <a:alpha val="40000"/>
                        </a:schemeClr>
                      </a:outerShdw>
                    </a:effectLst>
                    <a:latin typeface="Centaur" panose="02030504050205020304" pitchFamily="18" charset="0"/>
                  </a:rPr>
                  <a:t> M[a, d] ≥ M[b, d]</a:t>
                </a:r>
              </a:p>
              <a:p>
                <a:r>
                  <a:rPr lang="en-US" altLang="zh-TW" sz="3000" dirty="0">
                    <a:ln w="0"/>
                    <a:effectLst>
                      <a:outerShdw blurRad="38100" dist="19050" dir="2700000" algn="tl" rotWithShape="0">
                        <a:schemeClr val="dk1">
                          <a:alpha val="40000"/>
                        </a:schemeClr>
                      </a:outerShdw>
                    </a:effectLst>
                    <a:latin typeface="Centaur" panose="02030504050205020304" pitchFamily="18" charset="0"/>
                    <a:ea typeface="Cambria Math" panose="02040503050406030204" pitchFamily="18" charset="0"/>
                  </a:rPr>
                  <a:t>	</a:t>
                </a:r>
                <a14:m>
                  <m:oMath xmlns:m="http://schemas.openxmlformats.org/officeDocument/2006/math">
                    <m:r>
                      <a:rPr lang="en-US" altLang="zh-TW" sz="3000" i="1">
                        <a:ln w="0"/>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rPr>
                      <m:t>∀</m:t>
                    </m:r>
                  </m:oMath>
                </a14:m>
                <a:r>
                  <a:rPr lang="en-US" altLang="zh-TW" sz="3000" dirty="0">
                    <a:ln w="0"/>
                    <a:effectLst>
                      <a:outerShdw blurRad="38100" dist="19050" dir="2700000" algn="tl" rotWithShape="0">
                        <a:schemeClr val="dk1">
                          <a:alpha val="40000"/>
                        </a:schemeClr>
                      </a:outerShdw>
                    </a:effectLst>
                    <a:latin typeface="Centaur" panose="02030504050205020304" pitchFamily="18" charset="0"/>
                  </a:rPr>
                  <a:t> a &lt; b, c &lt; d.</a:t>
                </a:r>
                <a:endParaRPr lang="zh-TW" altLang="en-US" sz="3000" dirty="0">
                  <a:ln w="0"/>
                  <a:effectLst>
                    <a:outerShdw blurRad="38100" dist="19050" dir="2700000" algn="tl" rotWithShape="0">
                      <a:schemeClr val="dk1">
                        <a:alpha val="40000"/>
                      </a:schemeClr>
                    </a:outerShdw>
                  </a:effectLst>
                  <a:latin typeface="Centaur" panose="02030504050205020304" pitchFamily="18" charset="0"/>
                </a:endParaRPr>
              </a:p>
            </p:txBody>
          </p:sp>
        </mc:Choice>
        <mc:Fallback xmlns="">
          <p:sp>
            <p:nvSpPr>
              <p:cNvPr id="2" name="矩形 1"/>
              <p:cNvSpPr>
                <a:spLocks noRot="1" noChangeAspect="1" noMove="1" noResize="1" noEditPoints="1" noAdjustHandles="1" noChangeArrowheads="1" noChangeShapeType="1" noTextEdit="1"/>
              </p:cNvSpPr>
              <p:nvPr/>
            </p:nvSpPr>
            <p:spPr>
              <a:xfrm>
                <a:off x="1677968" y="1839993"/>
                <a:ext cx="8670835" cy="2845266"/>
              </a:xfrm>
              <a:prstGeom prst="rect">
                <a:avLst/>
              </a:prstGeom>
              <a:blipFill rotWithShape="0">
                <a:blip r:embed="rId2"/>
                <a:stretch>
                  <a:fillRect l="-3373" t="-5567" r="-1897" b="-942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96399046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5046" y="2304006"/>
            <a:ext cx="3703475" cy="1946015"/>
          </a:xfrm>
          <a:prstGeom prst="rect">
            <a:avLst/>
          </a:prstGeom>
        </p:spPr>
      </p:pic>
      <p:pic>
        <p:nvPicPr>
          <p:cNvPr id="7" name="圖片 6"/>
          <p:cNvPicPr>
            <a:picLocks noChangeAspect="1"/>
          </p:cNvPicPr>
          <p:nvPr/>
        </p:nvPicPr>
        <p:blipFill>
          <a:blip r:embed="rId3"/>
          <a:stretch>
            <a:fillRect/>
          </a:stretch>
        </p:blipFill>
        <p:spPr>
          <a:xfrm>
            <a:off x="4598209" y="2304006"/>
            <a:ext cx="3709679" cy="1946015"/>
          </a:xfrm>
          <a:prstGeom prst="rect">
            <a:avLst/>
          </a:prstGeom>
        </p:spPr>
      </p:pic>
      <p:sp>
        <p:nvSpPr>
          <p:cNvPr id="11" name="矩形 10"/>
          <p:cNvSpPr/>
          <p:nvPr/>
        </p:nvSpPr>
        <p:spPr>
          <a:xfrm>
            <a:off x="4049275" y="2930765"/>
            <a:ext cx="608180" cy="692497"/>
          </a:xfrm>
          <a:prstGeom prst="rect">
            <a:avLst/>
          </a:prstGeom>
          <a:noFill/>
        </p:spPr>
        <p:txBody>
          <a:bodyPr wrap="none" lIns="68580" tIns="34290" rIns="68580" bIns="34290">
            <a:spAutoFit/>
          </a:bodyPr>
          <a:lstStyle/>
          <a:p>
            <a:pPr algn="ctr"/>
            <a:r>
              <a:rPr lang="zh-TW" altLang="en-US" sz="4050" dirty="0">
                <a:ln w="0"/>
                <a:solidFill>
                  <a:srgbClr val="00B0F0"/>
                </a:solidFill>
                <a:effectLst>
                  <a:outerShdw blurRad="38100" dist="19050" dir="2700000" algn="tl" rotWithShape="0">
                    <a:schemeClr val="dk1">
                      <a:alpha val="40000"/>
                    </a:schemeClr>
                  </a:outerShdw>
                </a:effectLst>
              </a:rPr>
              <a:t>→</a:t>
            </a:r>
            <a:endParaRPr lang="zh-TW" altLang="en-US" sz="4050" dirty="0">
              <a:ln w="0"/>
              <a:solidFill>
                <a:srgbClr val="00B0F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62857415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圖片 19"/>
          <p:cNvPicPr>
            <a:picLocks noChangeAspect="1"/>
          </p:cNvPicPr>
          <p:nvPr/>
        </p:nvPicPr>
        <p:blipFill>
          <a:blip r:embed="rId2"/>
          <a:stretch>
            <a:fillRect/>
          </a:stretch>
        </p:blipFill>
        <p:spPr>
          <a:xfrm>
            <a:off x="3949393" y="2050355"/>
            <a:ext cx="4963007" cy="2603482"/>
          </a:xfrm>
          <a:prstGeom prst="rect">
            <a:avLst/>
          </a:prstGeom>
        </p:spPr>
      </p:pic>
      <p:sp>
        <p:nvSpPr>
          <p:cNvPr id="21" name="矩形 20"/>
          <p:cNvSpPr/>
          <p:nvPr/>
        </p:nvSpPr>
        <p:spPr>
          <a:xfrm>
            <a:off x="-667549" y="1918831"/>
            <a:ext cx="4466608" cy="1315745"/>
          </a:xfrm>
          <a:prstGeom prst="rect">
            <a:avLst/>
          </a:prstGeom>
          <a:noFill/>
        </p:spPr>
        <p:txBody>
          <a:bodyPr wrap="none" lIns="68580" tIns="34290" rIns="68580" bIns="34290">
            <a:spAutoFit/>
          </a:bodyPr>
          <a:lstStyle/>
          <a:p>
            <a:pPr algn="ctr"/>
            <a:r>
              <a:rPr lang="en-US" altLang="zh-TW" sz="4050" dirty="0">
                <a:ln w="0"/>
                <a:effectLst>
                  <a:outerShdw blurRad="38100" dist="19050" dir="2700000" algn="tl" rotWithShape="0">
                    <a:schemeClr val="dk1">
                      <a:alpha val="40000"/>
                    </a:schemeClr>
                  </a:outerShdw>
                </a:effectLst>
              </a:rPr>
              <a:t>if </a:t>
            </a:r>
            <a:r>
              <a:rPr lang="en-US" altLang="zh-TW" sz="4050" dirty="0">
                <a:ln w="0"/>
                <a:solidFill>
                  <a:srgbClr val="FF0000"/>
                </a:solidFill>
                <a:effectLst>
                  <a:outerShdw blurRad="38100" dist="19050" dir="2700000" algn="tl" rotWithShape="0">
                    <a:schemeClr val="dk1">
                      <a:alpha val="40000"/>
                    </a:schemeClr>
                  </a:outerShdw>
                </a:effectLst>
              </a:rPr>
              <a:t>○</a:t>
            </a:r>
            <a:r>
              <a:rPr lang="en-US" altLang="zh-TW" sz="4050" dirty="0">
                <a:ln w="0"/>
                <a:effectLst>
                  <a:outerShdw blurRad="38100" dist="19050" dir="2700000" algn="tl" rotWithShape="0">
                    <a:schemeClr val="dk1">
                      <a:alpha val="40000"/>
                    </a:schemeClr>
                  </a:outerShdw>
                </a:effectLst>
              </a:rPr>
              <a:t> ≥ </a:t>
            </a:r>
            <a:r>
              <a:rPr lang="en-US" altLang="zh-TW" sz="4050" dirty="0">
                <a:ln w="0"/>
                <a:solidFill>
                  <a:srgbClr val="FF0000"/>
                </a:solidFill>
                <a:effectLst>
                  <a:outerShdw blurRad="38100" dist="19050" dir="2700000" algn="tl" rotWithShape="0">
                    <a:schemeClr val="dk1">
                      <a:alpha val="40000"/>
                    </a:schemeClr>
                  </a:outerShdw>
                </a:effectLst>
                <a:latin typeface="+mj-lt"/>
              </a:rPr>
              <a:t>*</a:t>
            </a:r>
            <a:r>
              <a:rPr lang="en-US" altLang="zh-TW" sz="4050" dirty="0">
                <a:ln w="0"/>
                <a:effectLst>
                  <a:outerShdw blurRad="38100" dist="19050" dir="2700000" algn="tl" rotWithShape="0">
                    <a:schemeClr val="dk1">
                      <a:alpha val="40000"/>
                    </a:schemeClr>
                  </a:outerShdw>
                </a:effectLst>
              </a:rPr>
              <a:t>,</a:t>
            </a:r>
          </a:p>
          <a:p>
            <a:pPr algn="ctr"/>
            <a:r>
              <a:rPr lang="en-US" altLang="zh-TW" sz="4050" dirty="0">
                <a:ln w="0"/>
                <a:effectLst>
                  <a:outerShdw blurRad="38100" dist="19050" dir="2700000" algn="tl" rotWithShape="0">
                    <a:schemeClr val="dk1">
                      <a:alpha val="40000"/>
                    </a:schemeClr>
                  </a:outerShdw>
                </a:effectLst>
              </a:rPr>
              <a:t>	</a:t>
            </a:r>
            <a:r>
              <a:rPr lang="en-US" altLang="zh-TW" sz="4050" dirty="0">
                <a:ln w="0"/>
                <a:effectLst>
                  <a:outerShdw blurRad="38100" dist="19050" dir="2700000" algn="tl" rotWithShape="0">
                    <a:schemeClr val="dk1">
                      <a:alpha val="40000"/>
                    </a:schemeClr>
                  </a:outerShdw>
                </a:effectLst>
              </a:rPr>
              <a:t>	then </a:t>
            </a:r>
            <a:r>
              <a:rPr lang="en-US" altLang="zh-TW" sz="4050" dirty="0">
                <a:ln w="0"/>
                <a:solidFill>
                  <a:srgbClr val="00B050"/>
                </a:solidFill>
                <a:effectLst>
                  <a:outerShdw blurRad="38100" dist="19050" dir="2700000" algn="tl" rotWithShape="0">
                    <a:schemeClr val="dk1">
                      <a:alpha val="40000"/>
                    </a:schemeClr>
                  </a:outerShdw>
                </a:effectLst>
              </a:rPr>
              <a:t>○</a:t>
            </a:r>
            <a:r>
              <a:rPr lang="en-US" altLang="zh-TW" sz="4050" dirty="0">
                <a:ln w="0"/>
                <a:effectLst>
                  <a:outerShdw blurRad="38100" dist="19050" dir="2700000" algn="tl" rotWithShape="0">
                    <a:schemeClr val="dk1">
                      <a:alpha val="40000"/>
                    </a:schemeClr>
                  </a:outerShdw>
                </a:effectLst>
              </a:rPr>
              <a:t> ≥ </a:t>
            </a:r>
            <a:r>
              <a:rPr lang="en-US" altLang="zh-TW" sz="4050" dirty="0">
                <a:ln w="0"/>
                <a:solidFill>
                  <a:srgbClr val="00B050"/>
                </a:solidFill>
                <a:effectLst>
                  <a:outerShdw blurRad="38100" dist="19050" dir="2700000" algn="tl" rotWithShape="0">
                    <a:schemeClr val="dk1">
                      <a:alpha val="40000"/>
                    </a:schemeClr>
                  </a:outerShdw>
                </a:effectLst>
              </a:rPr>
              <a:t>*</a:t>
            </a:r>
            <a:r>
              <a:rPr lang="en-US" altLang="zh-TW" sz="4050" dirty="0">
                <a:ln w="0"/>
                <a:effectLst>
                  <a:outerShdw blurRad="38100" dist="19050" dir="2700000" algn="tl" rotWithShape="0">
                    <a:schemeClr val="dk1">
                      <a:alpha val="40000"/>
                    </a:schemeClr>
                  </a:outerShdw>
                </a:effectLst>
              </a:rPr>
              <a:t> 	</a:t>
            </a:r>
            <a:endParaRPr lang="zh-TW" altLang="en-US" sz="4050" dirty="0">
              <a:ln w="0"/>
              <a:effectLst>
                <a:outerShdw blurRad="38100" dist="19050" dir="2700000" algn="tl" rotWithShape="0">
                  <a:schemeClr val="dk1">
                    <a:alpha val="40000"/>
                  </a:schemeClr>
                </a:outerShdw>
              </a:effectLst>
            </a:endParaRPr>
          </a:p>
        </p:txBody>
      </p:sp>
      <p:sp>
        <p:nvSpPr>
          <p:cNvPr id="23" name="矩形 22"/>
          <p:cNvSpPr/>
          <p:nvPr/>
        </p:nvSpPr>
        <p:spPr>
          <a:xfrm>
            <a:off x="6339160" y="3063554"/>
            <a:ext cx="561692" cy="577081"/>
          </a:xfrm>
          <a:prstGeom prst="rect">
            <a:avLst/>
          </a:prstGeom>
          <a:noFill/>
        </p:spPr>
        <p:txBody>
          <a:bodyPr wrap="none" lIns="68580" tIns="34290" rIns="68580" bIns="34290">
            <a:spAutoFit/>
          </a:bodyPr>
          <a:lstStyle/>
          <a:p>
            <a:pPr algn="ctr"/>
            <a:r>
              <a:rPr lang="en-US" altLang="zh-TW" sz="3300" dirty="0">
                <a:ln w="0"/>
                <a:solidFill>
                  <a:srgbClr val="FF0000"/>
                </a:solidFill>
                <a:effectLst>
                  <a:outerShdw blurRad="38100" dist="19050" dir="2700000" algn="tl" rotWithShape="0">
                    <a:schemeClr val="dk1">
                      <a:alpha val="40000"/>
                    </a:schemeClr>
                  </a:outerShdw>
                </a:effectLst>
              </a:rPr>
              <a:t>○</a:t>
            </a:r>
            <a:endParaRPr lang="zh-TW" altLang="en-US" sz="3300" dirty="0">
              <a:ln w="0"/>
              <a:solidFill>
                <a:srgbClr val="FF0000"/>
              </a:solidFill>
              <a:effectLst>
                <a:outerShdw blurRad="38100" dist="19050" dir="2700000" algn="tl" rotWithShape="0">
                  <a:schemeClr val="dk1">
                    <a:alpha val="40000"/>
                  </a:schemeClr>
                </a:outerShdw>
              </a:effectLst>
            </a:endParaRPr>
          </a:p>
        </p:txBody>
      </p:sp>
      <p:sp>
        <p:nvSpPr>
          <p:cNvPr id="24" name="矩形 23"/>
          <p:cNvSpPr/>
          <p:nvPr/>
        </p:nvSpPr>
        <p:spPr>
          <a:xfrm>
            <a:off x="6670107" y="3063554"/>
            <a:ext cx="561692" cy="577081"/>
          </a:xfrm>
          <a:prstGeom prst="rect">
            <a:avLst/>
          </a:prstGeom>
          <a:noFill/>
        </p:spPr>
        <p:txBody>
          <a:bodyPr wrap="none" lIns="68580" tIns="34290" rIns="68580" bIns="34290">
            <a:spAutoFit/>
          </a:bodyPr>
          <a:lstStyle/>
          <a:p>
            <a:pPr algn="ctr"/>
            <a:r>
              <a:rPr lang="en-US" altLang="zh-TW" sz="3300" dirty="0">
                <a:ln w="0"/>
                <a:solidFill>
                  <a:srgbClr val="00B050"/>
                </a:solidFill>
                <a:effectLst>
                  <a:outerShdw blurRad="38100" dist="19050" dir="2700000" algn="tl" rotWithShape="0">
                    <a:schemeClr val="dk1">
                      <a:alpha val="40000"/>
                    </a:schemeClr>
                  </a:outerShdw>
                </a:effectLst>
              </a:rPr>
              <a:t>○</a:t>
            </a:r>
            <a:endParaRPr lang="zh-TW" altLang="en-US" sz="3300" dirty="0">
              <a:ln w="0"/>
              <a:solidFill>
                <a:srgbClr val="00B050"/>
              </a:solidFill>
              <a:effectLst>
                <a:outerShdw blurRad="38100" dist="19050" dir="2700000" algn="tl" rotWithShape="0">
                  <a:schemeClr val="dk1">
                    <a:alpha val="40000"/>
                  </a:schemeClr>
                </a:outerShdw>
              </a:effectLst>
            </a:endParaRPr>
          </a:p>
        </p:txBody>
      </p:sp>
      <p:sp>
        <p:nvSpPr>
          <p:cNvPr id="25" name="矩形 24"/>
          <p:cNvSpPr/>
          <p:nvPr/>
        </p:nvSpPr>
        <p:spPr>
          <a:xfrm>
            <a:off x="6568314" y="3570614"/>
            <a:ext cx="382639" cy="392415"/>
          </a:xfrm>
          <a:prstGeom prst="rect">
            <a:avLst/>
          </a:prstGeom>
          <a:noFill/>
        </p:spPr>
        <p:txBody>
          <a:bodyPr wrap="square" lIns="68580" tIns="34290" rIns="68580" bIns="34290">
            <a:spAutoFit/>
          </a:bodyPr>
          <a:lstStyle/>
          <a:p>
            <a:pPr algn="ctr"/>
            <a:r>
              <a:rPr lang="en-US" altLang="zh-TW" sz="2100" dirty="0">
                <a:ln w="0"/>
                <a:solidFill>
                  <a:srgbClr val="FF0000"/>
                </a:solidFill>
                <a:effectLst>
                  <a:outerShdw blurRad="38100" dist="19050" dir="2700000" algn="tl" rotWithShape="0">
                    <a:schemeClr val="dk1">
                      <a:alpha val="40000"/>
                    </a:schemeClr>
                  </a:outerShdw>
                </a:effectLst>
              </a:rPr>
              <a:t>*</a:t>
            </a:r>
            <a:endParaRPr lang="zh-TW" altLang="en-US" sz="2100" dirty="0">
              <a:ln w="0"/>
              <a:solidFill>
                <a:srgbClr val="FF0000"/>
              </a:solidFill>
              <a:effectLst>
                <a:outerShdw blurRad="38100" dist="19050" dir="2700000" algn="tl" rotWithShape="0">
                  <a:schemeClr val="dk1">
                    <a:alpha val="40000"/>
                  </a:schemeClr>
                </a:outerShdw>
              </a:effectLst>
            </a:endParaRPr>
          </a:p>
        </p:txBody>
      </p:sp>
      <p:sp>
        <p:nvSpPr>
          <p:cNvPr id="26" name="矩形 25"/>
          <p:cNvSpPr/>
          <p:nvPr/>
        </p:nvSpPr>
        <p:spPr>
          <a:xfrm>
            <a:off x="6876355" y="3570614"/>
            <a:ext cx="382639" cy="392415"/>
          </a:xfrm>
          <a:prstGeom prst="rect">
            <a:avLst/>
          </a:prstGeom>
          <a:noFill/>
        </p:spPr>
        <p:txBody>
          <a:bodyPr wrap="square" lIns="68580" tIns="34290" rIns="68580" bIns="34290">
            <a:spAutoFit/>
          </a:bodyPr>
          <a:lstStyle/>
          <a:p>
            <a:pPr algn="ctr"/>
            <a:r>
              <a:rPr lang="en-US" altLang="zh-TW" sz="2100" dirty="0">
                <a:ln w="0"/>
                <a:solidFill>
                  <a:srgbClr val="00B050"/>
                </a:solidFill>
                <a:effectLst>
                  <a:outerShdw blurRad="38100" dist="19050" dir="2700000" algn="tl" rotWithShape="0">
                    <a:schemeClr val="dk1">
                      <a:alpha val="40000"/>
                    </a:schemeClr>
                  </a:outerShdw>
                </a:effectLst>
              </a:rPr>
              <a:t>*</a:t>
            </a:r>
            <a:endParaRPr lang="zh-TW" altLang="en-US" sz="2100" dirty="0">
              <a:ln w="0"/>
              <a:solidFill>
                <a:srgbClr val="00B05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02363138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圖片 19"/>
          <p:cNvPicPr>
            <a:picLocks noChangeAspect="1"/>
          </p:cNvPicPr>
          <p:nvPr/>
        </p:nvPicPr>
        <p:blipFill>
          <a:blip r:embed="rId2"/>
          <a:stretch>
            <a:fillRect/>
          </a:stretch>
        </p:blipFill>
        <p:spPr>
          <a:xfrm>
            <a:off x="3949393" y="2050355"/>
            <a:ext cx="4963007" cy="2603482"/>
          </a:xfrm>
          <a:prstGeom prst="rect">
            <a:avLst/>
          </a:prstGeom>
        </p:spPr>
      </p:pic>
      <p:sp>
        <p:nvSpPr>
          <p:cNvPr id="21" name="矩形 20"/>
          <p:cNvSpPr/>
          <p:nvPr/>
        </p:nvSpPr>
        <p:spPr>
          <a:xfrm>
            <a:off x="-667549" y="1918831"/>
            <a:ext cx="4466608" cy="1315745"/>
          </a:xfrm>
          <a:prstGeom prst="rect">
            <a:avLst/>
          </a:prstGeom>
          <a:noFill/>
        </p:spPr>
        <p:txBody>
          <a:bodyPr wrap="none" lIns="68580" tIns="34290" rIns="68580" bIns="34290">
            <a:spAutoFit/>
          </a:bodyPr>
          <a:lstStyle/>
          <a:p>
            <a:pPr algn="ctr"/>
            <a:r>
              <a:rPr lang="en-US" altLang="zh-TW" sz="4050" dirty="0">
                <a:ln w="0"/>
                <a:effectLst>
                  <a:outerShdw blurRad="38100" dist="19050" dir="2700000" algn="tl" rotWithShape="0">
                    <a:schemeClr val="dk1">
                      <a:alpha val="40000"/>
                    </a:schemeClr>
                  </a:outerShdw>
                </a:effectLst>
              </a:rPr>
              <a:t>if </a:t>
            </a:r>
            <a:r>
              <a:rPr lang="en-US" altLang="zh-TW" sz="4050" dirty="0">
                <a:ln w="0"/>
                <a:solidFill>
                  <a:srgbClr val="FF0000"/>
                </a:solidFill>
                <a:effectLst>
                  <a:outerShdw blurRad="38100" dist="19050" dir="2700000" algn="tl" rotWithShape="0">
                    <a:schemeClr val="dk1">
                      <a:alpha val="40000"/>
                    </a:schemeClr>
                  </a:outerShdw>
                </a:effectLst>
              </a:rPr>
              <a:t>○</a:t>
            </a:r>
            <a:r>
              <a:rPr lang="en-US" altLang="zh-TW" sz="4050" dirty="0">
                <a:ln w="0"/>
                <a:effectLst>
                  <a:outerShdw blurRad="38100" dist="19050" dir="2700000" algn="tl" rotWithShape="0">
                    <a:schemeClr val="dk1">
                      <a:alpha val="40000"/>
                    </a:schemeClr>
                  </a:outerShdw>
                </a:effectLst>
              </a:rPr>
              <a:t> ≥ </a:t>
            </a:r>
            <a:r>
              <a:rPr lang="en-US" altLang="zh-TW" sz="4050" dirty="0">
                <a:ln w="0"/>
                <a:solidFill>
                  <a:srgbClr val="FF0000"/>
                </a:solidFill>
                <a:effectLst>
                  <a:outerShdw blurRad="38100" dist="19050" dir="2700000" algn="tl" rotWithShape="0">
                    <a:schemeClr val="dk1">
                      <a:alpha val="40000"/>
                    </a:schemeClr>
                  </a:outerShdw>
                </a:effectLst>
                <a:latin typeface="+mj-lt"/>
              </a:rPr>
              <a:t>*</a:t>
            </a:r>
            <a:r>
              <a:rPr lang="en-US" altLang="zh-TW" sz="4050" dirty="0">
                <a:ln w="0"/>
                <a:effectLst>
                  <a:outerShdw blurRad="38100" dist="19050" dir="2700000" algn="tl" rotWithShape="0">
                    <a:schemeClr val="dk1">
                      <a:alpha val="40000"/>
                    </a:schemeClr>
                  </a:outerShdw>
                </a:effectLst>
              </a:rPr>
              <a:t>,</a:t>
            </a:r>
          </a:p>
          <a:p>
            <a:pPr algn="ctr"/>
            <a:r>
              <a:rPr lang="en-US" altLang="zh-TW" sz="4050" dirty="0">
                <a:ln w="0"/>
                <a:effectLst>
                  <a:outerShdw blurRad="38100" dist="19050" dir="2700000" algn="tl" rotWithShape="0">
                    <a:schemeClr val="dk1">
                      <a:alpha val="40000"/>
                    </a:schemeClr>
                  </a:outerShdw>
                </a:effectLst>
              </a:rPr>
              <a:t>	</a:t>
            </a:r>
            <a:r>
              <a:rPr lang="en-US" altLang="zh-TW" sz="4050" dirty="0">
                <a:ln w="0"/>
                <a:effectLst>
                  <a:outerShdw blurRad="38100" dist="19050" dir="2700000" algn="tl" rotWithShape="0">
                    <a:schemeClr val="dk1">
                      <a:alpha val="40000"/>
                    </a:schemeClr>
                  </a:outerShdw>
                </a:effectLst>
              </a:rPr>
              <a:t>	then </a:t>
            </a:r>
            <a:r>
              <a:rPr lang="en-US" altLang="zh-TW" sz="4050" dirty="0">
                <a:ln w="0"/>
                <a:solidFill>
                  <a:srgbClr val="00B050"/>
                </a:solidFill>
                <a:effectLst>
                  <a:outerShdw blurRad="38100" dist="19050" dir="2700000" algn="tl" rotWithShape="0">
                    <a:schemeClr val="dk1">
                      <a:alpha val="40000"/>
                    </a:schemeClr>
                  </a:outerShdw>
                </a:effectLst>
              </a:rPr>
              <a:t>○</a:t>
            </a:r>
            <a:r>
              <a:rPr lang="en-US" altLang="zh-TW" sz="4050" dirty="0">
                <a:ln w="0"/>
                <a:effectLst>
                  <a:outerShdw blurRad="38100" dist="19050" dir="2700000" algn="tl" rotWithShape="0">
                    <a:schemeClr val="dk1">
                      <a:alpha val="40000"/>
                    </a:schemeClr>
                  </a:outerShdw>
                </a:effectLst>
              </a:rPr>
              <a:t> ≥ </a:t>
            </a:r>
            <a:r>
              <a:rPr lang="en-US" altLang="zh-TW" sz="4050" dirty="0">
                <a:ln w="0"/>
                <a:solidFill>
                  <a:srgbClr val="00B050"/>
                </a:solidFill>
                <a:effectLst>
                  <a:outerShdw blurRad="38100" dist="19050" dir="2700000" algn="tl" rotWithShape="0">
                    <a:schemeClr val="dk1">
                      <a:alpha val="40000"/>
                    </a:schemeClr>
                  </a:outerShdw>
                </a:effectLst>
              </a:rPr>
              <a:t>*</a:t>
            </a:r>
            <a:r>
              <a:rPr lang="en-US" altLang="zh-TW" sz="4050" dirty="0">
                <a:ln w="0"/>
                <a:effectLst>
                  <a:outerShdw blurRad="38100" dist="19050" dir="2700000" algn="tl" rotWithShape="0">
                    <a:schemeClr val="dk1">
                      <a:alpha val="40000"/>
                    </a:schemeClr>
                  </a:outerShdw>
                </a:effectLst>
              </a:rPr>
              <a:t> 	</a:t>
            </a:r>
            <a:endParaRPr lang="zh-TW" altLang="en-US" sz="4050" dirty="0">
              <a:ln w="0"/>
              <a:effectLst>
                <a:outerShdw blurRad="38100" dist="19050" dir="2700000" algn="tl" rotWithShape="0">
                  <a:schemeClr val="dk1">
                    <a:alpha val="40000"/>
                  </a:schemeClr>
                </a:outerShdw>
              </a:effectLst>
            </a:endParaRPr>
          </a:p>
        </p:txBody>
      </p:sp>
      <p:sp>
        <p:nvSpPr>
          <p:cNvPr id="23" name="矩形 22"/>
          <p:cNvSpPr/>
          <p:nvPr/>
        </p:nvSpPr>
        <p:spPr>
          <a:xfrm>
            <a:off x="6339160" y="3063554"/>
            <a:ext cx="561692" cy="577081"/>
          </a:xfrm>
          <a:prstGeom prst="rect">
            <a:avLst/>
          </a:prstGeom>
          <a:noFill/>
        </p:spPr>
        <p:txBody>
          <a:bodyPr wrap="none" lIns="68580" tIns="34290" rIns="68580" bIns="34290">
            <a:spAutoFit/>
          </a:bodyPr>
          <a:lstStyle/>
          <a:p>
            <a:pPr algn="ctr"/>
            <a:r>
              <a:rPr lang="en-US" altLang="zh-TW" sz="3300" dirty="0">
                <a:ln w="0"/>
                <a:solidFill>
                  <a:srgbClr val="FF0000"/>
                </a:solidFill>
                <a:effectLst>
                  <a:outerShdw blurRad="38100" dist="19050" dir="2700000" algn="tl" rotWithShape="0">
                    <a:schemeClr val="dk1">
                      <a:alpha val="40000"/>
                    </a:schemeClr>
                  </a:outerShdw>
                </a:effectLst>
              </a:rPr>
              <a:t>○</a:t>
            </a:r>
            <a:endParaRPr lang="zh-TW" altLang="en-US" sz="3300" dirty="0">
              <a:ln w="0"/>
              <a:solidFill>
                <a:srgbClr val="FF0000"/>
              </a:solidFill>
              <a:effectLst>
                <a:outerShdw blurRad="38100" dist="19050" dir="2700000" algn="tl" rotWithShape="0">
                  <a:schemeClr val="dk1">
                    <a:alpha val="40000"/>
                  </a:schemeClr>
                </a:outerShdw>
              </a:effectLst>
            </a:endParaRPr>
          </a:p>
        </p:txBody>
      </p:sp>
      <p:sp>
        <p:nvSpPr>
          <p:cNvPr id="25" name="矩形 24"/>
          <p:cNvSpPr/>
          <p:nvPr/>
        </p:nvSpPr>
        <p:spPr>
          <a:xfrm>
            <a:off x="6568314" y="3570614"/>
            <a:ext cx="382639" cy="392415"/>
          </a:xfrm>
          <a:prstGeom prst="rect">
            <a:avLst/>
          </a:prstGeom>
          <a:noFill/>
        </p:spPr>
        <p:txBody>
          <a:bodyPr wrap="square" lIns="68580" tIns="34290" rIns="68580" bIns="34290">
            <a:spAutoFit/>
          </a:bodyPr>
          <a:lstStyle/>
          <a:p>
            <a:pPr algn="ctr"/>
            <a:r>
              <a:rPr lang="en-US" altLang="zh-TW" sz="2100" dirty="0">
                <a:ln w="0"/>
                <a:solidFill>
                  <a:srgbClr val="FF0000"/>
                </a:solidFill>
                <a:effectLst>
                  <a:outerShdw blurRad="38100" dist="19050" dir="2700000" algn="tl" rotWithShape="0">
                    <a:schemeClr val="dk1">
                      <a:alpha val="40000"/>
                    </a:schemeClr>
                  </a:outerShdw>
                </a:effectLst>
              </a:rPr>
              <a:t>*</a:t>
            </a:r>
            <a:endParaRPr lang="zh-TW" altLang="en-US" sz="2100" dirty="0">
              <a:ln w="0"/>
              <a:solidFill>
                <a:srgbClr val="FF0000"/>
              </a:solidFill>
              <a:effectLst>
                <a:outerShdw blurRad="38100" dist="19050" dir="2700000" algn="tl" rotWithShape="0">
                  <a:schemeClr val="dk1">
                    <a:alpha val="40000"/>
                  </a:schemeClr>
                </a:outerShdw>
              </a:effectLst>
            </a:endParaRPr>
          </a:p>
        </p:txBody>
      </p:sp>
      <p:grpSp>
        <p:nvGrpSpPr>
          <p:cNvPr id="2" name="群組 1"/>
          <p:cNvGrpSpPr/>
          <p:nvPr/>
        </p:nvGrpSpPr>
        <p:grpSpPr>
          <a:xfrm>
            <a:off x="7271800" y="3063554"/>
            <a:ext cx="588887" cy="899476"/>
            <a:chOff x="8893475" y="2941738"/>
            <a:chExt cx="785183" cy="1199302"/>
          </a:xfrm>
        </p:grpSpPr>
        <p:sp>
          <p:nvSpPr>
            <p:cNvPr id="24" name="矩形 23"/>
            <p:cNvSpPr/>
            <p:nvPr/>
          </p:nvSpPr>
          <p:spPr>
            <a:xfrm>
              <a:off x="8893475" y="2941738"/>
              <a:ext cx="748923" cy="769442"/>
            </a:xfrm>
            <a:prstGeom prst="rect">
              <a:avLst/>
            </a:prstGeom>
            <a:noFill/>
          </p:spPr>
          <p:txBody>
            <a:bodyPr wrap="none" lIns="68580" tIns="34290" rIns="68580" bIns="34290">
              <a:spAutoFit/>
            </a:bodyPr>
            <a:lstStyle/>
            <a:p>
              <a:pPr algn="ctr"/>
              <a:r>
                <a:rPr lang="en-US" altLang="zh-TW" sz="3300" dirty="0">
                  <a:ln w="0"/>
                  <a:solidFill>
                    <a:srgbClr val="00B050"/>
                  </a:solidFill>
                  <a:effectLst>
                    <a:outerShdw blurRad="38100" dist="19050" dir="2700000" algn="tl" rotWithShape="0">
                      <a:schemeClr val="dk1">
                        <a:alpha val="40000"/>
                      </a:schemeClr>
                    </a:outerShdw>
                  </a:effectLst>
                </a:rPr>
                <a:t>○</a:t>
              </a:r>
              <a:endParaRPr lang="zh-TW" altLang="en-US" sz="3300" dirty="0">
                <a:ln w="0"/>
                <a:solidFill>
                  <a:srgbClr val="00B050"/>
                </a:solidFill>
                <a:effectLst>
                  <a:outerShdw blurRad="38100" dist="19050" dir="2700000" algn="tl" rotWithShape="0">
                    <a:schemeClr val="dk1">
                      <a:alpha val="40000"/>
                    </a:schemeClr>
                  </a:outerShdw>
                </a:effectLst>
              </a:endParaRPr>
            </a:p>
          </p:txBody>
        </p:sp>
        <p:sp>
          <p:nvSpPr>
            <p:cNvPr id="26" name="矩形 25"/>
            <p:cNvSpPr/>
            <p:nvPr/>
          </p:nvSpPr>
          <p:spPr>
            <a:xfrm>
              <a:off x="9168472" y="3617820"/>
              <a:ext cx="510186" cy="523220"/>
            </a:xfrm>
            <a:prstGeom prst="rect">
              <a:avLst/>
            </a:prstGeom>
            <a:noFill/>
          </p:spPr>
          <p:txBody>
            <a:bodyPr wrap="square" lIns="68580" tIns="34290" rIns="68580" bIns="34290">
              <a:spAutoFit/>
            </a:bodyPr>
            <a:lstStyle/>
            <a:p>
              <a:pPr algn="ctr"/>
              <a:r>
                <a:rPr lang="en-US" altLang="zh-TW" sz="2100" dirty="0">
                  <a:ln w="0"/>
                  <a:solidFill>
                    <a:srgbClr val="00B050"/>
                  </a:solidFill>
                  <a:effectLst>
                    <a:outerShdw blurRad="38100" dist="19050" dir="2700000" algn="tl" rotWithShape="0">
                      <a:schemeClr val="dk1">
                        <a:alpha val="40000"/>
                      </a:schemeClr>
                    </a:outerShdw>
                  </a:effectLst>
                </a:rPr>
                <a:t>*</a:t>
              </a:r>
              <a:endParaRPr lang="zh-TW" altLang="en-US" sz="2100" dirty="0">
                <a:ln w="0"/>
                <a:solidFill>
                  <a:srgbClr val="00B050"/>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373111791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圖片 19"/>
          <p:cNvPicPr>
            <a:picLocks noChangeAspect="1"/>
          </p:cNvPicPr>
          <p:nvPr/>
        </p:nvPicPr>
        <p:blipFill>
          <a:blip r:embed="rId2"/>
          <a:stretch>
            <a:fillRect/>
          </a:stretch>
        </p:blipFill>
        <p:spPr>
          <a:xfrm>
            <a:off x="3949393" y="2050355"/>
            <a:ext cx="4963007" cy="2603482"/>
          </a:xfrm>
          <a:prstGeom prst="rect">
            <a:avLst/>
          </a:prstGeom>
        </p:spPr>
      </p:pic>
      <p:sp>
        <p:nvSpPr>
          <p:cNvPr id="21" name="矩形 20"/>
          <p:cNvSpPr/>
          <p:nvPr/>
        </p:nvSpPr>
        <p:spPr>
          <a:xfrm>
            <a:off x="-667549" y="1918831"/>
            <a:ext cx="4466608" cy="1315745"/>
          </a:xfrm>
          <a:prstGeom prst="rect">
            <a:avLst/>
          </a:prstGeom>
          <a:noFill/>
        </p:spPr>
        <p:txBody>
          <a:bodyPr wrap="none" lIns="68580" tIns="34290" rIns="68580" bIns="34290">
            <a:spAutoFit/>
          </a:bodyPr>
          <a:lstStyle/>
          <a:p>
            <a:pPr algn="ctr"/>
            <a:r>
              <a:rPr lang="en-US" altLang="zh-TW" sz="4050" dirty="0">
                <a:ln w="0"/>
                <a:effectLst>
                  <a:outerShdw blurRad="38100" dist="19050" dir="2700000" algn="tl" rotWithShape="0">
                    <a:schemeClr val="dk1">
                      <a:alpha val="40000"/>
                    </a:schemeClr>
                  </a:outerShdw>
                </a:effectLst>
              </a:rPr>
              <a:t>if </a:t>
            </a:r>
            <a:r>
              <a:rPr lang="en-US" altLang="zh-TW" sz="4050" dirty="0">
                <a:ln w="0"/>
                <a:solidFill>
                  <a:srgbClr val="FF0000"/>
                </a:solidFill>
                <a:effectLst>
                  <a:outerShdw blurRad="38100" dist="19050" dir="2700000" algn="tl" rotWithShape="0">
                    <a:schemeClr val="dk1">
                      <a:alpha val="40000"/>
                    </a:schemeClr>
                  </a:outerShdw>
                </a:effectLst>
              </a:rPr>
              <a:t>○</a:t>
            </a:r>
            <a:r>
              <a:rPr lang="en-US" altLang="zh-TW" sz="4050" dirty="0">
                <a:ln w="0"/>
                <a:effectLst>
                  <a:outerShdw blurRad="38100" dist="19050" dir="2700000" algn="tl" rotWithShape="0">
                    <a:schemeClr val="dk1">
                      <a:alpha val="40000"/>
                    </a:schemeClr>
                  </a:outerShdw>
                </a:effectLst>
              </a:rPr>
              <a:t> ≥ </a:t>
            </a:r>
            <a:r>
              <a:rPr lang="en-US" altLang="zh-TW" sz="4050" dirty="0">
                <a:ln w="0"/>
                <a:solidFill>
                  <a:srgbClr val="FF0000"/>
                </a:solidFill>
                <a:effectLst>
                  <a:outerShdw blurRad="38100" dist="19050" dir="2700000" algn="tl" rotWithShape="0">
                    <a:schemeClr val="dk1">
                      <a:alpha val="40000"/>
                    </a:schemeClr>
                  </a:outerShdw>
                </a:effectLst>
                <a:latin typeface="+mj-lt"/>
              </a:rPr>
              <a:t>*</a:t>
            </a:r>
            <a:r>
              <a:rPr lang="en-US" altLang="zh-TW" sz="4050" dirty="0">
                <a:ln w="0"/>
                <a:effectLst>
                  <a:outerShdw blurRad="38100" dist="19050" dir="2700000" algn="tl" rotWithShape="0">
                    <a:schemeClr val="dk1">
                      <a:alpha val="40000"/>
                    </a:schemeClr>
                  </a:outerShdw>
                </a:effectLst>
              </a:rPr>
              <a:t>,</a:t>
            </a:r>
          </a:p>
          <a:p>
            <a:pPr algn="ctr"/>
            <a:r>
              <a:rPr lang="en-US" altLang="zh-TW" sz="4050" dirty="0">
                <a:ln w="0"/>
                <a:effectLst>
                  <a:outerShdw blurRad="38100" dist="19050" dir="2700000" algn="tl" rotWithShape="0">
                    <a:schemeClr val="dk1">
                      <a:alpha val="40000"/>
                    </a:schemeClr>
                  </a:outerShdw>
                </a:effectLst>
              </a:rPr>
              <a:t>	</a:t>
            </a:r>
            <a:r>
              <a:rPr lang="en-US" altLang="zh-TW" sz="4050" dirty="0">
                <a:ln w="0"/>
                <a:effectLst>
                  <a:outerShdw blurRad="38100" dist="19050" dir="2700000" algn="tl" rotWithShape="0">
                    <a:schemeClr val="dk1">
                      <a:alpha val="40000"/>
                    </a:schemeClr>
                  </a:outerShdw>
                </a:effectLst>
              </a:rPr>
              <a:t>	then </a:t>
            </a:r>
            <a:r>
              <a:rPr lang="en-US" altLang="zh-TW" sz="4050" dirty="0">
                <a:ln w="0"/>
                <a:solidFill>
                  <a:srgbClr val="00B050"/>
                </a:solidFill>
                <a:effectLst>
                  <a:outerShdw blurRad="38100" dist="19050" dir="2700000" algn="tl" rotWithShape="0">
                    <a:schemeClr val="dk1">
                      <a:alpha val="40000"/>
                    </a:schemeClr>
                  </a:outerShdw>
                </a:effectLst>
              </a:rPr>
              <a:t>○</a:t>
            </a:r>
            <a:r>
              <a:rPr lang="en-US" altLang="zh-TW" sz="4050" dirty="0">
                <a:ln w="0"/>
                <a:effectLst>
                  <a:outerShdw blurRad="38100" dist="19050" dir="2700000" algn="tl" rotWithShape="0">
                    <a:schemeClr val="dk1">
                      <a:alpha val="40000"/>
                    </a:schemeClr>
                  </a:outerShdw>
                </a:effectLst>
              </a:rPr>
              <a:t> ≥ </a:t>
            </a:r>
            <a:r>
              <a:rPr lang="en-US" altLang="zh-TW" sz="4050" dirty="0">
                <a:ln w="0"/>
                <a:solidFill>
                  <a:srgbClr val="00B050"/>
                </a:solidFill>
                <a:effectLst>
                  <a:outerShdw blurRad="38100" dist="19050" dir="2700000" algn="tl" rotWithShape="0">
                    <a:schemeClr val="dk1">
                      <a:alpha val="40000"/>
                    </a:schemeClr>
                  </a:outerShdw>
                </a:effectLst>
              </a:rPr>
              <a:t>*</a:t>
            </a:r>
            <a:r>
              <a:rPr lang="en-US" altLang="zh-TW" sz="4050" dirty="0">
                <a:ln w="0"/>
                <a:effectLst>
                  <a:outerShdw blurRad="38100" dist="19050" dir="2700000" algn="tl" rotWithShape="0">
                    <a:schemeClr val="dk1">
                      <a:alpha val="40000"/>
                    </a:schemeClr>
                  </a:outerShdw>
                </a:effectLst>
              </a:rPr>
              <a:t> 	</a:t>
            </a:r>
            <a:endParaRPr lang="zh-TW" altLang="en-US" sz="4050" dirty="0">
              <a:ln w="0"/>
              <a:effectLst>
                <a:outerShdw blurRad="38100" dist="19050" dir="2700000" algn="tl" rotWithShape="0">
                  <a:schemeClr val="dk1">
                    <a:alpha val="40000"/>
                  </a:schemeClr>
                </a:outerShdw>
              </a:effectLst>
            </a:endParaRPr>
          </a:p>
        </p:txBody>
      </p:sp>
      <p:sp>
        <p:nvSpPr>
          <p:cNvPr id="23" name="矩形 22"/>
          <p:cNvSpPr/>
          <p:nvPr/>
        </p:nvSpPr>
        <p:spPr>
          <a:xfrm>
            <a:off x="6670106" y="2657495"/>
            <a:ext cx="561692" cy="577081"/>
          </a:xfrm>
          <a:prstGeom prst="rect">
            <a:avLst/>
          </a:prstGeom>
          <a:noFill/>
        </p:spPr>
        <p:txBody>
          <a:bodyPr wrap="none" lIns="68580" tIns="34290" rIns="68580" bIns="34290">
            <a:spAutoFit/>
          </a:bodyPr>
          <a:lstStyle/>
          <a:p>
            <a:pPr algn="ctr"/>
            <a:r>
              <a:rPr lang="en-US" altLang="zh-TW" sz="3300" dirty="0">
                <a:ln w="0"/>
                <a:solidFill>
                  <a:srgbClr val="FF0000"/>
                </a:solidFill>
                <a:effectLst>
                  <a:outerShdw blurRad="38100" dist="19050" dir="2700000" algn="tl" rotWithShape="0">
                    <a:schemeClr val="dk1">
                      <a:alpha val="40000"/>
                    </a:schemeClr>
                  </a:outerShdw>
                </a:effectLst>
              </a:rPr>
              <a:t>○</a:t>
            </a:r>
            <a:endParaRPr lang="zh-TW" altLang="en-US" sz="3300" dirty="0">
              <a:ln w="0"/>
              <a:solidFill>
                <a:srgbClr val="FF0000"/>
              </a:solidFill>
              <a:effectLst>
                <a:outerShdw blurRad="38100" dist="19050" dir="2700000" algn="tl" rotWithShape="0">
                  <a:schemeClr val="dk1">
                    <a:alpha val="40000"/>
                  </a:schemeClr>
                </a:outerShdw>
              </a:effectLst>
            </a:endParaRPr>
          </a:p>
        </p:txBody>
      </p:sp>
      <p:sp>
        <p:nvSpPr>
          <p:cNvPr id="24" name="矩形 23"/>
          <p:cNvSpPr/>
          <p:nvPr/>
        </p:nvSpPr>
        <p:spPr>
          <a:xfrm>
            <a:off x="7268385" y="2659614"/>
            <a:ext cx="561692" cy="577081"/>
          </a:xfrm>
          <a:prstGeom prst="rect">
            <a:avLst/>
          </a:prstGeom>
          <a:noFill/>
        </p:spPr>
        <p:txBody>
          <a:bodyPr wrap="none" lIns="68580" tIns="34290" rIns="68580" bIns="34290">
            <a:spAutoFit/>
          </a:bodyPr>
          <a:lstStyle/>
          <a:p>
            <a:pPr algn="ctr"/>
            <a:r>
              <a:rPr lang="en-US" altLang="zh-TW" sz="3300" dirty="0">
                <a:ln w="0"/>
                <a:solidFill>
                  <a:srgbClr val="00B050"/>
                </a:solidFill>
                <a:effectLst>
                  <a:outerShdw blurRad="38100" dist="19050" dir="2700000" algn="tl" rotWithShape="0">
                    <a:schemeClr val="dk1">
                      <a:alpha val="40000"/>
                    </a:schemeClr>
                  </a:outerShdw>
                </a:effectLst>
              </a:rPr>
              <a:t>○</a:t>
            </a:r>
            <a:endParaRPr lang="zh-TW" altLang="en-US" sz="3300" dirty="0">
              <a:ln w="0"/>
              <a:solidFill>
                <a:srgbClr val="00B050"/>
              </a:solidFill>
              <a:effectLst>
                <a:outerShdw blurRad="38100" dist="19050" dir="2700000" algn="tl" rotWithShape="0">
                  <a:schemeClr val="dk1">
                    <a:alpha val="40000"/>
                  </a:schemeClr>
                </a:outerShdw>
              </a:effectLst>
            </a:endParaRPr>
          </a:p>
        </p:txBody>
      </p:sp>
      <p:sp>
        <p:nvSpPr>
          <p:cNvPr id="25" name="矩形 24"/>
          <p:cNvSpPr/>
          <p:nvPr/>
        </p:nvSpPr>
        <p:spPr>
          <a:xfrm>
            <a:off x="7447438" y="3570614"/>
            <a:ext cx="382639" cy="392415"/>
          </a:xfrm>
          <a:prstGeom prst="rect">
            <a:avLst/>
          </a:prstGeom>
          <a:noFill/>
        </p:spPr>
        <p:txBody>
          <a:bodyPr wrap="square" lIns="68580" tIns="34290" rIns="68580" bIns="34290">
            <a:spAutoFit/>
          </a:bodyPr>
          <a:lstStyle/>
          <a:p>
            <a:pPr algn="ctr"/>
            <a:r>
              <a:rPr lang="en-US" altLang="zh-TW" sz="2100" dirty="0">
                <a:ln w="0"/>
                <a:solidFill>
                  <a:srgbClr val="00B050"/>
                </a:solidFill>
                <a:effectLst>
                  <a:outerShdw blurRad="38100" dist="19050" dir="2700000" algn="tl" rotWithShape="0">
                    <a:schemeClr val="dk1">
                      <a:alpha val="40000"/>
                    </a:schemeClr>
                  </a:outerShdw>
                </a:effectLst>
              </a:rPr>
              <a:t>*</a:t>
            </a:r>
            <a:endParaRPr lang="zh-TW" altLang="en-US" sz="2100" dirty="0">
              <a:ln w="0"/>
              <a:solidFill>
                <a:srgbClr val="00B050"/>
              </a:solidFill>
              <a:effectLst>
                <a:outerShdw blurRad="38100" dist="19050" dir="2700000" algn="tl" rotWithShape="0">
                  <a:schemeClr val="dk1">
                    <a:alpha val="40000"/>
                  </a:schemeClr>
                </a:outerShdw>
              </a:effectLst>
            </a:endParaRPr>
          </a:p>
        </p:txBody>
      </p:sp>
      <p:sp>
        <p:nvSpPr>
          <p:cNvPr id="26" name="矩形 25"/>
          <p:cNvSpPr/>
          <p:nvPr/>
        </p:nvSpPr>
        <p:spPr>
          <a:xfrm>
            <a:off x="6876355" y="3570614"/>
            <a:ext cx="382639" cy="392415"/>
          </a:xfrm>
          <a:prstGeom prst="rect">
            <a:avLst/>
          </a:prstGeom>
          <a:noFill/>
        </p:spPr>
        <p:txBody>
          <a:bodyPr wrap="square" lIns="68580" tIns="34290" rIns="68580" bIns="34290">
            <a:spAutoFit/>
          </a:bodyPr>
          <a:lstStyle/>
          <a:p>
            <a:pPr algn="ctr"/>
            <a:r>
              <a:rPr lang="en-US" altLang="zh-TW" sz="2100" dirty="0">
                <a:ln w="0"/>
                <a:solidFill>
                  <a:srgbClr val="FF0000"/>
                </a:solidFill>
                <a:effectLst>
                  <a:outerShdw blurRad="38100" dist="19050" dir="2700000" algn="tl" rotWithShape="0">
                    <a:schemeClr val="dk1">
                      <a:alpha val="40000"/>
                    </a:schemeClr>
                  </a:outerShdw>
                </a:effectLst>
              </a:rPr>
              <a:t>*</a:t>
            </a:r>
            <a:endParaRPr lang="zh-TW" altLang="en-US" sz="2100" dirty="0">
              <a:ln w="0"/>
              <a:solidFill>
                <a:srgbClr val="FF000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33345139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7085" y="1865812"/>
            <a:ext cx="5949830" cy="3126376"/>
          </a:xfrm>
          <a:prstGeom prst="rect">
            <a:avLst/>
          </a:prstGeom>
        </p:spPr>
      </p:pic>
    </p:spTree>
    <p:extLst>
      <p:ext uri="{BB962C8B-B14F-4D97-AF65-F5344CB8AC3E}">
        <p14:creationId xmlns:p14="http://schemas.microsoft.com/office/powerpoint/2010/main" val="264230632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063" y="1547943"/>
            <a:ext cx="4736191" cy="3828071"/>
          </a:xfrm>
          <a:prstGeom prst="rect">
            <a:avLst/>
          </a:prstGeom>
        </p:spPr>
      </p:pic>
      <mc:AlternateContent xmlns:mc="http://schemas.openxmlformats.org/markup-compatibility/2006" xmlns:a14="http://schemas.microsoft.com/office/drawing/2010/main">
        <mc:Choice Requires="a14">
          <p:sp>
            <p:nvSpPr>
              <p:cNvPr id="3" name="矩形 2"/>
              <p:cNvSpPr/>
              <p:nvPr/>
            </p:nvSpPr>
            <p:spPr>
              <a:xfrm>
                <a:off x="4813303" y="1780103"/>
                <a:ext cx="3931717" cy="2746906"/>
              </a:xfrm>
              <a:prstGeom prst="rect">
                <a:avLst/>
              </a:prstGeom>
              <a:noFill/>
            </p:spPr>
            <p:txBody>
              <a:bodyPr wrap="none" lIns="68580" tIns="34290" rIns="68580" bIns="34290">
                <a:spAutoFit/>
              </a:bodyPr>
              <a:lstStyle/>
              <a:p>
                <a:r>
                  <a:rPr lang="en-US" altLang="zh-TW" sz="2400" dirty="0">
                    <a:ln w="0"/>
                    <a:effectLst>
                      <a:outerShdw blurRad="38100" dist="19050" dir="2700000" algn="tl" rotWithShape="0">
                        <a:schemeClr val="dk1">
                          <a:alpha val="40000"/>
                        </a:schemeClr>
                      </a:outerShdw>
                    </a:effectLst>
                    <a:latin typeface="+mj-lt"/>
                  </a:rPr>
                  <a:t>L</a:t>
                </a:r>
                <a:r>
                  <a:rPr lang="zh-TW" altLang="en-US" sz="2400" dirty="0">
                    <a:ln w="0"/>
                    <a:effectLst>
                      <a:outerShdw blurRad="38100" dist="19050" dir="2700000" algn="tl" rotWithShape="0">
                        <a:schemeClr val="dk1">
                          <a:alpha val="40000"/>
                        </a:schemeClr>
                      </a:outerShdw>
                    </a:effectLst>
                    <a:latin typeface="+mj-lt"/>
                  </a:rPr>
                  <a:t> ≡ </a:t>
                </a:r>
                <a:r>
                  <a:rPr lang="en-US" altLang="zh-TW" sz="2400" dirty="0">
                    <a:ln w="0"/>
                    <a:effectLst>
                      <a:outerShdw blurRad="38100" dist="19050" dir="2700000" algn="tl" rotWithShape="0">
                        <a:schemeClr val="dk1">
                          <a:alpha val="40000"/>
                        </a:schemeClr>
                      </a:outerShdw>
                    </a:effectLst>
                    <a:latin typeface="+mj-lt"/>
                  </a:rPr>
                  <a:t>LEFT,</a:t>
                </a:r>
              </a:p>
              <a:p>
                <a:endParaRPr lang="en-US" altLang="zh-TW" sz="2700" dirty="0">
                  <a:ln w="0"/>
                  <a:effectLst>
                    <a:outerShdw blurRad="38100" dist="19050" dir="2700000" algn="tl" rotWithShape="0">
                      <a:schemeClr val="dk1">
                        <a:alpha val="40000"/>
                      </a:schemeClr>
                    </a:outerShdw>
                  </a:effectLst>
                  <a:latin typeface="+mj-lt"/>
                </a:endParaRPr>
              </a:p>
              <a:p>
                <a:r>
                  <a:rPr lang="en-US" altLang="zh-TW" sz="2400" dirty="0">
                    <a:ln w="0"/>
                    <a:effectLst>
                      <a:outerShdw blurRad="38100" dist="19050" dir="2700000" algn="tl" rotWithShape="0">
                        <a:schemeClr val="dk1">
                          <a:alpha val="40000"/>
                        </a:schemeClr>
                      </a:outerShdw>
                    </a:effectLst>
                    <a:latin typeface="+mj-lt"/>
                    <a:cs typeface="MV Boli" panose="02000500030200090000" pitchFamily="2" charset="0"/>
                  </a:rPr>
                  <a:t>A</a:t>
                </a:r>
                <a:r>
                  <a:rPr lang="en-US" altLang="zh-TW" sz="2400" dirty="0">
                    <a:ln w="0"/>
                    <a:effectLst>
                      <a:outerShdw blurRad="38100" dist="19050" dir="2700000" algn="tl" rotWithShape="0">
                        <a:schemeClr val="dk1">
                          <a:alpha val="40000"/>
                        </a:schemeClr>
                      </a:outerShdw>
                    </a:effectLst>
                    <a:latin typeface="+mj-lt"/>
                  </a:rPr>
                  <a:t>ssume that L[a, c], L[b, c],</a:t>
                </a:r>
              </a:p>
              <a:p>
                <a:r>
                  <a:rPr lang="en-US" altLang="zh-TW" sz="2400" dirty="0">
                    <a:ln w="0"/>
                    <a:effectLst>
                      <a:outerShdw blurRad="38100" dist="19050" dir="2700000" algn="tl" rotWithShape="0">
                        <a:schemeClr val="dk1">
                          <a:alpha val="40000"/>
                        </a:schemeClr>
                      </a:outerShdw>
                    </a:effectLst>
                    <a:latin typeface="+mj-lt"/>
                  </a:rPr>
                  <a:t>L[a, c+1], L[b, c+1] are defined.</a:t>
                </a:r>
              </a:p>
              <a:p>
                <a:endParaRPr lang="en-US" altLang="zh-TW" sz="2400" dirty="0">
                  <a:ln w="0"/>
                  <a:effectLst>
                    <a:outerShdw blurRad="38100" dist="19050" dir="2700000" algn="tl" rotWithShape="0">
                      <a:schemeClr val="dk1">
                        <a:alpha val="40000"/>
                      </a:schemeClr>
                    </a:outerShdw>
                  </a:effectLst>
                  <a:latin typeface="+mj-lt"/>
                </a:endParaRPr>
              </a:p>
              <a:p>
                <a:endParaRPr lang="en-US" altLang="zh-TW" sz="2700" dirty="0">
                  <a:ln w="0"/>
                  <a:effectLst>
                    <a:outerShdw blurRad="38100" dist="19050" dir="2700000" algn="tl" rotWithShape="0">
                      <a:schemeClr val="dk1">
                        <a:alpha val="40000"/>
                      </a:schemeClr>
                    </a:outerShdw>
                  </a:effectLst>
                  <a:latin typeface="+mj-lt"/>
                </a:endParaRPr>
              </a:p>
              <a:p>
                <a:r>
                  <a:rPr lang="en-US" altLang="zh-TW" sz="2400" dirty="0">
                    <a:ln w="0"/>
                    <a:effectLst>
                      <a:outerShdw blurRad="38100" dist="19050" dir="2700000" algn="tl" rotWithShape="0">
                        <a:schemeClr val="dk1">
                          <a:alpha val="40000"/>
                        </a:schemeClr>
                      </a:outerShdw>
                    </a:effectLst>
                    <a:latin typeface="+mj-lt"/>
                  </a:rPr>
                  <a:t>∵ </a:t>
                </a:r>
                <a:r>
                  <a:rPr lang="zh-TW" altLang="en-US" sz="2400" dirty="0">
                    <a:ln w="0"/>
                    <a:effectLst>
                      <a:outerShdw blurRad="38100" dist="19050" dir="2700000" algn="tl" rotWithShape="0">
                        <a:schemeClr val="dk1">
                          <a:alpha val="40000"/>
                        </a:schemeClr>
                      </a:outerShdw>
                    </a:effectLst>
                    <a:latin typeface="+mj-lt"/>
                  </a:rPr>
                  <a:t> </a:t>
                </a:r>
                <a:r>
                  <a:rPr lang="en-US" altLang="zh-TW" sz="2400" dirty="0">
                    <a:ln w="0"/>
                    <a:effectLst>
                      <a:outerShdw blurRad="38100" dist="19050" dir="2700000" algn="tl" rotWithShape="0">
                        <a:schemeClr val="dk1">
                          <a:alpha val="40000"/>
                        </a:schemeClr>
                      </a:outerShdw>
                    </a:effectLst>
                    <a:latin typeface="+mj-lt"/>
                  </a:rPr>
                  <a:t>L[b, c] </a:t>
                </a:r>
                <a14:m>
                  <m:oMath xmlns:m="http://schemas.openxmlformats.org/officeDocument/2006/math">
                    <m:r>
                      <a:rPr lang="en-US" altLang="zh-TW" sz="2400" i="1" dirty="0">
                        <a:ln w="0"/>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rPr>
                      <m:t>≤</m:t>
                    </m:r>
                  </m:oMath>
                </a14:m>
                <a:r>
                  <a:rPr lang="en-US" altLang="zh-TW" sz="2400" dirty="0">
                    <a:ln w="0"/>
                    <a:effectLst>
                      <a:outerShdw blurRad="38100" dist="19050" dir="2700000" algn="tl" rotWithShape="0">
                        <a:schemeClr val="dk1">
                          <a:alpha val="40000"/>
                        </a:schemeClr>
                      </a:outerShdw>
                    </a:effectLst>
                    <a:latin typeface="+mj-lt"/>
                  </a:rPr>
                  <a:t> L[a, c] &lt; L[a, c+1]</a:t>
                </a:r>
                <a:endParaRPr lang="zh-TW" altLang="en-US" sz="2400" dirty="0">
                  <a:ln w="0"/>
                  <a:effectLst>
                    <a:outerShdw blurRad="38100" dist="19050" dir="2700000" algn="tl" rotWithShape="0">
                      <a:schemeClr val="dk1">
                        <a:alpha val="40000"/>
                      </a:schemeClr>
                    </a:outerShdw>
                  </a:effectLst>
                  <a:latin typeface="+mj-lt"/>
                </a:endParaRPr>
              </a:p>
            </p:txBody>
          </p:sp>
        </mc:Choice>
        <mc:Fallback xmlns="">
          <p:sp>
            <p:nvSpPr>
              <p:cNvPr id="3" name="矩形 2"/>
              <p:cNvSpPr>
                <a:spLocks noRot="1" noChangeAspect="1" noMove="1" noResize="1" noEditPoints="1" noAdjustHandles="1" noChangeArrowheads="1" noChangeShapeType="1" noTextEdit="1"/>
              </p:cNvSpPr>
              <p:nvPr/>
            </p:nvSpPr>
            <p:spPr>
              <a:xfrm>
                <a:off x="6417737" y="1230470"/>
                <a:ext cx="5257721" cy="3662541"/>
              </a:xfrm>
              <a:prstGeom prst="rect">
                <a:avLst/>
              </a:prstGeom>
              <a:blipFill rotWithShape="0">
                <a:blip r:embed="rId3"/>
                <a:stretch>
                  <a:fillRect l="-3248" t="-2496" r="-2552" b="-549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86430302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063" y="1547943"/>
            <a:ext cx="4736191" cy="3828071"/>
          </a:xfrm>
          <a:prstGeom prst="rect">
            <a:avLst/>
          </a:prstGeom>
        </p:spPr>
      </p:pic>
      <mc:AlternateContent xmlns:mc="http://schemas.openxmlformats.org/markup-compatibility/2006" xmlns:a14="http://schemas.microsoft.com/office/drawing/2010/main">
        <mc:Choice Requires="a14">
          <p:sp>
            <p:nvSpPr>
              <p:cNvPr id="3" name="矩形 2"/>
              <p:cNvSpPr/>
              <p:nvPr/>
            </p:nvSpPr>
            <p:spPr>
              <a:xfrm>
                <a:off x="4850881" y="1776913"/>
                <a:ext cx="3750066" cy="3254737"/>
              </a:xfrm>
              <a:prstGeom prst="rect">
                <a:avLst/>
              </a:prstGeom>
              <a:noFill/>
            </p:spPr>
            <p:txBody>
              <a:bodyPr wrap="none" lIns="68580" tIns="34290" rIns="68580" bIns="34290">
                <a:spAutoFit/>
              </a:bodyPr>
              <a:lstStyle/>
              <a:p>
                <a:r>
                  <a:rPr lang="en-US" altLang="zh-TW" sz="2700" dirty="0">
                    <a:ln w="0"/>
                    <a:effectLst>
                      <a:outerShdw blurRad="38100" dist="19050" dir="2700000" algn="tl" rotWithShape="0">
                        <a:schemeClr val="dk1">
                          <a:alpha val="40000"/>
                        </a:schemeClr>
                      </a:outerShdw>
                    </a:effectLst>
                  </a:rPr>
                  <a:t>L[b, c] </a:t>
                </a:r>
                <a14:m>
                  <m:oMath xmlns:m="http://schemas.openxmlformats.org/officeDocument/2006/math">
                    <m:r>
                      <a:rPr lang="en-US" altLang="zh-TW" sz="2700" i="1" dirty="0">
                        <a:ln w="0"/>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rPr>
                      <m:t>≤</m:t>
                    </m:r>
                  </m:oMath>
                </a14:m>
                <a:r>
                  <a:rPr lang="en-US" altLang="zh-TW" sz="2700" dirty="0">
                    <a:ln w="0"/>
                    <a:effectLst>
                      <a:outerShdw blurRad="38100" dist="19050" dir="2700000" algn="tl" rotWithShape="0">
                        <a:schemeClr val="dk1">
                          <a:alpha val="40000"/>
                        </a:schemeClr>
                      </a:outerShdw>
                    </a:effectLst>
                  </a:rPr>
                  <a:t> L[a, c] &lt; L[a, c+1]</a:t>
                </a:r>
                <a:endParaRPr lang="zh-TW" altLang="en-US" sz="2700" dirty="0">
                  <a:ln w="0"/>
                  <a:effectLst>
                    <a:outerShdw blurRad="38100" dist="19050" dir="2700000" algn="tl" rotWithShape="0">
                      <a:schemeClr val="dk1">
                        <a:alpha val="40000"/>
                      </a:schemeClr>
                    </a:outerShdw>
                  </a:effectLst>
                </a:endParaRPr>
              </a:p>
              <a:p>
                <a:r>
                  <a:rPr lang="en-US" altLang="zh-TW" sz="2700" dirty="0">
                    <a:ln w="0"/>
                    <a:effectLst>
                      <a:outerShdw blurRad="38100" dist="19050" dir="2700000" algn="tl" rotWithShape="0">
                        <a:schemeClr val="dk1">
                          <a:alpha val="40000"/>
                        </a:schemeClr>
                      </a:outerShdw>
                    </a:effectLst>
                    <a:latin typeface="+mj-lt"/>
                  </a:rPr>
                  <a:t>|X|</a:t>
                </a:r>
                <a:r>
                  <a:rPr lang="zh-TW" altLang="en-US" sz="2700" dirty="0">
                    <a:ln w="0"/>
                    <a:effectLst>
                      <a:outerShdw blurRad="38100" dist="19050" dir="2700000" algn="tl" rotWithShape="0">
                        <a:schemeClr val="dk1">
                          <a:alpha val="40000"/>
                        </a:schemeClr>
                      </a:outerShdw>
                    </a:effectLst>
                    <a:latin typeface="+mj-lt"/>
                  </a:rPr>
                  <a:t> </a:t>
                </a:r>
                <a:r>
                  <a:rPr lang="en-US" altLang="zh-TW" sz="2700" dirty="0">
                    <a:ln w="0"/>
                    <a:effectLst>
                      <a:outerShdw blurRad="38100" dist="19050" dir="2700000" algn="tl" rotWithShape="0">
                        <a:schemeClr val="dk1">
                          <a:alpha val="40000"/>
                        </a:schemeClr>
                      </a:outerShdw>
                    </a:effectLst>
                    <a:latin typeface="+mj-lt"/>
                  </a:rPr>
                  <a:t>+</a:t>
                </a:r>
                <a:r>
                  <a:rPr lang="zh-TW" altLang="en-US" sz="2700" dirty="0">
                    <a:ln w="0"/>
                    <a:effectLst>
                      <a:outerShdw blurRad="38100" dist="19050" dir="2700000" algn="tl" rotWithShape="0">
                        <a:schemeClr val="dk1">
                          <a:alpha val="40000"/>
                        </a:schemeClr>
                      </a:outerShdw>
                    </a:effectLst>
                    <a:latin typeface="+mj-lt"/>
                  </a:rPr>
                  <a:t> </a:t>
                </a:r>
                <a:r>
                  <a:rPr lang="en-US" altLang="zh-TW" sz="2700" dirty="0">
                    <a:ln w="0"/>
                    <a:effectLst>
                      <a:outerShdw blurRad="38100" dist="19050" dir="2700000" algn="tl" rotWithShape="0">
                        <a:schemeClr val="dk1">
                          <a:alpha val="40000"/>
                        </a:schemeClr>
                      </a:outerShdw>
                    </a:effectLst>
                    <a:latin typeface="+mj-lt"/>
                  </a:rPr>
                  <a:t>|W|</a:t>
                </a:r>
                <a:r>
                  <a:rPr lang="zh-TW" altLang="en-US" sz="2700" dirty="0">
                    <a:ln w="0"/>
                    <a:effectLst>
                      <a:outerShdw blurRad="38100" dist="19050" dir="2700000" algn="tl" rotWithShape="0">
                        <a:schemeClr val="dk1">
                          <a:alpha val="40000"/>
                        </a:schemeClr>
                      </a:outerShdw>
                    </a:effectLst>
                    <a:latin typeface="+mj-lt"/>
                  </a:rPr>
                  <a:t> </a:t>
                </a:r>
                <a:r>
                  <a:rPr lang="en-US" altLang="zh-TW" sz="2700" dirty="0">
                    <a:ln w="0"/>
                    <a:effectLst>
                      <a:outerShdw blurRad="38100" dist="19050" dir="2700000" algn="tl" rotWithShape="0">
                        <a:schemeClr val="dk1">
                          <a:alpha val="40000"/>
                        </a:schemeClr>
                      </a:outerShdw>
                    </a:effectLst>
                    <a:latin typeface="+mj-lt"/>
                  </a:rPr>
                  <a:t>=</a:t>
                </a:r>
                <a:r>
                  <a:rPr lang="zh-TW" altLang="en-US" sz="2700" dirty="0">
                    <a:ln w="0"/>
                    <a:effectLst>
                      <a:outerShdw blurRad="38100" dist="19050" dir="2700000" algn="tl" rotWithShape="0">
                        <a:schemeClr val="dk1">
                          <a:alpha val="40000"/>
                        </a:schemeClr>
                      </a:outerShdw>
                    </a:effectLst>
                    <a:latin typeface="+mj-lt"/>
                  </a:rPr>
                  <a:t> </a:t>
                </a:r>
                <a:r>
                  <a:rPr lang="en-US" altLang="zh-TW" sz="2700" dirty="0">
                    <a:ln w="0"/>
                    <a:effectLst>
                      <a:outerShdw blurRad="38100" dist="19050" dir="2700000" algn="tl" rotWithShape="0">
                        <a:schemeClr val="dk1">
                          <a:alpha val="40000"/>
                        </a:schemeClr>
                      </a:outerShdw>
                    </a:effectLst>
                    <a:latin typeface="+mj-lt"/>
                  </a:rPr>
                  <a:t>c + 1,</a:t>
                </a:r>
              </a:p>
              <a:p>
                <a:r>
                  <a:rPr lang="en-US" altLang="zh-TW" sz="2700" dirty="0">
                    <a:ln w="0"/>
                    <a:effectLst>
                      <a:outerShdw blurRad="38100" dist="19050" dir="2700000" algn="tl" rotWithShape="0">
                        <a:schemeClr val="dk1">
                          <a:alpha val="40000"/>
                        </a:schemeClr>
                      </a:outerShdw>
                    </a:effectLst>
                    <a:latin typeface="+mj-lt"/>
                  </a:rPr>
                  <a:t>|Y| + |Z| = c.</a:t>
                </a:r>
              </a:p>
              <a:p>
                <a:endParaRPr lang="en-US" altLang="zh-TW" dirty="0">
                  <a:ln w="0"/>
                  <a:effectLst>
                    <a:outerShdw blurRad="38100" dist="19050" dir="2700000" algn="tl" rotWithShape="0">
                      <a:schemeClr val="dk1">
                        <a:alpha val="40000"/>
                      </a:schemeClr>
                    </a:outerShdw>
                  </a:effectLst>
                  <a:latin typeface="+mj-lt"/>
                </a:endParaRPr>
              </a:p>
              <a:p>
                <a:r>
                  <a:rPr lang="en-US" altLang="zh-TW" sz="2700" dirty="0">
                    <a:ln w="0"/>
                    <a:effectLst>
                      <a:outerShdw blurRad="38100" dist="19050" dir="2700000" algn="tl" rotWithShape="0">
                        <a:schemeClr val="dk1">
                          <a:alpha val="40000"/>
                        </a:schemeClr>
                      </a:outerShdw>
                    </a:effectLst>
                    <a:latin typeface="+mj-lt"/>
                  </a:rPr>
                  <a:t>Case 1: </a:t>
                </a:r>
              </a:p>
              <a:p>
                <a:r>
                  <a:rPr lang="en-US" altLang="zh-TW" sz="2700" dirty="0">
                    <a:ln w="0"/>
                    <a:effectLst>
                      <a:outerShdw blurRad="38100" dist="19050" dir="2700000" algn="tl" rotWithShape="0">
                        <a:schemeClr val="dk1">
                          <a:alpha val="40000"/>
                        </a:schemeClr>
                      </a:outerShdw>
                    </a:effectLst>
                    <a:latin typeface="+mj-lt"/>
                  </a:rPr>
                  <a:t>	</a:t>
                </a:r>
                <a:r>
                  <a:rPr lang="en-US" altLang="zh-TW" sz="2700" dirty="0">
                    <a:ln w="0"/>
                    <a:effectLst>
                      <a:outerShdw blurRad="38100" dist="19050" dir="2700000" algn="tl" rotWithShape="0">
                        <a:schemeClr val="dk1">
                          <a:alpha val="40000"/>
                        </a:schemeClr>
                      </a:outerShdw>
                    </a:effectLst>
                    <a:latin typeface="+mj-lt"/>
                  </a:rPr>
                  <a:t>|X|</a:t>
                </a:r>
                <a14:m>
                  <m:oMath xmlns:m="http://schemas.openxmlformats.org/officeDocument/2006/math">
                    <m:r>
                      <a:rPr lang="en-US" altLang="zh-TW" sz="2700" i="1">
                        <a:ln w="0"/>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rPr>
                      <m:t>≤ </m:t>
                    </m:r>
                  </m:oMath>
                </a14:m>
                <a:r>
                  <a:rPr lang="en-US" altLang="zh-TW" sz="2700" dirty="0">
                    <a:ln w="0"/>
                    <a:effectLst>
                      <a:outerShdw blurRad="38100" dist="19050" dir="2700000" algn="tl" rotWithShape="0">
                        <a:schemeClr val="dk1">
                          <a:alpha val="40000"/>
                        </a:schemeClr>
                      </a:outerShdw>
                    </a:effectLst>
                    <a:latin typeface="+mj-lt"/>
                  </a:rPr>
                  <a:t>|</a:t>
                </a:r>
                <a:r>
                  <a:rPr lang="en-US" altLang="zh-TW" sz="2700" dirty="0">
                    <a:ln w="0"/>
                    <a:effectLst>
                      <a:outerShdw blurRad="38100" dist="19050" dir="2700000" algn="tl" rotWithShape="0">
                        <a:schemeClr val="dk1">
                          <a:alpha val="40000"/>
                        </a:schemeClr>
                      </a:outerShdw>
                    </a:effectLst>
                    <a:latin typeface="+mj-lt"/>
                  </a:rPr>
                  <a:t>Y</a:t>
                </a:r>
                <a:r>
                  <a:rPr lang="en-US" altLang="zh-TW" sz="2700" dirty="0">
                    <a:ln w="0"/>
                    <a:effectLst>
                      <a:outerShdw blurRad="38100" dist="19050" dir="2700000" algn="tl" rotWithShape="0">
                        <a:schemeClr val="dk1">
                          <a:alpha val="40000"/>
                        </a:schemeClr>
                      </a:outerShdw>
                    </a:effectLst>
                    <a:latin typeface="+mj-lt"/>
                  </a:rPr>
                  <a:t>|,</a:t>
                </a:r>
                <a:endParaRPr lang="en-US" altLang="zh-TW" sz="2700" dirty="0">
                  <a:ln w="0"/>
                  <a:effectLst>
                    <a:outerShdw blurRad="38100" dist="19050" dir="2700000" algn="tl" rotWithShape="0">
                      <a:schemeClr val="dk1">
                        <a:alpha val="40000"/>
                      </a:schemeClr>
                    </a:outerShdw>
                  </a:effectLst>
                  <a:latin typeface="+mj-lt"/>
                  <a:ea typeface="Cambria Math" panose="02040503050406030204" pitchFamily="18" charset="0"/>
                </a:endParaRPr>
              </a:p>
              <a:p>
                <a:r>
                  <a:rPr lang="en-US" altLang="zh-TW" sz="2700" dirty="0">
                    <a:ln w="0"/>
                    <a:effectLst>
                      <a:outerShdw blurRad="38100" dist="19050" dir="2700000" algn="tl" rotWithShape="0">
                        <a:schemeClr val="dk1">
                          <a:alpha val="40000"/>
                        </a:schemeClr>
                      </a:outerShdw>
                    </a:effectLst>
                    <a:latin typeface="+mj-lt"/>
                  </a:rPr>
                  <a:t>Case 2:</a:t>
                </a:r>
              </a:p>
              <a:p>
                <a:r>
                  <a:rPr lang="en-US" altLang="zh-TW" sz="2700" dirty="0">
                    <a:ln w="0"/>
                    <a:effectLst>
                      <a:outerShdw blurRad="38100" dist="19050" dir="2700000" algn="tl" rotWithShape="0">
                        <a:schemeClr val="dk1">
                          <a:alpha val="40000"/>
                        </a:schemeClr>
                      </a:outerShdw>
                    </a:effectLst>
                    <a:latin typeface="+mj-lt"/>
                  </a:rPr>
                  <a:t>	</a:t>
                </a:r>
                <a:r>
                  <a:rPr lang="en-US" altLang="zh-TW" sz="2700" dirty="0">
                    <a:ln w="0"/>
                    <a:effectLst>
                      <a:outerShdw blurRad="38100" dist="19050" dir="2700000" algn="tl" rotWithShape="0">
                        <a:schemeClr val="dk1">
                          <a:alpha val="40000"/>
                        </a:schemeClr>
                      </a:outerShdw>
                    </a:effectLst>
                    <a:latin typeface="+mj-lt"/>
                  </a:rPr>
                  <a:t>|X| &gt; |Y|.</a:t>
                </a:r>
                <a:endParaRPr lang="zh-TW" altLang="en-US" sz="2700" dirty="0">
                  <a:ln w="0"/>
                  <a:effectLst>
                    <a:outerShdw blurRad="38100" dist="19050" dir="2700000" algn="tl" rotWithShape="0">
                      <a:schemeClr val="dk1">
                        <a:alpha val="40000"/>
                      </a:schemeClr>
                    </a:outerShdw>
                  </a:effectLst>
                  <a:latin typeface="+mj-lt"/>
                </a:endParaRPr>
              </a:p>
            </p:txBody>
          </p:sp>
        </mc:Choice>
        <mc:Fallback xmlns="">
          <p:sp>
            <p:nvSpPr>
              <p:cNvPr id="3" name="矩形 2"/>
              <p:cNvSpPr>
                <a:spLocks noRot="1" noChangeAspect="1" noMove="1" noResize="1" noEditPoints="1" noAdjustHandles="1" noChangeArrowheads="1" noChangeShapeType="1" noTextEdit="1"/>
              </p:cNvSpPr>
              <p:nvPr/>
            </p:nvSpPr>
            <p:spPr>
              <a:xfrm>
                <a:off x="6467841" y="1226217"/>
                <a:ext cx="4998484" cy="4339650"/>
              </a:xfrm>
              <a:prstGeom prst="rect">
                <a:avLst/>
              </a:prstGeom>
              <a:blipFill rotWithShape="0">
                <a:blip r:embed="rId3"/>
                <a:stretch>
                  <a:fillRect l="-4024" t="-2528" r="-3415" b="-5056"/>
                </a:stretch>
              </a:blipFill>
            </p:spPr>
            <p:txBody>
              <a:bodyPr/>
              <a:lstStyle/>
              <a:p>
                <a:r>
                  <a:rPr lang="zh-TW" altLang="en-US">
                    <a:noFill/>
                  </a:rPr>
                  <a:t> </a:t>
                </a:r>
              </a:p>
            </p:txBody>
          </p:sp>
        </mc:Fallback>
      </mc:AlternateContent>
      <p:cxnSp>
        <p:nvCxnSpPr>
          <p:cNvPr id="5" name="直線接點 4"/>
          <p:cNvCxnSpPr/>
          <p:nvPr/>
        </p:nvCxnSpPr>
        <p:spPr>
          <a:xfrm>
            <a:off x="2681476" y="3205880"/>
            <a:ext cx="36233" cy="2506085"/>
          </a:xfrm>
          <a:prstGeom prst="line">
            <a:avLst/>
          </a:prstGeom>
          <a:ln w="76200">
            <a:solidFill>
              <a:srgbClr val="92D050"/>
            </a:solidFill>
            <a:prstDash val="sysDot"/>
          </a:ln>
        </p:spPr>
        <p:style>
          <a:lnRef idx="1">
            <a:schemeClr val="accent1"/>
          </a:lnRef>
          <a:fillRef idx="0">
            <a:schemeClr val="accent1"/>
          </a:fillRef>
          <a:effectRef idx="0">
            <a:schemeClr val="accent1"/>
          </a:effectRef>
          <a:fontRef idx="minor">
            <a:schemeClr val="tx1"/>
          </a:fontRef>
        </p:style>
      </p:cxnSp>
      <p:cxnSp>
        <p:nvCxnSpPr>
          <p:cNvPr id="8" name="直線接點 7"/>
          <p:cNvCxnSpPr/>
          <p:nvPr/>
        </p:nvCxnSpPr>
        <p:spPr>
          <a:xfrm>
            <a:off x="2645244" y="1042888"/>
            <a:ext cx="36232" cy="1881157"/>
          </a:xfrm>
          <a:prstGeom prst="line">
            <a:avLst/>
          </a:prstGeom>
          <a:ln w="76200">
            <a:solidFill>
              <a:srgbClr val="92D050"/>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950139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063" y="1547943"/>
            <a:ext cx="4736191" cy="3828071"/>
          </a:xfrm>
          <a:prstGeom prst="rect">
            <a:avLst/>
          </a:prstGeom>
        </p:spPr>
      </p:pic>
      <mc:AlternateContent xmlns:mc="http://schemas.openxmlformats.org/markup-compatibility/2006" xmlns:a14="http://schemas.microsoft.com/office/drawing/2010/main">
        <mc:Choice Requires="a14">
          <p:sp>
            <p:nvSpPr>
              <p:cNvPr id="3" name="矩形 2"/>
              <p:cNvSpPr/>
              <p:nvPr/>
            </p:nvSpPr>
            <p:spPr>
              <a:xfrm>
                <a:off x="4850881" y="1776913"/>
                <a:ext cx="3750066" cy="3480953"/>
              </a:xfrm>
              <a:prstGeom prst="rect">
                <a:avLst/>
              </a:prstGeom>
              <a:noFill/>
            </p:spPr>
            <p:txBody>
              <a:bodyPr wrap="none" lIns="68580" tIns="34290" rIns="68580" bIns="34290">
                <a:spAutoFit/>
              </a:bodyPr>
              <a:lstStyle/>
              <a:p>
                <a:r>
                  <a:rPr lang="en-US" altLang="zh-TW" sz="2700" dirty="0">
                    <a:ln w="0"/>
                    <a:effectLst>
                      <a:outerShdw blurRad="38100" dist="19050" dir="2700000" algn="tl" rotWithShape="0">
                        <a:schemeClr val="dk1">
                          <a:alpha val="40000"/>
                        </a:schemeClr>
                      </a:outerShdw>
                    </a:effectLst>
                  </a:rPr>
                  <a:t>L[b, c] </a:t>
                </a:r>
                <a14:m>
                  <m:oMath xmlns:m="http://schemas.openxmlformats.org/officeDocument/2006/math">
                    <m:r>
                      <a:rPr lang="en-US" altLang="zh-TW" sz="2700" i="1" dirty="0">
                        <a:ln w="0"/>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rPr>
                      <m:t>≤</m:t>
                    </m:r>
                  </m:oMath>
                </a14:m>
                <a:r>
                  <a:rPr lang="en-US" altLang="zh-TW" sz="2700" dirty="0">
                    <a:ln w="0"/>
                    <a:effectLst>
                      <a:outerShdw blurRad="38100" dist="19050" dir="2700000" algn="tl" rotWithShape="0">
                        <a:schemeClr val="dk1">
                          <a:alpha val="40000"/>
                        </a:schemeClr>
                      </a:outerShdw>
                    </a:effectLst>
                  </a:rPr>
                  <a:t> L[a, c] &lt; L[a, c+1]</a:t>
                </a:r>
                <a:endParaRPr lang="zh-TW" altLang="en-US" sz="2700" dirty="0">
                  <a:ln w="0"/>
                  <a:effectLst>
                    <a:outerShdw blurRad="38100" dist="19050" dir="2700000" algn="tl" rotWithShape="0">
                      <a:schemeClr val="dk1">
                        <a:alpha val="40000"/>
                      </a:schemeClr>
                    </a:outerShdw>
                  </a:effectLst>
                </a:endParaRPr>
              </a:p>
              <a:p>
                <a:r>
                  <a:rPr lang="en-US" altLang="zh-TW" sz="2700" dirty="0">
                    <a:ln w="0"/>
                    <a:effectLst>
                      <a:outerShdw blurRad="38100" dist="19050" dir="2700000" algn="tl" rotWithShape="0">
                        <a:schemeClr val="dk1">
                          <a:alpha val="40000"/>
                        </a:schemeClr>
                      </a:outerShdw>
                    </a:effectLst>
                    <a:latin typeface="+mj-lt"/>
                  </a:rPr>
                  <a:t>|X|</a:t>
                </a:r>
                <a:r>
                  <a:rPr lang="zh-TW" altLang="en-US" sz="2700" dirty="0">
                    <a:ln w="0"/>
                    <a:effectLst>
                      <a:outerShdw blurRad="38100" dist="19050" dir="2700000" algn="tl" rotWithShape="0">
                        <a:schemeClr val="dk1">
                          <a:alpha val="40000"/>
                        </a:schemeClr>
                      </a:outerShdw>
                    </a:effectLst>
                    <a:latin typeface="+mj-lt"/>
                  </a:rPr>
                  <a:t> </a:t>
                </a:r>
                <a:r>
                  <a:rPr lang="en-US" altLang="zh-TW" sz="2700" dirty="0">
                    <a:ln w="0"/>
                    <a:effectLst>
                      <a:outerShdw blurRad="38100" dist="19050" dir="2700000" algn="tl" rotWithShape="0">
                        <a:schemeClr val="dk1">
                          <a:alpha val="40000"/>
                        </a:schemeClr>
                      </a:outerShdw>
                    </a:effectLst>
                    <a:latin typeface="+mj-lt"/>
                  </a:rPr>
                  <a:t>+</a:t>
                </a:r>
                <a:r>
                  <a:rPr lang="zh-TW" altLang="en-US" sz="2700" dirty="0">
                    <a:ln w="0"/>
                    <a:effectLst>
                      <a:outerShdw blurRad="38100" dist="19050" dir="2700000" algn="tl" rotWithShape="0">
                        <a:schemeClr val="dk1">
                          <a:alpha val="40000"/>
                        </a:schemeClr>
                      </a:outerShdw>
                    </a:effectLst>
                    <a:latin typeface="+mj-lt"/>
                  </a:rPr>
                  <a:t> </a:t>
                </a:r>
                <a:r>
                  <a:rPr lang="en-US" altLang="zh-TW" sz="2700" dirty="0">
                    <a:ln w="0"/>
                    <a:effectLst>
                      <a:outerShdw blurRad="38100" dist="19050" dir="2700000" algn="tl" rotWithShape="0">
                        <a:schemeClr val="dk1">
                          <a:alpha val="40000"/>
                        </a:schemeClr>
                      </a:outerShdw>
                    </a:effectLst>
                    <a:latin typeface="+mj-lt"/>
                  </a:rPr>
                  <a:t>|W|</a:t>
                </a:r>
                <a:r>
                  <a:rPr lang="zh-TW" altLang="en-US" sz="2700" dirty="0">
                    <a:ln w="0"/>
                    <a:effectLst>
                      <a:outerShdw blurRad="38100" dist="19050" dir="2700000" algn="tl" rotWithShape="0">
                        <a:schemeClr val="dk1">
                          <a:alpha val="40000"/>
                        </a:schemeClr>
                      </a:outerShdw>
                    </a:effectLst>
                    <a:latin typeface="+mj-lt"/>
                  </a:rPr>
                  <a:t> </a:t>
                </a:r>
                <a:r>
                  <a:rPr lang="en-US" altLang="zh-TW" sz="2700" dirty="0">
                    <a:ln w="0"/>
                    <a:effectLst>
                      <a:outerShdw blurRad="38100" dist="19050" dir="2700000" algn="tl" rotWithShape="0">
                        <a:schemeClr val="dk1">
                          <a:alpha val="40000"/>
                        </a:schemeClr>
                      </a:outerShdw>
                    </a:effectLst>
                    <a:latin typeface="+mj-lt"/>
                  </a:rPr>
                  <a:t>=</a:t>
                </a:r>
                <a:r>
                  <a:rPr lang="zh-TW" altLang="en-US" sz="2700" dirty="0">
                    <a:ln w="0"/>
                    <a:effectLst>
                      <a:outerShdw blurRad="38100" dist="19050" dir="2700000" algn="tl" rotWithShape="0">
                        <a:schemeClr val="dk1">
                          <a:alpha val="40000"/>
                        </a:schemeClr>
                      </a:outerShdw>
                    </a:effectLst>
                    <a:latin typeface="+mj-lt"/>
                  </a:rPr>
                  <a:t> </a:t>
                </a:r>
                <a:r>
                  <a:rPr lang="en-US" altLang="zh-TW" sz="2700" dirty="0">
                    <a:ln w="0"/>
                    <a:effectLst>
                      <a:outerShdw blurRad="38100" dist="19050" dir="2700000" algn="tl" rotWithShape="0">
                        <a:schemeClr val="dk1">
                          <a:alpha val="40000"/>
                        </a:schemeClr>
                      </a:outerShdw>
                    </a:effectLst>
                    <a:latin typeface="+mj-lt"/>
                  </a:rPr>
                  <a:t>c + 1,</a:t>
                </a:r>
              </a:p>
              <a:p>
                <a:r>
                  <a:rPr lang="en-US" altLang="zh-TW" sz="2700" dirty="0">
                    <a:ln w="0"/>
                    <a:effectLst>
                      <a:outerShdw blurRad="38100" dist="19050" dir="2700000" algn="tl" rotWithShape="0">
                        <a:schemeClr val="dk1">
                          <a:alpha val="40000"/>
                        </a:schemeClr>
                      </a:outerShdw>
                    </a:effectLst>
                    <a:latin typeface="+mj-lt"/>
                  </a:rPr>
                  <a:t>|Y| + |Z| = c.</a:t>
                </a:r>
              </a:p>
              <a:p>
                <a:endParaRPr lang="en-US" altLang="zh-TW" dirty="0">
                  <a:ln w="0"/>
                  <a:effectLst>
                    <a:outerShdw blurRad="38100" dist="19050" dir="2700000" algn="tl" rotWithShape="0">
                      <a:schemeClr val="dk1">
                        <a:alpha val="40000"/>
                      </a:schemeClr>
                    </a:outerShdw>
                  </a:effectLst>
                  <a:latin typeface="+mj-lt"/>
                </a:endParaRPr>
              </a:p>
              <a:p>
                <a:r>
                  <a:rPr lang="en-US" altLang="zh-TW" sz="2700" dirty="0">
                    <a:ln w="0"/>
                    <a:effectLst>
                      <a:outerShdw blurRad="38100" dist="19050" dir="2700000" algn="tl" rotWithShape="0">
                        <a:schemeClr val="dk1">
                          <a:alpha val="40000"/>
                        </a:schemeClr>
                      </a:outerShdw>
                    </a:effectLst>
                    <a:latin typeface="+mj-lt"/>
                  </a:rPr>
                  <a:t>Case 1: </a:t>
                </a:r>
              </a:p>
              <a:p>
                <a:r>
                  <a:rPr lang="en-US" altLang="zh-TW" sz="2700" dirty="0">
                    <a:ln w="0"/>
                    <a:effectLst>
                      <a:outerShdw blurRad="38100" dist="19050" dir="2700000" algn="tl" rotWithShape="0">
                        <a:schemeClr val="dk1">
                          <a:alpha val="40000"/>
                        </a:schemeClr>
                      </a:outerShdw>
                    </a:effectLst>
                    <a:latin typeface="+mj-lt"/>
                  </a:rPr>
                  <a:t>	</a:t>
                </a:r>
                <a:r>
                  <a:rPr lang="en-US" altLang="zh-TW" sz="2700" dirty="0">
                    <a:ln w="0"/>
                    <a:effectLst>
                      <a:outerShdw blurRad="38100" dist="19050" dir="2700000" algn="tl" rotWithShape="0">
                        <a:schemeClr val="dk1">
                          <a:alpha val="40000"/>
                        </a:schemeClr>
                      </a:outerShdw>
                    </a:effectLst>
                    <a:latin typeface="+mj-lt"/>
                  </a:rPr>
                  <a:t>|X|</a:t>
                </a:r>
                <a14:m>
                  <m:oMath xmlns:m="http://schemas.openxmlformats.org/officeDocument/2006/math">
                    <m:r>
                      <a:rPr lang="en-US" altLang="zh-TW" sz="2700" i="1">
                        <a:ln w="0"/>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rPr>
                      <m:t>≤ </m:t>
                    </m:r>
                  </m:oMath>
                </a14:m>
                <a:r>
                  <a:rPr lang="en-US" altLang="zh-TW" sz="2700" dirty="0">
                    <a:ln w="0"/>
                    <a:effectLst>
                      <a:outerShdw blurRad="38100" dist="19050" dir="2700000" algn="tl" rotWithShape="0">
                        <a:schemeClr val="dk1">
                          <a:alpha val="40000"/>
                        </a:schemeClr>
                      </a:outerShdw>
                    </a:effectLst>
                    <a:latin typeface="+mj-lt"/>
                  </a:rPr>
                  <a:t>|</a:t>
                </a:r>
                <a:r>
                  <a:rPr lang="en-US" altLang="zh-TW" sz="2700" dirty="0">
                    <a:ln w="0"/>
                    <a:effectLst>
                      <a:outerShdw blurRad="38100" dist="19050" dir="2700000" algn="tl" rotWithShape="0">
                        <a:schemeClr val="dk1">
                          <a:alpha val="40000"/>
                        </a:schemeClr>
                      </a:outerShdw>
                    </a:effectLst>
                    <a:latin typeface="+mj-lt"/>
                  </a:rPr>
                  <a:t>Y</a:t>
                </a:r>
                <a:r>
                  <a:rPr lang="en-US" altLang="zh-TW" sz="2700" dirty="0">
                    <a:ln w="0"/>
                    <a:effectLst>
                      <a:outerShdw blurRad="38100" dist="19050" dir="2700000" algn="tl" rotWithShape="0">
                        <a:schemeClr val="dk1">
                          <a:alpha val="40000"/>
                        </a:schemeClr>
                      </a:outerShdw>
                    </a:effectLst>
                    <a:latin typeface="+mj-lt"/>
                  </a:rPr>
                  <a:t>|.</a:t>
                </a:r>
              </a:p>
              <a:p>
                <a14:m>
                  <m:oMath xmlns:m="http://schemas.openxmlformats.org/officeDocument/2006/math">
                    <m:groupChr>
                      <m:groupChrPr>
                        <m:chr m:val="⇒"/>
                        <m:pos m:val="top"/>
                        <m:ctrlPr>
                          <a:rPr lang="en-US" altLang="zh-TW" sz="2700" i="1">
                            <a:ln w="0"/>
                            <a:effectLst>
                              <a:outerShdw blurRad="38100" dist="19050" dir="2700000" algn="tl" rotWithShape="0">
                                <a:schemeClr val="dk1">
                                  <a:alpha val="40000"/>
                                </a:schemeClr>
                              </a:outerShdw>
                            </a:effectLst>
                            <a:latin typeface="Cambria Math" panose="02040503050406030204" pitchFamily="18" charset="0"/>
                          </a:rPr>
                        </m:ctrlPr>
                      </m:groupChrPr>
                      <m:e>
                        <m:r>
                          <m:rPr>
                            <m:brk m:alnAt="1"/>
                          </m:rPr>
                          <a:rPr lang="en-US" altLang="zh-TW" sz="2700" i="1">
                            <a:ln w="0"/>
                            <a:effectLst>
                              <a:outerShdw blurRad="38100" dist="19050" dir="2700000" algn="tl" rotWithShape="0">
                                <a:schemeClr val="dk1">
                                  <a:alpha val="40000"/>
                                </a:schemeClr>
                              </a:outerShdw>
                            </a:effectLst>
                            <a:latin typeface="Cambria Math" panose="02040503050406030204" pitchFamily="18" charset="0"/>
                          </a:rPr>
                          <m:t> </m:t>
                        </m:r>
                      </m:e>
                    </m:groupChr>
                  </m:oMath>
                </a14:m>
                <a:r>
                  <a:rPr lang="en-US" altLang="zh-TW" sz="2700" dirty="0">
                    <a:ln w="0"/>
                    <a:effectLst>
                      <a:outerShdw blurRad="38100" dist="19050" dir="2700000" algn="tl" rotWithShape="0">
                        <a:schemeClr val="dk1">
                          <a:alpha val="40000"/>
                        </a:schemeClr>
                      </a:outerShdw>
                    </a:effectLst>
                    <a:latin typeface="+mj-lt"/>
                  </a:rPr>
                  <a:t>|Y|</a:t>
                </a:r>
                <a:r>
                  <a:rPr lang="zh-TW" altLang="en-US" sz="2700" dirty="0">
                    <a:ln w="0"/>
                    <a:effectLst>
                      <a:outerShdw blurRad="38100" dist="19050" dir="2700000" algn="tl" rotWithShape="0">
                        <a:schemeClr val="dk1">
                          <a:alpha val="40000"/>
                        </a:schemeClr>
                      </a:outerShdw>
                    </a:effectLst>
                    <a:latin typeface="+mj-lt"/>
                  </a:rPr>
                  <a:t> </a:t>
                </a:r>
                <a:r>
                  <a:rPr lang="en-US" altLang="zh-TW" sz="2700" dirty="0">
                    <a:ln w="0"/>
                    <a:effectLst>
                      <a:outerShdw blurRad="38100" dist="19050" dir="2700000" algn="tl" rotWithShape="0">
                        <a:schemeClr val="dk1">
                          <a:alpha val="40000"/>
                        </a:schemeClr>
                      </a:outerShdw>
                    </a:effectLst>
                    <a:latin typeface="+mj-lt"/>
                  </a:rPr>
                  <a:t>+</a:t>
                </a:r>
                <a:r>
                  <a:rPr lang="zh-TW" altLang="en-US" sz="2700" dirty="0">
                    <a:ln w="0"/>
                    <a:effectLst>
                      <a:outerShdw blurRad="38100" dist="19050" dir="2700000" algn="tl" rotWithShape="0">
                        <a:schemeClr val="dk1">
                          <a:alpha val="40000"/>
                        </a:schemeClr>
                      </a:outerShdw>
                    </a:effectLst>
                    <a:latin typeface="+mj-lt"/>
                  </a:rPr>
                  <a:t> </a:t>
                </a:r>
                <a:r>
                  <a:rPr lang="en-US" altLang="zh-TW" sz="2700" dirty="0">
                    <a:ln w="0"/>
                    <a:effectLst>
                      <a:outerShdw blurRad="38100" dist="19050" dir="2700000" algn="tl" rotWithShape="0">
                        <a:schemeClr val="dk1">
                          <a:alpha val="40000"/>
                        </a:schemeClr>
                      </a:outerShdw>
                    </a:effectLst>
                    <a:latin typeface="+mj-lt"/>
                  </a:rPr>
                  <a:t>|W|</a:t>
                </a:r>
                <a:r>
                  <a:rPr lang="zh-TW" altLang="en-US" sz="2700" dirty="0">
                    <a:ln w="0"/>
                    <a:effectLst>
                      <a:outerShdw blurRad="38100" dist="19050" dir="2700000" algn="tl" rotWithShape="0">
                        <a:schemeClr val="dk1">
                          <a:alpha val="40000"/>
                        </a:schemeClr>
                      </a:outerShdw>
                    </a:effectLst>
                    <a:latin typeface="+mj-lt"/>
                  </a:rPr>
                  <a:t> </a:t>
                </a:r>
                <a:r>
                  <a:rPr lang="en-US" altLang="zh-TW" sz="2700" dirty="0">
                    <a:ln w="0"/>
                    <a:effectLst>
                      <a:outerShdw blurRad="38100" dist="19050" dir="2700000" algn="tl" rotWithShape="0">
                        <a:schemeClr val="dk1">
                          <a:alpha val="40000"/>
                        </a:schemeClr>
                      </a:outerShdw>
                    </a:effectLst>
                    <a:latin typeface="+mj-lt"/>
                  </a:rPr>
                  <a:t>≥ </a:t>
                </a:r>
                <a:r>
                  <a:rPr lang="en-US" altLang="zh-TW" sz="2700" dirty="0">
                    <a:ln w="0"/>
                    <a:effectLst>
                      <a:outerShdw blurRad="38100" dist="19050" dir="2700000" algn="tl" rotWithShape="0">
                        <a:schemeClr val="dk1">
                          <a:alpha val="40000"/>
                        </a:schemeClr>
                      </a:outerShdw>
                    </a:effectLst>
                    <a:latin typeface="+mj-lt"/>
                  </a:rPr>
                  <a:t>c+1,</a:t>
                </a:r>
              </a:p>
              <a:p>
                <a14:m>
                  <m:oMath xmlns:m="http://schemas.openxmlformats.org/officeDocument/2006/math">
                    <m:groupChr>
                      <m:groupChrPr>
                        <m:chr m:val="⇒"/>
                        <m:pos m:val="top"/>
                        <m:ctrlPr>
                          <a:rPr lang="en-US" altLang="zh-TW" sz="2700" i="1">
                            <a:ln w="0"/>
                            <a:effectLst>
                              <a:outerShdw blurRad="38100" dist="19050" dir="2700000" algn="tl" rotWithShape="0">
                                <a:schemeClr val="dk1">
                                  <a:alpha val="40000"/>
                                </a:schemeClr>
                              </a:outerShdw>
                            </a:effectLst>
                            <a:latin typeface="Cambria Math" panose="02040503050406030204" pitchFamily="18" charset="0"/>
                          </a:rPr>
                        </m:ctrlPr>
                      </m:groupChrPr>
                      <m:e>
                        <m:r>
                          <m:rPr>
                            <m:brk m:alnAt="1"/>
                          </m:rPr>
                          <a:rPr lang="en-US" altLang="zh-TW" sz="2700" i="1">
                            <a:ln w="0"/>
                            <a:effectLst>
                              <a:outerShdw blurRad="38100" dist="19050" dir="2700000" algn="tl" rotWithShape="0">
                                <a:schemeClr val="dk1">
                                  <a:alpha val="40000"/>
                                </a:schemeClr>
                              </a:outerShdw>
                            </a:effectLst>
                            <a:latin typeface="Cambria Math" panose="02040503050406030204" pitchFamily="18" charset="0"/>
                          </a:rPr>
                          <m:t> </m:t>
                        </m:r>
                      </m:e>
                    </m:groupChr>
                  </m:oMath>
                </a14:m>
                <a:r>
                  <a:rPr lang="en-US" altLang="zh-TW" sz="2700" dirty="0">
                    <a:ln w="0"/>
                    <a:effectLst>
                      <a:outerShdw blurRad="38100" dist="19050" dir="2700000" algn="tl" rotWithShape="0">
                        <a:schemeClr val="dk1">
                          <a:alpha val="40000"/>
                        </a:schemeClr>
                      </a:outerShdw>
                    </a:effectLst>
                    <a:latin typeface="+mj-lt"/>
                  </a:rPr>
                  <a:t>L[b, c+1] </a:t>
                </a:r>
                <a14:m>
                  <m:oMath xmlns:m="http://schemas.openxmlformats.org/officeDocument/2006/math">
                    <m:r>
                      <a:rPr lang="en-US" altLang="zh-TW" sz="2700" i="1">
                        <a:ln w="0"/>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rPr>
                      <m:t>≤</m:t>
                    </m:r>
                  </m:oMath>
                </a14:m>
                <a:r>
                  <a:rPr lang="en-US" altLang="zh-TW" sz="2700" dirty="0">
                    <a:ln w="0"/>
                    <a:effectLst>
                      <a:outerShdw blurRad="38100" dist="19050" dir="2700000" algn="tl" rotWithShape="0">
                        <a:schemeClr val="dk1">
                          <a:alpha val="40000"/>
                        </a:schemeClr>
                      </a:outerShdw>
                    </a:effectLst>
                    <a:latin typeface="+mj-lt"/>
                  </a:rPr>
                  <a:t> L[a, c+1]</a:t>
                </a:r>
                <a:r>
                  <a:rPr lang="en-US" altLang="zh-TW" sz="2700" baseline="-25000" dirty="0">
                    <a:ln w="0"/>
                    <a:effectLst>
                      <a:outerShdw blurRad="38100" dist="19050" dir="2700000" algn="tl" rotWithShape="0">
                        <a:schemeClr val="dk1">
                          <a:alpha val="40000"/>
                        </a:schemeClr>
                      </a:outerShdw>
                    </a:effectLst>
                    <a:latin typeface="+mj-lt"/>
                  </a:rPr>
                  <a:t>#</a:t>
                </a:r>
                <a:endParaRPr lang="en-US" altLang="zh-TW" sz="2700" baseline="-25000" dirty="0">
                  <a:ln w="0"/>
                  <a:effectLst>
                    <a:outerShdw blurRad="38100" dist="19050" dir="2700000" algn="tl" rotWithShape="0">
                      <a:schemeClr val="dk1">
                        <a:alpha val="40000"/>
                      </a:schemeClr>
                    </a:outerShdw>
                  </a:effectLst>
                  <a:latin typeface="+mj-lt"/>
                  <a:ea typeface="Cambria Math" panose="02040503050406030204" pitchFamily="18" charset="0"/>
                </a:endParaRPr>
              </a:p>
            </p:txBody>
          </p:sp>
        </mc:Choice>
        <mc:Fallback xmlns="">
          <p:sp>
            <p:nvSpPr>
              <p:cNvPr id="3" name="矩形 2"/>
              <p:cNvSpPr>
                <a:spLocks noRot="1" noChangeAspect="1" noMove="1" noResize="1" noEditPoints="1" noAdjustHandles="1" noChangeArrowheads="1" noChangeShapeType="1" noTextEdit="1"/>
              </p:cNvSpPr>
              <p:nvPr/>
            </p:nvSpPr>
            <p:spPr>
              <a:xfrm>
                <a:off x="6467841" y="1226217"/>
                <a:ext cx="4998484" cy="4641271"/>
              </a:xfrm>
              <a:prstGeom prst="rect">
                <a:avLst/>
              </a:prstGeom>
              <a:blipFill rotWithShape="0">
                <a:blip r:embed="rId3"/>
                <a:stretch>
                  <a:fillRect l="-4024" t="-2362" r="-3415" b="-1575"/>
                </a:stretch>
              </a:blipFill>
            </p:spPr>
            <p:txBody>
              <a:bodyPr/>
              <a:lstStyle/>
              <a:p>
                <a:r>
                  <a:rPr lang="zh-TW" altLang="en-US">
                    <a:noFill/>
                  </a:rPr>
                  <a:t> </a:t>
                </a:r>
              </a:p>
            </p:txBody>
          </p:sp>
        </mc:Fallback>
      </mc:AlternateContent>
      <p:cxnSp>
        <p:nvCxnSpPr>
          <p:cNvPr id="5" name="直線接點 4"/>
          <p:cNvCxnSpPr/>
          <p:nvPr/>
        </p:nvCxnSpPr>
        <p:spPr>
          <a:xfrm>
            <a:off x="2681476" y="3205880"/>
            <a:ext cx="36233" cy="2506085"/>
          </a:xfrm>
          <a:prstGeom prst="line">
            <a:avLst/>
          </a:prstGeom>
          <a:ln w="76200">
            <a:solidFill>
              <a:srgbClr val="92D050"/>
            </a:solidFill>
            <a:prstDash val="sysDot"/>
          </a:ln>
        </p:spPr>
        <p:style>
          <a:lnRef idx="1">
            <a:schemeClr val="accent1"/>
          </a:lnRef>
          <a:fillRef idx="0">
            <a:schemeClr val="accent1"/>
          </a:fillRef>
          <a:effectRef idx="0">
            <a:schemeClr val="accent1"/>
          </a:effectRef>
          <a:fontRef idx="minor">
            <a:schemeClr val="tx1"/>
          </a:fontRef>
        </p:style>
      </p:cxnSp>
      <p:cxnSp>
        <p:nvCxnSpPr>
          <p:cNvPr id="8" name="直線接點 7"/>
          <p:cNvCxnSpPr/>
          <p:nvPr/>
        </p:nvCxnSpPr>
        <p:spPr>
          <a:xfrm>
            <a:off x="2645244" y="1042888"/>
            <a:ext cx="36232" cy="1881157"/>
          </a:xfrm>
          <a:prstGeom prst="line">
            <a:avLst/>
          </a:prstGeom>
          <a:ln w="76200">
            <a:solidFill>
              <a:srgbClr val="92D050"/>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55685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063" y="1547943"/>
            <a:ext cx="4736191" cy="3828071"/>
          </a:xfrm>
          <a:prstGeom prst="rect">
            <a:avLst/>
          </a:prstGeom>
        </p:spPr>
      </p:pic>
      <mc:AlternateContent xmlns:mc="http://schemas.openxmlformats.org/markup-compatibility/2006" xmlns:a14="http://schemas.microsoft.com/office/drawing/2010/main">
        <mc:Choice Requires="a14">
          <p:sp>
            <p:nvSpPr>
              <p:cNvPr id="3" name="矩形 2"/>
              <p:cNvSpPr/>
              <p:nvPr/>
            </p:nvSpPr>
            <p:spPr>
              <a:xfrm>
                <a:off x="4850881" y="1776913"/>
                <a:ext cx="3721212" cy="3480953"/>
              </a:xfrm>
              <a:prstGeom prst="rect">
                <a:avLst/>
              </a:prstGeom>
              <a:noFill/>
            </p:spPr>
            <p:txBody>
              <a:bodyPr wrap="none" lIns="68580" tIns="34290" rIns="68580" bIns="34290">
                <a:spAutoFit/>
              </a:bodyPr>
              <a:lstStyle/>
              <a:p>
                <a:pPr lvl="0"/>
                <a:r>
                  <a:rPr lang="en-US" altLang="zh-TW" sz="2700" dirty="0">
                    <a:ln w="0"/>
                    <a:solidFill>
                      <a:prstClr val="black"/>
                    </a:solidFill>
                    <a:effectLst>
                      <a:outerShdw blurRad="38100" dist="19050" dir="2700000" algn="tl" rotWithShape="0">
                        <a:prstClr val="black">
                          <a:alpha val="40000"/>
                        </a:prstClr>
                      </a:outerShdw>
                    </a:effectLst>
                    <a:latin typeface="+mj-lt"/>
                  </a:rPr>
                  <a:t>L[b, c] </a:t>
                </a:r>
                <a14:m>
                  <m:oMath xmlns:m="http://schemas.openxmlformats.org/officeDocument/2006/math">
                    <m:r>
                      <a:rPr lang="en-US" altLang="zh-TW" sz="2700" i="1" dirty="0">
                        <a:ln w="0"/>
                        <a:solidFill>
                          <a:prstClr val="black"/>
                        </a:solidFill>
                        <a:effectLst>
                          <a:outerShdw blurRad="38100" dist="19050" dir="2700000" algn="tl" rotWithShape="0">
                            <a:prstClr val="black">
                              <a:alpha val="40000"/>
                            </a:prstClr>
                          </a:outerShdw>
                        </a:effectLst>
                        <a:latin typeface="Cambria Math" panose="02040503050406030204" pitchFamily="18" charset="0"/>
                        <a:ea typeface="Cambria Math" panose="02040503050406030204" pitchFamily="18" charset="0"/>
                      </a:rPr>
                      <m:t>≤</m:t>
                    </m:r>
                  </m:oMath>
                </a14:m>
                <a:r>
                  <a:rPr lang="en-US" altLang="zh-TW" sz="2700" dirty="0">
                    <a:ln w="0"/>
                    <a:solidFill>
                      <a:prstClr val="black"/>
                    </a:solidFill>
                    <a:effectLst>
                      <a:outerShdw blurRad="38100" dist="19050" dir="2700000" algn="tl" rotWithShape="0">
                        <a:prstClr val="black">
                          <a:alpha val="40000"/>
                        </a:prstClr>
                      </a:outerShdw>
                    </a:effectLst>
                    <a:latin typeface="+mj-lt"/>
                  </a:rPr>
                  <a:t> L[a, c] &lt; L[a, c+1]</a:t>
                </a:r>
                <a:endParaRPr lang="zh-TW" altLang="en-US" sz="2700" dirty="0">
                  <a:ln w="0"/>
                  <a:solidFill>
                    <a:prstClr val="black"/>
                  </a:solidFill>
                  <a:effectLst>
                    <a:outerShdw blurRad="38100" dist="19050" dir="2700000" algn="tl" rotWithShape="0">
                      <a:prstClr val="black">
                        <a:alpha val="40000"/>
                      </a:prstClr>
                    </a:outerShdw>
                  </a:effectLst>
                  <a:latin typeface="+mj-lt"/>
                </a:endParaRPr>
              </a:p>
              <a:p>
                <a:r>
                  <a:rPr lang="en-US" altLang="zh-TW" sz="2700" dirty="0">
                    <a:ln w="0"/>
                    <a:effectLst>
                      <a:outerShdw blurRad="38100" dist="19050" dir="2700000" algn="tl" rotWithShape="0">
                        <a:schemeClr val="dk1">
                          <a:alpha val="40000"/>
                        </a:schemeClr>
                      </a:outerShdw>
                    </a:effectLst>
                    <a:latin typeface="+mj-lt"/>
                  </a:rPr>
                  <a:t>|X|</a:t>
                </a:r>
                <a:r>
                  <a:rPr lang="zh-TW" altLang="en-US" sz="2700" dirty="0">
                    <a:ln w="0"/>
                    <a:effectLst>
                      <a:outerShdw blurRad="38100" dist="19050" dir="2700000" algn="tl" rotWithShape="0">
                        <a:schemeClr val="dk1">
                          <a:alpha val="40000"/>
                        </a:schemeClr>
                      </a:outerShdw>
                    </a:effectLst>
                    <a:latin typeface="+mj-lt"/>
                  </a:rPr>
                  <a:t> </a:t>
                </a:r>
                <a:r>
                  <a:rPr lang="en-US" altLang="zh-TW" sz="2700" dirty="0">
                    <a:ln w="0"/>
                    <a:effectLst>
                      <a:outerShdw blurRad="38100" dist="19050" dir="2700000" algn="tl" rotWithShape="0">
                        <a:schemeClr val="dk1">
                          <a:alpha val="40000"/>
                        </a:schemeClr>
                      </a:outerShdw>
                    </a:effectLst>
                    <a:latin typeface="+mj-lt"/>
                  </a:rPr>
                  <a:t>+</a:t>
                </a:r>
                <a:r>
                  <a:rPr lang="zh-TW" altLang="en-US" sz="2700" dirty="0">
                    <a:ln w="0"/>
                    <a:effectLst>
                      <a:outerShdw blurRad="38100" dist="19050" dir="2700000" algn="tl" rotWithShape="0">
                        <a:schemeClr val="dk1">
                          <a:alpha val="40000"/>
                        </a:schemeClr>
                      </a:outerShdw>
                    </a:effectLst>
                    <a:latin typeface="+mj-lt"/>
                  </a:rPr>
                  <a:t> </a:t>
                </a:r>
                <a:r>
                  <a:rPr lang="en-US" altLang="zh-TW" sz="2700" dirty="0">
                    <a:ln w="0"/>
                    <a:effectLst>
                      <a:outerShdw blurRad="38100" dist="19050" dir="2700000" algn="tl" rotWithShape="0">
                        <a:schemeClr val="dk1">
                          <a:alpha val="40000"/>
                        </a:schemeClr>
                      </a:outerShdw>
                    </a:effectLst>
                    <a:latin typeface="+mj-lt"/>
                  </a:rPr>
                  <a:t>|W|</a:t>
                </a:r>
                <a:r>
                  <a:rPr lang="zh-TW" altLang="en-US" sz="2700" dirty="0">
                    <a:ln w="0"/>
                    <a:effectLst>
                      <a:outerShdw blurRad="38100" dist="19050" dir="2700000" algn="tl" rotWithShape="0">
                        <a:schemeClr val="dk1">
                          <a:alpha val="40000"/>
                        </a:schemeClr>
                      </a:outerShdw>
                    </a:effectLst>
                    <a:latin typeface="+mj-lt"/>
                  </a:rPr>
                  <a:t> </a:t>
                </a:r>
                <a:r>
                  <a:rPr lang="en-US" altLang="zh-TW" sz="2700" dirty="0">
                    <a:ln w="0"/>
                    <a:effectLst>
                      <a:outerShdw blurRad="38100" dist="19050" dir="2700000" algn="tl" rotWithShape="0">
                        <a:schemeClr val="dk1">
                          <a:alpha val="40000"/>
                        </a:schemeClr>
                      </a:outerShdw>
                    </a:effectLst>
                    <a:latin typeface="+mj-lt"/>
                  </a:rPr>
                  <a:t>=</a:t>
                </a:r>
                <a:r>
                  <a:rPr lang="zh-TW" altLang="en-US" sz="2700" dirty="0">
                    <a:ln w="0"/>
                    <a:effectLst>
                      <a:outerShdw blurRad="38100" dist="19050" dir="2700000" algn="tl" rotWithShape="0">
                        <a:schemeClr val="dk1">
                          <a:alpha val="40000"/>
                        </a:schemeClr>
                      </a:outerShdw>
                    </a:effectLst>
                    <a:latin typeface="+mj-lt"/>
                  </a:rPr>
                  <a:t> </a:t>
                </a:r>
                <a:r>
                  <a:rPr lang="en-US" altLang="zh-TW" sz="2700" dirty="0">
                    <a:ln w="0"/>
                    <a:effectLst>
                      <a:outerShdw blurRad="38100" dist="19050" dir="2700000" algn="tl" rotWithShape="0">
                        <a:schemeClr val="dk1">
                          <a:alpha val="40000"/>
                        </a:schemeClr>
                      </a:outerShdw>
                    </a:effectLst>
                    <a:latin typeface="+mj-lt"/>
                  </a:rPr>
                  <a:t>c + 1,</a:t>
                </a:r>
              </a:p>
              <a:p>
                <a:r>
                  <a:rPr lang="en-US" altLang="zh-TW" sz="2700" dirty="0">
                    <a:ln w="0"/>
                    <a:effectLst>
                      <a:outerShdw blurRad="38100" dist="19050" dir="2700000" algn="tl" rotWithShape="0">
                        <a:schemeClr val="dk1">
                          <a:alpha val="40000"/>
                        </a:schemeClr>
                      </a:outerShdw>
                    </a:effectLst>
                    <a:latin typeface="+mj-lt"/>
                  </a:rPr>
                  <a:t>|Y| + |Z| = c.</a:t>
                </a:r>
              </a:p>
              <a:p>
                <a:endParaRPr lang="en-US" altLang="zh-TW" dirty="0">
                  <a:ln w="0"/>
                  <a:effectLst>
                    <a:outerShdw blurRad="38100" dist="19050" dir="2700000" algn="tl" rotWithShape="0">
                      <a:schemeClr val="dk1">
                        <a:alpha val="40000"/>
                      </a:schemeClr>
                    </a:outerShdw>
                  </a:effectLst>
                  <a:latin typeface="+mj-lt"/>
                </a:endParaRPr>
              </a:p>
              <a:p>
                <a:r>
                  <a:rPr lang="en-US" altLang="zh-TW" sz="2700" dirty="0">
                    <a:ln w="0"/>
                    <a:effectLst>
                      <a:outerShdw blurRad="38100" dist="19050" dir="2700000" algn="tl" rotWithShape="0">
                        <a:schemeClr val="dk1">
                          <a:alpha val="40000"/>
                        </a:schemeClr>
                      </a:outerShdw>
                    </a:effectLst>
                    <a:latin typeface="+mj-lt"/>
                  </a:rPr>
                  <a:t>Case 2: </a:t>
                </a:r>
              </a:p>
              <a:p>
                <a:r>
                  <a:rPr lang="en-US" altLang="zh-TW" sz="2700" dirty="0">
                    <a:ln w="0"/>
                    <a:effectLst>
                      <a:outerShdw blurRad="38100" dist="19050" dir="2700000" algn="tl" rotWithShape="0">
                        <a:schemeClr val="dk1">
                          <a:alpha val="40000"/>
                        </a:schemeClr>
                      </a:outerShdw>
                    </a:effectLst>
                    <a:latin typeface="+mj-lt"/>
                  </a:rPr>
                  <a:t>	</a:t>
                </a:r>
                <a:r>
                  <a:rPr lang="en-US" altLang="zh-TW" sz="2700" dirty="0">
                    <a:ln w="0"/>
                    <a:effectLst>
                      <a:outerShdw blurRad="38100" dist="19050" dir="2700000" algn="tl" rotWithShape="0">
                        <a:schemeClr val="dk1">
                          <a:alpha val="40000"/>
                        </a:schemeClr>
                      </a:outerShdw>
                    </a:effectLst>
                    <a:latin typeface="+mj-lt"/>
                  </a:rPr>
                  <a:t>|X| &gt;</a:t>
                </a:r>
                <a14:m>
                  <m:oMath xmlns:m="http://schemas.openxmlformats.org/officeDocument/2006/math">
                    <m:r>
                      <a:rPr lang="en-US" altLang="zh-TW" sz="2700" i="1">
                        <a:ln w="0"/>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rPr>
                      <m:t> </m:t>
                    </m:r>
                  </m:oMath>
                </a14:m>
                <a:r>
                  <a:rPr lang="en-US" altLang="zh-TW" sz="2700" dirty="0">
                    <a:ln w="0"/>
                    <a:effectLst>
                      <a:outerShdw blurRad="38100" dist="19050" dir="2700000" algn="tl" rotWithShape="0">
                        <a:schemeClr val="dk1">
                          <a:alpha val="40000"/>
                        </a:schemeClr>
                      </a:outerShdw>
                    </a:effectLst>
                    <a:latin typeface="+mj-lt"/>
                  </a:rPr>
                  <a:t>|</a:t>
                </a:r>
                <a:r>
                  <a:rPr lang="en-US" altLang="zh-TW" sz="2700" dirty="0">
                    <a:ln w="0"/>
                    <a:effectLst>
                      <a:outerShdw blurRad="38100" dist="19050" dir="2700000" algn="tl" rotWithShape="0">
                        <a:schemeClr val="dk1">
                          <a:alpha val="40000"/>
                        </a:schemeClr>
                      </a:outerShdw>
                    </a:effectLst>
                    <a:latin typeface="+mj-lt"/>
                  </a:rPr>
                  <a:t>Y</a:t>
                </a:r>
                <a:r>
                  <a:rPr lang="en-US" altLang="zh-TW" sz="2700" dirty="0">
                    <a:ln w="0"/>
                    <a:effectLst>
                      <a:outerShdw blurRad="38100" dist="19050" dir="2700000" algn="tl" rotWithShape="0">
                        <a:schemeClr val="dk1">
                          <a:alpha val="40000"/>
                        </a:schemeClr>
                      </a:outerShdw>
                    </a:effectLst>
                    <a:latin typeface="+mj-lt"/>
                  </a:rPr>
                  <a:t>|.</a:t>
                </a:r>
              </a:p>
              <a:p>
                <a14:m>
                  <m:oMath xmlns:m="http://schemas.openxmlformats.org/officeDocument/2006/math">
                    <m:groupChr>
                      <m:groupChrPr>
                        <m:chr m:val="⇒"/>
                        <m:pos m:val="top"/>
                        <m:ctrlPr>
                          <a:rPr lang="en-US" altLang="zh-TW" sz="2700" i="1">
                            <a:ln w="0"/>
                            <a:effectLst>
                              <a:outerShdw blurRad="38100" dist="19050" dir="2700000" algn="tl" rotWithShape="0">
                                <a:schemeClr val="dk1">
                                  <a:alpha val="40000"/>
                                </a:schemeClr>
                              </a:outerShdw>
                            </a:effectLst>
                            <a:latin typeface="Cambria Math" panose="02040503050406030204" pitchFamily="18" charset="0"/>
                          </a:rPr>
                        </m:ctrlPr>
                      </m:groupChrPr>
                      <m:e>
                        <m:r>
                          <m:rPr>
                            <m:brk m:alnAt="1"/>
                          </m:rPr>
                          <a:rPr lang="en-US" altLang="zh-TW" sz="2700" i="1">
                            <a:ln w="0"/>
                            <a:effectLst>
                              <a:outerShdw blurRad="38100" dist="19050" dir="2700000" algn="tl" rotWithShape="0">
                                <a:schemeClr val="dk1">
                                  <a:alpha val="40000"/>
                                </a:schemeClr>
                              </a:outerShdw>
                            </a:effectLst>
                            <a:latin typeface="Cambria Math" panose="02040503050406030204" pitchFamily="18" charset="0"/>
                          </a:rPr>
                          <m:t> </m:t>
                        </m:r>
                      </m:e>
                    </m:groupChr>
                  </m:oMath>
                </a14:m>
                <a:r>
                  <a:rPr lang="en-US" altLang="zh-TW" sz="2700" dirty="0">
                    <a:ln w="0"/>
                    <a:effectLst>
                      <a:outerShdw blurRad="38100" dist="19050" dir="2700000" algn="tl" rotWithShape="0">
                        <a:schemeClr val="dk1">
                          <a:alpha val="40000"/>
                        </a:schemeClr>
                      </a:outerShdw>
                    </a:effectLst>
                    <a:latin typeface="+mj-lt"/>
                  </a:rPr>
                  <a:t>|X|</a:t>
                </a:r>
                <a:r>
                  <a:rPr lang="zh-TW" altLang="en-US" sz="2700" dirty="0">
                    <a:ln w="0"/>
                    <a:effectLst>
                      <a:outerShdw blurRad="38100" dist="19050" dir="2700000" algn="tl" rotWithShape="0">
                        <a:schemeClr val="dk1">
                          <a:alpha val="40000"/>
                        </a:schemeClr>
                      </a:outerShdw>
                    </a:effectLst>
                    <a:latin typeface="+mj-lt"/>
                  </a:rPr>
                  <a:t> </a:t>
                </a:r>
                <a:r>
                  <a:rPr lang="en-US" altLang="zh-TW" sz="2700" dirty="0">
                    <a:ln w="0"/>
                    <a:effectLst>
                      <a:outerShdw blurRad="38100" dist="19050" dir="2700000" algn="tl" rotWithShape="0">
                        <a:schemeClr val="dk1">
                          <a:alpha val="40000"/>
                        </a:schemeClr>
                      </a:outerShdw>
                    </a:effectLst>
                    <a:latin typeface="+mj-lt"/>
                  </a:rPr>
                  <a:t>+</a:t>
                </a:r>
                <a:r>
                  <a:rPr lang="zh-TW" altLang="en-US" sz="2700" dirty="0">
                    <a:ln w="0"/>
                    <a:effectLst>
                      <a:outerShdw blurRad="38100" dist="19050" dir="2700000" algn="tl" rotWithShape="0">
                        <a:schemeClr val="dk1">
                          <a:alpha val="40000"/>
                        </a:schemeClr>
                      </a:outerShdw>
                    </a:effectLst>
                    <a:latin typeface="+mj-lt"/>
                  </a:rPr>
                  <a:t> </a:t>
                </a:r>
                <a:r>
                  <a:rPr lang="en-US" altLang="zh-TW" sz="2700" dirty="0">
                    <a:ln w="0"/>
                    <a:effectLst>
                      <a:outerShdw blurRad="38100" dist="19050" dir="2700000" algn="tl" rotWithShape="0">
                        <a:schemeClr val="dk1">
                          <a:alpha val="40000"/>
                        </a:schemeClr>
                      </a:outerShdw>
                    </a:effectLst>
                    <a:latin typeface="+mj-lt"/>
                  </a:rPr>
                  <a:t>|Z|</a:t>
                </a:r>
                <a:r>
                  <a:rPr lang="zh-TW" altLang="en-US" sz="2700" dirty="0">
                    <a:ln w="0"/>
                    <a:effectLst>
                      <a:outerShdw blurRad="38100" dist="19050" dir="2700000" algn="tl" rotWithShape="0">
                        <a:schemeClr val="dk1">
                          <a:alpha val="40000"/>
                        </a:schemeClr>
                      </a:outerShdw>
                    </a:effectLst>
                    <a:latin typeface="+mj-lt"/>
                  </a:rPr>
                  <a:t> </a:t>
                </a:r>
                <a:r>
                  <a:rPr lang="en-US" altLang="zh-TW" sz="2700" dirty="0">
                    <a:ln w="0"/>
                    <a:effectLst>
                      <a:outerShdw blurRad="38100" dist="19050" dir="2700000" algn="tl" rotWithShape="0">
                        <a:schemeClr val="dk1">
                          <a:alpha val="40000"/>
                        </a:schemeClr>
                      </a:outerShdw>
                    </a:effectLst>
                    <a:latin typeface="+mj-lt"/>
                  </a:rPr>
                  <a:t>&gt;</a:t>
                </a:r>
                <a:r>
                  <a:rPr lang="en-US" altLang="zh-TW" sz="2700" dirty="0">
                    <a:ln w="0"/>
                    <a:effectLst>
                      <a:outerShdw blurRad="38100" dist="19050" dir="2700000" algn="tl" rotWithShape="0">
                        <a:schemeClr val="dk1">
                          <a:alpha val="40000"/>
                        </a:schemeClr>
                      </a:outerShdw>
                    </a:effectLst>
                    <a:latin typeface="+mj-lt"/>
                  </a:rPr>
                  <a:t> c,</a:t>
                </a:r>
              </a:p>
              <a:p>
                <a14:m>
                  <m:oMath xmlns:m="http://schemas.openxmlformats.org/officeDocument/2006/math">
                    <m:groupChr>
                      <m:groupChrPr>
                        <m:chr m:val="⇒"/>
                        <m:pos m:val="top"/>
                        <m:ctrlPr>
                          <a:rPr lang="en-US" altLang="zh-TW" sz="2700" i="1">
                            <a:ln w="0"/>
                            <a:effectLst>
                              <a:outerShdw blurRad="38100" dist="19050" dir="2700000" algn="tl" rotWithShape="0">
                                <a:schemeClr val="dk1">
                                  <a:alpha val="40000"/>
                                </a:schemeClr>
                              </a:outerShdw>
                            </a:effectLst>
                            <a:latin typeface="Cambria Math" panose="02040503050406030204" pitchFamily="18" charset="0"/>
                          </a:rPr>
                        </m:ctrlPr>
                      </m:groupChrPr>
                      <m:e>
                        <m:r>
                          <m:rPr>
                            <m:brk m:alnAt="1"/>
                          </m:rPr>
                          <a:rPr lang="en-US" altLang="zh-TW" sz="2700" i="1">
                            <a:ln w="0"/>
                            <a:effectLst>
                              <a:outerShdw blurRad="38100" dist="19050" dir="2700000" algn="tl" rotWithShape="0">
                                <a:schemeClr val="dk1">
                                  <a:alpha val="40000"/>
                                </a:schemeClr>
                              </a:outerShdw>
                            </a:effectLst>
                            <a:latin typeface="Cambria Math" panose="02040503050406030204" pitchFamily="18" charset="0"/>
                          </a:rPr>
                          <m:t> </m:t>
                        </m:r>
                      </m:e>
                    </m:groupChr>
                  </m:oMath>
                </a14:m>
                <a:r>
                  <a:rPr lang="en-US" altLang="zh-TW" sz="2700" dirty="0">
                    <a:ln w="0"/>
                    <a:effectLst>
                      <a:outerShdw blurRad="38100" dist="19050" dir="2700000" algn="tl" rotWithShape="0">
                        <a:schemeClr val="dk1">
                          <a:alpha val="40000"/>
                        </a:schemeClr>
                      </a:outerShdw>
                    </a:effectLst>
                    <a:latin typeface="+mj-lt"/>
                  </a:rPr>
                  <a:t>L[a, c] &lt; L[b, c].	→←</a:t>
                </a:r>
                <a:endParaRPr lang="en-US" altLang="zh-TW" sz="2700" dirty="0">
                  <a:ln w="0"/>
                  <a:effectLst>
                    <a:outerShdw blurRad="38100" dist="19050" dir="2700000" algn="tl" rotWithShape="0">
                      <a:schemeClr val="dk1">
                        <a:alpha val="40000"/>
                      </a:schemeClr>
                    </a:outerShdw>
                  </a:effectLst>
                  <a:latin typeface="+mj-lt"/>
                  <a:ea typeface="Cambria Math" panose="02040503050406030204" pitchFamily="18" charset="0"/>
                </a:endParaRPr>
              </a:p>
            </p:txBody>
          </p:sp>
        </mc:Choice>
        <mc:Fallback xmlns="">
          <p:sp>
            <p:nvSpPr>
              <p:cNvPr id="3" name="矩形 2"/>
              <p:cNvSpPr>
                <a:spLocks noRot="1" noChangeAspect="1" noMove="1" noResize="1" noEditPoints="1" noAdjustHandles="1" noChangeArrowheads="1" noChangeShapeType="1" noTextEdit="1"/>
              </p:cNvSpPr>
              <p:nvPr/>
            </p:nvSpPr>
            <p:spPr>
              <a:xfrm>
                <a:off x="6467841" y="1226217"/>
                <a:ext cx="4998484" cy="4641271"/>
              </a:xfrm>
              <a:prstGeom prst="rect">
                <a:avLst/>
              </a:prstGeom>
              <a:blipFill rotWithShape="0">
                <a:blip r:embed="rId3"/>
                <a:stretch>
                  <a:fillRect l="-4024" t="-2362" r="-2561" b="-1575"/>
                </a:stretch>
              </a:blipFill>
            </p:spPr>
            <p:txBody>
              <a:bodyPr/>
              <a:lstStyle/>
              <a:p>
                <a:r>
                  <a:rPr lang="zh-TW" altLang="en-US">
                    <a:noFill/>
                  </a:rPr>
                  <a:t> </a:t>
                </a:r>
              </a:p>
            </p:txBody>
          </p:sp>
        </mc:Fallback>
      </mc:AlternateContent>
      <p:cxnSp>
        <p:nvCxnSpPr>
          <p:cNvPr id="5" name="直線接點 4"/>
          <p:cNvCxnSpPr/>
          <p:nvPr/>
        </p:nvCxnSpPr>
        <p:spPr>
          <a:xfrm>
            <a:off x="2681476" y="3205880"/>
            <a:ext cx="36233" cy="2506085"/>
          </a:xfrm>
          <a:prstGeom prst="line">
            <a:avLst/>
          </a:prstGeom>
          <a:ln w="76200">
            <a:solidFill>
              <a:srgbClr val="92D050"/>
            </a:solidFill>
            <a:prstDash val="sysDot"/>
          </a:ln>
        </p:spPr>
        <p:style>
          <a:lnRef idx="1">
            <a:schemeClr val="accent1"/>
          </a:lnRef>
          <a:fillRef idx="0">
            <a:schemeClr val="accent1"/>
          </a:fillRef>
          <a:effectRef idx="0">
            <a:schemeClr val="accent1"/>
          </a:effectRef>
          <a:fontRef idx="minor">
            <a:schemeClr val="tx1"/>
          </a:fontRef>
        </p:style>
      </p:cxnSp>
      <p:cxnSp>
        <p:nvCxnSpPr>
          <p:cNvPr id="8" name="直線接點 7"/>
          <p:cNvCxnSpPr/>
          <p:nvPr/>
        </p:nvCxnSpPr>
        <p:spPr>
          <a:xfrm>
            <a:off x="2645244" y="1042888"/>
            <a:ext cx="36232" cy="1881157"/>
          </a:xfrm>
          <a:prstGeom prst="line">
            <a:avLst/>
          </a:prstGeom>
          <a:ln w="76200">
            <a:solidFill>
              <a:srgbClr val="92D050"/>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136518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群組 18"/>
          <p:cNvGrpSpPr>
            <a:grpSpLocks noChangeAspect="1"/>
          </p:cNvGrpSpPr>
          <p:nvPr/>
        </p:nvGrpSpPr>
        <p:grpSpPr>
          <a:xfrm>
            <a:off x="1005420" y="1677560"/>
            <a:ext cx="4803709" cy="2524140"/>
            <a:chOff x="2129446" y="1344749"/>
            <a:chExt cx="7933107" cy="4168501"/>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9446" y="1344749"/>
              <a:ext cx="7933107" cy="4168501"/>
            </a:xfrm>
            <a:prstGeom prst="rect">
              <a:avLst/>
            </a:prstGeom>
          </p:spPr>
        </p:pic>
        <mc:AlternateContent xmlns:mc="http://schemas.openxmlformats.org/markup-compatibility/2006" xmlns:a14="http://schemas.microsoft.com/office/drawing/2010/main">
          <mc:Choice Requires="a14">
            <p:sp>
              <p:nvSpPr>
                <p:cNvPr id="3" name="矩形 2"/>
                <p:cNvSpPr/>
                <p:nvPr/>
              </p:nvSpPr>
              <p:spPr>
                <a:xfrm>
                  <a:off x="7064679" y="1979112"/>
                  <a:ext cx="609996" cy="686176"/>
                </a:xfrm>
                <a:prstGeom prst="rect">
                  <a:avLst/>
                </a:prstGeom>
                <a:solidFill>
                  <a:schemeClr val="bg1"/>
                </a:solidFill>
              </p:spPr>
              <p:txBody>
                <a:bodyPr wrap="square" lIns="68580" tIns="34290" rIns="68580" bIns="34290">
                  <a:spAutoFit/>
                </a:bodyPr>
                <a:lstStyle/>
                <a:p>
                  <a:pPr algn="ctr"/>
                  <a14:m>
                    <m:oMathPara xmlns:m="http://schemas.openxmlformats.org/officeDocument/2006/math">
                      <m:oMathParaPr>
                        <m:jc m:val="centerGroup"/>
                      </m:oMathParaPr>
                      <m:oMath xmlns:m="http://schemas.openxmlformats.org/officeDocument/2006/math">
                        <m:r>
                          <a:rPr lang="en-US" altLang="zh-TW" sz="2250" i="1">
                            <a:ln w="0"/>
                            <a:solidFill>
                              <a:srgbClr val="00B0F0"/>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rPr>
                          <m:t>∞</m:t>
                        </m:r>
                      </m:oMath>
                    </m:oMathPara>
                  </a14:m>
                  <a:endParaRPr lang="zh-TW" altLang="en-US" sz="2250" dirty="0">
                    <a:ln w="0"/>
                    <a:solidFill>
                      <a:srgbClr val="00B0F0"/>
                    </a:solidFill>
                    <a:effectLst>
                      <a:outerShdw blurRad="38100" dist="19050" dir="2700000" algn="tl" rotWithShape="0">
                        <a:schemeClr val="dk1">
                          <a:alpha val="40000"/>
                        </a:schemeClr>
                      </a:outerShdw>
                    </a:effectLst>
                  </a:endParaRPr>
                </a:p>
              </p:txBody>
            </p:sp>
          </mc:Choice>
          <mc:Fallback xmlns="">
            <p:sp>
              <p:nvSpPr>
                <p:cNvPr id="3" name="矩形 2"/>
                <p:cNvSpPr>
                  <a:spLocks noRot="1" noChangeAspect="1" noMove="1" noResize="1" noEditPoints="1" noAdjustHandles="1" noChangeArrowheads="1" noChangeShapeType="1" noTextEdit="1"/>
                </p:cNvSpPr>
                <p:nvPr/>
              </p:nvSpPr>
              <p:spPr>
                <a:xfrm>
                  <a:off x="7064679" y="1979112"/>
                  <a:ext cx="609996" cy="553998"/>
                </a:xfrm>
                <a:prstGeom prst="rect">
                  <a:avLst/>
                </a:prstGeom>
                <a:blipFill rotWithShape="0">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7628943" y="1979112"/>
                  <a:ext cx="609996" cy="686176"/>
                </a:xfrm>
                <a:prstGeom prst="rect">
                  <a:avLst/>
                </a:prstGeom>
                <a:solidFill>
                  <a:schemeClr val="bg1"/>
                </a:solidFill>
              </p:spPr>
              <p:txBody>
                <a:bodyPr wrap="square" lIns="68580" tIns="34290" rIns="68580" bIns="34290">
                  <a:spAutoFit/>
                </a:bodyPr>
                <a:lstStyle/>
                <a:p>
                  <a:pPr algn="ctr"/>
                  <a14:m>
                    <m:oMathPara xmlns:m="http://schemas.openxmlformats.org/officeDocument/2006/math">
                      <m:oMathParaPr>
                        <m:jc m:val="centerGroup"/>
                      </m:oMathParaPr>
                      <m:oMath xmlns:m="http://schemas.openxmlformats.org/officeDocument/2006/math">
                        <m:r>
                          <a:rPr lang="en-US" altLang="zh-TW" sz="2250" i="1">
                            <a:ln w="0"/>
                            <a:solidFill>
                              <a:srgbClr val="00B0F0"/>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rPr>
                          <m:t>∞</m:t>
                        </m:r>
                      </m:oMath>
                    </m:oMathPara>
                  </a14:m>
                  <a:endParaRPr lang="zh-TW" altLang="en-US" sz="2250" dirty="0">
                    <a:ln w="0"/>
                    <a:solidFill>
                      <a:srgbClr val="00B0F0"/>
                    </a:solidFill>
                    <a:effectLst>
                      <a:outerShdw blurRad="38100" dist="19050" dir="2700000" algn="tl" rotWithShape="0">
                        <a:schemeClr val="dk1">
                          <a:alpha val="40000"/>
                        </a:schemeClr>
                      </a:outerShdw>
                    </a:effectLst>
                  </a:endParaRPr>
                </a:p>
              </p:txBody>
            </p:sp>
          </mc:Choice>
          <mc:Fallback xmlns="">
            <p:sp>
              <p:nvSpPr>
                <p:cNvPr id="4" name="矩形 3"/>
                <p:cNvSpPr>
                  <a:spLocks noRot="1" noChangeAspect="1" noMove="1" noResize="1" noEditPoints="1" noAdjustHandles="1" noChangeArrowheads="1" noChangeShapeType="1" noTextEdit="1"/>
                </p:cNvSpPr>
                <p:nvPr/>
              </p:nvSpPr>
              <p:spPr>
                <a:xfrm>
                  <a:off x="7628944" y="1979112"/>
                  <a:ext cx="609996" cy="553998"/>
                </a:xfrm>
                <a:prstGeom prst="rect">
                  <a:avLst/>
                </a:prstGeom>
                <a:blipFill rotWithShape="0">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7064679" y="2533110"/>
                  <a:ext cx="609996" cy="686176"/>
                </a:xfrm>
                <a:prstGeom prst="rect">
                  <a:avLst/>
                </a:prstGeom>
                <a:solidFill>
                  <a:schemeClr val="bg1"/>
                </a:solidFill>
              </p:spPr>
              <p:txBody>
                <a:bodyPr wrap="square" lIns="68580" tIns="34290" rIns="68580" bIns="34290">
                  <a:spAutoFit/>
                </a:bodyPr>
                <a:lstStyle/>
                <a:p>
                  <a:pPr algn="ctr"/>
                  <a14:m>
                    <m:oMathPara xmlns:m="http://schemas.openxmlformats.org/officeDocument/2006/math">
                      <m:oMathParaPr>
                        <m:jc m:val="centerGroup"/>
                      </m:oMathParaPr>
                      <m:oMath xmlns:m="http://schemas.openxmlformats.org/officeDocument/2006/math">
                        <m:r>
                          <a:rPr lang="en-US" altLang="zh-TW" sz="2250" i="1">
                            <a:ln w="0"/>
                            <a:solidFill>
                              <a:srgbClr val="00B0F0"/>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rPr>
                          <m:t>∞</m:t>
                        </m:r>
                      </m:oMath>
                    </m:oMathPara>
                  </a14:m>
                  <a:endParaRPr lang="zh-TW" altLang="en-US" sz="2250" dirty="0">
                    <a:ln w="0"/>
                    <a:solidFill>
                      <a:srgbClr val="00B0F0"/>
                    </a:solidFill>
                    <a:effectLst>
                      <a:outerShdw blurRad="38100" dist="19050" dir="2700000" algn="tl" rotWithShape="0">
                        <a:schemeClr val="dk1">
                          <a:alpha val="40000"/>
                        </a:schemeClr>
                      </a:outerShdw>
                    </a:effectLst>
                  </a:endParaRPr>
                </a:p>
              </p:txBody>
            </p:sp>
          </mc:Choice>
          <mc:Fallback xmlns="">
            <p:sp>
              <p:nvSpPr>
                <p:cNvPr id="5" name="矩形 4"/>
                <p:cNvSpPr>
                  <a:spLocks noRot="1" noChangeAspect="1" noMove="1" noResize="1" noEditPoints="1" noAdjustHandles="1" noChangeArrowheads="1" noChangeShapeType="1" noTextEdit="1"/>
                </p:cNvSpPr>
                <p:nvPr/>
              </p:nvSpPr>
              <p:spPr>
                <a:xfrm>
                  <a:off x="7064679" y="2533110"/>
                  <a:ext cx="609996" cy="553998"/>
                </a:xfrm>
                <a:prstGeom prst="rect">
                  <a:avLst/>
                </a:prstGeom>
                <a:blipFill rotWithShape="0">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7628943" y="2533110"/>
                  <a:ext cx="609996" cy="686176"/>
                </a:xfrm>
                <a:prstGeom prst="rect">
                  <a:avLst/>
                </a:prstGeom>
                <a:solidFill>
                  <a:schemeClr val="bg1"/>
                </a:solidFill>
              </p:spPr>
              <p:txBody>
                <a:bodyPr wrap="square" lIns="68580" tIns="34290" rIns="68580" bIns="34290">
                  <a:spAutoFit/>
                </a:bodyPr>
                <a:lstStyle/>
                <a:p>
                  <a:pPr algn="ctr"/>
                  <a14:m>
                    <m:oMathPara xmlns:m="http://schemas.openxmlformats.org/officeDocument/2006/math">
                      <m:oMathParaPr>
                        <m:jc m:val="centerGroup"/>
                      </m:oMathParaPr>
                      <m:oMath xmlns:m="http://schemas.openxmlformats.org/officeDocument/2006/math">
                        <m:r>
                          <a:rPr lang="en-US" altLang="zh-TW" sz="2250" i="1">
                            <a:ln w="0"/>
                            <a:solidFill>
                              <a:srgbClr val="00B0F0"/>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rPr>
                          <m:t>∞</m:t>
                        </m:r>
                      </m:oMath>
                    </m:oMathPara>
                  </a14:m>
                  <a:endParaRPr lang="zh-TW" altLang="en-US" sz="2250" dirty="0">
                    <a:ln w="0"/>
                    <a:solidFill>
                      <a:srgbClr val="00B0F0"/>
                    </a:solidFill>
                    <a:effectLst>
                      <a:outerShdw blurRad="38100" dist="19050" dir="2700000" algn="tl" rotWithShape="0">
                        <a:schemeClr val="dk1">
                          <a:alpha val="40000"/>
                        </a:schemeClr>
                      </a:outerShdw>
                    </a:effectLst>
                  </a:endParaRPr>
                </a:p>
              </p:txBody>
            </p:sp>
          </mc:Choice>
          <mc:Fallback xmlns="">
            <p:sp>
              <p:nvSpPr>
                <p:cNvPr id="6" name="矩形 5"/>
                <p:cNvSpPr>
                  <a:spLocks noRot="1" noChangeAspect="1" noMove="1" noResize="1" noEditPoints="1" noAdjustHandles="1" noChangeArrowheads="1" noChangeShapeType="1" noTextEdit="1"/>
                </p:cNvSpPr>
                <p:nvPr/>
              </p:nvSpPr>
              <p:spPr>
                <a:xfrm>
                  <a:off x="7628944" y="2533110"/>
                  <a:ext cx="609996" cy="553998"/>
                </a:xfrm>
                <a:prstGeom prst="rect">
                  <a:avLst/>
                </a:prstGeom>
                <a:blipFill rotWithShape="0">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7628943" y="3087107"/>
                  <a:ext cx="609996" cy="686176"/>
                </a:xfrm>
                <a:prstGeom prst="rect">
                  <a:avLst/>
                </a:prstGeom>
                <a:solidFill>
                  <a:schemeClr val="bg1"/>
                </a:solidFill>
              </p:spPr>
              <p:txBody>
                <a:bodyPr wrap="square" lIns="68580" tIns="34290" rIns="68580" bIns="34290">
                  <a:spAutoFit/>
                </a:bodyPr>
                <a:lstStyle/>
                <a:p>
                  <a:pPr algn="ctr"/>
                  <a14:m>
                    <m:oMathPara xmlns:m="http://schemas.openxmlformats.org/officeDocument/2006/math">
                      <m:oMathParaPr>
                        <m:jc m:val="centerGroup"/>
                      </m:oMathParaPr>
                      <m:oMath xmlns:m="http://schemas.openxmlformats.org/officeDocument/2006/math">
                        <m:r>
                          <a:rPr lang="en-US" altLang="zh-TW" sz="2250" i="1">
                            <a:ln w="0"/>
                            <a:solidFill>
                              <a:srgbClr val="00B0F0"/>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rPr>
                          <m:t>∞</m:t>
                        </m:r>
                      </m:oMath>
                    </m:oMathPara>
                  </a14:m>
                  <a:endParaRPr lang="zh-TW" altLang="en-US" sz="2250" dirty="0">
                    <a:ln w="0"/>
                    <a:solidFill>
                      <a:srgbClr val="00B0F0"/>
                    </a:solidFill>
                    <a:effectLst>
                      <a:outerShdw blurRad="38100" dist="19050" dir="2700000" algn="tl" rotWithShape="0">
                        <a:schemeClr val="dk1">
                          <a:alpha val="40000"/>
                        </a:schemeClr>
                      </a:outerShdw>
                    </a:effectLst>
                  </a:endParaRPr>
                </a:p>
              </p:txBody>
            </p:sp>
          </mc:Choice>
          <mc:Fallback xmlns="">
            <p:sp>
              <p:nvSpPr>
                <p:cNvPr id="7" name="矩形 6"/>
                <p:cNvSpPr>
                  <a:spLocks noRot="1" noChangeAspect="1" noMove="1" noResize="1" noEditPoints="1" noAdjustHandles="1" noChangeArrowheads="1" noChangeShapeType="1" noTextEdit="1"/>
                </p:cNvSpPr>
                <p:nvPr/>
              </p:nvSpPr>
              <p:spPr>
                <a:xfrm>
                  <a:off x="7628944" y="3087108"/>
                  <a:ext cx="609996" cy="553998"/>
                </a:xfrm>
                <a:prstGeom prst="rect">
                  <a:avLst/>
                </a:prstGeom>
                <a:blipFill rotWithShape="0">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4622104" y="2533110"/>
                  <a:ext cx="436719" cy="686176"/>
                </a:xfrm>
                <a:prstGeom prst="rect">
                  <a:avLst/>
                </a:prstGeom>
                <a:solidFill>
                  <a:schemeClr val="bg1"/>
                </a:solidFill>
              </p:spPr>
              <p:txBody>
                <a:bodyPr wrap="square" lIns="68580" tIns="34290" rIns="68580" bIns="34290">
                  <a:spAutoFit/>
                </a:bodyPr>
                <a:lstStyle/>
                <a:p>
                  <a:pPr algn="ctr"/>
                  <a14:m>
                    <m:oMathPara xmlns:m="http://schemas.openxmlformats.org/officeDocument/2006/math">
                      <m:oMathParaPr>
                        <m:jc m:val="centerGroup"/>
                      </m:oMathParaPr>
                      <m:oMath xmlns:m="http://schemas.openxmlformats.org/officeDocument/2006/math">
                        <m:r>
                          <a:rPr lang="en-US" altLang="zh-TW" sz="2250" i="1">
                            <a:ln w="0"/>
                            <a:solidFill>
                              <a:srgbClr val="00B0F0"/>
                            </a:solidFill>
                            <a:effectLst>
                              <a:outerShdw blurRad="38100" dist="19050" dir="2700000" algn="tl" rotWithShape="0">
                                <a:schemeClr val="dk1">
                                  <a:alpha val="40000"/>
                                </a:schemeClr>
                              </a:outerShdw>
                            </a:effectLst>
                            <a:latin typeface="Cambria Math" panose="02040503050406030204" pitchFamily="18" charset="0"/>
                          </a:rPr>
                          <m:t>9</m:t>
                        </m:r>
                      </m:oMath>
                    </m:oMathPara>
                  </a14:m>
                  <a:endParaRPr lang="zh-TW" altLang="en-US" sz="2250" dirty="0">
                    <a:ln w="0"/>
                    <a:solidFill>
                      <a:srgbClr val="00B0F0"/>
                    </a:solidFill>
                    <a:effectLst>
                      <a:outerShdw blurRad="38100" dist="19050" dir="2700000" algn="tl" rotWithShape="0">
                        <a:schemeClr val="dk1">
                          <a:alpha val="40000"/>
                        </a:schemeClr>
                      </a:outerShdw>
                    </a:effectLst>
                  </a:endParaRPr>
                </a:p>
              </p:txBody>
            </p:sp>
          </mc:Choice>
          <mc:Fallback xmlns="">
            <p:sp>
              <p:nvSpPr>
                <p:cNvPr id="9" name="矩形 8"/>
                <p:cNvSpPr>
                  <a:spLocks noRot="1" noChangeAspect="1" noMove="1" noResize="1" noEditPoints="1" noAdjustHandles="1" noChangeArrowheads="1" noChangeShapeType="1" noTextEdit="1"/>
                </p:cNvSpPr>
                <p:nvPr/>
              </p:nvSpPr>
              <p:spPr>
                <a:xfrm>
                  <a:off x="4622103" y="2533110"/>
                  <a:ext cx="436719" cy="553998"/>
                </a:xfrm>
                <a:prstGeom prst="rect">
                  <a:avLst/>
                </a:prstGeom>
                <a:blipFill rotWithShape="0">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4622102" y="3087107"/>
                  <a:ext cx="436719" cy="686176"/>
                </a:xfrm>
                <a:prstGeom prst="rect">
                  <a:avLst/>
                </a:prstGeom>
                <a:solidFill>
                  <a:schemeClr val="bg1"/>
                </a:solidFill>
              </p:spPr>
              <p:txBody>
                <a:bodyPr wrap="square" lIns="68580" tIns="34290" rIns="68580" bIns="34290">
                  <a:spAutoFit/>
                </a:bodyPr>
                <a:lstStyle/>
                <a:p>
                  <a:pPr algn="ctr"/>
                  <a14:m>
                    <m:oMathPara xmlns:m="http://schemas.openxmlformats.org/officeDocument/2006/math">
                      <m:oMathParaPr>
                        <m:jc m:val="centerGroup"/>
                      </m:oMathParaPr>
                      <m:oMath xmlns:m="http://schemas.openxmlformats.org/officeDocument/2006/math">
                        <m:r>
                          <a:rPr lang="en-US" altLang="zh-TW" sz="2250" i="1">
                            <a:ln w="0"/>
                            <a:solidFill>
                              <a:srgbClr val="00B0F0"/>
                            </a:solidFill>
                            <a:effectLst>
                              <a:outerShdw blurRad="38100" dist="19050" dir="2700000" algn="tl" rotWithShape="0">
                                <a:schemeClr val="dk1">
                                  <a:alpha val="40000"/>
                                </a:schemeClr>
                              </a:outerShdw>
                            </a:effectLst>
                            <a:latin typeface="Cambria Math" panose="02040503050406030204" pitchFamily="18" charset="0"/>
                          </a:rPr>
                          <m:t>10</m:t>
                        </m:r>
                      </m:oMath>
                    </m:oMathPara>
                  </a14:m>
                  <a:endParaRPr lang="zh-TW" altLang="en-US" sz="2250" dirty="0">
                    <a:ln w="0"/>
                    <a:solidFill>
                      <a:srgbClr val="00B0F0"/>
                    </a:solidFill>
                    <a:effectLst>
                      <a:outerShdw blurRad="38100" dist="19050" dir="2700000" algn="tl" rotWithShape="0">
                        <a:schemeClr val="dk1">
                          <a:alpha val="40000"/>
                        </a:schemeClr>
                      </a:outerShdw>
                    </a:effectLst>
                  </a:endParaRPr>
                </a:p>
              </p:txBody>
            </p:sp>
          </mc:Choice>
          <mc:Fallback xmlns="">
            <p:sp>
              <p:nvSpPr>
                <p:cNvPr id="10" name="矩形 9"/>
                <p:cNvSpPr>
                  <a:spLocks noRot="1" noChangeAspect="1" noMove="1" noResize="1" noEditPoints="1" noAdjustHandles="1" noChangeArrowheads="1" noChangeShapeType="1" noTextEdit="1"/>
                </p:cNvSpPr>
                <p:nvPr/>
              </p:nvSpPr>
              <p:spPr>
                <a:xfrm>
                  <a:off x="4622102" y="3087108"/>
                  <a:ext cx="436719" cy="553998"/>
                </a:xfrm>
                <a:prstGeom prst="rect">
                  <a:avLst/>
                </a:prstGeom>
                <a:blipFill rotWithShape="0">
                  <a:blip r:embed="rId9"/>
                  <a:stretch>
                    <a:fillRect l="-41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5186368" y="3087107"/>
                  <a:ext cx="436719" cy="686176"/>
                </a:xfrm>
                <a:prstGeom prst="rect">
                  <a:avLst/>
                </a:prstGeom>
                <a:solidFill>
                  <a:schemeClr val="bg1"/>
                </a:solidFill>
              </p:spPr>
              <p:txBody>
                <a:bodyPr wrap="square" lIns="68580" tIns="34290" rIns="68580" bIns="34290">
                  <a:spAutoFit/>
                </a:bodyPr>
                <a:lstStyle/>
                <a:p>
                  <a:pPr algn="ctr"/>
                  <a14:m>
                    <m:oMathPara xmlns:m="http://schemas.openxmlformats.org/officeDocument/2006/math">
                      <m:oMathParaPr>
                        <m:jc m:val="centerGroup"/>
                      </m:oMathParaPr>
                      <m:oMath xmlns:m="http://schemas.openxmlformats.org/officeDocument/2006/math">
                        <m:r>
                          <a:rPr lang="en-US" altLang="zh-TW" sz="2250" i="1">
                            <a:ln w="0"/>
                            <a:solidFill>
                              <a:srgbClr val="00B0F0"/>
                            </a:solidFill>
                            <a:effectLst>
                              <a:outerShdw blurRad="38100" dist="19050" dir="2700000" algn="tl" rotWithShape="0">
                                <a:schemeClr val="dk1">
                                  <a:alpha val="40000"/>
                                </a:schemeClr>
                              </a:outerShdw>
                            </a:effectLst>
                            <a:latin typeface="Cambria Math" panose="02040503050406030204" pitchFamily="18" charset="0"/>
                          </a:rPr>
                          <m:t>10</m:t>
                        </m:r>
                      </m:oMath>
                    </m:oMathPara>
                  </a14:m>
                  <a:endParaRPr lang="zh-TW" altLang="en-US" sz="2250" dirty="0">
                    <a:ln w="0"/>
                    <a:solidFill>
                      <a:srgbClr val="00B0F0"/>
                    </a:solidFill>
                    <a:effectLst>
                      <a:outerShdw blurRad="38100" dist="19050" dir="2700000" algn="tl" rotWithShape="0">
                        <a:schemeClr val="dk1">
                          <a:alpha val="40000"/>
                        </a:schemeClr>
                      </a:outerShdw>
                    </a:effectLst>
                  </a:endParaRPr>
                </a:p>
              </p:txBody>
            </p:sp>
          </mc:Choice>
          <mc:Fallback xmlns="">
            <p:sp>
              <p:nvSpPr>
                <p:cNvPr id="11" name="矩形 10"/>
                <p:cNvSpPr>
                  <a:spLocks noRot="1" noChangeAspect="1" noMove="1" noResize="1" noEditPoints="1" noAdjustHandles="1" noChangeArrowheads="1" noChangeShapeType="1" noTextEdit="1"/>
                </p:cNvSpPr>
                <p:nvPr/>
              </p:nvSpPr>
              <p:spPr>
                <a:xfrm>
                  <a:off x="5186367" y="3087108"/>
                  <a:ext cx="436719" cy="553998"/>
                </a:xfrm>
                <a:prstGeom prst="rect">
                  <a:avLst/>
                </a:prstGeom>
                <a:blipFill rotWithShape="0">
                  <a:blip r:embed="rId10"/>
                  <a:stretch>
                    <a:fillRect l="-422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4622102" y="3612086"/>
                  <a:ext cx="436719" cy="686176"/>
                </a:xfrm>
                <a:prstGeom prst="rect">
                  <a:avLst/>
                </a:prstGeom>
                <a:solidFill>
                  <a:schemeClr val="bg1"/>
                </a:solidFill>
              </p:spPr>
              <p:txBody>
                <a:bodyPr wrap="square" lIns="68580" tIns="34290" rIns="68580" bIns="34290">
                  <a:spAutoFit/>
                </a:bodyPr>
                <a:lstStyle/>
                <a:p>
                  <a:pPr algn="ctr"/>
                  <a14:m>
                    <m:oMathPara xmlns:m="http://schemas.openxmlformats.org/officeDocument/2006/math">
                      <m:oMathParaPr>
                        <m:jc m:val="centerGroup"/>
                      </m:oMathParaPr>
                      <m:oMath xmlns:m="http://schemas.openxmlformats.org/officeDocument/2006/math">
                        <m:r>
                          <a:rPr lang="en-US" altLang="zh-TW" sz="2250" i="1">
                            <a:ln w="0"/>
                            <a:solidFill>
                              <a:srgbClr val="00B0F0"/>
                            </a:solidFill>
                            <a:effectLst>
                              <a:outerShdw blurRad="38100" dist="19050" dir="2700000" algn="tl" rotWithShape="0">
                                <a:schemeClr val="dk1">
                                  <a:alpha val="40000"/>
                                </a:schemeClr>
                              </a:outerShdw>
                            </a:effectLst>
                            <a:latin typeface="Cambria Math" panose="02040503050406030204" pitchFamily="18" charset="0"/>
                          </a:rPr>
                          <m:t>11</m:t>
                        </m:r>
                      </m:oMath>
                    </m:oMathPara>
                  </a14:m>
                  <a:endParaRPr lang="zh-TW" altLang="en-US" sz="2250" dirty="0">
                    <a:ln w="0"/>
                    <a:solidFill>
                      <a:srgbClr val="00B0F0"/>
                    </a:solidFill>
                    <a:effectLst>
                      <a:outerShdw blurRad="38100" dist="19050" dir="2700000" algn="tl" rotWithShape="0">
                        <a:schemeClr val="dk1">
                          <a:alpha val="40000"/>
                        </a:schemeClr>
                      </a:outerShdw>
                    </a:effectLst>
                  </a:endParaRPr>
                </a:p>
              </p:txBody>
            </p:sp>
          </mc:Choice>
          <mc:Fallback xmlns="">
            <p:sp>
              <p:nvSpPr>
                <p:cNvPr id="12" name="矩形 11"/>
                <p:cNvSpPr>
                  <a:spLocks noRot="1" noChangeAspect="1" noMove="1" noResize="1" noEditPoints="1" noAdjustHandles="1" noChangeArrowheads="1" noChangeShapeType="1" noTextEdit="1"/>
                </p:cNvSpPr>
                <p:nvPr/>
              </p:nvSpPr>
              <p:spPr>
                <a:xfrm>
                  <a:off x="4622102" y="3612086"/>
                  <a:ext cx="436719" cy="553998"/>
                </a:xfrm>
                <a:prstGeom prst="rect">
                  <a:avLst/>
                </a:prstGeom>
                <a:blipFill rotWithShape="0">
                  <a:blip r:embed="rId11"/>
                  <a:stretch>
                    <a:fillRect l="-41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5186368" y="3612086"/>
                  <a:ext cx="436719" cy="686176"/>
                </a:xfrm>
                <a:prstGeom prst="rect">
                  <a:avLst/>
                </a:prstGeom>
                <a:solidFill>
                  <a:schemeClr val="bg1"/>
                </a:solidFill>
              </p:spPr>
              <p:txBody>
                <a:bodyPr wrap="square" lIns="68580" tIns="34290" rIns="68580" bIns="34290">
                  <a:spAutoFit/>
                </a:bodyPr>
                <a:lstStyle/>
                <a:p>
                  <a:pPr algn="ctr"/>
                  <a14:m>
                    <m:oMathPara xmlns:m="http://schemas.openxmlformats.org/officeDocument/2006/math">
                      <m:oMathParaPr>
                        <m:jc m:val="centerGroup"/>
                      </m:oMathParaPr>
                      <m:oMath xmlns:m="http://schemas.openxmlformats.org/officeDocument/2006/math">
                        <m:r>
                          <a:rPr lang="en-US" altLang="zh-TW" sz="2250" i="1">
                            <a:ln w="0"/>
                            <a:solidFill>
                              <a:srgbClr val="00B0F0"/>
                            </a:solidFill>
                            <a:effectLst>
                              <a:outerShdw blurRad="38100" dist="19050" dir="2700000" algn="tl" rotWithShape="0">
                                <a:schemeClr val="dk1">
                                  <a:alpha val="40000"/>
                                </a:schemeClr>
                              </a:outerShdw>
                            </a:effectLst>
                            <a:latin typeface="Cambria Math" panose="02040503050406030204" pitchFamily="18" charset="0"/>
                          </a:rPr>
                          <m:t>11</m:t>
                        </m:r>
                      </m:oMath>
                    </m:oMathPara>
                  </a14:m>
                  <a:endParaRPr lang="zh-TW" altLang="en-US" sz="2250" dirty="0">
                    <a:ln w="0"/>
                    <a:solidFill>
                      <a:srgbClr val="00B0F0"/>
                    </a:solidFill>
                    <a:effectLst>
                      <a:outerShdw blurRad="38100" dist="19050" dir="2700000" algn="tl" rotWithShape="0">
                        <a:schemeClr val="dk1">
                          <a:alpha val="40000"/>
                        </a:schemeClr>
                      </a:outerShdw>
                    </a:effectLst>
                  </a:endParaRPr>
                </a:p>
              </p:txBody>
            </p:sp>
          </mc:Choice>
          <mc:Fallback xmlns="">
            <p:sp>
              <p:nvSpPr>
                <p:cNvPr id="13" name="矩形 12"/>
                <p:cNvSpPr>
                  <a:spLocks noRot="1" noChangeAspect="1" noMove="1" noResize="1" noEditPoints="1" noAdjustHandles="1" noChangeArrowheads="1" noChangeShapeType="1" noTextEdit="1"/>
                </p:cNvSpPr>
                <p:nvPr/>
              </p:nvSpPr>
              <p:spPr>
                <a:xfrm>
                  <a:off x="5186367" y="3612086"/>
                  <a:ext cx="436719" cy="553998"/>
                </a:xfrm>
                <a:prstGeom prst="rect">
                  <a:avLst/>
                </a:prstGeom>
                <a:blipFill rotWithShape="0">
                  <a:blip r:embed="rId12"/>
                  <a:stretch>
                    <a:fillRect l="-422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5724489" y="4166085"/>
                  <a:ext cx="436719" cy="686176"/>
                </a:xfrm>
                <a:prstGeom prst="rect">
                  <a:avLst/>
                </a:prstGeom>
                <a:solidFill>
                  <a:schemeClr val="bg1"/>
                </a:solidFill>
              </p:spPr>
              <p:txBody>
                <a:bodyPr wrap="square" lIns="68580" tIns="34290" rIns="68580" bIns="34290">
                  <a:spAutoFit/>
                </a:bodyPr>
                <a:lstStyle/>
                <a:p>
                  <a:pPr algn="ctr"/>
                  <a14:m>
                    <m:oMathPara xmlns:m="http://schemas.openxmlformats.org/officeDocument/2006/math">
                      <m:oMathParaPr>
                        <m:jc m:val="centerGroup"/>
                      </m:oMathParaPr>
                      <m:oMath xmlns:m="http://schemas.openxmlformats.org/officeDocument/2006/math">
                        <m:r>
                          <a:rPr lang="en-US" altLang="zh-TW" sz="2250" i="1">
                            <a:ln w="0"/>
                            <a:solidFill>
                              <a:srgbClr val="00B0F0"/>
                            </a:solidFill>
                            <a:effectLst>
                              <a:outerShdw blurRad="38100" dist="19050" dir="2700000" algn="tl" rotWithShape="0">
                                <a:schemeClr val="dk1">
                                  <a:alpha val="40000"/>
                                </a:schemeClr>
                              </a:outerShdw>
                            </a:effectLst>
                            <a:latin typeface="Cambria Math" panose="02040503050406030204" pitchFamily="18" charset="0"/>
                          </a:rPr>
                          <m:t>12</m:t>
                        </m:r>
                      </m:oMath>
                    </m:oMathPara>
                  </a14:m>
                  <a:endParaRPr lang="zh-TW" altLang="en-US" sz="2250" dirty="0">
                    <a:ln w="0"/>
                    <a:solidFill>
                      <a:srgbClr val="00B0F0"/>
                    </a:solidFill>
                    <a:effectLst>
                      <a:outerShdw blurRad="38100" dist="19050" dir="2700000" algn="tl" rotWithShape="0">
                        <a:schemeClr val="dk1">
                          <a:alpha val="40000"/>
                        </a:schemeClr>
                      </a:outerShdw>
                    </a:effectLst>
                  </a:endParaRPr>
                </a:p>
              </p:txBody>
            </p:sp>
          </mc:Choice>
          <mc:Fallback xmlns="">
            <p:sp>
              <p:nvSpPr>
                <p:cNvPr id="14" name="矩形 13"/>
                <p:cNvSpPr>
                  <a:spLocks noRot="1" noChangeAspect="1" noMove="1" noResize="1" noEditPoints="1" noAdjustHandles="1" noChangeArrowheads="1" noChangeShapeType="1" noTextEdit="1"/>
                </p:cNvSpPr>
                <p:nvPr/>
              </p:nvSpPr>
              <p:spPr>
                <a:xfrm>
                  <a:off x="5724489" y="4166084"/>
                  <a:ext cx="436719" cy="553998"/>
                </a:xfrm>
                <a:prstGeom prst="rect">
                  <a:avLst/>
                </a:prstGeom>
                <a:blipFill rotWithShape="0">
                  <a:blip r:embed="rId13"/>
                  <a:stretch>
                    <a:fillRect l="-41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5724491" y="3612086"/>
                  <a:ext cx="436719" cy="686176"/>
                </a:xfrm>
                <a:prstGeom prst="rect">
                  <a:avLst/>
                </a:prstGeom>
                <a:solidFill>
                  <a:schemeClr val="bg1"/>
                </a:solidFill>
              </p:spPr>
              <p:txBody>
                <a:bodyPr wrap="square" lIns="68580" tIns="34290" rIns="68580" bIns="34290">
                  <a:spAutoFit/>
                </a:bodyPr>
                <a:lstStyle/>
                <a:p>
                  <a:pPr algn="ctr"/>
                  <a14:m>
                    <m:oMathPara xmlns:m="http://schemas.openxmlformats.org/officeDocument/2006/math">
                      <m:oMathParaPr>
                        <m:jc m:val="centerGroup"/>
                      </m:oMathParaPr>
                      <m:oMath xmlns:m="http://schemas.openxmlformats.org/officeDocument/2006/math">
                        <m:r>
                          <a:rPr lang="en-US" altLang="zh-TW" sz="2250" i="1">
                            <a:ln w="0"/>
                            <a:solidFill>
                              <a:srgbClr val="00B0F0"/>
                            </a:solidFill>
                            <a:effectLst>
                              <a:outerShdw blurRad="38100" dist="19050" dir="2700000" algn="tl" rotWithShape="0">
                                <a:schemeClr val="dk1">
                                  <a:alpha val="40000"/>
                                </a:schemeClr>
                              </a:outerShdw>
                            </a:effectLst>
                            <a:latin typeface="Cambria Math" panose="02040503050406030204" pitchFamily="18" charset="0"/>
                          </a:rPr>
                          <m:t>11</m:t>
                        </m:r>
                      </m:oMath>
                    </m:oMathPara>
                  </a14:m>
                  <a:endParaRPr lang="zh-TW" altLang="en-US" sz="2250" dirty="0">
                    <a:ln w="0"/>
                    <a:solidFill>
                      <a:srgbClr val="00B0F0"/>
                    </a:solidFill>
                    <a:effectLst>
                      <a:outerShdw blurRad="38100" dist="19050" dir="2700000" algn="tl" rotWithShape="0">
                        <a:schemeClr val="dk1">
                          <a:alpha val="40000"/>
                        </a:schemeClr>
                      </a:outerShdw>
                    </a:effectLst>
                  </a:endParaRPr>
                </a:p>
              </p:txBody>
            </p:sp>
          </mc:Choice>
          <mc:Fallback xmlns="">
            <p:sp>
              <p:nvSpPr>
                <p:cNvPr id="15" name="矩形 14"/>
                <p:cNvSpPr>
                  <a:spLocks noRot="1" noChangeAspect="1" noMove="1" noResize="1" noEditPoints="1" noAdjustHandles="1" noChangeArrowheads="1" noChangeShapeType="1" noTextEdit="1"/>
                </p:cNvSpPr>
                <p:nvPr/>
              </p:nvSpPr>
              <p:spPr>
                <a:xfrm>
                  <a:off x="5724490" y="3612086"/>
                  <a:ext cx="436719" cy="553998"/>
                </a:xfrm>
                <a:prstGeom prst="rect">
                  <a:avLst/>
                </a:prstGeom>
                <a:blipFill rotWithShape="0">
                  <a:blip r:embed="rId14"/>
                  <a:stretch>
                    <a:fillRect l="-41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6245909" y="4166085"/>
                  <a:ext cx="394964" cy="686176"/>
                </a:xfrm>
                <a:prstGeom prst="rect">
                  <a:avLst/>
                </a:prstGeom>
                <a:solidFill>
                  <a:schemeClr val="bg1"/>
                </a:solidFill>
              </p:spPr>
              <p:txBody>
                <a:bodyPr wrap="square" lIns="68580" tIns="34290" rIns="68580" bIns="34290">
                  <a:spAutoFit/>
                </a:bodyPr>
                <a:lstStyle/>
                <a:p>
                  <a:pPr algn="ctr"/>
                  <a14:m>
                    <m:oMathPara xmlns:m="http://schemas.openxmlformats.org/officeDocument/2006/math">
                      <m:oMathParaPr>
                        <m:jc m:val="centerGroup"/>
                      </m:oMathParaPr>
                      <m:oMath xmlns:m="http://schemas.openxmlformats.org/officeDocument/2006/math">
                        <m:r>
                          <a:rPr lang="en-US" altLang="zh-TW" sz="2250" i="1">
                            <a:ln w="0"/>
                            <a:solidFill>
                              <a:srgbClr val="00B0F0"/>
                            </a:solidFill>
                            <a:effectLst>
                              <a:outerShdw blurRad="38100" dist="19050" dir="2700000" algn="tl" rotWithShape="0">
                                <a:schemeClr val="dk1">
                                  <a:alpha val="40000"/>
                                </a:schemeClr>
                              </a:outerShdw>
                            </a:effectLst>
                            <a:latin typeface="Cambria Math" panose="02040503050406030204" pitchFamily="18" charset="0"/>
                          </a:rPr>
                          <m:t>12</m:t>
                        </m:r>
                      </m:oMath>
                    </m:oMathPara>
                  </a14:m>
                  <a:endParaRPr lang="en-US" altLang="zh-TW" sz="2250" dirty="0">
                    <a:ln w="0"/>
                    <a:solidFill>
                      <a:srgbClr val="00B0F0"/>
                    </a:solidFill>
                    <a:effectLst>
                      <a:outerShdw blurRad="38100" dist="19050" dir="2700000" algn="tl" rotWithShape="0">
                        <a:schemeClr val="dk1">
                          <a:alpha val="40000"/>
                        </a:schemeClr>
                      </a:outerShdw>
                    </a:effectLst>
                  </a:endParaRPr>
                </a:p>
              </p:txBody>
            </p:sp>
          </mc:Choice>
          <mc:Fallback xmlns="">
            <p:sp>
              <p:nvSpPr>
                <p:cNvPr id="16" name="矩形 15"/>
                <p:cNvSpPr>
                  <a:spLocks noRot="1" noChangeAspect="1" noMove="1" noResize="1" noEditPoints="1" noAdjustHandles="1" noChangeArrowheads="1" noChangeShapeType="1" noTextEdit="1"/>
                </p:cNvSpPr>
                <p:nvPr/>
              </p:nvSpPr>
              <p:spPr>
                <a:xfrm>
                  <a:off x="6245909" y="4166084"/>
                  <a:ext cx="394963" cy="553998"/>
                </a:xfrm>
                <a:prstGeom prst="rect">
                  <a:avLst/>
                </a:prstGeom>
                <a:blipFill rotWithShape="0">
                  <a:blip r:embed="rId15"/>
                  <a:stretch>
                    <a:fillRect l="-1093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4622102" y="4166085"/>
                  <a:ext cx="436719" cy="686176"/>
                </a:xfrm>
                <a:prstGeom prst="rect">
                  <a:avLst/>
                </a:prstGeom>
                <a:solidFill>
                  <a:schemeClr val="bg1"/>
                </a:solidFill>
              </p:spPr>
              <p:txBody>
                <a:bodyPr wrap="square" lIns="68580" tIns="34290" rIns="68580" bIns="34290">
                  <a:spAutoFit/>
                </a:bodyPr>
                <a:lstStyle/>
                <a:p>
                  <a:pPr algn="ctr"/>
                  <a14:m>
                    <m:oMathPara xmlns:m="http://schemas.openxmlformats.org/officeDocument/2006/math">
                      <m:oMathParaPr>
                        <m:jc m:val="centerGroup"/>
                      </m:oMathParaPr>
                      <m:oMath xmlns:m="http://schemas.openxmlformats.org/officeDocument/2006/math">
                        <m:r>
                          <a:rPr lang="en-US" altLang="zh-TW" sz="2250" i="1">
                            <a:ln w="0"/>
                            <a:solidFill>
                              <a:srgbClr val="00B0F0"/>
                            </a:solidFill>
                            <a:effectLst>
                              <a:outerShdw blurRad="38100" dist="19050" dir="2700000" algn="tl" rotWithShape="0">
                                <a:schemeClr val="dk1">
                                  <a:alpha val="40000"/>
                                </a:schemeClr>
                              </a:outerShdw>
                            </a:effectLst>
                            <a:latin typeface="Cambria Math" panose="02040503050406030204" pitchFamily="18" charset="0"/>
                          </a:rPr>
                          <m:t>12</m:t>
                        </m:r>
                      </m:oMath>
                    </m:oMathPara>
                  </a14:m>
                  <a:endParaRPr lang="zh-TW" altLang="en-US" sz="2250" dirty="0">
                    <a:ln w="0"/>
                    <a:solidFill>
                      <a:srgbClr val="00B0F0"/>
                    </a:solidFill>
                    <a:effectLst>
                      <a:outerShdw blurRad="38100" dist="19050" dir="2700000" algn="tl" rotWithShape="0">
                        <a:schemeClr val="dk1">
                          <a:alpha val="40000"/>
                        </a:schemeClr>
                      </a:outerShdw>
                    </a:effectLst>
                  </a:endParaRPr>
                </a:p>
              </p:txBody>
            </p:sp>
          </mc:Choice>
          <mc:Fallback xmlns="">
            <p:sp>
              <p:nvSpPr>
                <p:cNvPr id="17" name="矩形 16"/>
                <p:cNvSpPr>
                  <a:spLocks noRot="1" noChangeAspect="1" noMove="1" noResize="1" noEditPoints="1" noAdjustHandles="1" noChangeArrowheads="1" noChangeShapeType="1" noTextEdit="1"/>
                </p:cNvSpPr>
                <p:nvPr/>
              </p:nvSpPr>
              <p:spPr>
                <a:xfrm>
                  <a:off x="4622102" y="4166084"/>
                  <a:ext cx="436719" cy="553998"/>
                </a:xfrm>
                <a:prstGeom prst="rect">
                  <a:avLst/>
                </a:prstGeom>
                <a:blipFill rotWithShape="0">
                  <a:blip r:embed="rId16"/>
                  <a:stretch>
                    <a:fillRect l="-41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5186368" y="4166085"/>
                  <a:ext cx="436719" cy="686176"/>
                </a:xfrm>
                <a:prstGeom prst="rect">
                  <a:avLst/>
                </a:prstGeom>
                <a:solidFill>
                  <a:schemeClr val="bg1"/>
                </a:solidFill>
              </p:spPr>
              <p:txBody>
                <a:bodyPr wrap="square" lIns="68580" tIns="34290" rIns="68580" bIns="34290">
                  <a:spAutoFit/>
                </a:bodyPr>
                <a:lstStyle/>
                <a:p>
                  <a:pPr algn="ctr"/>
                  <a14:m>
                    <m:oMathPara xmlns:m="http://schemas.openxmlformats.org/officeDocument/2006/math">
                      <m:oMathParaPr>
                        <m:jc m:val="centerGroup"/>
                      </m:oMathParaPr>
                      <m:oMath xmlns:m="http://schemas.openxmlformats.org/officeDocument/2006/math">
                        <m:r>
                          <a:rPr lang="en-US" altLang="zh-TW" sz="2250" i="1">
                            <a:ln w="0"/>
                            <a:solidFill>
                              <a:srgbClr val="00B0F0"/>
                            </a:solidFill>
                            <a:effectLst>
                              <a:outerShdw blurRad="38100" dist="19050" dir="2700000" algn="tl" rotWithShape="0">
                                <a:schemeClr val="dk1">
                                  <a:alpha val="40000"/>
                                </a:schemeClr>
                              </a:outerShdw>
                            </a:effectLst>
                            <a:latin typeface="Cambria Math" panose="02040503050406030204" pitchFamily="18" charset="0"/>
                          </a:rPr>
                          <m:t>12</m:t>
                        </m:r>
                      </m:oMath>
                    </m:oMathPara>
                  </a14:m>
                  <a:endParaRPr lang="zh-TW" altLang="en-US" sz="2250" dirty="0">
                    <a:ln w="0"/>
                    <a:solidFill>
                      <a:srgbClr val="00B0F0"/>
                    </a:solidFill>
                    <a:effectLst>
                      <a:outerShdw blurRad="38100" dist="19050" dir="2700000" algn="tl" rotWithShape="0">
                        <a:schemeClr val="dk1">
                          <a:alpha val="40000"/>
                        </a:schemeClr>
                      </a:outerShdw>
                    </a:effectLst>
                  </a:endParaRPr>
                </a:p>
              </p:txBody>
            </p:sp>
          </mc:Choice>
          <mc:Fallback xmlns="">
            <p:sp>
              <p:nvSpPr>
                <p:cNvPr id="18" name="矩形 17"/>
                <p:cNvSpPr>
                  <a:spLocks noRot="1" noChangeAspect="1" noMove="1" noResize="1" noEditPoints="1" noAdjustHandles="1" noChangeArrowheads="1" noChangeShapeType="1" noTextEdit="1"/>
                </p:cNvSpPr>
                <p:nvPr/>
              </p:nvSpPr>
              <p:spPr>
                <a:xfrm>
                  <a:off x="5186367" y="4166084"/>
                  <a:ext cx="436719" cy="553998"/>
                </a:xfrm>
                <a:prstGeom prst="rect">
                  <a:avLst/>
                </a:prstGeom>
                <a:blipFill rotWithShape="0">
                  <a:blip r:embed="rId17"/>
                  <a:stretch>
                    <a:fillRect l="-4225"/>
                  </a:stretch>
                </a:blipFill>
              </p:spPr>
              <p:txBody>
                <a:bodyPr/>
                <a:lstStyle/>
                <a:p>
                  <a:r>
                    <a:rPr lang="zh-TW" altLang="en-US">
                      <a:noFill/>
                    </a:rPr>
                    <a:t> </a:t>
                  </a:r>
                </a:p>
              </p:txBody>
            </p:sp>
          </mc:Fallback>
        </mc:AlternateContent>
      </p:grpSp>
      <p:sp>
        <p:nvSpPr>
          <p:cNvPr id="8" name="矩形 7"/>
          <p:cNvSpPr/>
          <p:nvPr/>
        </p:nvSpPr>
        <p:spPr>
          <a:xfrm>
            <a:off x="3580139" y="4415192"/>
            <a:ext cx="4156459" cy="577081"/>
          </a:xfrm>
          <a:prstGeom prst="rect">
            <a:avLst/>
          </a:prstGeom>
          <a:noFill/>
        </p:spPr>
        <p:txBody>
          <a:bodyPr wrap="none" lIns="68580" tIns="34290" rIns="68580" bIns="34290">
            <a:spAutoFit/>
          </a:bodyPr>
          <a:lstStyle/>
          <a:p>
            <a:pPr algn="ctr"/>
            <a:r>
              <a:rPr lang="pt-BR" altLang="zh-TW" sz="3300" dirty="0">
                <a:ln w="0"/>
                <a:effectLst>
                  <a:outerShdw blurRad="38100" dist="19050" dir="2700000" algn="tl" rotWithShape="0">
                    <a:schemeClr val="dk1">
                      <a:alpha val="40000"/>
                    </a:schemeClr>
                  </a:outerShdw>
                </a:effectLst>
                <a:latin typeface="+mj-lt"/>
              </a:rPr>
              <a:t>LEFT[r, k] = S[PI[r], k − r]</a:t>
            </a:r>
            <a:endParaRPr lang="zh-TW" altLang="en-US" sz="3300" dirty="0">
              <a:ln w="0"/>
              <a:effectLst>
                <a:outerShdw blurRad="38100" dist="19050" dir="2700000" algn="tl" rotWithShape="0">
                  <a:schemeClr val="dk1">
                    <a:alpha val="40000"/>
                  </a:schemeClr>
                </a:outerShdw>
              </a:effectLst>
              <a:latin typeface="+mj-lt"/>
            </a:endParaRPr>
          </a:p>
        </p:txBody>
      </p:sp>
    </p:spTree>
    <p:extLst>
      <p:ext uri="{BB962C8B-B14F-4D97-AF65-F5344CB8AC3E}">
        <p14:creationId xmlns:p14="http://schemas.microsoft.com/office/powerpoint/2010/main" val="136598909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354483778"/>
              </p:ext>
            </p:extLst>
          </p:nvPr>
        </p:nvGraphicFramePr>
        <p:xfrm>
          <a:off x="1333240" y="1268228"/>
          <a:ext cx="6432899" cy="4274820"/>
        </p:xfrm>
        <a:graphic>
          <a:graphicData uri="http://schemas.openxmlformats.org/drawingml/2006/table">
            <a:tbl>
              <a:tblPr firstRow="1" bandRow="1">
                <a:tableStyleId>{2D5ABB26-0587-4C30-8999-92F81FD0307C}</a:tableStyleId>
              </a:tblPr>
              <a:tblGrid>
                <a:gridCol w="584809"/>
                <a:gridCol w="584809"/>
                <a:gridCol w="584809"/>
                <a:gridCol w="584809"/>
                <a:gridCol w="584809"/>
                <a:gridCol w="584809"/>
                <a:gridCol w="584809"/>
                <a:gridCol w="584809"/>
                <a:gridCol w="584809"/>
                <a:gridCol w="584809"/>
                <a:gridCol w="584809"/>
              </a:tblGrid>
              <a:tr h="388620">
                <a:tc>
                  <a:txBody>
                    <a:bodyPr/>
                    <a:lstStyle/>
                    <a:p>
                      <a:endParaRPr lang="zh-TW" altLang="en-US" sz="2100" dirty="0">
                        <a:latin typeface="+mj-lt"/>
                      </a:endParaRPr>
                    </a:p>
                  </a:txBody>
                  <a:tcPr marL="68580" marR="68580" marT="34290" marB="34290"/>
                </a:tc>
                <a:tc>
                  <a:txBody>
                    <a:bodyPr/>
                    <a:lstStyle/>
                    <a:p>
                      <a:endParaRPr lang="zh-TW" altLang="en-US" sz="2100" dirty="0">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r>
                        <a:rPr lang="en-US" altLang="zh-TW" sz="2100" dirty="0" smtClean="0">
                          <a:solidFill>
                            <a:srgbClr val="00B050"/>
                          </a:solidFill>
                          <a:latin typeface="+mj-lt"/>
                        </a:rPr>
                        <a:t>B</a:t>
                      </a:r>
                      <a:endParaRPr lang="zh-TW" altLang="en-US" sz="2100" dirty="0">
                        <a:solidFill>
                          <a:srgbClr val="00B050"/>
                        </a:solidFill>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r>
                        <a:rPr lang="en-US" altLang="zh-TW" sz="2100" dirty="0" smtClean="0">
                          <a:solidFill>
                            <a:srgbClr val="00B050"/>
                          </a:solidFill>
                          <a:latin typeface="+mj-lt"/>
                        </a:rPr>
                        <a:t>C</a:t>
                      </a:r>
                      <a:endParaRPr lang="zh-TW" altLang="en-US" sz="2100" dirty="0">
                        <a:solidFill>
                          <a:srgbClr val="00B050"/>
                        </a:solidFill>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r>
                        <a:rPr lang="en-US" altLang="zh-TW" sz="2100" dirty="0" smtClean="0">
                          <a:solidFill>
                            <a:srgbClr val="00B050"/>
                          </a:solidFill>
                          <a:latin typeface="+mj-lt"/>
                        </a:rPr>
                        <a:t>B</a:t>
                      </a:r>
                      <a:endParaRPr lang="zh-TW" altLang="en-US" sz="2100" dirty="0">
                        <a:solidFill>
                          <a:srgbClr val="00B050"/>
                        </a:solidFill>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r>
                        <a:rPr lang="en-US" altLang="zh-TW" sz="2100" dirty="0" smtClean="0">
                          <a:solidFill>
                            <a:srgbClr val="00B050"/>
                          </a:solidFill>
                          <a:latin typeface="+mj-lt"/>
                        </a:rPr>
                        <a:t>A</a:t>
                      </a:r>
                      <a:endParaRPr lang="zh-TW" altLang="en-US" sz="2100" dirty="0">
                        <a:solidFill>
                          <a:srgbClr val="00B050"/>
                        </a:solidFill>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r>
                        <a:rPr lang="en-US" altLang="zh-TW" sz="2100" dirty="0" smtClean="0">
                          <a:solidFill>
                            <a:srgbClr val="00B050"/>
                          </a:solidFill>
                          <a:latin typeface="+mj-lt"/>
                        </a:rPr>
                        <a:t>D</a:t>
                      </a:r>
                      <a:endParaRPr lang="zh-TW" altLang="en-US" sz="2100" dirty="0">
                        <a:solidFill>
                          <a:srgbClr val="00B050"/>
                        </a:solidFill>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r>
                        <a:rPr lang="en-US" altLang="zh-TW" sz="2100" dirty="0" smtClean="0">
                          <a:solidFill>
                            <a:srgbClr val="00B050"/>
                          </a:solidFill>
                          <a:latin typeface="+mj-lt"/>
                        </a:rPr>
                        <a:t>B</a:t>
                      </a:r>
                      <a:endParaRPr lang="zh-TW" altLang="en-US" sz="2100" dirty="0">
                        <a:solidFill>
                          <a:srgbClr val="00B050"/>
                        </a:solidFill>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r>
                        <a:rPr lang="en-US" altLang="zh-TW" sz="2100" dirty="0" smtClean="0">
                          <a:solidFill>
                            <a:srgbClr val="00B050"/>
                          </a:solidFill>
                          <a:latin typeface="+mj-lt"/>
                        </a:rPr>
                        <a:t>D</a:t>
                      </a:r>
                      <a:endParaRPr lang="zh-TW" altLang="en-US" sz="2100" dirty="0">
                        <a:solidFill>
                          <a:srgbClr val="00B050"/>
                        </a:solidFill>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r>
                        <a:rPr lang="en-US" altLang="zh-TW" sz="2100" dirty="0" smtClean="0">
                          <a:solidFill>
                            <a:srgbClr val="00B050"/>
                          </a:solidFill>
                          <a:latin typeface="+mj-lt"/>
                        </a:rPr>
                        <a:t>C</a:t>
                      </a:r>
                      <a:endParaRPr lang="zh-TW" altLang="en-US" sz="2100" dirty="0">
                        <a:solidFill>
                          <a:srgbClr val="00B050"/>
                        </a:solidFill>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r>
                        <a:rPr lang="en-US" altLang="zh-TW" sz="2100" dirty="0" smtClean="0">
                          <a:solidFill>
                            <a:srgbClr val="00B050"/>
                          </a:solidFill>
                          <a:latin typeface="+mj-lt"/>
                        </a:rPr>
                        <a:t>D</a:t>
                      </a:r>
                      <a:endParaRPr lang="zh-TW" altLang="en-US" sz="2100" dirty="0">
                        <a:solidFill>
                          <a:srgbClr val="00B050"/>
                        </a:solidFill>
                        <a:latin typeface="+mj-lt"/>
                      </a:endParaRPr>
                    </a:p>
                  </a:txBody>
                  <a:tcPr marL="68580" marR="68580" marT="34290" marB="34290">
                    <a:lnB w="12700" cap="flat" cmpd="sng" algn="ctr">
                      <a:solidFill>
                        <a:schemeClr val="tx1"/>
                      </a:solidFill>
                      <a:prstDash val="solid"/>
                      <a:round/>
                      <a:headEnd type="none" w="med" len="med"/>
                      <a:tailEnd type="none" w="med" len="med"/>
                    </a:lnB>
                  </a:tcPr>
                </a:tc>
              </a:tr>
              <a:tr h="388620">
                <a:tc>
                  <a:txBody>
                    <a:bodyPr/>
                    <a:lstStyle/>
                    <a:p>
                      <a:r>
                        <a:rPr lang="en-US" altLang="zh-TW" sz="2100" dirty="0" smtClean="0">
                          <a:latin typeface="+mj-lt"/>
                        </a:rPr>
                        <a:t>B</a:t>
                      </a:r>
                      <a:endParaRPr lang="zh-TW" altLang="en-US" sz="2100" dirty="0">
                        <a:latin typeface="+mj-lt"/>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zh-TW" altLang="en-US" sz="1000" dirty="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88620">
                <a:tc>
                  <a:txBody>
                    <a:bodyPr/>
                    <a:lstStyle/>
                    <a:p>
                      <a:r>
                        <a:rPr lang="en-US" altLang="zh-TW" sz="2100" dirty="0" smtClean="0">
                          <a:latin typeface="+mj-lt"/>
                        </a:rPr>
                        <a:t>C</a:t>
                      </a:r>
                      <a:endParaRPr lang="zh-TW" altLang="en-US" sz="2100" dirty="0">
                        <a:latin typeface="+mj-lt"/>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pPr algn="ctr"/>
                      <a:r>
                        <a:rPr lang="en-US" altLang="zh-TW" sz="1000" dirty="0" smtClean="0">
                          <a:solidFill>
                            <a:schemeClr val="bg1"/>
                          </a:solidFill>
                          <a:latin typeface="+mj-lt"/>
                        </a:rPr>
                        <a:t>0</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1</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2</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2</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2</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2</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2</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2</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2</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2</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r>
              <a:tr h="388620">
                <a:tc>
                  <a:txBody>
                    <a:bodyPr/>
                    <a:lstStyle/>
                    <a:p>
                      <a:endParaRPr lang="zh-TW" altLang="en-US" sz="2100" dirty="0">
                        <a:latin typeface="+mj-lt"/>
                      </a:endParaRPr>
                    </a:p>
                  </a:txBody>
                  <a:tcPr marL="68580" marR="68580" marT="34290" marB="34290"/>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tcPr>
                </a:tc>
              </a:tr>
              <a:tr h="388620">
                <a:tc>
                  <a:txBody>
                    <a:bodyPr/>
                    <a:lstStyle/>
                    <a:p>
                      <a:endParaRPr lang="zh-TW" altLang="en-US" sz="21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r>
              <a:tr h="388620">
                <a:tc>
                  <a:txBody>
                    <a:bodyPr/>
                    <a:lstStyle/>
                    <a:p>
                      <a:r>
                        <a:rPr lang="en-US" altLang="zh-TW" sz="2100" dirty="0" smtClean="0">
                          <a:solidFill>
                            <a:srgbClr val="FF0000"/>
                          </a:solidFill>
                          <a:latin typeface="+mj-lt"/>
                        </a:rPr>
                        <a:t>B</a:t>
                      </a:r>
                      <a:endParaRPr lang="zh-TW" altLang="en-US" sz="2100" dirty="0">
                        <a:solidFill>
                          <a:srgbClr val="FF0000"/>
                        </a:solidFill>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r>
              <a:tr h="388620">
                <a:tc>
                  <a:txBody>
                    <a:bodyPr/>
                    <a:lstStyle/>
                    <a:p>
                      <a:r>
                        <a:rPr lang="en-US" altLang="zh-TW" sz="2100" dirty="0" smtClean="0">
                          <a:solidFill>
                            <a:srgbClr val="FF0000"/>
                          </a:solidFill>
                          <a:latin typeface="+mj-lt"/>
                        </a:rPr>
                        <a:t>C</a:t>
                      </a:r>
                      <a:endParaRPr lang="zh-TW" altLang="en-US" sz="2100" dirty="0">
                        <a:solidFill>
                          <a:srgbClr val="FF0000"/>
                        </a:solidFill>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c>
                  <a:txBody>
                    <a:bodyPr/>
                    <a:lstStyle/>
                    <a:p>
                      <a:endParaRPr lang="zh-TW" altLang="en-US" sz="1000" dirty="0">
                        <a:latin typeface="+mj-lt"/>
                      </a:endParaRPr>
                    </a:p>
                  </a:txBody>
                  <a:tcPr marL="68580" marR="68580" marT="34290" marB="34290"/>
                </a:tc>
              </a:tr>
              <a:tr h="388620">
                <a:tc>
                  <a:txBody>
                    <a:bodyPr/>
                    <a:lstStyle/>
                    <a:p>
                      <a:r>
                        <a:rPr lang="en-US" altLang="zh-TW" sz="2100" dirty="0" smtClean="0">
                          <a:solidFill>
                            <a:srgbClr val="FF0000"/>
                          </a:solidFill>
                          <a:latin typeface="+mj-lt"/>
                        </a:rPr>
                        <a:t>B</a:t>
                      </a:r>
                      <a:endParaRPr lang="zh-TW" altLang="en-US" sz="2100" dirty="0">
                        <a:solidFill>
                          <a:srgbClr val="FF0000"/>
                        </a:solidFill>
                        <a:latin typeface="+mj-lt"/>
                      </a:endParaRPr>
                    </a:p>
                  </a:txBody>
                  <a:tcPr marL="68580" marR="68580" marT="34290" marB="34290"/>
                </a:tc>
                <a:tc>
                  <a:txBody>
                    <a:bodyPr/>
                    <a:lstStyle/>
                    <a:p>
                      <a:endParaRPr lang="zh-TW" altLang="en-US" sz="1000" dirty="0">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B w="12700" cap="flat" cmpd="sng" algn="ctr">
                      <a:solidFill>
                        <a:schemeClr val="tx1"/>
                      </a:solidFill>
                      <a:prstDash val="solid"/>
                      <a:round/>
                      <a:headEnd type="none" w="med" len="med"/>
                      <a:tailEnd type="none" w="med" len="med"/>
                    </a:lnB>
                  </a:tcPr>
                </a:tc>
              </a:tr>
              <a:tr h="388620">
                <a:tc>
                  <a:txBody>
                    <a:bodyPr/>
                    <a:lstStyle/>
                    <a:p>
                      <a:r>
                        <a:rPr lang="en-US" altLang="zh-TW" sz="2100" dirty="0" smtClean="0">
                          <a:solidFill>
                            <a:srgbClr val="FF0000"/>
                          </a:solidFill>
                          <a:latin typeface="+mj-lt"/>
                        </a:rPr>
                        <a:t>D</a:t>
                      </a:r>
                      <a:endParaRPr lang="zh-TW" altLang="en-US" sz="2100" dirty="0">
                        <a:solidFill>
                          <a:srgbClr val="FF0000"/>
                        </a:solidFill>
                        <a:latin typeface="+mj-lt"/>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pPr algn="ctr"/>
                      <a:r>
                        <a:rPr lang="en-US" altLang="zh-TW" sz="1000" dirty="0" smtClean="0">
                          <a:solidFill>
                            <a:schemeClr val="bg1"/>
                          </a:solidFill>
                          <a:latin typeface="+mj-lt"/>
                        </a:rPr>
                        <a:t>0</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1</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2</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3</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3</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4</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4</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5</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5</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altLang="zh-TW" sz="1000" dirty="0" smtClean="0">
                          <a:solidFill>
                            <a:schemeClr val="bg1"/>
                          </a:solidFill>
                          <a:latin typeface="+mj-lt"/>
                        </a:rPr>
                        <a:t>5</a:t>
                      </a:r>
                      <a:endParaRPr lang="zh-TW" altLang="en-US" sz="1000" dirty="0">
                        <a:solidFill>
                          <a:schemeClr val="bg1"/>
                        </a:solidFill>
                        <a:latin typeface="+mj-lt"/>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r>
              <a:tr h="388620">
                <a:tc>
                  <a:txBody>
                    <a:bodyPr/>
                    <a:lstStyle/>
                    <a:p>
                      <a:endParaRPr lang="zh-TW" altLang="en-US" sz="2100" dirty="0">
                        <a:latin typeface="+mj-lt"/>
                      </a:endParaRPr>
                    </a:p>
                  </a:txBody>
                  <a:tcPr marL="68580" marR="68580" marT="34290" marB="34290"/>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88620">
                <a:tc>
                  <a:txBody>
                    <a:bodyPr/>
                    <a:lstStyle/>
                    <a:p>
                      <a:r>
                        <a:rPr lang="en-US" altLang="zh-TW" sz="2100" dirty="0" smtClean="0">
                          <a:latin typeface="+mj-lt"/>
                        </a:rPr>
                        <a:t>C</a:t>
                      </a:r>
                      <a:endParaRPr lang="zh-TW" altLang="en-US" sz="2100" dirty="0">
                        <a:latin typeface="+mj-lt"/>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zh-TW" altLang="en-US" sz="1000" dirty="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000" dirty="0">
                        <a:latin typeface="+mj-lt"/>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26" name="上彎箭號 25"/>
          <p:cNvSpPr/>
          <p:nvPr/>
        </p:nvSpPr>
        <p:spPr>
          <a:xfrm rot="5400000" flipV="1">
            <a:off x="5768925" y="2346808"/>
            <a:ext cx="526093" cy="873692"/>
          </a:xfrm>
          <a:prstGeom prst="bentUpArrow">
            <a:avLst>
              <a:gd name="adj1" fmla="val 14285"/>
              <a:gd name="adj2" fmla="val 16964"/>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grpSp>
        <p:nvGrpSpPr>
          <p:cNvPr id="28" name="群組 27"/>
          <p:cNvGrpSpPr/>
          <p:nvPr/>
        </p:nvGrpSpPr>
        <p:grpSpPr>
          <a:xfrm>
            <a:off x="4142985" y="2588274"/>
            <a:ext cx="1315232" cy="1499310"/>
            <a:chOff x="2066795" y="1292723"/>
            <a:chExt cx="1753643" cy="1999080"/>
          </a:xfrm>
        </p:grpSpPr>
        <p:grpSp>
          <p:nvGrpSpPr>
            <p:cNvPr id="29" name="群組 28"/>
            <p:cNvGrpSpPr/>
            <p:nvPr/>
          </p:nvGrpSpPr>
          <p:grpSpPr>
            <a:xfrm>
              <a:off x="2066795" y="1292723"/>
              <a:ext cx="1753643" cy="1964044"/>
              <a:chOff x="2066795" y="1292723"/>
              <a:chExt cx="1753643" cy="1964044"/>
            </a:xfrm>
          </p:grpSpPr>
          <p:sp>
            <p:nvSpPr>
              <p:cNvPr id="31" name="矩形 30"/>
              <p:cNvSpPr/>
              <p:nvPr/>
            </p:nvSpPr>
            <p:spPr>
              <a:xfrm>
                <a:off x="2066795" y="1352811"/>
                <a:ext cx="1753643" cy="1903956"/>
              </a:xfrm>
              <a:prstGeom prst="rect">
                <a:avLst/>
              </a:prstGeom>
              <a:solidFill>
                <a:schemeClr val="bg1"/>
              </a:solidFill>
              <a:ln w="762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32" name="矩形 31"/>
              <p:cNvSpPr/>
              <p:nvPr/>
            </p:nvSpPr>
            <p:spPr>
              <a:xfrm>
                <a:off x="2131314" y="1292723"/>
                <a:ext cx="511679" cy="923329"/>
              </a:xfrm>
              <a:prstGeom prst="rect">
                <a:avLst/>
              </a:prstGeom>
              <a:noFill/>
            </p:spPr>
            <p:txBody>
              <a:bodyPr wrap="none" lIns="68580" tIns="34290" rIns="68580" bIns="34290">
                <a:spAutoFit/>
              </a:bodyPr>
              <a:lstStyle/>
              <a:p>
                <a:pPr algn="ctr"/>
                <a:r>
                  <a:rPr lang="en-US" altLang="zh-TW" sz="405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S</a:t>
                </a:r>
                <a:endParaRPr lang="zh-TW" altLang="en-US" sz="405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grpSp>
        <p:sp>
          <p:nvSpPr>
            <p:cNvPr id="30" name="矩形 29"/>
            <p:cNvSpPr/>
            <p:nvPr/>
          </p:nvSpPr>
          <p:spPr>
            <a:xfrm>
              <a:off x="2642992" y="1352811"/>
              <a:ext cx="838691" cy="1938992"/>
            </a:xfrm>
            <a:prstGeom prst="rect">
              <a:avLst/>
            </a:prstGeom>
            <a:noFill/>
          </p:spPr>
          <p:txBody>
            <a:bodyPr wrap="none" lIns="68580" tIns="34290" rIns="68580" bIns="34290">
              <a:spAutoFit/>
            </a:bodyPr>
            <a:lstStyle/>
            <a:p>
              <a:r>
                <a:rPr lang="en-US" altLang="zh-TW" sz="900" dirty="0"/>
                <a:t>0</a:t>
              </a:r>
              <a:r>
                <a:rPr lang="zh-TW" altLang="en-US" sz="900" dirty="0"/>
                <a:t> </a:t>
              </a:r>
              <a:r>
                <a:rPr lang="en-US" altLang="zh-TW" sz="900" dirty="0"/>
                <a:t>1</a:t>
              </a:r>
              <a:r>
                <a:rPr lang="zh-TW" altLang="en-US" sz="900" dirty="0"/>
                <a:t> </a:t>
              </a:r>
              <a:r>
                <a:rPr lang="en-US" altLang="zh-TW" sz="900" dirty="0"/>
                <a:t>2</a:t>
              </a:r>
              <a:r>
                <a:rPr lang="zh-TW" altLang="en-US" sz="900" dirty="0"/>
                <a:t> </a:t>
              </a:r>
              <a:r>
                <a:rPr lang="en-US" altLang="zh-TW" sz="900" dirty="0"/>
                <a:t>3</a:t>
              </a:r>
              <a:r>
                <a:rPr lang="zh-TW" altLang="en-US" sz="900" dirty="0"/>
                <a:t> </a:t>
              </a:r>
              <a:r>
                <a:rPr lang="en-US" altLang="zh-TW" sz="900" dirty="0"/>
                <a:t>5</a:t>
              </a:r>
              <a:r>
                <a:rPr lang="zh-TW" altLang="en-US" sz="900" dirty="0"/>
                <a:t>  </a:t>
              </a:r>
              <a:r>
                <a:rPr lang="en-US" altLang="zh-TW" sz="900" dirty="0"/>
                <a:t>-</a:t>
              </a:r>
            </a:p>
            <a:p>
              <a:r>
                <a:rPr lang="en-US" altLang="zh-TW" sz="900" dirty="0"/>
                <a:t>1</a:t>
              </a:r>
              <a:r>
                <a:rPr lang="zh-TW" altLang="en-US" sz="900" dirty="0"/>
                <a:t> </a:t>
              </a:r>
              <a:r>
                <a:rPr lang="en-US" altLang="zh-TW" sz="900" dirty="0"/>
                <a:t>2</a:t>
              </a:r>
              <a:r>
                <a:rPr lang="zh-TW" altLang="en-US" sz="900" dirty="0"/>
                <a:t> </a:t>
              </a:r>
              <a:r>
                <a:rPr lang="en-US" altLang="zh-TW" sz="900" dirty="0"/>
                <a:t>3</a:t>
              </a:r>
              <a:r>
                <a:rPr lang="zh-TW" altLang="en-US" sz="900" dirty="0"/>
                <a:t> </a:t>
              </a:r>
              <a:r>
                <a:rPr lang="en-US" altLang="zh-TW" sz="900" dirty="0"/>
                <a:t>5</a:t>
              </a:r>
              <a:r>
                <a:rPr lang="zh-TW" altLang="en-US" sz="900" dirty="0"/>
                <a:t>  </a:t>
              </a:r>
              <a:r>
                <a:rPr lang="en-US" altLang="zh-TW" sz="900" dirty="0"/>
                <a:t>-</a:t>
              </a:r>
              <a:r>
                <a:rPr lang="zh-TW" altLang="en-US" sz="900" dirty="0"/>
                <a:t>  </a:t>
              </a:r>
              <a:r>
                <a:rPr lang="en-US" altLang="zh-TW" sz="900" dirty="0"/>
                <a:t>-</a:t>
              </a:r>
            </a:p>
            <a:p>
              <a:r>
                <a:rPr lang="en-US" altLang="zh-TW" sz="900" dirty="0"/>
                <a:t>2</a:t>
              </a:r>
              <a:r>
                <a:rPr lang="zh-TW" altLang="en-US" sz="900" dirty="0"/>
                <a:t> </a:t>
              </a:r>
              <a:r>
                <a:rPr lang="en-US" altLang="zh-TW" sz="900" dirty="0"/>
                <a:t>3</a:t>
              </a:r>
              <a:r>
                <a:rPr lang="zh-TW" altLang="en-US" sz="900" dirty="0"/>
                <a:t> </a:t>
              </a:r>
              <a:r>
                <a:rPr lang="en-US" altLang="zh-TW" sz="900" dirty="0"/>
                <a:t>5</a:t>
              </a:r>
              <a:r>
                <a:rPr lang="zh-TW" altLang="en-US" sz="900" dirty="0"/>
                <a:t> </a:t>
              </a:r>
              <a:r>
                <a:rPr lang="en-US" altLang="zh-TW" sz="900" dirty="0"/>
                <a:t>7</a:t>
              </a:r>
              <a:r>
                <a:rPr lang="zh-TW" altLang="en-US" sz="900" dirty="0"/>
                <a:t>  </a:t>
              </a:r>
              <a:r>
                <a:rPr lang="en-US" altLang="zh-TW" sz="900" dirty="0"/>
                <a:t>-</a:t>
              </a:r>
              <a:r>
                <a:rPr lang="zh-TW" altLang="en-US" sz="900" dirty="0"/>
                <a:t>  </a:t>
              </a:r>
              <a:r>
                <a:rPr lang="en-US" altLang="zh-TW" sz="900" dirty="0"/>
                <a:t>-</a:t>
              </a:r>
            </a:p>
            <a:p>
              <a:r>
                <a:rPr lang="en-US" altLang="zh-TW" sz="900" dirty="0"/>
                <a:t>3</a:t>
              </a:r>
              <a:r>
                <a:rPr lang="zh-TW" altLang="en-US" sz="900" dirty="0"/>
                <a:t> </a:t>
              </a:r>
              <a:r>
                <a:rPr lang="en-US" altLang="zh-TW" sz="900" dirty="0"/>
                <a:t>5</a:t>
              </a:r>
              <a:r>
                <a:rPr lang="zh-TW" altLang="en-US" sz="900" dirty="0"/>
                <a:t> </a:t>
              </a:r>
              <a:r>
                <a:rPr lang="en-US" altLang="zh-TW" sz="900" dirty="0"/>
                <a:t>7</a:t>
              </a:r>
              <a:r>
                <a:rPr lang="zh-TW" altLang="en-US" sz="900" dirty="0"/>
                <a:t> </a:t>
              </a:r>
              <a:r>
                <a:rPr lang="en-US" altLang="zh-TW" sz="900" dirty="0"/>
                <a:t>9</a:t>
              </a:r>
              <a:r>
                <a:rPr lang="zh-TW" altLang="en-US" sz="900" dirty="0"/>
                <a:t>  </a:t>
              </a:r>
              <a:r>
                <a:rPr lang="en-US" altLang="zh-TW" sz="900" dirty="0"/>
                <a:t>-</a:t>
              </a:r>
              <a:r>
                <a:rPr lang="zh-TW" altLang="en-US" sz="900" dirty="0"/>
                <a:t>  </a:t>
              </a:r>
              <a:r>
                <a:rPr lang="en-US" altLang="zh-TW" sz="900" dirty="0"/>
                <a:t>-</a:t>
              </a:r>
            </a:p>
            <a:p>
              <a:r>
                <a:rPr lang="en-US" altLang="zh-TW" sz="900" dirty="0"/>
                <a:t>4</a:t>
              </a:r>
              <a:r>
                <a:rPr lang="zh-TW" altLang="en-US" sz="900" dirty="0"/>
                <a:t> </a:t>
              </a:r>
              <a:r>
                <a:rPr lang="en-US" altLang="zh-TW" sz="900" dirty="0"/>
                <a:t>5</a:t>
              </a:r>
              <a:r>
                <a:rPr lang="zh-TW" altLang="en-US" sz="900" dirty="0"/>
                <a:t> </a:t>
              </a:r>
              <a:r>
                <a:rPr lang="en-US" altLang="zh-TW" sz="900" dirty="0"/>
                <a:t>7</a:t>
              </a:r>
              <a:r>
                <a:rPr lang="zh-TW" altLang="en-US" sz="900" dirty="0"/>
                <a:t> </a:t>
              </a:r>
              <a:r>
                <a:rPr lang="en-US" altLang="zh-TW" sz="900" dirty="0"/>
                <a:t>9</a:t>
              </a:r>
              <a:r>
                <a:rPr lang="zh-TW" altLang="en-US" sz="900" dirty="0"/>
                <a:t>  </a:t>
              </a:r>
              <a:r>
                <a:rPr lang="en-US" altLang="zh-TW" sz="900" dirty="0"/>
                <a:t>-</a:t>
              </a:r>
              <a:r>
                <a:rPr lang="zh-TW" altLang="en-US" sz="900" dirty="0"/>
                <a:t>  </a:t>
              </a:r>
              <a:r>
                <a:rPr lang="en-US" altLang="zh-TW" sz="900" dirty="0"/>
                <a:t>-</a:t>
              </a:r>
            </a:p>
            <a:p>
              <a:r>
                <a:rPr lang="en-US" altLang="zh-TW" sz="900" dirty="0"/>
                <a:t>5</a:t>
              </a:r>
              <a:r>
                <a:rPr lang="zh-TW" altLang="en-US" sz="900" dirty="0"/>
                <a:t> </a:t>
              </a:r>
              <a:r>
                <a:rPr lang="en-US" altLang="zh-TW" sz="900" dirty="0"/>
                <a:t>6</a:t>
              </a:r>
              <a:r>
                <a:rPr lang="zh-TW" altLang="en-US" sz="900" dirty="0"/>
                <a:t> </a:t>
              </a:r>
              <a:r>
                <a:rPr lang="en-US" altLang="zh-TW" sz="900" dirty="0"/>
                <a:t>7</a:t>
              </a:r>
              <a:r>
                <a:rPr lang="zh-TW" altLang="en-US" sz="900" dirty="0"/>
                <a:t> </a:t>
              </a:r>
              <a:r>
                <a:rPr lang="en-US" altLang="zh-TW" sz="900" dirty="0"/>
                <a:t>9</a:t>
              </a:r>
              <a:r>
                <a:rPr lang="zh-TW" altLang="en-US" sz="900" dirty="0"/>
                <a:t>  </a:t>
              </a:r>
              <a:r>
                <a:rPr lang="en-US" altLang="zh-TW" sz="900" dirty="0"/>
                <a:t>-</a:t>
              </a:r>
              <a:r>
                <a:rPr lang="zh-TW" altLang="en-US" sz="900" dirty="0"/>
                <a:t>  </a:t>
              </a:r>
              <a:r>
                <a:rPr lang="en-US" altLang="zh-TW" sz="900" dirty="0"/>
                <a:t>-</a:t>
              </a:r>
            </a:p>
            <a:p>
              <a:r>
                <a:rPr lang="en-US" altLang="zh-TW" sz="900" dirty="0"/>
                <a:t>6</a:t>
              </a:r>
              <a:r>
                <a:rPr lang="zh-TW" altLang="en-US" sz="900" dirty="0"/>
                <a:t> </a:t>
              </a:r>
              <a:r>
                <a:rPr lang="en-US" altLang="zh-TW" sz="900" dirty="0"/>
                <a:t>7</a:t>
              </a:r>
              <a:r>
                <a:rPr lang="zh-TW" altLang="en-US" sz="900" dirty="0"/>
                <a:t> </a:t>
              </a:r>
              <a:r>
                <a:rPr lang="en-US" altLang="zh-TW" sz="900" dirty="0"/>
                <a:t>9</a:t>
              </a:r>
              <a:r>
                <a:rPr lang="zh-TW" altLang="en-US" sz="900" dirty="0"/>
                <a:t>  </a:t>
              </a:r>
              <a:r>
                <a:rPr lang="en-US" altLang="zh-TW" sz="900" dirty="0"/>
                <a:t>-</a:t>
              </a:r>
              <a:r>
                <a:rPr lang="zh-TW" altLang="en-US" sz="900" dirty="0"/>
                <a:t>  </a:t>
              </a:r>
              <a:r>
                <a:rPr lang="en-US" altLang="zh-TW" sz="900" dirty="0"/>
                <a:t>-</a:t>
              </a:r>
              <a:r>
                <a:rPr lang="zh-TW" altLang="en-US" sz="900" dirty="0"/>
                <a:t>  </a:t>
              </a:r>
              <a:r>
                <a:rPr lang="en-US" altLang="zh-TW" sz="900" dirty="0"/>
                <a:t>-</a:t>
              </a:r>
            </a:p>
            <a:p>
              <a:r>
                <a:rPr lang="en-US" altLang="zh-TW" sz="900" dirty="0"/>
                <a:t>7</a:t>
              </a:r>
              <a:r>
                <a:rPr lang="zh-TW" altLang="en-US" sz="900" dirty="0"/>
                <a:t> </a:t>
              </a:r>
              <a:r>
                <a:rPr lang="en-US" altLang="zh-TW" sz="900" dirty="0"/>
                <a:t>8</a:t>
              </a:r>
              <a:r>
                <a:rPr lang="zh-TW" altLang="en-US" sz="900" dirty="0"/>
                <a:t> </a:t>
              </a:r>
              <a:r>
                <a:rPr lang="en-US" altLang="zh-TW" sz="900" dirty="0"/>
                <a:t>9</a:t>
              </a:r>
              <a:r>
                <a:rPr lang="zh-TW" altLang="en-US" sz="900" dirty="0"/>
                <a:t>  </a:t>
              </a:r>
              <a:r>
                <a:rPr lang="en-US" altLang="zh-TW" sz="900" dirty="0"/>
                <a:t>-</a:t>
              </a:r>
              <a:r>
                <a:rPr lang="zh-TW" altLang="en-US" sz="900" dirty="0"/>
                <a:t>  </a:t>
              </a:r>
              <a:r>
                <a:rPr lang="en-US" altLang="zh-TW" sz="900" dirty="0"/>
                <a:t>-</a:t>
              </a:r>
              <a:r>
                <a:rPr lang="zh-TW" altLang="en-US" sz="900" dirty="0"/>
                <a:t>  </a:t>
              </a:r>
              <a:r>
                <a:rPr lang="en-US" altLang="zh-TW" sz="900" dirty="0"/>
                <a:t>-</a:t>
              </a:r>
            </a:p>
            <a:p>
              <a:r>
                <a:rPr lang="en-US" altLang="zh-TW" sz="900" dirty="0"/>
                <a:t>8</a:t>
              </a:r>
              <a:r>
                <a:rPr lang="zh-TW" altLang="en-US" sz="900" dirty="0"/>
                <a:t> </a:t>
              </a:r>
              <a:r>
                <a:rPr lang="en-US" altLang="zh-TW" sz="900" dirty="0"/>
                <a:t>9</a:t>
              </a:r>
              <a:r>
                <a:rPr lang="zh-TW" altLang="en-US" sz="900" dirty="0"/>
                <a:t>  </a:t>
              </a:r>
              <a:r>
                <a:rPr lang="en-US" altLang="zh-TW" sz="900" dirty="0"/>
                <a:t>-</a:t>
              </a:r>
              <a:r>
                <a:rPr lang="zh-TW" altLang="en-US" sz="900" dirty="0"/>
                <a:t>  </a:t>
              </a:r>
              <a:r>
                <a:rPr lang="en-US" altLang="zh-TW" sz="900" dirty="0"/>
                <a:t>-</a:t>
              </a:r>
              <a:r>
                <a:rPr lang="zh-TW" altLang="en-US" sz="900" dirty="0"/>
                <a:t>  </a:t>
              </a:r>
              <a:r>
                <a:rPr lang="en-US" altLang="zh-TW" sz="900" dirty="0"/>
                <a:t>-</a:t>
              </a:r>
              <a:r>
                <a:rPr lang="zh-TW" altLang="en-US" sz="900" dirty="0"/>
                <a:t>  </a:t>
              </a:r>
              <a:r>
                <a:rPr lang="en-US" altLang="zh-TW" sz="900" dirty="0"/>
                <a:t>-</a:t>
              </a:r>
            </a:p>
            <a:p>
              <a:r>
                <a:rPr lang="en-US" altLang="zh-TW" sz="900" dirty="0"/>
                <a:t>9</a:t>
              </a:r>
              <a:r>
                <a:rPr lang="zh-TW" altLang="en-US" sz="900" dirty="0"/>
                <a:t>  </a:t>
              </a:r>
              <a:r>
                <a:rPr lang="en-US" altLang="zh-TW" sz="900" dirty="0"/>
                <a:t>-</a:t>
              </a:r>
              <a:r>
                <a:rPr lang="zh-TW" altLang="en-US" sz="900" dirty="0"/>
                <a:t>  </a:t>
              </a:r>
              <a:r>
                <a:rPr lang="en-US" altLang="zh-TW" sz="900" dirty="0"/>
                <a:t>-</a:t>
              </a:r>
              <a:r>
                <a:rPr lang="zh-TW" altLang="en-US" sz="900" dirty="0"/>
                <a:t>  </a:t>
              </a:r>
              <a:r>
                <a:rPr lang="en-US" altLang="zh-TW" sz="900" dirty="0"/>
                <a:t>-</a:t>
              </a:r>
              <a:r>
                <a:rPr lang="zh-TW" altLang="en-US" sz="900" dirty="0"/>
                <a:t>  </a:t>
              </a:r>
              <a:r>
                <a:rPr lang="en-US" altLang="zh-TW" sz="900" dirty="0"/>
                <a:t>-</a:t>
              </a:r>
              <a:r>
                <a:rPr lang="zh-TW" altLang="en-US" sz="900" dirty="0"/>
                <a:t>  </a:t>
              </a:r>
              <a:r>
                <a:rPr lang="en-US" altLang="zh-TW" sz="900" dirty="0"/>
                <a:t>-</a:t>
              </a:r>
              <a:endParaRPr lang="zh-TW" altLang="en-US" sz="900" dirty="0"/>
            </a:p>
          </p:txBody>
        </p:sp>
      </p:grpSp>
      <p:sp>
        <p:nvSpPr>
          <p:cNvPr id="33" name="上彎箭號 32"/>
          <p:cNvSpPr/>
          <p:nvPr/>
        </p:nvSpPr>
        <p:spPr>
          <a:xfrm flipH="1" flipV="1">
            <a:off x="2952592" y="3760814"/>
            <a:ext cx="1053485" cy="450674"/>
          </a:xfrm>
          <a:prstGeom prst="bentUpArrow">
            <a:avLst>
              <a:gd name="adj1" fmla="val 18454"/>
              <a:gd name="adj2" fmla="val 21133"/>
              <a:gd name="adj3" fmla="val 2708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Tree>
    <p:extLst>
      <p:ext uri="{BB962C8B-B14F-4D97-AF65-F5344CB8AC3E}">
        <p14:creationId xmlns:p14="http://schemas.microsoft.com/office/powerpoint/2010/main" val="216653049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336087" y="4502325"/>
            <a:ext cx="4667577" cy="992579"/>
          </a:xfrm>
          <a:prstGeom prst="rect">
            <a:avLst/>
          </a:prstGeom>
          <a:noFill/>
        </p:spPr>
        <p:txBody>
          <a:bodyPr wrap="square" lIns="68580" tIns="34290" rIns="68580" bIns="34290">
            <a:spAutoFit/>
          </a:bodyPr>
          <a:lstStyle/>
          <a:p>
            <a:r>
              <a:rPr lang="en-US" altLang="zh-TW" sz="3000" dirty="0">
                <a:ln w="0"/>
                <a:effectLst>
                  <a:outerShdw blurRad="38100" dist="19050" dir="2700000" algn="tl" rotWithShape="0">
                    <a:schemeClr val="dk1">
                      <a:alpha val="40000"/>
                    </a:schemeClr>
                  </a:outerShdw>
                </a:effectLst>
                <a:latin typeface="+mj-lt"/>
              </a:rPr>
              <a:t>L</a:t>
            </a:r>
            <a:r>
              <a:rPr lang="en-US" altLang="zh-TW" sz="3000" baseline="-25000" dirty="0">
                <a:ln w="0"/>
                <a:effectLst>
                  <a:outerShdw blurRad="38100" dist="19050" dir="2700000" algn="tl" rotWithShape="0">
                    <a:schemeClr val="dk1">
                      <a:alpha val="40000"/>
                    </a:schemeClr>
                  </a:outerShdw>
                </a:effectLst>
                <a:latin typeface="+mj-lt"/>
              </a:rPr>
              <a:t>y </a:t>
            </a:r>
            <a:r>
              <a:rPr lang="en-US" altLang="zh-TW" sz="3000" dirty="0">
                <a:ln w="0"/>
                <a:effectLst>
                  <a:outerShdw blurRad="38100" dist="19050" dir="2700000" algn="tl" rotWithShape="0">
                    <a:schemeClr val="dk1">
                      <a:alpha val="40000"/>
                    </a:schemeClr>
                  </a:outerShdw>
                </a:effectLst>
                <a:latin typeface="+mj-lt"/>
              </a:rPr>
              <a:t>:  </a:t>
            </a:r>
            <a:r>
              <a:rPr lang="en-US" altLang="zh-TW" sz="2700" dirty="0">
                <a:ln w="0"/>
                <a:effectLst>
                  <a:outerShdw blurRad="38100" dist="19050" dir="2700000" algn="tl" rotWithShape="0">
                    <a:schemeClr val="dk1">
                      <a:alpha val="40000"/>
                    </a:schemeClr>
                  </a:outerShdw>
                </a:effectLst>
                <a:latin typeface="+mj-lt"/>
              </a:rPr>
              <a:t>|LCS[T</a:t>
            </a:r>
            <a:r>
              <a:rPr lang="en-US" altLang="zh-TW" sz="2700" dirty="0">
                <a:ln w="0"/>
                <a:effectLst>
                  <a:outerShdw blurRad="38100" dist="19050" dir="2700000" algn="tl" rotWithShape="0">
                    <a:schemeClr val="dk1">
                      <a:alpha val="40000"/>
                    </a:schemeClr>
                  </a:outerShdw>
                </a:effectLst>
                <a:latin typeface="+mj-lt"/>
              </a:rPr>
              <a:t>, Y</a:t>
            </a:r>
            <a:r>
              <a:rPr lang="en-US" altLang="zh-TW" sz="2700" dirty="0">
                <a:ln w="0"/>
                <a:effectLst>
                  <a:outerShdw blurRad="38100" dist="19050" dir="2700000" algn="tl" rotWithShape="0">
                    <a:schemeClr val="dk1">
                      <a:alpha val="40000"/>
                    </a:schemeClr>
                  </a:outerShdw>
                </a:effectLst>
                <a:latin typeface="+mj-lt"/>
              </a:rPr>
              <a:t>]|</a:t>
            </a:r>
            <a:r>
              <a:rPr lang="en-US" altLang="zh-TW" sz="3000" dirty="0">
                <a:ln w="0"/>
                <a:effectLst>
                  <a:outerShdw blurRad="38100" dist="19050" dir="2700000" algn="tl" rotWithShape="0">
                    <a:schemeClr val="dk1">
                      <a:alpha val="40000"/>
                    </a:schemeClr>
                  </a:outerShdw>
                </a:effectLst>
                <a:latin typeface="+mj-lt"/>
              </a:rPr>
              <a:t>, 	</a:t>
            </a:r>
          </a:p>
          <a:p>
            <a:r>
              <a:rPr lang="en-US" altLang="zh-TW" sz="3000" dirty="0">
                <a:ln w="0"/>
                <a:effectLst>
                  <a:outerShdw blurRad="38100" dist="19050" dir="2700000" algn="tl" rotWithShape="0">
                    <a:schemeClr val="dk1">
                      <a:alpha val="40000"/>
                    </a:schemeClr>
                  </a:outerShdw>
                </a:effectLst>
                <a:latin typeface="+mj-lt"/>
              </a:rPr>
              <a:t>L :</a:t>
            </a:r>
            <a:r>
              <a:rPr lang="en-US" altLang="zh-TW" sz="3000" dirty="0">
                <a:ln w="0"/>
                <a:effectLst>
                  <a:outerShdw blurRad="38100" dist="19050" dir="2700000" algn="tl" rotWithShape="0">
                    <a:schemeClr val="dk1">
                      <a:alpha val="40000"/>
                    </a:schemeClr>
                  </a:outerShdw>
                </a:effectLst>
                <a:latin typeface="+mj-lt"/>
              </a:rPr>
              <a:t> </a:t>
            </a:r>
            <a:r>
              <a:rPr lang="en-US" altLang="zh-TW" sz="3000" dirty="0">
                <a:ln w="0"/>
                <a:effectLst>
                  <a:outerShdw blurRad="38100" dist="19050" dir="2700000" algn="tl" rotWithShape="0">
                    <a:schemeClr val="dk1">
                      <a:alpha val="40000"/>
                    </a:schemeClr>
                  </a:outerShdw>
                </a:effectLst>
                <a:latin typeface="+mj-lt"/>
              </a:rPr>
              <a:t> </a:t>
            </a:r>
            <a:r>
              <a:rPr lang="en-US" altLang="zh-TW" sz="2700" dirty="0">
                <a:latin typeface="+mj-lt"/>
              </a:rPr>
              <a:t>max</a:t>
            </a:r>
            <a:r>
              <a:rPr lang="en-US" altLang="zh-TW" sz="2700" dirty="0">
                <a:latin typeface="+mj-lt"/>
              </a:rPr>
              <a:t>{|LCS[T, S</a:t>
            </a:r>
            <a:r>
              <a:rPr lang="en-US" altLang="zh-TW" sz="2700" baseline="-25000" dirty="0">
                <a:latin typeface="+mj-lt"/>
              </a:rPr>
              <a:t>i</a:t>
            </a:r>
            <a:r>
              <a:rPr lang="en-US" altLang="zh-TW" sz="2700" dirty="0">
                <a:latin typeface="+mj-lt"/>
              </a:rPr>
              <a:t>]|}</a:t>
            </a:r>
            <a:r>
              <a:rPr lang="en-US" altLang="zh-TW" sz="3000" dirty="0">
                <a:latin typeface="+mj-lt"/>
              </a:rPr>
              <a:t>. </a:t>
            </a:r>
            <a:endParaRPr lang="zh-TW" altLang="en-US" sz="3000" dirty="0">
              <a:ln w="0"/>
              <a:effectLst>
                <a:outerShdw blurRad="38100" dist="19050" dir="2700000" algn="tl" rotWithShape="0">
                  <a:schemeClr val="dk1">
                    <a:alpha val="40000"/>
                  </a:schemeClr>
                </a:outerShdw>
              </a:effectLst>
              <a:latin typeface="+mj-lt"/>
            </a:endParaRPr>
          </a:p>
        </p:txBody>
      </p:sp>
      <p:pic>
        <p:nvPicPr>
          <p:cNvPr id="8" name="圖片 7"/>
          <p:cNvPicPr>
            <a:picLocks noChangeAspect="1"/>
          </p:cNvPicPr>
          <p:nvPr/>
        </p:nvPicPr>
        <p:blipFill>
          <a:blip r:embed="rId2"/>
          <a:stretch>
            <a:fillRect/>
          </a:stretch>
        </p:blipFill>
        <p:spPr>
          <a:xfrm>
            <a:off x="537669" y="605545"/>
            <a:ext cx="5847435" cy="4889359"/>
          </a:xfrm>
          <a:prstGeom prst="rect">
            <a:avLst/>
          </a:prstGeom>
        </p:spPr>
      </p:pic>
    </p:spTree>
    <p:extLst>
      <p:ext uri="{BB962C8B-B14F-4D97-AF65-F5344CB8AC3E}">
        <p14:creationId xmlns:p14="http://schemas.microsoft.com/office/powerpoint/2010/main" val="406840196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416</TotalTime>
  <Words>714</Words>
  <Application>Microsoft Office PowerPoint</Application>
  <PresentationFormat>如螢幕大小 (4:3)</PresentationFormat>
  <Paragraphs>217</Paragraphs>
  <Slides>31</Slides>
  <Notes>0</Notes>
  <HiddenSlides>0</HiddenSlides>
  <MMClips>0</MMClips>
  <ScaleCrop>false</ScaleCrop>
  <HeadingPairs>
    <vt:vector size="6" baseType="variant">
      <vt:variant>
        <vt:lpstr>使用字型</vt:lpstr>
      </vt:variant>
      <vt:variant>
        <vt:i4>15</vt:i4>
      </vt:variant>
      <vt:variant>
        <vt:lpstr>佈景主題</vt:lpstr>
      </vt:variant>
      <vt:variant>
        <vt:i4>1</vt:i4>
      </vt:variant>
      <vt:variant>
        <vt:lpstr>投影片標題</vt:lpstr>
      </vt:variant>
      <vt:variant>
        <vt:i4>31</vt:i4>
      </vt:variant>
    </vt:vector>
  </HeadingPairs>
  <TitlesOfParts>
    <vt:vector size="47" baseType="lpstr">
      <vt:lpstr>Malgun Gothic</vt:lpstr>
      <vt:lpstr>MS Gothic</vt:lpstr>
      <vt:lpstr>微軟正黑體</vt:lpstr>
      <vt:lpstr>新細明體</vt:lpstr>
      <vt:lpstr>Arial</vt:lpstr>
      <vt:lpstr>Bradley Hand ITC</vt:lpstr>
      <vt:lpstr>Calibri</vt:lpstr>
      <vt:lpstr>Calibri Light</vt:lpstr>
      <vt:lpstr>Cambria Math</vt:lpstr>
      <vt:lpstr>Centaur</vt:lpstr>
      <vt:lpstr>Ebrima</vt:lpstr>
      <vt:lpstr>Georgia</vt:lpstr>
      <vt:lpstr>Jokerman</vt:lpstr>
      <vt:lpstr>MV Boli</vt:lpstr>
      <vt:lpstr>Tahoma</vt:lpstr>
      <vt:lpstr>Office 佈景主題</vt:lpstr>
      <vt:lpstr>Sparse LCS Common Substring Alignment</vt:lpstr>
      <vt:lpstr> Abstract (1/3)</vt:lpstr>
      <vt:lpstr> Abstract (2/3)</vt:lpstr>
      <vt:lpstr> Abstract (3/3)</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Sparse LCS Common Substring Alignment</dc:title>
  <dc:creator>qiang zi</dc:creator>
  <cp:lastModifiedBy>qiang zi</cp:lastModifiedBy>
  <cp:revision>97</cp:revision>
  <dcterms:created xsi:type="dcterms:W3CDTF">2014-11-10T00:43:12Z</dcterms:created>
  <dcterms:modified xsi:type="dcterms:W3CDTF">2014-11-11T10:34:10Z</dcterms:modified>
</cp:coreProperties>
</file>