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78" r:id="rId14"/>
    <p:sldId id="269" r:id="rId15"/>
    <p:sldId id="270" r:id="rId16"/>
    <p:sldId id="271" r:id="rId17"/>
    <p:sldId id="267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53D9B-26AF-4F24-990F-D112974B35BD}" type="datetimeFigureOut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CEFFB-DB40-4030-87CC-FA51A4DD787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CEFFB-DB40-4030-87CC-FA51A4DD787B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FB98-C690-46DE-B680-AFAE229F9A4E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30AE-1755-4AB5-96CB-94FAB0FCC63B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1AB0-AD49-406F-B4FD-E8F3D4D3B30C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E5E5-A0B0-433A-84C6-92A751DF7BD2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CF29-AFDA-4E8B-9AED-42F5FDEA8BDF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5ED1-53F1-48E0-B6C8-CCE4F138A6F4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008-8835-44A9-95CD-D547AD8CF0F0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A064F-4F31-42DD-A769-43E0784A19FB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826D-E843-47C2-BE80-60D615DEF8C0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6D3B-F1E1-4335-8F3E-472CD24297D6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EC0-F6D5-47FD-BA4D-8179B4B06F82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CEAD5-F9DE-4112-AC0B-10D232A4DB0E}" type="datetime1">
              <a:rPr lang="zh-TW" altLang="en-US" smtClean="0"/>
              <a:pPr/>
              <a:t>2014/11/11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Bit-Parallel Algorithm for the Block Variant of the Merged Longest </a:t>
            </a:r>
            <a:r>
              <a:rPr lang="en-US" altLang="zh-TW" b="1" dirty="0" smtClean="0"/>
              <a:t>Common Subsequence </a:t>
            </a:r>
            <a:r>
              <a:rPr lang="en-US" altLang="zh-TW" b="1" dirty="0" smtClean="0"/>
              <a:t>Problem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 smtClean="0"/>
              <a:t>Agnieszka</a:t>
            </a:r>
            <a:r>
              <a:rPr lang="en-US" dirty="0" smtClean="0"/>
              <a:t> </a:t>
            </a:r>
            <a:r>
              <a:rPr lang="en-US" dirty="0" err="1" smtClean="0"/>
              <a:t>Danek</a:t>
            </a:r>
            <a:r>
              <a:rPr lang="en-US" dirty="0" smtClean="0"/>
              <a:t>, Sebastian </a:t>
            </a:r>
            <a:r>
              <a:rPr lang="en-US" dirty="0" err="1" smtClean="0"/>
              <a:t>Deorowicz</a:t>
            </a:r>
            <a:r>
              <a:rPr lang="en-US" dirty="0" smtClean="0"/>
              <a:t> </a:t>
            </a:r>
          </a:p>
          <a:p>
            <a:r>
              <a:rPr lang="en-US" dirty="0" smtClean="0"/>
              <a:t>Man-Machine Interactions 3 </a:t>
            </a:r>
          </a:p>
          <a:p>
            <a:r>
              <a:rPr lang="en-US" dirty="0" smtClean="0"/>
              <a:t>Advances in Intelligent Systems and Computing Volume 242, 2014, pp 173-181 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357950" y="5500702"/>
            <a:ext cx="2536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</a:t>
            </a:r>
            <a:r>
              <a:rPr lang="en-US" altLang="zh-TW" dirty="0" smtClean="0">
                <a:latin typeface="Calibri" pitchFamily="34" charset="0"/>
              </a:rPr>
              <a:t>2014/11/11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altLang="zh-TW" dirty="0" smtClean="0"/>
              <a:t>    The problem of comparison of genomic sequences is of great importance. There are various measures of similarity of sequences. One of the most popular is</a:t>
            </a:r>
          </a:p>
          <a:p>
            <a:pPr>
              <a:buNone/>
            </a:pPr>
            <a:r>
              <a:rPr lang="en-US" altLang="zh-TW" dirty="0" smtClean="0"/>
              <a:t>    the length of the longest common subsequence (LCS). We propose the first bit-parallel algorithm for the variant of the LCS problem, block merged LCS, which </a:t>
            </a:r>
          </a:p>
          <a:p>
            <a:pPr>
              <a:buNone/>
            </a:pPr>
            <a:r>
              <a:rPr lang="en-US" altLang="zh-TW" dirty="0" smtClean="0"/>
              <a:t>    was recently formulated in the studies on the whole genome duplication hypothesis. Practical experiments show that our proposal is from 10 to over 100 times faster than existing algorithms.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BMLCS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572164"/>
          </a:xfrm>
        </p:spPr>
        <p:txBody>
          <a:bodyPr>
            <a:normAutofit/>
          </a:bodyPr>
          <a:lstStyle/>
          <a:p>
            <a:r>
              <a:rPr lang="en-US" altLang="zh-TW" i="1" dirty="0" smtClean="0">
                <a:latin typeface="+mn-ea"/>
                <a:cs typeface="Times New Roman" pitchFamily="18" charset="0"/>
              </a:rPr>
              <a:t>T</a:t>
            </a:r>
            <a:r>
              <a:rPr lang="en-US" altLang="zh-TW" dirty="0" smtClean="0"/>
              <a:t> =</a:t>
            </a:r>
            <a:r>
              <a:rPr lang="en-US" altLang="zh-TW" dirty="0" smtClean="0">
                <a:latin typeface="+mn-ea"/>
              </a:rPr>
              <a:t> t</a:t>
            </a:r>
            <a:r>
              <a:rPr lang="en-US" altLang="zh-TW" baseline="-25000" dirty="0" smtClean="0">
                <a:latin typeface="+mn-ea"/>
              </a:rPr>
              <a:t>1</a:t>
            </a:r>
            <a:r>
              <a:rPr lang="en-US" altLang="zh-TW" dirty="0" smtClean="0">
                <a:latin typeface="+mn-ea"/>
              </a:rPr>
              <a:t>t</a:t>
            </a:r>
            <a:r>
              <a:rPr lang="en-US" altLang="zh-TW" baseline="-25000" dirty="0" smtClean="0">
                <a:latin typeface="+mn-ea"/>
              </a:rPr>
              <a:t>2…</a:t>
            </a:r>
            <a:r>
              <a:rPr lang="en-US" altLang="zh-TW" dirty="0" err="1" smtClean="0">
                <a:latin typeface="+mn-ea"/>
              </a:rPr>
              <a:t>t</a:t>
            </a:r>
            <a:r>
              <a:rPr lang="en-US" altLang="zh-TW" baseline="-25000" dirty="0" err="1" smtClean="0">
                <a:latin typeface="+mn-ea"/>
              </a:rPr>
              <a:t>r</a:t>
            </a:r>
            <a:r>
              <a:rPr lang="en-US" altLang="zh-TW" dirty="0" smtClean="0">
                <a:latin typeface="+mn-ea"/>
              </a:rPr>
              <a:t> </a:t>
            </a:r>
            <a:r>
              <a:rPr lang="en-US" altLang="zh-TW" dirty="0" smtClean="0"/>
              <a:t>= ADB</a:t>
            </a:r>
            <a:endParaRPr lang="en-US" altLang="zh-TW" dirty="0" smtClean="0">
              <a:latin typeface="+mn-ea"/>
            </a:endParaRPr>
          </a:p>
          <a:p>
            <a:r>
              <a:rPr lang="en-US" altLang="zh-TW" i="1" dirty="0" smtClean="0">
                <a:latin typeface="+mn-ea"/>
              </a:rPr>
              <a:t>A</a:t>
            </a:r>
            <a:r>
              <a:rPr lang="en-US" altLang="zh-TW" dirty="0" smtClean="0"/>
              <a:t> =</a:t>
            </a:r>
            <a:r>
              <a:rPr lang="en-US" altLang="zh-TW" dirty="0" smtClean="0">
                <a:latin typeface="+mn-ea"/>
              </a:rPr>
              <a:t> a</a:t>
            </a:r>
            <a:r>
              <a:rPr lang="en-US" altLang="zh-TW" baseline="-25000" dirty="0" smtClean="0">
                <a:latin typeface="+mn-ea"/>
              </a:rPr>
              <a:t>1</a:t>
            </a:r>
            <a:r>
              <a:rPr lang="en-US" altLang="zh-TW" dirty="0" smtClean="0">
                <a:latin typeface="+mn-ea"/>
              </a:rPr>
              <a:t>a</a:t>
            </a:r>
            <a:r>
              <a:rPr lang="en-US" altLang="zh-TW" baseline="-25000" dirty="0" smtClean="0">
                <a:latin typeface="+mn-ea"/>
              </a:rPr>
              <a:t>2</a:t>
            </a:r>
            <a:r>
              <a:rPr lang="en-US" altLang="zh-TW" dirty="0" smtClean="0">
                <a:latin typeface="+mn-ea"/>
              </a:rPr>
              <a:t>…a</a:t>
            </a:r>
            <a:r>
              <a:rPr lang="en-US" altLang="zh-TW" baseline="-25000" dirty="0" smtClean="0">
                <a:latin typeface="+mn-ea"/>
              </a:rPr>
              <a:t>n</a:t>
            </a:r>
            <a:r>
              <a:rPr lang="en-US" altLang="zh-TW" dirty="0" smtClean="0">
                <a:latin typeface="+mn-ea"/>
              </a:rPr>
              <a:t>  </a:t>
            </a:r>
            <a:r>
              <a:rPr lang="en-US" altLang="zh-TW" dirty="0" smtClean="0"/>
              <a:t>=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FF0000"/>
                </a:solidFill>
              </a:rPr>
              <a:t>BA</a:t>
            </a:r>
            <a:r>
              <a:rPr lang="en-US" altLang="zh-TW" dirty="0" smtClean="0"/>
              <a:t>#</a:t>
            </a:r>
            <a:r>
              <a:rPr lang="en-US" altLang="zh-TW" dirty="0" smtClean="0">
                <a:solidFill>
                  <a:srgbClr val="FF0000"/>
                </a:solidFill>
              </a:rPr>
              <a:t>CD</a:t>
            </a:r>
            <a:r>
              <a:rPr lang="en-US" altLang="zh-TW" dirty="0" smtClean="0"/>
              <a:t>,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E</a:t>
            </a:r>
            <a:r>
              <a:rPr lang="en-US" altLang="zh-TW" baseline="-25000" dirty="0" smtClean="0"/>
              <a:t>A</a:t>
            </a:r>
            <a:r>
              <a:rPr lang="en-US" altLang="zh-TW" dirty="0" smtClean="0"/>
              <a:t>{0, 2, 4}</a:t>
            </a:r>
            <a:endParaRPr lang="en-US" altLang="zh-TW" dirty="0" smtClean="0">
              <a:latin typeface="+mn-ea"/>
            </a:endParaRPr>
          </a:p>
          <a:p>
            <a:r>
              <a:rPr lang="en-US" altLang="zh-TW" i="1" dirty="0" smtClean="0">
                <a:latin typeface="+mn-ea"/>
              </a:rPr>
              <a:t>B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+mn-ea"/>
              </a:rPr>
              <a:t>b</a:t>
            </a:r>
            <a:r>
              <a:rPr lang="en-US" altLang="zh-TW" baseline="-25000" dirty="0" smtClean="0">
                <a:latin typeface="+mn-ea"/>
              </a:rPr>
              <a:t>1</a:t>
            </a:r>
            <a:r>
              <a:rPr lang="en-US" altLang="zh-TW" dirty="0" smtClean="0">
                <a:latin typeface="+mn-ea"/>
              </a:rPr>
              <a:t>b</a:t>
            </a:r>
            <a:r>
              <a:rPr lang="en-US" altLang="zh-TW" baseline="-25000" dirty="0" smtClean="0">
                <a:latin typeface="+mn-ea"/>
              </a:rPr>
              <a:t>2</a:t>
            </a:r>
            <a:r>
              <a:rPr lang="en-US" altLang="zh-TW" dirty="0" smtClean="0">
                <a:latin typeface="+mn-ea"/>
              </a:rPr>
              <a:t>…</a:t>
            </a:r>
            <a:r>
              <a:rPr lang="en-US" altLang="zh-TW" dirty="0" err="1" smtClean="0">
                <a:latin typeface="+mn-ea"/>
              </a:rPr>
              <a:t>b</a:t>
            </a:r>
            <a:r>
              <a:rPr lang="en-US" altLang="zh-TW" baseline="-25000" dirty="0" err="1" smtClean="0">
                <a:latin typeface="+mn-ea"/>
              </a:rPr>
              <a:t>m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FF0000"/>
                </a:solidFill>
              </a:rPr>
              <a:t>AD</a:t>
            </a:r>
            <a:r>
              <a:rPr lang="en-US" altLang="zh-TW" dirty="0" smtClean="0"/>
              <a:t>#</a:t>
            </a:r>
            <a:r>
              <a:rPr lang="en-US" altLang="zh-TW" dirty="0" smtClean="0">
                <a:solidFill>
                  <a:srgbClr val="FF0000"/>
                </a:solidFill>
              </a:rPr>
              <a:t>CC</a:t>
            </a:r>
            <a:r>
              <a:rPr lang="en-US" altLang="zh-TW" dirty="0" smtClean="0"/>
              <a:t>,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E</a:t>
            </a:r>
            <a:r>
              <a:rPr lang="en-US" altLang="zh-TW" baseline="-25000" dirty="0" smtClean="0"/>
              <a:t>B</a:t>
            </a:r>
            <a:r>
              <a:rPr lang="en-US" altLang="zh-TW" dirty="0" smtClean="0"/>
              <a:t>{0</a:t>
            </a:r>
            <a:r>
              <a:rPr lang="en-US" altLang="zh-TW" dirty="0" smtClean="0"/>
              <a:t>, 2, 4}</a:t>
            </a:r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>
                <a:latin typeface="+mn-ea"/>
              </a:rPr>
              <a:t>C</a:t>
            </a:r>
            <a:r>
              <a:rPr lang="en-US" altLang="zh-TW" baseline="-25000" dirty="0" smtClean="0">
                <a:latin typeface="+mn-ea"/>
              </a:rPr>
              <a:t>1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2 </a:t>
            </a:r>
            <a:r>
              <a:rPr lang="en-US" altLang="zh-TW" dirty="0" smtClean="0"/>
              <a:t>= </a:t>
            </a:r>
            <a:r>
              <a:rPr lang="en-US" altLang="zh-TW" dirty="0" smtClean="0">
                <a:solidFill>
                  <a:srgbClr val="FF0000"/>
                </a:solidFill>
              </a:rPr>
              <a:t>BA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AD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CD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CC</a:t>
            </a:r>
            <a:r>
              <a:rPr lang="en-US" altLang="zh-TW" dirty="0" smtClean="0"/>
              <a:t>       </a:t>
            </a:r>
            <a:r>
              <a:rPr lang="en-US" altLang="zh-TW" dirty="0" smtClean="0">
                <a:latin typeface="+mn-ea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+mn-ea"/>
                <a:cs typeface="Times New Roman" pitchFamily="18" charset="0"/>
              </a:rPr>
              <a:t>T</a:t>
            </a:r>
            <a:r>
              <a:rPr lang="en-US" altLang="zh-TW" dirty="0" smtClean="0"/>
              <a:t> ,</a:t>
            </a:r>
            <a:r>
              <a:rPr lang="en-US" altLang="zh-TW" dirty="0" smtClean="0">
                <a:latin typeface="+mn-ea"/>
              </a:rPr>
              <a:t> C</a:t>
            </a:r>
            <a:r>
              <a:rPr lang="en-US" altLang="zh-TW" baseline="-25000" dirty="0" smtClean="0">
                <a:latin typeface="+mn-ea"/>
              </a:rPr>
              <a:t>1</a:t>
            </a:r>
            <a:r>
              <a:rPr lang="en-US" altLang="zh-TW" dirty="0" smtClean="0"/>
              <a:t>) = 2 (AD)</a:t>
            </a:r>
          </a:p>
          <a:p>
            <a:pPr>
              <a:buNone/>
            </a:pPr>
            <a:r>
              <a:rPr lang="en-US" altLang="zh-TW" dirty="0" smtClean="0">
                <a:latin typeface="+mn-ea"/>
              </a:rPr>
              <a:t>C</a:t>
            </a:r>
            <a:r>
              <a:rPr lang="en-US" altLang="zh-TW" baseline="-25000" dirty="0" smtClean="0">
                <a:latin typeface="+mn-ea"/>
              </a:rPr>
              <a:t>2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2 </a:t>
            </a:r>
            <a:r>
              <a:rPr lang="en-US" altLang="zh-TW" dirty="0" smtClean="0"/>
              <a:t>=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AD CC </a:t>
            </a:r>
            <a:r>
              <a:rPr lang="en-US" altLang="zh-TW" dirty="0" smtClean="0">
                <a:solidFill>
                  <a:srgbClr val="FF0000"/>
                </a:solidFill>
              </a:rPr>
              <a:t>BA CD       </a:t>
            </a:r>
            <a:r>
              <a:rPr lang="en-US" altLang="zh-TW" dirty="0" smtClean="0">
                <a:latin typeface="+mn-ea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+mn-ea"/>
                <a:cs typeface="Times New Roman" pitchFamily="18" charset="0"/>
              </a:rPr>
              <a:t>T</a:t>
            </a:r>
            <a:r>
              <a:rPr lang="en-US" altLang="zh-TW" dirty="0" smtClean="0"/>
              <a:t> ,</a:t>
            </a:r>
            <a:r>
              <a:rPr lang="en-US" altLang="zh-TW" dirty="0" smtClean="0">
                <a:latin typeface="+mn-ea"/>
              </a:rPr>
              <a:t> C</a:t>
            </a:r>
            <a:r>
              <a:rPr lang="en-US" altLang="zh-TW" baseline="-25000" dirty="0" smtClean="0">
                <a:latin typeface="+mn-ea"/>
              </a:rPr>
              <a:t>2</a:t>
            </a:r>
            <a:r>
              <a:rPr lang="en-US" altLang="zh-TW" dirty="0" smtClean="0"/>
              <a:t>) = 3 (ADB)</a:t>
            </a:r>
            <a:endParaRPr lang="en-US" altLang="zh-TW" baseline="-25000" dirty="0" smtClean="0"/>
          </a:p>
          <a:p>
            <a:pPr>
              <a:buNone/>
            </a:pPr>
            <a:r>
              <a:rPr lang="en-US" altLang="zh-TW" dirty="0" smtClean="0">
                <a:latin typeface="+mn-ea"/>
              </a:rPr>
              <a:t>C</a:t>
            </a:r>
            <a:r>
              <a:rPr lang="en-US" altLang="zh-TW" baseline="-25000" dirty="0" smtClean="0">
                <a:latin typeface="+mn-ea"/>
              </a:rPr>
              <a:t>3</a:t>
            </a:r>
            <a:r>
              <a:rPr lang="en-US" altLang="zh-TW" dirty="0" smtClean="0"/>
              <a:t> </a:t>
            </a:r>
            <a:r>
              <a:rPr lang="en-US" altLang="zh-TW" dirty="0" smtClean="0"/>
              <a:t>=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Y</a:t>
            </a:r>
            <a:r>
              <a:rPr lang="en-US" altLang="zh-TW" baseline="-25000" dirty="0" smtClean="0"/>
              <a:t>2 </a:t>
            </a:r>
            <a:r>
              <a:rPr lang="en-US" altLang="zh-TW" dirty="0" smtClean="0"/>
              <a:t>= </a:t>
            </a:r>
            <a:r>
              <a:rPr lang="en-US" altLang="zh-TW" dirty="0" smtClean="0">
                <a:solidFill>
                  <a:srgbClr val="FF0000"/>
                </a:solidFill>
              </a:rPr>
              <a:t>BA CD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AD CC       </a:t>
            </a:r>
            <a:r>
              <a:rPr lang="en-US" altLang="zh-TW" dirty="0" smtClean="0">
                <a:latin typeface="+mn-ea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+mn-ea"/>
                <a:cs typeface="Times New Roman" pitchFamily="18" charset="0"/>
              </a:rPr>
              <a:t>T</a:t>
            </a:r>
            <a:r>
              <a:rPr lang="en-US" altLang="zh-TW" dirty="0" smtClean="0"/>
              <a:t> ,</a:t>
            </a:r>
            <a:r>
              <a:rPr lang="en-US" altLang="zh-TW" dirty="0" smtClean="0">
                <a:latin typeface="+mn-ea"/>
              </a:rPr>
              <a:t> C</a:t>
            </a:r>
            <a:r>
              <a:rPr lang="en-US" altLang="zh-TW" baseline="-25000" dirty="0" smtClean="0">
                <a:latin typeface="+mn-ea"/>
              </a:rPr>
              <a:t>3</a:t>
            </a:r>
            <a:r>
              <a:rPr lang="en-US" altLang="zh-TW" dirty="0" smtClean="0"/>
              <a:t>) = 2 (AD)</a:t>
            </a:r>
          </a:p>
          <a:p>
            <a:pPr>
              <a:buNone/>
            </a:pPr>
            <a:endParaRPr lang="en-US" altLang="zh-TW" baseline="-25000" dirty="0" smtClean="0"/>
          </a:p>
          <a:p>
            <a:pPr>
              <a:buNone/>
            </a:pPr>
            <a:endParaRPr lang="en-US" altLang="zh-TW" baseline="-25000" dirty="0" smtClean="0"/>
          </a:p>
          <a:p>
            <a:pPr>
              <a:buNone/>
            </a:pPr>
            <a:r>
              <a:rPr lang="en-US" altLang="zh-TW" dirty="0" smtClean="0">
                <a:latin typeface="+mn-ea"/>
              </a:rPr>
              <a:t>BMLCS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+mn-ea"/>
                <a:cs typeface="Times New Roman" pitchFamily="18" charset="0"/>
              </a:rPr>
              <a:t>T, </a:t>
            </a:r>
            <a:r>
              <a:rPr lang="en-US" altLang="zh-TW" i="1" dirty="0" smtClean="0">
                <a:latin typeface="+mn-ea"/>
              </a:rPr>
              <a:t>A, B</a:t>
            </a:r>
            <a:r>
              <a:rPr lang="en-US" altLang="zh-TW" dirty="0" smtClean="0"/>
              <a:t>) = </a:t>
            </a:r>
            <a:r>
              <a:rPr lang="en-US" altLang="zh-TW" dirty="0" smtClean="0">
                <a:latin typeface="+mn-ea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+mn-ea"/>
                <a:cs typeface="Times New Roman" pitchFamily="18" charset="0"/>
              </a:rPr>
              <a:t>T</a:t>
            </a:r>
            <a:r>
              <a:rPr lang="en-US" altLang="zh-TW" dirty="0" smtClean="0"/>
              <a:t> ,</a:t>
            </a:r>
            <a:r>
              <a:rPr lang="en-US" altLang="zh-TW" dirty="0" smtClean="0">
                <a:latin typeface="+mn-ea"/>
              </a:rPr>
              <a:t> C</a:t>
            </a:r>
            <a:r>
              <a:rPr lang="en-US" altLang="zh-TW" baseline="-25000" dirty="0" smtClean="0">
                <a:latin typeface="+mn-ea"/>
              </a:rPr>
              <a:t>2</a:t>
            </a:r>
            <a:r>
              <a:rPr lang="en-US" altLang="zh-TW" dirty="0" smtClean="0"/>
              <a:t>)  = 3</a:t>
            </a:r>
            <a:endParaRPr lang="en-US" altLang="zh-TW" baseline="-250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BMLCS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8358214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28596" y="5934670"/>
            <a:ext cx="83681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Huang, K.S., Yang, C.B., Tseng, K.T., Ann, H.Y., </a:t>
            </a:r>
            <a:r>
              <a:rPr lang="en-US" altLang="zh-TW" dirty="0" err="1" smtClean="0"/>
              <a:t>Peng</a:t>
            </a:r>
            <a:r>
              <a:rPr lang="en-US" altLang="zh-TW" dirty="0" smtClean="0"/>
              <a:t>, Y.H.: Efficient algorithms</a:t>
            </a:r>
          </a:p>
          <a:p>
            <a:r>
              <a:rPr lang="en-US" altLang="zh-TW" dirty="0" smtClean="0"/>
              <a:t>for finding interleaving relationship between sequences. Information Processing Letters</a:t>
            </a:r>
          </a:p>
          <a:p>
            <a:r>
              <a:rPr lang="en-US" altLang="zh-TW" dirty="0" smtClean="0"/>
              <a:t>105(5), 188–193 (2008)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BMLCS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562238"/>
            <a:ext cx="885828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357158" y="1857364"/>
            <a:ext cx="7947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+mn-ea"/>
                <a:cs typeface="Times New Roman" pitchFamily="18" charset="0"/>
              </a:rPr>
              <a:t>T</a:t>
            </a:r>
            <a:r>
              <a:rPr lang="en-US" altLang="zh-TW" sz="3200" dirty="0" smtClean="0"/>
              <a:t> = ADB</a:t>
            </a:r>
            <a:r>
              <a:rPr lang="en-US" altLang="zh-TW" sz="3200" dirty="0" smtClean="0">
                <a:latin typeface="+mn-ea"/>
              </a:rPr>
              <a:t>,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>
                <a:latin typeface="+mn-ea"/>
              </a:rPr>
              <a:t>A</a:t>
            </a:r>
            <a:r>
              <a:rPr lang="en-US" altLang="zh-TW" sz="3200" dirty="0" smtClean="0"/>
              <a:t> = </a:t>
            </a:r>
            <a:r>
              <a:rPr lang="en-US" altLang="zh-TW" sz="3200" dirty="0" smtClean="0">
                <a:latin typeface="+mn-ea"/>
              </a:rPr>
              <a:t>X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 smtClean="0">
                <a:latin typeface="+mn-ea"/>
              </a:rPr>
              <a:t>X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 = BA#CD</a:t>
            </a:r>
            <a:r>
              <a:rPr lang="en-US" altLang="zh-TW" sz="3200" dirty="0" smtClean="0">
                <a:latin typeface="+mn-ea"/>
              </a:rPr>
              <a:t>,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>
                <a:latin typeface="+mn-ea"/>
              </a:rPr>
              <a:t>B</a:t>
            </a:r>
            <a:r>
              <a:rPr lang="en-US" altLang="zh-TW" sz="3200" dirty="0" smtClean="0"/>
              <a:t> = </a:t>
            </a:r>
            <a:r>
              <a:rPr lang="en-US" altLang="zh-TW" sz="3200" dirty="0" smtClean="0">
                <a:latin typeface="+mn-ea"/>
              </a:rPr>
              <a:t>Y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 smtClean="0">
                <a:latin typeface="+mn-ea"/>
              </a:rPr>
              <a:t>Y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 = AD#CC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5072066" y="6072206"/>
            <a:ext cx="3349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BMLCS(</a:t>
            </a:r>
            <a:r>
              <a:rPr lang="en-US" altLang="zh-TW" sz="3200" i="1" dirty="0" smtClean="0">
                <a:latin typeface="+mn-ea"/>
              </a:rPr>
              <a:t>T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+mn-ea"/>
              </a:rPr>
              <a:t>A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+mn-ea"/>
              </a:rPr>
              <a:t>B</a:t>
            </a:r>
            <a:r>
              <a:rPr lang="en-US" altLang="zh-TW" sz="3200" dirty="0" smtClean="0"/>
              <a:t>) = 3</a:t>
            </a:r>
            <a:endParaRPr lang="zh-TW" altLang="en-US" sz="32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Algorithm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700213"/>
            <a:ext cx="4143404" cy="3457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1214422"/>
            <a:ext cx="4643438" cy="5000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642910" y="6000768"/>
            <a:ext cx="1113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MLCS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857884" y="6273225"/>
            <a:ext cx="1336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BMLCS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Algorithm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643050"/>
            <a:ext cx="8589963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562238"/>
            <a:ext cx="885828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0" y="585789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(4, 4) = {1, 2, 3},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en-US" altLang="zh-TW" sz="3200" dirty="0" smtClean="0"/>
              <a:t>(4, 1) = {1, 2},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en-US" altLang="zh-TW" sz="3200" dirty="0" smtClean="0"/>
              <a:t>(2, 1) = {1}</a:t>
            </a:r>
            <a:endParaRPr lang="zh-TW" altLang="en-US" sz="32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Algorithm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/>
              <a:t>(4, 4) = {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r>
              <a:rPr lang="en-US" altLang="zh-TW" dirty="0" smtClean="0"/>
              <a:t>}         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/>
              <a:t>(4, 1) = {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zh-TW" dirty="0" smtClean="0"/>
              <a:t>}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dirty="0" smtClean="0"/>
              <a:t>(4, 4) =                       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dirty="0" smtClean="0"/>
              <a:t>(2, 3) = 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00232" y="2357430"/>
          <a:ext cx="1928826" cy="278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4413"/>
                <a:gridCol w="964413"/>
              </a:tblGrid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index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value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15008" y="2357430"/>
          <a:ext cx="1928826" cy="278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4413"/>
                <a:gridCol w="964413"/>
              </a:tblGrid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index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value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14282" y="5786454"/>
            <a:ext cx="73581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In a similar way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200" dirty="0" smtClean="0"/>
              <a:t>’(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200" dirty="0" smtClean="0"/>
              <a:t>),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3200" dirty="0" smtClean="0"/>
              <a:t>’’(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200" dirty="0" smtClean="0"/>
              <a:t>) can be computed.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286280" cy="3714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3857628"/>
            <a:ext cx="8072462" cy="300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5000628" y="1428736"/>
            <a:ext cx="1722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LCS(</a:t>
            </a:r>
            <a:r>
              <a:rPr lang="en-US" altLang="zh-TW" sz="3200" i="1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en-US" altLang="zh-TW" sz="3200" dirty="0" smtClean="0">
                <a:solidFill>
                  <a:srgbClr val="FF0000"/>
                </a:solidFill>
              </a:rPr>
              <a:t>, </a:t>
            </a:r>
            <a:r>
              <a:rPr lang="en-US" altLang="zh-TW" sz="3200" i="1" dirty="0" smtClean="0">
                <a:solidFill>
                  <a:srgbClr val="FF0000"/>
                </a:solidFill>
                <a:latin typeface="+mn-ea"/>
              </a:rPr>
              <a:t>A</a:t>
            </a:r>
            <a:r>
              <a:rPr lang="en-US" altLang="zh-TW" sz="3200" dirty="0" smtClean="0">
                <a:solidFill>
                  <a:srgbClr val="FF0000"/>
                </a:solidFill>
              </a:rPr>
              <a:t>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064247" y="2844225"/>
            <a:ext cx="170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LCS(</a:t>
            </a:r>
            <a:r>
              <a:rPr lang="en-US" altLang="zh-TW" sz="3200" i="1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en-US" altLang="zh-TW" sz="3200" dirty="0" smtClean="0">
                <a:solidFill>
                  <a:srgbClr val="FF0000"/>
                </a:solidFill>
              </a:rPr>
              <a:t>, </a:t>
            </a:r>
            <a:r>
              <a:rPr lang="en-US" altLang="zh-TW" sz="3200" i="1" dirty="0" smtClean="0">
                <a:solidFill>
                  <a:srgbClr val="FF0000"/>
                </a:solidFill>
                <a:latin typeface="+mn-ea"/>
              </a:rPr>
              <a:t>B</a:t>
            </a:r>
            <a:r>
              <a:rPr lang="en-US" altLang="zh-TW" sz="3200" dirty="0" smtClean="0">
                <a:solidFill>
                  <a:srgbClr val="FF0000"/>
                </a:solidFill>
              </a:rPr>
              <a:t>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90"/>
            <a:ext cx="750095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857340"/>
            <a:ext cx="4643438" cy="5000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4643438" y="5715016"/>
            <a:ext cx="4327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Case1:W(j, k) = W’’(j,k-1)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643438" y="4500570"/>
            <a:ext cx="4236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Case2:W(j, k) = W’(j-1,k)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714876" y="3000372"/>
            <a:ext cx="1173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Case3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8294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648763" y="714356"/>
            <a:ext cx="16380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W’(j-1,k)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689047" y="1571612"/>
            <a:ext cx="1740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W’’(j,k-1)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500430" y="2000240"/>
            <a:ext cx="4338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Case1:W(j, k) = W’’(j,k-1)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500430" y="2571744"/>
            <a:ext cx="4361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Case2:W(j, k) = W’(j-1,k)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720201" y="4500570"/>
            <a:ext cx="1173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Case3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Case3: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71472" y="4002480"/>
            <a:ext cx="1977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ex: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(8, 8)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714612" y="3859604"/>
            <a:ext cx="60722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’(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</a:t>
            </a:r>
            <a:r>
              <a:rPr lang="en-US" altLang="zh-TW" sz="3200" dirty="0" smtClean="0"/>
              <a:t> ={</a:t>
            </a:r>
            <a:r>
              <a:rPr lang="en-US" altLang="zh-TW" sz="3200" dirty="0" smtClean="0"/>
              <a:t>1, 3, 4, 5, 6}</a:t>
            </a:r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’’(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) ={1, 2, 3, 5, 7}</a:t>
            </a:r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  ={1, 2, 3, 5, 6}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1571612"/>
            <a:ext cx="5929322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28596" y="1714488"/>
            <a:ext cx="1977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ex: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(8, 8)</a:t>
            </a:r>
            <a:endParaRPr lang="zh-TW" altLang="en-US" sz="3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71736" y="1571612"/>
            <a:ext cx="60722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’(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= {1, 3, 4, 5, 6}</a:t>
            </a:r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’’(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) ={1, 2, 3, 5, </a:t>
            </a:r>
            <a:r>
              <a:rPr lang="en-US" altLang="zh-TW" sz="3200" dirty="0" smtClean="0"/>
              <a:t>7}</a:t>
            </a:r>
            <a:endParaRPr lang="en-US" altLang="zh-TW" sz="3200" dirty="0" smtClean="0"/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  ={1, 2, 3, 5, 6}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00034" y="3643314"/>
            <a:ext cx="36760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 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</a:t>
            </a:r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3</a:t>
            </a:r>
            <a:r>
              <a:rPr lang="en-US" altLang="zh-TW" sz="2800" dirty="0" smtClean="0"/>
              <a:t>, 4, </a:t>
            </a:r>
            <a:r>
              <a:rPr lang="en-US" altLang="zh-TW" sz="2800" dirty="0" smtClean="0">
                <a:solidFill>
                  <a:srgbClr val="FF0000"/>
                </a:solidFill>
              </a:rPr>
              <a:t>5</a:t>
            </a:r>
            <a:r>
              <a:rPr lang="en-US" altLang="zh-TW" sz="2800" dirty="0" smtClean="0"/>
              <a:t>, 6}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={</a:t>
            </a:r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r>
              <a:rPr lang="en-US" altLang="zh-TW" sz="2800" dirty="0" smtClean="0"/>
              <a:t>, 2, </a:t>
            </a:r>
            <a:r>
              <a:rPr lang="en-US" altLang="zh-TW" sz="2800" dirty="0" smtClean="0">
                <a:solidFill>
                  <a:srgbClr val="FF0000"/>
                </a:solidFill>
              </a:rPr>
              <a:t>3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5</a:t>
            </a:r>
            <a:r>
              <a:rPr lang="en-US" altLang="zh-TW" sz="2800" dirty="0" smtClean="0"/>
              <a:t>,  </a:t>
            </a:r>
            <a:r>
              <a:rPr lang="en-US" altLang="zh-TW" sz="2800" dirty="0" smtClean="0"/>
              <a:t>7}</a:t>
            </a:r>
            <a:endParaRPr lang="en-US" altLang="zh-TW" sz="2800" dirty="0" smtClean="0"/>
          </a:p>
          <a:p>
            <a:endParaRPr lang="zh-TW" altLang="en-US" sz="2800" dirty="0"/>
          </a:p>
        </p:txBody>
      </p:sp>
      <p:sp>
        <p:nvSpPr>
          <p:cNvPr id="8" name="向右箭號 7"/>
          <p:cNvSpPr/>
          <p:nvPr/>
        </p:nvSpPr>
        <p:spPr>
          <a:xfrm>
            <a:off x="4429124" y="3929066"/>
            <a:ext cx="71438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357818" y="3929066"/>
            <a:ext cx="2616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3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5</a:t>
            </a:r>
            <a:r>
              <a:rPr lang="zh-TW" altLang="en-US" sz="2800" dirty="0" smtClean="0"/>
              <a:t>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80607" y="4972963"/>
            <a:ext cx="26949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 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{4, 6}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 {2, </a:t>
            </a:r>
            <a:r>
              <a:rPr lang="en-US" altLang="zh-TW" sz="2800" dirty="0" smtClean="0"/>
              <a:t>7}</a:t>
            </a:r>
            <a:endParaRPr lang="en-US" altLang="zh-TW" sz="2800" dirty="0" smtClean="0"/>
          </a:p>
          <a:p>
            <a:endParaRPr lang="zh-TW" altLang="en-US" sz="2800" dirty="0"/>
          </a:p>
        </p:txBody>
      </p:sp>
      <p:sp>
        <p:nvSpPr>
          <p:cNvPr id="11" name="向右箭號 10"/>
          <p:cNvSpPr/>
          <p:nvPr/>
        </p:nvSpPr>
        <p:spPr>
          <a:xfrm>
            <a:off x="3357554" y="5286388"/>
            <a:ext cx="71438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4214810" y="5143512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2, 4, 6, </a:t>
            </a:r>
            <a:r>
              <a:rPr lang="en-US" altLang="zh-TW" sz="2800" dirty="0" smtClean="0"/>
              <a:t>7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sz="2800" dirty="0" smtClean="0"/>
              <a:t>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  <p:cxnSp>
        <p:nvCxnSpPr>
          <p:cNvPr id="13" name="直線接點 12"/>
          <p:cNvCxnSpPr/>
          <p:nvPr/>
        </p:nvCxnSpPr>
        <p:spPr>
          <a:xfrm rot="5400000">
            <a:off x="4429124" y="5143512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rot="5400000">
            <a:off x="5072066" y="5214950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4286248" y="6143644"/>
            <a:ext cx="3847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/>
              <a:t>∴ </a:t>
            </a:r>
            <a:r>
              <a:rPr lang="en-US" altLang="zh-TW" sz="2800" dirty="0" smtClean="0"/>
              <a:t>1, 2, 3, 5, 6</a:t>
            </a:r>
            <a:r>
              <a:rPr lang="zh-TW" altLang="en-US" sz="2800" dirty="0" smtClean="0"/>
              <a:t> 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-71470" y="258055"/>
            <a:ext cx="55721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{1, 3, 4, 5, 6}=&gt;W’(7, 8) = 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={1, 2, 3, 5, 7}=&gt;W’’(8,7) =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  ={1, 2, 3, 5, 6}=&gt; W(8, 8) =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500694" y="71414"/>
          <a:ext cx="3286152" cy="15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</a:tblGrid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00034" y="2143116"/>
            <a:ext cx="809151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V = W’(7, 8) ^ W’’(8, 7) = 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olidFill>
                  <a:srgbClr val="FF0000"/>
                </a:solidFill>
              </a:rPr>
              <a:t>11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00 </a:t>
            </a:r>
            <a:r>
              <a:rPr lang="en-US" altLang="zh-TW" sz="3200" dirty="0" smtClean="0"/>
              <a:t>(7, 6, 4, 2 )</a:t>
            </a:r>
          </a:p>
          <a:p>
            <a:r>
              <a:rPr lang="en-US" altLang="zh-TW" sz="3200" dirty="0" smtClean="0"/>
              <a:t>W*(8, 8) = 111111111</a:t>
            </a:r>
          </a:p>
          <a:p>
            <a:r>
              <a:rPr lang="en-US" altLang="zh-TW" sz="3200" dirty="0" smtClean="0"/>
              <a:t>Z</a:t>
            </a:r>
            <a:r>
              <a:rPr lang="en-US" altLang="zh-TW" sz="3200" baseline="30000" dirty="0" smtClean="0"/>
              <a:t>A</a:t>
            </a:r>
            <a:r>
              <a:rPr lang="en-US" altLang="zh-TW" sz="3200" dirty="0" smtClean="0"/>
              <a:t> = 0, Z</a:t>
            </a:r>
            <a:r>
              <a:rPr lang="en-US" altLang="zh-TW" sz="3200" baseline="30000" dirty="0" smtClean="0"/>
              <a:t>B</a:t>
            </a:r>
            <a:r>
              <a:rPr lang="en-US" altLang="zh-TW" sz="3200" dirty="0" smtClean="0"/>
              <a:t> = 0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V              = </a:t>
            </a:r>
            <a:r>
              <a:rPr lang="en-US" altLang="zh-TW" sz="3200" dirty="0" smtClean="0"/>
              <a:t>011010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01</a:t>
            </a:r>
            <a:endParaRPr lang="en-US" altLang="zh-TW" sz="3200" dirty="0" smtClean="0"/>
          </a:p>
          <a:p>
            <a:r>
              <a:rPr lang="en-US" altLang="zh-TW" sz="3200" dirty="0" smtClean="0"/>
              <a:t>Z</a:t>
            </a:r>
            <a:r>
              <a:rPr lang="en-US" altLang="zh-TW" sz="3200" baseline="30000" dirty="0" smtClean="0"/>
              <a:t>B</a:t>
            </a:r>
            <a:r>
              <a:rPr lang="en-US" altLang="zh-TW" sz="3200" dirty="0" smtClean="0"/>
              <a:t> = 1</a:t>
            </a:r>
          </a:p>
          <a:p>
            <a:r>
              <a:rPr lang="en-US" altLang="zh-TW" sz="3200" dirty="0" smtClean="0"/>
              <a:t>W*(8, 8) = 111111</a:t>
            </a:r>
            <a:r>
              <a:rPr lang="en-US" altLang="zh-TW" sz="3200" dirty="0" smtClean="0">
                <a:solidFill>
                  <a:srgbClr val="FF0000"/>
                </a:solidFill>
              </a:rPr>
              <a:t>0</a:t>
            </a:r>
            <a:r>
              <a:rPr lang="en-US" altLang="zh-TW" sz="3200" dirty="0" smtClean="0"/>
              <a:t>11</a:t>
            </a:r>
          </a:p>
        </p:txBody>
      </p:sp>
      <p:sp>
        <p:nvSpPr>
          <p:cNvPr id="7" name="向右箭號 6"/>
          <p:cNvSpPr/>
          <p:nvPr/>
        </p:nvSpPr>
        <p:spPr>
          <a:xfrm rot="10800000">
            <a:off x="3714744" y="3929066"/>
            <a:ext cx="500066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143536" y="4214818"/>
            <a:ext cx="371474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 (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= </a:t>
            </a:r>
            <a:r>
              <a:rPr lang="en-US" altLang="zh-TW" sz="3200" dirty="0" smtClean="0"/>
              <a:t>{}</a:t>
            </a:r>
            <a:endParaRPr lang="en-US" altLang="zh-TW" sz="3200" dirty="0" smtClean="0"/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’’(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) = {</a:t>
            </a:r>
            <a:r>
              <a:rPr lang="en-US" altLang="zh-TW" sz="3200" dirty="0" smtClean="0"/>
              <a:t>2}</a:t>
            </a:r>
            <a:endParaRPr lang="en-US" altLang="zh-TW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-71470" y="258055"/>
            <a:ext cx="55721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{1, 3, 4, 5, 6}=&gt;W’(7, 8) = 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={1, 2, 3, 5, 7}=&gt;W’’(8,7) =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  ={1, 2, 3, 5, 6}=&gt; W(8, 8) =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500694" y="71414"/>
          <a:ext cx="3286152" cy="15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</a:tblGrid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00034" y="2143116"/>
            <a:ext cx="809151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V = W’(7, 8) ^ W’’(8, 7) = 0</a:t>
            </a:r>
            <a:r>
              <a:rPr lang="en-US" altLang="zh-TW" sz="3200" dirty="0" smtClean="0">
                <a:solidFill>
                  <a:srgbClr val="FF0000"/>
                </a:solidFill>
              </a:rPr>
              <a:t>11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00 (7, 6, 4, 2 )</a:t>
            </a:r>
          </a:p>
          <a:p>
            <a:r>
              <a:rPr lang="en-US" altLang="zh-TW" sz="3200" dirty="0" smtClean="0"/>
              <a:t>W*(8, 8) = 111111011</a:t>
            </a:r>
          </a:p>
          <a:p>
            <a:r>
              <a:rPr lang="en-US" altLang="zh-TW" sz="3200" dirty="0" smtClean="0"/>
              <a:t>Z</a:t>
            </a:r>
            <a:r>
              <a:rPr lang="en-US" altLang="zh-TW" sz="3200" baseline="30000" dirty="0" smtClean="0"/>
              <a:t>A</a:t>
            </a:r>
            <a:r>
              <a:rPr lang="en-US" altLang="zh-TW" sz="3200" dirty="0" smtClean="0"/>
              <a:t> = 0, Z</a:t>
            </a:r>
            <a:r>
              <a:rPr lang="en-US" altLang="zh-TW" sz="3200" baseline="30000" dirty="0" smtClean="0"/>
              <a:t>B</a:t>
            </a:r>
            <a:r>
              <a:rPr lang="en-US" altLang="zh-TW" sz="3200" dirty="0" smtClean="0"/>
              <a:t> = 1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V              = 0110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0100</a:t>
            </a:r>
          </a:p>
          <a:p>
            <a:r>
              <a:rPr lang="en-US" altLang="zh-TW" sz="3200" dirty="0" smtClean="0"/>
              <a:t>Z</a:t>
            </a:r>
            <a:r>
              <a:rPr lang="en-US" altLang="zh-TW" sz="3200" baseline="30000" dirty="0" smtClean="0"/>
              <a:t>A</a:t>
            </a:r>
            <a:r>
              <a:rPr lang="en-US" altLang="zh-TW" sz="3200" dirty="0" smtClean="0"/>
              <a:t> = 1, </a:t>
            </a:r>
            <a:r>
              <a:rPr lang="en-US" altLang="zh-TW" sz="3200" dirty="0" smtClean="0">
                <a:solidFill>
                  <a:srgbClr val="FF0000"/>
                </a:solidFill>
              </a:rPr>
              <a:t>Z</a:t>
            </a:r>
            <a:r>
              <a:rPr lang="en-US" altLang="zh-TW" sz="3200" baseline="30000" dirty="0" smtClean="0">
                <a:solidFill>
                  <a:srgbClr val="FF0000"/>
                </a:solidFill>
              </a:rPr>
              <a:t>A</a:t>
            </a:r>
            <a:r>
              <a:rPr lang="en-US" altLang="zh-TW" sz="3200" dirty="0" smtClean="0">
                <a:solidFill>
                  <a:srgbClr val="FF0000"/>
                </a:solidFill>
              </a:rPr>
              <a:t> = Z</a:t>
            </a:r>
            <a:r>
              <a:rPr lang="en-US" altLang="zh-TW" sz="3200" baseline="30000" dirty="0" smtClean="0">
                <a:solidFill>
                  <a:srgbClr val="FF0000"/>
                </a:solidFill>
              </a:rPr>
              <a:t>B</a:t>
            </a:r>
            <a:endParaRPr lang="en-US" altLang="zh-TW" sz="3200" dirty="0" smtClean="0">
              <a:solidFill>
                <a:srgbClr val="FF0000"/>
              </a:solidFill>
            </a:endParaRPr>
          </a:p>
          <a:p>
            <a:r>
              <a:rPr lang="en-US" altLang="zh-TW" sz="3200" dirty="0" smtClean="0"/>
              <a:t>W*(8, 8) = 1111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1011</a:t>
            </a:r>
          </a:p>
        </p:txBody>
      </p:sp>
      <p:sp>
        <p:nvSpPr>
          <p:cNvPr id="7" name="向右箭號 6"/>
          <p:cNvSpPr/>
          <p:nvPr/>
        </p:nvSpPr>
        <p:spPr>
          <a:xfrm rot="10800000">
            <a:off x="3286116" y="3929066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786346" y="4352046"/>
            <a:ext cx="371474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 (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= {</a:t>
            </a:r>
            <a:r>
              <a:rPr lang="en-US" altLang="zh-TW" sz="3200" dirty="0" smtClean="0"/>
              <a:t>4}</a:t>
            </a:r>
            <a:endParaRPr lang="en-US" altLang="zh-TW" sz="3200" dirty="0" smtClean="0"/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’’(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) = {</a:t>
            </a:r>
            <a:r>
              <a:rPr lang="en-US" altLang="zh-TW" sz="3200" dirty="0" smtClean="0"/>
              <a:t>2}</a:t>
            </a:r>
            <a:endParaRPr lang="en-US" altLang="zh-TW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-71470" y="258055"/>
            <a:ext cx="55721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{1, 3, 4, 5, 6}=&gt;W’(7, 8) = 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={1, 2, 3, 5, 7}=&gt;W’’(8,7) =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  ={1, 2, 3, 5, 6}=&gt; W(8, 8) =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500694" y="71414"/>
          <a:ext cx="3286152" cy="15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  <a:gridCol w="365128"/>
              </a:tblGrid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00034" y="1643050"/>
            <a:ext cx="809151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V = W’(7, 8) ^ W’’(8, 7) = 0</a:t>
            </a:r>
            <a:r>
              <a:rPr lang="en-US" altLang="zh-TW" sz="3200" dirty="0" smtClean="0">
                <a:solidFill>
                  <a:srgbClr val="FF0000"/>
                </a:solidFill>
              </a:rPr>
              <a:t>11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olidFill>
                  <a:srgbClr val="FF0000"/>
                </a:solidFill>
              </a:rPr>
              <a:t>1</a:t>
            </a:r>
            <a:r>
              <a:rPr lang="en-US" altLang="zh-TW" sz="3200" dirty="0" smtClean="0"/>
              <a:t>00 (7, 6, 4, 2 )</a:t>
            </a:r>
          </a:p>
          <a:p>
            <a:endParaRPr lang="en-US" altLang="zh-TW" sz="3200" dirty="0" smtClean="0"/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W*(8, 8) = 110111011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W(8, 8) = ((W’(7, 8) | W’’(8, 7))&amp;W*(8, 8))</a:t>
            </a:r>
          </a:p>
          <a:p>
            <a:r>
              <a:rPr lang="en-US" altLang="zh-TW" sz="3200" dirty="0" smtClean="0"/>
              <a:t>              =   </a:t>
            </a:r>
            <a:r>
              <a:rPr lang="en-US" altLang="zh-TW" sz="3200" dirty="0" smtClean="0"/>
              <a:t>111010101 </a:t>
            </a:r>
            <a:r>
              <a:rPr lang="en-US" altLang="zh-TW" sz="3200" dirty="0" smtClean="0"/>
              <a:t>&amp;</a:t>
            </a:r>
          </a:p>
          <a:p>
            <a:r>
              <a:rPr lang="en-US" altLang="zh-TW" sz="3200" dirty="0" smtClean="0"/>
              <a:t>                   110111011</a:t>
            </a:r>
          </a:p>
          <a:p>
            <a:r>
              <a:rPr lang="en-US" altLang="zh-TW" sz="3200" dirty="0" smtClean="0"/>
              <a:t>              =   </a:t>
            </a:r>
            <a:r>
              <a:rPr lang="en-US" altLang="zh-TW" sz="3200" dirty="0" smtClean="0"/>
              <a:t>110010001 </a:t>
            </a:r>
            <a:endParaRPr lang="en-US" altLang="zh-TW" sz="3200" dirty="0" smtClean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940571" y="3120094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2, 4, 6, </a:t>
            </a:r>
            <a:r>
              <a:rPr lang="en-US" altLang="zh-TW" sz="2800" dirty="0" smtClean="0"/>
              <a:t>7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sz="2800" dirty="0" smtClean="0"/>
              <a:t>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  <p:sp>
        <p:nvSpPr>
          <p:cNvPr id="9" name="向右箭號 8"/>
          <p:cNvSpPr/>
          <p:nvPr/>
        </p:nvSpPr>
        <p:spPr>
          <a:xfrm rot="21433336">
            <a:off x="4424182" y="3296385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 rot="5400000">
            <a:off x="5143504" y="3143248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rot="5400000">
            <a:off x="5786446" y="3143248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70"/>
            <a:ext cx="8358246" cy="392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995363"/>
            <a:ext cx="8643967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571636"/>
            <a:ext cx="5643602" cy="392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Lookup </a:t>
            </a:r>
            <a:r>
              <a:rPr lang="en-US" altLang="zh-TW" dirty="0" smtClean="0"/>
              <a:t>T</a:t>
            </a:r>
            <a:r>
              <a:rPr lang="en-US" altLang="zh-TW" dirty="0" smtClean="0"/>
              <a:t>able(LUT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357686" y="2214554"/>
            <a:ext cx="46434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Word size w’ = 64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W(j-1 ,k)                   </a:t>
            </a:r>
            <a:r>
              <a:rPr lang="en-US" altLang="zh-TW" sz="3200" dirty="0" smtClean="0"/>
              <a:t>  2</a:t>
            </a:r>
            <a:r>
              <a:rPr lang="en-US" altLang="zh-TW" sz="3200" baseline="30000" dirty="0" smtClean="0"/>
              <a:t>w</a:t>
            </a:r>
            <a:r>
              <a:rPr lang="en-US" altLang="zh-TW" sz="3200" baseline="30000" dirty="0" smtClean="0"/>
              <a:t>’</a:t>
            </a:r>
          </a:p>
          <a:p>
            <a:r>
              <a:rPr lang="en-US" altLang="zh-TW" sz="3200" dirty="0" smtClean="0"/>
              <a:t>W(j ,k-1)                   </a:t>
            </a:r>
            <a:r>
              <a:rPr lang="en-US" altLang="zh-TW" sz="3200" dirty="0" smtClean="0"/>
              <a:t>  2</a:t>
            </a:r>
            <a:r>
              <a:rPr lang="en-US" altLang="zh-TW" sz="3200" baseline="30000" dirty="0" smtClean="0"/>
              <a:t>w</a:t>
            </a:r>
            <a:r>
              <a:rPr lang="en-US" altLang="zh-TW" sz="3200" baseline="30000" dirty="0" smtClean="0"/>
              <a:t>’</a:t>
            </a:r>
          </a:p>
          <a:p>
            <a:r>
              <a:rPr lang="en-US" altLang="zh-TW" sz="3200" dirty="0" smtClean="0"/>
              <a:t>Range of (Z</a:t>
            </a:r>
            <a:r>
              <a:rPr lang="en-US" altLang="zh-TW" sz="3200" baseline="30000" dirty="0" smtClean="0"/>
              <a:t>A</a:t>
            </a:r>
            <a:r>
              <a:rPr lang="en-US" altLang="zh-TW" sz="3200" dirty="0" smtClean="0"/>
              <a:t> – Z</a:t>
            </a:r>
            <a:r>
              <a:rPr lang="en-US" altLang="zh-TW" sz="3200" baseline="30000" dirty="0" smtClean="0"/>
              <a:t>B</a:t>
            </a:r>
            <a:r>
              <a:rPr lang="en-US" altLang="zh-TW" sz="3200" dirty="0" smtClean="0"/>
              <a:t>)  </a:t>
            </a:r>
            <a:r>
              <a:rPr lang="en-US" altLang="zh-TW" sz="3200" dirty="0" smtClean="0"/>
              <a:t>   2w</a:t>
            </a:r>
            <a:r>
              <a:rPr lang="en-US" altLang="zh-TW" sz="3200" dirty="0" smtClean="0"/>
              <a:t>’+1</a:t>
            </a:r>
            <a:endParaRPr lang="en-US" altLang="zh-TW" sz="3200" baseline="30000" dirty="0" smtClean="0"/>
          </a:p>
          <a:p>
            <a:r>
              <a:rPr lang="en-US" altLang="zh-TW" sz="3200" dirty="0" smtClean="0"/>
              <a:t>There </a:t>
            </a:r>
            <a:r>
              <a:rPr lang="en-US" altLang="zh-TW" sz="3200" dirty="0" smtClean="0"/>
              <a:t>are </a:t>
            </a:r>
            <a:r>
              <a:rPr lang="en-US" altLang="zh-TW" sz="3200" u="sng" dirty="0" smtClean="0">
                <a:solidFill>
                  <a:srgbClr val="FF0000"/>
                </a:solidFill>
              </a:rPr>
              <a:t>2</a:t>
            </a:r>
            <a:r>
              <a:rPr lang="en-US" altLang="zh-TW" sz="3200" u="sng" baseline="30000" dirty="0" smtClean="0">
                <a:solidFill>
                  <a:srgbClr val="FF0000"/>
                </a:solidFill>
              </a:rPr>
              <a:t>w’</a:t>
            </a:r>
            <a:r>
              <a:rPr lang="en-US" altLang="zh-TW" sz="3200" u="sng" dirty="0" smtClean="0">
                <a:solidFill>
                  <a:srgbClr val="FF0000"/>
                </a:solidFill>
              </a:rPr>
              <a:t> × 2</a:t>
            </a:r>
            <a:r>
              <a:rPr lang="en-US" altLang="zh-TW" sz="3200" u="sng" baseline="30000" dirty="0" smtClean="0">
                <a:solidFill>
                  <a:srgbClr val="FF0000"/>
                </a:solidFill>
              </a:rPr>
              <a:t>w’</a:t>
            </a:r>
            <a:r>
              <a:rPr lang="zh-TW" altLang="en-US" sz="3200" u="sng" dirty="0" smtClean="0">
                <a:solidFill>
                  <a:srgbClr val="FF0000"/>
                </a:solidFill>
              </a:rPr>
              <a:t> </a:t>
            </a:r>
            <a:r>
              <a:rPr lang="en-US" altLang="zh-TW" sz="3200" u="sng" dirty="0" smtClean="0">
                <a:solidFill>
                  <a:srgbClr val="FF0000"/>
                </a:solidFill>
              </a:rPr>
              <a:t>×(2w’+1)</a:t>
            </a:r>
            <a:endParaRPr lang="en-US" altLang="zh-TW" sz="3200" u="sng" baseline="-25000" dirty="0" smtClean="0">
              <a:solidFill>
                <a:srgbClr val="FF0000"/>
              </a:solidFill>
            </a:endParaRPr>
          </a:p>
          <a:p>
            <a:r>
              <a:rPr lang="en-US" altLang="zh-TW" sz="3200" dirty="0" smtClean="0"/>
              <a:t>possible inputs.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W*(j, k)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0"/>
            <a:ext cx="62674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3304908" y="6130373"/>
            <a:ext cx="5773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O((</a:t>
            </a:r>
            <a:r>
              <a:rPr lang="en-US" altLang="zh-TW" sz="3200" dirty="0" err="1" smtClean="0"/>
              <a:t>mn</a:t>
            </a:r>
            <a:r>
              <a:rPr lang="en-US" altLang="zh-TW" sz="3200" dirty="0" smtClean="0"/>
              <a:t>’ + </a:t>
            </a:r>
            <a:r>
              <a:rPr lang="en-US" altLang="zh-TW" sz="3200" dirty="0" err="1" smtClean="0"/>
              <a:t>m’n</a:t>
            </a:r>
            <a:r>
              <a:rPr lang="en-US" altLang="zh-TW" sz="3200" dirty="0" smtClean="0"/>
              <a:t>)</a:t>
            </a:r>
            <a:r>
              <a:rPr lang="zh-TW" altLang="en-US" sz="3200" dirty="0" smtClean="0"/>
              <a:t>⌈</a:t>
            </a:r>
            <a:r>
              <a:rPr lang="en-US" altLang="zh-TW" sz="3200" dirty="0" smtClean="0"/>
              <a:t>r/w</a:t>
            </a:r>
            <a:r>
              <a:rPr lang="zh-TW" altLang="en-US" sz="3200" dirty="0" smtClean="0"/>
              <a:t>⌉</a:t>
            </a:r>
            <a:r>
              <a:rPr lang="en-US" altLang="zh-TW" sz="3200" dirty="0" smtClean="0"/>
              <a:t>)+</a:t>
            </a:r>
            <a:r>
              <a:rPr lang="en-US" altLang="zh-TW" sz="3200" dirty="0" err="1" smtClean="0"/>
              <a:t>m’n</a:t>
            </a:r>
            <a:r>
              <a:rPr lang="en-US" altLang="zh-TW" sz="3200" dirty="0" smtClean="0"/>
              <a:t>’</a:t>
            </a:r>
            <a:r>
              <a:rPr lang="zh-TW" altLang="en-US" sz="3200" dirty="0" smtClean="0"/>
              <a:t>⌈</a:t>
            </a:r>
            <a:r>
              <a:rPr lang="en-US" altLang="zh-TW" sz="3200" dirty="0" smtClean="0"/>
              <a:t>r/w’</a:t>
            </a:r>
            <a:r>
              <a:rPr lang="zh-TW" altLang="en-US" sz="3200" dirty="0" smtClean="0"/>
              <a:t>⌉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867556" y="6492899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9144000" cy="5786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564337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666875"/>
            <a:ext cx="8715404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1328</Words>
  <PresentationFormat>如螢幕大小 (4:3)</PresentationFormat>
  <Paragraphs>270</Paragraphs>
  <Slides>23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4" baseType="lpstr">
      <vt:lpstr>Office 佈景主題</vt:lpstr>
      <vt:lpstr>Bit-Parallel Algorithm for the Block Variant of the Merged Longest Common Subsequence Problem</vt:lpstr>
      <vt:lpstr>Abstract</vt:lpstr>
      <vt:lpstr>BMLCS</vt:lpstr>
      <vt:lpstr>BMLCS</vt:lpstr>
      <vt:lpstr>BMLCS</vt:lpstr>
      <vt:lpstr>Bit-Parallel Algorithm</vt:lpstr>
      <vt:lpstr>Bit-Parallel Algorithm</vt:lpstr>
      <vt:lpstr>Bit-Parallel Algorithm</vt:lpstr>
      <vt:lpstr>投影片 9</vt:lpstr>
      <vt:lpstr>投影片 10</vt:lpstr>
      <vt:lpstr>投影片 11</vt:lpstr>
      <vt:lpstr>Bit-Parallel Algorithm</vt:lpstr>
      <vt:lpstr>Bit-Parallel Algorithm</vt:lpstr>
      <vt:lpstr>投影片 14</vt:lpstr>
      <vt:lpstr>投影片 15</vt:lpstr>
      <vt:lpstr>投影片 16</vt:lpstr>
      <vt:lpstr>投影片 17</vt:lpstr>
      <vt:lpstr>投影片 18</vt:lpstr>
      <vt:lpstr>Lookup Table(LUT)</vt:lpstr>
      <vt:lpstr>投影片 20</vt:lpstr>
      <vt:lpstr>Experimental Results</vt:lpstr>
      <vt:lpstr>投影片 22</vt:lpstr>
      <vt:lpstr>投影片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Bit-Parallel Algorithm for the Block Variant of the Merged Longest Common Subsequence Problem</dc:title>
  <cp:lastModifiedBy>user</cp:lastModifiedBy>
  <cp:revision>220</cp:revision>
  <dcterms:modified xsi:type="dcterms:W3CDTF">2014-11-11T10:16:40Z</dcterms:modified>
</cp:coreProperties>
</file>