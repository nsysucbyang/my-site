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73" r:id="rId4"/>
    <p:sldId id="258" r:id="rId5"/>
    <p:sldId id="260" r:id="rId6"/>
    <p:sldId id="259" r:id="rId7"/>
    <p:sldId id="261" r:id="rId8"/>
    <p:sldId id="274" r:id="rId9"/>
    <p:sldId id="275" r:id="rId10"/>
    <p:sldId id="276" r:id="rId11"/>
    <p:sldId id="262" r:id="rId12"/>
    <p:sldId id="277" r:id="rId13"/>
    <p:sldId id="269" r:id="rId14"/>
    <p:sldId id="278" r:id="rId15"/>
    <p:sldId id="279" r:id="rId16"/>
    <p:sldId id="272" r:id="rId17"/>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8025" autoAdjust="0"/>
    <p:restoredTop sz="94660"/>
  </p:normalViewPr>
  <p:slideViewPr>
    <p:cSldViewPr snapToGrid="0">
      <p:cViewPr>
        <p:scale>
          <a:sx n="125" d="100"/>
          <a:sy n="125" d="100"/>
        </p:scale>
        <p:origin x="1146" y="1080"/>
      </p:cViewPr>
      <p:guideLst>
        <p:guide orient="horz" pos="216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zh-TW" altLang="en-US" smtClean="0"/>
              <a:t>按一下以編輯母片標題樣式</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zh-TW" altLang="en-US" smtClean="0"/>
              <a:t>按一下以編輯母片副標題樣式</a:t>
            </a:r>
            <a:endParaRPr lang="en-US" dirty="0"/>
          </a:p>
        </p:txBody>
      </p:sp>
      <p:sp>
        <p:nvSpPr>
          <p:cNvPr id="4" name="Date Placeholder 3"/>
          <p:cNvSpPr>
            <a:spLocks noGrp="1"/>
          </p:cNvSpPr>
          <p:nvPr>
            <p:ph type="dt" sz="half" idx="10"/>
          </p:nvPr>
        </p:nvSpPr>
        <p:spPr/>
        <p:txBody>
          <a:bodyPr/>
          <a:lstStyle/>
          <a:p>
            <a:fld id="{E0431A0E-EA28-493E-8292-0216ADD02848}" type="datetimeFigureOut">
              <a:rPr lang="zh-TW" altLang="en-US" smtClean="0"/>
              <a:pPr/>
              <a:t>2014/1/27</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A889EB93-E7C6-4DFA-AED5-D53BEB3F01FF}" type="slidenum">
              <a:rPr lang="zh-TW" altLang="en-US" smtClean="0"/>
              <a:pPr/>
              <a:t>‹#›</a:t>
            </a:fld>
            <a:endParaRPr lang="zh-TW" alt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251800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Content Placeholder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E0431A0E-EA28-493E-8292-0216ADD02848}" type="datetimeFigureOut">
              <a:rPr lang="zh-TW" altLang="en-US" smtClean="0"/>
              <a:pPr/>
              <a:t>2014/1/27</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A889EB93-E7C6-4DFA-AED5-D53BEB3F01FF}" type="slidenum">
              <a:rPr lang="zh-TW" altLang="en-US" smtClean="0"/>
              <a:pPr/>
              <a:t>‹#›</a:t>
            </a:fld>
            <a:endParaRPr lang="zh-TW" altLang="en-US"/>
          </a:p>
        </p:txBody>
      </p:sp>
    </p:spTree>
    <p:extLst>
      <p:ext uri="{BB962C8B-B14F-4D97-AF65-F5344CB8AC3E}">
        <p14:creationId xmlns:p14="http://schemas.microsoft.com/office/powerpoint/2010/main" xmlns="" val="3482250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章節標題">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zh-TW" altLang="en-US" smtClean="0"/>
              <a:t>按一下以編輯母片標題樣式</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Date Placeholder 3"/>
          <p:cNvSpPr>
            <a:spLocks noGrp="1"/>
          </p:cNvSpPr>
          <p:nvPr>
            <p:ph type="dt" sz="half" idx="10"/>
          </p:nvPr>
        </p:nvSpPr>
        <p:spPr/>
        <p:txBody>
          <a:bodyPr/>
          <a:lstStyle/>
          <a:p>
            <a:fld id="{E0431A0E-EA28-493E-8292-0216ADD02848}" type="datetimeFigureOut">
              <a:rPr lang="zh-TW" altLang="en-US" smtClean="0"/>
              <a:pPr/>
              <a:t>2014/1/27</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A889EB93-E7C6-4DFA-AED5-D53BEB3F01FF}" type="slidenum">
              <a:rPr lang="zh-TW" altLang="en-US" smtClean="0"/>
              <a:pPr/>
              <a:t>‹#›</a:t>
            </a:fld>
            <a:endParaRPr lang="zh-TW" alt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5041650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zh-TW" altLang="en-US" smtClean="0"/>
              <a:t>按一下以編輯母片標題樣式</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Content Placeholder 3"/>
          <p:cNvSpPr>
            <a:spLocks noGrp="1"/>
          </p:cNvSpPr>
          <p:nvPr>
            <p:ph sz="half" idx="2"/>
          </p:nvPr>
        </p:nvSpPr>
        <p:spPr>
          <a:xfrm>
            <a:off x="4663440" y="1845736"/>
            <a:ext cx="3703320" cy="4023359"/>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5" name="Date Placeholder 4"/>
          <p:cNvSpPr>
            <a:spLocks noGrp="1"/>
          </p:cNvSpPr>
          <p:nvPr>
            <p:ph type="dt" sz="half" idx="10"/>
          </p:nvPr>
        </p:nvSpPr>
        <p:spPr/>
        <p:txBody>
          <a:bodyPr/>
          <a:lstStyle/>
          <a:p>
            <a:fld id="{E0431A0E-EA28-493E-8292-0216ADD02848}" type="datetimeFigureOut">
              <a:rPr lang="zh-TW" altLang="en-US" smtClean="0"/>
              <a:pPr/>
              <a:t>2014/1/27</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A889EB93-E7C6-4DFA-AED5-D53BEB3F01FF}" type="slidenum">
              <a:rPr lang="zh-TW" altLang="en-US" smtClean="0"/>
              <a:pPr/>
              <a:t>‹#›</a:t>
            </a:fld>
            <a:endParaRPr lang="zh-TW" altLang="en-US"/>
          </a:p>
        </p:txBody>
      </p:sp>
    </p:spTree>
    <p:extLst>
      <p:ext uri="{BB962C8B-B14F-4D97-AF65-F5344CB8AC3E}">
        <p14:creationId xmlns:p14="http://schemas.microsoft.com/office/powerpoint/2010/main" xmlns="" val="41210782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zh-TW" altLang="en-US" smtClean="0"/>
              <a:t>按一下以編輯母片標題樣式</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Content Placeholder 3"/>
          <p:cNvSpPr>
            <a:spLocks noGrp="1"/>
          </p:cNvSpPr>
          <p:nvPr>
            <p:ph sz="half" idx="2"/>
          </p:nvPr>
        </p:nvSpPr>
        <p:spPr>
          <a:xfrm>
            <a:off x="822960" y="2582334"/>
            <a:ext cx="3703320" cy="3286760"/>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Content Placeholder 5"/>
          <p:cNvSpPr>
            <a:spLocks noGrp="1"/>
          </p:cNvSpPr>
          <p:nvPr>
            <p:ph sz="quarter" idx="4"/>
          </p:nvPr>
        </p:nvSpPr>
        <p:spPr>
          <a:xfrm>
            <a:off x="4663440" y="2582334"/>
            <a:ext cx="3703320" cy="3286760"/>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7" name="Date Placeholder 6"/>
          <p:cNvSpPr>
            <a:spLocks noGrp="1"/>
          </p:cNvSpPr>
          <p:nvPr>
            <p:ph type="dt" sz="half" idx="10"/>
          </p:nvPr>
        </p:nvSpPr>
        <p:spPr/>
        <p:txBody>
          <a:bodyPr/>
          <a:lstStyle/>
          <a:p>
            <a:fld id="{E0431A0E-EA28-493E-8292-0216ADD02848}" type="datetimeFigureOut">
              <a:rPr lang="zh-TW" altLang="en-US" smtClean="0"/>
              <a:pPr/>
              <a:t>2014/1/27</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A889EB93-E7C6-4DFA-AED5-D53BEB3F01FF}" type="slidenum">
              <a:rPr lang="zh-TW" altLang="en-US" smtClean="0"/>
              <a:pPr/>
              <a:t>‹#›</a:t>
            </a:fld>
            <a:endParaRPr lang="zh-TW" altLang="en-US"/>
          </a:p>
        </p:txBody>
      </p:sp>
    </p:spTree>
    <p:extLst>
      <p:ext uri="{BB962C8B-B14F-4D97-AF65-F5344CB8AC3E}">
        <p14:creationId xmlns:p14="http://schemas.microsoft.com/office/powerpoint/2010/main" xmlns="" val="40710601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Date Placeholder 2"/>
          <p:cNvSpPr>
            <a:spLocks noGrp="1"/>
          </p:cNvSpPr>
          <p:nvPr>
            <p:ph type="dt" sz="half" idx="10"/>
          </p:nvPr>
        </p:nvSpPr>
        <p:spPr/>
        <p:txBody>
          <a:bodyPr/>
          <a:lstStyle/>
          <a:p>
            <a:fld id="{E0431A0E-EA28-493E-8292-0216ADD02848}" type="datetimeFigureOut">
              <a:rPr lang="zh-TW" altLang="en-US" smtClean="0"/>
              <a:pPr/>
              <a:t>2014/1/27</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A889EB93-E7C6-4DFA-AED5-D53BEB3F01FF}" type="slidenum">
              <a:rPr lang="zh-TW" altLang="en-US" smtClean="0"/>
              <a:pPr/>
              <a:t>‹#›</a:t>
            </a:fld>
            <a:endParaRPr lang="zh-TW" altLang="en-US"/>
          </a:p>
        </p:txBody>
      </p:sp>
    </p:spTree>
    <p:extLst>
      <p:ext uri="{BB962C8B-B14F-4D97-AF65-F5344CB8AC3E}">
        <p14:creationId xmlns:p14="http://schemas.microsoft.com/office/powerpoint/2010/main" xmlns="" val="33511823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E0431A0E-EA28-493E-8292-0216ADD02848}" type="datetimeFigureOut">
              <a:rPr lang="zh-TW" altLang="en-US" smtClean="0"/>
              <a:pPr/>
              <a:t>2014/1/27</a:t>
            </a:fld>
            <a:endParaRPr lang="zh-TW" alt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zh-TW" altLang="en-US"/>
          </a:p>
        </p:txBody>
      </p:sp>
      <p:sp>
        <p:nvSpPr>
          <p:cNvPr id="9" name="Slide Number Placeholder 8"/>
          <p:cNvSpPr>
            <a:spLocks noGrp="1"/>
          </p:cNvSpPr>
          <p:nvPr>
            <p:ph type="sldNum" sz="quarter" idx="12"/>
          </p:nvPr>
        </p:nvSpPr>
        <p:spPr/>
        <p:txBody>
          <a:bodyPr/>
          <a:lstStyle/>
          <a:p>
            <a:fld id="{A889EB93-E7C6-4DFA-AED5-D53BEB3F01FF}" type="slidenum">
              <a:rPr lang="zh-TW" altLang="en-US" smtClean="0"/>
              <a:pPr/>
              <a:t>‹#›</a:t>
            </a:fld>
            <a:endParaRPr lang="zh-TW" altLang="en-US"/>
          </a:p>
        </p:txBody>
      </p:sp>
    </p:spTree>
    <p:extLst>
      <p:ext uri="{BB962C8B-B14F-4D97-AF65-F5344CB8AC3E}">
        <p14:creationId xmlns:p14="http://schemas.microsoft.com/office/powerpoint/2010/main" xmlns="" val="29615001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含標題的內容">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zh-TW" altLang="en-US" smtClean="0"/>
              <a:t>按一下以編輯母片標題樣式</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E0431A0E-EA28-493E-8292-0216ADD02848}" type="datetimeFigureOut">
              <a:rPr lang="zh-TW" altLang="en-US" smtClean="0"/>
              <a:pPr/>
              <a:t>2014/1/27</a:t>
            </a:fld>
            <a:endParaRPr lang="zh-TW" altLang="en-US"/>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lang="zh-TW" alt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A889EB93-E7C6-4DFA-AED5-D53BEB3F01FF}" type="slidenum">
              <a:rPr lang="zh-TW" altLang="en-US" smtClean="0"/>
              <a:pPr/>
              <a:t>‹#›</a:t>
            </a:fld>
            <a:endParaRPr lang="zh-TW" altLang="en-US"/>
          </a:p>
        </p:txBody>
      </p:sp>
    </p:spTree>
    <p:extLst>
      <p:ext uri="{BB962C8B-B14F-4D97-AF65-F5344CB8AC3E}">
        <p14:creationId xmlns:p14="http://schemas.microsoft.com/office/powerpoint/2010/main" xmlns="" val="18706110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含標題的圖片">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zh-TW" altLang="en-US" smtClean="0"/>
              <a:t>按一下以編輯母片標題樣式</a:t>
            </a:r>
            <a:endParaRPr lang="en-US" dirty="0"/>
          </a:p>
        </p:txBody>
      </p:sp>
      <p:sp>
        <p:nvSpPr>
          <p:cNvPr id="3" name="Picture Placeholder 2"/>
          <p:cNvSpPr>
            <a:spLocks noGrp="1" noChangeAspect="1"/>
          </p:cNvSpPr>
          <p:nvPr>
            <p:ph type="pic" idx="1"/>
          </p:nvPr>
        </p:nvSpPr>
        <p:spPr>
          <a:xfrm>
            <a:off x="12" y="0"/>
            <a:ext cx="9143989"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smtClean="0"/>
              <a:t>按一下圖示以新增圖片</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Date Placeholder 4"/>
          <p:cNvSpPr>
            <a:spLocks noGrp="1"/>
          </p:cNvSpPr>
          <p:nvPr>
            <p:ph type="dt" sz="half" idx="10"/>
          </p:nvPr>
        </p:nvSpPr>
        <p:spPr/>
        <p:txBody>
          <a:bodyPr/>
          <a:lstStyle/>
          <a:p>
            <a:fld id="{E0431A0E-EA28-493E-8292-0216ADD02848}" type="datetimeFigureOut">
              <a:rPr lang="zh-TW" altLang="en-US" smtClean="0"/>
              <a:pPr/>
              <a:t>2014/1/27</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A889EB93-E7C6-4DFA-AED5-D53BEB3F01FF}" type="slidenum">
              <a:rPr lang="zh-TW" altLang="en-US" smtClean="0"/>
              <a:pPr/>
              <a:t>‹#›</a:t>
            </a:fld>
            <a:endParaRPr lang="zh-TW" altLang="en-US"/>
          </a:p>
        </p:txBody>
      </p:sp>
    </p:spTree>
    <p:extLst>
      <p:ext uri="{BB962C8B-B14F-4D97-AF65-F5344CB8AC3E}">
        <p14:creationId xmlns:p14="http://schemas.microsoft.com/office/powerpoint/2010/main" xmlns="" val="8203476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E0431A0E-EA28-493E-8292-0216ADD02848}" type="datetimeFigureOut">
              <a:rPr lang="zh-TW" altLang="en-US" smtClean="0"/>
              <a:pPr/>
              <a:t>2014/1/27</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A889EB93-E7C6-4DFA-AED5-D53BEB3F01FF}" type="slidenum">
              <a:rPr lang="zh-TW" altLang="en-US" smtClean="0"/>
              <a:pPr/>
              <a:t>‹#›</a:t>
            </a:fld>
            <a:endParaRPr lang="zh-TW" altLang="en-US"/>
          </a:p>
        </p:txBody>
      </p:sp>
    </p:spTree>
    <p:extLst>
      <p:ext uri="{BB962C8B-B14F-4D97-AF65-F5344CB8AC3E}">
        <p14:creationId xmlns:p14="http://schemas.microsoft.com/office/powerpoint/2010/main" xmlns="" val="26106966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直排標題及文字">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zh-TW" altLang="en-US" smtClean="0"/>
              <a:t>按一下以編輯母片標題樣式</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E0431A0E-EA28-493E-8292-0216ADD02848}" type="datetimeFigureOut">
              <a:rPr lang="zh-TW" altLang="en-US" smtClean="0"/>
              <a:pPr/>
              <a:t>2014/1/27</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A889EB93-E7C6-4DFA-AED5-D53BEB3F01FF}" type="slidenum">
              <a:rPr lang="zh-TW" altLang="en-US" smtClean="0"/>
              <a:pPr/>
              <a:t>‹#›</a:t>
            </a:fld>
            <a:endParaRPr lang="zh-TW" altLang="en-US"/>
          </a:p>
        </p:txBody>
      </p:sp>
    </p:spTree>
    <p:extLst>
      <p:ext uri="{BB962C8B-B14F-4D97-AF65-F5344CB8AC3E}">
        <p14:creationId xmlns:p14="http://schemas.microsoft.com/office/powerpoint/2010/main" xmlns="" val="13937618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zh-TW" altLang="en-US" smtClean="0"/>
              <a:t>按一下以編輯母片標題樣式</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E0431A0E-EA28-493E-8292-0216ADD02848}" type="datetimeFigureOut">
              <a:rPr lang="zh-TW" altLang="en-US" smtClean="0"/>
              <a:pPr/>
              <a:t>2014/1/27</a:t>
            </a:fld>
            <a:endParaRPr lang="zh-TW" altLang="en-US"/>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zh-TW" altLang="en-US"/>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A889EB93-E7C6-4DFA-AED5-D53BEB3F01FF}" type="slidenum">
              <a:rPr lang="zh-TW" altLang="en-US" smtClean="0"/>
              <a:pPr/>
              <a:t>‹#›</a:t>
            </a:fld>
            <a:endParaRPr lang="zh-TW" altLang="en-US"/>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161054590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noAutofit/>
          </a:bodyPr>
          <a:lstStyle/>
          <a:p>
            <a:r>
              <a:rPr lang="en-US" altLang="zh-TW" sz="5400" dirty="0"/>
              <a:t>A Fast and Practical Bit-Vector Algorithm for </a:t>
            </a:r>
            <a:br>
              <a:rPr lang="en-US" altLang="zh-TW" sz="5400" dirty="0"/>
            </a:br>
            <a:r>
              <a:rPr lang="en-US" altLang="zh-TW" sz="5400" dirty="0"/>
              <a:t>the Longest Common Subsequence Problem</a:t>
            </a:r>
            <a:endParaRPr lang="zh-TW" altLang="en-US" sz="5400" dirty="0"/>
          </a:p>
        </p:txBody>
      </p:sp>
      <p:sp>
        <p:nvSpPr>
          <p:cNvPr id="3" name="副標題 2"/>
          <p:cNvSpPr>
            <a:spLocks noGrp="1"/>
          </p:cNvSpPr>
          <p:nvPr>
            <p:ph type="subTitle" idx="1"/>
          </p:nvPr>
        </p:nvSpPr>
        <p:spPr/>
        <p:txBody>
          <a:bodyPr>
            <a:normAutofit fontScale="62500" lnSpcReduction="20000"/>
          </a:bodyPr>
          <a:lstStyle/>
          <a:p>
            <a:r>
              <a:rPr lang="es-ES" altLang="zh-TW" dirty="0"/>
              <a:t>Maxime Crochemore, Costas S. </a:t>
            </a:r>
            <a:r>
              <a:rPr lang="es-ES" altLang="zh-TW" dirty="0" smtClean="0"/>
              <a:t>Iliopoulos, Yoan </a:t>
            </a:r>
            <a:r>
              <a:rPr lang="es-ES" altLang="zh-TW" dirty="0"/>
              <a:t>J. Pinzon3, and James F. </a:t>
            </a:r>
            <a:r>
              <a:rPr lang="es-ES" altLang="zh-TW" dirty="0" smtClean="0"/>
              <a:t>Reid</a:t>
            </a:r>
            <a:endParaRPr lang="en-US" altLang="zh-TW" dirty="0" smtClean="0"/>
          </a:p>
          <a:p>
            <a:r>
              <a:rPr lang="en-US" altLang="zh-TW" dirty="0" smtClean="0"/>
              <a:t>Information </a:t>
            </a:r>
            <a:r>
              <a:rPr lang="en-US" altLang="zh-TW" dirty="0"/>
              <a:t>Processing Letters</a:t>
            </a:r>
            <a:endParaRPr lang="en-US" altLang="zh-TW" dirty="0" smtClean="0"/>
          </a:p>
          <a:p>
            <a:r>
              <a:rPr lang="en-US" altLang="zh-TW" dirty="0" smtClean="0"/>
              <a:t>Reporter : </a:t>
            </a:r>
            <a:r>
              <a:rPr lang="en-US" altLang="zh-TW" dirty="0" err="1" smtClean="0"/>
              <a:t>Cing</a:t>
            </a:r>
            <a:r>
              <a:rPr lang="en-US" altLang="zh-TW" dirty="0" smtClean="0"/>
              <a:t>-Yao Chen Date:2014/1/27</a:t>
            </a:r>
            <a:endParaRPr lang="zh-TW" altLang="en-US" dirty="0"/>
          </a:p>
        </p:txBody>
      </p:sp>
    </p:spTree>
    <p:extLst>
      <p:ext uri="{BB962C8B-B14F-4D97-AF65-F5344CB8AC3E}">
        <p14:creationId xmlns:p14="http://schemas.microsoft.com/office/powerpoint/2010/main" xmlns="" val="3204568884"/>
      </p:ext>
    </p:extLst>
  </p:cSld>
  <p:clrMapOvr>
    <a:masterClrMapping/>
  </p:clrMapOvr>
  <p:transition>
    <p:cu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a:t>
            </a:r>
            <a:endParaRPr lang="zh-TW" altLang="en-US" dirty="0"/>
          </a:p>
        </p:txBody>
      </p:sp>
      <p:sp>
        <p:nvSpPr>
          <p:cNvPr id="3" name="內容版面配置區 2"/>
          <p:cNvSpPr>
            <a:spLocks noGrp="1"/>
          </p:cNvSpPr>
          <p:nvPr>
            <p:ph idx="1"/>
          </p:nvPr>
        </p:nvSpPr>
        <p:spPr/>
        <p:txBody>
          <a:bodyPr>
            <a:noAutofit/>
          </a:bodyPr>
          <a:lstStyle/>
          <a:p>
            <a:r>
              <a:rPr lang="en-US" altLang="zh-TW" sz="2400" dirty="0"/>
              <a:t>This paper presents a new practical bit-vector algorithm for solving the well known Longest Common Subsequence (LCS) problem. Given two strings of length m and n, n ≥ m, we present an algorithm which determines the length p of an LCS in O(nm/w) time and O(m/w) space, where w is the number of bits in a machine word. This algorithm can be thought of as column-wise "parallelization" of the classical dynamic programming approach. Our algorithm is very efficiently in practice, where computing the length of an LCS of two strings can be done in linear time and constant (additional/working) space by assuming that m ≤ w.</a:t>
            </a:r>
            <a:endParaRPr lang="zh-TW" altLang="en-US" sz="2400" dirty="0"/>
          </a:p>
        </p:txBody>
      </p:sp>
    </p:spTree>
    <p:extLst>
      <p:ext uri="{BB962C8B-B14F-4D97-AF65-F5344CB8AC3E}">
        <p14:creationId xmlns:p14="http://schemas.microsoft.com/office/powerpoint/2010/main" xmlns="" val="280219712"/>
      </p:ext>
    </p:extLst>
  </p:cSld>
  <p:clrMapOvr>
    <a:masterClrMapping/>
  </p:clrMapOvr>
  <p:transition>
    <p:cut/>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BACKGROUND</a:t>
            </a:r>
            <a:endParaRPr lang="zh-TW" altLang="en-US" dirty="0"/>
          </a:p>
        </p:txBody>
      </p:sp>
      <p:sp>
        <p:nvSpPr>
          <p:cNvPr id="3" name="內容版面配置區 2"/>
          <p:cNvSpPr>
            <a:spLocks noGrp="1"/>
          </p:cNvSpPr>
          <p:nvPr>
            <p:ph idx="1"/>
          </p:nvPr>
        </p:nvSpPr>
        <p:spPr/>
        <p:txBody>
          <a:bodyPr/>
          <a:lstStyle/>
          <a:p>
            <a:endParaRPr lang="zh-TW" altLang="en-US" dirty="0"/>
          </a:p>
        </p:txBody>
      </p:sp>
      <p:sp>
        <p:nvSpPr>
          <p:cNvPr id="4" name="矩形 3"/>
          <p:cNvSpPr/>
          <p:nvPr/>
        </p:nvSpPr>
        <p:spPr>
          <a:xfrm>
            <a:off x="1249680" y="2103120"/>
            <a:ext cx="868680" cy="3640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LCS</a:t>
            </a:r>
            <a:endParaRPr lang="zh-TW" altLang="en-US" dirty="0"/>
          </a:p>
        </p:txBody>
      </p:sp>
      <p:sp>
        <p:nvSpPr>
          <p:cNvPr id="6" name="矩形 5"/>
          <p:cNvSpPr/>
          <p:nvPr/>
        </p:nvSpPr>
        <p:spPr>
          <a:xfrm>
            <a:off x="1249680" y="2876126"/>
            <a:ext cx="2202180" cy="38523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 Hunt and Szymanski</a:t>
            </a:r>
            <a:endParaRPr lang="zh-TW" altLang="en-US" dirty="0"/>
          </a:p>
        </p:txBody>
      </p:sp>
      <p:cxnSp>
        <p:nvCxnSpPr>
          <p:cNvPr id="8" name="直線單箭頭接點 7"/>
          <p:cNvCxnSpPr/>
          <p:nvPr/>
        </p:nvCxnSpPr>
        <p:spPr>
          <a:xfrm>
            <a:off x="1684020" y="2467188"/>
            <a:ext cx="0" cy="390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1249680" y="3667123"/>
            <a:ext cx="2202180" cy="38523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Allison and Dix</a:t>
            </a:r>
            <a:endParaRPr lang="zh-TW" altLang="en-US" dirty="0"/>
          </a:p>
        </p:txBody>
      </p:sp>
      <p:sp>
        <p:nvSpPr>
          <p:cNvPr id="10" name="矩形 9"/>
          <p:cNvSpPr/>
          <p:nvPr/>
        </p:nvSpPr>
        <p:spPr>
          <a:xfrm>
            <a:off x="1249680" y="4458120"/>
            <a:ext cx="2202180" cy="385234"/>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TW" dirty="0" smtClean="0"/>
              <a:t>CIPR</a:t>
            </a:r>
            <a:endParaRPr lang="zh-TW" altLang="en-US" dirty="0"/>
          </a:p>
        </p:txBody>
      </p:sp>
      <p:cxnSp>
        <p:nvCxnSpPr>
          <p:cNvPr id="11" name="直線單箭頭接點 10"/>
          <p:cNvCxnSpPr/>
          <p:nvPr/>
        </p:nvCxnSpPr>
        <p:spPr>
          <a:xfrm>
            <a:off x="1684020" y="3261360"/>
            <a:ext cx="0" cy="390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直線單箭頭接點 11"/>
          <p:cNvCxnSpPr/>
          <p:nvPr/>
        </p:nvCxnSpPr>
        <p:spPr>
          <a:xfrm>
            <a:off x="1684020" y="4052357"/>
            <a:ext cx="0" cy="390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3623310" y="2607078"/>
            <a:ext cx="4572000" cy="369332"/>
          </a:xfrm>
          <a:prstGeom prst="rect">
            <a:avLst/>
          </a:prstGeom>
        </p:spPr>
        <p:txBody>
          <a:bodyPr>
            <a:spAutoFit/>
          </a:bodyPr>
          <a:lstStyle/>
          <a:p>
            <a:endParaRPr lang="zh-TW" altLang="en-US" dirty="0"/>
          </a:p>
        </p:txBody>
      </p:sp>
      <p:sp>
        <p:nvSpPr>
          <p:cNvPr id="17" name="矩形 16"/>
          <p:cNvSpPr/>
          <p:nvPr/>
        </p:nvSpPr>
        <p:spPr>
          <a:xfrm>
            <a:off x="3623310" y="3456516"/>
            <a:ext cx="4572000" cy="1077218"/>
          </a:xfrm>
          <a:prstGeom prst="rect">
            <a:avLst/>
          </a:prstGeom>
        </p:spPr>
        <p:txBody>
          <a:bodyPr>
            <a:spAutoFit/>
          </a:bodyPr>
          <a:lstStyle/>
          <a:p>
            <a:r>
              <a:rPr lang="zh-TW" altLang="en-US" sz="1600" dirty="0" smtClean="0"/>
              <a:t>Lloyd Allison, Trevor I. Dix</a:t>
            </a:r>
          </a:p>
          <a:p>
            <a:r>
              <a:rPr lang="zh-TW" altLang="en-US" sz="1600" dirty="0" smtClean="0"/>
              <a:t>A bit-string longest-common-subsequence algorithm</a:t>
            </a:r>
          </a:p>
          <a:p>
            <a:r>
              <a:rPr lang="zh-TW" altLang="en-US" sz="1600" dirty="0" smtClean="0"/>
              <a:t>Information Processing Letters, Volume 23, Issue 5, 24 November 1986, Pages 305–310</a:t>
            </a:r>
            <a:endParaRPr lang="zh-TW" altLang="en-US" sz="1600" dirty="0"/>
          </a:p>
        </p:txBody>
      </p:sp>
      <p:sp>
        <p:nvSpPr>
          <p:cNvPr id="18" name="矩形 17"/>
          <p:cNvSpPr/>
          <p:nvPr/>
        </p:nvSpPr>
        <p:spPr>
          <a:xfrm>
            <a:off x="3623310" y="4533734"/>
            <a:ext cx="4572000" cy="1631216"/>
          </a:xfrm>
          <a:prstGeom prst="rect">
            <a:avLst/>
          </a:prstGeom>
        </p:spPr>
        <p:txBody>
          <a:bodyPr>
            <a:spAutoFit/>
          </a:bodyPr>
          <a:lstStyle/>
          <a:p>
            <a:r>
              <a:rPr lang="zh-TW" altLang="en-US" sz="1600" dirty="0" smtClean="0"/>
              <a:t>Maxime Crochemore, Costas S. Iliopoulos, Yoan J. Pinzon, James F. Reid</a:t>
            </a:r>
          </a:p>
          <a:p>
            <a:r>
              <a:rPr lang="zh-TW" altLang="en-US" sz="1600" dirty="0" smtClean="0"/>
              <a:t>A fast and practical bit-vector algorithm for the Longest Common Subsequence problem</a:t>
            </a:r>
          </a:p>
          <a:p>
            <a:r>
              <a:rPr lang="zh-TW" altLang="en-US" sz="1600" dirty="0" smtClean="0"/>
              <a:t>Information Processing Letters, Volume 80, Issue 6, 31 December 2001, Pages 279–285</a:t>
            </a:r>
            <a:endParaRPr lang="zh-TW" altLang="en-US" sz="1600" dirty="0"/>
          </a:p>
        </p:txBody>
      </p:sp>
      <p:sp>
        <p:nvSpPr>
          <p:cNvPr id="19" name="矩形 18"/>
          <p:cNvSpPr/>
          <p:nvPr/>
        </p:nvSpPr>
        <p:spPr>
          <a:xfrm>
            <a:off x="3623310" y="2606423"/>
            <a:ext cx="4572000" cy="830997"/>
          </a:xfrm>
          <a:prstGeom prst="rect">
            <a:avLst/>
          </a:prstGeom>
        </p:spPr>
        <p:txBody>
          <a:bodyPr>
            <a:spAutoFit/>
          </a:bodyPr>
          <a:lstStyle/>
          <a:p>
            <a:r>
              <a:rPr lang="zh-TW" altLang="en-US" sz="1600" dirty="0" smtClean="0"/>
              <a:t>J.W.Hunt, T.G.Szymanski. A fast algorithm for computing longest common subsequences. CACM Vol.20 No.5 pp.350-353 1977.</a:t>
            </a:r>
            <a:endParaRPr lang="zh-TW" altLang="en-US" sz="1600" dirty="0"/>
          </a:p>
        </p:txBody>
      </p:sp>
    </p:spTree>
    <p:extLst>
      <p:ext uri="{BB962C8B-B14F-4D97-AF65-F5344CB8AC3E}">
        <p14:creationId xmlns:p14="http://schemas.microsoft.com/office/powerpoint/2010/main" xmlns="" val="4092180537"/>
      </p:ext>
    </p:extLst>
  </p:cSld>
  <p:clrMapOvr>
    <a:masterClrMapping/>
  </p:clrMapOvr>
  <p:transition>
    <p:cut/>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LCS</a:t>
            </a:r>
            <a:endParaRPr lang="zh-TW" altLang="en-US" dirty="0"/>
          </a:p>
        </p:txBody>
      </p:sp>
      <p:sp>
        <p:nvSpPr>
          <p:cNvPr id="3" name="內容版面配置區 2"/>
          <p:cNvSpPr>
            <a:spLocks noGrp="1"/>
          </p:cNvSpPr>
          <p:nvPr>
            <p:ph idx="1"/>
          </p:nvPr>
        </p:nvSpPr>
        <p:spPr>
          <a:xfrm>
            <a:off x="822959" y="3823336"/>
            <a:ext cx="7543801" cy="2045758"/>
          </a:xfrm>
        </p:spPr>
        <p:txBody>
          <a:bodyPr>
            <a:noAutofit/>
          </a:bodyPr>
          <a:lstStyle/>
          <a:p>
            <a:r>
              <a:rPr lang="en-US" altLang="zh-TW" sz="2800" dirty="0"/>
              <a:t>The rows and columns of </a:t>
            </a:r>
            <a:r>
              <a:rPr lang="en-US" altLang="zh-TW" sz="2800" dirty="0" err="1"/>
              <a:t>L</a:t>
            </a:r>
            <a:r>
              <a:rPr lang="en-US" altLang="zh-TW" sz="2800" baseline="-25000" dirty="0" err="1"/>
              <a:t>ij</a:t>
            </a:r>
            <a:r>
              <a:rPr lang="en-US" altLang="zh-TW" sz="2800" dirty="0"/>
              <a:t> contain ascending values for increasing </a:t>
            </a:r>
            <a:r>
              <a:rPr lang="en-US" altLang="zh-TW" sz="2800" dirty="0" err="1"/>
              <a:t>i</a:t>
            </a:r>
            <a:r>
              <a:rPr lang="en-US" altLang="zh-TW" sz="2800" dirty="0"/>
              <a:t> and j. This prompted </a:t>
            </a:r>
            <a:r>
              <a:rPr lang="en-US" altLang="zh-TW" sz="2800" dirty="0">
                <a:solidFill>
                  <a:srgbClr val="FF0000"/>
                </a:solidFill>
              </a:rPr>
              <a:t>Hunt and </a:t>
            </a:r>
            <a:r>
              <a:rPr lang="en-US" altLang="zh-TW" sz="2800" dirty="0" smtClean="0">
                <a:solidFill>
                  <a:srgbClr val="FF0000"/>
                </a:solidFill>
              </a:rPr>
              <a:t>Szymanski</a:t>
            </a:r>
            <a:r>
              <a:rPr lang="en-US" altLang="zh-TW" sz="2800" dirty="0" smtClean="0"/>
              <a:t> </a:t>
            </a:r>
            <a:r>
              <a:rPr lang="en-US" altLang="zh-TW" sz="2800" dirty="0"/>
              <a:t>and Hirschberg </a:t>
            </a:r>
            <a:r>
              <a:rPr lang="en-US" altLang="zh-TW" sz="2800" dirty="0" smtClean="0"/>
              <a:t>to </a:t>
            </a:r>
            <a:r>
              <a:rPr lang="en-US" altLang="zh-TW" sz="2800" dirty="0"/>
              <a:t>'contour' L and develop fast algorithms for special cases.</a:t>
            </a:r>
            <a:endParaRPr lang="zh-TW" altLang="en-US" sz="2800" dirty="0"/>
          </a:p>
        </p:txBody>
      </p:sp>
      <p:pic>
        <p:nvPicPr>
          <p:cNvPr id="4" name="圖片 3"/>
          <p:cNvPicPr>
            <a:picLocks noChangeAspect="1"/>
          </p:cNvPicPr>
          <p:nvPr/>
        </p:nvPicPr>
        <p:blipFill>
          <a:blip r:embed="rId2"/>
          <a:stretch>
            <a:fillRect/>
          </a:stretch>
        </p:blipFill>
        <p:spPr>
          <a:xfrm>
            <a:off x="213359" y="1737361"/>
            <a:ext cx="8763000" cy="1800225"/>
          </a:xfrm>
          <a:prstGeom prst="rect">
            <a:avLst/>
          </a:prstGeom>
        </p:spPr>
      </p:pic>
      <p:pic>
        <p:nvPicPr>
          <p:cNvPr id="5" name="圖片 4"/>
          <p:cNvPicPr>
            <a:picLocks noChangeAspect="1"/>
          </p:cNvPicPr>
          <p:nvPr/>
        </p:nvPicPr>
        <p:blipFill>
          <a:blip r:embed="rId3"/>
          <a:stretch>
            <a:fillRect/>
          </a:stretch>
        </p:blipFill>
        <p:spPr>
          <a:xfrm>
            <a:off x="822959" y="3251836"/>
            <a:ext cx="6276975" cy="571500"/>
          </a:xfrm>
          <a:prstGeom prst="rect">
            <a:avLst/>
          </a:prstGeom>
        </p:spPr>
      </p:pic>
    </p:spTree>
    <p:extLst>
      <p:ext uri="{BB962C8B-B14F-4D97-AF65-F5344CB8AC3E}">
        <p14:creationId xmlns:p14="http://schemas.microsoft.com/office/powerpoint/2010/main" xmlns="" val="1451477051"/>
      </p:ext>
    </p:extLst>
  </p:cSld>
  <p:clrMapOvr>
    <a:masterClrMapping/>
  </p:clrMapOvr>
  <p:transition>
    <p:cut/>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BIT-STRING ALGORITHM</a:t>
            </a:r>
            <a:endParaRPr lang="zh-TW" altLang="en-US" dirty="0"/>
          </a:p>
        </p:txBody>
      </p:sp>
      <p:sp>
        <p:nvSpPr>
          <p:cNvPr id="3" name="內容版面配置區 2"/>
          <p:cNvSpPr>
            <a:spLocks noGrp="1"/>
          </p:cNvSpPr>
          <p:nvPr>
            <p:ph idx="1"/>
          </p:nvPr>
        </p:nvSpPr>
        <p:spPr/>
        <p:txBody>
          <a:bodyPr/>
          <a:lstStyle/>
          <a:p>
            <a:endParaRPr lang="zh-TW" altLang="en-US" dirty="0"/>
          </a:p>
        </p:txBody>
      </p:sp>
      <p:pic>
        <p:nvPicPr>
          <p:cNvPr id="4" name="圖片 3"/>
          <p:cNvPicPr>
            <a:picLocks noChangeAspect="1"/>
          </p:cNvPicPr>
          <p:nvPr/>
        </p:nvPicPr>
        <p:blipFill>
          <a:blip r:embed="rId2"/>
          <a:stretch>
            <a:fillRect/>
          </a:stretch>
        </p:blipFill>
        <p:spPr>
          <a:xfrm>
            <a:off x="822959" y="1845734"/>
            <a:ext cx="3683138" cy="3262356"/>
          </a:xfrm>
          <a:prstGeom prst="rect">
            <a:avLst/>
          </a:prstGeom>
        </p:spPr>
      </p:pic>
      <p:sp>
        <p:nvSpPr>
          <p:cNvPr id="6" name="文字方塊 5"/>
          <p:cNvSpPr txBox="1"/>
          <p:nvPr/>
        </p:nvSpPr>
        <p:spPr>
          <a:xfrm>
            <a:off x="2232358" y="5226982"/>
            <a:ext cx="864339" cy="523220"/>
          </a:xfrm>
          <a:prstGeom prst="rect">
            <a:avLst/>
          </a:prstGeom>
          <a:noFill/>
        </p:spPr>
        <p:txBody>
          <a:bodyPr wrap="none" rtlCol="0">
            <a:spAutoFit/>
          </a:bodyPr>
          <a:lstStyle/>
          <a:p>
            <a:r>
              <a:rPr lang="en-US" altLang="zh-TW" sz="2800" dirty="0" smtClean="0"/>
              <a:t>Fig 1</a:t>
            </a:r>
            <a:endParaRPr lang="zh-TW" altLang="en-US" sz="2800" dirty="0"/>
          </a:p>
        </p:txBody>
      </p:sp>
    </p:spTree>
    <p:extLst>
      <p:ext uri="{BB962C8B-B14F-4D97-AF65-F5344CB8AC3E}">
        <p14:creationId xmlns:p14="http://schemas.microsoft.com/office/powerpoint/2010/main" xmlns="" val="1274816071"/>
      </p:ext>
    </p:extLst>
  </p:cSld>
  <p:clrMapOvr>
    <a:masterClrMapping/>
  </p:clrMapOvr>
  <p:transition>
    <p:cut/>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BIT-STRING ALGORITHM</a:t>
            </a:r>
            <a:endParaRPr lang="zh-TW" altLang="en-US" dirty="0"/>
          </a:p>
        </p:txBody>
      </p:sp>
      <p:sp>
        <p:nvSpPr>
          <p:cNvPr id="3" name="內容版面配置區 2"/>
          <p:cNvSpPr>
            <a:spLocks noGrp="1"/>
          </p:cNvSpPr>
          <p:nvPr>
            <p:ph idx="1"/>
          </p:nvPr>
        </p:nvSpPr>
        <p:spPr/>
        <p:txBody>
          <a:bodyPr/>
          <a:lstStyle/>
          <a:p>
            <a:endParaRPr lang="zh-TW" altLang="en-US" dirty="0"/>
          </a:p>
        </p:txBody>
      </p:sp>
      <p:pic>
        <p:nvPicPr>
          <p:cNvPr id="4" name="圖片 3"/>
          <p:cNvPicPr>
            <a:picLocks noChangeAspect="1"/>
          </p:cNvPicPr>
          <p:nvPr/>
        </p:nvPicPr>
        <p:blipFill>
          <a:blip r:embed="rId2"/>
          <a:stretch>
            <a:fillRect/>
          </a:stretch>
        </p:blipFill>
        <p:spPr>
          <a:xfrm>
            <a:off x="822959" y="1845734"/>
            <a:ext cx="3683138" cy="3262356"/>
          </a:xfrm>
          <a:prstGeom prst="rect">
            <a:avLst/>
          </a:prstGeom>
        </p:spPr>
      </p:pic>
      <p:pic>
        <p:nvPicPr>
          <p:cNvPr id="5" name="圖片 4"/>
          <p:cNvPicPr>
            <a:picLocks noChangeAspect="1"/>
          </p:cNvPicPr>
          <p:nvPr/>
        </p:nvPicPr>
        <p:blipFill>
          <a:blip r:embed="rId3"/>
          <a:stretch>
            <a:fillRect/>
          </a:stretch>
        </p:blipFill>
        <p:spPr>
          <a:xfrm>
            <a:off x="4324865" y="1854472"/>
            <a:ext cx="4167185" cy="2532904"/>
          </a:xfrm>
          <a:prstGeom prst="rect">
            <a:avLst/>
          </a:prstGeom>
        </p:spPr>
      </p:pic>
      <p:sp>
        <p:nvSpPr>
          <p:cNvPr id="6" name="文字方塊 5"/>
          <p:cNvSpPr txBox="1"/>
          <p:nvPr/>
        </p:nvSpPr>
        <p:spPr>
          <a:xfrm>
            <a:off x="2232358" y="5226982"/>
            <a:ext cx="864339" cy="523220"/>
          </a:xfrm>
          <a:prstGeom prst="rect">
            <a:avLst/>
          </a:prstGeom>
          <a:noFill/>
        </p:spPr>
        <p:txBody>
          <a:bodyPr wrap="none" rtlCol="0">
            <a:spAutoFit/>
          </a:bodyPr>
          <a:lstStyle/>
          <a:p>
            <a:r>
              <a:rPr lang="en-US" altLang="zh-TW" sz="2800" dirty="0" smtClean="0"/>
              <a:t>Fig 1</a:t>
            </a:r>
            <a:endParaRPr lang="zh-TW" altLang="en-US" sz="2800" dirty="0"/>
          </a:p>
        </p:txBody>
      </p:sp>
      <p:sp>
        <p:nvSpPr>
          <p:cNvPr id="7" name="文字方塊 6"/>
          <p:cNvSpPr txBox="1"/>
          <p:nvPr/>
        </p:nvSpPr>
        <p:spPr>
          <a:xfrm>
            <a:off x="5976287" y="5108090"/>
            <a:ext cx="864339" cy="523220"/>
          </a:xfrm>
          <a:prstGeom prst="rect">
            <a:avLst/>
          </a:prstGeom>
          <a:noFill/>
        </p:spPr>
        <p:txBody>
          <a:bodyPr wrap="none" rtlCol="0">
            <a:spAutoFit/>
          </a:bodyPr>
          <a:lstStyle/>
          <a:p>
            <a:r>
              <a:rPr lang="en-US" altLang="zh-TW" sz="2800" dirty="0" smtClean="0"/>
              <a:t>Fig 2</a:t>
            </a:r>
            <a:endParaRPr lang="zh-TW" altLang="en-US" sz="2800" dirty="0"/>
          </a:p>
        </p:txBody>
      </p:sp>
    </p:spTree>
    <p:extLst>
      <p:ext uri="{BB962C8B-B14F-4D97-AF65-F5344CB8AC3E}">
        <p14:creationId xmlns:p14="http://schemas.microsoft.com/office/powerpoint/2010/main" xmlns="" val="1107254623"/>
      </p:ext>
    </p:extLst>
  </p:cSld>
  <p:clrMapOvr>
    <a:masterClrMapping/>
  </p:clrMapOvr>
  <p:transition>
    <p:cut/>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BIT-STRING ALGORITHM</a:t>
            </a:r>
            <a:endParaRPr lang="zh-TW" altLang="en-US" dirty="0"/>
          </a:p>
        </p:txBody>
      </p:sp>
      <p:sp>
        <p:nvSpPr>
          <p:cNvPr id="3" name="內容版面配置區 2"/>
          <p:cNvSpPr>
            <a:spLocks noGrp="1"/>
          </p:cNvSpPr>
          <p:nvPr>
            <p:ph idx="1"/>
          </p:nvPr>
        </p:nvSpPr>
        <p:spPr/>
        <p:txBody>
          <a:bodyPr/>
          <a:lstStyle/>
          <a:p>
            <a:endParaRPr lang="zh-TW" altLang="en-US" dirty="0"/>
          </a:p>
        </p:txBody>
      </p:sp>
      <p:pic>
        <p:nvPicPr>
          <p:cNvPr id="8" name="圖片 7"/>
          <p:cNvPicPr>
            <a:picLocks noChangeAspect="1"/>
          </p:cNvPicPr>
          <p:nvPr/>
        </p:nvPicPr>
        <p:blipFill>
          <a:blip r:embed="rId2"/>
          <a:stretch>
            <a:fillRect/>
          </a:stretch>
        </p:blipFill>
        <p:spPr>
          <a:xfrm>
            <a:off x="332421" y="1676400"/>
            <a:ext cx="8524875" cy="5181600"/>
          </a:xfrm>
          <a:prstGeom prst="rect">
            <a:avLst/>
          </a:prstGeom>
        </p:spPr>
      </p:pic>
    </p:spTree>
    <p:extLst>
      <p:ext uri="{BB962C8B-B14F-4D97-AF65-F5344CB8AC3E}">
        <p14:creationId xmlns:p14="http://schemas.microsoft.com/office/powerpoint/2010/main" xmlns="" val="2059502243"/>
      </p:ext>
    </p:extLst>
  </p:cSld>
  <p:clrMapOvr>
    <a:masterClrMapping/>
  </p:clrMapOvr>
  <p:transition>
    <p:cut/>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CIPR : </a:t>
            </a:r>
            <a:r>
              <a:rPr lang="el-GR" altLang="zh-TW" dirty="0"/>
              <a:t>Δ</a:t>
            </a:r>
            <a:r>
              <a:rPr lang="en-US" altLang="zh-TW" dirty="0" smtClean="0"/>
              <a:t>L and </a:t>
            </a:r>
            <a:r>
              <a:rPr lang="el-GR" altLang="zh-TW" dirty="0"/>
              <a:t>Δ</a:t>
            </a:r>
            <a:r>
              <a:rPr lang="en-US" altLang="zh-TW" dirty="0" smtClean="0"/>
              <a:t>L’</a:t>
            </a:r>
            <a:endParaRPr lang="zh-TW" altLang="en-US" dirty="0"/>
          </a:p>
        </p:txBody>
      </p:sp>
      <p:sp>
        <p:nvSpPr>
          <p:cNvPr id="3" name="內容版面配置區 2"/>
          <p:cNvSpPr>
            <a:spLocks noGrp="1"/>
          </p:cNvSpPr>
          <p:nvPr>
            <p:ph idx="1"/>
          </p:nvPr>
        </p:nvSpPr>
        <p:spPr/>
        <p:txBody>
          <a:bodyPr/>
          <a:lstStyle/>
          <a:p>
            <a:endParaRPr lang="zh-TW" altLang="en-US"/>
          </a:p>
        </p:txBody>
      </p:sp>
      <p:pic>
        <p:nvPicPr>
          <p:cNvPr id="4" name="圖片 3"/>
          <p:cNvPicPr>
            <a:picLocks noChangeAspect="1"/>
          </p:cNvPicPr>
          <p:nvPr/>
        </p:nvPicPr>
        <p:blipFill>
          <a:blip r:embed="rId2"/>
          <a:stretch>
            <a:fillRect/>
          </a:stretch>
        </p:blipFill>
        <p:spPr>
          <a:xfrm>
            <a:off x="822959" y="1845734"/>
            <a:ext cx="3929518" cy="4285478"/>
          </a:xfrm>
          <a:prstGeom prst="rect">
            <a:avLst/>
          </a:prstGeom>
        </p:spPr>
      </p:pic>
      <p:pic>
        <p:nvPicPr>
          <p:cNvPr id="74" name="圖片 73"/>
          <p:cNvPicPr>
            <a:picLocks noChangeAspect="1"/>
          </p:cNvPicPr>
          <p:nvPr/>
        </p:nvPicPr>
        <p:blipFill>
          <a:blip r:embed="rId3"/>
          <a:stretch>
            <a:fillRect/>
          </a:stretch>
        </p:blipFill>
        <p:spPr>
          <a:xfrm>
            <a:off x="4655821" y="1834087"/>
            <a:ext cx="3710940" cy="4248388"/>
          </a:xfrm>
          <a:prstGeom prst="rect">
            <a:avLst/>
          </a:prstGeom>
        </p:spPr>
      </p:pic>
      <p:grpSp>
        <p:nvGrpSpPr>
          <p:cNvPr id="82" name="群組 81"/>
          <p:cNvGrpSpPr/>
          <p:nvPr/>
        </p:nvGrpSpPr>
        <p:grpSpPr>
          <a:xfrm>
            <a:off x="1845276" y="2891482"/>
            <a:ext cx="2749583" cy="2759675"/>
            <a:chOff x="1845276" y="2891482"/>
            <a:chExt cx="2749583" cy="2759675"/>
          </a:xfrm>
        </p:grpSpPr>
        <p:cxnSp>
          <p:nvCxnSpPr>
            <p:cNvPr id="9" name="直線接點 8"/>
            <p:cNvCxnSpPr/>
            <p:nvPr/>
          </p:nvCxnSpPr>
          <p:spPr>
            <a:xfrm flipH="1">
              <a:off x="3476368" y="3484605"/>
              <a:ext cx="1118491" cy="0"/>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15" name="直線接點 14"/>
            <p:cNvCxnSpPr/>
            <p:nvPr/>
          </p:nvCxnSpPr>
          <p:spPr>
            <a:xfrm flipH="1">
              <a:off x="3739978" y="3797643"/>
              <a:ext cx="854881" cy="0"/>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25" name="直線接點 24"/>
            <p:cNvCxnSpPr/>
            <p:nvPr/>
          </p:nvCxnSpPr>
          <p:spPr>
            <a:xfrm>
              <a:off x="2117124" y="3797643"/>
              <a:ext cx="1359244" cy="0"/>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35" name="直線接點 34"/>
            <p:cNvCxnSpPr/>
            <p:nvPr/>
          </p:nvCxnSpPr>
          <p:spPr>
            <a:xfrm>
              <a:off x="1845276" y="3484605"/>
              <a:ext cx="0" cy="2150076"/>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39" name="直線接點 38"/>
            <p:cNvCxnSpPr/>
            <p:nvPr/>
          </p:nvCxnSpPr>
          <p:spPr>
            <a:xfrm>
              <a:off x="2117124" y="3797643"/>
              <a:ext cx="0" cy="18535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1" name="直線接點 40"/>
            <p:cNvCxnSpPr/>
            <p:nvPr/>
          </p:nvCxnSpPr>
          <p:spPr>
            <a:xfrm>
              <a:off x="3476368" y="3484605"/>
              <a:ext cx="0" cy="372809"/>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3" name="直線接點 42"/>
            <p:cNvCxnSpPr/>
            <p:nvPr/>
          </p:nvCxnSpPr>
          <p:spPr>
            <a:xfrm>
              <a:off x="3739978" y="3797643"/>
              <a:ext cx="0" cy="321276"/>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5" name="直線接點 44"/>
            <p:cNvCxnSpPr/>
            <p:nvPr/>
          </p:nvCxnSpPr>
          <p:spPr>
            <a:xfrm flipH="1">
              <a:off x="2644346" y="4127157"/>
              <a:ext cx="1095632" cy="8238"/>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7" name="直線接點 46"/>
            <p:cNvCxnSpPr/>
            <p:nvPr/>
          </p:nvCxnSpPr>
          <p:spPr>
            <a:xfrm>
              <a:off x="2644346" y="4118919"/>
              <a:ext cx="0" cy="288323"/>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9" name="直線接點 48"/>
            <p:cNvCxnSpPr/>
            <p:nvPr/>
          </p:nvCxnSpPr>
          <p:spPr>
            <a:xfrm flipH="1">
              <a:off x="2397211" y="4415481"/>
              <a:ext cx="247135" cy="8238"/>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51" name="直線接點 50"/>
            <p:cNvCxnSpPr/>
            <p:nvPr/>
          </p:nvCxnSpPr>
          <p:spPr>
            <a:xfrm>
              <a:off x="2401331" y="4440195"/>
              <a:ext cx="0" cy="1210962"/>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53" name="直線接點 52"/>
            <p:cNvCxnSpPr/>
            <p:nvPr/>
          </p:nvCxnSpPr>
          <p:spPr>
            <a:xfrm flipH="1">
              <a:off x="2940908" y="4407242"/>
              <a:ext cx="1653951" cy="0"/>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59" name="直線接點 58"/>
            <p:cNvCxnSpPr/>
            <p:nvPr/>
          </p:nvCxnSpPr>
          <p:spPr>
            <a:xfrm>
              <a:off x="2932670" y="4423719"/>
              <a:ext cx="0" cy="906162"/>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1" name="直線接點 60"/>
            <p:cNvCxnSpPr/>
            <p:nvPr/>
          </p:nvCxnSpPr>
          <p:spPr>
            <a:xfrm flipH="1">
              <a:off x="2644346" y="5313405"/>
              <a:ext cx="296562" cy="0"/>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3" name="直線接點 62"/>
            <p:cNvCxnSpPr/>
            <p:nvPr/>
          </p:nvCxnSpPr>
          <p:spPr>
            <a:xfrm>
              <a:off x="2644346" y="5329881"/>
              <a:ext cx="0" cy="321276"/>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5" name="直線接點 64"/>
            <p:cNvCxnSpPr/>
            <p:nvPr/>
          </p:nvCxnSpPr>
          <p:spPr>
            <a:xfrm flipH="1">
              <a:off x="4035613" y="4724400"/>
              <a:ext cx="559246" cy="0"/>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7" name="直線接點 66"/>
            <p:cNvCxnSpPr/>
            <p:nvPr/>
          </p:nvCxnSpPr>
          <p:spPr>
            <a:xfrm>
              <a:off x="4035613" y="4724400"/>
              <a:ext cx="0" cy="321276"/>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9" name="直線接點 68"/>
            <p:cNvCxnSpPr/>
            <p:nvPr/>
          </p:nvCxnSpPr>
          <p:spPr>
            <a:xfrm flipH="1">
              <a:off x="3192162" y="5045676"/>
              <a:ext cx="843451" cy="0"/>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71" name="直線接點 70"/>
            <p:cNvCxnSpPr/>
            <p:nvPr/>
          </p:nvCxnSpPr>
          <p:spPr>
            <a:xfrm>
              <a:off x="3192162" y="5045676"/>
              <a:ext cx="0" cy="605481"/>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79" name="直線接點 78"/>
            <p:cNvCxnSpPr/>
            <p:nvPr/>
          </p:nvCxnSpPr>
          <p:spPr>
            <a:xfrm>
              <a:off x="1845276" y="3484605"/>
              <a:ext cx="799070" cy="0"/>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80" name="直線接點 79"/>
            <p:cNvCxnSpPr/>
            <p:nvPr/>
          </p:nvCxnSpPr>
          <p:spPr>
            <a:xfrm>
              <a:off x="2644346" y="2891482"/>
              <a:ext cx="0" cy="593123"/>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81" name="直線接點 80"/>
            <p:cNvCxnSpPr/>
            <p:nvPr/>
          </p:nvCxnSpPr>
          <p:spPr>
            <a:xfrm flipH="1">
              <a:off x="2644346" y="2891482"/>
              <a:ext cx="1950513" cy="0"/>
            </a:xfrm>
            <a:prstGeom prst="line">
              <a:avLst/>
            </a:prstGeom>
            <a:ln w="76200"/>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xmlns="" val="2422861983"/>
      </p:ext>
    </p:extLst>
  </p:cSld>
  <p:clrMapOvr>
    <a:masterClrMapping/>
  </p:clrMapOvr>
  <p:transition>
    <p:cut/>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CIPR : </a:t>
            </a:r>
            <a:r>
              <a:rPr lang="el-GR" altLang="zh-TW" dirty="0"/>
              <a:t>Δ</a:t>
            </a:r>
            <a:r>
              <a:rPr lang="en-US" altLang="zh-TW" dirty="0" smtClean="0"/>
              <a:t>L and </a:t>
            </a:r>
            <a:r>
              <a:rPr lang="el-GR" altLang="zh-TW" dirty="0"/>
              <a:t>Δ</a:t>
            </a:r>
            <a:r>
              <a:rPr lang="en-US" altLang="zh-TW" dirty="0" smtClean="0"/>
              <a:t>L’</a:t>
            </a:r>
            <a:endParaRPr lang="zh-TW" altLang="en-US" dirty="0"/>
          </a:p>
        </p:txBody>
      </p:sp>
      <p:sp>
        <p:nvSpPr>
          <p:cNvPr id="3" name="內容版面配置區 2"/>
          <p:cNvSpPr>
            <a:spLocks noGrp="1"/>
          </p:cNvSpPr>
          <p:nvPr>
            <p:ph idx="1"/>
          </p:nvPr>
        </p:nvSpPr>
        <p:spPr/>
        <p:txBody>
          <a:bodyPr/>
          <a:lstStyle/>
          <a:p>
            <a:endParaRPr lang="zh-TW" altLang="en-US"/>
          </a:p>
        </p:txBody>
      </p:sp>
      <p:pic>
        <p:nvPicPr>
          <p:cNvPr id="4" name="圖片 3"/>
          <p:cNvPicPr>
            <a:picLocks noChangeAspect="1"/>
          </p:cNvPicPr>
          <p:nvPr/>
        </p:nvPicPr>
        <p:blipFill>
          <a:blip r:embed="rId2"/>
          <a:stretch>
            <a:fillRect/>
          </a:stretch>
        </p:blipFill>
        <p:spPr>
          <a:xfrm>
            <a:off x="822959" y="1845734"/>
            <a:ext cx="3929518" cy="4285478"/>
          </a:xfrm>
          <a:prstGeom prst="rect">
            <a:avLst/>
          </a:prstGeom>
        </p:spPr>
      </p:pic>
      <p:pic>
        <p:nvPicPr>
          <p:cNvPr id="5" name="圖片 4"/>
          <p:cNvPicPr>
            <a:picLocks noChangeAspect="1"/>
          </p:cNvPicPr>
          <p:nvPr/>
        </p:nvPicPr>
        <p:blipFill>
          <a:blip r:embed="rId3"/>
          <a:stretch>
            <a:fillRect/>
          </a:stretch>
        </p:blipFill>
        <p:spPr>
          <a:xfrm>
            <a:off x="883919" y="1882824"/>
            <a:ext cx="3710940" cy="4248388"/>
          </a:xfrm>
          <a:prstGeom prst="rect">
            <a:avLst/>
          </a:prstGeom>
        </p:spPr>
      </p:pic>
      <p:cxnSp>
        <p:nvCxnSpPr>
          <p:cNvPr id="7" name="直線接點 6"/>
          <p:cNvCxnSpPr/>
          <p:nvPr/>
        </p:nvCxnSpPr>
        <p:spPr>
          <a:xfrm flipH="1">
            <a:off x="2644346" y="2891482"/>
            <a:ext cx="195051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直線接點 8"/>
          <p:cNvCxnSpPr/>
          <p:nvPr/>
        </p:nvCxnSpPr>
        <p:spPr>
          <a:xfrm flipH="1">
            <a:off x="3476368" y="3484605"/>
            <a:ext cx="111849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直線接點 14"/>
          <p:cNvCxnSpPr/>
          <p:nvPr/>
        </p:nvCxnSpPr>
        <p:spPr>
          <a:xfrm flipH="1">
            <a:off x="3739978" y="3797643"/>
            <a:ext cx="85488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直線接點 20"/>
          <p:cNvCxnSpPr/>
          <p:nvPr/>
        </p:nvCxnSpPr>
        <p:spPr>
          <a:xfrm>
            <a:off x="1845276" y="3484605"/>
            <a:ext cx="79907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直線接點 24"/>
          <p:cNvCxnSpPr/>
          <p:nvPr/>
        </p:nvCxnSpPr>
        <p:spPr>
          <a:xfrm>
            <a:off x="2117124" y="3797643"/>
            <a:ext cx="135924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直線接點 28"/>
          <p:cNvCxnSpPr/>
          <p:nvPr/>
        </p:nvCxnSpPr>
        <p:spPr>
          <a:xfrm>
            <a:off x="2644346" y="2891482"/>
            <a:ext cx="0" cy="593123"/>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直線接點 34"/>
          <p:cNvCxnSpPr/>
          <p:nvPr/>
        </p:nvCxnSpPr>
        <p:spPr>
          <a:xfrm>
            <a:off x="1845276" y="3484605"/>
            <a:ext cx="0" cy="2150076"/>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直線接點 38"/>
          <p:cNvCxnSpPr/>
          <p:nvPr/>
        </p:nvCxnSpPr>
        <p:spPr>
          <a:xfrm>
            <a:off x="2117124" y="3797643"/>
            <a:ext cx="0" cy="1853514"/>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直線接點 40"/>
          <p:cNvCxnSpPr/>
          <p:nvPr/>
        </p:nvCxnSpPr>
        <p:spPr>
          <a:xfrm>
            <a:off x="3476368" y="3484605"/>
            <a:ext cx="0" cy="372809"/>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直線接點 42"/>
          <p:cNvCxnSpPr/>
          <p:nvPr/>
        </p:nvCxnSpPr>
        <p:spPr>
          <a:xfrm>
            <a:off x="3739978" y="3797643"/>
            <a:ext cx="0" cy="321276"/>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直線接點 44"/>
          <p:cNvCxnSpPr/>
          <p:nvPr/>
        </p:nvCxnSpPr>
        <p:spPr>
          <a:xfrm flipH="1">
            <a:off x="2644346" y="4127157"/>
            <a:ext cx="1095632" cy="8238"/>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直線接點 46"/>
          <p:cNvCxnSpPr/>
          <p:nvPr/>
        </p:nvCxnSpPr>
        <p:spPr>
          <a:xfrm>
            <a:off x="2644346" y="4118919"/>
            <a:ext cx="0" cy="288323"/>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直線接點 48"/>
          <p:cNvCxnSpPr/>
          <p:nvPr/>
        </p:nvCxnSpPr>
        <p:spPr>
          <a:xfrm flipH="1">
            <a:off x="2397211" y="4415481"/>
            <a:ext cx="247135" cy="8238"/>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直線接點 50"/>
          <p:cNvCxnSpPr/>
          <p:nvPr/>
        </p:nvCxnSpPr>
        <p:spPr>
          <a:xfrm>
            <a:off x="2401331" y="4440195"/>
            <a:ext cx="0" cy="1210962"/>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直線接點 52"/>
          <p:cNvCxnSpPr/>
          <p:nvPr/>
        </p:nvCxnSpPr>
        <p:spPr>
          <a:xfrm flipH="1">
            <a:off x="2940908" y="4407242"/>
            <a:ext cx="165395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直線接點 58"/>
          <p:cNvCxnSpPr/>
          <p:nvPr/>
        </p:nvCxnSpPr>
        <p:spPr>
          <a:xfrm>
            <a:off x="2932670" y="4423719"/>
            <a:ext cx="0" cy="906162"/>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直線接點 60"/>
          <p:cNvCxnSpPr/>
          <p:nvPr/>
        </p:nvCxnSpPr>
        <p:spPr>
          <a:xfrm flipH="1">
            <a:off x="2644346" y="5313405"/>
            <a:ext cx="29656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直線接點 62"/>
          <p:cNvCxnSpPr/>
          <p:nvPr/>
        </p:nvCxnSpPr>
        <p:spPr>
          <a:xfrm>
            <a:off x="2644346" y="5329881"/>
            <a:ext cx="0" cy="321276"/>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直線接點 64"/>
          <p:cNvCxnSpPr/>
          <p:nvPr/>
        </p:nvCxnSpPr>
        <p:spPr>
          <a:xfrm flipH="1">
            <a:off x="4035613" y="4724400"/>
            <a:ext cx="55924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直線接點 66"/>
          <p:cNvCxnSpPr/>
          <p:nvPr/>
        </p:nvCxnSpPr>
        <p:spPr>
          <a:xfrm>
            <a:off x="4035613" y="4724400"/>
            <a:ext cx="0" cy="321276"/>
          </a:xfrm>
          <a:prstGeom prst="line">
            <a:avLst/>
          </a:prstGeom>
        </p:spPr>
        <p:style>
          <a:lnRef idx="1">
            <a:schemeClr val="accent1"/>
          </a:lnRef>
          <a:fillRef idx="0">
            <a:schemeClr val="accent1"/>
          </a:fillRef>
          <a:effectRef idx="0">
            <a:schemeClr val="accent1"/>
          </a:effectRef>
          <a:fontRef idx="minor">
            <a:schemeClr val="tx1"/>
          </a:fontRef>
        </p:style>
      </p:cxnSp>
      <p:cxnSp>
        <p:nvCxnSpPr>
          <p:cNvPr id="69" name="直線接點 68"/>
          <p:cNvCxnSpPr/>
          <p:nvPr/>
        </p:nvCxnSpPr>
        <p:spPr>
          <a:xfrm flipH="1">
            <a:off x="3192162" y="5045676"/>
            <a:ext cx="84345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1" name="直線接點 70"/>
          <p:cNvCxnSpPr/>
          <p:nvPr/>
        </p:nvCxnSpPr>
        <p:spPr>
          <a:xfrm>
            <a:off x="3192162" y="5045676"/>
            <a:ext cx="0" cy="605481"/>
          </a:xfrm>
          <a:prstGeom prst="line">
            <a:avLst/>
          </a:prstGeom>
        </p:spPr>
        <p:style>
          <a:lnRef idx="1">
            <a:schemeClr val="accent1"/>
          </a:lnRef>
          <a:fillRef idx="0">
            <a:schemeClr val="accent1"/>
          </a:fillRef>
          <a:effectRef idx="0">
            <a:schemeClr val="accent1"/>
          </a:effectRef>
          <a:fontRef idx="minor">
            <a:schemeClr val="tx1"/>
          </a:fontRef>
        </p:style>
      </p:cxnSp>
      <p:pic>
        <p:nvPicPr>
          <p:cNvPr id="28" name="圖片 27"/>
          <p:cNvPicPr>
            <a:picLocks noChangeAspect="1"/>
          </p:cNvPicPr>
          <p:nvPr/>
        </p:nvPicPr>
        <p:blipFill>
          <a:blip r:embed="rId3"/>
          <a:stretch>
            <a:fillRect/>
          </a:stretch>
        </p:blipFill>
        <p:spPr>
          <a:xfrm>
            <a:off x="4655821" y="1834087"/>
            <a:ext cx="3710940" cy="4248388"/>
          </a:xfrm>
          <a:prstGeom prst="rect">
            <a:avLst/>
          </a:prstGeom>
        </p:spPr>
      </p:pic>
      <p:grpSp>
        <p:nvGrpSpPr>
          <p:cNvPr id="31" name="群組 30"/>
          <p:cNvGrpSpPr/>
          <p:nvPr/>
        </p:nvGrpSpPr>
        <p:grpSpPr>
          <a:xfrm>
            <a:off x="1845276" y="2891482"/>
            <a:ext cx="2749583" cy="2759675"/>
            <a:chOff x="1845276" y="2891482"/>
            <a:chExt cx="2749583" cy="2759675"/>
          </a:xfrm>
        </p:grpSpPr>
        <p:cxnSp>
          <p:nvCxnSpPr>
            <p:cNvPr id="32" name="直線接點 31"/>
            <p:cNvCxnSpPr/>
            <p:nvPr/>
          </p:nvCxnSpPr>
          <p:spPr>
            <a:xfrm flipH="1">
              <a:off x="3476368" y="3484605"/>
              <a:ext cx="1118491" cy="0"/>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33" name="直線接點 32"/>
            <p:cNvCxnSpPr/>
            <p:nvPr/>
          </p:nvCxnSpPr>
          <p:spPr>
            <a:xfrm flipH="1">
              <a:off x="3739978" y="3797643"/>
              <a:ext cx="854881" cy="0"/>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34" name="直線接點 33"/>
            <p:cNvCxnSpPr/>
            <p:nvPr/>
          </p:nvCxnSpPr>
          <p:spPr>
            <a:xfrm>
              <a:off x="2117124" y="3797643"/>
              <a:ext cx="1359244" cy="0"/>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36" name="直線接點 35"/>
            <p:cNvCxnSpPr/>
            <p:nvPr/>
          </p:nvCxnSpPr>
          <p:spPr>
            <a:xfrm>
              <a:off x="1845276" y="3484605"/>
              <a:ext cx="0" cy="2150076"/>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37" name="直線接點 36"/>
            <p:cNvCxnSpPr/>
            <p:nvPr/>
          </p:nvCxnSpPr>
          <p:spPr>
            <a:xfrm>
              <a:off x="2117124" y="3797643"/>
              <a:ext cx="0" cy="18535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38" name="直線接點 37"/>
            <p:cNvCxnSpPr/>
            <p:nvPr/>
          </p:nvCxnSpPr>
          <p:spPr>
            <a:xfrm>
              <a:off x="3476368" y="3484605"/>
              <a:ext cx="0" cy="372809"/>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0" name="直線接點 39"/>
            <p:cNvCxnSpPr/>
            <p:nvPr/>
          </p:nvCxnSpPr>
          <p:spPr>
            <a:xfrm>
              <a:off x="3739978" y="3797643"/>
              <a:ext cx="0" cy="321276"/>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2" name="直線接點 41"/>
            <p:cNvCxnSpPr/>
            <p:nvPr/>
          </p:nvCxnSpPr>
          <p:spPr>
            <a:xfrm flipH="1">
              <a:off x="2644346" y="4127157"/>
              <a:ext cx="1095632" cy="8238"/>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4" name="直線接點 43"/>
            <p:cNvCxnSpPr/>
            <p:nvPr/>
          </p:nvCxnSpPr>
          <p:spPr>
            <a:xfrm>
              <a:off x="2644346" y="4118919"/>
              <a:ext cx="0" cy="288323"/>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6" name="直線接點 45"/>
            <p:cNvCxnSpPr/>
            <p:nvPr/>
          </p:nvCxnSpPr>
          <p:spPr>
            <a:xfrm flipH="1">
              <a:off x="2397211" y="4415481"/>
              <a:ext cx="247135" cy="8238"/>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8" name="直線接點 47"/>
            <p:cNvCxnSpPr/>
            <p:nvPr/>
          </p:nvCxnSpPr>
          <p:spPr>
            <a:xfrm>
              <a:off x="2401331" y="4440195"/>
              <a:ext cx="0" cy="1210962"/>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50" name="直線接點 49"/>
            <p:cNvCxnSpPr/>
            <p:nvPr/>
          </p:nvCxnSpPr>
          <p:spPr>
            <a:xfrm flipH="1">
              <a:off x="2940908" y="4407242"/>
              <a:ext cx="1653951" cy="0"/>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52" name="直線接點 51"/>
            <p:cNvCxnSpPr/>
            <p:nvPr/>
          </p:nvCxnSpPr>
          <p:spPr>
            <a:xfrm>
              <a:off x="2932670" y="4423719"/>
              <a:ext cx="0" cy="906162"/>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54" name="直線接點 53"/>
            <p:cNvCxnSpPr/>
            <p:nvPr/>
          </p:nvCxnSpPr>
          <p:spPr>
            <a:xfrm flipH="1">
              <a:off x="2644346" y="5313405"/>
              <a:ext cx="296562" cy="0"/>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55" name="直線接點 54"/>
            <p:cNvCxnSpPr/>
            <p:nvPr/>
          </p:nvCxnSpPr>
          <p:spPr>
            <a:xfrm>
              <a:off x="2644346" y="5329881"/>
              <a:ext cx="0" cy="321276"/>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56" name="直線接點 55"/>
            <p:cNvCxnSpPr/>
            <p:nvPr/>
          </p:nvCxnSpPr>
          <p:spPr>
            <a:xfrm flipH="1">
              <a:off x="4035613" y="4724400"/>
              <a:ext cx="559246" cy="0"/>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57" name="直線接點 56"/>
            <p:cNvCxnSpPr/>
            <p:nvPr/>
          </p:nvCxnSpPr>
          <p:spPr>
            <a:xfrm>
              <a:off x="4035613" y="4724400"/>
              <a:ext cx="0" cy="321276"/>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58" name="直線接點 57"/>
            <p:cNvCxnSpPr/>
            <p:nvPr/>
          </p:nvCxnSpPr>
          <p:spPr>
            <a:xfrm flipH="1">
              <a:off x="3192162" y="5045676"/>
              <a:ext cx="843451" cy="0"/>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0" name="直線接點 59"/>
            <p:cNvCxnSpPr/>
            <p:nvPr/>
          </p:nvCxnSpPr>
          <p:spPr>
            <a:xfrm>
              <a:off x="3192162" y="5045676"/>
              <a:ext cx="0" cy="605481"/>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2" name="直線接點 61"/>
            <p:cNvCxnSpPr/>
            <p:nvPr/>
          </p:nvCxnSpPr>
          <p:spPr>
            <a:xfrm>
              <a:off x="1845276" y="3484605"/>
              <a:ext cx="799070" cy="0"/>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4" name="直線接點 63"/>
            <p:cNvCxnSpPr/>
            <p:nvPr/>
          </p:nvCxnSpPr>
          <p:spPr>
            <a:xfrm>
              <a:off x="2644346" y="2891482"/>
              <a:ext cx="0" cy="593123"/>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6" name="直線接點 65"/>
            <p:cNvCxnSpPr/>
            <p:nvPr/>
          </p:nvCxnSpPr>
          <p:spPr>
            <a:xfrm flipH="1">
              <a:off x="2644346" y="2891482"/>
              <a:ext cx="1950513" cy="0"/>
            </a:xfrm>
            <a:prstGeom prst="line">
              <a:avLst/>
            </a:prstGeom>
            <a:ln w="76200"/>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xmlns="" val="3727730053"/>
      </p:ext>
    </p:extLst>
  </p:cSld>
  <p:clrMapOvr>
    <a:masterClrMapping/>
  </p:clrMapOvr>
  <p:transition>
    <p:cut/>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CIPR : </a:t>
            </a:r>
            <a:r>
              <a:rPr lang="el-GR" altLang="zh-TW" dirty="0"/>
              <a:t>Δ</a:t>
            </a:r>
            <a:r>
              <a:rPr lang="en-US" altLang="zh-TW" dirty="0" smtClean="0"/>
              <a:t>L and </a:t>
            </a:r>
            <a:r>
              <a:rPr lang="el-GR" altLang="zh-TW" dirty="0"/>
              <a:t>Δ</a:t>
            </a:r>
            <a:r>
              <a:rPr lang="en-US" altLang="zh-TW" dirty="0" smtClean="0"/>
              <a:t>L’</a:t>
            </a:r>
            <a:endParaRPr lang="zh-TW" altLang="en-US" dirty="0"/>
          </a:p>
        </p:txBody>
      </p:sp>
      <p:sp>
        <p:nvSpPr>
          <p:cNvPr id="3" name="內容版面配置區 2"/>
          <p:cNvSpPr>
            <a:spLocks noGrp="1"/>
          </p:cNvSpPr>
          <p:nvPr>
            <p:ph idx="1"/>
          </p:nvPr>
        </p:nvSpPr>
        <p:spPr/>
        <p:txBody>
          <a:bodyPr/>
          <a:lstStyle/>
          <a:p>
            <a:endParaRPr lang="zh-TW" altLang="en-US"/>
          </a:p>
        </p:txBody>
      </p:sp>
      <p:pic>
        <p:nvPicPr>
          <p:cNvPr id="4" name="圖片 3"/>
          <p:cNvPicPr>
            <a:picLocks noChangeAspect="1"/>
          </p:cNvPicPr>
          <p:nvPr/>
        </p:nvPicPr>
        <p:blipFill>
          <a:blip r:embed="rId2"/>
          <a:stretch>
            <a:fillRect/>
          </a:stretch>
        </p:blipFill>
        <p:spPr>
          <a:xfrm>
            <a:off x="822959" y="1845734"/>
            <a:ext cx="3929518" cy="4285478"/>
          </a:xfrm>
          <a:prstGeom prst="rect">
            <a:avLst/>
          </a:prstGeom>
        </p:spPr>
      </p:pic>
      <p:pic>
        <p:nvPicPr>
          <p:cNvPr id="5" name="圖片 4"/>
          <p:cNvPicPr>
            <a:picLocks noChangeAspect="1"/>
          </p:cNvPicPr>
          <p:nvPr/>
        </p:nvPicPr>
        <p:blipFill>
          <a:blip r:embed="rId3"/>
          <a:stretch>
            <a:fillRect/>
          </a:stretch>
        </p:blipFill>
        <p:spPr>
          <a:xfrm>
            <a:off x="883919" y="1882824"/>
            <a:ext cx="3710940" cy="4248388"/>
          </a:xfrm>
          <a:prstGeom prst="rect">
            <a:avLst/>
          </a:prstGeom>
        </p:spPr>
      </p:pic>
      <p:cxnSp>
        <p:nvCxnSpPr>
          <p:cNvPr id="7" name="直線接點 6"/>
          <p:cNvCxnSpPr/>
          <p:nvPr/>
        </p:nvCxnSpPr>
        <p:spPr>
          <a:xfrm flipH="1">
            <a:off x="2644346" y="2891482"/>
            <a:ext cx="195051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直線接點 8"/>
          <p:cNvCxnSpPr/>
          <p:nvPr/>
        </p:nvCxnSpPr>
        <p:spPr>
          <a:xfrm flipH="1">
            <a:off x="3476368" y="3484605"/>
            <a:ext cx="111849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直線接點 14"/>
          <p:cNvCxnSpPr/>
          <p:nvPr/>
        </p:nvCxnSpPr>
        <p:spPr>
          <a:xfrm flipH="1">
            <a:off x="3739978" y="3797643"/>
            <a:ext cx="85488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直線接點 20"/>
          <p:cNvCxnSpPr/>
          <p:nvPr/>
        </p:nvCxnSpPr>
        <p:spPr>
          <a:xfrm>
            <a:off x="1845276" y="3484605"/>
            <a:ext cx="79907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直線接點 24"/>
          <p:cNvCxnSpPr/>
          <p:nvPr/>
        </p:nvCxnSpPr>
        <p:spPr>
          <a:xfrm>
            <a:off x="2117124" y="3797643"/>
            <a:ext cx="135924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直線接點 28"/>
          <p:cNvCxnSpPr/>
          <p:nvPr/>
        </p:nvCxnSpPr>
        <p:spPr>
          <a:xfrm>
            <a:off x="2644346" y="2891482"/>
            <a:ext cx="0" cy="593123"/>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直線接點 34"/>
          <p:cNvCxnSpPr/>
          <p:nvPr/>
        </p:nvCxnSpPr>
        <p:spPr>
          <a:xfrm>
            <a:off x="1845276" y="3484605"/>
            <a:ext cx="0" cy="2150076"/>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直線接點 38"/>
          <p:cNvCxnSpPr/>
          <p:nvPr/>
        </p:nvCxnSpPr>
        <p:spPr>
          <a:xfrm>
            <a:off x="2117124" y="3797643"/>
            <a:ext cx="0" cy="1853514"/>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直線接點 40"/>
          <p:cNvCxnSpPr/>
          <p:nvPr/>
        </p:nvCxnSpPr>
        <p:spPr>
          <a:xfrm>
            <a:off x="3476368" y="3484605"/>
            <a:ext cx="0" cy="372809"/>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直線接點 42"/>
          <p:cNvCxnSpPr/>
          <p:nvPr/>
        </p:nvCxnSpPr>
        <p:spPr>
          <a:xfrm>
            <a:off x="3739978" y="3797643"/>
            <a:ext cx="0" cy="321276"/>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直線接點 44"/>
          <p:cNvCxnSpPr/>
          <p:nvPr/>
        </p:nvCxnSpPr>
        <p:spPr>
          <a:xfrm flipH="1">
            <a:off x="2644346" y="4127157"/>
            <a:ext cx="1095632" cy="8238"/>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直線接點 46"/>
          <p:cNvCxnSpPr/>
          <p:nvPr/>
        </p:nvCxnSpPr>
        <p:spPr>
          <a:xfrm>
            <a:off x="2644346" y="4118919"/>
            <a:ext cx="0" cy="288323"/>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直線接點 48"/>
          <p:cNvCxnSpPr/>
          <p:nvPr/>
        </p:nvCxnSpPr>
        <p:spPr>
          <a:xfrm flipH="1">
            <a:off x="2397211" y="4415481"/>
            <a:ext cx="247135" cy="8238"/>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直線接點 50"/>
          <p:cNvCxnSpPr/>
          <p:nvPr/>
        </p:nvCxnSpPr>
        <p:spPr>
          <a:xfrm>
            <a:off x="2401331" y="4440195"/>
            <a:ext cx="0" cy="1210962"/>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直線接點 52"/>
          <p:cNvCxnSpPr/>
          <p:nvPr/>
        </p:nvCxnSpPr>
        <p:spPr>
          <a:xfrm flipH="1">
            <a:off x="2940908" y="4407242"/>
            <a:ext cx="165395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直線接點 58"/>
          <p:cNvCxnSpPr/>
          <p:nvPr/>
        </p:nvCxnSpPr>
        <p:spPr>
          <a:xfrm>
            <a:off x="2932670" y="4423719"/>
            <a:ext cx="0" cy="906162"/>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直線接點 60"/>
          <p:cNvCxnSpPr/>
          <p:nvPr/>
        </p:nvCxnSpPr>
        <p:spPr>
          <a:xfrm flipH="1">
            <a:off x="2644346" y="5313405"/>
            <a:ext cx="29656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直線接點 62"/>
          <p:cNvCxnSpPr/>
          <p:nvPr/>
        </p:nvCxnSpPr>
        <p:spPr>
          <a:xfrm>
            <a:off x="2644346" y="5329881"/>
            <a:ext cx="0" cy="321276"/>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直線接點 64"/>
          <p:cNvCxnSpPr/>
          <p:nvPr/>
        </p:nvCxnSpPr>
        <p:spPr>
          <a:xfrm flipH="1">
            <a:off x="4035613" y="4724400"/>
            <a:ext cx="55924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直線接點 66"/>
          <p:cNvCxnSpPr/>
          <p:nvPr/>
        </p:nvCxnSpPr>
        <p:spPr>
          <a:xfrm>
            <a:off x="4035613" y="4724400"/>
            <a:ext cx="0" cy="321276"/>
          </a:xfrm>
          <a:prstGeom prst="line">
            <a:avLst/>
          </a:prstGeom>
        </p:spPr>
        <p:style>
          <a:lnRef idx="1">
            <a:schemeClr val="accent1"/>
          </a:lnRef>
          <a:fillRef idx="0">
            <a:schemeClr val="accent1"/>
          </a:fillRef>
          <a:effectRef idx="0">
            <a:schemeClr val="accent1"/>
          </a:effectRef>
          <a:fontRef idx="minor">
            <a:schemeClr val="tx1"/>
          </a:fontRef>
        </p:style>
      </p:cxnSp>
      <p:cxnSp>
        <p:nvCxnSpPr>
          <p:cNvPr id="69" name="直線接點 68"/>
          <p:cNvCxnSpPr/>
          <p:nvPr/>
        </p:nvCxnSpPr>
        <p:spPr>
          <a:xfrm flipH="1">
            <a:off x="3192162" y="5045676"/>
            <a:ext cx="84345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1" name="直線接點 70"/>
          <p:cNvCxnSpPr/>
          <p:nvPr/>
        </p:nvCxnSpPr>
        <p:spPr>
          <a:xfrm>
            <a:off x="3192162" y="5045676"/>
            <a:ext cx="0" cy="605481"/>
          </a:xfrm>
          <a:prstGeom prst="line">
            <a:avLst/>
          </a:prstGeom>
        </p:spPr>
        <p:style>
          <a:lnRef idx="1">
            <a:schemeClr val="accent1"/>
          </a:lnRef>
          <a:fillRef idx="0">
            <a:schemeClr val="accent1"/>
          </a:fillRef>
          <a:effectRef idx="0">
            <a:schemeClr val="accent1"/>
          </a:effectRef>
          <a:fontRef idx="minor">
            <a:schemeClr val="tx1"/>
          </a:fontRef>
        </p:style>
      </p:cxnSp>
      <p:pic>
        <p:nvPicPr>
          <p:cNvPr id="6" name="圖片 5"/>
          <p:cNvPicPr>
            <a:picLocks noChangeAspect="1"/>
          </p:cNvPicPr>
          <p:nvPr/>
        </p:nvPicPr>
        <p:blipFill>
          <a:blip r:embed="rId4"/>
          <a:stretch>
            <a:fillRect/>
          </a:stretch>
        </p:blipFill>
        <p:spPr>
          <a:xfrm>
            <a:off x="4752476" y="2118360"/>
            <a:ext cx="3675243" cy="3917745"/>
          </a:xfrm>
          <a:prstGeom prst="rect">
            <a:avLst/>
          </a:prstGeom>
        </p:spPr>
      </p:pic>
      <p:grpSp>
        <p:nvGrpSpPr>
          <p:cNvPr id="30" name="群組 29"/>
          <p:cNvGrpSpPr/>
          <p:nvPr/>
        </p:nvGrpSpPr>
        <p:grpSpPr>
          <a:xfrm>
            <a:off x="1845276" y="2891482"/>
            <a:ext cx="2749583" cy="2759675"/>
            <a:chOff x="1845276" y="2891482"/>
            <a:chExt cx="2749583" cy="2759675"/>
          </a:xfrm>
        </p:grpSpPr>
        <p:cxnSp>
          <p:nvCxnSpPr>
            <p:cNvPr id="31" name="直線接點 30"/>
            <p:cNvCxnSpPr/>
            <p:nvPr/>
          </p:nvCxnSpPr>
          <p:spPr>
            <a:xfrm flipH="1">
              <a:off x="3476368" y="3484605"/>
              <a:ext cx="1118491" cy="0"/>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32" name="直線接點 31"/>
            <p:cNvCxnSpPr/>
            <p:nvPr/>
          </p:nvCxnSpPr>
          <p:spPr>
            <a:xfrm flipH="1">
              <a:off x="3739978" y="3797643"/>
              <a:ext cx="854881" cy="0"/>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33" name="直線接點 32"/>
            <p:cNvCxnSpPr/>
            <p:nvPr/>
          </p:nvCxnSpPr>
          <p:spPr>
            <a:xfrm>
              <a:off x="2117124" y="3797643"/>
              <a:ext cx="1359244" cy="0"/>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34" name="直線接點 33"/>
            <p:cNvCxnSpPr/>
            <p:nvPr/>
          </p:nvCxnSpPr>
          <p:spPr>
            <a:xfrm>
              <a:off x="1845276" y="3484605"/>
              <a:ext cx="0" cy="2150076"/>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36" name="直線接點 35"/>
            <p:cNvCxnSpPr/>
            <p:nvPr/>
          </p:nvCxnSpPr>
          <p:spPr>
            <a:xfrm>
              <a:off x="2117124" y="3797643"/>
              <a:ext cx="0" cy="18535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37" name="直線接點 36"/>
            <p:cNvCxnSpPr/>
            <p:nvPr/>
          </p:nvCxnSpPr>
          <p:spPr>
            <a:xfrm>
              <a:off x="3476368" y="3484605"/>
              <a:ext cx="0" cy="372809"/>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38" name="直線接點 37"/>
            <p:cNvCxnSpPr/>
            <p:nvPr/>
          </p:nvCxnSpPr>
          <p:spPr>
            <a:xfrm>
              <a:off x="3739978" y="3797643"/>
              <a:ext cx="0" cy="321276"/>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0" name="直線接點 39"/>
            <p:cNvCxnSpPr/>
            <p:nvPr/>
          </p:nvCxnSpPr>
          <p:spPr>
            <a:xfrm flipH="1">
              <a:off x="2644346" y="4127157"/>
              <a:ext cx="1095632" cy="8238"/>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2" name="直線接點 41"/>
            <p:cNvCxnSpPr/>
            <p:nvPr/>
          </p:nvCxnSpPr>
          <p:spPr>
            <a:xfrm>
              <a:off x="2644346" y="4118919"/>
              <a:ext cx="0" cy="288323"/>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4" name="直線接點 43"/>
            <p:cNvCxnSpPr/>
            <p:nvPr/>
          </p:nvCxnSpPr>
          <p:spPr>
            <a:xfrm flipH="1">
              <a:off x="2397211" y="4415481"/>
              <a:ext cx="247135" cy="8238"/>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6" name="直線接點 45"/>
            <p:cNvCxnSpPr/>
            <p:nvPr/>
          </p:nvCxnSpPr>
          <p:spPr>
            <a:xfrm>
              <a:off x="2401331" y="4440195"/>
              <a:ext cx="0" cy="1210962"/>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8" name="直線接點 47"/>
            <p:cNvCxnSpPr/>
            <p:nvPr/>
          </p:nvCxnSpPr>
          <p:spPr>
            <a:xfrm flipH="1">
              <a:off x="2940908" y="4407242"/>
              <a:ext cx="1653951" cy="0"/>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50" name="直線接點 49"/>
            <p:cNvCxnSpPr/>
            <p:nvPr/>
          </p:nvCxnSpPr>
          <p:spPr>
            <a:xfrm>
              <a:off x="2932670" y="4423719"/>
              <a:ext cx="0" cy="906162"/>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52" name="直線接點 51"/>
            <p:cNvCxnSpPr/>
            <p:nvPr/>
          </p:nvCxnSpPr>
          <p:spPr>
            <a:xfrm flipH="1">
              <a:off x="2644346" y="5313405"/>
              <a:ext cx="296562" cy="0"/>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54" name="直線接點 53"/>
            <p:cNvCxnSpPr/>
            <p:nvPr/>
          </p:nvCxnSpPr>
          <p:spPr>
            <a:xfrm>
              <a:off x="2644346" y="5329881"/>
              <a:ext cx="0" cy="321276"/>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55" name="直線接點 54"/>
            <p:cNvCxnSpPr/>
            <p:nvPr/>
          </p:nvCxnSpPr>
          <p:spPr>
            <a:xfrm flipH="1">
              <a:off x="4035613" y="4724400"/>
              <a:ext cx="559246" cy="0"/>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56" name="直線接點 55"/>
            <p:cNvCxnSpPr/>
            <p:nvPr/>
          </p:nvCxnSpPr>
          <p:spPr>
            <a:xfrm>
              <a:off x="4035613" y="4724400"/>
              <a:ext cx="0" cy="321276"/>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57" name="直線接點 56"/>
            <p:cNvCxnSpPr/>
            <p:nvPr/>
          </p:nvCxnSpPr>
          <p:spPr>
            <a:xfrm flipH="1">
              <a:off x="3192162" y="5045676"/>
              <a:ext cx="843451" cy="0"/>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58" name="直線接點 57"/>
            <p:cNvCxnSpPr/>
            <p:nvPr/>
          </p:nvCxnSpPr>
          <p:spPr>
            <a:xfrm>
              <a:off x="3192162" y="5045676"/>
              <a:ext cx="0" cy="605481"/>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0" name="直線接點 59"/>
            <p:cNvCxnSpPr/>
            <p:nvPr/>
          </p:nvCxnSpPr>
          <p:spPr>
            <a:xfrm>
              <a:off x="1845276" y="3484605"/>
              <a:ext cx="799070" cy="0"/>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2" name="直線接點 61"/>
            <p:cNvCxnSpPr/>
            <p:nvPr/>
          </p:nvCxnSpPr>
          <p:spPr>
            <a:xfrm>
              <a:off x="2644346" y="2891482"/>
              <a:ext cx="0" cy="593123"/>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4" name="直線接點 63"/>
            <p:cNvCxnSpPr/>
            <p:nvPr/>
          </p:nvCxnSpPr>
          <p:spPr>
            <a:xfrm flipH="1">
              <a:off x="2644346" y="2891482"/>
              <a:ext cx="1950513" cy="0"/>
            </a:xfrm>
            <a:prstGeom prst="line">
              <a:avLst/>
            </a:prstGeom>
            <a:ln w="76200"/>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xmlns="" val="3108693358"/>
      </p:ext>
    </p:extLst>
  </p:cSld>
  <p:clrMapOvr>
    <a:masterClrMapping/>
  </p:clrMapOvr>
  <p:transition>
    <p:cut/>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ALPHBET-STRINGS</a:t>
            </a:r>
            <a:endParaRPr lang="zh-TW" altLang="en-US" dirty="0"/>
          </a:p>
        </p:txBody>
      </p:sp>
      <p:sp>
        <p:nvSpPr>
          <p:cNvPr id="3" name="內容版面配置區 2"/>
          <p:cNvSpPr>
            <a:spLocks noGrp="1"/>
          </p:cNvSpPr>
          <p:nvPr>
            <p:ph idx="1"/>
          </p:nvPr>
        </p:nvSpPr>
        <p:spPr>
          <a:xfrm>
            <a:off x="822959" y="4369086"/>
            <a:ext cx="7543801" cy="1500007"/>
          </a:xfrm>
        </p:spPr>
        <p:txBody>
          <a:bodyPr>
            <a:noAutofit/>
          </a:bodyPr>
          <a:lstStyle/>
          <a:p>
            <a:r>
              <a:rPr lang="en-US" altLang="zh-TW" sz="2800" dirty="0" smtClean="0"/>
              <a:t>O(|alphabet| x ceil(|a|/w) + |a|)</a:t>
            </a:r>
          </a:p>
          <a:p>
            <a:r>
              <a:rPr lang="en-US" altLang="zh-TW" sz="2800" dirty="0" smtClean="0"/>
              <a:t>Fixed : O(|a|)</a:t>
            </a:r>
          </a:p>
          <a:p>
            <a:r>
              <a:rPr lang="en-US" altLang="zh-TW" sz="2800" dirty="0" err="1" smtClean="0"/>
              <a:t>Nonfixed</a:t>
            </a:r>
            <a:r>
              <a:rPr lang="en-US" altLang="zh-TW" sz="2800" dirty="0" smtClean="0"/>
              <a:t>: O(|a| X |b|)</a:t>
            </a:r>
            <a:endParaRPr lang="zh-TW" altLang="en-US" sz="2800" dirty="0"/>
          </a:p>
        </p:txBody>
      </p:sp>
      <p:pic>
        <p:nvPicPr>
          <p:cNvPr id="4" name="圖片 3"/>
          <p:cNvPicPr>
            <a:picLocks noChangeAspect="1"/>
          </p:cNvPicPr>
          <p:nvPr/>
        </p:nvPicPr>
        <p:blipFill>
          <a:blip r:embed="rId2"/>
          <a:stretch>
            <a:fillRect/>
          </a:stretch>
        </p:blipFill>
        <p:spPr>
          <a:xfrm>
            <a:off x="492608" y="1845734"/>
            <a:ext cx="8204501" cy="2523353"/>
          </a:xfrm>
          <a:prstGeom prst="rect">
            <a:avLst/>
          </a:prstGeom>
        </p:spPr>
      </p:pic>
    </p:spTree>
    <p:extLst>
      <p:ext uri="{BB962C8B-B14F-4D97-AF65-F5344CB8AC3E}">
        <p14:creationId xmlns:p14="http://schemas.microsoft.com/office/powerpoint/2010/main" xmlns="" val="1862129200"/>
      </p:ext>
    </p:extLst>
  </p:cSld>
  <p:clrMapOvr>
    <a:masterClrMapping/>
  </p:clrMapOvr>
  <p:transition>
    <p:cut/>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CIPR</a:t>
            </a:r>
            <a:r>
              <a:rPr lang="zh-TW" altLang="en-US" dirty="0" smtClean="0"/>
              <a:t> </a:t>
            </a:r>
            <a:r>
              <a:rPr lang="en-US" altLang="zh-TW" dirty="0" smtClean="0"/>
              <a:t>:</a:t>
            </a:r>
            <a:r>
              <a:rPr lang="zh-TW" altLang="en-US" dirty="0" smtClean="0"/>
              <a:t> </a:t>
            </a:r>
            <a:r>
              <a:rPr lang="en-US" altLang="zh-TW" dirty="0" smtClean="0"/>
              <a:t>M</a:t>
            </a:r>
            <a:r>
              <a:rPr lang="zh-TW" altLang="en-US" dirty="0" smtClean="0"/>
              <a:t> </a:t>
            </a:r>
            <a:r>
              <a:rPr lang="en-US" altLang="zh-TW" dirty="0" smtClean="0"/>
              <a:t>and M’</a:t>
            </a:r>
            <a:endParaRPr lang="zh-TW" altLang="en-US" dirty="0"/>
          </a:p>
        </p:txBody>
      </p:sp>
      <p:sp>
        <p:nvSpPr>
          <p:cNvPr id="3" name="內容版面配置區 2"/>
          <p:cNvSpPr>
            <a:spLocks noGrp="1"/>
          </p:cNvSpPr>
          <p:nvPr>
            <p:ph idx="1"/>
          </p:nvPr>
        </p:nvSpPr>
        <p:spPr/>
        <p:txBody>
          <a:bodyPr/>
          <a:lstStyle/>
          <a:p>
            <a:endParaRPr lang="zh-TW" altLang="en-US"/>
          </a:p>
        </p:txBody>
      </p:sp>
      <p:pic>
        <p:nvPicPr>
          <p:cNvPr id="4" name="圖片 3"/>
          <p:cNvPicPr>
            <a:picLocks noChangeAspect="1"/>
          </p:cNvPicPr>
          <p:nvPr/>
        </p:nvPicPr>
        <p:blipFill>
          <a:blip r:embed="rId2"/>
          <a:stretch>
            <a:fillRect/>
          </a:stretch>
        </p:blipFill>
        <p:spPr>
          <a:xfrm>
            <a:off x="428624" y="1955868"/>
            <a:ext cx="8332470" cy="3803092"/>
          </a:xfrm>
          <a:prstGeom prst="rect">
            <a:avLst/>
          </a:prstGeom>
        </p:spPr>
      </p:pic>
    </p:spTree>
    <p:extLst>
      <p:ext uri="{BB962C8B-B14F-4D97-AF65-F5344CB8AC3E}">
        <p14:creationId xmlns:p14="http://schemas.microsoft.com/office/powerpoint/2010/main" xmlns="" val="2201003976"/>
      </p:ext>
    </p:extLst>
  </p:cSld>
  <p:clrMapOvr>
    <a:masterClrMapping/>
  </p:clrMapOvr>
  <p:transition>
    <p:cut/>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IN SUMMARY</a:t>
            </a:r>
            <a:endParaRPr lang="zh-TW" altLang="en-US" dirty="0"/>
          </a:p>
        </p:txBody>
      </p:sp>
      <p:pic>
        <p:nvPicPr>
          <p:cNvPr id="5" name="內容版面配置區 4"/>
          <p:cNvPicPr>
            <a:picLocks noGrp="1" noChangeAspect="1"/>
          </p:cNvPicPr>
          <p:nvPr>
            <p:ph idx="1"/>
          </p:nvPr>
        </p:nvPicPr>
        <p:blipFill>
          <a:blip r:embed="rId2"/>
          <a:stretch>
            <a:fillRect/>
          </a:stretch>
        </p:blipFill>
        <p:spPr>
          <a:xfrm>
            <a:off x="218774" y="2491740"/>
            <a:ext cx="7690667" cy="1441134"/>
          </a:xfrm>
          <a:prstGeom prst="rect">
            <a:avLst/>
          </a:prstGeom>
        </p:spPr>
      </p:pic>
      <p:pic>
        <p:nvPicPr>
          <p:cNvPr id="4" name="圖片 3"/>
          <p:cNvPicPr>
            <a:picLocks noChangeAspect="1"/>
          </p:cNvPicPr>
          <p:nvPr/>
        </p:nvPicPr>
        <p:blipFill>
          <a:blip r:embed="rId3"/>
          <a:stretch>
            <a:fillRect/>
          </a:stretch>
        </p:blipFill>
        <p:spPr>
          <a:xfrm>
            <a:off x="218774" y="1919287"/>
            <a:ext cx="8752170" cy="572453"/>
          </a:xfrm>
          <a:prstGeom prst="rect">
            <a:avLst/>
          </a:prstGeom>
        </p:spPr>
      </p:pic>
      <p:pic>
        <p:nvPicPr>
          <p:cNvPr id="3" name="圖片 2"/>
          <p:cNvPicPr>
            <a:picLocks noChangeAspect="1"/>
          </p:cNvPicPr>
          <p:nvPr/>
        </p:nvPicPr>
        <p:blipFill>
          <a:blip r:embed="rId4"/>
          <a:stretch>
            <a:fillRect/>
          </a:stretch>
        </p:blipFill>
        <p:spPr>
          <a:xfrm>
            <a:off x="218774" y="4149165"/>
            <a:ext cx="8392478" cy="889559"/>
          </a:xfrm>
          <a:prstGeom prst="rect">
            <a:avLst/>
          </a:prstGeom>
        </p:spPr>
      </p:pic>
    </p:spTree>
    <p:extLst>
      <p:ext uri="{BB962C8B-B14F-4D97-AF65-F5344CB8AC3E}">
        <p14:creationId xmlns:p14="http://schemas.microsoft.com/office/powerpoint/2010/main" xmlns="" val="3451485283"/>
      </p:ext>
    </p:extLst>
  </p:cSld>
  <p:clrMapOvr>
    <a:masterClrMapping/>
  </p:clrMapOvr>
  <p:transition>
    <p:cut/>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IN SUMMARY</a:t>
            </a:r>
            <a:endParaRPr lang="zh-TW" altLang="en-US" dirty="0"/>
          </a:p>
        </p:txBody>
      </p:sp>
      <p:pic>
        <p:nvPicPr>
          <p:cNvPr id="5" name="內容版面配置區 4"/>
          <p:cNvPicPr>
            <a:picLocks noGrp="1" noChangeAspect="1"/>
          </p:cNvPicPr>
          <p:nvPr>
            <p:ph idx="1"/>
          </p:nvPr>
        </p:nvPicPr>
        <p:blipFill>
          <a:blip r:embed="rId2"/>
          <a:stretch>
            <a:fillRect/>
          </a:stretch>
        </p:blipFill>
        <p:spPr>
          <a:xfrm>
            <a:off x="218774" y="2491740"/>
            <a:ext cx="7690667" cy="1441134"/>
          </a:xfrm>
          <a:prstGeom prst="rect">
            <a:avLst/>
          </a:prstGeom>
        </p:spPr>
      </p:pic>
      <p:pic>
        <p:nvPicPr>
          <p:cNvPr id="4" name="圖片 3"/>
          <p:cNvPicPr>
            <a:picLocks noChangeAspect="1"/>
          </p:cNvPicPr>
          <p:nvPr/>
        </p:nvPicPr>
        <p:blipFill>
          <a:blip r:embed="rId3"/>
          <a:stretch>
            <a:fillRect/>
          </a:stretch>
        </p:blipFill>
        <p:spPr>
          <a:xfrm>
            <a:off x="218774" y="1919287"/>
            <a:ext cx="8752170" cy="572453"/>
          </a:xfrm>
          <a:prstGeom prst="rect">
            <a:avLst/>
          </a:prstGeom>
        </p:spPr>
      </p:pic>
      <p:pic>
        <p:nvPicPr>
          <p:cNvPr id="3" name="圖片 2"/>
          <p:cNvPicPr>
            <a:picLocks noChangeAspect="1"/>
          </p:cNvPicPr>
          <p:nvPr/>
        </p:nvPicPr>
        <p:blipFill>
          <a:blip r:embed="rId4"/>
          <a:stretch>
            <a:fillRect/>
          </a:stretch>
        </p:blipFill>
        <p:spPr>
          <a:xfrm>
            <a:off x="218774" y="4149165"/>
            <a:ext cx="8392478" cy="889559"/>
          </a:xfrm>
          <a:prstGeom prst="rect">
            <a:avLst/>
          </a:prstGeom>
        </p:spPr>
      </p:pic>
      <p:pic>
        <p:nvPicPr>
          <p:cNvPr id="6" name="圖片 5"/>
          <p:cNvPicPr>
            <a:picLocks noChangeAspect="1"/>
          </p:cNvPicPr>
          <p:nvPr/>
        </p:nvPicPr>
        <p:blipFill>
          <a:blip r:embed="rId5"/>
          <a:stretch>
            <a:fillRect/>
          </a:stretch>
        </p:blipFill>
        <p:spPr>
          <a:xfrm>
            <a:off x="2927328" y="2190292"/>
            <a:ext cx="3675243" cy="3917745"/>
          </a:xfrm>
          <a:prstGeom prst="rect">
            <a:avLst/>
          </a:prstGeom>
        </p:spPr>
      </p:pic>
      <p:cxnSp>
        <p:nvCxnSpPr>
          <p:cNvPr id="8" name="直線單箭頭接點 7"/>
          <p:cNvCxnSpPr/>
          <p:nvPr/>
        </p:nvCxnSpPr>
        <p:spPr>
          <a:xfrm flipV="1">
            <a:off x="2103120" y="4149165"/>
            <a:ext cx="1386840" cy="34663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3550920" y="2868661"/>
            <a:ext cx="335280" cy="2884439"/>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xmlns="" val="605657398"/>
      </p:ext>
    </p:extLst>
  </p:cSld>
  <p:clrMapOvr>
    <a:masterClrMapping/>
  </p:clrMapOvr>
  <p:transition>
    <p:cut/>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IN SUMMARY</a:t>
            </a:r>
            <a:endParaRPr lang="zh-TW" altLang="en-US" dirty="0"/>
          </a:p>
        </p:txBody>
      </p:sp>
      <p:pic>
        <p:nvPicPr>
          <p:cNvPr id="3" name="圖片 2"/>
          <p:cNvPicPr>
            <a:picLocks noChangeAspect="1"/>
          </p:cNvPicPr>
          <p:nvPr/>
        </p:nvPicPr>
        <p:blipFill>
          <a:blip r:embed="rId2"/>
          <a:stretch>
            <a:fillRect/>
          </a:stretch>
        </p:blipFill>
        <p:spPr>
          <a:xfrm>
            <a:off x="218774" y="1741245"/>
            <a:ext cx="8392478" cy="889559"/>
          </a:xfrm>
          <a:prstGeom prst="rect">
            <a:avLst/>
          </a:prstGeom>
        </p:spPr>
      </p:pic>
      <p:pic>
        <p:nvPicPr>
          <p:cNvPr id="10" name="圖片 9"/>
          <p:cNvPicPr>
            <a:picLocks noChangeAspect="1"/>
          </p:cNvPicPr>
          <p:nvPr/>
        </p:nvPicPr>
        <p:blipFill>
          <a:blip r:embed="rId3"/>
          <a:stretch>
            <a:fillRect/>
          </a:stretch>
        </p:blipFill>
        <p:spPr>
          <a:xfrm>
            <a:off x="987724" y="2690948"/>
            <a:ext cx="7214271" cy="3100251"/>
          </a:xfrm>
          <a:prstGeom prst="rect">
            <a:avLst/>
          </a:prstGeom>
        </p:spPr>
      </p:pic>
      <p:sp>
        <p:nvSpPr>
          <p:cNvPr id="11" name="矩形 10"/>
          <p:cNvSpPr/>
          <p:nvPr/>
        </p:nvSpPr>
        <p:spPr>
          <a:xfrm>
            <a:off x="1554480" y="3996690"/>
            <a:ext cx="472440" cy="1196340"/>
          </a:xfrm>
          <a:prstGeom prst="rect">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矩形 11"/>
          <p:cNvSpPr/>
          <p:nvPr/>
        </p:nvSpPr>
        <p:spPr>
          <a:xfrm>
            <a:off x="3657600" y="3996690"/>
            <a:ext cx="472440" cy="1196340"/>
          </a:xfrm>
          <a:prstGeom prst="rect">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矩形 12"/>
          <p:cNvSpPr/>
          <p:nvPr/>
        </p:nvSpPr>
        <p:spPr>
          <a:xfrm>
            <a:off x="5768340" y="3996690"/>
            <a:ext cx="472440" cy="1196340"/>
          </a:xfrm>
          <a:prstGeom prst="rect">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矩形 13"/>
          <p:cNvSpPr/>
          <p:nvPr/>
        </p:nvSpPr>
        <p:spPr>
          <a:xfrm>
            <a:off x="2339340" y="2186024"/>
            <a:ext cx="2065020" cy="381916"/>
          </a:xfrm>
          <a:prstGeom prst="rect">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矩形 14"/>
          <p:cNvSpPr/>
          <p:nvPr/>
        </p:nvSpPr>
        <p:spPr>
          <a:xfrm>
            <a:off x="2110740" y="3996690"/>
            <a:ext cx="434340" cy="119634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矩形 15"/>
          <p:cNvSpPr/>
          <p:nvPr/>
        </p:nvSpPr>
        <p:spPr>
          <a:xfrm>
            <a:off x="2663190" y="3996690"/>
            <a:ext cx="434340" cy="119634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矩形 17"/>
          <p:cNvSpPr/>
          <p:nvPr/>
        </p:nvSpPr>
        <p:spPr>
          <a:xfrm>
            <a:off x="5010150" y="2202181"/>
            <a:ext cx="1893570" cy="365759"/>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矩形 18"/>
          <p:cNvSpPr/>
          <p:nvPr/>
        </p:nvSpPr>
        <p:spPr>
          <a:xfrm>
            <a:off x="5212080" y="3996690"/>
            <a:ext cx="472440" cy="1196340"/>
          </a:xfrm>
          <a:prstGeom prst="rect">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xmlns="" val="526788549"/>
      </p:ext>
    </p:extLst>
  </p:cSld>
  <p:clrMapOvr>
    <a:masterClrMapping/>
  </p:clrMapOvr>
  <p:transition>
    <p:cut/>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CONCULSION</a:t>
            </a:r>
            <a:endParaRPr lang="zh-TW" altLang="en-US" dirty="0"/>
          </a:p>
        </p:txBody>
      </p:sp>
      <p:pic>
        <p:nvPicPr>
          <p:cNvPr id="4" name="內容版面配置區 3"/>
          <p:cNvPicPr>
            <a:picLocks noGrp="1" noChangeAspect="1"/>
          </p:cNvPicPr>
          <p:nvPr>
            <p:ph idx="1"/>
          </p:nvPr>
        </p:nvPicPr>
        <p:blipFill>
          <a:blip r:embed="rId2"/>
          <a:stretch>
            <a:fillRect/>
          </a:stretch>
        </p:blipFill>
        <p:spPr>
          <a:xfrm>
            <a:off x="1412228" y="1846263"/>
            <a:ext cx="6363993" cy="4022725"/>
          </a:xfrm>
          <a:prstGeom prst="rect">
            <a:avLst/>
          </a:prstGeom>
        </p:spPr>
      </p:pic>
    </p:spTree>
    <p:extLst>
      <p:ext uri="{BB962C8B-B14F-4D97-AF65-F5344CB8AC3E}">
        <p14:creationId xmlns:p14="http://schemas.microsoft.com/office/powerpoint/2010/main" xmlns="" val="1909180038"/>
      </p:ext>
    </p:extLst>
  </p:cSld>
  <p:clrMapOvr>
    <a:masterClrMapping/>
  </p:clrMapOvr>
  <p:transition>
    <p:cut/>
  </p:transition>
  <p:timing>
    <p:tnLst>
      <p:par>
        <p:cTn id="1" dur="indefinite" restart="never" nodeType="tmRoot"/>
      </p:par>
    </p:tnLst>
  </p:timing>
</p:sld>
</file>

<file path=ppt/theme/theme1.xml><?xml version="1.0" encoding="utf-8"?>
<a:theme xmlns:a="http://schemas.openxmlformats.org/drawingml/2006/main" name="回顧">
  <a:themeElements>
    <a:clrScheme name="回顧">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回顧">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回顧">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xmlns=""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1717</TotalTime>
  <Words>415</Words>
  <Application>Microsoft Office PowerPoint</Application>
  <PresentationFormat>如螢幕大小 (4:3)</PresentationFormat>
  <Paragraphs>38</Paragraphs>
  <Slides>16</Slides>
  <Notes>0</Notes>
  <HiddenSlides>0</HiddenSlides>
  <MMClips>0</MMClips>
  <ScaleCrop>false</ScaleCrop>
  <HeadingPairs>
    <vt:vector size="4" baseType="variant">
      <vt:variant>
        <vt:lpstr>佈景主題</vt:lpstr>
      </vt:variant>
      <vt:variant>
        <vt:i4>1</vt:i4>
      </vt:variant>
      <vt:variant>
        <vt:lpstr>投影片標題</vt:lpstr>
      </vt:variant>
      <vt:variant>
        <vt:i4>16</vt:i4>
      </vt:variant>
    </vt:vector>
  </HeadingPairs>
  <TitlesOfParts>
    <vt:vector size="17" baseType="lpstr">
      <vt:lpstr>回顧</vt:lpstr>
      <vt:lpstr>A Fast and Practical Bit-Vector Algorithm for  the Longest Common Subsequence Problem</vt:lpstr>
      <vt:lpstr>ABSTRACT</vt:lpstr>
      <vt:lpstr>BACKGROUND</vt:lpstr>
      <vt:lpstr>LCS</vt:lpstr>
      <vt:lpstr>BIT-STRING ALGORITHM</vt:lpstr>
      <vt:lpstr>BIT-STRING ALGORITHM</vt:lpstr>
      <vt:lpstr>BIT-STRING ALGORITHM</vt:lpstr>
      <vt:lpstr>CIPR : ΔL and ΔL’</vt:lpstr>
      <vt:lpstr>CIPR : ΔL and ΔL’</vt:lpstr>
      <vt:lpstr>CIPR : ΔL and ΔL’</vt:lpstr>
      <vt:lpstr>ALPHBET-STRINGS</vt:lpstr>
      <vt:lpstr>CIPR : M and M’</vt:lpstr>
      <vt:lpstr>IN SUMMARY</vt:lpstr>
      <vt:lpstr>IN SUMMARY</vt:lpstr>
      <vt:lpstr>IN SUMMARY</vt:lpstr>
      <vt:lpstr>CONCULSION</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BIT-STRING LONGEST-COMMON-SUBSEQUENCE ALGORITHM</dc:title>
  <dc:creator>Pichu</dc:creator>
  <cp:lastModifiedBy>admin</cp:lastModifiedBy>
  <cp:revision>20</cp:revision>
  <dcterms:created xsi:type="dcterms:W3CDTF">2013-12-04T10:04:59Z</dcterms:created>
  <dcterms:modified xsi:type="dcterms:W3CDTF">2014-01-27T08:47:13Z</dcterms:modified>
</cp:coreProperties>
</file>