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09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90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92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49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281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95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91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11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669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65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91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5F78E-88D9-44C7-A227-6F2F8F47FAD5}" type="datetimeFigureOut">
              <a:rPr lang="zh-TW" altLang="en-US" smtClean="0"/>
              <a:t>2014/1/27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EC8BE-F071-4504-86D3-C1C6E276C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6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Longest Increasing and Decreasing Subsequences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Canadian Journal of Mathematics 13(1961), 179-191</a:t>
            </a:r>
            <a:endParaRPr lang="zh-TW" altLang="en-US" dirty="0" smtClean="0"/>
          </a:p>
          <a:p>
            <a:r>
              <a:rPr lang="en-US" altLang="zh-TW" dirty="0"/>
              <a:t>C. </a:t>
            </a:r>
            <a:r>
              <a:rPr lang="en-US" altLang="zh-TW" dirty="0" err="1" smtClean="0"/>
              <a:t>Schensted</a:t>
            </a:r>
            <a:endParaRPr lang="en-US" altLang="zh-TW" dirty="0" smtClean="0"/>
          </a:p>
          <a:p>
            <a:r>
              <a:rPr lang="en-US" altLang="zh-TW" dirty="0" smtClean="0"/>
              <a:t>Date:2013/1/27</a:t>
            </a:r>
          </a:p>
          <a:p>
            <a:r>
              <a:rPr lang="zh-TW" altLang="en-US" dirty="0" smtClean="0"/>
              <a:t>許竣</a:t>
            </a:r>
            <a:r>
              <a:rPr lang="zh-TW" altLang="en-US" dirty="0"/>
              <a:t>傑</a:t>
            </a:r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51146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This paper deals with finite sequences of integers. Typical of the </a:t>
            </a:r>
            <a:r>
              <a:rPr lang="en-US" altLang="zh-TW" dirty="0" smtClean="0"/>
              <a:t>problems we </a:t>
            </a:r>
            <a:r>
              <a:rPr lang="en-US" altLang="zh-TW" dirty="0"/>
              <a:t>shall treat is the determination of the number of sequences of length </a:t>
            </a:r>
            <a:r>
              <a:rPr lang="en-US" altLang="zh-TW" i="1" dirty="0" smtClean="0"/>
              <a:t>n, </a:t>
            </a:r>
            <a:r>
              <a:rPr lang="en-US" altLang="zh-TW" dirty="0" smtClean="0"/>
              <a:t>consisting </a:t>
            </a:r>
            <a:r>
              <a:rPr lang="en-US" altLang="zh-TW" dirty="0"/>
              <a:t>of the integers 1, 2, . . . , </a:t>
            </a:r>
            <a:r>
              <a:rPr lang="en-US" altLang="zh-TW" i="1" dirty="0"/>
              <a:t>m, </a:t>
            </a:r>
            <a:r>
              <a:rPr lang="en-US" altLang="zh-TW" dirty="0"/>
              <a:t>which have a longest increasing </a:t>
            </a:r>
            <a:r>
              <a:rPr lang="en-US" altLang="zh-TW" dirty="0" smtClean="0"/>
              <a:t>subsequence of </a:t>
            </a:r>
            <a:r>
              <a:rPr lang="en-US" altLang="zh-TW" dirty="0"/>
              <a:t>length </a:t>
            </a:r>
            <a:r>
              <a:rPr lang="en-US" altLang="zh-TW" i="1" dirty="0"/>
              <a:t>a. </a:t>
            </a:r>
            <a:r>
              <a:rPr lang="en-US" altLang="zh-TW" dirty="0"/>
              <a:t>Throughout the first part of the paper we will </a:t>
            </a:r>
            <a:r>
              <a:rPr lang="en-US" altLang="zh-TW" dirty="0" smtClean="0"/>
              <a:t>deal only </a:t>
            </a:r>
            <a:r>
              <a:rPr lang="en-US" altLang="zh-TW" dirty="0"/>
              <a:t>with sequences in which no numbers are repeated. In the second </a:t>
            </a:r>
            <a:r>
              <a:rPr lang="en-US" altLang="zh-TW" dirty="0" smtClean="0"/>
              <a:t>part we </a:t>
            </a:r>
            <a:r>
              <a:rPr lang="en-US" altLang="zh-TW" dirty="0"/>
              <a:t>will extend the results to include the possibility of repetition. Our </a:t>
            </a:r>
            <a:r>
              <a:rPr lang="en-US" altLang="zh-TW" dirty="0" smtClean="0"/>
              <a:t>results will </a:t>
            </a:r>
            <a:r>
              <a:rPr lang="en-US" altLang="zh-TW" dirty="0"/>
              <a:t>be stated in terms of standard Young tableaux.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84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Standard </a:t>
            </a:r>
            <a:r>
              <a:rPr lang="en-US" altLang="zh-TW" dirty="0"/>
              <a:t>Young </a:t>
            </a:r>
            <a:r>
              <a:rPr lang="en-US" altLang="zh-TW" dirty="0" smtClean="0"/>
              <a:t>Tableaux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2 4 7</a:t>
            </a:r>
          </a:p>
          <a:p>
            <a:r>
              <a:rPr lang="en-US" altLang="zh-TW" dirty="0" smtClean="0"/>
              <a:t>3 8</a:t>
            </a:r>
          </a:p>
          <a:p>
            <a:r>
              <a:rPr lang="en-US" altLang="zh-TW" dirty="0" smtClean="0"/>
              <a:t>5 9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15" y="1825625"/>
            <a:ext cx="952500" cy="1228725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V="1">
            <a:off x="2233534" y="2548328"/>
            <a:ext cx="674558" cy="14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490408" y="3334275"/>
            <a:ext cx="74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shape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712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Young Tableaux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Sequence: </a:t>
                </a:r>
                <a:r>
                  <a:rPr lang="en-US" altLang="zh-TW" dirty="0"/>
                  <a:t>3</a:t>
                </a:r>
                <a:r>
                  <a:rPr lang="en-US" altLang="zh-TW" dirty="0" smtClean="0"/>
                  <a:t> 5 4 9 8 2 7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←6                                                       6→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355048"/>
              </p:ext>
            </p:extLst>
          </p:nvPr>
        </p:nvGraphicFramePr>
        <p:xfrm>
          <a:off x="1034321" y="2808523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763416"/>
              </p:ext>
            </p:extLst>
          </p:nvPr>
        </p:nvGraphicFramePr>
        <p:xfrm>
          <a:off x="2520847" y="2796031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925837"/>
              </p:ext>
            </p:extLst>
          </p:nvPr>
        </p:nvGraphicFramePr>
        <p:xfrm>
          <a:off x="4007372" y="2813519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32443"/>
              </p:ext>
            </p:extLst>
          </p:nvPr>
        </p:nvGraphicFramePr>
        <p:xfrm>
          <a:off x="5463916" y="2831007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36273"/>
              </p:ext>
            </p:extLst>
          </p:nvPr>
        </p:nvGraphicFramePr>
        <p:xfrm>
          <a:off x="6935451" y="2833505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104787"/>
              </p:ext>
            </p:extLst>
          </p:nvPr>
        </p:nvGraphicFramePr>
        <p:xfrm>
          <a:off x="8347025" y="2836003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73901"/>
              </p:ext>
            </p:extLst>
          </p:nvPr>
        </p:nvGraphicFramePr>
        <p:xfrm>
          <a:off x="9788579" y="2823511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388147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932134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411164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794314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339243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733329" y="237490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10127415" y="23705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86308"/>
              </p:ext>
            </p:extLst>
          </p:nvPr>
        </p:nvGraphicFramePr>
        <p:xfrm>
          <a:off x="2505858" y="4365307"/>
          <a:ext cx="1064301" cy="1811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054004"/>
              </p:ext>
            </p:extLst>
          </p:nvPr>
        </p:nvGraphicFramePr>
        <p:xfrm>
          <a:off x="7512572" y="4429957"/>
          <a:ext cx="1064301" cy="1811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8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</a:t>
            </a:r>
            <a:r>
              <a:rPr lang="en-US" altLang="zh-TW" dirty="0" smtClean="0"/>
              <a:t>Increasing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Sequence: 3 5 4 9 8 2 </a:t>
            </a:r>
            <a:r>
              <a:rPr lang="en-US" altLang="zh-TW" dirty="0" smtClean="0"/>
              <a:t>7</a:t>
            </a:r>
          </a:p>
          <a:p>
            <a:r>
              <a:rPr lang="en-US" altLang="zh-TW" dirty="0" smtClean="0"/>
              <a:t>LIS = number of columns</a:t>
            </a:r>
          </a:p>
          <a:p>
            <a:r>
              <a:rPr lang="en-US" altLang="zh-TW" dirty="0" smtClean="0"/>
              <a:t>LIS: 359, 358, 357, 349, 348, 347</a:t>
            </a:r>
          </a:p>
          <a:p>
            <a:pPr marL="0" indent="0">
              <a:buNone/>
            </a:pPr>
            <a:r>
              <a:rPr lang="en-US" altLang="zh-TW" dirty="0" smtClean="0"/>
              <a:t>(</a:t>
            </a:r>
            <a:r>
              <a:rPr lang="zh-TW" altLang="en-US" dirty="0" smtClean="0"/>
              <a:t>從</a:t>
            </a:r>
            <a:r>
              <a:rPr lang="en-US" altLang="zh-TW" dirty="0" smtClean="0"/>
              <a:t>basic subsequence</a:t>
            </a:r>
            <a:r>
              <a:rPr lang="zh-TW" altLang="en-US" dirty="0" smtClean="0"/>
              <a:t>各挑一個數字至少會有一個</a:t>
            </a:r>
            <a:r>
              <a:rPr lang="en-US" altLang="zh-TW" dirty="0" smtClean="0"/>
              <a:t>LIS)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34869"/>
              </p:ext>
            </p:extLst>
          </p:nvPr>
        </p:nvGraphicFramePr>
        <p:xfrm>
          <a:off x="1082485" y="4818221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106866" y="3948969"/>
            <a:ext cx="301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3</a:t>
            </a:r>
          </a:p>
          <a:p>
            <a:r>
              <a:rPr lang="en-US" altLang="zh-TW" dirty="0"/>
              <a:t>2</a:t>
            </a:r>
          </a:p>
        </p:txBody>
      </p:sp>
      <p:sp>
        <p:nvSpPr>
          <p:cNvPr id="6" name="矩形 5"/>
          <p:cNvSpPr/>
          <p:nvPr/>
        </p:nvSpPr>
        <p:spPr>
          <a:xfrm>
            <a:off x="1448803" y="3948968"/>
            <a:ext cx="301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5</a:t>
            </a:r>
          </a:p>
          <a:p>
            <a:r>
              <a:rPr lang="en-US" altLang="zh-TW" dirty="0"/>
              <a:t>4</a:t>
            </a:r>
          </a:p>
        </p:txBody>
      </p:sp>
      <p:sp>
        <p:nvSpPr>
          <p:cNvPr id="7" name="矩形 6"/>
          <p:cNvSpPr/>
          <p:nvPr/>
        </p:nvSpPr>
        <p:spPr>
          <a:xfrm>
            <a:off x="1790740" y="3810469"/>
            <a:ext cx="3016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9</a:t>
            </a:r>
          </a:p>
          <a:p>
            <a:r>
              <a:rPr lang="en-US" altLang="zh-TW" dirty="0" smtClean="0"/>
              <a:t>8</a:t>
            </a:r>
          </a:p>
          <a:p>
            <a:r>
              <a:rPr lang="en-US" altLang="zh-TW" dirty="0" smtClean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1500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</a:t>
            </a:r>
            <a:r>
              <a:rPr lang="en-US" altLang="zh-TW" dirty="0" smtClean="0"/>
              <a:t>Decreasing </a:t>
            </a:r>
            <a:r>
              <a:rPr lang="en-US" altLang="zh-TW" dirty="0"/>
              <a:t>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Sequence: 3 5 4 9 8 2 </a:t>
            </a:r>
            <a:r>
              <a:rPr lang="en-US" altLang="zh-TW" dirty="0" smtClean="0"/>
              <a:t>7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Sequence: </a:t>
            </a:r>
            <a:r>
              <a:rPr lang="en-US" altLang="zh-TW" dirty="0" smtClean="0"/>
              <a:t>7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8</a:t>
            </a:r>
            <a:r>
              <a:rPr lang="zh-TW" altLang="en-US" dirty="0" smtClean="0"/>
              <a:t> </a:t>
            </a:r>
            <a:r>
              <a:rPr lang="en-US" altLang="zh-TW" dirty="0" smtClean="0"/>
              <a:t>9</a:t>
            </a:r>
            <a:r>
              <a:rPr lang="zh-TW" altLang="en-US" dirty="0" smtClean="0"/>
              <a:t> </a:t>
            </a:r>
            <a:r>
              <a:rPr lang="en-US" altLang="zh-TW" dirty="0" smtClean="0"/>
              <a:t>4</a:t>
            </a:r>
            <a:r>
              <a:rPr lang="zh-TW" altLang="en-US" dirty="0" smtClean="0"/>
              <a:t> </a:t>
            </a:r>
            <a:r>
              <a:rPr lang="en-US" altLang="zh-TW" dirty="0" smtClean="0"/>
              <a:t>5</a:t>
            </a:r>
            <a:r>
              <a:rPr lang="zh-TW" altLang="en-US" dirty="0" smtClean="0"/>
              <a:t> </a:t>
            </a:r>
            <a:r>
              <a:rPr lang="en-US" altLang="zh-TW" dirty="0" smtClean="0"/>
              <a:t>3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LDS = number of rows 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073095"/>
              </p:ext>
            </p:extLst>
          </p:nvPr>
        </p:nvGraphicFramePr>
        <p:xfrm>
          <a:off x="1319136" y="2283866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643260"/>
              </p:ext>
            </p:extLst>
          </p:nvPr>
        </p:nvGraphicFramePr>
        <p:xfrm>
          <a:off x="1276663" y="4115164"/>
          <a:ext cx="1064301" cy="135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67"/>
                <a:gridCol w="354767"/>
                <a:gridCol w="354767"/>
              </a:tblGrid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914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82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(1)if y is largest numbe</a:t>
                </a:r>
                <a:r>
                  <a:rPr lang="en-US" altLang="zh-TW" dirty="0"/>
                  <a:t>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749750"/>
              </p:ext>
            </p:extLst>
          </p:nvPr>
        </p:nvGraphicFramePr>
        <p:xfrm>
          <a:off x="1522334" y="2818288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15079"/>
                <a:gridCol w="515079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099521"/>
                  </p:ext>
                </p:extLst>
              </p:nvPr>
            </p:nvGraphicFramePr>
            <p:xfrm>
              <a:off x="3582649" y="2832061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099521"/>
                  </p:ext>
                </p:extLst>
              </p:nvPr>
            </p:nvGraphicFramePr>
            <p:xfrm>
              <a:off x="3582649" y="2832061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20" t="-1639" r="-243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071180"/>
                  </p:ext>
                </p:extLst>
              </p:nvPr>
            </p:nvGraphicFramePr>
            <p:xfrm>
              <a:off x="2565816" y="4001294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071180"/>
                  </p:ext>
                </p:extLst>
              </p:nvPr>
            </p:nvGraphicFramePr>
            <p:xfrm>
              <a:off x="2565816" y="4001294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205" t="-1639" r="-2410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031752"/>
                  </p:ext>
                </p:extLst>
              </p:nvPr>
            </p:nvGraphicFramePr>
            <p:xfrm>
              <a:off x="1516505" y="5113065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031752"/>
                  </p:ext>
                </p:extLst>
              </p:nvPr>
            </p:nvGraphicFramePr>
            <p:xfrm>
              <a:off x="1516505" y="5113065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220" t="-1639" r="-365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416" y="1690688"/>
            <a:ext cx="5429508" cy="43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6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(2) All integers in x, y and S, the longest number is N, and N is in S.</a:t>
            </a:r>
          </a:p>
          <a:p>
            <a:pPr marL="0" indent="0">
              <a:buNone/>
            </a:pPr>
            <a:r>
              <a:rPr lang="en-US" altLang="zh-TW" dirty="0" smtClean="0"/>
              <a:t>  	Order = 0, 1, 2</a:t>
            </a:r>
          </a:p>
          <a:p>
            <a:pPr marL="0" indent="0">
              <a:buNone/>
            </a:pPr>
            <a:r>
              <a:rPr lang="en-US" altLang="zh-TW" dirty="0" smtClean="0"/>
              <a:t>	Assume Order = n is true, prove n+1</a:t>
            </a:r>
          </a:p>
          <a:p>
            <a:pPr marL="0" indent="0">
              <a:buNone/>
            </a:pPr>
            <a:r>
              <a:rPr lang="en-US" altLang="zh-TW" dirty="0" smtClean="0"/>
              <a:t>    </a:t>
            </a:r>
          </a:p>
          <a:p>
            <a:pPr marL="0" indent="0">
              <a:buNone/>
            </a:pPr>
            <a:r>
              <a:rPr lang="en-US" altLang="zh-TW" dirty="0" smtClean="0"/>
              <a:t>S is order n+1</a:t>
            </a:r>
          </a:p>
          <a:p>
            <a:pPr marL="0" indent="0">
              <a:buNone/>
            </a:pPr>
            <a:r>
              <a:rPr lang="en-US" altLang="zh-TW" dirty="0" smtClean="0"/>
              <a:t>S’ is order n</a:t>
            </a:r>
          </a:p>
          <a:p>
            <a:pPr marL="0" indent="0">
              <a:buNone/>
            </a:pPr>
            <a:r>
              <a:rPr lang="en-US" altLang="zh-TW" dirty="0" smtClean="0"/>
              <a:t>N is largest number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98100"/>
              </p:ext>
            </p:extLst>
          </p:nvPr>
        </p:nvGraphicFramePr>
        <p:xfrm>
          <a:off x="4520367" y="4062472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15079"/>
                <a:gridCol w="515079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207544"/>
                  </p:ext>
                </p:extLst>
              </p:nvPr>
            </p:nvGraphicFramePr>
            <p:xfrm>
              <a:off x="6073515" y="4843242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207544"/>
                  </p:ext>
                </p:extLst>
              </p:nvPr>
            </p:nvGraphicFramePr>
            <p:xfrm>
              <a:off x="6073515" y="4843242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220" t="-1639" r="-243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6843134"/>
                  </p:ext>
                </p:extLst>
              </p:nvPr>
            </p:nvGraphicFramePr>
            <p:xfrm>
              <a:off x="5056682" y="5994083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6843134"/>
                  </p:ext>
                </p:extLst>
              </p:nvPr>
            </p:nvGraphicFramePr>
            <p:xfrm>
              <a:off x="5056682" y="5994083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20" t="-1639" r="-243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255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&lt;1&gt; </a:t>
            </a:r>
            <a:r>
              <a:rPr lang="zh-TW" altLang="en-US" dirty="0" smtClean="0"/>
              <a:t>若</a:t>
            </a:r>
            <a:r>
              <a:rPr lang="en-US" altLang="zh-TW" dirty="0" smtClean="0"/>
              <a:t>x’</a:t>
            </a:r>
            <a:r>
              <a:rPr lang="zh-TW" altLang="en-US" dirty="0" smtClean="0"/>
              <a:t>和</a:t>
            </a:r>
            <a:r>
              <a:rPr lang="en-US" altLang="zh-TW" dirty="0" smtClean="0"/>
              <a:t>y'</a:t>
            </a:r>
            <a:r>
              <a:rPr lang="zh-TW" altLang="en-US" dirty="0" smtClean="0"/>
              <a:t>發生在不同位置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760284"/>
              </p:ext>
            </p:extLst>
          </p:nvPr>
        </p:nvGraphicFramePr>
        <p:xfrm>
          <a:off x="1492354" y="3289664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35482"/>
                <a:gridCol w="494676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494741"/>
                  </p:ext>
                </p:extLst>
              </p:nvPr>
            </p:nvGraphicFramePr>
            <p:xfrm>
              <a:off x="7410137" y="4966241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2867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494741"/>
                  </p:ext>
                </p:extLst>
              </p:nvPr>
            </p:nvGraphicFramePr>
            <p:xfrm>
              <a:off x="7410137" y="4966241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923" t="-1639" r="-3846" b="-655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6654"/>
                  </p:ext>
                </p:extLst>
              </p:nvPr>
            </p:nvGraphicFramePr>
            <p:xfrm>
              <a:off x="5523875" y="4457680"/>
              <a:ext cx="367259" cy="3691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259"/>
                  </a:tblGrid>
                  <a:tr h="3691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6654"/>
                  </p:ext>
                </p:extLst>
              </p:nvPr>
            </p:nvGraphicFramePr>
            <p:xfrm>
              <a:off x="5523875" y="4457680"/>
              <a:ext cx="367259" cy="3691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259"/>
                  </a:tblGrid>
                  <a:tr h="36915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639" t="-1639" r="-327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764328"/>
                  </p:ext>
                </p:extLst>
              </p:nvPr>
            </p:nvGraphicFramePr>
            <p:xfrm>
              <a:off x="2283502" y="2809842"/>
              <a:ext cx="444708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4708"/>
                  </a:tblGrid>
                  <a:tr h="3787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764328"/>
                  </p:ext>
                </p:extLst>
              </p:nvPr>
            </p:nvGraphicFramePr>
            <p:xfrm>
              <a:off x="2283502" y="2809842"/>
              <a:ext cx="444708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4708"/>
                  </a:tblGrid>
                  <a:tr h="3787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351" t="-1563" r="-2703" b="-312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20460"/>
              </p:ext>
            </p:extLst>
          </p:nvPr>
        </p:nvGraphicFramePr>
        <p:xfrm>
          <a:off x="3968229" y="3311002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35482"/>
                <a:gridCol w="494676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579727"/>
                  </p:ext>
                </p:extLst>
              </p:nvPr>
            </p:nvGraphicFramePr>
            <p:xfrm>
              <a:off x="4459573" y="2782360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579727"/>
                  </p:ext>
                </p:extLst>
              </p:nvPr>
            </p:nvGraphicFramePr>
            <p:xfrm>
              <a:off x="4459573" y="2782360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17" t="-1587" r="-1235" b="-31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483013"/>
                  </p:ext>
                </p:extLst>
              </p:nvPr>
            </p:nvGraphicFramePr>
            <p:xfrm>
              <a:off x="6845507" y="2739888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483013"/>
                  </p:ext>
                </p:extLst>
              </p:nvPr>
            </p:nvGraphicFramePr>
            <p:xfrm>
              <a:off x="6845507" y="2739888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613" t="-1587" r="-1227" b="-31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138674"/>
              </p:ext>
            </p:extLst>
          </p:nvPr>
        </p:nvGraphicFramePr>
        <p:xfrm>
          <a:off x="6369155" y="3279671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35482"/>
                <a:gridCol w="494676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向右箭號 11"/>
          <p:cNvSpPr/>
          <p:nvPr/>
        </p:nvSpPr>
        <p:spPr>
          <a:xfrm>
            <a:off x="8409482" y="4457680"/>
            <a:ext cx="869430" cy="179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15087"/>
              </p:ext>
            </p:extLst>
          </p:nvPr>
        </p:nvGraphicFramePr>
        <p:xfrm>
          <a:off x="9345741" y="3057317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35482"/>
                <a:gridCol w="494676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8568779"/>
                  </p:ext>
                </p:extLst>
              </p:nvPr>
            </p:nvGraphicFramePr>
            <p:xfrm>
              <a:off x="10907842" y="4210762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2867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8568779"/>
                  </p:ext>
                </p:extLst>
              </p:nvPr>
            </p:nvGraphicFramePr>
            <p:xfrm>
              <a:off x="10907842" y="4210762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1923" t="-1639" r="-3846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433309"/>
                  </p:ext>
                </p:extLst>
              </p:nvPr>
            </p:nvGraphicFramePr>
            <p:xfrm>
              <a:off x="10383187" y="4806547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2867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433309"/>
                  </p:ext>
                </p:extLst>
              </p:nvPr>
            </p:nvGraphicFramePr>
            <p:xfrm>
              <a:off x="10383187" y="4806547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9"/>
                          <a:stretch>
                            <a:fillRect l="-1923" t="-1639" r="-3846" b="-655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8304551" y="5463101"/>
                <a:ext cx="3154180" cy="369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551" y="5463101"/>
                <a:ext cx="3154180" cy="369397"/>
              </a:xfrm>
              <a:prstGeom prst="rect">
                <a:avLst/>
              </a:prstGeom>
              <a:blipFill rotWithShape="0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49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&lt;2&gt; </a:t>
            </a:r>
            <a:r>
              <a:rPr lang="zh-TW" altLang="en-US" dirty="0"/>
              <a:t>若</a:t>
            </a:r>
            <a:r>
              <a:rPr lang="en-US" altLang="zh-TW" dirty="0"/>
              <a:t>x’</a:t>
            </a:r>
            <a:r>
              <a:rPr lang="zh-TW" altLang="en-US" dirty="0"/>
              <a:t>和</a:t>
            </a:r>
            <a:r>
              <a:rPr lang="en-US" altLang="zh-TW" dirty="0" smtClean="0"/>
              <a:t>y‘</a:t>
            </a:r>
            <a:r>
              <a:rPr lang="zh-TW" altLang="en-US" dirty="0" smtClean="0"/>
              <a:t>發生在相同位置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y’ &gt; x’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 smtClean="0"/>
              <a:t>If x’ &gt; y’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304" y="1690688"/>
            <a:ext cx="5047387" cy="193432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779" y="2767807"/>
            <a:ext cx="1665391" cy="208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503671" y="4041769"/>
                <a:ext cx="3154180" cy="369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71" y="4041769"/>
                <a:ext cx="3154180" cy="369397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128431" y="3631962"/>
                <a:ext cx="4475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431" y="3631962"/>
                <a:ext cx="44755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892237" y="3625016"/>
                <a:ext cx="442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237" y="3625016"/>
                <a:ext cx="442492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170" y="5042849"/>
            <a:ext cx="1462009" cy="1815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647809" y="6332783"/>
                <a:ext cx="3154180" cy="369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809" y="6332783"/>
                <a:ext cx="3154180" cy="369397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462293" y="6001608"/>
                <a:ext cx="442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293" y="6001608"/>
                <a:ext cx="442492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457227" y="5719360"/>
                <a:ext cx="4475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227" y="5719360"/>
                <a:ext cx="447558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6808" y="3625016"/>
            <a:ext cx="1750570" cy="1810055"/>
          </a:xfrm>
          <a:prstGeom prst="rect">
            <a:avLst/>
          </a:prstGeom>
        </p:spPr>
      </p:pic>
      <p:sp>
        <p:nvSpPr>
          <p:cNvPr id="16" name="圓角化對角線角落矩形 15"/>
          <p:cNvSpPr/>
          <p:nvPr/>
        </p:nvSpPr>
        <p:spPr>
          <a:xfrm>
            <a:off x="7875320" y="4399228"/>
            <a:ext cx="558320" cy="175850"/>
          </a:xfrm>
          <a:prstGeom prst="round2Diag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8407997" y="4029896"/>
            <a:ext cx="3256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(1) y’ </a:t>
            </a:r>
            <a:r>
              <a:rPr lang="zh-TW" altLang="en-US" dirty="0" smtClean="0"/>
              <a:t>一定取代陰影的部分下來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445038" y="4589141"/>
            <a:ext cx="319767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(2) x’</a:t>
            </a:r>
            <a:r>
              <a:rPr lang="zh-TW" altLang="en-US" dirty="0" smtClean="0"/>
              <a:t>一定比藍色部分還要高，</a:t>
            </a:r>
            <a:endParaRPr lang="en-US" altLang="zh-TW" dirty="0" smtClean="0"/>
          </a:p>
          <a:p>
            <a:r>
              <a:rPr lang="zh-TW" altLang="en-US" dirty="0"/>
              <a:t> </a:t>
            </a:r>
            <a:r>
              <a:rPr lang="zh-TW" altLang="en-US" dirty="0" smtClean="0"/>
              <a:t>    而</a:t>
            </a:r>
            <a:r>
              <a:rPr lang="en-US" altLang="zh-TW" dirty="0" smtClean="0"/>
              <a:t>y’ &gt; x’</a:t>
            </a:r>
            <a:r>
              <a:rPr lang="zh-TW" altLang="en-US" dirty="0" smtClean="0"/>
              <a:t>，因此</a:t>
            </a:r>
            <a:r>
              <a:rPr lang="en-US" altLang="zh-TW" dirty="0" smtClean="0"/>
              <a:t>y’</a:t>
            </a:r>
            <a:r>
              <a:rPr lang="zh-TW" altLang="en-US" dirty="0" smtClean="0"/>
              <a:t>至少從紅</a:t>
            </a:r>
            <a:endParaRPr lang="en-US" altLang="zh-TW" dirty="0" smtClean="0"/>
          </a:p>
          <a:p>
            <a:r>
              <a:rPr lang="zh-TW" altLang="en-US" dirty="0" smtClean="0"/>
              <a:t>     色部分下來</a:t>
            </a:r>
            <a:endParaRPr lang="en-US" altLang="zh-TW" dirty="0" smtClean="0"/>
          </a:p>
        </p:txBody>
      </p:sp>
      <p:sp>
        <p:nvSpPr>
          <p:cNvPr id="20" name="圓角化對角線角落矩形 19"/>
          <p:cNvSpPr/>
          <p:nvPr/>
        </p:nvSpPr>
        <p:spPr>
          <a:xfrm rot="5400000">
            <a:off x="8194748" y="2092141"/>
            <a:ext cx="681029" cy="180450"/>
          </a:xfrm>
          <a:prstGeom prst="round2Diag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52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(1) x</a:t>
            </a:r>
            <a:r>
              <a:rPr lang="en-US" altLang="zh-TW" dirty="0" smtClean="0"/>
              <a:t>’, y</a:t>
            </a:r>
            <a:r>
              <a:rPr lang="en-US" altLang="zh-TW" dirty="0" smtClean="0"/>
              <a:t>’</a:t>
            </a:r>
            <a:r>
              <a:rPr lang="zh-TW" altLang="en-US" dirty="0" smtClean="0"/>
              <a:t> 在不同位置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69390"/>
              </p:ext>
            </p:extLst>
          </p:nvPr>
        </p:nvGraphicFramePr>
        <p:xfrm>
          <a:off x="5328377" y="1825625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35482"/>
                <a:gridCol w="494676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8592928"/>
                  </p:ext>
                </p:extLst>
              </p:nvPr>
            </p:nvGraphicFramePr>
            <p:xfrm>
              <a:off x="6890478" y="2979070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2867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8592928"/>
                  </p:ext>
                </p:extLst>
              </p:nvPr>
            </p:nvGraphicFramePr>
            <p:xfrm>
              <a:off x="6890478" y="2979070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923" t="-1639" r="-3846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962354"/>
                  </p:ext>
                </p:extLst>
              </p:nvPr>
            </p:nvGraphicFramePr>
            <p:xfrm>
              <a:off x="6365823" y="3574855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2867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962354"/>
                  </p:ext>
                </p:extLst>
              </p:nvPr>
            </p:nvGraphicFramePr>
            <p:xfrm>
              <a:off x="6365823" y="3574855"/>
              <a:ext cx="309797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79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923" t="-1639" r="-3846" b="-655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561939"/>
                  </p:ext>
                </p:extLst>
              </p:nvPr>
            </p:nvGraphicFramePr>
            <p:xfrm>
              <a:off x="6550702" y="3207895"/>
              <a:ext cx="319790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790"/>
                  </a:tblGrid>
                  <a:tr h="2138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561939"/>
                  </p:ext>
                </p:extLst>
              </p:nvPr>
            </p:nvGraphicFramePr>
            <p:xfrm>
              <a:off x="6550702" y="3207895"/>
              <a:ext cx="319790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79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852" t="-1639" r="-3704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161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                                                             (2)y’</a:t>
            </a:r>
            <a:r>
              <a:rPr lang="zh-TW" altLang="en-US" dirty="0" smtClean="0"/>
              <a:t>在</a:t>
            </a:r>
            <a:r>
              <a:rPr lang="en-US" altLang="zh-TW" dirty="0" smtClean="0"/>
              <a:t>x‘</a:t>
            </a:r>
            <a:r>
              <a:rPr lang="zh-TW" altLang="en-US" dirty="0" smtClean="0"/>
              <a:t>左邊，且</a:t>
            </a:r>
            <a:r>
              <a:rPr lang="en-US" altLang="zh-TW" dirty="0" smtClean="0"/>
              <a:t>x’</a:t>
            </a:r>
            <a:r>
              <a:rPr lang="zh-TW" altLang="en-US" dirty="0" smtClean="0"/>
              <a:t>落在</a:t>
            </a:r>
            <a:r>
              <a:rPr lang="en-US" altLang="zh-TW" dirty="0" smtClean="0"/>
              <a:t>N</a:t>
            </a:r>
            <a:r>
              <a:rPr lang="zh-TW" altLang="en-US" dirty="0" smtClean="0"/>
              <a:t>的位置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98" y="1948721"/>
            <a:ext cx="5155202" cy="422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2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altLang="zh-TW" dirty="0">
                    <a:ea typeface="Cambria Math" panose="02040503050406030204" pitchFamily="18" charset="0"/>
                  </a:rPr>
                  <a:t/>
                </a:r>
                <a:br>
                  <a:rPr lang="en-US" altLang="zh-TW" dirty="0">
                    <a:ea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                                                              (</a:t>
            </a:r>
            <a:r>
              <a:rPr lang="en-US" altLang="zh-TW" dirty="0"/>
              <a:t>2)y’</a:t>
            </a:r>
            <a:r>
              <a:rPr lang="zh-TW" altLang="en-US" dirty="0"/>
              <a:t>在</a:t>
            </a:r>
            <a:r>
              <a:rPr lang="en-US" altLang="zh-TW" dirty="0" smtClean="0"/>
              <a:t>x‘</a:t>
            </a:r>
            <a:r>
              <a:rPr lang="zh-TW" altLang="en-US" dirty="0" smtClean="0"/>
              <a:t>右邊</a:t>
            </a:r>
            <a:r>
              <a:rPr lang="zh-TW" altLang="en-US" dirty="0"/>
              <a:t>，且</a:t>
            </a:r>
            <a:r>
              <a:rPr lang="en-US" altLang="zh-TW" dirty="0"/>
              <a:t>x’</a:t>
            </a:r>
            <a:r>
              <a:rPr lang="zh-TW" altLang="en-US" dirty="0"/>
              <a:t>落在</a:t>
            </a:r>
            <a:r>
              <a:rPr lang="en-US" altLang="zh-TW" dirty="0"/>
              <a:t>N</a:t>
            </a:r>
            <a:r>
              <a:rPr lang="zh-TW" altLang="en-US" dirty="0"/>
              <a:t>的</a:t>
            </a:r>
            <a:r>
              <a:rPr lang="zh-TW" altLang="en-US" dirty="0" smtClean="0"/>
              <a:t>位置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/>
              <a:t> </a:t>
            </a:r>
            <a:r>
              <a:rPr lang="zh-TW" altLang="en-US" dirty="0" smtClean="0"/>
              <a:t>                                                              </a:t>
            </a:r>
            <a:r>
              <a:rPr lang="en-US" altLang="zh-TW" dirty="0" smtClean="0"/>
              <a:t>#:</a:t>
            </a:r>
            <a:r>
              <a:rPr lang="zh-TW" altLang="en-US" dirty="0" smtClean="0"/>
              <a:t> </a:t>
            </a:r>
            <a:r>
              <a:rPr lang="en-US" altLang="zh-TW" dirty="0" smtClean="0"/>
              <a:t>x’, y’</a:t>
            </a:r>
            <a:r>
              <a:rPr lang="zh-TW" altLang="en-US" dirty="0" smtClean="0"/>
              <a:t>不會發生在同個位置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6" y="1825624"/>
            <a:ext cx="5157008" cy="4351339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02489"/>
              </p:ext>
            </p:extLst>
          </p:nvPr>
        </p:nvGraphicFramePr>
        <p:xfrm>
          <a:off x="6484079" y="3507836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15079"/>
                <a:gridCol w="515079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4935066"/>
                  </p:ext>
                </p:extLst>
              </p:nvPr>
            </p:nvGraphicFramePr>
            <p:xfrm>
              <a:off x="7512571" y="4648370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4935066"/>
                  </p:ext>
                </p:extLst>
              </p:nvPr>
            </p:nvGraphicFramePr>
            <p:xfrm>
              <a:off x="7512571" y="4648370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20" t="-1639" r="-243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182422"/>
                  </p:ext>
                </p:extLst>
              </p:nvPr>
            </p:nvGraphicFramePr>
            <p:xfrm>
              <a:off x="9963461" y="5987579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182422"/>
                  </p:ext>
                </p:extLst>
              </p:nvPr>
            </p:nvGraphicFramePr>
            <p:xfrm>
              <a:off x="9963461" y="5987579"/>
              <a:ext cx="981855" cy="37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1855"/>
                  </a:tblGrid>
                  <a:tr h="37876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617" t="-1587" r="-1235" b="-31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28120"/>
              </p:ext>
            </p:extLst>
          </p:nvPr>
        </p:nvGraphicFramePr>
        <p:xfrm>
          <a:off x="9484610" y="3510334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15079"/>
                <a:gridCol w="515079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6067120"/>
                  </p:ext>
                </p:extLst>
              </p:nvPr>
            </p:nvGraphicFramePr>
            <p:xfrm>
              <a:off x="10513102" y="5025623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158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6067120"/>
                  </p:ext>
                </p:extLst>
              </p:nvPr>
            </p:nvGraphicFramePr>
            <p:xfrm>
              <a:off x="10513102" y="5025623"/>
              <a:ext cx="494676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467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220" t="-1639" r="-2439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803688"/>
                  </p:ext>
                </p:extLst>
              </p:nvPr>
            </p:nvGraphicFramePr>
            <p:xfrm>
              <a:off x="10533089" y="4669137"/>
              <a:ext cx="454701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4701"/>
                  </a:tblGrid>
                  <a:tr h="3525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TW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803688"/>
                  </p:ext>
                </p:extLst>
              </p:nvPr>
            </p:nvGraphicFramePr>
            <p:xfrm>
              <a:off x="10533089" y="4669137"/>
              <a:ext cx="454701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4701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316" t="-1639" r="-2632" b="-655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向右箭號 10"/>
          <p:cNvSpPr/>
          <p:nvPr/>
        </p:nvSpPr>
        <p:spPr>
          <a:xfrm>
            <a:off x="8589364" y="4227227"/>
            <a:ext cx="873476" cy="2747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78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((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)…)←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…(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Prove: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 smtClean="0"/>
                  <a:t>Assume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Prove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86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~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TW" dirty="0" smtClean="0">
                    <a:ea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TW" dirty="0" smtClean="0">
                    <a:ea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ea typeface="Cambria Math" panose="02040503050406030204" pitchFamily="18" charset="0"/>
                  </a:rPr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zh-TW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TW" dirty="0" smtClean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ea typeface="Cambria Math" panose="02040503050406030204" pitchFamily="18" charset="0"/>
                  </a:rPr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r>
                  <a:rPr lang="en-US" altLang="zh-TW" dirty="0" smtClean="0">
                    <a:ea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r>
                  <a:rPr lang="en-US" altLang="zh-TW" dirty="0" smtClean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          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0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Decreasing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30010"/>
              </p:ext>
            </p:extLst>
          </p:nvPr>
        </p:nvGraphicFramePr>
        <p:xfrm>
          <a:off x="1927069" y="2308623"/>
          <a:ext cx="2060316" cy="22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79"/>
                <a:gridCol w="515079"/>
                <a:gridCol w="515079"/>
                <a:gridCol w="515079"/>
              </a:tblGrid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57333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499548" y="2276047"/>
            <a:ext cx="263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正的</a:t>
            </a:r>
            <a:r>
              <a:rPr lang="en-US" altLang="zh-TW" dirty="0" smtClean="0"/>
              <a:t>sequence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59794" y="5051725"/>
            <a:ext cx="263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倒著的</a:t>
            </a:r>
            <a:r>
              <a:rPr lang="en-US" altLang="zh-TW" dirty="0" smtClean="0"/>
              <a:t>sequence</a:t>
            </a:r>
            <a:endParaRPr lang="zh-TW" altLang="en-US" dirty="0"/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2113613" y="4676932"/>
            <a:ext cx="0" cy="374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4067331" y="2460713"/>
            <a:ext cx="4322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17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Numbers are repeated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Sequ</a:t>
            </a:r>
            <a:r>
              <a:rPr lang="en-US" altLang="zh-TW" dirty="0"/>
              <a:t>enc</a:t>
            </a:r>
            <a:r>
              <a:rPr lang="en-US" altLang="zh-TW" dirty="0" smtClean="0"/>
              <a:t>e: 3 3 2 3 4 1</a:t>
            </a:r>
          </a:p>
          <a:p>
            <a:r>
              <a:rPr lang="en-US" altLang="zh-TW" dirty="0" smtClean="0"/>
              <a:t>1 by 1</a:t>
            </a:r>
          </a:p>
          <a:p>
            <a:r>
              <a:rPr lang="en-US" altLang="zh-TW" dirty="0" smtClean="0"/>
              <a:t>2 by 2</a:t>
            </a:r>
          </a:p>
          <a:p>
            <a:r>
              <a:rPr lang="en-US" altLang="zh-TW" dirty="0" smtClean="0"/>
              <a:t>3 3 3 by </a:t>
            </a:r>
            <a:r>
              <a:rPr lang="en-US" altLang="zh-TW" dirty="0" smtClean="0"/>
              <a:t>3 4 5</a:t>
            </a:r>
            <a:endParaRPr lang="en-US" altLang="zh-TW" dirty="0" smtClean="0"/>
          </a:p>
          <a:p>
            <a:r>
              <a:rPr lang="en-US" altLang="zh-TW" dirty="0" smtClean="0"/>
              <a:t>4 by </a:t>
            </a:r>
            <a:r>
              <a:rPr lang="en-US" altLang="zh-TW" dirty="0" smtClean="0"/>
              <a:t>6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71751"/>
              </p:ext>
            </p:extLst>
          </p:nvPr>
        </p:nvGraphicFramePr>
        <p:xfrm>
          <a:off x="5576306" y="3483079"/>
          <a:ext cx="1753848" cy="1703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2"/>
                <a:gridCol w="438462"/>
                <a:gridCol w="438462"/>
                <a:gridCol w="438462"/>
              </a:tblGrid>
              <a:tr h="567839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839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839">
                <a:tc>
                  <a:txBody>
                    <a:bodyPr/>
                    <a:lstStyle/>
                    <a:p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066639" y="2087138"/>
            <a:ext cx="6295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Number of columns = longest non decreasing subsequence </a:t>
            </a:r>
            <a:r>
              <a:rPr lang="en-US" altLang="zh-TW" dirty="0"/>
              <a:t>(3334)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66639" y="2631262"/>
            <a:ext cx="5777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Number of rows = longest decreasing subsequence </a:t>
            </a:r>
            <a:r>
              <a:rPr lang="en-US" altLang="zh-TW" dirty="0" smtClean="0"/>
              <a:t>(321)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155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540</Words>
  <Application>Microsoft Office PowerPoint</Application>
  <PresentationFormat>寬螢幕</PresentationFormat>
  <Paragraphs>208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Office 佈景主題</vt:lpstr>
      <vt:lpstr>Longest Increasing and Decreasing Subsequences</vt:lpstr>
      <vt:lpstr>Abstract</vt:lpstr>
      <vt:lpstr>Standard Young Tableaux</vt:lpstr>
      <vt:lpstr>Standard Young Tableaux</vt:lpstr>
      <vt:lpstr>Longest Increasing Subsequence</vt:lpstr>
      <vt:lpstr>Longest Decreasing Subsequence</vt:lpstr>
      <vt:lpstr>(x→S)←y=x→(S←y) </vt:lpstr>
      <vt:lpstr>(x→S)←y=x→(S←y) </vt:lpstr>
      <vt:lpstr>(x→S^′ )←y=x→(S^′←y) </vt:lpstr>
      <vt:lpstr>(x→S^′ )←y=x→(S^′←y) </vt:lpstr>
      <vt:lpstr>(x→S)←y=x→(S←y) </vt:lpstr>
      <vt:lpstr>(x→S)←y=x→(S←y) </vt:lpstr>
      <vt:lpstr>(x→S)←y=x→(S←y) </vt:lpstr>
      <vt:lpstr>p(x_1,x_2,x_3,…x_n )=p^~ (x_1,x_2,x_3,…x_n )</vt:lpstr>
      <vt:lpstr>p(x_1,x_2,x_3,…x_n )=p^~ (x_1,x_2,x_3,…x_n )</vt:lpstr>
      <vt:lpstr>Longest Decreasing Subsequence</vt:lpstr>
      <vt:lpstr>Numbers are repeated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Increasing and Decreasing Subsequences</dc:title>
  <dc:creator>許竣傑</dc:creator>
  <cp:lastModifiedBy>許竣傑</cp:lastModifiedBy>
  <cp:revision>34</cp:revision>
  <dcterms:created xsi:type="dcterms:W3CDTF">2014-01-26T12:07:45Z</dcterms:created>
  <dcterms:modified xsi:type="dcterms:W3CDTF">2014-01-26T18:31:31Z</dcterms:modified>
</cp:coreProperties>
</file>