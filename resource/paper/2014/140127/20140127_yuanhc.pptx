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handoutMasterIdLst>
    <p:handoutMasterId r:id="rId12"/>
  </p:handoutMasterIdLst>
  <p:sldIdLst>
    <p:sldId id="256" r:id="rId2"/>
    <p:sldId id="307" r:id="rId3"/>
    <p:sldId id="309" r:id="rId4"/>
    <p:sldId id="310" r:id="rId5"/>
    <p:sldId id="311" r:id="rId6"/>
    <p:sldId id="312" r:id="rId7"/>
    <p:sldId id="314" r:id="rId8"/>
    <p:sldId id="313" r:id="rId9"/>
    <p:sldId id="265" r:id="rId1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clrMru>
    <a:srgbClr val="FF3300"/>
    <a:srgbClr val="FFFFFF"/>
    <a:srgbClr val="0000FF"/>
    <a:srgbClr val="7B93DF"/>
    <a:srgbClr val="6F84EB"/>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8FB837D-C827-4EFA-A057-4D05807E0F7C}" styleName="佈景主題樣式 1 - 輔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2042" autoAdjust="0"/>
    <p:restoredTop sz="96793" autoAdjust="0"/>
  </p:normalViewPr>
  <p:slideViewPr>
    <p:cSldViewPr>
      <p:cViewPr varScale="1">
        <p:scale>
          <a:sx n="70" d="100"/>
          <a:sy n="70" d="100"/>
        </p:scale>
        <p:origin x="-624" y="-108"/>
      </p:cViewPr>
      <p:guideLst>
        <p:guide orient="horz" pos="2160"/>
        <p:guide pos="2880"/>
      </p:guideLst>
    </p:cSldViewPr>
  </p:slideViewPr>
  <p:outlineViewPr>
    <p:cViewPr>
      <p:scale>
        <a:sx n="33" d="100"/>
        <a:sy n="33" d="100"/>
      </p:scale>
      <p:origin x="0" y="966"/>
    </p:cViewPr>
    <p:sldLst>
      <p:sld r:id="rId1" collapse="1"/>
      <p:sld r:id="rId2" collapse="1"/>
      <p:sld r:id="rId3" collapse="1"/>
      <p:sld r:id="rId4" collapse="1"/>
    </p:sldLst>
  </p:outlineViewPr>
  <p:notesTextViewPr>
    <p:cViewPr>
      <p:scale>
        <a:sx n="1" d="1"/>
        <a:sy n="1" d="1"/>
      </p:scale>
      <p:origin x="0" y="0"/>
    </p:cViewPr>
  </p:notesTextViewPr>
  <p:notesViewPr>
    <p:cSldViewPr>
      <p:cViewPr varScale="1">
        <p:scale>
          <a:sx n="88" d="100"/>
          <a:sy n="88" d="100"/>
        </p:scale>
        <p:origin x="3822" y="102"/>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_rels/viewProps.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slide" Target="slides/slide5.xml"/><Relationship Id="rId1" Type="http://schemas.openxmlformats.org/officeDocument/2006/relationships/slide" Target="slides/slide3.xml"/><Relationship Id="rId4"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9A1E9FC-490C-4865-A082-2CA8BB7D5A91}" type="datetimeFigureOut">
              <a:rPr lang="zh-TW" altLang="en-US" smtClean="0"/>
              <a:pPr/>
              <a:t>2014/1/27</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BA81C7-1ECC-4CF7-ABF1-426C762021BC}" type="slidenum">
              <a:rPr lang="zh-TW" altLang="en-US" smtClean="0"/>
              <a:pPr/>
              <a:t>‹#›</a:t>
            </a:fld>
            <a:endParaRPr lang="zh-TW" altLang="en-US"/>
          </a:p>
        </p:txBody>
      </p:sp>
    </p:spTree>
    <p:extLst>
      <p:ext uri="{BB962C8B-B14F-4D97-AF65-F5344CB8AC3E}">
        <p14:creationId xmlns:p14="http://schemas.microsoft.com/office/powerpoint/2010/main" xmlns="" val="39910503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2458AF-C11A-4B8D-B5DF-F124E30CB17B}" type="datetimeFigureOut">
              <a:rPr lang="zh-TW" altLang="en-US" smtClean="0"/>
              <a:pPr/>
              <a:t>2014/1/27</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8879042-3193-49F2-8086-409E581C9D3A}" type="slidenum">
              <a:rPr lang="zh-TW" altLang="en-US" smtClean="0"/>
              <a:pPr/>
              <a:t>‹#›</a:t>
            </a:fld>
            <a:endParaRPr lang="zh-TW" altLang="en-US"/>
          </a:p>
        </p:txBody>
      </p:sp>
    </p:spTree>
    <p:extLst>
      <p:ext uri="{BB962C8B-B14F-4D97-AF65-F5344CB8AC3E}">
        <p14:creationId xmlns:p14="http://schemas.microsoft.com/office/powerpoint/2010/main" xmlns="" val="2913517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08879042-3193-49F2-8086-409E581C9D3A}" type="slidenum">
              <a:rPr lang="zh-TW" altLang="en-US" smtClean="0"/>
              <a:pPr/>
              <a:t>1</a:t>
            </a:fld>
            <a:endParaRPr lang="zh-TW" altLang="en-US"/>
          </a:p>
        </p:txBody>
      </p:sp>
    </p:spTree>
    <p:extLst>
      <p:ext uri="{BB962C8B-B14F-4D97-AF65-F5344CB8AC3E}">
        <p14:creationId xmlns:p14="http://schemas.microsoft.com/office/powerpoint/2010/main" xmlns="" val="3297998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08879042-3193-49F2-8086-409E581C9D3A}" type="slidenum">
              <a:rPr lang="zh-TW" altLang="en-US" smtClean="0"/>
              <a:pPr/>
              <a:t>2</a:t>
            </a:fld>
            <a:endParaRPr lang="zh-TW" altLang="en-US"/>
          </a:p>
        </p:txBody>
      </p:sp>
    </p:spTree>
    <p:extLst>
      <p:ext uri="{BB962C8B-B14F-4D97-AF65-F5344CB8AC3E}">
        <p14:creationId xmlns:p14="http://schemas.microsoft.com/office/powerpoint/2010/main" xmlns="" val="1705003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D66B7D-5F5A-44C5-9E0E-13AE8EE426AB}" type="slidenum">
              <a:rPr lang="en-US" altLang="zh-TW"/>
              <a:pPr/>
              <a:t>3</a:t>
            </a:fld>
            <a:endParaRPr lang="en-US" altLang="zh-TW"/>
          </a:p>
        </p:txBody>
      </p:sp>
      <p:sp>
        <p:nvSpPr>
          <p:cNvPr id="112642" name="Rectangle 2"/>
          <p:cNvSpPr>
            <a:spLocks noGrp="1" noRot="1" noChangeAspect="1" noChangeArrowheads="1" noTextEdit="1"/>
          </p:cNvSpPr>
          <p:nvPr>
            <p:ph type="sldImg"/>
          </p:nvPr>
        </p:nvSpPr>
        <p:spPr>
          <a:ln/>
        </p:spPr>
      </p:sp>
      <p:sp>
        <p:nvSpPr>
          <p:cNvPr id="112643" name="Rectangle 3"/>
          <p:cNvSpPr>
            <a:spLocks noGrp="1" noChangeArrowheads="1"/>
          </p:cNvSpPr>
          <p:nvPr>
            <p:ph type="body" idx="1"/>
          </p:nvPr>
        </p:nvSpPr>
        <p:spPr/>
        <p:txBody>
          <a:bodyPr/>
          <a:lstStyle/>
          <a:p>
            <a:endParaRPr lang="zh-TW" altLang="zh-TW"/>
          </a:p>
        </p:txBody>
      </p:sp>
    </p:spTree>
    <p:extLst>
      <p:ext uri="{BB962C8B-B14F-4D97-AF65-F5344CB8AC3E}">
        <p14:creationId xmlns:p14="http://schemas.microsoft.com/office/powerpoint/2010/main" xmlns="" val="24697353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BC4DC8-07CB-4D75-8A87-A2C3094D1282}" type="slidenum">
              <a:rPr lang="en-US" altLang="zh-TW"/>
              <a:pPr/>
              <a:t>4</a:t>
            </a:fld>
            <a:endParaRPr lang="en-US" altLang="zh-TW"/>
          </a:p>
        </p:txBody>
      </p:sp>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p:txBody>
          <a:bodyPr/>
          <a:lstStyle/>
          <a:p>
            <a:endParaRPr lang="zh-TW" altLang="zh-TW"/>
          </a:p>
        </p:txBody>
      </p:sp>
    </p:spTree>
    <p:extLst>
      <p:ext uri="{BB962C8B-B14F-4D97-AF65-F5344CB8AC3E}">
        <p14:creationId xmlns:p14="http://schemas.microsoft.com/office/powerpoint/2010/main" xmlns="" val="3929008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D66B7D-5F5A-44C5-9E0E-13AE8EE426AB}" type="slidenum">
              <a:rPr lang="en-US" altLang="zh-TW"/>
              <a:pPr/>
              <a:t>5</a:t>
            </a:fld>
            <a:endParaRPr lang="en-US" altLang="zh-TW"/>
          </a:p>
        </p:txBody>
      </p:sp>
      <p:sp>
        <p:nvSpPr>
          <p:cNvPr id="112642" name="Rectangle 2"/>
          <p:cNvSpPr>
            <a:spLocks noGrp="1" noRot="1" noChangeAspect="1" noChangeArrowheads="1" noTextEdit="1"/>
          </p:cNvSpPr>
          <p:nvPr>
            <p:ph type="sldImg"/>
          </p:nvPr>
        </p:nvSpPr>
        <p:spPr>
          <a:ln/>
        </p:spPr>
      </p:sp>
      <p:sp>
        <p:nvSpPr>
          <p:cNvPr id="112643" name="Rectangle 3"/>
          <p:cNvSpPr>
            <a:spLocks noGrp="1" noChangeArrowheads="1"/>
          </p:cNvSpPr>
          <p:nvPr>
            <p:ph type="body" idx="1"/>
          </p:nvPr>
        </p:nvSpPr>
        <p:spPr/>
        <p:txBody>
          <a:bodyPr/>
          <a:lstStyle/>
          <a:p>
            <a:endParaRPr lang="zh-TW" altLang="zh-TW"/>
          </a:p>
        </p:txBody>
      </p:sp>
    </p:spTree>
    <p:extLst>
      <p:ext uri="{BB962C8B-B14F-4D97-AF65-F5344CB8AC3E}">
        <p14:creationId xmlns:p14="http://schemas.microsoft.com/office/powerpoint/2010/main" xmlns="" val="3937186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D66B7D-5F5A-44C5-9E0E-13AE8EE426AB}" type="slidenum">
              <a:rPr lang="en-US" altLang="zh-TW"/>
              <a:pPr/>
              <a:t>6</a:t>
            </a:fld>
            <a:endParaRPr lang="en-US" altLang="zh-TW"/>
          </a:p>
        </p:txBody>
      </p:sp>
      <p:sp>
        <p:nvSpPr>
          <p:cNvPr id="112642" name="Rectangle 2"/>
          <p:cNvSpPr>
            <a:spLocks noGrp="1" noRot="1" noChangeAspect="1" noChangeArrowheads="1" noTextEdit="1"/>
          </p:cNvSpPr>
          <p:nvPr>
            <p:ph type="sldImg"/>
          </p:nvPr>
        </p:nvSpPr>
        <p:spPr>
          <a:ln/>
        </p:spPr>
      </p:sp>
      <p:sp>
        <p:nvSpPr>
          <p:cNvPr id="112643" name="Rectangle 3"/>
          <p:cNvSpPr>
            <a:spLocks noGrp="1" noChangeArrowheads="1"/>
          </p:cNvSpPr>
          <p:nvPr>
            <p:ph type="body" idx="1"/>
          </p:nvPr>
        </p:nvSpPr>
        <p:spPr/>
        <p:txBody>
          <a:bodyPr/>
          <a:lstStyle/>
          <a:p>
            <a:endParaRPr lang="zh-TW" altLang="zh-TW"/>
          </a:p>
        </p:txBody>
      </p:sp>
    </p:spTree>
    <p:extLst>
      <p:ext uri="{BB962C8B-B14F-4D97-AF65-F5344CB8AC3E}">
        <p14:creationId xmlns:p14="http://schemas.microsoft.com/office/powerpoint/2010/main" xmlns="" val="3420402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D66B7D-5F5A-44C5-9E0E-13AE8EE426AB}" type="slidenum">
              <a:rPr lang="en-US" altLang="zh-TW"/>
              <a:pPr/>
              <a:t>7</a:t>
            </a:fld>
            <a:endParaRPr lang="en-US" altLang="zh-TW"/>
          </a:p>
        </p:txBody>
      </p:sp>
      <p:sp>
        <p:nvSpPr>
          <p:cNvPr id="112642" name="Rectangle 2"/>
          <p:cNvSpPr>
            <a:spLocks noGrp="1" noRot="1" noChangeAspect="1" noChangeArrowheads="1" noTextEdit="1"/>
          </p:cNvSpPr>
          <p:nvPr>
            <p:ph type="sldImg"/>
          </p:nvPr>
        </p:nvSpPr>
        <p:spPr>
          <a:ln/>
        </p:spPr>
      </p:sp>
      <p:sp>
        <p:nvSpPr>
          <p:cNvPr id="112643" name="Rectangle 3"/>
          <p:cNvSpPr>
            <a:spLocks noGrp="1" noChangeArrowheads="1"/>
          </p:cNvSpPr>
          <p:nvPr>
            <p:ph type="body" idx="1"/>
          </p:nvPr>
        </p:nvSpPr>
        <p:spPr/>
        <p:txBody>
          <a:bodyPr/>
          <a:lstStyle/>
          <a:p>
            <a:endParaRPr lang="zh-TW" altLang="zh-TW"/>
          </a:p>
        </p:txBody>
      </p:sp>
    </p:spTree>
    <p:extLst>
      <p:ext uri="{BB962C8B-B14F-4D97-AF65-F5344CB8AC3E}">
        <p14:creationId xmlns:p14="http://schemas.microsoft.com/office/powerpoint/2010/main" xmlns="" val="4250994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8" name="標題 7"/>
          <p:cNvSpPr>
            <a:spLocks noGrp="1"/>
          </p:cNvSpPr>
          <p:nvPr>
            <p:ph type="ctrTitle"/>
          </p:nvPr>
        </p:nvSpPr>
        <p:spPr>
          <a:xfrm>
            <a:off x="1242392" y="1556792"/>
            <a:ext cx="6858000" cy="1440160"/>
          </a:xfrm>
        </p:spPr>
        <p:txBody>
          <a:bodyPr anchor="t" anchorCtr="0"/>
          <a:lstStyle>
            <a:lvl1pPr algn="r">
              <a:defRPr sz="3200" b="1">
                <a:solidFill>
                  <a:schemeClr val="tx1"/>
                </a:solidFill>
              </a:defRPr>
            </a:lvl1pPr>
          </a:lstStyle>
          <a:p>
            <a:r>
              <a:rPr kumimoji="0" lang="zh-TW" altLang="en-US" dirty="0" smtClean="0"/>
              <a:t>按一下以編輯母片標題樣式</a:t>
            </a:r>
            <a:endParaRPr kumimoji="0" lang="en-US" dirty="0"/>
          </a:p>
        </p:txBody>
      </p:sp>
      <p:sp>
        <p:nvSpPr>
          <p:cNvPr id="9" name="副標題 8"/>
          <p:cNvSpPr>
            <a:spLocks noGrp="1"/>
          </p:cNvSpPr>
          <p:nvPr>
            <p:ph type="subTitle" idx="1"/>
          </p:nvPr>
        </p:nvSpPr>
        <p:spPr>
          <a:xfrm>
            <a:off x="1219200" y="3228979"/>
            <a:ext cx="6858000" cy="2200243"/>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smtClean="0"/>
              <a:t>按一下以編輯母片副標題樣式</a:t>
            </a:r>
            <a:endParaRPr kumimoji="0" lang="en-US"/>
          </a:p>
        </p:txBody>
      </p:sp>
      <p:sp>
        <p:nvSpPr>
          <p:cNvPr id="28" name="日期版面配置區 27"/>
          <p:cNvSpPr>
            <a:spLocks noGrp="1"/>
          </p:cNvSpPr>
          <p:nvPr>
            <p:ph type="dt" sz="half" idx="10"/>
          </p:nvPr>
        </p:nvSpPr>
        <p:spPr>
          <a:xfrm>
            <a:off x="6400800" y="6355080"/>
            <a:ext cx="2286000" cy="365760"/>
          </a:xfrm>
        </p:spPr>
        <p:txBody>
          <a:bodyPr/>
          <a:lstStyle>
            <a:lvl1pPr>
              <a:defRPr sz="1400"/>
            </a:lvl1pPr>
          </a:lstStyle>
          <a:p>
            <a:r>
              <a:rPr lang="en-US" altLang="zh-TW" smtClean="0"/>
              <a:t>2014/1/27</a:t>
            </a:r>
            <a:endParaRPr lang="zh-TW" altLang="en-US"/>
          </a:p>
        </p:txBody>
      </p:sp>
      <p:sp>
        <p:nvSpPr>
          <p:cNvPr id="17" name="頁尾版面配置區 16"/>
          <p:cNvSpPr>
            <a:spLocks noGrp="1"/>
          </p:cNvSpPr>
          <p:nvPr>
            <p:ph type="ftr" sz="quarter" idx="11"/>
          </p:nvPr>
        </p:nvSpPr>
        <p:spPr>
          <a:xfrm>
            <a:off x="2898648" y="6355080"/>
            <a:ext cx="3474720" cy="365760"/>
          </a:xfrm>
        </p:spPr>
        <p:txBody>
          <a:bodyPr/>
          <a:lstStyle/>
          <a:p>
            <a:endParaRPr lang="zh-TW" altLang="en-US"/>
          </a:p>
        </p:txBody>
      </p:sp>
      <p:sp>
        <p:nvSpPr>
          <p:cNvPr id="29" name="投影片編號版面配置區 28"/>
          <p:cNvSpPr>
            <a:spLocks noGrp="1"/>
          </p:cNvSpPr>
          <p:nvPr>
            <p:ph type="sldNum" sz="quarter" idx="12"/>
          </p:nvPr>
        </p:nvSpPr>
        <p:spPr>
          <a:xfrm>
            <a:off x="1216152" y="6355080"/>
            <a:ext cx="1219200" cy="365760"/>
          </a:xfrm>
        </p:spPr>
        <p:txBody>
          <a:bodyPr/>
          <a:lstStyle/>
          <a:p>
            <a:fld id="{61A04B93-F247-42E5-95CE-B8478AD23DB7}" type="slidenum">
              <a:rPr lang="zh-TW" altLang="en-US" smtClean="0"/>
              <a:pPr/>
              <a:t>‹#›</a:t>
            </a:fld>
            <a:endParaRPr lang="zh-TW" altLang="en-US"/>
          </a:p>
        </p:txBody>
      </p:sp>
      <p:sp>
        <p:nvSpPr>
          <p:cNvPr id="21" name="矩形 20"/>
          <p:cNvSpPr/>
          <p:nvPr/>
        </p:nvSpPr>
        <p:spPr>
          <a:xfrm>
            <a:off x="904875" y="980728"/>
            <a:ext cx="7315200" cy="2088232"/>
          </a:xfrm>
          <a:prstGeom prst="rect">
            <a:avLst/>
          </a:prstGeom>
          <a:noFill/>
          <a:ln w="6350" cap="rnd" cmpd="sng" algn="ctr">
            <a:solidFill>
              <a:schemeClr val="accent1">
                <a:lumMod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矩形 32"/>
          <p:cNvSpPr/>
          <p:nvPr/>
        </p:nvSpPr>
        <p:spPr>
          <a:xfrm>
            <a:off x="914400" y="3140968"/>
            <a:ext cx="7305675" cy="2376264"/>
          </a:xfrm>
          <a:prstGeom prst="rect">
            <a:avLst/>
          </a:prstGeom>
          <a:noFill/>
          <a:ln w="6350" cap="rnd" cmpd="sng" algn="ctr">
            <a:solidFill>
              <a:schemeClr val="accent3">
                <a:lumMod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矩形 21"/>
          <p:cNvSpPr/>
          <p:nvPr/>
        </p:nvSpPr>
        <p:spPr>
          <a:xfrm>
            <a:off x="904875" y="980728"/>
            <a:ext cx="228600" cy="2088232"/>
          </a:xfrm>
          <a:prstGeom prst="rect">
            <a:avLst/>
          </a:prstGeom>
          <a:solidFill>
            <a:schemeClr val="accent1">
              <a:lumMod val="75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矩形 31"/>
          <p:cNvSpPr/>
          <p:nvPr/>
        </p:nvSpPr>
        <p:spPr>
          <a:xfrm>
            <a:off x="904875" y="3140968"/>
            <a:ext cx="238125" cy="2376264"/>
          </a:xfrm>
          <a:prstGeom prst="rect">
            <a:avLst/>
          </a:prstGeom>
          <a:solidFill>
            <a:schemeClr val="accent3">
              <a:lumMod val="75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b="1">
                <a:latin typeface="微軟正黑體" panose="020B0604030504040204" pitchFamily="34" charset="-120"/>
                <a:ea typeface="微軟正黑體" panose="020B0604030504040204" pitchFamily="34" charset="-120"/>
              </a:defRPr>
            </a:lvl1pPr>
          </a:lstStyle>
          <a:p>
            <a:r>
              <a:rPr kumimoji="0" lang="zh-TW" altLang="en-US" dirty="0" smtClean="0"/>
              <a:t>按一下以編輯母片標題樣式</a:t>
            </a:r>
            <a:endParaRPr kumimoji="0" lang="en-US" dirty="0"/>
          </a:p>
        </p:txBody>
      </p:sp>
      <p:sp>
        <p:nvSpPr>
          <p:cNvPr id="4" name="日期版面配置區 3"/>
          <p:cNvSpPr>
            <a:spLocks noGrp="1"/>
          </p:cNvSpPr>
          <p:nvPr>
            <p:ph type="dt" sz="half" idx="10"/>
          </p:nvPr>
        </p:nvSpPr>
        <p:spPr/>
        <p:txBody>
          <a:bodyPr/>
          <a:lstStyle>
            <a:lvl1pPr>
              <a:defRPr>
                <a:latin typeface="微軟正黑體" panose="020B0604030504040204" pitchFamily="34" charset="-120"/>
                <a:ea typeface="微軟正黑體" panose="020B0604030504040204" pitchFamily="34" charset="-120"/>
              </a:defRPr>
            </a:lvl1pPr>
          </a:lstStyle>
          <a:p>
            <a:r>
              <a:rPr lang="en-US" altLang="zh-TW" smtClean="0"/>
              <a:t>2014/1/27</a:t>
            </a:r>
            <a:endParaRPr lang="zh-TW" altLang="en-US"/>
          </a:p>
        </p:txBody>
      </p:sp>
      <p:sp>
        <p:nvSpPr>
          <p:cNvPr id="5" name="頁尾版面配置區 4"/>
          <p:cNvSpPr>
            <a:spLocks noGrp="1"/>
          </p:cNvSpPr>
          <p:nvPr>
            <p:ph type="ftr" sz="quarter" idx="11"/>
          </p:nvPr>
        </p:nvSpPr>
        <p:spPr/>
        <p:txBody>
          <a:bodyPr/>
          <a:lstStyle>
            <a:lvl1pPr>
              <a:defRPr>
                <a:latin typeface="微軟正黑體" panose="020B0604030504040204" pitchFamily="34" charset="-120"/>
                <a:ea typeface="微軟正黑體" panose="020B0604030504040204" pitchFamily="34" charset="-120"/>
              </a:defRPr>
            </a:lvl1pPr>
          </a:lstStyle>
          <a:p>
            <a:endParaRPr lang="zh-TW" altLang="en-US"/>
          </a:p>
        </p:txBody>
      </p:sp>
      <p:sp>
        <p:nvSpPr>
          <p:cNvPr id="6" name="投影片編號版面配置區 5"/>
          <p:cNvSpPr>
            <a:spLocks noGrp="1"/>
          </p:cNvSpPr>
          <p:nvPr>
            <p:ph type="sldNum" sz="quarter" idx="12"/>
          </p:nvPr>
        </p:nvSpPr>
        <p:spPr/>
        <p:txBody>
          <a:bodyPr/>
          <a:lstStyle>
            <a:lvl1pPr>
              <a:defRPr>
                <a:latin typeface="微軟正黑體" panose="020B0604030504040204" pitchFamily="34" charset="-120"/>
                <a:ea typeface="微軟正黑體" panose="020B0604030504040204" pitchFamily="34" charset="-120"/>
              </a:defRPr>
            </a:lvl1pPr>
          </a:lstStyle>
          <a:p>
            <a:fld id="{61A04B93-F247-42E5-95CE-B8478AD23DB7}" type="slidenum">
              <a:rPr lang="zh-TW" altLang="en-US" smtClean="0"/>
              <a:pPr/>
              <a:t>‹#›</a:t>
            </a:fld>
            <a:endParaRPr lang="zh-TW" altLang="en-US"/>
          </a:p>
        </p:txBody>
      </p:sp>
      <p:sp>
        <p:nvSpPr>
          <p:cNvPr id="8" name="內容版面配置區 7"/>
          <p:cNvSpPr>
            <a:spLocks noGrp="1"/>
          </p:cNvSpPr>
          <p:nvPr>
            <p:ph sz="quarter" idx="1"/>
          </p:nvPr>
        </p:nvSpPr>
        <p:spPr>
          <a:xfrm>
            <a:off x="457200" y="1219200"/>
            <a:ext cx="8229600" cy="4937760"/>
          </a:xfrm>
        </p:spPr>
        <p:txBody>
          <a:bodyPr/>
          <a:lstStyle>
            <a:lvl1pPr>
              <a:defRPr>
                <a:latin typeface="微軟正黑體" panose="020B0604030504040204" pitchFamily="34" charset="-120"/>
                <a:ea typeface="微軟正黑體" panose="020B0604030504040204" pitchFamily="34" charset="-120"/>
              </a:defRPr>
            </a:lvl1pPr>
            <a:lvl2pPr>
              <a:defRPr>
                <a:latin typeface="微軟正黑體" panose="020B0604030504040204" pitchFamily="34" charset="-120"/>
                <a:ea typeface="微軟正黑體" panose="020B0604030504040204" pitchFamily="34" charset="-120"/>
              </a:defRPr>
            </a:lvl2pPr>
            <a:lvl3pPr>
              <a:defRPr>
                <a:latin typeface="微軟正黑體" panose="020B0604030504040204" pitchFamily="34" charset="-120"/>
                <a:ea typeface="微軟正黑體" panose="020B0604030504040204" pitchFamily="34" charset="-120"/>
              </a:defRPr>
            </a:lvl3pPr>
            <a:lvl4pPr>
              <a:defRPr>
                <a:latin typeface="微軟正黑體" panose="020B0604030504040204" pitchFamily="34" charset="-120"/>
                <a:ea typeface="微軟正黑體" panose="020B0604030504040204" pitchFamily="34" charset="-120"/>
              </a:defRPr>
            </a:lvl4pPr>
            <a:lvl5pPr>
              <a:defRPr>
                <a:latin typeface="微軟正黑體" panose="020B0604030504040204" pitchFamily="34" charset="-120"/>
                <a:ea typeface="微軟正黑體" panose="020B0604030504040204" pitchFamily="34" charset="-120"/>
              </a:defRPr>
            </a:lvl5pPr>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Ref idx="1001">
        <a:schemeClr val="bg2"/>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smtClean="0"/>
              <a:t>按一下以編輯母片文字樣式</a:t>
            </a:r>
          </a:p>
        </p:txBody>
      </p:sp>
      <p:sp>
        <p:nvSpPr>
          <p:cNvPr id="4" name="日期版面配置區 3"/>
          <p:cNvSpPr>
            <a:spLocks noGrp="1"/>
          </p:cNvSpPr>
          <p:nvPr>
            <p:ph type="dt" sz="half" idx="10"/>
          </p:nvPr>
        </p:nvSpPr>
        <p:spPr>
          <a:xfrm>
            <a:off x="6400800" y="6355080"/>
            <a:ext cx="2286000" cy="365760"/>
          </a:xfrm>
        </p:spPr>
        <p:txBody>
          <a:bodyPr/>
          <a:lstStyle/>
          <a:p>
            <a:r>
              <a:rPr lang="en-US" altLang="zh-TW" smtClean="0"/>
              <a:t>2014/1/27</a:t>
            </a:r>
            <a:endParaRPr lang="zh-TW" altLang="en-US"/>
          </a:p>
        </p:txBody>
      </p:sp>
      <p:sp>
        <p:nvSpPr>
          <p:cNvPr id="5" name="頁尾版面配置區 4"/>
          <p:cNvSpPr>
            <a:spLocks noGrp="1"/>
          </p:cNvSpPr>
          <p:nvPr>
            <p:ph type="ftr" sz="quarter" idx="11"/>
          </p:nvPr>
        </p:nvSpPr>
        <p:spPr>
          <a:xfrm>
            <a:off x="2898648" y="6355080"/>
            <a:ext cx="3474720" cy="365760"/>
          </a:xfrm>
        </p:spPr>
        <p:txBody>
          <a:bodyPr/>
          <a:lstStyle/>
          <a:p>
            <a:endParaRPr lang="zh-TW" altLang="en-US"/>
          </a:p>
        </p:txBody>
      </p:sp>
      <p:sp>
        <p:nvSpPr>
          <p:cNvPr id="6" name="投影片編號版面配置區 5"/>
          <p:cNvSpPr>
            <a:spLocks noGrp="1"/>
          </p:cNvSpPr>
          <p:nvPr>
            <p:ph type="sldNum" sz="quarter" idx="12"/>
          </p:nvPr>
        </p:nvSpPr>
        <p:spPr>
          <a:xfrm>
            <a:off x="1069848" y="6355080"/>
            <a:ext cx="1520952" cy="365760"/>
          </a:xfrm>
        </p:spPr>
        <p:txBody>
          <a:bodyPr/>
          <a:lstStyle/>
          <a:p>
            <a:fld id="{61A04B93-F247-42E5-95CE-B8478AD23DB7}" type="slidenum">
              <a:rPr lang="zh-TW" altLang="en-US" smtClean="0"/>
              <a:pPr/>
              <a:t>‹#›</a:t>
            </a:fld>
            <a:endParaRPr lang="zh-TW" altLang="en-US"/>
          </a:p>
        </p:txBody>
      </p:sp>
      <p:sp>
        <p:nvSpPr>
          <p:cNvPr id="7" name="矩形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lstStyle/>
          <a:p>
            <a:r>
              <a:rPr kumimoji="0" lang="zh-TW" altLang="en-US" smtClean="0"/>
              <a:t>按一下以編輯母片標題樣式</a:t>
            </a:r>
            <a:endParaRPr kumimoji="0" lang="en-US"/>
          </a:p>
        </p:txBody>
      </p:sp>
      <p:sp>
        <p:nvSpPr>
          <p:cNvPr id="5" name="日期版面配置區 4"/>
          <p:cNvSpPr>
            <a:spLocks noGrp="1"/>
          </p:cNvSpPr>
          <p:nvPr>
            <p:ph type="dt" sz="half" idx="10"/>
          </p:nvPr>
        </p:nvSpPr>
        <p:spPr/>
        <p:txBody>
          <a:bodyPr/>
          <a:lstStyle/>
          <a:p>
            <a:r>
              <a:rPr lang="en-US" altLang="zh-TW" smtClean="0"/>
              <a:t>2014/1/27</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9" name="內容版面配置區 8"/>
          <p:cNvSpPr>
            <a:spLocks noGrp="1"/>
          </p:cNvSpPr>
          <p:nvPr>
            <p:ph sz="quarter" idx="1"/>
          </p:nvPr>
        </p:nvSpPr>
        <p:spPr>
          <a:xfrm>
            <a:off x="457200" y="1219200"/>
            <a:ext cx="4041648" cy="493776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1" name="內容版面配置區 10"/>
          <p:cNvSpPr>
            <a:spLocks noGrp="1"/>
          </p:cNvSpPr>
          <p:nvPr>
            <p:ph sz="quarter" idx="2"/>
          </p:nvPr>
        </p:nvSpPr>
        <p:spPr>
          <a:xfrm>
            <a:off x="4632198" y="1216152"/>
            <a:ext cx="4041648" cy="493776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nchor="ctr"/>
          <a:lstStyle>
            <a:lvl1pPr>
              <a:defRPr/>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4" name="文字版面配置區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7" name="日期版面配置區 6"/>
          <p:cNvSpPr>
            <a:spLocks noGrp="1"/>
          </p:cNvSpPr>
          <p:nvPr>
            <p:ph type="dt" sz="half" idx="10"/>
          </p:nvPr>
        </p:nvSpPr>
        <p:spPr/>
        <p:txBody>
          <a:bodyPr/>
          <a:lstStyle/>
          <a:p>
            <a:r>
              <a:rPr lang="en-US" altLang="zh-TW" smtClean="0"/>
              <a:t>2014/1/27</a:t>
            </a:r>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11" name="內容版面配置區 10"/>
          <p:cNvSpPr>
            <a:spLocks noGrp="1"/>
          </p:cNvSpPr>
          <p:nvPr>
            <p:ph sz="quarter" idx="2"/>
          </p:nvPr>
        </p:nvSpPr>
        <p:spPr>
          <a:xfrm>
            <a:off x="457200" y="2133600"/>
            <a:ext cx="4038600" cy="40386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3" name="內容版面配置區 12"/>
          <p:cNvSpPr>
            <a:spLocks noGrp="1"/>
          </p:cNvSpPr>
          <p:nvPr>
            <p:ph sz="quarter" idx="4"/>
          </p:nvPr>
        </p:nvSpPr>
        <p:spPr>
          <a:xfrm>
            <a:off x="4648200" y="2133600"/>
            <a:ext cx="4038600" cy="40386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lstStyle/>
          <a:p>
            <a:r>
              <a:rPr kumimoji="0" lang="zh-TW" altLang="en-US" smtClean="0"/>
              <a:t>按一下以編輯母片標題樣式</a:t>
            </a:r>
            <a:endParaRPr kumimoji="0" lang="en-US"/>
          </a:p>
        </p:txBody>
      </p:sp>
      <p:sp>
        <p:nvSpPr>
          <p:cNvPr id="3" name="日期版面配置區 2"/>
          <p:cNvSpPr>
            <a:spLocks noGrp="1"/>
          </p:cNvSpPr>
          <p:nvPr>
            <p:ph type="dt" sz="half" idx="10"/>
          </p:nvPr>
        </p:nvSpPr>
        <p:spPr/>
        <p:txBody>
          <a:bodyPr/>
          <a:lstStyle/>
          <a:p>
            <a:r>
              <a:rPr lang="en-US" altLang="zh-TW" smtClean="0"/>
              <a:t>2014/1/27</a:t>
            </a:r>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r>
              <a:rPr lang="en-US" altLang="zh-TW" smtClean="0"/>
              <a:t>2014/1/27</a:t>
            </a:r>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5" name="直線接點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zh-TW" altLang="en-US" smtClean="0"/>
              <a:t>按一下以編輯母片標題樣式</a:t>
            </a:r>
            <a:endParaRPr kumimoji="0" lang="en-US"/>
          </a:p>
        </p:txBody>
      </p:sp>
      <p:sp>
        <p:nvSpPr>
          <p:cNvPr id="3" name="文字版面配置區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r>
              <a:rPr lang="en-US" altLang="zh-TW" smtClean="0"/>
              <a:t>2014/1/27</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8" name="直線接點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直線接點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內容版面配置區 11"/>
          <p:cNvSpPr>
            <a:spLocks noGrp="1"/>
          </p:cNvSpPr>
          <p:nvPr>
            <p:ph sz="quarter" idx="1"/>
          </p:nvPr>
        </p:nvSpPr>
        <p:spPr>
          <a:xfrm>
            <a:off x="304800" y="304800"/>
            <a:ext cx="5715000" cy="57150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bg>
      <p:bgRef idx="1001">
        <a:schemeClr val="bg2"/>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zh-TW" altLang="en-US" smtClean="0"/>
              <a:t>按一下以編輯母片標題樣式</a:t>
            </a:r>
            <a:endParaRPr kumimoji="0" lang="en-US"/>
          </a:p>
        </p:txBody>
      </p:sp>
      <p:sp>
        <p:nvSpPr>
          <p:cNvPr id="3" name="圖片版面配置區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zh-TW" altLang="en-US" smtClean="0"/>
              <a:t>按一下圖示以新增圖片</a:t>
            </a:r>
            <a:endParaRPr kumimoji="0" lang="en-US" dirty="0"/>
          </a:p>
        </p:txBody>
      </p:sp>
      <p:sp>
        <p:nvSpPr>
          <p:cNvPr id="4" name="文字版面配置區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r>
              <a:rPr lang="en-US" altLang="zh-TW" smtClean="0"/>
              <a:t>2014/1/27</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8" name="直線接點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r>
              <a:rPr lang="en-US" altLang="zh-TW" smtClean="0"/>
              <a:t>2014/1/27</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r>
              <a:rPr lang="en-US" altLang="zh-TW" smtClean="0"/>
              <a:t>2014/1/27</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7" name="直線接點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等腰三角形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線接點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762000" y="533400"/>
            <a:ext cx="7620000" cy="769938"/>
          </a:xfrm>
        </p:spPr>
        <p:txBody>
          <a:bodyPr/>
          <a:lstStyle/>
          <a:p>
            <a:r>
              <a:rPr lang="zh-TW" altLang="en-US" smtClean="0"/>
              <a:t>按一下以編輯母片標題樣式</a:t>
            </a:r>
            <a:endParaRPr lang="zh-TW" altLang="en-US"/>
          </a:p>
        </p:txBody>
      </p:sp>
      <p:sp>
        <p:nvSpPr>
          <p:cNvPr id="3" name="表格版面配置區 2"/>
          <p:cNvSpPr>
            <a:spLocks noGrp="1"/>
          </p:cNvSpPr>
          <p:nvPr>
            <p:ph type="tbl" idx="1"/>
          </p:nvPr>
        </p:nvSpPr>
        <p:spPr>
          <a:xfrm>
            <a:off x="762000" y="1524000"/>
            <a:ext cx="7772400" cy="4114800"/>
          </a:xfrm>
        </p:spPr>
        <p:txBody>
          <a:bodyPr/>
          <a:lstStyle/>
          <a:p>
            <a:endParaRPr lang="zh-TW" altLang="en-US"/>
          </a:p>
        </p:txBody>
      </p:sp>
      <p:sp>
        <p:nvSpPr>
          <p:cNvPr id="4" name="日期版面配置區 3"/>
          <p:cNvSpPr>
            <a:spLocks noGrp="1"/>
          </p:cNvSpPr>
          <p:nvPr>
            <p:ph type="dt" sz="half" idx="10"/>
          </p:nvPr>
        </p:nvSpPr>
        <p:spPr>
          <a:xfrm>
            <a:off x="914400" y="6324600"/>
            <a:ext cx="1905000" cy="457200"/>
          </a:xfrm>
        </p:spPr>
        <p:txBody>
          <a:bodyPr/>
          <a:lstStyle>
            <a:lvl1pPr>
              <a:defRPr/>
            </a:lvl1pPr>
          </a:lstStyle>
          <a:p>
            <a:r>
              <a:rPr lang="en-US" altLang="zh-TW" smtClean="0"/>
              <a:t>2014/1/27</a:t>
            </a:r>
            <a:endParaRPr lang="en-US" altLang="zh-TW"/>
          </a:p>
        </p:txBody>
      </p:sp>
      <p:sp>
        <p:nvSpPr>
          <p:cNvPr id="5" name="頁尾版面配置區 4"/>
          <p:cNvSpPr>
            <a:spLocks noGrp="1"/>
          </p:cNvSpPr>
          <p:nvPr>
            <p:ph type="ftr" sz="quarter" idx="11"/>
          </p:nvPr>
        </p:nvSpPr>
        <p:spPr>
          <a:xfrm>
            <a:off x="2362200" y="6324600"/>
            <a:ext cx="4876800" cy="457200"/>
          </a:xfrm>
        </p:spPr>
        <p:txBody>
          <a:bodyPr/>
          <a:lstStyle>
            <a:lvl1pPr>
              <a:defRPr/>
            </a:lvl1pPr>
          </a:lstStyle>
          <a:p>
            <a:endParaRPr lang="zh-TW" altLang="zh-TW"/>
          </a:p>
        </p:txBody>
      </p:sp>
      <p:sp>
        <p:nvSpPr>
          <p:cNvPr id="6" name="投影片編號版面配置區 5"/>
          <p:cNvSpPr>
            <a:spLocks noGrp="1"/>
          </p:cNvSpPr>
          <p:nvPr>
            <p:ph type="sldNum" sz="quarter" idx="12"/>
          </p:nvPr>
        </p:nvSpPr>
        <p:spPr>
          <a:xfrm>
            <a:off x="6781800" y="6324600"/>
            <a:ext cx="1905000" cy="457200"/>
          </a:xfrm>
        </p:spPr>
        <p:txBody>
          <a:bodyPr/>
          <a:lstStyle>
            <a:lvl1pPr>
              <a:defRPr/>
            </a:lvl1pPr>
          </a:lstStyle>
          <a:p>
            <a:r>
              <a:rPr lang="en-US" altLang="zh-TW"/>
              <a:t>4 -</a:t>
            </a:r>
            <a:fld id="{D006B8F7-737D-4A54-86E7-4A80C1E61F93}" type="slidenum">
              <a:rPr lang="en-US" altLang="zh-TW"/>
              <a:pPr/>
              <a:t>‹#›</a:t>
            </a:fld>
            <a:endParaRPr lang="en-US" altLang="zh-TW"/>
          </a:p>
        </p:txBody>
      </p:sp>
    </p:spTree>
    <p:extLst>
      <p:ext uri="{BB962C8B-B14F-4D97-AF65-F5344CB8AC3E}">
        <p14:creationId xmlns:p14="http://schemas.microsoft.com/office/powerpoint/2010/main" xmlns="" val="2017361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標題版面配置區 21"/>
          <p:cNvSpPr>
            <a:spLocks noGrp="1"/>
          </p:cNvSpPr>
          <p:nvPr>
            <p:ph type="title"/>
          </p:nvPr>
        </p:nvSpPr>
        <p:spPr>
          <a:xfrm>
            <a:off x="457200" y="152400"/>
            <a:ext cx="8229600" cy="990600"/>
          </a:xfrm>
          <a:prstGeom prst="rect">
            <a:avLst/>
          </a:prstGeom>
        </p:spPr>
        <p:txBody>
          <a:bodyPr vert="horz" anchor="b" anchorCtr="0">
            <a:normAutofit/>
          </a:bodyPr>
          <a:lstStyle/>
          <a:p>
            <a:r>
              <a:rPr kumimoji="0" lang="zh-TW" altLang="en-US" dirty="0" smtClean="0"/>
              <a:t>按一下以編輯母片標題樣式</a:t>
            </a:r>
            <a:endParaRPr kumimoji="0" lang="en-US" dirty="0"/>
          </a:p>
        </p:txBody>
      </p:sp>
      <p:sp>
        <p:nvSpPr>
          <p:cNvPr id="13" name="文字版面配置區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zh-TW" altLang="en-US" dirty="0" smtClean="0"/>
              <a:t>按一下以編輯母片文字樣式</a:t>
            </a:r>
          </a:p>
          <a:p>
            <a:pPr lvl="1" eaLnBrk="1" latinLnBrk="0" hangingPunct="1"/>
            <a:r>
              <a:rPr kumimoji="0" lang="zh-TW" altLang="en-US" dirty="0" smtClean="0"/>
              <a:t>第二層</a:t>
            </a:r>
          </a:p>
          <a:p>
            <a:pPr lvl="2" eaLnBrk="1" latinLnBrk="0" hangingPunct="1"/>
            <a:r>
              <a:rPr kumimoji="0" lang="zh-TW" altLang="en-US" dirty="0" smtClean="0"/>
              <a:t>第三層</a:t>
            </a:r>
          </a:p>
          <a:p>
            <a:pPr lvl="3" eaLnBrk="1" latinLnBrk="0" hangingPunct="1"/>
            <a:r>
              <a:rPr kumimoji="0" lang="zh-TW" altLang="en-US" dirty="0" smtClean="0"/>
              <a:t>第四層</a:t>
            </a:r>
          </a:p>
          <a:p>
            <a:pPr lvl="4" eaLnBrk="1" latinLnBrk="0" hangingPunct="1"/>
            <a:r>
              <a:rPr kumimoji="0" lang="zh-TW" altLang="en-US" dirty="0" smtClean="0"/>
              <a:t>第五層</a:t>
            </a:r>
            <a:endParaRPr kumimoji="0" lang="en-US" dirty="0"/>
          </a:p>
        </p:txBody>
      </p:sp>
      <p:sp>
        <p:nvSpPr>
          <p:cNvPr id="14" name="日期版面配置區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r>
              <a:rPr lang="en-US" altLang="zh-TW" smtClean="0"/>
              <a:t>2014/1/27</a:t>
            </a:r>
            <a:endParaRPr lang="zh-TW" altLang="en-US"/>
          </a:p>
        </p:txBody>
      </p:sp>
      <p:sp>
        <p:nvSpPr>
          <p:cNvPr id="3" name="頁尾版面配置區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zh-TW" altLang="en-US"/>
          </a:p>
        </p:txBody>
      </p:sp>
      <p:sp>
        <p:nvSpPr>
          <p:cNvPr id="23" name="投影片編號版面配置區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61A04B93-F247-42E5-95CE-B8478AD23DB7}" type="slidenum">
              <a:rPr lang="zh-TW" altLang="en-US" smtClean="0"/>
              <a:pPr/>
              <a:t>‹#›</a:t>
            </a:fld>
            <a:endParaRPr lang="zh-TW" altLang="en-US"/>
          </a:p>
        </p:txBody>
      </p:sp>
      <p:sp>
        <p:nvSpPr>
          <p:cNvPr id="28" name="直線接點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直線接點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等腰三角形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hf hdr="0" ftr="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242392" y="1052736"/>
            <a:ext cx="6858000" cy="1944216"/>
          </a:xfrm>
        </p:spPr>
        <p:txBody>
          <a:bodyPr>
            <a:noAutofit/>
          </a:bodyPr>
          <a:lstStyle/>
          <a:p>
            <a:pPr algn="l"/>
            <a:r>
              <a:rPr lang="en-US" altLang="zh-TW" dirty="0"/>
              <a:t>On computing the length of longest increasing subsequences</a:t>
            </a:r>
            <a:br>
              <a:rPr lang="en-US" altLang="zh-TW" dirty="0"/>
            </a:br>
            <a:r>
              <a:rPr lang="en-US" altLang="zh-TW" sz="2400" b="0" dirty="0"/>
              <a:t>Discrete Mathematics</a:t>
            </a:r>
            <a:r>
              <a:rPr lang="en-US" altLang="zh-TW" sz="2400" b="0" dirty="0" smtClean="0">
                <a:ea typeface="微軟正黑體" pitchFamily="34" charset="-120"/>
              </a:rPr>
              <a:t/>
            </a:r>
            <a:br>
              <a:rPr lang="en-US" altLang="zh-TW" sz="2400" b="0" dirty="0" smtClean="0">
                <a:ea typeface="微軟正黑體" pitchFamily="34" charset="-120"/>
              </a:rPr>
            </a:br>
            <a:r>
              <a:rPr lang="en-US" altLang="zh-TW" sz="2400" b="0" dirty="0" smtClean="0">
                <a:ea typeface="微軟正黑體" pitchFamily="34" charset="-120"/>
              </a:rPr>
              <a:t>	vol.</a:t>
            </a:r>
            <a:r>
              <a:rPr lang="zh-TW" altLang="en-US" sz="2400" b="0" dirty="0" smtClean="0">
                <a:ea typeface="微軟正黑體" pitchFamily="34" charset="-120"/>
              </a:rPr>
              <a:t> </a:t>
            </a:r>
            <a:r>
              <a:rPr lang="en-US" altLang="zh-TW" sz="2400" b="0" dirty="0" smtClean="0"/>
              <a:t>11</a:t>
            </a:r>
            <a:r>
              <a:rPr lang="zh-TW" altLang="en-US" sz="2400" b="0" dirty="0" smtClean="0">
                <a:ea typeface="微軟正黑體" pitchFamily="34" charset="-120"/>
              </a:rPr>
              <a:t> </a:t>
            </a:r>
            <a:r>
              <a:rPr lang="en-US" altLang="zh-TW" sz="2400" b="0" dirty="0" smtClean="0">
                <a:ea typeface="微軟正黑體" pitchFamily="34" charset="-120"/>
              </a:rPr>
              <a:t>pp.</a:t>
            </a:r>
            <a:r>
              <a:rPr lang="zh-TW" altLang="en-US" sz="2400" b="0" dirty="0"/>
              <a:t> </a:t>
            </a:r>
            <a:r>
              <a:rPr lang="en-US" altLang="zh-TW" sz="2400" b="0" dirty="0" smtClean="0"/>
              <a:t>29</a:t>
            </a:r>
            <a:r>
              <a:rPr lang="en-US" altLang="zh-TW" sz="2400" b="0" dirty="0" smtClean="0">
                <a:ea typeface="微軟正黑體" pitchFamily="34" charset="-120"/>
              </a:rPr>
              <a:t>–35</a:t>
            </a:r>
            <a:r>
              <a:rPr lang="zh-TW" altLang="en-US" sz="2400" b="0" dirty="0" smtClean="0">
                <a:ea typeface="微軟正黑體" pitchFamily="34" charset="-120"/>
              </a:rPr>
              <a:t> </a:t>
            </a:r>
            <a:r>
              <a:rPr lang="en-US" altLang="zh-TW" sz="2400" b="0" dirty="0" smtClean="0">
                <a:ea typeface="微軟正黑體" pitchFamily="34" charset="-120"/>
              </a:rPr>
              <a:t>(</a:t>
            </a:r>
            <a:r>
              <a:rPr lang="en-US" altLang="zh-TW" sz="2400" b="0" dirty="0" smtClean="0"/>
              <a:t>1975</a:t>
            </a:r>
            <a:r>
              <a:rPr lang="en-US" altLang="zh-TW" sz="2400" b="0" dirty="0" smtClean="0">
                <a:ea typeface="微軟正黑體" pitchFamily="34" charset="-120"/>
              </a:rPr>
              <a:t>) </a:t>
            </a:r>
            <a:endParaRPr lang="zh-TW" altLang="en-US" sz="2000" dirty="0">
              <a:ea typeface="微軟正黑體" pitchFamily="34" charset="-120"/>
            </a:endParaRPr>
          </a:p>
        </p:txBody>
      </p:sp>
      <p:sp>
        <p:nvSpPr>
          <p:cNvPr id="3" name="副標題 2"/>
          <p:cNvSpPr>
            <a:spLocks noGrp="1"/>
          </p:cNvSpPr>
          <p:nvPr>
            <p:ph type="subTitle" idx="1"/>
          </p:nvPr>
        </p:nvSpPr>
        <p:spPr>
          <a:xfrm>
            <a:off x="1219200" y="3228979"/>
            <a:ext cx="6858000" cy="2144237"/>
          </a:xfrm>
        </p:spPr>
        <p:txBody>
          <a:bodyPr>
            <a:noAutofit/>
          </a:bodyPr>
          <a:lstStyle/>
          <a:p>
            <a:pPr algn="l" fontAlgn="base"/>
            <a:r>
              <a:rPr lang="en-US" altLang="zh-TW" sz="2400" dirty="0" smtClean="0">
                <a:solidFill>
                  <a:schemeClr val="tx1"/>
                </a:solidFill>
              </a:rPr>
              <a:t>Michael </a:t>
            </a:r>
            <a:r>
              <a:rPr lang="en-US" altLang="zh-TW" sz="2400" dirty="0">
                <a:solidFill>
                  <a:schemeClr val="tx1"/>
                </a:solidFill>
              </a:rPr>
              <a:t>L. </a:t>
            </a:r>
            <a:r>
              <a:rPr lang="en-US" altLang="zh-TW" sz="2400" dirty="0" err="1">
                <a:solidFill>
                  <a:schemeClr val="tx1"/>
                </a:solidFill>
              </a:rPr>
              <a:t>Fredman</a:t>
            </a:r>
            <a:endParaRPr lang="en-US" altLang="zh-TW" sz="2400" dirty="0">
              <a:solidFill>
                <a:schemeClr val="tx1"/>
              </a:solidFill>
            </a:endParaRPr>
          </a:p>
          <a:p>
            <a:pPr algn="l" fontAlgn="base"/>
            <a:r>
              <a:rPr lang="en-US" altLang="zh-TW" sz="1800" dirty="0" smtClean="0"/>
              <a:t>Department </a:t>
            </a:r>
            <a:r>
              <a:rPr lang="en-US" altLang="zh-TW" sz="1800" dirty="0"/>
              <a:t>of Mathematics, Massachusetts Institute of </a:t>
            </a:r>
            <a:r>
              <a:rPr lang="en-US" altLang="zh-TW" sz="1800" dirty="0" smtClean="0"/>
              <a:t>Technology, </a:t>
            </a:r>
            <a:r>
              <a:rPr lang="en-US" altLang="zh-TW" sz="1800" dirty="0"/>
              <a:t>Cambridge</a:t>
            </a:r>
          </a:p>
        </p:txBody>
      </p:sp>
      <p:sp>
        <p:nvSpPr>
          <p:cNvPr id="5" name="日期版面配置區 4"/>
          <p:cNvSpPr>
            <a:spLocks noGrp="1"/>
          </p:cNvSpPr>
          <p:nvPr>
            <p:ph type="dt" sz="half" idx="10"/>
          </p:nvPr>
        </p:nvSpPr>
        <p:spPr/>
        <p:txBody>
          <a:bodyPr/>
          <a:lstStyle/>
          <a:p>
            <a:r>
              <a:rPr lang="en-US" altLang="zh-TW" smtClean="0">
                <a:latin typeface="+mj-ea"/>
                <a:ea typeface="+mj-ea"/>
              </a:rPr>
              <a:t>2014/1/27</a:t>
            </a:r>
            <a:endParaRPr lang="zh-TW" altLang="en-US" dirty="0">
              <a:latin typeface="+mj-ea"/>
              <a:ea typeface="+mj-ea"/>
            </a:endParaRPr>
          </a:p>
        </p:txBody>
      </p:sp>
      <p:sp>
        <p:nvSpPr>
          <p:cNvPr id="6" name="副標題 2"/>
          <p:cNvSpPr txBox="1">
            <a:spLocks/>
          </p:cNvSpPr>
          <p:nvPr/>
        </p:nvSpPr>
        <p:spPr>
          <a:xfrm>
            <a:off x="1259632" y="5649613"/>
            <a:ext cx="6817568" cy="413196"/>
          </a:xfrm>
          <a:prstGeom prst="rect">
            <a:avLst/>
          </a:prstGeom>
        </p:spPr>
        <p:txBody>
          <a:bodyPr vert="horz">
            <a:noAutofit/>
          </a:bodyPr>
          <a:lstStyle>
            <a:lvl1pPr marL="0" indent="0" algn="r" rtl="0" eaLnBrk="1" latinLnBrk="0" hangingPunct="1">
              <a:spcBef>
                <a:spcPts val="600"/>
              </a:spcBef>
              <a:buClr>
                <a:schemeClr val="accent1"/>
              </a:buClr>
              <a:buSzPct val="76000"/>
              <a:buFont typeface="Wingdings 3"/>
              <a:buNone/>
              <a:defRPr kumimoji="0" sz="2000" kern="1200">
                <a:solidFill>
                  <a:schemeClr val="tx2"/>
                </a:solidFill>
                <a:latin typeface="+mj-lt"/>
                <a:ea typeface="+mj-ea"/>
                <a:cs typeface="+mj-cs"/>
              </a:defRPr>
            </a:lvl1pPr>
            <a:lvl2pPr marL="457200" indent="0" algn="ctr" rtl="0" eaLnBrk="1" latinLnBrk="0" hangingPunct="1">
              <a:spcBef>
                <a:spcPts val="500"/>
              </a:spcBef>
              <a:buClr>
                <a:schemeClr val="accent2"/>
              </a:buClr>
              <a:buSzPct val="76000"/>
              <a:buFont typeface="Wingdings 3"/>
              <a:buNone/>
              <a:defRPr kumimoji="0" sz="2300" kern="1200">
                <a:solidFill>
                  <a:schemeClr val="tx2"/>
                </a:solidFill>
                <a:latin typeface="+mn-lt"/>
                <a:ea typeface="+mn-ea"/>
                <a:cs typeface="+mn-cs"/>
              </a:defRPr>
            </a:lvl2pPr>
            <a:lvl3pPr marL="914400" indent="0" algn="ctr" rtl="0" eaLnBrk="1" latinLnBrk="0" hangingPunct="1">
              <a:spcBef>
                <a:spcPts val="500"/>
              </a:spcBef>
              <a:buClr>
                <a:schemeClr val="bg1">
                  <a:shade val="50000"/>
                </a:schemeClr>
              </a:buClr>
              <a:buSzPct val="76000"/>
              <a:buFont typeface="Wingdings 3"/>
              <a:buNone/>
              <a:defRPr kumimoji="0" sz="2000" kern="1200">
                <a:solidFill>
                  <a:schemeClr val="tx1"/>
                </a:solidFill>
                <a:latin typeface="+mn-lt"/>
                <a:ea typeface="+mn-ea"/>
                <a:cs typeface="+mn-cs"/>
              </a:defRPr>
            </a:lvl3pPr>
            <a:lvl4pPr marL="1371600" indent="0" algn="ctr" rtl="0" eaLnBrk="1" latinLnBrk="0" hangingPunct="1">
              <a:spcBef>
                <a:spcPts val="400"/>
              </a:spcBef>
              <a:buClr>
                <a:schemeClr val="accent2">
                  <a:shade val="75000"/>
                </a:schemeClr>
              </a:buClr>
              <a:buSzPct val="70000"/>
              <a:buFont typeface="Wingdings"/>
              <a:buNone/>
              <a:defRPr kumimoji="0" sz="1800" kern="1200">
                <a:solidFill>
                  <a:schemeClr val="tx1"/>
                </a:solidFill>
                <a:latin typeface="+mn-lt"/>
                <a:ea typeface="+mn-ea"/>
                <a:cs typeface="+mn-cs"/>
              </a:defRPr>
            </a:lvl4pPr>
            <a:lvl5pPr marL="1828800" indent="0" algn="ctr" rtl="0" eaLnBrk="1" latinLnBrk="0" hangingPunct="1">
              <a:spcBef>
                <a:spcPts val="300"/>
              </a:spcBef>
              <a:buClr>
                <a:schemeClr val="accent2"/>
              </a:buClr>
              <a:buSzPct val="70000"/>
              <a:buFont typeface="Wingdings"/>
              <a:buNone/>
              <a:defRPr kumimoji="0" sz="1600" kern="1200">
                <a:solidFill>
                  <a:schemeClr val="tx1"/>
                </a:solidFill>
                <a:latin typeface="+mn-lt"/>
                <a:ea typeface="+mn-ea"/>
                <a:cs typeface="+mn-cs"/>
              </a:defRPr>
            </a:lvl5pPr>
            <a:lvl6pPr marL="2286000" indent="0" algn="ctr" rtl="0" eaLnBrk="1" latinLnBrk="0" hangingPunct="1">
              <a:spcBef>
                <a:spcPts val="300"/>
              </a:spcBef>
              <a:buClr>
                <a:srgbClr val="9FB8CD">
                  <a:shade val="75000"/>
                </a:srgbClr>
              </a:buClr>
              <a:buSzPct val="75000"/>
              <a:buFont typeface="Wingdings 3"/>
              <a:buNone/>
              <a:defRPr kumimoji="0" lang="en-US" sz="1600" kern="1200" smtClean="0">
                <a:solidFill>
                  <a:schemeClr val="tx1"/>
                </a:solidFill>
                <a:latin typeface="+mn-lt"/>
                <a:ea typeface="+mn-ea"/>
                <a:cs typeface="+mn-cs"/>
              </a:defRPr>
            </a:lvl6pPr>
            <a:lvl7pPr marL="2743200" indent="0" algn="ctr" rtl="0" eaLnBrk="1" latinLnBrk="0" hangingPunct="1">
              <a:spcBef>
                <a:spcPts val="300"/>
              </a:spcBef>
              <a:buClr>
                <a:srgbClr val="727CA3">
                  <a:shade val="75000"/>
                </a:srgbClr>
              </a:buClr>
              <a:buSzPct val="75000"/>
              <a:buFont typeface="Wingdings 3"/>
              <a:buNone/>
              <a:defRPr kumimoji="0" lang="en-US" sz="1400" kern="1200" smtClean="0">
                <a:solidFill>
                  <a:schemeClr val="tx1"/>
                </a:solidFill>
                <a:latin typeface="+mn-lt"/>
                <a:ea typeface="+mn-ea"/>
                <a:cs typeface="+mn-cs"/>
              </a:defRPr>
            </a:lvl7pPr>
            <a:lvl8pPr marL="3200400" indent="0" algn="ctr" rtl="0" eaLnBrk="1" latinLnBrk="0" hangingPunct="1">
              <a:spcBef>
                <a:spcPts val="300"/>
              </a:spcBef>
              <a:buClr>
                <a:prstClr val="white">
                  <a:shade val="50000"/>
                </a:prstClr>
              </a:buClr>
              <a:buSzPct val="75000"/>
              <a:buFont typeface="Wingdings 3"/>
              <a:buNone/>
              <a:defRPr kumimoji="0" lang="en-US" sz="1400" kern="1200" smtClean="0">
                <a:solidFill>
                  <a:schemeClr val="tx1"/>
                </a:solidFill>
                <a:latin typeface="+mn-lt"/>
                <a:ea typeface="+mn-ea"/>
                <a:cs typeface="+mn-cs"/>
              </a:defRPr>
            </a:lvl8pPr>
            <a:lvl9pPr marL="3657600" indent="0" algn="ctr" rtl="0" eaLnBrk="1" latinLnBrk="0" hangingPunct="1">
              <a:spcBef>
                <a:spcPts val="300"/>
              </a:spcBef>
              <a:buClr>
                <a:srgbClr val="9FB8CD"/>
              </a:buClr>
              <a:buSzPct val="75000"/>
              <a:buFont typeface="Wingdings 3"/>
              <a:buNone/>
              <a:defRPr kumimoji="0" lang="en-US" sz="1200" kern="1200" smtClean="0">
                <a:solidFill>
                  <a:schemeClr val="tx1"/>
                </a:solidFill>
                <a:latin typeface="+mn-lt"/>
                <a:ea typeface="+mn-ea"/>
                <a:cs typeface="+mn-cs"/>
              </a:defRPr>
            </a:lvl9pPr>
          </a:lstStyle>
          <a:p>
            <a:pPr algn="l"/>
            <a:r>
              <a:rPr lang="en-US" altLang="zh-TW" sz="2400" dirty="0" smtClean="0">
                <a:solidFill>
                  <a:schemeClr val="tx1"/>
                </a:solidFill>
              </a:rPr>
              <a:t>Presentor</a:t>
            </a:r>
            <a:r>
              <a:rPr lang="zh-TW" altLang="en-US" sz="2400" dirty="0" smtClean="0">
                <a:solidFill>
                  <a:schemeClr val="tx1"/>
                </a:solidFill>
              </a:rPr>
              <a:t>：</a:t>
            </a:r>
            <a:r>
              <a:rPr lang="en-US" altLang="zh-TW" sz="2400" dirty="0" smtClean="0">
                <a:solidFill>
                  <a:schemeClr val="tx1"/>
                </a:solidFill>
              </a:rPr>
              <a:t>Hsin-Chuan Yuan</a:t>
            </a:r>
            <a:endParaRPr lang="zh-TW" altLang="en-US" sz="2400" dirty="0">
              <a:solidFill>
                <a:schemeClr val="tx1"/>
              </a:solidFill>
            </a:endParaRPr>
          </a:p>
        </p:txBody>
      </p:sp>
      <p:sp>
        <p:nvSpPr>
          <p:cNvPr id="9" name="投影片編號版面配置區 8"/>
          <p:cNvSpPr>
            <a:spLocks noGrp="1"/>
          </p:cNvSpPr>
          <p:nvPr>
            <p:ph type="sldNum" sz="quarter" idx="12"/>
          </p:nvPr>
        </p:nvSpPr>
        <p:spPr/>
        <p:txBody>
          <a:bodyPr/>
          <a:lstStyle/>
          <a:p>
            <a:fld id="{61A04B93-F247-42E5-95CE-B8478AD23DB7}" type="slidenum">
              <a:rPr lang="zh-TW" altLang="en-US" smtClean="0"/>
              <a:pPr/>
              <a:t>1</a:t>
            </a:fld>
            <a:endParaRPr lang="zh-TW" altLang="en-US" dirty="0"/>
          </a:p>
        </p:txBody>
      </p:sp>
    </p:spTree>
    <p:extLst>
      <p:ext uri="{BB962C8B-B14F-4D97-AF65-F5344CB8AC3E}">
        <p14:creationId xmlns:p14="http://schemas.microsoft.com/office/powerpoint/2010/main" xmlns="" val="1663136472"/>
      </p:ext>
    </p:extLst>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mj-lt"/>
                <a:ea typeface="微軟正黑體" pitchFamily="34" charset="-120"/>
              </a:rPr>
              <a:t>Abstract</a:t>
            </a:r>
            <a:endParaRPr lang="zh-TW" altLang="en-US" dirty="0">
              <a:latin typeface="+mj-lt"/>
              <a:ea typeface="微軟正黑體" pitchFamily="34" charset="-120"/>
            </a:endParaRPr>
          </a:p>
        </p:txBody>
      </p:sp>
      <p:sp>
        <p:nvSpPr>
          <p:cNvPr id="3" name="日期版面配置區 2"/>
          <p:cNvSpPr>
            <a:spLocks noGrp="1"/>
          </p:cNvSpPr>
          <p:nvPr>
            <p:ph type="dt" sz="half" idx="10"/>
          </p:nvPr>
        </p:nvSpPr>
        <p:spPr/>
        <p:txBody>
          <a:bodyPr/>
          <a:lstStyle/>
          <a:p>
            <a:r>
              <a:rPr lang="en-US" altLang="zh-TW" smtClean="0"/>
              <a:t>2014/1/27</a:t>
            </a:r>
            <a:endParaRPr lang="zh-TW" altLang="en-US" dirty="0"/>
          </a:p>
        </p:txBody>
      </p:sp>
      <p:sp>
        <p:nvSpPr>
          <p:cNvPr id="5" name="內容版面配置區 4"/>
          <p:cNvSpPr>
            <a:spLocks noGrp="1"/>
          </p:cNvSpPr>
          <p:nvPr>
            <p:ph sz="quarter" idx="1"/>
          </p:nvPr>
        </p:nvSpPr>
        <p:spPr/>
        <p:txBody>
          <a:bodyPr>
            <a:noAutofit/>
          </a:bodyPr>
          <a:lstStyle/>
          <a:p>
            <a:r>
              <a:rPr lang="en-US" altLang="zh-TW" sz="2500" dirty="0" smtClean="0">
                <a:latin typeface="+mj-lt"/>
              </a:rPr>
              <a:t>Let </a:t>
            </a:r>
            <a:r>
              <a:rPr lang="en-US" altLang="zh-TW" sz="2500" dirty="0">
                <a:latin typeface="+mj-lt"/>
              </a:rPr>
              <a:t>S = x1, x2, … </a:t>
            </a:r>
            <a:r>
              <a:rPr lang="en-US" altLang="zh-TW" sz="2500" dirty="0" err="1">
                <a:latin typeface="+mj-lt"/>
              </a:rPr>
              <a:t>xn</a:t>
            </a:r>
            <a:r>
              <a:rPr lang="en-US" altLang="zh-TW" sz="2500" dirty="0">
                <a:latin typeface="+mj-lt"/>
              </a:rPr>
              <a:t> be a sequence of n distinct elements from a linearly ordered set. We consider the problem of determining the length of the longest increasing subsequences of S. An algorithm which performs this task is described and is shown to perform </a:t>
            </a:r>
            <a:r>
              <a:rPr lang="en-US" altLang="zh-TW" sz="2500" dirty="0" err="1" smtClean="0">
                <a:latin typeface="+mj-lt"/>
              </a:rPr>
              <a:t>nlogn</a:t>
            </a:r>
            <a:r>
              <a:rPr lang="en-US" altLang="zh-TW" sz="2500" dirty="0" smtClean="0">
                <a:latin typeface="+mj-lt"/>
              </a:rPr>
              <a:t> − </a:t>
            </a:r>
            <a:r>
              <a:rPr lang="en-US" altLang="zh-TW" sz="2500" dirty="0" err="1" smtClean="0">
                <a:latin typeface="+mj-lt"/>
              </a:rPr>
              <a:t>nloglogn</a:t>
            </a:r>
            <a:r>
              <a:rPr lang="en-US" altLang="zh-TW" sz="2500" dirty="0" smtClean="0">
                <a:latin typeface="+mj-lt"/>
              </a:rPr>
              <a:t> </a:t>
            </a:r>
            <a:r>
              <a:rPr lang="en-US" altLang="zh-TW" sz="2500" dirty="0">
                <a:latin typeface="+mj-lt"/>
              </a:rPr>
              <a:t>+ O(n) comparisons in its worst case. This worst case behavior is shown to be best possible.</a:t>
            </a:r>
            <a:endParaRPr lang="zh-TW" altLang="en-US" sz="2500" dirty="0">
              <a:latin typeface="+mj-lt"/>
              <a:cs typeface="Arial" pitchFamily="34" charset="0"/>
            </a:endParaRPr>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pPr/>
              <a:t>2</a:t>
            </a:fld>
            <a:endParaRPr lang="zh-TW" altLang="en-US" dirty="0"/>
          </a:p>
        </p:txBody>
      </p:sp>
    </p:spTree>
    <p:extLst>
      <p:ext uri="{BB962C8B-B14F-4D97-AF65-F5344CB8AC3E}">
        <p14:creationId xmlns:p14="http://schemas.microsoft.com/office/powerpoint/2010/main" xmlns="" val="720821653"/>
      </p:ext>
    </p:extLst>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noAutofit/>
          </a:bodyPr>
          <a:lstStyle/>
          <a:p>
            <a:r>
              <a:rPr lang="en-US" altLang="zh-TW" dirty="0" smtClean="0">
                <a:latin typeface="+mn-lt"/>
              </a:rPr>
              <a:t>The Longest Increasing Subsequence (LIS) Problem</a:t>
            </a:r>
            <a:endParaRPr lang="en-US" altLang="zh-TW" dirty="0">
              <a:latin typeface="+mn-lt"/>
            </a:endParaRPr>
          </a:p>
        </p:txBody>
      </p:sp>
      <p:sp>
        <p:nvSpPr>
          <p:cNvPr id="83971" name="Rectangle 3"/>
          <p:cNvSpPr>
            <a:spLocks noGrp="1" noChangeArrowheads="1"/>
          </p:cNvSpPr>
          <p:nvPr>
            <p:ph sz="quarter" idx="1"/>
          </p:nvPr>
        </p:nvSpPr>
        <p:spPr/>
        <p:txBody>
          <a:bodyPr/>
          <a:lstStyle/>
          <a:p>
            <a:pPr>
              <a:lnSpc>
                <a:spcPct val="80000"/>
              </a:lnSpc>
            </a:pPr>
            <a:r>
              <a:rPr lang="en-US" altLang="zh-TW" sz="2800" dirty="0" smtClean="0">
                <a:latin typeface="+mn-lt"/>
              </a:rPr>
              <a:t>Definition:</a:t>
            </a:r>
          </a:p>
          <a:p>
            <a:pPr lvl="1">
              <a:lnSpc>
                <a:spcPct val="80000"/>
              </a:lnSpc>
            </a:pPr>
            <a:r>
              <a:rPr lang="en-US" altLang="zh-TW" sz="2400" dirty="0" smtClean="0">
                <a:latin typeface="+mn-lt"/>
              </a:rPr>
              <a:t>Input: One numeric sequence </a:t>
            </a:r>
            <a:r>
              <a:rPr lang="en-US" altLang="zh-TW" sz="2400" i="1" dirty="0" smtClean="0">
                <a:latin typeface="+mn-lt"/>
              </a:rPr>
              <a:t>S</a:t>
            </a:r>
          </a:p>
          <a:p>
            <a:pPr lvl="1">
              <a:lnSpc>
                <a:spcPct val="80000"/>
              </a:lnSpc>
            </a:pPr>
            <a:r>
              <a:rPr lang="en-US" altLang="zh-TW" sz="2400" dirty="0" smtClean="0">
                <a:latin typeface="+mn-lt"/>
              </a:rPr>
              <a:t>Output: The longest increasing subsequence in </a:t>
            </a:r>
            <a:r>
              <a:rPr lang="en-US" altLang="zh-TW" sz="2400" i="1" dirty="0" smtClean="0">
                <a:latin typeface="+mn-lt"/>
              </a:rPr>
              <a:t>S</a:t>
            </a:r>
          </a:p>
          <a:p>
            <a:pPr>
              <a:lnSpc>
                <a:spcPct val="80000"/>
              </a:lnSpc>
            </a:pPr>
            <a:r>
              <a:rPr lang="en-US" altLang="zh-TW" sz="2800" dirty="0" smtClean="0">
                <a:latin typeface="+mn-lt"/>
              </a:rPr>
              <a:t>Example: Given </a:t>
            </a:r>
            <a:r>
              <a:rPr lang="en-US" altLang="zh-TW" sz="2800" i="1" dirty="0" smtClean="0">
                <a:latin typeface="+mn-lt"/>
              </a:rPr>
              <a:t>S</a:t>
            </a:r>
            <a:r>
              <a:rPr lang="en-US" altLang="zh-TW" sz="2800" dirty="0" smtClean="0">
                <a:latin typeface="+mn-lt"/>
              </a:rPr>
              <a:t> = </a:t>
            </a:r>
            <a:r>
              <a:rPr lang="en-US" altLang="zh-TW" sz="2800" u="sng" dirty="0" smtClean="0">
                <a:solidFill>
                  <a:schemeClr val="hlink"/>
                </a:solidFill>
                <a:latin typeface="+mn-lt"/>
              </a:rPr>
              <a:t>35</a:t>
            </a:r>
            <a:r>
              <a:rPr lang="en-US" altLang="zh-TW" sz="2800" dirty="0" smtClean="0">
                <a:latin typeface="+mn-lt"/>
              </a:rPr>
              <a:t>2</a:t>
            </a:r>
            <a:r>
              <a:rPr lang="en-US" altLang="zh-TW" sz="2800" u="sng" dirty="0" smtClean="0">
                <a:solidFill>
                  <a:schemeClr val="hlink"/>
                </a:solidFill>
                <a:latin typeface="+mn-lt"/>
              </a:rPr>
              <a:t>7</a:t>
            </a:r>
            <a:r>
              <a:rPr lang="en-US" altLang="zh-TW" sz="2800" dirty="0" smtClean="0">
                <a:latin typeface="+mn-lt"/>
              </a:rPr>
              <a:t>4</a:t>
            </a:r>
            <a:r>
              <a:rPr lang="en-US" altLang="zh-TW" sz="2800" u="sng" dirty="0" smtClean="0">
                <a:solidFill>
                  <a:schemeClr val="hlink"/>
                </a:solidFill>
                <a:latin typeface="+mn-lt"/>
              </a:rPr>
              <a:t>8</a:t>
            </a:r>
            <a:r>
              <a:rPr lang="en-US" altLang="zh-TW" sz="2800" dirty="0" smtClean="0">
                <a:latin typeface="+mn-lt"/>
              </a:rPr>
              <a:t>16, the LIS in </a:t>
            </a:r>
            <a:r>
              <a:rPr lang="en-US" altLang="zh-TW" sz="2800" i="1" dirty="0" smtClean="0">
                <a:latin typeface="+mn-lt"/>
              </a:rPr>
              <a:t>S </a:t>
            </a:r>
            <a:r>
              <a:rPr lang="en-US" altLang="zh-TW" sz="2800" dirty="0" smtClean="0">
                <a:latin typeface="+mn-lt"/>
              </a:rPr>
              <a:t>is </a:t>
            </a:r>
            <a:r>
              <a:rPr lang="en-US" altLang="zh-TW" sz="2800" dirty="0" smtClean="0">
                <a:solidFill>
                  <a:schemeClr val="hlink"/>
                </a:solidFill>
                <a:latin typeface="+mn-lt"/>
              </a:rPr>
              <a:t>3578</a:t>
            </a:r>
            <a:r>
              <a:rPr lang="en-US" altLang="zh-TW" sz="2800" dirty="0" smtClean="0">
                <a:latin typeface="+mn-lt"/>
              </a:rPr>
              <a:t>.</a:t>
            </a:r>
          </a:p>
          <a:p>
            <a:pPr>
              <a:lnSpc>
                <a:spcPct val="80000"/>
              </a:lnSpc>
            </a:pPr>
            <a:r>
              <a:rPr lang="en-US" altLang="zh-TW" sz="2800" dirty="0" smtClean="0">
                <a:latin typeface="+mn-lt"/>
              </a:rPr>
              <a:t>By applying the LCS algorithm, this problem can be solved in O(</a:t>
            </a:r>
            <a:r>
              <a:rPr lang="en-US" altLang="zh-TW" sz="2800" i="1" dirty="0" smtClean="0">
                <a:latin typeface="+mn-lt"/>
              </a:rPr>
              <a:t>n</a:t>
            </a:r>
            <a:r>
              <a:rPr lang="en-US" altLang="zh-TW" sz="2800" baseline="30000" dirty="0" smtClean="0">
                <a:latin typeface="+mn-lt"/>
              </a:rPr>
              <a:t>2</a:t>
            </a:r>
            <a:r>
              <a:rPr lang="en-US" altLang="zh-TW" sz="2800" dirty="0" smtClean="0">
                <a:latin typeface="+mn-lt"/>
              </a:rPr>
              <a:t>) time.</a:t>
            </a:r>
          </a:p>
          <a:p>
            <a:pPr>
              <a:lnSpc>
                <a:spcPct val="80000"/>
              </a:lnSpc>
            </a:pPr>
            <a:r>
              <a:rPr lang="en-US" altLang="zh-TW" sz="2800" dirty="0" smtClean="0">
                <a:latin typeface="+mn-lt"/>
              </a:rPr>
              <a:t>Robinson-</a:t>
            </a:r>
            <a:r>
              <a:rPr lang="en-US" altLang="zh-TW" sz="2800" dirty="0" err="1" smtClean="0">
                <a:latin typeface="+mn-lt"/>
              </a:rPr>
              <a:t>Schensted</a:t>
            </a:r>
            <a:r>
              <a:rPr lang="en-US" altLang="zh-TW" sz="2800" dirty="0" smtClean="0">
                <a:latin typeface="+mn-lt"/>
              </a:rPr>
              <a:t>-Knuth Algorithm can solve the LIS problem in </a:t>
            </a:r>
            <a:r>
              <a:rPr lang="en-US" altLang="zh-TW" sz="2800" u="sng" dirty="0" smtClean="0">
                <a:solidFill>
                  <a:schemeClr val="hlink"/>
                </a:solidFill>
                <a:latin typeface="+mn-lt"/>
              </a:rPr>
              <a:t>O(</a:t>
            </a:r>
            <a:r>
              <a:rPr lang="en-US" altLang="zh-TW" sz="2800" i="1" u="sng" dirty="0" err="1" smtClean="0">
                <a:solidFill>
                  <a:schemeClr val="hlink"/>
                </a:solidFill>
                <a:latin typeface="+mn-lt"/>
              </a:rPr>
              <a:t>nlogn</a:t>
            </a:r>
            <a:r>
              <a:rPr lang="en-US" altLang="zh-TW" sz="2800" u="sng" dirty="0" smtClean="0">
                <a:solidFill>
                  <a:schemeClr val="hlink"/>
                </a:solidFill>
                <a:latin typeface="+mn-lt"/>
              </a:rPr>
              <a:t>)</a:t>
            </a:r>
            <a:r>
              <a:rPr lang="en-US" altLang="zh-TW" sz="2800" dirty="0" smtClean="0">
                <a:latin typeface="+mn-lt"/>
              </a:rPr>
              <a:t> time.</a:t>
            </a:r>
          </a:p>
          <a:p>
            <a:pPr>
              <a:lnSpc>
                <a:spcPct val="80000"/>
              </a:lnSpc>
              <a:buFont typeface="Wingdings" panose="05000000000000000000" pitchFamily="2" charset="2"/>
              <a:buNone/>
            </a:pPr>
            <a:endParaRPr lang="en-US" altLang="zh-TW" sz="2800" dirty="0" smtClean="0">
              <a:latin typeface="+mn-lt"/>
            </a:endParaRPr>
          </a:p>
          <a:p>
            <a:pPr lvl="1">
              <a:lnSpc>
                <a:spcPct val="80000"/>
              </a:lnSpc>
            </a:pPr>
            <a:endParaRPr lang="en-US" altLang="zh-TW" sz="2400" dirty="0">
              <a:latin typeface="+mn-lt"/>
            </a:endParaRPr>
          </a:p>
        </p:txBody>
      </p:sp>
      <p:sp>
        <p:nvSpPr>
          <p:cNvPr id="9" name="日期版面配置區 8"/>
          <p:cNvSpPr>
            <a:spLocks noGrp="1"/>
          </p:cNvSpPr>
          <p:nvPr>
            <p:ph type="dt" sz="half" idx="10"/>
          </p:nvPr>
        </p:nvSpPr>
        <p:spPr/>
        <p:txBody>
          <a:bodyPr/>
          <a:lstStyle/>
          <a:p>
            <a:r>
              <a:rPr lang="en-US" altLang="zh-TW" smtClean="0"/>
              <a:t>2014/1/27</a:t>
            </a:r>
            <a:endParaRPr lang="zh-TW" altLang="en-US"/>
          </a:p>
        </p:txBody>
      </p:sp>
      <p:sp>
        <p:nvSpPr>
          <p:cNvPr id="10" name="投影片編號版面配置區 9"/>
          <p:cNvSpPr>
            <a:spLocks noGrp="1"/>
          </p:cNvSpPr>
          <p:nvPr>
            <p:ph type="sldNum" sz="quarter" idx="12"/>
          </p:nvPr>
        </p:nvSpPr>
        <p:spPr/>
        <p:txBody>
          <a:bodyPr/>
          <a:lstStyle/>
          <a:p>
            <a:fld id="{61A04B93-F247-42E5-95CE-B8478AD23DB7}" type="slidenum">
              <a:rPr lang="zh-TW" altLang="en-US" smtClean="0"/>
              <a:pPr/>
              <a:t>3</a:t>
            </a:fld>
            <a:endParaRPr lang="zh-TW" altLang="en-US"/>
          </a:p>
        </p:txBody>
      </p:sp>
    </p:spTree>
    <p:extLst>
      <p:ext uri="{BB962C8B-B14F-4D97-AF65-F5344CB8AC3E}">
        <p14:creationId xmlns:p14="http://schemas.microsoft.com/office/powerpoint/2010/main" xmlns="" val="1772577165"/>
      </p:ext>
    </p:extLst>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fontScale="90000"/>
          </a:bodyPr>
          <a:lstStyle/>
          <a:p>
            <a:r>
              <a:rPr lang="en-US" altLang="zh-TW" sz="3600" dirty="0" smtClean="0">
                <a:latin typeface="+mj-lt"/>
              </a:rPr>
              <a:t>Robinson-</a:t>
            </a:r>
            <a:r>
              <a:rPr lang="en-US" altLang="zh-TW" sz="3600" dirty="0" err="1" smtClean="0">
                <a:latin typeface="+mj-lt"/>
              </a:rPr>
              <a:t>Schensted</a:t>
            </a:r>
            <a:r>
              <a:rPr lang="en-US" altLang="zh-TW" sz="3600" dirty="0" smtClean="0">
                <a:latin typeface="+mj-lt"/>
              </a:rPr>
              <a:t>-Knuth Algorithm for LIS</a:t>
            </a:r>
            <a:endParaRPr lang="en-US" altLang="zh-TW" sz="3600" dirty="0">
              <a:latin typeface="+mj-lt"/>
            </a:endParaRPr>
          </a:p>
        </p:txBody>
      </p:sp>
      <p:grpSp>
        <p:nvGrpSpPr>
          <p:cNvPr id="88203" name="Group 139"/>
          <p:cNvGrpSpPr>
            <a:grpSpLocks/>
          </p:cNvGrpSpPr>
          <p:nvPr/>
        </p:nvGrpSpPr>
        <p:grpSpPr bwMode="auto">
          <a:xfrm>
            <a:off x="179512" y="1271637"/>
            <a:ext cx="8374063" cy="3165475"/>
            <a:chOff x="192" y="960"/>
            <a:chExt cx="5275" cy="1994"/>
          </a:xfrm>
        </p:grpSpPr>
        <p:sp>
          <p:nvSpPr>
            <p:cNvPr id="88199" name="Line 135"/>
            <p:cNvSpPr>
              <a:spLocks noChangeShapeType="1"/>
            </p:cNvSpPr>
            <p:nvPr/>
          </p:nvSpPr>
          <p:spPr bwMode="auto">
            <a:xfrm>
              <a:off x="336" y="1163"/>
              <a:ext cx="0" cy="168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22" name="Rectangle 58"/>
            <p:cNvSpPr>
              <a:spLocks noChangeArrowheads="1"/>
            </p:cNvSpPr>
            <p:nvPr/>
          </p:nvSpPr>
          <p:spPr bwMode="auto">
            <a:xfrm>
              <a:off x="4921" y="2667"/>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endParaRPr lang="zh-TW" altLang="zh-TW" sz="2400"/>
            </a:p>
          </p:txBody>
        </p:sp>
        <p:sp>
          <p:nvSpPr>
            <p:cNvPr id="88121" name="Rectangle 57"/>
            <p:cNvSpPr>
              <a:spLocks noChangeArrowheads="1"/>
            </p:cNvSpPr>
            <p:nvPr/>
          </p:nvSpPr>
          <p:spPr bwMode="auto">
            <a:xfrm>
              <a:off x="4377" y="2667"/>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endParaRPr lang="zh-TW" altLang="zh-TW" sz="2400"/>
            </a:p>
          </p:txBody>
        </p:sp>
        <p:sp>
          <p:nvSpPr>
            <p:cNvPr id="88120" name="Rectangle 56"/>
            <p:cNvSpPr>
              <a:spLocks noChangeArrowheads="1"/>
            </p:cNvSpPr>
            <p:nvPr/>
          </p:nvSpPr>
          <p:spPr bwMode="auto">
            <a:xfrm>
              <a:off x="3833" y="2667"/>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endParaRPr lang="zh-TW" altLang="zh-TW" sz="2400"/>
            </a:p>
          </p:txBody>
        </p:sp>
        <p:sp>
          <p:nvSpPr>
            <p:cNvPr id="88119" name="Rectangle 55"/>
            <p:cNvSpPr>
              <a:spLocks noChangeArrowheads="1"/>
            </p:cNvSpPr>
            <p:nvPr/>
          </p:nvSpPr>
          <p:spPr bwMode="auto">
            <a:xfrm>
              <a:off x="3289" y="2667"/>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endParaRPr lang="zh-TW" altLang="zh-TW" sz="2400"/>
            </a:p>
          </p:txBody>
        </p:sp>
        <p:sp>
          <p:nvSpPr>
            <p:cNvPr id="88118" name="Rectangle 54"/>
            <p:cNvSpPr>
              <a:spLocks noChangeArrowheads="1"/>
            </p:cNvSpPr>
            <p:nvPr/>
          </p:nvSpPr>
          <p:spPr bwMode="auto">
            <a:xfrm>
              <a:off x="2745" y="2667"/>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endParaRPr lang="zh-TW" altLang="zh-TW" sz="2400"/>
            </a:p>
          </p:txBody>
        </p:sp>
        <p:sp>
          <p:nvSpPr>
            <p:cNvPr id="88117" name="Rectangle 53"/>
            <p:cNvSpPr>
              <a:spLocks noChangeArrowheads="1"/>
            </p:cNvSpPr>
            <p:nvPr/>
          </p:nvSpPr>
          <p:spPr bwMode="auto">
            <a:xfrm>
              <a:off x="2201" y="2667"/>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endParaRPr lang="zh-TW" altLang="zh-TW" sz="2400"/>
            </a:p>
          </p:txBody>
        </p:sp>
        <p:sp>
          <p:nvSpPr>
            <p:cNvPr id="88116" name="Rectangle 52"/>
            <p:cNvSpPr>
              <a:spLocks noChangeArrowheads="1"/>
            </p:cNvSpPr>
            <p:nvPr/>
          </p:nvSpPr>
          <p:spPr bwMode="auto">
            <a:xfrm>
              <a:off x="1657" y="2667"/>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endParaRPr lang="zh-TW" altLang="zh-TW" sz="2400"/>
            </a:p>
          </p:txBody>
        </p:sp>
        <p:sp>
          <p:nvSpPr>
            <p:cNvPr id="88115" name="Rectangle 51"/>
            <p:cNvSpPr>
              <a:spLocks noChangeArrowheads="1"/>
            </p:cNvSpPr>
            <p:nvPr/>
          </p:nvSpPr>
          <p:spPr bwMode="auto">
            <a:xfrm>
              <a:off x="1113" y="2667"/>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endParaRPr lang="zh-TW" altLang="zh-TW" sz="2400"/>
            </a:p>
          </p:txBody>
        </p:sp>
        <p:sp>
          <p:nvSpPr>
            <p:cNvPr id="88114" name="Rectangle 50"/>
            <p:cNvSpPr>
              <a:spLocks noChangeArrowheads="1"/>
            </p:cNvSpPr>
            <p:nvPr/>
          </p:nvSpPr>
          <p:spPr bwMode="auto">
            <a:xfrm>
              <a:off x="569" y="2667"/>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endParaRPr lang="zh-TW" altLang="zh-TW" sz="2400"/>
            </a:p>
          </p:txBody>
        </p:sp>
        <p:sp>
          <p:nvSpPr>
            <p:cNvPr id="88113" name="Rectangle 49"/>
            <p:cNvSpPr>
              <a:spLocks noChangeArrowheads="1"/>
            </p:cNvSpPr>
            <p:nvPr/>
          </p:nvSpPr>
          <p:spPr bwMode="auto">
            <a:xfrm>
              <a:off x="4921" y="2380"/>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solidFill>
                    <a:schemeClr val="hlink"/>
                  </a:solidFill>
                </a:rPr>
                <a:t>8</a:t>
              </a:r>
            </a:p>
          </p:txBody>
        </p:sp>
        <p:sp>
          <p:nvSpPr>
            <p:cNvPr id="88112" name="Rectangle 48"/>
            <p:cNvSpPr>
              <a:spLocks noChangeArrowheads="1"/>
            </p:cNvSpPr>
            <p:nvPr/>
          </p:nvSpPr>
          <p:spPr bwMode="auto">
            <a:xfrm>
              <a:off x="4377" y="2380"/>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8</a:t>
              </a:r>
            </a:p>
          </p:txBody>
        </p:sp>
        <p:sp>
          <p:nvSpPr>
            <p:cNvPr id="88111" name="Rectangle 47"/>
            <p:cNvSpPr>
              <a:spLocks noChangeArrowheads="1"/>
            </p:cNvSpPr>
            <p:nvPr/>
          </p:nvSpPr>
          <p:spPr bwMode="auto">
            <a:xfrm>
              <a:off x="3833" y="2380"/>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b="1" u="sng">
                  <a:solidFill>
                    <a:schemeClr val="folHlink"/>
                  </a:solidFill>
                </a:rPr>
                <a:t>8</a:t>
              </a:r>
            </a:p>
          </p:txBody>
        </p:sp>
        <p:sp>
          <p:nvSpPr>
            <p:cNvPr id="88110" name="Rectangle 46"/>
            <p:cNvSpPr>
              <a:spLocks noChangeArrowheads="1"/>
            </p:cNvSpPr>
            <p:nvPr/>
          </p:nvSpPr>
          <p:spPr bwMode="auto">
            <a:xfrm>
              <a:off x="3289" y="2380"/>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endParaRPr lang="zh-TW" altLang="zh-TW" sz="2400"/>
            </a:p>
          </p:txBody>
        </p:sp>
        <p:sp>
          <p:nvSpPr>
            <p:cNvPr id="88109" name="Rectangle 45"/>
            <p:cNvSpPr>
              <a:spLocks noChangeArrowheads="1"/>
            </p:cNvSpPr>
            <p:nvPr/>
          </p:nvSpPr>
          <p:spPr bwMode="auto">
            <a:xfrm>
              <a:off x="2745" y="2380"/>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endParaRPr lang="zh-TW" altLang="zh-TW" sz="2400"/>
            </a:p>
          </p:txBody>
        </p:sp>
        <p:sp>
          <p:nvSpPr>
            <p:cNvPr id="88108" name="Rectangle 44"/>
            <p:cNvSpPr>
              <a:spLocks noChangeArrowheads="1"/>
            </p:cNvSpPr>
            <p:nvPr/>
          </p:nvSpPr>
          <p:spPr bwMode="auto">
            <a:xfrm>
              <a:off x="2201" y="2380"/>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endParaRPr lang="zh-TW" altLang="zh-TW" sz="2400"/>
            </a:p>
          </p:txBody>
        </p:sp>
        <p:sp>
          <p:nvSpPr>
            <p:cNvPr id="88107" name="Rectangle 43"/>
            <p:cNvSpPr>
              <a:spLocks noChangeArrowheads="1"/>
            </p:cNvSpPr>
            <p:nvPr/>
          </p:nvSpPr>
          <p:spPr bwMode="auto">
            <a:xfrm>
              <a:off x="1657" y="2380"/>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endParaRPr lang="zh-TW" altLang="zh-TW" sz="2400"/>
            </a:p>
          </p:txBody>
        </p:sp>
        <p:sp>
          <p:nvSpPr>
            <p:cNvPr id="88106" name="Rectangle 42"/>
            <p:cNvSpPr>
              <a:spLocks noChangeArrowheads="1"/>
            </p:cNvSpPr>
            <p:nvPr/>
          </p:nvSpPr>
          <p:spPr bwMode="auto">
            <a:xfrm>
              <a:off x="1113" y="2380"/>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endParaRPr lang="zh-TW" altLang="zh-TW" sz="2400"/>
            </a:p>
          </p:txBody>
        </p:sp>
        <p:sp>
          <p:nvSpPr>
            <p:cNvPr id="88105" name="Rectangle 41"/>
            <p:cNvSpPr>
              <a:spLocks noChangeArrowheads="1"/>
            </p:cNvSpPr>
            <p:nvPr/>
          </p:nvSpPr>
          <p:spPr bwMode="auto">
            <a:xfrm>
              <a:off x="569" y="2380"/>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4</a:t>
              </a:r>
            </a:p>
          </p:txBody>
        </p:sp>
        <p:sp>
          <p:nvSpPr>
            <p:cNvPr id="88104" name="Rectangle 40"/>
            <p:cNvSpPr>
              <a:spLocks noChangeArrowheads="1"/>
            </p:cNvSpPr>
            <p:nvPr/>
          </p:nvSpPr>
          <p:spPr bwMode="auto">
            <a:xfrm>
              <a:off x="4921" y="2093"/>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b="1" u="sng">
                  <a:solidFill>
                    <a:schemeClr val="folHlink"/>
                  </a:solidFill>
                </a:rPr>
                <a:t>6</a:t>
              </a:r>
            </a:p>
          </p:txBody>
        </p:sp>
        <p:sp>
          <p:nvSpPr>
            <p:cNvPr id="88103" name="Rectangle 39"/>
            <p:cNvSpPr>
              <a:spLocks noChangeArrowheads="1"/>
            </p:cNvSpPr>
            <p:nvPr/>
          </p:nvSpPr>
          <p:spPr bwMode="auto">
            <a:xfrm>
              <a:off x="4377" y="2093"/>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7</a:t>
              </a:r>
            </a:p>
          </p:txBody>
        </p:sp>
        <p:sp>
          <p:nvSpPr>
            <p:cNvPr id="88102" name="Rectangle 38"/>
            <p:cNvSpPr>
              <a:spLocks noChangeArrowheads="1"/>
            </p:cNvSpPr>
            <p:nvPr/>
          </p:nvSpPr>
          <p:spPr bwMode="auto">
            <a:xfrm>
              <a:off x="3833" y="2093"/>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7</a:t>
              </a:r>
            </a:p>
          </p:txBody>
        </p:sp>
        <p:sp>
          <p:nvSpPr>
            <p:cNvPr id="88101" name="Rectangle 37"/>
            <p:cNvSpPr>
              <a:spLocks noChangeArrowheads="1"/>
            </p:cNvSpPr>
            <p:nvPr/>
          </p:nvSpPr>
          <p:spPr bwMode="auto">
            <a:xfrm>
              <a:off x="3289" y="2093"/>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7</a:t>
              </a:r>
            </a:p>
          </p:txBody>
        </p:sp>
        <p:sp>
          <p:nvSpPr>
            <p:cNvPr id="88100" name="Rectangle 36"/>
            <p:cNvSpPr>
              <a:spLocks noChangeArrowheads="1"/>
            </p:cNvSpPr>
            <p:nvPr/>
          </p:nvSpPr>
          <p:spPr bwMode="auto">
            <a:xfrm>
              <a:off x="2745" y="2093"/>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b="1" u="sng">
                  <a:solidFill>
                    <a:schemeClr val="folHlink"/>
                  </a:solidFill>
                </a:rPr>
                <a:t>7</a:t>
              </a:r>
            </a:p>
          </p:txBody>
        </p:sp>
        <p:sp>
          <p:nvSpPr>
            <p:cNvPr id="88099" name="Rectangle 35"/>
            <p:cNvSpPr>
              <a:spLocks noChangeArrowheads="1"/>
            </p:cNvSpPr>
            <p:nvPr/>
          </p:nvSpPr>
          <p:spPr bwMode="auto">
            <a:xfrm>
              <a:off x="2201" y="2093"/>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endParaRPr lang="zh-TW" altLang="zh-TW" sz="2400"/>
            </a:p>
          </p:txBody>
        </p:sp>
        <p:sp>
          <p:nvSpPr>
            <p:cNvPr id="88098" name="Rectangle 34"/>
            <p:cNvSpPr>
              <a:spLocks noChangeArrowheads="1"/>
            </p:cNvSpPr>
            <p:nvPr/>
          </p:nvSpPr>
          <p:spPr bwMode="auto">
            <a:xfrm>
              <a:off x="1657" y="2093"/>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endParaRPr lang="zh-TW" altLang="zh-TW" sz="2400"/>
            </a:p>
          </p:txBody>
        </p:sp>
        <p:sp>
          <p:nvSpPr>
            <p:cNvPr id="88097" name="Rectangle 33"/>
            <p:cNvSpPr>
              <a:spLocks noChangeArrowheads="1"/>
            </p:cNvSpPr>
            <p:nvPr/>
          </p:nvSpPr>
          <p:spPr bwMode="auto">
            <a:xfrm>
              <a:off x="1113" y="2093"/>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endParaRPr lang="zh-TW" altLang="zh-TW" sz="2400"/>
            </a:p>
          </p:txBody>
        </p:sp>
        <p:sp>
          <p:nvSpPr>
            <p:cNvPr id="88096" name="Rectangle 32"/>
            <p:cNvSpPr>
              <a:spLocks noChangeArrowheads="1"/>
            </p:cNvSpPr>
            <p:nvPr/>
          </p:nvSpPr>
          <p:spPr bwMode="auto">
            <a:xfrm>
              <a:off x="569" y="2093"/>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3</a:t>
              </a:r>
            </a:p>
          </p:txBody>
        </p:sp>
        <p:sp>
          <p:nvSpPr>
            <p:cNvPr id="88095" name="Rectangle 31"/>
            <p:cNvSpPr>
              <a:spLocks noChangeArrowheads="1"/>
            </p:cNvSpPr>
            <p:nvPr/>
          </p:nvSpPr>
          <p:spPr bwMode="auto">
            <a:xfrm>
              <a:off x="4921" y="1806"/>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4</a:t>
              </a:r>
            </a:p>
          </p:txBody>
        </p:sp>
        <p:sp>
          <p:nvSpPr>
            <p:cNvPr id="88094" name="Rectangle 30"/>
            <p:cNvSpPr>
              <a:spLocks noChangeArrowheads="1"/>
            </p:cNvSpPr>
            <p:nvPr/>
          </p:nvSpPr>
          <p:spPr bwMode="auto">
            <a:xfrm>
              <a:off x="4377" y="1806"/>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4</a:t>
              </a:r>
            </a:p>
          </p:txBody>
        </p:sp>
        <p:sp>
          <p:nvSpPr>
            <p:cNvPr id="88093" name="Rectangle 29"/>
            <p:cNvSpPr>
              <a:spLocks noChangeArrowheads="1"/>
            </p:cNvSpPr>
            <p:nvPr/>
          </p:nvSpPr>
          <p:spPr bwMode="auto">
            <a:xfrm>
              <a:off x="3833" y="1806"/>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4</a:t>
              </a:r>
            </a:p>
          </p:txBody>
        </p:sp>
        <p:sp>
          <p:nvSpPr>
            <p:cNvPr id="88092" name="Rectangle 28"/>
            <p:cNvSpPr>
              <a:spLocks noChangeArrowheads="1"/>
            </p:cNvSpPr>
            <p:nvPr/>
          </p:nvSpPr>
          <p:spPr bwMode="auto">
            <a:xfrm>
              <a:off x="3289" y="1806"/>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b="1" u="sng">
                  <a:solidFill>
                    <a:schemeClr val="folHlink"/>
                  </a:solidFill>
                </a:rPr>
                <a:t>4</a:t>
              </a:r>
            </a:p>
          </p:txBody>
        </p:sp>
        <p:sp>
          <p:nvSpPr>
            <p:cNvPr id="88091" name="Rectangle 27"/>
            <p:cNvSpPr>
              <a:spLocks noChangeArrowheads="1"/>
            </p:cNvSpPr>
            <p:nvPr/>
          </p:nvSpPr>
          <p:spPr bwMode="auto">
            <a:xfrm>
              <a:off x="2745" y="1806"/>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5</a:t>
              </a:r>
            </a:p>
          </p:txBody>
        </p:sp>
        <p:sp>
          <p:nvSpPr>
            <p:cNvPr id="88090" name="Rectangle 26"/>
            <p:cNvSpPr>
              <a:spLocks noChangeArrowheads="1"/>
            </p:cNvSpPr>
            <p:nvPr/>
          </p:nvSpPr>
          <p:spPr bwMode="auto">
            <a:xfrm>
              <a:off x="2201" y="1806"/>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5</a:t>
              </a:r>
            </a:p>
          </p:txBody>
        </p:sp>
        <p:sp>
          <p:nvSpPr>
            <p:cNvPr id="88089" name="Rectangle 25"/>
            <p:cNvSpPr>
              <a:spLocks noChangeArrowheads="1"/>
            </p:cNvSpPr>
            <p:nvPr/>
          </p:nvSpPr>
          <p:spPr bwMode="auto">
            <a:xfrm>
              <a:off x="1657" y="1806"/>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b="1" u="sng">
                  <a:solidFill>
                    <a:schemeClr val="folHlink"/>
                  </a:solidFill>
                </a:rPr>
                <a:t>5</a:t>
              </a:r>
            </a:p>
          </p:txBody>
        </p:sp>
        <p:sp>
          <p:nvSpPr>
            <p:cNvPr id="88088" name="Rectangle 24"/>
            <p:cNvSpPr>
              <a:spLocks noChangeArrowheads="1"/>
            </p:cNvSpPr>
            <p:nvPr/>
          </p:nvSpPr>
          <p:spPr bwMode="auto">
            <a:xfrm>
              <a:off x="1113" y="1806"/>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endParaRPr lang="zh-TW" altLang="zh-TW" sz="2400"/>
            </a:p>
          </p:txBody>
        </p:sp>
        <p:sp>
          <p:nvSpPr>
            <p:cNvPr id="88087" name="Rectangle 23"/>
            <p:cNvSpPr>
              <a:spLocks noChangeArrowheads="1"/>
            </p:cNvSpPr>
            <p:nvPr/>
          </p:nvSpPr>
          <p:spPr bwMode="auto">
            <a:xfrm>
              <a:off x="569" y="1806"/>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2</a:t>
              </a:r>
            </a:p>
          </p:txBody>
        </p:sp>
        <p:sp>
          <p:nvSpPr>
            <p:cNvPr id="88086" name="Rectangle 22"/>
            <p:cNvSpPr>
              <a:spLocks noChangeArrowheads="1"/>
            </p:cNvSpPr>
            <p:nvPr/>
          </p:nvSpPr>
          <p:spPr bwMode="auto">
            <a:xfrm>
              <a:off x="4921" y="1519"/>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1</a:t>
              </a:r>
            </a:p>
          </p:txBody>
        </p:sp>
        <p:sp>
          <p:nvSpPr>
            <p:cNvPr id="88085" name="Rectangle 21"/>
            <p:cNvSpPr>
              <a:spLocks noChangeArrowheads="1"/>
            </p:cNvSpPr>
            <p:nvPr/>
          </p:nvSpPr>
          <p:spPr bwMode="auto">
            <a:xfrm>
              <a:off x="4377" y="1519"/>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b="1" u="sng">
                  <a:solidFill>
                    <a:schemeClr val="folHlink"/>
                  </a:solidFill>
                </a:rPr>
                <a:t>1</a:t>
              </a:r>
            </a:p>
          </p:txBody>
        </p:sp>
        <p:sp>
          <p:nvSpPr>
            <p:cNvPr id="88084" name="Rectangle 20"/>
            <p:cNvSpPr>
              <a:spLocks noChangeArrowheads="1"/>
            </p:cNvSpPr>
            <p:nvPr/>
          </p:nvSpPr>
          <p:spPr bwMode="auto">
            <a:xfrm>
              <a:off x="3833" y="1519"/>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2</a:t>
              </a:r>
            </a:p>
          </p:txBody>
        </p:sp>
        <p:sp>
          <p:nvSpPr>
            <p:cNvPr id="88083" name="Rectangle 19"/>
            <p:cNvSpPr>
              <a:spLocks noChangeArrowheads="1"/>
            </p:cNvSpPr>
            <p:nvPr/>
          </p:nvSpPr>
          <p:spPr bwMode="auto">
            <a:xfrm>
              <a:off x="3289" y="1519"/>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2</a:t>
              </a:r>
            </a:p>
          </p:txBody>
        </p:sp>
        <p:sp>
          <p:nvSpPr>
            <p:cNvPr id="88082" name="Rectangle 18"/>
            <p:cNvSpPr>
              <a:spLocks noChangeArrowheads="1"/>
            </p:cNvSpPr>
            <p:nvPr/>
          </p:nvSpPr>
          <p:spPr bwMode="auto">
            <a:xfrm>
              <a:off x="2745" y="1519"/>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2</a:t>
              </a:r>
            </a:p>
          </p:txBody>
        </p:sp>
        <p:sp>
          <p:nvSpPr>
            <p:cNvPr id="88081" name="Rectangle 17"/>
            <p:cNvSpPr>
              <a:spLocks noChangeArrowheads="1"/>
            </p:cNvSpPr>
            <p:nvPr/>
          </p:nvSpPr>
          <p:spPr bwMode="auto">
            <a:xfrm>
              <a:off x="2201" y="1519"/>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b="1" u="sng">
                  <a:solidFill>
                    <a:schemeClr val="folHlink"/>
                  </a:solidFill>
                </a:rPr>
                <a:t>2</a:t>
              </a:r>
            </a:p>
          </p:txBody>
        </p:sp>
        <p:sp>
          <p:nvSpPr>
            <p:cNvPr id="88080" name="Rectangle 16"/>
            <p:cNvSpPr>
              <a:spLocks noChangeArrowheads="1"/>
            </p:cNvSpPr>
            <p:nvPr/>
          </p:nvSpPr>
          <p:spPr bwMode="auto">
            <a:xfrm>
              <a:off x="1657" y="1519"/>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3</a:t>
              </a:r>
            </a:p>
          </p:txBody>
        </p:sp>
        <p:sp>
          <p:nvSpPr>
            <p:cNvPr id="88079" name="Rectangle 15"/>
            <p:cNvSpPr>
              <a:spLocks noChangeArrowheads="1"/>
            </p:cNvSpPr>
            <p:nvPr/>
          </p:nvSpPr>
          <p:spPr bwMode="auto">
            <a:xfrm>
              <a:off x="1113" y="1519"/>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b="1" u="sng">
                  <a:solidFill>
                    <a:schemeClr val="folHlink"/>
                  </a:solidFill>
                </a:rPr>
                <a:t>3</a:t>
              </a:r>
            </a:p>
          </p:txBody>
        </p:sp>
        <p:sp>
          <p:nvSpPr>
            <p:cNvPr id="88078" name="Rectangle 14"/>
            <p:cNvSpPr>
              <a:spLocks noChangeArrowheads="1"/>
            </p:cNvSpPr>
            <p:nvPr/>
          </p:nvSpPr>
          <p:spPr bwMode="auto">
            <a:xfrm>
              <a:off x="569" y="1519"/>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1</a:t>
              </a:r>
            </a:p>
          </p:txBody>
        </p:sp>
        <p:sp>
          <p:nvSpPr>
            <p:cNvPr id="88077" name="Rectangle 13"/>
            <p:cNvSpPr>
              <a:spLocks noChangeArrowheads="1"/>
            </p:cNvSpPr>
            <p:nvPr/>
          </p:nvSpPr>
          <p:spPr bwMode="auto">
            <a:xfrm>
              <a:off x="4921" y="1232"/>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6</a:t>
              </a:r>
            </a:p>
          </p:txBody>
        </p:sp>
        <p:sp>
          <p:nvSpPr>
            <p:cNvPr id="88076" name="Rectangle 12"/>
            <p:cNvSpPr>
              <a:spLocks noChangeArrowheads="1"/>
            </p:cNvSpPr>
            <p:nvPr/>
          </p:nvSpPr>
          <p:spPr bwMode="auto">
            <a:xfrm>
              <a:off x="4377" y="1232"/>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1</a:t>
              </a:r>
            </a:p>
          </p:txBody>
        </p:sp>
        <p:sp>
          <p:nvSpPr>
            <p:cNvPr id="88075" name="Rectangle 11"/>
            <p:cNvSpPr>
              <a:spLocks noChangeArrowheads="1"/>
            </p:cNvSpPr>
            <p:nvPr/>
          </p:nvSpPr>
          <p:spPr bwMode="auto">
            <a:xfrm>
              <a:off x="3833" y="1232"/>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8</a:t>
              </a:r>
            </a:p>
          </p:txBody>
        </p:sp>
        <p:sp>
          <p:nvSpPr>
            <p:cNvPr id="88074" name="Rectangle 10"/>
            <p:cNvSpPr>
              <a:spLocks noChangeArrowheads="1"/>
            </p:cNvSpPr>
            <p:nvPr/>
          </p:nvSpPr>
          <p:spPr bwMode="auto">
            <a:xfrm>
              <a:off x="3289" y="1232"/>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4</a:t>
              </a:r>
            </a:p>
          </p:txBody>
        </p:sp>
        <p:sp>
          <p:nvSpPr>
            <p:cNvPr id="88073" name="Rectangle 9"/>
            <p:cNvSpPr>
              <a:spLocks noChangeArrowheads="1"/>
            </p:cNvSpPr>
            <p:nvPr/>
          </p:nvSpPr>
          <p:spPr bwMode="auto">
            <a:xfrm>
              <a:off x="2745" y="1232"/>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7</a:t>
              </a:r>
            </a:p>
          </p:txBody>
        </p:sp>
        <p:sp>
          <p:nvSpPr>
            <p:cNvPr id="88072" name="Rectangle 8"/>
            <p:cNvSpPr>
              <a:spLocks noChangeArrowheads="1"/>
            </p:cNvSpPr>
            <p:nvPr/>
          </p:nvSpPr>
          <p:spPr bwMode="auto">
            <a:xfrm>
              <a:off x="2201" y="1232"/>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2</a:t>
              </a:r>
            </a:p>
          </p:txBody>
        </p:sp>
        <p:sp>
          <p:nvSpPr>
            <p:cNvPr id="88071" name="Rectangle 7"/>
            <p:cNvSpPr>
              <a:spLocks noChangeArrowheads="1"/>
            </p:cNvSpPr>
            <p:nvPr/>
          </p:nvSpPr>
          <p:spPr bwMode="auto">
            <a:xfrm>
              <a:off x="1657" y="1232"/>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5</a:t>
              </a:r>
            </a:p>
          </p:txBody>
        </p:sp>
        <p:sp>
          <p:nvSpPr>
            <p:cNvPr id="88070" name="Rectangle 6"/>
            <p:cNvSpPr>
              <a:spLocks noChangeArrowheads="1"/>
            </p:cNvSpPr>
            <p:nvPr/>
          </p:nvSpPr>
          <p:spPr bwMode="auto">
            <a:xfrm>
              <a:off x="1113" y="1232"/>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r>
                <a:rPr lang="en-US" altLang="zh-TW" sz="2400"/>
                <a:t>3</a:t>
              </a:r>
            </a:p>
          </p:txBody>
        </p:sp>
        <p:sp>
          <p:nvSpPr>
            <p:cNvPr id="88069" name="Rectangle 5"/>
            <p:cNvSpPr>
              <a:spLocks noChangeArrowheads="1"/>
            </p:cNvSpPr>
            <p:nvPr/>
          </p:nvSpPr>
          <p:spPr bwMode="auto">
            <a:xfrm>
              <a:off x="569" y="1232"/>
              <a:ext cx="544"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1pPr>
              <a:lvl2pPr>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2pPr>
              <a:lvl3pPr>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3pPr>
              <a:lvl4pPr>
                <a:spcBef>
                  <a:spcPct val="20000"/>
                </a:spcBef>
                <a:buClr>
                  <a:schemeClr val="accent2"/>
                </a:buClr>
                <a:buSzPct val="55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4pPr>
              <a:lvl5pPr>
                <a:spcBef>
                  <a:spcPct val="20000"/>
                </a:spcBef>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5pPr>
              <a:lvl6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6pPr>
              <a:lvl7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7pPr>
              <a:lvl8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8pPr>
              <a:lvl9pPr fontAlgn="base">
                <a:spcBef>
                  <a:spcPct val="20000"/>
                </a:spcBef>
                <a:spcAft>
                  <a:spcPct val="0"/>
                </a:spcAft>
                <a:buClr>
                  <a:schemeClr val="accent1"/>
                </a:buClr>
                <a:buSzPct val="50000"/>
                <a:buFont typeface="Wingdings" panose="05000000000000000000" pitchFamily="2" charset="2"/>
                <a:buChar char="n"/>
                <a:defRPr kumimoji="1">
                  <a:solidFill>
                    <a:schemeClr val="tx1"/>
                  </a:solidFill>
                  <a:latin typeface="Tahoma" panose="020B0604030504040204" pitchFamily="34" charset="0"/>
                  <a:ea typeface="新細明體" panose="02020500000000000000" pitchFamily="18" charset="-120"/>
                </a:defRPr>
              </a:lvl9pPr>
            </a:lstStyle>
            <a:p>
              <a:pPr algn="ctr">
                <a:buFont typeface="Wingdings" panose="05000000000000000000" pitchFamily="2" charset="2"/>
                <a:buNone/>
              </a:pPr>
              <a:endParaRPr lang="zh-TW" altLang="zh-TW" sz="2400"/>
            </a:p>
          </p:txBody>
        </p:sp>
        <p:sp>
          <p:nvSpPr>
            <p:cNvPr id="88150" name="Line 86"/>
            <p:cNvSpPr>
              <a:spLocks noChangeShapeType="1"/>
            </p:cNvSpPr>
            <p:nvPr/>
          </p:nvSpPr>
          <p:spPr bwMode="auto">
            <a:xfrm>
              <a:off x="569" y="1232"/>
              <a:ext cx="4896" cy="0"/>
            </a:xfrm>
            <a:prstGeom prst="line">
              <a:avLst/>
            </a:prstGeom>
            <a:noFill/>
            <a:ln w="28575" cap="sq">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51" name="Line 87"/>
            <p:cNvSpPr>
              <a:spLocks noChangeShapeType="1"/>
            </p:cNvSpPr>
            <p:nvPr/>
          </p:nvSpPr>
          <p:spPr bwMode="auto">
            <a:xfrm>
              <a:off x="569" y="1519"/>
              <a:ext cx="4896" cy="0"/>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52" name="Line 88"/>
            <p:cNvSpPr>
              <a:spLocks noChangeShapeType="1"/>
            </p:cNvSpPr>
            <p:nvPr/>
          </p:nvSpPr>
          <p:spPr bwMode="auto">
            <a:xfrm>
              <a:off x="569" y="1806"/>
              <a:ext cx="4896" cy="0"/>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53" name="Line 89"/>
            <p:cNvSpPr>
              <a:spLocks noChangeShapeType="1"/>
            </p:cNvSpPr>
            <p:nvPr/>
          </p:nvSpPr>
          <p:spPr bwMode="auto">
            <a:xfrm>
              <a:off x="569" y="2093"/>
              <a:ext cx="4896" cy="0"/>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54" name="Line 90"/>
            <p:cNvSpPr>
              <a:spLocks noChangeShapeType="1"/>
            </p:cNvSpPr>
            <p:nvPr/>
          </p:nvSpPr>
          <p:spPr bwMode="auto">
            <a:xfrm>
              <a:off x="569" y="2380"/>
              <a:ext cx="4896" cy="0"/>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55" name="Line 91"/>
            <p:cNvSpPr>
              <a:spLocks noChangeShapeType="1"/>
            </p:cNvSpPr>
            <p:nvPr/>
          </p:nvSpPr>
          <p:spPr bwMode="auto">
            <a:xfrm>
              <a:off x="569" y="2667"/>
              <a:ext cx="4896" cy="0"/>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59" name="Line 95"/>
            <p:cNvSpPr>
              <a:spLocks noChangeShapeType="1"/>
            </p:cNvSpPr>
            <p:nvPr/>
          </p:nvSpPr>
          <p:spPr bwMode="auto">
            <a:xfrm>
              <a:off x="569" y="2954"/>
              <a:ext cx="4896" cy="0"/>
            </a:xfrm>
            <a:prstGeom prst="line">
              <a:avLst/>
            </a:prstGeom>
            <a:noFill/>
            <a:ln w="28575" cap="sq">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60" name="Line 96"/>
            <p:cNvSpPr>
              <a:spLocks noChangeShapeType="1"/>
            </p:cNvSpPr>
            <p:nvPr/>
          </p:nvSpPr>
          <p:spPr bwMode="auto">
            <a:xfrm>
              <a:off x="569" y="1232"/>
              <a:ext cx="0" cy="1722"/>
            </a:xfrm>
            <a:prstGeom prst="line">
              <a:avLst/>
            </a:prstGeom>
            <a:noFill/>
            <a:ln w="28575" cap="sq">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61" name="Line 97"/>
            <p:cNvSpPr>
              <a:spLocks noChangeShapeType="1"/>
            </p:cNvSpPr>
            <p:nvPr/>
          </p:nvSpPr>
          <p:spPr bwMode="auto">
            <a:xfrm>
              <a:off x="1113" y="1232"/>
              <a:ext cx="0" cy="1722"/>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62" name="Line 98"/>
            <p:cNvSpPr>
              <a:spLocks noChangeShapeType="1"/>
            </p:cNvSpPr>
            <p:nvPr/>
          </p:nvSpPr>
          <p:spPr bwMode="auto">
            <a:xfrm>
              <a:off x="1657" y="1232"/>
              <a:ext cx="0" cy="1722"/>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63" name="Line 99"/>
            <p:cNvSpPr>
              <a:spLocks noChangeShapeType="1"/>
            </p:cNvSpPr>
            <p:nvPr/>
          </p:nvSpPr>
          <p:spPr bwMode="auto">
            <a:xfrm>
              <a:off x="2201" y="1232"/>
              <a:ext cx="0" cy="1722"/>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64" name="Line 100"/>
            <p:cNvSpPr>
              <a:spLocks noChangeShapeType="1"/>
            </p:cNvSpPr>
            <p:nvPr/>
          </p:nvSpPr>
          <p:spPr bwMode="auto">
            <a:xfrm>
              <a:off x="2745" y="1232"/>
              <a:ext cx="0" cy="1722"/>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65" name="Line 101"/>
            <p:cNvSpPr>
              <a:spLocks noChangeShapeType="1"/>
            </p:cNvSpPr>
            <p:nvPr/>
          </p:nvSpPr>
          <p:spPr bwMode="auto">
            <a:xfrm>
              <a:off x="3289" y="1232"/>
              <a:ext cx="0" cy="1722"/>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66" name="Line 102"/>
            <p:cNvSpPr>
              <a:spLocks noChangeShapeType="1"/>
            </p:cNvSpPr>
            <p:nvPr/>
          </p:nvSpPr>
          <p:spPr bwMode="auto">
            <a:xfrm>
              <a:off x="3833" y="1232"/>
              <a:ext cx="0" cy="1722"/>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67" name="Line 103"/>
            <p:cNvSpPr>
              <a:spLocks noChangeShapeType="1"/>
            </p:cNvSpPr>
            <p:nvPr/>
          </p:nvSpPr>
          <p:spPr bwMode="auto">
            <a:xfrm>
              <a:off x="4377" y="1232"/>
              <a:ext cx="0" cy="1722"/>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68" name="Line 104"/>
            <p:cNvSpPr>
              <a:spLocks noChangeShapeType="1"/>
            </p:cNvSpPr>
            <p:nvPr/>
          </p:nvSpPr>
          <p:spPr bwMode="auto">
            <a:xfrm>
              <a:off x="4921" y="1232"/>
              <a:ext cx="0" cy="1722"/>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69" name="Line 105"/>
            <p:cNvSpPr>
              <a:spLocks noChangeShapeType="1"/>
            </p:cNvSpPr>
            <p:nvPr/>
          </p:nvSpPr>
          <p:spPr bwMode="auto">
            <a:xfrm>
              <a:off x="5465" y="1232"/>
              <a:ext cx="0" cy="1722"/>
            </a:xfrm>
            <a:prstGeom prst="line">
              <a:avLst/>
            </a:prstGeom>
            <a:noFill/>
            <a:ln w="28575" cap="sq">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80" name="Rectangle 116"/>
            <p:cNvSpPr>
              <a:spLocks noChangeArrowheads="1"/>
            </p:cNvSpPr>
            <p:nvPr/>
          </p:nvSpPr>
          <p:spPr bwMode="auto">
            <a:xfrm>
              <a:off x="192" y="1883"/>
              <a:ext cx="259" cy="363"/>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TW">
                  <a:latin typeface="Times New Roman" panose="02020603050405020304" pitchFamily="18" charset="0"/>
                </a:rPr>
                <a:t>L</a:t>
              </a:r>
            </a:p>
          </p:txBody>
        </p:sp>
        <p:sp>
          <p:nvSpPr>
            <p:cNvPr id="88182" name="Line 118"/>
            <p:cNvSpPr>
              <a:spLocks noChangeShapeType="1"/>
            </p:cNvSpPr>
            <p:nvPr/>
          </p:nvSpPr>
          <p:spPr bwMode="auto">
            <a:xfrm>
              <a:off x="614" y="1096"/>
              <a:ext cx="4853" cy="0"/>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88" name="Rectangle 124"/>
            <p:cNvSpPr>
              <a:spLocks noChangeArrowheads="1"/>
            </p:cNvSpPr>
            <p:nvPr/>
          </p:nvSpPr>
          <p:spPr bwMode="auto">
            <a:xfrm>
              <a:off x="2474" y="960"/>
              <a:ext cx="726" cy="227"/>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TW">
                  <a:latin typeface="Times New Roman" panose="02020603050405020304" pitchFamily="18" charset="0"/>
                </a:rPr>
                <a:t>Input</a:t>
              </a:r>
            </a:p>
          </p:txBody>
        </p:sp>
        <p:sp>
          <p:nvSpPr>
            <p:cNvPr id="88189" name="Oval 125"/>
            <p:cNvSpPr>
              <a:spLocks noChangeArrowheads="1"/>
            </p:cNvSpPr>
            <p:nvPr/>
          </p:nvSpPr>
          <p:spPr bwMode="auto">
            <a:xfrm>
              <a:off x="1204" y="1549"/>
              <a:ext cx="363" cy="272"/>
            </a:xfrm>
            <a:prstGeom prst="ellipse">
              <a:avLst/>
            </a:prstGeom>
            <a:noFill/>
            <a:ln w="28575">
              <a:solidFill>
                <a:schemeClr val="hlink"/>
              </a:solidFill>
              <a:prstDash val="sysDot"/>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TW" altLang="en-US"/>
            </a:p>
          </p:txBody>
        </p:sp>
        <p:sp>
          <p:nvSpPr>
            <p:cNvPr id="88190" name="Oval 126"/>
            <p:cNvSpPr>
              <a:spLocks noChangeArrowheads="1"/>
            </p:cNvSpPr>
            <p:nvPr/>
          </p:nvSpPr>
          <p:spPr bwMode="auto">
            <a:xfrm>
              <a:off x="1749" y="1595"/>
              <a:ext cx="363" cy="499"/>
            </a:xfrm>
            <a:prstGeom prst="ellipse">
              <a:avLst/>
            </a:prstGeom>
            <a:noFill/>
            <a:ln w="28575">
              <a:solidFill>
                <a:schemeClr val="hlink"/>
              </a:solidFill>
              <a:prstDash val="sysDot"/>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TW" altLang="en-US"/>
            </a:p>
          </p:txBody>
        </p:sp>
        <p:sp>
          <p:nvSpPr>
            <p:cNvPr id="88191" name="Oval 127"/>
            <p:cNvSpPr>
              <a:spLocks noChangeArrowheads="1"/>
            </p:cNvSpPr>
            <p:nvPr/>
          </p:nvSpPr>
          <p:spPr bwMode="auto">
            <a:xfrm>
              <a:off x="2837" y="1821"/>
              <a:ext cx="363" cy="500"/>
            </a:xfrm>
            <a:prstGeom prst="ellipse">
              <a:avLst/>
            </a:prstGeom>
            <a:noFill/>
            <a:ln w="28575">
              <a:solidFill>
                <a:schemeClr val="hlink"/>
              </a:solidFill>
              <a:prstDash val="sysDot"/>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TW" altLang="en-US"/>
            </a:p>
          </p:txBody>
        </p:sp>
        <p:sp>
          <p:nvSpPr>
            <p:cNvPr id="88192" name="Oval 128"/>
            <p:cNvSpPr>
              <a:spLocks noChangeArrowheads="1"/>
            </p:cNvSpPr>
            <p:nvPr/>
          </p:nvSpPr>
          <p:spPr bwMode="auto">
            <a:xfrm>
              <a:off x="3926" y="2048"/>
              <a:ext cx="363" cy="545"/>
            </a:xfrm>
            <a:prstGeom prst="ellipse">
              <a:avLst/>
            </a:prstGeom>
            <a:noFill/>
            <a:ln w="28575">
              <a:solidFill>
                <a:schemeClr val="hlink"/>
              </a:solidFill>
              <a:prstDash val="sysDot"/>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TW" altLang="en-US"/>
            </a:p>
          </p:txBody>
        </p:sp>
        <p:sp>
          <p:nvSpPr>
            <p:cNvPr id="88193" name="Oval 129"/>
            <p:cNvSpPr>
              <a:spLocks noChangeArrowheads="1"/>
            </p:cNvSpPr>
            <p:nvPr/>
          </p:nvSpPr>
          <p:spPr bwMode="auto">
            <a:xfrm>
              <a:off x="5015" y="2275"/>
              <a:ext cx="363" cy="318"/>
            </a:xfrm>
            <a:prstGeom prst="ellipse">
              <a:avLst/>
            </a:prstGeom>
            <a:noFill/>
            <a:ln w="28575">
              <a:solidFill>
                <a:schemeClr val="hlink"/>
              </a:solidFill>
              <a:prstDash val="sysDot"/>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TW" altLang="en-US"/>
            </a:p>
          </p:txBody>
        </p:sp>
        <p:sp>
          <p:nvSpPr>
            <p:cNvPr id="88194" name="Line 130"/>
            <p:cNvSpPr>
              <a:spLocks noChangeShapeType="1"/>
            </p:cNvSpPr>
            <p:nvPr/>
          </p:nvSpPr>
          <p:spPr bwMode="auto">
            <a:xfrm flipH="1" flipV="1">
              <a:off x="4198" y="2592"/>
              <a:ext cx="862" cy="0"/>
            </a:xfrm>
            <a:prstGeom prst="line">
              <a:avLst/>
            </a:prstGeom>
            <a:noFill/>
            <a:ln w="28575">
              <a:solidFill>
                <a:schemeClr val="hlink"/>
              </a:solidFill>
              <a:prstDash val="sysDot"/>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95" name="Line 131"/>
            <p:cNvSpPr>
              <a:spLocks noChangeShapeType="1"/>
            </p:cNvSpPr>
            <p:nvPr/>
          </p:nvSpPr>
          <p:spPr bwMode="auto">
            <a:xfrm flipH="1">
              <a:off x="3246" y="2093"/>
              <a:ext cx="770" cy="0"/>
            </a:xfrm>
            <a:prstGeom prst="line">
              <a:avLst/>
            </a:prstGeom>
            <a:noFill/>
            <a:ln w="28575">
              <a:solidFill>
                <a:schemeClr val="hlink"/>
              </a:solidFill>
              <a:prstDash val="sysDot"/>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96" name="Line 132"/>
            <p:cNvSpPr>
              <a:spLocks noChangeShapeType="1"/>
            </p:cNvSpPr>
            <p:nvPr/>
          </p:nvSpPr>
          <p:spPr bwMode="auto">
            <a:xfrm flipH="1">
              <a:off x="2105" y="1836"/>
              <a:ext cx="771" cy="0"/>
            </a:xfrm>
            <a:prstGeom prst="line">
              <a:avLst/>
            </a:prstGeom>
            <a:noFill/>
            <a:ln w="28575">
              <a:solidFill>
                <a:schemeClr val="hlink"/>
              </a:solidFill>
              <a:prstDash val="sysDot"/>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sp>
          <p:nvSpPr>
            <p:cNvPr id="88197" name="Line 133"/>
            <p:cNvSpPr>
              <a:spLocks noChangeShapeType="1"/>
            </p:cNvSpPr>
            <p:nvPr/>
          </p:nvSpPr>
          <p:spPr bwMode="auto">
            <a:xfrm flipH="1" flipV="1">
              <a:off x="1567" y="1640"/>
              <a:ext cx="227" cy="0"/>
            </a:xfrm>
            <a:prstGeom prst="line">
              <a:avLst/>
            </a:prstGeom>
            <a:noFill/>
            <a:ln w="28575">
              <a:solidFill>
                <a:schemeClr val="hlink"/>
              </a:solidFill>
              <a:prstDash val="sysDot"/>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TW" altLang="en-US"/>
            </a:p>
          </p:txBody>
        </p:sp>
      </p:grpSp>
      <p:sp>
        <p:nvSpPr>
          <p:cNvPr id="88200" name="Rectangle 136"/>
          <p:cNvSpPr>
            <a:spLocks noChangeArrowheads="1"/>
          </p:cNvSpPr>
          <p:nvPr/>
        </p:nvSpPr>
        <p:spPr bwMode="auto">
          <a:xfrm>
            <a:off x="685800" y="4612400"/>
            <a:ext cx="7772400" cy="1447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80000"/>
              </a:lnSpc>
              <a:spcBef>
                <a:spcPct val="20000"/>
              </a:spcBef>
              <a:buClr>
                <a:schemeClr val="folHlink"/>
              </a:buClr>
              <a:buSzPct val="60000"/>
              <a:buFont typeface="Wingdings" panose="05000000000000000000" pitchFamily="2" charset="2"/>
              <a:buChar char="n"/>
            </a:pPr>
            <a:r>
              <a:rPr lang="en-US" altLang="zh-TW" sz="2800" dirty="0">
                <a:latin typeface="+mn-lt"/>
              </a:rPr>
              <a:t>LIS: </a:t>
            </a:r>
            <a:r>
              <a:rPr lang="en-US" altLang="zh-TW" sz="2800" u="sng" dirty="0">
                <a:solidFill>
                  <a:schemeClr val="hlink"/>
                </a:solidFill>
                <a:latin typeface="+mn-lt"/>
              </a:rPr>
              <a:t>3578</a:t>
            </a:r>
            <a:r>
              <a:rPr lang="en-US" altLang="zh-TW" sz="2800" dirty="0">
                <a:latin typeface="+mn-lt"/>
              </a:rPr>
              <a:t> </a:t>
            </a:r>
          </a:p>
          <a:p>
            <a:pPr>
              <a:lnSpc>
                <a:spcPct val="80000"/>
              </a:lnSpc>
              <a:spcBef>
                <a:spcPct val="20000"/>
              </a:spcBef>
              <a:buClr>
                <a:schemeClr val="folHlink"/>
              </a:buClr>
              <a:buSzPct val="60000"/>
              <a:buFont typeface="Wingdings" panose="05000000000000000000" pitchFamily="2" charset="2"/>
              <a:buChar char="n"/>
            </a:pPr>
            <a:r>
              <a:rPr lang="en-US" altLang="zh-TW" sz="2800" dirty="0">
                <a:latin typeface="+mn-lt"/>
                <a:sym typeface="Wingdings" panose="05000000000000000000" pitchFamily="2" charset="2"/>
              </a:rPr>
              <a:t>time complexity: O(</a:t>
            </a:r>
            <a:r>
              <a:rPr lang="en-US" altLang="zh-TW" sz="2800" i="1" dirty="0" err="1">
                <a:latin typeface="+mn-lt"/>
                <a:sym typeface="Wingdings" panose="05000000000000000000" pitchFamily="2" charset="2"/>
              </a:rPr>
              <a:t>nlogn</a:t>
            </a:r>
            <a:r>
              <a:rPr lang="en-US" altLang="zh-TW" sz="2800" dirty="0">
                <a:latin typeface="+mn-lt"/>
                <a:sym typeface="Wingdings" panose="05000000000000000000" pitchFamily="2" charset="2"/>
              </a:rPr>
              <a:t>)</a:t>
            </a:r>
            <a:endParaRPr lang="en-US" altLang="zh-TW" sz="2800" dirty="0">
              <a:latin typeface="+mn-lt"/>
            </a:endParaRPr>
          </a:p>
          <a:p>
            <a:pPr lvl="1">
              <a:lnSpc>
                <a:spcPct val="80000"/>
              </a:lnSpc>
              <a:spcBef>
                <a:spcPct val="20000"/>
              </a:spcBef>
              <a:buClr>
                <a:schemeClr val="hlink"/>
              </a:buClr>
              <a:buSzPct val="55000"/>
              <a:buFont typeface="Wingdings" panose="05000000000000000000" pitchFamily="2" charset="2"/>
              <a:buChar char="n"/>
            </a:pPr>
            <a:r>
              <a:rPr lang="en-US" altLang="zh-TW" sz="2800" dirty="0">
                <a:latin typeface="+mn-lt"/>
              </a:rPr>
              <a:t> </a:t>
            </a:r>
            <a:r>
              <a:rPr lang="en-US" altLang="zh-TW" sz="2800" i="1" dirty="0">
                <a:latin typeface="+mn-lt"/>
              </a:rPr>
              <a:t>n</a:t>
            </a:r>
            <a:r>
              <a:rPr lang="en-US" altLang="zh-TW" sz="2800" dirty="0">
                <a:latin typeface="+mn-lt"/>
              </a:rPr>
              <a:t> numbers are  inserted and each insertion takes O(</a:t>
            </a:r>
            <a:r>
              <a:rPr lang="en-US" altLang="zh-TW" sz="2800" i="1" dirty="0" err="1">
                <a:latin typeface="+mn-lt"/>
              </a:rPr>
              <a:t>logn</a:t>
            </a:r>
            <a:r>
              <a:rPr lang="en-US" altLang="zh-TW" sz="2800" dirty="0">
                <a:latin typeface="+mn-lt"/>
              </a:rPr>
              <a:t>) time for binary search.</a:t>
            </a:r>
          </a:p>
        </p:txBody>
      </p:sp>
      <p:sp>
        <p:nvSpPr>
          <p:cNvPr id="11" name="日期版面配置區 10"/>
          <p:cNvSpPr>
            <a:spLocks noGrp="1"/>
          </p:cNvSpPr>
          <p:nvPr>
            <p:ph type="dt" sz="half" idx="10"/>
          </p:nvPr>
        </p:nvSpPr>
        <p:spPr/>
        <p:txBody>
          <a:bodyPr/>
          <a:lstStyle/>
          <a:p>
            <a:r>
              <a:rPr lang="en-US" altLang="zh-TW" smtClean="0"/>
              <a:t>2014/1/27</a:t>
            </a:r>
            <a:endParaRPr lang="zh-TW" altLang="en-US"/>
          </a:p>
        </p:txBody>
      </p:sp>
      <p:sp>
        <p:nvSpPr>
          <p:cNvPr id="12" name="投影片編號版面配置區 11"/>
          <p:cNvSpPr>
            <a:spLocks noGrp="1"/>
          </p:cNvSpPr>
          <p:nvPr>
            <p:ph type="sldNum" sz="quarter" idx="12"/>
          </p:nvPr>
        </p:nvSpPr>
        <p:spPr/>
        <p:txBody>
          <a:bodyPr/>
          <a:lstStyle/>
          <a:p>
            <a:fld id="{61A04B93-F247-42E5-95CE-B8478AD23DB7}" type="slidenum">
              <a:rPr lang="zh-TW" altLang="en-US" smtClean="0"/>
              <a:pPr/>
              <a:t>4</a:t>
            </a:fld>
            <a:endParaRPr lang="zh-TW" altLang="en-US"/>
          </a:p>
        </p:txBody>
      </p:sp>
    </p:spTree>
    <p:extLst>
      <p:ext uri="{BB962C8B-B14F-4D97-AF65-F5344CB8AC3E}">
        <p14:creationId xmlns:p14="http://schemas.microsoft.com/office/powerpoint/2010/main" xmlns="" val="267979090"/>
      </p:ext>
    </p:extLst>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noAutofit/>
          </a:bodyPr>
          <a:lstStyle/>
          <a:p>
            <a:r>
              <a:rPr lang="en-US" altLang="zh-TW" dirty="0" smtClean="0">
                <a:latin typeface="+mn-lt"/>
              </a:rPr>
              <a:t>The Longest Increasing Subsequence (LIS) Problem</a:t>
            </a:r>
            <a:endParaRPr lang="en-US" altLang="zh-TW" dirty="0">
              <a:latin typeface="+mn-lt"/>
            </a:endParaRPr>
          </a:p>
        </p:txBody>
      </p:sp>
      <p:sp>
        <p:nvSpPr>
          <p:cNvPr id="83971" name="Rectangle 3"/>
          <p:cNvSpPr>
            <a:spLocks noGrp="1" noChangeArrowheads="1"/>
          </p:cNvSpPr>
          <p:nvPr>
            <p:ph sz="quarter" idx="1"/>
          </p:nvPr>
        </p:nvSpPr>
        <p:spPr/>
        <p:txBody>
          <a:bodyPr/>
          <a:lstStyle/>
          <a:p>
            <a:pPr>
              <a:lnSpc>
                <a:spcPct val="80000"/>
              </a:lnSpc>
            </a:pPr>
            <a:r>
              <a:rPr lang="en-US" altLang="zh-TW" sz="2800" dirty="0" smtClean="0">
                <a:latin typeface="+mn-lt"/>
              </a:rPr>
              <a:t>Robinson-</a:t>
            </a:r>
            <a:r>
              <a:rPr lang="en-US" altLang="zh-TW" sz="2800" dirty="0" err="1" smtClean="0">
                <a:latin typeface="+mn-lt"/>
              </a:rPr>
              <a:t>Schensted</a:t>
            </a:r>
            <a:r>
              <a:rPr lang="en-US" altLang="zh-TW" sz="2800" dirty="0" smtClean="0">
                <a:latin typeface="+mn-lt"/>
              </a:rPr>
              <a:t>-Knuth Algorithm can solve the LIS problem in </a:t>
            </a:r>
            <a:r>
              <a:rPr lang="en-US" altLang="zh-TW" sz="2800" u="sng" dirty="0" smtClean="0">
                <a:solidFill>
                  <a:schemeClr val="hlink"/>
                </a:solidFill>
                <a:latin typeface="+mn-lt"/>
              </a:rPr>
              <a:t>O(</a:t>
            </a:r>
            <a:r>
              <a:rPr lang="en-US" altLang="zh-TW" sz="2800" i="1" u="sng" dirty="0" err="1" smtClean="0">
                <a:solidFill>
                  <a:schemeClr val="hlink"/>
                </a:solidFill>
                <a:latin typeface="+mn-lt"/>
              </a:rPr>
              <a:t>nlogn</a:t>
            </a:r>
            <a:r>
              <a:rPr lang="en-US" altLang="zh-TW" sz="2800" u="sng" dirty="0" smtClean="0">
                <a:solidFill>
                  <a:schemeClr val="hlink"/>
                </a:solidFill>
                <a:latin typeface="+mn-lt"/>
              </a:rPr>
              <a:t>)</a:t>
            </a:r>
            <a:r>
              <a:rPr lang="en-US" altLang="zh-TW" sz="2800" dirty="0" smtClean="0">
                <a:latin typeface="+mn-lt"/>
              </a:rPr>
              <a:t> time.</a:t>
            </a:r>
          </a:p>
          <a:p>
            <a:pPr>
              <a:lnSpc>
                <a:spcPct val="80000"/>
              </a:lnSpc>
            </a:pPr>
            <a:r>
              <a:rPr lang="en-US" altLang="zh-TW" sz="2800" dirty="0" smtClean="0">
                <a:latin typeface="+mn-lt"/>
              </a:rPr>
              <a:t>Number of comparison:</a:t>
            </a:r>
            <a:br>
              <a:rPr lang="en-US" altLang="zh-TW" sz="2800" dirty="0" smtClean="0">
                <a:latin typeface="+mn-lt"/>
              </a:rPr>
            </a:br>
            <a:r>
              <a:rPr lang="en-US" altLang="zh-TW" sz="2800" i="1" dirty="0" smtClean="0">
                <a:solidFill>
                  <a:srgbClr val="FF0000"/>
                </a:solidFill>
                <a:latin typeface="+mn-lt"/>
              </a:rPr>
              <a:t>(n-L)log L </a:t>
            </a:r>
            <a:r>
              <a:rPr lang="en-US" altLang="zh-TW" sz="2800" dirty="0" smtClean="0">
                <a:solidFill>
                  <a:srgbClr val="FF0000"/>
                </a:solidFill>
                <a:latin typeface="+mn-lt"/>
              </a:rPr>
              <a:t>+ O(</a:t>
            </a:r>
            <a:r>
              <a:rPr lang="en-US" altLang="zh-TW" sz="2800" i="1" dirty="0" smtClean="0">
                <a:solidFill>
                  <a:srgbClr val="FF0000"/>
                </a:solidFill>
                <a:latin typeface="+mn-lt"/>
              </a:rPr>
              <a:t>n</a:t>
            </a:r>
            <a:r>
              <a:rPr lang="en-US" altLang="zh-TW" sz="2800" dirty="0" smtClean="0">
                <a:solidFill>
                  <a:srgbClr val="FF0000"/>
                </a:solidFill>
                <a:latin typeface="+mn-lt"/>
              </a:rPr>
              <a:t>)</a:t>
            </a:r>
          </a:p>
          <a:p>
            <a:pPr>
              <a:lnSpc>
                <a:spcPct val="80000"/>
              </a:lnSpc>
            </a:pPr>
            <a:r>
              <a:rPr lang="en-US" altLang="zh-TW" sz="2800" dirty="0" smtClean="0">
                <a:latin typeface="+mn-lt"/>
              </a:rPr>
              <a:t>The worst value for L is roughly n / log n</a:t>
            </a:r>
          </a:p>
          <a:p>
            <a:pPr>
              <a:lnSpc>
                <a:spcPct val="80000"/>
              </a:lnSpc>
            </a:pPr>
            <a:r>
              <a:rPr lang="en-US" altLang="zh-TW" sz="2800" dirty="0" smtClean="0">
                <a:latin typeface="+mn-lt"/>
              </a:rPr>
              <a:t>Upper bound: </a:t>
            </a:r>
            <a:r>
              <a:rPr lang="en-US" altLang="zh-TW" sz="2800" i="1" dirty="0" err="1" smtClean="0">
                <a:solidFill>
                  <a:srgbClr val="FF0000"/>
                </a:solidFill>
                <a:latin typeface="+mn-lt"/>
              </a:rPr>
              <a:t>nlogn</a:t>
            </a:r>
            <a:r>
              <a:rPr lang="en-US" altLang="zh-TW" sz="2800" i="1" dirty="0" smtClean="0">
                <a:solidFill>
                  <a:srgbClr val="FF0000"/>
                </a:solidFill>
                <a:latin typeface="+mn-lt"/>
              </a:rPr>
              <a:t> – </a:t>
            </a:r>
            <a:r>
              <a:rPr lang="en-US" altLang="zh-TW" sz="2800" i="1" dirty="0" err="1" smtClean="0">
                <a:solidFill>
                  <a:srgbClr val="FF0000"/>
                </a:solidFill>
                <a:latin typeface="+mn-lt"/>
              </a:rPr>
              <a:t>nloglogn</a:t>
            </a:r>
            <a:r>
              <a:rPr lang="en-US" altLang="zh-TW" sz="2800" dirty="0" smtClean="0">
                <a:solidFill>
                  <a:srgbClr val="FF0000"/>
                </a:solidFill>
                <a:latin typeface="+mn-lt"/>
              </a:rPr>
              <a:t> + O(</a:t>
            </a:r>
            <a:r>
              <a:rPr lang="en-US" altLang="zh-TW" sz="2800" i="1" dirty="0" smtClean="0">
                <a:solidFill>
                  <a:srgbClr val="FF0000"/>
                </a:solidFill>
                <a:latin typeface="+mn-lt"/>
              </a:rPr>
              <a:t>n</a:t>
            </a:r>
            <a:r>
              <a:rPr lang="en-US" altLang="zh-TW" sz="2800" dirty="0" smtClean="0">
                <a:solidFill>
                  <a:srgbClr val="FF0000"/>
                </a:solidFill>
                <a:latin typeface="+mn-lt"/>
              </a:rPr>
              <a:t>)</a:t>
            </a:r>
          </a:p>
          <a:p>
            <a:pPr>
              <a:lnSpc>
                <a:spcPct val="80000"/>
              </a:lnSpc>
              <a:buFont typeface="Wingdings" panose="05000000000000000000" pitchFamily="2" charset="2"/>
              <a:buNone/>
            </a:pPr>
            <a:endParaRPr lang="en-US" altLang="zh-TW" sz="2800" dirty="0" smtClean="0">
              <a:latin typeface="+mn-lt"/>
            </a:endParaRPr>
          </a:p>
          <a:p>
            <a:pPr lvl="1">
              <a:lnSpc>
                <a:spcPct val="80000"/>
              </a:lnSpc>
            </a:pPr>
            <a:endParaRPr lang="en-US" altLang="zh-TW" sz="2400" dirty="0">
              <a:latin typeface="+mn-lt"/>
            </a:endParaRPr>
          </a:p>
        </p:txBody>
      </p:sp>
      <p:sp>
        <p:nvSpPr>
          <p:cNvPr id="9" name="日期版面配置區 8"/>
          <p:cNvSpPr>
            <a:spLocks noGrp="1"/>
          </p:cNvSpPr>
          <p:nvPr>
            <p:ph type="dt" sz="half" idx="10"/>
          </p:nvPr>
        </p:nvSpPr>
        <p:spPr/>
        <p:txBody>
          <a:bodyPr/>
          <a:lstStyle/>
          <a:p>
            <a:r>
              <a:rPr lang="en-US" altLang="zh-TW" smtClean="0"/>
              <a:t>2014/1/27</a:t>
            </a:r>
            <a:endParaRPr lang="zh-TW" altLang="en-US"/>
          </a:p>
        </p:txBody>
      </p:sp>
      <p:sp>
        <p:nvSpPr>
          <p:cNvPr id="10" name="投影片編號版面配置區 9"/>
          <p:cNvSpPr>
            <a:spLocks noGrp="1"/>
          </p:cNvSpPr>
          <p:nvPr>
            <p:ph type="sldNum" sz="quarter" idx="12"/>
          </p:nvPr>
        </p:nvSpPr>
        <p:spPr/>
        <p:txBody>
          <a:bodyPr/>
          <a:lstStyle/>
          <a:p>
            <a:fld id="{61A04B93-F247-42E5-95CE-B8478AD23DB7}" type="slidenum">
              <a:rPr lang="zh-TW" altLang="en-US" smtClean="0"/>
              <a:pPr/>
              <a:t>5</a:t>
            </a:fld>
            <a:endParaRPr lang="zh-TW" altLang="en-US"/>
          </a:p>
        </p:txBody>
      </p:sp>
    </p:spTree>
    <p:extLst>
      <p:ext uri="{BB962C8B-B14F-4D97-AF65-F5344CB8AC3E}">
        <p14:creationId xmlns:p14="http://schemas.microsoft.com/office/powerpoint/2010/main" xmlns="" val="216848591"/>
      </p:ext>
    </p:extLst>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noAutofit/>
          </a:bodyPr>
          <a:lstStyle/>
          <a:p>
            <a:r>
              <a:rPr lang="en-US" altLang="zh-TW" dirty="0" smtClean="0">
                <a:latin typeface="+mn-lt"/>
              </a:rPr>
              <a:t>A lower bound</a:t>
            </a:r>
            <a:endParaRPr lang="en-US" altLang="zh-TW" dirty="0">
              <a:latin typeface="+mn-lt"/>
            </a:endParaRPr>
          </a:p>
        </p:txBody>
      </p:sp>
      <mc:AlternateContent xmlns:mc="http://schemas.openxmlformats.org/markup-compatibility/2006">
        <mc:Choice xmlns:a14="http://schemas.microsoft.com/office/drawing/2010/main" xmlns="" Requires="a14">
          <p:sp>
            <p:nvSpPr>
              <p:cNvPr id="83971" name="Rectangle 3"/>
              <p:cNvSpPr>
                <a:spLocks noGrp="1" noChangeArrowheads="1"/>
              </p:cNvSpPr>
              <p:nvPr>
                <p:ph sz="quarter" idx="1"/>
              </p:nvPr>
            </p:nvSpPr>
            <p:spPr/>
            <p:txBody>
              <a:bodyPr>
                <a:normAutofit/>
              </a:bodyPr>
              <a:lstStyle/>
              <a:p>
                <a:pPr>
                  <a:lnSpc>
                    <a:spcPct val="80000"/>
                  </a:lnSpc>
                </a:pPr>
                <a:r>
                  <a:rPr lang="en-US" altLang="zh-TW" sz="2400" dirty="0" smtClean="0">
                    <a:latin typeface="+mn-lt"/>
                  </a:rPr>
                  <a:t>A binary comparison tree T</a:t>
                </a:r>
              </a:p>
              <a:p>
                <a:pPr>
                  <a:lnSpc>
                    <a:spcPct val="80000"/>
                  </a:lnSpc>
                </a:pPr>
                <a:r>
                  <a:rPr lang="en-US" altLang="zh-TW" sz="2400" dirty="0">
                    <a:latin typeface="+mn-lt"/>
                  </a:rPr>
                  <a:t>A partially ordered set (P, </a:t>
                </a:r>
                <a14:m>
                  <m:oMath xmlns:m="http://schemas.openxmlformats.org/officeDocument/2006/math">
                    <m:r>
                      <a:rPr lang="en-US" altLang="zh-TW" sz="2400" i="0">
                        <a:latin typeface="Cambria Math" panose="02040503050406030204" pitchFamily="18" charset="0"/>
                      </a:rPr>
                      <m:t>≤</m:t>
                    </m:r>
                  </m:oMath>
                </a14:m>
                <a:r>
                  <a:rPr lang="en-US" altLang="zh-TW" sz="2400" dirty="0">
                    <a:latin typeface="+mn-lt"/>
                  </a:rPr>
                  <a:t>)</a:t>
                </a:r>
              </a:p>
              <a:p>
                <a:pPr lvl="1">
                  <a:lnSpc>
                    <a:spcPct val="80000"/>
                  </a:lnSpc>
                </a:pPr>
                <a:r>
                  <a:rPr lang="en-US" altLang="zh-TW" sz="2400" dirty="0" err="1">
                    <a:solidFill>
                      <a:schemeClr val="tx1"/>
                    </a:solidFill>
                    <a:latin typeface="+mn-lt"/>
                  </a:rPr>
                  <a:t>Antichain</a:t>
                </a:r>
                <a:r>
                  <a:rPr lang="en-US" altLang="zh-TW" sz="2400" dirty="0">
                    <a:solidFill>
                      <a:schemeClr val="tx1"/>
                    </a:solidFill>
                    <a:latin typeface="+mn-lt"/>
                  </a:rPr>
                  <a:t> (incomparable elements)</a:t>
                </a:r>
              </a:p>
              <a:p>
                <a:pPr>
                  <a:lnSpc>
                    <a:spcPct val="80000"/>
                  </a:lnSpc>
                </a:pPr>
                <a:endParaRPr lang="en-US" altLang="zh-TW" sz="2400" dirty="0">
                  <a:latin typeface="+mn-lt"/>
                </a:endParaRPr>
              </a:p>
              <a:p>
                <a:pPr>
                  <a:lnSpc>
                    <a:spcPct val="80000"/>
                  </a:lnSpc>
                </a:pPr>
                <a:r>
                  <a:rPr lang="en-US" altLang="zh-TW" sz="2400" dirty="0">
                    <a:latin typeface="+mn-lt"/>
                  </a:rPr>
                  <a:t>L</a:t>
                </a:r>
                <a14:m>
                  <m:oMath xmlns:m="http://schemas.openxmlformats.org/officeDocument/2006/math">
                    <m:r>
                      <a:rPr lang="en-US" altLang="zh-TW" sz="2400" i="0">
                        <a:latin typeface="Cambria Math" panose="02040503050406030204" pitchFamily="18" charset="0"/>
                      </a:rPr>
                      <m:t> ≥ </m:t>
                    </m:r>
                  </m:oMath>
                </a14:m>
                <a:r>
                  <a:rPr lang="en-US" altLang="zh-TW" sz="2400" dirty="0">
                    <a:latin typeface="+mn-lt"/>
                  </a:rPr>
                  <a:t>k?</a:t>
                </a:r>
              </a:p>
              <a:p>
                <a:pPr>
                  <a:lnSpc>
                    <a:spcPct val="80000"/>
                  </a:lnSpc>
                </a:pPr>
                <a:r>
                  <a:rPr lang="en-US" altLang="zh-TW" sz="2400" dirty="0">
                    <a:latin typeface="+mn-lt"/>
                  </a:rPr>
                  <a:t>The partially ordered set can be partitioned into fewer than k chains.</a:t>
                </a:r>
              </a:p>
              <a:p>
                <a:pPr>
                  <a:lnSpc>
                    <a:spcPct val="80000"/>
                  </a:lnSpc>
                </a:pPr>
                <a:r>
                  <a:rPr lang="en-US" altLang="zh-TW" sz="2400" dirty="0">
                    <a:latin typeface="+mn-lt"/>
                  </a:rPr>
                  <a:t>Requires</a:t>
                </a:r>
                <a:r>
                  <a:rPr lang="en-US" altLang="zh-TW" sz="2400" i="1" dirty="0">
                    <a:latin typeface="+mn-lt"/>
                  </a:rPr>
                  <a:t> n log k + O(n) </a:t>
                </a:r>
                <a:r>
                  <a:rPr lang="en-US" altLang="zh-TW" sz="2400" dirty="0" smtClean="0">
                    <a:latin typeface="+mn-lt"/>
                  </a:rPr>
                  <a:t>comparison</a:t>
                </a:r>
              </a:p>
              <a:p>
                <a:pPr>
                  <a:lnSpc>
                    <a:spcPct val="80000"/>
                  </a:lnSpc>
                </a:pPr>
                <a:r>
                  <a:rPr lang="en-US" altLang="zh-TW" sz="2400" dirty="0" smtClean="0">
                    <a:latin typeface="+mn-lt"/>
                  </a:rPr>
                  <a:t>At least </a:t>
                </a:r>
                <a:r>
                  <a:rPr lang="en-US" altLang="zh-TW" sz="2400" i="1" dirty="0" smtClean="0">
                    <a:latin typeface="+mn-lt"/>
                  </a:rPr>
                  <a:t>S(n, k) </a:t>
                </a:r>
                <a14:m>
                  <m:oMath xmlns:m="http://schemas.openxmlformats.org/officeDocument/2006/math">
                    <m:r>
                      <a:rPr lang="en-US" altLang="zh-TW" sz="2400" i="1" smtClean="0">
                        <a:latin typeface="Cambria Math" panose="02040503050406030204" pitchFamily="18" charset="0"/>
                        <a:ea typeface="Cambria Math" panose="02040503050406030204" pitchFamily="18" charset="0"/>
                      </a:rPr>
                      <m:t>≥</m:t>
                    </m:r>
                  </m:oMath>
                </a14:m>
                <a:r>
                  <a:rPr lang="en-US" altLang="zh-TW" sz="2400" i="1" dirty="0" smtClean="0">
                    <a:latin typeface="+mn-lt"/>
                  </a:rPr>
                  <a:t> n!(1-(</a:t>
                </a:r>
                <a14:m>
                  <m:oMath xmlns:m="http://schemas.openxmlformats.org/officeDocument/2006/math">
                    <m:sSubSup>
                      <m:sSubSupPr>
                        <m:ctrlPr>
                          <a:rPr lang="en-US" altLang="zh-TW" sz="2400" i="1" smtClean="0">
                            <a:latin typeface="Cambria Math" panose="02040503050406030204" pitchFamily="18" charset="0"/>
                          </a:rPr>
                        </m:ctrlPr>
                      </m:sSubSupPr>
                      <m:e>
                        <m:r>
                          <a:rPr lang="en-US" altLang="zh-TW" sz="2400" b="0" i="1" smtClean="0">
                            <a:latin typeface="Cambria Math" panose="02040503050406030204" pitchFamily="18" charset="0"/>
                          </a:rPr>
                          <m:t> </m:t>
                        </m:r>
                      </m:e>
                      <m:sub>
                        <m:r>
                          <a:rPr lang="en-US" altLang="zh-TW" sz="2400" b="0" i="1" smtClean="0">
                            <a:latin typeface="Cambria Math" panose="02040503050406030204" pitchFamily="18" charset="0"/>
                          </a:rPr>
                          <m:t>𝑘</m:t>
                        </m:r>
                      </m:sub>
                      <m:sup>
                        <m:r>
                          <a:rPr lang="en-US" altLang="zh-TW" sz="2400" b="0" i="1" smtClean="0">
                            <a:latin typeface="Cambria Math" panose="02040503050406030204" pitchFamily="18" charset="0"/>
                          </a:rPr>
                          <m:t>𝑛</m:t>
                        </m:r>
                      </m:sup>
                    </m:sSubSup>
                  </m:oMath>
                </a14:m>
                <a:r>
                  <a:rPr lang="en-US" altLang="zh-TW" sz="2400" i="1" dirty="0" smtClean="0">
                    <a:latin typeface="+mn-lt"/>
                  </a:rPr>
                  <a:t>)/k!) </a:t>
                </a:r>
                <a:r>
                  <a:rPr lang="en-US" altLang="zh-TW" sz="2400" dirty="0" smtClean="0">
                    <a:latin typeface="+mn-lt"/>
                  </a:rPr>
                  <a:t>leaves.</a:t>
                </a:r>
              </a:p>
              <a:p>
                <a:pPr>
                  <a:lnSpc>
                    <a:spcPct val="80000"/>
                  </a:lnSpc>
                </a:pPr>
                <a:r>
                  <a:rPr lang="en-US" altLang="zh-TW" sz="2400" dirty="0" smtClean="0">
                    <a:latin typeface="+mn-lt"/>
                  </a:rPr>
                  <a:t>=&gt; at </a:t>
                </a:r>
                <a:r>
                  <a:rPr lang="en-US" altLang="zh-TW" sz="2400" i="1" dirty="0">
                    <a:latin typeface="+mn-lt"/>
                  </a:rPr>
                  <a:t>least </a:t>
                </a:r>
                <a:r>
                  <a:rPr lang="en-US" altLang="zh-TW" sz="2400" i="1" dirty="0" err="1">
                    <a:latin typeface="+mn-lt"/>
                  </a:rPr>
                  <a:t>logS</a:t>
                </a:r>
                <a:r>
                  <a:rPr lang="en-US" altLang="zh-TW" sz="2400" i="1" dirty="0">
                    <a:latin typeface="+mn-lt"/>
                  </a:rPr>
                  <a:t>(n</a:t>
                </a:r>
                <a:r>
                  <a:rPr lang="en-US" altLang="zh-TW" sz="2400" i="1" dirty="0">
                    <a:latin typeface="+mn-lt"/>
                  </a:rPr>
                  <a:t>, k</a:t>
                </a:r>
                <a:r>
                  <a:rPr lang="en-US" altLang="zh-TW" sz="2400" i="1" dirty="0">
                    <a:latin typeface="+mn-lt"/>
                  </a:rPr>
                  <a:t>) </a:t>
                </a:r>
                <a:r>
                  <a:rPr lang="en-US" altLang="zh-TW" sz="2400" dirty="0" smtClean="0">
                    <a:latin typeface="+mn-lt"/>
                  </a:rPr>
                  <a:t>comparison</a:t>
                </a:r>
                <a:r>
                  <a:rPr lang="en-US" altLang="zh-TW" sz="2400" i="1" dirty="0" smtClean="0">
                    <a:latin typeface="+mn-lt"/>
                  </a:rPr>
                  <a:t>.</a:t>
                </a:r>
              </a:p>
              <a:p>
                <a:pPr>
                  <a:lnSpc>
                    <a:spcPct val="80000"/>
                  </a:lnSpc>
                </a:pPr>
                <a:endParaRPr lang="en-US" altLang="zh-TW" sz="2400" i="1" dirty="0">
                  <a:latin typeface="+mn-lt"/>
                </a:endParaRPr>
              </a:p>
              <a:p>
                <a:pPr>
                  <a:lnSpc>
                    <a:spcPct val="80000"/>
                  </a:lnSpc>
                </a:pPr>
                <a:r>
                  <a:rPr lang="en-US" altLang="zh-TW" sz="2400" i="1" dirty="0" smtClean="0">
                    <a:latin typeface="+mn-lt"/>
                  </a:rPr>
                  <a:t>Consequently, it perform at least </a:t>
                </a:r>
                <a:r>
                  <a:rPr lang="en-US" altLang="zh-TW" sz="2400" i="1" dirty="0" err="1" smtClean="0">
                    <a:latin typeface="+mn-lt"/>
                  </a:rPr>
                  <a:t>logS</a:t>
                </a:r>
                <a:r>
                  <a:rPr lang="en-US" altLang="zh-TW" sz="2400" i="1" dirty="0" smtClean="0">
                    <a:latin typeface="+mn-lt"/>
                  </a:rPr>
                  <a:t>(n, k) – </a:t>
                </a:r>
                <a:r>
                  <a:rPr lang="en-US" altLang="zh-TW" sz="2400" i="1" dirty="0" err="1" smtClean="0">
                    <a:latin typeface="+mn-lt"/>
                  </a:rPr>
                  <a:t>nlogk</a:t>
                </a:r>
                <a:r>
                  <a:rPr lang="en-US" altLang="zh-TW" sz="2400" i="1" smtClean="0">
                    <a:latin typeface="+mn-lt"/>
                  </a:rPr>
                  <a:t> + O(n)</a:t>
                </a:r>
                <a:endParaRPr lang="en-US" altLang="zh-TW" sz="2400" i="1" dirty="0">
                  <a:latin typeface="+mn-lt"/>
                </a:endParaRPr>
              </a:p>
            </p:txBody>
          </p:sp>
        </mc:Choice>
        <mc:Fallback>
          <p:sp>
            <p:nvSpPr>
              <p:cNvPr id="83971" name="Rectangle 3"/>
              <p:cNvSpPr>
                <a:spLocks noGrp="1" noRot="1" noChangeAspect="1" noMove="1" noResize="1" noEditPoints="1" noAdjustHandles="1" noChangeArrowheads="1" noChangeShapeType="1" noTextEdit="1"/>
              </p:cNvSpPr>
              <p:nvPr>
                <p:ph sz="quarter" idx="1"/>
              </p:nvPr>
            </p:nvSpPr>
            <p:spPr>
              <a:blipFill rotWithShape="0">
                <a:blip r:embed="rId3"/>
                <a:stretch>
                  <a:fillRect l="-519" t="-2346"/>
                </a:stretch>
              </a:blipFill>
            </p:spPr>
            <p:txBody>
              <a:bodyPr/>
              <a:lstStyle/>
              <a:p>
                <a:r>
                  <a:rPr lang="zh-TW" altLang="en-US">
                    <a:noFill/>
                  </a:rPr>
                  <a:t> </a:t>
                </a:r>
              </a:p>
            </p:txBody>
          </p:sp>
        </mc:Fallback>
      </mc:AlternateContent>
      <p:sp>
        <p:nvSpPr>
          <p:cNvPr id="9" name="日期版面配置區 8"/>
          <p:cNvSpPr>
            <a:spLocks noGrp="1"/>
          </p:cNvSpPr>
          <p:nvPr>
            <p:ph type="dt" sz="half" idx="10"/>
          </p:nvPr>
        </p:nvSpPr>
        <p:spPr/>
        <p:txBody>
          <a:bodyPr/>
          <a:lstStyle/>
          <a:p>
            <a:r>
              <a:rPr lang="en-US" altLang="zh-TW" smtClean="0"/>
              <a:t>2014/1/27</a:t>
            </a:r>
            <a:endParaRPr lang="zh-TW" altLang="en-US"/>
          </a:p>
        </p:txBody>
      </p:sp>
      <p:sp>
        <p:nvSpPr>
          <p:cNvPr id="10" name="投影片編號版面配置區 9"/>
          <p:cNvSpPr>
            <a:spLocks noGrp="1"/>
          </p:cNvSpPr>
          <p:nvPr>
            <p:ph type="sldNum" sz="quarter" idx="12"/>
          </p:nvPr>
        </p:nvSpPr>
        <p:spPr/>
        <p:txBody>
          <a:bodyPr/>
          <a:lstStyle/>
          <a:p>
            <a:fld id="{61A04B93-F247-42E5-95CE-B8478AD23DB7}" type="slidenum">
              <a:rPr lang="zh-TW" altLang="en-US" smtClean="0"/>
              <a:pPr/>
              <a:t>6</a:t>
            </a:fld>
            <a:endParaRPr lang="zh-TW" altLang="en-US"/>
          </a:p>
        </p:txBody>
      </p:sp>
    </p:spTree>
    <p:extLst>
      <p:ext uri="{BB962C8B-B14F-4D97-AF65-F5344CB8AC3E}">
        <p14:creationId xmlns:p14="http://schemas.microsoft.com/office/powerpoint/2010/main" xmlns="" val="1336197126"/>
      </p:ext>
    </p:extLst>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noAutofit/>
          </a:bodyPr>
          <a:lstStyle/>
          <a:p>
            <a:r>
              <a:rPr lang="en-US" altLang="zh-TW" dirty="0" smtClean="0">
                <a:latin typeface="+mn-lt"/>
              </a:rPr>
              <a:t>A lower bound</a:t>
            </a:r>
            <a:endParaRPr lang="en-US" altLang="zh-TW" dirty="0">
              <a:latin typeface="+mn-lt"/>
            </a:endParaRPr>
          </a:p>
        </p:txBody>
      </p:sp>
      <mc:AlternateContent xmlns:mc="http://schemas.openxmlformats.org/markup-compatibility/2006">
        <mc:Choice xmlns:a14="http://schemas.microsoft.com/office/drawing/2010/main" xmlns="" Requires="a14">
          <p:sp>
            <p:nvSpPr>
              <p:cNvPr id="83971" name="Rectangle 3"/>
              <p:cNvSpPr>
                <a:spLocks noGrp="1" noChangeArrowheads="1"/>
              </p:cNvSpPr>
              <p:nvPr>
                <p:ph sz="quarter" idx="1"/>
              </p:nvPr>
            </p:nvSpPr>
            <p:spPr/>
            <p:txBody>
              <a:bodyPr>
                <a:normAutofit/>
              </a:bodyPr>
              <a:lstStyle/>
              <a:p>
                <a:pPr>
                  <a:lnSpc>
                    <a:spcPct val="80000"/>
                  </a:lnSpc>
                </a:pPr>
                <a:r>
                  <a:rPr lang="en-US" altLang="zh-TW" sz="2400" dirty="0">
                    <a:latin typeface="+mn-lt"/>
                  </a:rPr>
                  <a:t>Lemma </a:t>
                </a:r>
                <a:r>
                  <a:rPr lang="en-US" altLang="zh-TW" sz="2400" dirty="0" smtClean="0">
                    <a:latin typeface="+mn-lt"/>
                  </a:rPr>
                  <a:t>3.1. </a:t>
                </a:r>
                <a:r>
                  <a:rPr lang="en-US" altLang="zh-TW" sz="2400" dirty="0">
                    <a:latin typeface="+mn-lt"/>
                  </a:rPr>
                  <a:t>A finite partially ordered set (P, </a:t>
                </a:r>
                <a14:m>
                  <m:oMath xmlns:m="http://schemas.openxmlformats.org/officeDocument/2006/math">
                    <m:r>
                      <a:rPr lang="en-US" altLang="zh-TW" sz="2400">
                        <a:latin typeface="Cambria Math" panose="02040503050406030204" pitchFamily="18" charset="0"/>
                      </a:rPr>
                      <m:t>≤</m:t>
                    </m:r>
                  </m:oMath>
                </a14:m>
                <a:r>
                  <a:rPr lang="en-US" altLang="zh-TW" sz="2400" dirty="0">
                    <a:latin typeface="+mn-lt"/>
                  </a:rPr>
                  <a:t>) can be partitioned into m chains, where m us the size of its largest </a:t>
                </a:r>
                <a:r>
                  <a:rPr lang="en-US" altLang="zh-TW" sz="2400" dirty="0" err="1">
                    <a:latin typeface="+mn-lt"/>
                  </a:rPr>
                  <a:t>antichain</a:t>
                </a:r>
                <a:r>
                  <a:rPr lang="en-US" altLang="zh-TW" sz="2400" dirty="0" smtClean="0">
                    <a:latin typeface="+mn-lt"/>
                  </a:rPr>
                  <a:t>.</a:t>
                </a:r>
              </a:p>
              <a:p>
                <a:pPr>
                  <a:lnSpc>
                    <a:spcPct val="80000"/>
                  </a:lnSpc>
                </a:pPr>
                <a:r>
                  <a:rPr lang="en-US" altLang="zh-TW" sz="2400" dirty="0">
                    <a:latin typeface="+mn-lt"/>
                  </a:rPr>
                  <a:t>Lemma 3.2</a:t>
                </a:r>
                <a:r>
                  <a:rPr lang="en-US" altLang="zh-TW" sz="2400" dirty="0" smtClean="0">
                    <a:latin typeface="+mn-lt"/>
                  </a:rPr>
                  <a:t>. Let P be a finite partially ordered set </a:t>
                </a:r>
                <a:endParaRPr lang="en-US" altLang="zh-TW" sz="2400" dirty="0">
                  <a:latin typeface="+mn-lt"/>
                </a:endParaRPr>
              </a:p>
            </p:txBody>
          </p:sp>
        </mc:Choice>
        <mc:Fallback>
          <p:sp>
            <p:nvSpPr>
              <p:cNvPr id="83971" name="Rectangle 3"/>
              <p:cNvSpPr>
                <a:spLocks noGrp="1" noRot="1" noChangeAspect="1" noMove="1" noResize="1" noEditPoints="1" noAdjustHandles="1" noChangeArrowheads="1" noChangeShapeType="1" noTextEdit="1"/>
              </p:cNvSpPr>
              <p:nvPr>
                <p:ph sz="quarter" idx="1"/>
              </p:nvPr>
            </p:nvSpPr>
            <p:spPr>
              <a:blipFill rotWithShape="0">
                <a:blip r:embed="rId3"/>
                <a:stretch>
                  <a:fillRect l="-519" t="-2346"/>
                </a:stretch>
              </a:blipFill>
            </p:spPr>
            <p:txBody>
              <a:bodyPr/>
              <a:lstStyle/>
              <a:p>
                <a:r>
                  <a:rPr lang="zh-TW" altLang="en-US">
                    <a:noFill/>
                  </a:rPr>
                  <a:t> </a:t>
                </a:r>
              </a:p>
            </p:txBody>
          </p:sp>
        </mc:Fallback>
      </mc:AlternateContent>
      <p:sp>
        <p:nvSpPr>
          <p:cNvPr id="9" name="日期版面配置區 8"/>
          <p:cNvSpPr>
            <a:spLocks noGrp="1"/>
          </p:cNvSpPr>
          <p:nvPr>
            <p:ph type="dt" sz="half" idx="10"/>
          </p:nvPr>
        </p:nvSpPr>
        <p:spPr/>
        <p:txBody>
          <a:bodyPr/>
          <a:lstStyle/>
          <a:p>
            <a:r>
              <a:rPr lang="en-US" altLang="zh-TW" smtClean="0"/>
              <a:t>2014/1/27</a:t>
            </a:r>
            <a:endParaRPr lang="zh-TW" altLang="en-US"/>
          </a:p>
        </p:txBody>
      </p:sp>
      <p:sp>
        <p:nvSpPr>
          <p:cNvPr id="10" name="投影片編號版面配置區 9"/>
          <p:cNvSpPr>
            <a:spLocks noGrp="1"/>
          </p:cNvSpPr>
          <p:nvPr>
            <p:ph type="sldNum" sz="quarter" idx="12"/>
          </p:nvPr>
        </p:nvSpPr>
        <p:spPr/>
        <p:txBody>
          <a:bodyPr/>
          <a:lstStyle/>
          <a:p>
            <a:fld id="{61A04B93-F247-42E5-95CE-B8478AD23DB7}" type="slidenum">
              <a:rPr lang="zh-TW" altLang="en-US" smtClean="0"/>
              <a:pPr/>
              <a:t>7</a:t>
            </a:fld>
            <a:endParaRPr lang="zh-TW" altLang="en-US"/>
          </a:p>
        </p:txBody>
      </p:sp>
    </p:spTree>
    <p:extLst>
      <p:ext uri="{BB962C8B-B14F-4D97-AF65-F5344CB8AC3E}">
        <p14:creationId xmlns:p14="http://schemas.microsoft.com/office/powerpoint/2010/main" xmlns="" val="3684936481"/>
      </p:ext>
    </p:extLst>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152400"/>
            <a:ext cx="8229600" cy="324272"/>
          </a:xfrm>
        </p:spPr>
        <p:txBody>
          <a:bodyPr>
            <a:noAutofit/>
          </a:bodyPr>
          <a:lstStyle/>
          <a:p>
            <a:r>
              <a:rPr lang="en-US" altLang="zh-TW" sz="1200" dirty="0"/>
              <a:t>http://course.cug.edu.cn/21cn/%E7%A6%BB%E6%95%A3%E6%95%B0%E5%AD%A6%EF%BC%88%E5%8C%97%E5%A4%A7%EF%BC%89/part2/chapter07/07_07_01_01.htm</a:t>
            </a:r>
            <a:endParaRPr lang="zh-TW" altLang="en-US" sz="1200" dirty="0"/>
          </a:p>
        </p:txBody>
      </p:sp>
      <p:sp>
        <p:nvSpPr>
          <p:cNvPr id="3" name="日期版面配置區 2"/>
          <p:cNvSpPr>
            <a:spLocks noGrp="1"/>
          </p:cNvSpPr>
          <p:nvPr>
            <p:ph type="dt" sz="half" idx="10"/>
          </p:nvPr>
        </p:nvSpPr>
        <p:spPr/>
        <p:txBody>
          <a:bodyPr/>
          <a:lstStyle/>
          <a:p>
            <a:r>
              <a:rPr lang="en-US" altLang="zh-TW" smtClean="0"/>
              <a:t>2014/1/27</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8</a:t>
            </a:fld>
            <a:endParaRPr lang="zh-TW" altLang="en-US"/>
          </a:p>
        </p:txBody>
      </p:sp>
      <p:sp>
        <p:nvSpPr>
          <p:cNvPr id="5" name="內容版面配置區 4"/>
          <p:cNvSpPr>
            <a:spLocks noGrp="1"/>
          </p:cNvSpPr>
          <p:nvPr>
            <p:ph sz="quarter" idx="1"/>
          </p:nvPr>
        </p:nvSpPr>
        <p:spPr>
          <a:xfrm>
            <a:off x="0" y="692696"/>
            <a:ext cx="9144000" cy="6165304"/>
          </a:xfrm>
        </p:spPr>
        <p:txBody>
          <a:bodyPr>
            <a:normAutofit fontScale="70000" lnSpcReduction="20000"/>
          </a:bodyPr>
          <a:lstStyle/>
          <a:p>
            <a:r>
              <a:rPr lang="zh-CN" altLang="en-US" dirty="0" smtClean="0"/>
              <a:t> 定義</a:t>
            </a:r>
            <a:r>
              <a:rPr lang="en-US" altLang="zh-CN" dirty="0" smtClean="0"/>
              <a:t>7.19 </a:t>
            </a:r>
            <a:r>
              <a:rPr lang="zh-CN" altLang="en-US" dirty="0" smtClean="0"/>
              <a:t>設</a:t>
            </a:r>
            <a:r>
              <a:rPr lang="en-US" altLang="zh-CN" dirty="0" smtClean="0"/>
              <a:t>R</a:t>
            </a:r>
            <a:r>
              <a:rPr lang="zh-CN" altLang="en-US" dirty="0" smtClean="0"/>
              <a:t>為非空集合</a:t>
            </a:r>
            <a:r>
              <a:rPr lang="en-US" altLang="zh-CN" dirty="0" smtClean="0"/>
              <a:t>A</a:t>
            </a:r>
            <a:r>
              <a:rPr lang="zh-CN" altLang="en-US" dirty="0" smtClean="0"/>
              <a:t>上的關係。如果</a:t>
            </a:r>
            <a:r>
              <a:rPr lang="en-US" altLang="zh-CN" dirty="0" smtClean="0"/>
              <a:t>R</a:t>
            </a:r>
            <a:r>
              <a:rPr lang="zh-CN" altLang="en-US" dirty="0" smtClean="0"/>
              <a:t>是自反的、反對稱的和傳遞的，則稱</a:t>
            </a:r>
            <a:r>
              <a:rPr lang="en-US" altLang="zh-CN" dirty="0" smtClean="0"/>
              <a:t>R</a:t>
            </a:r>
            <a:r>
              <a:rPr lang="zh-CN" altLang="en-US" dirty="0" smtClean="0"/>
              <a:t>為</a:t>
            </a:r>
            <a:r>
              <a:rPr lang="en-US" altLang="zh-CN" dirty="0" smtClean="0"/>
              <a:t>A</a:t>
            </a:r>
            <a:r>
              <a:rPr lang="zh-CN" altLang="en-US" dirty="0" smtClean="0"/>
              <a:t>上的偏序關係，記作。設為偏序關係，如果</a:t>
            </a:r>
            <a:r>
              <a:rPr lang="en-US" altLang="zh-CN" dirty="0" smtClean="0"/>
              <a:t>&lt;</a:t>
            </a:r>
            <a:r>
              <a:rPr lang="en-US" altLang="zh-CN" dirty="0"/>
              <a:t>x</a:t>
            </a:r>
            <a:r>
              <a:rPr lang="zh-CN" altLang="en-US" dirty="0"/>
              <a:t>，</a:t>
            </a:r>
            <a:r>
              <a:rPr lang="en-US" altLang="zh-CN" dirty="0"/>
              <a:t>y&gt;</a:t>
            </a:r>
            <a:r>
              <a:rPr lang="en-US" altLang="zh-CN" dirty="0" smtClean="0"/>
              <a:t>∈</a:t>
            </a:r>
            <a:r>
              <a:rPr lang="zh-CN" altLang="en-US" dirty="0" smtClean="0"/>
              <a:t>，則記作</a:t>
            </a:r>
            <a:r>
              <a:rPr lang="en-US" altLang="zh-CN" dirty="0" err="1" smtClean="0"/>
              <a:t>xy</a:t>
            </a:r>
            <a:r>
              <a:rPr lang="zh-CN" altLang="en-US" dirty="0" smtClean="0"/>
              <a:t>，讀作“小於或等於”。 </a:t>
            </a:r>
          </a:p>
          <a:p>
            <a:r>
              <a:rPr lang="zh-CN" altLang="en-US" dirty="0" smtClean="0"/>
              <a:t>　　注意這裡的“小於或等於”不是指數的大小，而是在偏序關係中的順序性。</a:t>
            </a:r>
            <a:r>
              <a:rPr lang="en-US" altLang="zh-CN" dirty="0" smtClean="0"/>
              <a:t>x“</a:t>
            </a:r>
            <a:r>
              <a:rPr lang="zh-CN" altLang="en-US" dirty="0" smtClean="0"/>
              <a:t>小於或等於”</a:t>
            </a:r>
            <a:r>
              <a:rPr lang="en-US" altLang="zh-CN" dirty="0" smtClean="0"/>
              <a:t>y</a:t>
            </a:r>
            <a:r>
              <a:rPr lang="zh-CN" altLang="en-US" dirty="0" smtClean="0"/>
              <a:t>的含義是：依照這個序，</a:t>
            </a:r>
            <a:r>
              <a:rPr lang="en-US" altLang="zh-CN" dirty="0" smtClean="0"/>
              <a:t>x</a:t>
            </a:r>
            <a:r>
              <a:rPr lang="zh-CN" altLang="en-US" dirty="0"/>
              <a:t>排在</a:t>
            </a:r>
            <a:r>
              <a:rPr lang="en-US" altLang="zh-CN" dirty="0" smtClean="0"/>
              <a:t>y</a:t>
            </a:r>
            <a:r>
              <a:rPr lang="zh-CN" altLang="en-US" dirty="0" smtClean="0"/>
              <a:t>的前邊或者</a:t>
            </a:r>
            <a:r>
              <a:rPr lang="en-US" altLang="zh-CN" dirty="0" smtClean="0"/>
              <a:t>x</a:t>
            </a:r>
            <a:r>
              <a:rPr lang="zh-CN" altLang="en-US" dirty="0"/>
              <a:t>就是</a:t>
            </a:r>
            <a:r>
              <a:rPr lang="en-US" altLang="zh-CN" dirty="0" smtClean="0"/>
              <a:t>y</a:t>
            </a:r>
            <a:r>
              <a:rPr lang="zh-CN" altLang="en-US" dirty="0" smtClean="0"/>
              <a:t>。根據不同偏序的定義，對序有著不同的解釋。例如整除關係是偏序關係，</a:t>
            </a:r>
            <a:r>
              <a:rPr lang="en-US" altLang="zh-CN" dirty="0" smtClean="0"/>
              <a:t>36</a:t>
            </a:r>
            <a:r>
              <a:rPr lang="zh-CN" altLang="en-US" dirty="0" smtClean="0"/>
              <a:t>的含義是</a:t>
            </a:r>
            <a:r>
              <a:rPr lang="en-US" altLang="zh-CN" dirty="0" smtClean="0"/>
              <a:t>3</a:t>
            </a:r>
            <a:r>
              <a:rPr lang="zh-CN" altLang="en-US" dirty="0"/>
              <a:t>整除</a:t>
            </a:r>
            <a:r>
              <a:rPr lang="en-US" altLang="zh-CN" dirty="0" smtClean="0"/>
              <a:t>6</a:t>
            </a:r>
            <a:r>
              <a:rPr lang="zh-CN" altLang="en-US" dirty="0" smtClean="0"/>
              <a:t>。大於或等於關係也是偏序關係，針對這個關係寫</a:t>
            </a:r>
            <a:r>
              <a:rPr lang="en-US" altLang="zh-CN" dirty="0" smtClean="0"/>
              <a:t>54</a:t>
            </a:r>
            <a:r>
              <a:rPr lang="zh-CN" altLang="en-US" dirty="0" smtClean="0"/>
              <a:t>是說大於或等於關係中</a:t>
            </a:r>
            <a:r>
              <a:rPr lang="en-US" altLang="zh-CN" dirty="0" smtClean="0"/>
              <a:t>5</a:t>
            </a:r>
            <a:r>
              <a:rPr lang="zh-CN" altLang="en-US" dirty="0"/>
              <a:t>排在</a:t>
            </a:r>
            <a:r>
              <a:rPr lang="en-US" altLang="zh-CN" dirty="0" smtClean="0"/>
              <a:t>5</a:t>
            </a:r>
            <a:r>
              <a:rPr lang="zh-CN" altLang="en-US" dirty="0" smtClean="0"/>
              <a:t>的前邊，也就是</a:t>
            </a:r>
            <a:r>
              <a:rPr lang="en-US" altLang="zh-CN" dirty="0" smtClean="0"/>
              <a:t>5</a:t>
            </a:r>
            <a:r>
              <a:rPr lang="zh-CN" altLang="en-US" dirty="0"/>
              <a:t>比</a:t>
            </a:r>
            <a:r>
              <a:rPr lang="en-US" altLang="zh-CN" dirty="0"/>
              <a:t>4</a:t>
            </a:r>
            <a:r>
              <a:rPr lang="zh-CN" altLang="en-US" dirty="0"/>
              <a:t>大。 </a:t>
            </a:r>
          </a:p>
          <a:p>
            <a:r>
              <a:rPr lang="zh-CN" altLang="en-US" dirty="0"/>
              <a:t>　　例如集合</a:t>
            </a:r>
            <a:r>
              <a:rPr lang="en-US" altLang="zh-CN" dirty="0" smtClean="0"/>
              <a:t>A</a:t>
            </a:r>
            <a:r>
              <a:rPr lang="zh-CN" altLang="en-US" dirty="0" smtClean="0"/>
              <a:t>上的恒等關係</a:t>
            </a:r>
            <a:r>
              <a:rPr lang="en-US" altLang="zh-CN" dirty="0" smtClean="0"/>
              <a:t>IA</a:t>
            </a:r>
            <a:r>
              <a:rPr lang="zh-CN" altLang="en-US" dirty="0" smtClean="0"/>
              <a:t>和空關係都是</a:t>
            </a:r>
            <a:r>
              <a:rPr lang="en-US" altLang="zh-CN" dirty="0" smtClean="0"/>
              <a:t>A</a:t>
            </a:r>
            <a:r>
              <a:rPr lang="zh-CN" altLang="en-US" dirty="0" smtClean="0"/>
              <a:t>上的偏序關係。小於或等於關係，整除關係和包含關係也是相應集合上的偏序關係。一般來說，全域關係</a:t>
            </a:r>
            <a:r>
              <a:rPr lang="en-US" altLang="zh-CN" dirty="0" smtClean="0"/>
              <a:t>EA</a:t>
            </a:r>
            <a:r>
              <a:rPr lang="zh-CN" altLang="en-US" dirty="0"/>
              <a:t>不是</a:t>
            </a:r>
            <a:r>
              <a:rPr lang="en-US" altLang="zh-CN" dirty="0" smtClean="0"/>
              <a:t>A</a:t>
            </a:r>
            <a:r>
              <a:rPr lang="zh-CN" altLang="en-US" dirty="0" smtClean="0"/>
              <a:t>上的偏序關係。 </a:t>
            </a:r>
          </a:p>
          <a:p>
            <a:r>
              <a:rPr lang="zh-CN" altLang="en-US" dirty="0" smtClean="0"/>
              <a:t> 定義</a:t>
            </a:r>
            <a:r>
              <a:rPr lang="en-US" altLang="zh-CN" dirty="0" smtClean="0"/>
              <a:t>7.20 </a:t>
            </a:r>
            <a:r>
              <a:rPr lang="zh-CN" altLang="en-US" dirty="0" smtClean="0"/>
              <a:t>設</a:t>
            </a:r>
            <a:r>
              <a:rPr lang="en-US" altLang="zh-CN" dirty="0" smtClean="0"/>
              <a:t>R</a:t>
            </a:r>
            <a:r>
              <a:rPr lang="zh-CN" altLang="en-US" dirty="0" smtClean="0"/>
              <a:t>為非空集合</a:t>
            </a:r>
            <a:r>
              <a:rPr lang="en-US" altLang="zh-CN" dirty="0" smtClean="0"/>
              <a:t>A</a:t>
            </a:r>
            <a:r>
              <a:rPr lang="zh-CN" altLang="en-US" dirty="0" smtClean="0"/>
              <a:t>上的偏序關係，定義</a:t>
            </a:r>
            <a:endParaRPr lang="zh-CN" altLang="en-US" dirty="0"/>
          </a:p>
          <a:p>
            <a:r>
              <a:rPr lang="zh-CN" altLang="en-US" dirty="0"/>
              <a:t>　　</a:t>
            </a:r>
            <a:r>
              <a:rPr lang="en-US" altLang="zh-CN" dirty="0"/>
              <a:t>(1)x</a:t>
            </a:r>
            <a:r>
              <a:rPr lang="zh-CN" altLang="en-US" dirty="0"/>
              <a:t>，</a:t>
            </a:r>
            <a:r>
              <a:rPr lang="en-US" altLang="zh-CN" dirty="0" err="1"/>
              <a:t>y∈A</a:t>
            </a:r>
            <a:r>
              <a:rPr lang="zh-CN" altLang="en-US" dirty="0"/>
              <a:t>，</a:t>
            </a:r>
            <a:r>
              <a:rPr lang="en-US" altLang="zh-CN" dirty="0" err="1"/>
              <a:t>xyxy∧x≠y</a:t>
            </a:r>
            <a:r>
              <a:rPr lang="zh-CN" altLang="en-US" dirty="0" smtClean="0"/>
              <a:t>。</a:t>
            </a:r>
            <a:endParaRPr lang="zh-CN" altLang="en-US" dirty="0"/>
          </a:p>
          <a:p>
            <a:r>
              <a:rPr lang="zh-CN" altLang="en-US" dirty="0"/>
              <a:t>　　</a:t>
            </a:r>
            <a:r>
              <a:rPr lang="en-US" altLang="zh-CN" dirty="0"/>
              <a:t>(2)x</a:t>
            </a:r>
            <a:r>
              <a:rPr lang="zh-CN" altLang="en-US" dirty="0"/>
              <a:t>，</a:t>
            </a:r>
            <a:r>
              <a:rPr lang="en-US" altLang="zh-CN" dirty="0" err="1"/>
              <a:t>y∈A</a:t>
            </a:r>
            <a:r>
              <a:rPr lang="zh-CN" altLang="en-US" dirty="0"/>
              <a:t>，</a:t>
            </a:r>
            <a:r>
              <a:rPr lang="en-US" altLang="zh-CN" dirty="0" smtClean="0"/>
              <a:t>x</a:t>
            </a:r>
            <a:r>
              <a:rPr lang="zh-CN" altLang="en-US" dirty="0" smtClean="0"/>
              <a:t>與</a:t>
            </a:r>
            <a:r>
              <a:rPr lang="en-US" altLang="zh-CN" dirty="0" smtClean="0"/>
              <a:t>y</a:t>
            </a:r>
            <a:r>
              <a:rPr lang="zh-CN" altLang="en-US" dirty="0"/>
              <a:t>可比</a:t>
            </a:r>
            <a:r>
              <a:rPr lang="en-US" altLang="zh-CN" dirty="0" err="1"/>
              <a:t>xy∨yx</a:t>
            </a:r>
            <a:r>
              <a:rPr lang="zh-CN" altLang="en-US" dirty="0" smtClean="0"/>
              <a:t>。</a:t>
            </a:r>
            <a:endParaRPr lang="zh-CN" altLang="en-US" dirty="0"/>
          </a:p>
          <a:p>
            <a:r>
              <a:rPr lang="zh-CN" altLang="en-US" dirty="0"/>
              <a:t>　　其中</a:t>
            </a:r>
            <a:r>
              <a:rPr lang="en-US" altLang="zh-CN" dirty="0" err="1" smtClean="0"/>
              <a:t>xy</a:t>
            </a:r>
            <a:r>
              <a:rPr lang="zh-CN" altLang="en-US" dirty="0" smtClean="0"/>
              <a:t>讀作</a:t>
            </a:r>
            <a:r>
              <a:rPr lang="en-US" altLang="zh-CN" dirty="0" smtClean="0"/>
              <a:t>x“</a:t>
            </a:r>
            <a:r>
              <a:rPr lang="zh-CN" altLang="en-US" dirty="0" smtClean="0"/>
              <a:t>小於”</a:t>
            </a:r>
            <a:r>
              <a:rPr lang="en-US" altLang="zh-CN" dirty="0" smtClean="0"/>
              <a:t>y</a:t>
            </a:r>
            <a:r>
              <a:rPr lang="zh-CN" altLang="en-US" dirty="0" smtClean="0"/>
              <a:t>。這裡所說的“小於”是指在偏序中</a:t>
            </a:r>
            <a:r>
              <a:rPr lang="en-US" altLang="zh-CN" dirty="0" smtClean="0"/>
              <a:t>x</a:t>
            </a:r>
            <a:r>
              <a:rPr lang="zh-CN" altLang="en-US" dirty="0"/>
              <a:t>排在</a:t>
            </a:r>
            <a:r>
              <a:rPr lang="en-US" altLang="zh-CN" dirty="0" smtClean="0"/>
              <a:t>y</a:t>
            </a:r>
            <a:r>
              <a:rPr lang="zh-CN" altLang="en-US" dirty="0" smtClean="0"/>
              <a:t>的前邊。</a:t>
            </a:r>
            <a:endParaRPr lang="zh-CN" altLang="en-US" dirty="0"/>
          </a:p>
          <a:p>
            <a:r>
              <a:rPr lang="zh-CN" altLang="en-US" dirty="0" smtClean="0"/>
              <a:t>　　有以上兩個定義可知，在具有偏序關係的集合</a:t>
            </a:r>
            <a:r>
              <a:rPr lang="en-US" altLang="zh-CN" dirty="0" smtClean="0"/>
              <a:t>A</a:t>
            </a:r>
            <a:r>
              <a:rPr lang="zh-CN" altLang="en-US" dirty="0" smtClean="0"/>
              <a:t>中任取兩個元素</a:t>
            </a:r>
            <a:r>
              <a:rPr lang="en-US" altLang="zh-CN" dirty="0" smtClean="0"/>
              <a:t>x</a:t>
            </a:r>
            <a:r>
              <a:rPr lang="zh-CN" altLang="en-US" dirty="0"/>
              <a:t>和</a:t>
            </a:r>
            <a:r>
              <a:rPr lang="en-US" altLang="zh-CN" dirty="0" smtClean="0"/>
              <a:t>y</a:t>
            </a:r>
            <a:r>
              <a:rPr lang="zh-CN" altLang="en-US" dirty="0" smtClean="0"/>
              <a:t>，可能有下述幾種情況發生：</a:t>
            </a:r>
            <a:endParaRPr lang="zh-CN" altLang="en-US" dirty="0"/>
          </a:p>
          <a:p>
            <a:r>
              <a:rPr lang="zh-CN" altLang="en-US" dirty="0"/>
              <a:t>　　　　</a:t>
            </a:r>
            <a:r>
              <a:rPr lang="en-US" altLang="zh-CN" dirty="0" err="1"/>
              <a:t>xy</a:t>
            </a:r>
            <a:r>
              <a:rPr lang="en-US" altLang="zh-CN" dirty="0"/>
              <a:t>(</a:t>
            </a:r>
            <a:r>
              <a:rPr lang="zh-CN" altLang="en-US" dirty="0"/>
              <a:t>或</a:t>
            </a:r>
            <a:r>
              <a:rPr lang="en-US" altLang="zh-CN" dirty="0" err="1"/>
              <a:t>yx</a:t>
            </a:r>
            <a:r>
              <a:rPr lang="en-US" altLang="zh-CN" dirty="0"/>
              <a:t>)</a:t>
            </a:r>
            <a:r>
              <a:rPr lang="zh-CN" altLang="en-US" dirty="0"/>
              <a:t>，</a:t>
            </a:r>
            <a:r>
              <a:rPr lang="en-US" altLang="zh-CN" dirty="0"/>
              <a:t>x</a:t>
            </a:r>
            <a:r>
              <a:rPr lang="zh-CN" altLang="en-US" dirty="0"/>
              <a:t>＝</a:t>
            </a:r>
            <a:r>
              <a:rPr lang="en-US" altLang="zh-CN" dirty="0"/>
              <a:t>y</a:t>
            </a:r>
            <a:r>
              <a:rPr lang="zh-CN" altLang="en-US" dirty="0"/>
              <a:t>，</a:t>
            </a:r>
            <a:r>
              <a:rPr lang="en-US" altLang="zh-CN" dirty="0" smtClean="0"/>
              <a:t>x</a:t>
            </a:r>
            <a:r>
              <a:rPr lang="zh-CN" altLang="en-US" dirty="0" smtClean="0"/>
              <a:t>與</a:t>
            </a:r>
            <a:r>
              <a:rPr lang="en-US" altLang="zh-CN" dirty="0" smtClean="0"/>
              <a:t>y</a:t>
            </a:r>
            <a:r>
              <a:rPr lang="zh-CN" altLang="en-US" dirty="0"/>
              <a:t>不是可比的</a:t>
            </a:r>
            <a:r>
              <a:rPr lang="zh-CN" altLang="en-US" dirty="0" smtClean="0"/>
              <a:t>。</a:t>
            </a:r>
            <a:endParaRPr lang="zh-CN" altLang="en-US" dirty="0"/>
          </a:p>
          <a:p>
            <a:r>
              <a:rPr lang="zh-CN" altLang="en-US" dirty="0"/>
              <a:t>　　例如</a:t>
            </a:r>
            <a:r>
              <a:rPr lang="en-US" altLang="zh-CN" dirty="0"/>
              <a:t>A</a:t>
            </a:r>
            <a:r>
              <a:rPr lang="zh-CN" altLang="en-US" dirty="0"/>
              <a:t>＝</a:t>
            </a:r>
            <a:r>
              <a:rPr lang="en-US" altLang="zh-CN" dirty="0"/>
              <a:t>{1</a:t>
            </a:r>
            <a:r>
              <a:rPr lang="zh-CN" altLang="en-US" dirty="0"/>
              <a:t>，</a:t>
            </a:r>
            <a:r>
              <a:rPr lang="en-US" altLang="zh-CN" dirty="0"/>
              <a:t>2</a:t>
            </a:r>
            <a:r>
              <a:rPr lang="zh-CN" altLang="en-US" dirty="0"/>
              <a:t>，</a:t>
            </a:r>
            <a:r>
              <a:rPr lang="en-US" altLang="zh-CN" dirty="0"/>
              <a:t>3}</a:t>
            </a:r>
            <a:r>
              <a:rPr lang="zh-CN" altLang="en-US" dirty="0"/>
              <a:t>，是</a:t>
            </a:r>
            <a:r>
              <a:rPr lang="en-US" altLang="zh-CN" dirty="0" smtClean="0"/>
              <a:t>A</a:t>
            </a:r>
            <a:r>
              <a:rPr lang="zh-CN" altLang="en-US" dirty="0" smtClean="0"/>
              <a:t>上的整除關係，則有</a:t>
            </a:r>
            <a:endParaRPr lang="zh-CN" altLang="en-US" dirty="0"/>
          </a:p>
          <a:p>
            <a:r>
              <a:rPr lang="zh-CN" altLang="en-US" dirty="0"/>
              <a:t>　　　　</a:t>
            </a:r>
            <a:r>
              <a:rPr lang="en-US" altLang="zh-CN" dirty="0"/>
              <a:t>12</a:t>
            </a:r>
            <a:r>
              <a:rPr lang="zh-CN" altLang="en-US" dirty="0"/>
              <a:t>，</a:t>
            </a:r>
            <a:r>
              <a:rPr lang="en-US" altLang="zh-CN" dirty="0"/>
              <a:t>13</a:t>
            </a:r>
            <a:r>
              <a:rPr lang="zh-CN" altLang="en-US" dirty="0" smtClean="0"/>
              <a:t>，</a:t>
            </a:r>
            <a:endParaRPr lang="zh-CN" altLang="en-US" dirty="0"/>
          </a:p>
          <a:p>
            <a:r>
              <a:rPr lang="zh-CN" altLang="en-US" dirty="0"/>
              <a:t>　　　　</a:t>
            </a:r>
            <a:r>
              <a:rPr lang="en-US" altLang="zh-CN" dirty="0"/>
              <a:t>1=1</a:t>
            </a:r>
            <a:r>
              <a:rPr lang="zh-CN" altLang="en-US" dirty="0"/>
              <a:t>，</a:t>
            </a:r>
            <a:r>
              <a:rPr lang="en-US" altLang="zh-CN" dirty="0"/>
              <a:t>2=2</a:t>
            </a:r>
            <a:r>
              <a:rPr lang="zh-CN" altLang="en-US" dirty="0"/>
              <a:t>，</a:t>
            </a:r>
            <a:r>
              <a:rPr lang="en-US" altLang="zh-CN" dirty="0"/>
              <a:t>3=3</a:t>
            </a:r>
            <a:r>
              <a:rPr lang="zh-CN" altLang="en-US" dirty="0" smtClean="0"/>
              <a:t>，</a:t>
            </a:r>
            <a:endParaRPr lang="zh-CN" altLang="en-US" dirty="0"/>
          </a:p>
          <a:p>
            <a:r>
              <a:rPr lang="zh-CN" altLang="en-US" dirty="0"/>
              <a:t>　　　　</a:t>
            </a:r>
            <a:r>
              <a:rPr lang="en-US" altLang="zh-CN" dirty="0"/>
              <a:t>2</a:t>
            </a:r>
            <a:r>
              <a:rPr lang="zh-CN" altLang="en-US" dirty="0"/>
              <a:t>和</a:t>
            </a:r>
            <a:r>
              <a:rPr lang="en-US" altLang="zh-CN" dirty="0"/>
              <a:t>3</a:t>
            </a:r>
            <a:r>
              <a:rPr lang="zh-CN" altLang="en-US" dirty="0"/>
              <a:t>不可比。</a:t>
            </a:r>
            <a:endParaRPr lang="zh-TW" altLang="en-US" dirty="0"/>
          </a:p>
        </p:txBody>
      </p:sp>
    </p:spTree>
    <p:extLst>
      <p:ext uri="{BB962C8B-B14F-4D97-AF65-F5344CB8AC3E}">
        <p14:creationId xmlns:p14="http://schemas.microsoft.com/office/powerpoint/2010/main" xmlns="" val="3059879511"/>
      </p:ext>
    </p:extLst>
  </p:cSld>
  <p:clrMapOvr>
    <a:masterClrMapping/>
  </p:clrMapOvr>
  <p:transition spd="slow">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微軟正黑體" pitchFamily="34" charset="-120"/>
                <a:ea typeface="微軟正黑體" pitchFamily="34" charset="-120"/>
              </a:rPr>
              <a:t>Conclusions</a:t>
            </a:r>
            <a:endParaRPr lang="zh-TW" altLang="en-US" dirty="0">
              <a:latin typeface="微軟正黑體" pitchFamily="34" charset="-120"/>
              <a:ea typeface="微軟正黑體" pitchFamily="34" charset="-120"/>
            </a:endParaRPr>
          </a:p>
        </p:txBody>
      </p:sp>
      <p:sp>
        <p:nvSpPr>
          <p:cNvPr id="5" name="日期版面配置區 4"/>
          <p:cNvSpPr>
            <a:spLocks noGrp="1"/>
          </p:cNvSpPr>
          <p:nvPr>
            <p:ph type="dt" sz="half" idx="10"/>
          </p:nvPr>
        </p:nvSpPr>
        <p:spPr/>
        <p:txBody>
          <a:bodyPr/>
          <a:lstStyle/>
          <a:p>
            <a:r>
              <a:rPr lang="en-US" altLang="zh-TW" smtClean="0"/>
              <a:t>2014/1/27</a:t>
            </a:r>
            <a:endParaRPr lang="zh-TW" altLang="en-US"/>
          </a:p>
        </p:txBody>
      </p:sp>
      <p:sp>
        <p:nvSpPr>
          <p:cNvPr id="7" name="內容版面配置區 6"/>
          <p:cNvSpPr>
            <a:spLocks noGrp="1"/>
          </p:cNvSpPr>
          <p:nvPr>
            <p:ph sz="quarter" idx="1"/>
          </p:nvPr>
        </p:nvSpPr>
        <p:spPr/>
        <p:txBody>
          <a:bodyPr>
            <a:normAutofit/>
          </a:bodyPr>
          <a:lstStyle/>
          <a:p>
            <a:endParaRPr lang="zh-TW" altLang="en-US" sz="2400" dirty="0"/>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9</a:t>
            </a:fld>
            <a:endParaRPr lang="zh-TW" altLang="en-US"/>
          </a:p>
        </p:txBody>
      </p:sp>
    </p:spTree>
    <p:extLst>
      <p:ext uri="{BB962C8B-B14F-4D97-AF65-F5344CB8AC3E}">
        <p14:creationId xmlns:p14="http://schemas.microsoft.com/office/powerpoint/2010/main" xmlns="" val="2266314224"/>
      </p:ext>
    </p:extLst>
  </p:cSld>
  <p:clrMapOvr>
    <a:masterClrMapping/>
  </p:clrMapOvr>
  <p:transition spd="slow">
    <p:cut/>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NULL"/></Relationships>
</file>

<file path=ppt/theme/theme1.xml><?xml version="1.0" encoding="utf-8"?>
<a:theme xmlns:a="http://schemas.openxmlformats.org/drawingml/2006/main" name="原創">
  <a:themeElements>
    <a:clrScheme name="自訂 3">
      <a:dk1>
        <a:sysClr val="windowText" lastClr="000000"/>
      </a:dk1>
      <a:lt1>
        <a:sysClr val="window" lastClr="FFFFFF"/>
      </a:lt1>
      <a:dk2>
        <a:srgbClr val="000000"/>
      </a:dk2>
      <a:lt2>
        <a:srgbClr val="EEECE1"/>
      </a:lt2>
      <a:accent1>
        <a:srgbClr val="4F81BD"/>
      </a:accent1>
      <a:accent2>
        <a:srgbClr val="C0504D"/>
      </a:accent2>
      <a:accent3>
        <a:srgbClr val="9BBB59"/>
      </a:accent3>
      <a:accent4>
        <a:srgbClr val="8064A2"/>
      </a:accent4>
      <a:accent5>
        <a:srgbClr val="4BACC6"/>
      </a:accent5>
      <a:accent6>
        <a:srgbClr val="F79646"/>
      </a:accent6>
      <a:hlink>
        <a:srgbClr val="FF0000"/>
      </a:hlink>
      <a:folHlink>
        <a:srgbClr val="0000FF"/>
      </a:folHlink>
    </a:clrScheme>
    <a:fontScheme name="自訂 1">
      <a:majorFont>
        <a:latin typeface="Calibri"/>
        <a:ea typeface="微軟正黑體"/>
        <a:cs typeface=""/>
      </a:majorFont>
      <a:minorFont>
        <a:latin typeface="Calibri"/>
        <a:ea typeface="微軟正黑體"/>
        <a:cs typeface=""/>
      </a:minorFont>
    </a:fontScheme>
    <a:fmtScheme name="原創">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9645</TotalTime>
  <Words>362</Words>
  <Application>Microsoft Office PowerPoint</Application>
  <PresentationFormat>如螢幕大小 (4:3)</PresentationFormat>
  <Paragraphs>103</Paragraphs>
  <Slides>9</Slides>
  <Notes>7</Notes>
  <HiddenSlides>2</HiddenSlides>
  <MMClips>0</MMClips>
  <ScaleCrop>false</ScaleCrop>
  <HeadingPairs>
    <vt:vector size="4" baseType="variant">
      <vt:variant>
        <vt:lpstr>佈景主題</vt:lpstr>
      </vt:variant>
      <vt:variant>
        <vt:i4>1</vt:i4>
      </vt:variant>
      <vt:variant>
        <vt:lpstr>投影片標題</vt:lpstr>
      </vt:variant>
      <vt:variant>
        <vt:i4>9</vt:i4>
      </vt:variant>
    </vt:vector>
  </HeadingPairs>
  <TitlesOfParts>
    <vt:vector size="10" baseType="lpstr">
      <vt:lpstr>原創</vt:lpstr>
      <vt:lpstr>On computing the length of longest increasing subsequences Discrete Mathematics  vol. 11 pp. 29–35 (1975) </vt:lpstr>
      <vt:lpstr>Abstract</vt:lpstr>
      <vt:lpstr>The Longest Increasing Subsequence (LIS) Problem</vt:lpstr>
      <vt:lpstr>Robinson-Schensted-Knuth Algorithm for LIS</vt:lpstr>
      <vt:lpstr>The Longest Increasing Subsequence (LIS) Problem</vt:lpstr>
      <vt:lpstr>A lower bound</vt:lpstr>
      <vt:lpstr>A lower bound</vt:lpstr>
      <vt:lpstr>http://course.cug.edu.cn/21cn/%E7%A6%BB%E6%95%A3%E6%95%B0%E5%AD%A6%EF%BC%88%E5%8C%97%E5%A4%A7%EF%BC%89/part2/chapter07/07_07_01_01.htm</vt:lpstr>
      <vt:lpstr>Conclusions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Quadratic-time algorithm for a string constrained LCS problem</dc:title>
  <dc:creator>Robert</dc:creator>
  <cp:lastModifiedBy>admin</cp:lastModifiedBy>
  <cp:revision>447</cp:revision>
  <cp:lastPrinted>2012-09-10T21:31:19Z</cp:lastPrinted>
  <dcterms:created xsi:type="dcterms:W3CDTF">2012-09-10T08:29:10Z</dcterms:created>
  <dcterms:modified xsi:type="dcterms:W3CDTF">2014-01-27T06:46:32Z</dcterms:modified>
</cp:coreProperties>
</file>