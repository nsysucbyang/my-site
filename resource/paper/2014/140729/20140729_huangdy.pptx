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67" r:id="rId4"/>
    <p:sldId id="258" r:id="rId5"/>
    <p:sldId id="259" r:id="rId6"/>
    <p:sldId id="269" r:id="rId7"/>
    <p:sldId id="268" r:id="rId8"/>
    <p:sldId id="270" r:id="rId9"/>
    <p:sldId id="271" r:id="rId10"/>
    <p:sldId id="260" r:id="rId11"/>
    <p:sldId id="261" r:id="rId12"/>
    <p:sldId id="262" r:id="rId13"/>
    <p:sldId id="263" r:id="rId14"/>
    <p:sldId id="272" r:id="rId15"/>
    <p:sldId id="264" r:id="rId16"/>
    <p:sldId id="274" r:id="rId1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7" autoAdjust="0"/>
    <p:restoredTop sz="93750" autoAdjust="0"/>
  </p:normalViewPr>
  <p:slideViewPr>
    <p:cSldViewPr snapToGrid="0">
      <p:cViewPr varScale="1">
        <p:scale>
          <a:sx n="69" d="100"/>
          <a:sy n="69" d="100"/>
        </p:scale>
        <p:origin x="432" y="6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8B5F6E-9C58-4274-AA9D-0E4CD03ABB8C}" type="datetimeFigureOut">
              <a:rPr lang="zh-TW" altLang="en-US" smtClean="0"/>
              <a:t>2014/7/31</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EF40A5-92ED-4D81-9433-82F36E49ADD2}" type="slidenum">
              <a:rPr lang="zh-TW" altLang="en-US" smtClean="0"/>
              <a:t>‹#›</a:t>
            </a:fld>
            <a:endParaRPr lang="zh-TW" altLang="en-US"/>
          </a:p>
        </p:txBody>
      </p:sp>
    </p:spTree>
    <p:extLst>
      <p:ext uri="{BB962C8B-B14F-4D97-AF65-F5344CB8AC3E}">
        <p14:creationId xmlns:p14="http://schemas.microsoft.com/office/powerpoint/2010/main" val="787258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AEF40A5-92ED-4D81-9433-82F36E49ADD2}" type="slidenum">
              <a:rPr lang="zh-TW" altLang="en-US" smtClean="0"/>
              <a:t>1</a:t>
            </a:fld>
            <a:endParaRPr lang="zh-TW" altLang="en-US"/>
          </a:p>
        </p:txBody>
      </p:sp>
    </p:spTree>
    <p:extLst>
      <p:ext uri="{BB962C8B-B14F-4D97-AF65-F5344CB8AC3E}">
        <p14:creationId xmlns:p14="http://schemas.microsoft.com/office/powerpoint/2010/main" val="3675912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smtClean="0">
                <a:solidFill>
                  <a:schemeClr val="tx1"/>
                </a:solidFill>
                <a:effectLst/>
                <a:latin typeface="+mn-lt"/>
                <a:ea typeface="+mn-ea"/>
                <a:cs typeface="+mn-cs"/>
              </a:rPr>
              <a:t>蛋白質的很多特性與功能是和它實際的三維結構非常相關的</a:t>
            </a:r>
            <a:endParaRPr lang="zh-TW" altLang="en-US" dirty="0"/>
          </a:p>
        </p:txBody>
      </p:sp>
      <p:sp>
        <p:nvSpPr>
          <p:cNvPr id="4" name="投影片編號版面配置區 3"/>
          <p:cNvSpPr>
            <a:spLocks noGrp="1"/>
          </p:cNvSpPr>
          <p:nvPr>
            <p:ph type="sldNum" sz="quarter" idx="10"/>
          </p:nvPr>
        </p:nvSpPr>
        <p:spPr/>
        <p:txBody>
          <a:bodyPr/>
          <a:lstStyle/>
          <a:p>
            <a:fld id="{6AEF40A5-92ED-4D81-9433-82F36E49ADD2}" type="slidenum">
              <a:rPr lang="zh-TW" altLang="en-US" smtClean="0"/>
              <a:t>3</a:t>
            </a:fld>
            <a:endParaRPr lang="zh-TW" altLang="en-US"/>
          </a:p>
        </p:txBody>
      </p:sp>
    </p:spTree>
    <p:extLst>
      <p:ext uri="{BB962C8B-B14F-4D97-AF65-F5344CB8AC3E}">
        <p14:creationId xmlns:p14="http://schemas.microsoft.com/office/powerpoint/2010/main" val="2050514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6AEF40A5-92ED-4D81-9433-82F36E49ADD2}" type="slidenum">
              <a:rPr lang="zh-TW" altLang="en-US" smtClean="0"/>
              <a:t>5</a:t>
            </a:fld>
            <a:endParaRPr lang="zh-TW" altLang="en-US"/>
          </a:p>
        </p:txBody>
      </p:sp>
    </p:spTree>
    <p:extLst>
      <p:ext uri="{BB962C8B-B14F-4D97-AF65-F5344CB8AC3E}">
        <p14:creationId xmlns:p14="http://schemas.microsoft.com/office/powerpoint/2010/main" val="3568913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如果超過一個</a:t>
            </a:r>
            <a:r>
              <a:rPr lang="en-US" altLang="zh-TW" dirty="0" smtClean="0"/>
              <a:t>cut</a:t>
            </a:r>
            <a:r>
              <a:rPr lang="en-US" altLang="zh-TW" baseline="0" dirty="0" smtClean="0"/>
              <a:t> off</a:t>
            </a:r>
            <a:endParaRPr lang="zh-TW" altLang="en-US" dirty="0"/>
          </a:p>
        </p:txBody>
      </p:sp>
      <p:sp>
        <p:nvSpPr>
          <p:cNvPr id="4" name="投影片編號版面配置區 3"/>
          <p:cNvSpPr>
            <a:spLocks noGrp="1"/>
          </p:cNvSpPr>
          <p:nvPr>
            <p:ph type="sldNum" sz="quarter" idx="10"/>
          </p:nvPr>
        </p:nvSpPr>
        <p:spPr/>
        <p:txBody>
          <a:bodyPr/>
          <a:lstStyle/>
          <a:p>
            <a:fld id="{6AEF40A5-92ED-4D81-9433-82F36E49ADD2}" type="slidenum">
              <a:rPr lang="zh-TW" altLang="en-US" smtClean="0"/>
              <a:t>7</a:t>
            </a:fld>
            <a:endParaRPr lang="zh-TW" altLang="en-US"/>
          </a:p>
        </p:txBody>
      </p:sp>
    </p:spTree>
    <p:extLst>
      <p:ext uri="{BB962C8B-B14F-4D97-AF65-F5344CB8AC3E}">
        <p14:creationId xmlns:p14="http://schemas.microsoft.com/office/powerpoint/2010/main" val="4135302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10196E2A-A5DB-4E10-BAFF-25B933A28163}" type="datetime1">
              <a:rPr lang="zh-TW" altLang="en-US" smtClean="0"/>
              <a:t>2014/7/31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49245FF-F8F3-4B17-9241-4A406B191396}" type="slidenum">
              <a:rPr lang="zh-TW" altLang="en-US" smtClean="0"/>
              <a:t>‹#›</a:t>
            </a:fld>
            <a:endParaRPr lang="zh-TW" altLang="en-US"/>
          </a:p>
        </p:txBody>
      </p:sp>
    </p:spTree>
    <p:extLst>
      <p:ext uri="{BB962C8B-B14F-4D97-AF65-F5344CB8AC3E}">
        <p14:creationId xmlns:p14="http://schemas.microsoft.com/office/powerpoint/2010/main" val="2525291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11CDD6E3-8911-4F09-BA76-905F8C0D6EE1}" type="datetime1">
              <a:rPr lang="zh-TW" altLang="en-US" smtClean="0"/>
              <a:t>2014/7/31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49245FF-F8F3-4B17-9241-4A406B191396}" type="slidenum">
              <a:rPr lang="zh-TW" altLang="en-US" smtClean="0"/>
              <a:t>‹#›</a:t>
            </a:fld>
            <a:endParaRPr lang="zh-TW" altLang="en-US"/>
          </a:p>
        </p:txBody>
      </p:sp>
    </p:spTree>
    <p:extLst>
      <p:ext uri="{BB962C8B-B14F-4D97-AF65-F5344CB8AC3E}">
        <p14:creationId xmlns:p14="http://schemas.microsoft.com/office/powerpoint/2010/main" val="2765550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7EF52494-5766-44B0-9C71-5F06F417BA69}" type="datetime1">
              <a:rPr lang="zh-TW" altLang="en-US" smtClean="0"/>
              <a:t>2014/7/31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49245FF-F8F3-4B17-9241-4A406B191396}" type="slidenum">
              <a:rPr lang="zh-TW" altLang="en-US" smtClean="0"/>
              <a:t>‹#›</a:t>
            </a:fld>
            <a:endParaRPr lang="zh-TW" altLang="en-US"/>
          </a:p>
        </p:txBody>
      </p:sp>
    </p:spTree>
    <p:extLst>
      <p:ext uri="{BB962C8B-B14F-4D97-AF65-F5344CB8AC3E}">
        <p14:creationId xmlns:p14="http://schemas.microsoft.com/office/powerpoint/2010/main" val="446514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B9B1388E-CAC3-4350-A48B-60FADBCEAB21}" type="datetime1">
              <a:rPr lang="zh-TW" altLang="en-US" smtClean="0"/>
              <a:t>2014/7/31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49245FF-F8F3-4B17-9241-4A406B191396}" type="slidenum">
              <a:rPr lang="zh-TW" altLang="en-US" smtClean="0"/>
              <a:t>‹#›</a:t>
            </a:fld>
            <a:endParaRPr lang="zh-TW" altLang="en-US"/>
          </a:p>
        </p:txBody>
      </p:sp>
    </p:spTree>
    <p:extLst>
      <p:ext uri="{BB962C8B-B14F-4D97-AF65-F5344CB8AC3E}">
        <p14:creationId xmlns:p14="http://schemas.microsoft.com/office/powerpoint/2010/main" val="4283618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6A4E0CEB-B2EF-49FF-ADA3-449B8E1E3170}" type="datetime1">
              <a:rPr lang="zh-TW" altLang="en-US" smtClean="0"/>
              <a:t>2014/7/31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F49245FF-F8F3-4B17-9241-4A406B191396}" type="slidenum">
              <a:rPr lang="zh-TW" altLang="en-US" smtClean="0"/>
              <a:t>‹#›</a:t>
            </a:fld>
            <a:endParaRPr lang="zh-TW" altLang="en-US"/>
          </a:p>
        </p:txBody>
      </p:sp>
    </p:spTree>
    <p:extLst>
      <p:ext uri="{BB962C8B-B14F-4D97-AF65-F5344CB8AC3E}">
        <p14:creationId xmlns:p14="http://schemas.microsoft.com/office/powerpoint/2010/main" val="740041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6E38F81B-824D-4416-A74F-3916BF9CFD72}" type="datetime1">
              <a:rPr lang="zh-TW" altLang="en-US" smtClean="0"/>
              <a:t>2014/7/31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F49245FF-F8F3-4B17-9241-4A406B191396}" type="slidenum">
              <a:rPr lang="zh-TW" altLang="en-US" smtClean="0"/>
              <a:t>‹#›</a:t>
            </a:fld>
            <a:endParaRPr lang="zh-TW" altLang="en-US"/>
          </a:p>
        </p:txBody>
      </p:sp>
    </p:spTree>
    <p:extLst>
      <p:ext uri="{BB962C8B-B14F-4D97-AF65-F5344CB8AC3E}">
        <p14:creationId xmlns:p14="http://schemas.microsoft.com/office/powerpoint/2010/main" val="369259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D2B025-7B91-411F-AA54-D89E85F182F5}" type="datetime1">
              <a:rPr lang="zh-TW" altLang="en-US" smtClean="0"/>
              <a:t>2014/7/31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F49245FF-F8F3-4B17-9241-4A406B191396}" type="slidenum">
              <a:rPr lang="zh-TW" altLang="en-US" smtClean="0"/>
              <a:t>‹#›</a:t>
            </a:fld>
            <a:endParaRPr lang="zh-TW" altLang="en-US"/>
          </a:p>
        </p:txBody>
      </p:sp>
    </p:spTree>
    <p:extLst>
      <p:ext uri="{BB962C8B-B14F-4D97-AF65-F5344CB8AC3E}">
        <p14:creationId xmlns:p14="http://schemas.microsoft.com/office/powerpoint/2010/main" val="2956508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A60E17F3-FF57-4244-90D4-5DFD444AEBC8}" type="datetime1">
              <a:rPr lang="zh-TW" altLang="en-US" smtClean="0"/>
              <a:t>2014/7/31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49245FF-F8F3-4B17-9241-4A406B191396}" type="slidenum">
              <a:rPr lang="zh-TW" altLang="en-US" smtClean="0"/>
              <a:t>‹#›</a:t>
            </a:fld>
            <a:endParaRPr lang="zh-TW" altLang="en-US"/>
          </a:p>
        </p:txBody>
      </p:sp>
    </p:spTree>
    <p:extLst>
      <p:ext uri="{BB962C8B-B14F-4D97-AF65-F5344CB8AC3E}">
        <p14:creationId xmlns:p14="http://schemas.microsoft.com/office/powerpoint/2010/main" val="3827407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E12D1F93-F1EE-4525-93C5-0DBA34F922F1}" type="datetime1">
              <a:rPr lang="zh-TW" altLang="en-US" smtClean="0"/>
              <a:t>2014/7/31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49245FF-F8F3-4B17-9241-4A406B191396}" type="slidenum">
              <a:rPr lang="zh-TW" altLang="en-US" smtClean="0"/>
              <a:t>‹#›</a:t>
            </a:fld>
            <a:endParaRPr lang="zh-TW" altLang="en-US"/>
          </a:p>
        </p:txBody>
      </p:sp>
    </p:spTree>
    <p:extLst>
      <p:ext uri="{BB962C8B-B14F-4D97-AF65-F5344CB8AC3E}">
        <p14:creationId xmlns:p14="http://schemas.microsoft.com/office/powerpoint/2010/main" val="224663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21AACB04-7515-4FF4-83CC-D631E237A292}" type="datetime1">
              <a:rPr lang="zh-TW" altLang="en-US" smtClean="0"/>
              <a:t>2014/7/31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49245FF-F8F3-4B17-9241-4A406B191396}" type="slidenum">
              <a:rPr lang="zh-TW" altLang="en-US" smtClean="0"/>
              <a:t>‹#›</a:t>
            </a:fld>
            <a:endParaRPr lang="zh-TW" altLang="en-US"/>
          </a:p>
        </p:txBody>
      </p:sp>
    </p:spTree>
    <p:extLst>
      <p:ext uri="{BB962C8B-B14F-4D97-AF65-F5344CB8AC3E}">
        <p14:creationId xmlns:p14="http://schemas.microsoft.com/office/powerpoint/2010/main" val="584688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60C7A7D0-6AAA-41DD-8B49-84A3D251B2EB}" type="datetime1">
              <a:rPr lang="zh-TW" altLang="en-US" smtClean="0"/>
              <a:t>2014/7/31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49245FF-F8F3-4B17-9241-4A406B191396}" type="slidenum">
              <a:rPr lang="zh-TW" altLang="en-US" smtClean="0"/>
              <a:t>‹#›</a:t>
            </a:fld>
            <a:endParaRPr lang="zh-TW" altLang="en-US"/>
          </a:p>
        </p:txBody>
      </p:sp>
    </p:spTree>
    <p:extLst>
      <p:ext uri="{BB962C8B-B14F-4D97-AF65-F5344CB8AC3E}">
        <p14:creationId xmlns:p14="http://schemas.microsoft.com/office/powerpoint/2010/main" val="14751821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標題，文字及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457200" y="1600200"/>
            <a:ext cx="4038600" cy="4525963"/>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quarter" idx="2"/>
          </p:nvPr>
        </p:nvSpPr>
        <p:spPr>
          <a:xfrm>
            <a:off x="4648200" y="1600200"/>
            <a:ext cx="4038600" cy="21859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內容版面配置區 4"/>
          <p:cNvSpPr>
            <a:spLocks noGrp="1"/>
          </p:cNvSpPr>
          <p:nvPr>
            <p:ph sz="quarter" idx="3"/>
          </p:nvPr>
        </p:nvSpPr>
        <p:spPr>
          <a:xfrm>
            <a:off x="4648200" y="3938588"/>
            <a:ext cx="4038600" cy="218757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日期版面配置區 5"/>
          <p:cNvSpPr>
            <a:spLocks noGrp="1"/>
          </p:cNvSpPr>
          <p:nvPr>
            <p:ph type="dt" sz="half" idx="10"/>
          </p:nvPr>
        </p:nvSpPr>
        <p:spPr>
          <a:xfrm>
            <a:off x="457200" y="6245225"/>
            <a:ext cx="2133600" cy="476250"/>
          </a:xfrm>
        </p:spPr>
        <p:txBody>
          <a:bodyPr/>
          <a:lstStyle>
            <a:lvl1pPr>
              <a:defRPr/>
            </a:lvl1pPr>
          </a:lstStyle>
          <a:p>
            <a:fld id="{93BEAE1F-3712-41DD-BA4A-C9E97BF446C1}" type="datetime1">
              <a:rPr lang="zh-TW" altLang="en-US" smtClean="0"/>
              <a:t>2014/7/31</a:t>
            </a:fld>
            <a:endParaRPr lang="en-US" altLang="zh-TW"/>
          </a:p>
        </p:txBody>
      </p:sp>
      <p:sp>
        <p:nvSpPr>
          <p:cNvPr id="7" name="頁尾版面配置區 6"/>
          <p:cNvSpPr>
            <a:spLocks noGrp="1"/>
          </p:cNvSpPr>
          <p:nvPr>
            <p:ph type="ftr" sz="quarter" idx="11"/>
          </p:nvPr>
        </p:nvSpPr>
        <p:spPr>
          <a:xfrm>
            <a:off x="3124200" y="6245225"/>
            <a:ext cx="2895600" cy="476250"/>
          </a:xfrm>
        </p:spPr>
        <p:txBody>
          <a:bodyPr/>
          <a:lstStyle>
            <a:lvl1pPr>
              <a:defRPr/>
            </a:lvl1pPr>
          </a:lstStyle>
          <a:p>
            <a:endParaRPr lang="en-US" altLang="zh-TW"/>
          </a:p>
        </p:txBody>
      </p:sp>
      <p:sp>
        <p:nvSpPr>
          <p:cNvPr id="8" name="投影片編號版面配置區 7"/>
          <p:cNvSpPr>
            <a:spLocks noGrp="1"/>
          </p:cNvSpPr>
          <p:nvPr>
            <p:ph type="sldNum" sz="quarter" idx="12"/>
          </p:nvPr>
        </p:nvSpPr>
        <p:spPr>
          <a:xfrm>
            <a:off x="6553200" y="6245225"/>
            <a:ext cx="2133600" cy="476250"/>
          </a:xfrm>
        </p:spPr>
        <p:txBody>
          <a:bodyPr/>
          <a:lstStyle>
            <a:lvl1pPr>
              <a:defRPr/>
            </a:lvl1pPr>
          </a:lstStyle>
          <a:p>
            <a:fld id="{9D7D26CB-E8A1-4782-AD17-A75D402B3CFC}" type="slidenum">
              <a:rPr lang="en-US" altLang="zh-TW"/>
              <a:pPr/>
              <a:t>‹#›</a:t>
            </a:fld>
            <a:endParaRPr lang="en-US" altLang="zh-TW"/>
          </a:p>
        </p:txBody>
      </p:sp>
    </p:spTree>
    <p:extLst>
      <p:ext uri="{BB962C8B-B14F-4D97-AF65-F5344CB8AC3E}">
        <p14:creationId xmlns:p14="http://schemas.microsoft.com/office/powerpoint/2010/main" val="2912897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D0CDDE-429C-411D-AFD9-6703287DB82B}" type="datetime1">
              <a:rPr lang="zh-TW" altLang="en-US" smtClean="0"/>
              <a:t>2014/7/31</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9245FF-F8F3-4B17-9241-4A406B191396}" type="slidenum">
              <a:rPr lang="zh-TW" altLang="en-US" smtClean="0"/>
              <a:t>‹#›</a:t>
            </a:fld>
            <a:endParaRPr lang="zh-TW" altLang="en-US"/>
          </a:p>
        </p:txBody>
      </p:sp>
    </p:spTree>
    <p:extLst>
      <p:ext uri="{BB962C8B-B14F-4D97-AF65-F5344CB8AC3E}">
        <p14:creationId xmlns:p14="http://schemas.microsoft.com/office/powerpoint/2010/main" val="24417185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dirty="0" smtClean="0"/>
              <a:t>	</a:t>
            </a:r>
            <a:r>
              <a:rPr lang="en-US" altLang="zh-TW" sz="4800" b="1" dirty="0" smtClean="0"/>
              <a:t>Correlated Mutations and Residue Contacts in Proteins</a:t>
            </a:r>
            <a:endParaRPr lang="zh-TW" altLang="en-US" sz="4800" b="1" dirty="0"/>
          </a:p>
        </p:txBody>
      </p:sp>
      <p:sp>
        <p:nvSpPr>
          <p:cNvPr id="3" name="副標題 2"/>
          <p:cNvSpPr>
            <a:spLocks noGrp="1"/>
          </p:cNvSpPr>
          <p:nvPr>
            <p:ph type="subTitle" idx="1"/>
          </p:nvPr>
        </p:nvSpPr>
        <p:spPr/>
        <p:txBody>
          <a:bodyPr>
            <a:normAutofit lnSpcReduction="10000"/>
          </a:bodyPr>
          <a:lstStyle/>
          <a:p>
            <a:pPr algn="r"/>
            <a:r>
              <a:rPr lang="en-US" altLang="zh-TW" dirty="0"/>
              <a:t>Göbel U, Sander C, Schneider R, Valencia A</a:t>
            </a:r>
            <a:r>
              <a:rPr lang="en-US" altLang="zh-TW" dirty="0" smtClean="0"/>
              <a:t>.</a:t>
            </a:r>
          </a:p>
          <a:p>
            <a:pPr algn="r"/>
            <a:r>
              <a:rPr lang="en-US" altLang="zh-TW" dirty="0"/>
              <a:t>Proteins. 1994 Apr;18(4):309-17</a:t>
            </a:r>
            <a:r>
              <a:rPr lang="en-US" altLang="zh-TW" dirty="0" smtClean="0"/>
              <a:t>.</a:t>
            </a:r>
          </a:p>
          <a:p>
            <a:pPr algn="r"/>
            <a:r>
              <a:rPr lang="en-US" altLang="zh-TW" dirty="0" smtClean="0"/>
              <a:t>Presenter: Ding-Yao Huang</a:t>
            </a:r>
          </a:p>
          <a:p>
            <a:pPr algn="r"/>
            <a:r>
              <a:rPr lang="en-US" altLang="zh-TW" dirty="0" smtClean="0"/>
              <a:t>Date:2014/7/29</a:t>
            </a:r>
            <a:endParaRPr lang="zh-TW" altLang="en-US" dirty="0"/>
          </a:p>
        </p:txBody>
      </p:sp>
      <p:sp>
        <p:nvSpPr>
          <p:cNvPr id="4" name="投影片編號版面配置區 3"/>
          <p:cNvSpPr>
            <a:spLocks noGrp="1"/>
          </p:cNvSpPr>
          <p:nvPr>
            <p:ph type="sldNum" sz="quarter" idx="12"/>
          </p:nvPr>
        </p:nvSpPr>
        <p:spPr/>
        <p:txBody>
          <a:bodyPr/>
          <a:lstStyle/>
          <a:p>
            <a:fld id="{F49245FF-F8F3-4B17-9241-4A406B191396}" type="slidenum">
              <a:rPr lang="zh-TW" altLang="en-US" smtClean="0"/>
              <a:t>1</a:t>
            </a:fld>
            <a:endParaRPr lang="zh-TW" altLang="en-US"/>
          </a:p>
        </p:txBody>
      </p:sp>
    </p:spTree>
    <p:extLst>
      <p:ext uri="{BB962C8B-B14F-4D97-AF65-F5344CB8AC3E}">
        <p14:creationId xmlns:p14="http://schemas.microsoft.com/office/powerpoint/2010/main" val="16246968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Abstract</a:t>
            </a:r>
            <a:endParaRPr lang="zh-TW" altLang="en-US" b="1" dirty="0"/>
          </a:p>
        </p:txBody>
      </p:sp>
      <p:sp>
        <p:nvSpPr>
          <p:cNvPr id="3" name="內容版面配置區 2"/>
          <p:cNvSpPr>
            <a:spLocks noGrp="1"/>
          </p:cNvSpPr>
          <p:nvPr>
            <p:ph idx="1"/>
          </p:nvPr>
        </p:nvSpPr>
        <p:spPr/>
        <p:txBody>
          <a:bodyPr>
            <a:noAutofit/>
          </a:bodyPr>
          <a:lstStyle/>
          <a:p>
            <a:r>
              <a:rPr lang="en-US" altLang="zh-TW" sz="2400" dirty="0" smtClean="0"/>
              <a:t>The </a:t>
            </a:r>
            <a:r>
              <a:rPr lang="en-US" altLang="zh-TW" sz="2400" dirty="0"/>
              <a:t>maintenance of protein function and structure constrains the evolution of amino acid sequences. This fact can be exploited to interpret correlated mutations observed in a sequence family as an indication of probable physical contact in three dimensions. </a:t>
            </a:r>
            <a:endParaRPr lang="en-US" altLang="zh-TW" sz="2400" dirty="0" smtClean="0"/>
          </a:p>
          <a:p>
            <a:r>
              <a:rPr lang="en-US" altLang="zh-TW" sz="2400" dirty="0" smtClean="0"/>
              <a:t>Here </a:t>
            </a:r>
            <a:r>
              <a:rPr lang="en-US" altLang="zh-TW" sz="2400" dirty="0"/>
              <a:t>we present a simple and general method to analyze correlations in mutational behavior between different positions in a multiple sequence alignment. We then use these correlations to predict contact maps for each of 11 protein families and compare the result with the contacts determined by crystallography. </a:t>
            </a:r>
            <a:endParaRPr lang="en-US" altLang="zh-TW" sz="2400" dirty="0" smtClean="0"/>
          </a:p>
          <a:p>
            <a:endParaRPr lang="zh-TW" altLang="en-US" sz="2400" dirty="0"/>
          </a:p>
        </p:txBody>
      </p:sp>
      <p:sp>
        <p:nvSpPr>
          <p:cNvPr id="4" name="投影片編號版面配置區 3"/>
          <p:cNvSpPr>
            <a:spLocks noGrp="1"/>
          </p:cNvSpPr>
          <p:nvPr>
            <p:ph type="sldNum" sz="quarter" idx="12"/>
          </p:nvPr>
        </p:nvSpPr>
        <p:spPr/>
        <p:txBody>
          <a:bodyPr/>
          <a:lstStyle/>
          <a:p>
            <a:fld id="{F49245FF-F8F3-4B17-9241-4A406B191396}" type="slidenum">
              <a:rPr lang="zh-TW" altLang="en-US" smtClean="0"/>
              <a:t>2</a:t>
            </a:fld>
            <a:endParaRPr lang="zh-TW" altLang="en-US"/>
          </a:p>
        </p:txBody>
      </p:sp>
    </p:spTree>
    <p:extLst>
      <p:ext uri="{BB962C8B-B14F-4D97-AF65-F5344CB8AC3E}">
        <p14:creationId xmlns:p14="http://schemas.microsoft.com/office/powerpoint/2010/main" val="26575184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Abstract</a:t>
            </a:r>
            <a:endParaRPr lang="zh-TW" altLang="en-US" dirty="0"/>
          </a:p>
        </p:txBody>
      </p:sp>
      <p:sp>
        <p:nvSpPr>
          <p:cNvPr id="3" name="內容版面配置區 2"/>
          <p:cNvSpPr>
            <a:spLocks noGrp="1"/>
          </p:cNvSpPr>
          <p:nvPr>
            <p:ph idx="1"/>
          </p:nvPr>
        </p:nvSpPr>
        <p:spPr/>
        <p:txBody>
          <a:bodyPr>
            <a:normAutofit/>
          </a:bodyPr>
          <a:lstStyle/>
          <a:p>
            <a:r>
              <a:rPr lang="en-US" altLang="zh-TW" sz="2400" dirty="0"/>
              <a:t>For the most strongly correlated residue pairs predicted to be in contact, the prediction accuracy ranges from 37 to 68% and the improvement ratio relative to a random prediction from 1.4 to 5.1. Predicted contact maps can be used as input for the calculation of protein tertiary structure, either from sequence information alone or in combination with experimental </a:t>
            </a:r>
            <a:r>
              <a:rPr lang="en-US" altLang="zh-TW" sz="2400" dirty="0" smtClean="0"/>
              <a:t>information.</a:t>
            </a:r>
            <a:endParaRPr lang="zh-TW" altLang="en-US" sz="2400" dirty="0"/>
          </a:p>
        </p:txBody>
      </p:sp>
      <p:sp>
        <p:nvSpPr>
          <p:cNvPr id="4" name="投影片編號版面配置區 3"/>
          <p:cNvSpPr>
            <a:spLocks noGrp="1"/>
          </p:cNvSpPr>
          <p:nvPr>
            <p:ph type="sldNum" sz="quarter" idx="12"/>
          </p:nvPr>
        </p:nvSpPr>
        <p:spPr/>
        <p:txBody>
          <a:bodyPr/>
          <a:lstStyle/>
          <a:p>
            <a:fld id="{F49245FF-F8F3-4B17-9241-4A406B191396}" type="slidenum">
              <a:rPr lang="zh-TW" altLang="en-US" smtClean="0"/>
              <a:t>3</a:t>
            </a:fld>
            <a:endParaRPr lang="zh-TW" altLang="en-US"/>
          </a:p>
        </p:txBody>
      </p:sp>
    </p:spTree>
    <p:extLst>
      <p:ext uri="{BB962C8B-B14F-4D97-AF65-F5344CB8AC3E}">
        <p14:creationId xmlns:p14="http://schemas.microsoft.com/office/powerpoint/2010/main" val="38053351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Definition of Contacts</a:t>
            </a:r>
            <a:endParaRPr lang="zh-TW" altLang="en-US" b="1" dirty="0"/>
          </a:p>
        </p:txBody>
      </p:sp>
      <p:sp>
        <p:nvSpPr>
          <p:cNvPr id="3" name="內容版面配置區 2"/>
          <p:cNvSpPr>
            <a:spLocks noGrp="1"/>
          </p:cNvSpPr>
          <p:nvPr>
            <p:ph idx="1"/>
          </p:nvPr>
        </p:nvSpPr>
        <p:spPr>
          <a:xfrm>
            <a:off x="628650" y="1825625"/>
            <a:ext cx="7717064" cy="4351338"/>
          </a:xfrm>
        </p:spPr>
        <p:txBody>
          <a:bodyPr>
            <a:normAutofit/>
          </a:bodyPr>
          <a:lstStyle/>
          <a:p>
            <a:pPr>
              <a:buNone/>
            </a:pPr>
            <a:r>
              <a:rPr lang="en-US" altLang="zh-TW" sz="2400" dirty="0" smtClean="0"/>
              <a:t>   In </a:t>
            </a:r>
            <a:r>
              <a:rPr lang="en-US" altLang="zh-TW" sz="2400" dirty="0"/>
              <a:t>this article, we define two residues to be </a:t>
            </a:r>
            <a:r>
              <a:rPr lang="en-US" altLang="zh-TW" sz="2400" dirty="0" smtClean="0"/>
              <a:t>in contact </a:t>
            </a:r>
            <a:r>
              <a:rPr lang="en-US" altLang="zh-TW" sz="2400" dirty="0"/>
              <a:t>if </a:t>
            </a:r>
            <a:r>
              <a:rPr lang="en-US" altLang="zh-TW" sz="2400" dirty="0" smtClean="0"/>
              <a:t>the distance between their </a:t>
            </a:r>
            <a:r>
              <a:rPr lang="en-US" altLang="zh-TW" sz="2400" dirty="0" smtClean="0">
                <a:solidFill>
                  <a:srgbClr val="FF0000"/>
                </a:solidFill>
              </a:rPr>
              <a:t>C</a:t>
            </a:r>
            <a:r>
              <a:rPr lang="el-GR" altLang="zh-TW" sz="2400" baseline="30000" dirty="0" smtClean="0">
                <a:solidFill>
                  <a:srgbClr val="FF0000"/>
                </a:solidFill>
              </a:rPr>
              <a:t>β</a:t>
            </a:r>
            <a:r>
              <a:rPr lang="en-US" altLang="zh-TW" sz="2400" i="1" dirty="0" smtClean="0"/>
              <a:t> </a:t>
            </a:r>
            <a:r>
              <a:rPr lang="en-US" altLang="zh-TW" sz="2400" dirty="0"/>
              <a:t>atoms (</a:t>
            </a:r>
            <a:r>
              <a:rPr lang="en-US" altLang="zh-TW" sz="2400" dirty="0" smtClean="0">
                <a:solidFill>
                  <a:srgbClr val="FF0000"/>
                </a:solidFill>
              </a:rPr>
              <a:t>C</a:t>
            </a:r>
            <a:r>
              <a:rPr lang="el-GR" altLang="zh-TW" sz="2400" baseline="30000" dirty="0" smtClean="0">
                <a:solidFill>
                  <a:srgbClr val="FF0000"/>
                </a:solidFill>
              </a:rPr>
              <a:t>α</a:t>
            </a:r>
            <a:r>
              <a:rPr lang="en-US" altLang="zh-TW" sz="2400" i="1" dirty="0" smtClean="0"/>
              <a:t> </a:t>
            </a:r>
            <a:r>
              <a:rPr lang="en-US" altLang="zh-TW" sz="2400" dirty="0"/>
              <a:t>for </a:t>
            </a:r>
            <a:r>
              <a:rPr lang="en-US" altLang="zh-TW" sz="2400" dirty="0">
                <a:solidFill>
                  <a:srgbClr val="FF0000"/>
                </a:solidFill>
              </a:rPr>
              <a:t>glycine</a:t>
            </a:r>
            <a:r>
              <a:rPr lang="en-US" altLang="zh-TW" sz="2400" dirty="0"/>
              <a:t> </a:t>
            </a:r>
            <a:r>
              <a:rPr lang="en-US" altLang="zh-TW" sz="2400" dirty="0" smtClean="0"/>
              <a:t>residues) is </a:t>
            </a:r>
            <a:r>
              <a:rPr lang="en-US" altLang="zh-TW" sz="2400" i="1" dirty="0">
                <a:solidFill>
                  <a:srgbClr val="FF0000"/>
                </a:solidFill>
              </a:rPr>
              <a:t>&lt;</a:t>
            </a:r>
            <a:r>
              <a:rPr lang="en-US" altLang="zh-TW" sz="2400" dirty="0">
                <a:solidFill>
                  <a:srgbClr val="FF0000"/>
                </a:solidFill>
              </a:rPr>
              <a:t>8 Å</a:t>
            </a:r>
            <a:r>
              <a:rPr lang="en-US" altLang="zh-TW" sz="2400" dirty="0"/>
              <a:t>.</a:t>
            </a:r>
            <a:endParaRPr lang="en-US" altLang="zh-TW" sz="2400" dirty="0">
              <a:ea typeface="Arial Unicode MS" panose="020B0604020202020204" pitchFamily="34" charset="-120"/>
              <a:cs typeface="Arial Unicode MS" panose="020B0604020202020204" pitchFamily="34" charset="-120"/>
            </a:endParaRPr>
          </a:p>
        </p:txBody>
      </p:sp>
      <p:pic>
        <p:nvPicPr>
          <p:cNvPr id="4" name="圖片 3"/>
          <p:cNvPicPr>
            <a:picLocks noChangeAspect="1"/>
          </p:cNvPicPr>
          <p:nvPr/>
        </p:nvPicPr>
        <p:blipFill>
          <a:blip r:embed="rId2"/>
          <a:stretch>
            <a:fillRect/>
          </a:stretch>
        </p:blipFill>
        <p:spPr>
          <a:xfrm>
            <a:off x="3481122" y="2666319"/>
            <a:ext cx="5418409" cy="4191681"/>
          </a:xfrm>
          <a:prstGeom prst="rect">
            <a:avLst/>
          </a:prstGeom>
        </p:spPr>
      </p:pic>
      <p:pic>
        <p:nvPicPr>
          <p:cNvPr id="5" name="內容版面配置區 3"/>
          <p:cNvPicPr>
            <a:picLocks noChangeAspect="1"/>
          </p:cNvPicPr>
          <p:nvPr/>
        </p:nvPicPr>
        <p:blipFill>
          <a:blip r:embed="rId3"/>
          <a:stretch>
            <a:fillRect/>
          </a:stretch>
        </p:blipFill>
        <p:spPr>
          <a:xfrm>
            <a:off x="152953" y="3355712"/>
            <a:ext cx="3803866" cy="2956187"/>
          </a:xfrm>
          <a:prstGeom prst="rect">
            <a:avLst/>
          </a:prstGeom>
        </p:spPr>
      </p:pic>
      <p:sp>
        <p:nvSpPr>
          <p:cNvPr id="6" name="投影片編號版面配置區 5"/>
          <p:cNvSpPr>
            <a:spLocks noGrp="1"/>
          </p:cNvSpPr>
          <p:nvPr>
            <p:ph type="sldNum" sz="quarter" idx="12"/>
          </p:nvPr>
        </p:nvSpPr>
        <p:spPr/>
        <p:txBody>
          <a:bodyPr/>
          <a:lstStyle/>
          <a:p>
            <a:fld id="{F49245FF-F8F3-4B17-9241-4A406B191396}" type="slidenum">
              <a:rPr lang="zh-TW" altLang="en-US" smtClean="0"/>
              <a:t>4</a:t>
            </a:fld>
            <a:endParaRPr lang="zh-TW" altLang="en-US"/>
          </a:p>
        </p:txBody>
      </p:sp>
    </p:spTree>
    <p:extLst>
      <p:ext uri="{BB962C8B-B14F-4D97-AF65-F5344CB8AC3E}">
        <p14:creationId xmlns:p14="http://schemas.microsoft.com/office/powerpoint/2010/main" val="9123474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smtClean="0"/>
              <a:t>Method: </a:t>
            </a:r>
            <a:r>
              <a:rPr lang="en-US" altLang="zh-TW" sz="2800" dirty="0" smtClean="0"/>
              <a:t>Mutational </a:t>
            </a:r>
            <a:r>
              <a:rPr lang="en-US" altLang="zh-TW" sz="2800" dirty="0"/>
              <a:t>Behavior at One Position</a:t>
            </a:r>
            <a:endParaRPr lang="zh-TW" altLang="en-US" sz="2800" b="1" dirty="0"/>
          </a:p>
        </p:txBody>
      </p:sp>
      <p:sp>
        <p:nvSpPr>
          <p:cNvPr id="8" name="Rectangle 1"/>
          <p:cNvSpPr>
            <a:spLocks noGrp="1" noChangeArrowheads="1"/>
          </p:cNvSpPr>
          <p:nvPr>
            <p:ph idx="1"/>
          </p:nvPr>
        </p:nvSpPr>
        <p:spPr bwMode="auto">
          <a:xfrm>
            <a:off x="236833" y="2270742"/>
            <a:ext cx="867033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Seq. </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5 </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10 </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Sequence position</a:t>
            </a:r>
            <a:endParaRPr kumimoji="0" lang="en-US" altLang="zh-TW" sz="1800" b="0" i="0" u="none" strike="noStrike" cap="none" normalizeH="0" baseline="0" dirty="0" smtClean="0">
              <a:ln>
                <a:noFill/>
              </a:ln>
              <a:solidFill>
                <a:srgbClr val="000000"/>
              </a:solidFill>
              <a:effectLst/>
              <a:latin typeface="Arial Unicode MS" panose="020B0604020202020204" pitchFamily="34"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 </a:t>
            </a:r>
            <a:endParaRPr kumimoji="0" lang="en-US" altLang="zh-TW" sz="1800" b="0" i="0" u="none" strike="noStrike" cap="none" normalizeH="0" baseline="0" dirty="0" smtClean="0">
              <a:ln>
                <a:noFill/>
              </a:ln>
              <a:solidFill>
                <a:srgbClr val="000000"/>
              </a:solidFill>
              <a:effectLst/>
              <a:latin typeface="Arial Unicode MS" panose="020B0604020202020204" pitchFamily="34" charset="-120"/>
            </a:endParaRPr>
          </a:p>
          <a:p>
            <a:pPr marL="0" indent="0" eaLnBrk="0" fontAlgn="base" hangingPunct="0">
              <a:lnSpc>
                <a:spcPct val="100000"/>
              </a:lnSpc>
              <a:spcBef>
                <a:spcPct val="0"/>
              </a:spcBef>
              <a:spcAft>
                <a:spcPct val="0"/>
              </a:spcAft>
              <a:buNone/>
            </a:pPr>
            <a:r>
              <a:rPr lang="en-US" altLang="zh-TW" sz="1800" dirty="0" smtClean="0">
                <a:solidFill>
                  <a:srgbClr val="000000"/>
                </a:solidFill>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1 AAAA</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SSSS</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TTTT</a:t>
            </a:r>
            <a:endParaRPr kumimoji="0" lang="en-US" altLang="zh-TW" sz="1800" b="0" i="0" u="none" strike="noStrike" cap="none" normalizeH="0" baseline="0" dirty="0" smtClean="0">
              <a:ln>
                <a:noFill/>
              </a:ln>
              <a:solidFill>
                <a:srgbClr val="000000"/>
              </a:solidFill>
              <a:effectLst/>
              <a:latin typeface="Arial Unicode MS" panose="020B0604020202020204" pitchFamily="34"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TW" sz="1800" dirty="0">
                <a:solidFill>
                  <a:srgbClr val="000000"/>
                </a:solidFill>
                <a:latin typeface="Arial Unicode MS" panose="020B0604020202020204" pitchFamily="34" charset="-120"/>
              </a:rPr>
              <a:t> </a:t>
            </a:r>
            <a:r>
              <a:rPr lang="en-US" altLang="zh-TW" sz="1800" dirty="0" smtClean="0">
                <a:solidFill>
                  <a:srgbClr val="000000"/>
                </a:solidFill>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2 RRRR</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PPPP</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HHHH</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66 </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1.00 </a:t>
            </a:r>
            <a:endParaRPr kumimoji="0" lang="en-US" altLang="zh-TW" sz="1800" b="0" i="0" u="none" strike="noStrike" cap="none" normalizeH="0" baseline="0" dirty="0" smtClean="0">
              <a:ln>
                <a:noFill/>
              </a:ln>
              <a:solidFill>
                <a:srgbClr val="000000"/>
              </a:solidFill>
              <a:effectLst/>
              <a:latin typeface="Arial Unicode MS" panose="020B0604020202020204" pitchFamily="34"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zh-TW" sz="1800" dirty="0">
                <a:solidFill>
                  <a:srgbClr val="000000"/>
                </a:solidFill>
                <a:latin typeface="Arial Unicode MS" panose="020B0604020202020204" pitchFamily="34" charset="-120"/>
              </a:rPr>
              <a:t> </a:t>
            </a:r>
            <a:r>
              <a:rPr lang="en-US" altLang="zh-TW" sz="1800" dirty="0" smtClean="0">
                <a:solidFill>
                  <a:srgbClr val="000000"/>
                </a:solidFill>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3</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TTTT</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GGGG</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EEED </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lang="en-US" altLang="zh-TW" sz="1800" dirty="0">
                <a:solidFill>
                  <a:srgbClr val="000000"/>
                </a:solidFill>
                <a:latin typeface="Arial Unicode MS" panose="020B0604020202020204" pitchFamily="34" charset="-120"/>
              </a:rPr>
              <a:t> </a:t>
            </a:r>
            <a:r>
              <a:rPr lang="en-US" altLang="zh-TW" sz="1800" dirty="0" smtClean="0">
                <a:solidFill>
                  <a:srgbClr val="000000"/>
                </a:solidFill>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63 </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rgbClr val="000000"/>
                </a:solidFill>
                <a:effectLst/>
                <a:latin typeface="Arial Unicode MS" panose="020B0604020202020204" pitchFamily="34" charset="-120"/>
              </a:rPr>
              <a:t>0.95 </a:t>
            </a:r>
            <a:r>
              <a:rPr kumimoji="0" lang="en-US" altLang="zh-TW" sz="1800" b="0" i="0" u="none" strike="noStrike" cap="none" normalizeH="0" baseline="0" dirty="0" smtClean="0">
                <a:ln>
                  <a:noFill/>
                </a:ln>
                <a:solidFill>
                  <a:srgbClr val="000000"/>
                </a:solidFill>
                <a:effectLst/>
                <a:latin typeface="Arial Unicode MS" panose="020B0604020202020204" pitchFamily="34" charset="-120"/>
              </a:rPr>
              <a:t>  </a:t>
            </a:r>
            <a:r>
              <a:rPr kumimoji="0" lang="zh-TW" altLang="zh-TW" sz="1800" b="0" i="0" u="none" strike="noStrike" cap="none" normalizeH="0" baseline="0" dirty="0" smtClean="0">
                <a:ln>
                  <a:noFill/>
                </a:ln>
                <a:solidFill>
                  <a:schemeClr val="tx1"/>
                </a:solidFill>
                <a:effectLst/>
              </a:rPr>
              <a:t> </a:t>
            </a:r>
            <a:endParaRPr kumimoji="0" lang="zh-TW" altLang="zh-TW" sz="1800" b="0" i="0" u="none" strike="noStrike" cap="none" normalizeH="0" baseline="0" dirty="0" smtClean="0">
              <a:ln>
                <a:noFill/>
              </a:ln>
              <a:solidFill>
                <a:schemeClr val="tx1"/>
              </a:solidFill>
              <a:effectLst/>
              <a:latin typeface="Arial" panose="020B0604020202020204" pitchFamily="34" charset="0"/>
            </a:endParaRPr>
          </a:p>
        </p:txBody>
      </p:sp>
      <p:cxnSp>
        <p:nvCxnSpPr>
          <p:cNvPr id="10" name="直線單箭頭接點 9"/>
          <p:cNvCxnSpPr/>
          <p:nvPr/>
        </p:nvCxnSpPr>
        <p:spPr>
          <a:xfrm flipH="1">
            <a:off x="3037668" y="2433234"/>
            <a:ext cx="4184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 name="圖片 5"/>
          <p:cNvPicPr>
            <a:picLocks noChangeAspect="1"/>
          </p:cNvPicPr>
          <p:nvPr/>
        </p:nvPicPr>
        <p:blipFill>
          <a:blip r:embed="rId3"/>
          <a:stretch>
            <a:fillRect/>
          </a:stretch>
        </p:blipFill>
        <p:spPr>
          <a:xfrm>
            <a:off x="5799757" y="1271589"/>
            <a:ext cx="2161696" cy="5447166"/>
          </a:xfrm>
          <a:prstGeom prst="rect">
            <a:avLst/>
          </a:prstGeom>
        </p:spPr>
      </p:pic>
      <p:sp>
        <p:nvSpPr>
          <p:cNvPr id="3" name="投影片編號版面配置區 2"/>
          <p:cNvSpPr>
            <a:spLocks noGrp="1"/>
          </p:cNvSpPr>
          <p:nvPr>
            <p:ph type="sldNum" sz="quarter" idx="12"/>
          </p:nvPr>
        </p:nvSpPr>
        <p:spPr/>
        <p:txBody>
          <a:bodyPr/>
          <a:lstStyle/>
          <a:p>
            <a:fld id="{F49245FF-F8F3-4B17-9241-4A406B191396}" type="slidenum">
              <a:rPr lang="zh-TW" altLang="en-US" smtClean="0"/>
              <a:t>5</a:t>
            </a:fld>
            <a:endParaRPr lang="zh-TW" altLang="en-US"/>
          </a:p>
        </p:txBody>
      </p:sp>
    </p:spTree>
    <p:extLst>
      <p:ext uri="{BB962C8B-B14F-4D97-AF65-F5344CB8AC3E}">
        <p14:creationId xmlns:p14="http://schemas.microsoft.com/office/powerpoint/2010/main" val="34177807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smtClean="0"/>
              <a:t>Method: </a:t>
            </a:r>
            <a:r>
              <a:rPr lang="en-US" altLang="zh-TW" sz="2800" dirty="0" smtClean="0"/>
              <a:t>Mutational </a:t>
            </a:r>
            <a:r>
              <a:rPr lang="en-US" altLang="zh-TW" sz="2800" dirty="0"/>
              <a:t>Behavior at </a:t>
            </a:r>
            <a:r>
              <a:rPr lang="en-US" altLang="zh-TW" sz="2800" dirty="0" smtClean="0"/>
              <a:t>Two Positions</a:t>
            </a:r>
            <a:endParaRPr lang="zh-TW" altLang="en-US" sz="2800" b="1" dirty="0"/>
          </a:p>
        </p:txBody>
      </p:sp>
      <p:sp>
        <p:nvSpPr>
          <p:cNvPr id="3" name="內容版面配置區 2"/>
          <p:cNvSpPr>
            <a:spLocks noGrp="1"/>
          </p:cNvSpPr>
          <p:nvPr>
            <p:ph idx="1"/>
          </p:nvPr>
        </p:nvSpPr>
        <p:spPr/>
        <p:txBody>
          <a:bodyPr/>
          <a:lstStyle/>
          <a:p>
            <a:pPr marL="0" indent="0">
              <a:buNone/>
            </a:pPr>
            <a:endParaRPr lang="zh-TW" altLang="en-US" dirty="0"/>
          </a:p>
        </p:txBody>
      </p:sp>
      <p:pic>
        <p:nvPicPr>
          <p:cNvPr id="4" name="Picture 6" descr="c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0806" y="1416029"/>
            <a:ext cx="5098930" cy="5263740"/>
          </a:xfrm>
          <a:prstGeom prst="rect">
            <a:avLst/>
          </a:prstGeom>
          <a:noFill/>
          <a:extLst>
            <a:ext uri="{909E8E84-426E-40DD-AFC4-6F175D3DCCD1}">
              <a14:hiddenFill xmlns:a14="http://schemas.microsoft.com/office/drawing/2010/main">
                <a:solidFill>
                  <a:srgbClr val="FFFFFF"/>
                </a:solidFill>
              </a14:hiddenFill>
            </a:ext>
          </a:extLst>
        </p:spPr>
      </p:pic>
      <p:sp>
        <p:nvSpPr>
          <p:cNvPr id="5" name="投影片編號版面配置區 4"/>
          <p:cNvSpPr>
            <a:spLocks noGrp="1"/>
          </p:cNvSpPr>
          <p:nvPr>
            <p:ph type="sldNum" sz="quarter" idx="12"/>
          </p:nvPr>
        </p:nvSpPr>
        <p:spPr/>
        <p:txBody>
          <a:bodyPr/>
          <a:lstStyle/>
          <a:p>
            <a:fld id="{F49245FF-F8F3-4B17-9241-4A406B191396}" type="slidenum">
              <a:rPr lang="zh-TW" altLang="en-US" smtClean="0"/>
              <a:t>6</a:t>
            </a:fld>
            <a:endParaRPr lang="zh-TW" altLang="en-US"/>
          </a:p>
        </p:txBody>
      </p:sp>
    </p:spTree>
    <p:extLst>
      <p:ext uri="{BB962C8B-B14F-4D97-AF65-F5344CB8AC3E}">
        <p14:creationId xmlns:p14="http://schemas.microsoft.com/office/powerpoint/2010/main" val="5943348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Correlation coefficient</a:t>
            </a:r>
            <a:endParaRPr lang="zh-TW" altLang="en-US" b="1" dirty="0"/>
          </a:p>
        </p:txBody>
      </p:sp>
      <p:sp>
        <p:nvSpPr>
          <p:cNvPr id="3" name="內容版面配置區 2"/>
          <p:cNvSpPr>
            <a:spLocks noGrp="1"/>
          </p:cNvSpPr>
          <p:nvPr>
            <p:ph idx="1"/>
          </p:nvPr>
        </p:nvSpPr>
        <p:spPr>
          <a:xfrm>
            <a:off x="4300959" y="4712494"/>
            <a:ext cx="4587875" cy="1554162"/>
          </a:xfrm>
        </p:spPr>
        <p:txBody>
          <a:bodyPr>
            <a:normAutofit/>
          </a:bodyPr>
          <a:lstStyle/>
          <a:p>
            <a:pPr marL="0" indent="0">
              <a:buNone/>
            </a:pPr>
            <a:r>
              <a:rPr lang="en-US" altLang="zh-TW" sz="2000" dirty="0" smtClean="0"/>
              <a:t>N is the number of aligned sequences.</a:t>
            </a:r>
          </a:p>
          <a:p>
            <a:pPr marL="0" indent="0">
              <a:buNone/>
            </a:pPr>
            <a:r>
              <a:rPr lang="en-US" altLang="zh-TW" sz="2000" dirty="0" err="1" smtClean="0"/>
              <a:t>W</a:t>
            </a:r>
            <a:r>
              <a:rPr lang="en-US" altLang="zh-TW" sz="2000" baseline="-25000" dirty="0" err="1" smtClean="0"/>
              <a:t>kl</a:t>
            </a:r>
            <a:r>
              <a:rPr lang="en-US" altLang="zh-TW" sz="2000" baseline="-25000" dirty="0" smtClean="0"/>
              <a:t> </a:t>
            </a:r>
            <a:r>
              <a:rPr lang="en-US" altLang="zh-TW" sz="2000" dirty="0" smtClean="0"/>
              <a:t>is weight </a:t>
            </a:r>
          </a:p>
          <a:p>
            <a:pPr marL="0" indent="0">
              <a:buNone/>
            </a:pPr>
            <a:r>
              <a:rPr lang="el-GR" altLang="zh-TW" sz="2000" dirty="0" smtClean="0"/>
              <a:t>σ</a:t>
            </a:r>
            <a:r>
              <a:rPr lang="en-US" altLang="zh-TW" sz="2000" baseline="-25000" dirty="0" err="1" smtClean="0"/>
              <a:t>i</a:t>
            </a:r>
            <a:r>
              <a:rPr lang="en-US" altLang="zh-TW" sz="2000" baseline="-25000" dirty="0" smtClean="0"/>
              <a:t> </a:t>
            </a:r>
            <a:r>
              <a:rPr lang="en-US" altLang="zh-TW" sz="2000" dirty="0" smtClean="0"/>
              <a:t>=                                   </a:t>
            </a:r>
            <a:r>
              <a:rPr lang="en-US" altLang="zh-TW" sz="1400" dirty="0" smtClean="0"/>
              <a:t> 2</a:t>
            </a:r>
            <a:endParaRPr lang="zh-TW" altLang="en-US" sz="1400" baseline="-25000" dirty="0"/>
          </a:p>
        </p:txBody>
      </p:sp>
      <p:pic>
        <p:nvPicPr>
          <p:cNvPr id="5" name="Picture 7" descr="rij"/>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939" y="1825625"/>
            <a:ext cx="7040041" cy="1342898"/>
          </a:xfrm>
          <a:prstGeom prst="rect">
            <a:avLst/>
          </a:prstGeom>
          <a:noFill/>
          <a:extLst>
            <a:ext uri="{909E8E84-426E-40DD-AFC4-6F175D3DCCD1}">
              <a14:hiddenFill xmlns:a14="http://schemas.microsoft.com/office/drawing/2010/main">
                <a:solidFill>
                  <a:srgbClr val="FFFFFF"/>
                </a:solidFill>
              </a14:hiddenFill>
            </a:ext>
          </a:extLst>
        </p:spPr>
      </p:pic>
      <p:sp>
        <p:nvSpPr>
          <p:cNvPr id="4" name="投影片編號版面配置區 3"/>
          <p:cNvSpPr>
            <a:spLocks noGrp="1"/>
          </p:cNvSpPr>
          <p:nvPr>
            <p:ph type="sldNum" sz="quarter" idx="12"/>
          </p:nvPr>
        </p:nvSpPr>
        <p:spPr/>
        <p:txBody>
          <a:bodyPr/>
          <a:lstStyle/>
          <a:p>
            <a:fld id="{F49245FF-F8F3-4B17-9241-4A406B191396}" type="slidenum">
              <a:rPr lang="zh-TW" altLang="en-US" smtClean="0"/>
              <a:t>7</a:t>
            </a:fld>
            <a:endParaRPr lang="zh-TW" altLang="en-US"/>
          </a:p>
        </p:txBody>
      </p:sp>
      <p:sp>
        <p:nvSpPr>
          <p:cNvPr id="6" name="Rectangle 1"/>
          <p:cNvSpPr txBox="1">
            <a:spLocks noChangeArrowheads="1"/>
          </p:cNvSpPr>
          <p:nvPr/>
        </p:nvSpPr>
        <p:spPr bwMode="auto">
          <a:xfrm>
            <a:off x="986133" y="3145472"/>
            <a:ext cx="867033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zh-TW" altLang="zh-TW" sz="1800" dirty="0" smtClean="0">
                <a:solidFill>
                  <a:srgbClr val="000000"/>
                </a:solidFill>
                <a:latin typeface="Arial Unicode MS" panose="020B0604020202020204" pitchFamily="34" charset="-120"/>
              </a:rPr>
              <a:t>Seq. </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5 </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10 </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Sequence position</a:t>
            </a:r>
            <a:endParaRPr lang="en-US" altLang="zh-TW" sz="1800" dirty="0" smtClean="0">
              <a:solidFill>
                <a:srgbClr val="000000"/>
              </a:solidFill>
              <a:latin typeface="Arial Unicode MS" panose="020B0604020202020204" pitchFamily="34" charset="-120"/>
            </a:endParaRPr>
          </a:p>
          <a:p>
            <a:pPr marL="0" indent="0" eaLnBrk="0" fontAlgn="base" hangingPunct="0">
              <a:lnSpc>
                <a:spcPct val="100000"/>
              </a:lnSpc>
              <a:spcBef>
                <a:spcPct val="0"/>
              </a:spcBef>
              <a:spcAft>
                <a:spcPct val="0"/>
              </a:spcAft>
              <a:buFontTx/>
              <a:buNone/>
            </a:pPr>
            <a:r>
              <a:rPr lang="zh-TW" altLang="zh-TW" sz="1800" dirty="0" smtClean="0">
                <a:solidFill>
                  <a:srgbClr val="000000"/>
                </a:solidFill>
                <a:latin typeface="Arial Unicode MS" panose="020B0604020202020204" pitchFamily="34" charset="-120"/>
              </a:rPr>
              <a:t> </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 </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 </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 </a:t>
            </a:r>
            <a:endParaRPr lang="en-US" altLang="zh-TW" sz="1800" dirty="0" smtClean="0">
              <a:solidFill>
                <a:srgbClr val="000000"/>
              </a:solidFill>
              <a:latin typeface="Arial Unicode MS" panose="020B0604020202020204" pitchFamily="34" charset="-120"/>
            </a:endParaRPr>
          </a:p>
          <a:p>
            <a:pPr marL="0" indent="0" eaLnBrk="0" fontAlgn="base" hangingPunct="0">
              <a:lnSpc>
                <a:spcPct val="100000"/>
              </a:lnSpc>
              <a:spcBef>
                <a:spcPct val="0"/>
              </a:spcBef>
              <a:spcAft>
                <a:spcPct val="0"/>
              </a:spcAft>
              <a:buFont typeface="Arial" panose="020B0604020202020204" pitchFamily="34" charset="0"/>
              <a:buNone/>
            </a:pP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1 AAAA</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SSSS</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TTTT</a:t>
            </a:r>
            <a:endParaRPr lang="en-US" altLang="zh-TW" sz="1800" dirty="0" smtClean="0">
              <a:solidFill>
                <a:srgbClr val="000000"/>
              </a:solidFill>
              <a:latin typeface="Arial Unicode MS" panose="020B0604020202020204" pitchFamily="34" charset="-120"/>
            </a:endParaRPr>
          </a:p>
          <a:p>
            <a:pPr marL="0" indent="0" eaLnBrk="0" fontAlgn="base" hangingPunct="0">
              <a:lnSpc>
                <a:spcPct val="100000"/>
              </a:lnSpc>
              <a:spcBef>
                <a:spcPct val="0"/>
              </a:spcBef>
              <a:spcAft>
                <a:spcPct val="0"/>
              </a:spcAft>
              <a:buFontTx/>
              <a:buNone/>
            </a:pP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2 RRRR</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PPPP</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HHHH</a:t>
            </a:r>
            <a:r>
              <a:rPr lang="en-US" altLang="zh-TW" sz="1800" dirty="0" smtClean="0">
                <a:solidFill>
                  <a:srgbClr val="000000"/>
                </a:solidFill>
                <a:latin typeface="Arial Unicode MS" panose="020B0604020202020204" pitchFamily="34" charset="-120"/>
              </a:rPr>
              <a:t> </a:t>
            </a:r>
          </a:p>
          <a:p>
            <a:pPr marL="0" indent="0" eaLnBrk="0" fontAlgn="base" hangingPunct="0">
              <a:lnSpc>
                <a:spcPct val="100000"/>
              </a:lnSpc>
              <a:spcBef>
                <a:spcPct val="0"/>
              </a:spcBef>
              <a:spcAft>
                <a:spcPct val="0"/>
              </a:spcAft>
              <a:buFontTx/>
              <a:buNone/>
            </a:pPr>
            <a:r>
              <a:rPr lang="en-US" altLang="zh-TW" sz="1800" dirty="0">
                <a:solidFill>
                  <a:srgbClr val="000000"/>
                </a:solidFill>
                <a:latin typeface="Arial Unicode MS" panose="020B0604020202020204" pitchFamily="34" charset="-120"/>
              </a:rPr>
              <a:t> </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3</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TTTT</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GGGG</a:t>
            </a:r>
            <a:r>
              <a:rPr lang="en-US" altLang="zh-TW" sz="1800" dirty="0" smtClean="0">
                <a:solidFill>
                  <a:srgbClr val="000000"/>
                </a:solidFill>
                <a:latin typeface="Arial Unicode MS" panose="020B0604020202020204" pitchFamily="34" charset="-120"/>
              </a:rPr>
              <a:t> </a:t>
            </a:r>
            <a:r>
              <a:rPr lang="zh-TW" altLang="zh-TW" sz="1800" dirty="0" smtClean="0">
                <a:solidFill>
                  <a:srgbClr val="000000"/>
                </a:solidFill>
                <a:latin typeface="Arial Unicode MS" panose="020B0604020202020204" pitchFamily="34" charset="-120"/>
              </a:rPr>
              <a:t>EEED</a:t>
            </a:r>
            <a:endParaRPr lang="zh-TW" altLang="zh-TW" sz="1800" dirty="0" smtClean="0">
              <a:latin typeface="Arial" panose="020B0604020202020204" pitchFamily="34" charset="0"/>
            </a:endParaRPr>
          </a:p>
        </p:txBody>
      </p:sp>
      <p:pic>
        <p:nvPicPr>
          <p:cNvPr id="7" name="圖片 6"/>
          <p:cNvPicPr>
            <a:picLocks noChangeAspect="1"/>
          </p:cNvPicPr>
          <p:nvPr/>
        </p:nvPicPr>
        <p:blipFill>
          <a:blip r:embed="rId4"/>
          <a:stretch>
            <a:fillRect/>
          </a:stretch>
        </p:blipFill>
        <p:spPr>
          <a:xfrm>
            <a:off x="4877221" y="5513388"/>
            <a:ext cx="1209675" cy="723900"/>
          </a:xfrm>
          <a:prstGeom prst="rect">
            <a:avLst/>
          </a:prstGeom>
        </p:spPr>
      </p:pic>
      <p:pic>
        <p:nvPicPr>
          <p:cNvPr id="8" name="圖片 7"/>
          <p:cNvPicPr>
            <a:picLocks noChangeAspect="1"/>
          </p:cNvPicPr>
          <p:nvPr/>
        </p:nvPicPr>
        <p:blipFill>
          <a:blip r:embed="rId5"/>
          <a:stretch>
            <a:fillRect/>
          </a:stretch>
        </p:blipFill>
        <p:spPr>
          <a:xfrm>
            <a:off x="5321299" y="5695553"/>
            <a:ext cx="1409700" cy="390525"/>
          </a:xfrm>
          <a:prstGeom prst="rect">
            <a:avLst/>
          </a:prstGeom>
        </p:spPr>
      </p:pic>
      <p:cxnSp>
        <p:nvCxnSpPr>
          <p:cNvPr id="11" name="直線接點 10"/>
          <p:cNvCxnSpPr/>
          <p:nvPr/>
        </p:nvCxnSpPr>
        <p:spPr>
          <a:xfrm flipV="1">
            <a:off x="5016500" y="5513388"/>
            <a:ext cx="1905000" cy="1"/>
          </a:xfrm>
          <a:prstGeom prst="line">
            <a:avLst/>
          </a:prstGeom>
        </p:spPr>
        <p:style>
          <a:lnRef idx="1">
            <a:schemeClr val="dk1"/>
          </a:lnRef>
          <a:fillRef idx="0">
            <a:schemeClr val="dk1"/>
          </a:fillRef>
          <a:effectRef idx="0">
            <a:schemeClr val="dk1"/>
          </a:effectRef>
          <a:fontRef idx="minor">
            <a:schemeClr val="tx1"/>
          </a:fontRef>
        </p:style>
      </p:cxnSp>
      <p:pic>
        <p:nvPicPr>
          <p:cNvPr id="13" name="圖片 12"/>
          <p:cNvPicPr>
            <a:picLocks noChangeAspect="1"/>
          </p:cNvPicPr>
          <p:nvPr/>
        </p:nvPicPr>
        <p:blipFill>
          <a:blip r:embed="rId6"/>
          <a:stretch>
            <a:fillRect/>
          </a:stretch>
        </p:blipFill>
        <p:spPr>
          <a:xfrm>
            <a:off x="5952330" y="5544343"/>
            <a:ext cx="147638" cy="192571"/>
          </a:xfrm>
          <a:prstGeom prst="rect">
            <a:avLst/>
          </a:prstGeom>
        </p:spPr>
      </p:pic>
    </p:spTree>
    <p:extLst>
      <p:ext uri="{BB962C8B-B14F-4D97-AF65-F5344CB8AC3E}">
        <p14:creationId xmlns:p14="http://schemas.microsoft.com/office/powerpoint/2010/main" val="12313295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type="body" idx="1"/>
          </p:nvPr>
        </p:nvSpPr>
        <p:spPr>
          <a:xfrm>
            <a:off x="457200" y="1875295"/>
            <a:ext cx="8229600" cy="4250868"/>
          </a:xfrm>
        </p:spPr>
        <p:txBody>
          <a:bodyPr/>
          <a:lstStyle/>
          <a:p>
            <a:r>
              <a:rPr lang="en-US" altLang="zh-TW" sz="2400" dirty="0"/>
              <a:t>For a given target protein, we define the </a:t>
            </a:r>
            <a:r>
              <a:rPr lang="en-US" altLang="zh-TW" sz="2400" i="1" dirty="0">
                <a:solidFill>
                  <a:srgbClr val="FF0000"/>
                </a:solidFill>
              </a:rPr>
              <a:t>prediction</a:t>
            </a:r>
          </a:p>
          <a:p>
            <a:pPr>
              <a:buFontTx/>
              <a:buNone/>
            </a:pPr>
            <a:r>
              <a:rPr lang="en-US" altLang="zh-TW" sz="2400" i="1" dirty="0">
                <a:solidFill>
                  <a:srgbClr val="FF0000"/>
                </a:solidFill>
              </a:rPr>
              <a:t>	accuracy</a:t>
            </a:r>
            <a:r>
              <a:rPr lang="en-US" altLang="zh-TW" sz="2400" i="1" dirty="0"/>
              <a:t> </a:t>
            </a:r>
            <a:endParaRPr lang="en-US" altLang="zh-TW" sz="2400" i="1" dirty="0" smtClean="0"/>
          </a:p>
          <a:p>
            <a:pPr>
              <a:buFontTx/>
              <a:buNone/>
            </a:pPr>
            <a:endParaRPr lang="en-US" altLang="zh-TW" sz="2400" i="1" dirty="0" smtClean="0"/>
          </a:p>
          <a:p>
            <a:pPr>
              <a:buFontTx/>
              <a:buNone/>
            </a:pPr>
            <a:r>
              <a:rPr lang="en-US" altLang="zh-TW" sz="2400" i="1" dirty="0"/>
              <a:t>	</a:t>
            </a:r>
            <a:r>
              <a:rPr lang="en-US" altLang="zh-TW" sz="2400" i="1" dirty="0" smtClean="0"/>
              <a:t>		</a:t>
            </a:r>
            <a:r>
              <a:rPr lang="en-US" altLang="zh-TW" sz="3600" b="1" i="1" dirty="0" err="1" smtClean="0"/>
              <a:t>A</a:t>
            </a:r>
            <a:r>
              <a:rPr lang="en-US" altLang="zh-TW" sz="3600" b="1" i="1" baseline="-25000" dirty="0" err="1" smtClean="0"/>
              <a:t>pred</a:t>
            </a:r>
            <a:r>
              <a:rPr lang="en-US" altLang="zh-TW" sz="3600" b="1" i="1" dirty="0" smtClean="0"/>
              <a:t> </a:t>
            </a:r>
            <a:r>
              <a:rPr lang="en-US" altLang="zh-TW" sz="3600" b="1" i="1" dirty="0"/>
              <a:t>= </a:t>
            </a:r>
            <a:r>
              <a:rPr lang="en-US" altLang="zh-TW" sz="3600" b="1" i="1" dirty="0" err="1" smtClean="0"/>
              <a:t>C</a:t>
            </a:r>
            <a:r>
              <a:rPr lang="en-US" altLang="zh-TW" sz="3600" b="1" i="1" baseline="-25000" dirty="0" err="1" smtClean="0"/>
              <a:t>correct</a:t>
            </a:r>
            <a:r>
              <a:rPr lang="en-US" altLang="zh-TW" sz="3600" b="1" i="1" dirty="0" smtClean="0"/>
              <a:t>/</a:t>
            </a:r>
            <a:r>
              <a:rPr lang="en-US" altLang="zh-TW" sz="3600" b="1" i="1" dirty="0" err="1" smtClean="0"/>
              <a:t>C</a:t>
            </a:r>
            <a:r>
              <a:rPr lang="en-US" altLang="zh-TW" sz="3600" b="1" i="1" baseline="-25000" dirty="0" err="1" smtClean="0"/>
              <a:t>pred</a:t>
            </a:r>
            <a:endParaRPr lang="en-US" altLang="zh-TW" sz="3600" b="1" i="1" baseline="-25000" dirty="0"/>
          </a:p>
          <a:p>
            <a:pPr algn="ctr">
              <a:buFontTx/>
              <a:buNone/>
            </a:pPr>
            <a:endParaRPr lang="en-US" altLang="zh-TW" i="1" dirty="0"/>
          </a:p>
          <a:p>
            <a:pPr>
              <a:buNone/>
            </a:pPr>
            <a:r>
              <a:rPr lang="en-US" altLang="zh-TW" sz="2400" dirty="0"/>
              <a:t>	</a:t>
            </a:r>
            <a:r>
              <a:rPr lang="en-US" altLang="zh-TW" sz="2000" dirty="0"/>
              <a:t>where </a:t>
            </a:r>
            <a:r>
              <a:rPr lang="en-US" altLang="zh-TW" sz="2000" dirty="0" err="1" smtClean="0"/>
              <a:t>C</a:t>
            </a:r>
            <a:r>
              <a:rPr lang="en-US" altLang="zh-TW" sz="2000" baseline="-25000" dirty="0" err="1" smtClean="0"/>
              <a:t>correct</a:t>
            </a:r>
            <a:r>
              <a:rPr lang="en-US" altLang="zh-TW" sz="2000" baseline="-25000" dirty="0" smtClean="0"/>
              <a:t> </a:t>
            </a:r>
            <a:r>
              <a:rPr lang="en-US" altLang="zh-TW" sz="2000" dirty="0" smtClean="0"/>
              <a:t>is </a:t>
            </a:r>
            <a:r>
              <a:rPr lang="en-US" altLang="zh-TW" sz="2000" dirty="0">
                <a:solidFill>
                  <a:srgbClr val="0070C0"/>
                </a:solidFill>
              </a:rPr>
              <a:t>the number of the </a:t>
            </a:r>
            <a:r>
              <a:rPr lang="en-US" altLang="zh-TW" sz="2000" dirty="0" smtClean="0">
                <a:solidFill>
                  <a:srgbClr val="0070C0"/>
                </a:solidFill>
              </a:rPr>
              <a:t>correctly predicted </a:t>
            </a:r>
            <a:r>
              <a:rPr lang="en-US" altLang="zh-TW" sz="2000" dirty="0">
                <a:solidFill>
                  <a:srgbClr val="0070C0"/>
                </a:solidFill>
              </a:rPr>
              <a:t>contacts </a:t>
            </a:r>
            <a:r>
              <a:rPr lang="en-US" altLang="zh-TW" sz="2000" dirty="0" smtClean="0"/>
              <a:t>and </a:t>
            </a:r>
            <a:r>
              <a:rPr lang="en-US" altLang="zh-TW" sz="2000" dirty="0" err="1" smtClean="0"/>
              <a:t>C</a:t>
            </a:r>
            <a:r>
              <a:rPr lang="en-US" altLang="zh-TW" sz="2000" baseline="-25000" dirty="0" err="1" smtClean="0"/>
              <a:t>pred</a:t>
            </a:r>
            <a:r>
              <a:rPr lang="en-US" altLang="zh-TW" sz="2000" baseline="-25000" dirty="0" smtClean="0"/>
              <a:t> </a:t>
            </a:r>
            <a:r>
              <a:rPr lang="en-US" altLang="zh-TW" sz="2000" dirty="0" smtClean="0"/>
              <a:t>is </a:t>
            </a:r>
            <a:r>
              <a:rPr lang="en-US" altLang="zh-TW" sz="2000" dirty="0" smtClean="0">
                <a:solidFill>
                  <a:srgbClr val="0070C0"/>
                </a:solidFill>
              </a:rPr>
              <a:t>the total number of predicted contacts.</a:t>
            </a:r>
            <a:endParaRPr lang="en-US" altLang="zh-TW" sz="2000" dirty="0">
              <a:solidFill>
                <a:srgbClr val="0070C0"/>
              </a:solidFill>
            </a:endParaRPr>
          </a:p>
          <a:p>
            <a:pPr>
              <a:buFontTx/>
              <a:buNone/>
            </a:pPr>
            <a:endParaRPr lang="en-US" altLang="zh-TW" sz="2000" dirty="0"/>
          </a:p>
        </p:txBody>
      </p:sp>
      <p:sp>
        <p:nvSpPr>
          <p:cNvPr id="4" name="標題 1"/>
          <p:cNvSpPr>
            <a:spLocks noGrp="1"/>
          </p:cNvSpPr>
          <p:nvPr>
            <p:ph type="title"/>
          </p:nvPr>
        </p:nvSpPr>
        <p:spPr>
          <a:xfrm>
            <a:off x="628650" y="365126"/>
            <a:ext cx="7886700" cy="1325563"/>
          </a:xfrm>
        </p:spPr>
        <p:txBody>
          <a:bodyPr/>
          <a:lstStyle/>
          <a:p>
            <a:r>
              <a:rPr lang="en-US" altLang="zh-TW" b="1" dirty="0" smtClean="0"/>
              <a:t>Accuracy</a:t>
            </a:r>
            <a:endParaRPr lang="zh-TW" altLang="en-US" b="1" dirty="0"/>
          </a:p>
        </p:txBody>
      </p:sp>
      <p:sp>
        <p:nvSpPr>
          <p:cNvPr id="2" name="投影片編號版面配置區 1"/>
          <p:cNvSpPr>
            <a:spLocks noGrp="1"/>
          </p:cNvSpPr>
          <p:nvPr>
            <p:ph type="sldNum" sz="quarter" idx="12"/>
          </p:nvPr>
        </p:nvSpPr>
        <p:spPr/>
        <p:txBody>
          <a:bodyPr/>
          <a:lstStyle/>
          <a:p>
            <a:fld id="{F49245FF-F8F3-4B17-9241-4A406B191396}" type="slidenum">
              <a:rPr lang="zh-TW" altLang="en-US" smtClean="0"/>
              <a:t>8</a:t>
            </a:fld>
            <a:endParaRPr lang="zh-TW" altLang="en-US"/>
          </a:p>
        </p:txBody>
      </p:sp>
    </p:spTree>
    <p:extLst>
      <p:ext uri="{BB962C8B-B14F-4D97-AF65-F5344CB8AC3E}">
        <p14:creationId xmlns:p14="http://schemas.microsoft.com/office/powerpoint/2010/main" val="26167917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body" sz="half" idx="1"/>
          </p:nvPr>
        </p:nvSpPr>
        <p:spPr>
          <a:xfrm>
            <a:off x="278970" y="712922"/>
            <a:ext cx="8555064" cy="5047739"/>
          </a:xfrm>
        </p:spPr>
        <p:txBody>
          <a:bodyPr>
            <a:normAutofit fontScale="92500" lnSpcReduction="10000"/>
          </a:bodyPr>
          <a:lstStyle/>
          <a:p>
            <a:endParaRPr lang="en-US" altLang="zh-TW" sz="2400" dirty="0" smtClean="0"/>
          </a:p>
          <a:p>
            <a:r>
              <a:rPr lang="en-US" altLang="zh-TW" sz="2600" dirty="0" smtClean="0"/>
              <a:t>For </a:t>
            </a:r>
            <a:r>
              <a:rPr lang="en-US" altLang="zh-TW" sz="2600" dirty="0"/>
              <a:t>a given protein, </a:t>
            </a:r>
            <a:r>
              <a:rPr lang="en-US" altLang="zh-TW" sz="2600" dirty="0">
                <a:solidFill>
                  <a:srgbClr val="FF0000"/>
                </a:solidFill>
              </a:rPr>
              <a:t>the random prediction accuracy</a:t>
            </a:r>
            <a:r>
              <a:rPr lang="en-US" altLang="zh-TW" sz="2600" dirty="0"/>
              <a:t>, </a:t>
            </a:r>
            <a:r>
              <a:rPr lang="en-US" altLang="zh-TW" sz="2600" i="1" dirty="0" err="1" smtClean="0"/>
              <a:t>A</a:t>
            </a:r>
            <a:r>
              <a:rPr lang="en-US" altLang="zh-TW" sz="2600" i="1" baseline="-25000" dirty="0" err="1" smtClean="0"/>
              <a:t>random</a:t>
            </a:r>
            <a:r>
              <a:rPr lang="en-US" altLang="zh-TW" sz="2600" i="1" dirty="0" smtClean="0"/>
              <a:t>, </a:t>
            </a:r>
            <a:r>
              <a:rPr lang="en-US" altLang="zh-TW" sz="2600" dirty="0"/>
              <a:t>is defined to be the fraction of the patterns generated that are contacts</a:t>
            </a:r>
            <a:r>
              <a:rPr lang="en-US" altLang="zh-TW" sz="2400" dirty="0"/>
              <a:t>. </a:t>
            </a:r>
            <a:endParaRPr lang="en-US" altLang="zh-TW" sz="2400" dirty="0" smtClean="0"/>
          </a:p>
          <a:p>
            <a:pPr marL="1371600" lvl="3" indent="0">
              <a:buNone/>
            </a:pPr>
            <a:r>
              <a:rPr lang="en-US" altLang="zh-TW" sz="3600" b="1" i="1" dirty="0" smtClean="0"/>
              <a:t>    </a:t>
            </a:r>
            <a:r>
              <a:rPr lang="en-US" altLang="zh-TW" sz="3600" b="1" i="1" dirty="0" err="1" smtClean="0"/>
              <a:t>A</a:t>
            </a:r>
            <a:r>
              <a:rPr lang="en-US" altLang="zh-TW" sz="3600" b="1" i="1" baseline="-25000" dirty="0" err="1" smtClean="0"/>
              <a:t>random</a:t>
            </a:r>
            <a:r>
              <a:rPr lang="en-US" altLang="zh-TW" sz="3600" b="1" i="1" dirty="0" smtClean="0"/>
              <a:t> </a:t>
            </a:r>
            <a:r>
              <a:rPr lang="en-US" altLang="zh-TW" sz="3600" b="1" i="1" dirty="0"/>
              <a:t>= </a:t>
            </a:r>
            <a:r>
              <a:rPr lang="en-US" altLang="zh-TW" sz="3600" b="1" i="1" dirty="0" smtClean="0"/>
              <a:t>C</a:t>
            </a:r>
            <a:r>
              <a:rPr lang="en-US" altLang="zh-TW" sz="3600" b="1" i="1" baseline="-25000" dirty="0" smtClean="0"/>
              <a:t>obs</a:t>
            </a:r>
            <a:r>
              <a:rPr lang="en-US" altLang="zh-TW" sz="3600" b="1" i="1" dirty="0" smtClean="0"/>
              <a:t>/</a:t>
            </a:r>
            <a:r>
              <a:rPr lang="en-US" altLang="zh-TW" sz="3600" b="1" i="1" dirty="0" err="1" smtClean="0"/>
              <a:t>C</a:t>
            </a:r>
            <a:r>
              <a:rPr lang="en-US" altLang="zh-TW" sz="3600" b="1" i="1" baseline="-25000" dirty="0" err="1" smtClean="0"/>
              <a:t>max</a:t>
            </a:r>
            <a:endParaRPr lang="en-US" altLang="zh-TW" sz="3600" b="1" i="1" baseline="-25000" dirty="0" smtClean="0"/>
          </a:p>
          <a:p>
            <a:pPr marL="1371600" lvl="3" indent="0">
              <a:buNone/>
            </a:pPr>
            <a:endParaRPr lang="en-US" altLang="zh-TW" sz="3600" b="1" baseline="-25000" dirty="0"/>
          </a:p>
          <a:p>
            <a:pPr>
              <a:buNone/>
            </a:pPr>
            <a:r>
              <a:rPr lang="en-US" altLang="zh-TW" sz="2200" dirty="0"/>
              <a:t>where </a:t>
            </a:r>
            <a:r>
              <a:rPr lang="en-US" altLang="zh-TW" sz="2200" dirty="0" smtClean="0"/>
              <a:t>C</a:t>
            </a:r>
            <a:r>
              <a:rPr lang="en-US" altLang="zh-TW" sz="2200" baseline="-25000" dirty="0" smtClean="0"/>
              <a:t>obs </a:t>
            </a:r>
            <a:r>
              <a:rPr lang="en-US" altLang="zh-TW" sz="2200" dirty="0"/>
              <a:t>is </a:t>
            </a:r>
            <a:r>
              <a:rPr lang="en-US" altLang="zh-TW" sz="2200" dirty="0">
                <a:solidFill>
                  <a:srgbClr val="0070C0"/>
                </a:solidFill>
              </a:rPr>
              <a:t>the number of </a:t>
            </a:r>
            <a:r>
              <a:rPr lang="en-US" altLang="zh-TW" sz="2200" dirty="0" smtClean="0">
                <a:solidFill>
                  <a:srgbClr val="0070C0"/>
                </a:solidFill>
              </a:rPr>
              <a:t>contacts observed in three-dimensional structure </a:t>
            </a:r>
            <a:r>
              <a:rPr lang="en-US" altLang="zh-TW" sz="2200" dirty="0"/>
              <a:t>and </a:t>
            </a:r>
            <a:r>
              <a:rPr lang="en-US" altLang="zh-TW" sz="2200" dirty="0" err="1" smtClean="0"/>
              <a:t>C</a:t>
            </a:r>
            <a:r>
              <a:rPr lang="en-US" altLang="zh-TW" sz="2200" baseline="-25000" dirty="0" err="1" smtClean="0"/>
              <a:t>max</a:t>
            </a:r>
            <a:r>
              <a:rPr lang="en-US" altLang="zh-TW" sz="2200" baseline="-25000" dirty="0" smtClean="0"/>
              <a:t> </a:t>
            </a:r>
            <a:r>
              <a:rPr lang="en-US" altLang="zh-TW" sz="2200" dirty="0" smtClean="0">
                <a:solidFill>
                  <a:srgbClr val="0070C0"/>
                </a:solidFill>
              </a:rPr>
              <a:t>is </a:t>
            </a:r>
            <a:r>
              <a:rPr lang="en-US" altLang="zh-TW" sz="2200" dirty="0">
                <a:solidFill>
                  <a:srgbClr val="0070C0"/>
                </a:solidFill>
              </a:rPr>
              <a:t>the total number of </a:t>
            </a:r>
            <a:r>
              <a:rPr lang="en-US" altLang="zh-TW" sz="2200" dirty="0" smtClean="0">
                <a:solidFill>
                  <a:srgbClr val="0070C0"/>
                </a:solidFill>
              </a:rPr>
              <a:t>possible </a:t>
            </a:r>
            <a:r>
              <a:rPr lang="en-US" altLang="zh-TW" sz="2200" dirty="0">
                <a:solidFill>
                  <a:srgbClr val="0070C0"/>
                </a:solidFill>
              </a:rPr>
              <a:t>contacts</a:t>
            </a:r>
            <a:r>
              <a:rPr lang="en-US" altLang="zh-TW" sz="2200" dirty="0" smtClean="0">
                <a:solidFill>
                  <a:srgbClr val="0070C0"/>
                </a:solidFill>
              </a:rPr>
              <a:t>.</a:t>
            </a:r>
            <a:endParaRPr lang="en-US" altLang="zh-TW" sz="2200" dirty="0">
              <a:solidFill>
                <a:srgbClr val="0070C0"/>
              </a:solidFill>
            </a:endParaRPr>
          </a:p>
          <a:p>
            <a:pPr marL="1371600" lvl="3" indent="0">
              <a:buNone/>
            </a:pPr>
            <a:endParaRPr lang="en-US" altLang="zh-TW" sz="1400" dirty="0" smtClean="0"/>
          </a:p>
          <a:p>
            <a:r>
              <a:rPr lang="en-US" altLang="zh-TW" sz="2600" dirty="0" smtClean="0"/>
              <a:t>The </a:t>
            </a:r>
            <a:r>
              <a:rPr lang="en-US" altLang="zh-TW" sz="2600" i="1" dirty="0" smtClean="0">
                <a:solidFill>
                  <a:srgbClr val="FF0000"/>
                </a:solidFill>
              </a:rPr>
              <a:t>improvement </a:t>
            </a:r>
            <a:r>
              <a:rPr lang="en-US" altLang="zh-TW" sz="2600" dirty="0" smtClean="0"/>
              <a:t>of a set of predictions is then given by</a:t>
            </a:r>
          </a:p>
          <a:p>
            <a:pPr>
              <a:buFontTx/>
              <a:buNone/>
            </a:pPr>
            <a:endParaRPr lang="en-US" altLang="zh-TW" sz="2400" dirty="0" smtClean="0"/>
          </a:p>
          <a:p>
            <a:pPr algn="ctr">
              <a:buFontTx/>
              <a:buNone/>
            </a:pPr>
            <a:r>
              <a:rPr lang="en-US" altLang="zh-TW" sz="3600" b="1" i="1" dirty="0" err="1" smtClean="0"/>
              <a:t>R</a:t>
            </a:r>
            <a:r>
              <a:rPr lang="en-US" altLang="zh-TW" sz="3600" b="1" i="1" baseline="-25000" dirty="0" err="1" smtClean="0"/>
              <a:t>Improve</a:t>
            </a:r>
            <a:r>
              <a:rPr lang="en-US" altLang="zh-TW" sz="3600" b="1" dirty="0" smtClean="0"/>
              <a:t>= </a:t>
            </a:r>
            <a:r>
              <a:rPr lang="en-US" altLang="zh-TW" sz="3600" b="1" i="1" dirty="0" err="1" smtClean="0"/>
              <a:t>A</a:t>
            </a:r>
            <a:r>
              <a:rPr lang="en-US" altLang="zh-TW" sz="3600" b="1" i="1" baseline="-25000" dirty="0" err="1" smtClean="0"/>
              <a:t>pred</a:t>
            </a:r>
            <a:r>
              <a:rPr lang="en-US" altLang="zh-TW" sz="3600" b="1" dirty="0" smtClean="0"/>
              <a:t>/</a:t>
            </a:r>
            <a:r>
              <a:rPr lang="en-US" altLang="zh-TW" sz="3600" b="1" i="1" dirty="0" err="1" smtClean="0"/>
              <a:t>A</a:t>
            </a:r>
            <a:r>
              <a:rPr lang="en-US" altLang="zh-TW" sz="3600" b="1" i="1" baseline="-25000" dirty="0" err="1" smtClean="0"/>
              <a:t>random</a:t>
            </a:r>
            <a:endParaRPr lang="en-US" altLang="zh-TW" sz="3600" b="1" dirty="0" smtClean="0"/>
          </a:p>
          <a:p>
            <a:pPr>
              <a:buFontTx/>
              <a:buNone/>
            </a:pPr>
            <a:r>
              <a:rPr lang="en-US" altLang="zh-TW" sz="3600" b="1" i="1" dirty="0"/>
              <a:t>				</a:t>
            </a:r>
          </a:p>
        </p:txBody>
      </p:sp>
      <p:sp>
        <p:nvSpPr>
          <p:cNvPr id="2" name="投影片編號版面配置區 1"/>
          <p:cNvSpPr>
            <a:spLocks noGrp="1"/>
          </p:cNvSpPr>
          <p:nvPr>
            <p:ph type="sldNum" sz="quarter" idx="12"/>
          </p:nvPr>
        </p:nvSpPr>
        <p:spPr/>
        <p:txBody>
          <a:bodyPr/>
          <a:lstStyle/>
          <a:p>
            <a:fld id="{9D7D26CB-E8A1-4782-AD17-A75D402B3CFC}" type="slidenum">
              <a:rPr lang="en-US" altLang="zh-TW" smtClean="0"/>
              <a:pPr/>
              <a:t>9</a:t>
            </a:fld>
            <a:endParaRPr lang="en-US" altLang="zh-TW"/>
          </a:p>
        </p:txBody>
      </p:sp>
    </p:spTree>
    <p:extLst>
      <p:ext uri="{BB962C8B-B14F-4D97-AF65-F5344CB8AC3E}">
        <p14:creationId xmlns:p14="http://schemas.microsoft.com/office/powerpoint/2010/main" val="21624080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Results</a:t>
            </a:r>
            <a:endParaRPr lang="zh-TW" altLang="en-US" b="1" dirty="0"/>
          </a:p>
        </p:txBody>
      </p:sp>
      <p:sp>
        <p:nvSpPr>
          <p:cNvPr id="3" name="內容版面配置區 2"/>
          <p:cNvSpPr>
            <a:spLocks noGrp="1"/>
          </p:cNvSpPr>
          <p:nvPr>
            <p:ph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0" y="1320800"/>
            <a:ext cx="8923783" cy="5270500"/>
          </a:xfrm>
          <a:prstGeom prst="rect">
            <a:avLst/>
          </a:prstGeom>
        </p:spPr>
      </p:pic>
      <p:sp>
        <p:nvSpPr>
          <p:cNvPr id="6" name="橢圓 5"/>
          <p:cNvSpPr/>
          <p:nvPr/>
        </p:nvSpPr>
        <p:spPr>
          <a:xfrm>
            <a:off x="7429500" y="4483100"/>
            <a:ext cx="88900" cy="889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7" name="橢圓 6"/>
          <p:cNvSpPr/>
          <p:nvPr/>
        </p:nvSpPr>
        <p:spPr>
          <a:xfrm>
            <a:off x="7251700" y="5143500"/>
            <a:ext cx="88900" cy="889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8" name="橢圓 7"/>
          <p:cNvSpPr/>
          <p:nvPr/>
        </p:nvSpPr>
        <p:spPr>
          <a:xfrm>
            <a:off x="7048500" y="5054600"/>
            <a:ext cx="88900" cy="889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9" name="橢圓 8"/>
          <p:cNvSpPr/>
          <p:nvPr/>
        </p:nvSpPr>
        <p:spPr>
          <a:xfrm>
            <a:off x="6959600" y="5143500"/>
            <a:ext cx="88900" cy="889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0" name="橢圓 9"/>
          <p:cNvSpPr/>
          <p:nvPr/>
        </p:nvSpPr>
        <p:spPr>
          <a:xfrm>
            <a:off x="7004050" y="3440113"/>
            <a:ext cx="88900" cy="889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5" name="投影片編號版面配置區 4"/>
          <p:cNvSpPr>
            <a:spLocks noGrp="1"/>
          </p:cNvSpPr>
          <p:nvPr>
            <p:ph type="sldNum" sz="quarter" idx="12"/>
          </p:nvPr>
        </p:nvSpPr>
        <p:spPr/>
        <p:txBody>
          <a:bodyPr/>
          <a:lstStyle/>
          <a:p>
            <a:fld id="{F49245FF-F8F3-4B17-9241-4A406B191396}" type="slidenum">
              <a:rPr lang="zh-TW" altLang="en-US" smtClean="0"/>
              <a:t>10</a:t>
            </a:fld>
            <a:endParaRPr lang="zh-TW" altLang="en-US"/>
          </a:p>
        </p:txBody>
      </p:sp>
      <p:sp>
        <p:nvSpPr>
          <p:cNvPr id="11" name="橢圓 10"/>
          <p:cNvSpPr/>
          <p:nvPr/>
        </p:nvSpPr>
        <p:spPr>
          <a:xfrm>
            <a:off x="6815448" y="3799902"/>
            <a:ext cx="88900" cy="889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920382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6502400" y="1825625"/>
            <a:ext cx="2012950" cy="4351338"/>
          </a:xfrm>
        </p:spPr>
        <p:txBody>
          <a:bodyPr/>
          <a:lstStyle/>
          <a:p>
            <a:endParaRPr lang="zh-TW" altLang="en-US" dirty="0"/>
          </a:p>
        </p:txBody>
      </p:sp>
      <p:pic>
        <p:nvPicPr>
          <p:cNvPr id="4" name="圖片 3"/>
          <p:cNvPicPr>
            <a:picLocks noChangeAspect="1"/>
          </p:cNvPicPr>
          <p:nvPr/>
        </p:nvPicPr>
        <p:blipFill>
          <a:blip r:embed="rId2"/>
          <a:stretch>
            <a:fillRect/>
          </a:stretch>
        </p:blipFill>
        <p:spPr>
          <a:xfrm>
            <a:off x="1375428" y="260117"/>
            <a:ext cx="5960962" cy="3230621"/>
          </a:xfrm>
          <a:prstGeom prst="rect">
            <a:avLst/>
          </a:prstGeom>
        </p:spPr>
      </p:pic>
      <p:pic>
        <p:nvPicPr>
          <p:cNvPr id="5" name="圖片 4"/>
          <p:cNvPicPr>
            <a:picLocks noChangeAspect="1"/>
          </p:cNvPicPr>
          <p:nvPr/>
        </p:nvPicPr>
        <p:blipFill>
          <a:blip r:embed="rId3"/>
          <a:stretch>
            <a:fillRect/>
          </a:stretch>
        </p:blipFill>
        <p:spPr>
          <a:xfrm>
            <a:off x="1375428" y="3335810"/>
            <a:ext cx="5960962" cy="3020541"/>
          </a:xfrm>
          <a:prstGeom prst="rect">
            <a:avLst/>
          </a:prstGeom>
        </p:spPr>
      </p:pic>
      <p:sp>
        <p:nvSpPr>
          <p:cNvPr id="6" name="投影片編號版面配置區 5"/>
          <p:cNvSpPr>
            <a:spLocks noGrp="1"/>
          </p:cNvSpPr>
          <p:nvPr>
            <p:ph type="sldNum" sz="quarter" idx="12"/>
          </p:nvPr>
        </p:nvSpPr>
        <p:spPr/>
        <p:txBody>
          <a:bodyPr/>
          <a:lstStyle/>
          <a:p>
            <a:fld id="{F49245FF-F8F3-4B17-9241-4A406B191396}" type="slidenum">
              <a:rPr lang="zh-TW" altLang="en-US" smtClean="0"/>
              <a:t>11</a:t>
            </a:fld>
            <a:endParaRPr lang="zh-TW" altLang="en-US"/>
          </a:p>
        </p:txBody>
      </p:sp>
      <p:cxnSp>
        <p:nvCxnSpPr>
          <p:cNvPr id="8" name="直線接點 7"/>
          <p:cNvCxnSpPr/>
          <p:nvPr/>
        </p:nvCxnSpPr>
        <p:spPr>
          <a:xfrm flipV="1">
            <a:off x="2070100" y="2095500"/>
            <a:ext cx="4775200" cy="5080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直線接點 10"/>
          <p:cNvCxnSpPr/>
          <p:nvPr/>
        </p:nvCxnSpPr>
        <p:spPr>
          <a:xfrm flipH="1" flipV="1">
            <a:off x="5168900" y="365126"/>
            <a:ext cx="25400" cy="3125612"/>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直線接點 11"/>
          <p:cNvCxnSpPr/>
          <p:nvPr/>
        </p:nvCxnSpPr>
        <p:spPr>
          <a:xfrm flipH="1" flipV="1">
            <a:off x="4953000" y="3117442"/>
            <a:ext cx="25400" cy="3125612"/>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直線接點 12"/>
          <p:cNvCxnSpPr/>
          <p:nvPr/>
        </p:nvCxnSpPr>
        <p:spPr>
          <a:xfrm flipV="1">
            <a:off x="1968309" y="5085059"/>
            <a:ext cx="4775200" cy="50800"/>
          </a:xfrm>
          <a:prstGeom prst="line">
            <a:avLst/>
          </a:prstGeom>
        </p:spPr>
        <p:style>
          <a:lnRef idx="1">
            <a:schemeClr val="accent2"/>
          </a:lnRef>
          <a:fillRef idx="0">
            <a:schemeClr val="accent2"/>
          </a:fillRef>
          <a:effectRef idx="0">
            <a:schemeClr val="accent2"/>
          </a:effectRef>
          <a:fontRef idx="minor">
            <a:schemeClr val="tx1"/>
          </a:fontRef>
        </p:style>
      </p:cxnSp>
      <p:sp>
        <p:nvSpPr>
          <p:cNvPr id="15" name="甜甜圈 14"/>
          <p:cNvSpPr/>
          <p:nvPr/>
        </p:nvSpPr>
        <p:spPr>
          <a:xfrm>
            <a:off x="5168900" y="2601445"/>
            <a:ext cx="241300" cy="203200"/>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6" name="甜甜圈 15"/>
          <p:cNvSpPr/>
          <p:nvPr/>
        </p:nvSpPr>
        <p:spPr>
          <a:xfrm>
            <a:off x="4857750" y="5348671"/>
            <a:ext cx="241300" cy="203200"/>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48470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4" name="圖片 3"/>
          <p:cNvPicPr>
            <a:picLocks noChangeAspect="1"/>
          </p:cNvPicPr>
          <p:nvPr/>
        </p:nvPicPr>
        <p:blipFill>
          <a:blip r:embed="rId2"/>
          <a:stretch>
            <a:fillRect/>
          </a:stretch>
        </p:blipFill>
        <p:spPr>
          <a:xfrm>
            <a:off x="1154361" y="365126"/>
            <a:ext cx="6765272" cy="6085963"/>
          </a:xfrm>
          <a:prstGeom prst="rect">
            <a:avLst/>
          </a:prstGeom>
        </p:spPr>
      </p:pic>
      <p:sp>
        <p:nvSpPr>
          <p:cNvPr id="5" name="投影片編號版面配置區 4"/>
          <p:cNvSpPr>
            <a:spLocks noGrp="1"/>
          </p:cNvSpPr>
          <p:nvPr>
            <p:ph type="sldNum" sz="quarter" idx="12"/>
          </p:nvPr>
        </p:nvSpPr>
        <p:spPr/>
        <p:txBody>
          <a:bodyPr/>
          <a:lstStyle/>
          <a:p>
            <a:fld id="{F49245FF-F8F3-4B17-9241-4A406B191396}" type="slidenum">
              <a:rPr lang="zh-TW" altLang="en-US" smtClean="0"/>
              <a:t>12</a:t>
            </a:fld>
            <a:endParaRPr lang="zh-TW" altLang="en-US"/>
          </a:p>
        </p:txBody>
      </p:sp>
    </p:spTree>
    <p:extLst>
      <p:ext uri="{BB962C8B-B14F-4D97-AF65-F5344CB8AC3E}">
        <p14:creationId xmlns:p14="http://schemas.microsoft.com/office/powerpoint/2010/main" val="41968509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8650" y="365126"/>
            <a:ext cx="3509717" cy="1325563"/>
          </a:xfrm>
        </p:spPr>
        <p:txBody>
          <a:bodyPr/>
          <a:lstStyle/>
          <a:p>
            <a:endParaRPr lang="zh-TW" altLang="en-US" dirty="0"/>
          </a:p>
        </p:txBody>
      </p:sp>
      <p:sp>
        <p:nvSpPr>
          <p:cNvPr id="3" name="內容版面配置區 2"/>
          <p:cNvSpPr>
            <a:spLocks noGrp="1"/>
          </p:cNvSpPr>
          <p:nvPr>
            <p:ph idx="1"/>
          </p:nvPr>
        </p:nvSpPr>
        <p:spPr>
          <a:xfrm>
            <a:off x="628650" y="1825625"/>
            <a:ext cx="3415582" cy="4351338"/>
          </a:xfrm>
        </p:spPr>
        <p:txBody>
          <a:bodyPr/>
          <a:lstStyle/>
          <a:p>
            <a:endParaRPr lang="zh-TW" altLang="en-US" dirty="0"/>
          </a:p>
        </p:txBody>
      </p:sp>
      <p:pic>
        <p:nvPicPr>
          <p:cNvPr id="4" name="圖片 3"/>
          <p:cNvPicPr>
            <a:picLocks noChangeAspect="1"/>
          </p:cNvPicPr>
          <p:nvPr/>
        </p:nvPicPr>
        <p:blipFill>
          <a:blip r:embed="rId2"/>
          <a:stretch>
            <a:fillRect/>
          </a:stretch>
        </p:blipFill>
        <p:spPr>
          <a:xfrm>
            <a:off x="1753967" y="289712"/>
            <a:ext cx="4768799" cy="6264893"/>
          </a:xfrm>
          <a:prstGeom prst="rect">
            <a:avLst/>
          </a:prstGeom>
        </p:spPr>
      </p:pic>
      <p:sp>
        <p:nvSpPr>
          <p:cNvPr id="5" name="投影片編號版面配置區 4"/>
          <p:cNvSpPr>
            <a:spLocks noGrp="1"/>
          </p:cNvSpPr>
          <p:nvPr>
            <p:ph type="sldNum" sz="quarter" idx="12"/>
          </p:nvPr>
        </p:nvSpPr>
        <p:spPr/>
        <p:txBody>
          <a:bodyPr/>
          <a:lstStyle/>
          <a:p>
            <a:fld id="{F49245FF-F8F3-4B17-9241-4A406B191396}" type="slidenum">
              <a:rPr lang="zh-TW" altLang="en-US" smtClean="0"/>
              <a:t>13</a:t>
            </a:fld>
            <a:endParaRPr lang="zh-TW" altLang="en-US"/>
          </a:p>
        </p:txBody>
      </p:sp>
    </p:spTree>
    <p:extLst>
      <p:ext uri="{BB962C8B-B14F-4D97-AF65-F5344CB8AC3E}">
        <p14:creationId xmlns:p14="http://schemas.microsoft.com/office/powerpoint/2010/main" val="19421128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4" name="圖片 3"/>
          <p:cNvPicPr>
            <a:picLocks noChangeAspect="1"/>
          </p:cNvPicPr>
          <p:nvPr/>
        </p:nvPicPr>
        <p:blipFill>
          <a:blip r:embed="rId2"/>
          <a:stretch>
            <a:fillRect/>
          </a:stretch>
        </p:blipFill>
        <p:spPr>
          <a:xfrm>
            <a:off x="177383" y="1027907"/>
            <a:ext cx="8789234" cy="4167753"/>
          </a:xfrm>
          <a:prstGeom prst="rect">
            <a:avLst/>
          </a:prstGeom>
        </p:spPr>
      </p:pic>
      <p:sp>
        <p:nvSpPr>
          <p:cNvPr id="5" name="投影片編號版面配置區 4"/>
          <p:cNvSpPr>
            <a:spLocks noGrp="1"/>
          </p:cNvSpPr>
          <p:nvPr>
            <p:ph type="sldNum" sz="quarter" idx="12"/>
          </p:nvPr>
        </p:nvSpPr>
        <p:spPr/>
        <p:txBody>
          <a:bodyPr/>
          <a:lstStyle/>
          <a:p>
            <a:fld id="{F49245FF-F8F3-4B17-9241-4A406B191396}" type="slidenum">
              <a:rPr lang="zh-TW" altLang="en-US" smtClean="0"/>
              <a:t>14</a:t>
            </a:fld>
            <a:endParaRPr lang="zh-TW" altLang="en-US"/>
          </a:p>
        </p:txBody>
      </p:sp>
      <p:cxnSp>
        <p:nvCxnSpPr>
          <p:cNvPr id="7" name="直線接點 6"/>
          <p:cNvCxnSpPr/>
          <p:nvPr/>
        </p:nvCxnSpPr>
        <p:spPr>
          <a:xfrm>
            <a:off x="7810500" y="2794000"/>
            <a:ext cx="26352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直線接點 7"/>
          <p:cNvCxnSpPr/>
          <p:nvPr/>
        </p:nvCxnSpPr>
        <p:spPr>
          <a:xfrm>
            <a:off x="7810500" y="4457700"/>
            <a:ext cx="26352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直線接點 8"/>
          <p:cNvCxnSpPr/>
          <p:nvPr/>
        </p:nvCxnSpPr>
        <p:spPr>
          <a:xfrm>
            <a:off x="6750050" y="3898900"/>
            <a:ext cx="3238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0" name="直線接點 9"/>
          <p:cNvCxnSpPr/>
          <p:nvPr/>
        </p:nvCxnSpPr>
        <p:spPr>
          <a:xfrm flipV="1">
            <a:off x="6750050" y="4457700"/>
            <a:ext cx="323850" cy="2540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750196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4" name="圖片 3"/>
          <p:cNvPicPr>
            <a:picLocks noChangeAspect="1"/>
          </p:cNvPicPr>
          <p:nvPr/>
        </p:nvPicPr>
        <p:blipFill>
          <a:blip r:embed="rId2"/>
          <a:stretch>
            <a:fillRect/>
          </a:stretch>
        </p:blipFill>
        <p:spPr>
          <a:xfrm>
            <a:off x="0" y="1874179"/>
            <a:ext cx="5243286" cy="4302784"/>
          </a:xfrm>
          <a:prstGeom prst="rect">
            <a:avLst/>
          </a:prstGeom>
        </p:spPr>
      </p:pic>
      <p:pic>
        <p:nvPicPr>
          <p:cNvPr id="5" name="圖片 4"/>
          <p:cNvPicPr>
            <a:picLocks noChangeAspect="1"/>
          </p:cNvPicPr>
          <p:nvPr/>
        </p:nvPicPr>
        <p:blipFill>
          <a:blip r:embed="rId3"/>
          <a:stretch>
            <a:fillRect/>
          </a:stretch>
        </p:blipFill>
        <p:spPr>
          <a:xfrm>
            <a:off x="4841171" y="1739243"/>
            <a:ext cx="3823857" cy="2737413"/>
          </a:xfrm>
          <a:prstGeom prst="rect">
            <a:avLst/>
          </a:prstGeom>
        </p:spPr>
      </p:pic>
      <p:sp>
        <p:nvSpPr>
          <p:cNvPr id="6" name="投影片編號版面配置區 5"/>
          <p:cNvSpPr>
            <a:spLocks noGrp="1"/>
          </p:cNvSpPr>
          <p:nvPr>
            <p:ph type="sldNum" sz="quarter" idx="12"/>
          </p:nvPr>
        </p:nvSpPr>
        <p:spPr/>
        <p:txBody>
          <a:bodyPr/>
          <a:lstStyle/>
          <a:p>
            <a:fld id="{F49245FF-F8F3-4B17-9241-4A406B191396}" type="slidenum">
              <a:rPr lang="zh-TW" altLang="en-US" smtClean="0"/>
              <a:t>15</a:t>
            </a:fld>
            <a:endParaRPr lang="zh-TW" altLang="en-US"/>
          </a:p>
        </p:txBody>
      </p:sp>
    </p:spTree>
    <p:extLst>
      <p:ext uri="{BB962C8B-B14F-4D97-AF65-F5344CB8AC3E}">
        <p14:creationId xmlns:p14="http://schemas.microsoft.com/office/powerpoint/2010/main" val="42701125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Conclusion</a:t>
            </a:r>
            <a:endParaRPr lang="zh-TW" altLang="en-US" b="1" dirty="0"/>
          </a:p>
        </p:txBody>
      </p:sp>
      <p:sp>
        <p:nvSpPr>
          <p:cNvPr id="3" name="內容版面配置區 2"/>
          <p:cNvSpPr>
            <a:spLocks noGrp="1"/>
          </p:cNvSpPr>
          <p:nvPr>
            <p:ph idx="1"/>
          </p:nvPr>
        </p:nvSpPr>
        <p:spPr/>
        <p:txBody>
          <a:bodyPr/>
          <a:lstStyle/>
          <a:p>
            <a:r>
              <a:rPr lang="en-US" altLang="zh-TW" dirty="0"/>
              <a:t>we present a </a:t>
            </a:r>
            <a:r>
              <a:rPr lang="en-US" altLang="zh-TW" dirty="0" smtClean="0"/>
              <a:t>method </a:t>
            </a:r>
            <a:r>
              <a:rPr lang="en-US" altLang="zh-TW" dirty="0"/>
              <a:t>to analyze correlations in mutational behavior between different positions in a multiple sequence </a:t>
            </a:r>
            <a:r>
              <a:rPr lang="en-US" altLang="zh-TW" dirty="0" smtClean="0"/>
              <a:t>alignment</a:t>
            </a:r>
          </a:p>
          <a:p>
            <a:r>
              <a:rPr lang="en-US" altLang="zh-TW"/>
              <a:t>We then use these correlations to predict contact maps for each of 11 protein families and compare the result with the contacts determined by crystallography. </a:t>
            </a:r>
          </a:p>
          <a:p>
            <a:endParaRPr lang="zh-TW" altLang="en-US" dirty="0"/>
          </a:p>
        </p:txBody>
      </p:sp>
      <p:sp>
        <p:nvSpPr>
          <p:cNvPr id="4" name="投影片編號版面配置區 3"/>
          <p:cNvSpPr>
            <a:spLocks noGrp="1"/>
          </p:cNvSpPr>
          <p:nvPr>
            <p:ph type="sldNum" sz="quarter" idx="12"/>
          </p:nvPr>
        </p:nvSpPr>
        <p:spPr/>
        <p:txBody>
          <a:bodyPr/>
          <a:lstStyle/>
          <a:p>
            <a:fld id="{F49245FF-F8F3-4B17-9241-4A406B191396}" type="slidenum">
              <a:rPr lang="zh-TW" altLang="en-US" smtClean="0"/>
              <a:t>16</a:t>
            </a:fld>
            <a:endParaRPr lang="zh-TW" altLang="en-US"/>
          </a:p>
        </p:txBody>
      </p:sp>
    </p:spTree>
    <p:extLst>
      <p:ext uri="{BB962C8B-B14F-4D97-AF65-F5344CB8AC3E}">
        <p14:creationId xmlns:p14="http://schemas.microsoft.com/office/powerpoint/2010/main" val="30153568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1552</TotalTime>
  <Words>466</Words>
  <Application>Microsoft Office PowerPoint</Application>
  <PresentationFormat>如螢幕大小 (4:3)</PresentationFormat>
  <Paragraphs>71</Paragraphs>
  <Slides>16</Slides>
  <Notes>4</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16</vt:i4>
      </vt:variant>
    </vt:vector>
  </HeadingPairs>
  <TitlesOfParts>
    <vt:vector size="22" baseType="lpstr">
      <vt:lpstr>Arial Unicode MS</vt:lpstr>
      <vt:lpstr>新細明體</vt:lpstr>
      <vt:lpstr>Arial</vt:lpstr>
      <vt:lpstr>Calibri</vt:lpstr>
      <vt:lpstr>Calibri Light</vt:lpstr>
      <vt:lpstr>Office 佈景主題</vt:lpstr>
      <vt:lpstr> Correlated Mutations and Residue Contacts in Proteins</vt:lpstr>
      <vt:lpstr>Abstract</vt:lpstr>
      <vt:lpstr>Abstract</vt:lpstr>
      <vt:lpstr>Definition of Contacts</vt:lpstr>
      <vt:lpstr>Method: Mutational Behavior at One Position</vt:lpstr>
      <vt:lpstr>Method: Mutational Behavior at Two Positions</vt:lpstr>
      <vt:lpstr>Correlation coefficient</vt:lpstr>
      <vt:lpstr>Accuracy</vt:lpstr>
      <vt:lpstr>PowerPoint 簡報</vt:lpstr>
      <vt:lpstr>Results</vt:lpstr>
      <vt:lpstr>PowerPoint 簡報</vt:lpstr>
      <vt:lpstr>PowerPoint 簡報</vt:lpstr>
      <vt:lpstr>PowerPoint 簡報</vt:lpstr>
      <vt:lpstr>PowerPoint 簡報</vt:lpstr>
      <vt:lpstr>PowerPoint 簡報</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黃鼎耀</dc:creator>
  <cp:lastModifiedBy>郭冠呈</cp:lastModifiedBy>
  <cp:revision>92</cp:revision>
  <dcterms:created xsi:type="dcterms:W3CDTF">2014-07-27T08:23:52Z</dcterms:created>
  <dcterms:modified xsi:type="dcterms:W3CDTF">2014-07-31T10:20:17Z</dcterms:modified>
</cp:coreProperties>
</file>