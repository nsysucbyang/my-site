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9" r:id="rId4"/>
    <p:sldId id="261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88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9" r:id="rId34"/>
    <p:sldId id="290" r:id="rId3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-25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81E10-CEB5-4E88-8294-281A20AB0E37}" type="datetimeFigureOut">
              <a:rPr lang="zh-TW" altLang="en-US" smtClean="0"/>
              <a:pPr/>
              <a:t>2014/7/29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5E0D0C-7F70-4652-BD2E-678244DA2AA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5E0D0C-7F70-4652-BD2E-678244DA2AA9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5E0D0C-7F70-4652-BD2E-678244DA2AA9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2E133-5358-4EBE-A8A1-BFDC78D3489A}" type="datetime1">
              <a:rPr lang="zh-TW" altLang="en-US" smtClean="0"/>
              <a:t>2014/7/29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BB712-6F72-4312-A8F4-34E7F1AC0D39}" type="datetime1">
              <a:rPr lang="zh-TW" altLang="en-US" smtClean="0"/>
              <a:t>2014/7/29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848DF-3EF5-421C-8AD6-F3DA362EFF14}" type="datetime1">
              <a:rPr lang="zh-TW" altLang="en-US" smtClean="0"/>
              <a:t>2014/7/29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BB91F-F64A-4704-8287-1530DE319985}" type="datetime1">
              <a:rPr lang="zh-TW" altLang="en-US" smtClean="0"/>
              <a:t>2014/7/29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B4449-16A6-4806-A75F-FA64B363C97A}" type="datetime1">
              <a:rPr lang="zh-TW" altLang="en-US" smtClean="0"/>
              <a:t>2014/7/29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B00AE-89DA-498E-8089-5EDE69DFFB4D}" type="datetime1">
              <a:rPr lang="zh-TW" altLang="en-US" smtClean="0"/>
              <a:t>2014/7/29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5253E-6B55-4901-98CA-D341ACBDFB31}" type="datetime1">
              <a:rPr lang="zh-TW" altLang="en-US" smtClean="0"/>
              <a:t>2014/7/29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5E454-3AA1-49E7-AC41-DAA6AD774E35}" type="datetime1">
              <a:rPr lang="zh-TW" altLang="en-US" smtClean="0"/>
              <a:t>2014/7/29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88A60-7C21-4168-9D6B-D95DBA3E99F7}" type="datetime1">
              <a:rPr lang="zh-TW" altLang="en-US" smtClean="0"/>
              <a:t>2014/7/29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6F9C8-05A1-4CF7-B188-6BE3DBF0F482}" type="datetime1">
              <a:rPr lang="zh-TW" altLang="en-US" smtClean="0"/>
              <a:t>2014/7/29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9943D-67CC-4278-AB78-F4B470AF3AF6}" type="datetime1">
              <a:rPr lang="zh-TW" altLang="en-US" smtClean="0"/>
              <a:t>2014/7/29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A33616-0E36-4224-B160-E930CAEAF21F}" type="datetime1">
              <a:rPr lang="zh-TW" altLang="en-US" smtClean="0"/>
              <a:t>2014/7/29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43174" y="3843345"/>
            <a:ext cx="3543300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Bit-Parallel LCS-length Computation Revisited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altLang="zh-TW" dirty="0" smtClean="0"/>
          </a:p>
          <a:p>
            <a:r>
              <a:rPr lang="en-US" altLang="zh-TW" dirty="0" smtClean="0"/>
              <a:t>PR</a:t>
            </a:r>
            <a:r>
              <a:rPr lang="en-US" dirty="0" smtClean="0"/>
              <a:t> In Proc. 15th Australasian Workshop on Combinatorial Algorithms (</a:t>
            </a:r>
            <a:r>
              <a:rPr lang="en-US" dirty="0" smtClean="0"/>
              <a:t>AWOCA)</a:t>
            </a:r>
            <a:endParaRPr lang="en-US" dirty="0" smtClean="0"/>
          </a:p>
          <a:p>
            <a:r>
              <a:rPr lang="en-US" altLang="zh-TW" dirty="0" smtClean="0"/>
              <a:t>2004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6357950" y="5500702"/>
            <a:ext cx="25366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>
                <a:latin typeface="Calibri" pitchFamily="34" charset="0"/>
              </a:rPr>
              <a:t>Presenter:</a:t>
            </a:r>
            <a:r>
              <a:rPr lang="en-US" dirty="0" err="1" smtClean="0"/>
              <a:t>De-Sheng</a:t>
            </a:r>
            <a:r>
              <a:rPr lang="en-US" dirty="0" smtClean="0"/>
              <a:t> </a:t>
            </a:r>
            <a:r>
              <a:rPr lang="en-US" dirty="0" err="1" smtClean="0"/>
              <a:t>Jhan</a:t>
            </a:r>
            <a:endParaRPr lang="en-US" altLang="zh-TW" dirty="0" smtClean="0">
              <a:latin typeface="Calibri" pitchFamily="34" charset="0"/>
            </a:endParaRPr>
          </a:p>
          <a:p>
            <a:r>
              <a:rPr lang="en-US" altLang="zh-TW" dirty="0" smtClean="0">
                <a:latin typeface="Calibri" pitchFamily="34" charset="0"/>
              </a:rPr>
              <a:t>              </a:t>
            </a:r>
            <a:r>
              <a:rPr lang="en-US" altLang="zh-TW" dirty="0" smtClean="0">
                <a:latin typeface="Calibri" pitchFamily="34" charset="0"/>
              </a:rPr>
              <a:t>2014/07/29</a:t>
            </a:r>
            <a:endParaRPr lang="zh-TW" altLang="en-US" dirty="0" smtClean="0">
              <a:latin typeface="Calibri" pitchFamily="34" charset="0"/>
            </a:endParaRPr>
          </a:p>
          <a:p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altLang="zh-TW" dirty="0" smtClean="0"/>
              <a:t>     The longest common subsequence (LCS) is a classic and well-studied measure of similarity between two strings A and B. This problem has two variants: determining the length of the LCS (LLCS), and recovering an LCS itself. In this paper we address the first of these two. Let m and n denote the lengths of the strings A and B, respectively, and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zh-TW" dirty="0" smtClean="0"/>
              <a:t> denote the computer word size. First we give a slightly improved formula for the bit-parallel O(</a:t>
            </a:r>
            <a:r>
              <a:rPr lang="zh-TW" altLang="en-US" dirty="0" smtClean="0"/>
              <a:t>⌈</a:t>
            </a:r>
            <a:r>
              <a:rPr lang="en-US" altLang="zh-TW" dirty="0" smtClean="0"/>
              <a:t>m/w</a:t>
            </a:r>
            <a:r>
              <a:rPr lang="zh-TW" altLang="en-US" dirty="0" smtClean="0"/>
              <a:t>⌉</a:t>
            </a:r>
            <a:r>
              <a:rPr lang="en-US" altLang="zh-TW" dirty="0" smtClean="0"/>
              <a:t>n) LLCS algorithm of </a:t>
            </a:r>
            <a:r>
              <a:rPr lang="en-US" altLang="zh-TW" dirty="0" err="1" smtClean="0"/>
              <a:t>Crochemore</a:t>
            </a:r>
            <a:r>
              <a:rPr lang="en-US" altLang="zh-TW" dirty="0" smtClean="0"/>
              <a:t> et al. [4]. Then we discuss the relative performance of the bit-parallel algorithms and compare our variant against one of the best conventional LLCS algorithms. Finally we propose and evaluate an O(</a:t>
            </a:r>
            <a:r>
              <a:rPr lang="zh-TW" altLang="en-US" dirty="0" smtClean="0"/>
              <a:t>⌈</a:t>
            </a:r>
            <a:r>
              <a:rPr lang="en-US" altLang="zh-TW" dirty="0" smtClean="0"/>
              <a:t>d/w</a:t>
            </a:r>
            <a:r>
              <a:rPr lang="zh-TW" altLang="en-US" dirty="0" smtClean="0"/>
              <a:t>⌉</a:t>
            </a:r>
            <a:r>
              <a:rPr lang="en-US" altLang="zh-TW" dirty="0" smtClean="0"/>
              <a:t>n) version of the algorithm, where d is the simple (</a:t>
            </a:r>
            <a:r>
              <a:rPr lang="en-US" altLang="zh-TW" dirty="0" err="1" smtClean="0"/>
              <a:t>indel</a:t>
            </a:r>
            <a:r>
              <a:rPr lang="en-US" altLang="zh-TW" dirty="0" smtClean="0"/>
              <a:t>) edit distance between A and B.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</a:t>
            </a:fld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Allison-Dix(1/3)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28736"/>
            <a:ext cx="9144000" cy="5429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Allison-Dix(2/3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2214554"/>
            <a:ext cx="7572396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Allison-Dix(3/3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14488"/>
            <a:ext cx="9144000" cy="5143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858000"/>
          </a:xfrm>
        </p:spPr>
        <p:txBody>
          <a:bodyPr/>
          <a:lstStyle/>
          <a:p>
            <a:r>
              <a:rPr lang="en-US" altLang="zh-TW" dirty="0" smtClean="0"/>
              <a:t>V</a:t>
            </a:r>
            <a:r>
              <a:rPr lang="en-US" altLang="zh-TW" baseline="-25000" dirty="0" smtClean="0"/>
              <a:t>row10</a:t>
            </a:r>
            <a:r>
              <a:rPr lang="en-US" altLang="zh-TW" dirty="0" smtClean="0"/>
              <a:t>                         = 1000000100011111</a:t>
            </a:r>
          </a:p>
          <a:p>
            <a:r>
              <a:rPr lang="en-US" altLang="zh-TW" dirty="0" smtClean="0"/>
              <a:t>PM</a:t>
            </a:r>
            <a:r>
              <a:rPr lang="en-US" altLang="zh-TW" baseline="-25000" dirty="0" smtClean="0"/>
              <a:t>T  </a:t>
            </a:r>
            <a:r>
              <a:rPr lang="en-US" altLang="zh-TW" dirty="0" smtClean="0"/>
              <a:t>                          = 0101100010001100</a:t>
            </a:r>
          </a:p>
          <a:p>
            <a:pPr marL="514350" indent="-514350">
              <a:buAutoNum type="arabicPeriod"/>
            </a:pPr>
            <a:r>
              <a:rPr lang="en-US" altLang="zh-TW" dirty="0" smtClean="0"/>
              <a:t>U = V | PM</a:t>
            </a:r>
            <a:r>
              <a:rPr lang="en-US" altLang="zh-TW" baseline="-25000" dirty="0" smtClean="0"/>
              <a:t>T                  </a:t>
            </a:r>
            <a:r>
              <a:rPr lang="en-US" altLang="zh-TW" dirty="0" smtClean="0"/>
              <a:t>= 1101100110011111</a:t>
            </a:r>
          </a:p>
          <a:p>
            <a:pPr marL="514350" indent="-514350">
              <a:buAutoNum type="arabicPeriod"/>
            </a:pPr>
            <a:r>
              <a:rPr lang="en-US" altLang="zh-TW" dirty="0" smtClean="0"/>
              <a:t>(V</a:t>
            </a:r>
            <a:r>
              <a:rPr lang="en-US" altLang="zh-TW" baseline="-25000" dirty="0" smtClean="0"/>
              <a:t>row10</a:t>
            </a:r>
            <a:r>
              <a:rPr lang="en-US" altLang="zh-TW" dirty="0" smtClean="0"/>
              <a:t>&lt;&lt;1) | 0</a:t>
            </a:r>
            <a:r>
              <a:rPr lang="en-US" altLang="zh-TW" baseline="30000" dirty="0" smtClean="0"/>
              <a:t>m-1</a:t>
            </a:r>
            <a:r>
              <a:rPr lang="en-US" altLang="zh-TW" dirty="0" smtClean="0"/>
              <a:t>1 = 0000001000111111</a:t>
            </a:r>
          </a:p>
          <a:p>
            <a:pPr marL="514350" indent="-514350">
              <a:buAutoNum type="arabicPeriod"/>
            </a:pPr>
            <a:r>
              <a:rPr lang="en-US" altLang="zh-TW" dirty="0" smtClean="0"/>
              <a:t>U - step2                  = 1101011101100000</a:t>
            </a:r>
          </a:p>
          <a:p>
            <a:pPr marL="514350" indent="-514350">
              <a:buAutoNum type="arabicPeriod"/>
            </a:pPr>
            <a:r>
              <a:rPr lang="en-US" altLang="zh-TW" dirty="0" smtClean="0"/>
              <a:t>step3 ^ U                 = 0000100010011111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altLang="zh-TW" dirty="0" smtClean="0"/>
              <a:t>U </a:t>
            </a:r>
            <a:r>
              <a:rPr lang="el-GR" dirty="0" smtClean="0"/>
              <a:t>Λ</a:t>
            </a:r>
            <a:r>
              <a:rPr lang="en-US" dirty="0" smtClean="0"/>
              <a:t> step4                 = 0000100010011111</a:t>
            </a:r>
          </a:p>
          <a:p>
            <a:pPr marL="514350" indent="-514350">
              <a:buFont typeface="Arial" pitchFamily="34" charset="0"/>
              <a:buAutoNum type="arabicPeriod"/>
            </a:pPr>
            <a:endParaRPr lang="en-US" dirty="0" smtClean="0"/>
          </a:p>
          <a:p>
            <a:pPr marL="514350" indent="-514350">
              <a:buNone/>
            </a:pPr>
            <a:r>
              <a:rPr lang="en-US" altLang="zh-TW" dirty="0" smtClean="0"/>
              <a:t>V</a:t>
            </a:r>
            <a:r>
              <a:rPr lang="en-US" altLang="zh-TW" baseline="-25000" dirty="0" smtClean="0"/>
              <a:t>row11</a:t>
            </a:r>
            <a:r>
              <a:rPr lang="en-US" altLang="zh-TW" dirty="0" smtClean="0"/>
              <a:t>                              = </a:t>
            </a:r>
            <a:r>
              <a:rPr lang="en-US" dirty="0" smtClean="0"/>
              <a:t>0000100010011111</a:t>
            </a:r>
            <a:endParaRPr lang="en-US" altLang="zh-TW" dirty="0" smtClean="0"/>
          </a:p>
          <a:p>
            <a:pPr marL="514350" indent="-514350">
              <a:buFont typeface="Arial" pitchFamily="34" charset="0"/>
              <a:buAutoNum type="arabicPeriod"/>
            </a:pPr>
            <a:endParaRPr lang="el-GR" dirty="0" smtClean="0"/>
          </a:p>
          <a:p>
            <a:pPr marL="514350" indent="-514350">
              <a:buAutoNum type="arabicPeriod"/>
            </a:pPr>
            <a:endParaRPr lang="en-US" altLang="zh-TW" dirty="0" smtClean="0"/>
          </a:p>
          <a:p>
            <a:pPr marL="514350" indent="-514350">
              <a:buAutoNum type="arabicPeriod"/>
            </a:pPr>
            <a:endParaRPr lang="en-US" altLang="zh-TW" dirty="0" smtClean="0"/>
          </a:p>
          <a:p>
            <a:pPr marL="514350" indent="-514350">
              <a:buAutoNum type="arabicPeriod"/>
            </a:pPr>
            <a:endParaRPr lang="en-US" altLang="zh-TW" dirty="0" smtClean="0"/>
          </a:p>
          <a:p>
            <a:pPr marL="514350" indent="-514350">
              <a:buAutoNum type="arabicPeriod"/>
            </a:pPr>
            <a:endParaRPr lang="en-US" altLang="zh-TW" dirty="0" smtClean="0"/>
          </a:p>
          <a:p>
            <a:pPr marL="514350" indent="-514350">
              <a:buNone/>
            </a:pPr>
            <a:endParaRPr lang="zh-TW" altLang="en-US" baseline="-25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5615010"/>
            <a:ext cx="7439025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Crochemore</a:t>
            </a:r>
            <a:r>
              <a:rPr lang="en-US" altLang="zh-TW" dirty="0" smtClean="0"/>
              <a:t> et al.</a:t>
            </a:r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109788"/>
            <a:ext cx="8429684" cy="263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126163"/>
          </a:xfrm>
        </p:spPr>
        <p:txBody>
          <a:bodyPr/>
          <a:lstStyle/>
          <a:p>
            <a:r>
              <a:rPr lang="en-US" altLang="zh-TW" dirty="0" smtClean="0"/>
              <a:t>V’ = ~V</a:t>
            </a:r>
            <a:r>
              <a:rPr lang="en-US" altLang="zh-TW" baseline="-25000" dirty="0" smtClean="0"/>
              <a:t>row10</a:t>
            </a:r>
            <a:r>
              <a:rPr lang="en-US" altLang="zh-TW" dirty="0" smtClean="0"/>
              <a:t>      = 0111111011100000</a:t>
            </a:r>
          </a:p>
          <a:p>
            <a:r>
              <a:rPr lang="en-US" altLang="zh-TW" dirty="0" smtClean="0"/>
              <a:t>PM</a:t>
            </a:r>
            <a:r>
              <a:rPr lang="en-US" altLang="zh-TW" baseline="-25000" dirty="0" smtClean="0"/>
              <a:t>T  </a:t>
            </a:r>
            <a:r>
              <a:rPr lang="en-US" altLang="zh-TW" dirty="0" smtClean="0"/>
              <a:t>                 = 0101100010001100</a:t>
            </a:r>
          </a:p>
          <a:p>
            <a:pPr marL="514350" indent="-514350">
              <a:buAutoNum type="arabicPeriod"/>
            </a:pPr>
            <a:r>
              <a:rPr lang="en-US" altLang="zh-TW" dirty="0" smtClean="0"/>
              <a:t>V’&amp;PM</a:t>
            </a:r>
            <a:r>
              <a:rPr lang="en-US" altLang="zh-TW" baseline="-25000" dirty="0" smtClean="0"/>
              <a:t>T</a:t>
            </a:r>
            <a:r>
              <a:rPr lang="en-US" altLang="zh-TW" dirty="0" smtClean="0"/>
              <a:t>          = 0101100010000000</a:t>
            </a:r>
          </a:p>
          <a:p>
            <a:pPr marL="514350" indent="-514350">
              <a:buAutoNum type="arabicPeriod"/>
            </a:pPr>
            <a:r>
              <a:rPr lang="en-US" altLang="zh-TW" dirty="0" smtClean="0"/>
              <a:t>V’ + step1      = 1101011101100000</a:t>
            </a:r>
          </a:p>
          <a:p>
            <a:pPr marL="514350" indent="-514350">
              <a:buAutoNum type="arabicPeriod"/>
            </a:pPr>
            <a:r>
              <a:rPr lang="en-US" altLang="zh-TW" dirty="0" smtClean="0"/>
              <a:t>V’ &amp; (~ PM</a:t>
            </a:r>
            <a:r>
              <a:rPr lang="en-US" altLang="zh-TW" baseline="-25000" dirty="0" smtClean="0"/>
              <a:t>T</a:t>
            </a:r>
            <a:r>
              <a:rPr lang="en-US" altLang="zh-TW" dirty="0" smtClean="0"/>
              <a:t>)  = 0010011001100000</a:t>
            </a:r>
          </a:p>
          <a:p>
            <a:pPr marL="514350" indent="-514350">
              <a:buAutoNum type="arabicPeriod"/>
            </a:pPr>
            <a:r>
              <a:rPr lang="en-US" altLang="zh-TW" dirty="0" smtClean="0"/>
              <a:t>step2 | step3 = 1111011101100000</a:t>
            </a:r>
          </a:p>
          <a:p>
            <a:pPr marL="514350" indent="-514350">
              <a:buAutoNum type="arabicPeriod"/>
            </a:pPr>
            <a:endParaRPr lang="en-US" altLang="zh-TW" dirty="0" smtClean="0"/>
          </a:p>
          <a:p>
            <a:pPr marL="514350" indent="-514350">
              <a:buNone/>
            </a:pPr>
            <a:r>
              <a:rPr lang="en-US" altLang="zh-TW" dirty="0" smtClean="0"/>
              <a:t>V</a:t>
            </a:r>
            <a:r>
              <a:rPr lang="en-US" altLang="zh-TW" baseline="-25000" dirty="0" smtClean="0"/>
              <a:t>row11</a:t>
            </a:r>
            <a:r>
              <a:rPr lang="en-US" altLang="zh-TW" dirty="0" smtClean="0"/>
              <a:t> = (~step4) = </a:t>
            </a:r>
            <a:r>
              <a:rPr lang="en-US" dirty="0" smtClean="0"/>
              <a:t>0000100010011111</a:t>
            </a:r>
            <a:endParaRPr lang="en-US" altLang="zh-TW" dirty="0" smtClean="0"/>
          </a:p>
          <a:p>
            <a:pPr marL="514350" indent="-514350">
              <a:buAutoNum type="arabicPeriod"/>
            </a:pPr>
            <a:endParaRPr lang="en-US" altLang="zh-TW" dirty="0" smtClean="0"/>
          </a:p>
          <a:p>
            <a:pPr marL="514350" indent="-514350">
              <a:buAutoNum type="arabicPeriod"/>
            </a:pPr>
            <a:endParaRPr lang="zh-TW" altLang="en-US" dirty="0"/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5738832"/>
            <a:ext cx="70580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Our Improved Formula</a:t>
            </a:r>
            <a:endParaRPr lang="zh-TW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29124" y="1357298"/>
            <a:ext cx="4429156" cy="33575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1357298"/>
            <a:ext cx="3929090" cy="3390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00100" y="5286388"/>
            <a:ext cx="699135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直線接點 7"/>
          <p:cNvCxnSpPr/>
          <p:nvPr/>
        </p:nvCxnSpPr>
        <p:spPr>
          <a:xfrm>
            <a:off x="3000364" y="4214818"/>
            <a:ext cx="1143008" cy="158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5429256" y="3786190"/>
            <a:ext cx="1500198" cy="158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6858016" y="4286256"/>
            <a:ext cx="785818" cy="158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126163"/>
          </a:xfrm>
        </p:spPr>
        <p:txBody>
          <a:bodyPr/>
          <a:lstStyle/>
          <a:p>
            <a:r>
              <a:rPr lang="en-US" altLang="zh-TW" dirty="0" smtClean="0"/>
              <a:t>V’ = ~V</a:t>
            </a:r>
            <a:r>
              <a:rPr lang="en-US" altLang="zh-TW" baseline="-25000" dirty="0" smtClean="0"/>
              <a:t>row10</a:t>
            </a:r>
            <a:r>
              <a:rPr lang="en-US" altLang="zh-TW" dirty="0" smtClean="0"/>
              <a:t>      = 0111111011100000</a:t>
            </a:r>
          </a:p>
          <a:p>
            <a:r>
              <a:rPr lang="en-US" altLang="zh-TW" dirty="0" smtClean="0"/>
              <a:t>PM</a:t>
            </a:r>
            <a:r>
              <a:rPr lang="en-US" altLang="zh-TW" baseline="-25000" dirty="0" smtClean="0"/>
              <a:t>T  </a:t>
            </a:r>
            <a:r>
              <a:rPr lang="en-US" altLang="zh-TW" dirty="0" smtClean="0"/>
              <a:t>                 = 0101100010001100</a:t>
            </a:r>
          </a:p>
          <a:p>
            <a:pPr marL="514350" indent="-514350">
              <a:buAutoNum type="arabicPeriod"/>
            </a:pPr>
            <a:r>
              <a:rPr lang="en-US" altLang="zh-TW" dirty="0" smtClean="0"/>
              <a:t>U = V’ &amp; PM</a:t>
            </a:r>
            <a:r>
              <a:rPr lang="en-US" altLang="zh-TW" baseline="-25000" dirty="0" smtClean="0"/>
              <a:t>T </a:t>
            </a:r>
            <a:r>
              <a:rPr lang="en-US" altLang="zh-TW" dirty="0" smtClean="0"/>
              <a:t>= 0101100010000000</a:t>
            </a:r>
          </a:p>
          <a:p>
            <a:pPr marL="514350" indent="-514350">
              <a:buAutoNum type="arabicPeriod"/>
            </a:pPr>
            <a:r>
              <a:rPr lang="en-US" altLang="zh-TW" dirty="0" smtClean="0"/>
              <a:t>V’ + U             = 1101011101100000</a:t>
            </a:r>
          </a:p>
          <a:p>
            <a:pPr marL="514350" indent="-514350">
              <a:buAutoNum type="arabicPeriod"/>
            </a:pPr>
            <a:r>
              <a:rPr lang="en-US" altLang="zh-TW" dirty="0" smtClean="0"/>
              <a:t>V’ – U             = 0010011001100000</a:t>
            </a:r>
          </a:p>
          <a:p>
            <a:pPr marL="514350" indent="-514350">
              <a:buAutoNum type="arabicPeriod"/>
            </a:pPr>
            <a:r>
              <a:rPr lang="en-US" altLang="zh-TW" dirty="0" smtClean="0"/>
              <a:t>step2 | step3 = 1111011101100000</a:t>
            </a:r>
          </a:p>
          <a:p>
            <a:pPr marL="514350" indent="-514350">
              <a:buAutoNum type="arabicPeriod"/>
            </a:pPr>
            <a:endParaRPr lang="en-US" altLang="zh-TW" dirty="0" smtClean="0"/>
          </a:p>
          <a:p>
            <a:pPr marL="514350" indent="-514350">
              <a:buNone/>
            </a:pPr>
            <a:r>
              <a:rPr lang="en-US" altLang="zh-TW" dirty="0" smtClean="0"/>
              <a:t>V</a:t>
            </a:r>
            <a:r>
              <a:rPr lang="en-US" altLang="zh-TW" baseline="-25000" dirty="0" smtClean="0"/>
              <a:t>row11</a:t>
            </a:r>
            <a:r>
              <a:rPr lang="en-US" altLang="zh-TW" dirty="0" smtClean="0"/>
              <a:t> = (~step4) = </a:t>
            </a:r>
            <a:r>
              <a:rPr lang="en-US" dirty="0" smtClean="0"/>
              <a:t>0000100010011111</a:t>
            </a:r>
            <a:endParaRPr lang="en-US" altLang="zh-TW" dirty="0" smtClean="0"/>
          </a:p>
          <a:p>
            <a:pPr marL="514350" indent="-514350">
              <a:buAutoNum type="arabicPeriod"/>
            </a:pPr>
            <a:endParaRPr lang="en-US" altLang="zh-TW" dirty="0" smtClean="0"/>
          </a:p>
          <a:p>
            <a:pPr marL="514350" indent="-514350">
              <a:buAutoNum type="arabicPeriod"/>
            </a:pPr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5357826"/>
            <a:ext cx="5038725" cy="108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Performance(1/2)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O(</a:t>
            </a:r>
            <a:r>
              <a:rPr lang="zh-TW" altLang="en-US" dirty="0" smtClean="0"/>
              <a:t>⌈</a:t>
            </a:r>
            <a:r>
              <a:rPr lang="en-US" altLang="zh-TW" dirty="0" smtClean="0"/>
              <a:t>m/w</a:t>
            </a:r>
            <a:r>
              <a:rPr lang="zh-TW" altLang="en-US" dirty="0" smtClean="0"/>
              <a:t>⌉</a:t>
            </a:r>
            <a:r>
              <a:rPr lang="en-US" altLang="zh-TW" dirty="0" smtClean="0"/>
              <a:t>n)</a:t>
            </a:r>
          </a:p>
          <a:p>
            <a:r>
              <a:rPr lang="en-US" altLang="zh-TW" dirty="0" smtClean="0"/>
              <a:t>AD was the slowest, CIPR was roughly 5% faster, and our variant was 15% faster than CIPR.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Performance(2/2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500174"/>
            <a:ext cx="6715173" cy="4748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2"/>
          <p:cNvSpPr txBox="1">
            <a:spLocks/>
          </p:cNvSpPr>
          <p:nvPr/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algn="ctr"/>
            <a:r>
              <a:rPr lang="en-US" altLang="zh-TW" sz="3200" i="1" dirty="0" err="1" smtClean="0"/>
              <a:t>Shufen</a:t>
            </a:r>
            <a:r>
              <a:rPr lang="en-US" altLang="zh-TW" sz="3200" i="1" dirty="0" smtClean="0"/>
              <a:t> </a:t>
            </a:r>
            <a:r>
              <a:rPr lang="en-US" altLang="zh-TW" sz="3200" i="1" dirty="0" err="1" smtClean="0"/>
              <a:t>Kuo</a:t>
            </a:r>
            <a:r>
              <a:rPr lang="en-US" altLang="zh-TW" sz="3200" i="1" dirty="0" smtClean="0"/>
              <a:t> ,George R. Cross</a:t>
            </a:r>
          </a:p>
          <a:p>
            <a:pPr algn="ctr"/>
            <a:r>
              <a:rPr lang="en-US" sz="3200" dirty="0" smtClean="0"/>
              <a:t> Newsletter ACM SIGIR Forum Homepage archive Volume 23 Issue 3-4, Spring 1989 </a:t>
            </a:r>
            <a:br>
              <a:rPr lang="en-US" sz="3200" dirty="0" smtClean="0"/>
            </a:br>
            <a:r>
              <a:rPr lang="en-US" sz="3200" dirty="0" smtClean="0"/>
              <a:t>Pages 89-99 </a:t>
            </a:r>
            <a:endParaRPr kumimoji="0" lang="zh-TW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algn="ctr"/>
            <a:r>
              <a:rPr lang="en-US" sz="4400" dirty="0" smtClean="0"/>
              <a:t>An improved algorithm to find the length of the longest common subsequence of two strings</a:t>
            </a:r>
            <a:endParaRPr lang="en-US" sz="440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altLang="zh-TW" dirty="0" smtClean="0"/>
              <a:t>     Let A and B be strings of common length n. Define LLCS(A, B) to be the length of the longest common subsequence of A and B. Hunt and Szymanski presented an algorithm for finding LLCS(A, B) with time complexity O((r + n)</a:t>
            </a:r>
            <a:r>
              <a:rPr lang="en-US" altLang="zh-TW" dirty="0" err="1" smtClean="0"/>
              <a:t>logn</a:t>
            </a:r>
            <a:r>
              <a:rPr lang="en-US" altLang="zh-TW" dirty="0" smtClean="0"/>
              <a:t>), where r is the number of elements in the set {(</a:t>
            </a:r>
            <a:r>
              <a:rPr lang="en-US" altLang="zh-TW" dirty="0" err="1" smtClean="0"/>
              <a:t>i,j</a:t>
            </a:r>
            <a:r>
              <a:rPr lang="en-US" altLang="zh-TW" dirty="0" smtClean="0"/>
              <a:t>)</a:t>
            </a:r>
            <a:r>
              <a:rPr lang="en-US" altLang="zh-TW" dirty="0" err="1" smtClean="0"/>
              <a:t>lA</a:t>
            </a:r>
            <a:r>
              <a:rPr lang="en-US" altLang="zh-TW" dirty="0" smtClean="0"/>
              <a:t>[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 ] = B[j]}. In the worst case the algorithm has running time of O(n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1ogn).</a:t>
            </a:r>
          </a:p>
          <a:p>
            <a:pPr>
              <a:buNone/>
            </a:pPr>
            <a:r>
              <a:rPr lang="en-US" altLang="zh-TW" dirty="0" smtClean="0"/>
              <a:t>    We present an improvement to this algorithm which changes the time complexity to O(r + n(LLCS(A, B) + </a:t>
            </a:r>
            <a:r>
              <a:rPr lang="en-US" altLang="zh-TW" dirty="0" err="1" smtClean="0"/>
              <a:t>logn</a:t>
            </a:r>
            <a:r>
              <a:rPr lang="en-US" altLang="zh-TW" dirty="0" smtClean="0"/>
              <a:t>)). Some experimental results show dramatic improvements for large n.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The Original Hunt-Szymanski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29196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A = </a:t>
            </a:r>
            <a:r>
              <a:rPr lang="en-US" altLang="zh-TW" dirty="0" err="1" smtClean="0"/>
              <a:t>abcbdda</a:t>
            </a:r>
            <a:r>
              <a:rPr lang="en-US" altLang="zh-TW" dirty="0" smtClean="0"/>
              <a:t>, B = </a:t>
            </a:r>
            <a:r>
              <a:rPr lang="en-US" altLang="zh-TW" dirty="0" err="1" smtClean="0"/>
              <a:t>badbabd</a:t>
            </a:r>
            <a:endParaRPr lang="en-US" altLang="zh-TW" dirty="0" smtClean="0"/>
          </a:p>
          <a:p>
            <a:r>
              <a:rPr lang="en-US" altLang="zh-TW" dirty="0" err="1" smtClean="0"/>
              <a:t>T</a:t>
            </a:r>
            <a:r>
              <a:rPr lang="en-US" altLang="zh-TW" baseline="-25000" dirty="0" err="1" smtClean="0"/>
              <a:t>i,k</a:t>
            </a:r>
            <a:r>
              <a:rPr lang="en-US" altLang="zh-TW" dirty="0" smtClean="0"/>
              <a:t> = min{ j | A[1:i] and B[1:j] contain a CS of length k}</a:t>
            </a:r>
          </a:p>
          <a:p>
            <a:pPr>
              <a:buNone/>
            </a:pPr>
            <a:r>
              <a:rPr lang="en-US" altLang="zh-TW" dirty="0" smtClean="0"/>
              <a:t>    T</a:t>
            </a:r>
            <a:r>
              <a:rPr lang="en-US" altLang="zh-TW" baseline="-25000" dirty="0" smtClean="0"/>
              <a:t>5,1</a:t>
            </a:r>
            <a:r>
              <a:rPr lang="en-US" altLang="zh-TW" dirty="0" smtClean="0"/>
              <a:t> = </a:t>
            </a:r>
            <a:r>
              <a:rPr lang="en-US" altLang="zh-TW" dirty="0" smtClean="0"/>
              <a:t>1        L</a:t>
            </a:r>
            <a:r>
              <a:rPr lang="en-US" altLang="zh-TW" dirty="0" smtClean="0"/>
              <a:t>LCS(“</a:t>
            </a:r>
            <a:r>
              <a:rPr lang="en-US" altLang="zh-TW" dirty="0" err="1" smtClean="0"/>
              <a:t>abc</a:t>
            </a:r>
            <a:r>
              <a:rPr lang="en-US" altLang="zh-TW" dirty="0" err="1" smtClean="0">
                <a:solidFill>
                  <a:srgbClr val="FF0000"/>
                </a:solidFill>
              </a:rPr>
              <a:t>b</a:t>
            </a:r>
            <a:r>
              <a:rPr lang="en-US" altLang="zh-TW" dirty="0" err="1" smtClean="0"/>
              <a:t>d”,”</a:t>
            </a:r>
            <a:r>
              <a:rPr lang="en-US" altLang="zh-TW" dirty="0" err="1" smtClean="0">
                <a:solidFill>
                  <a:srgbClr val="FF0000"/>
                </a:solidFill>
              </a:rPr>
              <a:t>b</a:t>
            </a:r>
            <a:r>
              <a:rPr lang="en-US" altLang="zh-TW" dirty="0" smtClean="0"/>
              <a:t>”) = 1</a:t>
            </a:r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    T</a:t>
            </a:r>
            <a:r>
              <a:rPr lang="en-US" altLang="zh-TW" baseline="-25000" dirty="0" smtClean="0"/>
              <a:t>5,2</a:t>
            </a:r>
            <a:r>
              <a:rPr lang="en-US" altLang="zh-TW" dirty="0" smtClean="0"/>
              <a:t> </a:t>
            </a:r>
            <a:r>
              <a:rPr lang="en-US" altLang="zh-TW" dirty="0" smtClean="0"/>
              <a:t>= </a:t>
            </a:r>
            <a:r>
              <a:rPr lang="en-US" altLang="zh-TW" dirty="0" smtClean="0"/>
              <a:t>3 </a:t>
            </a:r>
            <a:r>
              <a:rPr lang="en-US" altLang="zh-TW" dirty="0" smtClean="0"/>
              <a:t>       LLCS</a:t>
            </a:r>
            <a:r>
              <a:rPr lang="en-US" altLang="zh-TW" dirty="0" smtClean="0"/>
              <a:t>(“</a:t>
            </a:r>
            <a:r>
              <a:rPr lang="en-US" altLang="zh-TW" dirty="0" err="1" smtClean="0"/>
              <a:t>abc</a:t>
            </a:r>
            <a:r>
              <a:rPr lang="en-US" altLang="zh-TW" dirty="0" err="1" smtClean="0">
                <a:solidFill>
                  <a:srgbClr val="FF0000"/>
                </a:solidFill>
              </a:rPr>
              <a:t>bd</a:t>
            </a:r>
            <a:r>
              <a:rPr lang="en-US" altLang="zh-TW" dirty="0" err="1" smtClean="0"/>
              <a:t>”,”</a:t>
            </a:r>
            <a:r>
              <a:rPr lang="en-US" altLang="zh-TW" dirty="0" err="1" smtClean="0">
                <a:solidFill>
                  <a:srgbClr val="FF0000"/>
                </a:solidFill>
              </a:rPr>
              <a:t>b</a:t>
            </a:r>
            <a:r>
              <a:rPr lang="en-US" altLang="zh-TW" dirty="0" err="1" smtClean="0"/>
              <a:t>a</a:t>
            </a:r>
            <a:r>
              <a:rPr lang="en-US" altLang="zh-TW" dirty="0" err="1" smtClean="0">
                <a:solidFill>
                  <a:srgbClr val="FF0000"/>
                </a:solidFill>
              </a:rPr>
              <a:t>d</a:t>
            </a:r>
            <a:r>
              <a:rPr lang="en-US" altLang="zh-TW" dirty="0" smtClean="0"/>
              <a:t>”) </a:t>
            </a:r>
            <a:r>
              <a:rPr lang="en-US" altLang="zh-TW" dirty="0" smtClean="0"/>
              <a:t>= </a:t>
            </a:r>
            <a:r>
              <a:rPr lang="en-US" altLang="zh-TW" dirty="0" smtClean="0"/>
              <a:t>2</a:t>
            </a:r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 </a:t>
            </a:r>
            <a:r>
              <a:rPr lang="en-US" altLang="zh-TW" dirty="0" smtClean="0"/>
              <a:t>  </a:t>
            </a:r>
            <a:r>
              <a:rPr lang="en-US" altLang="zh-TW" dirty="0" smtClean="0"/>
              <a:t> </a:t>
            </a:r>
            <a:r>
              <a:rPr lang="en-US" altLang="zh-TW" dirty="0" smtClean="0"/>
              <a:t>T</a:t>
            </a:r>
            <a:r>
              <a:rPr lang="en-US" altLang="zh-TW" baseline="-25000" dirty="0" smtClean="0"/>
              <a:t>5,5</a:t>
            </a:r>
            <a:r>
              <a:rPr lang="en-US" altLang="zh-TW" dirty="0" smtClean="0"/>
              <a:t> = undefined.</a:t>
            </a:r>
          </a:p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  LLCS(A,B) = max{ k | </a:t>
            </a:r>
            <a:r>
              <a:rPr lang="en-US" altLang="zh-TW" dirty="0" err="1" smtClean="0"/>
              <a:t>T</a:t>
            </a:r>
            <a:r>
              <a:rPr lang="en-US" altLang="zh-TW" baseline="-25000" dirty="0" err="1" smtClean="0"/>
              <a:t>n,k</a:t>
            </a:r>
            <a:r>
              <a:rPr lang="en-US" altLang="zh-TW" dirty="0" smtClean="0"/>
              <a:t> is defined }.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4572000" y="1857364"/>
          <a:ext cx="4257680" cy="37576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2210"/>
                <a:gridCol w="532210"/>
                <a:gridCol w="532210"/>
                <a:gridCol w="532210"/>
                <a:gridCol w="532210"/>
                <a:gridCol w="532210"/>
                <a:gridCol w="532210"/>
                <a:gridCol w="532210"/>
              </a:tblGrid>
              <a:tr h="469703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</a:tr>
              <a:tr h="4697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*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*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</a:tr>
              <a:tr h="4697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*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*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*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</a:tr>
              <a:tr h="4697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</a:tr>
              <a:tr h="4697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*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*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*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</a:tr>
              <a:tr h="4697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*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*</a:t>
                      </a:r>
                      <a:endParaRPr lang="zh-TW" altLang="en-US" sz="2400" dirty="0"/>
                    </a:p>
                  </a:txBody>
                  <a:tcPr/>
                </a:tc>
              </a:tr>
              <a:tr h="4697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*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*</a:t>
                      </a:r>
                      <a:endParaRPr lang="zh-TW" altLang="en-US" sz="2400" dirty="0"/>
                    </a:p>
                  </a:txBody>
                  <a:tcPr/>
                </a:tc>
              </a:tr>
              <a:tr h="4697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*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*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285720" y="2428868"/>
            <a:ext cx="426328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[1] = &lt; 5, 2 &gt;</a:t>
            </a:r>
          </a:p>
          <a:p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[2] = &lt; 6, 4, 1 &gt;</a:t>
            </a:r>
          </a:p>
          <a:p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[3] = &lt;  &gt;</a:t>
            </a:r>
          </a:p>
          <a:p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[4] = </a:t>
            </a:r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[2] </a:t>
            </a:r>
            <a:endParaRPr lang="zh-TW" altLang="en-US" sz="2800" dirty="0" smtClean="0"/>
          </a:p>
          <a:p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[5] = &lt; 7, 3 &gt;</a:t>
            </a:r>
            <a:endParaRPr lang="zh-TW" altLang="en-US" sz="2800" dirty="0" smtClean="0"/>
          </a:p>
          <a:p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[6] = </a:t>
            </a:r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[5] </a:t>
            </a:r>
            <a:endParaRPr lang="zh-TW" altLang="en-US" sz="2800" dirty="0" smtClean="0"/>
          </a:p>
          <a:p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[7] = </a:t>
            </a:r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[1] </a:t>
            </a:r>
            <a:endParaRPr lang="zh-TW" altLang="en-US" sz="2800" dirty="0" smtClean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786050" y="428604"/>
          <a:ext cx="6096000" cy="103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6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endParaRPr lang="zh-TW" altLang="en-US" sz="2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2857488" y="1571612"/>
            <a:ext cx="628651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smtClean="0"/>
              <a:t>T</a:t>
            </a:r>
            <a:r>
              <a:rPr lang="en-US" altLang="zh-TW" sz="2800" baseline="-25000" dirty="0" smtClean="0"/>
              <a:t>0,0    </a:t>
            </a:r>
            <a:r>
              <a:rPr lang="en-US" altLang="zh-TW" sz="2800" dirty="0" smtClean="0"/>
              <a:t>T</a:t>
            </a:r>
            <a:r>
              <a:rPr lang="en-US" altLang="zh-TW" sz="2800" baseline="-25000" dirty="0" smtClean="0"/>
              <a:t>0,1      </a:t>
            </a:r>
            <a:r>
              <a:rPr lang="en-US" altLang="zh-TW" sz="2800" dirty="0" smtClean="0"/>
              <a:t>T</a:t>
            </a:r>
            <a:r>
              <a:rPr lang="en-US" altLang="zh-TW" sz="2800" baseline="-25000" dirty="0" smtClean="0"/>
              <a:t>0,2</a:t>
            </a:r>
            <a:r>
              <a:rPr lang="en-US" altLang="zh-TW" sz="2800" dirty="0" smtClean="0"/>
              <a:t>     T</a:t>
            </a:r>
            <a:r>
              <a:rPr lang="en-US" altLang="zh-TW" sz="2800" baseline="-25000" dirty="0" smtClean="0"/>
              <a:t>0,3</a:t>
            </a:r>
            <a:r>
              <a:rPr lang="en-US" altLang="zh-TW" sz="2800" dirty="0" smtClean="0"/>
              <a:t>    T</a:t>
            </a:r>
            <a:r>
              <a:rPr lang="en-US" altLang="zh-TW" sz="2800" baseline="-25000" dirty="0" smtClean="0"/>
              <a:t>0,4</a:t>
            </a:r>
            <a:r>
              <a:rPr lang="en-US" altLang="zh-TW" sz="2800" dirty="0" smtClean="0"/>
              <a:t>    T</a:t>
            </a:r>
            <a:r>
              <a:rPr lang="en-US" altLang="zh-TW" sz="2800" baseline="-25000" dirty="0" smtClean="0"/>
              <a:t>0,5</a:t>
            </a:r>
            <a:r>
              <a:rPr lang="en-US" altLang="zh-TW" sz="2800" dirty="0" smtClean="0"/>
              <a:t>   T</a:t>
            </a:r>
            <a:r>
              <a:rPr lang="en-US" altLang="zh-TW" sz="2800" baseline="-25000" dirty="0" smtClean="0"/>
              <a:t>0,6</a:t>
            </a:r>
            <a:r>
              <a:rPr lang="en-US" altLang="zh-TW" sz="2800" dirty="0" smtClean="0"/>
              <a:t>    T</a:t>
            </a:r>
            <a:r>
              <a:rPr lang="en-US" altLang="zh-TW" sz="2800" baseline="-25000" dirty="0" smtClean="0"/>
              <a:t>0,7 </a:t>
            </a:r>
            <a:endParaRPr lang="zh-TW" altLang="en-US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24" y="2862263"/>
            <a:ext cx="7786714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文字方塊 8"/>
          <p:cNvSpPr txBox="1"/>
          <p:nvPr/>
        </p:nvSpPr>
        <p:spPr>
          <a:xfrm>
            <a:off x="4286248" y="4143380"/>
            <a:ext cx="221457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T</a:t>
            </a:r>
            <a:r>
              <a:rPr lang="en-US" altLang="zh-TW" sz="2800" baseline="-25000" dirty="0" smtClean="0"/>
              <a:t>1,K </a:t>
            </a:r>
            <a:r>
              <a:rPr lang="en-US" altLang="zh-TW" sz="2800" dirty="0" smtClean="0"/>
              <a:t>,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1</a:t>
            </a:r>
            <a:r>
              <a:rPr lang="zh-TW" altLang="en-US" sz="2800" dirty="0" smtClean="0"/>
              <a:t>≦</a:t>
            </a:r>
            <a:r>
              <a:rPr lang="en-US" altLang="zh-TW" sz="2800" dirty="0" smtClean="0"/>
              <a:t>k</a:t>
            </a:r>
            <a:r>
              <a:rPr lang="zh-TW" altLang="en-US" sz="2800" dirty="0" smtClean="0"/>
              <a:t>≦</a:t>
            </a:r>
            <a:r>
              <a:rPr lang="en-US" altLang="zh-TW" sz="2800" dirty="0" smtClean="0"/>
              <a:t>7</a:t>
            </a:r>
            <a:endParaRPr lang="en-US" altLang="zh-TW" sz="2800" dirty="0" smtClean="0"/>
          </a:p>
          <a:p>
            <a:r>
              <a:rPr lang="en-US" altLang="zh-TW" sz="2800" dirty="0" smtClean="0"/>
              <a:t>T</a:t>
            </a:r>
            <a:r>
              <a:rPr lang="en-US" altLang="zh-TW" sz="2800" baseline="-25000" dirty="0" smtClean="0"/>
              <a:t>2,K </a:t>
            </a:r>
            <a:r>
              <a:rPr lang="en-US" altLang="zh-TW" sz="2800" dirty="0" smtClean="0"/>
              <a:t>,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1</a:t>
            </a:r>
            <a:r>
              <a:rPr lang="zh-TW" altLang="en-US" sz="2800" dirty="0" smtClean="0"/>
              <a:t>≦</a:t>
            </a:r>
            <a:r>
              <a:rPr lang="en-US" altLang="zh-TW" sz="2800" dirty="0" smtClean="0"/>
              <a:t>k</a:t>
            </a:r>
            <a:r>
              <a:rPr lang="zh-TW" altLang="en-US" sz="2800" dirty="0" smtClean="0"/>
              <a:t>≦</a:t>
            </a:r>
            <a:r>
              <a:rPr lang="en-US" altLang="zh-TW" sz="2800" dirty="0" smtClean="0"/>
              <a:t>7</a:t>
            </a:r>
            <a:endParaRPr lang="zh-TW" altLang="en-US" sz="2800" dirty="0" smtClean="0"/>
          </a:p>
          <a:p>
            <a:r>
              <a:rPr lang="en-US" altLang="zh-TW" sz="2800" dirty="0" smtClean="0"/>
              <a:t>           …</a:t>
            </a:r>
          </a:p>
          <a:p>
            <a:r>
              <a:rPr lang="en-US" altLang="zh-TW" sz="2800" dirty="0" smtClean="0"/>
              <a:t>T</a:t>
            </a:r>
            <a:r>
              <a:rPr lang="en-US" altLang="zh-TW" sz="2800" baseline="-25000" dirty="0" smtClean="0"/>
              <a:t>7,K</a:t>
            </a:r>
            <a:r>
              <a:rPr lang="en-US" altLang="zh-TW" sz="2800" dirty="0" smtClean="0"/>
              <a:t> , 1</a:t>
            </a:r>
            <a:r>
              <a:rPr lang="zh-TW" altLang="en-US" sz="2800" dirty="0" smtClean="0"/>
              <a:t>≦</a:t>
            </a:r>
            <a:r>
              <a:rPr lang="en-US" altLang="zh-TW" sz="2800" dirty="0" smtClean="0"/>
              <a:t>k</a:t>
            </a:r>
            <a:r>
              <a:rPr lang="zh-TW" altLang="en-US" sz="2800" dirty="0" smtClean="0"/>
              <a:t>≦</a:t>
            </a:r>
            <a:r>
              <a:rPr lang="en-US" altLang="zh-TW" sz="2800" dirty="0" smtClean="0"/>
              <a:t>7</a:t>
            </a:r>
            <a:endParaRPr lang="en-US" altLang="zh-TW" sz="2800" dirty="0" smtClean="0"/>
          </a:p>
        </p:txBody>
      </p:sp>
      <p:sp>
        <p:nvSpPr>
          <p:cNvPr id="10" name="矩形 9"/>
          <p:cNvSpPr/>
          <p:nvPr/>
        </p:nvSpPr>
        <p:spPr>
          <a:xfrm>
            <a:off x="2714612" y="6000768"/>
            <a:ext cx="54292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smtClean="0"/>
              <a:t>LLCS(A,B) = max{ k | T</a:t>
            </a:r>
            <a:r>
              <a:rPr lang="en-US" altLang="zh-TW" sz="2800" baseline="-25000" dirty="0" smtClean="0"/>
              <a:t>7,k</a:t>
            </a:r>
            <a:r>
              <a:rPr lang="en-US" altLang="zh-TW" sz="2800" dirty="0" smtClean="0"/>
              <a:t> is defined }.</a:t>
            </a:r>
            <a:endParaRPr lang="zh-TW" altLang="en-US" sz="28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6786578" y="4714884"/>
            <a:ext cx="2117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|A| = |B| = 7</a:t>
            </a:r>
            <a:endParaRPr lang="zh-TW" altLang="en-US" sz="2800" dirty="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17</a:t>
            </a:fld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500034" y="642918"/>
            <a:ext cx="22102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Thresh[0:7]:</a:t>
            </a:r>
            <a:endParaRPr lang="zh-TW" altLang="en-US" sz="3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-32" y="2677911"/>
            <a:ext cx="426328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[1] = &lt; 5, 2 &gt;</a:t>
            </a:r>
          </a:p>
          <a:p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[2] = &lt; 6, 4, 1 &gt;</a:t>
            </a:r>
          </a:p>
          <a:p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[3] = &lt;  &gt;</a:t>
            </a:r>
          </a:p>
          <a:p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[4] = </a:t>
            </a:r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[2] </a:t>
            </a:r>
            <a:endParaRPr lang="zh-TW" altLang="en-US" sz="2800" dirty="0" smtClean="0"/>
          </a:p>
          <a:p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[5] = &lt; 7, 3 &gt;</a:t>
            </a:r>
            <a:endParaRPr lang="zh-TW" altLang="en-US" sz="2800" dirty="0" smtClean="0"/>
          </a:p>
          <a:p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[6] = </a:t>
            </a:r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[5] </a:t>
            </a:r>
            <a:endParaRPr lang="zh-TW" altLang="en-US" sz="2800" dirty="0" smtClean="0"/>
          </a:p>
          <a:p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[7] = </a:t>
            </a:r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[1] </a:t>
            </a:r>
            <a:endParaRPr lang="zh-TW" altLang="en-US" sz="2800" dirty="0" smtClean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786050" y="428604"/>
          <a:ext cx="6096000" cy="103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6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8-&gt;</a:t>
                      </a:r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endParaRPr lang="zh-TW" altLang="en-US" sz="2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橢圓 5"/>
          <p:cNvSpPr/>
          <p:nvPr/>
        </p:nvSpPr>
        <p:spPr>
          <a:xfrm>
            <a:off x="2428860" y="2714620"/>
            <a:ext cx="285752" cy="42862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單箭頭接點 12"/>
          <p:cNvCxnSpPr>
            <a:stCxn id="6" idx="7"/>
          </p:cNvCxnSpPr>
          <p:nvPr/>
        </p:nvCxnSpPr>
        <p:spPr>
          <a:xfrm rot="5400000" flipH="1" flipV="1">
            <a:off x="3198088" y="1260604"/>
            <a:ext cx="991465" cy="2042111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4214810" y="2285992"/>
            <a:ext cx="21384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binary search</a:t>
            </a:r>
            <a:endParaRPr lang="zh-TW" altLang="en-US" sz="2800" dirty="0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71934" y="4714884"/>
            <a:ext cx="4874886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18</a:t>
            </a:fld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500034" y="642918"/>
            <a:ext cx="22102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Thresh[0:7]:</a:t>
            </a:r>
            <a:endParaRPr lang="zh-TW" altLang="en-US" sz="3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4643438" y="3286124"/>
            <a:ext cx="247696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T</a:t>
            </a:r>
            <a:r>
              <a:rPr lang="en-US" altLang="zh-TW" sz="3200" baseline="-25000" dirty="0" smtClean="0"/>
              <a:t>0,0</a:t>
            </a:r>
            <a:r>
              <a:rPr lang="en-US" altLang="zh-TW" sz="3200" dirty="0" smtClean="0"/>
              <a:t> &lt; 5 </a:t>
            </a:r>
            <a:r>
              <a:rPr lang="zh-TW" altLang="en-US" sz="3200" dirty="0" smtClean="0"/>
              <a:t>≦ </a:t>
            </a:r>
            <a:r>
              <a:rPr lang="en-US" altLang="zh-TW" sz="3200" dirty="0" smtClean="0"/>
              <a:t>T</a:t>
            </a:r>
            <a:r>
              <a:rPr lang="en-US" altLang="zh-TW" sz="3200" baseline="-25000" dirty="0" smtClean="0"/>
              <a:t>0,1</a:t>
            </a:r>
          </a:p>
          <a:p>
            <a:r>
              <a:rPr lang="en-US" altLang="zh-TW" sz="3200" dirty="0" smtClean="0"/>
              <a:t>T</a:t>
            </a:r>
            <a:r>
              <a:rPr lang="en-US" altLang="zh-TW" sz="3200" baseline="-25000" dirty="0" smtClean="0"/>
              <a:t>1</a:t>
            </a:r>
            <a:r>
              <a:rPr lang="en-US" altLang="zh-TW" sz="3200" baseline="-25000" dirty="0" smtClean="0"/>
              <a:t>,1 </a:t>
            </a:r>
            <a:r>
              <a:rPr lang="en-US" altLang="zh-TW" sz="3200" dirty="0" smtClean="0"/>
              <a:t>= 5</a:t>
            </a:r>
            <a:endParaRPr lang="zh-TW" altLang="en-US"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786050" y="428604"/>
          <a:ext cx="6096000" cy="103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6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5-&gt;</a:t>
                      </a:r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endParaRPr lang="zh-TW" altLang="en-US" sz="2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橢圓 4"/>
          <p:cNvSpPr/>
          <p:nvPr/>
        </p:nvSpPr>
        <p:spPr>
          <a:xfrm>
            <a:off x="2786050" y="2714620"/>
            <a:ext cx="285752" cy="42862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單箭頭接點 5"/>
          <p:cNvCxnSpPr/>
          <p:nvPr/>
        </p:nvCxnSpPr>
        <p:spPr>
          <a:xfrm flipV="1">
            <a:off x="3000364" y="1643050"/>
            <a:ext cx="1714512" cy="120578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/>
          <p:cNvSpPr txBox="1"/>
          <p:nvPr/>
        </p:nvSpPr>
        <p:spPr>
          <a:xfrm>
            <a:off x="4214810" y="2285992"/>
            <a:ext cx="21384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binary search</a:t>
            </a:r>
            <a:endParaRPr lang="zh-TW" altLang="en-US" sz="28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-32" y="2677911"/>
            <a:ext cx="426328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[1] = &lt; 5, 2 &gt;</a:t>
            </a:r>
          </a:p>
          <a:p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[2] = &lt; 6, 4, 1 &gt;</a:t>
            </a:r>
          </a:p>
          <a:p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[3] = &lt;  &gt;</a:t>
            </a:r>
          </a:p>
          <a:p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[4] = </a:t>
            </a:r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[2] </a:t>
            </a:r>
            <a:endParaRPr lang="zh-TW" altLang="en-US" sz="2800" dirty="0" smtClean="0"/>
          </a:p>
          <a:p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[5] = &lt; 7, 3 &gt;</a:t>
            </a:r>
            <a:endParaRPr lang="zh-TW" altLang="en-US" sz="2800" dirty="0" smtClean="0"/>
          </a:p>
          <a:p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[6] = </a:t>
            </a:r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[5] </a:t>
            </a:r>
            <a:endParaRPr lang="zh-TW" altLang="en-US" sz="2800" dirty="0" smtClean="0"/>
          </a:p>
          <a:p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[7] = </a:t>
            </a:r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[1] </a:t>
            </a:r>
            <a:endParaRPr lang="zh-TW" altLang="en-US" sz="2800" dirty="0" smtClean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69114" y="4643446"/>
            <a:ext cx="4874886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19</a:t>
            </a:fld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500034" y="642918"/>
            <a:ext cx="22102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Thresh[0:7]:</a:t>
            </a:r>
            <a:endParaRPr lang="zh-TW" altLang="en-US" sz="32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4643438" y="3286124"/>
            <a:ext cx="247696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T</a:t>
            </a:r>
            <a:r>
              <a:rPr lang="en-US" altLang="zh-TW" sz="3200" baseline="-25000" dirty="0" smtClean="0"/>
              <a:t>0,0</a:t>
            </a:r>
            <a:r>
              <a:rPr lang="en-US" altLang="zh-TW" sz="3200" dirty="0" smtClean="0"/>
              <a:t> &lt; 2 </a:t>
            </a:r>
            <a:r>
              <a:rPr lang="zh-TW" altLang="en-US" sz="3200" dirty="0" smtClean="0"/>
              <a:t>≦ </a:t>
            </a:r>
            <a:r>
              <a:rPr lang="en-US" altLang="zh-TW" sz="3200" dirty="0" smtClean="0"/>
              <a:t>T</a:t>
            </a:r>
            <a:r>
              <a:rPr lang="en-US" altLang="zh-TW" sz="3200" baseline="-25000" dirty="0" smtClean="0"/>
              <a:t>0,1</a:t>
            </a:r>
          </a:p>
          <a:p>
            <a:r>
              <a:rPr lang="en-US" altLang="zh-TW" sz="3200" dirty="0" smtClean="0"/>
              <a:t>T</a:t>
            </a:r>
            <a:r>
              <a:rPr lang="en-US" altLang="zh-TW" sz="3200" baseline="-25000" dirty="0" smtClean="0"/>
              <a:t>1</a:t>
            </a:r>
            <a:r>
              <a:rPr lang="en-US" altLang="zh-TW" sz="3200" baseline="-25000" dirty="0" smtClean="0"/>
              <a:t>,1 </a:t>
            </a:r>
            <a:r>
              <a:rPr lang="en-US" altLang="zh-TW" sz="3200" dirty="0" smtClean="0"/>
              <a:t>= 5</a:t>
            </a:r>
            <a:endParaRPr lang="zh-TW" altLang="en-US" sz="3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786050" y="428604"/>
          <a:ext cx="6096000" cy="103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6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endParaRPr lang="zh-TW" altLang="en-US" sz="2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-32" y="2677911"/>
            <a:ext cx="426328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err="1" smtClean="0">
                <a:solidFill>
                  <a:schemeClr val="bg1">
                    <a:lumMod val="65000"/>
                  </a:schemeClr>
                </a:solidFill>
              </a:rPr>
              <a:t>MatchList</a:t>
            </a:r>
            <a:r>
              <a:rPr lang="en-US" altLang="zh-TW" sz="2800" dirty="0" smtClean="0">
                <a:solidFill>
                  <a:schemeClr val="bg1">
                    <a:lumMod val="65000"/>
                  </a:schemeClr>
                </a:solidFill>
              </a:rPr>
              <a:t>[1] = &lt; 5, 2 &gt;</a:t>
            </a:r>
          </a:p>
          <a:p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[2] = &lt; 6, 4, 1 &gt;</a:t>
            </a:r>
          </a:p>
          <a:p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[3] = &lt;  &gt;</a:t>
            </a:r>
          </a:p>
          <a:p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[4] = </a:t>
            </a:r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[2] </a:t>
            </a:r>
            <a:endParaRPr lang="zh-TW" altLang="en-US" sz="2800" dirty="0" smtClean="0"/>
          </a:p>
          <a:p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[5] = &lt; 7, 3 &gt;</a:t>
            </a:r>
            <a:endParaRPr lang="zh-TW" altLang="en-US" sz="2800" dirty="0" smtClean="0"/>
          </a:p>
          <a:p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[6] = </a:t>
            </a:r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[5] </a:t>
            </a:r>
            <a:endParaRPr lang="zh-TW" altLang="en-US" sz="2800" dirty="0" smtClean="0"/>
          </a:p>
          <a:p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[7] = </a:t>
            </a:r>
            <a:r>
              <a:rPr lang="en-US" altLang="zh-TW" sz="2800" dirty="0" err="1" smtClean="0"/>
              <a:t>MatchList</a:t>
            </a:r>
            <a:r>
              <a:rPr lang="en-US" altLang="zh-TW" sz="2800" dirty="0" smtClean="0"/>
              <a:t>[1] </a:t>
            </a:r>
            <a:endParaRPr lang="zh-TW" altLang="en-US" sz="2800" dirty="0" smtClean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71934" y="3071810"/>
            <a:ext cx="4874886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矩形 9"/>
          <p:cNvSpPr/>
          <p:nvPr/>
        </p:nvSpPr>
        <p:spPr>
          <a:xfrm>
            <a:off x="2857488" y="1571612"/>
            <a:ext cx="628651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smtClean="0"/>
              <a:t>T</a:t>
            </a:r>
            <a:r>
              <a:rPr lang="en-US" altLang="zh-TW" sz="2800" baseline="-25000" dirty="0" smtClean="0"/>
              <a:t>1,0    </a:t>
            </a:r>
            <a:r>
              <a:rPr lang="en-US" altLang="zh-TW" sz="2800" dirty="0" smtClean="0"/>
              <a:t>T</a:t>
            </a:r>
            <a:r>
              <a:rPr lang="en-US" altLang="zh-TW" sz="2800" baseline="-25000" dirty="0" smtClean="0"/>
              <a:t>1,1      </a:t>
            </a:r>
            <a:r>
              <a:rPr lang="en-US" altLang="zh-TW" sz="2800" dirty="0" smtClean="0"/>
              <a:t>T</a:t>
            </a:r>
            <a:r>
              <a:rPr lang="en-US" altLang="zh-TW" sz="2800" baseline="-25000" dirty="0" smtClean="0"/>
              <a:t>1,2</a:t>
            </a:r>
            <a:r>
              <a:rPr lang="en-US" altLang="zh-TW" sz="2800" dirty="0" smtClean="0"/>
              <a:t>     T</a:t>
            </a:r>
            <a:r>
              <a:rPr lang="en-US" altLang="zh-TW" sz="2800" baseline="-25000" dirty="0" smtClean="0"/>
              <a:t>1,3</a:t>
            </a:r>
            <a:r>
              <a:rPr lang="en-US" altLang="zh-TW" sz="2800" dirty="0" smtClean="0"/>
              <a:t>    T</a:t>
            </a:r>
            <a:r>
              <a:rPr lang="en-US" altLang="zh-TW" sz="2800" baseline="-25000" dirty="0" smtClean="0"/>
              <a:t>1,4</a:t>
            </a:r>
            <a:r>
              <a:rPr lang="en-US" altLang="zh-TW" sz="2800" dirty="0" smtClean="0"/>
              <a:t>    T</a:t>
            </a:r>
            <a:r>
              <a:rPr lang="en-US" altLang="zh-TW" sz="2800" baseline="-25000" dirty="0" smtClean="0"/>
              <a:t>1,5</a:t>
            </a:r>
            <a:r>
              <a:rPr lang="en-US" altLang="zh-TW" sz="2800" dirty="0" smtClean="0"/>
              <a:t>   T</a:t>
            </a:r>
            <a:r>
              <a:rPr lang="en-US" altLang="zh-TW" sz="2800" baseline="-25000" dirty="0" smtClean="0"/>
              <a:t>1,6</a:t>
            </a:r>
            <a:r>
              <a:rPr lang="en-US" altLang="zh-TW" sz="2800" dirty="0" smtClean="0"/>
              <a:t>    T</a:t>
            </a:r>
            <a:r>
              <a:rPr lang="en-US" altLang="zh-TW" sz="2800" baseline="-25000" dirty="0" smtClean="0"/>
              <a:t>1,7 </a:t>
            </a:r>
            <a:endParaRPr lang="zh-TW" altLang="en-US" sz="2800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20</a:t>
            </a:fld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500034" y="642918"/>
            <a:ext cx="22102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Thresh[0:7]:</a:t>
            </a:r>
            <a:endParaRPr lang="zh-TW" altLang="en-US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786050" y="428604"/>
          <a:ext cx="6096000" cy="103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6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6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endParaRPr lang="zh-TW" altLang="en-US" sz="2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2857488" y="1571612"/>
            <a:ext cx="628651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smtClean="0"/>
              <a:t>T</a:t>
            </a:r>
            <a:r>
              <a:rPr lang="en-US" altLang="zh-TW" sz="2800" baseline="-25000" dirty="0" smtClean="0"/>
              <a:t>7,0    </a:t>
            </a:r>
            <a:r>
              <a:rPr lang="en-US" altLang="zh-TW" sz="2800" dirty="0" smtClean="0"/>
              <a:t>T</a:t>
            </a:r>
            <a:r>
              <a:rPr lang="en-US" altLang="zh-TW" sz="2800" baseline="-25000" dirty="0" smtClean="0"/>
              <a:t>7,1      </a:t>
            </a:r>
            <a:r>
              <a:rPr lang="en-US" altLang="zh-TW" sz="2800" dirty="0" smtClean="0"/>
              <a:t>T</a:t>
            </a:r>
            <a:r>
              <a:rPr lang="en-US" altLang="zh-TW" sz="2800" baseline="-25000" dirty="0" smtClean="0"/>
              <a:t>7,2</a:t>
            </a:r>
            <a:r>
              <a:rPr lang="en-US" altLang="zh-TW" sz="2800" dirty="0" smtClean="0"/>
              <a:t>     T</a:t>
            </a:r>
            <a:r>
              <a:rPr lang="en-US" altLang="zh-TW" sz="2800" baseline="-25000" dirty="0" smtClean="0"/>
              <a:t>7,3</a:t>
            </a:r>
            <a:r>
              <a:rPr lang="en-US" altLang="zh-TW" sz="2800" dirty="0" smtClean="0"/>
              <a:t>    T</a:t>
            </a:r>
            <a:r>
              <a:rPr lang="en-US" altLang="zh-TW" sz="2800" baseline="-25000" dirty="0" smtClean="0"/>
              <a:t>7,4</a:t>
            </a:r>
            <a:r>
              <a:rPr lang="en-US" altLang="zh-TW" sz="2800" dirty="0" smtClean="0"/>
              <a:t>    T</a:t>
            </a:r>
            <a:r>
              <a:rPr lang="en-US" altLang="zh-TW" sz="2800" baseline="-25000" dirty="0" smtClean="0"/>
              <a:t>7,5</a:t>
            </a:r>
            <a:r>
              <a:rPr lang="en-US" altLang="zh-TW" sz="2800" dirty="0" smtClean="0"/>
              <a:t>   T</a:t>
            </a:r>
            <a:r>
              <a:rPr lang="en-US" altLang="zh-TW" sz="2800" baseline="-25000" dirty="0" smtClean="0"/>
              <a:t>7,6</a:t>
            </a:r>
            <a:r>
              <a:rPr lang="en-US" altLang="zh-TW" sz="2800" dirty="0" smtClean="0"/>
              <a:t>    T</a:t>
            </a:r>
            <a:r>
              <a:rPr lang="en-US" altLang="zh-TW" sz="2800" baseline="-25000" dirty="0" smtClean="0"/>
              <a:t>7,7 </a:t>
            </a:r>
            <a:endParaRPr lang="zh-TW" altLang="en-US" sz="28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-32" y="2677911"/>
            <a:ext cx="426328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err="1" smtClean="0">
                <a:solidFill>
                  <a:schemeClr val="bg1">
                    <a:lumMod val="65000"/>
                  </a:schemeClr>
                </a:solidFill>
              </a:rPr>
              <a:t>MatchList</a:t>
            </a:r>
            <a:r>
              <a:rPr lang="en-US" altLang="zh-TW" sz="2800" dirty="0" smtClean="0">
                <a:solidFill>
                  <a:schemeClr val="bg1">
                    <a:lumMod val="65000"/>
                  </a:schemeClr>
                </a:solidFill>
              </a:rPr>
              <a:t>[1] = &lt; 5, 2 &gt;</a:t>
            </a:r>
          </a:p>
          <a:p>
            <a:r>
              <a:rPr lang="en-US" altLang="zh-TW" sz="2800" dirty="0" err="1" smtClean="0">
                <a:solidFill>
                  <a:schemeClr val="bg1">
                    <a:lumMod val="65000"/>
                  </a:schemeClr>
                </a:solidFill>
              </a:rPr>
              <a:t>MatchList</a:t>
            </a:r>
            <a:r>
              <a:rPr lang="en-US" altLang="zh-TW" sz="2800" dirty="0" smtClean="0">
                <a:solidFill>
                  <a:schemeClr val="bg1">
                    <a:lumMod val="65000"/>
                  </a:schemeClr>
                </a:solidFill>
              </a:rPr>
              <a:t>[2] = &lt; 6, 4, 1 &gt;</a:t>
            </a:r>
          </a:p>
          <a:p>
            <a:r>
              <a:rPr lang="en-US" altLang="zh-TW" sz="2800" dirty="0" err="1" smtClean="0">
                <a:solidFill>
                  <a:schemeClr val="bg1">
                    <a:lumMod val="65000"/>
                  </a:schemeClr>
                </a:solidFill>
              </a:rPr>
              <a:t>MatchList</a:t>
            </a:r>
            <a:r>
              <a:rPr lang="en-US" altLang="zh-TW" sz="2800" dirty="0" smtClean="0">
                <a:solidFill>
                  <a:schemeClr val="bg1">
                    <a:lumMod val="65000"/>
                  </a:schemeClr>
                </a:solidFill>
              </a:rPr>
              <a:t>[3] = &lt;  &gt;</a:t>
            </a:r>
          </a:p>
          <a:p>
            <a:r>
              <a:rPr lang="en-US" altLang="zh-TW" sz="2800" dirty="0" err="1" smtClean="0">
                <a:solidFill>
                  <a:schemeClr val="bg1">
                    <a:lumMod val="65000"/>
                  </a:schemeClr>
                </a:solidFill>
              </a:rPr>
              <a:t>MatchList</a:t>
            </a:r>
            <a:r>
              <a:rPr lang="en-US" altLang="zh-TW" sz="2800" dirty="0" smtClean="0">
                <a:solidFill>
                  <a:schemeClr val="bg1">
                    <a:lumMod val="65000"/>
                  </a:schemeClr>
                </a:solidFill>
              </a:rPr>
              <a:t>[4] = </a:t>
            </a:r>
            <a:r>
              <a:rPr lang="en-US" altLang="zh-TW" sz="2800" dirty="0" err="1" smtClean="0">
                <a:solidFill>
                  <a:schemeClr val="bg1">
                    <a:lumMod val="65000"/>
                  </a:schemeClr>
                </a:solidFill>
              </a:rPr>
              <a:t>MatchList</a:t>
            </a:r>
            <a:r>
              <a:rPr lang="en-US" altLang="zh-TW" sz="2800" dirty="0" smtClean="0">
                <a:solidFill>
                  <a:schemeClr val="bg1">
                    <a:lumMod val="65000"/>
                  </a:schemeClr>
                </a:solidFill>
              </a:rPr>
              <a:t>[2] </a:t>
            </a:r>
            <a:endParaRPr lang="zh-TW" altLang="en-US" sz="2800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altLang="zh-TW" sz="2800" dirty="0" err="1" smtClean="0">
                <a:solidFill>
                  <a:schemeClr val="bg1">
                    <a:lumMod val="65000"/>
                  </a:schemeClr>
                </a:solidFill>
              </a:rPr>
              <a:t>MatchList</a:t>
            </a:r>
            <a:r>
              <a:rPr lang="en-US" altLang="zh-TW" sz="2800" dirty="0" smtClean="0">
                <a:solidFill>
                  <a:schemeClr val="bg1">
                    <a:lumMod val="65000"/>
                  </a:schemeClr>
                </a:solidFill>
              </a:rPr>
              <a:t>[5] = &lt; 7, 3 &gt;</a:t>
            </a:r>
            <a:endParaRPr lang="zh-TW" altLang="en-US" sz="2800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altLang="zh-TW" sz="2800" dirty="0" err="1" smtClean="0">
                <a:solidFill>
                  <a:schemeClr val="bg1">
                    <a:lumMod val="65000"/>
                  </a:schemeClr>
                </a:solidFill>
              </a:rPr>
              <a:t>MatchList</a:t>
            </a:r>
            <a:r>
              <a:rPr lang="en-US" altLang="zh-TW" sz="2800" dirty="0" smtClean="0">
                <a:solidFill>
                  <a:schemeClr val="bg1">
                    <a:lumMod val="65000"/>
                  </a:schemeClr>
                </a:solidFill>
              </a:rPr>
              <a:t>[6] = </a:t>
            </a:r>
            <a:r>
              <a:rPr lang="en-US" altLang="zh-TW" sz="2800" dirty="0" err="1" smtClean="0">
                <a:solidFill>
                  <a:schemeClr val="bg1">
                    <a:lumMod val="65000"/>
                  </a:schemeClr>
                </a:solidFill>
              </a:rPr>
              <a:t>MatchList</a:t>
            </a:r>
            <a:r>
              <a:rPr lang="en-US" altLang="zh-TW" sz="2800" dirty="0" smtClean="0">
                <a:solidFill>
                  <a:schemeClr val="bg1">
                    <a:lumMod val="65000"/>
                  </a:schemeClr>
                </a:solidFill>
              </a:rPr>
              <a:t>[5] </a:t>
            </a:r>
            <a:endParaRPr lang="zh-TW" altLang="en-US" sz="2800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altLang="zh-TW" sz="2800" dirty="0" err="1" smtClean="0">
                <a:solidFill>
                  <a:schemeClr val="bg1">
                    <a:lumMod val="65000"/>
                  </a:schemeClr>
                </a:solidFill>
              </a:rPr>
              <a:t>MatchList</a:t>
            </a:r>
            <a:r>
              <a:rPr lang="en-US" altLang="zh-TW" sz="2800" dirty="0" smtClean="0">
                <a:solidFill>
                  <a:schemeClr val="bg1">
                    <a:lumMod val="65000"/>
                  </a:schemeClr>
                </a:solidFill>
              </a:rPr>
              <a:t>[7] = </a:t>
            </a:r>
            <a:r>
              <a:rPr lang="en-US" altLang="zh-TW" sz="2800" dirty="0" err="1" smtClean="0">
                <a:solidFill>
                  <a:schemeClr val="bg1">
                    <a:lumMod val="65000"/>
                  </a:schemeClr>
                </a:solidFill>
              </a:rPr>
              <a:t>MatchList</a:t>
            </a:r>
            <a:r>
              <a:rPr lang="en-US" altLang="zh-TW" sz="2800" dirty="0" smtClean="0">
                <a:solidFill>
                  <a:schemeClr val="bg1">
                    <a:lumMod val="65000"/>
                  </a:schemeClr>
                </a:solidFill>
              </a:rPr>
              <a:t>[1] </a:t>
            </a:r>
            <a:endParaRPr lang="zh-TW" altLang="en-US" sz="2800" dirty="0" smtClean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4572000" y="3214686"/>
            <a:ext cx="3986989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/>
              <a:t>A = </a:t>
            </a:r>
            <a:r>
              <a:rPr lang="en-US" altLang="zh-TW" sz="2800" dirty="0" err="1" smtClean="0">
                <a:solidFill>
                  <a:srgbClr val="FF0000"/>
                </a:solidFill>
              </a:rPr>
              <a:t>ab</a:t>
            </a:r>
            <a:r>
              <a:rPr lang="en-US" altLang="zh-TW" sz="2800" dirty="0" err="1" smtClean="0"/>
              <a:t>c</a:t>
            </a:r>
            <a:r>
              <a:rPr lang="en-US" altLang="zh-TW" sz="2800" dirty="0" err="1" smtClean="0">
                <a:solidFill>
                  <a:srgbClr val="FF0000"/>
                </a:solidFill>
              </a:rPr>
              <a:t>b</a:t>
            </a:r>
            <a:r>
              <a:rPr lang="en-US" altLang="zh-TW" sz="2800" dirty="0" err="1" smtClean="0"/>
              <a:t>d</a:t>
            </a:r>
            <a:r>
              <a:rPr lang="en-US" altLang="zh-TW" sz="2800" dirty="0" err="1" smtClean="0">
                <a:solidFill>
                  <a:srgbClr val="FF0000"/>
                </a:solidFill>
              </a:rPr>
              <a:t>d</a:t>
            </a:r>
            <a:r>
              <a:rPr lang="en-US" altLang="zh-TW" sz="2800" dirty="0" err="1" smtClean="0"/>
              <a:t>a</a:t>
            </a:r>
            <a:r>
              <a:rPr lang="en-US" altLang="zh-TW" sz="2800" dirty="0" smtClean="0"/>
              <a:t>, B = </a:t>
            </a:r>
            <a:r>
              <a:rPr lang="en-US" altLang="zh-TW" sz="2800" dirty="0" err="1" smtClean="0"/>
              <a:t>b</a:t>
            </a:r>
            <a:r>
              <a:rPr lang="en-US" altLang="zh-TW" sz="2800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800" dirty="0" err="1" smtClean="0"/>
              <a:t>d</a:t>
            </a:r>
            <a:r>
              <a:rPr lang="en-US" altLang="zh-TW" sz="2800" dirty="0" err="1" smtClean="0">
                <a:solidFill>
                  <a:srgbClr val="FF0000"/>
                </a:solidFill>
              </a:rPr>
              <a:t>b</a:t>
            </a:r>
            <a:r>
              <a:rPr lang="en-US" altLang="zh-TW" sz="2800" dirty="0" err="1" smtClean="0"/>
              <a:t>a</a:t>
            </a:r>
            <a:r>
              <a:rPr lang="en-US" altLang="zh-TW" sz="2800" dirty="0" err="1" smtClean="0">
                <a:solidFill>
                  <a:srgbClr val="FF0000"/>
                </a:solidFill>
              </a:rPr>
              <a:t>bd</a:t>
            </a:r>
            <a:endParaRPr lang="en-US" altLang="zh-TW" sz="2800" dirty="0" smtClean="0">
              <a:solidFill>
                <a:srgbClr val="FF0000"/>
              </a:solidFill>
            </a:endParaRPr>
          </a:p>
          <a:p>
            <a:r>
              <a:rPr lang="en-US" altLang="zh-TW" sz="2800" dirty="0" smtClean="0"/>
              <a:t>LLCS(A, B) = 4</a:t>
            </a:r>
          </a:p>
        </p:txBody>
      </p:sp>
      <p:sp>
        <p:nvSpPr>
          <p:cNvPr id="9" name="矩形 8"/>
          <p:cNvSpPr/>
          <p:nvPr/>
        </p:nvSpPr>
        <p:spPr>
          <a:xfrm>
            <a:off x="3714712" y="2500306"/>
            <a:ext cx="54292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smtClean="0"/>
              <a:t>LLCS(A,B) = max{ k | T</a:t>
            </a:r>
            <a:r>
              <a:rPr lang="en-US" altLang="zh-TW" sz="2800" baseline="-25000" dirty="0" smtClean="0"/>
              <a:t>7,k</a:t>
            </a:r>
            <a:r>
              <a:rPr lang="en-US" altLang="zh-TW" sz="2800" dirty="0" smtClean="0"/>
              <a:t> is defined }.</a:t>
            </a:r>
            <a:endParaRPr lang="zh-TW" altLang="en-US" sz="2800" dirty="0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21</a:t>
            </a:fld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500034" y="642918"/>
            <a:ext cx="22102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Thresh[0:7]:</a:t>
            </a:r>
            <a:endParaRPr lang="zh-TW" altLang="en-US" sz="3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 Analysis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MatchList</a:t>
            </a:r>
            <a:r>
              <a:rPr lang="en-US" altLang="zh-TW" dirty="0" smtClean="0"/>
              <a:t> </a:t>
            </a:r>
            <a:r>
              <a:rPr lang="en-US" altLang="zh-TW" dirty="0" smtClean="0"/>
              <a:t>needs O(</a:t>
            </a:r>
            <a:r>
              <a:rPr lang="en-US" altLang="zh-TW" dirty="0" err="1" smtClean="0"/>
              <a:t>nlog</a:t>
            </a:r>
            <a:r>
              <a:rPr lang="en-US" altLang="zh-TW" dirty="0" err="1" smtClean="0"/>
              <a:t>n</a:t>
            </a:r>
            <a:r>
              <a:rPr lang="en-US" altLang="zh-TW" dirty="0" smtClean="0"/>
              <a:t>) time</a:t>
            </a:r>
          </a:p>
          <a:p>
            <a:r>
              <a:rPr lang="en-US" altLang="zh-TW" dirty="0" smtClean="0"/>
              <a:t>“find” operation needs O(</a:t>
            </a:r>
            <a:r>
              <a:rPr lang="en-US" altLang="zh-TW" dirty="0" err="1" smtClean="0"/>
              <a:t>rlogn</a:t>
            </a:r>
            <a:r>
              <a:rPr lang="en-US" altLang="zh-TW" dirty="0" smtClean="0"/>
              <a:t>) time</a:t>
            </a:r>
          </a:p>
          <a:p>
            <a:r>
              <a:rPr lang="en-US" altLang="zh-TW" dirty="0" smtClean="0"/>
              <a:t>Time complexity is (</a:t>
            </a:r>
            <a:r>
              <a:rPr lang="en-US" altLang="zh-TW" dirty="0" err="1" smtClean="0"/>
              <a:t>r+n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logn</a:t>
            </a:r>
            <a:r>
              <a:rPr lang="en-US" altLang="zh-TW" dirty="0" smtClean="0"/>
              <a:t>))</a:t>
            </a:r>
          </a:p>
          <a:p>
            <a:pPr>
              <a:buNone/>
            </a:pPr>
            <a:r>
              <a:rPr lang="en-US" altLang="zh-TW" dirty="0" smtClean="0"/>
              <a:t> </a:t>
            </a:r>
            <a:r>
              <a:rPr lang="en-US" altLang="zh-TW" dirty="0" smtClean="0"/>
              <a:t>   n is length of strings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The Improved Hunt-Szymanski </a:t>
            </a:r>
            <a:r>
              <a:rPr lang="en-US" altLang="zh-TW" dirty="0" smtClean="0"/>
              <a:t>Algorithm(1/9)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dirty="0" smtClean="0"/>
              <a:t>before executing the </a:t>
            </a:r>
            <a:r>
              <a:rPr lang="en-US" altLang="zh-TW" dirty="0" err="1" smtClean="0"/>
              <a:t>ith</a:t>
            </a:r>
            <a:r>
              <a:rPr lang="en-US" altLang="zh-TW" dirty="0" smtClean="0"/>
              <a:t> iteration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500298" y="2357430"/>
          <a:ext cx="6095999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/>
                <a:gridCol w="870857"/>
                <a:gridCol w="870857"/>
                <a:gridCol w="870857"/>
                <a:gridCol w="870857"/>
                <a:gridCol w="870857"/>
                <a:gridCol w="87085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78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0" y="4143380"/>
            <a:ext cx="614363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 err="1" smtClean="0"/>
              <a:t>MatchList</a:t>
            </a:r>
            <a:r>
              <a:rPr lang="en-US" altLang="zh-TW" sz="3200" dirty="0" smtClean="0"/>
              <a:t>[</a:t>
            </a:r>
            <a:r>
              <a:rPr lang="en-US" altLang="zh-TW" sz="3200" dirty="0" err="1" smtClean="0"/>
              <a:t>i</a:t>
            </a:r>
            <a:r>
              <a:rPr lang="en-US" altLang="zh-TW" sz="3200" dirty="0" smtClean="0"/>
              <a:t>] = &lt; 52, 20,17,14,13,10,8,3,1 &gt;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The Improved Hunt-Szymanski </a:t>
            </a:r>
            <a:r>
              <a:rPr lang="en-US" altLang="zh-TW" dirty="0" smtClean="0"/>
              <a:t>Algorithm(2/9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altLang="zh-TW" dirty="0" smtClean="0"/>
              <a:t>before executing the </a:t>
            </a:r>
            <a:r>
              <a:rPr lang="en-US" altLang="zh-TW" dirty="0" err="1" smtClean="0"/>
              <a:t>ith</a:t>
            </a:r>
            <a:r>
              <a:rPr lang="en-US" altLang="zh-TW" dirty="0" smtClean="0"/>
              <a:t> iteration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500298" y="2357430"/>
          <a:ext cx="6095999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/>
                <a:gridCol w="870857"/>
                <a:gridCol w="870857"/>
                <a:gridCol w="870857"/>
                <a:gridCol w="870857"/>
                <a:gridCol w="870857"/>
                <a:gridCol w="87085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78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0" y="5500702"/>
            <a:ext cx="614363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 err="1" smtClean="0"/>
              <a:t>MatchList</a:t>
            </a:r>
            <a:r>
              <a:rPr lang="en-US" altLang="zh-TW" sz="3200" dirty="0" smtClean="0"/>
              <a:t>[</a:t>
            </a:r>
            <a:r>
              <a:rPr lang="en-US" altLang="zh-TW" sz="3200" dirty="0" err="1" smtClean="0"/>
              <a:t>i</a:t>
            </a:r>
            <a:r>
              <a:rPr lang="en-US" altLang="zh-TW" sz="3200" dirty="0" smtClean="0"/>
              <a:t>] = &lt;52,20,17,14,</a:t>
            </a:r>
          </a:p>
          <a:p>
            <a:r>
              <a:rPr lang="en-US" altLang="zh-TW" sz="3200" dirty="0" smtClean="0"/>
              <a:t>                            13,10,8,3,1 &gt;</a:t>
            </a:r>
          </a:p>
        </p:txBody>
      </p:sp>
      <p:cxnSp>
        <p:nvCxnSpPr>
          <p:cNvPr id="8" name="直線接點 7"/>
          <p:cNvCxnSpPr/>
          <p:nvPr/>
        </p:nvCxnSpPr>
        <p:spPr>
          <a:xfrm>
            <a:off x="5286380" y="2857496"/>
            <a:ext cx="500066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5286380" y="3429000"/>
            <a:ext cx="550151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800" dirty="0" smtClean="0"/>
              <a:t>20</a:t>
            </a:r>
          </a:p>
          <a:p>
            <a:pPr algn="ctr"/>
            <a:r>
              <a:rPr lang="en-US" altLang="zh-TW" sz="2800" dirty="0" smtClean="0"/>
              <a:t>17</a:t>
            </a:r>
          </a:p>
          <a:p>
            <a:pPr algn="ctr"/>
            <a:r>
              <a:rPr lang="en-US" altLang="zh-TW" sz="2800" dirty="0" smtClean="0"/>
              <a:t>14</a:t>
            </a:r>
          </a:p>
          <a:p>
            <a:pPr algn="ctr"/>
            <a:r>
              <a:rPr lang="en-US" altLang="zh-TW" sz="2800" dirty="0" smtClean="0"/>
              <a:t>13</a:t>
            </a:r>
          </a:p>
          <a:p>
            <a:pPr algn="ctr"/>
            <a:r>
              <a:rPr lang="en-US" altLang="zh-TW" sz="2800" dirty="0" smtClean="0"/>
              <a:t>10</a:t>
            </a:r>
          </a:p>
          <a:p>
            <a:pPr algn="ctr"/>
            <a:r>
              <a:rPr lang="en-US" altLang="zh-TW" sz="2800" dirty="0" smtClean="0"/>
              <a:t>8</a:t>
            </a:r>
          </a:p>
        </p:txBody>
      </p:sp>
      <p:cxnSp>
        <p:nvCxnSpPr>
          <p:cNvPr id="10" name="直線接點 9"/>
          <p:cNvCxnSpPr/>
          <p:nvPr/>
        </p:nvCxnSpPr>
        <p:spPr>
          <a:xfrm>
            <a:off x="5357818" y="3500438"/>
            <a:ext cx="500066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5286380" y="3929066"/>
            <a:ext cx="500066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5357818" y="4357694"/>
            <a:ext cx="500066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5357818" y="4786322"/>
            <a:ext cx="500066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7929586" y="2857496"/>
            <a:ext cx="500066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7858148" y="3357562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800" dirty="0" smtClean="0"/>
              <a:t>52</a:t>
            </a:r>
          </a:p>
        </p:txBody>
      </p:sp>
      <p:sp>
        <p:nvSpPr>
          <p:cNvPr id="16" name="文字方塊 15"/>
          <p:cNvSpPr txBox="1"/>
          <p:nvPr/>
        </p:nvSpPr>
        <p:spPr>
          <a:xfrm>
            <a:off x="4500562" y="342900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800" dirty="0" smtClean="0"/>
              <a:t>3</a:t>
            </a:r>
          </a:p>
        </p:txBody>
      </p:sp>
      <p:sp>
        <p:nvSpPr>
          <p:cNvPr id="17" name="文字方塊 16"/>
          <p:cNvSpPr txBox="1"/>
          <p:nvPr/>
        </p:nvSpPr>
        <p:spPr>
          <a:xfrm>
            <a:off x="3571868" y="342900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800" dirty="0" smtClean="0"/>
              <a:t>1</a:t>
            </a:r>
          </a:p>
        </p:txBody>
      </p:sp>
      <p:cxnSp>
        <p:nvCxnSpPr>
          <p:cNvPr id="18" name="直線接點 17"/>
          <p:cNvCxnSpPr/>
          <p:nvPr/>
        </p:nvCxnSpPr>
        <p:spPr>
          <a:xfrm>
            <a:off x="4429124" y="2857496"/>
            <a:ext cx="500066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3571868" y="2857496"/>
            <a:ext cx="500066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5357818" y="5214950"/>
            <a:ext cx="500066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投影片編號版面配置區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The Improved Hunt-Szymanski </a:t>
            </a:r>
            <a:r>
              <a:rPr lang="en-US" altLang="zh-TW" dirty="0" smtClean="0"/>
              <a:t>Algorithm(3/9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285720" y="1785926"/>
            <a:ext cx="78581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 err="1" smtClean="0"/>
              <a:t>MatchList</a:t>
            </a:r>
            <a:r>
              <a:rPr lang="en-US" altLang="zh-TW" sz="3200" dirty="0" smtClean="0"/>
              <a:t>[</a:t>
            </a:r>
            <a:r>
              <a:rPr lang="en-US" altLang="zh-TW" sz="3200" dirty="0" err="1" smtClean="0"/>
              <a:t>i</a:t>
            </a:r>
            <a:r>
              <a:rPr lang="en-US" altLang="zh-TW" sz="3200" dirty="0" smtClean="0"/>
              <a:t>] =&lt;52,20,17,14,13,10,8,3,1 &gt;</a:t>
            </a:r>
          </a:p>
        </p:txBody>
      </p:sp>
      <p:sp>
        <p:nvSpPr>
          <p:cNvPr id="21" name="向下箭號 20"/>
          <p:cNvSpPr/>
          <p:nvPr/>
        </p:nvSpPr>
        <p:spPr>
          <a:xfrm>
            <a:off x="4000496" y="2571744"/>
            <a:ext cx="428628" cy="428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/>
          <p:cNvSpPr/>
          <p:nvPr/>
        </p:nvSpPr>
        <p:spPr>
          <a:xfrm>
            <a:off x="357158" y="3000372"/>
            <a:ext cx="69086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err="1" smtClean="0"/>
              <a:t>MatchList</a:t>
            </a:r>
            <a:r>
              <a:rPr lang="en-US" altLang="zh-TW" sz="3200" dirty="0" smtClean="0"/>
              <a:t>[</a:t>
            </a:r>
            <a:r>
              <a:rPr lang="en-US" altLang="zh-TW" sz="3200" dirty="0" err="1" smtClean="0"/>
              <a:t>i</a:t>
            </a:r>
            <a:r>
              <a:rPr lang="en-US" altLang="zh-TW" sz="3200" dirty="0" smtClean="0"/>
              <a:t>] =&lt;1,3,8,10,13,14,17,20,52 &gt;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The Improved Hunt-Szymanski </a:t>
            </a:r>
            <a:r>
              <a:rPr lang="en-US" altLang="zh-TW" dirty="0" smtClean="0"/>
              <a:t>Algorithm(4/9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altLang="zh-TW" dirty="0" smtClean="0"/>
              <a:t>before executing the </a:t>
            </a:r>
            <a:r>
              <a:rPr lang="en-US" altLang="zh-TW" dirty="0" err="1" smtClean="0"/>
              <a:t>ith</a:t>
            </a:r>
            <a:r>
              <a:rPr lang="en-US" altLang="zh-TW" dirty="0" smtClean="0"/>
              <a:t> iteration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500298" y="2357430"/>
          <a:ext cx="6095999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/>
                <a:gridCol w="870857"/>
                <a:gridCol w="870857"/>
                <a:gridCol w="870857"/>
                <a:gridCol w="870857"/>
                <a:gridCol w="870857"/>
                <a:gridCol w="87085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78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0" y="6000768"/>
            <a:ext cx="778671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 err="1" smtClean="0"/>
              <a:t>MatchList</a:t>
            </a:r>
            <a:r>
              <a:rPr lang="en-US" altLang="zh-TW" sz="3200" dirty="0" smtClean="0"/>
              <a:t>[</a:t>
            </a:r>
            <a:r>
              <a:rPr lang="en-US" altLang="zh-TW" sz="3200" dirty="0" err="1" smtClean="0"/>
              <a:t>i</a:t>
            </a:r>
            <a:r>
              <a:rPr lang="en-US" altLang="zh-TW" sz="3200" dirty="0" smtClean="0"/>
              <a:t>] =&lt;1,3,8,10,13,14,17,20,52 &gt;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357158" y="3786190"/>
            <a:ext cx="216155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temp = 0</a:t>
            </a:r>
          </a:p>
          <a:p>
            <a:r>
              <a:rPr lang="en-US" altLang="zh-TW" sz="3200" dirty="0" smtClean="0"/>
              <a:t>1 &gt; temp ok</a:t>
            </a:r>
            <a:endParaRPr lang="zh-TW" altLang="en-US" sz="3200" dirty="0"/>
          </a:p>
        </p:txBody>
      </p:sp>
      <p:sp>
        <p:nvSpPr>
          <p:cNvPr id="8" name="橢圓 7"/>
          <p:cNvSpPr/>
          <p:nvPr/>
        </p:nvSpPr>
        <p:spPr>
          <a:xfrm>
            <a:off x="2500298" y="6072206"/>
            <a:ext cx="285752" cy="42862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向右箭號 8"/>
          <p:cNvSpPr/>
          <p:nvPr/>
        </p:nvSpPr>
        <p:spPr>
          <a:xfrm>
            <a:off x="2571736" y="4214818"/>
            <a:ext cx="785818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3428992" y="3857628"/>
            <a:ext cx="246997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f</a:t>
            </a:r>
            <a:r>
              <a:rPr lang="en-US" altLang="zh-TW" sz="3200" dirty="0" smtClean="0"/>
              <a:t>inding</a:t>
            </a:r>
          </a:p>
          <a:p>
            <a:r>
              <a:rPr lang="en-US" altLang="zh-TW" sz="3200" dirty="0" smtClean="0"/>
              <a:t> 1</a:t>
            </a:r>
            <a:r>
              <a:rPr lang="zh-TW" altLang="en-US" sz="3200" dirty="0" smtClean="0"/>
              <a:t>≦</a:t>
            </a:r>
            <a:r>
              <a:rPr lang="en-US" altLang="zh-TW" sz="3200" dirty="0" smtClean="0"/>
              <a:t>Thresh[1]</a:t>
            </a:r>
            <a:endParaRPr lang="zh-TW" altLang="en-US" sz="3200" dirty="0"/>
          </a:p>
        </p:txBody>
      </p:sp>
      <p:sp>
        <p:nvSpPr>
          <p:cNvPr id="11" name="向右箭號 10"/>
          <p:cNvSpPr/>
          <p:nvPr/>
        </p:nvSpPr>
        <p:spPr>
          <a:xfrm>
            <a:off x="5786446" y="4143380"/>
            <a:ext cx="785818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6674029" y="3857628"/>
            <a:ext cx="24699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temp=Thresh[1]</a:t>
            </a:r>
          </a:p>
          <a:p>
            <a:r>
              <a:rPr lang="en-US" altLang="zh-TW" sz="2800" dirty="0" smtClean="0"/>
              <a:t>Thresh[1]= 1</a:t>
            </a:r>
            <a:endParaRPr lang="en-US" altLang="zh-TW" sz="2800" dirty="0" smtClean="0"/>
          </a:p>
        </p:txBody>
      </p:sp>
      <p:cxnSp>
        <p:nvCxnSpPr>
          <p:cNvPr id="13" name="直線接點 12"/>
          <p:cNvCxnSpPr/>
          <p:nvPr/>
        </p:nvCxnSpPr>
        <p:spPr>
          <a:xfrm>
            <a:off x="3571868" y="2857496"/>
            <a:ext cx="500066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3643306" y="3286124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800" dirty="0" smtClean="0"/>
              <a:t>1</a:t>
            </a:r>
          </a:p>
        </p:txBody>
      </p:sp>
      <p:sp>
        <p:nvSpPr>
          <p:cNvPr id="15" name="投影片編號版面配置區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The Improved Hunt-Szymanski </a:t>
            </a:r>
            <a:r>
              <a:rPr lang="en-US" altLang="zh-TW" dirty="0" smtClean="0"/>
              <a:t>Algorithm(5/9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altLang="zh-TW" dirty="0" smtClean="0"/>
              <a:t>before executing the </a:t>
            </a:r>
            <a:r>
              <a:rPr lang="en-US" altLang="zh-TW" dirty="0" err="1" smtClean="0"/>
              <a:t>ith</a:t>
            </a:r>
            <a:r>
              <a:rPr lang="en-US" altLang="zh-TW" dirty="0" smtClean="0"/>
              <a:t> iteration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500298" y="2357430"/>
          <a:ext cx="6095999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/>
                <a:gridCol w="870857"/>
                <a:gridCol w="870857"/>
                <a:gridCol w="870857"/>
                <a:gridCol w="870857"/>
                <a:gridCol w="870857"/>
                <a:gridCol w="87085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78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357158" y="3786190"/>
            <a:ext cx="216155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temp = </a:t>
            </a:r>
            <a:r>
              <a:rPr lang="en-US" altLang="zh-TW" sz="3200" dirty="0" smtClean="0"/>
              <a:t>2</a:t>
            </a:r>
            <a:endParaRPr lang="en-US" altLang="zh-TW" sz="3200" dirty="0" smtClean="0"/>
          </a:p>
          <a:p>
            <a:r>
              <a:rPr lang="en-US" altLang="zh-TW" sz="3200" dirty="0" smtClean="0"/>
              <a:t>3 </a:t>
            </a:r>
            <a:r>
              <a:rPr lang="en-US" altLang="zh-TW" sz="3200" dirty="0" smtClean="0"/>
              <a:t>&gt; temp ok</a:t>
            </a:r>
            <a:endParaRPr lang="zh-TW" altLang="en-US" sz="3200" dirty="0"/>
          </a:p>
        </p:txBody>
      </p:sp>
      <p:sp>
        <p:nvSpPr>
          <p:cNvPr id="7" name="橢圓 6"/>
          <p:cNvSpPr/>
          <p:nvPr/>
        </p:nvSpPr>
        <p:spPr>
          <a:xfrm>
            <a:off x="2786050" y="6072206"/>
            <a:ext cx="285752" cy="42862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向右箭號 7"/>
          <p:cNvSpPr/>
          <p:nvPr/>
        </p:nvSpPr>
        <p:spPr>
          <a:xfrm>
            <a:off x="2571736" y="4214818"/>
            <a:ext cx="785818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3428992" y="3857628"/>
            <a:ext cx="249241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f</a:t>
            </a:r>
            <a:r>
              <a:rPr lang="en-US" altLang="zh-TW" sz="3200" dirty="0" smtClean="0"/>
              <a:t>inding</a:t>
            </a:r>
          </a:p>
          <a:p>
            <a:r>
              <a:rPr lang="en-US" altLang="zh-TW" sz="3200" dirty="0" smtClean="0"/>
              <a:t> 3</a:t>
            </a:r>
            <a:r>
              <a:rPr lang="zh-TW" altLang="en-US" sz="3200" dirty="0" smtClean="0"/>
              <a:t>≦</a:t>
            </a:r>
            <a:r>
              <a:rPr lang="en-US" altLang="zh-TW" sz="3200" dirty="0" smtClean="0"/>
              <a:t>Thresh[2]</a:t>
            </a:r>
            <a:endParaRPr lang="zh-TW" altLang="en-US" sz="3200" dirty="0"/>
          </a:p>
        </p:txBody>
      </p:sp>
      <p:sp>
        <p:nvSpPr>
          <p:cNvPr id="10" name="向右箭號 9"/>
          <p:cNvSpPr/>
          <p:nvPr/>
        </p:nvSpPr>
        <p:spPr>
          <a:xfrm>
            <a:off x="5786446" y="4143380"/>
            <a:ext cx="785818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6674029" y="3857628"/>
            <a:ext cx="24699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temp=Thresh[2]</a:t>
            </a:r>
          </a:p>
          <a:p>
            <a:r>
              <a:rPr lang="en-US" altLang="zh-TW" sz="2800" dirty="0" smtClean="0"/>
              <a:t>Thresh[2]= 3</a:t>
            </a:r>
            <a:endParaRPr lang="en-US" altLang="zh-TW" sz="2800" dirty="0" smtClean="0"/>
          </a:p>
        </p:txBody>
      </p:sp>
      <p:cxnSp>
        <p:nvCxnSpPr>
          <p:cNvPr id="12" name="直線接點 11"/>
          <p:cNvCxnSpPr/>
          <p:nvPr/>
        </p:nvCxnSpPr>
        <p:spPr>
          <a:xfrm>
            <a:off x="3571868" y="2857496"/>
            <a:ext cx="500066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3643306" y="3286124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800" dirty="0" smtClean="0"/>
              <a:t>1</a:t>
            </a:r>
          </a:p>
        </p:txBody>
      </p:sp>
      <p:sp>
        <p:nvSpPr>
          <p:cNvPr id="14" name="矩形 13"/>
          <p:cNvSpPr/>
          <p:nvPr/>
        </p:nvSpPr>
        <p:spPr>
          <a:xfrm>
            <a:off x="0" y="6000768"/>
            <a:ext cx="778671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 err="1" smtClean="0"/>
              <a:t>MatchList</a:t>
            </a:r>
            <a:r>
              <a:rPr lang="en-US" altLang="zh-TW" sz="3200" dirty="0" smtClean="0"/>
              <a:t>[</a:t>
            </a:r>
            <a:r>
              <a:rPr lang="en-US" altLang="zh-TW" sz="3200" dirty="0" err="1" smtClean="0"/>
              <a:t>i</a:t>
            </a:r>
            <a:r>
              <a:rPr lang="en-US" altLang="zh-TW" sz="3200" dirty="0" smtClean="0"/>
              <a:t>] =&lt;1,3,8,10,13,14,17,20,52 &gt;</a:t>
            </a:r>
          </a:p>
        </p:txBody>
      </p:sp>
      <p:cxnSp>
        <p:nvCxnSpPr>
          <p:cNvPr id="15" name="直線接點 14"/>
          <p:cNvCxnSpPr/>
          <p:nvPr/>
        </p:nvCxnSpPr>
        <p:spPr>
          <a:xfrm>
            <a:off x="4429124" y="2857496"/>
            <a:ext cx="500066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4500562" y="3286124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800" dirty="0" smtClean="0"/>
              <a:t>3</a:t>
            </a:r>
            <a:endParaRPr lang="en-US" altLang="zh-TW" sz="2800" dirty="0" smtClean="0"/>
          </a:p>
        </p:txBody>
      </p:sp>
      <p:sp>
        <p:nvSpPr>
          <p:cNvPr id="17" name="投影片編號版面配置區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The Improved Hunt-Szymanski </a:t>
            </a:r>
            <a:r>
              <a:rPr lang="en-US" altLang="zh-TW" dirty="0" smtClean="0"/>
              <a:t>Algorithm(6/9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altLang="zh-TW" dirty="0" smtClean="0"/>
              <a:t>before executing the </a:t>
            </a:r>
            <a:r>
              <a:rPr lang="en-US" altLang="zh-TW" dirty="0" err="1" smtClean="0"/>
              <a:t>ith</a:t>
            </a:r>
            <a:r>
              <a:rPr lang="en-US" altLang="zh-TW" dirty="0" smtClean="0"/>
              <a:t> iteration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500298" y="2357430"/>
          <a:ext cx="6095999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/>
                <a:gridCol w="870857"/>
                <a:gridCol w="870857"/>
                <a:gridCol w="870857"/>
                <a:gridCol w="870857"/>
                <a:gridCol w="870857"/>
                <a:gridCol w="87085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78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357158" y="3786190"/>
            <a:ext cx="216155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temp = </a:t>
            </a:r>
            <a:r>
              <a:rPr lang="en-US" altLang="zh-TW" sz="3200" dirty="0" smtClean="0"/>
              <a:t>4</a:t>
            </a:r>
            <a:endParaRPr lang="en-US" altLang="zh-TW" sz="3200" dirty="0" smtClean="0"/>
          </a:p>
          <a:p>
            <a:r>
              <a:rPr lang="en-US" altLang="zh-TW" sz="3200" dirty="0" smtClean="0"/>
              <a:t>8</a:t>
            </a:r>
            <a:r>
              <a:rPr lang="en-US" altLang="zh-TW" sz="3200" dirty="0" smtClean="0"/>
              <a:t> </a:t>
            </a:r>
            <a:r>
              <a:rPr lang="en-US" altLang="zh-TW" sz="3200" dirty="0" smtClean="0"/>
              <a:t>&gt; temp ok</a:t>
            </a:r>
            <a:endParaRPr lang="zh-TW" altLang="en-US" sz="3200" dirty="0"/>
          </a:p>
        </p:txBody>
      </p:sp>
      <p:sp>
        <p:nvSpPr>
          <p:cNvPr id="7" name="橢圓 6"/>
          <p:cNvSpPr/>
          <p:nvPr/>
        </p:nvSpPr>
        <p:spPr>
          <a:xfrm>
            <a:off x="3071802" y="6072206"/>
            <a:ext cx="285752" cy="42862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向右箭號 7"/>
          <p:cNvSpPr/>
          <p:nvPr/>
        </p:nvSpPr>
        <p:spPr>
          <a:xfrm>
            <a:off x="2571736" y="4214818"/>
            <a:ext cx="785818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3428992" y="3857628"/>
            <a:ext cx="249241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f</a:t>
            </a:r>
            <a:r>
              <a:rPr lang="en-US" altLang="zh-TW" sz="3200" dirty="0" smtClean="0"/>
              <a:t>inding</a:t>
            </a:r>
          </a:p>
          <a:p>
            <a:r>
              <a:rPr lang="en-US" altLang="zh-TW" sz="3200" dirty="0" smtClean="0"/>
              <a:t> 8</a:t>
            </a:r>
            <a:r>
              <a:rPr lang="zh-TW" altLang="en-US" sz="3200" dirty="0" smtClean="0"/>
              <a:t>≦</a:t>
            </a:r>
            <a:r>
              <a:rPr lang="en-US" altLang="zh-TW" sz="3200" dirty="0" smtClean="0"/>
              <a:t>Thresh[3]</a:t>
            </a:r>
            <a:endParaRPr lang="zh-TW" altLang="en-US" sz="3200" dirty="0"/>
          </a:p>
        </p:txBody>
      </p:sp>
      <p:sp>
        <p:nvSpPr>
          <p:cNvPr id="10" name="向右箭號 9"/>
          <p:cNvSpPr/>
          <p:nvPr/>
        </p:nvSpPr>
        <p:spPr>
          <a:xfrm>
            <a:off x="5786446" y="4143380"/>
            <a:ext cx="785818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6674029" y="3857628"/>
            <a:ext cx="24699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temp=Thresh[3]</a:t>
            </a:r>
          </a:p>
          <a:p>
            <a:r>
              <a:rPr lang="en-US" altLang="zh-TW" sz="2800" dirty="0" smtClean="0"/>
              <a:t>Thresh[3]= </a:t>
            </a:r>
            <a:r>
              <a:rPr lang="en-US" altLang="zh-TW" sz="2800" dirty="0" smtClean="0"/>
              <a:t>8</a:t>
            </a:r>
          </a:p>
        </p:txBody>
      </p:sp>
      <p:cxnSp>
        <p:nvCxnSpPr>
          <p:cNvPr id="12" name="直線接點 11"/>
          <p:cNvCxnSpPr/>
          <p:nvPr/>
        </p:nvCxnSpPr>
        <p:spPr>
          <a:xfrm>
            <a:off x="3571868" y="2857496"/>
            <a:ext cx="500066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3643306" y="3286124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800" dirty="0" smtClean="0"/>
              <a:t>1</a:t>
            </a:r>
          </a:p>
        </p:txBody>
      </p:sp>
      <p:cxnSp>
        <p:nvCxnSpPr>
          <p:cNvPr id="14" name="直線接點 13"/>
          <p:cNvCxnSpPr/>
          <p:nvPr/>
        </p:nvCxnSpPr>
        <p:spPr>
          <a:xfrm>
            <a:off x="4429124" y="2857496"/>
            <a:ext cx="500066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4500562" y="3286124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800" dirty="0" smtClean="0"/>
              <a:t>3</a:t>
            </a:r>
            <a:endParaRPr lang="en-US" altLang="zh-TW" sz="2800" dirty="0" smtClean="0"/>
          </a:p>
        </p:txBody>
      </p:sp>
      <p:sp>
        <p:nvSpPr>
          <p:cNvPr id="16" name="矩形 15"/>
          <p:cNvSpPr/>
          <p:nvPr/>
        </p:nvSpPr>
        <p:spPr>
          <a:xfrm>
            <a:off x="0" y="6000768"/>
            <a:ext cx="778671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 err="1" smtClean="0"/>
              <a:t>MatchList</a:t>
            </a:r>
            <a:r>
              <a:rPr lang="en-US" altLang="zh-TW" sz="3200" dirty="0" smtClean="0"/>
              <a:t>[</a:t>
            </a:r>
            <a:r>
              <a:rPr lang="en-US" altLang="zh-TW" sz="3200" dirty="0" err="1" smtClean="0"/>
              <a:t>i</a:t>
            </a:r>
            <a:r>
              <a:rPr lang="en-US" altLang="zh-TW" sz="3200" dirty="0" smtClean="0"/>
              <a:t>] =&lt;1,3,8,10,13,14,17,20,52 &gt;</a:t>
            </a:r>
          </a:p>
        </p:txBody>
      </p:sp>
      <p:cxnSp>
        <p:nvCxnSpPr>
          <p:cNvPr id="17" name="直線接點 16"/>
          <p:cNvCxnSpPr/>
          <p:nvPr/>
        </p:nvCxnSpPr>
        <p:spPr>
          <a:xfrm>
            <a:off x="5286380" y="2857496"/>
            <a:ext cx="500066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5347600" y="3286124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800" dirty="0" smtClean="0"/>
              <a:t>8</a:t>
            </a:r>
          </a:p>
        </p:txBody>
      </p:sp>
      <p:sp>
        <p:nvSpPr>
          <p:cNvPr id="19" name="投影片編號版面配置區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The Improved Hunt-Szymanski </a:t>
            </a:r>
            <a:r>
              <a:rPr lang="en-US" altLang="zh-TW" dirty="0" smtClean="0"/>
              <a:t>Algorithm(7/9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altLang="zh-TW" dirty="0" smtClean="0"/>
              <a:t>before executing the </a:t>
            </a:r>
            <a:r>
              <a:rPr lang="en-US" altLang="zh-TW" dirty="0" err="1" smtClean="0"/>
              <a:t>ith</a:t>
            </a:r>
            <a:r>
              <a:rPr lang="en-US" altLang="zh-TW" dirty="0" smtClean="0"/>
              <a:t> iteration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500298" y="2357430"/>
          <a:ext cx="6095999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/>
                <a:gridCol w="870857"/>
                <a:gridCol w="870857"/>
                <a:gridCol w="870857"/>
                <a:gridCol w="870857"/>
                <a:gridCol w="870857"/>
                <a:gridCol w="87085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78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357158" y="3786190"/>
            <a:ext cx="187461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temp = </a:t>
            </a:r>
            <a:r>
              <a:rPr lang="en-US" altLang="zh-TW" sz="3200" dirty="0" smtClean="0"/>
              <a:t>30</a:t>
            </a:r>
            <a:endParaRPr lang="en-US" altLang="zh-TW" sz="3200" dirty="0" smtClean="0"/>
          </a:p>
          <a:p>
            <a:r>
              <a:rPr lang="en-US" altLang="zh-TW" sz="3200" dirty="0" smtClean="0"/>
              <a:t>10 </a:t>
            </a:r>
            <a:r>
              <a:rPr lang="en-US" altLang="zh-TW" sz="3200" dirty="0" smtClean="0"/>
              <a:t>&lt;</a:t>
            </a:r>
            <a:r>
              <a:rPr lang="en-US" altLang="zh-TW" sz="3200" dirty="0" smtClean="0"/>
              <a:t> temp</a:t>
            </a:r>
            <a:endParaRPr lang="zh-TW" altLang="en-US" sz="3200" dirty="0"/>
          </a:p>
        </p:txBody>
      </p:sp>
      <p:sp>
        <p:nvSpPr>
          <p:cNvPr id="7" name="橢圓 6"/>
          <p:cNvSpPr/>
          <p:nvPr/>
        </p:nvSpPr>
        <p:spPr>
          <a:xfrm>
            <a:off x="3500430" y="6072206"/>
            <a:ext cx="357190" cy="42862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/>
          <p:nvPr/>
        </p:nvCxnSpPr>
        <p:spPr>
          <a:xfrm>
            <a:off x="3571868" y="2857496"/>
            <a:ext cx="500066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3643306" y="3286124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800" dirty="0" smtClean="0"/>
              <a:t>1</a:t>
            </a:r>
          </a:p>
        </p:txBody>
      </p:sp>
      <p:cxnSp>
        <p:nvCxnSpPr>
          <p:cNvPr id="14" name="直線接點 13"/>
          <p:cNvCxnSpPr/>
          <p:nvPr/>
        </p:nvCxnSpPr>
        <p:spPr>
          <a:xfrm>
            <a:off x="4429124" y="2857496"/>
            <a:ext cx="500066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4500562" y="3286124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800" dirty="0" smtClean="0"/>
              <a:t>3</a:t>
            </a:r>
            <a:endParaRPr lang="en-US" altLang="zh-TW" sz="2800" dirty="0" smtClean="0"/>
          </a:p>
        </p:txBody>
      </p:sp>
      <p:sp>
        <p:nvSpPr>
          <p:cNvPr id="16" name="矩形 15"/>
          <p:cNvSpPr/>
          <p:nvPr/>
        </p:nvSpPr>
        <p:spPr>
          <a:xfrm>
            <a:off x="0" y="6000768"/>
            <a:ext cx="778671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 err="1" smtClean="0"/>
              <a:t>MatchList</a:t>
            </a:r>
            <a:r>
              <a:rPr lang="en-US" altLang="zh-TW" sz="3200" dirty="0" smtClean="0"/>
              <a:t>[</a:t>
            </a:r>
            <a:r>
              <a:rPr lang="en-US" altLang="zh-TW" sz="3200" dirty="0" err="1" smtClean="0"/>
              <a:t>i</a:t>
            </a:r>
            <a:r>
              <a:rPr lang="en-US" altLang="zh-TW" sz="3200" dirty="0" smtClean="0"/>
              <a:t>] =&lt;1,3,8,10,13,14,17,20,52 &gt;</a:t>
            </a:r>
          </a:p>
        </p:txBody>
      </p:sp>
      <p:cxnSp>
        <p:nvCxnSpPr>
          <p:cNvPr id="17" name="直線接點 16"/>
          <p:cNvCxnSpPr/>
          <p:nvPr/>
        </p:nvCxnSpPr>
        <p:spPr>
          <a:xfrm>
            <a:off x="5286380" y="2857496"/>
            <a:ext cx="500066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5347600" y="3286124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800" dirty="0" smtClean="0"/>
              <a:t>8</a:t>
            </a:r>
          </a:p>
        </p:txBody>
      </p:sp>
      <p:sp>
        <p:nvSpPr>
          <p:cNvPr id="19" name="投影片編號版面配置區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The Improved Hunt-Szymanski </a:t>
            </a:r>
            <a:r>
              <a:rPr lang="en-US" altLang="zh-TW" dirty="0" smtClean="0"/>
              <a:t>Algorithm(8/9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altLang="zh-TW" dirty="0" smtClean="0"/>
              <a:t>before executing the </a:t>
            </a:r>
            <a:r>
              <a:rPr lang="en-US" altLang="zh-TW" dirty="0" err="1" smtClean="0"/>
              <a:t>ith</a:t>
            </a:r>
            <a:r>
              <a:rPr lang="en-US" altLang="zh-TW" dirty="0" smtClean="0"/>
              <a:t> iteration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500298" y="2357430"/>
          <a:ext cx="6095999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/>
                <a:gridCol w="870857"/>
                <a:gridCol w="870857"/>
                <a:gridCol w="870857"/>
                <a:gridCol w="870857"/>
                <a:gridCol w="870857"/>
                <a:gridCol w="87085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78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橢圓 6"/>
          <p:cNvSpPr/>
          <p:nvPr/>
        </p:nvSpPr>
        <p:spPr>
          <a:xfrm>
            <a:off x="6072198" y="6072206"/>
            <a:ext cx="357190" cy="42862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/>
          <p:cNvCxnSpPr/>
          <p:nvPr/>
        </p:nvCxnSpPr>
        <p:spPr>
          <a:xfrm>
            <a:off x="3571868" y="2857496"/>
            <a:ext cx="500066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3643306" y="3286124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800" dirty="0" smtClean="0"/>
              <a:t>1</a:t>
            </a:r>
          </a:p>
        </p:txBody>
      </p:sp>
      <p:cxnSp>
        <p:nvCxnSpPr>
          <p:cNvPr id="10" name="直線接點 9"/>
          <p:cNvCxnSpPr/>
          <p:nvPr/>
        </p:nvCxnSpPr>
        <p:spPr>
          <a:xfrm>
            <a:off x="4429124" y="2857496"/>
            <a:ext cx="500066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4500562" y="3286124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800" dirty="0" smtClean="0"/>
              <a:t>3</a:t>
            </a:r>
            <a:endParaRPr lang="en-US" altLang="zh-TW" sz="2800" dirty="0" smtClean="0"/>
          </a:p>
        </p:txBody>
      </p:sp>
      <p:cxnSp>
        <p:nvCxnSpPr>
          <p:cNvPr id="12" name="直線接點 11"/>
          <p:cNvCxnSpPr/>
          <p:nvPr/>
        </p:nvCxnSpPr>
        <p:spPr>
          <a:xfrm>
            <a:off x="5286380" y="2857496"/>
            <a:ext cx="500066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5347600" y="3286124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800" dirty="0" smtClean="0"/>
              <a:t>8</a:t>
            </a:r>
          </a:p>
        </p:txBody>
      </p:sp>
      <p:sp>
        <p:nvSpPr>
          <p:cNvPr id="14" name="矩形 13"/>
          <p:cNvSpPr/>
          <p:nvPr/>
        </p:nvSpPr>
        <p:spPr>
          <a:xfrm>
            <a:off x="0" y="6000768"/>
            <a:ext cx="778671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 err="1" smtClean="0"/>
              <a:t>MatchList</a:t>
            </a:r>
            <a:r>
              <a:rPr lang="en-US" altLang="zh-TW" sz="3200" dirty="0" smtClean="0"/>
              <a:t>[</a:t>
            </a:r>
            <a:r>
              <a:rPr lang="en-US" altLang="zh-TW" sz="3200" dirty="0" err="1" smtClean="0"/>
              <a:t>i</a:t>
            </a:r>
            <a:r>
              <a:rPr lang="en-US" altLang="zh-TW" sz="3200" dirty="0" smtClean="0"/>
              <a:t>] =&lt;1,3,8,10,13,14,17,20,52 &gt;</a:t>
            </a:r>
          </a:p>
        </p:txBody>
      </p:sp>
      <p:sp>
        <p:nvSpPr>
          <p:cNvPr id="15" name="文字方塊 14"/>
          <p:cNvSpPr txBox="1"/>
          <p:nvPr/>
        </p:nvSpPr>
        <p:spPr>
          <a:xfrm>
            <a:off x="357158" y="3786190"/>
            <a:ext cx="236994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temp = </a:t>
            </a:r>
            <a:r>
              <a:rPr lang="en-US" altLang="zh-TW" sz="3200" dirty="0" smtClean="0"/>
              <a:t>30</a:t>
            </a:r>
            <a:endParaRPr lang="en-US" altLang="zh-TW" sz="3200" dirty="0" smtClean="0"/>
          </a:p>
          <a:p>
            <a:r>
              <a:rPr lang="en-US" altLang="zh-TW" sz="3200" dirty="0" smtClean="0"/>
              <a:t>52 </a:t>
            </a:r>
            <a:r>
              <a:rPr lang="en-US" altLang="zh-TW" sz="3200" dirty="0" smtClean="0"/>
              <a:t>&gt; temp ok</a:t>
            </a:r>
            <a:endParaRPr lang="zh-TW" altLang="en-US" sz="3200" dirty="0"/>
          </a:p>
        </p:txBody>
      </p:sp>
      <p:sp>
        <p:nvSpPr>
          <p:cNvPr id="16" name="向右箭號 15"/>
          <p:cNvSpPr/>
          <p:nvPr/>
        </p:nvSpPr>
        <p:spPr>
          <a:xfrm>
            <a:off x="2571736" y="4214818"/>
            <a:ext cx="785818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3428992" y="3857628"/>
            <a:ext cx="270080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f</a:t>
            </a:r>
            <a:r>
              <a:rPr lang="en-US" altLang="zh-TW" sz="3200" dirty="0" smtClean="0"/>
              <a:t>inding</a:t>
            </a:r>
          </a:p>
          <a:p>
            <a:r>
              <a:rPr lang="en-US" altLang="zh-TW" sz="3200" dirty="0" smtClean="0"/>
              <a:t> 52</a:t>
            </a:r>
            <a:r>
              <a:rPr lang="zh-TW" altLang="en-US" sz="3200" dirty="0" smtClean="0"/>
              <a:t>≦</a:t>
            </a:r>
            <a:r>
              <a:rPr lang="en-US" altLang="zh-TW" sz="3200" dirty="0" smtClean="0"/>
              <a:t>Thresh[6]</a:t>
            </a:r>
            <a:endParaRPr lang="zh-TW" altLang="en-US" sz="3200" dirty="0"/>
          </a:p>
        </p:txBody>
      </p:sp>
      <p:sp>
        <p:nvSpPr>
          <p:cNvPr id="18" name="向右箭號 17"/>
          <p:cNvSpPr/>
          <p:nvPr/>
        </p:nvSpPr>
        <p:spPr>
          <a:xfrm>
            <a:off x="5786446" y="4143380"/>
            <a:ext cx="785818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6674029" y="3857628"/>
            <a:ext cx="24699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temp=Thresh[6]</a:t>
            </a:r>
          </a:p>
          <a:p>
            <a:r>
              <a:rPr lang="en-US" altLang="zh-TW" sz="2800" dirty="0" smtClean="0"/>
              <a:t>Thresh[6]= 52</a:t>
            </a:r>
            <a:endParaRPr lang="en-US" altLang="zh-TW" sz="2800" dirty="0" smtClean="0"/>
          </a:p>
        </p:txBody>
      </p:sp>
      <p:cxnSp>
        <p:nvCxnSpPr>
          <p:cNvPr id="20" name="直線接點 19"/>
          <p:cNvCxnSpPr/>
          <p:nvPr/>
        </p:nvCxnSpPr>
        <p:spPr>
          <a:xfrm>
            <a:off x="7929586" y="2857496"/>
            <a:ext cx="500066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7990806" y="3286124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800" dirty="0" smtClean="0"/>
              <a:t>52</a:t>
            </a:r>
            <a:endParaRPr lang="en-US" altLang="zh-TW" sz="2800" dirty="0" smtClean="0"/>
          </a:p>
        </p:txBody>
      </p:sp>
      <p:sp>
        <p:nvSpPr>
          <p:cNvPr id="22" name="投影片編號版面配置區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476529" y="642918"/>
          <a:ext cx="6095999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/>
                <a:gridCol w="870857"/>
                <a:gridCol w="870857"/>
                <a:gridCol w="870857"/>
                <a:gridCol w="870857"/>
                <a:gridCol w="870857"/>
                <a:gridCol w="87085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78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5" name="直線接點 4"/>
          <p:cNvCxnSpPr/>
          <p:nvPr/>
        </p:nvCxnSpPr>
        <p:spPr>
          <a:xfrm>
            <a:off x="3548099" y="1142984"/>
            <a:ext cx="500066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/>
          <p:cNvSpPr txBox="1"/>
          <p:nvPr/>
        </p:nvSpPr>
        <p:spPr>
          <a:xfrm>
            <a:off x="3619537" y="157161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800" dirty="0" smtClean="0"/>
              <a:t>1</a:t>
            </a:r>
          </a:p>
        </p:txBody>
      </p:sp>
      <p:cxnSp>
        <p:nvCxnSpPr>
          <p:cNvPr id="7" name="直線接點 6"/>
          <p:cNvCxnSpPr/>
          <p:nvPr/>
        </p:nvCxnSpPr>
        <p:spPr>
          <a:xfrm>
            <a:off x="4405355" y="1142984"/>
            <a:ext cx="500066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4476793" y="157161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800" dirty="0" smtClean="0"/>
              <a:t>3</a:t>
            </a:r>
            <a:endParaRPr lang="en-US" altLang="zh-TW" sz="2800" dirty="0" smtClean="0"/>
          </a:p>
        </p:txBody>
      </p:sp>
      <p:cxnSp>
        <p:nvCxnSpPr>
          <p:cNvPr id="9" name="直線接點 8"/>
          <p:cNvCxnSpPr/>
          <p:nvPr/>
        </p:nvCxnSpPr>
        <p:spPr>
          <a:xfrm>
            <a:off x="5262611" y="1142984"/>
            <a:ext cx="500066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5323831" y="157161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800" dirty="0" smtClean="0"/>
              <a:t>8</a:t>
            </a:r>
          </a:p>
        </p:txBody>
      </p:sp>
      <p:cxnSp>
        <p:nvCxnSpPr>
          <p:cNvPr id="11" name="直線接點 10"/>
          <p:cNvCxnSpPr/>
          <p:nvPr/>
        </p:nvCxnSpPr>
        <p:spPr>
          <a:xfrm>
            <a:off x="7905817" y="1142984"/>
            <a:ext cx="500066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7967037" y="1571612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800" dirty="0" smtClean="0"/>
              <a:t>52</a:t>
            </a:r>
            <a:endParaRPr lang="en-US" altLang="zh-TW" sz="2800" dirty="0" smtClean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2500298" y="2894484"/>
          <a:ext cx="6095999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/>
                <a:gridCol w="870857"/>
                <a:gridCol w="870857"/>
                <a:gridCol w="870857"/>
                <a:gridCol w="870857"/>
                <a:gridCol w="870857"/>
                <a:gridCol w="87085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78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4" name="直線接點 13"/>
          <p:cNvCxnSpPr/>
          <p:nvPr/>
        </p:nvCxnSpPr>
        <p:spPr>
          <a:xfrm>
            <a:off x="5286380" y="3394550"/>
            <a:ext cx="500066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5286380" y="3966054"/>
            <a:ext cx="550151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800" dirty="0" smtClean="0"/>
              <a:t>20</a:t>
            </a:r>
          </a:p>
          <a:p>
            <a:pPr algn="ctr"/>
            <a:r>
              <a:rPr lang="en-US" altLang="zh-TW" sz="2800" dirty="0" smtClean="0"/>
              <a:t>17</a:t>
            </a:r>
          </a:p>
          <a:p>
            <a:pPr algn="ctr"/>
            <a:r>
              <a:rPr lang="en-US" altLang="zh-TW" sz="2800" dirty="0" smtClean="0"/>
              <a:t>14</a:t>
            </a:r>
          </a:p>
          <a:p>
            <a:pPr algn="ctr"/>
            <a:r>
              <a:rPr lang="en-US" altLang="zh-TW" sz="2800" dirty="0" smtClean="0"/>
              <a:t>13</a:t>
            </a:r>
          </a:p>
          <a:p>
            <a:pPr algn="ctr"/>
            <a:r>
              <a:rPr lang="en-US" altLang="zh-TW" sz="2800" dirty="0" smtClean="0"/>
              <a:t>10</a:t>
            </a:r>
          </a:p>
          <a:p>
            <a:pPr algn="ctr"/>
            <a:r>
              <a:rPr lang="en-US" altLang="zh-TW" sz="2800" dirty="0" smtClean="0"/>
              <a:t>8</a:t>
            </a:r>
          </a:p>
        </p:txBody>
      </p:sp>
      <p:cxnSp>
        <p:nvCxnSpPr>
          <p:cNvPr id="16" name="直線接點 15"/>
          <p:cNvCxnSpPr/>
          <p:nvPr/>
        </p:nvCxnSpPr>
        <p:spPr>
          <a:xfrm>
            <a:off x="5357818" y="4037492"/>
            <a:ext cx="500066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5286380" y="4466120"/>
            <a:ext cx="500066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5357818" y="4894748"/>
            <a:ext cx="500066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5357818" y="5323376"/>
            <a:ext cx="500066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7929586" y="3394550"/>
            <a:ext cx="500066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7858148" y="3894616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800" dirty="0" smtClean="0"/>
              <a:t>52</a:t>
            </a:r>
          </a:p>
        </p:txBody>
      </p:sp>
      <p:sp>
        <p:nvSpPr>
          <p:cNvPr id="22" name="文字方塊 21"/>
          <p:cNvSpPr txBox="1"/>
          <p:nvPr/>
        </p:nvSpPr>
        <p:spPr>
          <a:xfrm>
            <a:off x="4500562" y="3966054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800" dirty="0" smtClean="0"/>
              <a:t>3</a:t>
            </a:r>
          </a:p>
        </p:txBody>
      </p:sp>
      <p:sp>
        <p:nvSpPr>
          <p:cNvPr id="23" name="文字方塊 22"/>
          <p:cNvSpPr txBox="1"/>
          <p:nvPr/>
        </p:nvSpPr>
        <p:spPr>
          <a:xfrm>
            <a:off x="3571868" y="3966054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800" dirty="0" smtClean="0"/>
              <a:t>1</a:t>
            </a:r>
          </a:p>
        </p:txBody>
      </p:sp>
      <p:cxnSp>
        <p:nvCxnSpPr>
          <p:cNvPr id="24" name="直線接點 23"/>
          <p:cNvCxnSpPr/>
          <p:nvPr/>
        </p:nvCxnSpPr>
        <p:spPr>
          <a:xfrm>
            <a:off x="4429124" y="3394550"/>
            <a:ext cx="500066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>
            <a:off x="3571868" y="3394550"/>
            <a:ext cx="500066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/>
          <p:nvPr/>
        </p:nvCxnSpPr>
        <p:spPr>
          <a:xfrm>
            <a:off x="5357818" y="5752004"/>
            <a:ext cx="500066" cy="35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投影片編號版面配置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 Analysis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86320"/>
          </a:xfrm>
        </p:spPr>
        <p:txBody>
          <a:bodyPr>
            <a:normAutofit/>
          </a:bodyPr>
          <a:lstStyle/>
          <a:p>
            <a:r>
              <a:rPr lang="en-US" altLang="zh-TW" dirty="0" err="1" smtClean="0"/>
              <a:t>MatchList</a:t>
            </a:r>
            <a:r>
              <a:rPr lang="en-US" altLang="zh-TW" dirty="0" smtClean="0"/>
              <a:t> needs O(</a:t>
            </a:r>
            <a:r>
              <a:rPr lang="en-US" altLang="zh-TW" dirty="0" err="1" smtClean="0"/>
              <a:t>nlogn</a:t>
            </a:r>
            <a:r>
              <a:rPr lang="en-US" altLang="zh-TW" dirty="0" smtClean="0"/>
              <a:t>) </a:t>
            </a:r>
            <a:r>
              <a:rPr lang="en-US" altLang="zh-TW" dirty="0" smtClean="0"/>
              <a:t>time</a:t>
            </a:r>
          </a:p>
          <a:p>
            <a:r>
              <a:rPr lang="en-US" altLang="zh-TW" dirty="0" err="1" smtClean="0"/>
              <a:t>MatchList</a:t>
            </a:r>
            <a:r>
              <a:rPr lang="en-US" altLang="zh-TW" dirty="0" smtClean="0"/>
              <a:t> has been visited r times</a:t>
            </a:r>
          </a:p>
          <a:p>
            <a:r>
              <a:rPr lang="en-US" altLang="zh-TW" dirty="0" smtClean="0"/>
              <a:t>O(</a:t>
            </a:r>
            <a:r>
              <a:rPr lang="en-US" altLang="zh-TW" dirty="0" err="1" smtClean="0"/>
              <a:t>nLLCS</a:t>
            </a:r>
            <a:r>
              <a:rPr lang="en-US" altLang="zh-TW" dirty="0" smtClean="0"/>
              <a:t>(A, B))</a:t>
            </a:r>
          </a:p>
          <a:p>
            <a:r>
              <a:rPr lang="en-US" altLang="zh-TW" dirty="0" smtClean="0"/>
              <a:t>Improved </a:t>
            </a:r>
            <a:r>
              <a:rPr lang="en-US" altLang="zh-TW" dirty="0" err="1" smtClean="0"/>
              <a:t>alogrithm</a:t>
            </a:r>
            <a:r>
              <a:rPr lang="en-US" altLang="zh-TW" dirty="0" smtClean="0"/>
              <a:t> has time complexity: </a:t>
            </a:r>
          </a:p>
          <a:p>
            <a:pPr>
              <a:buNone/>
            </a:pPr>
            <a:r>
              <a:rPr lang="en-US" altLang="zh-TW" dirty="0" smtClean="0"/>
              <a:t>    </a:t>
            </a:r>
            <a:r>
              <a:rPr lang="en-US" altLang="zh-TW" dirty="0" smtClean="0">
                <a:solidFill>
                  <a:srgbClr val="FF0000"/>
                </a:solidFill>
              </a:rPr>
              <a:t>O(r + n(LLCS(A, B) + </a:t>
            </a:r>
            <a:r>
              <a:rPr lang="en-US" altLang="zh-TW" dirty="0" err="1" smtClean="0">
                <a:solidFill>
                  <a:srgbClr val="FF0000"/>
                </a:solidFill>
              </a:rPr>
              <a:t>logn</a:t>
            </a:r>
            <a:r>
              <a:rPr lang="en-US" altLang="zh-TW" dirty="0" smtClean="0">
                <a:solidFill>
                  <a:srgbClr val="FF0000"/>
                </a:solidFill>
              </a:rPr>
              <a:t>))</a:t>
            </a:r>
          </a:p>
          <a:p>
            <a:pPr>
              <a:buNone/>
            </a:pPr>
            <a:r>
              <a:rPr lang="en-US" altLang="zh-TW" dirty="0" smtClean="0"/>
              <a:t>|A| = |B| = n</a:t>
            </a:r>
          </a:p>
          <a:p>
            <a:pPr>
              <a:buNone/>
            </a:pPr>
            <a:r>
              <a:rPr lang="en-US" altLang="zh-TW" dirty="0" smtClean="0"/>
              <a:t>r</a:t>
            </a:r>
            <a:r>
              <a:rPr lang="en-US" altLang="zh-TW" dirty="0" smtClean="0"/>
              <a:t> is the number of elements in the set</a:t>
            </a:r>
          </a:p>
          <a:p>
            <a:pPr>
              <a:buNone/>
            </a:pPr>
            <a:r>
              <a:rPr lang="en-US" altLang="zh-TW" dirty="0" smtClean="0"/>
              <a:t>{(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, j)|A[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] = B[J]}</a:t>
            </a:r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Experimental Results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714488"/>
            <a:ext cx="7786742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文字方塊 5"/>
          <p:cNvSpPr txBox="1"/>
          <p:nvPr/>
        </p:nvSpPr>
        <p:spPr>
          <a:xfrm>
            <a:off x="642910" y="5786454"/>
            <a:ext cx="367786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Thousandth of a second</a:t>
            </a:r>
          </a:p>
          <a:p>
            <a:r>
              <a:rPr lang="en-US" altLang="zh-TW" sz="2800" dirty="0" smtClean="0"/>
              <a:t>|A| = |B| = n</a:t>
            </a:r>
            <a:endParaRPr lang="zh-TW" altLang="en-US" sz="2800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 algn="ctr">
              <a:buNone/>
            </a:pPr>
            <a:r>
              <a:rPr lang="en-US" altLang="zh-TW" dirty="0" smtClean="0"/>
              <a:t>Thanks for listening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1557</TotalTime>
  <Words>1531</Words>
  <PresentationFormat>如螢幕大小 (4:3)</PresentationFormat>
  <Paragraphs>495</Paragraphs>
  <Slides>34</Slides>
  <Notes>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34</vt:i4>
      </vt:variant>
    </vt:vector>
  </HeadingPairs>
  <TitlesOfParts>
    <vt:vector size="35" baseType="lpstr">
      <vt:lpstr>Office 佈景主題</vt:lpstr>
      <vt:lpstr>Bit-Parallel LCS-length Computation Revisited</vt:lpstr>
      <vt:lpstr>Abstract</vt:lpstr>
      <vt:lpstr>Allison-Dix(1/3)</vt:lpstr>
      <vt:lpstr>Allison-Dix(2/3)</vt:lpstr>
      <vt:lpstr>Allison-Dix(3/3)</vt:lpstr>
      <vt:lpstr>投影片 6</vt:lpstr>
      <vt:lpstr>Crochemore et al.</vt:lpstr>
      <vt:lpstr>投影片 8</vt:lpstr>
      <vt:lpstr>Our Improved Formula</vt:lpstr>
      <vt:lpstr>投影片 10</vt:lpstr>
      <vt:lpstr>Performance(1/2)</vt:lpstr>
      <vt:lpstr>Performance(2/2)</vt:lpstr>
      <vt:lpstr>投影片 13</vt:lpstr>
      <vt:lpstr>Abstract</vt:lpstr>
      <vt:lpstr>The Original Hunt-Szymanski Algorithm</vt:lpstr>
      <vt:lpstr>投影片 16</vt:lpstr>
      <vt:lpstr>投影片 17</vt:lpstr>
      <vt:lpstr>投影片 18</vt:lpstr>
      <vt:lpstr>投影片 19</vt:lpstr>
      <vt:lpstr>投影片 20</vt:lpstr>
      <vt:lpstr>投影片 21</vt:lpstr>
      <vt:lpstr>Time Analysis</vt:lpstr>
      <vt:lpstr>The Improved Hunt-Szymanski Algorithm(1/9)</vt:lpstr>
      <vt:lpstr>The Improved Hunt-Szymanski Algorithm(2/9)</vt:lpstr>
      <vt:lpstr>The Improved Hunt-Szymanski Algorithm(3/9)</vt:lpstr>
      <vt:lpstr>The Improved Hunt-Szymanski Algorithm(4/9)</vt:lpstr>
      <vt:lpstr>The Improved Hunt-Szymanski Algorithm(5/9)</vt:lpstr>
      <vt:lpstr>The Improved Hunt-Szymanski Algorithm(6/9)</vt:lpstr>
      <vt:lpstr>The Improved Hunt-Szymanski Algorithm(7/9)</vt:lpstr>
      <vt:lpstr>The Improved Hunt-Szymanski Algorithm(8/9)</vt:lpstr>
      <vt:lpstr>投影片 31</vt:lpstr>
      <vt:lpstr>Time Analysis</vt:lpstr>
      <vt:lpstr>Experimental Results</vt:lpstr>
      <vt:lpstr>投影片 34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Bit-Parallel LCS-length Computation Revisited</dc:title>
  <cp:lastModifiedBy>user</cp:lastModifiedBy>
  <cp:revision>105</cp:revision>
  <dcterms:modified xsi:type="dcterms:W3CDTF">2014-07-29T10:29:36Z</dcterms:modified>
</cp:coreProperties>
</file>