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93" r:id="rId4"/>
    <p:sldId id="258" r:id="rId5"/>
    <p:sldId id="261" r:id="rId6"/>
    <p:sldId id="262" r:id="rId7"/>
    <p:sldId id="259" r:id="rId8"/>
    <p:sldId id="270" r:id="rId9"/>
    <p:sldId id="263" r:id="rId10"/>
    <p:sldId id="276" r:id="rId11"/>
    <p:sldId id="289" r:id="rId12"/>
    <p:sldId id="277" r:id="rId13"/>
    <p:sldId id="266" r:id="rId14"/>
    <p:sldId id="291" r:id="rId15"/>
    <p:sldId id="292" r:id="rId16"/>
    <p:sldId id="274" r:id="rId17"/>
    <p:sldId id="275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  <a:srgbClr val="FFFFCC"/>
    <a:srgbClr val="FF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98" autoAdjust="0"/>
  </p:normalViewPr>
  <p:slideViewPr>
    <p:cSldViewPr>
      <p:cViewPr varScale="1">
        <p:scale>
          <a:sx n="116" d="100"/>
          <a:sy n="116" d="100"/>
        </p:scale>
        <p:origin x="14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8C25-3BBA-48C1-90E9-DC544C31DB7C}" type="datetimeFigureOut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70C93-EEEA-4B52-815E-D24010254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05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91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83E4-F123-4500-948A-69347FAC3D33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850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F13C-4328-42F6-B6F3-EC72A0CFC1A4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83222-D289-41CC-9733-F51F1634BCC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161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A6A2-1CDB-48F2-A95A-10E0238E1885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70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2CDE-6738-444E-8E61-B3A1F23203A0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64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0CE1-8824-4C42-B9E1-FA28E99BE653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94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8240-144C-4A2A-8708-7D307E938659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49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C9A-A783-490B-9546-8C560E6A696C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61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F1A3-B26A-4A4E-9234-D8034C0DDD1D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55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0AEB-81FE-4657-94D2-10A36DBD5A50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25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174-E91C-4D8D-9779-D0A91070D678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04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0263-48F3-4EBC-8231-D7AB22C2D693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64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6DCD1-B4AA-4C12-AA7A-A4B4A75C42AD}" type="datetime1">
              <a:rPr lang="zh-TW" altLang="en-US" smtClean="0"/>
              <a:t>2014/7/29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2154A-7944-49D8-9ABC-66E253E15366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082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Flexible Dynamic Time Warping for Time </a:t>
            </a:r>
            <a:r>
              <a:rPr lang="en-US" altLang="zh-TW" b="1" dirty="0" smtClean="0"/>
              <a:t>Series Classification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Presenter: </a:t>
            </a:r>
            <a:r>
              <a:rPr lang="en-US" altLang="zh-TW" dirty="0" err="1">
                <a:solidFill>
                  <a:schemeClr val="tx1"/>
                </a:solidFill>
              </a:rPr>
              <a:t>Che-Jui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</a:rPr>
              <a:t>Hsu (</a:t>
            </a:r>
            <a:r>
              <a:rPr lang="zh-TW" altLang="en-US" dirty="0">
                <a:solidFill>
                  <a:schemeClr val="tx1"/>
                </a:solidFill>
              </a:rPr>
              <a:t>許哲睿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Advisor: </a:t>
            </a:r>
            <a:r>
              <a:rPr lang="en-US" altLang="zh-TW" dirty="0" smtClean="0">
                <a:solidFill>
                  <a:schemeClr val="tx1"/>
                </a:solidFill>
              </a:rPr>
              <a:t>Dr. Chang-</a:t>
            </a:r>
            <a:r>
              <a:rPr lang="en-US" altLang="zh-TW" dirty="0" err="1" smtClean="0">
                <a:solidFill>
                  <a:schemeClr val="tx1"/>
                </a:solidFill>
              </a:rPr>
              <a:t>Biau</a:t>
            </a:r>
            <a:r>
              <a:rPr lang="en-US" altLang="zh-TW" dirty="0" smtClean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Yang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Date</a:t>
            </a:r>
            <a:r>
              <a:rPr lang="en-US" altLang="zh-TW" dirty="0" smtClean="0">
                <a:solidFill>
                  <a:schemeClr val="tx1"/>
                </a:solidFill>
              </a:rPr>
              <a:t>: </a:t>
            </a:r>
            <a:fld id="{D66967A2-1081-484D-90A1-F21B96511FF2}" type="datetime1">
              <a:rPr lang="zh-TW" altLang="en-US" smtClean="0">
                <a:solidFill>
                  <a:schemeClr val="tx1"/>
                </a:solidFill>
              </a:rPr>
              <a:t>2014/7/29</a:t>
            </a:fld>
            <a:endParaRPr lang="en-US" altLang="zh-TW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45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Time </a:t>
            </a:r>
            <a:r>
              <a:rPr lang="en-US" altLang="zh-TW" b="1" dirty="0" smtClean="0"/>
              <a:t>Series Classification Problem (1/2)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This </a:t>
                </a:r>
                <a:r>
                  <a:rPr lang="en-US" altLang="zh-TW" dirty="0"/>
                  <a:t>problem is </a:t>
                </a:r>
                <a:r>
                  <a:rPr lang="en-US" altLang="zh-TW" dirty="0" smtClean="0"/>
                  <a:t>to classify </a:t>
                </a:r>
                <a:r>
                  <a:rPr lang="en-US" altLang="zh-TW" dirty="0"/>
                  <a:t>a new time series sequence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in a prepared dataset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dirty="0"/>
                  <a:t> composed of </a:t>
                </a:r>
                <a:r>
                  <a:rPr lang="en-US" altLang="zh-TW" dirty="0" smtClean="0"/>
                  <a:t>several classified </a:t>
                </a:r>
                <a:r>
                  <a:rPr lang="en-US" altLang="zh-TW" dirty="0"/>
                  <a:t>clusters and each cluster has several time series sequences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To solve this problem, one of the methods is to calculate the distance between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dirty="0"/>
                  <a:t> and each time series sequence in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dirty="0"/>
                  <a:t>, and then choose the cluster of the highest frequency based on the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 nearest neighbors 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-NN) </a:t>
                </a:r>
                <a:r>
                  <a:rPr lang="en-US" altLang="zh-TW" dirty="0" smtClean="0"/>
                  <a:t>algorithm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2830" r="-2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71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Time Series Classification </a:t>
            </a:r>
            <a:r>
              <a:rPr lang="en-US" altLang="zh-TW" b="1" dirty="0" smtClean="0"/>
              <a:t>Problem (2/2)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046515" y="1810953"/>
            <a:ext cx="7050969" cy="4104456"/>
            <a:chOff x="1046515" y="1810953"/>
            <a:chExt cx="7050969" cy="4104456"/>
          </a:xfrm>
        </p:grpSpPr>
        <p:sp>
          <p:nvSpPr>
            <p:cNvPr id="5" name="圓角矩形 4"/>
            <p:cNvSpPr/>
            <p:nvPr/>
          </p:nvSpPr>
          <p:spPr>
            <a:xfrm>
              <a:off x="3622645" y="1810953"/>
              <a:ext cx="4474839" cy="410445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/>
            <p:cNvSpPr/>
            <p:nvPr/>
          </p:nvSpPr>
          <p:spPr>
            <a:xfrm>
              <a:off x="4353068" y="2243001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>
              <a:off x="4785116" y="2387017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4444210" y="2819065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6767922" y="327695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7277149" y="2988922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7151626" y="3632132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4929132" y="2891073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5217164" y="2531033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6557069" y="2883341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5870407" y="4259225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5713040" y="4822756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6356875" y="4632336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5260458" y="4488320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5425008" y="5276275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3993028" y="1997509"/>
              <a:ext cx="1728191" cy="148194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6230447" y="2603041"/>
              <a:ext cx="1651013" cy="151216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6158439" y="5172396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4929132" y="4115209"/>
              <a:ext cx="2016223" cy="1728192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7463565" y="4731637"/>
                  <a:ext cx="42442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3565" y="4731637"/>
                  <a:ext cx="424426" cy="584775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橢圓 25"/>
            <p:cNvSpPr/>
            <p:nvPr/>
          </p:nvSpPr>
          <p:spPr>
            <a:xfrm>
              <a:off x="1108897" y="3205576"/>
              <a:ext cx="288032" cy="288032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1046515" y="3028311"/>
                  <a:ext cx="42442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515" y="3028311"/>
                  <a:ext cx="424426" cy="58477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直線單箭頭接點 78"/>
            <p:cNvCxnSpPr>
              <a:stCxn id="26" idx="6"/>
              <a:endCxn id="18" idx="2"/>
            </p:cNvCxnSpPr>
            <p:nvPr/>
          </p:nvCxnSpPr>
          <p:spPr>
            <a:xfrm>
              <a:off x="1396929" y="3349592"/>
              <a:ext cx="3863529" cy="1282744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/>
            <p:cNvCxnSpPr>
              <a:stCxn id="26" idx="6"/>
              <a:endCxn id="19" idx="2"/>
            </p:cNvCxnSpPr>
            <p:nvPr/>
          </p:nvCxnSpPr>
          <p:spPr>
            <a:xfrm>
              <a:off x="1396929" y="3349592"/>
              <a:ext cx="4028079" cy="2070699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>
              <a:stCxn id="26" idx="6"/>
              <a:endCxn id="9" idx="2"/>
            </p:cNvCxnSpPr>
            <p:nvPr/>
          </p:nvCxnSpPr>
          <p:spPr>
            <a:xfrm>
              <a:off x="1396929" y="3349592"/>
              <a:ext cx="5370993" cy="7137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單箭頭接點 63"/>
            <p:cNvCxnSpPr>
              <a:stCxn id="26" idx="6"/>
              <a:endCxn id="11" idx="2"/>
            </p:cNvCxnSpPr>
            <p:nvPr/>
          </p:nvCxnSpPr>
          <p:spPr>
            <a:xfrm>
              <a:off x="1396929" y="3349592"/>
              <a:ext cx="5754697" cy="426556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/>
            <p:cNvCxnSpPr>
              <a:stCxn id="26" idx="6"/>
              <a:endCxn id="6" idx="2"/>
            </p:cNvCxnSpPr>
            <p:nvPr/>
          </p:nvCxnSpPr>
          <p:spPr>
            <a:xfrm flipV="1">
              <a:off x="1396929" y="2387017"/>
              <a:ext cx="2956139" cy="96257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26" idx="6"/>
              <a:endCxn id="7" idx="2"/>
            </p:cNvCxnSpPr>
            <p:nvPr/>
          </p:nvCxnSpPr>
          <p:spPr>
            <a:xfrm flipV="1">
              <a:off x="1396929" y="2531033"/>
              <a:ext cx="3388187" cy="818559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26" idx="6"/>
              <a:endCxn id="8" idx="2"/>
            </p:cNvCxnSpPr>
            <p:nvPr/>
          </p:nvCxnSpPr>
          <p:spPr>
            <a:xfrm flipV="1">
              <a:off x="1396929" y="2963081"/>
              <a:ext cx="3047281" cy="386511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>
              <a:stCxn id="26" idx="6"/>
              <a:endCxn id="12" idx="2"/>
            </p:cNvCxnSpPr>
            <p:nvPr/>
          </p:nvCxnSpPr>
          <p:spPr>
            <a:xfrm flipV="1">
              <a:off x="1396929" y="3035089"/>
              <a:ext cx="3532203" cy="314503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>
              <a:stCxn id="26" idx="6"/>
              <a:endCxn id="13" idx="2"/>
            </p:cNvCxnSpPr>
            <p:nvPr/>
          </p:nvCxnSpPr>
          <p:spPr>
            <a:xfrm flipV="1">
              <a:off x="1396929" y="2675049"/>
              <a:ext cx="3820235" cy="674543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>
              <a:stCxn id="26" idx="6"/>
              <a:endCxn id="14" idx="2"/>
            </p:cNvCxnSpPr>
            <p:nvPr/>
          </p:nvCxnSpPr>
          <p:spPr>
            <a:xfrm flipV="1">
              <a:off x="1396929" y="3027357"/>
              <a:ext cx="5160140" cy="32223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>
              <a:stCxn id="26" idx="6"/>
              <a:endCxn id="10" idx="2"/>
            </p:cNvCxnSpPr>
            <p:nvPr/>
          </p:nvCxnSpPr>
          <p:spPr>
            <a:xfrm flipV="1">
              <a:off x="1396929" y="3132938"/>
              <a:ext cx="5880220" cy="216654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單箭頭接點 66"/>
            <p:cNvCxnSpPr>
              <a:stCxn id="26" idx="6"/>
              <a:endCxn id="15" idx="2"/>
            </p:cNvCxnSpPr>
            <p:nvPr/>
          </p:nvCxnSpPr>
          <p:spPr>
            <a:xfrm>
              <a:off x="1396929" y="3349592"/>
              <a:ext cx="4473478" cy="1053649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>
              <a:stCxn id="26" idx="6"/>
              <a:endCxn id="17" idx="2"/>
            </p:cNvCxnSpPr>
            <p:nvPr/>
          </p:nvCxnSpPr>
          <p:spPr>
            <a:xfrm>
              <a:off x="1396929" y="3349592"/>
              <a:ext cx="4959946" cy="142676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>
              <a:stCxn id="26" idx="6"/>
              <a:endCxn id="22" idx="2"/>
            </p:cNvCxnSpPr>
            <p:nvPr/>
          </p:nvCxnSpPr>
          <p:spPr>
            <a:xfrm>
              <a:off x="1396929" y="3349592"/>
              <a:ext cx="4761510" cy="196682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>
              <a:stCxn id="26" idx="6"/>
              <a:endCxn id="16" idx="2"/>
            </p:cNvCxnSpPr>
            <p:nvPr/>
          </p:nvCxnSpPr>
          <p:spPr>
            <a:xfrm>
              <a:off x="1396929" y="3349592"/>
              <a:ext cx="4316111" cy="161718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字方塊 41"/>
                <p:cNvSpPr txBox="1"/>
                <p:nvPr/>
              </p:nvSpPr>
              <p:spPr>
                <a:xfrm>
                  <a:off x="1912915" y="4257630"/>
                  <a:ext cx="140928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3200" b="0" i="1" dirty="0" smtClean="0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zh-TW" altLang="en-US" sz="3200" dirty="0"/>
                </a:p>
              </p:txBody>
            </p:sp>
          </mc:Choice>
          <mc:Fallback>
            <p:sp>
              <p:nvSpPr>
                <p:cNvPr id="42" name="文字方塊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915" y="4257630"/>
                  <a:ext cx="1409282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2731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319" t="2481"/>
          <a:stretch/>
        </p:blipFill>
        <p:spPr>
          <a:xfrm>
            <a:off x="77562" y="4223651"/>
            <a:ext cx="8988875" cy="2600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Dynamic Time Warping Algorithm (1/3)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4</a:t>
            </a:fld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875818" y="1600200"/>
            <a:ext cx="7271470" cy="2569852"/>
            <a:chOff x="875818" y="1600200"/>
            <a:chExt cx="7271470" cy="2569852"/>
          </a:xfrm>
        </p:grpSpPr>
        <p:grpSp>
          <p:nvGrpSpPr>
            <p:cNvPr id="29" name="群組 28"/>
            <p:cNvGrpSpPr/>
            <p:nvPr/>
          </p:nvGrpSpPr>
          <p:grpSpPr>
            <a:xfrm>
              <a:off x="3413195" y="1600200"/>
              <a:ext cx="2664296" cy="2569852"/>
              <a:chOff x="3275856" y="4221088"/>
              <a:chExt cx="2664296" cy="2569852"/>
            </a:xfrm>
          </p:grpSpPr>
          <p:sp>
            <p:nvSpPr>
              <p:cNvPr id="7" name="橢圓 6"/>
              <p:cNvSpPr/>
              <p:nvPr/>
            </p:nvSpPr>
            <p:spPr>
              <a:xfrm>
                <a:off x="3275856" y="4221088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5436096" y="4221088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/>
              <p:cNvSpPr/>
              <p:nvPr/>
            </p:nvSpPr>
            <p:spPr>
              <a:xfrm>
                <a:off x="3275856" y="6286884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橢圓 9"/>
              <p:cNvSpPr/>
              <p:nvPr/>
            </p:nvSpPr>
            <p:spPr>
              <a:xfrm>
                <a:off x="5436096" y="6286884"/>
                <a:ext cx="504056" cy="5040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5" name="直線單箭頭接點 14"/>
              <p:cNvCxnSpPr>
                <a:stCxn id="8" idx="4"/>
                <a:endCxn id="10" idx="0"/>
              </p:cNvCxnSpPr>
              <p:nvPr/>
            </p:nvCxnSpPr>
            <p:spPr>
              <a:xfrm>
                <a:off x="5688124" y="4725144"/>
                <a:ext cx="0" cy="156174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/>
              <p:cNvCxnSpPr>
                <a:stCxn id="7" idx="5"/>
                <a:endCxn id="10" idx="1"/>
              </p:cNvCxnSpPr>
              <p:nvPr/>
            </p:nvCxnSpPr>
            <p:spPr>
              <a:xfrm>
                <a:off x="3706095" y="4651327"/>
                <a:ext cx="1803818" cy="170937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>
                <a:stCxn id="9" idx="6"/>
                <a:endCxn id="10" idx="2"/>
              </p:cNvCxnSpPr>
              <p:nvPr/>
            </p:nvCxnSpPr>
            <p:spPr>
              <a:xfrm>
                <a:off x="3779912" y="6538912"/>
                <a:ext cx="165618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/>
                <p:cNvSpPr txBox="1"/>
                <p:nvPr/>
              </p:nvSpPr>
              <p:spPr>
                <a:xfrm>
                  <a:off x="875818" y="1620798"/>
                  <a:ext cx="25373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3" name="文字方塊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18" y="1620798"/>
                  <a:ext cx="2537377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481" b="-157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6081643" y="1620798"/>
                  <a:ext cx="206564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9" name="文字方塊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1643" y="1620798"/>
                  <a:ext cx="2065645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/>
                <p:cNvSpPr txBox="1"/>
                <p:nvPr/>
              </p:nvSpPr>
              <p:spPr>
                <a:xfrm>
                  <a:off x="1403648" y="3687191"/>
                  <a:ext cx="200954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1" name="文字方塊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648" y="3687191"/>
                  <a:ext cx="2009546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03" b="-157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/>
                <p:cNvSpPr txBox="1"/>
                <p:nvPr/>
              </p:nvSpPr>
              <p:spPr>
                <a:xfrm>
                  <a:off x="6077491" y="3683458"/>
                  <a:ext cx="14468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2" name="文字方塊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7491" y="3683458"/>
                  <a:ext cx="1446837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266" b="-1710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85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Dynamic Time Warping </a:t>
            </a:r>
            <a:r>
              <a:rPr lang="en-US" altLang="zh-TW" b="1" dirty="0" smtClean="0"/>
              <a:t>Algorithm (2/3)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= {0.3, 0.6, 0.2, 0.7, 0.5, 0.4}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s-ES" altLang="zh-TW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" altLang="zh-TW" i="1" dirty="0" smtClean="0">
                        <a:latin typeface="Cambria Math" panose="02040503050406030204" pitchFamily="18" charset="0"/>
                      </a:rPr>
                      <m:t> = {0.2, 0.4, 0.8, 0.1, 0.4}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6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781"/>
                  </p:ext>
                </p:extLst>
              </p:nvPr>
            </p:nvGraphicFramePr>
            <p:xfrm>
              <a:off x="457204" y="2780930"/>
              <a:ext cx="8229599" cy="3345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</a:tblGrid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0.1+0.1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0.2+0.5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0.1+0.4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0.2+0.2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0.4+0.5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0.3+0.6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0.4+0.1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0.5+0.5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0.5+0.6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0.5+0.3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0.6+0.4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0.8+0.1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1.3+0.2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0.9+0.4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0.9+0.3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0.9+0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781"/>
                  </p:ext>
                </p:extLst>
              </p:nvPr>
            </p:nvGraphicFramePr>
            <p:xfrm>
              <a:off x="457204" y="2780930"/>
              <a:ext cx="8229599" cy="3345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  <a:gridCol w="1175657"/>
                  </a:tblGrid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0.1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102941" r="-4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102941" r="-3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102941" r="-2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102941" r="-101036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102941" r="-1036" b="-623529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200000" r="-5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200000" r="-4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200000" r="-3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200000" r="-2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200000" r="-101036" b="-5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200000" r="-1036" b="-514493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300000" r="-5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300000" r="-4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300000" r="-3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300000" r="-2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300000" r="-101036" b="-414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300000" r="-1036" b="-414493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0.2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405882" r="-5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405882" r="-4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405882" r="-3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405882" r="-2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405882" r="-101036" b="-32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405882" r="-1036" b="-320588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498551" r="-5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498551" r="-4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498551" r="-3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498551" r="-2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498551" r="-101036" b="-2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498551" r="-1036" b="-215942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607353" r="-5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607353" r="-4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607353" r="-3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607353" r="-2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607353" r="-101036" b="-119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607353" r="-1036" b="-119118"/>
                          </a:stretch>
                        </a:blipFill>
                      </a:tcPr>
                    </a:tc>
                  </a:tr>
                  <a:tr h="4181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 smtClean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100000" t="-697101" r="-5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200000" t="-697101" r="-4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300000" t="-697101" r="-3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400000" t="-697101" r="-2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500000" t="-697101" r="-101036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3"/>
                          <a:stretch>
                            <a:fillRect l="-600000" t="-697101" r="-1036" b="-1739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761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Dynamic Time Warping Algorithm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111" y="1600200"/>
            <a:ext cx="6831778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3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Warping Windows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49" y="1599164"/>
            <a:ext cx="8327101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Algorithm </a:t>
            </a:r>
            <a:r>
              <a:rPr lang="en-US" altLang="zh-TW" b="1" dirty="0" smtClean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Try </a:t>
            </a:r>
            <a:r>
              <a:rPr lang="en-US" altLang="zh-TW" dirty="0"/>
              <a:t>to find a new method without applying the </a:t>
            </a:r>
            <a:r>
              <a:rPr lang="en-US" altLang="zh-TW" dirty="0" smtClean="0"/>
              <a:t>warping window </a:t>
            </a:r>
            <a:r>
              <a:rPr lang="en-US" altLang="zh-TW" dirty="0"/>
              <a:t>but it can still have the property of the neighboring points in one </a:t>
            </a:r>
            <a:r>
              <a:rPr lang="en-US" altLang="zh-TW" dirty="0" smtClean="0"/>
              <a:t>sequence of </a:t>
            </a:r>
            <a:r>
              <a:rPr lang="en-US" altLang="zh-TW" dirty="0"/>
              <a:t>time series may not align to the points that are too far away in another sequence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give the more score as the reward to the longer </a:t>
            </a:r>
            <a:r>
              <a:rPr lang="en-US" altLang="zh-TW" dirty="0" smtClean="0"/>
              <a:t>one-to-one </a:t>
            </a:r>
            <a:r>
              <a:rPr lang="en-US" altLang="zh-TW" dirty="0"/>
              <a:t>segments. That is, we let the contiguous one-to-one segments as longer </a:t>
            </a:r>
            <a:r>
              <a:rPr lang="en-US" altLang="zh-TW" dirty="0" smtClean="0"/>
              <a:t>as possible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438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l="310" t="5309"/>
          <a:stretch/>
        </p:blipFill>
        <p:spPr>
          <a:xfrm>
            <a:off x="514999" y="4483213"/>
            <a:ext cx="8114002" cy="224761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</a:t>
            </a:r>
            <a:r>
              <a:rPr lang="en-US" altLang="zh-TW" b="1" dirty="0" smtClean="0"/>
              <a:t>Subsequence (FLCS) (1/4)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內容版面配置區 8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ababccab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aabcbcb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FLCS score: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9" name="內容版面配置區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2204864"/>
            <a:ext cx="4356496" cy="112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0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Subsequence (FLCS) </a:t>
            </a:r>
            <a:r>
              <a:rPr lang="en-US" altLang="zh-TW" b="1" dirty="0" smtClean="0"/>
              <a:t>(2/4)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 denote the candidate FLCS solutions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 smtClean="0"/>
                  <a:t> denote the extend solution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: the </a:t>
                </a:r>
                <a:r>
                  <a:rPr lang="en-US" altLang="zh-TW" dirty="0"/>
                  <a:t>FLCS </a:t>
                </a:r>
                <a:r>
                  <a:rPr lang="en-US" altLang="zh-TW" dirty="0" smtClean="0"/>
                  <a:t>score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: the </a:t>
                </a:r>
                <a:r>
                  <a:rPr lang="en-US" altLang="zh-TW" dirty="0" smtClean="0"/>
                  <a:t>number of </a:t>
                </a:r>
                <a:r>
                  <a:rPr lang="en-US" altLang="zh-TW" dirty="0"/>
                  <a:t>contiguously matched pairs in current matched </a:t>
                </a:r>
                <a:r>
                  <a:rPr lang="en-US" altLang="zh-TW" dirty="0" smtClean="0"/>
                  <a:t>segment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r="-27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t="9991" r="236"/>
          <a:stretch/>
        </p:blipFill>
        <p:spPr>
          <a:xfrm>
            <a:off x="242502" y="5733256"/>
            <a:ext cx="8658996" cy="96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86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Subsequence (FLCS) </a:t>
            </a:r>
            <a:r>
              <a:rPr lang="en-US" altLang="zh-TW" b="1" dirty="0" smtClean="0"/>
              <a:t>(3/4)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/>
                  <a:t>will be same </a:t>
                </a:r>
                <a:r>
                  <a:rPr lang="en-US" altLang="zh-TW" dirty="0" smtClean="0"/>
                  <a:t>or better than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 r="-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267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Subsequence (FLCS) </a:t>
            </a:r>
            <a:r>
              <a:rPr lang="en-US" altLang="zh-TW" b="1" dirty="0" smtClean="0"/>
              <a:t>(4/4)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31" y="1476139"/>
            <a:ext cx="6626138" cy="53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69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1422" t="6577"/>
          <a:stretch/>
        </p:blipFill>
        <p:spPr>
          <a:xfrm>
            <a:off x="577771" y="4689129"/>
            <a:ext cx="7988457" cy="216887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</a:t>
            </a:r>
            <a:r>
              <a:rPr lang="en-US" altLang="zh-TW" b="1" dirty="0" smtClean="0"/>
              <a:t>Algorithm (2/5)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0.3, 0.6, 0.2, 0.7, 0.5, 0.4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0.2, 0.4, 0.8, 0.1, 0.4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TW" dirty="0" smtClean="0"/>
              </a:p>
              <a:p>
                <a:pPr>
                  <a:lnSpc>
                    <a:spcPct val="90000"/>
                  </a:lnSpc>
                </a:pPr>
                <a:endParaRPr lang="en-US" altLang="zh-TW" dirty="0"/>
              </a:p>
              <a:p>
                <a:pPr>
                  <a:lnSpc>
                    <a:spcPct val="90000"/>
                  </a:lnSpc>
                </a:pPr>
                <a:endParaRPr lang="en-US" altLang="zh-TW" dirty="0" smtClean="0"/>
              </a:p>
              <a:p>
                <a:pPr>
                  <a:lnSpc>
                    <a:spcPct val="90000"/>
                  </a:lnSpc>
                </a:pPr>
                <a:r>
                  <a:rPr lang="en-US" altLang="zh-TW" dirty="0" smtClean="0"/>
                  <a:t>Score(without gap):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zh-TW" dirty="0" smtClean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4"/>
          <a:srcRect r="1491"/>
          <a:stretch/>
        </p:blipFill>
        <p:spPr>
          <a:xfrm>
            <a:off x="899592" y="2564904"/>
            <a:ext cx="5011799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2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Our Algorithm (</a:t>
            </a:r>
            <a:r>
              <a:rPr lang="en-US" altLang="zh-TW" b="1" dirty="0" smtClean="0"/>
              <a:t>3/5)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en-US" altLang="zh-TW" dirty="0"/>
                  <a:t> denote the </a:t>
                </a:r>
                <a:r>
                  <a:rPr lang="en-US" altLang="zh-TW" dirty="0" smtClean="0"/>
                  <a:t>candidate solutions </a:t>
                </a:r>
                <a:r>
                  <a:rPr lang="en-US" altLang="zh-TW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dirty="0" smtClean="0"/>
                  <a:t> denote the extend solution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: the score of our algorithm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: the </a:t>
                </a:r>
                <a:r>
                  <a:rPr lang="en-US" altLang="zh-TW" dirty="0" smtClean="0"/>
                  <a:t>length (number </a:t>
                </a:r>
                <a:r>
                  <a:rPr lang="en-US" altLang="zh-TW" dirty="0"/>
                  <a:t>of pairs) of the current one-to-one segment </a:t>
                </a:r>
                <a:r>
                  <a:rPr lang="en-US" altLang="zh-TW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r="-27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t="5251"/>
          <a:stretch/>
        </p:blipFill>
        <p:spPr>
          <a:xfrm>
            <a:off x="232260" y="5761682"/>
            <a:ext cx="8679480" cy="96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60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Our Algorithm (</a:t>
            </a:r>
            <a:r>
              <a:rPr lang="en-US" altLang="zh-TW" b="1" dirty="0" smtClean="0"/>
              <a:t>4/5)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extend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b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b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extend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will be same or better than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2426" b="-2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391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Algorithm </a:t>
            </a:r>
            <a:r>
              <a:rPr lang="en-US" altLang="zh-TW" b="1" dirty="0" smtClean="0"/>
              <a:t>(5/5)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924" y="1600200"/>
            <a:ext cx="5382151" cy="516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3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24" y="1417638"/>
            <a:ext cx="8631752" cy="530860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Experiments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721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Comparison with Other </a:t>
            </a:r>
            <a:r>
              <a:rPr lang="en-US" altLang="zh-TW" b="1" dirty="0" smtClean="0"/>
              <a:t>Algorithms (1/3)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Z-score normalization: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TW" dirty="0" smtClean="0"/>
                  <a:t>: </a:t>
                </a:r>
                <a:r>
                  <a:rPr lang="en-US" altLang="zh-TW" dirty="0"/>
                  <a:t>mean of time </a:t>
                </a:r>
                <a:r>
                  <a:rPr lang="en-US" altLang="zh-TW" dirty="0" smtClean="0"/>
                  <a:t>series</a:t>
                </a:r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dirty="0" smtClean="0"/>
                  <a:t>: standard value </a:t>
                </a:r>
                <a:r>
                  <a:rPr lang="en-US" altLang="zh-TW" dirty="0"/>
                  <a:t>of time </a:t>
                </a:r>
                <a:r>
                  <a:rPr lang="en-US" altLang="zh-TW" dirty="0" smtClean="0"/>
                  <a:t>series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Threshold: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+2.5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2.5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2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745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Comparison with Other Algorithms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33" y="1417638"/>
            <a:ext cx="7654333" cy="53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90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Comparison with Other Algorithms </a:t>
            </a:r>
            <a:r>
              <a:rPr lang="en-US" altLang="zh-TW" b="1" dirty="0" smtClean="0"/>
              <a:t>(3/3</a:t>
            </a:r>
            <a:r>
              <a:rPr lang="en-US" altLang="zh-TW" b="1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31" y="1463040"/>
            <a:ext cx="6626138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8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Applying Voting Strategies for </a:t>
            </a:r>
            <a:r>
              <a:rPr lang="en-US" altLang="zh-TW" b="1" dirty="0" smtClean="0"/>
              <a:t>Classification (1/2)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Vote1: DTW, DDTW and our algorithm are all using the 1-NN clustering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Vote2: the most appeared class is selected form each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-NN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 = 1, 3, 5, 7, 9, 11, 13, </a:t>
                </a:r>
                <a:r>
                  <a:rPr lang="en-US" altLang="zh-TW" dirty="0" smtClean="0"/>
                  <a:t>15) of </a:t>
                </a:r>
                <a:r>
                  <a:rPr lang="en-US" altLang="zh-TW" dirty="0"/>
                  <a:t>an algorithm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Vote3: similar to Vote2, but the result of each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-NN has its weight, </a:t>
                </a:r>
                <a:r>
                  <a:rPr lang="en-US" altLang="zh-TW" dirty="0" smtClean="0"/>
                  <a:t>where the </a:t>
                </a:r>
                <a:r>
                  <a:rPr lang="en-US" altLang="zh-TW" dirty="0"/>
                  <a:t>weight is defined as (</a:t>
                </a:r>
                <a:r>
                  <a:rPr lang="en-US" altLang="zh-TW" dirty="0" smtClean="0"/>
                  <a:t>16-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 r="-2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776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Applying Voting Strategies for Classification </a:t>
            </a:r>
            <a:r>
              <a:rPr lang="en-US" altLang="zh-TW" b="1" dirty="0" smtClean="0"/>
              <a:t>(2/2)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22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438" r="640"/>
          <a:stretch/>
        </p:blipFill>
        <p:spPr>
          <a:xfrm>
            <a:off x="910404" y="1600200"/>
            <a:ext cx="732319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56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Using Behavior Knowledge Space for </a:t>
            </a:r>
            <a:r>
              <a:rPr lang="en-US" altLang="zh-TW" b="1" dirty="0" smtClean="0"/>
              <a:t>Classification (1/3)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Training step: </a:t>
            </a:r>
            <a:r>
              <a:rPr lang="en-US" altLang="zh-TW" dirty="0"/>
              <a:t>build the BKS </a:t>
            </a:r>
            <a:r>
              <a:rPr lang="en-US" altLang="zh-TW" dirty="0" smtClean="0"/>
              <a:t>table which records the </a:t>
            </a:r>
            <a:r>
              <a:rPr lang="en-US" altLang="zh-TW" dirty="0"/>
              <a:t>most appearance of the real class with the combination of the DTW, the </a:t>
            </a:r>
            <a:r>
              <a:rPr lang="en-US" altLang="zh-TW" dirty="0" smtClean="0"/>
              <a:t>DDTW and </a:t>
            </a:r>
            <a:r>
              <a:rPr lang="en-US" altLang="zh-TW" dirty="0"/>
              <a:t>our </a:t>
            </a:r>
            <a:r>
              <a:rPr lang="en-US" altLang="zh-TW" dirty="0" smtClean="0"/>
              <a:t>algorithms.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/>
              <a:t>Testing step: each time series uses three algorithms to classify and uses the BKS table to determine the class of each time series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914512"/>
              </p:ext>
            </p:extLst>
          </p:nvPr>
        </p:nvGraphicFramePr>
        <p:xfrm>
          <a:off x="899592" y="3356992"/>
          <a:ext cx="6480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2160000"/>
                <a:gridCol w="1080000"/>
                <a:gridCol w="1080000"/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DTW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DDTW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Our Algorithm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B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B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19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B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20</a:t>
                      </a:r>
                      <a:endParaRPr lang="zh-TW" altLang="en-US" sz="20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424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Using Behavior Knowledge Space for Classification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BKS1: the training step of the DTW, DDTW and our algorithms use </a:t>
            </a:r>
            <a:r>
              <a:rPr lang="en-US" altLang="zh-TW" dirty="0" smtClean="0"/>
              <a:t>1-NN clustering </a:t>
            </a:r>
            <a:r>
              <a:rPr lang="en-US" altLang="zh-TW" dirty="0"/>
              <a:t>and the testing step of the three algorithms use the voting </a:t>
            </a:r>
            <a:r>
              <a:rPr lang="en-US" altLang="zh-TW" dirty="0" smtClean="0"/>
              <a:t>strategy of </a:t>
            </a:r>
            <a:r>
              <a:rPr lang="en-US" altLang="zh-TW" dirty="0"/>
              <a:t>Vote2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BKS2: the training step of the three algorithms use all of 1-NN to </a:t>
            </a:r>
            <a:r>
              <a:rPr lang="en-US" altLang="zh-TW" dirty="0" smtClean="0"/>
              <a:t>15-NN clustering </a:t>
            </a:r>
            <a:r>
              <a:rPr lang="en-US" altLang="zh-TW" dirty="0"/>
              <a:t>and the testing step is the same to </a:t>
            </a:r>
            <a:r>
              <a:rPr lang="en-US" altLang="zh-TW" dirty="0" smtClean="0"/>
              <a:t>BKS1.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4195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Using Behavior Knowledge Space for Classification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25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45" y="1600200"/>
            <a:ext cx="7174509" cy="522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12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Summarize Three Experiments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1365" r="909" b="497"/>
          <a:stretch/>
        </p:blipFill>
        <p:spPr>
          <a:xfrm>
            <a:off x="1243464" y="1600200"/>
            <a:ext cx="6657071" cy="523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465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Conclusion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We </a:t>
            </a:r>
            <a:r>
              <a:rPr lang="en-US" altLang="zh-TW" dirty="0"/>
              <a:t>propose an algorithm to measure the similarity of two </a:t>
            </a:r>
            <a:r>
              <a:rPr lang="en-US" altLang="zh-TW" dirty="0" smtClean="0"/>
              <a:t>time series </a:t>
            </a:r>
            <a:r>
              <a:rPr lang="en-US" altLang="zh-TW" dirty="0"/>
              <a:t>sequences. With this algorithm, we may avoid the neighboring points in </a:t>
            </a:r>
            <a:r>
              <a:rPr lang="en-US" altLang="zh-TW" dirty="0" smtClean="0"/>
              <a:t>one sequence </a:t>
            </a:r>
            <a:r>
              <a:rPr lang="en-US" altLang="zh-TW" dirty="0"/>
              <a:t>align to the points are separated far away in another sequence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In the experiments, we observe the BKS2 method </a:t>
            </a:r>
            <a:r>
              <a:rPr lang="en-US" altLang="zh-TW" dirty="0" smtClean="0"/>
              <a:t>is better </a:t>
            </a:r>
            <a:r>
              <a:rPr lang="en-US" altLang="zh-TW" dirty="0"/>
              <a:t>than the DTW and the DDTW algorithms individually.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3222-D289-41CC-9733-F51F1634BCC4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8733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4047</TotalTime>
  <Words>758</Words>
  <Application>Microsoft Office PowerPoint</Application>
  <PresentationFormat>如螢幕大小 (4:3)</PresentationFormat>
  <Paragraphs>182</Paragraphs>
  <Slides>27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2" baseType="lpstr">
      <vt:lpstr>新細明體</vt:lpstr>
      <vt:lpstr>Arial</vt:lpstr>
      <vt:lpstr>Calibri</vt:lpstr>
      <vt:lpstr>Cambria Math</vt:lpstr>
      <vt:lpstr>Office 佈景主題</vt:lpstr>
      <vt:lpstr>Flexible Dynamic Time Warping for Time Series Classification</vt:lpstr>
      <vt:lpstr>Time Series Classification Problem (1/2)</vt:lpstr>
      <vt:lpstr>Time Series Classification Problem (2/2)</vt:lpstr>
      <vt:lpstr>Dynamic Time Warping Algorithm (1/3)</vt:lpstr>
      <vt:lpstr>Dynamic Time Warping Algorithm (2/3)</vt:lpstr>
      <vt:lpstr>Dynamic Time Warping Algorithm (3/3)</vt:lpstr>
      <vt:lpstr>Warping Windows</vt:lpstr>
      <vt:lpstr>Our Algorithm (1/5)</vt:lpstr>
      <vt:lpstr>Flexible Longest Common Subsequence (FLCS) (1/4)</vt:lpstr>
      <vt:lpstr>Flexible Longest Common Subsequence (FLCS) (2/4)</vt:lpstr>
      <vt:lpstr>Flexible Longest Common Subsequence (FLCS) (3/4)</vt:lpstr>
      <vt:lpstr>Flexible Longest Common Subsequence (FLCS) (4/4)</vt:lpstr>
      <vt:lpstr>Our Algorithm (2/5)</vt:lpstr>
      <vt:lpstr>Our Algorithm (3/5)</vt:lpstr>
      <vt:lpstr>Our Algorithm (4/5)</vt:lpstr>
      <vt:lpstr>Our Algorithm (5/5)</vt:lpstr>
      <vt:lpstr>Experiments</vt:lpstr>
      <vt:lpstr>Comparison with Other Algorithms (1/3)</vt:lpstr>
      <vt:lpstr>Comparison with Other Algorithms (2/3)</vt:lpstr>
      <vt:lpstr>Comparison with Other Algorithms (3/3)</vt:lpstr>
      <vt:lpstr>Applying Voting Strategies for Classification (1/2)</vt:lpstr>
      <vt:lpstr>Applying Voting Strategies for Classification (2/2)</vt:lpstr>
      <vt:lpstr>Using Behavior Knowledge Space for Classification (1/3)</vt:lpstr>
      <vt:lpstr>Using Behavior Knowledge Space for Classification (2/3)</vt:lpstr>
      <vt:lpstr>Using Behavior Knowledge Space for Classification (3/3)</vt:lpstr>
      <vt:lpstr>Summarize Three Experiments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Time Warping</dc:title>
  <dc:creator>Ray</dc:creator>
  <cp:lastModifiedBy>Ray</cp:lastModifiedBy>
  <cp:revision>258</cp:revision>
  <dcterms:created xsi:type="dcterms:W3CDTF">2013-07-28T14:30:33Z</dcterms:created>
  <dcterms:modified xsi:type="dcterms:W3CDTF">2014-07-29T09:12:27Z</dcterms:modified>
</cp:coreProperties>
</file>