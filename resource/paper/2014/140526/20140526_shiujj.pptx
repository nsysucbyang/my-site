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376" autoAdjust="0"/>
    <p:restoredTop sz="94660"/>
  </p:normalViewPr>
  <p:slideViewPr>
    <p:cSldViewPr snapToGrid="0">
      <p:cViewPr varScale="1">
        <p:scale>
          <a:sx n="68" d="100"/>
          <a:sy n="68" d="100"/>
        </p:scale>
        <p:origin x="-58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E258F-6860-4384-BE8D-CD87C56BC90D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8FCF4-3443-40DD-941E-40798033873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8FCF4-3443-40DD-941E-407980338733}" type="slidenum">
              <a:rPr lang="zh-TW" altLang="en-US" smtClean="0"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4611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13992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551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50875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7368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1885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9027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306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3177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85824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2649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B6CF6-A50F-4E9B-8319-AA729DB0CBB3}" type="datetimeFigureOut">
              <a:rPr lang="zh-TW" altLang="en-US" smtClean="0"/>
              <a:pPr/>
              <a:t>2014/5/26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3686F-9DBC-44A4-8C0C-A87B29C7C05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6983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Department Score Forecast and Analysis of the College Entrance Examination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Presentator</a:t>
            </a:r>
            <a:r>
              <a:rPr lang="en-US" altLang="zh-TW" dirty="0" smtClean="0"/>
              <a:t> :Chun-</a:t>
            </a:r>
            <a:r>
              <a:rPr lang="en-US" altLang="zh-TW" dirty="0" err="1" smtClean="0"/>
              <a:t>Chieh</a:t>
            </a:r>
            <a:r>
              <a:rPr lang="en-US" altLang="zh-TW" dirty="0" smtClean="0"/>
              <a:t> Hsu</a:t>
            </a:r>
          </a:p>
          <a:p>
            <a:r>
              <a:rPr lang="en-US" altLang="zh-TW" dirty="0" smtClean="0"/>
              <a:t>Date: 2014/05/26</a:t>
            </a:r>
          </a:p>
        </p:txBody>
      </p:sp>
    </p:spTree>
    <p:extLst>
      <p:ext uri="{BB962C8B-B14F-4D97-AF65-F5344CB8AC3E}">
        <p14:creationId xmlns:p14="http://schemas.microsoft.com/office/powerpoint/2010/main" xmlns="" val="90099907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Admission </a:t>
            </a:r>
            <a:r>
              <a:rPr lang="en-US" altLang="zh-TW" dirty="0" smtClean="0"/>
              <a:t>Pipeline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350" dirty="0"/>
              <a:t>Star recommendation (less than 15%)</a:t>
            </a:r>
          </a:p>
          <a:p>
            <a:r>
              <a:rPr lang="en-US" altLang="zh-TW" sz="1350" dirty="0"/>
              <a:t>The application for admission to a school(less than 45%)</a:t>
            </a:r>
          </a:p>
          <a:p>
            <a:r>
              <a:rPr lang="en-US" altLang="zh-TW" sz="1350" dirty="0"/>
              <a:t>College Entrance Advanced Subjects Test (greater than 40%)</a:t>
            </a:r>
          </a:p>
          <a:p>
            <a:endParaRPr lang="en-US" altLang="zh-TW" sz="135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563449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College Entrance </a:t>
            </a:r>
            <a:r>
              <a:rPr lang="en-US" altLang="zh-TW" dirty="0" smtClean="0"/>
              <a:t>Examination (CEE)</a:t>
            </a:r>
            <a:r>
              <a:rPr lang="zh-TW" altLang="en-US" dirty="0" smtClean="0"/>
              <a:t> </a:t>
            </a:r>
            <a:r>
              <a:rPr lang="en-US" altLang="zh-TW" dirty="0" smtClean="0"/>
              <a:t>Prediction System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College Entrance Advanced Subjects Test</a:t>
                </a:r>
              </a:p>
              <a:p>
                <a:pPr lvl="1"/>
                <a:r>
                  <a:rPr lang="en-US" altLang="zh-TW" dirty="0" smtClean="0"/>
                  <a:t>Minimum required test score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(MRTS)</a:t>
                </a:r>
              </a:p>
              <a:p>
                <a:pPr lvl="1" algn="di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𝑀𝑅𝑇𝑆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𝑠𝑐𝑜𝑟𝑒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𝑤𝑒𝑖𝑔h𝑡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234492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Forward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make two assumptions that the preferences of students to </a:t>
            </a:r>
            <a:r>
              <a:rPr lang="en-US" altLang="zh-TW" dirty="0" smtClean="0"/>
              <a:t>schools are </a:t>
            </a:r>
            <a:r>
              <a:rPr lang="en-US" altLang="zh-TW" dirty="0"/>
              <a:t>not changed in two consecutive years, and that a student has equal rank </a:t>
            </a:r>
            <a:r>
              <a:rPr lang="en-US" altLang="zh-TW" dirty="0" smtClean="0"/>
              <a:t>to all </a:t>
            </a:r>
            <a:r>
              <a:rPr lang="en-US" altLang="zh-TW" dirty="0"/>
              <a:t>subjects.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5259151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14488" y="1097757"/>
            <a:ext cx="5915025" cy="994172"/>
          </a:xfrm>
        </p:spPr>
        <p:txBody>
          <a:bodyPr/>
          <a:lstStyle/>
          <a:p>
            <a:r>
              <a:rPr lang="en-US" altLang="zh-TW" dirty="0"/>
              <a:t>The Forward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614488" y="2226470"/>
                <a:ext cx="5836179" cy="183118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1800" dirty="0"/>
                  <a:t>Cumulative Score Table (CST)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𝑝𝑡𝑠</m:t>
                        </m:r>
                      </m:e>
                      <m:sub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5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15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500" i="1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altLang="zh-TW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5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𝑝𝑒𝑟</m:t>
                        </m:r>
                      </m:e>
                      <m:sub>
                        <m:r>
                          <a:rPr lang="en-US" altLang="zh-TW" sz="1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sz="1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𝑀𝑅𝑇𝑆</m:t>
                        </m:r>
                      </m:e>
                      <m: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𝐺𝑝𝑒𝑟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𝑤𝑒𝑖𝑔h𝑡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sz="1800" dirty="0">
                  <a:ea typeface="Cambria Math" panose="02040503050406030204" pitchFamily="18" charset="0"/>
                </a:endParaRPr>
              </a:p>
              <a:p>
                <a:endParaRPr lang="en-US" altLang="zh-TW" sz="1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4488" y="2226470"/>
                <a:ext cx="5836179" cy="1831181"/>
              </a:xfrm>
              <a:blipFill rotWithShape="0">
                <a:blip r:embed="rId2"/>
                <a:stretch>
                  <a:fillRect l="-731" t="-2990" b="-10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5</a:t>
            </a:fld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14489" y="3939118"/>
          <a:ext cx="5855759" cy="8298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592"/>
                <a:gridCol w="382682"/>
                <a:gridCol w="382682"/>
                <a:gridCol w="382682"/>
                <a:gridCol w="382682"/>
                <a:gridCol w="382682"/>
                <a:gridCol w="382682"/>
                <a:gridCol w="633592"/>
                <a:gridCol w="382682"/>
                <a:gridCol w="382682"/>
                <a:gridCol w="382682"/>
                <a:gridCol w="382682"/>
                <a:gridCol w="382682"/>
                <a:gridCol w="379073"/>
              </a:tblGrid>
              <a:tr h="294467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 dirty="0" smtClean="0">
                          <a:effectLst/>
                        </a:rPr>
                        <a:t>國文 </a:t>
                      </a:r>
                      <a:r>
                        <a:rPr lang="en-US" altLang="zh-TW" sz="900" u="none" strike="noStrike" dirty="0" smtClean="0">
                          <a:effectLst/>
                        </a:rPr>
                        <a:t>(2012)</a:t>
                      </a:r>
                      <a:endParaRPr lang="zh-TW" altLang="en-US" sz="9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8738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分數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600" u="none" strike="noStrike" dirty="0">
                          <a:effectLst/>
                        </a:rPr>
                        <a:t>自高分往低分累計</a:t>
                      </a:r>
                      <a:endParaRPr lang="zh-TW" altLang="en-US" sz="6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600" u="none" strike="noStrike" dirty="0">
                          <a:effectLst/>
                        </a:rPr>
                        <a:t>自低分往高分累計</a:t>
                      </a:r>
                      <a:endParaRPr lang="zh-TW" altLang="en-US" sz="6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分數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600" u="none" strike="noStrike">
                          <a:effectLst/>
                        </a:rPr>
                        <a:t>自高分往低分累計</a:t>
                      </a:r>
                      <a:endParaRPr lang="zh-TW" altLang="en-US" sz="6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600" u="none" strike="noStrike">
                          <a:effectLst/>
                        </a:rPr>
                        <a:t>自低分往高分累計</a:t>
                      </a:r>
                      <a:endParaRPr lang="zh-TW" altLang="en-US" sz="6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7400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</a:tr>
              <a:tr h="17400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 dirty="0">
                          <a:effectLst/>
                        </a:rPr>
                        <a:t>百分比</a:t>
                      </a:r>
                      <a:endParaRPr lang="zh-TW" altLang="en-US" sz="7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1614492" y="4777316"/>
          <a:ext cx="5855760" cy="669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4614"/>
                <a:gridCol w="382211"/>
                <a:gridCol w="382211"/>
                <a:gridCol w="382211"/>
                <a:gridCol w="382211"/>
                <a:gridCol w="382211"/>
                <a:gridCol w="382211"/>
                <a:gridCol w="634614"/>
                <a:gridCol w="382211"/>
                <a:gridCol w="382211"/>
                <a:gridCol w="382211"/>
                <a:gridCol w="382211"/>
                <a:gridCol w="382211"/>
                <a:gridCol w="382211"/>
              </a:tblGrid>
              <a:tr h="167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73.00 - 73.99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1175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1.87%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7806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12.40%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56336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89.47%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22.00 - 22.99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72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0.11%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62473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99.22%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566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0.90%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</a:tr>
              <a:tr h="167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72.00 - 72.99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1329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2.11%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9135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14.51%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55161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87.60%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21.00 - 21.99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78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0.12%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62551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99.34%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494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0.78%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</a:tr>
              <a:tr h="167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71.00 - 71.99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1478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2.35%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10613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 dirty="0">
                          <a:effectLst/>
                        </a:rPr>
                        <a:t>16.85%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53832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85.49%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20.00 - 20.99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0.11%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62619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99.45%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416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0.66%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</a:tr>
              <a:tr h="167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70.00 - 70.99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1463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2.32%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12076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 dirty="0">
                          <a:effectLst/>
                        </a:rPr>
                        <a:t>19.18%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52354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83.15%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19.00 - 19.99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0.09%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62677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99.54%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348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 dirty="0">
                          <a:effectLst/>
                        </a:rPr>
                        <a:t>0.55%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3064934" y="4192192"/>
            <a:ext cx="728133" cy="1253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" name="矩形 9"/>
          <p:cNvSpPr/>
          <p:nvPr/>
        </p:nvSpPr>
        <p:spPr>
          <a:xfrm>
            <a:off x="1614488" y="4192192"/>
            <a:ext cx="656166" cy="1253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xmlns="" val="7770149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Forward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Prediction:</a:t>
                </a:r>
                <a:endParaRPr lang="en-US" altLang="zh-TW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𝑀𝑅𝑇𝑆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𝑆𝑈𝐵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𝑝𝑡𝑠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𝐺𝑝𝑒𝑟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𝑤𝑒𝑖𝑔h𝑡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174720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Forward Method with School Ranking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57" y="3084184"/>
            <a:ext cx="5102886" cy="23670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矩形 2"/>
              <p:cNvSpPr/>
              <p:nvPr/>
            </p:nvSpPr>
            <p:spPr>
              <a:xfrm>
                <a:off x="2295572" y="2355225"/>
                <a:ext cx="4274953" cy="6653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50" i="1" dirty="0">
                              <a:latin typeface="Cambria Math" panose="02040503050406030204" pitchFamily="18" charset="0"/>
                            </a:rPr>
                            <m:t>𝑡𝑐𝑝𝑒𝑜</m:t>
                          </m:r>
                        </m:e>
                        <m:sub>
                          <m:d>
                            <m:dPr>
                              <m:ctrlP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35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𝐺𝑝𝑒𝑟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en-US" altLang="zh-TW" sz="135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135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𝐺𝑝𝑒𝑟</m:t>
                              </m:r>
                            </m:e>
                            <m:sub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TW" sz="135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𝐺𝑝𝑒𝑟</m:t>
                              </m:r>
                            </m:e>
                            <m:sub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𝑝𝑒𝑜</m:t>
                              </m:r>
                            </m:e>
                            <m:sub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altLang="zh-TW" sz="135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135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135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572" y="2355225"/>
                <a:ext cx="4274953" cy="665310"/>
              </a:xfrm>
              <a:prstGeom prst="rect">
                <a:avLst/>
              </a:prstGeom>
              <a:blipFill rotWithShape="0">
                <a:blip r:embed="rId3"/>
                <a:stretch>
                  <a:fillRect t="-107339" b="-1403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3275988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Forward Method with School Ranking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614488" y="2226470"/>
                <a:ext cx="5915025" cy="178884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Transform </a:t>
                </a:r>
                <a:r>
                  <a:rPr lang="en-US" altLang="zh-TW" dirty="0"/>
                  <a:t>a high-to-low cumulative percentage into </a:t>
                </a:r>
                <a:r>
                  <a:rPr lang="en-US" altLang="zh-TW" dirty="0" smtClean="0"/>
                  <a:t>its corresponding </a:t>
                </a:r>
                <a:r>
                  <a:rPr lang="en-US" altLang="zh-TW" dirty="0"/>
                  <a:t>number of high-to-low cumulative </a:t>
                </a:r>
                <a:r>
                  <a:rPr lang="en-US" altLang="zh-TW" dirty="0" smtClean="0"/>
                  <a:t>people.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𝑐𝑢𝑚𝑢𝑙𝑎𝑡𝑖𝑣𝑒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𝑝𝑒𝑜𝑝𝑙𝑒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𝑐𝑝𝑒𝑜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4488" y="2226470"/>
                <a:ext cx="5915025" cy="1788848"/>
              </a:xfrm>
              <a:blipFill rotWithShape="0">
                <a:blip r:embed="rId2"/>
                <a:stretch>
                  <a:fillRect l="-1649" t="-6803" b="-27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1673753" y="4015317"/>
          <a:ext cx="5855759" cy="8298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3592"/>
                <a:gridCol w="382682"/>
                <a:gridCol w="382682"/>
                <a:gridCol w="382682"/>
                <a:gridCol w="382682"/>
                <a:gridCol w="382682"/>
                <a:gridCol w="382682"/>
                <a:gridCol w="633592"/>
                <a:gridCol w="382682"/>
                <a:gridCol w="382682"/>
                <a:gridCol w="382682"/>
                <a:gridCol w="382682"/>
                <a:gridCol w="382682"/>
                <a:gridCol w="379073"/>
              </a:tblGrid>
              <a:tr h="294467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zh-TW" altLang="en-US" sz="900" u="none" strike="noStrike" dirty="0" smtClean="0">
                          <a:effectLst/>
                        </a:rPr>
                        <a:t>國文 </a:t>
                      </a:r>
                      <a:r>
                        <a:rPr lang="en-US" altLang="zh-TW" sz="900" u="none" strike="noStrike" dirty="0" smtClean="0">
                          <a:effectLst/>
                        </a:rPr>
                        <a:t>(2012)</a:t>
                      </a:r>
                      <a:endParaRPr lang="zh-TW" altLang="en-US" sz="9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8738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分數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600" u="none" strike="noStrike" dirty="0">
                          <a:effectLst/>
                        </a:rPr>
                        <a:t>自高分往低分累計</a:t>
                      </a:r>
                      <a:endParaRPr lang="zh-TW" altLang="en-US" sz="6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600" u="none" strike="noStrike" dirty="0">
                          <a:effectLst/>
                        </a:rPr>
                        <a:t>自低分往高分累計</a:t>
                      </a:r>
                      <a:endParaRPr lang="zh-TW" altLang="en-US" sz="6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分數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600" u="none" strike="noStrike">
                          <a:effectLst/>
                        </a:rPr>
                        <a:t>自高分往低分累計</a:t>
                      </a:r>
                      <a:endParaRPr lang="zh-TW" altLang="en-US" sz="6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600" u="none" strike="noStrike">
                          <a:effectLst/>
                        </a:rPr>
                        <a:t>自低分往高分累計</a:t>
                      </a:r>
                      <a:endParaRPr lang="zh-TW" altLang="en-US" sz="6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17400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累計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</a:tr>
              <a:tr h="17400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百分比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>
                          <a:effectLst/>
                        </a:rPr>
                        <a:t>人數</a:t>
                      </a:r>
                      <a:endParaRPr lang="zh-TW" altLang="en-US" sz="700" b="1" i="0" u="none" strike="noStrike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700" u="none" strike="noStrike" dirty="0">
                          <a:effectLst/>
                        </a:rPr>
                        <a:t>百分比</a:t>
                      </a:r>
                      <a:endParaRPr lang="zh-TW" altLang="en-US" sz="700" b="1" i="0" u="none" strike="noStrike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464" marR="5464" marT="5464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1673756" y="4853515"/>
          <a:ext cx="5855760" cy="669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4614"/>
                <a:gridCol w="382211"/>
                <a:gridCol w="382211"/>
                <a:gridCol w="382211"/>
                <a:gridCol w="382211"/>
                <a:gridCol w="382211"/>
                <a:gridCol w="382211"/>
                <a:gridCol w="634614"/>
                <a:gridCol w="382211"/>
                <a:gridCol w="382211"/>
                <a:gridCol w="382211"/>
                <a:gridCol w="382211"/>
                <a:gridCol w="382211"/>
                <a:gridCol w="382211"/>
              </a:tblGrid>
              <a:tr h="167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73.00 - 73.99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1175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1.87%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7806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12.40%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56336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89.47%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22.00 - 22.99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72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0.11%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62473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99.22%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566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0.90%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</a:tr>
              <a:tr h="167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 dirty="0">
                          <a:effectLst/>
                        </a:rPr>
                        <a:t>72.00 - 72.99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1329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2.11%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9135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14.51%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55161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87.60%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21.00 - 21.99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78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0.12%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62551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99.34%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494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0.78%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</a:tr>
              <a:tr h="167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71.00 - 71.99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1478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2.35%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 dirty="0">
                          <a:effectLst/>
                        </a:rPr>
                        <a:t>10613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 dirty="0">
                          <a:effectLst/>
                        </a:rPr>
                        <a:t>16.85%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53832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85.49%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20.00 - 20.99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0.11%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62619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99.45%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416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0.66%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</a:tr>
              <a:tr h="1674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70.00 - 70.99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1463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2.32%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12076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 dirty="0">
                          <a:effectLst/>
                        </a:rPr>
                        <a:t>19.18%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52354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83.15%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700" u="none" strike="noStrike">
                          <a:effectLst/>
                        </a:rPr>
                        <a:t>19.00 - 19.99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58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0.09%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62677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99.54%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>
                          <a:effectLst/>
                        </a:rPr>
                        <a:t>348</a:t>
                      </a:r>
                      <a:endParaRPr lang="en-US" altLang="zh-TW" sz="700" b="0" i="0" u="none" strike="noStrike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700" u="none" strike="noStrike" dirty="0">
                          <a:effectLst/>
                        </a:rPr>
                        <a:t>0.55%</a:t>
                      </a:r>
                      <a:endParaRPr lang="en-US" altLang="zh-TW" sz="700" b="0" i="0" u="none" strike="noStrike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5464" marR="5464" marT="5464" marB="0"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3098801" y="4268393"/>
            <a:ext cx="728133" cy="1253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xmlns="" val="121293665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Forward Method with School Ranking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𝑐𝑝𝑒𝑜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−1(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𝐺𝑝𝑒𝑟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𝑡𝑐𝑝𝑒𝑜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−1(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𝐺𝑝𝑒𝑟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𝑐𝑝𝑒𝑜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𝐺𝑝𝑒𝑟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𝑡𝑐𝑝𝑒𝑜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𝐺𝑝𝑒𝑟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𝑀𝑅𝑇𝑆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𝐺𝑝𝑒𝑟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𝑤𝑒𝑖𝑔h𝑡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951032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Lin’s 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 five indices (</a:t>
                </a:r>
                <a:r>
                  <a:rPr lang="zh-TW" altLang="en-US" dirty="0" smtClean="0"/>
                  <a:t>五標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/>
                </a:r>
                <a:r>
                  <a:rPr lang="en-US" altLang="zh-TW" dirty="0" smtClean="0"/>
                  <a:t>are used to compute the predicted mean and the predicted variance.</a:t>
                </a:r>
              </a:p>
              <a:p>
                <a:pPr lvl="1"/>
                <a:r>
                  <a:rPr lang="zh-TW" altLang="en-US" dirty="0" smtClean="0"/>
                  <a:t>頂標</a:t>
                </a:r>
                <a:r>
                  <a:rPr lang="en-US" altLang="zh-TW" dirty="0" smtClean="0"/>
                  <a:t>(88%)</a:t>
                </a:r>
                <a:r>
                  <a:rPr lang="zh-TW" altLang="en-US" dirty="0" smtClean="0"/>
                  <a:t>，前標</a:t>
                </a:r>
                <a:r>
                  <a:rPr lang="en-US" altLang="zh-TW" dirty="0" smtClean="0"/>
                  <a:t>(75%)</a:t>
                </a:r>
                <a:r>
                  <a:rPr lang="zh-TW" altLang="en-US" dirty="0" smtClean="0"/>
                  <a:t>，均標</a:t>
                </a:r>
                <a:r>
                  <a:rPr lang="en-US" altLang="zh-TW" dirty="0" smtClean="0"/>
                  <a:t>(50%)</a:t>
                </a:r>
                <a:r>
                  <a:rPr lang="zh-TW" altLang="en-US" dirty="0" smtClean="0"/>
                  <a:t>，後標</a:t>
                </a:r>
                <a:r>
                  <a:rPr lang="en-US" altLang="zh-TW" dirty="0" smtClean="0"/>
                  <a:t>(25%)</a:t>
                </a:r>
                <a:r>
                  <a:rPr lang="zh-TW" altLang="en-US" dirty="0" smtClean="0"/>
                  <a:t>，底標</a:t>
                </a:r>
                <a:r>
                  <a:rPr lang="en-US" altLang="zh-TW" dirty="0" smtClean="0"/>
                  <a:t>(12%)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  <m:sup/>
                            </m:sSubSup>
                            <m:r>
                              <a:rPr lang="en-US" altLang="zh-TW" i="1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endParaRPr lang="en-US" altLang="zh-TW" i="1" dirty="0"/>
              </a:p>
              <a:p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863466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Lin’s 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Four Prediction Indices: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/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/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𝑆𝑈𝐵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TW" alt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𝑆𝑈𝐵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𝑆𝑈𝐵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altLang="zh-TW" dirty="0" smtClean="0"/>
              </a:p>
              <a:p>
                <a:pPr lvl="2"/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3296390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Lin’s Method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Lin applied the simple linear regression to compute </a:t>
                </a:r>
                <a:r>
                  <a:rPr lang="en-US" altLang="zh-TW" dirty="0"/>
                  <a:t>the correlation coefficient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,  denoted </a:t>
                </a:r>
                <a:r>
                  <a:rPr lang="en-US" altLang="zh-TW" dirty="0"/>
                  <a:t>as </a:t>
                </a:r>
                <a:r>
                  <a:rPr lang="en-US" altLang="zh-TW" dirty="0" smtClean="0"/>
                  <a:t>R(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dirty="0" smtClean="0"/>
                  <a:t> ).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Prediction: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 r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3222228"/>
            <a:ext cx="2726267" cy="109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55078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Admission Rate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1614488" y="1989402"/>
            <a:ext cx="5836179" cy="84904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sz="1800" dirty="0"/>
              <a:t>over-estimation (OE) </a:t>
            </a:r>
          </a:p>
          <a:p>
            <a:r>
              <a:rPr lang="en-US" altLang="zh-TW" sz="1800" dirty="0"/>
              <a:t>under-estimation (UE)</a:t>
            </a:r>
          </a:p>
          <a:p>
            <a:r>
              <a:rPr lang="en-US" altLang="zh-TW" sz="1800" dirty="0"/>
              <a:t>ratio of admission rates (RAR)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/>
          </p:nvPr>
        </p:nvGraphicFramePr>
        <p:xfrm>
          <a:off x="1380066" y="2930012"/>
          <a:ext cx="6149448" cy="2674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734"/>
                <a:gridCol w="584200"/>
                <a:gridCol w="539974"/>
                <a:gridCol w="559848"/>
                <a:gridCol w="559849"/>
                <a:gridCol w="613168"/>
                <a:gridCol w="568735"/>
                <a:gridCol w="586508"/>
                <a:gridCol w="559848"/>
                <a:gridCol w="577622"/>
                <a:gridCol w="550962"/>
              </a:tblGrid>
              <a:tr h="341477">
                <a:tc>
                  <a:txBody>
                    <a:bodyPr/>
                    <a:lstStyle/>
                    <a:p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2004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2005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2006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2007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2008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2009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2010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2011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2013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 or L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8571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OE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72.02%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78.62%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88.20%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87.74%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77.40%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32.60%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16.86%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30.00%</a:t>
                      </a:r>
                      <a:endParaRPr lang="zh-TW" alt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85.69%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8571"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UE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27.98%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21.38%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11.81%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12.25%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22.60%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67.40%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b="0" i="0" kern="12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83.14%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70.00%</a:t>
                      </a:r>
                      <a:endParaRPr lang="zh-TW" altLang="en-US" sz="11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14.31%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lang="en-US" altLang="zh-TW" sz="1100" dirty="0" smtClean="0"/>
                        <a:t>Admission</a:t>
                      </a:r>
                      <a:r>
                        <a:rPr lang="en-US" altLang="zh-TW" sz="1100" baseline="0" dirty="0" smtClean="0"/>
                        <a:t> rate</a:t>
                      </a:r>
                      <a:endParaRPr lang="en-US" altLang="zh-TW" sz="1100" dirty="0" smtClean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75.60%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76.32%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80.94%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85.86%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91.02%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94.01%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86.50%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80.29%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77.49%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fall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82.95%</a:t>
                      </a:r>
                    </a:p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rise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0285">
                <a:tc>
                  <a:txBody>
                    <a:bodyPr/>
                    <a:lstStyle/>
                    <a:p>
                      <a:r>
                        <a:rPr lang="en-US" altLang="zh-TW" sz="1100" dirty="0" smtClean="0"/>
                        <a:t>RAR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1.0095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1.0606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1.0607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1.0601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1.0329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0.9202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0.9281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0.9652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1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1.0705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14985900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Admission Rate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614489" y="2226469"/>
                <a:ext cx="5785379" cy="586581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𝑀𝑅𝑇𝑆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𝑆𝑈𝐵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𝑝𝑡𝑠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𝐺𝑝𝑒𝑟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𝑅𝐴𝑅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)×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4489" y="2226469"/>
                <a:ext cx="5785379" cy="586581"/>
              </a:xfrm>
              <a:blipFill rotWithShape="0">
                <a:blip r:embed="rId2"/>
                <a:stretch>
                  <a:fillRect l="-738" t="-70833" b="-854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2368708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14487" y="2226469"/>
            <a:ext cx="3786188" cy="3263504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U=[-0.6, 0.6]</a:t>
            </a:r>
          </a:p>
          <a:p>
            <a:pPr lvl="1"/>
            <a:r>
              <a:rPr lang="en-US" altLang="zh-TW" dirty="0" smtClean="0"/>
              <a:t>u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=[-0.6,-0.2],</a:t>
            </a:r>
            <a:r>
              <a:rPr lang="en-US" altLang="zh-TW" dirty="0"/>
              <a:t> </a:t>
            </a:r>
            <a:r>
              <a:rPr lang="en-US" altLang="zh-TW" dirty="0" smtClean="0"/>
              <a:t>u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=[-0.2,0.2],</a:t>
            </a:r>
            <a:r>
              <a:rPr lang="en-US" altLang="zh-TW" dirty="0"/>
              <a:t> </a:t>
            </a:r>
            <a:r>
              <a:rPr lang="en-US" altLang="zh-TW" dirty="0" smtClean="0"/>
              <a:t>u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=[0.2,0.6]</a:t>
            </a:r>
            <a:endParaRPr lang="en-US" altLang="zh-TW" dirty="0"/>
          </a:p>
          <a:p>
            <a:r>
              <a:rPr lang="en-US" altLang="zh-TW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(decreasing), </a:t>
            </a:r>
            <a:r>
              <a:rPr lang="en-US" altLang="zh-TW" dirty="0" smtClean="0"/>
              <a:t>A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(unchanged), and A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 </a:t>
            </a:r>
            <a:r>
              <a:rPr lang="en-US" altLang="zh-TW" dirty="0"/>
              <a:t>(increasing</a:t>
            </a:r>
            <a:r>
              <a:rPr lang="en-US" altLang="zh-TW" dirty="0" smtClean="0"/>
              <a:t>).</a:t>
            </a:r>
          </a:p>
          <a:p>
            <a:r>
              <a:rPr lang="en-US" altLang="zh-TW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dirty="0" smtClean="0"/>
              <a:t>={1/u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,0.5/u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,0/u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A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={0.5/u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,1/u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,0.5/u</a:t>
            </a:r>
            <a:r>
              <a:rPr lang="en-US" altLang="zh-TW" baseline="-25000" dirty="0" smtClean="0"/>
              <a:t>3</a:t>
            </a:r>
            <a:r>
              <a:rPr lang="en-US" altLang="zh-TW" dirty="0"/>
              <a:t>}</a:t>
            </a:r>
            <a:endParaRPr lang="zh-TW" altLang="en-US" dirty="0"/>
          </a:p>
          <a:p>
            <a:r>
              <a:rPr lang="en-US" altLang="zh-TW" dirty="0" smtClean="0"/>
              <a:t>A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 ={0/u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,0.5/u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,1/u</a:t>
            </a:r>
            <a:r>
              <a:rPr lang="en-US" altLang="zh-TW" baseline="-25000" dirty="0" smtClean="0"/>
              <a:t>3</a:t>
            </a:r>
            <a:r>
              <a:rPr lang="en-US" altLang="zh-TW" dirty="0"/>
              <a:t>}</a:t>
            </a:r>
            <a:endParaRPr lang="zh-TW" altLang="en-US" dirty="0"/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055" y="2931717"/>
            <a:ext cx="2236459" cy="200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3280780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14487" y="2226470"/>
            <a:ext cx="5915026" cy="133164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Combine fuzzy </a:t>
            </a:r>
            <a:r>
              <a:rPr lang="en-US" altLang="zh-TW" dirty="0"/>
              <a:t>relationships (FR) into FR groups and obtain logical relationships from </a:t>
            </a:r>
            <a:r>
              <a:rPr lang="en-US" altLang="zh-TW" dirty="0" smtClean="0"/>
              <a:t>each FR group.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457" y="3414731"/>
            <a:ext cx="3345083" cy="22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652401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614488" y="2226470"/>
                <a:ext cx="5915025" cy="125703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TW" dirty="0" smtClean="0"/>
                  <a:t>Prediction: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+8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+7)∘</m:t>
                    </m:r>
                    <m:r>
                      <m:rPr>
                        <m:sty m:val="p"/>
                      </m:rP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+7,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+8)=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+8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 err="1" smtClean="0"/>
                  <a:t>Defuzzification</a:t>
                </a:r>
                <a:r>
                  <a:rPr lang="en-US" altLang="zh-TW" dirty="0" smtClean="0"/>
                  <a:t>(F(j+8))+14.3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4488" y="2226470"/>
                <a:ext cx="5915025" cy="1257035"/>
              </a:xfrm>
              <a:blipFill rotWithShape="0">
                <a:blip r:embed="rId2"/>
                <a:stretch>
                  <a:fillRect l="-1443" t="-92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3A866-001D-4873-95F9-BE963E587978}" type="slidenum">
              <a:rPr lang="zh-TW" altLang="en-US" smtClean="0"/>
              <a:pPr/>
              <a:t>17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022" y="3483505"/>
            <a:ext cx="2236459" cy="200646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013" y="3460151"/>
            <a:ext cx="3078460" cy="203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639039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Prediction with Fuzzy Time Series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𝐺𝑝𝑒𝑟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𝐺𝑝𝑒𝑟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𝑅𝐴𝑅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5" y="2690715"/>
            <a:ext cx="2921607" cy="262115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53752433"/>
              </p:ext>
            </p:extLst>
          </p:nvPr>
        </p:nvGraphicFramePr>
        <p:xfrm>
          <a:off x="4654626" y="2896646"/>
          <a:ext cx="3313325" cy="2209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760"/>
                <a:gridCol w="561860"/>
                <a:gridCol w="627962"/>
                <a:gridCol w="842791"/>
                <a:gridCol w="784952"/>
              </a:tblGrid>
              <a:tr h="368216"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err="1" smtClean="0">
                          <a:solidFill>
                            <a:schemeClr val="tx1"/>
                          </a:solidFill>
                        </a:rPr>
                        <a:t>Gper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*RAR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variation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Fuzzy set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216"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2004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216"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2005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10.095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0.055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216"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2006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10.15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10.765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-0.265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216"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2007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10.5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11.137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216"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2008</a:t>
                      </a:r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>
                          <a:solidFill>
                            <a:schemeClr val="tx1"/>
                          </a:solidFill>
                        </a:rPr>
                        <a:t>predict</a:t>
                      </a:r>
                      <a:endParaRPr lang="zh-TW" alt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V="1">
            <a:off x="5539590" y="3906273"/>
            <a:ext cx="272668" cy="19004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V="1">
            <a:off x="5539590" y="4231250"/>
            <a:ext cx="272668" cy="19004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178088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1589699" y="1040207"/>
            <a:ext cx="5915025" cy="994172"/>
          </a:xfrm>
        </p:spPr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766917372"/>
              </p:ext>
            </p:extLst>
          </p:nvPr>
        </p:nvGraphicFramePr>
        <p:xfrm>
          <a:off x="1143000" y="2164108"/>
          <a:ext cx="6858001" cy="341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202"/>
                <a:gridCol w="675410"/>
                <a:gridCol w="641377"/>
                <a:gridCol w="673562"/>
                <a:gridCol w="659334"/>
                <a:gridCol w="675410"/>
                <a:gridCol w="649798"/>
                <a:gridCol w="600765"/>
                <a:gridCol w="596381"/>
                <a:gridCol w="596381"/>
                <a:gridCol w="596381"/>
              </a:tblGrid>
              <a:tr h="853295"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2004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2005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2006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2007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2008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2009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2010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2011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2012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2013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3295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forward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Rmse1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Rmse2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Rmse3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12.46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5.73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5.24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12.43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5.77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5.15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24.99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35.93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12.23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25.12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36.49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13.26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26.28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18.35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12.45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23.60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14.41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11.15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23.22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7.92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7.89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20.54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6.28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6.28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20.01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6.49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5.73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3295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Fuzzy set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Rmse1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Rmse2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Rmse3</a:t>
                      </a:r>
                      <a:endParaRPr lang="zh-TW" altLang="en-US" sz="1400" u="none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20.06</a:t>
                      </a:r>
                    </a:p>
                    <a:p>
                      <a:r>
                        <a:rPr lang="en-US" altLang="zh-TW" sz="1400" u="sng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26.04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13.68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26.86</a:t>
                      </a:r>
                    </a:p>
                    <a:p>
                      <a:r>
                        <a:rPr lang="en-US" altLang="zh-TW" sz="1400" u="sng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17.74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15.61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32.25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27.42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14.19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16.7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6.22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5.51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20.27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6.08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6.07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14.16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4.42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4.31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53295">
                <a:tc>
                  <a:txBody>
                    <a:bodyPr/>
                    <a:lstStyle/>
                    <a:p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RAR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Rmse1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Rmse2</a:t>
                      </a:r>
                    </a:p>
                    <a:p>
                      <a:r>
                        <a:rPr lang="en-US" altLang="zh-TW" sz="1400" u="none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Rmse3</a:t>
                      </a:r>
                      <a:endParaRPr lang="zh-TW" altLang="en-US" sz="1400" u="none" dirty="0" smtClean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11.95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5.40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5.00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8.39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3.36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3.20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17.30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27.05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9.64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19.46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26.04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13.66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26.71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18.23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15.49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34.05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29.14</a:t>
                      </a:r>
                    </a:p>
                    <a:p>
                      <a:r>
                        <a:rPr lang="en-US" altLang="zh-TW" sz="14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14.82</a:t>
                      </a:r>
                      <a:endParaRPr lang="zh-TW" altLang="en-US" sz="1400" u="none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14.46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5.80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4.68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13.34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3.89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3.87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12.62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3.95</a:t>
                      </a:r>
                    </a:p>
                    <a:p>
                      <a:r>
                        <a:rPr lang="en-US" altLang="zh-TW" sz="1400" b="0" i="0" u="sng" kern="1200" dirty="0" smtClea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3.75</a:t>
                      </a:r>
                      <a:endParaRPr lang="zh-TW" altLang="en-US" sz="1400" u="sng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2770743" y="5632652"/>
                <a:ext cx="3225627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𝑓𝑢𝑧𝑧𝑦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𝑜𝑓𝑖𝑛𝑡𝑒𝑟𝑣𝑎𝑙𝑠</m:t>
                      </m:r>
                      <m:r>
                        <a:rPr lang="en-US" altLang="zh-TW" sz="1350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TW" altLang="en-US" sz="1350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743" y="5632652"/>
                <a:ext cx="3225627" cy="300082"/>
              </a:xfrm>
              <a:prstGeom prst="rect">
                <a:avLst/>
              </a:prstGeom>
              <a:blipFill rotWithShape="0">
                <a:blip r:embed="rId2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2577353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628650" y="1794965"/>
                <a:ext cx="4737254" cy="491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Real: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𝑅𝐴𝑅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794965"/>
                <a:ext cx="4737254" cy="491417"/>
              </a:xfrm>
              <a:prstGeom prst="rect">
                <a:avLst/>
              </a:prstGeom>
              <a:blipFill rotWithShape="0">
                <a:blip r:embed="rId3"/>
                <a:stretch>
                  <a:fillRect l="-1931" t="-8642" b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662389" y="2390658"/>
                <a:ext cx="5551123" cy="491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Fuzzy 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𝐺𝑝𝑒𝑟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𝑅𝐴𝑅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89" y="2390658"/>
                <a:ext cx="5551123" cy="491417"/>
              </a:xfrm>
              <a:prstGeom prst="rect">
                <a:avLst/>
              </a:prstGeom>
              <a:blipFill rotWithShape="0">
                <a:blip r:embed="rId4"/>
                <a:stretch>
                  <a:fillRect l="-1758" t="-8642" b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8568608"/>
                  </p:ext>
                </p:extLst>
              </p:nvPr>
            </p:nvGraphicFramePr>
            <p:xfrm>
              <a:off x="6213512" y="1965562"/>
              <a:ext cx="1839818" cy="85019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9909"/>
                    <a:gridCol w="919909"/>
                  </a:tblGrid>
                  <a:tr h="283397"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Real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</m:e>
                                  <m:sub>
                                    <m: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83397"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Fuzzy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</m:e>
                                  <m:sub>
                                    <m: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283397"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RAR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3368568608"/>
                  </p:ext>
                </p:extLst>
              </p:nvPr>
            </p:nvGraphicFramePr>
            <p:xfrm>
              <a:off x="6213512" y="1965562"/>
              <a:ext cx="1839818" cy="9691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9909"/>
                    <a:gridCol w="919909"/>
                  </a:tblGrid>
                  <a:tr h="283397"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Real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1325" t="-2128" r="-1325" b="-202128"/>
                          </a:stretch>
                        </a:blipFill>
                      </a:tcPr>
                    </a:tc>
                  </a:tr>
                  <a:tr h="283397"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Fuzzy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1325" t="-104348" r="-1325" b="-106522"/>
                          </a:stretch>
                        </a:blipFill>
                      </a:tcPr>
                    </a:tc>
                  </a:tr>
                  <a:tr h="283397"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RAR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2603689"/>
                  </p:ext>
                </p:extLst>
              </p:nvPr>
            </p:nvGraphicFramePr>
            <p:xfrm>
              <a:off x="628650" y="3785353"/>
              <a:ext cx="3751244" cy="28116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7811"/>
                    <a:gridCol w="937811"/>
                    <a:gridCol w="937811"/>
                    <a:gridCol w="937811"/>
                  </a:tblGrid>
                  <a:tr h="620063">
                    <a:tc>
                      <a:txBody>
                        <a:bodyPr/>
                        <a:lstStyle/>
                        <a:p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2011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2012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8507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altLang="zh-TW" sz="10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0.0284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86486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altLang="zh-TW" sz="10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0.0318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0.0365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0.0301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2006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TW" sz="10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0.0284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3832603689"/>
                  </p:ext>
                </p:extLst>
              </p:nvPr>
            </p:nvGraphicFramePr>
            <p:xfrm>
              <a:off x="628650" y="3785353"/>
              <a:ext cx="3751244" cy="28116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37811"/>
                    <a:gridCol w="937811"/>
                    <a:gridCol w="937811"/>
                    <a:gridCol w="937811"/>
                  </a:tblGrid>
                  <a:tr h="620063">
                    <a:tc>
                      <a:txBody>
                        <a:bodyPr/>
                        <a:lstStyle/>
                        <a:p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2011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2012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8507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649" t="-70548" r="-301299" b="-148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0.0284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8648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649" t="-220354" r="-301299" b="-920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0.0318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0.0365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0.0301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2006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649" t="-354902" r="-301299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0.0284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xmlns=""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7767131"/>
                  </p:ext>
                </p:extLst>
              </p:nvPr>
            </p:nvGraphicFramePr>
            <p:xfrm>
              <a:off x="5285340" y="3713375"/>
              <a:ext cx="2619260" cy="189214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4815"/>
                    <a:gridCol w="654815"/>
                    <a:gridCol w="654815"/>
                    <a:gridCol w="654815"/>
                  </a:tblGrid>
                  <a:tr h="535334">
                    <a:tc>
                      <a:txBody>
                        <a:bodyPr/>
                        <a:lstStyle/>
                        <a:p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2011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2012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6413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altLang="zh-TW" sz="10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0.0284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926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altLang="zh-TW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altLang="zh-TW" sz="100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10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10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altLang="zh-TW" sz="10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altLang="zh-TW" sz="10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rgbClr val="C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0.0237</a:t>
                          </a:r>
                          <a:endParaRPr lang="zh-TW" altLang="en-US" sz="1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rgbClr val="C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0.0227</a:t>
                          </a:r>
                          <a:endParaRPr lang="zh-TW" altLang="en-US" sz="1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rgbClr val="C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0.0202</a:t>
                          </a:r>
                          <a:endParaRPr lang="zh-TW" altLang="en-US" sz="1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val="2227767131"/>
                  </p:ext>
                </p:extLst>
              </p:nvPr>
            </p:nvGraphicFramePr>
            <p:xfrm>
              <a:off x="5285340" y="3713375"/>
              <a:ext cx="2619260" cy="189214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4815"/>
                    <a:gridCol w="654815"/>
                    <a:gridCol w="654815"/>
                    <a:gridCol w="654815"/>
                  </a:tblGrid>
                  <a:tr h="535334">
                    <a:tc>
                      <a:txBody>
                        <a:bodyPr/>
                        <a:lstStyle/>
                        <a:p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2011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2012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000" dirty="0" smtClean="0">
                              <a:solidFill>
                                <a:schemeClr val="tx1"/>
                              </a:solidFill>
                            </a:rPr>
                            <a:t>2013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764131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852" t="-70635" r="-300000" b="-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0.0253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0.0284</a:t>
                          </a:r>
                          <a:endParaRPr lang="zh-TW" altLang="en-US" sz="1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9268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852" t="-221649" r="-300000" b="-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rgbClr val="C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0.0237</a:t>
                          </a:r>
                          <a:endParaRPr lang="zh-TW" altLang="en-US" sz="1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rgbClr val="C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0.0227</a:t>
                          </a:r>
                          <a:endParaRPr lang="zh-TW" altLang="en-US" sz="1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0" i="0" kern="1200" dirty="0" smtClean="0">
                              <a:solidFill>
                                <a:srgbClr val="C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0.0202</a:t>
                          </a:r>
                          <a:endParaRPr lang="zh-TW" altLang="en-US" sz="1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矩形 9"/>
              <p:cNvSpPr/>
              <p:nvPr/>
            </p:nvSpPr>
            <p:spPr>
              <a:xfrm>
                <a:off x="662389" y="2986351"/>
                <a:ext cx="5551123" cy="4914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 smtClean="0"/>
                  <a:t>RAR: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𝐺𝑝𝑒𝑟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𝐺𝑝𝑒𝑟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𝑅𝐴𝑅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89" y="2986351"/>
                <a:ext cx="5551123" cy="491417"/>
              </a:xfrm>
              <a:prstGeom prst="rect">
                <a:avLst/>
              </a:prstGeom>
              <a:blipFill rotWithShape="0">
                <a:blip r:embed="rId8"/>
                <a:stretch>
                  <a:fillRect l="-1758" t="-8642" b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接點 11"/>
          <p:cNvCxnSpPr/>
          <p:nvPr/>
        </p:nvCxnSpPr>
        <p:spPr>
          <a:xfrm flipV="1">
            <a:off x="5045726" y="6224531"/>
            <a:ext cx="3183874" cy="110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6538510" y="6139150"/>
            <a:ext cx="165253" cy="1707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169225" y="6139149"/>
            <a:ext cx="165253" cy="1707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5" name="矩形 14"/>
              <p:cNvSpPr/>
              <p:nvPr/>
            </p:nvSpPr>
            <p:spPr>
              <a:xfrm>
                <a:off x="7095759" y="6320929"/>
                <a:ext cx="4774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759" y="6320929"/>
                <a:ext cx="477438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矩形 15"/>
              <p:cNvSpPr/>
              <p:nvPr/>
            </p:nvSpPr>
            <p:spPr>
              <a:xfrm>
                <a:off x="5736074" y="5611911"/>
                <a:ext cx="4827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074" y="5611911"/>
                <a:ext cx="482761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7" name="矩形 16"/>
              <p:cNvSpPr/>
              <p:nvPr/>
            </p:nvSpPr>
            <p:spPr>
              <a:xfrm>
                <a:off x="7013132" y="5579642"/>
                <a:ext cx="4827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132" y="5579642"/>
                <a:ext cx="482761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單箭頭接點 18"/>
          <p:cNvCxnSpPr>
            <a:stCxn id="16" idx="2"/>
          </p:cNvCxnSpPr>
          <p:nvPr/>
        </p:nvCxnSpPr>
        <p:spPr>
          <a:xfrm flipH="1">
            <a:off x="5977454" y="5981243"/>
            <a:ext cx="1" cy="254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7251850" y="5907202"/>
            <a:ext cx="1" cy="254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472212" y="6294170"/>
            <a:ext cx="301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00423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</TotalTime>
  <Words>775</Words>
  <Application>Microsoft Office PowerPoint</Application>
  <PresentationFormat>如螢幕大小 (4:3)</PresentationFormat>
  <Paragraphs>448</Paragraphs>
  <Slides>20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1" baseType="lpstr">
      <vt:lpstr>Office 佈景主題</vt:lpstr>
      <vt:lpstr>The Department Score Forecast and Analysis of the College Entrance Examination</vt:lpstr>
      <vt:lpstr>Admission Pipeline</vt:lpstr>
      <vt:lpstr>College Entrance Examination (CEE) Prediction System</vt:lpstr>
      <vt:lpstr>The Forward Method</vt:lpstr>
      <vt:lpstr>The Forward Method</vt:lpstr>
      <vt:lpstr>The Forward Method</vt:lpstr>
      <vt:lpstr>Forward Method with School Ranking</vt:lpstr>
      <vt:lpstr>Forward Method with School Ranking</vt:lpstr>
      <vt:lpstr>Forward Method with School Ranking</vt:lpstr>
      <vt:lpstr>Lin’s Method</vt:lpstr>
      <vt:lpstr>Lin’s Method</vt:lpstr>
      <vt:lpstr>Lin’s Method</vt:lpstr>
      <vt:lpstr>The Admission Rate</vt:lpstr>
      <vt:lpstr>The Admission Rate</vt:lpstr>
      <vt:lpstr>Prediction with Fuzzy Time Series</vt:lpstr>
      <vt:lpstr>Prediction with Fuzzy Time Series</vt:lpstr>
      <vt:lpstr>Prediction with Fuzzy Time Series</vt:lpstr>
      <vt:lpstr>Prediction with Fuzzy Time Series</vt:lpstr>
      <vt:lpstr>Experimental Results</vt:lpstr>
      <vt:lpstr>Experimental Results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Department Score Forecast and Analysis of the College Entrance Examination</dc:title>
  <dc:creator>許竣傑</dc:creator>
  <cp:lastModifiedBy>admin</cp:lastModifiedBy>
  <cp:revision>17</cp:revision>
  <dcterms:created xsi:type="dcterms:W3CDTF">2014-05-26T05:31:58Z</dcterms:created>
  <dcterms:modified xsi:type="dcterms:W3CDTF">2014-05-26T11:17:56Z</dcterms:modified>
</cp:coreProperties>
</file>