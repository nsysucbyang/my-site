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2014/5/26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Remark on Hsu-Du </a:t>
            </a:r>
            <a:r>
              <a:rPr lang="en-US" altLang="zh-TW" dirty="0" smtClean="0"/>
              <a:t>New Algorithm </a:t>
            </a:r>
            <a:r>
              <a:rPr lang="en-US" altLang="zh-TW" dirty="0"/>
              <a:t>for the </a:t>
            </a:r>
            <a:r>
              <a:rPr lang="en-US" altLang="zh-TW" dirty="0" smtClean="0"/>
              <a:t>LCS Problem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altLang="zh-TW" dirty="0"/>
              <a:t>A. </a:t>
            </a:r>
            <a:r>
              <a:rPr lang="fr-FR" altLang="zh-TW" dirty="0" smtClean="0"/>
              <a:t>Apostolico, Information </a:t>
            </a:r>
            <a:r>
              <a:rPr lang="fr-FR" altLang="zh-TW" dirty="0"/>
              <a:t>Processing </a:t>
            </a:r>
            <a:r>
              <a:rPr lang="fr-FR" altLang="zh-TW" dirty="0" smtClean="0"/>
              <a:t>Letters, Volume </a:t>
            </a:r>
            <a:r>
              <a:rPr lang="fr-FR" altLang="zh-TW" dirty="0"/>
              <a:t>25, Issue 4, 17 June 1987, Pages 235–236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0834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467544" y="1268760"/>
            <a:ext cx="82089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One of the time bounds claimed by Hsu and Du for the</a:t>
            </a:r>
          </a:p>
          <a:p>
            <a:r>
              <a:rPr lang="en-US" altLang="zh-TW" sz="2800" dirty="0"/>
              <a:t>modification of Hirschberg's strategy set up by them is not </a:t>
            </a:r>
            <a:r>
              <a:rPr lang="en-US" altLang="zh-TW" sz="2800" dirty="0" smtClean="0"/>
              <a:t>correct. This </a:t>
            </a:r>
            <a:r>
              <a:rPr lang="en-US" altLang="zh-TW" sz="2800" dirty="0"/>
              <a:t>is of some consequence, notably, it voids the claim, made </a:t>
            </a:r>
            <a:r>
              <a:rPr lang="en-US" altLang="zh-TW" sz="2800" dirty="0" smtClean="0"/>
              <a:t>else-where </a:t>
            </a:r>
            <a:r>
              <a:rPr lang="en-US" altLang="zh-TW" sz="2800" dirty="0"/>
              <a:t>in the same paper, that the proposed algorithm performs </a:t>
            </a:r>
            <a:r>
              <a:rPr lang="en-US" altLang="zh-TW" sz="2800" dirty="0" smtClean="0"/>
              <a:t>better than </a:t>
            </a:r>
            <a:r>
              <a:rPr lang="en-US" altLang="zh-TW" sz="2800" dirty="0"/>
              <a:t>the Hunt-Szymanski's strategy in cases of sparse matches. In </a:t>
            </a:r>
            <a:r>
              <a:rPr lang="en-US" altLang="zh-TW" sz="2800" dirty="0" smtClean="0"/>
              <a:t>fact it </a:t>
            </a:r>
            <a:r>
              <a:rPr lang="en-US" altLang="zh-TW" sz="2800" dirty="0"/>
              <a:t>is pointed out here </a:t>
            </a:r>
            <a:r>
              <a:rPr lang="en-US" altLang="zh-TW" sz="2800" dirty="0" smtClean="0"/>
              <a:t>that just </a:t>
            </a:r>
            <a:r>
              <a:rPr lang="en-US" altLang="zh-TW" sz="2800" dirty="0"/>
              <a:t>the opposite is true. In addition, </a:t>
            </a:r>
            <a:r>
              <a:rPr lang="en-US" altLang="zh-TW" sz="2800" dirty="0" smtClean="0"/>
              <a:t>there are </a:t>
            </a:r>
            <a:r>
              <a:rPr lang="en-US" altLang="zh-TW" sz="2800" dirty="0"/>
              <a:t>other cases </a:t>
            </a:r>
            <a:r>
              <a:rPr lang="en-US" altLang="zh-TW" sz="2800" dirty="0" smtClean="0"/>
              <a:t>in which </a:t>
            </a:r>
            <a:r>
              <a:rPr lang="en-US" altLang="zh-TW" sz="2800" dirty="0"/>
              <a:t>the new algorithm fails to achieve the </a:t>
            </a:r>
            <a:r>
              <a:rPr lang="en-US" altLang="zh-TW" sz="2800" dirty="0" smtClean="0"/>
              <a:t>superior performance </a:t>
            </a:r>
            <a:r>
              <a:rPr lang="en-US" altLang="zh-TW" sz="2800" dirty="0"/>
              <a:t>that the authors </a:t>
            </a:r>
            <a:r>
              <a:rPr lang="en-US" altLang="zh-TW" sz="2800" dirty="0" smtClean="0"/>
              <a:t>claim, </a:t>
            </a:r>
            <a:r>
              <a:rPr lang="en-US" altLang="zh-TW" sz="2800" dirty="0"/>
              <a:t>namely, all cases where </a:t>
            </a:r>
            <a:r>
              <a:rPr lang="en-US" altLang="zh-TW" sz="2800" dirty="0" smtClean="0"/>
              <a:t>the number </a:t>
            </a:r>
            <a:r>
              <a:rPr lang="en-US" altLang="zh-TW" sz="2800" dirty="0"/>
              <a:t>of matches is large compared to the length of </a:t>
            </a:r>
            <a:r>
              <a:rPr lang="en-US" altLang="zh-TW" sz="2800" dirty="0" smtClean="0"/>
              <a:t>the shorter input </a:t>
            </a:r>
            <a:r>
              <a:rPr lang="en-US" altLang="zh-TW" sz="2800" dirty="0"/>
              <a:t>string.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0684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Hirschberg’s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“</a:t>
            </a:r>
            <a:r>
              <a:rPr lang="en-US" altLang="zh-TW" dirty="0" err="1" smtClean="0"/>
              <a:t>abcdbb</a:t>
            </a:r>
            <a:r>
              <a:rPr lang="en-US" altLang="zh-TW" dirty="0" smtClean="0"/>
              <a:t>”, B = “</a:t>
            </a:r>
            <a:r>
              <a:rPr lang="en-US" altLang="zh-TW" dirty="0" err="1" smtClean="0"/>
              <a:t>cbacbaaba</a:t>
            </a:r>
            <a:r>
              <a:rPr lang="en-US" altLang="zh-TW" dirty="0" smtClean="0"/>
              <a:t>”</a:t>
            </a:r>
          </a:p>
          <a:p>
            <a:r>
              <a:rPr lang="en-US" altLang="zh-TW" dirty="0" smtClean="0"/>
              <a:t>A[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 = B[j]</a:t>
            </a:r>
            <a:r>
              <a:rPr lang="zh-TW" altLang="en-US" dirty="0" smtClean="0"/>
              <a:t> 以 * 表示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657650"/>
              </p:ext>
            </p:extLst>
          </p:nvPr>
        </p:nvGraphicFramePr>
        <p:xfrm>
          <a:off x="2369340" y="2852936"/>
          <a:ext cx="4405320" cy="3214708"/>
        </p:xfrm>
        <a:graphic>
          <a:graphicData uri="http://schemas.openxmlformats.org/drawingml/2006/table">
            <a:tbl>
              <a:tblPr firstRow="1" bandRow="1"/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602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TW" dirty="0" smtClean="0"/>
                  <a:t>A = “</a:t>
                </a:r>
                <a:r>
                  <a:rPr lang="en-US" altLang="zh-TW" dirty="0" err="1"/>
                  <a:t>abcdbb</a:t>
                </a:r>
                <a:r>
                  <a:rPr lang="en-US" altLang="zh-TW" dirty="0"/>
                  <a:t>”, B = “</a:t>
                </a:r>
                <a:r>
                  <a:rPr lang="en-US" altLang="zh-TW" dirty="0" err="1"/>
                  <a:t>cbacbaaba</a:t>
                </a:r>
                <a:r>
                  <a:rPr lang="en-US" altLang="zh-TW" dirty="0" smtClean="0"/>
                  <a:t>”</a:t>
                </a:r>
              </a:p>
              <a:p>
                <a:r>
                  <a:rPr lang="en-US" altLang="zh-TW" dirty="0" smtClean="0"/>
                  <a:t>n = max(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 altLang="zh-TW" dirty="0" smtClean="0"/>
                  <a:t>) = 9</a:t>
                </a:r>
              </a:p>
              <a:p>
                <a:r>
                  <a:rPr lang="en-US" altLang="zh-TW" dirty="0" smtClean="0"/>
                  <a:t>Thresh[0: n]</a:t>
                </a:r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en-US" altLang="zh-TW" dirty="0"/>
                  <a:t>Thresh[k-1] </a:t>
                </a:r>
                <a:r>
                  <a:rPr lang="zh-TW" altLang="en-US" dirty="0"/>
                  <a:t>＜ </a:t>
                </a:r>
                <a:r>
                  <a:rPr lang="en-US" altLang="zh-TW" dirty="0"/>
                  <a:t>j ≦ Thresh[k]   =&gt;   Thresh[k] = j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9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41553"/>
              </p:ext>
            </p:extLst>
          </p:nvPr>
        </p:nvGraphicFramePr>
        <p:xfrm>
          <a:off x="899592" y="2924944"/>
          <a:ext cx="698477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097"/>
                <a:gridCol w="873097"/>
                <a:gridCol w="873097"/>
                <a:gridCol w="873097"/>
                <a:gridCol w="873097"/>
                <a:gridCol w="873097"/>
                <a:gridCol w="873097"/>
                <a:gridCol w="8730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n+1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n+1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n+1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n+1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n+1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n+1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983484"/>
              </p:ext>
            </p:extLst>
          </p:nvPr>
        </p:nvGraphicFramePr>
        <p:xfrm>
          <a:off x="899592" y="4242792"/>
          <a:ext cx="6984776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097"/>
                <a:gridCol w="873097"/>
                <a:gridCol w="873097"/>
                <a:gridCol w="873097"/>
                <a:gridCol w="873097"/>
                <a:gridCol w="873097"/>
                <a:gridCol w="873097"/>
                <a:gridCol w="87309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index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4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6</a:t>
                      </a:r>
                      <a:endParaRPr lang="zh-TW" alt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value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33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Algorithm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356085"/>
              </p:ext>
            </p:extLst>
          </p:nvPr>
        </p:nvGraphicFramePr>
        <p:xfrm>
          <a:off x="42236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227270"/>
              </p:ext>
            </p:extLst>
          </p:nvPr>
        </p:nvGraphicFramePr>
        <p:xfrm>
          <a:off x="395536" y="1785926"/>
          <a:ext cx="338352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301"/>
                <a:gridCol w="379746"/>
                <a:gridCol w="379746"/>
                <a:gridCol w="379746"/>
                <a:gridCol w="379746"/>
                <a:gridCol w="379746"/>
                <a:gridCol w="379746"/>
                <a:gridCol w="37974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076056" y="3573016"/>
            <a:ext cx="3096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Point(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, j) = (1, </a:t>
            </a:r>
            <a:r>
              <a:rPr lang="en-US" altLang="zh-TW" sz="2000" dirty="0" smtClean="0">
                <a:solidFill>
                  <a:srgbClr val="00B050"/>
                </a:solidFill>
              </a:rPr>
              <a:t>9</a:t>
            </a:r>
            <a:r>
              <a:rPr lang="en-US" altLang="zh-TW" sz="2000" dirty="0" smtClean="0"/>
              <a:t>)</a:t>
            </a:r>
          </a:p>
          <a:p>
            <a:r>
              <a:rPr lang="en-US" altLang="zh-TW" sz="2000" dirty="0" smtClean="0"/>
              <a:t>Thresh[0] </a:t>
            </a:r>
            <a:r>
              <a:rPr lang="zh-TW" altLang="en-US" sz="2000" dirty="0" smtClean="0"/>
              <a:t>＜ </a:t>
            </a:r>
            <a:r>
              <a:rPr lang="en-US" altLang="zh-TW" sz="2000" dirty="0" smtClean="0">
                <a:solidFill>
                  <a:srgbClr val="00B050"/>
                </a:solidFill>
              </a:rPr>
              <a:t>9</a:t>
            </a:r>
            <a:r>
              <a:rPr lang="en-US" altLang="zh-TW" sz="2000" dirty="0" smtClean="0"/>
              <a:t> ≦ Thresh[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]</a:t>
            </a:r>
          </a:p>
          <a:p>
            <a:r>
              <a:rPr lang="en-US" altLang="zh-TW" sz="2000" dirty="0" smtClean="0"/>
              <a:t>Thresh[1] = 9</a:t>
            </a:r>
          </a:p>
          <a:p>
            <a:r>
              <a:rPr lang="en-US" altLang="zh-TW" sz="2000" dirty="0" smtClean="0"/>
              <a:t>rank of point(1, 9) = 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向右箭號 5"/>
          <p:cNvSpPr/>
          <p:nvPr/>
        </p:nvSpPr>
        <p:spPr>
          <a:xfrm>
            <a:off x="4215380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8339"/>
              </p:ext>
            </p:extLst>
          </p:nvPr>
        </p:nvGraphicFramePr>
        <p:xfrm>
          <a:off x="5077196" y="1772816"/>
          <a:ext cx="359926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1547"/>
                <a:gridCol w="403959"/>
                <a:gridCol w="403959"/>
                <a:gridCol w="403959"/>
                <a:gridCol w="403959"/>
                <a:gridCol w="403959"/>
                <a:gridCol w="403959"/>
                <a:gridCol w="40395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885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Algorithm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876765"/>
              </p:ext>
            </p:extLst>
          </p:nvPr>
        </p:nvGraphicFramePr>
        <p:xfrm>
          <a:off x="42236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068951"/>
              </p:ext>
            </p:extLst>
          </p:nvPr>
        </p:nvGraphicFramePr>
        <p:xfrm>
          <a:off x="395536" y="1785926"/>
          <a:ext cx="338352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301"/>
                <a:gridCol w="379746"/>
                <a:gridCol w="379746"/>
                <a:gridCol w="379746"/>
                <a:gridCol w="379746"/>
                <a:gridCol w="379746"/>
                <a:gridCol w="379746"/>
                <a:gridCol w="37974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076056" y="3573016"/>
            <a:ext cx="3096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Point(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, j) = (1, </a:t>
            </a:r>
            <a:r>
              <a:rPr lang="en-US" altLang="zh-TW" sz="2000" dirty="0">
                <a:solidFill>
                  <a:srgbClr val="00B050"/>
                </a:solidFill>
              </a:rPr>
              <a:t>7</a:t>
            </a:r>
            <a:r>
              <a:rPr lang="en-US" altLang="zh-TW" sz="2000" dirty="0" smtClean="0"/>
              <a:t>)</a:t>
            </a:r>
          </a:p>
          <a:p>
            <a:r>
              <a:rPr lang="en-US" altLang="zh-TW" sz="2000" dirty="0" smtClean="0"/>
              <a:t>Thresh[0] </a:t>
            </a:r>
            <a:r>
              <a:rPr lang="zh-TW" altLang="en-US" sz="2000" dirty="0" smtClean="0"/>
              <a:t>＜ </a:t>
            </a:r>
            <a:r>
              <a:rPr lang="en-US" altLang="zh-TW" sz="2000" dirty="0">
                <a:solidFill>
                  <a:srgbClr val="00B050"/>
                </a:solidFill>
              </a:rPr>
              <a:t>7</a:t>
            </a:r>
            <a:r>
              <a:rPr lang="en-US" altLang="zh-TW" sz="2000" dirty="0" smtClean="0"/>
              <a:t> ≦ Thresh[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  <a:r>
              <a:rPr lang="en-US" altLang="zh-TW" sz="2000" dirty="0" smtClean="0"/>
              <a:t>]</a:t>
            </a:r>
          </a:p>
          <a:p>
            <a:r>
              <a:rPr lang="en-US" altLang="zh-TW" sz="2000" dirty="0" smtClean="0"/>
              <a:t>Thresh[1] = </a:t>
            </a:r>
            <a:r>
              <a:rPr lang="en-US" altLang="zh-TW" sz="2000" dirty="0"/>
              <a:t>7</a:t>
            </a:r>
            <a:endParaRPr lang="en-US" altLang="zh-TW" sz="2000" dirty="0" smtClean="0"/>
          </a:p>
          <a:p>
            <a:r>
              <a:rPr lang="en-US" altLang="zh-TW" sz="2000" dirty="0" smtClean="0"/>
              <a:t>rank of point(1, 7) = </a:t>
            </a:r>
            <a:r>
              <a:rPr lang="en-US" altLang="zh-TW" sz="2000" dirty="0" smtClean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向右箭號 5"/>
          <p:cNvSpPr/>
          <p:nvPr/>
        </p:nvSpPr>
        <p:spPr>
          <a:xfrm>
            <a:off x="4215380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060162"/>
              </p:ext>
            </p:extLst>
          </p:nvPr>
        </p:nvGraphicFramePr>
        <p:xfrm>
          <a:off x="5077196" y="1772816"/>
          <a:ext cx="359926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1547"/>
                <a:gridCol w="403959"/>
                <a:gridCol w="403959"/>
                <a:gridCol w="403959"/>
                <a:gridCol w="403959"/>
                <a:gridCol w="403959"/>
                <a:gridCol w="403959"/>
                <a:gridCol w="40395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59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Algorithm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2341"/>
              </p:ext>
            </p:extLst>
          </p:nvPr>
        </p:nvGraphicFramePr>
        <p:xfrm>
          <a:off x="42236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889613"/>
              </p:ext>
            </p:extLst>
          </p:nvPr>
        </p:nvGraphicFramePr>
        <p:xfrm>
          <a:off x="395536" y="1785926"/>
          <a:ext cx="338352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301"/>
                <a:gridCol w="379746"/>
                <a:gridCol w="379746"/>
                <a:gridCol w="379746"/>
                <a:gridCol w="379746"/>
                <a:gridCol w="379746"/>
                <a:gridCol w="379746"/>
                <a:gridCol w="37974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076056" y="3573016"/>
            <a:ext cx="3096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Point(</a:t>
            </a:r>
            <a:r>
              <a:rPr lang="en-US" altLang="zh-TW" sz="2000" dirty="0" err="1" smtClean="0"/>
              <a:t>i</a:t>
            </a:r>
            <a:r>
              <a:rPr lang="en-US" altLang="zh-TW" sz="2000" dirty="0" smtClean="0"/>
              <a:t>, j) = (2, </a:t>
            </a:r>
            <a:r>
              <a:rPr lang="en-US" altLang="zh-TW" sz="2000" dirty="0" smtClean="0">
                <a:solidFill>
                  <a:srgbClr val="00B050"/>
                </a:solidFill>
              </a:rPr>
              <a:t>8</a:t>
            </a:r>
            <a:r>
              <a:rPr lang="en-US" altLang="zh-TW" sz="2000" dirty="0" smtClean="0"/>
              <a:t>)</a:t>
            </a:r>
          </a:p>
          <a:p>
            <a:r>
              <a:rPr lang="en-US" altLang="zh-TW" sz="2000" dirty="0" smtClean="0"/>
              <a:t>Thresh[0] </a:t>
            </a:r>
            <a:r>
              <a:rPr lang="zh-TW" altLang="en-US" sz="2000" dirty="0" smtClean="0"/>
              <a:t>＜ </a:t>
            </a:r>
            <a:r>
              <a:rPr lang="en-US" altLang="zh-TW" sz="2000" dirty="0" smtClean="0">
                <a:solidFill>
                  <a:srgbClr val="00B050"/>
                </a:solidFill>
              </a:rPr>
              <a:t>8</a:t>
            </a:r>
            <a:r>
              <a:rPr lang="en-US" altLang="zh-TW" sz="2000" dirty="0" smtClean="0"/>
              <a:t> ≦ Thresh[</a:t>
            </a:r>
            <a:r>
              <a:rPr lang="en-US" altLang="zh-TW" sz="2000" dirty="0">
                <a:solidFill>
                  <a:srgbClr val="FF0000"/>
                </a:solidFill>
              </a:rPr>
              <a:t>2</a:t>
            </a:r>
            <a:r>
              <a:rPr lang="en-US" altLang="zh-TW" sz="2000" dirty="0" smtClean="0"/>
              <a:t>]</a:t>
            </a:r>
          </a:p>
          <a:p>
            <a:r>
              <a:rPr lang="en-US" altLang="zh-TW" sz="2000" dirty="0" smtClean="0"/>
              <a:t>Thresh[1] = 8</a:t>
            </a:r>
          </a:p>
          <a:p>
            <a:r>
              <a:rPr lang="en-US" altLang="zh-TW" sz="2000" dirty="0" smtClean="0"/>
              <a:t>rank of point(2, </a:t>
            </a:r>
            <a:r>
              <a:rPr lang="en-US" altLang="zh-TW" sz="2000" dirty="0"/>
              <a:t>8</a:t>
            </a:r>
            <a:r>
              <a:rPr lang="en-US" altLang="zh-TW" sz="2000" dirty="0" smtClean="0"/>
              <a:t>) = </a:t>
            </a:r>
            <a:r>
              <a:rPr lang="en-US" altLang="zh-TW" sz="2000" dirty="0">
                <a:solidFill>
                  <a:srgbClr val="FF0000"/>
                </a:solidFill>
              </a:rPr>
              <a:t>2</a:t>
            </a:r>
            <a:endParaRPr lang="en-US" altLang="zh-TW" sz="2000" dirty="0" smtClean="0">
              <a:solidFill>
                <a:srgbClr val="FF0000"/>
              </a:solidFill>
            </a:endParaRPr>
          </a:p>
        </p:txBody>
      </p:sp>
      <p:sp>
        <p:nvSpPr>
          <p:cNvPr id="6" name="向右箭號 5"/>
          <p:cNvSpPr/>
          <p:nvPr/>
        </p:nvSpPr>
        <p:spPr>
          <a:xfrm>
            <a:off x="4215380" y="2000240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760614"/>
              </p:ext>
            </p:extLst>
          </p:nvPr>
        </p:nvGraphicFramePr>
        <p:xfrm>
          <a:off x="5077196" y="1772816"/>
          <a:ext cx="359926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71547"/>
                <a:gridCol w="403959"/>
                <a:gridCol w="403959"/>
                <a:gridCol w="403959"/>
                <a:gridCol w="403959"/>
                <a:gridCol w="403959"/>
                <a:gridCol w="403959"/>
                <a:gridCol w="40395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1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Hirschberg’s Algorithm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054917"/>
              </p:ext>
            </p:extLst>
          </p:nvPr>
        </p:nvGraphicFramePr>
        <p:xfrm>
          <a:off x="422362" y="2714620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93533"/>
              </p:ext>
            </p:extLst>
          </p:nvPr>
        </p:nvGraphicFramePr>
        <p:xfrm>
          <a:off x="395536" y="1785926"/>
          <a:ext cx="338352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5301"/>
                <a:gridCol w="379746"/>
                <a:gridCol w="379746"/>
                <a:gridCol w="379746"/>
                <a:gridCol w="379746"/>
                <a:gridCol w="379746"/>
                <a:gridCol w="379746"/>
                <a:gridCol w="37974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5076056" y="3573016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Length of LCS = 4</a:t>
            </a:r>
            <a:endParaRPr lang="en-US" altLang="zh-TW" sz="2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22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Hsu-</a:t>
            </a:r>
            <a:r>
              <a:rPr lang="en-US" altLang="zh-TW" dirty="0" err="1"/>
              <a:t>Du’s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536401"/>
              </p:ext>
            </p:extLst>
          </p:nvPr>
        </p:nvGraphicFramePr>
        <p:xfrm>
          <a:off x="971600" y="2420888"/>
          <a:ext cx="3357550" cy="32147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  <a:gridCol w="335755"/>
              </a:tblGrid>
              <a:tr h="459244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59244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400874"/>
              </p:ext>
            </p:extLst>
          </p:nvPr>
        </p:nvGraphicFramePr>
        <p:xfrm>
          <a:off x="4788024" y="2687320"/>
          <a:ext cx="3744413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663"/>
                <a:gridCol w="420250"/>
                <a:gridCol w="420250"/>
                <a:gridCol w="420250"/>
                <a:gridCol w="420250"/>
                <a:gridCol w="420250"/>
                <a:gridCol w="420250"/>
                <a:gridCol w="4202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index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value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 marL="36000" marR="36000"/>
                </a:tc>
              </a:tr>
            </a:tbl>
          </a:graphicData>
        </a:graphic>
      </p:graphicFrame>
      <p:sp>
        <p:nvSpPr>
          <p:cNvPr id="3" name="文字方塊 2"/>
          <p:cNvSpPr txBox="1"/>
          <p:nvPr/>
        </p:nvSpPr>
        <p:spPr>
          <a:xfrm>
            <a:off x="6122778" y="4049216"/>
            <a:ext cx="609462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dirty="0" smtClean="0"/>
              <a:t>j = 4</a:t>
            </a:r>
            <a:endParaRPr lang="zh-TW" altLang="en-US" dirty="0"/>
          </a:p>
        </p:txBody>
      </p:sp>
      <p:cxnSp>
        <p:nvCxnSpPr>
          <p:cNvPr id="7" name="直線單箭頭接點 6"/>
          <p:cNvCxnSpPr>
            <a:stCxn id="3" idx="0"/>
          </p:cNvCxnSpPr>
          <p:nvPr/>
        </p:nvCxnSpPr>
        <p:spPr>
          <a:xfrm flipV="1">
            <a:off x="6427509" y="3429000"/>
            <a:ext cx="0" cy="62021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4519142" y="4049656"/>
            <a:ext cx="1599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binary search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1105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N[</a:t>
                </a:r>
                <a:r>
                  <a:rPr lang="el-GR" altLang="zh-TW" dirty="0" smtClean="0"/>
                  <a:t>θ</a:t>
                </a:r>
                <a:r>
                  <a:rPr lang="en-US" altLang="zh-TW" dirty="0" smtClean="0"/>
                  <a:t>]: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中</a:t>
                </a:r>
                <a:r>
                  <a:rPr lang="el-GR" altLang="zh-TW" dirty="0" smtClean="0"/>
                  <a:t>θ</a:t>
                </a:r>
                <a:r>
                  <a:rPr lang="zh-TW" altLang="en-US" dirty="0" smtClean="0"/>
                  <a:t>的總數</a:t>
                </a:r>
                <a:endParaRPr lang="en-US" altLang="zh-TW" dirty="0" smtClean="0"/>
              </a:p>
              <a:p>
                <a:r>
                  <a:rPr lang="en-US" altLang="zh-TW" dirty="0" smtClean="0"/>
                  <a:t>PB[</a:t>
                </a:r>
                <a:r>
                  <a:rPr lang="el-GR" altLang="zh-TW" dirty="0" smtClean="0"/>
                  <a:t>θ</a:t>
                </a:r>
                <a:r>
                  <a:rPr lang="en-US" altLang="zh-TW" dirty="0" smtClean="0"/>
                  <a:t>, N[</a:t>
                </a:r>
                <a:r>
                  <a:rPr lang="el-GR" altLang="zh-TW" dirty="0" smtClean="0"/>
                  <a:t>θ</a:t>
                </a:r>
                <a:r>
                  <a:rPr lang="en-US" altLang="zh-TW" dirty="0" smtClean="0"/>
                  <a:t>]]: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</a:t>
                </a:r>
                <a:r>
                  <a:rPr lang="zh-TW" altLang="en-US" dirty="0" smtClean="0"/>
                  <a:t>中</a:t>
                </a:r>
                <a:r>
                  <a:rPr lang="el-GR" altLang="zh-TW" dirty="0" smtClean="0"/>
                  <a:t>θ</a:t>
                </a:r>
                <a:r>
                  <a:rPr lang="en-US" altLang="zh-TW" dirty="0" smtClean="0"/>
                  <a:t/>
                </a:r>
                <a:br>
                  <a:rPr lang="en-US" altLang="zh-TW" dirty="0" smtClean="0"/>
                </a:br>
                <a:r>
                  <a:rPr lang="zh-TW" altLang="en-US" dirty="0" smtClean="0"/>
                  <a:t>的位置列表</a:t>
                </a:r>
                <a:endParaRPr lang="en-US" altLang="zh-TW" dirty="0" smtClean="0"/>
              </a:p>
              <a:p>
                <a:r>
                  <a:rPr lang="en-US" altLang="zh-TW" dirty="0" smtClean="0"/>
                  <a:t>K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rank</a:t>
                </a:r>
                <a:endParaRPr lang="en-US" altLang="zh-TW" dirty="0"/>
              </a:p>
              <a:p>
                <a:r>
                  <a:rPr lang="el-GR" altLang="zh-TW" dirty="0" smtClean="0"/>
                  <a:t>ρ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length of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LCS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𝑚</m:t>
                    </m:r>
                    <m:r>
                      <m:rPr>
                        <m:sty m:val="p"/>
                      </m:rPr>
                      <a:rPr lang="el-GR" altLang="zh-TW" b="0" i="1" smtClean="0">
                        <a:latin typeface="Cambria Math"/>
                      </a:rPr>
                      <m:t>ρ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fPr>
                              <m:num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l-GR" altLang="zh-TW" i="1">
                                    <a:latin typeface="Cambria Math"/>
                                  </a:rPr>
                                  <m:t>𝜌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𝑚</m:t>
                    </m:r>
                    <m:r>
                      <m:rPr>
                        <m:sty m:val="p"/>
                      </m:rPr>
                      <a:rPr lang="el-GR" altLang="zh-TW" i="1">
                        <a:latin typeface="Cambria Math"/>
                      </a:rPr>
                      <m:t>ρ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Hsu-</a:t>
            </a:r>
            <a:r>
              <a:rPr lang="en-US" altLang="zh-TW" dirty="0" err="1"/>
              <a:t>Du’s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pic>
        <p:nvPicPr>
          <p:cNvPr id="6" name="Picture 2" descr="F:\Sena\Desktop\123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15"/>
          <a:stretch/>
        </p:blipFill>
        <p:spPr bwMode="auto">
          <a:xfrm>
            <a:off x="5148064" y="1172369"/>
            <a:ext cx="3582334" cy="5685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35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Dense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 = B = </a:t>
            </a:r>
            <a:r>
              <a:rPr lang="en-US" altLang="zh-TW" dirty="0" err="1" smtClean="0"/>
              <a:t>aaaaa</a:t>
            </a:r>
            <a:endParaRPr lang="en-US" altLang="zh-TW" dirty="0" smtClean="0"/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365264"/>
              </p:ext>
            </p:extLst>
          </p:nvPr>
        </p:nvGraphicFramePr>
        <p:xfrm>
          <a:off x="899592" y="2420888"/>
          <a:ext cx="2643192" cy="2755464"/>
        </p:xfrm>
        <a:graphic>
          <a:graphicData uri="http://schemas.openxmlformats.org/drawingml/2006/table">
            <a:tbl>
              <a:tblPr firstRow="1" bandRow="1"/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*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向右箭號 4"/>
          <p:cNvSpPr/>
          <p:nvPr/>
        </p:nvSpPr>
        <p:spPr>
          <a:xfrm>
            <a:off x="3865957" y="3501008"/>
            <a:ext cx="1440160" cy="576064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828465"/>
              </p:ext>
            </p:extLst>
          </p:nvPr>
        </p:nvGraphicFramePr>
        <p:xfrm>
          <a:off x="5508104" y="2411308"/>
          <a:ext cx="2643192" cy="2755464"/>
        </p:xfrm>
        <a:graphic>
          <a:graphicData uri="http://schemas.openxmlformats.org/drawingml/2006/table">
            <a:tbl>
              <a:tblPr firstRow="1" bandRow="1"/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3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3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3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3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4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4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a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1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2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3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4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+mj-lt"/>
                        </a:rPr>
                        <a:t>5</a:t>
                      </a:r>
                      <a:endParaRPr lang="zh-TW" altLang="en-US" dirty="0">
                        <a:latin typeface="+mj-lt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4544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Dense 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 = B = </a:t>
                </a:r>
                <a:r>
                  <a:rPr lang="en-US" altLang="zh-TW" dirty="0" err="1" smtClean="0"/>
                  <a:t>aaaaa</a:t>
                </a:r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𝑚</m:t>
                    </m:r>
                    <m:r>
                      <m:rPr>
                        <m:sty m:val="p"/>
                      </m:rPr>
                      <a:rPr lang="el-GR" altLang="zh-TW" i="1">
                        <a:latin typeface="Cambria Math"/>
                      </a:rPr>
                      <m:t>ρ</m:t>
                    </m:r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𝐾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l-GR" altLang="zh-TW" i="1">
                                <a:latin typeface="Cambria Math"/>
                              </a:rPr>
                              <m:t>𝜌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</a:rPr>
                              <m:t>𝐾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𝐾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58517"/>
              </p:ext>
            </p:extLst>
          </p:nvPr>
        </p:nvGraphicFramePr>
        <p:xfrm>
          <a:off x="899592" y="2420888"/>
          <a:ext cx="2643192" cy="2755464"/>
        </p:xfrm>
        <a:graphic>
          <a:graphicData uri="http://schemas.openxmlformats.org/drawingml/2006/table">
            <a:tbl>
              <a:tblPr firstRow="1" bandRow="1"/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673159" y="2062589"/>
            <a:ext cx="22044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 = 4</a:t>
            </a:r>
          </a:p>
          <a:p>
            <a:r>
              <a:rPr lang="en-US" altLang="zh-TW" dirty="0" smtClean="0"/>
              <a:t>3 failures of test 6.2</a:t>
            </a:r>
          </a:p>
          <a:p>
            <a:r>
              <a:rPr lang="en-US" altLang="zh-TW" dirty="0" smtClean="0"/>
              <a:t>1 instance of </a:t>
            </a:r>
            <a:r>
              <a:rPr lang="en-US" altLang="zh-TW" i="1" dirty="0" smtClean="0"/>
              <a:t>Case 3</a:t>
            </a:r>
          </a:p>
          <a:p>
            <a:r>
              <a:rPr lang="en-US" altLang="zh-TW" dirty="0"/>
              <a:t>1</a:t>
            </a:r>
            <a:r>
              <a:rPr lang="en-US" altLang="zh-TW" dirty="0" smtClean="0"/>
              <a:t> instances of </a:t>
            </a:r>
            <a:r>
              <a:rPr lang="en-US" altLang="zh-TW" i="1" dirty="0" smtClean="0"/>
              <a:t>Case 2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827584" y="4221088"/>
            <a:ext cx="273630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4673159" y="3262918"/>
                <a:ext cx="263514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dirty="0" smtClean="0"/>
                  <a:t> iteration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𝑘</m:t>
                    </m:r>
                    <m:r>
                      <a:rPr lang="en-US" altLang="zh-TW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US" altLang="zh-TW" dirty="0" smtClean="0"/>
                  <a:t> failures of test 6.2</a:t>
                </a:r>
              </a:p>
              <a:p>
                <a:r>
                  <a:rPr lang="en-US" altLang="zh-TW" dirty="0" smtClean="0"/>
                  <a:t>1 instance of </a:t>
                </a:r>
                <a:r>
                  <a:rPr lang="en-US" altLang="zh-TW" i="1" dirty="0" smtClean="0"/>
                  <a:t>Case 3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𝑛</m:t>
                    </m:r>
                    <m:r>
                      <a:rPr lang="en-US" altLang="zh-TW" b="0" i="1" smtClean="0">
                        <a:latin typeface="Cambria Math"/>
                      </a:rPr>
                      <m:t>−</m:t>
                    </m:r>
                    <m:r>
                      <a:rPr lang="en-US" altLang="zh-TW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dirty="0" smtClean="0"/>
                  <a:t> instances of </a:t>
                </a:r>
                <a:r>
                  <a:rPr lang="en-US" altLang="zh-TW" i="1" dirty="0" smtClean="0"/>
                  <a:t>Case 2</a:t>
                </a:r>
                <a:r>
                  <a:rPr lang="en-US" altLang="zh-TW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159" y="3262918"/>
                <a:ext cx="2635145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2083" t="-2538" b="-7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4673159" y="4463247"/>
            <a:ext cx="202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 = 6</a:t>
            </a:r>
          </a:p>
          <a:p>
            <a:r>
              <a:rPr lang="en-US" altLang="zh-TW" dirty="0" smtClean="0"/>
              <a:t>5 failures of test 6.2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75656" y="4293096"/>
            <a:ext cx="1008112" cy="288032"/>
          </a:xfrm>
          <a:prstGeom prst="rect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771800" y="4293096"/>
            <a:ext cx="216024" cy="288032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203848" y="4293096"/>
            <a:ext cx="216024" cy="288032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肘形接點 14"/>
          <p:cNvCxnSpPr>
            <a:stCxn id="11" idx="0"/>
          </p:cNvCxnSpPr>
          <p:nvPr/>
        </p:nvCxnSpPr>
        <p:spPr>
          <a:xfrm rot="5400000" flipH="1" flipV="1">
            <a:off x="2426335" y="2046273"/>
            <a:ext cx="1800200" cy="269344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2" idx="0"/>
          </p:cNvCxnSpPr>
          <p:nvPr/>
        </p:nvCxnSpPr>
        <p:spPr>
          <a:xfrm rot="5400000" flipH="1" flipV="1">
            <a:off x="3020402" y="2640340"/>
            <a:ext cx="1512167" cy="179334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肘形接點 22"/>
          <p:cNvCxnSpPr>
            <a:stCxn id="13" idx="0"/>
          </p:cNvCxnSpPr>
          <p:nvPr/>
        </p:nvCxnSpPr>
        <p:spPr>
          <a:xfrm rot="5400000" flipH="1" flipV="1">
            <a:off x="3397760" y="3017698"/>
            <a:ext cx="1189499" cy="1361299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43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Sparse</a:t>
            </a:r>
            <a:r>
              <a:rPr lang="en-US" altLang="zh-TW" dirty="0" smtClean="0"/>
              <a:t> </a:t>
            </a:r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 = B = </a:t>
                </a:r>
                <a:r>
                  <a:rPr lang="en-US" altLang="zh-TW" dirty="0" err="1" smtClean="0"/>
                  <a:t>abcde</a:t>
                </a:r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r>
                      <a:rPr lang="en-US" altLang="zh-TW" b="0" i="1" smtClean="0">
                        <a:latin typeface="Cambria Math"/>
                      </a:rPr>
                      <m:t>𝑚</m:t>
                    </m:r>
                    <m:r>
                      <m:rPr>
                        <m:sty m:val="p"/>
                      </m:rPr>
                      <a:rPr lang="el-GR" altLang="zh-TW" i="1">
                        <a:latin typeface="Cambria Math"/>
                      </a:rPr>
                      <m:t>ρ</m:t>
                    </m:r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𝐾</m:t>
                    </m:r>
                    <m:func>
                      <m:func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TW" b="0" i="1" smtClean="0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l-GR" altLang="zh-TW" i="1">
                                <a:latin typeface="Cambria Math"/>
                              </a:rPr>
                              <m:t>𝜌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</a:rPr>
                              <m:t>𝐾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en-US" altLang="zh-TW" b="0" i="1" smtClean="0">
                        <a:latin typeface="Cambria Math"/>
                      </a:rPr>
                      <m:t>+</m:t>
                    </m:r>
                    <m:r>
                      <a:rPr lang="en-US" altLang="zh-TW" b="0" i="1" smtClean="0">
                        <a:latin typeface="Cambria Math"/>
                      </a:rPr>
                      <m:t>𝐾</m:t>
                    </m:r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 smtClean="0"/>
              </a:p>
              <a:p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94816"/>
              </p:ext>
            </p:extLst>
          </p:nvPr>
        </p:nvGraphicFramePr>
        <p:xfrm>
          <a:off x="899592" y="2420888"/>
          <a:ext cx="2643192" cy="2755464"/>
        </p:xfrm>
        <a:graphic>
          <a:graphicData uri="http://schemas.openxmlformats.org/drawingml/2006/table">
            <a:tbl>
              <a:tblPr firstRow="1" bandRow="1"/>
              <a:tblGrid>
                <a:gridCol w="440532"/>
                <a:gridCol w="440532"/>
                <a:gridCol w="440532"/>
                <a:gridCol w="440532"/>
                <a:gridCol w="440532"/>
                <a:gridCol w="440532"/>
              </a:tblGrid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924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pPr algn="ctr"/>
                      <a:r>
                        <a:rPr lang="en-US" altLang="zh-TW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673159" y="2062589"/>
            <a:ext cx="2146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 = 4</a:t>
            </a:r>
          </a:p>
          <a:p>
            <a:r>
              <a:rPr lang="en-US" altLang="zh-TW" dirty="0" smtClean="0"/>
              <a:t>3 failures of test 6.2</a:t>
            </a:r>
          </a:p>
          <a:p>
            <a:r>
              <a:rPr lang="en-US" altLang="zh-TW" dirty="0" smtClean="0"/>
              <a:t>1 instance of </a:t>
            </a:r>
            <a:r>
              <a:rPr lang="en-US" altLang="zh-TW" i="1" dirty="0" smtClean="0"/>
              <a:t>Case 3</a:t>
            </a:r>
          </a:p>
          <a:p>
            <a:r>
              <a:rPr lang="en-US" altLang="zh-TW" dirty="0"/>
              <a:t>1</a:t>
            </a:r>
            <a:r>
              <a:rPr lang="en-US" altLang="zh-TW" dirty="0" smtClean="0"/>
              <a:t> instances of </a:t>
            </a:r>
            <a:r>
              <a:rPr lang="en-US" altLang="zh-TW" i="1" dirty="0" smtClean="0"/>
              <a:t>Case </a:t>
            </a:r>
            <a:r>
              <a:rPr lang="en-US" altLang="zh-TW" i="1" dirty="0"/>
              <a:t>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827584" y="4221088"/>
            <a:ext cx="2736304" cy="50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4673159" y="3262918"/>
                <a:ext cx="263514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𝑘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altLang="zh-TW" dirty="0" smtClean="0"/>
                  <a:t> iteration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𝑘</m:t>
                    </m:r>
                    <m:r>
                      <a:rPr lang="en-US" altLang="zh-TW" b="0" i="1" smtClean="0">
                        <a:latin typeface="Cambria Math"/>
                      </a:rPr>
                      <m:t>−1</m:t>
                    </m:r>
                  </m:oMath>
                </a14:m>
                <a:r>
                  <a:rPr lang="en-US" altLang="zh-TW" dirty="0" smtClean="0"/>
                  <a:t> failures of test 6.2</a:t>
                </a:r>
              </a:p>
              <a:p>
                <a:r>
                  <a:rPr lang="en-US" altLang="zh-TW" dirty="0" smtClean="0"/>
                  <a:t>1 instance of </a:t>
                </a:r>
                <a:r>
                  <a:rPr lang="en-US" altLang="zh-TW" i="1" dirty="0" smtClean="0"/>
                  <a:t>Case 3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𝑛</m:t>
                    </m:r>
                    <m:r>
                      <a:rPr lang="en-US" altLang="zh-TW" b="0" i="1" smtClean="0">
                        <a:latin typeface="Cambria Math"/>
                      </a:rPr>
                      <m:t>−</m:t>
                    </m:r>
                    <m:r>
                      <a:rPr lang="en-US" altLang="zh-TW" b="0" i="1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US" altLang="zh-TW" dirty="0" smtClean="0"/>
                  <a:t> instances of </a:t>
                </a:r>
                <a:r>
                  <a:rPr lang="en-US" altLang="zh-TW" i="1" dirty="0" smtClean="0"/>
                  <a:t>Case </a:t>
                </a:r>
                <a:r>
                  <a:rPr lang="en-US" altLang="zh-TW" i="1" dirty="0" smtClean="0"/>
                  <a:t>1</a:t>
                </a:r>
                <a:r>
                  <a:rPr lang="en-US" altLang="zh-TW" dirty="0" smtClean="0"/>
                  <a:t> </a:t>
                </a:r>
                <a:endParaRPr lang="zh-TW" altLang="en-US" dirty="0"/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159" y="3262918"/>
                <a:ext cx="2635145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2083" t="-2538" b="-71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/>
          <p:cNvSpPr txBox="1"/>
          <p:nvPr/>
        </p:nvSpPr>
        <p:spPr>
          <a:xfrm>
            <a:off x="4673159" y="4463247"/>
            <a:ext cx="202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K = 6</a:t>
            </a:r>
          </a:p>
          <a:p>
            <a:r>
              <a:rPr lang="en-US" altLang="zh-TW" dirty="0" smtClean="0"/>
              <a:t>5 failures of test 6.2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75656" y="4293096"/>
            <a:ext cx="1008112" cy="288032"/>
          </a:xfrm>
          <a:prstGeom prst="rect">
            <a:avLst/>
          </a:prstGeom>
          <a:noFill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2771800" y="4293096"/>
            <a:ext cx="216024" cy="288032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3203848" y="4293096"/>
            <a:ext cx="216024" cy="288032"/>
          </a:xfrm>
          <a:prstGeom prst="rect">
            <a:avLst/>
          </a:prstGeom>
          <a:noFill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肘形接點 14"/>
          <p:cNvCxnSpPr>
            <a:stCxn id="11" idx="0"/>
          </p:cNvCxnSpPr>
          <p:nvPr/>
        </p:nvCxnSpPr>
        <p:spPr>
          <a:xfrm rot="5400000" flipH="1" flipV="1">
            <a:off x="2426335" y="2046273"/>
            <a:ext cx="1800200" cy="269344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肘形接點 17"/>
          <p:cNvCxnSpPr>
            <a:stCxn id="12" idx="0"/>
          </p:cNvCxnSpPr>
          <p:nvPr/>
        </p:nvCxnSpPr>
        <p:spPr>
          <a:xfrm rot="5400000" flipH="1" flipV="1">
            <a:off x="3020402" y="2640340"/>
            <a:ext cx="1512167" cy="1793347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3" name="肘形接點 22"/>
          <p:cNvCxnSpPr>
            <a:stCxn id="13" idx="0"/>
          </p:cNvCxnSpPr>
          <p:nvPr/>
        </p:nvCxnSpPr>
        <p:spPr>
          <a:xfrm rot="5400000" flipH="1" flipV="1">
            <a:off x="3397760" y="3017698"/>
            <a:ext cx="1189499" cy="1361299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855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950</Words>
  <Application>Microsoft Office PowerPoint</Application>
  <PresentationFormat>如螢幕大小 (4:3)</PresentationFormat>
  <Paragraphs>551</Paragraphs>
  <Slides>13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Remark on Hsu-Du New Algorithm for the LCS Problem</vt:lpstr>
      <vt:lpstr>Abstract</vt:lpstr>
      <vt:lpstr>Hirschberg’s Algorithm</vt:lpstr>
      <vt:lpstr>Hirschberg’s Algorithm</vt:lpstr>
      <vt:lpstr>Hirschberg’s Algorithm</vt:lpstr>
      <vt:lpstr>Hirschberg’s Algorithm</vt:lpstr>
      <vt:lpstr>Hirschberg’s Algorithm</vt:lpstr>
      <vt:lpstr>Hirschberg’s Algorithm</vt:lpstr>
      <vt:lpstr>Hsu-Du’s Algorithm</vt:lpstr>
      <vt:lpstr>Hsu-Du’s Algorithm</vt:lpstr>
      <vt:lpstr>Dense Example</vt:lpstr>
      <vt:lpstr>Dense Example</vt:lpstr>
      <vt:lpstr>Sparse Example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Remark on Hsu-Du New Algorithm for the LCS Problem</dc:title>
  <dc:creator>Sena</dc:creator>
  <cp:lastModifiedBy>PotatOS</cp:lastModifiedBy>
  <cp:revision>35</cp:revision>
  <dcterms:created xsi:type="dcterms:W3CDTF">2014-05-24T17:32:53Z</dcterms:created>
  <dcterms:modified xsi:type="dcterms:W3CDTF">2014-05-26T11:26:01Z</dcterms:modified>
</cp:coreProperties>
</file>