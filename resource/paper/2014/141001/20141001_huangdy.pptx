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59" r:id="rId6"/>
    <p:sldId id="262" r:id="rId7"/>
    <p:sldId id="281" r:id="rId8"/>
    <p:sldId id="263" r:id="rId9"/>
    <p:sldId id="271" r:id="rId10"/>
    <p:sldId id="264" r:id="rId11"/>
    <p:sldId id="272" r:id="rId12"/>
    <p:sldId id="273" r:id="rId13"/>
    <p:sldId id="265" r:id="rId14"/>
    <p:sldId id="274" r:id="rId15"/>
    <p:sldId id="266" r:id="rId16"/>
    <p:sldId id="269" r:id="rId17"/>
    <p:sldId id="279" r:id="rId18"/>
    <p:sldId id="270" r:id="rId19"/>
    <p:sldId id="275" r:id="rId20"/>
    <p:sldId id="267" r:id="rId21"/>
    <p:sldId id="282" r:id="rId22"/>
    <p:sldId id="283" r:id="rId23"/>
    <p:sldId id="280" r:id="rId24"/>
    <p:sldId id="268" r:id="rId25"/>
    <p:sldId id="278" r:id="rId2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ang" initials="H" lastIdx="1" clrIdx="0">
    <p:extLst>
      <p:ext uri="{19B8F6BF-5375-455C-9EA6-DF929625EA0E}">
        <p15:presenceInfo xmlns:p15="http://schemas.microsoft.com/office/powerpoint/2012/main" userId="Hu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7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10-01T17:23:02.258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114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180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011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719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19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7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598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537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76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395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079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E389-933A-489F-ACF7-4E3EA1931257}" type="datetimeFigureOut">
              <a:rPr lang="zh-TW" altLang="en-US" smtClean="0"/>
              <a:t>2014/10/1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C2A3E-505C-4CD0-9D83-3E6C28F8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052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22313"/>
            <a:ext cx="7772400" cy="2387600"/>
          </a:xfrm>
        </p:spPr>
        <p:txBody>
          <a:bodyPr>
            <a:noAutofit/>
          </a:bodyPr>
          <a:lstStyle/>
          <a:p>
            <a:r>
              <a:rPr lang="en-US" altLang="zh-TW" sz="3600" b="1" dirty="0">
                <a:latin typeface="Arabic Typesetting" panose="03020402040406030203" pitchFamily="66" charset="-78"/>
                <a:ea typeface="Gungsuh" panose="02030600000101010101" pitchFamily="18" charset="-127"/>
                <a:cs typeface="Arabic Typesetting" panose="03020402040406030203" pitchFamily="66" charset="-78"/>
              </a:rPr>
              <a:t>A BSP/CGM Algorithm for the All-Substrings Longest</a:t>
            </a:r>
            <a:br>
              <a:rPr lang="en-US" altLang="zh-TW" sz="3600" b="1" dirty="0">
                <a:latin typeface="Arabic Typesetting" panose="03020402040406030203" pitchFamily="66" charset="-78"/>
                <a:ea typeface="Gungsuh" panose="02030600000101010101" pitchFamily="18" charset="-127"/>
                <a:cs typeface="Arabic Typesetting" panose="03020402040406030203" pitchFamily="66" charset="-78"/>
              </a:rPr>
            </a:br>
            <a:r>
              <a:rPr lang="en-US" altLang="zh-TW" sz="3600" b="1" dirty="0">
                <a:latin typeface="Arabic Typesetting" panose="03020402040406030203" pitchFamily="66" charset="-78"/>
                <a:ea typeface="Gungsuh" panose="02030600000101010101" pitchFamily="18" charset="-127"/>
                <a:cs typeface="Arabic Typesetting" panose="03020402040406030203" pitchFamily="66" charset="-78"/>
              </a:rPr>
              <a:t>Common Subsequence Problem</a:t>
            </a:r>
            <a:endParaRPr lang="zh-TW" altLang="en-US" sz="3600" dirty="0">
              <a:latin typeface="Arabic Typesetting" panose="03020402040406030203" pitchFamily="66" charset="-78"/>
              <a:ea typeface="Gungsuh" panose="02030600000101010101" pitchFamily="18" charset="-127"/>
              <a:cs typeface="Arabic Typesetting" panose="03020402040406030203" pitchFamily="66" charset="-78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r"/>
            <a:r>
              <a:rPr lang="en-US" altLang="zh-TW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C. E. R. </a:t>
            </a:r>
            <a:r>
              <a:rPr lang="en-US" altLang="zh-TW" sz="2000" b="1" dirty="0" err="1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Alves</a:t>
            </a:r>
            <a:r>
              <a:rPr lang="en-US" altLang="zh-TW" sz="2000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, </a:t>
            </a:r>
            <a:r>
              <a:rPr lang="en-US" altLang="zh-TW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E. N. </a:t>
            </a:r>
            <a:r>
              <a:rPr lang="en-US" altLang="zh-TW" sz="2000" b="1" dirty="0" err="1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C´aceres</a:t>
            </a:r>
            <a:r>
              <a:rPr lang="en-US" altLang="zh-TW" sz="2000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, </a:t>
            </a:r>
            <a:r>
              <a:rPr lang="en-US" altLang="zh-TW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S. W. Song</a:t>
            </a:r>
            <a:endParaRPr lang="en-US" altLang="zh-TW" sz="2000" b="1" dirty="0" smtClean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algn="r"/>
            <a:r>
              <a:rPr lang="en-US" altLang="zh-TW" sz="2000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Proceedings </a:t>
            </a:r>
            <a:r>
              <a:rPr lang="en-US" altLang="zh-TW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of the International Parallel and </a:t>
            </a:r>
            <a:endParaRPr lang="en-US" altLang="zh-TW" sz="2000" dirty="0" smtClean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algn="r"/>
            <a:r>
              <a:rPr lang="en-US" altLang="zh-TW" sz="2000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Distributed </a:t>
            </a:r>
            <a:r>
              <a:rPr lang="en-US" altLang="zh-TW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Processing </a:t>
            </a:r>
            <a:r>
              <a:rPr lang="en-US" altLang="zh-TW" sz="2000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Symposium(2003)</a:t>
            </a:r>
          </a:p>
          <a:p>
            <a:pPr algn="r"/>
            <a:r>
              <a:rPr lang="en-US" altLang="zh-TW" sz="2000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Presenter: Ding-Yao Huang</a:t>
            </a:r>
          </a:p>
          <a:p>
            <a:pPr algn="r"/>
            <a:r>
              <a:rPr lang="en-US" altLang="zh-TW" sz="2000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Date:2014/10/01</a:t>
            </a:r>
            <a:endParaRPr lang="zh-TW" altLang="en-US" sz="2000" dirty="0">
              <a:latin typeface="Ebrima" panose="02000000000000000000" pitchFamily="2" charset="0"/>
              <a:ea typeface="+mj-ea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02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b="1" dirty="0">
                <a:latin typeface="Arabic Typesetting" panose="03020402040406030203" pitchFamily="66" charset="-78"/>
                <a:ea typeface="Gungsuh" panose="02030600000101010101" pitchFamily="18" charset="-127"/>
                <a:cs typeface="Arabic Typesetting" panose="03020402040406030203" pitchFamily="66" charset="-78"/>
              </a:rPr>
              <a:t>Abstract</a:t>
            </a:r>
            <a:endParaRPr lang="zh-TW" altLang="en-US" sz="4800" dirty="0">
              <a:latin typeface="Arabic Typesetting" panose="03020402040406030203" pitchFamily="66" charset="-78"/>
              <a:ea typeface="Gungsuh" panose="02030600000101010101" pitchFamily="18" charset="-127"/>
              <a:cs typeface="Arabic Typesetting" panose="03020402040406030203" pitchFamily="66" charset="-78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/>
              <a:t>Given two strings X and Y of lengths </a:t>
            </a:r>
            <a:r>
              <a:rPr lang="en-US" altLang="zh-TW" dirty="0" smtClean="0"/>
              <a:t>m and </a:t>
            </a:r>
            <a:r>
              <a:rPr lang="en-US" altLang="zh-TW" dirty="0"/>
              <a:t>n, respectively, the all-substrings longest common subsequence (ALCS) problem obtains the lengths of the </a:t>
            </a:r>
            <a:r>
              <a:rPr lang="en-US" altLang="zh-TW" dirty="0" smtClean="0"/>
              <a:t>subsequences common to </a:t>
            </a:r>
            <a:r>
              <a:rPr lang="en-US" altLang="zh-TW" dirty="0"/>
              <a:t>X and any substring of </a:t>
            </a:r>
            <a:r>
              <a:rPr lang="en-US" altLang="zh-TW" dirty="0" smtClean="0"/>
              <a:t>Y. 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The </a:t>
            </a:r>
            <a:r>
              <a:rPr lang="en-US" altLang="zh-TW" dirty="0"/>
              <a:t>sequential algorithm takes O(</a:t>
            </a:r>
            <a:r>
              <a:rPr lang="en-US" altLang="zh-TW" dirty="0" err="1"/>
              <a:t>mn</a:t>
            </a:r>
            <a:r>
              <a:rPr lang="en-US" altLang="zh-TW" dirty="0"/>
              <a:t>) time and O(n) space. We present a parallel algorithm for ALCS on a coarse-grained multicomputer (BSP/CGM) model with p </a:t>
            </a:r>
            <a:r>
              <a:rPr lang="en-US" altLang="zh-TW" dirty="0" smtClean="0"/>
              <a:t>&lt;  </a:t>
            </a:r>
            <a:r>
              <a:rPr lang="zh-TW" altLang="zh-TW" dirty="0"/>
              <a:t>√</a:t>
            </a:r>
            <a:r>
              <a:rPr lang="en-US" altLang="zh-TW" dirty="0" smtClean="0"/>
              <a:t>m</a:t>
            </a:r>
            <a:r>
              <a:rPr lang="en-US" altLang="zh-TW" dirty="0"/>
              <a:t> </a:t>
            </a:r>
            <a:r>
              <a:rPr lang="en-US" altLang="zh-TW" dirty="0" smtClean="0"/>
              <a:t> processors </a:t>
            </a:r>
            <a:r>
              <a:rPr lang="en-US" altLang="zh-TW" dirty="0"/>
              <a:t>that takes O(</a:t>
            </a:r>
            <a:r>
              <a:rPr lang="en-US" altLang="zh-TW" dirty="0" err="1"/>
              <a:t>mn</a:t>
            </a:r>
            <a:r>
              <a:rPr lang="en-US" altLang="zh-TW" dirty="0"/>
              <a:t>/p) time and </a:t>
            </a:r>
            <a:r>
              <a:rPr lang="en-US" altLang="zh-TW" dirty="0" smtClean="0"/>
              <a:t>O(n </a:t>
            </a:r>
            <a:r>
              <a:rPr lang="zh-TW" altLang="zh-TW" dirty="0"/>
              <a:t>√</a:t>
            </a:r>
            <a:r>
              <a:rPr lang="en-US" altLang="zh-TW" dirty="0" smtClean="0"/>
              <a:t>m ) </a:t>
            </a:r>
            <a:r>
              <a:rPr lang="en-US" altLang="zh-TW" dirty="0"/>
              <a:t>space per processor, with O(log p) communication rounds. 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The </a:t>
            </a:r>
            <a:r>
              <a:rPr lang="en-US" altLang="zh-TW" dirty="0"/>
              <a:t>proposed parallel algorithm also solves the well-known LCS problem. To our knowledge this is the best BSP/CGM algorithm for the ALCS problem in the literature.</a:t>
            </a:r>
            <a:endParaRPr lang="zh-TW" altLang="en-US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6154058" y="3914210"/>
            <a:ext cx="290286" cy="145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4927606" y="4168208"/>
            <a:ext cx="290286" cy="145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8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Arabic Typesetting" panose="03020402040406030203" pitchFamily="66" charset="-78"/>
                <a:ea typeface="Gungsuh" panose="02030600000101010101" pitchFamily="18" charset="-127"/>
                <a:cs typeface="Arabic Typesetting" panose="03020402040406030203" pitchFamily="66" charset="-78"/>
              </a:rPr>
              <a:t>The BSP/CGM Model</a:t>
            </a:r>
            <a:endParaRPr lang="zh-TW" altLang="en-US" dirty="0">
              <a:latin typeface="Arabic Typesetting" panose="03020402040406030203" pitchFamily="66" charset="-78"/>
              <a:ea typeface="Gungsuh" panose="02030600000101010101" pitchFamily="18" charset="-127"/>
              <a:cs typeface="Arabic Typesetting" panose="03020402040406030203" pitchFamily="66" charset="-78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A </a:t>
            </a:r>
            <a:r>
              <a:rPr lang="en-US" altLang="zh-TW" sz="2400" dirty="0" smtClean="0"/>
              <a:t>BSP</a:t>
            </a:r>
            <a:r>
              <a:rPr lang="en-US" altLang="zh-TW" sz="2400" i="1" dirty="0" smtClean="0"/>
              <a:t>/</a:t>
            </a:r>
            <a:r>
              <a:rPr lang="en-US" altLang="zh-TW" sz="2400" dirty="0" smtClean="0"/>
              <a:t>CGM consists </a:t>
            </a:r>
            <a:r>
              <a:rPr lang="en-US" altLang="zh-TW" sz="2400" dirty="0"/>
              <a:t>of a set of </a:t>
            </a:r>
            <a:r>
              <a:rPr lang="en-US" altLang="zh-TW" sz="2400" i="1" dirty="0"/>
              <a:t>p </a:t>
            </a:r>
            <a:r>
              <a:rPr lang="en-US" altLang="zh-TW" sz="2400" dirty="0"/>
              <a:t>processors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1</a:t>
            </a:r>
            <a:r>
              <a:rPr lang="en-US" altLang="zh-TW" sz="2400" i="1" dirty="0"/>
              <a:t>, . . . , </a:t>
            </a:r>
            <a:r>
              <a:rPr lang="en-US" altLang="zh-TW" sz="2400" i="1" dirty="0" err="1"/>
              <a:t>P</a:t>
            </a:r>
            <a:r>
              <a:rPr lang="en-US" altLang="zh-TW" sz="2400" i="1" baseline="-25000" dirty="0" err="1"/>
              <a:t>p</a:t>
            </a:r>
            <a:r>
              <a:rPr lang="en-US" altLang="zh-TW" sz="2400" dirty="0"/>
              <a:t>, each with </a:t>
            </a:r>
            <a:r>
              <a:rPr lang="en-US" altLang="zh-TW" sz="2400" dirty="0" smtClean="0"/>
              <a:t>O(N/p</a:t>
            </a:r>
            <a:r>
              <a:rPr lang="en-US" altLang="zh-TW" sz="2400" dirty="0"/>
              <a:t>) local memory. </a:t>
            </a:r>
            <a:endParaRPr lang="en-US" altLang="zh-TW" sz="2400" dirty="0" smtClean="0"/>
          </a:p>
          <a:p>
            <a:r>
              <a:rPr lang="en-US" altLang="zh-TW" sz="2400" dirty="0" smtClean="0"/>
              <a:t>Each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processor </a:t>
            </a:r>
            <a:r>
              <a:rPr lang="en-US" altLang="zh-TW" sz="2400" dirty="0"/>
              <a:t>is connected to a router that can send messages in a point-to-point fashion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In the BSP</a:t>
            </a:r>
            <a:r>
              <a:rPr lang="en-US" altLang="zh-TW" sz="2400" i="1" dirty="0"/>
              <a:t>/</a:t>
            </a:r>
            <a:r>
              <a:rPr lang="en-US" altLang="zh-TW" sz="2400" dirty="0"/>
              <a:t>CGM model </a:t>
            </a:r>
            <a:endParaRPr lang="en-US" altLang="zh-TW" sz="2400" dirty="0" smtClean="0"/>
          </a:p>
          <a:p>
            <a:pPr lvl="1"/>
            <a:r>
              <a:rPr lang="en-US" altLang="zh-TW" sz="2000" dirty="0" smtClean="0"/>
              <a:t>the </a:t>
            </a:r>
            <a:r>
              <a:rPr lang="en-US" altLang="zh-TW" sz="2000" dirty="0"/>
              <a:t>communication cost is modeled by the number of </a:t>
            </a:r>
            <a:r>
              <a:rPr lang="en-US" altLang="zh-TW" sz="2000" dirty="0" smtClean="0"/>
              <a:t>communication rounds</a:t>
            </a:r>
          </a:p>
          <a:p>
            <a:pPr lvl="1"/>
            <a:r>
              <a:rPr lang="en-US" altLang="zh-TW" sz="2000" dirty="0" smtClean="0"/>
              <a:t>the </a:t>
            </a:r>
            <a:r>
              <a:rPr lang="en-US" altLang="zh-TW" sz="2000" dirty="0"/>
              <a:t>main advantage of BSP</a:t>
            </a:r>
            <a:r>
              <a:rPr lang="en-US" altLang="zh-TW" sz="2000" i="1" dirty="0"/>
              <a:t>/</a:t>
            </a:r>
            <a:r>
              <a:rPr lang="en-US" altLang="zh-TW" sz="2000" dirty="0"/>
              <a:t>CGM algorithms is that they map </a:t>
            </a:r>
            <a:r>
              <a:rPr lang="en-US" altLang="zh-TW" sz="2000" dirty="0" smtClean="0"/>
              <a:t>very well </a:t>
            </a:r>
            <a:r>
              <a:rPr lang="en-US" altLang="zh-TW" sz="2000" dirty="0"/>
              <a:t>to standard parallel hardware, like Beowulf-type processor </a:t>
            </a:r>
            <a:r>
              <a:rPr lang="en-US" altLang="zh-TW" sz="2000" dirty="0" smtClean="0"/>
              <a:t>clusters</a:t>
            </a:r>
          </a:p>
          <a:p>
            <a:r>
              <a:rPr lang="en-US" altLang="zh-TW" sz="2400" dirty="0"/>
              <a:t>Our </a:t>
            </a:r>
            <a:r>
              <a:rPr lang="en-US" altLang="zh-TW" sz="2400" dirty="0" smtClean="0"/>
              <a:t>goal is </a:t>
            </a:r>
            <a:r>
              <a:rPr lang="en-US" altLang="zh-TW" sz="2400" dirty="0"/>
              <a:t>to </a:t>
            </a:r>
            <a:r>
              <a:rPr lang="en-US" altLang="zh-TW" sz="2400" dirty="0" smtClean="0"/>
              <a:t>minimize </a:t>
            </a:r>
            <a:r>
              <a:rPr lang="en-US" altLang="zh-TW" sz="2400" dirty="0"/>
              <a:t>number of communication </a:t>
            </a:r>
            <a:r>
              <a:rPr lang="en-US" altLang="zh-TW" sz="2400" dirty="0" smtClean="0"/>
              <a:t>rounds and achieve </a:t>
            </a:r>
            <a:r>
              <a:rPr lang="en-US" altLang="zh-TW" sz="2400" dirty="0"/>
              <a:t>a </a:t>
            </a:r>
            <a:r>
              <a:rPr lang="en-US" altLang="zh-TW" sz="2400" dirty="0" smtClean="0"/>
              <a:t>good speed-up</a:t>
            </a:r>
            <a:endParaRPr lang="en-US" altLang="zh-TW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35506"/>
            <a:ext cx="7738546" cy="398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3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abic Typesetting" panose="03020402040406030203" pitchFamily="66" charset="-78"/>
                <a:ea typeface="Gungsuh" panose="02030600000101010101" pitchFamily="18" charset="-127"/>
                <a:cs typeface="Arabic Typesetting" panose="03020402040406030203" pitchFamily="66" charset="-78"/>
              </a:rPr>
              <a:t>All-Substrings Longest Common 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b="1" dirty="0" smtClean="0"/>
              <a:t>string X </a:t>
            </a:r>
            <a:r>
              <a:rPr lang="en-US" altLang="zh-TW" sz="2400" b="1" i="1" dirty="0" smtClean="0"/>
              <a:t>: </a:t>
            </a:r>
            <a:r>
              <a:rPr lang="en-US" altLang="zh-TW" sz="2400" b="1" i="1" dirty="0" err="1" smtClean="0"/>
              <a:t>baabcbca</a:t>
            </a:r>
            <a:endParaRPr lang="en-US" altLang="zh-TW" sz="2400" b="1" i="1" dirty="0" smtClean="0"/>
          </a:p>
          <a:p>
            <a:pPr marL="0" indent="0">
              <a:buNone/>
            </a:pPr>
            <a:r>
              <a:rPr lang="en-US" altLang="zh-TW" sz="2400" b="1" dirty="0"/>
              <a:t>string </a:t>
            </a:r>
            <a:r>
              <a:rPr lang="en-US" altLang="zh-TW" sz="2400" b="1" dirty="0" smtClean="0"/>
              <a:t>Y </a:t>
            </a:r>
            <a:r>
              <a:rPr lang="en-US" altLang="zh-TW" sz="2400" b="1" i="1" dirty="0"/>
              <a:t>: </a:t>
            </a:r>
            <a:r>
              <a:rPr lang="en-US" altLang="zh-TW" sz="2400" b="1" i="1" dirty="0" err="1" smtClean="0"/>
              <a:t>baabcabcabaca</a:t>
            </a:r>
            <a:endParaRPr lang="en-US" altLang="zh-TW" sz="2400" b="1" i="1" dirty="0" smtClean="0"/>
          </a:p>
          <a:p>
            <a:pPr marL="0" indent="0">
              <a:buNone/>
            </a:pPr>
            <a:endParaRPr lang="en-US" altLang="zh-TW" sz="2400" b="1" i="1" dirty="0"/>
          </a:p>
          <a:p>
            <a:pPr marL="0" indent="0">
              <a:buNone/>
            </a:pPr>
            <a:r>
              <a:rPr lang="en-US" altLang="zh-TW" sz="2400" b="1" dirty="0" smtClean="0"/>
              <a:t>all substrings of Y</a:t>
            </a:r>
            <a:r>
              <a:rPr lang="en-US" altLang="zh-TW" sz="2400" b="1" i="1" dirty="0" smtClean="0"/>
              <a:t>: </a:t>
            </a:r>
            <a:r>
              <a:rPr lang="en-US" altLang="zh-TW" sz="2400" b="1" i="1" dirty="0" err="1" smtClean="0"/>
              <a:t>ba,baa,baab,baabc</a:t>
            </a:r>
            <a:r>
              <a:rPr lang="en-US" altLang="zh-TW" sz="2400" b="1" i="1" dirty="0" smtClean="0"/>
              <a:t>…</a:t>
            </a:r>
          </a:p>
          <a:p>
            <a:pPr marL="0" indent="0">
              <a:buNone/>
            </a:pPr>
            <a:endParaRPr lang="en-US" altLang="zh-TW" sz="2400" b="1" i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grpSp>
        <p:nvGrpSpPr>
          <p:cNvPr id="6" name="群組 5"/>
          <p:cNvGrpSpPr/>
          <p:nvPr/>
        </p:nvGrpSpPr>
        <p:grpSpPr>
          <a:xfrm>
            <a:off x="251493" y="4425783"/>
            <a:ext cx="7532939" cy="1070318"/>
            <a:chOff x="492124" y="4365626"/>
            <a:chExt cx="7309581" cy="961231"/>
          </a:xfrm>
        </p:grpSpPr>
        <p:pic>
          <p:nvPicPr>
            <p:cNvPr id="4" name="內容版面配置區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124" y="4365626"/>
              <a:ext cx="7309581" cy="961231"/>
            </a:xfrm>
            <a:prstGeom prst="rect">
              <a:avLst/>
            </a:prstGeom>
          </p:spPr>
        </p:pic>
        <p:sp>
          <p:nvSpPr>
            <p:cNvPr id="5" name="文字方塊 4"/>
            <p:cNvSpPr txBox="1"/>
            <p:nvPr/>
          </p:nvSpPr>
          <p:spPr>
            <a:xfrm>
              <a:off x="2299881" y="4403527"/>
              <a:ext cx="3754564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</a:t>
              </a:r>
            </a:p>
            <a:p>
              <a:r>
                <a:rPr lang="en-US" altLang="zh-TW" i="1" dirty="0" smtClean="0"/>
                <a:t>LCS(X</a:t>
              </a:r>
              <a:r>
                <a:rPr lang="en-US" altLang="zh-TW" i="1" baseline="-25000" dirty="0" smtClean="0"/>
                <a:t>i-1</a:t>
              </a:r>
              <a:r>
                <a:rPr lang="en-US" altLang="zh-TW" i="1" dirty="0" smtClean="0"/>
                <a:t>,Y</a:t>
              </a:r>
              <a:r>
                <a:rPr lang="en-US" altLang="zh-TW" i="1" baseline="-25000" dirty="0" smtClean="0"/>
                <a:t>j-1</a:t>
              </a:r>
              <a:r>
                <a:rPr lang="en-US" altLang="zh-TW" i="1" dirty="0" smtClean="0"/>
                <a:t>)+1</a:t>
              </a:r>
            </a:p>
            <a:p>
              <a:r>
                <a:rPr lang="en-US" altLang="zh-TW" i="1" dirty="0" smtClean="0"/>
                <a:t>Max(LCS(X</a:t>
              </a:r>
              <a:r>
                <a:rPr lang="en-US" altLang="zh-TW" i="1" baseline="-25000" dirty="0" smtClean="0"/>
                <a:t>i</a:t>
              </a:r>
              <a:r>
                <a:rPr lang="en-US" altLang="zh-TW" i="1" dirty="0" smtClean="0"/>
                <a:t>,Y</a:t>
              </a:r>
              <a:r>
                <a:rPr lang="en-US" altLang="zh-TW" i="1" baseline="-25000" dirty="0" smtClean="0"/>
                <a:t>j-1</a:t>
              </a:r>
              <a:r>
                <a:rPr lang="en-US" altLang="zh-TW" i="1" dirty="0" smtClean="0"/>
                <a:t>),</a:t>
              </a:r>
              <a:r>
                <a:rPr lang="en-US" altLang="zh-TW" i="1" dirty="0"/>
                <a:t> </a:t>
              </a:r>
              <a:r>
                <a:rPr lang="en-US" altLang="zh-TW" i="1" dirty="0" smtClean="0"/>
                <a:t>LCS(X</a:t>
              </a:r>
              <a:r>
                <a:rPr lang="en-US" altLang="zh-TW" i="1" baseline="-25000" dirty="0" smtClean="0"/>
                <a:t>i-1</a:t>
              </a:r>
              <a:r>
                <a:rPr lang="en-US" altLang="zh-TW" i="1" dirty="0" smtClean="0"/>
                <a:t>,Y</a:t>
              </a:r>
              <a:r>
                <a:rPr lang="en-US" altLang="zh-TW" i="1" baseline="-25000" dirty="0" smtClean="0"/>
                <a:t>j</a:t>
              </a:r>
              <a:r>
                <a:rPr lang="en-US" altLang="zh-TW" i="1" dirty="0" smtClean="0"/>
                <a:t>))</a:t>
              </a:r>
              <a:endParaRPr lang="zh-TW" alt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7228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 smtClean="0"/>
              <a:t>Grid Directed Acyclic Graph </a:t>
            </a:r>
            <a:r>
              <a:rPr lang="en-US" altLang="zh-TW" sz="3600" b="1" dirty="0"/>
              <a:t>for the ALCS</a:t>
            </a:r>
            <a:endParaRPr lang="zh-TW" altLang="en-US" sz="36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312" y="1690689"/>
            <a:ext cx="7191375" cy="410527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434138" y="6165296"/>
            <a:ext cx="270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GDAG for the ALCS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00100" y="3016252"/>
            <a:ext cx="81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38312" y="1321357"/>
            <a:ext cx="81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153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57761" y="5114679"/>
            <a:ext cx="3116035" cy="9779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sz="2000" dirty="0"/>
              <a:t>string X </a:t>
            </a:r>
            <a:r>
              <a:rPr lang="en-US" altLang="zh-TW" sz="2000" i="1" dirty="0"/>
              <a:t>: </a:t>
            </a:r>
            <a:r>
              <a:rPr lang="en-US" altLang="zh-TW" sz="2000" i="1" dirty="0" err="1" smtClean="0">
                <a:solidFill>
                  <a:srgbClr val="0070C0"/>
                </a:solidFill>
              </a:rPr>
              <a:t>baabcbca</a:t>
            </a:r>
            <a:r>
              <a:rPr lang="en-US" altLang="zh-TW" sz="2000" i="1" dirty="0" smtClean="0">
                <a:solidFill>
                  <a:srgbClr val="0070C0"/>
                </a:solidFill>
              </a:rPr>
              <a:t>  </a:t>
            </a:r>
            <a:endParaRPr lang="en-US" altLang="zh-TW" sz="2000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TW" sz="2000" dirty="0"/>
              <a:t>string Y </a:t>
            </a:r>
            <a:r>
              <a:rPr lang="en-US" altLang="zh-TW" sz="2000" i="1" dirty="0"/>
              <a:t>: </a:t>
            </a:r>
            <a:r>
              <a:rPr lang="en-US" altLang="zh-TW" sz="2000" i="1" dirty="0" err="1" smtClean="0">
                <a:solidFill>
                  <a:srgbClr val="FF0000"/>
                </a:solidFill>
              </a:rPr>
              <a:t>ba</a:t>
            </a:r>
            <a:r>
              <a:rPr lang="en-US" altLang="zh-TW" sz="2000" i="1" dirty="0" err="1" smtClean="0"/>
              <a:t>abcabcabaca</a:t>
            </a:r>
            <a:endParaRPr lang="en-US" altLang="zh-TW" sz="2000" i="1" dirty="0" smtClean="0"/>
          </a:p>
          <a:p>
            <a:pPr marL="0" indent="0">
              <a:buNone/>
            </a:pPr>
            <a:r>
              <a:rPr lang="en-US" altLang="zh-TW" sz="2000" b="1" dirty="0" smtClean="0"/>
              <a:t>EX</a:t>
            </a:r>
            <a:r>
              <a:rPr lang="en-US" altLang="zh-TW" sz="2000" b="1" dirty="0" smtClean="0">
                <a:sym typeface="Wingdings" panose="05000000000000000000" pitchFamily="2" charset="2"/>
              </a:rPr>
              <a:t>: C</a:t>
            </a:r>
            <a:r>
              <a:rPr lang="en-US" altLang="zh-TW" sz="2000" b="1" baseline="-25000" dirty="0" smtClean="0">
                <a:sym typeface="Wingdings" panose="05000000000000000000" pitchFamily="2" charset="2"/>
              </a:rPr>
              <a:t>G</a:t>
            </a:r>
            <a:r>
              <a:rPr lang="en-US" altLang="zh-TW" sz="2000" b="1" dirty="0" smtClean="0">
                <a:sym typeface="Wingdings" panose="05000000000000000000" pitchFamily="2" charset="2"/>
              </a:rPr>
              <a:t>(0,2)=2</a:t>
            </a:r>
            <a:endParaRPr lang="en-US" altLang="zh-TW" sz="2000" b="1" dirty="0" smtClean="0"/>
          </a:p>
          <a:p>
            <a:pPr marL="0" indent="0">
              <a:buNone/>
            </a:pPr>
            <a:endParaRPr lang="en-US" altLang="zh-TW" sz="2000" b="1" i="1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55" y="656071"/>
            <a:ext cx="7660079" cy="413974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926939" y="5033037"/>
            <a:ext cx="3918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ym typeface="Wingdings" panose="05000000000000000000" pitchFamily="2" charset="2"/>
              </a:rPr>
              <a:t>C</a:t>
            </a:r>
            <a:r>
              <a:rPr lang="en-US" altLang="zh-TW" b="1" baseline="-25000" dirty="0" smtClean="0">
                <a:sym typeface="Wingdings" panose="05000000000000000000" pitchFamily="2" charset="2"/>
              </a:rPr>
              <a:t>G </a:t>
            </a:r>
            <a:r>
              <a:rPr lang="en-US" altLang="zh-TW" b="1" dirty="0" smtClean="0">
                <a:sym typeface="Wingdings" panose="05000000000000000000" pitchFamily="2" charset="2"/>
              </a:rPr>
              <a:t>(</a:t>
            </a:r>
            <a:r>
              <a:rPr lang="en-US" altLang="zh-TW" b="1" dirty="0" err="1" smtClean="0">
                <a:sym typeface="Wingdings" panose="05000000000000000000" pitchFamily="2" charset="2"/>
              </a:rPr>
              <a:t>i,j</a:t>
            </a:r>
            <a:r>
              <a:rPr lang="en-US" altLang="zh-TW" b="1" dirty="0" smtClean="0">
                <a:sym typeface="Wingdings" panose="05000000000000000000" pitchFamily="2" charset="2"/>
              </a:rPr>
              <a:t>) </a:t>
            </a:r>
            <a:r>
              <a:rPr lang="en-US" altLang="zh-TW" b="1" dirty="0" smtClean="0"/>
              <a:t>represent </a:t>
            </a:r>
            <a:r>
              <a:rPr lang="en-US" altLang="zh-TW" b="1" dirty="0"/>
              <a:t>the length of the </a:t>
            </a:r>
            <a:r>
              <a:rPr lang="en-US" altLang="zh-TW" b="1" dirty="0" smtClean="0"/>
              <a:t>longest common </a:t>
            </a:r>
            <a:r>
              <a:rPr lang="en-US" altLang="zh-TW" b="1" dirty="0"/>
              <a:t>subsequence </a:t>
            </a:r>
            <a:r>
              <a:rPr lang="en-US" altLang="zh-TW" b="1" dirty="0" smtClean="0"/>
              <a:t>between X </a:t>
            </a:r>
            <a:r>
              <a:rPr lang="en-US" altLang="zh-TW" b="1" dirty="0"/>
              <a:t>and the substring Y </a:t>
            </a:r>
            <a:r>
              <a:rPr lang="en-US" altLang="zh-TW" b="1" baseline="30000" dirty="0" smtClean="0"/>
              <a:t>j</a:t>
            </a:r>
            <a:r>
              <a:rPr lang="en-US" altLang="zh-TW" b="1" baseline="-25000" dirty="0" smtClean="0"/>
              <a:t>i+1</a:t>
            </a:r>
            <a:endParaRPr lang="zh-TW" altLang="en-US" b="1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80591" y="1098790"/>
            <a:ext cx="54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739008" y="359844"/>
            <a:ext cx="54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j</a:t>
            </a:r>
            <a:endParaRPr lang="zh-TW" altLang="en-US" dirty="0"/>
          </a:p>
        </p:txBody>
      </p:sp>
      <p:cxnSp>
        <p:nvCxnSpPr>
          <p:cNvPr id="7" name="直線接點 6"/>
          <p:cNvCxnSpPr/>
          <p:nvPr/>
        </p:nvCxnSpPr>
        <p:spPr>
          <a:xfrm flipV="1">
            <a:off x="2715778" y="1381991"/>
            <a:ext cx="259773" cy="1039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15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57761" y="5114679"/>
            <a:ext cx="3116035" cy="9779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sz="2000" dirty="0"/>
              <a:t>string X </a:t>
            </a:r>
            <a:r>
              <a:rPr lang="en-US" altLang="zh-TW" sz="2000" i="1" dirty="0"/>
              <a:t>: </a:t>
            </a:r>
            <a:r>
              <a:rPr lang="en-US" altLang="zh-TW" sz="2000" i="1" dirty="0" err="1" smtClean="0">
                <a:solidFill>
                  <a:srgbClr val="0070C0"/>
                </a:solidFill>
              </a:rPr>
              <a:t>baabcbca</a:t>
            </a:r>
            <a:r>
              <a:rPr lang="en-US" altLang="zh-TW" sz="2000" i="1" dirty="0" smtClean="0">
                <a:solidFill>
                  <a:srgbClr val="0070C0"/>
                </a:solidFill>
              </a:rPr>
              <a:t>  </a:t>
            </a:r>
            <a:endParaRPr lang="en-US" altLang="zh-TW" sz="2000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TW" sz="2000" dirty="0"/>
              <a:t>string Y </a:t>
            </a:r>
            <a:r>
              <a:rPr lang="en-US" altLang="zh-TW" sz="2000" i="1" dirty="0"/>
              <a:t>: </a:t>
            </a:r>
            <a:r>
              <a:rPr lang="en-US" altLang="zh-TW" sz="2000" i="1" dirty="0" err="1" smtClean="0"/>
              <a:t>baa</a:t>
            </a:r>
            <a:r>
              <a:rPr lang="en-US" altLang="zh-TW" sz="2000" i="1" dirty="0" err="1" smtClean="0">
                <a:solidFill>
                  <a:srgbClr val="FF0000"/>
                </a:solidFill>
              </a:rPr>
              <a:t>bca</a:t>
            </a:r>
            <a:r>
              <a:rPr lang="en-US" altLang="zh-TW" sz="2000" i="1" dirty="0" err="1" smtClean="0"/>
              <a:t>bcabaca</a:t>
            </a:r>
            <a:endParaRPr lang="en-US" altLang="zh-TW" sz="2000" i="1" dirty="0" smtClean="0"/>
          </a:p>
          <a:p>
            <a:pPr marL="0" indent="0">
              <a:buNone/>
            </a:pPr>
            <a:r>
              <a:rPr lang="en-US" altLang="zh-TW" sz="2000" b="1" dirty="0" smtClean="0"/>
              <a:t>EX</a:t>
            </a:r>
            <a:r>
              <a:rPr lang="en-US" altLang="zh-TW" sz="2000" b="1" dirty="0" smtClean="0">
                <a:sym typeface="Wingdings" panose="05000000000000000000" pitchFamily="2" charset="2"/>
              </a:rPr>
              <a:t>: </a:t>
            </a:r>
            <a:r>
              <a:rPr lang="en-US" altLang="zh-TW" sz="2000" b="1" dirty="0" smtClean="0">
                <a:sym typeface="Wingdings" panose="05000000000000000000" pitchFamily="2" charset="2"/>
              </a:rPr>
              <a:t>C</a:t>
            </a:r>
            <a:r>
              <a:rPr lang="en-US" altLang="zh-TW" sz="2000" b="1" baseline="-25000" dirty="0" smtClean="0">
                <a:sym typeface="Wingdings" panose="05000000000000000000" pitchFamily="2" charset="2"/>
              </a:rPr>
              <a:t>G</a:t>
            </a:r>
            <a:r>
              <a:rPr lang="en-US" altLang="zh-TW" sz="2000" b="1" dirty="0" smtClean="0">
                <a:sym typeface="Wingdings" panose="05000000000000000000" pitchFamily="2" charset="2"/>
              </a:rPr>
              <a:t>(3,6)=3</a:t>
            </a:r>
            <a:endParaRPr lang="en-US" altLang="zh-TW" sz="2000" b="1" dirty="0" smtClean="0"/>
          </a:p>
          <a:p>
            <a:pPr marL="0" indent="0">
              <a:buNone/>
            </a:pPr>
            <a:endParaRPr lang="en-US" altLang="zh-TW" sz="2000" b="1" i="1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55" y="656071"/>
            <a:ext cx="7660079" cy="413974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926939" y="5033037"/>
            <a:ext cx="3918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ym typeface="Wingdings" panose="05000000000000000000" pitchFamily="2" charset="2"/>
              </a:rPr>
              <a:t>C</a:t>
            </a:r>
            <a:r>
              <a:rPr lang="en-US" altLang="zh-TW" b="1" baseline="-25000" dirty="0" smtClean="0">
                <a:sym typeface="Wingdings" panose="05000000000000000000" pitchFamily="2" charset="2"/>
              </a:rPr>
              <a:t>G </a:t>
            </a:r>
            <a:r>
              <a:rPr lang="en-US" altLang="zh-TW" b="1" dirty="0" smtClean="0">
                <a:sym typeface="Wingdings" panose="05000000000000000000" pitchFamily="2" charset="2"/>
              </a:rPr>
              <a:t>(</a:t>
            </a:r>
            <a:r>
              <a:rPr lang="en-US" altLang="zh-TW" b="1" dirty="0" err="1" smtClean="0">
                <a:sym typeface="Wingdings" panose="05000000000000000000" pitchFamily="2" charset="2"/>
              </a:rPr>
              <a:t>i,j</a:t>
            </a:r>
            <a:r>
              <a:rPr lang="en-US" altLang="zh-TW" b="1" dirty="0" smtClean="0">
                <a:sym typeface="Wingdings" panose="05000000000000000000" pitchFamily="2" charset="2"/>
              </a:rPr>
              <a:t>) </a:t>
            </a:r>
            <a:r>
              <a:rPr lang="en-US" altLang="zh-TW" b="1" dirty="0" smtClean="0"/>
              <a:t>represent </a:t>
            </a:r>
            <a:r>
              <a:rPr lang="en-US" altLang="zh-TW" b="1" dirty="0"/>
              <a:t>the length of the </a:t>
            </a:r>
            <a:r>
              <a:rPr lang="en-US" altLang="zh-TW" b="1" dirty="0" smtClean="0"/>
              <a:t>longest common </a:t>
            </a:r>
            <a:r>
              <a:rPr lang="en-US" altLang="zh-TW" b="1" dirty="0"/>
              <a:t>subsequence </a:t>
            </a:r>
            <a:r>
              <a:rPr lang="en-US" altLang="zh-TW" b="1" dirty="0" smtClean="0"/>
              <a:t>between X </a:t>
            </a:r>
            <a:r>
              <a:rPr lang="en-US" altLang="zh-TW" b="1" dirty="0"/>
              <a:t>and the substring Y </a:t>
            </a:r>
            <a:r>
              <a:rPr lang="en-US" altLang="zh-TW" b="1" baseline="30000" dirty="0" smtClean="0"/>
              <a:t>j</a:t>
            </a:r>
            <a:r>
              <a:rPr lang="en-US" altLang="zh-TW" b="1" baseline="-25000" dirty="0" smtClean="0"/>
              <a:t>i+1</a:t>
            </a:r>
            <a:endParaRPr lang="zh-TW" altLang="en-US" b="1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80591" y="1098790"/>
            <a:ext cx="54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739008" y="359844"/>
            <a:ext cx="54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j</a:t>
            </a:r>
            <a:endParaRPr lang="zh-TW" altLang="en-US" dirty="0"/>
          </a:p>
        </p:txBody>
      </p:sp>
      <p:cxnSp>
        <p:nvCxnSpPr>
          <p:cNvPr id="7" name="直線接點 6"/>
          <p:cNvCxnSpPr/>
          <p:nvPr/>
        </p:nvCxnSpPr>
        <p:spPr>
          <a:xfrm flipV="1">
            <a:off x="4468091" y="2088573"/>
            <a:ext cx="259773" cy="1039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8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58237" y="4710517"/>
            <a:ext cx="7824306" cy="1865087"/>
          </a:xfrm>
        </p:spPr>
        <p:txBody>
          <a:bodyPr>
            <a:normAutofit/>
          </a:bodyPr>
          <a:lstStyle/>
          <a:p>
            <a:r>
              <a:rPr lang="en-US" altLang="zh-TW" sz="2000" dirty="0" smtClean="0"/>
              <a:t>D</a:t>
            </a:r>
            <a:r>
              <a:rPr lang="en-US" altLang="zh-TW" sz="2000" baseline="-25000" dirty="0" smtClean="0"/>
              <a:t>G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i,j</a:t>
            </a:r>
            <a:r>
              <a:rPr lang="en-US" altLang="zh-TW" sz="2000" dirty="0" smtClean="0"/>
              <a:t>)  </a:t>
            </a:r>
            <a:r>
              <a:rPr lang="zh-TW" altLang="en-US" sz="2000" dirty="0" smtClean="0"/>
              <a:t>是以</a:t>
            </a:r>
            <a:r>
              <a:rPr lang="en-US" altLang="zh-TW" sz="2000" dirty="0" err="1" smtClean="0"/>
              <a:t>i</a:t>
            </a:r>
            <a:r>
              <a:rPr lang="zh-TW" altLang="en-US" sz="2000" dirty="0" smtClean="0"/>
              <a:t>為起始位置，</a:t>
            </a:r>
            <a:r>
              <a:rPr lang="en-US" altLang="zh-TW" sz="2000" dirty="0" smtClean="0"/>
              <a:t>j</a:t>
            </a:r>
            <a:r>
              <a:rPr lang="zh-TW" altLang="en-US" sz="2000" dirty="0" smtClean="0"/>
              <a:t>這個分數的最左邊位置 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觀察</a:t>
            </a:r>
            <a:r>
              <a:rPr lang="en-US" altLang="zh-TW" sz="2000" dirty="0" smtClean="0"/>
              <a:t>C</a:t>
            </a:r>
            <a:r>
              <a:rPr lang="en-US" altLang="zh-TW" sz="2000" baseline="-25000" dirty="0" smtClean="0"/>
              <a:t>G</a:t>
            </a:r>
            <a:r>
              <a:rPr lang="en-US" altLang="zh-TW" sz="2000" dirty="0" smtClean="0"/>
              <a:t>)</a:t>
            </a:r>
          </a:p>
          <a:p>
            <a:r>
              <a:rPr lang="en-US" altLang="zh-TW" sz="2000" dirty="0" err="1" smtClean="0"/>
              <a:t>i</a:t>
            </a:r>
            <a:r>
              <a:rPr lang="zh-TW" altLang="en-US" sz="2000" dirty="0" smtClean="0"/>
              <a:t>是起始的位置 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 j</a:t>
            </a:r>
            <a:r>
              <a:rPr lang="zh-TW" altLang="en-US" sz="2000" dirty="0" smtClean="0"/>
              <a:t>是</a:t>
            </a:r>
            <a:r>
              <a:rPr lang="en-US" altLang="zh-TW" sz="2000" dirty="0" smtClean="0"/>
              <a:t>LCS</a:t>
            </a:r>
            <a:r>
              <a:rPr lang="zh-TW" altLang="en-US" sz="2000" dirty="0" smtClean="0"/>
              <a:t>分數</a:t>
            </a:r>
            <a:endParaRPr lang="en-US" altLang="zh-TW" sz="2000" dirty="0" smtClean="0"/>
          </a:p>
          <a:p>
            <a:r>
              <a:rPr lang="en-US" altLang="zh-TW" sz="2000" dirty="0" smtClean="0"/>
              <a:t>D</a:t>
            </a:r>
            <a:r>
              <a:rPr lang="en-US" altLang="zh-TW" sz="2000" baseline="-25000" dirty="0" smtClean="0"/>
              <a:t>G</a:t>
            </a:r>
            <a:r>
              <a:rPr lang="en-US" altLang="zh-TW" sz="2000" dirty="0" smtClean="0"/>
              <a:t>(0,7)=8 </a:t>
            </a:r>
            <a:endParaRPr lang="zh-TW" altLang="en-US" sz="20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65126"/>
            <a:ext cx="7761913" cy="4345391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 flipH="1">
            <a:off x="2772229" y="365126"/>
            <a:ext cx="14514" cy="4345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64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45" y="5064675"/>
            <a:ext cx="6183397" cy="915640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1431758" y="5795649"/>
            <a:ext cx="3681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Space complexity: O( m + n ) 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65126"/>
            <a:ext cx="7761913" cy="434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83550" cy="1325563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Arabic Typesetting" panose="03020402040406030203" pitchFamily="66" charset="-78"/>
                <a:ea typeface="Gungsuh" panose="02030600000101010101" pitchFamily="18" charset="-127"/>
                <a:cs typeface="Arabic Typesetting" panose="03020402040406030203" pitchFamily="66" charset="-78"/>
              </a:rPr>
              <a:t>Basic Strategy of the BSP/CGM Algorithm</a:t>
            </a:r>
            <a:endParaRPr lang="zh-TW" altLang="en-US" dirty="0">
              <a:latin typeface="Arabic Typesetting" panose="03020402040406030203" pitchFamily="66" charset="-78"/>
              <a:ea typeface="Gungsuh" panose="02030600000101010101" pitchFamily="18" charset="-127"/>
              <a:cs typeface="Arabic Typesetting" panose="03020402040406030203" pitchFamily="66" charset="-78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749" y="3680292"/>
            <a:ext cx="5153025" cy="230505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141412" y="1925966"/>
            <a:ext cx="6235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dirty="0" smtClean="0"/>
              <a:t>Each </a:t>
            </a:r>
            <a:r>
              <a:rPr lang="en-US" altLang="zh-TW" dirty="0"/>
              <a:t>of the p processors runs the sequential ALCS </a:t>
            </a:r>
            <a:r>
              <a:rPr lang="en-US" altLang="zh-TW" dirty="0" smtClean="0"/>
              <a:t>algorithm on </a:t>
            </a:r>
            <a:r>
              <a:rPr lang="en-US" altLang="zh-TW" dirty="0"/>
              <a:t>its local strip and computes the local D</a:t>
            </a:r>
            <a:r>
              <a:rPr lang="en-US" altLang="zh-TW" baseline="-25000" dirty="0"/>
              <a:t>G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In log p rounds pairs of the contiguous partial </a:t>
            </a:r>
            <a:r>
              <a:rPr lang="en-US" altLang="zh-TW" dirty="0" smtClean="0"/>
              <a:t>solutions are </a:t>
            </a:r>
            <a:r>
              <a:rPr lang="en-US" altLang="zh-TW" dirty="0"/>
              <a:t>joined together successively to obtain the </a:t>
            </a:r>
            <a:r>
              <a:rPr lang="en-US" altLang="zh-TW" dirty="0" smtClean="0"/>
              <a:t>solution of </a:t>
            </a:r>
            <a:r>
              <a:rPr lang="en-US" altLang="zh-TW" dirty="0"/>
              <a:t>the original problem.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141412" y="1425501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the BSP/CGM algorithm for ALCS consists of </a:t>
            </a:r>
            <a:r>
              <a:rPr lang="en-US" altLang="zh-TW" b="1" dirty="0" smtClean="0"/>
              <a:t>the two phases</a:t>
            </a:r>
            <a:endParaRPr lang="zh-TW" altLang="en-US" b="1" dirty="0"/>
          </a:p>
        </p:txBody>
      </p:sp>
      <p:sp>
        <p:nvSpPr>
          <p:cNvPr id="3" name="文字方塊 2"/>
          <p:cNvSpPr txBox="1"/>
          <p:nvPr/>
        </p:nvSpPr>
        <p:spPr>
          <a:xfrm>
            <a:off x="3324512" y="5985342"/>
            <a:ext cx="515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O(</a:t>
            </a:r>
            <a:r>
              <a:rPr lang="en-US" altLang="zh-TW" dirty="0" err="1" smtClean="0"/>
              <a:t>mn</a:t>
            </a:r>
            <a:r>
              <a:rPr lang="en-US" altLang="zh-TW" dirty="0" smtClean="0"/>
              <a:t>) </a:t>
            </a:r>
            <a:r>
              <a:rPr lang="en-US" altLang="zh-TW" dirty="0" smtClean="0">
                <a:sym typeface="Wingdings" panose="05000000000000000000" pitchFamily="2" charset="2"/>
              </a:rPr>
              <a:t>O(</a:t>
            </a:r>
            <a:r>
              <a:rPr lang="en-US" altLang="zh-TW" dirty="0" err="1" smtClean="0">
                <a:sym typeface="Wingdings" panose="05000000000000000000" pitchFamily="2" charset="2"/>
              </a:rPr>
              <a:t>mn</a:t>
            </a:r>
            <a:r>
              <a:rPr lang="en-US" altLang="zh-TW" dirty="0" smtClean="0">
                <a:sym typeface="Wingdings" panose="05000000000000000000" pitchFamily="2" charset="2"/>
              </a:rPr>
              <a:t>/p)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23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abic Typesetting" panose="03020402040406030203" pitchFamily="66" charset="-78"/>
                <a:ea typeface="Gungsuh" panose="02030600000101010101" pitchFamily="18" charset="-127"/>
                <a:cs typeface="Arabic Typesetting" panose="03020402040406030203" pitchFamily="66" charset="-78"/>
              </a:rPr>
              <a:t>Basic Strategy of the BSP/CGM Algorithm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659" y="1809462"/>
            <a:ext cx="8106682" cy="4627788"/>
          </a:xfrm>
          <a:prstGeom prst="rect">
            <a:avLst/>
          </a:prstGeom>
        </p:spPr>
      </p:pic>
      <p:cxnSp>
        <p:nvCxnSpPr>
          <p:cNvPr id="4" name="直線接點 3"/>
          <p:cNvCxnSpPr/>
          <p:nvPr/>
        </p:nvCxnSpPr>
        <p:spPr>
          <a:xfrm>
            <a:off x="296891" y="4292538"/>
            <a:ext cx="8022055" cy="1203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04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" y="96406"/>
            <a:ext cx="5603206" cy="3188565"/>
          </a:xfrm>
          <a:prstGeom prst="rect">
            <a:avLst/>
          </a:prstGeom>
        </p:spPr>
      </p:pic>
      <p:sp>
        <p:nvSpPr>
          <p:cNvPr id="5" name="向下箭號 4"/>
          <p:cNvSpPr/>
          <p:nvPr/>
        </p:nvSpPr>
        <p:spPr>
          <a:xfrm>
            <a:off x="4325215" y="3431531"/>
            <a:ext cx="384463" cy="4260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418" y="3857558"/>
            <a:ext cx="5344779" cy="2992195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5101936" y="3431531"/>
            <a:ext cx="170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merge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402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Compact </a:t>
            </a:r>
            <a:r>
              <a:rPr lang="en-US" altLang="zh-TW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 Structure </a:t>
            </a:r>
            <a:r>
              <a:rPr lang="en-US" altLang="zh-TW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 </a:t>
            </a:r>
            <a:r>
              <a:rPr lang="en-US" altLang="zh-TW" b="1" i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D</a:t>
            </a:r>
            <a:r>
              <a:rPr lang="en-US" altLang="zh-TW" b="1" i="1" baseline="-250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G</a:t>
            </a:r>
            <a:endParaRPr lang="zh-TW" alt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168" y="1487489"/>
            <a:ext cx="7459663" cy="4445402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91" y="5932891"/>
            <a:ext cx="36576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7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內容版面配置區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004" y="931791"/>
            <a:ext cx="7301346" cy="284537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Compact </a:t>
            </a:r>
            <a:r>
              <a:rPr lang="en-US" altLang="zh-TW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 Structure </a:t>
            </a:r>
            <a:r>
              <a:rPr lang="en-US" altLang="zh-TW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 </a:t>
            </a:r>
            <a:r>
              <a:rPr lang="en-US" altLang="zh-TW" b="1" i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D</a:t>
            </a:r>
            <a:r>
              <a:rPr lang="en-US" altLang="zh-TW" b="1" i="1" baseline="-250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G</a:t>
            </a:r>
            <a:endParaRPr lang="zh-TW" alt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33" y="3637180"/>
            <a:ext cx="2733049" cy="2978800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991" y="4374140"/>
            <a:ext cx="5178080" cy="1351252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067" y="3804875"/>
            <a:ext cx="1213067" cy="290735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2576945" y="1776845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609109" y="1985148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282785" y="1918328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911436" y="1888022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615419" y="1888022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702501" y="2855543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609109" y="2670877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004214" y="2824019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840431" y="2740762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422322" y="2582460"/>
            <a:ext cx="4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754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Basic Union Operation of Two </a:t>
            </a:r>
            <a:r>
              <a:rPr lang="en-US" altLang="zh-TW" sz="40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Partial Solutions</a:t>
            </a:r>
            <a:endParaRPr lang="zh-TW" altLang="en-US" sz="4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6" name="內容版面配置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90" y="1144917"/>
            <a:ext cx="4910525" cy="279438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079" y="4099919"/>
            <a:ext cx="4926595" cy="2758081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746754" y="3804360"/>
            <a:ext cx="1269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merge</a:t>
            </a:r>
            <a:endParaRPr lang="zh-TW" altLang="en-US" dirty="0"/>
          </a:p>
        </p:txBody>
      </p:sp>
      <p:sp>
        <p:nvSpPr>
          <p:cNvPr id="7" name="向下箭號 6"/>
          <p:cNvSpPr/>
          <p:nvPr/>
        </p:nvSpPr>
        <p:spPr>
          <a:xfrm>
            <a:off x="4067079" y="4002296"/>
            <a:ext cx="286430" cy="1949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769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420" y="915010"/>
            <a:ext cx="3636580" cy="57215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05" y="517968"/>
            <a:ext cx="5764986" cy="3227441"/>
          </a:xfrm>
          <a:prstGeom prst="rect">
            <a:avLst/>
          </a:prstGeom>
        </p:spPr>
      </p:pic>
      <p:pic>
        <p:nvPicPr>
          <p:cNvPr id="5" name="內容版面配置區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05" y="3535638"/>
            <a:ext cx="5838324" cy="3322362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6087979" y="1739828"/>
            <a:ext cx="26589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G</a:t>
            </a:r>
            <a:r>
              <a:rPr lang="en-US" altLang="zh-TW" dirty="0" smtClean="0"/>
              <a:t>(1,6)=8</a:t>
            </a:r>
          </a:p>
          <a:p>
            <a:endParaRPr lang="en-US" altLang="zh-TW" baseline="-25000" dirty="0" smtClean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(1,0)=1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(1,6)=</a:t>
            </a:r>
            <a:r>
              <a:rPr lang="en-US" altLang="zh-TW" sz="1600" dirty="0" err="1" smtClean="0"/>
              <a:t>inf</a:t>
            </a:r>
            <a:endParaRPr lang="en-US" altLang="zh-TW" sz="1600" dirty="0" smtClean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(1,1)=2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(2,5)=</a:t>
            </a:r>
            <a:r>
              <a:rPr lang="en-US" altLang="zh-TW" sz="1600" dirty="0" err="1"/>
              <a:t>inf</a:t>
            </a:r>
            <a:endParaRPr lang="en-US" altLang="zh-TW" sz="1600" dirty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(1,2)=3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(3,4)=9</a:t>
            </a:r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(1,3)=4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(4,3)=8</a:t>
            </a:r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(1,4)=10</a:t>
            </a:r>
            <a:r>
              <a:rPr lang="en-US" altLang="zh-TW" sz="1600" dirty="0"/>
              <a:t>,</a:t>
            </a:r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(10,2)=11</a:t>
            </a:r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 smtClean="0"/>
          </a:p>
          <a:p>
            <a:endParaRPr lang="zh-TW" altLang="en-US" dirty="0"/>
          </a:p>
        </p:txBody>
      </p:sp>
      <p:cxnSp>
        <p:nvCxnSpPr>
          <p:cNvPr id="12" name="直線接點 11"/>
          <p:cNvCxnSpPr/>
          <p:nvPr/>
        </p:nvCxnSpPr>
        <p:spPr>
          <a:xfrm flipV="1">
            <a:off x="7754351" y="3164274"/>
            <a:ext cx="126332" cy="1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6087978" y="3796435"/>
            <a:ext cx="26589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G</a:t>
            </a:r>
            <a:r>
              <a:rPr lang="en-US" altLang="zh-TW" dirty="0" smtClean="0"/>
              <a:t>(1,5)=6</a:t>
            </a:r>
          </a:p>
          <a:p>
            <a:endParaRPr lang="en-US" altLang="zh-TW" baseline="-25000" dirty="0" smtClean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(1,0)=1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(1,5)=</a:t>
            </a:r>
            <a:r>
              <a:rPr lang="en-US" altLang="zh-TW" sz="1600" dirty="0" err="1" smtClean="0"/>
              <a:t>inf</a:t>
            </a:r>
            <a:endParaRPr lang="en-US" altLang="zh-TW" sz="1600" dirty="0" smtClean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(1,1)=2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(2,4)=9</a:t>
            </a:r>
            <a:endParaRPr lang="en-US" altLang="zh-TW" sz="1600" dirty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(1,2)=3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(3,3)=6</a:t>
            </a:r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(1,3)=4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(4,2)=6</a:t>
            </a:r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(1,4)=10,D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(10,1)=11</a:t>
            </a:r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 smtClean="0"/>
          </a:p>
          <a:p>
            <a:endParaRPr lang="zh-TW" altLang="en-US" dirty="0"/>
          </a:p>
        </p:txBody>
      </p:sp>
      <p:cxnSp>
        <p:nvCxnSpPr>
          <p:cNvPr id="14" name="直線接點 13"/>
          <p:cNvCxnSpPr/>
          <p:nvPr/>
        </p:nvCxnSpPr>
        <p:spPr>
          <a:xfrm flipV="1">
            <a:off x="7754351" y="5001095"/>
            <a:ext cx="126332" cy="1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86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4" y="1097635"/>
            <a:ext cx="4838700" cy="102870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18" y="1959279"/>
            <a:ext cx="4533900" cy="84772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" y="342900"/>
            <a:ext cx="4797046" cy="75473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6024479" y="558895"/>
            <a:ext cx="26589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G</a:t>
            </a:r>
            <a:r>
              <a:rPr lang="en-US" altLang="zh-TW" dirty="0" smtClean="0"/>
              <a:t>(1,6)=8</a:t>
            </a:r>
          </a:p>
          <a:p>
            <a:endParaRPr lang="en-US" altLang="zh-TW" baseline="-25000" dirty="0" smtClean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(1,0)=1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(1,6)=</a:t>
            </a:r>
            <a:r>
              <a:rPr lang="en-US" altLang="zh-TW" sz="1600" dirty="0" err="1" smtClean="0"/>
              <a:t>inf</a:t>
            </a:r>
            <a:endParaRPr lang="en-US" altLang="zh-TW" sz="1600" dirty="0" smtClean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(1,1)=2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(2,5)=</a:t>
            </a:r>
            <a:r>
              <a:rPr lang="en-US" altLang="zh-TW" sz="1600" dirty="0" err="1"/>
              <a:t>inf</a:t>
            </a:r>
            <a:endParaRPr lang="en-US" altLang="zh-TW" sz="1600" dirty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(1,2)=3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(3,4)=9</a:t>
            </a:r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(1,3)=4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(4,3)=8</a:t>
            </a:r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(1,4)=10</a:t>
            </a:r>
            <a:r>
              <a:rPr lang="en-US" altLang="zh-TW" sz="1600" dirty="0"/>
              <a:t>,</a:t>
            </a:r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(10,2)=11</a:t>
            </a:r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 smtClean="0"/>
          </a:p>
          <a:p>
            <a:endParaRPr lang="zh-TW" altLang="en-US" dirty="0"/>
          </a:p>
        </p:txBody>
      </p:sp>
      <p:cxnSp>
        <p:nvCxnSpPr>
          <p:cNvPr id="13" name="直線接點 12"/>
          <p:cNvCxnSpPr/>
          <p:nvPr/>
        </p:nvCxnSpPr>
        <p:spPr>
          <a:xfrm flipV="1">
            <a:off x="7690851" y="1983341"/>
            <a:ext cx="126332" cy="1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6024478" y="2615502"/>
            <a:ext cx="26589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G</a:t>
            </a:r>
            <a:r>
              <a:rPr lang="en-US" altLang="zh-TW" dirty="0" smtClean="0"/>
              <a:t>(1,5)=6</a:t>
            </a:r>
          </a:p>
          <a:p>
            <a:endParaRPr lang="en-US" altLang="zh-TW" baseline="-25000" dirty="0" smtClean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(1,0)=1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(1,5)=</a:t>
            </a:r>
            <a:r>
              <a:rPr lang="en-US" altLang="zh-TW" sz="1600" dirty="0" err="1" smtClean="0"/>
              <a:t>inf</a:t>
            </a:r>
            <a:endParaRPr lang="en-US" altLang="zh-TW" sz="1600" dirty="0" smtClean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(1,1)=2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(2,4)=9</a:t>
            </a:r>
            <a:endParaRPr lang="en-US" altLang="zh-TW" sz="1600" dirty="0"/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(1,2)=3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(3,3)=6</a:t>
            </a:r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(1,3)=4 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(4,2)=6</a:t>
            </a:r>
          </a:p>
          <a:p>
            <a:r>
              <a:rPr lang="en-US" altLang="zh-TW" sz="1600" dirty="0" smtClean="0"/>
              <a:t>D</a:t>
            </a:r>
            <a:r>
              <a:rPr lang="en-US" altLang="zh-TW" sz="1600" baseline="-25000" dirty="0" smtClean="0"/>
              <a:t>U</a:t>
            </a:r>
            <a:r>
              <a:rPr lang="en-US" altLang="zh-TW" sz="1600" dirty="0" smtClean="0"/>
              <a:t>(1,4)=10,D</a:t>
            </a:r>
            <a:r>
              <a:rPr lang="en-US" altLang="zh-TW" sz="1600" baseline="-25000" dirty="0" smtClean="0"/>
              <a:t>L</a:t>
            </a:r>
            <a:r>
              <a:rPr lang="en-US" altLang="zh-TW" sz="1600" dirty="0" smtClean="0"/>
              <a:t>(10,1)=11</a:t>
            </a:r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 smtClean="0"/>
          </a:p>
          <a:p>
            <a:endParaRPr lang="zh-TW" altLang="en-US" dirty="0"/>
          </a:p>
        </p:txBody>
      </p:sp>
      <p:cxnSp>
        <p:nvCxnSpPr>
          <p:cNvPr id="15" name="直線接點 14"/>
          <p:cNvCxnSpPr/>
          <p:nvPr/>
        </p:nvCxnSpPr>
        <p:spPr>
          <a:xfrm flipV="1">
            <a:off x="7690851" y="3820162"/>
            <a:ext cx="126332" cy="1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圖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80" y="2817757"/>
            <a:ext cx="1398106" cy="516947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914" y="4656313"/>
            <a:ext cx="3479800" cy="75995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109" y="3897870"/>
            <a:ext cx="2840954" cy="27454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0588" y="3029904"/>
            <a:ext cx="2266950" cy="3048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980814" y="2987979"/>
            <a:ext cx="259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=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092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4550" y="500242"/>
            <a:ext cx="5862579" cy="241286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68" y="500242"/>
            <a:ext cx="2308893" cy="2516505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2715134" y="1372674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TW" altLang="en-US" dirty="0" smtClean="0"/>
              <a:t>√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719771" y="913641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TW" altLang="en-US" dirty="0" smtClean="0"/>
              <a:t>√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719771" y="105214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TW" altLang="en-US" dirty="0" smtClean="0"/>
              <a:t>√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719771" y="1219346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TW" altLang="en-US" dirty="0" smtClean="0"/>
              <a:t>√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716251" y="2279675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TW" altLang="en-US" dirty="0" smtClean="0"/>
              <a:t>√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705" y="3543107"/>
            <a:ext cx="5764986" cy="322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Monotonicity</a:t>
            </a:r>
            <a:endParaRPr lang="zh-TW" altLang="en-US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048" y="1283153"/>
            <a:ext cx="5224852" cy="509853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164031" y="6519446"/>
            <a:ext cx="6132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From: http</a:t>
            </a:r>
            <a:r>
              <a:rPr lang="en-US" altLang="zh-TW" sz="1600" dirty="0"/>
              <a:t>://www.egr.unlv.edu/~larmore/Courses/CSC477/monge.pdf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6017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Redundancy Elimination by </a:t>
            </a:r>
            <a:r>
              <a:rPr lang="en-US" altLang="zh-TW" sz="40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Exploring Similarities</a:t>
            </a:r>
            <a:endParaRPr lang="zh-TW" altLang="en-US" sz="4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" y="3333705"/>
            <a:ext cx="5629275" cy="291465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6079809" y="1592390"/>
            <a:ext cx="335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total time is </a:t>
            </a:r>
            <a:r>
              <a:rPr lang="en-US" altLang="zh-TW" dirty="0" smtClean="0"/>
              <a:t>still O(nm</a:t>
            </a:r>
            <a:r>
              <a:rPr lang="en-US" altLang="zh-TW" dirty="0"/>
              <a:t>). </a:t>
            </a:r>
            <a:endParaRPr lang="en-US" altLang="zh-TW" dirty="0" smtClean="0"/>
          </a:p>
          <a:p>
            <a:r>
              <a:rPr lang="en-US" altLang="zh-TW" dirty="0" smtClean="0"/>
              <a:t>This </a:t>
            </a:r>
            <a:r>
              <a:rPr lang="en-US" altLang="zh-TW" dirty="0"/>
              <a:t>is not good enough.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00" y="1385278"/>
            <a:ext cx="5442709" cy="170688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894243" y="4052366"/>
            <a:ext cx="31666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因為這些</a:t>
            </a:r>
            <a:r>
              <a:rPr lang="en-US" altLang="zh-TW" dirty="0" smtClean="0"/>
              <a:t>matrix</a:t>
            </a:r>
            <a:r>
              <a:rPr lang="zh-TW" altLang="en-US" dirty="0" smtClean="0"/>
              <a:t>有</a:t>
            </a:r>
            <a:r>
              <a:rPr lang="en-US" altLang="zh-TW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Monotonicity</a:t>
            </a:r>
            <a:r>
              <a:rPr lang="zh-TW" altLang="en-US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的特性存在 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6079809" y="4791030"/>
            <a:ext cx="2719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Queried: O(log m’)</a:t>
            </a:r>
          </a:p>
          <a:p>
            <a:r>
              <a:rPr lang="en-US" altLang="zh-TW" dirty="0" smtClean="0"/>
              <a:t>O(r log m’)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93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Redundancy Elimination by </a:t>
            </a:r>
            <a:r>
              <a:rPr lang="en-US" altLang="zh-TW" sz="40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Exploring Similarities</a:t>
            </a:r>
            <a:endParaRPr lang="zh-TW" altLang="en-US" sz="4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398" y="1177131"/>
            <a:ext cx="5705475" cy="199072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9" y="3406353"/>
            <a:ext cx="2696441" cy="3131693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802" y="3490047"/>
            <a:ext cx="3905250" cy="314325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6712528" y="3490047"/>
            <a:ext cx="14174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(2,3,4,7,10)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59802" y="3908497"/>
            <a:ext cx="346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Common is 2,3,4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572000" y="3487103"/>
            <a:ext cx="11992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(0,1,2,3,4)</a:t>
            </a:r>
            <a:endParaRPr lang="zh-TW" altLang="en-US" dirty="0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2238" y="4465060"/>
            <a:ext cx="1638300" cy="276225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6590" y="4928516"/>
            <a:ext cx="254317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4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Redundancy Elimination by </a:t>
            </a:r>
            <a:r>
              <a:rPr lang="en-US" altLang="zh-TW" sz="40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Exploring Similarities</a:t>
            </a:r>
            <a:endParaRPr lang="zh-TW" altLang="en-US" sz="4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350" y="1690689"/>
            <a:ext cx="5629275" cy="1552575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525087"/>
            <a:ext cx="5442709" cy="1706885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628650" y="5513795"/>
            <a:ext cx="4873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This indirect </a:t>
            </a:r>
            <a:r>
              <a:rPr lang="en-US" altLang="zh-TW" dirty="0" smtClean="0"/>
              <a:t>representation of </a:t>
            </a:r>
            <a:r>
              <a:rPr lang="en-US" altLang="zh-TW" dirty="0"/>
              <a:t>the column minima can be queried in </a:t>
            </a:r>
            <a:r>
              <a:rPr lang="en-US" altLang="zh-TW" dirty="0" smtClean="0"/>
              <a:t>O(log m’) </a:t>
            </a:r>
            <a:r>
              <a:rPr lang="en-US" altLang="zh-TW" dirty="0"/>
              <a:t>time </a:t>
            </a:r>
            <a:r>
              <a:rPr lang="en-US" altLang="zh-TW" dirty="0" smtClean="0"/>
              <a:t>for each </a:t>
            </a:r>
            <a:r>
              <a:rPr lang="en-US" altLang="zh-TW" dirty="0"/>
              <a:t>element of </a:t>
            </a:r>
            <a:r>
              <a:rPr lang="en-US" altLang="zh-TW" dirty="0" err="1" smtClean="0"/>
              <a:t>ContBl</a:t>
            </a:r>
            <a:r>
              <a:rPr lang="en-US" altLang="zh-TW" dirty="0" smtClean="0"/>
              <a:t>[i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, r, </a:t>
            </a:r>
            <a:r>
              <a:rPr lang="en-US" altLang="zh-TW" dirty="0"/>
              <a:t>t].</a:t>
            </a: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5501986" y="5808518"/>
            <a:ext cx="641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5611092" y="5342029"/>
            <a:ext cx="261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M’</a:t>
            </a:r>
            <a:r>
              <a:rPr lang="zh-TW" altLang="en-US" dirty="0" smtClean="0"/>
              <a:t>個</a:t>
            </a:r>
            <a:r>
              <a:rPr lang="en-US" altLang="zh-TW" dirty="0" smtClean="0"/>
              <a:t>block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6722918" y="5636752"/>
            <a:ext cx="261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latin typeface="+mj-lt"/>
                <a:ea typeface="+mj-ea"/>
              </a:rPr>
              <a:t>O(</a:t>
            </a:r>
            <a:r>
              <a:rPr lang="en-US" altLang="zh-TW" b="1" dirty="0" err="1" smtClean="0">
                <a:latin typeface="+mj-lt"/>
                <a:ea typeface="+mj-ea"/>
              </a:rPr>
              <a:t>m’log</a:t>
            </a:r>
            <a:r>
              <a:rPr lang="en-US" altLang="zh-TW" b="1" dirty="0" smtClean="0">
                <a:latin typeface="+mj-lt"/>
                <a:ea typeface="+mj-ea"/>
              </a:rPr>
              <a:t> m’)</a:t>
            </a:r>
            <a:endParaRPr lang="en-US" altLang="zh-TW" b="1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3092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Complete Analysis of the Union Process</a:t>
            </a:r>
            <a:endParaRPr lang="zh-TW" altLang="en-US" sz="4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000" b="1" dirty="0">
                <a:latin typeface="+mn-ea"/>
                <a:cs typeface="Arabic Typesetting" panose="03020402040406030203" pitchFamily="66" charset="-78"/>
              </a:rPr>
              <a:t>Redundancy Elimination </a:t>
            </a:r>
            <a:r>
              <a:rPr lang="en-US" altLang="zh-TW" sz="2000" b="1" dirty="0" smtClean="0">
                <a:latin typeface="+mn-ea"/>
                <a:cs typeface="Arabic Typesetting" panose="03020402040406030203" pitchFamily="66" charset="-78"/>
              </a:rPr>
              <a:t> :</a:t>
            </a:r>
            <a:r>
              <a:rPr lang="en-US" altLang="zh-TW" sz="2000" b="1" dirty="0" smtClean="0">
                <a:latin typeface="+mn-ea"/>
              </a:rPr>
              <a:t>O(m log m)</a:t>
            </a:r>
          </a:p>
          <a:p>
            <a:pPr marL="0" indent="0">
              <a:buNone/>
            </a:pPr>
            <a:r>
              <a:rPr lang="en-US" altLang="zh-TW" sz="2000" b="1" dirty="0" smtClean="0">
                <a:latin typeface="+mn-ea"/>
                <a:cs typeface="Arabic Typesetting" panose="03020402040406030203" pitchFamily="66" charset="-78"/>
              </a:rPr>
              <a:t>(n+1)/(r+1) groups</a:t>
            </a:r>
            <a:r>
              <a:rPr lang="en-US" altLang="zh-TW" sz="2000" b="1" dirty="0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 O(</a:t>
            </a:r>
            <a:r>
              <a:rPr lang="en-US" altLang="zh-TW" sz="2000" b="1" dirty="0" err="1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mn</a:t>
            </a:r>
            <a:r>
              <a:rPr lang="en-US" altLang="zh-TW" sz="2000" b="1" dirty="0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/r log m) = </a:t>
            </a:r>
            <a:r>
              <a:rPr lang="en-US" altLang="zh-TW" sz="2000" b="1" dirty="0" smtClean="0">
                <a:latin typeface="+mj-ea"/>
                <a:ea typeface="+mj-ea"/>
                <a:cs typeface="Arabic Typesetting" panose="03020402040406030203" pitchFamily="66" charset="-78"/>
                <a:sym typeface="Wingdings" panose="05000000000000000000" pitchFamily="2" charset="2"/>
              </a:rPr>
              <a:t>O(</a:t>
            </a:r>
            <a:r>
              <a:rPr lang="en-US" altLang="zh-TW" sz="2000" b="1" dirty="0" err="1" smtClean="0">
                <a:latin typeface="+mj-ea"/>
                <a:ea typeface="+mj-ea"/>
                <a:cs typeface="Arabic Typesetting" panose="03020402040406030203" pitchFamily="66" charset="-78"/>
                <a:sym typeface="Wingdings" panose="05000000000000000000" pitchFamily="2" charset="2"/>
              </a:rPr>
              <a:t>n√m</a:t>
            </a:r>
            <a:r>
              <a:rPr lang="en-US" altLang="zh-TW" sz="2000" b="1" dirty="0" smtClean="0">
                <a:latin typeface="+mj-ea"/>
                <a:ea typeface="+mj-ea"/>
                <a:cs typeface="Arabic Typesetting" panose="03020402040406030203" pitchFamily="66" charset="-78"/>
                <a:sym typeface="Wingdings" panose="05000000000000000000" pitchFamily="2" charset="2"/>
              </a:rPr>
              <a:t> log m)</a:t>
            </a:r>
          </a:p>
          <a:p>
            <a:pPr marL="0" indent="0">
              <a:buNone/>
            </a:pPr>
            <a:r>
              <a:rPr lang="en-US" altLang="zh-TW" sz="2000" b="1" dirty="0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P</a:t>
            </a:r>
            <a:r>
              <a:rPr lang="zh-TW" altLang="en-US" sz="2000" b="1" dirty="0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個</a:t>
            </a:r>
            <a:r>
              <a:rPr lang="en-US" altLang="zh-TW" sz="2000" b="1" dirty="0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processors  O(</a:t>
            </a:r>
            <a:r>
              <a:rPr lang="en-US" altLang="zh-TW" sz="2000" b="1" dirty="0" err="1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n</a:t>
            </a:r>
            <a:r>
              <a:rPr lang="en-US" altLang="zh-TW" sz="2000" b="1" dirty="0" err="1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√</a:t>
            </a:r>
            <a:r>
              <a:rPr lang="en-US" altLang="zh-TW" sz="2000" b="1" dirty="0" err="1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m</a:t>
            </a:r>
            <a:r>
              <a:rPr lang="en-US" altLang="zh-TW" sz="2000" b="1" dirty="0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 </a:t>
            </a:r>
            <a:r>
              <a:rPr lang="en-US" altLang="zh-TW" sz="2000" b="1" dirty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log </a:t>
            </a:r>
            <a:r>
              <a:rPr lang="en-US" altLang="zh-TW" sz="2000" b="1" dirty="0" smtClean="0">
                <a:latin typeface="+mn-ea"/>
                <a:cs typeface="Arabic Typesetting" panose="03020402040406030203" pitchFamily="66" charset="-78"/>
                <a:sym typeface="Wingdings" panose="05000000000000000000" pitchFamily="2" charset="2"/>
              </a:rPr>
              <a:t>m/p)</a:t>
            </a:r>
            <a:endParaRPr lang="en-US" altLang="zh-TW" sz="2000" b="1" dirty="0">
              <a:latin typeface="+mn-ea"/>
              <a:cs typeface="Arabic Typesetting" panose="03020402040406030203" pitchFamily="66" charset="-78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zh-TW" altLang="en-US" sz="2000" b="1" dirty="0">
              <a:latin typeface="+mn-ea"/>
              <a:cs typeface="Arabic Typesetting" panose="03020402040406030203" pitchFamily="66" charset="-78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928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Analysis of the </a:t>
            </a:r>
            <a:r>
              <a:rPr lang="en-US" altLang="zh-TW" sz="4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CGM</a:t>
            </a:r>
            <a:r>
              <a:rPr lang="en-US" altLang="zh-TW" sz="40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US" altLang="zh-TW" sz="4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Algorithm</a:t>
            </a:r>
            <a:endParaRPr lang="zh-TW" altLang="en-US" sz="4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3532084"/>
            <a:ext cx="3419475" cy="7239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671350"/>
            <a:ext cx="5724525" cy="742950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921512" y="1488526"/>
            <a:ext cx="4021282" cy="369332"/>
            <a:chOff x="1517073" y="1787236"/>
            <a:chExt cx="4021282" cy="369332"/>
          </a:xfrm>
        </p:grpSpPr>
        <p:sp>
          <p:nvSpPr>
            <p:cNvPr id="3" name="文字方塊 2"/>
            <p:cNvSpPr txBox="1"/>
            <p:nvPr/>
          </p:nvSpPr>
          <p:spPr>
            <a:xfrm>
              <a:off x="1517073" y="1787236"/>
              <a:ext cx="402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 smtClean="0"/>
                <a:t>O(n</a:t>
              </a:r>
              <a:r>
                <a:rPr lang="zh-TW" altLang="en-US" dirty="0" smtClean="0"/>
                <a:t>√</a:t>
              </a:r>
              <a:r>
                <a:rPr lang="en-US" altLang="zh-TW" i="1" dirty="0" smtClean="0"/>
                <a:t>m’(</a:t>
              </a:r>
              <a:r>
                <a:rPr lang="en-US" altLang="zh-TW" dirty="0" smtClean="0"/>
                <a:t>1 </a:t>
              </a:r>
              <a:r>
                <a:rPr lang="en-US" altLang="zh-TW" dirty="0"/>
                <a:t>+ </a:t>
              </a:r>
              <a:r>
                <a:rPr lang="en-US" altLang="zh-TW" dirty="0" smtClean="0"/>
                <a:t>log </a:t>
              </a:r>
              <a:r>
                <a:rPr lang="en-US" altLang="zh-TW" i="1" dirty="0" smtClean="0"/>
                <a:t>m’/q</a:t>
              </a:r>
              <a:r>
                <a:rPr lang="en-US" altLang="zh-TW" i="1" dirty="0"/>
                <a:t>))</a:t>
              </a:r>
              <a:endParaRPr lang="zh-TW" altLang="en-US" dirty="0"/>
            </a:p>
          </p:txBody>
        </p:sp>
        <p:cxnSp>
          <p:nvCxnSpPr>
            <p:cNvPr id="7" name="直線接點 6"/>
            <p:cNvCxnSpPr/>
            <p:nvPr/>
          </p:nvCxnSpPr>
          <p:spPr>
            <a:xfrm>
              <a:off x="1995053" y="1898252"/>
              <a:ext cx="20781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文字方塊 8"/>
          <p:cNvSpPr txBox="1"/>
          <p:nvPr/>
        </p:nvSpPr>
        <p:spPr>
          <a:xfrm>
            <a:off x="921512" y="2079938"/>
            <a:ext cx="456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m’= </a:t>
            </a:r>
            <a:r>
              <a:rPr lang="en-US" altLang="zh-TW" dirty="0" err="1" smtClean="0"/>
              <a:t>mq</a:t>
            </a:r>
            <a:r>
              <a:rPr lang="en-US" altLang="zh-TW" dirty="0" smtClean="0"/>
              <a:t>/2p</a:t>
            </a:r>
            <a:endParaRPr lang="zh-TW" altLang="en-US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2597727" y="4457700"/>
            <a:ext cx="322118" cy="436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399492" y="5320145"/>
            <a:ext cx="5614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If p </a:t>
            </a:r>
            <a:r>
              <a:rPr lang="en-US" altLang="zh-TW" dirty="0"/>
              <a:t>&lt;  </a:t>
            </a:r>
            <a:r>
              <a:rPr lang="zh-TW" altLang="zh-TW" dirty="0"/>
              <a:t>√</a:t>
            </a:r>
            <a:r>
              <a:rPr lang="en-US" altLang="zh-TW" dirty="0"/>
              <a:t>m  </a:t>
            </a:r>
            <a:r>
              <a:rPr lang="en-US" altLang="zh-TW" dirty="0" smtClean="0"/>
              <a:t>processors  ,  O(</a:t>
            </a:r>
            <a:r>
              <a:rPr lang="en-US" altLang="zh-TW" dirty="0" err="1" smtClean="0"/>
              <a:t>mn</a:t>
            </a:r>
            <a:r>
              <a:rPr lang="en-US" altLang="zh-TW" dirty="0" smtClean="0"/>
              <a:t>/p)</a:t>
            </a:r>
            <a:endParaRPr lang="zh-TW" altLang="en-US" dirty="0"/>
          </a:p>
        </p:txBody>
      </p:sp>
      <p:cxnSp>
        <p:nvCxnSpPr>
          <p:cNvPr id="15" name="直線接點 14"/>
          <p:cNvCxnSpPr/>
          <p:nvPr/>
        </p:nvCxnSpPr>
        <p:spPr>
          <a:xfrm>
            <a:off x="2130138" y="5434445"/>
            <a:ext cx="21820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79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Conclusion</a:t>
            </a:r>
            <a:endParaRPr lang="zh-TW" altLang="en-US" sz="48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/>
              <a:t>We present a parallel algorithm for ALCS on a coarse-grained multicomputer (BSP/CGM) model with p &lt;  </a:t>
            </a:r>
            <a:r>
              <a:rPr lang="zh-TW" altLang="zh-TW" sz="2400" dirty="0"/>
              <a:t>√</a:t>
            </a:r>
            <a:r>
              <a:rPr lang="en-US" altLang="zh-TW" sz="2400" dirty="0"/>
              <a:t>m  processors that takes O(</a:t>
            </a:r>
            <a:r>
              <a:rPr lang="en-US" altLang="zh-TW" sz="2400" dirty="0" err="1"/>
              <a:t>mn</a:t>
            </a:r>
            <a:r>
              <a:rPr lang="en-US" altLang="zh-TW" sz="2400" dirty="0"/>
              <a:t>/p) time and O(n </a:t>
            </a:r>
            <a:r>
              <a:rPr lang="zh-TW" altLang="zh-TW" sz="2400" dirty="0"/>
              <a:t>√</a:t>
            </a:r>
            <a:r>
              <a:rPr lang="en-US" altLang="zh-TW" sz="2400" dirty="0"/>
              <a:t>m ) space per processor, with O(log p) communication rounds. </a:t>
            </a:r>
          </a:p>
          <a:p>
            <a:pPr marL="0" indent="0">
              <a:buNone/>
            </a:pP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We </a:t>
            </a:r>
            <a:r>
              <a:rPr lang="en-US" altLang="zh-TW" sz="2400" dirty="0"/>
              <a:t>thus conclude </a:t>
            </a:r>
            <a:r>
              <a:rPr lang="en-US" altLang="zh-TW" sz="2400" dirty="0" smtClean="0"/>
              <a:t>the </a:t>
            </a:r>
            <a:r>
              <a:rPr lang="en-US" altLang="zh-TW" sz="2400" dirty="0"/>
              <a:t>main result of </a:t>
            </a:r>
            <a:r>
              <a:rPr lang="en-US" altLang="zh-TW" sz="2400" dirty="0" smtClean="0"/>
              <a:t>this paper </a:t>
            </a:r>
            <a:r>
              <a:rPr lang="en-US" altLang="zh-TW" sz="2400" dirty="0"/>
              <a:t>which is a linear speedup </a:t>
            </a:r>
            <a:r>
              <a:rPr lang="en-US" altLang="zh-TW" sz="2400" dirty="0" smtClean="0"/>
              <a:t>BSP/CGM algorithm for the ALCS </a:t>
            </a:r>
            <a:r>
              <a:rPr lang="en-US" altLang="zh-TW" sz="2400" dirty="0"/>
              <a:t>problem.</a:t>
            </a:r>
            <a:endParaRPr lang="zh-TW" altLang="en-US" sz="2400" dirty="0"/>
          </a:p>
        </p:txBody>
      </p:sp>
      <p:cxnSp>
        <p:nvCxnSpPr>
          <p:cNvPr id="5" name="直線接點 4"/>
          <p:cNvCxnSpPr/>
          <p:nvPr/>
        </p:nvCxnSpPr>
        <p:spPr>
          <a:xfrm>
            <a:off x="6192982" y="2244436"/>
            <a:ext cx="228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4953000" y="2573482"/>
            <a:ext cx="228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38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2371</TotalTime>
  <Words>882</Words>
  <Application>Microsoft Office PowerPoint</Application>
  <PresentationFormat>如螢幕大小 (4:3)</PresentationFormat>
  <Paragraphs>140</Paragraphs>
  <Slides>25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Gungsuh</vt:lpstr>
      <vt:lpstr>新細明體</vt:lpstr>
      <vt:lpstr>Arabic Typesetting</vt:lpstr>
      <vt:lpstr>Arial</vt:lpstr>
      <vt:lpstr>Calibri</vt:lpstr>
      <vt:lpstr>Calibri Light</vt:lpstr>
      <vt:lpstr>Ebrima</vt:lpstr>
      <vt:lpstr>Wingdings</vt:lpstr>
      <vt:lpstr>Office 佈景主題</vt:lpstr>
      <vt:lpstr>A BSP/CGM Algorithm for the All-Substrings Longest Common Subsequence Problem</vt:lpstr>
      <vt:lpstr>Abstract</vt:lpstr>
      <vt:lpstr>The BSP/CGM Model</vt:lpstr>
      <vt:lpstr>All-Substrings Longest Common Subsequence</vt:lpstr>
      <vt:lpstr>Grid Directed Acyclic Graph for the ALCS</vt:lpstr>
      <vt:lpstr>PowerPoint 簡報</vt:lpstr>
      <vt:lpstr>PowerPoint 簡報</vt:lpstr>
      <vt:lpstr>PowerPoint 簡報</vt:lpstr>
      <vt:lpstr> </vt:lpstr>
      <vt:lpstr>Basic Strategy of the BSP/CGM Algorithm</vt:lpstr>
      <vt:lpstr>Basic Strategy of the BSP/CGM Algorithm</vt:lpstr>
      <vt:lpstr>PowerPoint 簡報</vt:lpstr>
      <vt:lpstr>Compact Data Structure for DG</vt:lpstr>
      <vt:lpstr>Compact Data Structure for DG</vt:lpstr>
      <vt:lpstr>The Basic Union Operation of Two Partial Solutions</vt:lpstr>
      <vt:lpstr>PowerPoint 簡報</vt:lpstr>
      <vt:lpstr>PowerPoint 簡報</vt:lpstr>
      <vt:lpstr>PowerPoint 簡報</vt:lpstr>
      <vt:lpstr>Monotonicity</vt:lpstr>
      <vt:lpstr>Redundancy Elimination by Exploring Similarities</vt:lpstr>
      <vt:lpstr>Redundancy Elimination by Exploring Similarities</vt:lpstr>
      <vt:lpstr>Redundancy Elimination by Exploring Similarities</vt:lpstr>
      <vt:lpstr>Complete Analysis of the Union Process</vt:lpstr>
      <vt:lpstr>Analysis of the CGM Algorithm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BSP/CGM Algorithm for the All-Substrings Longest Common Subsequence Problem</dc:title>
  <dc:creator>Ding</dc:creator>
  <cp:lastModifiedBy>Huang</cp:lastModifiedBy>
  <cp:revision>260</cp:revision>
  <dcterms:created xsi:type="dcterms:W3CDTF">2014-09-27T14:09:30Z</dcterms:created>
  <dcterms:modified xsi:type="dcterms:W3CDTF">2014-10-01T09:25:23Z</dcterms:modified>
</cp:coreProperties>
</file>