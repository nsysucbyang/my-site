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78" r:id="rId5"/>
    <p:sldId id="280" r:id="rId6"/>
    <p:sldId id="281" r:id="rId7"/>
    <p:sldId id="282" r:id="rId8"/>
    <p:sldId id="258" r:id="rId9"/>
    <p:sldId id="283" r:id="rId10"/>
    <p:sldId id="288" r:id="rId11"/>
    <p:sldId id="285" r:id="rId12"/>
    <p:sldId id="284" r:id="rId13"/>
    <p:sldId id="289" r:id="rId14"/>
    <p:sldId id="264" r:id="rId15"/>
    <p:sldId id="266" r:id="rId16"/>
    <p:sldId id="290" r:id="rId17"/>
    <p:sldId id="262" r:id="rId18"/>
    <p:sldId id="292" r:id="rId19"/>
    <p:sldId id="267" r:id="rId20"/>
    <p:sldId id="268" r:id="rId21"/>
    <p:sldId id="269" r:id="rId22"/>
    <p:sldId id="274" r:id="rId23"/>
    <p:sldId id="277" r:id="rId24"/>
    <p:sldId id="272" r:id="rId25"/>
    <p:sldId id="287" r:id="rId26"/>
    <p:sldId id="273" r:id="rId27"/>
    <p:sldId id="276" r:id="rId28"/>
    <p:sldId id="263" r:id="rId29"/>
    <p:sldId id="271" r:id="rId30"/>
    <p:sldId id="270" r:id="rId3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4" autoAdjust="0"/>
    <p:restoredTop sz="94660"/>
  </p:normalViewPr>
  <p:slideViewPr>
    <p:cSldViewPr snapToGrid="0">
      <p:cViewPr varScale="1">
        <p:scale>
          <a:sx n="79" d="100"/>
          <a:sy n="79" d="100"/>
        </p:scale>
        <p:origin x="9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953A-8641-4DB2-807C-B61E5AFC5B68}" type="datetimeFigureOut">
              <a:rPr lang="zh-TW" altLang="en-US" smtClean="0"/>
              <a:t>2014/7/15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C3BB-820F-486E-9B55-EFAC1C6F23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9620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953A-8641-4DB2-807C-B61E5AFC5B68}" type="datetimeFigureOut">
              <a:rPr lang="zh-TW" altLang="en-US" smtClean="0"/>
              <a:t>2014/7/15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C3BB-820F-486E-9B55-EFAC1C6F23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284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953A-8641-4DB2-807C-B61E5AFC5B68}" type="datetimeFigureOut">
              <a:rPr lang="zh-TW" altLang="en-US" smtClean="0"/>
              <a:t>2014/7/15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C3BB-820F-486E-9B55-EFAC1C6F23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0506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953A-8641-4DB2-807C-B61E5AFC5B68}" type="datetimeFigureOut">
              <a:rPr lang="zh-TW" altLang="en-US" smtClean="0"/>
              <a:t>2014/7/15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C3BB-820F-486E-9B55-EFAC1C6F23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31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953A-8641-4DB2-807C-B61E5AFC5B68}" type="datetimeFigureOut">
              <a:rPr lang="zh-TW" altLang="en-US" smtClean="0"/>
              <a:t>2014/7/15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C3BB-820F-486E-9B55-EFAC1C6F23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934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953A-8641-4DB2-807C-B61E5AFC5B68}" type="datetimeFigureOut">
              <a:rPr lang="zh-TW" altLang="en-US" smtClean="0"/>
              <a:t>2014/7/15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C3BB-820F-486E-9B55-EFAC1C6F23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718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953A-8641-4DB2-807C-B61E5AFC5B68}" type="datetimeFigureOut">
              <a:rPr lang="zh-TW" altLang="en-US" smtClean="0"/>
              <a:t>2014/7/15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C3BB-820F-486E-9B55-EFAC1C6F23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422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953A-8641-4DB2-807C-B61E5AFC5B68}" type="datetimeFigureOut">
              <a:rPr lang="zh-TW" altLang="en-US" smtClean="0"/>
              <a:t>2014/7/15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C3BB-820F-486E-9B55-EFAC1C6F23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014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953A-8641-4DB2-807C-B61E5AFC5B68}" type="datetimeFigureOut">
              <a:rPr lang="zh-TW" altLang="en-US" smtClean="0"/>
              <a:t>2014/7/15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C3BB-820F-486E-9B55-EFAC1C6F23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66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953A-8641-4DB2-807C-B61E5AFC5B68}" type="datetimeFigureOut">
              <a:rPr lang="zh-TW" altLang="en-US" smtClean="0"/>
              <a:t>2014/7/15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C3BB-820F-486E-9B55-EFAC1C6F23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6214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953A-8641-4DB2-807C-B61E5AFC5B68}" type="datetimeFigureOut">
              <a:rPr lang="zh-TW" altLang="en-US" smtClean="0"/>
              <a:t>2014/7/15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C3BB-820F-486E-9B55-EFAC1C6F23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219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953A-8641-4DB2-807C-B61E5AFC5B68}" type="datetimeFigureOut">
              <a:rPr lang="zh-TW" altLang="en-US" smtClean="0"/>
              <a:t>2014/7/15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2C3BB-820F-486E-9B55-EFAC1C6F23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239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A space-efficient algorithm for </a:t>
            </a:r>
            <a:r>
              <a:rPr lang="en-US" altLang="zh-TW" b="1" dirty="0" smtClean="0"/>
              <a:t>local similarities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r"/>
            <a:endParaRPr lang="en-US" altLang="zh-TW" i="1" dirty="0" smtClean="0"/>
          </a:p>
          <a:p>
            <a:pPr algn="r"/>
            <a:r>
              <a:rPr lang="en-US" altLang="zh-TW" i="1" dirty="0" err="1" smtClean="0"/>
              <a:t>Xiaoqiu</a:t>
            </a:r>
            <a:r>
              <a:rPr lang="en-US" altLang="zh-TW" i="1" dirty="0" smtClean="0"/>
              <a:t> </a:t>
            </a:r>
            <a:r>
              <a:rPr lang="en-US" altLang="zh-TW" i="1" dirty="0"/>
              <a:t>Huang, Ross C.Hardison</a:t>
            </a:r>
            <a:r>
              <a:rPr lang="en-US" altLang="zh-TW" i="1" baseline="30000" dirty="0"/>
              <a:t>1</a:t>
            </a:r>
            <a:r>
              <a:rPr lang="en-US" altLang="zh-TW" i="1" dirty="0"/>
              <a:t> and Webb </a:t>
            </a:r>
            <a:r>
              <a:rPr lang="en-US" altLang="zh-TW" i="1" dirty="0" smtClean="0"/>
              <a:t>Miller</a:t>
            </a:r>
            <a:r>
              <a:rPr lang="en-US" altLang="zh-TW" i="1" baseline="30000" dirty="0" smtClean="0"/>
              <a:t>2</a:t>
            </a:r>
          </a:p>
          <a:p>
            <a:pPr algn="r"/>
            <a:r>
              <a:rPr lang="en-US" altLang="zh-TW" b="1" i="1" dirty="0" smtClean="0"/>
              <a:t>CABIOS </a:t>
            </a:r>
            <a:r>
              <a:rPr lang="en-US" altLang="zh-TW" dirty="0" err="1" smtClean="0"/>
              <a:t>Vol</a:t>
            </a:r>
            <a:r>
              <a:rPr lang="en-US" altLang="zh-TW" dirty="0" smtClean="0"/>
              <a:t> 6</a:t>
            </a:r>
            <a:r>
              <a:rPr lang="en-US" altLang="zh-TW" dirty="0"/>
              <a:t>. no.4. </a:t>
            </a:r>
            <a:r>
              <a:rPr lang="en-US" altLang="zh-TW" dirty="0" smtClean="0"/>
              <a:t>1990  Pages </a:t>
            </a:r>
            <a:r>
              <a:rPr lang="en-US" altLang="zh-TW" dirty="0"/>
              <a:t>373 </a:t>
            </a:r>
            <a:r>
              <a:rPr lang="en-US" altLang="zh-TW" dirty="0" smtClean="0"/>
              <a:t>– 381</a:t>
            </a:r>
            <a:endParaRPr lang="en-US" altLang="zh-TW" baseline="30000" dirty="0" smtClean="0"/>
          </a:p>
          <a:p>
            <a:pPr algn="r"/>
            <a:r>
              <a:rPr lang="en-US" altLang="zh-TW" dirty="0" smtClean="0"/>
              <a:t>Presenter : Ding-Yao Huang</a:t>
            </a:r>
          </a:p>
          <a:p>
            <a:pPr algn="r"/>
            <a:r>
              <a:rPr lang="en-US" altLang="zh-TW" dirty="0" smtClean="0"/>
              <a:t>Date:2014/07/15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977208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Abstract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/>
              <a:t>Existing dynamic-programming algorithms for </a:t>
            </a:r>
            <a:r>
              <a:rPr lang="en-US" altLang="zh-TW" dirty="0" smtClean="0"/>
              <a:t>identifying similar </a:t>
            </a:r>
            <a:r>
              <a:rPr lang="en-US" altLang="zh-TW" dirty="0"/>
              <a:t>regions of two sequences require time and </a:t>
            </a:r>
            <a:r>
              <a:rPr lang="en-US" altLang="zh-TW" dirty="0" smtClean="0"/>
              <a:t>space proportional </a:t>
            </a:r>
            <a:r>
              <a:rPr lang="en-US" altLang="zh-TW" dirty="0"/>
              <a:t>to the product of the sequence lengths. </a:t>
            </a:r>
            <a:endParaRPr lang="en-US" altLang="zh-TW" dirty="0" smtClean="0"/>
          </a:p>
          <a:p>
            <a:r>
              <a:rPr lang="en-US" altLang="zh-TW" dirty="0" smtClean="0"/>
              <a:t>Often this space </a:t>
            </a:r>
            <a:r>
              <a:rPr lang="en-US" altLang="zh-TW" dirty="0"/>
              <a:t>requirement is more limiting than the time </a:t>
            </a:r>
            <a:r>
              <a:rPr lang="en-US" altLang="zh-TW" dirty="0" smtClean="0"/>
              <a:t>requirement. We </a:t>
            </a:r>
            <a:r>
              <a:rPr lang="en-US" altLang="zh-TW" dirty="0"/>
              <a:t>describe a dynamic-programming local-similarity </a:t>
            </a:r>
            <a:r>
              <a:rPr lang="en-US" altLang="zh-TW" dirty="0" smtClean="0"/>
              <a:t>algorithm that </a:t>
            </a:r>
            <a:r>
              <a:rPr lang="en-US" altLang="zh-TW" dirty="0"/>
              <a:t>needs only space proportional to the sum of the </a:t>
            </a:r>
            <a:r>
              <a:rPr lang="en-US" altLang="zh-TW" dirty="0" smtClean="0"/>
              <a:t>sequence lengths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method can also find repeats within a single </a:t>
            </a:r>
            <a:r>
              <a:rPr lang="en-US" altLang="zh-TW" dirty="0" smtClean="0"/>
              <a:t>long sequence</a:t>
            </a:r>
            <a:r>
              <a:rPr lang="en-US" altLang="zh-TW" dirty="0"/>
              <a:t>. To illustrate the algorithm's potential, we </a:t>
            </a:r>
            <a:r>
              <a:rPr lang="en-US" altLang="zh-TW" dirty="0" smtClean="0"/>
              <a:t>discuss comparison </a:t>
            </a:r>
            <a:r>
              <a:rPr lang="en-US" altLang="zh-TW" dirty="0"/>
              <a:t>of a </a:t>
            </a:r>
            <a:r>
              <a:rPr lang="en-US" altLang="zh-TW" dirty="0" smtClean="0"/>
              <a:t>73360 </a:t>
            </a:r>
            <a:r>
              <a:rPr lang="en-US" altLang="zh-TW" dirty="0"/>
              <a:t>nucleotide sequence containing </a:t>
            </a:r>
            <a:r>
              <a:rPr lang="en-US" altLang="zh-TW" dirty="0" smtClean="0"/>
              <a:t>the human </a:t>
            </a:r>
            <a:r>
              <a:rPr lang="el-GR" altLang="zh-TW" dirty="0" smtClean="0"/>
              <a:t>β</a:t>
            </a:r>
            <a:r>
              <a:rPr lang="en-US" altLang="zh-TW" dirty="0" smtClean="0"/>
              <a:t>-like </a:t>
            </a:r>
            <a:r>
              <a:rPr lang="en-US" altLang="zh-TW" dirty="0"/>
              <a:t>globin gene cluster and a corresponding </a:t>
            </a:r>
            <a:r>
              <a:rPr lang="en-US" altLang="zh-TW" dirty="0" smtClean="0"/>
              <a:t>44594 nucleotide </a:t>
            </a:r>
            <a:r>
              <a:rPr lang="en-US" altLang="zh-TW" dirty="0"/>
              <a:t>sequence for rabbit, a problem well beyond </a:t>
            </a:r>
            <a:r>
              <a:rPr lang="en-US" altLang="zh-TW" dirty="0" smtClean="0"/>
              <a:t>the capabilities </a:t>
            </a:r>
            <a:r>
              <a:rPr lang="en-US" altLang="zh-TW" dirty="0"/>
              <a:t>of other dynamic-programming software.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46780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Introduction(local alignment)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                           0</a:t>
            </a:r>
          </a:p>
          <a:p>
            <a:r>
              <a:rPr lang="en-US" altLang="zh-TW" dirty="0" smtClean="0"/>
              <a:t>F(</a:t>
            </a:r>
            <a:r>
              <a:rPr lang="en-US" altLang="zh-TW" dirty="0" err="1" smtClean="0"/>
              <a:t>i</a:t>
            </a:r>
            <a:r>
              <a:rPr lang="en-US" altLang="zh-TW" dirty="0"/>
              <a:t>, j) </a:t>
            </a:r>
            <a:r>
              <a:rPr lang="en-US" altLang="zh-TW" dirty="0" smtClean="0"/>
              <a:t>=</a:t>
            </a:r>
            <a:r>
              <a:rPr lang="en-US" altLang="zh-TW" dirty="0"/>
              <a:t>max </a:t>
            </a:r>
            <a:r>
              <a:rPr lang="en-US" altLang="zh-TW" dirty="0" smtClean="0"/>
              <a:t>   F(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– 1, j) – d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                          F(</a:t>
            </a:r>
            <a:r>
              <a:rPr lang="en-US" altLang="zh-TW" dirty="0" err="1" smtClean="0"/>
              <a:t>i</a:t>
            </a:r>
            <a:r>
              <a:rPr lang="en-US" altLang="zh-TW" dirty="0"/>
              <a:t>, j – 1) – d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               </a:t>
            </a:r>
            <a:r>
              <a:rPr lang="pl-PL" altLang="zh-TW" dirty="0"/>
              <a:t>F(i – 1, j – 1) + </a:t>
            </a:r>
            <a:r>
              <a:rPr lang="pl-PL" altLang="zh-TW" dirty="0" smtClean="0"/>
              <a:t>s(x</a:t>
            </a:r>
            <a:r>
              <a:rPr lang="en-US" altLang="zh-TW" baseline="-25000" dirty="0" err="1" smtClean="0"/>
              <a:t>i</a:t>
            </a:r>
            <a:r>
              <a:rPr lang="pl-PL" altLang="zh-TW" dirty="0" smtClean="0"/>
              <a:t>, </a:t>
            </a:r>
            <a:r>
              <a:rPr lang="pl-PL" altLang="zh-TW" dirty="0"/>
              <a:t>y</a:t>
            </a:r>
            <a:r>
              <a:rPr lang="pl-PL" altLang="zh-TW" baseline="-25000" dirty="0"/>
              <a:t>j</a:t>
            </a:r>
            <a:r>
              <a:rPr lang="pl-PL" altLang="zh-TW" dirty="0"/>
              <a:t>)</a:t>
            </a:r>
            <a:endParaRPr lang="zh-TW" altLang="en-US" dirty="0"/>
          </a:p>
        </p:txBody>
      </p:sp>
      <p:sp>
        <p:nvSpPr>
          <p:cNvPr id="4" name="左大括弧 3"/>
          <p:cNvSpPr/>
          <p:nvPr/>
        </p:nvSpPr>
        <p:spPr>
          <a:xfrm>
            <a:off x="2598057" y="2002971"/>
            <a:ext cx="232229" cy="168365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 flipH="1" flipV="1">
            <a:off x="5348513" y="2467429"/>
            <a:ext cx="2" cy="377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>
            <a:off x="5116283" y="3178631"/>
            <a:ext cx="50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 flipV="1">
            <a:off x="6342744" y="3570514"/>
            <a:ext cx="348342" cy="26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81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Introduction(local alignment)</a:t>
            </a:r>
            <a:endParaRPr lang="zh-TW" altLang="en-US" dirty="0"/>
          </a:p>
        </p:txBody>
      </p:sp>
      <p:graphicFrame>
        <p:nvGraphicFramePr>
          <p:cNvPr id="12" name="內容版面配置區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147982"/>
              </p:ext>
            </p:extLst>
          </p:nvPr>
        </p:nvGraphicFramePr>
        <p:xfrm>
          <a:off x="3381146" y="1784806"/>
          <a:ext cx="5529944" cy="410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243"/>
                <a:gridCol w="691243"/>
                <a:gridCol w="691243"/>
                <a:gridCol w="691243"/>
                <a:gridCol w="691243"/>
                <a:gridCol w="691243"/>
                <a:gridCol w="691243"/>
                <a:gridCol w="691243"/>
              </a:tblGrid>
              <a:tr h="58617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3308576" y="1690689"/>
            <a:ext cx="707343" cy="796925"/>
            <a:chOff x="4005" y="1841"/>
            <a:chExt cx="473" cy="502"/>
          </a:xfrm>
        </p:grpSpPr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4005" y="2051"/>
              <a:ext cx="243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dirty="0" smtClean="0">
                  <a:latin typeface="Comic Sans MS" panose="030F0702030302020204" pitchFamily="66" charset="0"/>
                  <a:ea typeface="新細明體" panose="02020500000000000000" pitchFamily="18" charset="-120"/>
                </a:rPr>
                <a:t>x</a:t>
              </a:r>
              <a:endParaRPr lang="en-US" altLang="zh-TW" dirty="0">
                <a:latin typeface="Comic Sans MS" panose="030F0702030302020204" pitchFamily="66" charset="0"/>
                <a:ea typeface="新細明體" panose="02020500000000000000" pitchFamily="18" charset="-120"/>
              </a:endParaRPr>
            </a:p>
          </p:txBody>
        </p: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4233" y="1841"/>
              <a:ext cx="229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dirty="0" smtClean="0">
                  <a:latin typeface="Comic Sans MS" panose="030F0702030302020204" pitchFamily="66" charset="0"/>
                  <a:ea typeface="新細明體" panose="02020500000000000000" pitchFamily="18" charset="-120"/>
                </a:rPr>
                <a:t>y</a:t>
              </a:r>
              <a:endParaRPr lang="en-US" altLang="zh-TW" dirty="0">
                <a:latin typeface="Comic Sans MS" panose="030F0702030302020204" pitchFamily="66" charset="0"/>
                <a:ea typeface="新細明體" panose="02020500000000000000" pitchFamily="18" charset="-120"/>
              </a:endParaRPr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>
              <a:off x="4102" y="1946"/>
              <a:ext cx="376" cy="3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zh-TW" altLang="en-US"/>
            </a:p>
          </p:txBody>
        </p:sp>
      </p:grp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325209" y="3569381"/>
            <a:ext cx="2497138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i="1" dirty="0">
                <a:latin typeface="Comic Sans MS" panose="030F0702030302020204" pitchFamily="66" charset="0"/>
                <a:ea typeface="新細明體" panose="02020500000000000000" pitchFamily="18" charset="-120"/>
              </a:rPr>
              <a:t>x</a:t>
            </a:r>
            <a:r>
              <a:rPr lang="en-US" altLang="zh-TW" sz="2800" dirty="0" smtClean="0"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ea typeface="新細明體" panose="02020500000000000000" pitchFamily="18" charset="-120"/>
              </a:rPr>
              <a:t>=</a:t>
            </a: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latin typeface="Courier New" panose="02070309020205020404" pitchFamily="49" charset="0"/>
                <a:ea typeface="新細明體" panose="02020500000000000000" pitchFamily="18" charset="-120"/>
              </a:rPr>
              <a:t>TAATA</a:t>
            </a:r>
            <a:endParaRPr lang="en-US" altLang="zh-TW" sz="2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i="1" dirty="0" smtClean="0">
                <a:latin typeface="Comic Sans MS" panose="030F0702030302020204" pitchFamily="66" charset="0"/>
                <a:ea typeface="新細明體" panose="02020500000000000000" pitchFamily="18" charset="-120"/>
              </a:rPr>
              <a:t>Y</a:t>
            </a:r>
            <a:r>
              <a:rPr lang="en-US" altLang="zh-TW" sz="2800" dirty="0" smtClean="0">
                <a:latin typeface="Comic Sans MS" panose="030F0702030302020204" pitchFamily="66" charset="0"/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ea typeface="新細明體" panose="02020500000000000000" pitchFamily="18" charset="-120"/>
              </a:rPr>
              <a:t>=</a:t>
            </a: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800" dirty="0" smtClean="0">
                <a:latin typeface="Courier New" panose="02070309020205020404" pitchFamily="49" charset="0"/>
                <a:ea typeface="新細明體" panose="02020500000000000000" pitchFamily="18" charset="-120"/>
              </a:rPr>
              <a:t>TACTAA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dirty="0" smtClean="0">
              <a:latin typeface="Courier New" panose="02070309020205020404" pitchFamily="49" charset="0"/>
              <a:ea typeface="新細明體" panose="02020500000000000000" pitchFamily="18" charset="-12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d=2</a:t>
            </a:r>
          </a:p>
          <a:p>
            <a:pPr>
              <a:buNone/>
            </a:pPr>
            <a:r>
              <a:rPr lang="pl-PL" altLang="zh-TW" sz="20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s(x</a:t>
            </a:r>
            <a:r>
              <a:rPr lang="en-US" altLang="zh-TW" sz="2000" baseline="-25000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</a:t>
            </a:r>
            <a:r>
              <a:rPr lang="pl-PL" altLang="zh-TW" sz="20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, y</a:t>
            </a:r>
            <a:r>
              <a:rPr lang="pl-PL" altLang="zh-TW" sz="2000" baseline="-250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j</a:t>
            </a:r>
            <a:r>
              <a:rPr lang="pl-PL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)</a:t>
            </a:r>
            <a:r>
              <a:rPr lang="en-US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=1 if match</a:t>
            </a:r>
          </a:p>
          <a:p>
            <a:pPr>
              <a:buNone/>
            </a:pPr>
            <a:r>
              <a:rPr lang="en-US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          =-1 else</a:t>
            </a:r>
            <a:endParaRPr lang="zh-TW" altLang="en-US" sz="20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cxnSp>
        <p:nvCxnSpPr>
          <p:cNvPr id="15" name="直線單箭頭接點 14"/>
          <p:cNvCxnSpPr/>
          <p:nvPr/>
        </p:nvCxnSpPr>
        <p:spPr>
          <a:xfrm flipH="1" flipV="1">
            <a:off x="5340576" y="3439886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 flipV="1">
            <a:off x="4614862" y="2768602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 flipV="1">
            <a:off x="7372577" y="3453267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 flipV="1">
            <a:off x="6697661" y="2768602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 flipV="1">
            <a:off x="8076519" y="3424239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內容版面配置區 2"/>
          <p:cNvSpPr txBox="1">
            <a:spLocks/>
          </p:cNvSpPr>
          <p:nvPr/>
        </p:nvSpPr>
        <p:spPr>
          <a:xfrm>
            <a:off x="0" y="1346653"/>
            <a:ext cx="3943350" cy="1654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 smtClean="0"/>
              <a:t>                           0</a:t>
            </a:r>
          </a:p>
          <a:p>
            <a:pPr marL="0" indent="0">
              <a:buNone/>
            </a:pPr>
            <a:r>
              <a:rPr lang="en-US" altLang="zh-TW" sz="1800" dirty="0" smtClean="0"/>
              <a:t>F(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, j) =max   F(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 – 1, j) – 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 smtClean="0"/>
              <a:t>                       F(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, j – 1) – 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 smtClean="0"/>
              <a:t>	      </a:t>
            </a:r>
            <a:r>
              <a:rPr lang="pl-PL" altLang="zh-TW" sz="1800" dirty="0" smtClean="0"/>
              <a:t>F(i – 1, j – 1) + s(x</a:t>
            </a:r>
            <a:r>
              <a:rPr lang="en-US" altLang="zh-TW" sz="1800" baseline="-25000" dirty="0" err="1" smtClean="0"/>
              <a:t>i</a:t>
            </a:r>
            <a:r>
              <a:rPr lang="pl-PL" altLang="zh-TW" sz="1800" dirty="0" smtClean="0"/>
              <a:t>, y</a:t>
            </a:r>
            <a:r>
              <a:rPr lang="pl-PL" altLang="zh-TW" sz="1800" baseline="-25000" dirty="0" smtClean="0"/>
              <a:t>j</a:t>
            </a:r>
            <a:r>
              <a:rPr lang="pl-PL" altLang="zh-TW" sz="1800" dirty="0" smtClean="0"/>
              <a:t>)</a:t>
            </a:r>
            <a:endParaRPr lang="zh-TW" altLang="en-US" sz="1800" dirty="0"/>
          </a:p>
        </p:txBody>
      </p:sp>
      <p:sp>
        <p:nvSpPr>
          <p:cNvPr id="21" name="左大括弧 20"/>
          <p:cNvSpPr/>
          <p:nvPr/>
        </p:nvSpPr>
        <p:spPr>
          <a:xfrm>
            <a:off x="1132114" y="1346653"/>
            <a:ext cx="145143" cy="14219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808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Introduction(local alignment)</a:t>
            </a:r>
            <a:endParaRPr lang="zh-TW" altLang="en-US" dirty="0"/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325209" y="3569381"/>
            <a:ext cx="2497138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i="1" dirty="0">
                <a:latin typeface="Comic Sans MS" panose="030F0702030302020204" pitchFamily="66" charset="0"/>
                <a:ea typeface="新細明體" panose="02020500000000000000" pitchFamily="18" charset="-120"/>
              </a:rPr>
              <a:t>x</a:t>
            </a:r>
            <a:r>
              <a:rPr lang="en-US" altLang="zh-TW" sz="2800" dirty="0" smtClean="0"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ea typeface="新細明體" panose="02020500000000000000" pitchFamily="18" charset="-120"/>
              </a:rPr>
              <a:t>=</a:t>
            </a: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latin typeface="Courier New" panose="02070309020205020404" pitchFamily="49" charset="0"/>
                <a:ea typeface="新細明體" panose="02020500000000000000" pitchFamily="18" charset="-120"/>
              </a:rPr>
              <a:t>TAATA</a:t>
            </a:r>
            <a:endParaRPr lang="en-US" altLang="zh-TW" sz="2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i="1" dirty="0" smtClean="0">
                <a:latin typeface="Comic Sans MS" panose="030F0702030302020204" pitchFamily="66" charset="0"/>
                <a:ea typeface="新細明體" panose="02020500000000000000" pitchFamily="18" charset="-120"/>
              </a:rPr>
              <a:t>Y</a:t>
            </a:r>
            <a:r>
              <a:rPr lang="en-US" altLang="zh-TW" sz="2800" dirty="0" smtClean="0">
                <a:latin typeface="Comic Sans MS" panose="030F0702030302020204" pitchFamily="66" charset="0"/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ea typeface="新細明體" panose="02020500000000000000" pitchFamily="18" charset="-120"/>
              </a:rPr>
              <a:t>=</a:t>
            </a: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800" dirty="0" smtClean="0">
                <a:latin typeface="Courier New" panose="02070309020205020404" pitchFamily="49" charset="0"/>
                <a:ea typeface="新細明體" panose="02020500000000000000" pitchFamily="18" charset="-120"/>
              </a:rPr>
              <a:t>TACTAA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dirty="0" smtClean="0">
              <a:latin typeface="Courier New" panose="02070309020205020404" pitchFamily="49" charset="0"/>
              <a:ea typeface="新細明體" panose="02020500000000000000" pitchFamily="18" charset="-12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d=2</a:t>
            </a:r>
          </a:p>
          <a:p>
            <a:pPr>
              <a:buNone/>
            </a:pPr>
            <a:r>
              <a:rPr lang="pl-PL" altLang="zh-TW" sz="20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s(x</a:t>
            </a:r>
            <a:r>
              <a:rPr lang="en-US" altLang="zh-TW" sz="2000" baseline="-25000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</a:t>
            </a:r>
            <a:r>
              <a:rPr lang="pl-PL" altLang="zh-TW" sz="20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, y</a:t>
            </a:r>
            <a:r>
              <a:rPr lang="pl-PL" altLang="zh-TW" sz="2000" baseline="-250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j</a:t>
            </a:r>
            <a:r>
              <a:rPr lang="pl-PL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)</a:t>
            </a:r>
            <a:r>
              <a:rPr lang="en-US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=1 if match</a:t>
            </a:r>
          </a:p>
          <a:p>
            <a:pPr>
              <a:buNone/>
            </a:pPr>
            <a:r>
              <a:rPr lang="en-US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          =-1 else</a:t>
            </a:r>
            <a:endParaRPr lang="zh-TW" altLang="en-US" sz="20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20" name="內容版面配置區 2"/>
          <p:cNvSpPr txBox="1">
            <a:spLocks/>
          </p:cNvSpPr>
          <p:nvPr/>
        </p:nvSpPr>
        <p:spPr>
          <a:xfrm>
            <a:off x="0" y="1346653"/>
            <a:ext cx="3943350" cy="1654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 smtClean="0"/>
              <a:t>                           0</a:t>
            </a:r>
          </a:p>
          <a:p>
            <a:pPr marL="0" indent="0">
              <a:buNone/>
            </a:pPr>
            <a:r>
              <a:rPr lang="en-US" altLang="zh-TW" sz="1800" dirty="0" smtClean="0"/>
              <a:t>F(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, j) =max   F(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 – 1, j) – 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 smtClean="0"/>
              <a:t>                       F(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, j – 1) – 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 smtClean="0"/>
              <a:t>	      </a:t>
            </a:r>
            <a:r>
              <a:rPr lang="pl-PL" altLang="zh-TW" sz="1800" dirty="0" smtClean="0"/>
              <a:t>F(i – 1, j – 1) + s(x</a:t>
            </a:r>
            <a:r>
              <a:rPr lang="en-US" altLang="zh-TW" sz="1800" baseline="-25000" dirty="0" err="1" smtClean="0"/>
              <a:t>i</a:t>
            </a:r>
            <a:r>
              <a:rPr lang="pl-PL" altLang="zh-TW" sz="1800" dirty="0" smtClean="0"/>
              <a:t>, y</a:t>
            </a:r>
            <a:r>
              <a:rPr lang="pl-PL" altLang="zh-TW" sz="1800" baseline="-25000" dirty="0" smtClean="0"/>
              <a:t>j</a:t>
            </a:r>
            <a:r>
              <a:rPr lang="pl-PL" altLang="zh-TW" sz="1800" dirty="0" smtClean="0"/>
              <a:t>)</a:t>
            </a:r>
            <a:endParaRPr lang="zh-TW" altLang="en-US" sz="1800" dirty="0"/>
          </a:p>
        </p:txBody>
      </p:sp>
      <p:sp>
        <p:nvSpPr>
          <p:cNvPr id="21" name="左大括弧 20"/>
          <p:cNvSpPr/>
          <p:nvPr/>
        </p:nvSpPr>
        <p:spPr>
          <a:xfrm>
            <a:off x="1132114" y="1346653"/>
            <a:ext cx="145143" cy="14219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1" name="內容版面配置區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5484914"/>
              </p:ext>
            </p:extLst>
          </p:nvPr>
        </p:nvGraphicFramePr>
        <p:xfrm>
          <a:off x="3396342" y="1784806"/>
          <a:ext cx="5529944" cy="410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243"/>
                <a:gridCol w="691243"/>
                <a:gridCol w="691243"/>
                <a:gridCol w="691243"/>
                <a:gridCol w="691243"/>
                <a:gridCol w="691243"/>
                <a:gridCol w="691243"/>
                <a:gridCol w="691243"/>
              </a:tblGrid>
              <a:tr h="58617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2" name="群組 41"/>
          <p:cNvGrpSpPr/>
          <p:nvPr/>
        </p:nvGrpSpPr>
        <p:grpSpPr>
          <a:xfrm>
            <a:off x="3323772" y="1690689"/>
            <a:ext cx="707343" cy="797221"/>
            <a:chOff x="3048000" y="1690689"/>
            <a:chExt cx="707343" cy="797221"/>
          </a:xfrm>
        </p:grpSpPr>
        <p:sp>
          <p:nvSpPr>
            <p:cNvPr id="43" name="Text Box 11"/>
            <p:cNvSpPr txBox="1">
              <a:spLocks noChangeArrowheads="1"/>
            </p:cNvSpPr>
            <p:nvPr/>
          </p:nvSpPr>
          <p:spPr bwMode="auto">
            <a:xfrm>
              <a:off x="3048000" y="2024064"/>
              <a:ext cx="362898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dirty="0" smtClean="0">
                  <a:latin typeface="Comic Sans MS" panose="030F0702030302020204" pitchFamily="66" charset="0"/>
                  <a:ea typeface="新細明體" panose="02020500000000000000" pitchFamily="18" charset="-120"/>
                </a:rPr>
                <a:t>x</a:t>
              </a:r>
              <a:endParaRPr lang="en-US" altLang="zh-TW" dirty="0">
                <a:latin typeface="Comic Sans MS" panose="030F0702030302020204" pitchFamily="66" charset="0"/>
                <a:ea typeface="新細明體" panose="02020500000000000000" pitchFamily="18" charset="-120"/>
              </a:endParaRPr>
            </a:p>
          </p:txBody>
        </p:sp>
        <p:sp>
          <p:nvSpPr>
            <p:cNvPr id="44" name="Text Box 12"/>
            <p:cNvSpPr txBox="1">
              <a:spLocks noChangeArrowheads="1"/>
            </p:cNvSpPr>
            <p:nvPr/>
          </p:nvSpPr>
          <p:spPr bwMode="auto">
            <a:xfrm>
              <a:off x="3388960" y="1690689"/>
              <a:ext cx="342058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dirty="0" smtClean="0">
                  <a:latin typeface="Comic Sans MS" panose="030F0702030302020204" pitchFamily="66" charset="0"/>
                  <a:ea typeface="新細明體" panose="02020500000000000000" pitchFamily="18" charset="-120"/>
                </a:rPr>
                <a:t>y</a:t>
              </a:r>
              <a:endParaRPr lang="en-US" altLang="zh-TW" dirty="0">
                <a:latin typeface="Comic Sans MS" panose="030F0702030302020204" pitchFamily="66" charset="0"/>
                <a:ea typeface="新細明體" panose="02020500000000000000" pitchFamily="18" charset="-120"/>
              </a:endParaRPr>
            </a:p>
          </p:txBody>
        </p:sp>
        <p:sp>
          <p:nvSpPr>
            <p:cNvPr id="45" name="Line 13"/>
            <p:cNvSpPr>
              <a:spLocks noChangeShapeType="1"/>
            </p:cNvSpPr>
            <p:nvPr/>
          </p:nvSpPr>
          <p:spPr bwMode="auto">
            <a:xfrm>
              <a:off x="3193058" y="1857377"/>
              <a:ext cx="562285" cy="4937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zh-TW" altLang="en-US"/>
            </a:p>
          </p:txBody>
        </p:sp>
      </p:grpSp>
      <p:cxnSp>
        <p:nvCxnSpPr>
          <p:cNvPr id="46" name="直線單箭頭接點 45"/>
          <p:cNvCxnSpPr/>
          <p:nvPr/>
        </p:nvCxnSpPr>
        <p:spPr>
          <a:xfrm flipH="1" flipV="1">
            <a:off x="5355772" y="3439886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H="1" flipV="1">
            <a:off x="4630058" y="2768602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H="1" flipV="1">
            <a:off x="7387773" y="3453267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H="1" flipV="1">
            <a:off x="6712857" y="2768602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H="1" flipV="1">
            <a:off x="8091715" y="3424239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 flipH="1" flipV="1">
            <a:off x="5308601" y="3998686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flipH="1" flipV="1">
            <a:off x="5308601" y="5158922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6712857" y="4573363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H="1" flipV="1">
            <a:off x="6070601" y="3991654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 flipH="1" flipV="1">
            <a:off x="7322458" y="5158922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H="1" flipV="1">
            <a:off x="8091715" y="3984397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 flipV="1">
            <a:off x="8548915" y="4573365"/>
            <a:ext cx="2" cy="232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 flipH="1">
            <a:off x="8080830" y="5608864"/>
            <a:ext cx="2394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78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Introduction(local alignment)</a:t>
            </a:r>
            <a:endParaRPr lang="zh-TW" altLang="en-US" dirty="0"/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325209" y="3569381"/>
            <a:ext cx="2497138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i="1" dirty="0">
                <a:latin typeface="Comic Sans MS" panose="030F0702030302020204" pitchFamily="66" charset="0"/>
                <a:ea typeface="新細明體" panose="02020500000000000000" pitchFamily="18" charset="-120"/>
              </a:rPr>
              <a:t>x</a:t>
            </a:r>
            <a:r>
              <a:rPr lang="en-US" altLang="zh-TW" sz="2800" dirty="0" smtClean="0"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ea typeface="新細明體" panose="02020500000000000000" pitchFamily="18" charset="-120"/>
              </a:rPr>
              <a:t>=</a:t>
            </a: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800" b="1" dirty="0">
                <a:solidFill>
                  <a:srgbClr val="00B050"/>
                </a:solidFill>
                <a:latin typeface="Courier New" panose="02070309020205020404" pitchFamily="49" charset="0"/>
                <a:ea typeface="新細明體" panose="02020500000000000000" pitchFamily="18" charset="-120"/>
              </a:rPr>
              <a:t>TAATA</a:t>
            </a:r>
            <a:endParaRPr lang="en-US" altLang="zh-TW" sz="2800" b="1" dirty="0">
              <a:solidFill>
                <a:srgbClr val="00B05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i="1" dirty="0" smtClean="0">
                <a:latin typeface="Comic Sans MS" panose="030F0702030302020204" pitchFamily="66" charset="0"/>
                <a:ea typeface="新細明體" panose="02020500000000000000" pitchFamily="18" charset="-120"/>
              </a:rPr>
              <a:t>Y</a:t>
            </a:r>
            <a:r>
              <a:rPr lang="en-US" altLang="zh-TW" sz="2800" dirty="0" smtClean="0">
                <a:latin typeface="Comic Sans MS" panose="030F0702030302020204" pitchFamily="66" charset="0"/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ea typeface="新細明體" panose="02020500000000000000" pitchFamily="18" charset="-120"/>
              </a:rPr>
              <a:t>=</a:t>
            </a: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800" b="1" dirty="0" smtClean="0">
                <a:solidFill>
                  <a:srgbClr val="00B050"/>
                </a:solidFill>
                <a:latin typeface="Courier New" panose="02070309020205020404" pitchFamily="49" charset="0"/>
                <a:ea typeface="新細明體" panose="02020500000000000000" pitchFamily="18" charset="-120"/>
              </a:rPr>
              <a:t>TACTA</a:t>
            </a:r>
            <a:r>
              <a:rPr lang="en-US" altLang="zh-TW" sz="2800" dirty="0" smtClean="0">
                <a:latin typeface="Courier New" panose="02070309020205020404" pitchFamily="49" charset="0"/>
                <a:ea typeface="新細明體" panose="02020500000000000000" pitchFamily="18" charset="-120"/>
              </a:rPr>
              <a:t>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dirty="0" smtClean="0">
              <a:latin typeface="Courier New" panose="02070309020205020404" pitchFamily="49" charset="0"/>
              <a:ea typeface="新細明體" panose="02020500000000000000" pitchFamily="18" charset="-12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d=2</a:t>
            </a:r>
          </a:p>
          <a:p>
            <a:pPr>
              <a:buNone/>
            </a:pPr>
            <a:r>
              <a:rPr lang="pl-PL" altLang="zh-TW" sz="20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s(x</a:t>
            </a:r>
            <a:r>
              <a:rPr lang="en-US" altLang="zh-TW" sz="2000" baseline="-25000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</a:t>
            </a:r>
            <a:r>
              <a:rPr lang="pl-PL" altLang="zh-TW" sz="20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, y</a:t>
            </a:r>
            <a:r>
              <a:rPr lang="pl-PL" altLang="zh-TW" sz="2000" baseline="-250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j</a:t>
            </a:r>
            <a:r>
              <a:rPr lang="pl-PL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)</a:t>
            </a:r>
            <a:r>
              <a:rPr lang="en-US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=1 if match</a:t>
            </a:r>
          </a:p>
          <a:p>
            <a:pPr>
              <a:buNone/>
            </a:pPr>
            <a:r>
              <a:rPr lang="en-US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          =-1 else</a:t>
            </a:r>
            <a:endParaRPr lang="zh-TW" altLang="en-US" sz="20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20" name="內容版面配置區 2"/>
          <p:cNvSpPr txBox="1">
            <a:spLocks/>
          </p:cNvSpPr>
          <p:nvPr/>
        </p:nvSpPr>
        <p:spPr>
          <a:xfrm>
            <a:off x="0" y="1346653"/>
            <a:ext cx="3943350" cy="1654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 smtClean="0"/>
              <a:t>                           0</a:t>
            </a:r>
          </a:p>
          <a:p>
            <a:pPr marL="0" indent="0">
              <a:buNone/>
            </a:pPr>
            <a:r>
              <a:rPr lang="en-US" altLang="zh-TW" sz="1800" dirty="0" smtClean="0"/>
              <a:t>F(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, j) =max   F(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 – 1, j) – 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 smtClean="0"/>
              <a:t>                       F(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, j – 1) – 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 smtClean="0"/>
              <a:t>	      </a:t>
            </a:r>
            <a:r>
              <a:rPr lang="pl-PL" altLang="zh-TW" sz="1800" dirty="0" smtClean="0"/>
              <a:t>F(i – 1, j – 1) + s(x</a:t>
            </a:r>
            <a:r>
              <a:rPr lang="en-US" altLang="zh-TW" sz="1800" baseline="-25000" dirty="0" err="1" smtClean="0"/>
              <a:t>i</a:t>
            </a:r>
            <a:r>
              <a:rPr lang="pl-PL" altLang="zh-TW" sz="1800" dirty="0" smtClean="0"/>
              <a:t>, y</a:t>
            </a:r>
            <a:r>
              <a:rPr lang="pl-PL" altLang="zh-TW" sz="1800" baseline="-25000" dirty="0" smtClean="0"/>
              <a:t>j</a:t>
            </a:r>
            <a:r>
              <a:rPr lang="pl-PL" altLang="zh-TW" sz="1800" dirty="0" smtClean="0"/>
              <a:t>)</a:t>
            </a:r>
            <a:endParaRPr lang="zh-TW" altLang="en-US" sz="1800" dirty="0"/>
          </a:p>
        </p:txBody>
      </p:sp>
      <p:sp>
        <p:nvSpPr>
          <p:cNvPr id="21" name="左大括弧 20"/>
          <p:cNvSpPr/>
          <p:nvPr/>
        </p:nvSpPr>
        <p:spPr>
          <a:xfrm>
            <a:off x="1132114" y="1346653"/>
            <a:ext cx="145143" cy="14219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1" name="內容版面配置區 11"/>
          <p:cNvGraphicFramePr>
            <a:graphicFrameLocks/>
          </p:cNvGraphicFramePr>
          <p:nvPr/>
        </p:nvGraphicFramePr>
        <p:xfrm>
          <a:off x="3396342" y="1784806"/>
          <a:ext cx="5529944" cy="410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243"/>
                <a:gridCol w="691243"/>
                <a:gridCol w="691243"/>
                <a:gridCol w="691243"/>
                <a:gridCol w="691243"/>
                <a:gridCol w="691243"/>
                <a:gridCol w="691243"/>
                <a:gridCol w="691243"/>
              </a:tblGrid>
              <a:tr h="58617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2" name="群組 41"/>
          <p:cNvGrpSpPr/>
          <p:nvPr/>
        </p:nvGrpSpPr>
        <p:grpSpPr>
          <a:xfrm>
            <a:off x="3323772" y="1690689"/>
            <a:ext cx="707343" cy="797221"/>
            <a:chOff x="3048000" y="1690689"/>
            <a:chExt cx="707343" cy="797221"/>
          </a:xfrm>
        </p:grpSpPr>
        <p:sp>
          <p:nvSpPr>
            <p:cNvPr id="43" name="Text Box 11"/>
            <p:cNvSpPr txBox="1">
              <a:spLocks noChangeArrowheads="1"/>
            </p:cNvSpPr>
            <p:nvPr/>
          </p:nvSpPr>
          <p:spPr bwMode="auto">
            <a:xfrm>
              <a:off x="3048000" y="2024064"/>
              <a:ext cx="362898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dirty="0" smtClean="0">
                  <a:latin typeface="Comic Sans MS" panose="030F0702030302020204" pitchFamily="66" charset="0"/>
                  <a:ea typeface="新細明體" panose="02020500000000000000" pitchFamily="18" charset="-120"/>
                </a:rPr>
                <a:t>x</a:t>
              </a:r>
              <a:endParaRPr lang="en-US" altLang="zh-TW" dirty="0">
                <a:latin typeface="Comic Sans MS" panose="030F0702030302020204" pitchFamily="66" charset="0"/>
                <a:ea typeface="新細明體" panose="02020500000000000000" pitchFamily="18" charset="-120"/>
              </a:endParaRPr>
            </a:p>
          </p:txBody>
        </p:sp>
        <p:sp>
          <p:nvSpPr>
            <p:cNvPr id="44" name="Text Box 12"/>
            <p:cNvSpPr txBox="1">
              <a:spLocks noChangeArrowheads="1"/>
            </p:cNvSpPr>
            <p:nvPr/>
          </p:nvSpPr>
          <p:spPr bwMode="auto">
            <a:xfrm>
              <a:off x="3388960" y="1690689"/>
              <a:ext cx="342058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dirty="0" smtClean="0">
                  <a:latin typeface="Comic Sans MS" panose="030F0702030302020204" pitchFamily="66" charset="0"/>
                  <a:ea typeface="新細明體" panose="02020500000000000000" pitchFamily="18" charset="-120"/>
                </a:rPr>
                <a:t>y</a:t>
              </a:r>
              <a:endParaRPr lang="en-US" altLang="zh-TW" dirty="0">
                <a:latin typeface="Comic Sans MS" panose="030F0702030302020204" pitchFamily="66" charset="0"/>
                <a:ea typeface="新細明體" panose="02020500000000000000" pitchFamily="18" charset="-120"/>
              </a:endParaRPr>
            </a:p>
          </p:txBody>
        </p:sp>
        <p:sp>
          <p:nvSpPr>
            <p:cNvPr id="45" name="Line 13"/>
            <p:cNvSpPr>
              <a:spLocks noChangeShapeType="1"/>
            </p:cNvSpPr>
            <p:nvPr/>
          </p:nvSpPr>
          <p:spPr bwMode="auto">
            <a:xfrm>
              <a:off x="3193058" y="1857377"/>
              <a:ext cx="562285" cy="4937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zh-TW" altLang="en-US"/>
            </a:p>
          </p:txBody>
        </p:sp>
      </p:grpSp>
      <p:cxnSp>
        <p:nvCxnSpPr>
          <p:cNvPr id="46" name="直線單箭頭接點 45"/>
          <p:cNvCxnSpPr/>
          <p:nvPr/>
        </p:nvCxnSpPr>
        <p:spPr>
          <a:xfrm flipH="1" flipV="1">
            <a:off x="5355772" y="3439886"/>
            <a:ext cx="217714" cy="232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H="1" flipV="1">
            <a:off x="4630058" y="2768602"/>
            <a:ext cx="217714" cy="232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H="1" flipV="1">
            <a:off x="7387773" y="3453267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H="1" flipV="1">
            <a:off x="6712857" y="2768602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H="1" flipV="1">
            <a:off x="8091715" y="3424239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 flipH="1" flipV="1">
            <a:off x="5308601" y="3998686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flipH="1" flipV="1">
            <a:off x="5308601" y="5158922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6712857" y="4573363"/>
            <a:ext cx="217714" cy="232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H="1" flipV="1">
            <a:off x="6070601" y="3991654"/>
            <a:ext cx="217714" cy="232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 flipH="1" flipV="1">
            <a:off x="7322458" y="5158922"/>
            <a:ext cx="217714" cy="232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H="1" flipV="1">
            <a:off x="8091715" y="3984397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 flipV="1">
            <a:off x="8548915" y="4573365"/>
            <a:ext cx="2" cy="232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Oval 19"/>
          <p:cNvSpPr>
            <a:spLocks noChangeArrowheads="1"/>
          </p:cNvSpPr>
          <p:nvPr/>
        </p:nvSpPr>
        <p:spPr bwMode="auto">
          <a:xfrm>
            <a:off x="7540172" y="5343751"/>
            <a:ext cx="530225" cy="5302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zh-TW" altLang="en-US"/>
          </a:p>
        </p:txBody>
      </p:sp>
      <p:cxnSp>
        <p:nvCxnSpPr>
          <p:cNvPr id="24" name="直線單箭頭接點 23"/>
          <p:cNvCxnSpPr/>
          <p:nvPr/>
        </p:nvCxnSpPr>
        <p:spPr>
          <a:xfrm flipH="1">
            <a:off x="8080830" y="5608864"/>
            <a:ext cx="2394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25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Introduction(local alignment)</a:t>
            </a:r>
            <a:endParaRPr lang="zh-TW" altLang="en-US" dirty="0"/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325209" y="3569381"/>
            <a:ext cx="2497138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i="1" dirty="0">
                <a:latin typeface="Comic Sans MS" panose="030F0702030302020204" pitchFamily="66" charset="0"/>
                <a:ea typeface="新細明體" panose="02020500000000000000" pitchFamily="18" charset="-120"/>
              </a:rPr>
              <a:t>x</a:t>
            </a:r>
            <a:r>
              <a:rPr lang="en-US" altLang="zh-TW" sz="2800" dirty="0" smtClean="0"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ea typeface="新細明體" panose="02020500000000000000" pitchFamily="18" charset="-120"/>
              </a:rPr>
              <a:t>=</a:t>
            </a: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800" dirty="0" smtClean="0">
                <a:latin typeface="Times New Roman" panose="02020603050405020304" pitchFamily="18" charset="0"/>
                <a:ea typeface="新細明體" panose="02020500000000000000" pitchFamily="18" charset="-120"/>
              </a:rPr>
              <a:t>       </a:t>
            </a:r>
            <a:r>
              <a:rPr lang="en-US" altLang="zh-TW" sz="2800" b="1" dirty="0" smtClean="0">
                <a:solidFill>
                  <a:srgbClr val="00B050"/>
                </a:solidFill>
                <a:latin typeface="Courier New" panose="02070309020205020404" pitchFamily="49" charset="0"/>
                <a:ea typeface="新細明體" panose="02020500000000000000" pitchFamily="18" charset="-120"/>
              </a:rPr>
              <a:t>TAA</a:t>
            </a:r>
            <a:r>
              <a:rPr lang="en-US" altLang="zh-TW" sz="2800" dirty="0" smtClean="0">
                <a:latin typeface="Courier New" panose="02070309020205020404" pitchFamily="49" charset="0"/>
                <a:ea typeface="新細明體" panose="02020500000000000000" pitchFamily="18" charset="-120"/>
              </a:rPr>
              <a:t>TA</a:t>
            </a:r>
            <a:endParaRPr lang="en-US" altLang="zh-TW" sz="2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i="1" dirty="0" smtClean="0">
                <a:latin typeface="Comic Sans MS" panose="030F0702030302020204" pitchFamily="66" charset="0"/>
                <a:ea typeface="新細明體" panose="02020500000000000000" pitchFamily="18" charset="-120"/>
              </a:rPr>
              <a:t>Y</a:t>
            </a:r>
            <a:r>
              <a:rPr lang="en-US" altLang="zh-TW" sz="2800" dirty="0" smtClean="0">
                <a:latin typeface="Comic Sans MS" panose="030F0702030302020204" pitchFamily="66" charset="0"/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ea typeface="新細明體" panose="02020500000000000000" pitchFamily="18" charset="-120"/>
              </a:rPr>
              <a:t>=</a:t>
            </a: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800" dirty="0" smtClean="0">
                <a:latin typeface="Courier New" panose="02070309020205020404" pitchFamily="49" charset="0"/>
                <a:ea typeface="新細明體" panose="02020500000000000000" pitchFamily="18" charset="-120"/>
              </a:rPr>
              <a:t>TAC</a:t>
            </a:r>
            <a:r>
              <a:rPr lang="en-US" altLang="zh-TW" sz="2800" b="1" dirty="0" smtClean="0">
                <a:solidFill>
                  <a:srgbClr val="00B050"/>
                </a:solidFill>
                <a:latin typeface="Courier New" panose="02070309020205020404" pitchFamily="49" charset="0"/>
                <a:ea typeface="新細明體" panose="02020500000000000000" pitchFamily="18" charset="-120"/>
              </a:rPr>
              <a:t>TAA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dirty="0" smtClean="0">
              <a:latin typeface="Courier New" panose="02070309020205020404" pitchFamily="49" charset="0"/>
              <a:ea typeface="新細明體" panose="02020500000000000000" pitchFamily="18" charset="-12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d=2</a:t>
            </a:r>
          </a:p>
          <a:p>
            <a:pPr>
              <a:buNone/>
            </a:pPr>
            <a:r>
              <a:rPr lang="pl-PL" altLang="zh-TW" sz="20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s(x</a:t>
            </a:r>
            <a:r>
              <a:rPr lang="en-US" altLang="zh-TW" sz="2000" baseline="-25000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</a:t>
            </a:r>
            <a:r>
              <a:rPr lang="pl-PL" altLang="zh-TW" sz="20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, y</a:t>
            </a:r>
            <a:r>
              <a:rPr lang="pl-PL" altLang="zh-TW" sz="2000" baseline="-250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j</a:t>
            </a:r>
            <a:r>
              <a:rPr lang="pl-PL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)</a:t>
            </a:r>
            <a:r>
              <a:rPr lang="en-US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=1 if match</a:t>
            </a:r>
          </a:p>
          <a:p>
            <a:pPr>
              <a:buNone/>
            </a:pPr>
            <a:r>
              <a:rPr lang="en-US" altLang="zh-TW" sz="20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          =-1 else</a:t>
            </a:r>
            <a:endParaRPr lang="zh-TW" altLang="en-US" sz="20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20" name="內容版面配置區 2"/>
          <p:cNvSpPr txBox="1">
            <a:spLocks/>
          </p:cNvSpPr>
          <p:nvPr/>
        </p:nvSpPr>
        <p:spPr>
          <a:xfrm>
            <a:off x="0" y="1346653"/>
            <a:ext cx="3943350" cy="1654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 smtClean="0"/>
              <a:t>                           0</a:t>
            </a:r>
          </a:p>
          <a:p>
            <a:pPr marL="0" indent="0">
              <a:buNone/>
            </a:pPr>
            <a:r>
              <a:rPr lang="en-US" altLang="zh-TW" sz="1800" dirty="0" smtClean="0"/>
              <a:t>F(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, j) =max   F(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 – 1, j) – 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 smtClean="0"/>
              <a:t>                       F(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, j – 1) – 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 smtClean="0"/>
              <a:t>	      </a:t>
            </a:r>
            <a:r>
              <a:rPr lang="pl-PL" altLang="zh-TW" sz="1800" dirty="0" smtClean="0"/>
              <a:t>F(i – 1, j – 1) + s(x</a:t>
            </a:r>
            <a:r>
              <a:rPr lang="en-US" altLang="zh-TW" sz="1800" baseline="-25000" dirty="0" err="1" smtClean="0"/>
              <a:t>i</a:t>
            </a:r>
            <a:r>
              <a:rPr lang="pl-PL" altLang="zh-TW" sz="1800" dirty="0" smtClean="0"/>
              <a:t>, y</a:t>
            </a:r>
            <a:r>
              <a:rPr lang="pl-PL" altLang="zh-TW" sz="1800" baseline="-25000" dirty="0" smtClean="0"/>
              <a:t>j</a:t>
            </a:r>
            <a:r>
              <a:rPr lang="pl-PL" altLang="zh-TW" sz="1800" dirty="0" smtClean="0"/>
              <a:t>)</a:t>
            </a:r>
            <a:endParaRPr lang="zh-TW" altLang="en-US" sz="1800" dirty="0"/>
          </a:p>
        </p:txBody>
      </p:sp>
      <p:sp>
        <p:nvSpPr>
          <p:cNvPr id="21" name="左大括弧 20"/>
          <p:cNvSpPr/>
          <p:nvPr/>
        </p:nvSpPr>
        <p:spPr>
          <a:xfrm>
            <a:off x="1132114" y="1346653"/>
            <a:ext cx="145143" cy="14219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1" name="內容版面配置區 11"/>
          <p:cNvGraphicFramePr>
            <a:graphicFrameLocks/>
          </p:cNvGraphicFramePr>
          <p:nvPr/>
        </p:nvGraphicFramePr>
        <p:xfrm>
          <a:off x="3396342" y="1784806"/>
          <a:ext cx="5529944" cy="410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243"/>
                <a:gridCol w="691243"/>
                <a:gridCol w="691243"/>
                <a:gridCol w="691243"/>
                <a:gridCol w="691243"/>
                <a:gridCol w="691243"/>
                <a:gridCol w="691243"/>
                <a:gridCol w="691243"/>
              </a:tblGrid>
              <a:tr h="58617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58617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2" name="群組 41"/>
          <p:cNvGrpSpPr/>
          <p:nvPr/>
        </p:nvGrpSpPr>
        <p:grpSpPr>
          <a:xfrm>
            <a:off x="3323772" y="1690689"/>
            <a:ext cx="707343" cy="797221"/>
            <a:chOff x="3048000" y="1690689"/>
            <a:chExt cx="707343" cy="797221"/>
          </a:xfrm>
        </p:grpSpPr>
        <p:sp>
          <p:nvSpPr>
            <p:cNvPr id="43" name="Text Box 11"/>
            <p:cNvSpPr txBox="1">
              <a:spLocks noChangeArrowheads="1"/>
            </p:cNvSpPr>
            <p:nvPr/>
          </p:nvSpPr>
          <p:spPr bwMode="auto">
            <a:xfrm>
              <a:off x="3048000" y="2024064"/>
              <a:ext cx="362898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dirty="0" smtClean="0">
                  <a:latin typeface="Comic Sans MS" panose="030F0702030302020204" pitchFamily="66" charset="0"/>
                  <a:ea typeface="新細明體" panose="02020500000000000000" pitchFamily="18" charset="-120"/>
                </a:rPr>
                <a:t>x</a:t>
              </a:r>
              <a:endParaRPr lang="en-US" altLang="zh-TW" dirty="0">
                <a:latin typeface="Comic Sans MS" panose="030F0702030302020204" pitchFamily="66" charset="0"/>
                <a:ea typeface="新細明體" panose="02020500000000000000" pitchFamily="18" charset="-120"/>
              </a:endParaRPr>
            </a:p>
          </p:txBody>
        </p:sp>
        <p:sp>
          <p:nvSpPr>
            <p:cNvPr id="44" name="Text Box 12"/>
            <p:cNvSpPr txBox="1">
              <a:spLocks noChangeArrowheads="1"/>
            </p:cNvSpPr>
            <p:nvPr/>
          </p:nvSpPr>
          <p:spPr bwMode="auto">
            <a:xfrm>
              <a:off x="3388960" y="1690689"/>
              <a:ext cx="342058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dirty="0" smtClean="0">
                  <a:latin typeface="Comic Sans MS" panose="030F0702030302020204" pitchFamily="66" charset="0"/>
                  <a:ea typeface="新細明體" panose="02020500000000000000" pitchFamily="18" charset="-120"/>
                </a:rPr>
                <a:t>y</a:t>
              </a:r>
              <a:endParaRPr lang="en-US" altLang="zh-TW" dirty="0">
                <a:latin typeface="Comic Sans MS" panose="030F0702030302020204" pitchFamily="66" charset="0"/>
                <a:ea typeface="新細明體" panose="02020500000000000000" pitchFamily="18" charset="-120"/>
              </a:endParaRPr>
            </a:p>
          </p:txBody>
        </p:sp>
        <p:sp>
          <p:nvSpPr>
            <p:cNvPr id="45" name="Line 13"/>
            <p:cNvSpPr>
              <a:spLocks noChangeShapeType="1"/>
            </p:cNvSpPr>
            <p:nvPr/>
          </p:nvSpPr>
          <p:spPr bwMode="auto">
            <a:xfrm>
              <a:off x="3193058" y="1857377"/>
              <a:ext cx="562285" cy="4937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74747"/>
                </a:buClr>
                <a:buSzPct val="70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zh-TW" altLang="en-US"/>
            </a:p>
          </p:txBody>
        </p:sp>
      </p:grpSp>
      <p:cxnSp>
        <p:nvCxnSpPr>
          <p:cNvPr id="46" name="直線單箭頭接點 45"/>
          <p:cNvCxnSpPr/>
          <p:nvPr/>
        </p:nvCxnSpPr>
        <p:spPr>
          <a:xfrm flipH="1" flipV="1">
            <a:off x="5355772" y="3439886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H="1" flipV="1">
            <a:off x="4630058" y="2768602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H="1" flipV="1">
            <a:off x="7387773" y="3453267"/>
            <a:ext cx="217714" cy="232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H="1" flipV="1">
            <a:off x="6712857" y="2768602"/>
            <a:ext cx="217714" cy="232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H="1" flipV="1">
            <a:off x="8091715" y="3424239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 flipH="1" flipV="1">
            <a:off x="5308601" y="3998686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flipH="1" flipV="1">
            <a:off x="5308601" y="5158922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6712857" y="4573363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H="1" flipV="1">
            <a:off x="6070601" y="3991654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 flipH="1" flipV="1">
            <a:off x="7322458" y="5158922"/>
            <a:ext cx="21771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H="1" flipV="1">
            <a:off x="8091715" y="3984397"/>
            <a:ext cx="217714" cy="232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 flipV="1">
            <a:off x="8548915" y="4573365"/>
            <a:ext cx="2" cy="232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 flipH="1">
            <a:off x="8080830" y="5608864"/>
            <a:ext cx="2394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19"/>
          <p:cNvSpPr>
            <a:spLocks noChangeArrowheads="1"/>
          </p:cNvSpPr>
          <p:nvPr/>
        </p:nvSpPr>
        <p:spPr bwMode="auto">
          <a:xfrm>
            <a:off x="8200572" y="4140653"/>
            <a:ext cx="530225" cy="5302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227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Introduction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97408" y="1816608"/>
            <a:ext cx="7917942" cy="4360355"/>
          </a:xfrm>
        </p:spPr>
        <p:txBody>
          <a:bodyPr>
            <a:normAutofit/>
          </a:bodyPr>
          <a:lstStyle/>
          <a:p>
            <a:r>
              <a:rPr lang="en-US" altLang="zh-TW" dirty="0"/>
              <a:t>Our linear-space local similarity </a:t>
            </a:r>
            <a:r>
              <a:rPr lang="en-US" altLang="zh-TW" dirty="0" smtClean="0"/>
              <a:t>algorithm </a:t>
            </a:r>
          </a:p>
          <a:p>
            <a:pPr lvl="1"/>
            <a:r>
              <a:rPr lang="en-US" altLang="zh-TW" b="1" dirty="0" smtClean="0"/>
              <a:t>the linear-space global alignment algorithm of Myers and Miller(1988) </a:t>
            </a:r>
          </a:p>
          <a:p>
            <a:pPr lvl="1"/>
            <a:r>
              <a:rPr lang="en-US" altLang="zh-TW" b="1" dirty="0" smtClean="0"/>
              <a:t>techniques </a:t>
            </a:r>
            <a:r>
              <a:rPr lang="en-US" altLang="zh-TW" b="1" dirty="0"/>
              <a:t>of Waterman and </a:t>
            </a:r>
            <a:r>
              <a:rPr lang="en-US" altLang="zh-TW" b="1" dirty="0" err="1" smtClean="0"/>
              <a:t>Eggert</a:t>
            </a:r>
            <a:r>
              <a:rPr lang="en-US" altLang="zh-TW" b="1" dirty="0" smtClean="0"/>
              <a:t> </a:t>
            </a:r>
            <a:r>
              <a:rPr lang="en-US" altLang="zh-TW" b="1" dirty="0"/>
              <a:t>(1987).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25466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Myers and Miller(1988)</a:t>
            </a:r>
            <a:endParaRPr lang="zh-TW" altLang="en-US" b="1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69" y="1550670"/>
            <a:ext cx="7655707" cy="4850129"/>
          </a:xfrm>
          <a:prstGeom prst="rect">
            <a:avLst/>
          </a:prstGeom>
        </p:spPr>
      </p:pic>
      <p:sp>
        <p:nvSpPr>
          <p:cNvPr id="7" name="向右箭號 6"/>
          <p:cNvSpPr/>
          <p:nvPr/>
        </p:nvSpPr>
        <p:spPr>
          <a:xfrm>
            <a:off x="4008120" y="3337084"/>
            <a:ext cx="822960" cy="4724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377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Myers and Miller(1988)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Linear space version for affine gap penalties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  <p:grpSp>
        <p:nvGrpSpPr>
          <p:cNvPr id="12" name="群組 11"/>
          <p:cNvGrpSpPr/>
          <p:nvPr/>
        </p:nvGrpSpPr>
        <p:grpSpPr>
          <a:xfrm>
            <a:off x="0" y="2551748"/>
            <a:ext cx="8585551" cy="3133726"/>
            <a:chOff x="0" y="2551748"/>
            <a:chExt cx="8585551" cy="3133726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551748"/>
              <a:ext cx="8585551" cy="3133726"/>
            </a:xfrm>
            <a:prstGeom prst="rect">
              <a:avLst/>
            </a:prstGeom>
          </p:spPr>
        </p:pic>
        <p:sp>
          <p:nvSpPr>
            <p:cNvPr id="4" name="文字方塊 3"/>
            <p:cNvSpPr txBox="1"/>
            <p:nvPr/>
          </p:nvSpPr>
          <p:spPr>
            <a:xfrm>
              <a:off x="558449" y="3023616"/>
              <a:ext cx="22457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          A         </a:t>
              </a:r>
              <a:r>
                <a:rPr lang="en-US" altLang="zh-TW" dirty="0" err="1" smtClean="0"/>
                <a:t>A</a:t>
              </a:r>
              <a:r>
                <a:rPr lang="en-US" altLang="zh-TW" dirty="0" smtClean="0"/>
                <a:t>         G</a:t>
              </a:r>
              <a:endParaRPr lang="zh-TW" altLang="en-US" dirty="0"/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3362609" y="3023616"/>
              <a:ext cx="22457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          A         </a:t>
              </a:r>
              <a:r>
                <a:rPr lang="en-US" altLang="zh-TW" dirty="0" err="1" smtClean="0"/>
                <a:t>A</a:t>
              </a:r>
              <a:r>
                <a:rPr lang="en-US" altLang="zh-TW" dirty="0" smtClean="0"/>
                <a:t>         G</a:t>
              </a:r>
              <a:endParaRPr lang="zh-TW" altLang="en-US" dirty="0"/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6038753" y="3023616"/>
              <a:ext cx="22457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          A         </a:t>
              </a:r>
              <a:r>
                <a:rPr lang="en-US" altLang="zh-TW" dirty="0" err="1" smtClean="0"/>
                <a:t>A</a:t>
              </a:r>
              <a:r>
                <a:rPr lang="en-US" altLang="zh-TW" dirty="0" smtClean="0"/>
                <a:t>         G</a:t>
              </a:r>
              <a:endParaRPr lang="zh-TW" altLang="en-US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103632" y="3615406"/>
              <a:ext cx="421386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 smtClean="0"/>
                <a:t>AG     </a:t>
              </a:r>
            </a:p>
            <a:p>
              <a:r>
                <a:rPr lang="en-US" altLang="zh-TW" sz="2000" dirty="0" smtClean="0"/>
                <a:t>T      </a:t>
              </a:r>
            </a:p>
            <a:p>
              <a:r>
                <a:rPr lang="en-US" altLang="zh-TW" sz="2000" dirty="0" smtClean="0"/>
                <a:t>A     </a:t>
              </a:r>
            </a:p>
            <a:p>
              <a:r>
                <a:rPr lang="en-US" altLang="zh-TW" sz="2000" dirty="0"/>
                <a:t>C</a:t>
              </a:r>
              <a:endParaRPr lang="zh-TW" altLang="en-US" sz="2000" dirty="0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911983" y="3615406"/>
              <a:ext cx="421386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 smtClean="0"/>
                <a:t>AG     </a:t>
              </a:r>
            </a:p>
            <a:p>
              <a:r>
                <a:rPr lang="en-US" altLang="zh-TW" sz="2000" dirty="0" smtClean="0"/>
                <a:t>T      </a:t>
              </a:r>
            </a:p>
            <a:p>
              <a:r>
                <a:rPr lang="en-US" altLang="zh-TW" sz="2000" dirty="0" smtClean="0"/>
                <a:t>A     </a:t>
              </a:r>
            </a:p>
            <a:p>
              <a:r>
                <a:rPr lang="en-US" altLang="zh-TW" sz="2000" dirty="0"/>
                <a:t>C</a:t>
              </a:r>
              <a:endParaRPr lang="zh-TW" altLang="en-US" sz="2000" dirty="0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5608320" y="3558842"/>
              <a:ext cx="421386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 smtClean="0"/>
                <a:t>AG     </a:t>
              </a:r>
            </a:p>
            <a:p>
              <a:r>
                <a:rPr lang="en-US" altLang="zh-TW" sz="2000" dirty="0" smtClean="0"/>
                <a:t>T      </a:t>
              </a:r>
            </a:p>
            <a:p>
              <a:r>
                <a:rPr lang="en-US" altLang="zh-TW" sz="2000" dirty="0" smtClean="0"/>
                <a:t>A     </a:t>
              </a:r>
            </a:p>
            <a:p>
              <a:r>
                <a:rPr lang="en-US" altLang="zh-TW" sz="2000" dirty="0"/>
                <a:t>C</a:t>
              </a:r>
              <a:endParaRPr lang="zh-TW" altLang="en-US" sz="2000" dirty="0"/>
            </a:p>
          </p:txBody>
        </p:sp>
      </p:grpSp>
      <p:sp>
        <p:nvSpPr>
          <p:cNvPr id="13" name="Oval 19"/>
          <p:cNvSpPr>
            <a:spLocks noChangeArrowheads="1"/>
          </p:cNvSpPr>
          <p:nvPr/>
        </p:nvSpPr>
        <p:spPr bwMode="auto">
          <a:xfrm>
            <a:off x="1681304" y="4811213"/>
            <a:ext cx="530225" cy="5302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74747"/>
              </a:buClr>
              <a:buSzPct val="70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882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charset="-120"/>
              </a:rPr>
              <a:t>Hirschberg (1975</a:t>
            </a:r>
            <a:r>
              <a:rPr lang="en-US" altLang="zh-TW" dirty="0" smtClean="0">
                <a:ea typeface="新細明體" charset="-120"/>
              </a:rPr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25625"/>
            <a:ext cx="4098701" cy="398008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829" y="1825625"/>
            <a:ext cx="4117829" cy="3760333"/>
          </a:xfrm>
          <a:prstGeom prst="rect">
            <a:avLst/>
          </a:prstGeom>
        </p:spPr>
      </p:pic>
      <p:sp>
        <p:nvSpPr>
          <p:cNvPr id="6" name="文字方塊 5"/>
          <p:cNvSpPr txBox="1">
            <a:spLocks noChangeArrowheads="1"/>
          </p:cNvSpPr>
          <p:nvPr/>
        </p:nvSpPr>
        <p:spPr bwMode="auto">
          <a:xfrm>
            <a:off x="628342" y="1398589"/>
            <a:ext cx="3810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0" lang="en-US" altLang="zh-TW" sz="3200" dirty="0">
                <a:solidFill>
                  <a:srgbClr val="FF0000"/>
                </a:solidFill>
              </a:rPr>
              <a:t>Forward Computing</a:t>
            </a:r>
            <a:endParaRPr kumimoji="0"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>
            <a:spLocks noChangeArrowheads="1"/>
          </p:cNvSpPr>
          <p:nvPr/>
        </p:nvSpPr>
        <p:spPr bwMode="auto">
          <a:xfrm>
            <a:off x="4727351" y="5428794"/>
            <a:ext cx="41148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0" lang="en-US" altLang="zh-TW" sz="3200" dirty="0">
                <a:solidFill>
                  <a:srgbClr val="FF0000"/>
                </a:solidFill>
              </a:rPr>
              <a:t>Backward Computing</a:t>
            </a:r>
            <a:endParaRPr kumimoji="0" lang="zh-TW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42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內容版面配置區 9" descr="StartMap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24025" y="2887663"/>
            <a:ext cx="5695950" cy="3095625"/>
          </a:xfrm>
        </p:spPr>
      </p:pic>
      <p:pic>
        <p:nvPicPr>
          <p:cNvPr id="47" name="圖片 46" descr="Hirschberg_Calculat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4572000"/>
            <a:ext cx="489585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圖片 29" descr="Hirschberg_Forward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400" y="4572000"/>
            <a:ext cx="247967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圖片 45" descr="Hirschberg_Calculat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3505200"/>
            <a:ext cx="487680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圖片 10" descr="Hirschberg_Forward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62200" y="3505200"/>
            <a:ext cx="2362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" name="圖片 49" descr="Hirschberg_Subproblem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4400" y="4572000"/>
            <a:ext cx="25146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圖片 48" descr="Hirschberg_Subproblem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62200" y="3505200"/>
            <a:ext cx="234315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1" name="標題 1"/>
          <p:cNvSpPr>
            <a:spLocks noGrp="1"/>
          </p:cNvSpPr>
          <p:nvPr>
            <p:ph type="title"/>
          </p:nvPr>
        </p:nvSpPr>
        <p:spPr>
          <a:xfrm>
            <a:off x="539552" y="476672"/>
            <a:ext cx="8229600" cy="1143000"/>
          </a:xfrm>
        </p:spPr>
        <p:txBody>
          <a:bodyPr/>
          <a:lstStyle/>
          <a:p>
            <a:r>
              <a:rPr lang="en-US" altLang="zh-TW" dirty="0" smtClean="0">
                <a:ea typeface="新細明體" charset="-120"/>
              </a:rPr>
              <a:t>Midpoint</a:t>
            </a:r>
            <a:endParaRPr lang="zh-TW" altLang="en-US" dirty="0" smtClean="0">
              <a:ea typeface="新細明體" charset="-120"/>
            </a:endParaRPr>
          </a:p>
        </p:txBody>
      </p:sp>
      <p:sp>
        <p:nvSpPr>
          <p:cNvPr id="3082" name="內容版面配置區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838200"/>
          </a:xfrm>
        </p:spPr>
        <p:txBody>
          <a:bodyPr/>
          <a:lstStyle/>
          <a:p>
            <a:r>
              <a:rPr lang="en-US" altLang="zh-TW" dirty="0" smtClean="0">
                <a:ea typeface="新細明體" charset="-120"/>
              </a:rPr>
              <a:t>Hirschberg (1975): recursive divide-and-conquer</a:t>
            </a:r>
            <a:endParaRPr lang="zh-TW" altLang="en-US" dirty="0" smtClean="0">
              <a:ea typeface="新細明體" charset="-120"/>
            </a:endParaRPr>
          </a:p>
        </p:txBody>
      </p:sp>
      <p:cxnSp>
        <p:nvCxnSpPr>
          <p:cNvPr id="13" name="弧形接點 12"/>
          <p:cNvCxnSpPr/>
          <p:nvPr/>
        </p:nvCxnSpPr>
        <p:spPr bwMode="auto">
          <a:xfrm>
            <a:off x="2362200" y="3505200"/>
            <a:ext cx="2286000" cy="990600"/>
          </a:xfrm>
          <a:prstGeom prst="curvedConnector3">
            <a:avLst>
              <a:gd name="adj1" fmla="val 50000"/>
            </a:avLst>
          </a:prstGeom>
          <a:ln w="12700">
            <a:solidFill>
              <a:srgbClr val="C00000"/>
            </a:solidFill>
            <a:headEnd type="none" w="med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弧形接點 35"/>
          <p:cNvCxnSpPr>
            <a:endCxn id="48" idx="6"/>
          </p:cNvCxnSpPr>
          <p:nvPr/>
        </p:nvCxnSpPr>
        <p:spPr bwMode="auto">
          <a:xfrm rot="10800000">
            <a:off x="4800600" y="4533900"/>
            <a:ext cx="2438400" cy="1257300"/>
          </a:xfrm>
          <a:prstGeom prst="curvedConnector3">
            <a:avLst>
              <a:gd name="adj1" fmla="val 50000"/>
            </a:avLst>
          </a:prstGeom>
          <a:ln w="12700">
            <a:solidFill>
              <a:srgbClr val="C00000"/>
            </a:solidFill>
            <a:headEnd type="none" w="med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橢圓 47"/>
          <p:cNvSpPr>
            <a:spLocks noChangeArrowheads="1"/>
          </p:cNvSpPr>
          <p:nvPr/>
        </p:nvSpPr>
        <p:spPr bwMode="auto">
          <a:xfrm>
            <a:off x="4572000" y="4419600"/>
            <a:ext cx="228600" cy="228600"/>
          </a:xfrm>
          <a:prstGeom prst="ellipse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kumimoji="0" lang="zh-TW" altLang="en-US"/>
          </a:p>
        </p:txBody>
      </p:sp>
      <p:sp>
        <p:nvSpPr>
          <p:cNvPr id="54" name="文字方塊 53"/>
          <p:cNvSpPr txBox="1">
            <a:spLocks noChangeArrowheads="1"/>
          </p:cNvSpPr>
          <p:nvPr/>
        </p:nvSpPr>
        <p:spPr bwMode="auto">
          <a:xfrm>
            <a:off x="2743200" y="6019800"/>
            <a:ext cx="41148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0" lang="en-US" altLang="zh-TW" sz="3200" dirty="0">
                <a:solidFill>
                  <a:srgbClr val="FF0000"/>
                </a:solidFill>
              </a:rPr>
              <a:t>Backward Computing</a:t>
            </a:r>
            <a:endParaRPr kumimoji="0"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53" name="文字方塊 52"/>
          <p:cNvSpPr txBox="1">
            <a:spLocks noChangeArrowheads="1"/>
          </p:cNvSpPr>
          <p:nvPr/>
        </p:nvSpPr>
        <p:spPr bwMode="auto">
          <a:xfrm>
            <a:off x="2667000" y="2514600"/>
            <a:ext cx="3810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0" lang="en-US" altLang="zh-TW" sz="3200" dirty="0">
                <a:solidFill>
                  <a:srgbClr val="FF0000"/>
                </a:solidFill>
              </a:rPr>
              <a:t>Forward Computing</a:t>
            </a:r>
            <a:endParaRPr kumimoji="0" lang="zh-TW" altLang="en-US" sz="3200" dirty="0">
              <a:solidFill>
                <a:srgbClr val="FF0000"/>
              </a:solidFill>
            </a:endParaRPr>
          </a:p>
        </p:txBody>
      </p:sp>
      <p:cxnSp>
        <p:nvCxnSpPr>
          <p:cNvPr id="3" name="直線單箭頭接點 2"/>
          <p:cNvCxnSpPr/>
          <p:nvPr/>
        </p:nvCxnSpPr>
        <p:spPr>
          <a:xfrm>
            <a:off x="2743200" y="3015424"/>
            <a:ext cx="3279648" cy="32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H="1" flipV="1">
            <a:off x="2840736" y="5983288"/>
            <a:ext cx="3438144" cy="36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690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4" grpId="0"/>
      <p:bldP spid="54" grpId="1"/>
      <p:bldP spid="53" grpId="0"/>
      <p:bldP spid="5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 general LCS algorithm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065212"/>
              </p:ext>
            </p:extLst>
          </p:nvPr>
        </p:nvGraphicFramePr>
        <p:xfrm>
          <a:off x="2920746" y="3253169"/>
          <a:ext cx="5735574" cy="2903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929"/>
                <a:gridCol w="955929"/>
                <a:gridCol w="955929"/>
                <a:gridCol w="955929"/>
                <a:gridCol w="955929"/>
                <a:gridCol w="955929"/>
              </a:tblGrid>
              <a:tr h="483965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D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E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T="45733" marB="45733"/>
                </a:tc>
              </a:tr>
              <a:tr h="483965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</a:tr>
              <a:tr h="483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C00000"/>
                          </a:solidFill>
                        </a:rPr>
                        <a:t>A</a:t>
                      </a:r>
                      <a:endParaRPr lang="zh-TW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</a:tr>
              <a:tr h="483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endParaRPr lang="zh-TW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</a:tr>
              <a:tr h="483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endParaRPr lang="zh-TW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</a:tr>
              <a:tr h="483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C00000"/>
                          </a:solidFill>
                        </a:rPr>
                        <a:t>D</a:t>
                      </a:r>
                      <a:endParaRPr lang="zh-TW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00417"/>
            <a:ext cx="8116564" cy="1089087"/>
          </a:xfrm>
          <a:prstGeom prst="rect">
            <a:avLst/>
          </a:prstGeom>
        </p:spPr>
      </p:pic>
      <p:cxnSp>
        <p:nvCxnSpPr>
          <p:cNvPr id="9" name="直線單箭頭接點 8"/>
          <p:cNvCxnSpPr/>
          <p:nvPr/>
        </p:nvCxnSpPr>
        <p:spPr>
          <a:xfrm flipH="1">
            <a:off x="7534656" y="5864352"/>
            <a:ext cx="2560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H="1" flipV="1">
            <a:off x="6608064" y="5547360"/>
            <a:ext cx="256032" cy="195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 flipV="1">
            <a:off x="5638800" y="5077968"/>
            <a:ext cx="256032" cy="195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 flipV="1">
            <a:off x="4686932" y="4084320"/>
            <a:ext cx="256032" cy="195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V="1">
            <a:off x="5303520" y="4584192"/>
            <a:ext cx="0" cy="268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2"/>
          <p:cNvSpPr txBox="1">
            <a:spLocks noChangeArrowheads="1"/>
          </p:cNvSpPr>
          <p:nvPr/>
        </p:nvSpPr>
        <p:spPr bwMode="auto">
          <a:xfrm>
            <a:off x="827260" y="5273040"/>
            <a:ext cx="1565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2800" dirty="0">
                <a:latin typeface="Calibri" panose="020F0502020204030204" pitchFamily="34" charset="0"/>
              </a:rPr>
              <a:t>LCS : ACD</a:t>
            </a:r>
            <a:endParaRPr kumimoji="0" lang="zh-TW" altLang="en-US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65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Hirschberg’s  algorithm</a:t>
            </a:r>
            <a:endParaRPr lang="zh-TW" altLang="en-US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895366"/>
              </p:ext>
            </p:extLst>
          </p:nvPr>
        </p:nvGraphicFramePr>
        <p:xfrm>
          <a:off x="319314" y="2482044"/>
          <a:ext cx="378618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1031"/>
                <a:gridCol w="631031"/>
                <a:gridCol w="631031"/>
                <a:gridCol w="631031"/>
                <a:gridCol w="631031"/>
                <a:gridCol w="631031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D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E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en-US" altLang="zh-TW" sz="1800" dirty="0" smtClean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C00000"/>
                          </a:solidFill>
                        </a:rPr>
                        <a:t>A</a:t>
                      </a:r>
                      <a:endParaRPr lang="zh-TW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706987"/>
              </p:ext>
            </p:extLst>
          </p:nvPr>
        </p:nvGraphicFramePr>
        <p:xfrm>
          <a:off x="319314" y="3806825"/>
          <a:ext cx="378618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1031"/>
                <a:gridCol w="631031"/>
                <a:gridCol w="631031"/>
                <a:gridCol w="631031"/>
                <a:gridCol w="631031"/>
                <a:gridCol w="631031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D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E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en-US" altLang="zh-TW" sz="1800" dirty="0" smtClean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endParaRPr lang="zh-TW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F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7030A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C00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FFC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81683"/>
              </p:ext>
            </p:extLst>
          </p:nvPr>
        </p:nvGraphicFramePr>
        <p:xfrm>
          <a:off x="4876101" y="2497904"/>
          <a:ext cx="378618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1031"/>
                <a:gridCol w="631031"/>
                <a:gridCol w="631031"/>
                <a:gridCol w="631031"/>
                <a:gridCol w="631031"/>
                <a:gridCol w="631031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E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D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en-US" altLang="zh-TW" sz="1800" dirty="0" smtClean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C00000"/>
                          </a:solidFill>
                        </a:rPr>
                        <a:t>D</a:t>
                      </a:r>
                      <a:endParaRPr lang="zh-TW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497141"/>
              </p:ext>
            </p:extLst>
          </p:nvPr>
        </p:nvGraphicFramePr>
        <p:xfrm>
          <a:off x="4886172" y="3806825"/>
          <a:ext cx="378618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1031"/>
                <a:gridCol w="631031"/>
                <a:gridCol w="631031"/>
                <a:gridCol w="631031"/>
                <a:gridCol w="631031"/>
                <a:gridCol w="631031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E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D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en-US" altLang="zh-TW" sz="1800" dirty="0" smtClean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endParaRPr lang="zh-TW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C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FFC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7030A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F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1" name="直線接點 10"/>
          <p:cNvCxnSpPr/>
          <p:nvPr/>
        </p:nvCxnSpPr>
        <p:spPr>
          <a:xfrm rot="5400000">
            <a:off x="2671763" y="3609948"/>
            <a:ext cx="357346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/>
          <p:cNvSpPr txBox="1"/>
          <p:nvPr/>
        </p:nvSpPr>
        <p:spPr>
          <a:xfrm>
            <a:off x="319314" y="1362346"/>
            <a:ext cx="2975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Sequence s:  ABCD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19314" y="1762450"/>
            <a:ext cx="2975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Sequence </a:t>
            </a:r>
            <a:r>
              <a:rPr lang="en-US" altLang="zh-TW" sz="2400" dirty="0" smtClean="0"/>
              <a:t>t:  ACDE</a:t>
            </a:r>
            <a:endParaRPr lang="zh-TW" altLang="en-US" sz="2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58788" y="4919663"/>
            <a:ext cx="1925637" cy="19383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400" dirty="0">
                <a:latin typeface="+mn-lt"/>
                <a:ea typeface="+mn-ea"/>
              </a:rPr>
              <a:t>J = 0, </a:t>
            </a:r>
            <a:r>
              <a:rPr kumimoji="0" lang="en-US" altLang="zh-TW" sz="2400" dirty="0">
                <a:solidFill>
                  <a:srgbClr val="FF0000"/>
                </a:solidFill>
                <a:latin typeface="+mn-lt"/>
                <a:ea typeface="+mn-ea"/>
              </a:rPr>
              <a:t>0 + 2 </a:t>
            </a:r>
            <a:r>
              <a:rPr kumimoji="0" lang="en-US" altLang="zh-TW" sz="2400" dirty="0">
                <a:latin typeface="+mn-lt"/>
                <a:ea typeface="+mn-ea"/>
              </a:rPr>
              <a:t>= 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400" dirty="0">
                <a:latin typeface="+mn-lt"/>
                <a:ea typeface="+mn-ea"/>
              </a:rPr>
              <a:t>J = 1, </a:t>
            </a:r>
            <a:r>
              <a:rPr kumimoji="0" lang="en-US" altLang="zh-TW" sz="2400" dirty="0">
                <a:solidFill>
                  <a:srgbClr val="00B050"/>
                </a:solidFill>
                <a:latin typeface="+mn-lt"/>
                <a:ea typeface="+mn-ea"/>
              </a:rPr>
              <a:t>1 + 2 </a:t>
            </a:r>
            <a:r>
              <a:rPr kumimoji="0" lang="en-US" altLang="zh-TW" sz="2400" dirty="0">
                <a:latin typeface="+mn-lt"/>
                <a:ea typeface="+mn-ea"/>
              </a:rPr>
              <a:t>= 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400" dirty="0">
                <a:latin typeface="+mn-lt"/>
                <a:ea typeface="+mn-ea"/>
              </a:rPr>
              <a:t>J = 2, </a:t>
            </a:r>
            <a:r>
              <a:rPr kumimoji="0" lang="en-US" altLang="zh-TW" sz="2400" dirty="0">
                <a:solidFill>
                  <a:srgbClr val="00B0F0"/>
                </a:solidFill>
                <a:latin typeface="+mn-lt"/>
                <a:ea typeface="+mn-ea"/>
              </a:rPr>
              <a:t>1 + 1 </a:t>
            </a:r>
            <a:r>
              <a:rPr kumimoji="0" lang="en-US" altLang="zh-TW" sz="2400" dirty="0">
                <a:latin typeface="+mn-lt"/>
                <a:ea typeface="+mn-ea"/>
              </a:rPr>
              <a:t>= 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400" dirty="0">
                <a:latin typeface="+mn-lt"/>
                <a:ea typeface="+mn-ea"/>
              </a:rPr>
              <a:t>J = 3, </a:t>
            </a:r>
            <a:r>
              <a:rPr kumimoji="0" lang="en-US" altLang="zh-TW" sz="2400" dirty="0">
                <a:solidFill>
                  <a:srgbClr val="7030A0"/>
                </a:solidFill>
                <a:latin typeface="+mn-lt"/>
                <a:ea typeface="+mn-ea"/>
              </a:rPr>
              <a:t>1 + 0 </a:t>
            </a:r>
            <a:r>
              <a:rPr kumimoji="0" lang="en-US" altLang="zh-TW" sz="2400" dirty="0">
                <a:latin typeface="+mn-lt"/>
                <a:ea typeface="+mn-ea"/>
              </a:rPr>
              <a:t>=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400" dirty="0">
                <a:latin typeface="+mn-lt"/>
                <a:ea typeface="+mn-ea"/>
              </a:rPr>
              <a:t>J = 4, </a:t>
            </a:r>
            <a:r>
              <a:rPr kumimoji="0" lang="en-US" altLang="zh-TW" sz="2400" dirty="0">
                <a:solidFill>
                  <a:srgbClr val="FFC000"/>
                </a:solidFill>
                <a:latin typeface="+mn-lt"/>
                <a:ea typeface="+mn-ea"/>
              </a:rPr>
              <a:t>1 + 0 </a:t>
            </a:r>
            <a:r>
              <a:rPr kumimoji="0" lang="en-US" altLang="zh-TW" sz="2400" dirty="0">
                <a:latin typeface="+mn-lt"/>
                <a:ea typeface="+mn-ea"/>
              </a:rPr>
              <a:t>= 1</a:t>
            </a:r>
            <a:endParaRPr kumimoji="0" lang="zh-TW" altLang="en-US" sz="2400" dirty="0">
              <a:latin typeface="+mn-lt"/>
              <a:ea typeface="+mn-ea"/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2355397" y="1262742"/>
            <a:ext cx="0" cy="590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6"/>
          <p:cNvSpPr txBox="1">
            <a:spLocks noChangeArrowheads="1"/>
          </p:cNvSpPr>
          <p:nvPr/>
        </p:nvSpPr>
        <p:spPr bwMode="auto">
          <a:xfrm>
            <a:off x="563764" y="2064894"/>
            <a:ext cx="3294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2400" dirty="0" err="1" smtClean="0">
                <a:latin typeface="Calibri" panose="020F0502020204030204" pitchFamily="34" charset="0"/>
              </a:rPr>
              <a:t>Algo</a:t>
            </a:r>
            <a:r>
              <a:rPr kumimoji="0" lang="en-US" altLang="zh-TW" sz="2400" dirty="0" smtClean="0">
                <a:latin typeface="Calibri" panose="020F0502020204030204" pitchFamily="34" charset="0"/>
              </a:rPr>
              <a:t> (</a:t>
            </a:r>
            <a:r>
              <a:rPr kumimoji="0" lang="en-US" altLang="zh-TW" sz="2400" dirty="0">
                <a:latin typeface="Calibri" panose="020F0502020204030204" pitchFamily="34" charset="0"/>
              </a:rPr>
              <a:t>2, 4, “</a:t>
            </a:r>
            <a:r>
              <a:rPr kumimoji="0" lang="en-US" altLang="zh-TW" sz="2400" dirty="0">
                <a:solidFill>
                  <a:srgbClr val="C00000"/>
                </a:solidFill>
                <a:latin typeface="Calibri" panose="020F0502020204030204" pitchFamily="34" charset="0"/>
              </a:rPr>
              <a:t>AB</a:t>
            </a:r>
            <a:r>
              <a:rPr kumimoji="0" lang="en-US" altLang="zh-TW" sz="2400" dirty="0">
                <a:latin typeface="Calibri" panose="020F0502020204030204" pitchFamily="34" charset="0"/>
              </a:rPr>
              <a:t>”, “</a:t>
            </a:r>
            <a:r>
              <a:rPr kumimoji="0" lang="en-US" altLang="zh-TW" sz="2400" dirty="0">
                <a:solidFill>
                  <a:srgbClr val="0070C0"/>
                </a:solidFill>
                <a:latin typeface="Calibri" panose="020F0502020204030204" pitchFamily="34" charset="0"/>
              </a:rPr>
              <a:t>ACDE</a:t>
            </a:r>
            <a:r>
              <a:rPr kumimoji="0" lang="en-US" altLang="zh-TW" sz="2400" dirty="0">
                <a:latin typeface="Calibri" panose="020F0502020204030204" pitchFamily="34" charset="0"/>
              </a:rPr>
              <a:t>”)</a:t>
            </a:r>
            <a:endParaRPr kumimoji="0" lang="zh-TW" altLang="en-US" sz="2400" dirty="0">
              <a:latin typeface="Calibri" panose="020F0502020204030204" pitchFamily="34" charset="0"/>
            </a:endParaRPr>
          </a:p>
        </p:txBody>
      </p:sp>
      <p:sp>
        <p:nvSpPr>
          <p:cNvPr id="14" name="文字方塊 7"/>
          <p:cNvSpPr txBox="1">
            <a:spLocks noChangeArrowheads="1"/>
          </p:cNvSpPr>
          <p:nvPr/>
        </p:nvSpPr>
        <p:spPr bwMode="auto">
          <a:xfrm>
            <a:off x="5059161" y="2064894"/>
            <a:ext cx="31905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2400" dirty="0" err="1" smtClean="0">
                <a:latin typeface="Calibri" panose="020F0502020204030204" pitchFamily="34" charset="0"/>
              </a:rPr>
              <a:t>Algo</a:t>
            </a:r>
            <a:r>
              <a:rPr kumimoji="0" lang="en-US" altLang="zh-TW" sz="2400" dirty="0" smtClean="0">
                <a:latin typeface="Calibri" panose="020F0502020204030204" pitchFamily="34" charset="0"/>
              </a:rPr>
              <a:t>(2</a:t>
            </a:r>
            <a:r>
              <a:rPr kumimoji="0" lang="en-US" altLang="zh-TW" sz="2400" dirty="0">
                <a:latin typeface="Calibri" panose="020F0502020204030204" pitchFamily="34" charset="0"/>
              </a:rPr>
              <a:t>, 4, “</a:t>
            </a:r>
            <a:r>
              <a:rPr kumimoji="0" lang="en-US" altLang="zh-TW" sz="2400" dirty="0">
                <a:solidFill>
                  <a:srgbClr val="C00000"/>
                </a:solidFill>
                <a:latin typeface="Calibri" panose="020F0502020204030204" pitchFamily="34" charset="0"/>
              </a:rPr>
              <a:t>DC</a:t>
            </a:r>
            <a:r>
              <a:rPr kumimoji="0" lang="en-US" altLang="zh-TW" sz="2400" dirty="0">
                <a:latin typeface="Calibri" panose="020F0502020204030204" pitchFamily="34" charset="0"/>
              </a:rPr>
              <a:t>”, “</a:t>
            </a:r>
            <a:r>
              <a:rPr kumimoji="0" lang="en-US" altLang="zh-TW" sz="2400" dirty="0">
                <a:solidFill>
                  <a:srgbClr val="0070C0"/>
                </a:solidFill>
                <a:latin typeface="Calibri" panose="020F0502020204030204" pitchFamily="34" charset="0"/>
              </a:rPr>
              <a:t>EDCA</a:t>
            </a:r>
            <a:r>
              <a:rPr kumimoji="0" lang="en-US" altLang="zh-TW" sz="2400" dirty="0">
                <a:latin typeface="Calibri" panose="020F0502020204030204" pitchFamily="34" charset="0"/>
              </a:rPr>
              <a:t>”)</a:t>
            </a:r>
            <a:endParaRPr kumimoji="0" lang="zh-TW" altLang="en-US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72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Hirschberg’s  </a:t>
            </a:r>
            <a:r>
              <a:rPr lang="en-US" altLang="zh-TW" dirty="0" smtClean="0"/>
              <a:t>algorithm</a:t>
            </a:r>
            <a:endParaRPr lang="zh-TW" altLang="en-US" dirty="0" smtClean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632174"/>
              </p:ext>
            </p:extLst>
          </p:nvPr>
        </p:nvGraphicFramePr>
        <p:xfrm>
          <a:off x="348796" y="2618467"/>
          <a:ext cx="371475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8250"/>
                <a:gridCol w="1238250"/>
                <a:gridCol w="123825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11740"/>
              </p:ext>
            </p:extLst>
          </p:nvPr>
        </p:nvGraphicFramePr>
        <p:xfrm>
          <a:off x="348796" y="4213452"/>
          <a:ext cx="371475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8250"/>
                <a:gridCol w="1238250"/>
                <a:gridCol w="123825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698696"/>
              </p:ext>
            </p:extLst>
          </p:nvPr>
        </p:nvGraphicFramePr>
        <p:xfrm>
          <a:off x="4957083" y="2564627"/>
          <a:ext cx="400050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F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7030A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135901"/>
              </p:ext>
            </p:extLst>
          </p:nvPr>
        </p:nvGraphicFramePr>
        <p:xfrm>
          <a:off x="4971597" y="4277626"/>
          <a:ext cx="400050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7030A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F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00B0F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6" name="直線接點 15"/>
          <p:cNvCxnSpPr/>
          <p:nvPr/>
        </p:nvCxnSpPr>
        <p:spPr>
          <a:xfrm rot="5400000">
            <a:off x="2034381" y="4036219"/>
            <a:ext cx="4930775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319314" y="1362346"/>
            <a:ext cx="2975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Sequence s:  ABCD</a:t>
            </a:r>
            <a:endParaRPr lang="zh-TW" altLang="en-US" sz="24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319314" y="1752898"/>
            <a:ext cx="3091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Sequence </a:t>
            </a:r>
            <a:r>
              <a:rPr lang="en-US" altLang="zh-TW" sz="2400" dirty="0" smtClean="0"/>
              <a:t>t:  ACDE</a:t>
            </a:r>
            <a:endParaRPr lang="zh-TW" altLang="en-US" sz="2400" dirty="0"/>
          </a:p>
        </p:txBody>
      </p:sp>
      <p:cxnSp>
        <p:nvCxnSpPr>
          <p:cNvPr id="19" name="直線接點 18"/>
          <p:cNvCxnSpPr/>
          <p:nvPr/>
        </p:nvCxnSpPr>
        <p:spPr>
          <a:xfrm>
            <a:off x="2355397" y="1233714"/>
            <a:ext cx="0" cy="590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2195740" y="1754187"/>
            <a:ext cx="10431" cy="4603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8"/>
          <p:cNvSpPr txBox="1">
            <a:spLocks noChangeArrowheads="1"/>
          </p:cNvSpPr>
          <p:nvPr/>
        </p:nvSpPr>
        <p:spPr bwMode="auto">
          <a:xfrm>
            <a:off x="586467" y="5439909"/>
            <a:ext cx="19256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2400" dirty="0" smtClean="0">
                <a:latin typeface="Calibri" panose="020F0502020204030204" pitchFamily="34" charset="0"/>
              </a:rPr>
              <a:t>J= </a:t>
            </a:r>
            <a:r>
              <a:rPr kumimoji="0" lang="en-US" altLang="zh-TW" sz="2400" dirty="0">
                <a:latin typeface="Calibri" panose="020F0502020204030204" pitchFamily="34" charset="0"/>
              </a:rPr>
              <a:t>0, </a:t>
            </a:r>
            <a:r>
              <a:rPr kumimoji="0" lang="en-US" altLang="zh-TW" sz="2400" dirty="0" smtClean="0">
                <a:latin typeface="Calibri" panose="020F0502020204030204" pitchFamily="34" charset="0"/>
              </a:rPr>
              <a:t> </a:t>
            </a:r>
            <a:r>
              <a:rPr kumimoji="0" lang="en-US" altLang="zh-TW" sz="24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0 </a:t>
            </a:r>
            <a:r>
              <a:rPr kumimoji="0" lang="en-US" altLang="zh-TW" sz="2400" dirty="0">
                <a:solidFill>
                  <a:srgbClr val="FF0000"/>
                </a:solidFill>
                <a:latin typeface="Calibri" panose="020F0502020204030204" pitchFamily="34" charset="0"/>
              </a:rPr>
              <a:t>+ 0 </a:t>
            </a:r>
            <a:r>
              <a:rPr kumimoji="0" lang="en-US" altLang="zh-TW" sz="2400" dirty="0">
                <a:latin typeface="Calibri" panose="020F0502020204030204" pitchFamily="34" charset="0"/>
              </a:rPr>
              <a:t>= 0</a:t>
            </a:r>
          </a:p>
          <a:p>
            <a:pPr eaLnBrk="1" hangingPunct="1"/>
            <a:r>
              <a:rPr kumimoji="0" lang="en-US" altLang="zh-TW" sz="2400" dirty="0">
                <a:latin typeface="Calibri" panose="020F0502020204030204" pitchFamily="34" charset="0"/>
              </a:rPr>
              <a:t>J = 1, </a:t>
            </a:r>
            <a:r>
              <a:rPr kumimoji="0" lang="en-US" altLang="zh-TW" sz="2400" dirty="0">
                <a:solidFill>
                  <a:srgbClr val="00B050"/>
                </a:solidFill>
                <a:latin typeface="Calibri" panose="020F0502020204030204" pitchFamily="34" charset="0"/>
              </a:rPr>
              <a:t>1 + 0 </a:t>
            </a:r>
            <a:r>
              <a:rPr kumimoji="0" lang="en-US" altLang="zh-TW" sz="2400" dirty="0">
                <a:latin typeface="Calibri" panose="020F0502020204030204" pitchFamily="34" charset="0"/>
              </a:rPr>
              <a:t>= 1</a:t>
            </a:r>
            <a:endParaRPr kumimoji="0" lang="zh-TW" altLang="en-US" sz="2400" dirty="0">
              <a:latin typeface="Calibri" panose="020F0502020204030204" pitchFamily="34" charset="0"/>
            </a:endParaRPr>
          </a:p>
        </p:txBody>
      </p:sp>
      <p:sp>
        <p:nvSpPr>
          <p:cNvPr id="22" name="文字方塊 9"/>
          <p:cNvSpPr txBox="1">
            <a:spLocks noChangeArrowheads="1"/>
          </p:cNvSpPr>
          <p:nvPr/>
        </p:nvSpPr>
        <p:spPr bwMode="auto">
          <a:xfrm>
            <a:off x="5524613" y="5287962"/>
            <a:ext cx="1925637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2400" dirty="0">
                <a:latin typeface="Calibri" panose="020F0502020204030204" pitchFamily="34" charset="0"/>
              </a:rPr>
              <a:t>J = 0, </a:t>
            </a:r>
            <a:r>
              <a:rPr kumimoji="0" lang="en-US" altLang="zh-TW" sz="2400" dirty="0">
                <a:solidFill>
                  <a:srgbClr val="FF0000"/>
                </a:solidFill>
                <a:latin typeface="Calibri" panose="020F0502020204030204" pitchFamily="34" charset="0"/>
              </a:rPr>
              <a:t>0 + 1 </a:t>
            </a:r>
            <a:r>
              <a:rPr kumimoji="0" lang="en-US" altLang="zh-TW" sz="2400" dirty="0">
                <a:latin typeface="Calibri" panose="020F0502020204030204" pitchFamily="34" charset="0"/>
              </a:rPr>
              <a:t>= 1</a:t>
            </a:r>
          </a:p>
          <a:p>
            <a:pPr eaLnBrk="1" hangingPunct="1"/>
            <a:r>
              <a:rPr kumimoji="0" lang="en-US" altLang="zh-TW" sz="2400" dirty="0">
                <a:latin typeface="Calibri" panose="020F0502020204030204" pitchFamily="34" charset="0"/>
              </a:rPr>
              <a:t>J = 1, </a:t>
            </a:r>
            <a:r>
              <a:rPr kumimoji="0" lang="en-US" altLang="zh-TW" sz="2400" dirty="0">
                <a:solidFill>
                  <a:srgbClr val="00B050"/>
                </a:solidFill>
                <a:latin typeface="Calibri" panose="020F0502020204030204" pitchFamily="34" charset="0"/>
              </a:rPr>
              <a:t>1 + 1 </a:t>
            </a:r>
            <a:r>
              <a:rPr kumimoji="0" lang="en-US" altLang="zh-TW" sz="2400" dirty="0">
                <a:latin typeface="Calibri" panose="020F0502020204030204" pitchFamily="34" charset="0"/>
              </a:rPr>
              <a:t>= 2</a:t>
            </a:r>
          </a:p>
          <a:p>
            <a:pPr eaLnBrk="1" hangingPunct="1"/>
            <a:r>
              <a:rPr kumimoji="0" lang="en-US" altLang="zh-TW" sz="2400" dirty="0">
                <a:latin typeface="Calibri" panose="020F0502020204030204" pitchFamily="34" charset="0"/>
              </a:rPr>
              <a:t>J = 2, </a:t>
            </a:r>
            <a:r>
              <a:rPr kumimoji="0" lang="en-US" altLang="zh-TW" sz="2400" dirty="0">
                <a:solidFill>
                  <a:srgbClr val="00B0F0"/>
                </a:solidFill>
                <a:latin typeface="Calibri" panose="020F0502020204030204" pitchFamily="34" charset="0"/>
              </a:rPr>
              <a:t>1 + 0 </a:t>
            </a:r>
            <a:r>
              <a:rPr kumimoji="0" lang="en-US" altLang="zh-TW" sz="2400" dirty="0">
                <a:latin typeface="Calibri" panose="020F0502020204030204" pitchFamily="34" charset="0"/>
              </a:rPr>
              <a:t>= 0</a:t>
            </a:r>
          </a:p>
          <a:p>
            <a:pPr eaLnBrk="1" hangingPunct="1"/>
            <a:r>
              <a:rPr kumimoji="0" lang="en-US" altLang="zh-TW" sz="2400" dirty="0">
                <a:latin typeface="Calibri" panose="020F0502020204030204" pitchFamily="34" charset="0"/>
              </a:rPr>
              <a:t>J = 3, </a:t>
            </a:r>
            <a:r>
              <a:rPr kumimoji="0" lang="en-US" altLang="zh-TW" sz="2400" dirty="0">
                <a:solidFill>
                  <a:srgbClr val="7030A0"/>
                </a:solidFill>
                <a:latin typeface="Calibri" panose="020F0502020204030204" pitchFamily="34" charset="0"/>
              </a:rPr>
              <a:t>1 + 0 </a:t>
            </a:r>
            <a:r>
              <a:rPr kumimoji="0" lang="en-US" altLang="zh-TW" sz="2400" dirty="0">
                <a:latin typeface="Calibri" panose="020F0502020204030204" pitchFamily="34" charset="0"/>
              </a:rPr>
              <a:t>= 1</a:t>
            </a:r>
            <a:endParaRPr kumimoji="0" lang="zh-TW" altLang="en-US" sz="2400" dirty="0">
              <a:latin typeface="Calibri" panose="020F0502020204030204" pitchFamily="34" charset="0"/>
            </a:endParaRPr>
          </a:p>
        </p:txBody>
      </p:sp>
      <p:sp>
        <p:nvSpPr>
          <p:cNvPr id="24" name="文字方塊 9"/>
          <p:cNvSpPr txBox="1">
            <a:spLocks noChangeArrowheads="1"/>
          </p:cNvSpPr>
          <p:nvPr/>
        </p:nvSpPr>
        <p:spPr bwMode="auto">
          <a:xfrm>
            <a:off x="852486" y="2192311"/>
            <a:ext cx="2339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2400" dirty="0" err="1" smtClean="0">
                <a:latin typeface="Calibri" panose="020F0502020204030204" pitchFamily="34" charset="0"/>
              </a:rPr>
              <a:t>Algo</a:t>
            </a:r>
            <a:r>
              <a:rPr kumimoji="0" lang="en-US" altLang="zh-TW" sz="2400" dirty="0" smtClean="0">
                <a:latin typeface="Calibri" panose="020F0502020204030204" pitchFamily="34" charset="0"/>
              </a:rPr>
              <a:t>(1, 1,“A</a:t>
            </a:r>
            <a:r>
              <a:rPr kumimoji="0" lang="en-US" altLang="zh-TW" sz="2400" dirty="0">
                <a:latin typeface="Calibri" panose="020F0502020204030204" pitchFamily="34" charset="0"/>
              </a:rPr>
              <a:t>”, “A”)</a:t>
            </a:r>
            <a:endParaRPr kumimoji="0" lang="zh-TW" altLang="en-US" sz="2400" dirty="0">
              <a:latin typeface="Calibri" panose="020F0502020204030204" pitchFamily="34" charset="0"/>
            </a:endParaRPr>
          </a:p>
        </p:txBody>
      </p:sp>
      <p:sp>
        <p:nvSpPr>
          <p:cNvPr id="25" name="矩形 10"/>
          <p:cNvSpPr>
            <a:spLocks noChangeArrowheads="1"/>
          </p:cNvSpPr>
          <p:nvPr/>
        </p:nvSpPr>
        <p:spPr bwMode="auto">
          <a:xfrm>
            <a:off x="825499" y="3815961"/>
            <a:ext cx="24620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2400" dirty="0" err="1" smtClean="0">
                <a:latin typeface="Calibri" panose="020F0502020204030204" pitchFamily="34" charset="0"/>
              </a:rPr>
              <a:t>Algo</a:t>
            </a:r>
            <a:r>
              <a:rPr kumimoji="0" lang="en-US" altLang="zh-TW" sz="2400" dirty="0" smtClean="0">
                <a:latin typeface="Calibri" panose="020F0502020204030204" pitchFamily="34" charset="0"/>
              </a:rPr>
              <a:t>(1</a:t>
            </a:r>
            <a:r>
              <a:rPr kumimoji="0" lang="en-US" altLang="zh-TW" sz="2400" dirty="0">
                <a:latin typeface="Calibri" panose="020F0502020204030204" pitchFamily="34" charset="0"/>
              </a:rPr>
              <a:t>, 1, “B”, “A”)</a:t>
            </a:r>
            <a:endParaRPr kumimoji="0" lang="zh-TW" altLang="en-US" sz="2400" dirty="0">
              <a:latin typeface="Calibri" panose="020F0502020204030204" pitchFamily="34" charset="0"/>
            </a:endParaRPr>
          </a:p>
        </p:txBody>
      </p:sp>
      <p:sp>
        <p:nvSpPr>
          <p:cNvPr id="26" name="文字方塊 11"/>
          <p:cNvSpPr txBox="1">
            <a:spLocks noChangeArrowheads="1"/>
          </p:cNvSpPr>
          <p:nvPr/>
        </p:nvSpPr>
        <p:spPr bwMode="auto">
          <a:xfrm>
            <a:off x="5178906" y="1961181"/>
            <a:ext cx="283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2400" dirty="0" err="1" smtClean="0">
                <a:latin typeface="Calibri" panose="020F0502020204030204" pitchFamily="34" charset="0"/>
              </a:rPr>
              <a:t>Algo</a:t>
            </a:r>
            <a:r>
              <a:rPr kumimoji="0" lang="en-US" altLang="zh-TW" sz="2400" dirty="0" smtClean="0">
                <a:latin typeface="Calibri" panose="020F0502020204030204" pitchFamily="34" charset="0"/>
              </a:rPr>
              <a:t>(1</a:t>
            </a:r>
            <a:r>
              <a:rPr kumimoji="0" lang="en-US" altLang="zh-TW" sz="2400" dirty="0">
                <a:latin typeface="Calibri" panose="020F0502020204030204" pitchFamily="34" charset="0"/>
              </a:rPr>
              <a:t>, 3, “C”, “CDE”)</a:t>
            </a:r>
            <a:endParaRPr kumimoji="0" lang="zh-TW" altLang="en-US" sz="2400" dirty="0">
              <a:latin typeface="Calibri" panose="020F0502020204030204" pitchFamily="34" charset="0"/>
            </a:endParaRPr>
          </a:p>
        </p:txBody>
      </p:sp>
      <p:sp>
        <p:nvSpPr>
          <p:cNvPr id="27" name="矩形 12"/>
          <p:cNvSpPr>
            <a:spLocks noChangeArrowheads="1"/>
          </p:cNvSpPr>
          <p:nvPr/>
        </p:nvSpPr>
        <p:spPr bwMode="auto">
          <a:xfrm>
            <a:off x="5151663" y="3800151"/>
            <a:ext cx="28612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2400" dirty="0" err="1" smtClean="0">
                <a:latin typeface="Calibri" panose="020F0502020204030204" pitchFamily="34" charset="0"/>
              </a:rPr>
              <a:t>Algo</a:t>
            </a:r>
            <a:r>
              <a:rPr kumimoji="0" lang="en-US" altLang="zh-TW" sz="2400" dirty="0" smtClean="0">
                <a:latin typeface="Calibri" panose="020F0502020204030204" pitchFamily="34" charset="0"/>
              </a:rPr>
              <a:t>(1</a:t>
            </a:r>
            <a:r>
              <a:rPr kumimoji="0" lang="en-US" altLang="zh-TW" sz="2400" dirty="0">
                <a:latin typeface="Calibri" panose="020F0502020204030204" pitchFamily="34" charset="0"/>
              </a:rPr>
              <a:t>, 3, “D”, “EDC”)</a:t>
            </a:r>
            <a:endParaRPr kumimoji="0" lang="zh-TW" altLang="en-US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4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Hirschberg’s  </a:t>
            </a:r>
            <a:r>
              <a:rPr lang="en-US" altLang="zh-TW" dirty="0" smtClean="0"/>
              <a:t>algorithm</a:t>
            </a:r>
            <a:endParaRPr lang="zh-TW" altLang="en-US" dirty="0" smtClean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319958"/>
              </p:ext>
            </p:extLst>
          </p:nvPr>
        </p:nvGraphicFramePr>
        <p:xfrm>
          <a:off x="484187" y="1719724"/>
          <a:ext cx="3714750" cy="1133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8250"/>
                <a:gridCol w="1238250"/>
                <a:gridCol w="1238250"/>
              </a:tblGrid>
              <a:tr h="39135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094548"/>
              </p:ext>
            </p:extLst>
          </p:nvPr>
        </p:nvGraphicFramePr>
        <p:xfrm>
          <a:off x="509416" y="3355521"/>
          <a:ext cx="371475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8250"/>
                <a:gridCol w="1238250"/>
                <a:gridCol w="123825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523578"/>
              </p:ext>
            </p:extLst>
          </p:nvPr>
        </p:nvGraphicFramePr>
        <p:xfrm>
          <a:off x="4899026" y="1690689"/>
          <a:ext cx="400050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F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7030A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759819"/>
              </p:ext>
            </p:extLst>
          </p:nvPr>
        </p:nvGraphicFramePr>
        <p:xfrm>
          <a:off x="4913540" y="3319683"/>
          <a:ext cx="400050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7030A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F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00B0F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6" name="直線接點 15"/>
          <p:cNvCxnSpPr/>
          <p:nvPr/>
        </p:nvCxnSpPr>
        <p:spPr>
          <a:xfrm rot="5400000">
            <a:off x="2034381" y="4036219"/>
            <a:ext cx="4930775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8"/>
          <p:cNvSpPr txBox="1">
            <a:spLocks noChangeArrowheads="1"/>
          </p:cNvSpPr>
          <p:nvPr/>
        </p:nvSpPr>
        <p:spPr bwMode="auto">
          <a:xfrm>
            <a:off x="766649" y="4569052"/>
            <a:ext cx="19256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2400" dirty="0" smtClean="0">
                <a:latin typeface="Calibri" panose="020F0502020204030204" pitchFamily="34" charset="0"/>
              </a:rPr>
              <a:t>J= </a:t>
            </a:r>
            <a:r>
              <a:rPr kumimoji="0" lang="en-US" altLang="zh-TW" sz="2400" dirty="0">
                <a:latin typeface="Calibri" panose="020F0502020204030204" pitchFamily="34" charset="0"/>
              </a:rPr>
              <a:t>0, </a:t>
            </a:r>
            <a:r>
              <a:rPr kumimoji="0" lang="en-US" altLang="zh-TW" sz="2400" dirty="0" smtClean="0">
                <a:latin typeface="Calibri" panose="020F0502020204030204" pitchFamily="34" charset="0"/>
              </a:rPr>
              <a:t> </a:t>
            </a:r>
            <a:r>
              <a:rPr kumimoji="0" lang="en-US" altLang="zh-TW" sz="24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0 </a:t>
            </a:r>
            <a:r>
              <a:rPr kumimoji="0" lang="en-US" altLang="zh-TW" sz="2400" dirty="0">
                <a:solidFill>
                  <a:srgbClr val="FF0000"/>
                </a:solidFill>
                <a:latin typeface="Calibri" panose="020F0502020204030204" pitchFamily="34" charset="0"/>
              </a:rPr>
              <a:t>+ 0 </a:t>
            </a:r>
            <a:r>
              <a:rPr kumimoji="0" lang="en-US" altLang="zh-TW" sz="2400" dirty="0">
                <a:latin typeface="Calibri" panose="020F0502020204030204" pitchFamily="34" charset="0"/>
              </a:rPr>
              <a:t>= 0</a:t>
            </a:r>
          </a:p>
          <a:p>
            <a:pPr eaLnBrk="1" hangingPunct="1"/>
            <a:r>
              <a:rPr kumimoji="0" lang="en-US" altLang="zh-TW" sz="2400" dirty="0">
                <a:latin typeface="Calibri" panose="020F0502020204030204" pitchFamily="34" charset="0"/>
              </a:rPr>
              <a:t>J = 1, </a:t>
            </a:r>
            <a:r>
              <a:rPr kumimoji="0" lang="en-US" altLang="zh-TW" sz="2400" dirty="0">
                <a:solidFill>
                  <a:srgbClr val="00B050"/>
                </a:solidFill>
                <a:latin typeface="Calibri" panose="020F0502020204030204" pitchFamily="34" charset="0"/>
              </a:rPr>
              <a:t>1 + 0 </a:t>
            </a:r>
            <a:r>
              <a:rPr kumimoji="0" lang="en-US" altLang="zh-TW" sz="2400" dirty="0">
                <a:latin typeface="Calibri" panose="020F0502020204030204" pitchFamily="34" charset="0"/>
              </a:rPr>
              <a:t>= 1</a:t>
            </a:r>
            <a:endParaRPr kumimoji="0" lang="zh-TW" altLang="en-US" sz="2400" dirty="0">
              <a:latin typeface="Calibri" panose="020F0502020204030204" pitchFamily="34" charset="0"/>
            </a:endParaRPr>
          </a:p>
        </p:txBody>
      </p:sp>
      <p:sp>
        <p:nvSpPr>
          <p:cNvPr id="22" name="文字方塊 9"/>
          <p:cNvSpPr txBox="1">
            <a:spLocks noChangeArrowheads="1"/>
          </p:cNvSpPr>
          <p:nvPr/>
        </p:nvSpPr>
        <p:spPr bwMode="auto">
          <a:xfrm>
            <a:off x="4740386" y="4569052"/>
            <a:ext cx="1925637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2400" dirty="0">
                <a:latin typeface="Calibri" panose="020F0502020204030204" pitchFamily="34" charset="0"/>
              </a:rPr>
              <a:t>J = 0, </a:t>
            </a:r>
            <a:r>
              <a:rPr kumimoji="0" lang="en-US" altLang="zh-TW" sz="2400" dirty="0">
                <a:solidFill>
                  <a:srgbClr val="FF0000"/>
                </a:solidFill>
                <a:latin typeface="Calibri" panose="020F0502020204030204" pitchFamily="34" charset="0"/>
              </a:rPr>
              <a:t>0 + 1 </a:t>
            </a:r>
            <a:r>
              <a:rPr kumimoji="0" lang="en-US" altLang="zh-TW" sz="2400" dirty="0">
                <a:latin typeface="Calibri" panose="020F0502020204030204" pitchFamily="34" charset="0"/>
              </a:rPr>
              <a:t>= 1</a:t>
            </a:r>
          </a:p>
          <a:p>
            <a:pPr eaLnBrk="1" hangingPunct="1"/>
            <a:r>
              <a:rPr kumimoji="0" lang="en-US" altLang="zh-TW" sz="2400" dirty="0">
                <a:latin typeface="Calibri" panose="020F0502020204030204" pitchFamily="34" charset="0"/>
              </a:rPr>
              <a:t>J = 1, </a:t>
            </a:r>
            <a:r>
              <a:rPr kumimoji="0" lang="en-US" altLang="zh-TW" sz="2400" dirty="0">
                <a:solidFill>
                  <a:srgbClr val="00B050"/>
                </a:solidFill>
                <a:latin typeface="Calibri" panose="020F0502020204030204" pitchFamily="34" charset="0"/>
              </a:rPr>
              <a:t>1 + 1 </a:t>
            </a:r>
            <a:r>
              <a:rPr kumimoji="0" lang="en-US" altLang="zh-TW" sz="2400" dirty="0">
                <a:latin typeface="Calibri" panose="020F0502020204030204" pitchFamily="34" charset="0"/>
              </a:rPr>
              <a:t>= 2</a:t>
            </a:r>
          </a:p>
          <a:p>
            <a:pPr eaLnBrk="1" hangingPunct="1"/>
            <a:r>
              <a:rPr kumimoji="0" lang="en-US" altLang="zh-TW" sz="2400" dirty="0">
                <a:latin typeface="Calibri" panose="020F0502020204030204" pitchFamily="34" charset="0"/>
              </a:rPr>
              <a:t>J = 2, </a:t>
            </a:r>
            <a:r>
              <a:rPr kumimoji="0" lang="en-US" altLang="zh-TW" sz="2400" dirty="0">
                <a:solidFill>
                  <a:srgbClr val="00B0F0"/>
                </a:solidFill>
                <a:latin typeface="Calibri" panose="020F0502020204030204" pitchFamily="34" charset="0"/>
              </a:rPr>
              <a:t>1 + 0 </a:t>
            </a:r>
            <a:r>
              <a:rPr kumimoji="0" lang="en-US" altLang="zh-TW" sz="2400" dirty="0">
                <a:latin typeface="Calibri" panose="020F0502020204030204" pitchFamily="34" charset="0"/>
              </a:rPr>
              <a:t>= 0</a:t>
            </a:r>
          </a:p>
          <a:p>
            <a:pPr eaLnBrk="1" hangingPunct="1"/>
            <a:r>
              <a:rPr kumimoji="0" lang="en-US" altLang="zh-TW" sz="2400" dirty="0">
                <a:latin typeface="Calibri" panose="020F0502020204030204" pitchFamily="34" charset="0"/>
              </a:rPr>
              <a:t>J = 3, </a:t>
            </a:r>
            <a:r>
              <a:rPr kumimoji="0" lang="en-US" altLang="zh-TW" sz="2400" dirty="0">
                <a:solidFill>
                  <a:srgbClr val="7030A0"/>
                </a:solidFill>
                <a:latin typeface="Calibri" panose="020F0502020204030204" pitchFamily="34" charset="0"/>
              </a:rPr>
              <a:t>1 + 0 </a:t>
            </a:r>
            <a:r>
              <a:rPr kumimoji="0" lang="en-US" altLang="zh-TW" sz="2400" dirty="0">
                <a:latin typeface="Calibri" panose="020F0502020204030204" pitchFamily="34" charset="0"/>
              </a:rPr>
              <a:t>= 1</a:t>
            </a:r>
            <a:endParaRPr kumimoji="0" lang="zh-TW" altLang="en-US" sz="2400" dirty="0">
              <a:latin typeface="Calibri" panose="020F0502020204030204" pitchFamily="34" charset="0"/>
            </a:endParaRPr>
          </a:p>
        </p:txBody>
      </p:sp>
      <p:sp>
        <p:nvSpPr>
          <p:cNvPr id="23" name="文字方塊 12"/>
          <p:cNvSpPr txBox="1">
            <a:spLocks noChangeArrowheads="1"/>
          </p:cNvSpPr>
          <p:nvPr/>
        </p:nvSpPr>
        <p:spPr bwMode="auto">
          <a:xfrm>
            <a:off x="1729468" y="6270171"/>
            <a:ext cx="1565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2800" dirty="0">
                <a:latin typeface="Calibri" panose="020F0502020204030204" pitchFamily="34" charset="0"/>
              </a:rPr>
              <a:t>LCS : ACD</a:t>
            </a:r>
            <a:endParaRPr kumimoji="0" lang="zh-TW" altLang="en-US" sz="2800" dirty="0">
              <a:latin typeface="Calibri" panose="020F0502020204030204" pitchFamily="34" charset="0"/>
            </a:endParaRPr>
          </a:p>
        </p:txBody>
      </p:sp>
      <p:sp>
        <p:nvSpPr>
          <p:cNvPr id="28" name="文字方塊 10"/>
          <p:cNvSpPr txBox="1">
            <a:spLocks noChangeArrowheads="1"/>
          </p:cNvSpPr>
          <p:nvPr/>
        </p:nvSpPr>
        <p:spPr bwMode="auto">
          <a:xfrm>
            <a:off x="120147" y="5439174"/>
            <a:ext cx="43788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 dirty="0"/>
              <a:t>Hirschberg</a:t>
            </a:r>
            <a:r>
              <a:rPr kumimoji="0" lang="en-US" altLang="zh-TW" sz="2400" dirty="0" smtClean="0">
                <a:latin typeface="Calibri" panose="020F0502020204030204" pitchFamily="34" charset="0"/>
              </a:rPr>
              <a:t>(1</a:t>
            </a:r>
            <a:r>
              <a:rPr kumimoji="0" lang="en-US" altLang="zh-TW" sz="2400" dirty="0">
                <a:latin typeface="Calibri" panose="020F0502020204030204" pitchFamily="34" charset="0"/>
              </a:rPr>
              <a:t>, 1, “A”, “A”) =&gt; A</a:t>
            </a:r>
          </a:p>
          <a:p>
            <a:pPr eaLnBrk="1" hangingPunct="1"/>
            <a:r>
              <a:rPr lang="en-US" altLang="zh-TW" sz="2400" dirty="0"/>
              <a:t>Hirschberg</a:t>
            </a:r>
            <a:r>
              <a:rPr kumimoji="0" lang="en-US" altLang="zh-TW" sz="2400" dirty="0" smtClean="0">
                <a:latin typeface="Calibri" panose="020F0502020204030204" pitchFamily="34" charset="0"/>
              </a:rPr>
              <a:t>(1</a:t>
            </a:r>
            <a:r>
              <a:rPr kumimoji="0" lang="en-US" altLang="zh-TW" sz="2400" dirty="0">
                <a:latin typeface="Calibri" panose="020F0502020204030204" pitchFamily="34" charset="0"/>
              </a:rPr>
              <a:t>, 0, “B”, null) = &gt;null</a:t>
            </a:r>
            <a:endParaRPr kumimoji="0" lang="zh-TW" altLang="en-US" sz="2400" dirty="0">
              <a:latin typeface="Calibri" panose="020F0502020204030204" pitchFamily="34" charset="0"/>
            </a:endParaRPr>
          </a:p>
        </p:txBody>
      </p:sp>
      <p:sp>
        <p:nvSpPr>
          <p:cNvPr id="29" name="文字方塊 11"/>
          <p:cNvSpPr txBox="1">
            <a:spLocks noChangeArrowheads="1"/>
          </p:cNvSpPr>
          <p:nvPr/>
        </p:nvSpPr>
        <p:spPr bwMode="auto">
          <a:xfrm>
            <a:off x="4708403" y="6027003"/>
            <a:ext cx="432637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 dirty="0"/>
              <a:t>Hirschberg</a:t>
            </a:r>
            <a:r>
              <a:rPr kumimoji="0" lang="en-US" altLang="zh-TW" sz="2400" dirty="0" smtClean="0">
                <a:latin typeface="Calibri" panose="020F0502020204030204" pitchFamily="34" charset="0"/>
              </a:rPr>
              <a:t>(1</a:t>
            </a:r>
            <a:r>
              <a:rPr kumimoji="0" lang="en-US" altLang="zh-TW" sz="2400" dirty="0">
                <a:latin typeface="Calibri" panose="020F0502020204030204" pitchFamily="34" charset="0"/>
              </a:rPr>
              <a:t>, 1, “C”, “C”) =&gt; C</a:t>
            </a:r>
          </a:p>
          <a:p>
            <a:pPr eaLnBrk="1" hangingPunct="1"/>
            <a:r>
              <a:rPr lang="en-US" altLang="zh-TW" sz="2400" dirty="0"/>
              <a:t>Hirschberg</a:t>
            </a:r>
            <a:r>
              <a:rPr kumimoji="0" lang="en-US" altLang="zh-TW" sz="2400" dirty="0" smtClean="0">
                <a:latin typeface="Calibri" panose="020F0502020204030204" pitchFamily="34" charset="0"/>
              </a:rPr>
              <a:t>(1</a:t>
            </a:r>
            <a:r>
              <a:rPr kumimoji="0" lang="en-US" altLang="zh-TW" sz="2400" dirty="0">
                <a:latin typeface="Calibri" panose="020F0502020204030204" pitchFamily="34" charset="0"/>
              </a:rPr>
              <a:t>, 2, “D”,  “DE”) =&gt; D</a:t>
            </a:r>
            <a:endParaRPr kumimoji="0" lang="zh-TW" altLang="en-US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32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Waterman and </a:t>
            </a:r>
            <a:r>
              <a:rPr lang="en-US" altLang="zh-TW" b="1" dirty="0" err="1"/>
              <a:t>Eggert</a:t>
            </a:r>
            <a:r>
              <a:rPr lang="en-US" altLang="zh-TW" b="1" dirty="0"/>
              <a:t> (1987</a:t>
            </a:r>
            <a:r>
              <a:rPr lang="en-US" altLang="zh-TW" b="1" dirty="0" smtClean="0"/>
              <a:t>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/>
              <a:t>The algorithm of Smith &amp; Waterman </a:t>
            </a:r>
            <a:r>
              <a:rPr lang="en-US" altLang="zh-TW" sz="2400" dirty="0" smtClean="0"/>
              <a:t>for identification </a:t>
            </a:r>
            <a:r>
              <a:rPr lang="en-US" altLang="zh-TW" sz="2400" dirty="0"/>
              <a:t>of maximally similar subsequences </a:t>
            </a:r>
            <a:r>
              <a:rPr lang="en-US" altLang="zh-TW" sz="2400" dirty="0" smtClean="0"/>
              <a:t>is extended </a:t>
            </a:r>
            <a:r>
              <a:rPr lang="en-US" altLang="zh-TW" sz="2400" dirty="0"/>
              <a:t>to allow identification of all non-intersecting similar subsequences with </a:t>
            </a:r>
            <a:r>
              <a:rPr lang="en-US" altLang="zh-TW" sz="2400" dirty="0" smtClean="0"/>
              <a:t>similarity score </a:t>
            </a:r>
            <a:r>
              <a:rPr lang="en-US" altLang="zh-TW" sz="2400" dirty="0"/>
              <a:t>at or</a:t>
            </a:r>
            <a:r>
              <a:rPr lang="en-US" altLang="zh-TW" sz="2400" b="1" dirty="0"/>
              <a:t> </a:t>
            </a:r>
            <a:r>
              <a:rPr lang="en-US" altLang="zh-TW" sz="2400" dirty="0"/>
              <a:t>above some preset level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9273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Waterman and </a:t>
            </a:r>
            <a:r>
              <a:rPr lang="en-US" altLang="zh-TW" b="1" dirty="0" err="1"/>
              <a:t>Eggert</a:t>
            </a:r>
            <a:r>
              <a:rPr lang="en-US" altLang="zh-TW" b="1" dirty="0"/>
              <a:t> (1987</a:t>
            </a:r>
            <a:r>
              <a:rPr lang="en-US" altLang="zh-TW" b="1" dirty="0" smtClean="0"/>
              <a:t>)</a:t>
            </a:r>
            <a:endParaRPr lang="zh-TW" altLang="en-US" b="1" dirty="0"/>
          </a:p>
        </p:txBody>
      </p:sp>
      <p:sp>
        <p:nvSpPr>
          <p:cNvPr id="8" name="文字方塊 7"/>
          <p:cNvSpPr txBox="1"/>
          <p:nvPr/>
        </p:nvSpPr>
        <p:spPr>
          <a:xfrm>
            <a:off x="628650" y="4780901"/>
            <a:ext cx="5901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an affine function, </a:t>
            </a:r>
            <a:r>
              <a:rPr lang="en-US" altLang="zh-TW" sz="2800" i="1" dirty="0"/>
              <a:t>gap</a:t>
            </a:r>
            <a:r>
              <a:rPr lang="en-US" altLang="zh-TW" sz="2800" dirty="0"/>
              <a:t>(</a:t>
            </a:r>
            <a:r>
              <a:rPr lang="en-US" altLang="zh-TW" sz="2800" i="1" dirty="0"/>
              <a:t>k</a:t>
            </a:r>
            <a:r>
              <a:rPr lang="en-US" altLang="zh-TW" sz="2800" dirty="0"/>
              <a:t>) = </a:t>
            </a:r>
            <a:r>
              <a:rPr lang="en-US" altLang="zh-TW" sz="2800" i="1" dirty="0"/>
              <a:t>u</a:t>
            </a:r>
            <a:r>
              <a:rPr lang="en-US" altLang="zh-TW" sz="2800" dirty="0" smtClean="0"/>
              <a:t>+ </a:t>
            </a:r>
            <a:r>
              <a:rPr lang="en-US" altLang="zh-TW" sz="2800" i="1" dirty="0" err="1" smtClean="0"/>
              <a:t>vk</a:t>
            </a:r>
            <a:endParaRPr lang="zh-TW" altLang="en-US" sz="28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6126" y="2282488"/>
            <a:ext cx="5482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/>
              <a:t>H</a:t>
            </a:r>
            <a:r>
              <a:rPr lang="en-US" altLang="zh-TW" sz="2400" baseline="-25000" dirty="0" err="1"/>
              <a:t>i,j</a:t>
            </a:r>
            <a:r>
              <a:rPr lang="en-US" altLang="zh-TW" sz="2400" dirty="0"/>
              <a:t>= max(0, </a:t>
            </a:r>
            <a:r>
              <a:rPr lang="en-US" altLang="zh-TW" sz="2400" dirty="0" smtClean="0"/>
              <a:t>H</a:t>
            </a:r>
            <a:r>
              <a:rPr lang="en-US" altLang="zh-TW" sz="2400" baseline="-25000" dirty="0" smtClean="0"/>
              <a:t>i-1,j-1</a:t>
            </a:r>
            <a:r>
              <a:rPr lang="en-US" altLang="zh-TW" sz="2400" dirty="0" smtClean="0"/>
              <a:t>+s(</a:t>
            </a:r>
            <a:r>
              <a:rPr lang="en-US" altLang="zh-TW" sz="2400" dirty="0" err="1" smtClean="0"/>
              <a:t>a</a:t>
            </a:r>
            <a:r>
              <a:rPr lang="en-US" altLang="zh-TW" sz="2400" baseline="-25000" dirty="0" err="1" smtClean="0"/>
              <a:t>i</a:t>
            </a:r>
            <a:r>
              <a:rPr lang="en-US" altLang="zh-TW" sz="2400" dirty="0" err="1" smtClean="0"/>
              <a:t>,b</a:t>
            </a:r>
            <a:r>
              <a:rPr lang="en-US" altLang="zh-TW" sz="2400" baseline="-25000" dirty="0" err="1" smtClean="0"/>
              <a:t>j</a:t>
            </a:r>
            <a:r>
              <a:rPr lang="en-US" altLang="zh-TW" sz="2400" dirty="0" smtClean="0"/>
              <a:t>),</a:t>
            </a:r>
            <a:r>
              <a:rPr lang="pt-BR" altLang="zh-TW" sz="2400" dirty="0"/>
              <a:t> H </a:t>
            </a:r>
            <a:r>
              <a:rPr lang="pt-BR" altLang="zh-TW" sz="2400" baseline="-25000" dirty="0"/>
              <a:t>i - l , j </a:t>
            </a:r>
            <a:r>
              <a:rPr lang="pt-BR" altLang="zh-TW" sz="2400" dirty="0" smtClean="0"/>
              <a:t>-v, H</a:t>
            </a:r>
            <a:r>
              <a:rPr lang="pt-BR" altLang="zh-TW" sz="2400" baseline="-25000" dirty="0" smtClean="0"/>
              <a:t>i,j-l</a:t>
            </a:r>
            <a:r>
              <a:rPr lang="pt-BR" altLang="zh-TW" sz="2400" dirty="0" smtClean="0"/>
              <a:t>-v }</a:t>
            </a:r>
            <a:endParaRPr lang="zh-TW" altLang="en-US" sz="2400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6946124" y="2828543"/>
            <a:ext cx="1569225" cy="3348419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706126" y="3872661"/>
            <a:ext cx="5482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H*</a:t>
            </a:r>
            <a:r>
              <a:rPr lang="en-US" altLang="zh-TW" sz="2400" baseline="-25000" dirty="0" err="1" smtClean="0"/>
              <a:t>i,j</a:t>
            </a:r>
            <a:r>
              <a:rPr lang="en-US" altLang="zh-TW" sz="2400" dirty="0"/>
              <a:t>= </a:t>
            </a:r>
            <a:r>
              <a:rPr lang="en-US" altLang="zh-TW" sz="2400" dirty="0" smtClean="0"/>
              <a:t>max(0,</a:t>
            </a:r>
            <a:r>
              <a:rPr lang="pt-BR" altLang="zh-TW" sz="2400" dirty="0" smtClean="0"/>
              <a:t> </a:t>
            </a:r>
            <a:r>
              <a:rPr lang="pt-BR" altLang="zh-TW" sz="2400" dirty="0"/>
              <a:t>H </a:t>
            </a:r>
            <a:r>
              <a:rPr lang="pt-BR" altLang="zh-TW" sz="2400" baseline="-25000" dirty="0"/>
              <a:t>i - l , j </a:t>
            </a:r>
            <a:r>
              <a:rPr lang="pt-BR" altLang="zh-TW" sz="2400" dirty="0" smtClean="0"/>
              <a:t>-v, H</a:t>
            </a:r>
            <a:r>
              <a:rPr lang="pt-BR" altLang="zh-TW" sz="2400" baseline="-25000" dirty="0" smtClean="0"/>
              <a:t>i,j-l</a:t>
            </a:r>
            <a:r>
              <a:rPr lang="pt-BR" altLang="zh-TW" sz="2400" dirty="0" smtClean="0"/>
              <a:t>-v }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06126" y="2630938"/>
            <a:ext cx="5482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 smtClean="0"/>
              <a:t>E</a:t>
            </a:r>
            <a:r>
              <a:rPr lang="en-US" altLang="zh-TW" sz="2400" baseline="-25000" dirty="0" err="1" smtClean="0"/>
              <a:t>i,j</a:t>
            </a:r>
            <a:r>
              <a:rPr lang="en-US" altLang="zh-TW" sz="2400" dirty="0"/>
              <a:t>= </a:t>
            </a:r>
            <a:r>
              <a:rPr lang="en-US" altLang="zh-TW" sz="2400" dirty="0" smtClean="0"/>
              <a:t>max(</a:t>
            </a:r>
            <a:r>
              <a:rPr lang="pt-BR" altLang="zh-TW" sz="2400" dirty="0" smtClean="0"/>
              <a:t>H </a:t>
            </a:r>
            <a:r>
              <a:rPr lang="pt-BR" altLang="zh-TW" sz="2400" baseline="-25000" dirty="0"/>
              <a:t>i </a:t>
            </a:r>
            <a:r>
              <a:rPr lang="pt-BR" altLang="zh-TW" sz="2400" baseline="-25000" dirty="0" smtClean="0"/>
              <a:t>, </a:t>
            </a:r>
            <a:r>
              <a:rPr lang="pt-BR" altLang="zh-TW" sz="2400" baseline="-25000" dirty="0"/>
              <a:t>j- l </a:t>
            </a:r>
            <a:r>
              <a:rPr lang="pt-BR" altLang="zh-TW" sz="2400" dirty="0" smtClean="0"/>
              <a:t>–(v+u), E</a:t>
            </a:r>
            <a:r>
              <a:rPr lang="pt-BR" altLang="zh-TW" sz="2400" baseline="-25000" dirty="0" smtClean="0"/>
              <a:t>i,j-l</a:t>
            </a:r>
            <a:r>
              <a:rPr lang="pt-BR" altLang="zh-TW" sz="2400" dirty="0" smtClean="0"/>
              <a:t>-v }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06126" y="2964421"/>
            <a:ext cx="5482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 smtClean="0"/>
              <a:t>F</a:t>
            </a:r>
            <a:r>
              <a:rPr lang="en-US" altLang="zh-TW" sz="2400" baseline="-25000" dirty="0" err="1" smtClean="0"/>
              <a:t>i,j</a:t>
            </a:r>
            <a:r>
              <a:rPr lang="en-US" altLang="zh-TW" sz="2400" dirty="0" smtClean="0"/>
              <a:t>= max(</a:t>
            </a:r>
            <a:r>
              <a:rPr lang="pt-BR" altLang="zh-TW" sz="2400" dirty="0" smtClean="0"/>
              <a:t>H </a:t>
            </a:r>
            <a:r>
              <a:rPr lang="pt-BR" altLang="zh-TW" sz="2400" baseline="-25000" dirty="0"/>
              <a:t>i </a:t>
            </a:r>
            <a:r>
              <a:rPr lang="pt-BR" altLang="zh-TW" sz="2400" baseline="-25000" dirty="0" smtClean="0"/>
              <a:t>, </a:t>
            </a:r>
            <a:r>
              <a:rPr lang="pt-BR" altLang="zh-TW" sz="2400" baseline="-25000" dirty="0"/>
              <a:t>j- l </a:t>
            </a:r>
            <a:r>
              <a:rPr lang="pt-BR" altLang="zh-TW" sz="2400" dirty="0" smtClean="0"/>
              <a:t>–(v+u), F</a:t>
            </a:r>
            <a:r>
              <a:rPr lang="pt-BR" altLang="zh-TW" sz="2400" baseline="-25000" dirty="0" smtClean="0"/>
              <a:t>i,j-l</a:t>
            </a:r>
            <a:r>
              <a:rPr lang="pt-BR" altLang="zh-TW" sz="2400" dirty="0" smtClean="0"/>
              <a:t>-v }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6216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25625"/>
            <a:ext cx="8076438" cy="433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30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882361"/>
            <a:ext cx="7886700" cy="433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8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Finding a best local alignment</a:t>
            </a:r>
            <a:endParaRPr lang="zh-TW" altLang="en-US" b="1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7667" y="1906746"/>
            <a:ext cx="6294243" cy="188496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226763" y="4827871"/>
            <a:ext cx="67381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H(</a:t>
            </a:r>
            <a:r>
              <a:rPr lang="en-US" altLang="zh-TW" dirty="0" err="1"/>
              <a:t>i</a:t>
            </a:r>
            <a:r>
              <a:rPr lang="en-US" altLang="zh-TW" dirty="0" err="1" smtClean="0"/>
              <a:t>,j</a:t>
            </a:r>
            <a:r>
              <a:rPr lang="en-US" altLang="zh-TW" dirty="0" smtClean="0"/>
              <a:t>):</a:t>
            </a:r>
          </a:p>
          <a:p>
            <a:r>
              <a:rPr lang="zh-TW" altLang="en-US" dirty="0" smtClean="0"/>
              <a:t>第一</a:t>
            </a:r>
            <a:r>
              <a:rPr lang="zh-TW" altLang="en-US" dirty="0"/>
              <a:t>序列前 </a:t>
            </a:r>
            <a:r>
              <a:rPr lang="en-US" altLang="zh-TW" dirty="0" err="1"/>
              <a:t>i</a:t>
            </a:r>
            <a:r>
              <a:rPr lang="en-US" altLang="zh-TW" dirty="0" smtClean="0"/>
              <a:t> </a:t>
            </a:r>
            <a:r>
              <a:rPr lang="zh-TW" altLang="en-US" dirty="0"/>
              <a:t>個字母和第二序列前 </a:t>
            </a:r>
            <a:r>
              <a:rPr lang="en-US" altLang="zh-TW" dirty="0"/>
              <a:t>j </a:t>
            </a:r>
            <a:r>
              <a:rPr lang="zh-TW" altLang="en-US" dirty="0"/>
              <a:t>個</a:t>
            </a:r>
            <a:r>
              <a:rPr lang="zh-TW" altLang="en-US" dirty="0" smtClean="0"/>
              <a:t>字母</a:t>
            </a:r>
            <a:r>
              <a:rPr lang="zh-TW" altLang="en-US" dirty="0"/>
              <a:t>，最高的序列比對</a:t>
            </a:r>
            <a:r>
              <a:rPr lang="zh-TW" altLang="en-US" dirty="0" smtClean="0"/>
              <a:t>分數</a:t>
            </a:r>
            <a:endParaRPr lang="en-US" altLang="zh-TW" dirty="0" smtClean="0"/>
          </a:p>
          <a:p>
            <a:r>
              <a:rPr lang="en-US" altLang="zh-TW" dirty="0" smtClean="0"/>
              <a:t>E(</a:t>
            </a:r>
            <a:r>
              <a:rPr lang="en-US" altLang="zh-TW" dirty="0" err="1"/>
              <a:t>i</a:t>
            </a:r>
            <a:r>
              <a:rPr lang="en-US" altLang="zh-TW" dirty="0" err="1" smtClean="0"/>
              <a:t>,j</a:t>
            </a:r>
            <a:r>
              <a:rPr lang="en-US" altLang="zh-TW" dirty="0" smtClean="0"/>
              <a:t>) : </a:t>
            </a:r>
            <a:r>
              <a:rPr lang="zh-TW" altLang="en-US" dirty="0" smtClean="0"/>
              <a:t>在 </a:t>
            </a:r>
            <a:r>
              <a:rPr lang="en-US" altLang="zh-TW" dirty="0"/>
              <a:t>H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i,j</a:t>
            </a:r>
            <a:r>
              <a:rPr lang="en-US" altLang="zh-TW" dirty="0"/>
              <a:t>)</a:t>
            </a:r>
            <a:r>
              <a:rPr lang="zh-TW" altLang="en-US" dirty="0"/>
              <a:t>中，第一序列第 </a:t>
            </a:r>
            <a:r>
              <a:rPr lang="en-US" altLang="zh-TW" dirty="0" err="1"/>
              <a:t>i</a:t>
            </a:r>
            <a:r>
              <a:rPr lang="en-US" altLang="zh-TW" dirty="0"/>
              <a:t> </a:t>
            </a:r>
            <a:r>
              <a:rPr lang="zh-TW" altLang="en-US" dirty="0"/>
              <a:t>個字母和</a:t>
            </a:r>
            <a:r>
              <a:rPr lang="zh-TW" altLang="en-US" dirty="0" smtClean="0"/>
              <a:t>第二序列</a:t>
            </a:r>
            <a:r>
              <a:rPr lang="en-US" altLang="zh-TW" dirty="0" smtClean="0"/>
              <a:t>gap</a:t>
            </a:r>
            <a:r>
              <a:rPr lang="zh-TW" altLang="en-US" dirty="0" smtClean="0"/>
              <a:t>比對</a:t>
            </a:r>
            <a:endParaRPr lang="en-US" altLang="zh-TW" dirty="0" smtClean="0"/>
          </a:p>
          <a:p>
            <a:r>
              <a:rPr lang="en-US" altLang="zh-TW" dirty="0" smtClean="0"/>
              <a:t>F(</a:t>
            </a:r>
            <a:r>
              <a:rPr lang="en-US" altLang="zh-TW" dirty="0" err="1" smtClean="0"/>
              <a:t>i,j</a:t>
            </a:r>
            <a:r>
              <a:rPr lang="en-US" altLang="zh-TW" dirty="0" smtClean="0"/>
              <a:t>)</a:t>
            </a:r>
            <a:r>
              <a:rPr lang="zh-TW" altLang="en-US" dirty="0" smtClean="0"/>
              <a:t> </a:t>
            </a:r>
            <a:r>
              <a:rPr lang="en-US" altLang="zh-TW" dirty="0" smtClean="0"/>
              <a:t>: </a:t>
            </a:r>
            <a:r>
              <a:rPr lang="zh-TW" altLang="en-US" dirty="0" smtClean="0"/>
              <a:t>在 </a:t>
            </a:r>
            <a:r>
              <a:rPr lang="en-US" altLang="zh-TW" dirty="0" smtClean="0"/>
              <a:t>H(</a:t>
            </a:r>
            <a:r>
              <a:rPr lang="en-US" altLang="zh-TW" dirty="0" err="1" smtClean="0"/>
              <a:t>i,j</a:t>
            </a:r>
            <a:r>
              <a:rPr lang="en-US" altLang="zh-TW" dirty="0"/>
              <a:t>)</a:t>
            </a:r>
            <a:r>
              <a:rPr lang="zh-TW" altLang="en-US" dirty="0"/>
              <a:t>中，第一</a:t>
            </a:r>
            <a:r>
              <a:rPr lang="zh-TW" altLang="en-US" dirty="0" smtClean="0"/>
              <a:t>序列</a:t>
            </a:r>
            <a:r>
              <a:rPr lang="en-US" altLang="zh-TW" dirty="0" smtClean="0"/>
              <a:t>gap</a:t>
            </a:r>
            <a:r>
              <a:rPr lang="zh-TW" altLang="en-US" dirty="0" smtClean="0"/>
              <a:t>和</a:t>
            </a:r>
            <a:r>
              <a:rPr lang="zh-TW" altLang="en-US" dirty="0"/>
              <a:t>第二序列</a:t>
            </a:r>
            <a:r>
              <a:rPr lang="zh-TW" altLang="en-US" dirty="0" smtClean="0"/>
              <a:t>第</a:t>
            </a:r>
            <a:r>
              <a:rPr lang="en-US" altLang="zh-TW" dirty="0" smtClean="0"/>
              <a:t>j </a:t>
            </a:r>
            <a:r>
              <a:rPr lang="zh-TW" altLang="en-US" dirty="0"/>
              <a:t>個字母比對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667" y="3884896"/>
            <a:ext cx="48196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8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735" y="1840140"/>
            <a:ext cx="3271329" cy="435133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14" y="1840140"/>
            <a:ext cx="3278414" cy="453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83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370" y="1970824"/>
            <a:ext cx="4538207" cy="71743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424" y="1696188"/>
            <a:ext cx="3952865" cy="103051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370" y="2597235"/>
            <a:ext cx="2827139" cy="1256506"/>
          </a:xfrm>
          <a:prstGeom prst="rect">
            <a:avLst/>
          </a:prstGeom>
        </p:spPr>
      </p:pic>
      <p:grpSp>
        <p:nvGrpSpPr>
          <p:cNvPr id="7" name="群組 6"/>
          <p:cNvGrpSpPr/>
          <p:nvPr/>
        </p:nvGrpSpPr>
        <p:grpSpPr>
          <a:xfrm>
            <a:off x="263738" y="3724274"/>
            <a:ext cx="8585551" cy="3133726"/>
            <a:chOff x="0" y="2551748"/>
            <a:chExt cx="8585551" cy="3133726"/>
          </a:xfrm>
        </p:grpSpPr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2551748"/>
              <a:ext cx="8585551" cy="3133726"/>
            </a:xfrm>
            <a:prstGeom prst="rect">
              <a:avLst/>
            </a:prstGeom>
          </p:spPr>
        </p:pic>
        <p:sp>
          <p:nvSpPr>
            <p:cNvPr id="9" name="文字方塊 8"/>
            <p:cNvSpPr txBox="1"/>
            <p:nvPr/>
          </p:nvSpPr>
          <p:spPr>
            <a:xfrm>
              <a:off x="558449" y="3023616"/>
              <a:ext cx="22457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          A         </a:t>
              </a:r>
              <a:r>
                <a:rPr lang="en-US" altLang="zh-TW" dirty="0" err="1" smtClean="0"/>
                <a:t>A</a:t>
              </a:r>
              <a:r>
                <a:rPr lang="en-US" altLang="zh-TW" dirty="0" smtClean="0"/>
                <a:t>         G</a:t>
              </a:r>
              <a:endParaRPr lang="zh-TW" altLang="en-US" dirty="0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362609" y="3023616"/>
              <a:ext cx="22457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          A         </a:t>
              </a:r>
              <a:r>
                <a:rPr lang="en-US" altLang="zh-TW" dirty="0" err="1" smtClean="0"/>
                <a:t>A</a:t>
              </a:r>
              <a:r>
                <a:rPr lang="en-US" altLang="zh-TW" dirty="0" smtClean="0"/>
                <a:t>         G</a:t>
              </a:r>
              <a:endParaRPr lang="zh-TW" altLang="en-US" dirty="0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6038753" y="3023616"/>
              <a:ext cx="22457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          A         </a:t>
              </a:r>
              <a:r>
                <a:rPr lang="en-US" altLang="zh-TW" dirty="0" err="1" smtClean="0"/>
                <a:t>A</a:t>
              </a:r>
              <a:r>
                <a:rPr lang="en-US" altLang="zh-TW" dirty="0" smtClean="0"/>
                <a:t>         G</a:t>
              </a:r>
              <a:endParaRPr lang="zh-TW" altLang="en-US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103632" y="3615406"/>
              <a:ext cx="421386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 smtClean="0"/>
                <a:t>AG     </a:t>
              </a:r>
            </a:p>
            <a:p>
              <a:r>
                <a:rPr lang="en-US" altLang="zh-TW" sz="2000" dirty="0" smtClean="0"/>
                <a:t>T      </a:t>
              </a:r>
            </a:p>
            <a:p>
              <a:r>
                <a:rPr lang="en-US" altLang="zh-TW" sz="2000" dirty="0" smtClean="0"/>
                <a:t>A     </a:t>
              </a:r>
            </a:p>
            <a:p>
              <a:r>
                <a:rPr lang="en-US" altLang="zh-TW" sz="2000" dirty="0"/>
                <a:t>C</a:t>
              </a:r>
              <a:endParaRPr lang="zh-TW" altLang="en-US" sz="2000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2911983" y="3615406"/>
              <a:ext cx="421386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 smtClean="0"/>
                <a:t>AG     </a:t>
              </a:r>
            </a:p>
            <a:p>
              <a:r>
                <a:rPr lang="en-US" altLang="zh-TW" sz="2000" dirty="0" smtClean="0"/>
                <a:t>T      </a:t>
              </a:r>
            </a:p>
            <a:p>
              <a:r>
                <a:rPr lang="en-US" altLang="zh-TW" sz="2000" dirty="0" smtClean="0"/>
                <a:t>A     </a:t>
              </a:r>
            </a:p>
            <a:p>
              <a:r>
                <a:rPr lang="en-US" altLang="zh-TW" sz="2000" dirty="0"/>
                <a:t>C</a:t>
              </a:r>
              <a:endParaRPr lang="zh-TW" altLang="en-US" sz="20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5608320" y="3558842"/>
              <a:ext cx="421386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 smtClean="0"/>
                <a:t>AG     </a:t>
              </a:r>
            </a:p>
            <a:p>
              <a:r>
                <a:rPr lang="en-US" altLang="zh-TW" sz="2000" dirty="0" smtClean="0"/>
                <a:t>T      </a:t>
              </a:r>
            </a:p>
            <a:p>
              <a:r>
                <a:rPr lang="en-US" altLang="zh-TW" sz="2000" dirty="0" smtClean="0"/>
                <a:t>A     </a:t>
              </a:r>
            </a:p>
            <a:p>
              <a:r>
                <a:rPr lang="en-US" altLang="zh-TW" sz="2000" dirty="0"/>
                <a:t>C</a:t>
              </a:r>
              <a:endParaRPr lang="zh-TW" altLang="en-US" sz="2000" dirty="0"/>
            </a:p>
          </p:txBody>
        </p:sp>
      </p:grpSp>
      <p:sp>
        <p:nvSpPr>
          <p:cNvPr id="3" name="矩形 2"/>
          <p:cNvSpPr/>
          <p:nvPr/>
        </p:nvSpPr>
        <p:spPr>
          <a:xfrm>
            <a:off x="628650" y="3931698"/>
            <a:ext cx="1182635" cy="357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H-matrix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89365" y="3931698"/>
            <a:ext cx="1182635" cy="357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E</a:t>
            </a:r>
            <a:r>
              <a:rPr lang="en-US" altLang="zh-TW" dirty="0" smtClean="0">
                <a:solidFill>
                  <a:schemeClr val="tx1"/>
                </a:solidFill>
              </a:rPr>
              <a:t>-matrix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001404" y="3931698"/>
            <a:ext cx="1182635" cy="357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F-matrix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28649" y="6454540"/>
            <a:ext cx="1182635" cy="357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HH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89365" y="6444348"/>
            <a:ext cx="1182635" cy="357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EE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592721" y="5988788"/>
            <a:ext cx="207742" cy="2706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f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613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/>
              <a:t>Finding k best non-intersecting alignments</a:t>
            </a:r>
            <a:endParaRPr lang="zh-TW" altLang="en-US" sz="32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25625"/>
            <a:ext cx="8076438" cy="433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56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45840"/>
            <a:ext cx="7886700" cy="433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24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/>
              <a:t>Finding repeated regions within a sequence</a:t>
            </a:r>
            <a:endParaRPr lang="zh-TW" altLang="en-US" sz="3200" b="1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0582" y="1507809"/>
            <a:ext cx="6905683" cy="2218341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391123"/>
              </p:ext>
            </p:extLst>
          </p:nvPr>
        </p:nvGraphicFramePr>
        <p:xfrm>
          <a:off x="1806569" y="3726150"/>
          <a:ext cx="5334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0"/>
                <a:gridCol w="666750"/>
                <a:gridCol w="666750"/>
                <a:gridCol w="666750"/>
                <a:gridCol w="666750"/>
                <a:gridCol w="666750"/>
                <a:gridCol w="666750"/>
                <a:gridCol w="666750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798313"/>
              </p:ext>
            </p:extLst>
          </p:nvPr>
        </p:nvGraphicFramePr>
        <p:xfrm>
          <a:off x="1824857" y="3726150"/>
          <a:ext cx="5334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0"/>
                <a:gridCol w="666750"/>
                <a:gridCol w="666750"/>
                <a:gridCol w="666750"/>
                <a:gridCol w="666750"/>
                <a:gridCol w="666750"/>
                <a:gridCol w="666750"/>
                <a:gridCol w="666750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58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9418" y="1927225"/>
            <a:ext cx="3097963" cy="435133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830" y="1803060"/>
            <a:ext cx="3251204" cy="459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79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Implementation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186" y="1386712"/>
            <a:ext cx="7484302" cy="5306695"/>
          </a:xfrm>
          <a:prstGeom prst="rect">
            <a:avLst/>
          </a:prstGeom>
        </p:spPr>
      </p:pic>
      <p:sp>
        <p:nvSpPr>
          <p:cNvPr id="3" name="框架 2"/>
          <p:cNvSpPr/>
          <p:nvPr/>
        </p:nvSpPr>
        <p:spPr>
          <a:xfrm>
            <a:off x="4693920" y="4852416"/>
            <a:ext cx="633984" cy="108508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" name="框架 4"/>
          <p:cNvSpPr/>
          <p:nvPr/>
        </p:nvSpPr>
        <p:spPr>
          <a:xfrm>
            <a:off x="5498592" y="4852416"/>
            <a:ext cx="597408" cy="108508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80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Implementation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97" y="1414271"/>
            <a:ext cx="8125206" cy="506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62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Conclusion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Previous dynamic-programming algorithms for local </a:t>
            </a:r>
            <a:r>
              <a:rPr lang="en-US" altLang="zh-TW" dirty="0" smtClean="0"/>
              <a:t>similarity require </a:t>
            </a:r>
            <a:r>
              <a:rPr lang="en-US" altLang="zh-TW" dirty="0"/>
              <a:t>space proportional to the product of the </a:t>
            </a:r>
            <a:r>
              <a:rPr lang="en-US" altLang="zh-TW" dirty="0" smtClean="0"/>
              <a:t>sequence lengths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This </a:t>
            </a:r>
            <a:r>
              <a:rPr lang="en-US" altLang="zh-TW" dirty="0"/>
              <a:t>paper presents an algorithm that uses only </a:t>
            </a:r>
            <a:r>
              <a:rPr lang="en-US" altLang="zh-TW" dirty="0" smtClean="0"/>
              <a:t>space proportional </a:t>
            </a:r>
            <a:r>
              <a:rPr lang="en-US" altLang="zh-TW" dirty="0"/>
              <a:t>to the longer sequence's length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r>
              <a:rPr lang="en-US" altLang="zh-TW" dirty="0"/>
              <a:t>Our current implementation of SIM computes later </a:t>
            </a:r>
            <a:r>
              <a:rPr lang="en-US" altLang="zh-TW" dirty="0" smtClean="0"/>
              <a:t>alignments very </a:t>
            </a:r>
            <a:r>
              <a:rPr lang="en-US" altLang="zh-TW" dirty="0"/>
              <a:t>quickly, so </a:t>
            </a:r>
            <a:r>
              <a:rPr lang="en-US" altLang="zh-TW" i="1" dirty="0"/>
              <a:t>k </a:t>
            </a:r>
            <a:r>
              <a:rPr lang="en-US" altLang="zh-TW" dirty="0"/>
              <a:t>can be set very large without </a:t>
            </a:r>
            <a:r>
              <a:rPr lang="en-US" altLang="zh-TW" dirty="0" smtClean="0"/>
              <a:t>significantly decreasing </a:t>
            </a:r>
            <a:r>
              <a:rPr lang="en-US" altLang="zh-TW" dirty="0"/>
              <a:t>the efficiency of the program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974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1431</TotalTime>
  <Words>1482</Words>
  <Application>Microsoft Office PowerPoint</Application>
  <PresentationFormat>如螢幕大小 (4:3)</PresentationFormat>
  <Paragraphs>636</Paragraphs>
  <Slides>30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40" baseType="lpstr">
      <vt:lpstr>Arial Unicode MS</vt:lpstr>
      <vt:lpstr>Monotype Sorts</vt:lpstr>
      <vt:lpstr>新細明體</vt:lpstr>
      <vt:lpstr>Arial</vt:lpstr>
      <vt:lpstr>Calibri</vt:lpstr>
      <vt:lpstr>Calibri Light</vt:lpstr>
      <vt:lpstr>Comic Sans MS</vt:lpstr>
      <vt:lpstr>Courier New</vt:lpstr>
      <vt:lpstr>Times New Roman</vt:lpstr>
      <vt:lpstr>Office 佈景主題</vt:lpstr>
      <vt:lpstr>A space-efficient algorithm for local similarities</vt:lpstr>
      <vt:lpstr>Abstract</vt:lpstr>
      <vt:lpstr>Introduction(local alignment)</vt:lpstr>
      <vt:lpstr>Introduction(local alignment)</vt:lpstr>
      <vt:lpstr>Introduction(local alignment)</vt:lpstr>
      <vt:lpstr>Introduction(local alignment)</vt:lpstr>
      <vt:lpstr>Introduction(local alignment)</vt:lpstr>
      <vt:lpstr>Introduction</vt:lpstr>
      <vt:lpstr>Myers and Miller(1988)</vt:lpstr>
      <vt:lpstr>Myers and Miller(1988)</vt:lpstr>
      <vt:lpstr>Hirschberg (1975)</vt:lpstr>
      <vt:lpstr>Midpoint</vt:lpstr>
      <vt:lpstr>A general LCS algorithm</vt:lpstr>
      <vt:lpstr>Hirschberg’s  algorithm</vt:lpstr>
      <vt:lpstr>Hirschberg’s  algorithm</vt:lpstr>
      <vt:lpstr>Hirschberg’s  algorithm</vt:lpstr>
      <vt:lpstr>Waterman and Eggert (1987)</vt:lpstr>
      <vt:lpstr>Waterman and Eggert (1987)</vt:lpstr>
      <vt:lpstr>PowerPoint 簡報</vt:lpstr>
      <vt:lpstr>PowerPoint 簡報</vt:lpstr>
      <vt:lpstr>Finding a best local alignment</vt:lpstr>
      <vt:lpstr>PowerPoint 簡報</vt:lpstr>
      <vt:lpstr>PowerPoint 簡報</vt:lpstr>
      <vt:lpstr>Finding k best non-intersecting alignments</vt:lpstr>
      <vt:lpstr>PowerPoint 簡報</vt:lpstr>
      <vt:lpstr>Finding repeated regions within a sequence</vt:lpstr>
      <vt:lpstr>PowerPoint 簡報</vt:lpstr>
      <vt:lpstr>Implementation</vt:lpstr>
      <vt:lpstr>Implementation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space-efficient algorithm for local similarities</dc:title>
  <dc:creator>黃鼎耀</dc:creator>
  <cp:lastModifiedBy>黃鼎耀</cp:lastModifiedBy>
  <cp:revision>108</cp:revision>
  <dcterms:created xsi:type="dcterms:W3CDTF">2014-07-07T15:52:49Z</dcterms:created>
  <dcterms:modified xsi:type="dcterms:W3CDTF">2014-07-15T09:04:15Z</dcterms:modified>
</cp:coreProperties>
</file>