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2" r:id="rId7"/>
    <p:sldId id="277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40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5481F-7728-45F3-BCBB-912E534F8F4D}" type="datetimeFigureOut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423ED-D210-4F25-975E-30126953DC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1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423ED-D210-4F25-975E-30126953DC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695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423ED-D210-4F25-975E-30126953DC9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24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582A-440D-499B-8FF3-DC629FB17E65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02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EE54-9187-4164-B154-F0B1282E0D92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85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F04AE-8731-4978-BBBE-9E61EC356099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30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6A32-81F4-4254-BADA-D09380E3806B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388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B00B-AF84-460E-A666-89DE34C63807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32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8AEE-2765-4752-B59D-3B21241ABE20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88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DC5B-03EA-459E-9903-F267CF50E719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486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98EBA-A02E-4F2B-A7FC-BCD249EC4BFD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59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ADF3-EDB1-4C20-9862-743373B5EB35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42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F92C-5969-4D3A-936E-9D92F883E4B7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41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4A63-97C5-455F-9B6B-DCDC4FAA8F5F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69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50B99-21E2-4CF3-8349-C2EB2DF7EC64}" type="datetime1">
              <a:rPr lang="zh-TW" altLang="en-US" smtClean="0"/>
              <a:t>2014/12/22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723D-8CA3-4AF4-BFF5-56C6E9C2D5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917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fast algorithm for computing a longest common increasing</a:t>
            </a:r>
            <a:br>
              <a:rPr lang="en-US" altLang="zh-TW" dirty="0"/>
            </a:br>
            <a:r>
              <a:rPr lang="en-US" altLang="zh-TW" dirty="0"/>
              <a:t>subsequence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95536" y="3886200"/>
            <a:ext cx="8496944" cy="694928"/>
          </a:xfrm>
        </p:spPr>
        <p:txBody>
          <a:bodyPr>
            <a:normAutofit/>
          </a:bodyPr>
          <a:lstStyle/>
          <a:p>
            <a:r>
              <a:rPr lang="it-IT" altLang="zh-TW" dirty="0"/>
              <a:t>I-Hsuan Yang </a:t>
            </a:r>
            <a:r>
              <a:rPr lang="it-IT" altLang="zh-TW" dirty="0" smtClean="0"/>
              <a:t>, </a:t>
            </a:r>
            <a:r>
              <a:rPr lang="it-IT" altLang="zh-TW" dirty="0"/>
              <a:t>Chien-Pin Huang </a:t>
            </a:r>
            <a:r>
              <a:rPr lang="it-IT" altLang="zh-TW" dirty="0" smtClean="0"/>
              <a:t> </a:t>
            </a:r>
            <a:r>
              <a:rPr lang="it-IT" altLang="zh-TW" dirty="0"/>
              <a:t>Kun-Mao </a:t>
            </a:r>
            <a:r>
              <a:rPr lang="it-IT" altLang="zh-TW" dirty="0" smtClean="0"/>
              <a:t>Chao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363815" y="4437112"/>
            <a:ext cx="846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TW" i="1" dirty="0" smtClean="0"/>
          </a:p>
          <a:p>
            <a:pPr algn="ctr"/>
            <a:r>
              <a:rPr lang="en-US" altLang="zh-TW" dirty="0"/>
              <a:t>Information Processing Letters 93 (2005) </a:t>
            </a:r>
            <a:r>
              <a:rPr lang="en-US" altLang="zh-TW" dirty="0" smtClean="0"/>
              <a:t>pp. 249–253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588224" y="6142186"/>
            <a:ext cx="1845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Presenter:</a:t>
            </a:r>
            <a:r>
              <a:rPr lang="zh-TW" altLang="en-US" dirty="0" smtClean="0"/>
              <a:t>林憲良</a:t>
            </a:r>
            <a:endParaRPr lang="en-US" altLang="zh-TW" dirty="0" smtClean="0"/>
          </a:p>
          <a:p>
            <a:r>
              <a:rPr lang="en-US" altLang="zh-TW" dirty="0" smtClean="0"/>
              <a:t>Date:2014/12/22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9BC1-28A7-4C93-B33F-A0C2BEA885A3}" type="datetime1">
              <a:rPr lang="zh-TW" altLang="en-US" smtClean="0"/>
              <a:t>2014/12/22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68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Let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1</a:t>
                </a:r>
                <a:r>
                  <a:rPr lang="en-US" altLang="zh-TW" i="1" dirty="0" smtClean="0"/>
                  <a:t>,a</a:t>
                </a:r>
                <a:r>
                  <a:rPr lang="en-US" altLang="zh-TW" baseline="-25000" dirty="0" smtClean="0"/>
                  <a:t>2</a:t>
                </a:r>
                <a:r>
                  <a:rPr lang="en-US" altLang="zh-TW" i="1" dirty="0"/>
                  <a:t>, . . ., </a:t>
                </a:r>
                <a:r>
                  <a:rPr lang="en-US" altLang="zh-TW" i="1" dirty="0" smtClean="0"/>
                  <a:t>a</a:t>
                </a:r>
                <a:r>
                  <a:rPr lang="en-US" altLang="zh-TW" i="1" baseline="-25000" dirty="0" smtClean="0"/>
                  <a:t>m</a:t>
                </a:r>
                <a:r>
                  <a:rPr lang="en-US" altLang="zh-TW" i="1" dirty="0" smtClean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b</a:t>
                </a:r>
                <a:r>
                  <a:rPr lang="en-US" altLang="zh-TW" baseline="-25000" dirty="0" smtClean="0"/>
                  <a:t>1</a:t>
                </a:r>
                <a:r>
                  <a:rPr lang="en-US" altLang="zh-TW" i="1" dirty="0" smtClean="0"/>
                  <a:t>,b</a:t>
                </a:r>
                <a:r>
                  <a:rPr lang="en-US" altLang="zh-TW" baseline="-25000" dirty="0" smtClean="0"/>
                  <a:t>2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b</a:t>
                </a:r>
                <a:r>
                  <a:rPr lang="en-US" altLang="zh-TW" i="1" baseline="-25000" dirty="0" err="1"/>
                  <a:t>n</a:t>
                </a:r>
                <a:r>
                  <a:rPr lang="en-US" altLang="zh-TW" dirty="0"/>
                  <a:t> )</a:t>
                </a:r>
                <a:r>
                  <a:rPr lang="en-US" altLang="zh-TW" dirty="0" smtClean="0"/>
                  <a:t>be </a:t>
                </a:r>
                <a:r>
                  <a:rPr lang="en-US" altLang="zh-TW" dirty="0"/>
                  <a:t>two sequences, where each pair of elements in the sequences </a:t>
                </a:r>
                <a:r>
                  <a:rPr lang="en-US" altLang="zh-TW" dirty="0" smtClean="0"/>
                  <a:t>is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comparable. 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common increasing subsequence of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is a subsequence 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a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 </a:t>
                </a:r>
                <a:r>
                  <a:rPr lang="en-US" altLang="zh-TW" i="1" dirty="0" smtClean="0"/>
                  <a:t>b</a:t>
                </a:r>
                <a:r>
                  <a:rPr lang="en-US" altLang="zh-TW" i="1" baseline="-25000" dirty="0" smtClean="0"/>
                  <a:t>j</a:t>
                </a:r>
                <a:r>
                  <a:rPr lang="en-US" altLang="zh-TW" baseline="-25000" dirty="0" smtClean="0"/>
                  <a:t>1</a:t>
                </a:r>
                <a:r>
                  <a:rPr lang="en-US" altLang="zh-TW" i="1" dirty="0" smtClean="0"/>
                  <a:t>,a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 </a:t>
                </a:r>
                <a:r>
                  <a:rPr lang="en-US" altLang="zh-TW" i="1" dirty="0"/>
                  <a:t>b</a:t>
                </a:r>
                <a:r>
                  <a:rPr lang="en-US" altLang="zh-TW" i="1" baseline="-25000" dirty="0"/>
                  <a:t>j</a:t>
                </a:r>
                <a:r>
                  <a:rPr lang="en-US" altLang="zh-TW" baseline="-25000" dirty="0"/>
                  <a:t>2</a:t>
                </a:r>
                <a:r>
                  <a:rPr lang="en-US" altLang="zh-TW" i="1" dirty="0"/>
                  <a:t>, . . . , </a:t>
                </a:r>
                <a:r>
                  <a:rPr lang="en-US" altLang="zh-TW" i="1" dirty="0" smtClean="0"/>
                  <a:t>a</a:t>
                </a:r>
                <a:r>
                  <a:rPr lang="en-US" altLang="zh-TW" i="1" baseline="-25000" dirty="0" smtClean="0"/>
                  <a:t>il</a:t>
                </a:r>
                <a:r>
                  <a:rPr lang="en-US" altLang="zh-TW" dirty="0" smtClean="0"/>
                  <a:t>=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jl</a:t>
                </a:r>
                <a:r>
                  <a:rPr lang="en-US" altLang="zh-TW" dirty="0" smtClean="0"/>
                  <a:t>, where </a:t>
                </a:r>
                <a:r>
                  <a:rPr lang="en-US" altLang="zh-TW" i="1" dirty="0" smtClean="0"/>
                  <a:t>i</a:t>
                </a:r>
                <a:r>
                  <a:rPr lang="en-US" altLang="zh-TW" dirty="0" smtClean="0"/>
                  <a:t>1 </a:t>
                </a:r>
                <a:r>
                  <a:rPr lang="en-US" altLang="zh-TW" i="1" dirty="0"/>
                  <a:t>&lt; i</a:t>
                </a:r>
                <a:r>
                  <a:rPr lang="en-US" altLang="zh-TW" dirty="0"/>
                  <a:t>2 </a:t>
                </a:r>
                <a:r>
                  <a:rPr lang="en-US" altLang="zh-TW" i="1" dirty="0"/>
                  <a:t>&lt; </a:t>
                </a:r>
                <a:r>
                  <a:rPr lang="en-US" altLang="zh-TW" dirty="0"/>
                  <a:t>· · · </a:t>
                </a:r>
                <a:r>
                  <a:rPr lang="en-US" altLang="zh-TW" i="1" dirty="0"/>
                  <a:t>&lt; </a:t>
                </a:r>
                <a:r>
                  <a:rPr lang="en-US" altLang="zh-TW" i="1" dirty="0" err="1"/>
                  <a:t>il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1 </a:t>
                </a:r>
                <a:r>
                  <a:rPr lang="en-US" altLang="zh-TW" i="1" dirty="0"/>
                  <a:t>&lt; j</a:t>
                </a:r>
                <a:r>
                  <a:rPr lang="en-US" altLang="zh-TW" dirty="0"/>
                  <a:t>2 </a:t>
                </a:r>
                <a:r>
                  <a:rPr lang="en-US" altLang="zh-TW" i="1" dirty="0"/>
                  <a:t>&lt; </a:t>
                </a:r>
                <a:r>
                  <a:rPr lang="en-US" altLang="zh-TW" dirty="0"/>
                  <a:t>· · · </a:t>
                </a:r>
                <a:r>
                  <a:rPr lang="en-US" altLang="zh-TW" i="1" dirty="0"/>
                  <a:t>&lt; </a:t>
                </a:r>
                <a:r>
                  <a:rPr lang="en-US" altLang="zh-TW" i="1" dirty="0" err="1"/>
                  <a:t>jl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, such that for all 1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 smtClean="0"/>
                  <a:t>k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altLang="zh-TW" i="1" dirty="0"/>
                  <a:t> l</a:t>
                </a:r>
                <a:r>
                  <a:rPr lang="en-US" altLang="zh-TW" dirty="0"/>
                  <a:t>, we have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ik</a:t>
                </a:r>
                <a:r>
                  <a:rPr lang="en-US" altLang="zh-TW" i="1" dirty="0"/>
                  <a:t> &lt; a</a:t>
                </a:r>
                <a:r>
                  <a:rPr lang="en-US" altLang="zh-TW" i="1" baseline="-25000" dirty="0"/>
                  <a:t>ik</a:t>
                </a:r>
                <a:r>
                  <a:rPr lang="en-US" altLang="zh-TW" baseline="-25000" dirty="0"/>
                  <a:t>+1</a:t>
                </a:r>
                <a:r>
                  <a:rPr lang="en-US" altLang="zh-TW" dirty="0"/>
                  <a:t> .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longest common </a:t>
                </a:r>
                <a:r>
                  <a:rPr lang="en-US" altLang="zh-TW" dirty="0" smtClean="0"/>
                  <a:t>increasing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subsequence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is a common increasing subsequence of the maximum length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This </a:t>
                </a:r>
                <a:r>
                  <a:rPr lang="en-US" altLang="zh-TW" dirty="0"/>
                  <a:t>paper presents an algorithm </a:t>
                </a:r>
                <a:r>
                  <a:rPr lang="en-US" altLang="zh-TW" dirty="0" smtClean="0"/>
                  <a:t>for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delivering </a:t>
                </a:r>
                <a:r>
                  <a:rPr lang="en-US" altLang="zh-TW" dirty="0"/>
                  <a:t>a longest common increasing subsequence in O</a:t>
                </a:r>
                <a:r>
                  <a:rPr lang="en-US" altLang="zh-TW" i="1" dirty="0"/>
                  <a:t>(</a:t>
                </a:r>
                <a:r>
                  <a:rPr lang="en-US" altLang="zh-TW" i="1" dirty="0" err="1"/>
                  <a:t>mn</a:t>
                </a:r>
                <a:r>
                  <a:rPr lang="en-US" altLang="zh-TW" i="1" dirty="0"/>
                  <a:t>) </a:t>
                </a:r>
                <a:r>
                  <a:rPr lang="en-US" altLang="zh-TW" dirty="0"/>
                  <a:t>time and O</a:t>
                </a:r>
                <a:r>
                  <a:rPr lang="en-US" altLang="zh-TW" i="1" dirty="0"/>
                  <a:t>(</a:t>
                </a:r>
                <a:r>
                  <a:rPr lang="en-US" altLang="zh-TW" i="1" dirty="0" err="1"/>
                  <a:t>mn</a:t>
                </a:r>
                <a:r>
                  <a:rPr lang="en-US" altLang="zh-TW" i="1" dirty="0"/>
                  <a:t>) </a:t>
                </a:r>
                <a:r>
                  <a:rPr lang="en-US" altLang="zh-TW" dirty="0"/>
                  <a:t>space.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2291" r="-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75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LCS&amp;LIS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A:</a:t>
            </a:r>
            <a:r>
              <a:rPr lang="en-US" altLang="zh-TW" u="sng" dirty="0" smtClean="0"/>
              <a:t>1</a:t>
            </a:r>
            <a:r>
              <a:rPr lang="en-US" altLang="zh-TW" dirty="0" smtClean="0"/>
              <a:t> 2 </a:t>
            </a:r>
            <a:r>
              <a:rPr lang="en-US" altLang="zh-TW" u="sng" dirty="0" smtClean="0"/>
              <a:t>4</a:t>
            </a:r>
            <a:r>
              <a:rPr lang="en-US" altLang="zh-TW" dirty="0" smtClean="0"/>
              <a:t> </a:t>
            </a:r>
            <a:r>
              <a:rPr lang="en-US" altLang="zh-TW" u="sng" dirty="0" smtClean="0"/>
              <a:t>3</a:t>
            </a:r>
            <a:r>
              <a:rPr lang="en-US" altLang="zh-TW" dirty="0" smtClean="0"/>
              <a:t> </a:t>
            </a:r>
            <a:r>
              <a:rPr lang="en-US" altLang="zh-TW" u="sng" dirty="0" smtClean="0"/>
              <a:t>5</a:t>
            </a:r>
            <a:r>
              <a:rPr lang="en-US" altLang="zh-TW" dirty="0" smtClean="0"/>
              <a:t> </a:t>
            </a:r>
            <a:r>
              <a:rPr lang="en-US" altLang="zh-TW" u="sng" dirty="0" smtClean="0"/>
              <a:t>7</a:t>
            </a:r>
            <a:r>
              <a:rPr lang="en-US" altLang="zh-TW" dirty="0" smtClean="0"/>
              <a:t> </a:t>
            </a:r>
            <a:r>
              <a:rPr lang="en-US" altLang="zh-TW" u="sng" dirty="0" smtClean="0"/>
              <a:t>6</a:t>
            </a:r>
            <a:r>
              <a:rPr lang="en-US" altLang="zh-TW" dirty="0" smtClean="0"/>
              <a:t>			</a:t>
            </a:r>
            <a:r>
              <a:rPr lang="en-US" altLang="zh-TW" dirty="0"/>
              <a:t>A’LIS: 1 2 3 </a:t>
            </a:r>
            <a:r>
              <a:rPr lang="en-US" altLang="zh-TW" dirty="0" smtClean="0"/>
              <a:t>5 6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</a:t>
            </a:r>
            <a:r>
              <a:rPr lang="en-US" altLang="zh-TW" u="sng" dirty="0"/>
              <a:t>1</a:t>
            </a:r>
            <a:r>
              <a:rPr lang="en-US" altLang="zh-TW" dirty="0"/>
              <a:t> 3 </a:t>
            </a:r>
            <a:r>
              <a:rPr lang="en-US" altLang="zh-TW" u="sng" dirty="0"/>
              <a:t>4</a:t>
            </a:r>
            <a:r>
              <a:rPr lang="en-US" altLang="zh-TW" dirty="0"/>
              <a:t> </a:t>
            </a:r>
            <a:r>
              <a:rPr lang="en-US" altLang="zh-TW" u="sng" dirty="0"/>
              <a:t>3</a:t>
            </a:r>
            <a:r>
              <a:rPr lang="en-US" altLang="zh-TW" dirty="0"/>
              <a:t> </a:t>
            </a:r>
            <a:r>
              <a:rPr lang="en-US" altLang="zh-TW" u="sng" dirty="0"/>
              <a:t>5</a:t>
            </a:r>
            <a:r>
              <a:rPr lang="en-US" altLang="zh-TW" dirty="0"/>
              <a:t> </a:t>
            </a:r>
            <a:r>
              <a:rPr lang="en-US" altLang="zh-TW" u="sng" dirty="0"/>
              <a:t>7</a:t>
            </a:r>
            <a:r>
              <a:rPr lang="en-US" altLang="zh-TW" dirty="0"/>
              <a:t> </a:t>
            </a:r>
            <a:r>
              <a:rPr lang="en-US" altLang="zh-TW" u="sng" dirty="0"/>
              <a:t>6</a:t>
            </a:r>
            <a:r>
              <a:rPr lang="en-US" altLang="zh-TW" dirty="0"/>
              <a:t> </a:t>
            </a:r>
            <a:r>
              <a:rPr lang="en-US" altLang="zh-TW" dirty="0" smtClean="0"/>
              <a:t>2			B’LIS: 1 3 4 5 </a:t>
            </a:r>
            <a:r>
              <a:rPr lang="en-US" altLang="zh-TW" dirty="0"/>
              <a:t>6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LCS: 1 4 3 5 7 6	  		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70743"/>
              </p:ext>
            </p:extLst>
          </p:nvPr>
        </p:nvGraphicFramePr>
        <p:xfrm>
          <a:off x="2339752" y="3429000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aseline="-25000" dirty="0" smtClean="0"/>
                        <a:t>B           </a:t>
                      </a:r>
                      <a:r>
                        <a:rPr lang="en-US" altLang="zh-TW" baseline="30000" dirty="0" smtClean="0"/>
                        <a:t>A</a:t>
                      </a:r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46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A straightforward O(mn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)-time algorithm for this problem is to sort the shorter sequence, and then find a longest common subsequence among the two sequences and the sorted sequence</a:t>
            </a:r>
          </a:p>
          <a:p>
            <a:endParaRPr lang="en-US" altLang="zh-TW" dirty="0" smtClean="0"/>
          </a:p>
          <a:p>
            <a:r>
              <a:rPr lang="en-US" altLang="zh-TW" dirty="0"/>
              <a:t>Here we give an </a:t>
            </a:r>
            <a:r>
              <a:rPr lang="en-US" altLang="zh-TW" dirty="0" smtClean="0"/>
              <a:t>algorithm that solves the </a:t>
            </a:r>
            <a:r>
              <a:rPr lang="en-US" altLang="zh-TW" dirty="0"/>
              <a:t>longest common increasing subsequence </a:t>
            </a:r>
            <a:r>
              <a:rPr lang="en-US" altLang="zh-TW" dirty="0" smtClean="0"/>
              <a:t>problem in </a:t>
            </a:r>
            <a:r>
              <a:rPr lang="en-US" altLang="zh-TW" dirty="0"/>
              <a:t>O</a:t>
            </a:r>
            <a:r>
              <a:rPr lang="en-US" altLang="zh-TW" i="1" dirty="0"/>
              <a:t>(</a:t>
            </a:r>
            <a:r>
              <a:rPr lang="en-US" altLang="zh-TW" i="1" dirty="0" err="1"/>
              <a:t>mn</a:t>
            </a:r>
            <a:r>
              <a:rPr lang="en-US" altLang="zh-TW" i="1" dirty="0"/>
              <a:t>) </a:t>
            </a:r>
            <a:r>
              <a:rPr lang="en-US" altLang="zh-TW" dirty="0"/>
              <a:t>time and O</a:t>
            </a:r>
            <a:r>
              <a:rPr lang="en-US" altLang="zh-TW" i="1" dirty="0"/>
              <a:t>(</a:t>
            </a:r>
            <a:r>
              <a:rPr lang="en-US" altLang="zh-TW" i="1" dirty="0" err="1"/>
              <a:t>mn</a:t>
            </a:r>
            <a:r>
              <a:rPr lang="en-US" altLang="zh-TW" i="1" dirty="0"/>
              <a:t>) </a:t>
            </a:r>
            <a:r>
              <a:rPr lang="en-US" altLang="zh-TW" dirty="0" smtClean="0"/>
              <a:t>space</a:t>
            </a:r>
          </a:p>
          <a:p>
            <a:endParaRPr lang="en-US" altLang="zh-TW" dirty="0"/>
          </a:p>
          <a:p>
            <a:r>
              <a:rPr lang="en-US" altLang="zh-TW" dirty="0" smtClean="0"/>
              <a:t>Example: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A:1 2 4 3 5 7 6			B:1 3 4 3 5 7 6 2</a:t>
            </a:r>
          </a:p>
          <a:p>
            <a:pPr marL="0" indent="0">
              <a:buNone/>
            </a:pPr>
            <a:r>
              <a:rPr lang="en-US" altLang="zh-TW" dirty="0" smtClean="0"/>
              <a:t> LCIS:1 3 5 6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15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Introduction(1/2)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340768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i="1" dirty="0" err="1" smtClean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i="1" baseline="30000" dirty="0" err="1" smtClean="0">
                    <a:solidFill>
                      <a:srgbClr val="FF0000"/>
                    </a:solidFill>
                  </a:rPr>
                  <a:t>i</a:t>
                </a:r>
                <a:r>
                  <a:rPr lang="en-US" altLang="zh-TW" i="1" baseline="-25000" dirty="0" err="1" smtClean="0">
                    <a:solidFill>
                      <a:srgbClr val="FF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[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k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]: </a:t>
                </a:r>
                <a:r>
                  <a:rPr lang="en-US" altLang="zh-TW" sz="3000" dirty="0" smtClean="0"/>
                  <a:t>be the smallest ending number of a</a:t>
                </a:r>
              </a:p>
              <a:p>
                <a:pPr marL="0" indent="0">
                  <a:buNone/>
                </a:pPr>
                <a:r>
                  <a:rPr lang="en-US" altLang="zh-TW" sz="3000" dirty="0" smtClean="0"/>
                  <a:t>longest common increasing subsequence of length k</a:t>
                </a:r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between the sequences A(a</a:t>
                </a:r>
                <a:r>
                  <a:rPr lang="en-US" altLang="zh-TW" sz="3000" baseline="-25000" dirty="0" smtClean="0"/>
                  <a:t>1</a:t>
                </a:r>
                <a:r>
                  <a:rPr lang="en-US" altLang="zh-TW" sz="3000" dirty="0" smtClean="0"/>
                  <a:t>, a</a:t>
                </a:r>
                <a:r>
                  <a:rPr lang="en-US" altLang="zh-TW" sz="3000" baseline="-25000" dirty="0" smtClean="0"/>
                  <a:t>2</a:t>
                </a:r>
                <a:r>
                  <a:rPr lang="en-US" altLang="zh-TW" sz="3000" dirty="0" smtClean="0"/>
                  <a:t>, . . . ,</a:t>
                </a:r>
                <a:r>
                  <a:rPr lang="en-US" altLang="zh-TW" sz="3000" dirty="0" err="1" smtClean="0"/>
                  <a:t>a</a:t>
                </a:r>
                <a:r>
                  <a:rPr lang="en-US" altLang="zh-TW" sz="3000" baseline="-25000" dirty="0" err="1" smtClean="0"/>
                  <a:t>i</a:t>
                </a:r>
                <a:r>
                  <a:rPr lang="en-US" altLang="zh-TW" sz="3000" dirty="0" smtClean="0"/>
                  <a:t>) and B(b</a:t>
                </a:r>
                <a:r>
                  <a:rPr lang="en-US" altLang="zh-TW" sz="3000" baseline="-25000" dirty="0" smtClean="0"/>
                  <a:t>1</a:t>
                </a:r>
                <a:r>
                  <a:rPr lang="en-US" altLang="zh-TW" sz="3000" dirty="0" smtClean="0"/>
                  <a:t>, b</a:t>
                </a:r>
                <a:r>
                  <a:rPr lang="en-US" altLang="zh-TW" sz="3000" baseline="-25000" dirty="0" smtClean="0"/>
                  <a:t>2</a:t>
                </a:r>
                <a:r>
                  <a:rPr lang="en-US" altLang="zh-TW" sz="3000" dirty="0" smtClean="0"/>
                  <a:t>, . . . ,</a:t>
                </a:r>
                <a:r>
                  <a:rPr lang="en-US" altLang="zh-TW" sz="3000" dirty="0" err="1" smtClean="0"/>
                  <a:t>b</a:t>
                </a:r>
                <a:r>
                  <a:rPr lang="en-US" altLang="zh-TW" sz="3000" baseline="-25000" dirty="0" err="1" smtClean="0"/>
                  <a:t>j</a:t>
                </a:r>
                <a:r>
                  <a:rPr lang="en-US" altLang="zh-TW" sz="3000" dirty="0" smtClean="0"/>
                  <a:t> ), where 1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3000" dirty="0" smtClean="0"/>
                  <a:t> i 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3000" dirty="0" smtClean="0"/>
                  <a:t>m and 1 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3000" dirty="0" smtClean="0"/>
                  <a:t> j, k 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3000" dirty="0" smtClean="0"/>
                  <a:t> n.(n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3000" dirty="0" smtClean="0"/>
                  <a:t>m)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340768"/>
                <a:ext cx="8229600" cy="4525963"/>
              </a:xfrm>
              <a:blipFill rotWithShape="1">
                <a:blip r:embed="rId2"/>
                <a:stretch>
                  <a:fillRect l="-1926" t="-1752" r="-1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433459"/>
              </p:ext>
            </p:extLst>
          </p:nvPr>
        </p:nvGraphicFramePr>
        <p:xfrm>
          <a:off x="395536" y="3356992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496477"/>
                  </p:ext>
                </p:extLst>
              </p:nvPr>
            </p:nvGraphicFramePr>
            <p:xfrm>
              <a:off x="4572000" y="4221088"/>
              <a:ext cx="4536504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</a:tblGrid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 K</a:t>
                          </a:r>
                        </a:p>
                        <a:p>
                          <a:pPr algn="l"/>
                          <a:r>
                            <a:rPr lang="en-US" altLang="zh-TW" b="1" dirty="0" smtClean="0"/>
                            <a:t>j</a:t>
                          </a:r>
                          <a:endParaRPr lang="zh-TW" altLang="en-US" b="1" dirty="0"/>
                        </a:p>
                      </a:txBody>
                      <a:tcPr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bg1"/>
                              </a:solidFill>
                            </a:rPr>
                            <a:t>7 </a:t>
                          </a:r>
                          <a:endParaRPr lang="zh-TW" alt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1496477"/>
                  </p:ext>
                </p:extLst>
              </p:nvPr>
            </p:nvGraphicFramePr>
            <p:xfrm>
              <a:off x="4572000" y="4221088"/>
              <a:ext cx="4536504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 </a:t>
                          </a:r>
                          <a:r>
                            <a:rPr lang="en-US" altLang="zh-TW" b="1" dirty="0" smtClean="0"/>
                            <a:t>K</a:t>
                          </a:r>
                        </a:p>
                        <a:p>
                          <a:pPr algn="l"/>
                          <a:r>
                            <a:rPr lang="en-US" altLang="zh-TW" b="1" dirty="0" smtClean="0"/>
                            <a:t>j</a:t>
                          </a:r>
                          <a:endParaRPr lang="zh-TW" altLang="en-US" b="1" dirty="0"/>
                        </a:p>
                      </a:txBody>
                      <a:tcPr>
                        <a:lnTlToB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solidFill>
                                <a:schemeClr val="bg1"/>
                              </a:solidFill>
                            </a:rPr>
                            <a:t>7 </a:t>
                          </a:r>
                          <a:endParaRPr lang="zh-TW" altLang="en-US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1075" t="-104762" r="-401075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1075" t="-104762" r="-301075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1075" t="-104762" r="-201075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1075" t="-104762" r="-101075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01075" t="-104762" r="-1075" b="-95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文字方塊 7"/>
          <p:cNvSpPr txBox="1"/>
          <p:nvPr/>
        </p:nvSpPr>
        <p:spPr>
          <a:xfrm>
            <a:off x="4927639" y="3501008"/>
            <a:ext cx="24418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 smtClean="0">
                <a:solidFill>
                  <a:schemeClr val="tx2"/>
                </a:solidFill>
              </a:rPr>
              <a:t>For </a:t>
            </a:r>
            <a:r>
              <a:rPr lang="en-US" altLang="zh-TW" sz="3000" b="1" dirty="0" err="1" smtClean="0">
                <a:solidFill>
                  <a:schemeClr val="tx2"/>
                </a:solidFill>
              </a:rPr>
              <a:t>L</a:t>
            </a:r>
            <a:r>
              <a:rPr lang="en-US" altLang="zh-TW" sz="3000" b="1" baseline="30000" dirty="0" err="1" smtClean="0">
                <a:solidFill>
                  <a:schemeClr val="tx2"/>
                </a:solidFill>
              </a:rPr>
              <a:t>i</a:t>
            </a:r>
            <a:r>
              <a:rPr lang="en-US" altLang="zh-TW" sz="3000" b="1" baseline="-25000" dirty="0" err="1" smtClean="0">
                <a:solidFill>
                  <a:schemeClr val="tx2"/>
                </a:solidFill>
              </a:rPr>
              <a:t>j</a:t>
            </a:r>
            <a:r>
              <a:rPr lang="en-US" altLang="zh-TW" sz="3000" b="1" baseline="-25000" dirty="0" smtClean="0">
                <a:solidFill>
                  <a:schemeClr val="tx2"/>
                </a:solidFill>
              </a:rPr>
              <a:t> </a:t>
            </a:r>
            <a:r>
              <a:rPr lang="en-US" altLang="zh-TW" sz="3000" b="1" dirty="0" smtClean="0">
                <a:solidFill>
                  <a:schemeClr val="tx2"/>
                </a:solidFill>
              </a:rPr>
              <a:t>(i=3,j=7)</a:t>
            </a:r>
            <a:endParaRPr lang="zh-TW" altLang="en-US" sz="3000" b="1" baseline="-25000" dirty="0">
              <a:solidFill>
                <a:schemeClr val="tx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504" y="18864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000" b="1" dirty="0">
                <a:solidFill>
                  <a:schemeClr val="tx2"/>
                </a:solidFill>
              </a:rPr>
              <a:t>A:1 2 4 3 5 7 </a:t>
            </a:r>
            <a:r>
              <a:rPr lang="en-US" altLang="zh-TW" sz="2000" b="1" dirty="0" smtClean="0">
                <a:solidFill>
                  <a:schemeClr val="tx2"/>
                </a:solidFill>
              </a:rPr>
              <a:t>6</a:t>
            </a:r>
          </a:p>
          <a:p>
            <a:r>
              <a:rPr lang="en-US" altLang="zh-TW" sz="2000" b="1" dirty="0">
                <a:solidFill>
                  <a:schemeClr val="tx2"/>
                </a:solidFill>
              </a:rPr>
              <a:t>			</a:t>
            </a:r>
            <a:endParaRPr lang="en-US" altLang="zh-TW" sz="2000" b="1" dirty="0" smtClean="0">
              <a:solidFill>
                <a:schemeClr val="tx2"/>
              </a:solidFill>
            </a:endParaRPr>
          </a:p>
          <a:p>
            <a:r>
              <a:rPr lang="en-US" altLang="zh-TW" sz="2000" b="1" dirty="0" smtClean="0">
                <a:solidFill>
                  <a:schemeClr val="tx2"/>
                </a:solidFill>
              </a:rPr>
              <a:t>B:1 </a:t>
            </a:r>
            <a:r>
              <a:rPr lang="en-US" altLang="zh-TW" sz="2000" b="1" dirty="0">
                <a:solidFill>
                  <a:schemeClr val="tx2"/>
                </a:solidFill>
              </a:rPr>
              <a:t>3 4 3 5 7 6 2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76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3000" i="1" dirty="0" err="1" smtClean="0">
                <a:solidFill>
                  <a:srgbClr val="FF0000"/>
                </a:solidFill>
              </a:rPr>
              <a:t>L</a:t>
            </a:r>
            <a:r>
              <a:rPr lang="en-US" altLang="zh-TW" sz="3000" dirty="0" err="1" smtClean="0">
                <a:solidFill>
                  <a:srgbClr val="FF0000"/>
                </a:solidFill>
              </a:rPr>
              <a:t>_</a:t>
            </a:r>
            <a:r>
              <a:rPr lang="en-US" altLang="zh-TW" sz="3000" i="1" dirty="0" err="1" smtClean="0">
                <a:solidFill>
                  <a:srgbClr val="FF0000"/>
                </a:solidFill>
              </a:rPr>
              <a:t>index</a:t>
            </a:r>
            <a:r>
              <a:rPr lang="en-US" altLang="zh-TW" sz="3000" i="1" baseline="30000" dirty="0" err="1" smtClean="0">
                <a:solidFill>
                  <a:srgbClr val="FF0000"/>
                </a:solidFill>
              </a:rPr>
              <a:t>i</a:t>
            </a:r>
            <a:r>
              <a:rPr lang="en-US" altLang="zh-TW" sz="3000" i="1" baseline="-25000" dirty="0" err="1" smtClean="0">
                <a:solidFill>
                  <a:srgbClr val="FF0000"/>
                </a:solidFill>
              </a:rPr>
              <a:t>j</a:t>
            </a:r>
            <a:r>
              <a:rPr lang="en-US" altLang="zh-TW" sz="3000" dirty="0" smtClean="0">
                <a:solidFill>
                  <a:srgbClr val="FF0000"/>
                </a:solidFill>
              </a:rPr>
              <a:t>[</a:t>
            </a:r>
            <a:r>
              <a:rPr lang="en-US" altLang="zh-TW" sz="3000" i="1" dirty="0" smtClean="0">
                <a:solidFill>
                  <a:srgbClr val="FF0000"/>
                </a:solidFill>
              </a:rPr>
              <a:t>k</a:t>
            </a:r>
            <a:r>
              <a:rPr lang="en-US" altLang="zh-TW" sz="3000" dirty="0" smtClean="0">
                <a:solidFill>
                  <a:srgbClr val="FF0000"/>
                </a:solidFill>
              </a:rPr>
              <a:t>]:</a:t>
            </a:r>
            <a:r>
              <a:rPr lang="en-US" altLang="zh-TW" sz="3000" dirty="0" smtClean="0"/>
              <a:t>record the index pair (x, y) such that </a:t>
            </a:r>
            <a:r>
              <a:rPr lang="en-US" altLang="zh-TW" sz="3000" dirty="0" err="1" smtClean="0"/>
              <a:t>L</a:t>
            </a:r>
            <a:r>
              <a:rPr lang="en-US" altLang="zh-TW" sz="3000" baseline="30000" dirty="0" err="1" smtClean="0"/>
              <a:t>i</a:t>
            </a:r>
            <a:r>
              <a:rPr lang="en-US" altLang="zh-TW" sz="3000" baseline="-25000" dirty="0" err="1" smtClean="0"/>
              <a:t>j</a:t>
            </a:r>
            <a:r>
              <a:rPr lang="en-US" altLang="zh-TW" sz="3000" dirty="0" smtClean="0"/>
              <a:t>[k] is the element a</a:t>
            </a:r>
            <a:r>
              <a:rPr lang="en-US" altLang="zh-TW" sz="3000" baseline="-25000" dirty="0" smtClean="0"/>
              <a:t>x</a:t>
            </a:r>
            <a:r>
              <a:rPr lang="en-US" altLang="zh-TW" sz="3000" dirty="0" smtClean="0"/>
              <a:t> and b</a:t>
            </a:r>
            <a:r>
              <a:rPr lang="en-US" altLang="zh-TW" sz="3000" baseline="-25000" dirty="0" smtClean="0"/>
              <a:t>y</a:t>
            </a:r>
            <a:endParaRPr lang="zh-TW" altLang="en-US" sz="3000" baseline="-25000" dirty="0" smtClean="0"/>
          </a:p>
          <a:p>
            <a:r>
              <a:rPr lang="en-US" altLang="zh-TW" sz="3000" dirty="0" err="1" smtClean="0">
                <a:solidFill>
                  <a:srgbClr val="FF0000"/>
                </a:solidFill>
              </a:rPr>
              <a:t>Prev</a:t>
            </a:r>
            <a:r>
              <a:rPr lang="en-US" altLang="zh-TW" sz="3000" dirty="0" smtClean="0">
                <a:solidFill>
                  <a:srgbClr val="FF0000"/>
                </a:solidFill>
              </a:rPr>
              <a:t>[i, j ]:</a:t>
            </a:r>
            <a:r>
              <a:rPr lang="en-US" altLang="zh-TW" sz="3000" dirty="0"/>
              <a:t>record the index pair </a:t>
            </a:r>
            <a:r>
              <a:rPr lang="en-US" altLang="zh-TW" sz="3000" i="1" dirty="0"/>
              <a:t>(x, </a:t>
            </a:r>
            <a:r>
              <a:rPr lang="en-US" altLang="zh-TW" sz="3000" i="1" dirty="0" smtClean="0"/>
              <a:t>y)</a:t>
            </a:r>
            <a:r>
              <a:rPr lang="en-US" altLang="zh-TW" sz="3000" dirty="0" smtClean="0"/>
              <a:t>such </a:t>
            </a:r>
            <a:r>
              <a:rPr lang="en-US" altLang="zh-TW" sz="3000" dirty="0"/>
              <a:t>that there is a link from </a:t>
            </a:r>
            <a:r>
              <a:rPr lang="en-US" altLang="zh-TW" sz="3000" i="1" dirty="0"/>
              <a:t>(i, j ) </a:t>
            </a:r>
            <a:r>
              <a:rPr lang="en-US" altLang="zh-TW" sz="3000" dirty="0"/>
              <a:t>to </a:t>
            </a:r>
            <a:r>
              <a:rPr lang="en-US" altLang="zh-TW" sz="3000" i="1" dirty="0"/>
              <a:t>(x, y)</a:t>
            </a:r>
            <a:r>
              <a:rPr lang="en-US" altLang="zh-TW" sz="3000" dirty="0"/>
              <a:t>.</a:t>
            </a:r>
            <a:endParaRPr lang="en-US" altLang="zh-TW" sz="3000" dirty="0" smtClean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27984" y="4846508"/>
            <a:ext cx="34563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err="1" smtClean="0">
                <a:solidFill>
                  <a:srgbClr val="FF0000"/>
                </a:solidFill>
              </a:rPr>
              <a:t>L</a:t>
            </a:r>
            <a:r>
              <a:rPr lang="en-US" altLang="zh-TW" sz="3200" dirty="0" err="1" smtClean="0">
                <a:solidFill>
                  <a:srgbClr val="FF0000"/>
                </a:solidFill>
              </a:rPr>
              <a:t>_</a:t>
            </a:r>
            <a:r>
              <a:rPr lang="en-US" altLang="zh-TW" sz="3200" i="1" dirty="0" err="1" smtClean="0">
                <a:solidFill>
                  <a:srgbClr val="FF0000"/>
                </a:solidFill>
              </a:rPr>
              <a:t>index</a:t>
            </a:r>
            <a:r>
              <a:rPr lang="en-US" altLang="zh-TW" sz="3200" dirty="0" smtClean="0">
                <a:solidFill>
                  <a:srgbClr val="FF0000"/>
                </a:solidFill>
              </a:rPr>
              <a:t>[</a:t>
            </a:r>
            <a:r>
              <a:rPr lang="en-US" altLang="zh-TW" sz="3200" i="1" dirty="0" smtClean="0">
                <a:solidFill>
                  <a:srgbClr val="FF0000"/>
                </a:solidFill>
              </a:rPr>
              <a:t>4</a:t>
            </a:r>
            <a:r>
              <a:rPr lang="en-US" altLang="zh-TW" sz="3200" dirty="0" smtClean="0">
                <a:solidFill>
                  <a:srgbClr val="FF0000"/>
                </a:solidFill>
              </a:rPr>
              <a:t>]=(7,7)</a:t>
            </a:r>
          </a:p>
          <a:p>
            <a:r>
              <a:rPr lang="en-US" altLang="zh-TW" sz="3200" dirty="0" err="1" smtClean="0">
                <a:solidFill>
                  <a:srgbClr val="FF0000"/>
                </a:solidFill>
              </a:rPr>
              <a:t>Prev</a:t>
            </a:r>
            <a:r>
              <a:rPr lang="en-US" altLang="zh-TW" sz="3200" dirty="0" smtClean="0">
                <a:solidFill>
                  <a:srgbClr val="FF0000"/>
                </a:solidFill>
              </a:rPr>
              <a:t>[7,7]=(5,5)</a:t>
            </a:r>
          </a:p>
          <a:p>
            <a:r>
              <a:rPr lang="en-US" altLang="zh-TW" sz="3200" dirty="0" err="1" smtClean="0">
                <a:solidFill>
                  <a:srgbClr val="FF0000"/>
                </a:solidFill>
              </a:rPr>
              <a:t>Prev</a:t>
            </a:r>
            <a:r>
              <a:rPr lang="en-US" altLang="zh-TW" sz="3200" dirty="0" smtClean="0">
                <a:solidFill>
                  <a:srgbClr val="FF0000"/>
                </a:solidFill>
              </a:rPr>
              <a:t>[5,5]=(2,4)</a:t>
            </a:r>
          </a:p>
          <a:p>
            <a:r>
              <a:rPr lang="en-US" altLang="zh-TW" sz="3200" dirty="0" err="1" smtClean="0">
                <a:solidFill>
                  <a:srgbClr val="FF0000"/>
                </a:solidFill>
              </a:rPr>
              <a:t>Prev</a:t>
            </a:r>
            <a:r>
              <a:rPr lang="en-US" altLang="zh-TW" sz="3200" dirty="0" smtClean="0">
                <a:solidFill>
                  <a:srgbClr val="FF0000"/>
                </a:solidFill>
              </a:rPr>
              <a:t>[2,4]=(1,1)</a:t>
            </a:r>
          </a:p>
          <a:p>
            <a:endParaRPr lang="pt-BR" altLang="zh-TW" sz="3200" i="1" dirty="0"/>
          </a:p>
          <a:p>
            <a:endParaRPr lang="pt-BR" altLang="zh-TW" sz="3200" i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613309"/>
              </p:ext>
            </p:extLst>
          </p:nvPr>
        </p:nvGraphicFramePr>
        <p:xfrm>
          <a:off x="251520" y="3319224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0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 flipV="1">
            <a:off x="3419872" y="5733256"/>
            <a:ext cx="432048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 flipV="1">
            <a:off x="2771800" y="4725144"/>
            <a:ext cx="216024" cy="61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1691680" y="4293096"/>
            <a:ext cx="701824" cy="180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4580262"/>
                  </p:ext>
                </p:extLst>
              </p:nvPr>
            </p:nvGraphicFramePr>
            <p:xfrm>
              <a:off x="4499992" y="3516992"/>
              <a:ext cx="4536504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 K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4580262"/>
                  </p:ext>
                </p:extLst>
              </p:nvPr>
            </p:nvGraphicFramePr>
            <p:xfrm>
              <a:off x="4499992" y="3516992"/>
              <a:ext cx="4536504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  <a:gridCol w="567063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 K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 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0000" t="-104762" r="-2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600000" t="-104762" r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00000" t="-104762" r="-10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字方塊 11"/>
          <p:cNvSpPr txBox="1"/>
          <p:nvPr/>
        </p:nvSpPr>
        <p:spPr>
          <a:xfrm>
            <a:off x="7164288" y="5620888"/>
            <a:ext cx="2100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chemeClr val="tx2"/>
                </a:solidFill>
              </a:rPr>
              <a:t>LCIS:1 </a:t>
            </a:r>
            <a:r>
              <a:rPr lang="en-US" altLang="zh-TW" sz="3200" b="1" dirty="0" smtClean="0">
                <a:solidFill>
                  <a:schemeClr val="tx2"/>
                </a:solidFill>
              </a:rPr>
              <a:t>3 </a:t>
            </a:r>
            <a:r>
              <a:rPr lang="en-US" altLang="zh-TW" sz="3200" b="1" dirty="0">
                <a:solidFill>
                  <a:schemeClr val="tx2"/>
                </a:solidFill>
              </a:rPr>
              <a:t>5 6</a:t>
            </a:r>
          </a:p>
        </p:txBody>
      </p:sp>
      <p:sp>
        <p:nvSpPr>
          <p:cNvPr id="6" name="矩形 5"/>
          <p:cNvSpPr/>
          <p:nvPr/>
        </p:nvSpPr>
        <p:spPr>
          <a:xfrm>
            <a:off x="107504" y="18864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000" b="1" dirty="0">
                <a:solidFill>
                  <a:schemeClr val="tx2"/>
                </a:solidFill>
              </a:rPr>
              <a:t>A:1 2 4 3 5 7 6</a:t>
            </a:r>
          </a:p>
          <a:p>
            <a:r>
              <a:rPr lang="en-US" altLang="zh-TW" sz="2000" b="1" dirty="0">
                <a:solidFill>
                  <a:schemeClr val="tx2"/>
                </a:solidFill>
              </a:rPr>
              <a:t>			</a:t>
            </a:r>
          </a:p>
          <a:p>
            <a:r>
              <a:rPr lang="en-US" altLang="zh-TW" sz="2000" b="1" dirty="0">
                <a:solidFill>
                  <a:schemeClr val="tx2"/>
                </a:solidFill>
              </a:rPr>
              <a:t>B:1 3 4 3 5 7 6 2</a:t>
            </a:r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93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Algorithm(1/13)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In the </a:t>
            </a:r>
            <a:r>
              <a:rPr lang="en-US" altLang="zh-TW" i="1" dirty="0"/>
              <a:t>match </a:t>
            </a:r>
            <a:r>
              <a:rPr lang="en-US" altLang="zh-TW" dirty="0" smtClean="0"/>
              <a:t>case</a:t>
            </a:r>
          </a:p>
          <a:p>
            <a:pPr marL="0" indent="0">
              <a:buNone/>
            </a:pPr>
            <a:r>
              <a:rPr lang="en-US" altLang="zh-TW" i="1" dirty="0" smtClean="0"/>
              <a:t>	</a:t>
            </a:r>
            <a:r>
              <a:rPr lang="en-US" altLang="zh-TW" i="1" dirty="0" err="1" smtClean="0"/>
              <a:t>L</a:t>
            </a:r>
            <a:r>
              <a:rPr lang="en-US" altLang="zh-TW" i="1" baseline="30000" dirty="0" err="1" smtClean="0"/>
              <a:t>i</a:t>
            </a:r>
            <a:r>
              <a:rPr lang="en-US" altLang="zh-TW" i="1" baseline="-25000" dirty="0" err="1" smtClean="0"/>
              <a:t>j</a:t>
            </a:r>
            <a:r>
              <a:rPr lang="it-IT" altLang="zh-TW" dirty="0" smtClean="0"/>
              <a:t>= </a:t>
            </a:r>
            <a:r>
              <a:rPr lang="it-IT" altLang="zh-TW" dirty="0"/>
              <a:t>Insert </a:t>
            </a:r>
            <a:r>
              <a:rPr lang="it-IT" altLang="zh-TW" i="1" dirty="0"/>
              <a:t>a</a:t>
            </a:r>
            <a:r>
              <a:rPr lang="it-IT" altLang="zh-TW" i="1" baseline="-25000" dirty="0"/>
              <a:t>i</a:t>
            </a:r>
            <a:r>
              <a:rPr lang="it-IT" altLang="zh-TW" i="1" dirty="0"/>
              <a:t> </a:t>
            </a:r>
            <a:r>
              <a:rPr lang="it-IT" altLang="zh-TW" dirty="0"/>
              <a:t>into </a:t>
            </a:r>
            <a:r>
              <a:rPr lang="it-IT" altLang="zh-TW" i="1" dirty="0"/>
              <a:t>L</a:t>
            </a:r>
            <a:r>
              <a:rPr lang="it-IT" altLang="zh-TW" i="1" baseline="30000" dirty="0"/>
              <a:t>i</a:t>
            </a:r>
            <a:r>
              <a:rPr lang="it-IT" altLang="zh-TW" baseline="30000" dirty="0"/>
              <a:t>−</a:t>
            </a:r>
            <a:r>
              <a:rPr lang="it-IT" altLang="zh-TW" baseline="30000" dirty="0" smtClean="0"/>
              <a:t>1</a:t>
            </a:r>
            <a:r>
              <a:rPr lang="en-US" altLang="zh-TW" i="1" baseline="-25000" dirty="0" smtClean="0"/>
              <a:t>j</a:t>
            </a:r>
            <a:r>
              <a:rPr lang="en-US" altLang="zh-TW" i="1" dirty="0" smtClean="0"/>
              <a:t> </a:t>
            </a:r>
            <a:r>
              <a:rPr lang="en-US" altLang="zh-TW" i="1" dirty="0"/>
              <a:t>,</a:t>
            </a:r>
          </a:p>
          <a:p>
            <a:r>
              <a:rPr lang="en-US" altLang="zh-TW" dirty="0"/>
              <a:t>I</a:t>
            </a:r>
            <a:r>
              <a:rPr lang="en-US" altLang="zh-TW" dirty="0" smtClean="0"/>
              <a:t>n </a:t>
            </a:r>
            <a:r>
              <a:rPr lang="en-US" altLang="zh-TW" dirty="0"/>
              <a:t>the </a:t>
            </a:r>
            <a:r>
              <a:rPr lang="en-US" altLang="zh-TW" i="1" dirty="0"/>
              <a:t>mismatch </a:t>
            </a:r>
            <a:r>
              <a:rPr lang="en-US" altLang="zh-TW" dirty="0" smtClean="0"/>
              <a:t>case</a:t>
            </a:r>
          </a:p>
          <a:p>
            <a:pPr marL="0" indent="0">
              <a:buNone/>
            </a:pPr>
            <a:r>
              <a:rPr lang="en-US" altLang="zh-TW" i="1" dirty="0"/>
              <a:t>	</a:t>
            </a:r>
            <a:r>
              <a:rPr lang="en-US" altLang="zh-TW" i="1" dirty="0" err="1" smtClean="0"/>
              <a:t>L</a:t>
            </a:r>
            <a:r>
              <a:rPr lang="en-US" altLang="zh-TW" i="1" baseline="30000" dirty="0" err="1" smtClean="0"/>
              <a:t>i</a:t>
            </a:r>
            <a:r>
              <a:rPr lang="en-US" altLang="zh-TW" i="1" baseline="-25000" dirty="0" err="1" smtClean="0"/>
              <a:t>j</a:t>
            </a:r>
            <a:r>
              <a:rPr lang="en-US" altLang="zh-TW" dirty="0" smtClean="0"/>
              <a:t>= </a:t>
            </a:r>
            <a:r>
              <a:rPr lang="en-US" altLang="zh-TW" i="1" dirty="0" smtClean="0"/>
              <a:t>merge(L</a:t>
            </a:r>
            <a:r>
              <a:rPr lang="en-US" altLang="zh-TW" i="1" baseline="30000" dirty="0" smtClean="0"/>
              <a:t>i</a:t>
            </a:r>
            <a:r>
              <a:rPr lang="en-US" altLang="zh-TW" i="1" baseline="-25000" dirty="0" smtClean="0"/>
              <a:t>j</a:t>
            </a:r>
            <a:r>
              <a:rPr lang="en-US" altLang="zh-TW" baseline="-25000" dirty="0"/>
              <a:t>−</a:t>
            </a:r>
            <a:r>
              <a:rPr lang="en-US" altLang="zh-TW" baseline="-25000" dirty="0" smtClean="0"/>
              <a:t>1 </a:t>
            </a:r>
            <a:r>
              <a:rPr lang="en-US" altLang="zh-TW" i="1" dirty="0" smtClean="0"/>
              <a:t>,</a:t>
            </a:r>
            <a:r>
              <a:rPr lang="en-US" altLang="zh-TW" i="1" dirty="0"/>
              <a:t>L</a:t>
            </a:r>
            <a:r>
              <a:rPr lang="en-US" altLang="zh-TW" i="1" baseline="30000" dirty="0"/>
              <a:t>i</a:t>
            </a:r>
            <a:r>
              <a:rPr lang="en-US" altLang="zh-TW" baseline="30000" dirty="0"/>
              <a:t>−</a:t>
            </a:r>
            <a:r>
              <a:rPr lang="en-US" altLang="zh-TW" baseline="30000" dirty="0" smtClean="0"/>
              <a:t>1</a:t>
            </a:r>
            <a:r>
              <a:rPr lang="en-US" altLang="zh-TW" i="1" baseline="-25000" dirty="0" smtClean="0"/>
              <a:t>j</a:t>
            </a:r>
            <a:r>
              <a:rPr lang="en-US" altLang="zh-TW" i="1" dirty="0" smtClean="0"/>
              <a:t>)</a:t>
            </a:r>
            <a:endParaRPr lang="en-US" altLang="zh-TW" i="1" baseline="-25000" dirty="0"/>
          </a:p>
          <a:p>
            <a:pPr marL="0" indent="0">
              <a:buNone/>
            </a:pPr>
            <a:endParaRPr lang="en-US" altLang="zh-TW" i="1" dirty="0" smtClean="0"/>
          </a:p>
          <a:p>
            <a:pPr marL="0" indent="0">
              <a:buNone/>
            </a:pPr>
            <a:r>
              <a:rPr lang="en-US" altLang="zh-TW" i="1" dirty="0" smtClean="0"/>
              <a:t>=&gt;</a:t>
            </a:r>
            <a:r>
              <a:rPr lang="en-US" altLang="zh-TW" i="1" baseline="-25000" dirty="0" smtClean="0"/>
              <a:t>	</a:t>
            </a:r>
            <a:r>
              <a:rPr lang="en-US" altLang="zh-TW" i="1" dirty="0"/>
              <a:t> </a:t>
            </a:r>
            <a:r>
              <a:rPr lang="en-US" altLang="zh-TW" i="1" dirty="0" err="1" smtClean="0"/>
              <a:t>L</a:t>
            </a:r>
            <a:r>
              <a:rPr lang="en-US" altLang="zh-TW" i="1" baseline="30000" dirty="0" err="1" smtClean="0"/>
              <a:t>i</a:t>
            </a:r>
            <a:r>
              <a:rPr lang="en-US" altLang="zh-TW" i="1" baseline="-25000" dirty="0" err="1" smtClean="0"/>
              <a:t>j</a:t>
            </a:r>
            <a:r>
              <a:rPr lang="en-US" altLang="zh-TW" dirty="0" smtClean="0"/>
              <a:t>:=</a:t>
            </a:r>
            <a:r>
              <a:rPr lang="en-US" altLang="zh-TW" i="1" dirty="0" smtClean="0"/>
              <a:t>L</a:t>
            </a:r>
            <a:r>
              <a:rPr lang="en-US" altLang="zh-TW" i="1" baseline="30000" dirty="0" smtClean="0"/>
              <a:t>i-1</a:t>
            </a:r>
            <a:r>
              <a:rPr lang="en-US" altLang="zh-TW" i="1" baseline="-25000" dirty="0" smtClean="0"/>
              <a:t>j</a:t>
            </a: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/>
              <a:t>	</a:t>
            </a:r>
            <a:r>
              <a:rPr lang="en-US" altLang="zh-TW" i="1" dirty="0" err="1" smtClean="0"/>
              <a:t>L</a:t>
            </a:r>
            <a:r>
              <a:rPr lang="en-US" altLang="zh-TW" i="1" baseline="30000" dirty="0" err="1" smtClean="0"/>
              <a:t>i</a:t>
            </a:r>
            <a:r>
              <a:rPr lang="en-US" altLang="zh-TW" i="1" baseline="-25000" dirty="0" err="1" smtClean="0"/>
              <a:t>j</a:t>
            </a:r>
            <a:r>
              <a:rPr lang="en-US" altLang="zh-TW" i="1" dirty="0" smtClean="0"/>
              <a:t>[X</a:t>
            </a:r>
            <a:r>
              <a:rPr lang="en-US" altLang="zh-TW" i="1" baseline="30000" dirty="0" smtClean="0"/>
              <a:t>i</a:t>
            </a:r>
            <a:r>
              <a:rPr lang="en-US" altLang="zh-TW" i="1" baseline="-25000" dirty="0" smtClean="0"/>
              <a:t>j-1</a:t>
            </a:r>
            <a:r>
              <a:rPr lang="en-US" altLang="zh-TW" i="1" dirty="0" smtClean="0"/>
              <a:t>]:=min{</a:t>
            </a:r>
            <a:r>
              <a:rPr lang="en-US" altLang="zh-TW" i="1" dirty="0" err="1"/>
              <a:t>L</a:t>
            </a:r>
            <a:r>
              <a:rPr lang="en-US" altLang="zh-TW" i="1" baseline="30000" dirty="0" err="1"/>
              <a:t>i</a:t>
            </a:r>
            <a:r>
              <a:rPr lang="en-US" altLang="zh-TW" i="1" baseline="-25000" dirty="0" err="1"/>
              <a:t>j</a:t>
            </a:r>
            <a:r>
              <a:rPr lang="en-US" altLang="zh-TW" i="1" dirty="0"/>
              <a:t>[X</a:t>
            </a:r>
            <a:r>
              <a:rPr lang="en-US" altLang="zh-TW" i="1" baseline="30000" dirty="0"/>
              <a:t>i</a:t>
            </a:r>
            <a:r>
              <a:rPr lang="en-US" altLang="zh-TW" i="1" baseline="-25000" dirty="0"/>
              <a:t>j-1</a:t>
            </a:r>
            <a:r>
              <a:rPr lang="en-US" altLang="zh-TW" i="1" dirty="0" smtClean="0"/>
              <a:t>],</a:t>
            </a:r>
            <a:r>
              <a:rPr lang="en-US" altLang="zh-TW" i="1" dirty="0"/>
              <a:t> </a:t>
            </a:r>
            <a:r>
              <a:rPr lang="en-US" altLang="zh-TW" i="1" dirty="0" smtClean="0"/>
              <a:t>L</a:t>
            </a:r>
            <a:r>
              <a:rPr lang="en-US" altLang="zh-TW" i="1" baseline="30000" dirty="0" smtClean="0"/>
              <a:t>i</a:t>
            </a:r>
            <a:r>
              <a:rPr lang="en-US" altLang="zh-TW" i="1" baseline="-25000" dirty="0" smtClean="0"/>
              <a:t>j-1</a:t>
            </a:r>
            <a:r>
              <a:rPr lang="en-US" altLang="zh-TW" i="1" dirty="0" smtClean="0"/>
              <a:t>[X</a:t>
            </a:r>
            <a:r>
              <a:rPr lang="en-US" altLang="zh-TW" i="1" baseline="30000" dirty="0" smtClean="0"/>
              <a:t>i</a:t>
            </a:r>
            <a:r>
              <a:rPr lang="en-US" altLang="zh-TW" i="1" baseline="-25000" dirty="0" smtClean="0"/>
              <a:t>j-1</a:t>
            </a:r>
            <a:r>
              <a:rPr lang="en-US" altLang="zh-TW" i="1" dirty="0"/>
              <a:t>]</a:t>
            </a:r>
            <a:r>
              <a:rPr lang="en-US" altLang="zh-TW" i="1" dirty="0" smtClean="0"/>
              <a:t>}</a:t>
            </a:r>
            <a:endParaRPr lang="en-US" altLang="zh-TW" baseline="-25000" dirty="0" smtClean="0"/>
          </a:p>
          <a:p>
            <a:pPr marL="0" indent="0">
              <a:buNone/>
            </a:pPr>
            <a:r>
              <a:rPr lang="en-US" altLang="zh-TW" baseline="-25000" dirty="0" smtClean="0"/>
              <a:t>		</a:t>
            </a:r>
          </a:p>
          <a:p>
            <a:pPr marL="0" indent="0">
              <a:buNone/>
            </a:pPr>
            <a:r>
              <a:rPr lang="en-US" altLang="zh-TW" baseline="-25000" dirty="0"/>
              <a:t>	</a:t>
            </a:r>
            <a:r>
              <a:rPr lang="en-US" altLang="zh-TW" baseline="-25000" dirty="0" smtClean="0"/>
              <a:t>	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77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Algorithm(2/13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096815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142791"/>
              </p:ext>
            </p:extLst>
          </p:nvPr>
        </p:nvGraphicFramePr>
        <p:xfrm>
          <a:off x="5148064" y="1446529"/>
          <a:ext cx="28083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1835696" y="2492896"/>
            <a:ext cx="360040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5796136" y="4221088"/>
            <a:ext cx="3347864" cy="2569815"/>
            <a:chOff x="6073961" y="4315569"/>
            <a:chExt cx="3347864" cy="256981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3961" y="4315569"/>
              <a:ext cx="3095993" cy="2569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文字方塊 7"/>
            <p:cNvSpPr txBox="1"/>
            <p:nvPr/>
          </p:nvSpPr>
          <p:spPr>
            <a:xfrm>
              <a:off x="7668344" y="5231144"/>
              <a:ext cx="1753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758912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25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Algorithm(3/13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18506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2434"/>
              </p:ext>
            </p:extLst>
          </p:nvPr>
        </p:nvGraphicFramePr>
        <p:xfrm>
          <a:off x="5148064" y="1435646"/>
          <a:ext cx="28083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5796136" y="2744924"/>
            <a:ext cx="0" cy="3240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34915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2" name="群組 11"/>
          <p:cNvGrpSpPr/>
          <p:nvPr/>
        </p:nvGrpSpPr>
        <p:grpSpPr>
          <a:xfrm>
            <a:off x="5148064" y="5733256"/>
            <a:ext cx="4104456" cy="1122503"/>
            <a:chOff x="5148064" y="5636468"/>
            <a:chExt cx="4104456" cy="112250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636468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文字方塊 7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12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Algorithm(4/13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27592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733224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0" name="直線單箭頭接點 29"/>
          <p:cNvCxnSpPr/>
          <p:nvPr/>
        </p:nvCxnSpPr>
        <p:spPr>
          <a:xfrm>
            <a:off x="5796136" y="314096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796136" y="350100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5796136" y="386104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5796136" y="422108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5796136" y="465313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59224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4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3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5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7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6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5" name="群組 34"/>
          <p:cNvGrpSpPr/>
          <p:nvPr/>
        </p:nvGrpSpPr>
        <p:grpSpPr>
          <a:xfrm>
            <a:off x="5148064" y="5589240"/>
            <a:ext cx="4104456" cy="1122503"/>
            <a:chOff x="5148064" y="5636468"/>
            <a:chExt cx="4104456" cy="1122503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636468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文字方塊 36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25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Algorithm(5/13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390372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118978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916021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1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2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4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" name="群組 2"/>
          <p:cNvGrpSpPr/>
          <p:nvPr/>
        </p:nvGrpSpPr>
        <p:grpSpPr>
          <a:xfrm>
            <a:off x="5148064" y="5589240"/>
            <a:ext cx="4104456" cy="1169731"/>
            <a:chOff x="5148064" y="5589240"/>
            <a:chExt cx="4104456" cy="1169731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589240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文字方塊 12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66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Algorithm(6/13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180040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723743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699792" y="2852936"/>
            <a:ext cx="2880320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群組 16"/>
          <p:cNvGrpSpPr/>
          <p:nvPr/>
        </p:nvGrpSpPr>
        <p:grpSpPr>
          <a:xfrm>
            <a:off x="5940152" y="4149080"/>
            <a:ext cx="3095993" cy="2569815"/>
            <a:chOff x="6073961" y="4315569"/>
            <a:chExt cx="3095993" cy="2569815"/>
          </a:xfrm>
        </p:grpSpPr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3961" y="4315569"/>
              <a:ext cx="3095993" cy="2569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文字方塊 18"/>
            <p:cNvSpPr txBox="1"/>
            <p:nvPr/>
          </p:nvSpPr>
          <p:spPr>
            <a:xfrm>
              <a:off x="7668344" y="5231144"/>
              <a:ext cx="1501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256535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93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Algorithm(7/13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349958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465597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>
            <a:off x="6156176" y="378904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156176" y="4221088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6156176" y="465313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61950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5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7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6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5148064" y="5589240"/>
            <a:ext cx="4104456" cy="1169731"/>
            <a:chOff x="5148064" y="5589240"/>
            <a:chExt cx="4104456" cy="1169731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589240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文字方塊 19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65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Algorithm(8/13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622356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02500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00056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1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/>
                        <a:t>2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5148064" y="5589240"/>
            <a:ext cx="4104456" cy="1169731"/>
            <a:chOff x="5148064" y="5589240"/>
            <a:chExt cx="4104456" cy="1169731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589240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文字方塊 19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93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Algorithm(9/13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291698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45875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339752" y="3140968"/>
            <a:ext cx="352839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/>
        </p:nvGrpSpPr>
        <p:grpSpPr>
          <a:xfrm>
            <a:off x="6145969" y="4149080"/>
            <a:ext cx="3095993" cy="2569815"/>
            <a:chOff x="6145969" y="4149080"/>
            <a:chExt cx="3095993" cy="2569815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5969" y="4149080"/>
              <a:ext cx="3095993" cy="2569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文字方塊 12"/>
            <p:cNvSpPr txBox="1"/>
            <p:nvPr/>
          </p:nvSpPr>
          <p:spPr>
            <a:xfrm>
              <a:off x="7740352" y="5064655"/>
              <a:ext cx="1501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02811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4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Algorithm(10/13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690228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255978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9" name="群組 18"/>
          <p:cNvGrpSpPr/>
          <p:nvPr/>
        </p:nvGrpSpPr>
        <p:grpSpPr>
          <a:xfrm>
            <a:off x="6084168" y="3429000"/>
            <a:ext cx="144016" cy="504056"/>
            <a:chOff x="6084168" y="3429000"/>
            <a:chExt cx="144016" cy="504056"/>
          </a:xfrm>
        </p:grpSpPr>
        <p:cxnSp>
          <p:nvCxnSpPr>
            <p:cNvPr id="8" name="直線單箭頭接點 7"/>
            <p:cNvCxnSpPr/>
            <p:nvPr/>
          </p:nvCxnSpPr>
          <p:spPr>
            <a:xfrm>
              <a:off x="6156176" y="3429000"/>
              <a:ext cx="0" cy="5040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 flipH="1">
              <a:off x="6084168" y="3573016"/>
              <a:ext cx="144016" cy="1080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91673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16</a:t>
            </a:fld>
            <a:endParaRPr lang="zh-TW" altLang="en-US"/>
          </a:p>
        </p:txBody>
      </p:sp>
      <p:grpSp>
        <p:nvGrpSpPr>
          <p:cNvPr id="15" name="群組 14"/>
          <p:cNvGrpSpPr/>
          <p:nvPr/>
        </p:nvGrpSpPr>
        <p:grpSpPr>
          <a:xfrm>
            <a:off x="5148064" y="5589240"/>
            <a:ext cx="4104456" cy="1169731"/>
            <a:chOff x="5148064" y="5589240"/>
            <a:chExt cx="4104456" cy="1169731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589240"/>
              <a:ext cx="3952875" cy="1104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文字方塊 16"/>
            <p:cNvSpPr txBox="1"/>
            <p:nvPr/>
          </p:nvSpPr>
          <p:spPr>
            <a:xfrm>
              <a:off x="6516216" y="6389639"/>
              <a:ext cx="2736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FF0000"/>
                  </a:solidFill>
                </a:rPr>
                <a:t>Mismatch case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186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Algorithm(11/13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57290"/>
              </p:ext>
            </p:extLst>
          </p:nvPr>
        </p:nvGraphicFramePr>
        <p:xfrm>
          <a:off x="323527" y="1628800"/>
          <a:ext cx="396044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49"/>
                <a:gridCol w="424047"/>
                <a:gridCol w="456051"/>
                <a:gridCol w="440049"/>
                <a:gridCol w="440049"/>
                <a:gridCol w="440049"/>
                <a:gridCol w="440049"/>
                <a:gridCol w="440049"/>
                <a:gridCol w="440049"/>
              </a:tblGrid>
              <a:tr h="287353">
                <a:tc rowSpan="2" gridSpan="2"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/>
                        <a:t>A(j) </a:t>
                      </a:r>
                    </a:p>
                    <a:p>
                      <a:pPr algn="l"/>
                      <a:r>
                        <a:rPr lang="en-US" altLang="zh-TW" sz="1500" dirty="0" smtClean="0"/>
                        <a:t>B(i)</a:t>
                      </a:r>
                      <a:endParaRPr lang="zh-TW" altLang="en-US" sz="150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2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3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4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5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7</a:t>
                      </a:r>
                      <a:endParaRPr lang="zh-TW" altLang="en-US" sz="1500" dirty="0"/>
                    </a:p>
                  </a:txBody>
                  <a:tcPr/>
                </a:tc>
              </a:tr>
              <a:tr h="287353"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937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800201"/>
              </p:ext>
            </p:extLst>
          </p:nvPr>
        </p:nvGraphicFramePr>
        <p:xfrm>
          <a:off x="5148064" y="1435646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V="1">
            <a:off x="1979712" y="3140968"/>
            <a:ext cx="3888432" cy="1872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47673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45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Algorithm(12/13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22890"/>
              </p:ext>
            </p:extLst>
          </p:nvPr>
        </p:nvGraphicFramePr>
        <p:xfrm>
          <a:off x="107504" y="1196752"/>
          <a:ext cx="2808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  <a:gridCol w="351039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smtClean="0"/>
                        <a:t>L</a:t>
                      </a:r>
                      <a:r>
                        <a:rPr lang="en-US" altLang="zh-TW" sz="3000" baseline="-25000" dirty="0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8114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207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472433"/>
              </p:ext>
            </p:extLst>
          </p:nvPr>
        </p:nvGraphicFramePr>
        <p:xfrm>
          <a:off x="2051720" y="1916832"/>
          <a:ext cx="3888432" cy="35444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476632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 smtClean="0"/>
                        <a:t>L_index</a:t>
                      </a:r>
                      <a:r>
                        <a:rPr lang="en-US" altLang="zh-TW" sz="3000" baseline="-25000" dirty="0" err="1" smtClean="0"/>
                        <a:t>J</a:t>
                      </a:r>
                      <a:r>
                        <a:rPr lang="en-US" altLang="zh-TW" sz="3000" dirty="0" smtClean="0"/>
                        <a:t>[X]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44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4091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(1,1)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(3,3)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835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(6,6)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205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(7,7)</a:t>
                      </a:r>
                      <a:endParaRPr lang="zh-TW" altLang="en-US" sz="15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19446"/>
              </p:ext>
            </p:extLst>
          </p:nvPr>
        </p:nvGraphicFramePr>
        <p:xfrm>
          <a:off x="4860032" y="2348880"/>
          <a:ext cx="4355973" cy="3354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  <a:gridCol w="483997"/>
              </a:tblGrid>
              <a:tr h="548640">
                <a:tc gridSpan="9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 smtClean="0"/>
                        <a:t>Prev</a:t>
                      </a:r>
                      <a:r>
                        <a:rPr lang="en-US" altLang="zh-TW" sz="3000" dirty="0" smtClean="0"/>
                        <a:t>[</a:t>
                      </a:r>
                      <a:r>
                        <a:rPr lang="en-US" altLang="zh-TW" sz="3000" dirty="0" err="1" smtClean="0"/>
                        <a:t>i,j</a:t>
                      </a:r>
                      <a:r>
                        <a:rPr lang="en-US" altLang="zh-TW" sz="3000" dirty="0" smtClean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</a:tr>
              <a:tr h="4682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i </a:t>
                      </a:r>
                    </a:p>
                    <a:p>
                      <a:pPr algn="l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1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371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(1,1)</a:t>
                      </a:r>
                      <a:endParaRPr lang="zh-TW" altLang="en-US" sz="15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(2,4)</a:t>
                      </a:r>
                      <a:endParaRPr lang="zh-TW" altLang="en-US" sz="15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121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(5,5)</a:t>
                      </a:r>
                      <a:endParaRPr lang="zh-TW" altLang="en-US" sz="15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9" name="群組 28"/>
          <p:cNvGrpSpPr/>
          <p:nvPr/>
        </p:nvGrpSpPr>
        <p:grpSpPr>
          <a:xfrm>
            <a:off x="107504" y="4365104"/>
            <a:ext cx="8640960" cy="1296144"/>
            <a:chOff x="35496" y="4725144"/>
            <a:chExt cx="8640960" cy="1296144"/>
          </a:xfrm>
        </p:grpSpPr>
        <p:sp>
          <p:nvSpPr>
            <p:cNvPr id="4" name="文字方塊 3"/>
            <p:cNvSpPr txBox="1"/>
            <p:nvPr/>
          </p:nvSpPr>
          <p:spPr>
            <a:xfrm>
              <a:off x="35496" y="5507940"/>
              <a:ext cx="1717521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Largest x in L</a:t>
              </a:r>
              <a:r>
                <a:rPr lang="en-US" altLang="zh-TW" baseline="-25000" dirty="0" smtClean="0"/>
                <a:t>n</a:t>
              </a:r>
              <a:r>
                <a:rPr lang="en-US" altLang="zh-TW" dirty="0" smtClean="0"/>
                <a:t>[X]</a:t>
              </a:r>
              <a:endParaRPr lang="zh-TW" altLang="en-US" dirty="0"/>
            </a:p>
          </p:txBody>
        </p:sp>
        <p:cxnSp>
          <p:nvCxnSpPr>
            <p:cNvPr id="12" name="直線單箭頭接點 11"/>
            <p:cNvCxnSpPr>
              <a:stCxn id="4" idx="0"/>
              <a:endCxn id="6" idx="2"/>
            </p:cNvCxnSpPr>
            <p:nvPr/>
          </p:nvCxnSpPr>
          <p:spPr>
            <a:xfrm flipV="1">
              <a:off x="894257" y="5214392"/>
              <a:ext cx="545395" cy="29354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2"/>
              <a:endCxn id="7" idx="2"/>
            </p:cNvCxnSpPr>
            <p:nvPr/>
          </p:nvCxnSpPr>
          <p:spPr>
            <a:xfrm>
              <a:off x="1439652" y="5214392"/>
              <a:ext cx="2484276" cy="6068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7" idx="2"/>
            </p:cNvCxnSpPr>
            <p:nvPr/>
          </p:nvCxnSpPr>
          <p:spPr>
            <a:xfrm>
              <a:off x="3923928" y="5821288"/>
              <a:ext cx="4248472" cy="200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 flipH="1" flipV="1">
              <a:off x="7668344" y="5070376"/>
              <a:ext cx="1008112" cy="6628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flipH="1" flipV="1">
              <a:off x="6228184" y="4725144"/>
              <a:ext cx="1008112" cy="3452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268324"/>
              </p:ext>
            </p:extLst>
          </p:nvPr>
        </p:nvGraphicFramePr>
        <p:xfrm>
          <a:off x="-24170" y="5733256"/>
          <a:ext cx="595197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  <a:gridCol w="661331"/>
              </a:tblGrid>
              <a:tr h="2647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2647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B(i)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70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Algorithm(13/13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3443"/>
            <a:ext cx="7560840" cy="569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340768"/>
            <a:ext cx="3095993" cy="256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26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and space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4000" dirty="0" smtClean="0"/>
                  <a:t>Time:	O(</a:t>
                </a:r>
                <a:r>
                  <a:rPr lang="en-US" altLang="zh-TW" sz="4000" dirty="0" err="1" smtClean="0"/>
                  <a:t>mn</a:t>
                </a:r>
                <a:r>
                  <a:rPr lang="en-US" altLang="zh-TW" sz="4000" dirty="0" smtClean="0"/>
                  <a:t>)</a:t>
                </a:r>
              </a:p>
              <a:p>
                <a:r>
                  <a:rPr lang="en-US" altLang="zh-TW" sz="2500" b="1" dirty="0" smtClean="0"/>
                  <a:t>Match case: </a:t>
                </a:r>
                <a:r>
                  <a:rPr lang="en-US" altLang="zh-TW" sz="2000" dirty="0"/>
                  <a:t>T</a:t>
                </a:r>
                <a:r>
                  <a:rPr lang="en-US" altLang="zh-TW" sz="2000" dirty="0" smtClean="0"/>
                  <a:t>he </a:t>
                </a:r>
                <a:r>
                  <a:rPr lang="en-US" altLang="zh-TW" sz="2000" dirty="0"/>
                  <a:t>procedure </a:t>
                </a:r>
                <a:r>
                  <a:rPr lang="en-US" altLang="zh-TW" sz="2000" i="1" dirty="0" err="1"/>
                  <a:t>LIS_insert</a:t>
                </a:r>
                <a:r>
                  <a:rPr lang="en-US" altLang="zh-TW" sz="2000" i="1" dirty="0"/>
                  <a:t> </a:t>
                </a:r>
                <a:r>
                  <a:rPr lang="en-US" altLang="zh-TW" sz="2000" dirty="0"/>
                  <a:t>will do linear search from </a:t>
                </a:r>
                <a:r>
                  <a:rPr lang="en-US" altLang="zh-TW" sz="2000" i="1" dirty="0" smtClean="0"/>
                  <a:t>p </a:t>
                </a:r>
                <a:r>
                  <a:rPr lang="en-US" altLang="zh-TW" sz="2000" dirty="0" smtClean="0"/>
                  <a:t>to </a:t>
                </a:r>
                <a:r>
                  <a:rPr lang="en-US" altLang="zh-TW" sz="2000" dirty="0"/>
                  <a:t>the insertion point and update </a:t>
                </a:r>
                <a:r>
                  <a:rPr lang="en-US" altLang="zh-TW" sz="2000" i="1" dirty="0" smtClean="0"/>
                  <a:t>p , and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𝑝</m:t>
                    </m:r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TW" sz="20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TW" sz="2000" dirty="0" smtClean="0"/>
                  <a:t>,</a:t>
                </a:r>
                <a:r>
                  <a:rPr lang="en-US" altLang="zh-TW" sz="2000" dirty="0"/>
                  <a:t> for each outer loop, it takes O</a:t>
                </a:r>
                <a:r>
                  <a:rPr lang="en-US" altLang="zh-TW" sz="2000" i="1" dirty="0"/>
                  <a:t>(n) </a:t>
                </a:r>
                <a:r>
                  <a:rPr lang="en-US" altLang="zh-TW" sz="2000" dirty="0" smtClean="0"/>
                  <a:t>time.</a:t>
                </a:r>
              </a:p>
              <a:p>
                <a:r>
                  <a:rPr lang="en-US" altLang="zh-TW" sz="2500" b="1" dirty="0"/>
                  <a:t>Mismatch case: </a:t>
                </a:r>
                <a:r>
                  <a:rPr lang="en-US" altLang="zh-TW" sz="2000" dirty="0" smtClean="0"/>
                  <a:t>only one comparison is required</a:t>
                </a:r>
              </a:p>
              <a:p>
                <a:pPr marL="0" indent="0">
                  <a:buNone/>
                </a:pPr>
                <a:r>
                  <a:rPr lang="en-US" altLang="zh-TW" sz="4000" dirty="0" smtClean="0"/>
                  <a:t>Space:	O(</a:t>
                </a:r>
                <a:r>
                  <a:rPr lang="en-US" altLang="zh-TW" sz="4000" dirty="0" err="1" smtClean="0"/>
                  <a:t>mn</a:t>
                </a:r>
                <a:r>
                  <a:rPr lang="en-US" altLang="zh-TW" sz="4000" dirty="0" smtClean="0"/>
                  <a:t>)</a:t>
                </a:r>
              </a:p>
              <a:p>
                <a:r>
                  <a:rPr lang="en-US" altLang="zh-TW" sz="2800" i="1" dirty="0" err="1" smtClean="0"/>
                  <a:t>L_index:O</a:t>
                </a:r>
                <a:r>
                  <a:rPr lang="en-US" altLang="zh-TW" sz="2800" i="1" dirty="0" smtClean="0"/>
                  <a:t>(</a:t>
                </a:r>
                <a:r>
                  <a:rPr lang="en-US" altLang="zh-TW" sz="2800" i="1" dirty="0" err="1" smtClean="0"/>
                  <a:t>mn</a:t>
                </a:r>
                <a:r>
                  <a:rPr lang="en-US" altLang="zh-TW" sz="2800" i="1" dirty="0" smtClean="0"/>
                  <a:t>)</a:t>
                </a:r>
              </a:p>
              <a:p>
                <a:r>
                  <a:rPr lang="en-US" altLang="zh-TW" sz="2800" i="1" dirty="0" err="1" smtClean="0"/>
                  <a:t>Prev</a:t>
                </a:r>
                <a:r>
                  <a:rPr lang="en-US" altLang="zh-TW" sz="2800" i="1" dirty="0" smtClean="0"/>
                  <a:t>[</a:t>
                </a:r>
                <a:r>
                  <a:rPr lang="en-US" altLang="zh-TW" sz="2800" i="1" dirty="0" err="1" smtClean="0"/>
                  <a:t>I,j</a:t>
                </a:r>
                <a:r>
                  <a:rPr lang="en-US" altLang="zh-TW" sz="2800" i="1" dirty="0" smtClean="0"/>
                  <a:t>]:O(</a:t>
                </a:r>
                <a:r>
                  <a:rPr lang="en-US" altLang="zh-TW" sz="2800" i="1" dirty="0" err="1" smtClean="0"/>
                  <a:t>mn</a:t>
                </a:r>
                <a:r>
                  <a:rPr lang="en-US" altLang="zh-TW" sz="2800" i="1" dirty="0" smtClean="0"/>
                  <a:t>)</a:t>
                </a:r>
              </a:p>
              <a:p>
                <a:r>
                  <a:rPr lang="en-US" altLang="zh-TW" sz="2800" i="1" dirty="0" err="1" smtClean="0"/>
                  <a:t>L</a:t>
                </a:r>
                <a:r>
                  <a:rPr lang="en-US" altLang="zh-TW" sz="2800" i="1" baseline="-25000" dirty="0" err="1" smtClean="0"/>
                  <a:t>j</a:t>
                </a:r>
                <a:r>
                  <a:rPr lang="en-US" altLang="zh-TW" sz="2800" i="1" dirty="0" smtClean="0"/>
                  <a:t>[k]:O(n</a:t>
                </a:r>
                <a:r>
                  <a:rPr lang="en-US" altLang="zh-TW" sz="2800" i="1" baseline="30000" dirty="0" smtClean="0"/>
                  <a:t>2</a:t>
                </a:r>
                <a:r>
                  <a:rPr lang="en-US" altLang="zh-TW" sz="2800" i="1" dirty="0" smtClean="0"/>
                  <a:t>)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593" t="-2426" b="-3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97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TW" sz="5000" dirty="0" smtClean="0"/>
          </a:p>
          <a:p>
            <a:pPr marL="0" indent="0" algn="ctr">
              <a:buNone/>
            </a:pPr>
            <a:endParaRPr lang="en-US" altLang="zh-TW" sz="5000" dirty="0"/>
          </a:p>
          <a:p>
            <a:pPr marL="0" indent="0" algn="ctr">
              <a:buNone/>
            </a:pPr>
            <a:r>
              <a:rPr lang="en-US" altLang="zh-TW" sz="5000" dirty="0" smtClean="0"/>
              <a:t>thank for your listening</a:t>
            </a:r>
            <a:endParaRPr lang="zh-TW" altLang="en-US" sz="50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81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1716</Words>
  <Application>Microsoft Office PowerPoint</Application>
  <PresentationFormat>如螢幕大小 (4:3)</PresentationFormat>
  <Paragraphs>1233</Paragraphs>
  <Slides>21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新細明體</vt:lpstr>
      <vt:lpstr>Arial</vt:lpstr>
      <vt:lpstr>Calibri</vt:lpstr>
      <vt:lpstr>Cambria Math</vt:lpstr>
      <vt:lpstr>Office 佈景主題</vt:lpstr>
      <vt:lpstr>A fast algorithm for computing a longest common increasing subsequence</vt:lpstr>
      <vt:lpstr>Abstract</vt:lpstr>
      <vt:lpstr>LCS&amp;LIS</vt:lpstr>
      <vt:lpstr>LCIS</vt:lpstr>
      <vt:lpstr>Introduction(1/2)</vt:lpstr>
      <vt:lpstr>Introduction(2/2)</vt:lpstr>
      <vt:lpstr>Algorithm(1/13)</vt:lpstr>
      <vt:lpstr>Algorithm(2/13)</vt:lpstr>
      <vt:lpstr>Algorithm(3/13)</vt:lpstr>
      <vt:lpstr>Algorithm(4/13)</vt:lpstr>
      <vt:lpstr>Algorithm(5/13)</vt:lpstr>
      <vt:lpstr>Algorithm(6/13)</vt:lpstr>
      <vt:lpstr>Algorithm(7/13)</vt:lpstr>
      <vt:lpstr>Algorithm(8/13)</vt:lpstr>
      <vt:lpstr>Algorithm(9/13)</vt:lpstr>
      <vt:lpstr>Algorithm(10/13)</vt:lpstr>
      <vt:lpstr>Algorithm(11/13)</vt:lpstr>
      <vt:lpstr>Algorithm(12/13)</vt:lpstr>
      <vt:lpstr>Algorithm(13/13)</vt:lpstr>
      <vt:lpstr>Time and space 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Leo</dc:creator>
  <cp:lastModifiedBy>LinXLL</cp:lastModifiedBy>
  <cp:revision>45</cp:revision>
  <dcterms:created xsi:type="dcterms:W3CDTF">2014-12-12T10:30:18Z</dcterms:created>
  <dcterms:modified xsi:type="dcterms:W3CDTF">2014-12-22T10:06:48Z</dcterms:modified>
</cp:coreProperties>
</file>