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2"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164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143000" y="1122363"/>
            <a:ext cx="6858000" cy="2387600"/>
          </a:xfrm>
        </p:spPr>
        <p:txBody>
          <a:bodyPr anchor="b"/>
          <a:lstStyle>
            <a:lvl1pPr algn="ctr">
              <a:defRPr sz="45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6BC88BBB-4648-41B5-8021-B1CDA3BC1D4F}" type="datetimeFigureOut">
              <a:rPr lang="zh-TW" altLang="en-US" smtClean="0"/>
              <a:t>2014/12/21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1C1795E-AF42-4571-8810-3205580A79E7}" type="slidenum">
              <a:rPr lang="zh-TW" altLang="en-US" smtClean="0"/>
              <a:t>‹#›</a:t>
            </a:fld>
            <a:endParaRPr lang="zh-TW" altLang="en-US"/>
          </a:p>
        </p:txBody>
      </p:sp>
    </p:spTree>
    <p:extLst>
      <p:ext uri="{BB962C8B-B14F-4D97-AF65-F5344CB8AC3E}">
        <p14:creationId xmlns:p14="http://schemas.microsoft.com/office/powerpoint/2010/main" val="2121383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6BC88BBB-4648-41B5-8021-B1CDA3BC1D4F}" type="datetimeFigureOut">
              <a:rPr lang="zh-TW" altLang="en-US" smtClean="0"/>
              <a:t>2014/12/21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1C1795E-AF42-4571-8810-3205580A79E7}" type="slidenum">
              <a:rPr lang="zh-TW" altLang="en-US" smtClean="0"/>
              <a:t>‹#›</a:t>
            </a:fld>
            <a:endParaRPr lang="zh-TW" altLang="en-US"/>
          </a:p>
        </p:txBody>
      </p:sp>
    </p:spTree>
    <p:extLst>
      <p:ext uri="{BB962C8B-B14F-4D97-AF65-F5344CB8AC3E}">
        <p14:creationId xmlns:p14="http://schemas.microsoft.com/office/powerpoint/2010/main" val="4040297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623888" y="1709739"/>
            <a:ext cx="7886700" cy="2852737"/>
          </a:xfrm>
        </p:spPr>
        <p:txBody>
          <a:bodyPr anchor="b"/>
          <a:lstStyle>
            <a:lvl1pPr>
              <a:defRPr sz="45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6BC88BBB-4648-41B5-8021-B1CDA3BC1D4F}" type="datetimeFigureOut">
              <a:rPr lang="zh-TW" altLang="en-US" smtClean="0"/>
              <a:t>2014/12/21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1C1795E-AF42-4571-8810-3205580A79E7}" type="slidenum">
              <a:rPr lang="zh-TW" altLang="en-US" smtClean="0"/>
              <a:t>‹#›</a:t>
            </a:fld>
            <a:endParaRPr lang="zh-TW" altLang="en-US"/>
          </a:p>
        </p:txBody>
      </p:sp>
    </p:spTree>
    <p:extLst>
      <p:ext uri="{BB962C8B-B14F-4D97-AF65-F5344CB8AC3E}">
        <p14:creationId xmlns:p14="http://schemas.microsoft.com/office/powerpoint/2010/main" val="2862104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71487" y="1825625"/>
            <a:ext cx="2900363"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3486150" y="1825625"/>
            <a:ext cx="2900363"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6BC88BBB-4648-41B5-8021-B1CDA3BC1D4F}" type="datetimeFigureOut">
              <a:rPr lang="zh-TW" altLang="en-US" smtClean="0"/>
              <a:t>2014/12/21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1C1795E-AF42-4571-8810-3205580A79E7}" type="slidenum">
              <a:rPr lang="zh-TW" altLang="en-US" smtClean="0"/>
              <a:t>‹#›</a:t>
            </a:fld>
            <a:endParaRPr lang="zh-TW" altLang="en-US"/>
          </a:p>
        </p:txBody>
      </p:sp>
    </p:spTree>
    <p:extLst>
      <p:ext uri="{BB962C8B-B14F-4D97-AF65-F5344CB8AC3E}">
        <p14:creationId xmlns:p14="http://schemas.microsoft.com/office/powerpoint/2010/main" val="2168239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629841" y="365126"/>
            <a:ext cx="78867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4" name="內容版面配置區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6BC88BBB-4648-41B5-8021-B1CDA3BC1D4F}" type="datetimeFigureOut">
              <a:rPr lang="zh-TW" altLang="en-US" smtClean="0"/>
              <a:t>2014/12/21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E1C1795E-AF42-4571-8810-3205580A79E7}" type="slidenum">
              <a:rPr lang="zh-TW" altLang="en-US" smtClean="0"/>
              <a:t>‹#›</a:t>
            </a:fld>
            <a:endParaRPr lang="zh-TW" altLang="en-US"/>
          </a:p>
        </p:txBody>
      </p:sp>
    </p:spTree>
    <p:extLst>
      <p:ext uri="{BB962C8B-B14F-4D97-AF65-F5344CB8AC3E}">
        <p14:creationId xmlns:p14="http://schemas.microsoft.com/office/powerpoint/2010/main" val="755419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6BC88BBB-4648-41B5-8021-B1CDA3BC1D4F}" type="datetimeFigureOut">
              <a:rPr lang="zh-TW" altLang="en-US" smtClean="0"/>
              <a:t>2014/12/21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E1C1795E-AF42-4571-8810-3205580A79E7}" type="slidenum">
              <a:rPr lang="zh-TW" altLang="en-US" smtClean="0"/>
              <a:t>‹#›</a:t>
            </a:fld>
            <a:endParaRPr lang="zh-TW" altLang="en-US"/>
          </a:p>
        </p:txBody>
      </p:sp>
    </p:spTree>
    <p:extLst>
      <p:ext uri="{BB962C8B-B14F-4D97-AF65-F5344CB8AC3E}">
        <p14:creationId xmlns:p14="http://schemas.microsoft.com/office/powerpoint/2010/main" val="551175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6BC88BBB-4648-41B5-8021-B1CDA3BC1D4F}" type="datetimeFigureOut">
              <a:rPr lang="zh-TW" altLang="en-US" smtClean="0"/>
              <a:t>2014/12/21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E1C1795E-AF42-4571-8810-3205580A79E7}" type="slidenum">
              <a:rPr lang="zh-TW" altLang="en-US" smtClean="0"/>
              <a:t>‹#›</a:t>
            </a:fld>
            <a:endParaRPr lang="zh-TW" altLang="en-US"/>
          </a:p>
        </p:txBody>
      </p:sp>
    </p:spTree>
    <p:extLst>
      <p:ext uri="{BB962C8B-B14F-4D97-AF65-F5344CB8AC3E}">
        <p14:creationId xmlns:p14="http://schemas.microsoft.com/office/powerpoint/2010/main" val="317273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29841" y="457200"/>
            <a:ext cx="2949178" cy="1600200"/>
          </a:xfrm>
        </p:spPr>
        <p:txBody>
          <a:bodyPr anchor="b"/>
          <a:lstStyle>
            <a:lvl1pPr>
              <a:defRPr sz="24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6BC88BBB-4648-41B5-8021-B1CDA3BC1D4F}" type="datetimeFigureOut">
              <a:rPr lang="zh-TW" altLang="en-US" smtClean="0"/>
              <a:t>2014/12/21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1C1795E-AF42-4571-8810-3205580A79E7}" type="slidenum">
              <a:rPr lang="zh-TW" altLang="en-US" smtClean="0"/>
              <a:t>‹#›</a:t>
            </a:fld>
            <a:endParaRPr lang="zh-TW" altLang="en-US"/>
          </a:p>
        </p:txBody>
      </p:sp>
    </p:spTree>
    <p:extLst>
      <p:ext uri="{BB962C8B-B14F-4D97-AF65-F5344CB8AC3E}">
        <p14:creationId xmlns:p14="http://schemas.microsoft.com/office/powerpoint/2010/main" val="1879989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629841" y="457200"/>
            <a:ext cx="2949178" cy="1600200"/>
          </a:xfrm>
        </p:spPr>
        <p:txBody>
          <a:bodyPr anchor="b"/>
          <a:lstStyle>
            <a:lvl1pPr>
              <a:defRPr sz="24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TW" altLang="en-US"/>
          </a:p>
        </p:txBody>
      </p:sp>
      <p:sp>
        <p:nvSpPr>
          <p:cNvPr id="4" name="文字版面配置區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6BC88BBB-4648-41B5-8021-B1CDA3BC1D4F}" type="datetimeFigureOut">
              <a:rPr lang="zh-TW" altLang="en-US" smtClean="0"/>
              <a:t>2014/12/21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1C1795E-AF42-4571-8810-3205580A79E7}" type="slidenum">
              <a:rPr lang="zh-TW" altLang="en-US" smtClean="0"/>
              <a:t>‹#›</a:t>
            </a:fld>
            <a:endParaRPr lang="zh-TW" altLang="en-US"/>
          </a:p>
        </p:txBody>
      </p:sp>
    </p:spTree>
    <p:extLst>
      <p:ext uri="{BB962C8B-B14F-4D97-AF65-F5344CB8AC3E}">
        <p14:creationId xmlns:p14="http://schemas.microsoft.com/office/powerpoint/2010/main" val="1481202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6BC88BBB-4648-41B5-8021-B1CDA3BC1D4F}" type="datetimeFigureOut">
              <a:rPr lang="zh-TW" altLang="en-US" smtClean="0"/>
              <a:t>2014/12/21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1C1795E-AF42-4571-8810-3205580A79E7}" type="slidenum">
              <a:rPr lang="zh-TW" altLang="en-US" smtClean="0"/>
              <a:t>‹#›</a:t>
            </a:fld>
            <a:endParaRPr lang="zh-TW" altLang="en-US"/>
          </a:p>
        </p:txBody>
      </p:sp>
    </p:spTree>
    <p:extLst>
      <p:ext uri="{BB962C8B-B14F-4D97-AF65-F5344CB8AC3E}">
        <p14:creationId xmlns:p14="http://schemas.microsoft.com/office/powerpoint/2010/main" val="1997806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4907757" y="365125"/>
            <a:ext cx="1478756"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71488" y="365125"/>
            <a:ext cx="4321969"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6BC88BBB-4648-41B5-8021-B1CDA3BC1D4F}" type="datetimeFigureOut">
              <a:rPr lang="zh-TW" altLang="en-US" smtClean="0"/>
              <a:t>2014/12/21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1C1795E-AF42-4571-8810-3205580A79E7}" type="slidenum">
              <a:rPr lang="zh-TW" altLang="en-US" smtClean="0"/>
              <a:t>‹#›</a:t>
            </a:fld>
            <a:endParaRPr lang="zh-TW" altLang="en-US"/>
          </a:p>
        </p:txBody>
      </p:sp>
    </p:spTree>
    <p:extLst>
      <p:ext uri="{BB962C8B-B14F-4D97-AF65-F5344CB8AC3E}">
        <p14:creationId xmlns:p14="http://schemas.microsoft.com/office/powerpoint/2010/main" val="357494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6BC88BBB-4648-41B5-8021-B1CDA3BC1D4F}" type="datetimeFigureOut">
              <a:rPr lang="zh-TW" altLang="en-US" smtClean="0"/>
              <a:t>2014/12/21</a:t>
            </a:fld>
            <a:endParaRPr lang="zh-TW" altLang="en-US"/>
          </a:p>
        </p:txBody>
      </p:sp>
      <p:sp>
        <p:nvSpPr>
          <p:cNvPr id="5" name="頁尾版面配置區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1C1795E-AF42-4571-8810-3205580A79E7}" type="slidenum">
              <a:rPr lang="zh-TW" altLang="en-US" smtClean="0"/>
              <a:t>‹#›</a:t>
            </a:fld>
            <a:endParaRPr lang="zh-TW" altLang="en-US"/>
          </a:p>
        </p:txBody>
      </p:sp>
    </p:spTree>
    <p:extLst>
      <p:ext uri="{BB962C8B-B14F-4D97-AF65-F5344CB8AC3E}">
        <p14:creationId xmlns:p14="http://schemas.microsoft.com/office/powerpoint/2010/main" val="8854892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2.xml"/><Relationship Id="rId4" Type="http://schemas.openxmlformats.org/officeDocument/2006/relationships/image" Target="../media/image27.JPG"/></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a:spLocks/>
          </p:cNvSpPr>
          <p:nvPr/>
        </p:nvSpPr>
        <p:spPr>
          <a:xfrm>
            <a:off x="579439" y="1419229"/>
            <a:ext cx="7772400" cy="1470025"/>
          </a:xfrm>
          <a:prstGeom prst="rect">
            <a:avLst/>
          </a:prstGeom>
        </p:spPr>
        <p:txBody>
          <a:bodyPr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3600" b="1" dirty="0"/>
              <a:t>Optimal </a:t>
            </a:r>
            <a:r>
              <a:rPr lang="en-US" altLang="zh-TW" sz="3600" b="1" dirty="0" smtClean="0"/>
              <a:t>Correspondence </a:t>
            </a:r>
            <a:r>
              <a:rPr lang="en-US" altLang="zh-TW" sz="3600" b="1" dirty="0"/>
              <a:t>of </a:t>
            </a:r>
            <a:r>
              <a:rPr lang="en-US" altLang="zh-TW" sz="3600" b="1" dirty="0" smtClean="0"/>
              <a:t>String Subsequences</a:t>
            </a:r>
            <a:endParaRPr lang="en-US" altLang="zh-TW" sz="3600" b="1" dirty="0"/>
          </a:p>
        </p:txBody>
      </p:sp>
      <p:sp>
        <p:nvSpPr>
          <p:cNvPr id="5" name="副標題 2"/>
          <p:cNvSpPr txBox="1">
            <a:spLocks/>
          </p:cNvSpPr>
          <p:nvPr/>
        </p:nvSpPr>
        <p:spPr>
          <a:xfrm>
            <a:off x="1397000" y="3076578"/>
            <a:ext cx="6400800" cy="479425"/>
          </a:xfrm>
          <a:prstGeom prst="rect">
            <a:avLst/>
          </a:prstGeom>
        </p:spPr>
        <p:txBody>
          <a:bodyPr>
            <a:normAutofit fontScale="92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defRPr/>
            </a:pPr>
            <a:r>
              <a:rPr lang="en-US" altLang="zh-TW" sz="3100" dirty="0"/>
              <a:t>Wang, Y.P</a:t>
            </a:r>
            <a:r>
              <a:rPr lang="en-US" altLang="zh-TW" sz="3100" dirty="0" smtClean="0"/>
              <a:t>. </a:t>
            </a:r>
            <a:r>
              <a:rPr lang="en-US" altLang="zh-TW" sz="3100" dirty="0"/>
              <a:t>a</a:t>
            </a:r>
            <a:r>
              <a:rPr lang="en-US" altLang="zh-TW" sz="3100" dirty="0" smtClean="0"/>
              <a:t>nd </a:t>
            </a:r>
            <a:r>
              <a:rPr lang="en-US" altLang="zh-TW" sz="3100" dirty="0" err="1" smtClean="0"/>
              <a:t>Pavlidis</a:t>
            </a:r>
            <a:r>
              <a:rPr lang="en-US" altLang="zh-TW" sz="3100" dirty="0"/>
              <a:t>, T.</a:t>
            </a:r>
            <a:r>
              <a:rPr lang="fi-FI" altLang="zh-TW" sz="3100" dirty="0"/>
              <a:t>	</a:t>
            </a:r>
          </a:p>
          <a:p>
            <a:pPr>
              <a:defRPr/>
            </a:pPr>
            <a:endParaRPr lang="zh-TW" altLang="en-US" dirty="0"/>
          </a:p>
        </p:txBody>
      </p:sp>
      <p:graphicFrame>
        <p:nvGraphicFramePr>
          <p:cNvPr id="6" name="表格 5"/>
          <p:cNvGraphicFramePr>
            <a:graphicFrameLocks noGrp="1"/>
          </p:cNvGraphicFramePr>
          <p:nvPr>
            <p:extLst>
              <p:ext uri="{D42A27DB-BD31-4B8C-83A1-F6EECF244321}">
                <p14:modId xmlns:p14="http://schemas.microsoft.com/office/powerpoint/2010/main" val="3912579320"/>
              </p:ext>
            </p:extLst>
          </p:nvPr>
        </p:nvGraphicFramePr>
        <p:xfrm>
          <a:off x="1872343" y="3581401"/>
          <a:ext cx="5364479" cy="1449674"/>
        </p:xfrm>
        <a:graphic>
          <a:graphicData uri="http://schemas.openxmlformats.org/drawingml/2006/table">
            <a:tbl>
              <a:tblPr/>
              <a:tblGrid>
                <a:gridCol w="5364479"/>
              </a:tblGrid>
              <a:tr h="5675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2000" kern="1200" dirty="0" smtClean="0">
                          <a:solidFill>
                            <a:schemeClr val="tx1"/>
                          </a:solidFill>
                          <a:effectLst/>
                          <a:latin typeface="Verdana" panose="020B0604030504040204" pitchFamily="34" charset="0"/>
                          <a:ea typeface="+mn-ea"/>
                          <a:cs typeface="+mn-cs"/>
                        </a:rPr>
                        <a:t>Pattern Analysis and Machine Intelligence, IEEE Transactions on</a:t>
                      </a:r>
                      <a:endParaRPr lang="en-US" sz="1900" kern="1200" dirty="0" smtClean="0">
                        <a:solidFill>
                          <a:schemeClr val="tx1"/>
                        </a:solidFill>
                        <a:effectLst/>
                        <a:latin typeface="Verdana" panose="020B0604030504040204" pitchFamily="34" charset="0"/>
                        <a:ea typeface="+mn-ea"/>
                        <a:cs typeface="+mn-cs"/>
                      </a:endParaRPr>
                    </a:p>
                  </a:txBody>
                  <a:tcPr marL="95251" marR="9525" marT="9523" marB="9523">
                    <a:lnL>
                      <a:noFill/>
                    </a:lnL>
                    <a:lnR>
                      <a:noFill/>
                    </a:lnR>
                    <a:lnT>
                      <a:noFill/>
                    </a:lnT>
                    <a:lnB>
                      <a:noFill/>
                    </a:lnB>
                    <a:solidFill>
                      <a:srgbClr val="FFFFFF"/>
                    </a:solidFill>
                  </a:tcPr>
                </a:tc>
              </a:tr>
              <a:tr h="65324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kern="1200" dirty="0" smtClean="0">
                          <a:solidFill>
                            <a:schemeClr val="tx1"/>
                          </a:solidFill>
                          <a:effectLst/>
                          <a:latin typeface="Verdana" panose="020B0604030504040204" pitchFamily="34" charset="0"/>
                          <a:ea typeface="+mn-ea"/>
                          <a:cs typeface="+mn-cs"/>
                        </a:rPr>
                        <a:t>Volume:12 ,  Issue: 11 Page(s): 1080 – 1087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kern="1200" dirty="0" smtClean="0">
                          <a:solidFill>
                            <a:schemeClr val="tx1"/>
                          </a:solidFill>
                          <a:effectLst/>
                          <a:latin typeface="Verdana" panose="020B0604030504040204" pitchFamily="34" charset="0"/>
                          <a:ea typeface="+mn-ea"/>
                          <a:cs typeface="+mn-cs"/>
                        </a:rPr>
                        <a:t>Nov 1990</a:t>
                      </a:r>
                    </a:p>
                    <a:p>
                      <a:endParaRPr lang="en-US" sz="1500" kern="1200" dirty="0">
                        <a:solidFill>
                          <a:schemeClr val="tx1"/>
                        </a:solidFill>
                        <a:effectLst/>
                        <a:latin typeface="Verdana" panose="020B0604030504040204" pitchFamily="34" charset="0"/>
                        <a:ea typeface="+mn-ea"/>
                        <a:cs typeface="+mn-cs"/>
                      </a:endParaRPr>
                    </a:p>
                  </a:txBody>
                  <a:tcPr marL="95251" marR="9525" marT="9523" marB="95225">
                    <a:lnL>
                      <a:noFill/>
                    </a:lnL>
                    <a:lnR>
                      <a:noFill/>
                    </a:lnR>
                    <a:lnT>
                      <a:noFill/>
                    </a:lnT>
                    <a:lnB>
                      <a:noFill/>
                    </a:lnB>
                    <a:solidFill>
                      <a:srgbClr val="FFFFFF"/>
                    </a:solidFill>
                  </a:tcPr>
                </a:tc>
              </a:tr>
            </a:tbl>
          </a:graphicData>
        </a:graphic>
      </p:graphicFrame>
      <p:sp>
        <p:nvSpPr>
          <p:cNvPr id="3079" name="文字方塊 6"/>
          <p:cNvSpPr txBox="1">
            <a:spLocks noChangeArrowheads="1"/>
          </p:cNvSpPr>
          <p:nvPr/>
        </p:nvSpPr>
        <p:spPr bwMode="auto">
          <a:xfrm>
            <a:off x="3132142" y="5229228"/>
            <a:ext cx="32480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1800" dirty="0"/>
              <a:t>Presenter:  Huang-Ting Chan</a:t>
            </a:r>
          </a:p>
          <a:p>
            <a:pPr eaLnBrk="1" hangingPunct="1">
              <a:spcBef>
                <a:spcPct val="0"/>
              </a:spcBef>
              <a:buFontTx/>
              <a:buNone/>
            </a:pPr>
            <a:r>
              <a:rPr lang="en-US" altLang="zh-TW" sz="1800" dirty="0"/>
              <a:t>Date:</a:t>
            </a:r>
            <a:fld id="{F3590F60-3E7B-48AD-979A-345F224951B5}" type="datetime1">
              <a:rPr lang="zh-TW" altLang="en-US" sz="1800"/>
              <a:pPr eaLnBrk="1" hangingPunct="1">
                <a:spcBef>
                  <a:spcPct val="0"/>
                </a:spcBef>
                <a:buFontTx/>
                <a:buNone/>
              </a:pPr>
              <a:t>2014/12/21</a:t>
            </a:fld>
            <a:endParaRPr lang="zh-TW" altLang="en-US" sz="1800" dirty="0"/>
          </a:p>
        </p:txBody>
      </p:sp>
    </p:spTree>
    <p:extLst>
      <p:ext uri="{BB962C8B-B14F-4D97-AF65-F5344CB8AC3E}">
        <p14:creationId xmlns:p14="http://schemas.microsoft.com/office/powerpoint/2010/main" val="36707008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a:bodyPr>
          <a:lstStyle/>
          <a:p>
            <a:pPr marL="0" indent="0">
              <a:buNone/>
            </a:pPr>
            <a:r>
              <a:rPr lang="en-US" altLang="zh-TW" sz="2800" dirty="0" smtClean="0"/>
              <a:t>The problem of substring matching when the strings are from a finite alphabet has been investigated thoroughly in the literature. The corresponding problem when the alphabet is infinite (for example strings of numbers) bas received less attention. We present definitions of string distance, an effective way of computing them, and matching algorithms minimizing such distances. </a:t>
            </a:r>
            <a:endParaRPr lang="zh-TW" altLang="en-US" sz="2800" b="1" dirty="0"/>
          </a:p>
        </p:txBody>
      </p:sp>
    </p:spTree>
    <p:extLst>
      <p:ext uri="{BB962C8B-B14F-4D97-AF65-F5344CB8AC3E}">
        <p14:creationId xmlns:p14="http://schemas.microsoft.com/office/powerpoint/2010/main" val="320662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p:txBody>
          <a:bodyPr/>
          <a:lstStyle/>
          <a:p>
            <a:pPr marL="0" indent="0">
              <a:buNone/>
            </a:pPr>
            <a:r>
              <a:rPr lang="en-US" altLang="zh-TW" sz="2800" dirty="0" smtClean="0"/>
              <a:t>Our analysis also includes the matching of strings to regular expressions. We include two diverse applications: the stereo </a:t>
            </a:r>
            <a:r>
              <a:rPr lang="en-US" altLang="zh-TW" sz="2800" dirty="0" err="1" smtClean="0"/>
              <a:t>epipolar</a:t>
            </a:r>
            <a:r>
              <a:rPr lang="en-US" altLang="zh-TW" sz="2800" dirty="0" smtClean="0"/>
              <a:t> line matching and the bar code recognition.</a:t>
            </a:r>
            <a:endParaRPr lang="zh-TW" altLang="en-US" sz="2800" b="1" dirty="0" smtClean="0"/>
          </a:p>
          <a:p>
            <a:endParaRPr lang="zh-TW" altLang="en-US" dirty="0"/>
          </a:p>
        </p:txBody>
      </p:sp>
    </p:spTree>
    <p:extLst>
      <p:ext uri="{BB962C8B-B14F-4D97-AF65-F5344CB8AC3E}">
        <p14:creationId xmlns:p14="http://schemas.microsoft.com/office/powerpoint/2010/main" val="2978109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Introduction</a:t>
            </a:r>
            <a:endParaRPr lang="zh-TW" altLang="en-US" dirty="0"/>
          </a:p>
        </p:txBody>
      </p:sp>
      <p:sp>
        <p:nvSpPr>
          <p:cNvPr id="3" name="內容版面配置區 2"/>
          <p:cNvSpPr>
            <a:spLocks noGrp="1"/>
          </p:cNvSpPr>
          <p:nvPr>
            <p:ph idx="1"/>
          </p:nvPr>
        </p:nvSpPr>
        <p:spPr/>
        <p:txBody>
          <a:bodyPr/>
          <a:lstStyle/>
          <a:p>
            <a:pPr marL="0" indent="0">
              <a:buNone/>
            </a:pPr>
            <a:r>
              <a:rPr lang="en-US" altLang="zh-TW" sz="2800" dirty="0"/>
              <a:t>T</a:t>
            </a:r>
            <a:r>
              <a:rPr lang="en-US" altLang="zh-TW" sz="2800" dirty="0" smtClean="0"/>
              <a:t>he partial matching problem</a:t>
            </a:r>
          </a:p>
          <a:p>
            <a:pPr marL="0" indent="0">
              <a:buNone/>
            </a:pPr>
            <a:endParaRPr lang="en-US" altLang="zh-TW" sz="2800" dirty="0"/>
          </a:p>
          <a:p>
            <a:r>
              <a:rPr lang="en-US" altLang="zh-TW" sz="2800" dirty="0" smtClean="0"/>
              <a:t>Image analysis</a:t>
            </a:r>
          </a:p>
          <a:p>
            <a:pPr lvl="1"/>
            <a:r>
              <a:rPr lang="en-US" altLang="zh-TW" sz="2500" dirty="0" smtClean="0"/>
              <a:t>contour matching problem</a:t>
            </a:r>
          </a:p>
          <a:p>
            <a:pPr lvl="1"/>
            <a:r>
              <a:rPr lang="en-US" altLang="zh-TW" sz="2500" dirty="0" smtClean="0"/>
              <a:t>correspondence problem in stereo</a:t>
            </a:r>
          </a:p>
          <a:p>
            <a:pPr lvl="1"/>
            <a:r>
              <a:rPr lang="en-US" altLang="zh-TW" sz="2500" dirty="0" smtClean="0"/>
              <a:t>occluding object matching (recognition) problem</a:t>
            </a:r>
            <a:endParaRPr lang="en-US" altLang="zh-TW" sz="2800" dirty="0"/>
          </a:p>
          <a:p>
            <a:r>
              <a:rPr lang="en-US" altLang="zh-TW" sz="2800" dirty="0" smtClean="0"/>
              <a:t>Speech recognition</a:t>
            </a:r>
          </a:p>
          <a:p>
            <a:pPr lvl="1"/>
            <a:r>
              <a:rPr lang="en-US" altLang="zh-TW" sz="2500" dirty="0" smtClean="0"/>
              <a:t>syllable recognition in speech</a:t>
            </a:r>
          </a:p>
          <a:p>
            <a:pPr marL="0" indent="0">
              <a:buNone/>
            </a:pPr>
            <a:endParaRPr lang="en-US" altLang="zh-TW" sz="2800" dirty="0" smtClean="0"/>
          </a:p>
          <a:p>
            <a:pPr marL="0" indent="0">
              <a:buNone/>
            </a:pPr>
            <a:endParaRPr lang="en-US" altLang="zh-TW" sz="2800" dirty="0" smtClean="0"/>
          </a:p>
          <a:p>
            <a:endParaRPr lang="zh-TW" altLang="en-US" dirty="0"/>
          </a:p>
        </p:txBody>
      </p:sp>
    </p:spTree>
    <p:extLst>
      <p:ext uri="{BB962C8B-B14F-4D97-AF65-F5344CB8AC3E}">
        <p14:creationId xmlns:p14="http://schemas.microsoft.com/office/powerpoint/2010/main" val="34065335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4616" y="275114"/>
            <a:ext cx="3574870" cy="2681153"/>
          </a:xfrm>
        </p:spPr>
      </p:pic>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083" y="3178629"/>
            <a:ext cx="8036182" cy="1946910"/>
          </a:xfrm>
          <a:prstGeom prst="rect">
            <a:avLst/>
          </a:prstGeom>
        </p:spPr>
      </p:pic>
      <p:pic>
        <p:nvPicPr>
          <p:cNvPr id="6" name="圖片 5"/>
          <p:cNvPicPr>
            <a:picLocks noChangeAspect="1"/>
          </p:cNvPicPr>
          <p:nvPr/>
        </p:nvPicPr>
        <p:blipFill rotWithShape="1">
          <a:blip r:embed="rId4">
            <a:extLst>
              <a:ext uri="{28A0092B-C50C-407E-A947-70E740481C1C}">
                <a14:useLocalDpi xmlns:a14="http://schemas.microsoft.com/office/drawing/2010/main" val="0"/>
              </a:ext>
            </a:extLst>
          </a:blip>
          <a:srcRect r="31069" b="-1428"/>
          <a:stretch/>
        </p:blipFill>
        <p:spPr>
          <a:xfrm>
            <a:off x="4468858" y="-72183"/>
            <a:ext cx="3900079" cy="3375745"/>
          </a:xfrm>
          <a:prstGeom prst="rect">
            <a:avLst/>
          </a:prstGeom>
        </p:spPr>
      </p:pic>
      <p:pic>
        <p:nvPicPr>
          <p:cNvPr id="7" name="圖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1592" y="5296701"/>
            <a:ext cx="5053149" cy="1257673"/>
          </a:xfrm>
          <a:prstGeom prst="rect">
            <a:avLst/>
          </a:prstGeom>
        </p:spPr>
      </p:pic>
    </p:spTree>
    <p:extLst>
      <p:ext uri="{BB962C8B-B14F-4D97-AF65-F5344CB8AC3E}">
        <p14:creationId xmlns:p14="http://schemas.microsoft.com/office/powerpoint/2010/main" val="11674834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pPr marL="0" indent="0">
              <a:buNone/>
            </a:pPr>
            <a:r>
              <a:rPr lang="en-US" altLang="zh-TW" sz="2800" dirty="0" smtClean="0"/>
              <a:t>The general algorithm</a:t>
            </a:r>
            <a:endParaRPr lang="en-US" altLang="zh-TW" sz="2800" dirty="0"/>
          </a:p>
          <a:p>
            <a:r>
              <a:rPr lang="en-US" altLang="zh-TW" sz="2800" dirty="0" smtClean="0"/>
              <a:t>Correlation</a:t>
            </a:r>
          </a:p>
          <a:p>
            <a:r>
              <a:rPr lang="en-US" altLang="zh-TW" sz="2800" dirty="0" smtClean="0"/>
              <a:t>Relaxation</a:t>
            </a:r>
          </a:p>
          <a:p>
            <a:r>
              <a:rPr lang="en-US" altLang="zh-TW" sz="2800" dirty="0"/>
              <a:t>T</a:t>
            </a:r>
            <a:r>
              <a:rPr lang="en-US" altLang="zh-TW" sz="2800" dirty="0" smtClean="0"/>
              <a:t>ime-warping</a:t>
            </a:r>
          </a:p>
          <a:p>
            <a:r>
              <a:rPr lang="en-US" altLang="zh-TW" sz="2800" dirty="0"/>
              <a:t>E</a:t>
            </a:r>
            <a:r>
              <a:rPr lang="en-US" altLang="zh-TW" sz="2800" dirty="0" smtClean="0"/>
              <a:t>lastic matching</a:t>
            </a:r>
            <a:endParaRPr lang="zh-TW" altLang="en-US" sz="2800" dirty="0"/>
          </a:p>
        </p:txBody>
      </p:sp>
    </p:spTree>
    <p:extLst>
      <p:ext uri="{BB962C8B-B14F-4D97-AF65-F5344CB8AC3E}">
        <p14:creationId xmlns:p14="http://schemas.microsoft.com/office/powerpoint/2010/main" val="42368356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145932"/>
            <a:ext cx="4926452" cy="2248925"/>
          </a:xfrm>
        </p:spPr>
      </p:pic>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34642" y="-43543"/>
            <a:ext cx="3848100" cy="2438400"/>
          </a:xfrm>
          <a:prstGeom prst="rect">
            <a:avLst/>
          </a:prstGeom>
        </p:spPr>
      </p:pic>
      <p:pic>
        <p:nvPicPr>
          <p:cNvPr id="6" name="圖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503" y="3275647"/>
            <a:ext cx="4591050" cy="2257425"/>
          </a:xfrm>
          <a:prstGeom prst="rect">
            <a:avLst/>
          </a:prstGeom>
        </p:spPr>
      </p:pic>
      <p:pic>
        <p:nvPicPr>
          <p:cNvPr id="7" name="圖片 6"/>
          <p:cNvPicPr>
            <a:picLocks noChangeAspect="1"/>
          </p:cNvPicPr>
          <p:nvPr/>
        </p:nvPicPr>
        <p:blipFill rotWithShape="1">
          <a:blip r:embed="rId5">
            <a:extLst>
              <a:ext uri="{28A0092B-C50C-407E-A947-70E740481C1C}">
                <a14:useLocalDpi xmlns:a14="http://schemas.microsoft.com/office/drawing/2010/main" val="0"/>
              </a:ext>
            </a:extLst>
          </a:blip>
          <a:srcRect l="12002" t="10459" r="4829" b="14182"/>
          <a:stretch/>
        </p:blipFill>
        <p:spPr>
          <a:xfrm>
            <a:off x="4833256" y="3028404"/>
            <a:ext cx="4049486" cy="2751909"/>
          </a:xfrm>
          <a:prstGeom prst="rect">
            <a:avLst/>
          </a:prstGeom>
        </p:spPr>
      </p:pic>
      <p:sp>
        <p:nvSpPr>
          <p:cNvPr id="8" name="文字方塊 7"/>
          <p:cNvSpPr txBox="1"/>
          <p:nvPr/>
        </p:nvSpPr>
        <p:spPr>
          <a:xfrm>
            <a:off x="1419497" y="2629316"/>
            <a:ext cx="1818062" cy="800219"/>
          </a:xfrm>
          <a:prstGeom prst="rect">
            <a:avLst/>
          </a:prstGeom>
          <a:noFill/>
        </p:spPr>
        <p:txBody>
          <a:bodyPr wrap="none" rtlCol="0">
            <a:spAutoFit/>
          </a:bodyPr>
          <a:lstStyle/>
          <a:p>
            <a:r>
              <a:rPr lang="en-US" altLang="zh-TW" sz="2800" dirty="0" smtClean="0"/>
              <a:t>Correlation</a:t>
            </a:r>
          </a:p>
          <a:p>
            <a:endParaRPr lang="zh-TW" altLang="en-US" dirty="0"/>
          </a:p>
        </p:txBody>
      </p:sp>
      <p:sp>
        <p:nvSpPr>
          <p:cNvPr id="9" name="文字方塊 8"/>
          <p:cNvSpPr txBox="1"/>
          <p:nvPr/>
        </p:nvSpPr>
        <p:spPr>
          <a:xfrm>
            <a:off x="6148251" y="2659072"/>
            <a:ext cx="1699311" cy="523220"/>
          </a:xfrm>
          <a:prstGeom prst="rect">
            <a:avLst/>
          </a:prstGeom>
          <a:noFill/>
        </p:spPr>
        <p:txBody>
          <a:bodyPr wrap="none" rtlCol="0">
            <a:spAutoFit/>
          </a:bodyPr>
          <a:lstStyle/>
          <a:p>
            <a:r>
              <a:rPr lang="en-US" altLang="zh-TW" sz="2800" dirty="0" smtClean="0"/>
              <a:t>Relaxation</a:t>
            </a:r>
            <a:endParaRPr lang="en-US" altLang="zh-TW" sz="2800" dirty="0" smtClean="0"/>
          </a:p>
        </p:txBody>
      </p:sp>
      <p:sp>
        <p:nvSpPr>
          <p:cNvPr id="10" name="文字方塊 9"/>
          <p:cNvSpPr txBox="1"/>
          <p:nvPr/>
        </p:nvSpPr>
        <p:spPr>
          <a:xfrm>
            <a:off x="1419497" y="5860869"/>
            <a:ext cx="2193999" cy="800219"/>
          </a:xfrm>
          <a:prstGeom prst="rect">
            <a:avLst/>
          </a:prstGeom>
          <a:noFill/>
        </p:spPr>
        <p:txBody>
          <a:bodyPr wrap="none" rtlCol="0">
            <a:spAutoFit/>
          </a:bodyPr>
          <a:lstStyle/>
          <a:p>
            <a:r>
              <a:rPr lang="en-US" altLang="zh-TW" sz="2800" dirty="0" smtClean="0"/>
              <a:t>Time-warping</a:t>
            </a:r>
          </a:p>
          <a:p>
            <a:endParaRPr lang="zh-TW" altLang="en-US" dirty="0"/>
          </a:p>
        </p:txBody>
      </p:sp>
      <p:sp>
        <p:nvSpPr>
          <p:cNvPr id="11" name="文字方塊 10"/>
          <p:cNvSpPr txBox="1"/>
          <p:nvPr/>
        </p:nvSpPr>
        <p:spPr>
          <a:xfrm>
            <a:off x="5913119" y="5860868"/>
            <a:ext cx="2537361" cy="800219"/>
          </a:xfrm>
          <a:prstGeom prst="rect">
            <a:avLst/>
          </a:prstGeom>
          <a:noFill/>
        </p:spPr>
        <p:txBody>
          <a:bodyPr wrap="none" rtlCol="0">
            <a:spAutoFit/>
          </a:bodyPr>
          <a:lstStyle/>
          <a:p>
            <a:r>
              <a:rPr lang="en-US" altLang="zh-TW" sz="2800" dirty="0" smtClean="0"/>
              <a:t>Elastic matching</a:t>
            </a:r>
            <a:endParaRPr lang="zh-TW" altLang="en-US" sz="2800" dirty="0" smtClean="0"/>
          </a:p>
          <a:p>
            <a:endParaRPr lang="zh-TW" altLang="en-US" dirty="0"/>
          </a:p>
        </p:txBody>
      </p:sp>
    </p:spTree>
    <p:extLst>
      <p:ext uri="{BB962C8B-B14F-4D97-AF65-F5344CB8AC3E}">
        <p14:creationId xmlns:p14="http://schemas.microsoft.com/office/powerpoint/2010/main" val="2765150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Compare with LCS</a:t>
            </a:r>
            <a:endParaRPr lang="zh-TW" altLang="en-US" dirty="0"/>
          </a:p>
        </p:txBody>
      </p:sp>
      <p:sp>
        <p:nvSpPr>
          <p:cNvPr id="3" name="內容版面配置區 2"/>
          <p:cNvSpPr>
            <a:spLocks noGrp="1"/>
          </p:cNvSpPr>
          <p:nvPr>
            <p:ph idx="1"/>
          </p:nvPr>
        </p:nvSpPr>
        <p:spPr/>
        <p:txBody>
          <a:bodyPr>
            <a:noAutofit/>
          </a:bodyPr>
          <a:lstStyle/>
          <a:p>
            <a:pPr marL="0" indent="0">
              <a:buNone/>
            </a:pPr>
            <a:r>
              <a:rPr lang="en-US" altLang="zh-TW" sz="2800" dirty="0" smtClean="0"/>
              <a:t>LCS : </a:t>
            </a:r>
          </a:p>
          <a:p>
            <a:pPr marL="0" indent="0">
              <a:buNone/>
            </a:pPr>
            <a:r>
              <a:rPr lang="en-US" altLang="zh-TW" sz="2800" dirty="0"/>
              <a:t>	</a:t>
            </a:r>
            <a:r>
              <a:rPr lang="en-US" altLang="zh-TW" sz="2800" dirty="0" smtClean="0"/>
              <a:t>The matching is defined as a notion of exact match or of compatible relation on a finite alphabet</a:t>
            </a:r>
          </a:p>
          <a:p>
            <a:pPr marL="0" indent="0">
              <a:buNone/>
            </a:pPr>
            <a:endParaRPr lang="en-US" altLang="zh-TW" sz="2800" dirty="0"/>
          </a:p>
          <a:p>
            <a:pPr marL="0" indent="0">
              <a:buNone/>
            </a:pPr>
            <a:r>
              <a:rPr lang="en-US" altLang="zh-TW" sz="2800" dirty="0" smtClean="0"/>
              <a:t>OCS : </a:t>
            </a:r>
          </a:p>
          <a:p>
            <a:pPr marL="0" indent="0">
              <a:buNone/>
            </a:pPr>
            <a:r>
              <a:rPr lang="en-US" altLang="zh-TW" sz="2800" dirty="0"/>
              <a:t>	</a:t>
            </a:r>
            <a:r>
              <a:rPr lang="en-US" altLang="zh-TW" sz="2800" dirty="0" smtClean="0"/>
              <a:t>Extends the finite alphabet editing error minimization matching to the infinite alphabet  penalty minimization matching.</a:t>
            </a:r>
          </a:p>
        </p:txBody>
      </p:sp>
    </p:spTree>
    <p:extLst>
      <p:ext uri="{BB962C8B-B14F-4D97-AF65-F5344CB8AC3E}">
        <p14:creationId xmlns:p14="http://schemas.microsoft.com/office/powerpoint/2010/main" val="3304566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Example</a:t>
            </a:r>
            <a:endParaRPr lang="zh-TW" altLang="en-US" dirty="0"/>
          </a:p>
        </p:txBody>
      </p:sp>
      <p:sp>
        <p:nvSpPr>
          <p:cNvPr id="3" name="內容版面配置區 2"/>
          <p:cNvSpPr>
            <a:spLocks noGrp="1"/>
          </p:cNvSpPr>
          <p:nvPr>
            <p:ph idx="1"/>
          </p:nvPr>
        </p:nvSpPr>
        <p:spPr/>
        <p:txBody>
          <a:bodyPr/>
          <a:lstStyle/>
          <a:p>
            <a:pPr marL="0" indent="0">
              <a:buNone/>
            </a:pPr>
            <a:r>
              <a:rPr lang="en-US" altLang="zh-TW" sz="2800" dirty="0"/>
              <a:t>a</a:t>
            </a:r>
            <a:r>
              <a:rPr lang="en-US" altLang="zh-TW" sz="2800" dirty="0" smtClean="0"/>
              <a:t> noisy system the sampling data can always be </a:t>
            </a:r>
          </a:p>
          <a:p>
            <a:pPr marL="0" indent="0">
              <a:buNone/>
            </a:pPr>
            <a:r>
              <a:rPr lang="en-US" altLang="zh-TW" sz="2800" dirty="0" smtClean="0"/>
              <a:t>digitized into numbers with quantization unit above </a:t>
            </a:r>
          </a:p>
          <a:p>
            <a:pPr marL="0" indent="0">
              <a:buNone/>
            </a:pPr>
            <a:r>
              <a:rPr lang="en-US" altLang="zh-TW" sz="2800" dirty="0" smtClean="0"/>
              <a:t>the inherent noise level and represented by a finite </a:t>
            </a:r>
          </a:p>
          <a:p>
            <a:pPr marL="0" indent="0">
              <a:buNone/>
            </a:pPr>
            <a:r>
              <a:rPr lang="en-US" altLang="zh-TW" sz="2800" dirty="0" smtClean="0"/>
              <a:t>al</a:t>
            </a:r>
            <a:r>
              <a:rPr lang="en-US" altLang="zh-TW" sz="2800" dirty="0" smtClean="0"/>
              <a:t>phabet.</a:t>
            </a:r>
          </a:p>
          <a:p>
            <a:pPr marL="0" indent="0">
              <a:buNone/>
            </a:pPr>
            <a:r>
              <a:rPr lang="en-US" altLang="zh-TW" sz="2800" dirty="0" smtClean="0"/>
              <a:t>Moreover, if the size of an alphabet is too </a:t>
            </a:r>
          </a:p>
          <a:p>
            <a:pPr marL="0" indent="0">
              <a:buNone/>
            </a:pPr>
            <a:r>
              <a:rPr lang="en-US" altLang="zh-TW" sz="2800" dirty="0" smtClean="0"/>
              <a:t>large, to maintain a huge lookup table to keep track </a:t>
            </a:r>
          </a:p>
          <a:p>
            <a:pPr marL="0" indent="0">
              <a:buNone/>
            </a:pPr>
            <a:r>
              <a:rPr lang="en-US" altLang="zh-TW" sz="2800" dirty="0" smtClean="0"/>
              <a:t>of the interpretation of each symbol is infeasible.</a:t>
            </a:r>
            <a:endParaRPr lang="zh-TW" altLang="en-US" dirty="0"/>
          </a:p>
        </p:txBody>
      </p:sp>
    </p:spTree>
    <p:extLst>
      <p:ext uri="{BB962C8B-B14F-4D97-AF65-F5344CB8AC3E}">
        <p14:creationId xmlns:p14="http://schemas.microsoft.com/office/powerpoint/2010/main" val="193588470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2800" dirty="0" smtClean="0"/>
              <a:t>Optimal Correspondent Subsequence(OCS) Problem</a:t>
            </a:r>
            <a:endParaRPr lang="zh-TW" altLang="en-US" sz="2800" dirty="0"/>
          </a:p>
        </p:txBody>
      </p:sp>
      <p:sp>
        <p:nvSpPr>
          <p:cNvPr id="3" name="內容版面配置區 2"/>
          <p:cNvSpPr>
            <a:spLocks noGrp="1"/>
          </p:cNvSpPr>
          <p:nvPr>
            <p:ph idx="1"/>
          </p:nvPr>
        </p:nvSpPr>
        <p:spPr/>
        <p:txBody>
          <a:bodyPr>
            <a:normAutofit/>
          </a:bodyPr>
          <a:lstStyle/>
          <a:p>
            <a:pPr marL="0" indent="0">
              <a:buNone/>
            </a:pPr>
            <a:r>
              <a:rPr lang="en-US" altLang="zh-TW" sz="2800" dirty="0" smtClean="0"/>
              <a:t>as an infinite alphabet penalty minimization problem</a:t>
            </a:r>
            <a:endParaRPr lang="zh-TW" altLang="en-US" sz="2800" dirty="0"/>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650" y="2395488"/>
            <a:ext cx="6660424" cy="4120110"/>
          </a:xfrm>
          <a:prstGeom prst="rect">
            <a:avLst/>
          </a:prstGeom>
        </p:spPr>
      </p:pic>
    </p:spTree>
    <p:extLst>
      <p:ext uri="{BB962C8B-B14F-4D97-AF65-F5344CB8AC3E}">
        <p14:creationId xmlns:p14="http://schemas.microsoft.com/office/powerpoint/2010/main" val="423626465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7690" y="394024"/>
            <a:ext cx="7627076" cy="2239812"/>
          </a:xfrm>
        </p:spPr>
      </p:pic>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122" y="2699658"/>
            <a:ext cx="7654621" cy="2799941"/>
          </a:xfrm>
          <a:prstGeom prst="rect">
            <a:avLst/>
          </a:prstGeom>
        </p:spPr>
      </p:pic>
      <p:pic>
        <p:nvPicPr>
          <p:cNvPr id="6" name="圖片 5"/>
          <p:cNvPicPr>
            <a:picLocks noChangeAspect="1"/>
          </p:cNvPicPr>
          <p:nvPr/>
        </p:nvPicPr>
        <p:blipFill rotWithShape="1">
          <a:blip r:embed="rId4">
            <a:extLst>
              <a:ext uri="{28A0092B-C50C-407E-A947-70E740481C1C}">
                <a14:useLocalDpi xmlns:a14="http://schemas.microsoft.com/office/drawing/2010/main" val="0"/>
              </a:ext>
            </a:extLst>
          </a:blip>
          <a:srcRect l="223" t="4250"/>
          <a:stretch/>
        </p:blipFill>
        <p:spPr>
          <a:xfrm>
            <a:off x="484142" y="5565421"/>
            <a:ext cx="7794171" cy="1024901"/>
          </a:xfrm>
          <a:prstGeom prst="rect">
            <a:avLst/>
          </a:prstGeom>
        </p:spPr>
      </p:pic>
    </p:spTree>
    <p:extLst>
      <p:ext uri="{BB962C8B-B14F-4D97-AF65-F5344CB8AC3E}">
        <p14:creationId xmlns:p14="http://schemas.microsoft.com/office/powerpoint/2010/main" val="89068194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Example</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628650" y="1358537"/>
                <a:ext cx="7886700" cy="5355772"/>
              </a:xfrm>
            </p:spPr>
            <p:txBody>
              <a:bodyPr>
                <a:normAutofit/>
              </a:bodyPr>
              <a:lstStyle/>
              <a:p>
                <a:pPr marL="0" indent="0">
                  <a:buNone/>
                </a:pPr>
                <a:r>
                  <a:rPr lang="en-US" altLang="zh-TW" sz="2800" dirty="0" smtClean="0"/>
                  <a:t>A= 1.3  0.5  1.8  11.3   B= 1.2  1.9  11.9  9.0  5.0</a:t>
                </a:r>
              </a:p>
              <a:p>
                <a:pPr marL="0" indent="0">
                  <a:buNone/>
                </a:pPr>
                <a:r>
                  <a:rPr lang="en-US" altLang="zh-TW" sz="2800" dirty="0" smtClean="0"/>
                  <a:t>Penalty= </a:t>
                </a:r>
                <a14:m>
                  <m:oMath xmlns:m="http://schemas.openxmlformats.org/officeDocument/2006/math">
                    <m:d>
                      <m:dPr>
                        <m:begChr m:val="|"/>
                        <m:endChr m:val="|"/>
                        <m:ctrlPr>
                          <a:rPr lang="en-US" altLang="zh-TW" sz="2800" i="1" smtClean="0">
                            <a:latin typeface="Cambria Math" panose="02040503050406030204" pitchFamily="18" charset="0"/>
                          </a:rPr>
                        </m:ctrlPr>
                      </m:dPr>
                      <m:e>
                        <m:r>
                          <a:rPr lang="en-US" altLang="zh-TW" sz="2800" b="0" i="1" smtClean="0">
                            <a:latin typeface="Cambria Math" panose="02040503050406030204" pitchFamily="18" charset="0"/>
                          </a:rPr>
                          <m:t>𝐴</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𝐵</m:t>
                        </m:r>
                      </m:e>
                    </m:d>
                  </m:oMath>
                </a14:m>
                <a:endParaRPr lang="en-US" altLang="zh-TW" sz="2800" dirty="0" smtClean="0"/>
              </a:p>
              <a:p>
                <a:pPr marL="0" indent="0">
                  <a:buNone/>
                </a:pPr>
                <a:r>
                  <a:rPr lang="en-US" altLang="zh-TW" sz="2800" dirty="0" smtClean="0"/>
                  <a:t>If </a:t>
                </a:r>
                <a14:m>
                  <m:oMath xmlns:m="http://schemas.openxmlformats.org/officeDocument/2006/math">
                    <m:r>
                      <a:rPr lang="zh-TW" altLang="en-US" sz="2800" i="1" smtClean="0">
                        <a:latin typeface="Cambria Math" panose="02040503050406030204" pitchFamily="18" charset="0"/>
                      </a:rPr>
                      <m:t>𝜏</m:t>
                    </m:r>
                    <m:r>
                      <a:rPr lang="en-US" altLang="zh-TW" sz="2800" i="1" smtClean="0">
                        <a:latin typeface="Cambria Math" panose="02040503050406030204" pitchFamily="18" charset="0"/>
                        <a:ea typeface="Cambria Math" panose="02040503050406030204" pitchFamily="18" charset="0"/>
                      </a:rPr>
                      <m:t>&lt;</m:t>
                    </m:r>
                    <m:r>
                      <a:rPr lang="en-US" altLang="zh-TW" sz="2800" b="0" i="1" smtClean="0">
                        <a:latin typeface="Cambria Math" panose="02040503050406030204" pitchFamily="18" charset="0"/>
                        <a:ea typeface="Cambria Math" panose="02040503050406030204" pitchFamily="18" charset="0"/>
                      </a:rPr>
                      <m:t>0.05</m:t>
                    </m:r>
                  </m:oMath>
                </a14:m>
                <a:r>
                  <a:rPr lang="en-US" altLang="zh-TW" sz="2800" dirty="0" smtClean="0"/>
                  <a:t>, then </a:t>
                </a:r>
                <a14:m>
                  <m:oMath xmlns:m="http://schemas.openxmlformats.org/officeDocument/2006/math">
                    <m:r>
                      <a:rPr lang="en-US" altLang="zh-TW" sz="2800" b="0" i="1" smtClean="0">
                        <a:latin typeface="Cambria Math" panose="02040503050406030204" pitchFamily="18" charset="0"/>
                      </a:rPr>
                      <m:t>#</m:t>
                    </m:r>
                    <m:d>
                      <m:dPr>
                        <m:begChr m:val="|"/>
                        <m:endChr m:val="|"/>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𝐹</m:t>
                        </m:r>
                      </m:e>
                    </m:d>
                    <m:r>
                      <a:rPr lang="en-US" altLang="zh-TW" sz="2800" b="0" i="1" smtClean="0">
                        <a:latin typeface="Cambria Math" panose="02040503050406030204" pitchFamily="18" charset="0"/>
                      </a:rPr>
                      <m:t>=0</m:t>
                    </m:r>
                    <m:r>
                      <a:rPr lang="en-US" altLang="zh-TW" sz="2800" b="0" i="0" smtClean="0">
                        <a:latin typeface="Cambria Math" panose="02040503050406030204" pitchFamily="18" charset="0"/>
                      </a:rPr>
                      <m:t> </m:t>
                    </m:r>
                  </m:oMath>
                </a14:m>
                <a:endParaRPr lang="en-US" altLang="zh-TW" sz="2800" b="0" dirty="0" smtClean="0"/>
              </a:p>
              <a:p>
                <a:pPr marL="0" indent="0">
                  <a:buNone/>
                </a:pPr>
                <a:r>
                  <a:rPr lang="en-US" altLang="zh-TW" sz="2800" dirty="0" smtClean="0"/>
                  <a:t>Minimum </a:t>
                </a:r>
                <a14:m>
                  <m:oMath xmlns:m="http://schemas.openxmlformats.org/officeDocument/2006/math">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𝑆</m:t>
                        </m:r>
                      </m:e>
                      <m:sub>
                        <m:r>
                          <a:rPr lang="en-US" altLang="zh-TW" sz="2800" b="0" i="1" smtClean="0">
                            <a:latin typeface="Cambria Math" panose="02040503050406030204" pitchFamily="18" charset="0"/>
                          </a:rPr>
                          <m:t>𝐹</m:t>
                        </m:r>
                      </m:sub>
                    </m:sSub>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𝐴</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𝐵</m:t>
                        </m:r>
                      </m:e>
                    </m:d>
                    <m:r>
                      <a:rPr lang="en-US" altLang="zh-TW" sz="2800" b="0" i="1" smtClean="0">
                        <a:latin typeface="Cambria Math" panose="02040503050406030204" pitchFamily="18" charset="0"/>
                      </a:rPr>
                      <m:t>=9</m:t>
                    </m:r>
                    <m:r>
                      <a:rPr lang="zh-TW" altLang="en-US" sz="2800" b="0" i="1" smtClean="0">
                        <a:latin typeface="Cambria Math" panose="02040503050406030204" pitchFamily="18" charset="0"/>
                      </a:rPr>
                      <m:t>𝜏</m:t>
                    </m:r>
                  </m:oMath>
                </a14:m>
                <a:r>
                  <a:rPr lang="en-US" altLang="zh-TW" sz="2800" dirty="0" smtClean="0"/>
                  <a:t> </a:t>
                </a:r>
              </a:p>
              <a:p>
                <a:pPr marL="0" indent="0">
                  <a:buNone/>
                </a:pPr>
                <a:endParaRPr lang="en-US" altLang="zh-TW" sz="2800" dirty="0" smtClean="0"/>
              </a:p>
              <a:p>
                <a:pPr marL="0" indent="0">
                  <a:buNone/>
                </a:pPr>
                <a:r>
                  <a:rPr lang="en-US" altLang="zh-TW" sz="2800" dirty="0" smtClean="0"/>
                  <a:t>If</a:t>
                </a:r>
                <a14:m>
                  <m:oMath xmlns:m="http://schemas.openxmlformats.org/officeDocument/2006/math">
                    <m:r>
                      <a:rPr lang="en-US" altLang="zh-TW" sz="2800" b="0" i="0" smtClean="0">
                        <a:latin typeface="Cambria Math" panose="02040503050406030204" pitchFamily="18" charset="0"/>
                      </a:rPr>
                      <m:t> </m:t>
                    </m:r>
                    <m:r>
                      <a:rPr lang="zh-TW" altLang="en-US" sz="2800" i="1" smtClean="0">
                        <a:latin typeface="Cambria Math" panose="02040503050406030204" pitchFamily="18" charset="0"/>
                      </a:rPr>
                      <m:t>𝜏</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0.5</m:t>
                    </m:r>
                  </m:oMath>
                </a14:m>
                <a:r>
                  <a:rPr lang="en-US" altLang="zh-TW" sz="2800" dirty="0" smtClean="0"/>
                  <a:t>, then</a:t>
                </a:r>
                <a:r>
                  <a:rPr lang="zh-TW" altLang="en-US" sz="2800" dirty="0" smtClean="0"/>
                  <a:t> </a:t>
                </a:r>
                <a14:m>
                  <m:oMath xmlns:m="http://schemas.openxmlformats.org/officeDocument/2006/math">
                    <m:r>
                      <a:rPr lang="en-US" altLang="zh-TW" sz="2800" b="0" i="1" smtClean="0">
                        <a:latin typeface="Cambria Math" panose="02040503050406030204" pitchFamily="18" charset="0"/>
                      </a:rPr>
                      <m:t>#</m:t>
                    </m:r>
                    <m:d>
                      <m:dPr>
                        <m:begChr m:val="|"/>
                        <m:endChr m:val="|"/>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𝐹</m:t>
                        </m:r>
                      </m:e>
                    </m:d>
                    <m:r>
                      <a:rPr lang="en-US" altLang="zh-TW" sz="2800" b="0" i="1" smtClean="0">
                        <a:latin typeface="Cambria Math" panose="02040503050406030204" pitchFamily="18" charset="0"/>
                      </a:rPr>
                      <m:t>=</m:t>
                    </m:r>
                    <m:r>
                      <a:rPr lang="en-US" altLang="zh-TW" sz="2800" b="0" i="0" smtClean="0">
                        <a:latin typeface="Cambria Math" panose="02040503050406030204" pitchFamily="18" charset="0"/>
                      </a:rPr>
                      <m:t>3</m:t>
                    </m:r>
                    <m:r>
                      <a:rPr lang="en-US" altLang="zh-TW" sz="2800" b="0" i="0" smtClean="0">
                        <a:latin typeface="Cambria Math" panose="02040503050406030204" pitchFamily="18" charset="0"/>
                      </a:rPr>
                      <m:t> </m:t>
                    </m:r>
                  </m:oMath>
                </a14:m>
                <a:r>
                  <a:rPr lang="en-US" altLang="zh-TW" sz="2800" b="0" dirty="0" smtClean="0"/>
                  <a:t> </a:t>
                </a:r>
                <a14:m>
                  <m:oMath xmlns:m="http://schemas.openxmlformats.org/officeDocument/2006/math">
                    <m:r>
                      <a:rPr lang="en-US" altLang="zh-TW" sz="2800" b="0" i="1" dirty="0" smtClean="0">
                        <a:latin typeface="Cambria Math" panose="02040503050406030204" pitchFamily="18" charset="0"/>
                      </a:rPr>
                      <m:t>𝐹</m:t>
                    </m:r>
                    <m:r>
                      <a:rPr lang="en-US" altLang="zh-TW" sz="2800" b="0" i="1" dirty="0" smtClean="0">
                        <a:latin typeface="Cambria Math" panose="02040503050406030204" pitchFamily="18" charset="0"/>
                      </a:rPr>
                      <m:t>:</m:t>
                    </m:r>
                    <m:d>
                      <m:dPr>
                        <m:begChr m:val="{"/>
                        <m:endChr m:val="}"/>
                        <m:ctrlPr>
                          <a:rPr lang="en-US" altLang="zh-TW" sz="2800" b="0" i="1" dirty="0" smtClean="0">
                            <a:latin typeface="Cambria Math" panose="02040503050406030204" pitchFamily="18" charset="0"/>
                          </a:rPr>
                        </m:ctrlPr>
                      </m:dPr>
                      <m:e>
                        <m:r>
                          <a:rPr lang="en-US" altLang="zh-TW" sz="2800" b="0" i="1" dirty="0" smtClean="0">
                            <a:latin typeface="Cambria Math" panose="02040503050406030204" pitchFamily="18" charset="0"/>
                          </a:rPr>
                          <m:t>1,2,3,4</m:t>
                        </m:r>
                      </m:e>
                    </m:d>
                    <m:r>
                      <a:rPr lang="en-US" altLang="zh-TW" sz="2800" b="0" i="1" dirty="0" smtClean="0">
                        <a:latin typeface="Cambria Math" panose="02040503050406030204" pitchFamily="18" charset="0"/>
                      </a:rPr>
                      <m:t>=</m:t>
                    </m:r>
                    <m:d>
                      <m:dPr>
                        <m:begChr m:val="{"/>
                        <m:endChr m:val="}"/>
                        <m:ctrlPr>
                          <a:rPr lang="en-US" altLang="zh-TW" sz="2800" b="0" i="1" dirty="0" smtClean="0">
                            <a:latin typeface="Cambria Math" panose="02040503050406030204" pitchFamily="18" charset="0"/>
                          </a:rPr>
                        </m:ctrlPr>
                      </m:dPr>
                      <m:e>
                        <m:r>
                          <a:rPr lang="en-US" altLang="zh-TW" sz="2800" b="0" i="1" dirty="0" smtClean="0">
                            <a:latin typeface="Cambria Math" panose="02040503050406030204" pitchFamily="18" charset="0"/>
                          </a:rPr>
                          <m:t>1,2</m:t>
                        </m:r>
                        <m:r>
                          <m:rPr>
                            <m:nor/>
                          </m:rPr>
                          <a:rPr lang="en-US" altLang="zh-TW" sz="2800" b="0" i="0" dirty="0" smtClean="0">
                            <a:latin typeface="Cambria Math" panose="02040503050406030204" pitchFamily="18" charset="0"/>
                          </a:rPr>
                          <m:t>,</m:t>
                        </m:r>
                        <m:r>
                          <m:rPr>
                            <m:nor/>
                          </m:rPr>
                          <a:rPr lang="en-US" altLang="zh-TW" sz="2800" b="0" dirty="0" smtClean="0">
                            <a:latin typeface="Cambria Math" panose="02040503050406030204" pitchFamily="18" charset="0"/>
                            <a:ea typeface="Cambria Math" panose="02040503050406030204" pitchFamily="18" charset="0"/>
                          </a:rPr>
                          <m:t>⊥</m:t>
                        </m:r>
                        <m:r>
                          <a:rPr lang="en-US" altLang="zh-TW" sz="2800" b="0" i="1" dirty="0" smtClean="0">
                            <a:latin typeface="Cambria Math" panose="02040503050406030204" pitchFamily="18" charset="0"/>
                            <a:ea typeface="Cambria Math" panose="02040503050406030204" pitchFamily="18" charset="0"/>
                          </a:rPr>
                          <m:t>,3</m:t>
                        </m:r>
                      </m:e>
                    </m:d>
                  </m:oMath>
                </a14:m>
                <a:endParaRPr lang="en-US" altLang="zh-TW" sz="2800" b="0" dirty="0" smtClean="0"/>
              </a:p>
              <a:p>
                <a:pPr marL="0" indent="0">
                  <a:buNone/>
                </a:pPr>
                <a:r>
                  <a:rPr lang="en-US" altLang="zh-TW" sz="2800" dirty="0" smtClean="0"/>
                  <a:t>Minimum </a:t>
                </a:r>
                <a14:m>
                  <m:oMath xmlns:m="http://schemas.openxmlformats.org/officeDocument/2006/math">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𝑆</m:t>
                        </m:r>
                      </m:e>
                      <m:sub>
                        <m:r>
                          <a:rPr lang="en-US" altLang="zh-TW" sz="2800" b="0" i="1" smtClean="0">
                            <a:latin typeface="Cambria Math" panose="02040503050406030204" pitchFamily="18" charset="0"/>
                          </a:rPr>
                          <m:t>𝐹</m:t>
                        </m:r>
                      </m:sub>
                    </m:sSub>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𝐴</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𝐵</m:t>
                        </m:r>
                      </m:e>
                    </m:d>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2.3</m:t>
                    </m:r>
                  </m:oMath>
                </a14:m>
                <a:r>
                  <a:rPr lang="en-US" altLang="zh-TW" sz="2800" dirty="0" smtClean="0"/>
                  <a:t> </a:t>
                </a:r>
                <a:endParaRPr lang="en-US" altLang="zh-TW" sz="2800" dirty="0" smtClean="0"/>
              </a:p>
              <a:p>
                <a:pPr marL="0" indent="0">
                  <a:buNone/>
                </a:pPr>
                <a:endParaRPr lang="en-US" altLang="zh-TW" sz="2800" dirty="0"/>
              </a:p>
              <a:p>
                <a:pPr marL="0" indent="0">
                  <a:buNone/>
                </a:pPr>
                <a:r>
                  <a:rPr lang="en-US" altLang="zh-TW" sz="2800" dirty="0" smtClean="0"/>
                  <a:t>If</a:t>
                </a:r>
                <a14:m>
                  <m:oMath xmlns:m="http://schemas.openxmlformats.org/officeDocument/2006/math">
                    <m:r>
                      <a:rPr lang="en-US" altLang="zh-TW" sz="2800" b="0" i="0" smtClean="0">
                        <a:latin typeface="Cambria Math" panose="02040503050406030204" pitchFamily="18" charset="0"/>
                      </a:rPr>
                      <m:t> </m:t>
                    </m:r>
                    <m:r>
                      <a:rPr lang="zh-TW" altLang="en-US" sz="2800" i="1" smtClean="0">
                        <a:latin typeface="Cambria Math" panose="02040503050406030204" pitchFamily="18" charset="0"/>
                      </a:rPr>
                      <m:t>𝜏</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300</m:t>
                    </m:r>
                  </m:oMath>
                </a14:m>
                <a:r>
                  <a:rPr lang="en-US" altLang="zh-TW" sz="2800" dirty="0" smtClean="0"/>
                  <a:t>,</a:t>
                </a:r>
                <a:r>
                  <a:rPr lang="zh-TW" altLang="en-US" sz="2800" dirty="0" smtClean="0"/>
                  <a:t> </a:t>
                </a:r>
                <a:r>
                  <a:rPr lang="en-US" altLang="zh-TW" sz="2800" dirty="0" smtClean="0"/>
                  <a:t>then</a:t>
                </a:r>
                <a:r>
                  <a:rPr lang="zh-TW" altLang="en-US" sz="2800" dirty="0" smtClean="0"/>
                  <a:t> </a:t>
                </a:r>
                <a14:m>
                  <m:oMath xmlns:m="http://schemas.openxmlformats.org/officeDocument/2006/math">
                    <m:r>
                      <a:rPr lang="en-US" altLang="zh-TW" sz="2800" b="0" i="1" smtClean="0">
                        <a:latin typeface="Cambria Math" panose="02040503050406030204" pitchFamily="18" charset="0"/>
                      </a:rPr>
                      <m:t>#</m:t>
                    </m:r>
                    <m:d>
                      <m:dPr>
                        <m:begChr m:val="|"/>
                        <m:endChr m:val="|"/>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𝐹</m:t>
                        </m:r>
                      </m:e>
                    </m:d>
                    <m:r>
                      <a:rPr lang="en-US" altLang="zh-TW" sz="2800" b="0" i="1" smtClean="0">
                        <a:latin typeface="Cambria Math" panose="02040503050406030204" pitchFamily="18" charset="0"/>
                      </a:rPr>
                      <m:t>=</m:t>
                    </m:r>
                    <m:r>
                      <a:rPr lang="en-US" altLang="zh-TW" sz="2800" b="0" i="0" smtClean="0">
                        <a:latin typeface="Cambria Math" panose="02040503050406030204" pitchFamily="18" charset="0"/>
                      </a:rPr>
                      <m:t>4</m:t>
                    </m:r>
                    <m:r>
                      <a:rPr lang="en-US" altLang="zh-TW" sz="2800" b="0" i="0" smtClean="0">
                        <a:latin typeface="Cambria Math" panose="02040503050406030204" pitchFamily="18" charset="0"/>
                      </a:rPr>
                      <m:t> </m:t>
                    </m:r>
                  </m:oMath>
                </a14:m>
                <a:r>
                  <a:rPr lang="en-US" altLang="zh-TW" sz="2800" b="0" dirty="0" smtClean="0"/>
                  <a:t> </a:t>
                </a:r>
                <a14:m>
                  <m:oMath xmlns:m="http://schemas.openxmlformats.org/officeDocument/2006/math">
                    <m:r>
                      <a:rPr lang="en-US" altLang="zh-TW" sz="2800" b="0" i="1" dirty="0" smtClean="0">
                        <a:latin typeface="Cambria Math" panose="02040503050406030204" pitchFamily="18" charset="0"/>
                      </a:rPr>
                      <m:t>𝐹</m:t>
                    </m:r>
                    <m:r>
                      <a:rPr lang="en-US" altLang="zh-TW" sz="2800" b="0" i="1" dirty="0" smtClean="0">
                        <a:latin typeface="Cambria Math" panose="02040503050406030204" pitchFamily="18" charset="0"/>
                      </a:rPr>
                      <m:t>:</m:t>
                    </m:r>
                    <m:d>
                      <m:dPr>
                        <m:begChr m:val="{"/>
                        <m:endChr m:val="}"/>
                        <m:ctrlPr>
                          <a:rPr lang="en-US" altLang="zh-TW" sz="2800" b="0" i="1" dirty="0" smtClean="0">
                            <a:latin typeface="Cambria Math" panose="02040503050406030204" pitchFamily="18" charset="0"/>
                          </a:rPr>
                        </m:ctrlPr>
                      </m:dPr>
                      <m:e>
                        <m:r>
                          <a:rPr lang="en-US" altLang="zh-TW" sz="2800" b="0" i="1" dirty="0" smtClean="0">
                            <a:latin typeface="Cambria Math" panose="02040503050406030204" pitchFamily="18" charset="0"/>
                          </a:rPr>
                          <m:t>1,2,3,4</m:t>
                        </m:r>
                      </m:e>
                    </m:d>
                    <m:r>
                      <a:rPr lang="en-US" altLang="zh-TW" sz="2800" b="0" i="1" dirty="0" smtClean="0">
                        <a:latin typeface="Cambria Math" panose="02040503050406030204" pitchFamily="18" charset="0"/>
                      </a:rPr>
                      <m:t>=</m:t>
                    </m:r>
                    <m:d>
                      <m:dPr>
                        <m:begChr m:val="{"/>
                        <m:endChr m:val="}"/>
                        <m:ctrlPr>
                          <a:rPr lang="en-US" altLang="zh-TW" sz="2800" b="0" i="1" dirty="0" smtClean="0">
                            <a:latin typeface="Cambria Math" panose="02040503050406030204" pitchFamily="18" charset="0"/>
                          </a:rPr>
                        </m:ctrlPr>
                      </m:dPr>
                      <m:e>
                        <m:r>
                          <a:rPr lang="en-US" altLang="zh-TW" sz="2800" b="0" i="1" dirty="0" smtClean="0">
                            <a:latin typeface="Cambria Math" panose="02040503050406030204" pitchFamily="18" charset="0"/>
                          </a:rPr>
                          <m:t>1,2</m:t>
                        </m:r>
                        <m:r>
                          <m:rPr>
                            <m:nor/>
                          </m:rPr>
                          <a:rPr lang="en-US" altLang="zh-TW" sz="2800" b="0" i="0" dirty="0" smtClean="0">
                            <a:latin typeface="Cambria Math" panose="02040503050406030204" pitchFamily="18" charset="0"/>
                          </a:rPr>
                          <m:t>,</m:t>
                        </m:r>
                        <m:r>
                          <a:rPr lang="en-US" altLang="zh-TW" sz="2800" b="0" i="1" dirty="0" smtClean="0">
                            <a:latin typeface="Cambria Math" panose="02040503050406030204" pitchFamily="18" charset="0"/>
                            <a:ea typeface="Cambria Math" panose="02040503050406030204" pitchFamily="18" charset="0"/>
                          </a:rPr>
                          <m:t>3</m:t>
                        </m:r>
                        <m:r>
                          <a:rPr lang="en-US" altLang="zh-TW" sz="2800" b="0" i="1" dirty="0" smtClean="0">
                            <a:latin typeface="Cambria Math" panose="02040503050406030204" pitchFamily="18" charset="0"/>
                            <a:ea typeface="Cambria Math" panose="02040503050406030204" pitchFamily="18" charset="0"/>
                          </a:rPr>
                          <m:t>,4</m:t>
                        </m:r>
                      </m:e>
                    </m:d>
                  </m:oMath>
                </a14:m>
                <a:endParaRPr lang="en-US" altLang="zh-TW" sz="2800" b="0" dirty="0" smtClean="0"/>
              </a:p>
              <a:p>
                <a:pPr marL="0" indent="0">
                  <a:buNone/>
                </a:pPr>
                <a:r>
                  <a:rPr lang="en-US" altLang="zh-TW" sz="2800" dirty="0" smtClean="0"/>
                  <a:t>Minimum </a:t>
                </a:r>
                <a14:m>
                  <m:oMath xmlns:m="http://schemas.openxmlformats.org/officeDocument/2006/math">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𝑆</m:t>
                        </m:r>
                      </m:e>
                      <m:sub>
                        <m:r>
                          <a:rPr lang="en-US" altLang="zh-TW" sz="2800" b="0" i="1" smtClean="0">
                            <a:latin typeface="Cambria Math" panose="02040503050406030204" pitchFamily="18" charset="0"/>
                          </a:rPr>
                          <m:t>𝐹</m:t>
                        </m:r>
                      </m:sub>
                    </m:sSub>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𝐴</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𝐵</m:t>
                        </m:r>
                      </m:e>
                    </m:d>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313.9</m:t>
                    </m:r>
                  </m:oMath>
                </a14:m>
                <a:r>
                  <a:rPr lang="en-US" altLang="zh-TW" sz="2800" dirty="0" smtClean="0"/>
                  <a:t> </a:t>
                </a:r>
              </a:p>
              <a:p>
                <a:pPr marL="0" indent="0">
                  <a:buNone/>
                </a:pPr>
                <a:endParaRPr lang="en-US" altLang="zh-TW" sz="2800" dirty="0" smtClean="0"/>
              </a:p>
              <a:p>
                <a:pPr marL="0" indent="0">
                  <a:buNone/>
                </a:pPr>
                <a:endParaRPr lang="zh-TW" altLang="en-US" sz="2800"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628650" y="1358537"/>
                <a:ext cx="7886700" cy="5355772"/>
              </a:xfrm>
              <a:blipFill rotWithShape="0">
                <a:blip r:embed="rId2"/>
                <a:stretch>
                  <a:fillRect l="-1546" t="-193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64712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String Distance</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628650" y="1358537"/>
                <a:ext cx="7886700" cy="5401901"/>
              </a:xfrm>
            </p:spPr>
            <p:txBody>
              <a:bodyPr>
                <a:normAutofit/>
              </a:bodyPr>
              <a:lstStyle/>
              <a:p>
                <a:pPr marL="0" indent="0">
                  <a:buNone/>
                </a:pPr>
                <a14:m>
                  <m:oMath xmlns:m="http://schemas.openxmlformats.org/officeDocument/2006/math">
                    <m:r>
                      <a:rPr lang="en-US" altLang="zh-TW" sz="2800" b="0" i="1" smtClean="0">
                        <a:latin typeface="Cambria Math" panose="02040503050406030204" pitchFamily="18" charset="0"/>
                      </a:rPr>
                      <m:t>𝐷</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𝐴</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𝐵</m:t>
                        </m:r>
                      </m:e>
                    </m:d>
                    <m:r>
                      <a:rPr lang="en-US" altLang="zh-TW" sz="2800" b="0" i="1" smtClean="0">
                        <a:latin typeface="Cambria Math" panose="02040503050406030204" pitchFamily="18" charset="0"/>
                      </a:rPr>
                      <m:t>=</m:t>
                    </m:r>
                    <m:func>
                      <m:funcPr>
                        <m:ctrlPr>
                          <a:rPr lang="en-US" altLang="zh-TW" sz="2800" b="0" i="1" smtClean="0">
                            <a:latin typeface="Cambria Math" panose="02040503050406030204" pitchFamily="18" charset="0"/>
                          </a:rPr>
                        </m:ctrlPr>
                      </m:funcPr>
                      <m:fName>
                        <m:limLow>
                          <m:limLowPr>
                            <m:ctrlPr>
                              <a:rPr lang="en-US" altLang="zh-TW" sz="2800" b="0" i="1" smtClean="0">
                                <a:latin typeface="Cambria Math" panose="02040503050406030204" pitchFamily="18" charset="0"/>
                              </a:rPr>
                            </m:ctrlPr>
                          </m:limLowPr>
                          <m:e>
                            <m:r>
                              <m:rPr>
                                <m:sty m:val="p"/>
                              </m:rPr>
                              <a:rPr lang="en-US" altLang="zh-TW" sz="2800" b="0" i="0" smtClean="0">
                                <a:latin typeface="Cambria Math" panose="02040503050406030204" pitchFamily="18" charset="0"/>
                              </a:rPr>
                              <m:t>min</m:t>
                            </m:r>
                          </m:e>
                          <m:lim>
                            <m:r>
                              <a:rPr lang="en-US" altLang="zh-TW" sz="2800" b="0" i="1" smtClean="0">
                                <a:latin typeface="Cambria Math" panose="02040503050406030204" pitchFamily="18" charset="0"/>
                                <a:ea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𝐹</m:t>
                            </m:r>
                          </m:lim>
                        </m:limLow>
                      </m:fName>
                      <m:e>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𝑆</m:t>
                            </m:r>
                          </m:e>
                          <m:sub>
                            <m:r>
                              <a:rPr lang="en-US" altLang="zh-TW" sz="2800" b="0" i="1" smtClean="0">
                                <a:latin typeface="Cambria Math" panose="02040503050406030204" pitchFamily="18" charset="0"/>
                              </a:rPr>
                              <m:t>𝐹</m:t>
                            </m:r>
                          </m:sub>
                        </m:sSub>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𝐴</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𝐵</m:t>
                        </m:r>
                        <m:r>
                          <a:rPr lang="en-US" altLang="zh-TW" sz="2800" b="0" i="1" smtClean="0">
                            <a:latin typeface="Cambria Math" panose="02040503050406030204" pitchFamily="18" charset="0"/>
                          </a:rPr>
                          <m:t>)</m:t>
                        </m:r>
                      </m:e>
                    </m:func>
                  </m:oMath>
                </a14:m>
                <a:r>
                  <a:rPr lang="en-US" altLang="zh-TW" dirty="0" smtClean="0"/>
                  <a:t>.</a:t>
                </a:r>
              </a:p>
              <a:p>
                <a:pPr marL="0" indent="0">
                  <a:buNone/>
                </a:pPr>
                <a:endParaRPr lang="en-US" altLang="zh-TW" dirty="0" smtClean="0"/>
              </a:p>
              <a:p>
                <a:pPr marL="0" indent="0">
                  <a:buNone/>
                </a:pPr>
                <a:r>
                  <a:rPr lang="en-US" altLang="zh-TW" sz="2800" dirty="0" smtClean="0"/>
                  <a:t>Given two strings A and B with length m and n.</a:t>
                </a:r>
              </a:p>
              <a:p>
                <a:pPr marL="0" indent="0">
                  <a:buNone/>
                </a:pPr>
                <a:r>
                  <a:rPr lang="en-US" altLang="zh-TW" sz="2800" dirty="0" smtClean="0"/>
                  <a:t>First use DP to build  a minimum penalty table, then we can construct the desired function F.</a:t>
                </a:r>
              </a:p>
              <a:p>
                <a:pPr marL="0" indent="0">
                  <a:buNone/>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𝐾</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𝑗</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𝑚𝑖𝑛</m:t>
                      </m:r>
                      <m:d>
                        <m:dPr>
                          <m:begChr m:val="{"/>
                          <m:endChr m:val=""/>
                          <m:ctrlPr>
                            <a:rPr lang="en-US" altLang="zh-TW" sz="2400" b="0" i="1" smtClean="0">
                              <a:latin typeface="Cambria Math" panose="02040503050406030204" pitchFamily="18" charset="0"/>
                            </a:rPr>
                          </m:ctrlPr>
                        </m:dPr>
                        <m:e>
                          <m:eqArr>
                            <m:eqArrPr>
                              <m:ctrlPr>
                                <a:rPr lang="en-US" altLang="zh-TW" sz="2400" b="0" i="1" smtClean="0">
                                  <a:latin typeface="Cambria Math" panose="02040503050406030204" pitchFamily="18" charset="0"/>
                                </a:rPr>
                              </m:ctrlPr>
                            </m:eqArrPr>
                            <m:e>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𝐾</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r>
                                        <a:rPr lang="en-US" altLang="zh-TW" sz="2400" b="0" i="1" smtClean="0">
                                          <a:latin typeface="Cambria Math" panose="02040503050406030204" pitchFamily="18" charset="0"/>
                                        </a:rPr>
                                        <m:t>𝑗</m:t>
                                      </m:r>
                                      <m:r>
                                        <a:rPr lang="en-US" altLang="zh-TW" sz="2400" b="0" i="1" smtClean="0">
                                          <a:latin typeface="Cambria Math" panose="02040503050406030204" pitchFamily="18" charset="0"/>
                                        </a:rPr>
                                        <m:t>−1</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𝑝</m:t>
                                  </m:r>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𝑗</m:t>
                                      </m:r>
                                    </m:sub>
                                  </m:sSub>
                                  <m:r>
                                    <a:rPr lang="en-US" altLang="zh-TW" sz="2400" b="0" i="1" smtClean="0">
                                      <a:latin typeface="Cambria Math" panose="02040503050406030204" pitchFamily="18" charset="0"/>
                                    </a:rPr>
                                    <m:t>)</m:t>
                                  </m:r>
                                </m:e>
                              </m:d>
                            </m:e>
                            <m:e>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𝐾</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r>
                                        <a:rPr lang="en-US" altLang="zh-TW" sz="2400" b="0" i="1" smtClean="0">
                                          <a:latin typeface="Cambria Math" panose="02040503050406030204" pitchFamily="18" charset="0"/>
                                        </a:rPr>
                                        <m:t>𝑗</m:t>
                                      </m:r>
                                    </m:e>
                                  </m:d>
                                  <m:r>
                                    <a:rPr lang="en-US" altLang="zh-TW" sz="2400" b="0" i="1" smtClean="0">
                                      <a:latin typeface="Cambria Math" panose="02040503050406030204" pitchFamily="18" charset="0"/>
                                    </a:rPr>
                                    <m:t>+</m:t>
                                  </m:r>
                                  <m:r>
                                    <a:rPr lang="zh-TW" altLang="en-US" sz="2400" b="0" i="1" smtClean="0">
                                      <a:latin typeface="Cambria Math" panose="02040503050406030204" pitchFamily="18" charset="0"/>
                                    </a:rPr>
                                    <m:t>𝜏</m:t>
                                  </m:r>
                                </m:e>
                              </m:d>
                            </m:e>
                            <m:e>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𝐾</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𝑗</m:t>
                                      </m:r>
                                      <m:r>
                                        <a:rPr lang="en-US" altLang="zh-TW" sz="2400" b="0" i="1" smtClean="0">
                                          <a:latin typeface="Cambria Math" panose="02040503050406030204" pitchFamily="18" charset="0"/>
                                        </a:rPr>
                                        <m:t>−1</m:t>
                                      </m:r>
                                    </m:e>
                                  </m:d>
                                  <m:r>
                                    <a:rPr lang="en-US" altLang="zh-TW" sz="2400" b="0" i="1" smtClean="0">
                                      <a:latin typeface="Cambria Math" panose="02040503050406030204" pitchFamily="18" charset="0"/>
                                    </a:rPr>
                                    <m:t>+</m:t>
                                  </m:r>
                                  <m:r>
                                    <a:rPr lang="zh-TW" altLang="en-US" sz="2400" b="0" i="1" smtClean="0">
                                      <a:latin typeface="Cambria Math" panose="02040503050406030204" pitchFamily="18" charset="0"/>
                                    </a:rPr>
                                    <m:t>𝜏</m:t>
                                  </m:r>
                                </m:e>
                              </m:d>
                            </m:e>
                          </m:eqArr>
                        </m:e>
                      </m:d>
                    </m:oMath>
                  </m:oMathPara>
                </a14:m>
                <a:endParaRPr lang="en-US" altLang="zh-TW" sz="2800" dirty="0" smtClean="0"/>
              </a:p>
              <a:p>
                <a:pPr marL="0" indent="0">
                  <a:buNone/>
                </a:pPr>
                <a:r>
                  <a:rPr lang="en-US" altLang="zh-TW" sz="2800" dirty="0" smtClean="0"/>
                  <a:t>Second construct the F as the set of all </a:t>
                </a:r>
                <a14:m>
                  <m:oMath xmlns:m="http://schemas.openxmlformats.org/officeDocument/2006/math">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𝑗</m:t>
                    </m:r>
                    <m:r>
                      <a:rPr lang="en-US" altLang="zh-TW" sz="2800" b="0" i="1" smtClean="0">
                        <a:latin typeface="Cambria Math" panose="02040503050406030204" pitchFamily="18" charset="0"/>
                      </a:rPr>
                      <m:t>)</m:t>
                    </m:r>
                  </m:oMath>
                </a14:m>
                <a:r>
                  <a:rPr lang="en-US" altLang="zh-TW" sz="2800" dirty="0" smtClean="0"/>
                  <a:t> such that </a:t>
                </a:r>
                <a14:m>
                  <m:oMath xmlns:m="http://schemas.openxmlformats.org/officeDocument/2006/math">
                    <m:r>
                      <a:rPr lang="en-US" altLang="zh-TW" sz="2800" b="0" i="1" smtClean="0">
                        <a:latin typeface="Cambria Math" panose="02040503050406030204" pitchFamily="18" charset="0"/>
                      </a:rPr>
                      <m:t>𝐹</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𝑖</m:t>
                        </m:r>
                      </m:e>
                    </m:d>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𝑗</m:t>
                    </m:r>
                  </m:oMath>
                </a14:m>
                <a:r>
                  <a:rPr lang="en-US" altLang="zh-TW" sz="2800" dirty="0" smtClean="0"/>
                  <a:t> and for those </a:t>
                </a:r>
                <a14:m>
                  <m:oMath xmlns:m="http://schemas.openxmlformats.org/officeDocument/2006/math">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𝑗</m:t>
                        </m:r>
                      </m:e>
                    </m:d>
                    <m:r>
                      <a:rPr lang="en-US" altLang="zh-TW" sz="2800" b="0" i="1" smtClean="0">
                        <a:latin typeface="Cambria Math" panose="02040503050406030204" pitchFamily="18" charset="0"/>
                        <a:ea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𝐹</m:t>
                    </m:r>
                    <m:r>
                      <a:rPr lang="en-US" altLang="zh-TW" sz="2800" b="0" i="1" smtClean="0">
                        <a:latin typeface="Cambria Math" panose="02040503050406030204" pitchFamily="18" charset="0"/>
                        <a:ea typeface="Cambria Math" panose="02040503050406030204" pitchFamily="18" charset="0"/>
                      </a:rPr>
                      <m:t>, </m:t>
                    </m:r>
                    <m:r>
                      <a:rPr lang="en-US" altLang="zh-TW" sz="2800" b="0" i="1" smtClean="0">
                        <a:latin typeface="Cambria Math" panose="02040503050406030204" pitchFamily="18" charset="0"/>
                        <a:ea typeface="Cambria Math" panose="02040503050406030204" pitchFamily="18" charset="0"/>
                      </a:rPr>
                      <m:t>𝐹</m:t>
                    </m:r>
                    <m:d>
                      <m:dPr>
                        <m:ctrlPr>
                          <a:rPr lang="en-US" altLang="zh-TW" sz="2800" b="0" i="1" smtClean="0">
                            <a:latin typeface="Cambria Math" panose="02040503050406030204" pitchFamily="18" charset="0"/>
                            <a:ea typeface="Cambria Math" panose="02040503050406030204" pitchFamily="18" charset="0"/>
                          </a:rPr>
                        </m:ctrlPr>
                      </m:dPr>
                      <m:e>
                        <m:r>
                          <a:rPr lang="en-US" altLang="zh-TW" sz="2800" b="0" i="1" smtClean="0">
                            <a:latin typeface="Cambria Math" panose="02040503050406030204" pitchFamily="18" charset="0"/>
                            <a:ea typeface="Cambria Math" panose="02040503050406030204" pitchFamily="18" charset="0"/>
                          </a:rPr>
                          <m:t>𝑖</m:t>
                        </m:r>
                      </m:e>
                    </m:d>
                    <m:r>
                      <a:rPr lang="en-US" altLang="zh-TW" sz="2800" b="0" i="1" smtClean="0">
                        <a:latin typeface="Cambria Math" panose="02040503050406030204" pitchFamily="18" charset="0"/>
                        <a:ea typeface="Cambria Math" panose="02040503050406030204" pitchFamily="18" charset="0"/>
                      </a:rPr>
                      <m:t>=⊥</m:t>
                    </m:r>
                  </m:oMath>
                </a14:m>
                <a:r>
                  <a:rPr lang="en-US" altLang="zh-TW" sz="2800" dirty="0" smtClean="0"/>
                  <a:t>.</a:t>
                </a:r>
                <a:endParaRPr lang="en-US" altLang="zh-TW" sz="2800" dirty="0"/>
              </a:p>
              <a:p>
                <a:pPr marL="0" indent="0">
                  <a:buNone/>
                </a:pPr>
                <a:endParaRPr lang="zh-TW" altLang="en-US" sz="2800"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628650" y="1358537"/>
                <a:ext cx="7886700" cy="5401901"/>
              </a:xfrm>
              <a:blipFill rotWithShape="0">
                <a:blip r:embed="rId2"/>
                <a:stretch>
                  <a:fillRect l="-154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3554104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4925204" cy="3355975"/>
          </a:xfrm>
        </p:spPr>
      </p:pic>
      <p:pic>
        <p:nvPicPr>
          <p:cNvPr id="5" name="圖片 4"/>
          <p:cNvPicPr>
            <a:picLocks noChangeAspect="1"/>
          </p:cNvPicPr>
          <p:nvPr/>
        </p:nvPicPr>
        <p:blipFill rotWithShape="1">
          <a:blip r:embed="rId3" cstate="print">
            <a:extLst>
              <a:ext uri="{28A0092B-C50C-407E-A947-70E740481C1C}">
                <a14:useLocalDpi xmlns:a14="http://schemas.microsoft.com/office/drawing/2010/main" val="0"/>
              </a:ext>
            </a:extLst>
          </a:blip>
          <a:srcRect l="3977" t="-267"/>
          <a:stretch/>
        </p:blipFill>
        <p:spPr>
          <a:xfrm>
            <a:off x="4077529" y="3187339"/>
            <a:ext cx="4953260" cy="3475460"/>
          </a:xfrm>
          <a:prstGeom prst="rect">
            <a:avLst/>
          </a:prstGeom>
        </p:spPr>
      </p:pic>
    </p:spTree>
    <p:extLst>
      <p:ext uri="{BB962C8B-B14F-4D97-AF65-F5344CB8AC3E}">
        <p14:creationId xmlns:p14="http://schemas.microsoft.com/office/powerpoint/2010/main" val="31599638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Template Matching</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lstStyle/>
              <a:p>
                <a:pPr marL="0" indent="0">
                  <a:buNone/>
                </a:pPr>
                <a:r>
                  <a:rPr lang="en-US" altLang="zh-TW" dirty="0" smtClean="0"/>
                  <a:t>Usually in a recognition system a matching technique incorporates</a:t>
                </a:r>
              </a:p>
              <a:p>
                <a:pPr marL="0" indent="0">
                  <a:buNone/>
                </a:pPr>
                <a:r>
                  <a:rPr lang="en-US" altLang="zh-TW" dirty="0" smtClean="0"/>
                  <a:t>a set of templates which are used to recognize objects.</a:t>
                </a:r>
              </a:p>
              <a:p>
                <a:pPr marL="0" indent="0">
                  <a:buNone/>
                </a:pPr>
                <a:endParaRPr lang="en-US" altLang="zh-TW" dirty="0" smtClean="0"/>
              </a:p>
              <a:p>
                <a:pPr marL="0" indent="0">
                  <a:buNone/>
                </a:pPr>
                <a:r>
                  <a:rPr lang="en-US" altLang="zh-TW" dirty="0"/>
                  <a:t>G</a:t>
                </a:r>
                <a:r>
                  <a:rPr lang="en-US" altLang="zh-TW" dirty="0" smtClean="0"/>
                  <a:t>iven a regular grammar </a:t>
                </a:r>
                <a14:m>
                  <m:oMath xmlns:m="http://schemas.openxmlformats.org/officeDocument/2006/math">
                    <m:r>
                      <a:rPr lang="en-US" altLang="zh-TW" i="1" dirty="0" smtClean="0">
                        <a:latin typeface="Cambria Math" panose="02040503050406030204" pitchFamily="18" charset="0"/>
                      </a:rPr>
                      <m:t>𝐺</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𝑉</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𝑇</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𝑃</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𝑆</m:t>
                    </m:r>
                    <m:r>
                      <a:rPr lang="en-US" altLang="zh-TW" i="1" dirty="0" smtClean="0">
                        <a:latin typeface="Cambria Math" panose="02040503050406030204" pitchFamily="18" charset="0"/>
                      </a:rPr>
                      <m:t>)</m:t>
                    </m:r>
                  </m:oMath>
                </a14:m>
                <a:r>
                  <a:rPr lang="en-US" altLang="zh-TW" dirty="0" smtClean="0"/>
                  <a:t>, where V is the set of variables,  T is the terminals, P is the set of productions(</a:t>
                </a:r>
                <a14:m>
                  <m:oMath xmlns:m="http://schemas.openxmlformats.org/officeDocument/2006/math">
                    <m:r>
                      <a:rPr lang="en-US" altLang="zh-TW" b="0" i="1" smtClean="0">
                        <a:latin typeface="Cambria Math" panose="02040503050406030204" pitchFamily="18" charset="0"/>
                      </a:rPr>
                      <m:t>𝐴</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𝑎𝐵</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𝑜𝑟</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𝐴</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𝑎</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𝐴</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𝐵</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𝑖𝑛</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𝑉</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𝑎</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𝑖𝑛</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𝑇</m:t>
                    </m:r>
                    <m:r>
                      <a:rPr lang="en-US" altLang="zh-TW" b="0" i="1" smtClean="0">
                        <a:latin typeface="Cambria Math" panose="02040503050406030204" pitchFamily="18" charset="0"/>
                        <a:ea typeface="Cambria Math" panose="02040503050406030204" pitchFamily="18" charset="0"/>
                      </a:rPr>
                      <m:t>)</m:t>
                    </m:r>
                  </m:oMath>
                </a14:m>
                <a:r>
                  <a:rPr lang="en-US" altLang="zh-TW" dirty="0" smtClean="0"/>
                  <a:t>), and S is the start symbol.</a:t>
                </a:r>
              </a:p>
              <a:p>
                <a:pPr marL="0" indent="0">
                  <a:buNone/>
                </a:pPr>
                <a:endParaRPr lang="en-US" altLang="zh-TW" dirty="0" smtClean="0"/>
              </a:p>
              <a:p>
                <a:pPr marL="0" indent="0">
                  <a:buNone/>
                </a:pPr>
                <a:r>
                  <a:rPr lang="en-US" altLang="zh-TW" dirty="0" smtClean="0"/>
                  <a:t>The OCS problem then becomes that of finding the sentence y in the language which is closest to the input string x.</a:t>
                </a:r>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927" t="-15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61700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654776" y="409302"/>
                <a:ext cx="7886700" cy="5808617"/>
              </a:xfrm>
            </p:spPr>
            <p:txBody>
              <a:bodyPr/>
              <a:lstStyle/>
              <a:p>
                <a14:m>
                  <m:oMath xmlns:m="http://schemas.openxmlformats.org/officeDocument/2006/math">
                    <m:r>
                      <a:rPr lang="en-US" altLang="zh-TW" sz="2400" b="0" i="1" smtClean="0">
                        <a:latin typeface="Cambria Math" panose="02040503050406030204" pitchFamily="18" charset="0"/>
                      </a:rPr>
                      <m:t>𝐾</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𝐴</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𝑚𝑖𝑛</m:t>
                    </m:r>
                    <m:d>
                      <m:dPr>
                        <m:begChr m:val="{"/>
                        <m:endChr m:val=""/>
                        <m:ctrlPr>
                          <a:rPr lang="en-US" altLang="zh-TW" sz="2400" b="0" i="1" smtClean="0">
                            <a:latin typeface="Cambria Math" panose="02040503050406030204" pitchFamily="18" charset="0"/>
                          </a:rPr>
                        </m:ctrlPr>
                      </m:dPr>
                      <m:e>
                        <m:eqArr>
                          <m:eqArrPr>
                            <m:ctrlPr>
                              <a:rPr lang="en-US" altLang="zh-TW" sz="2400" b="0" i="1" smtClean="0">
                                <a:latin typeface="Cambria Math" panose="02040503050406030204" pitchFamily="18" charset="0"/>
                              </a:rPr>
                            </m:ctrlPr>
                          </m:eqArrPr>
                          <m:e>
                            <m:func>
                              <m:funcPr>
                                <m:ctrlPr>
                                  <a:rPr lang="en-US" altLang="zh-TW" sz="2400" b="0" i="1" smtClean="0">
                                    <a:latin typeface="Cambria Math" panose="02040503050406030204" pitchFamily="18" charset="0"/>
                                  </a:rPr>
                                </m:ctrlPr>
                              </m:funcPr>
                              <m:fName>
                                <m:limLow>
                                  <m:limLowPr>
                                    <m:ctrlPr>
                                      <a:rPr lang="en-US" altLang="zh-TW" sz="2400" b="0" i="1" smtClean="0">
                                        <a:latin typeface="Cambria Math" panose="02040503050406030204" pitchFamily="18" charset="0"/>
                                      </a:rPr>
                                    </m:ctrlPr>
                                  </m:limLowPr>
                                  <m:e>
                                    <m:r>
                                      <m:rPr>
                                        <m:sty m:val="p"/>
                                      </m:rPr>
                                      <a:rPr lang="en-US" altLang="zh-TW" sz="2400" b="0" i="0" smtClean="0">
                                        <a:latin typeface="Cambria Math" panose="02040503050406030204" pitchFamily="18" charset="0"/>
                                      </a:rPr>
                                      <m:t>min</m:t>
                                    </m:r>
                                  </m:e>
                                  <m:lim>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𝐵</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𝐵</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𝑎𝐴</m:t>
                                    </m:r>
                                  </m:lim>
                                </m:limLow>
                              </m:fName>
                              <m:e>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𝐾</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r>
                                          <a:rPr lang="en-US" altLang="zh-TW" sz="2400" b="0" i="1" smtClean="0">
                                            <a:latin typeface="Cambria Math" panose="02040503050406030204" pitchFamily="18" charset="0"/>
                                          </a:rPr>
                                          <m:t>𝐵</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𝑝</m:t>
                                    </m:r>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𝑎</m:t>
                                    </m:r>
                                    <m:r>
                                      <a:rPr lang="en-US" altLang="zh-TW" sz="2400" b="0" i="1" smtClean="0">
                                        <a:latin typeface="Cambria Math" panose="02040503050406030204" pitchFamily="18" charset="0"/>
                                      </a:rPr>
                                      <m:t>)</m:t>
                                    </m:r>
                                  </m:e>
                                </m:d>
                              </m:e>
                            </m:func>
                          </m:e>
                          <m:e>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𝐾</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r>
                                      <a:rPr lang="en-US" altLang="zh-TW" sz="2400" b="0" i="1" smtClean="0">
                                        <a:latin typeface="Cambria Math" panose="02040503050406030204" pitchFamily="18" charset="0"/>
                                      </a:rPr>
                                      <m:t>𝐴</m:t>
                                    </m:r>
                                  </m:e>
                                </m:d>
                                <m:r>
                                  <a:rPr lang="en-US" altLang="zh-TW" sz="2400" b="0" i="1" smtClean="0">
                                    <a:latin typeface="Cambria Math" panose="02040503050406030204" pitchFamily="18" charset="0"/>
                                  </a:rPr>
                                  <m:t>+</m:t>
                                </m:r>
                                <m:r>
                                  <a:rPr lang="zh-TW" altLang="en-US" sz="2400" b="0" i="1" smtClean="0">
                                    <a:latin typeface="Cambria Math" panose="02040503050406030204" pitchFamily="18" charset="0"/>
                                  </a:rPr>
                                  <m:t>𝜏</m:t>
                                </m:r>
                              </m:e>
                            </m:d>
                          </m:e>
                          <m:e>
                            <m:func>
                              <m:funcPr>
                                <m:ctrlPr>
                                  <a:rPr lang="en-US" altLang="zh-TW" sz="2400" b="0" i="1" smtClean="0">
                                    <a:latin typeface="Cambria Math" panose="02040503050406030204" pitchFamily="18" charset="0"/>
                                  </a:rPr>
                                </m:ctrlPr>
                              </m:funcPr>
                              <m:fName>
                                <m:limLow>
                                  <m:limLowPr>
                                    <m:ctrlPr>
                                      <a:rPr lang="en-US" altLang="zh-TW" sz="2400" b="0" i="1" smtClean="0">
                                        <a:latin typeface="Cambria Math" panose="02040503050406030204" pitchFamily="18" charset="0"/>
                                      </a:rPr>
                                    </m:ctrlPr>
                                  </m:limLowPr>
                                  <m:e>
                                    <m:r>
                                      <m:rPr>
                                        <m:sty m:val="p"/>
                                      </m:rPr>
                                      <a:rPr lang="en-US" altLang="zh-TW" sz="2400" b="0" i="0" smtClean="0">
                                        <a:latin typeface="Cambria Math" panose="02040503050406030204" pitchFamily="18" charset="0"/>
                                      </a:rPr>
                                      <m:t>min</m:t>
                                    </m:r>
                                  </m:e>
                                  <m:lim>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𝐵</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𝐵</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𝑎𝐴</m:t>
                                    </m:r>
                                  </m:lim>
                                </m:limLow>
                              </m:fName>
                              <m:e>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𝐾</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𝐵</m:t>
                                        </m:r>
                                      </m:e>
                                    </m:d>
                                    <m:r>
                                      <a:rPr lang="en-US" altLang="zh-TW" sz="2400" b="0" i="1" smtClean="0">
                                        <a:latin typeface="Cambria Math" panose="02040503050406030204" pitchFamily="18" charset="0"/>
                                      </a:rPr>
                                      <m:t>+</m:t>
                                    </m:r>
                                    <m:r>
                                      <a:rPr lang="zh-TW" altLang="en-US" sz="2400" b="0" i="1" smtClean="0">
                                        <a:latin typeface="Cambria Math" panose="02040503050406030204" pitchFamily="18" charset="0"/>
                                      </a:rPr>
                                      <m:t>𝜏</m:t>
                                    </m:r>
                                  </m:e>
                                </m:d>
                              </m:e>
                            </m:func>
                          </m:e>
                        </m:eqArr>
                      </m:e>
                    </m:d>
                  </m:oMath>
                </a14:m>
                <a:endParaRPr lang="en-US" altLang="zh-TW" sz="2400" dirty="0" smtClean="0"/>
              </a:p>
              <a:p>
                <a:endParaRPr lang="en-US" altLang="zh-TW" dirty="0"/>
              </a:p>
              <a:p>
                <a14:m>
                  <m:oMath xmlns:m="http://schemas.openxmlformats.org/officeDocument/2006/math">
                    <m:sSup>
                      <m:sSupPr>
                        <m:ctrlPr>
                          <a:rPr lang="en-US" altLang="zh-TW" sz="2400" b="0" i="1" smtClean="0">
                            <a:latin typeface="Cambria Math" panose="02040503050406030204" pitchFamily="18" charset="0"/>
                          </a:rPr>
                        </m:ctrlPr>
                      </m:sSupPr>
                      <m:e>
                        <m:r>
                          <a:rPr lang="en-US" altLang="zh-TW" sz="2400" b="0" i="1" smtClean="0">
                            <a:latin typeface="Cambria Math" panose="02040503050406030204" pitchFamily="18" charset="0"/>
                          </a:rPr>
                          <m:t>𝐾</m:t>
                        </m:r>
                      </m:e>
                      <m:sup>
                        <m:r>
                          <a:rPr lang="en-US" altLang="zh-TW" sz="2400" b="0" i="1" smtClean="0">
                            <a:latin typeface="Cambria Math" panose="02040503050406030204" pitchFamily="18" charset="0"/>
                          </a:rPr>
                          <m:t>1</m:t>
                        </m:r>
                      </m:sup>
                    </m:sSup>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𝐴</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𝑚𝑖𝑛</m:t>
                    </m:r>
                    <m:d>
                      <m:dPr>
                        <m:begChr m:val="{"/>
                        <m:endChr m:val=""/>
                        <m:ctrlPr>
                          <a:rPr lang="en-US" altLang="zh-TW" sz="2400" b="0" i="1" smtClean="0">
                            <a:latin typeface="Cambria Math" panose="02040503050406030204" pitchFamily="18" charset="0"/>
                          </a:rPr>
                        </m:ctrlPr>
                      </m:dPr>
                      <m:e>
                        <m:eqArr>
                          <m:eqArrPr>
                            <m:ctrlPr>
                              <a:rPr lang="en-US" altLang="zh-TW" sz="2400" b="0" i="1" smtClean="0">
                                <a:latin typeface="Cambria Math" panose="02040503050406030204" pitchFamily="18" charset="0"/>
                              </a:rPr>
                            </m:ctrlPr>
                          </m:eqArrPr>
                          <m:e>
                            <m:func>
                              <m:funcPr>
                                <m:ctrlPr>
                                  <a:rPr lang="en-US" altLang="zh-TW" sz="2000" b="0" i="1" smtClean="0">
                                    <a:latin typeface="Cambria Math" panose="02040503050406030204" pitchFamily="18" charset="0"/>
                                  </a:rPr>
                                </m:ctrlPr>
                              </m:funcPr>
                              <m:fName>
                                <m:limLow>
                                  <m:limLowPr>
                                    <m:ctrlPr>
                                      <a:rPr lang="en-US" altLang="zh-TW" sz="2000" b="0" i="1" smtClean="0">
                                        <a:latin typeface="Cambria Math" panose="02040503050406030204" pitchFamily="18" charset="0"/>
                                      </a:rPr>
                                    </m:ctrlPr>
                                  </m:limLowPr>
                                  <m:e>
                                    <m:r>
                                      <m:rPr>
                                        <m:sty m:val="p"/>
                                      </m:rPr>
                                      <a:rPr lang="en-US" altLang="zh-TW" sz="2000" b="0" i="0" smtClean="0">
                                        <a:latin typeface="Cambria Math" panose="02040503050406030204" pitchFamily="18" charset="0"/>
                                      </a:rPr>
                                      <m:t>min</m:t>
                                    </m:r>
                                  </m:e>
                                  <m:lim>
                                    <m:r>
                                      <a:rPr lang="en-US" altLang="zh-TW" sz="2000" b="0" i="1" smtClean="0">
                                        <a:latin typeface="Cambria Math" panose="02040503050406030204" pitchFamily="18" charset="0"/>
                                        <a:ea typeface="Cambria Math" panose="02040503050406030204" pitchFamily="18" charset="0"/>
                                      </a:rPr>
                                      <m:t>∀</m:t>
                                    </m:r>
                                    <m:r>
                                      <a:rPr lang="en-US" altLang="zh-TW" sz="2000" b="0" i="1" smtClean="0">
                                        <a:latin typeface="Cambria Math" panose="02040503050406030204" pitchFamily="18" charset="0"/>
                                        <a:ea typeface="Cambria Math" panose="02040503050406030204" pitchFamily="18" charset="0"/>
                                      </a:rPr>
                                      <m:t>𝐵</m:t>
                                    </m:r>
                                    <m:r>
                                      <a:rPr lang="en-US" altLang="zh-TW" sz="2000" b="0" i="1" smtClean="0">
                                        <a:latin typeface="Cambria Math" panose="02040503050406030204" pitchFamily="18" charset="0"/>
                                        <a:ea typeface="Cambria Math" panose="02040503050406030204" pitchFamily="18" charset="0"/>
                                      </a:rPr>
                                      <m:t>:</m:t>
                                    </m:r>
                                    <m:r>
                                      <a:rPr lang="en-US" altLang="zh-TW" sz="2000" b="0" i="1" smtClean="0">
                                        <a:latin typeface="Cambria Math" panose="02040503050406030204" pitchFamily="18" charset="0"/>
                                        <a:ea typeface="Cambria Math" panose="02040503050406030204" pitchFamily="18" charset="0"/>
                                      </a:rPr>
                                      <m:t>𝐵</m:t>
                                    </m:r>
                                    <m:r>
                                      <a:rPr lang="en-US" altLang="zh-TW" sz="2000" b="0" i="1" smtClean="0">
                                        <a:latin typeface="Cambria Math" panose="02040503050406030204" pitchFamily="18" charset="0"/>
                                        <a:ea typeface="Cambria Math" panose="02040503050406030204" pitchFamily="18" charset="0"/>
                                      </a:rPr>
                                      <m:t>→</m:t>
                                    </m:r>
                                    <m:r>
                                      <a:rPr lang="en-US" altLang="zh-TW" sz="2000" b="0" i="1" smtClean="0">
                                        <a:latin typeface="Cambria Math" panose="02040503050406030204" pitchFamily="18" charset="0"/>
                                        <a:ea typeface="Cambria Math" panose="02040503050406030204" pitchFamily="18" charset="0"/>
                                      </a:rPr>
                                      <m:t>𝑎𝐴</m:t>
                                    </m:r>
                                  </m:lim>
                                </m:limLow>
                              </m:fName>
                              <m:e>
                                <m:d>
                                  <m:dPr>
                                    <m:begChr m:val="["/>
                                    <m:endChr m:val="]"/>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𝐾</m:t>
                                    </m:r>
                                    <m:d>
                                      <m:dPr>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𝑖</m:t>
                                        </m:r>
                                        <m:r>
                                          <a:rPr lang="en-US" altLang="zh-TW" sz="2000" b="0" i="1" smtClean="0">
                                            <a:latin typeface="Cambria Math" panose="02040503050406030204" pitchFamily="18" charset="0"/>
                                          </a:rPr>
                                          <m:t>−1,</m:t>
                                        </m:r>
                                        <m:r>
                                          <a:rPr lang="en-US" altLang="zh-TW" sz="2000" b="0" i="1" smtClean="0">
                                            <a:latin typeface="Cambria Math" panose="02040503050406030204" pitchFamily="18" charset="0"/>
                                          </a:rPr>
                                          <m:t>𝐵</m:t>
                                        </m:r>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𝑝</m:t>
                                    </m:r>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𝑖</m:t>
                                        </m:r>
                                      </m:sub>
                                    </m:sSub>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𝑎</m:t>
                                    </m:r>
                                    <m:r>
                                      <a:rPr lang="en-US" altLang="zh-TW" sz="2000" b="0" i="1" smtClean="0">
                                        <a:latin typeface="Cambria Math" panose="02040503050406030204" pitchFamily="18" charset="0"/>
                                      </a:rPr>
                                      <m:t>)</m:t>
                                    </m:r>
                                  </m:e>
                                </m:d>
                              </m:e>
                            </m:func>
                          </m:e>
                          <m:e>
                            <m:r>
                              <a:rPr lang="en-US" altLang="zh-TW" sz="2400" b="0" i="1" smtClean="0">
                                <a:latin typeface="Cambria Math" panose="02040503050406030204" pitchFamily="18" charset="0"/>
                              </a:rPr>
                              <m:t>𝐾</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r>
                                  <a:rPr lang="en-US" altLang="zh-TW" sz="2400" b="0" i="1" smtClean="0">
                                    <a:latin typeface="Cambria Math" panose="02040503050406030204" pitchFamily="18" charset="0"/>
                                  </a:rPr>
                                  <m:t>𝐴</m:t>
                                </m:r>
                              </m:e>
                            </m:d>
                            <m:r>
                              <a:rPr lang="en-US" altLang="zh-TW" sz="2400" b="0" i="1" smtClean="0">
                                <a:latin typeface="Cambria Math" panose="02040503050406030204" pitchFamily="18" charset="0"/>
                              </a:rPr>
                              <m:t>+</m:t>
                            </m:r>
                            <m:r>
                              <a:rPr lang="zh-TW" altLang="en-US" sz="2400" b="0" i="1" smtClean="0">
                                <a:latin typeface="Cambria Math" panose="02040503050406030204" pitchFamily="18" charset="0"/>
                              </a:rPr>
                              <m:t>𝜏</m:t>
                            </m:r>
                          </m:e>
                        </m:eqArr>
                      </m:e>
                    </m:d>
                  </m:oMath>
                </a14:m>
                <a:endParaRPr lang="en-US" altLang="zh-TW" dirty="0" smtClean="0"/>
              </a:p>
              <a:p>
                <a:endParaRPr lang="en-US" altLang="zh-TW" dirty="0"/>
              </a:p>
              <a:p>
                <a:endParaRPr lang="zh-TW" altLang="en-US" dirty="0"/>
              </a:p>
              <a:p>
                <a14:m>
                  <m:oMath xmlns:m="http://schemas.openxmlformats.org/officeDocument/2006/math">
                    <m:sSup>
                      <m:sSupPr>
                        <m:ctrlPr>
                          <a:rPr lang="en-US" altLang="zh-TW" sz="2400" b="0" i="1" smtClean="0">
                            <a:latin typeface="Cambria Math" panose="02040503050406030204" pitchFamily="18" charset="0"/>
                          </a:rPr>
                        </m:ctrlPr>
                      </m:sSupPr>
                      <m:e>
                        <m:r>
                          <a:rPr lang="en-US" altLang="zh-TW" sz="2400" b="0" i="1" smtClean="0">
                            <a:latin typeface="Cambria Math" panose="02040503050406030204" pitchFamily="18" charset="0"/>
                          </a:rPr>
                          <m:t>𝐾</m:t>
                        </m:r>
                      </m:e>
                      <m:sup>
                        <m:r>
                          <a:rPr lang="en-US" altLang="zh-TW" sz="2400" b="0" i="1" smtClean="0">
                            <a:latin typeface="Cambria Math" panose="02040503050406030204" pitchFamily="18" charset="0"/>
                          </a:rPr>
                          <m:t>𝑙</m:t>
                        </m:r>
                        <m:r>
                          <a:rPr lang="en-US" altLang="zh-TW" sz="2400" b="0" i="1" smtClean="0">
                            <a:latin typeface="Cambria Math" panose="02040503050406030204" pitchFamily="18" charset="0"/>
                          </a:rPr>
                          <m:t>+1</m:t>
                        </m:r>
                      </m:sup>
                    </m:sSup>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𝐴</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𝑚𝑖𝑛</m:t>
                    </m:r>
                    <m:d>
                      <m:dPr>
                        <m:begChr m:val="{"/>
                        <m:endChr m:val=""/>
                        <m:ctrlPr>
                          <a:rPr lang="en-US" altLang="zh-TW" sz="2400" b="0" i="1" smtClean="0">
                            <a:latin typeface="Cambria Math" panose="02040503050406030204" pitchFamily="18" charset="0"/>
                          </a:rPr>
                        </m:ctrlPr>
                      </m:dPr>
                      <m:e>
                        <m:eqArr>
                          <m:eqArrPr>
                            <m:ctrlPr>
                              <a:rPr lang="en-US" altLang="zh-TW" sz="2400" b="0" i="1" smtClean="0">
                                <a:latin typeface="Cambria Math" panose="02040503050406030204" pitchFamily="18" charset="0"/>
                              </a:rPr>
                            </m:ctrlPr>
                          </m:eqArrPr>
                          <m:e>
                            <m:sSup>
                              <m:sSupPr>
                                <m:ctrlPr>
                                  <a:rPr lang="en-US" altLang="zh-TW" sz="2400" b="0" i="1" smtClean="0">
                                    <a:latin typeface="Cambria Math" panose="02040503050406030204" pitchFamily="18" charset="0"/>
                                  </a:rPr>
                                </m:ctrlPr>
                              </m:sSupPr>
                              <m:e>
                                <m:r>
                                  <a:rPr lang="en-US" altLang="zh-TW" sz="2400" b="0" i="1" smtClean="0">
                                    <a:latin typeface="Cambria Math" panose="02040503050406030204" pitchFamily="18" charset="0"/>
                                  </a:rPr>
                                  <m:t>𝐾</m:t>
                                </m:r>
                              </m:e>
                              <m:sup>
                                <m:r>
                                  <a:rPr lang="en-US" altLang="zh-TW" sz="2400" b="0" i="1" smtClean="0">
                                    <a:latin typeface="Cambria Math" panose="02040503050406030204" pitchFamily="18" charset="0"/>
                                  </a:rPr>
                                  <m:t>𝑙</m:t>
                                </m:r>
                              </m:sup>
                            </m:sSup>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𝐴</m:t>
                            </m:r>
                            <m:r>
                              <a:rPr lang="en-US" altLang="zh-TW" sz="2400" b="0" i="1" smtClean="0">
                                <a:latin typeface="Cambria Math" panose="02040503050406030204" pitchFamily="18" charset="0"/>
                              </a:rPr>
                              <m:t>)</m:t>
                            </m:r>
                          </m:e>
                          <m:e>
                            <m:func>
                              <m:funcPr>
                                <m:ctrlPr>
                                  <a:rPr lang="en-US" altLang="zh-TW" sz="2400" b="0" i="1" smtClean="0">
                                    <a:latin typeface="Cambria Math" panose="02040503050406030204" pitchFamily="18" charset="0"/>
                                  </a:rPr>
                                </m:ctrlPr>
                              </m:funcPr>
                              <m:fName>
                                <m:limLow>
                                  <m:limLowPr>
                                    <m:ctrlPr>
                                      <a:rPr lang="en-US" altLang="zh-TW" sz="2400" b="0" i="1" smtClean="0">
                                        <a:latin typeface="Cambria Math" panose="02040503050406030204" pitchFamily="18" charset="0"/>
                                      </a:rPr>
                                    </m:ctrlPr>
                                  </m:limLowPr>
                                  <m:e>
                                    <m:r>
                                      <m:rPr>
                                        <m:sty m:val="p"/>
                                      </m:rPr>
                                      <a:rPr lang="en-US" altLang="zh-TW" sz="2400" b="0" i="0" smtClean="0">
                                        <a:latin typeface="Cambria Math" panose="02040503050406030204" pitchFamily="18" charset="0"/>
                                      </a:rPr>
                                      <m:t>min</m:t>
                                    </m:r>
                                  </m:e>
                                  <m:lim>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𝐵</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𝐵</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𝑎𝐴</m:t>
                                    </m:r>
                                  </m:lim>
                                </m:limLow>
                              </m:fName>
                              <m:e>
                                <m:d>
                                  <m:dPr>
                                    <m:begChr m:val="["/>
                                    <m:endChr m:val="]"/>
                                    <m:ctrlPr>
                                      <a:rPr lang="en-US" altLang="zh-TW" sz="2400" b="0" i="1" smtClean="0">
                                        <a:latin typeface="Cambria Math" panose="02040503050406030204" pitchFamily="18" charset="0"/>
                                      </a:rPr>
                                    </m:ctrlPr>
                                  </m:dPr>
                                  <m:e>
                                    <m:sSup>
                                      <m:sSupPr>
                                        <m:ctrlPr>
                                          <a:rPr lang="en-US" altLang="zh-TW" sz="2400" b="0" i="1" smtClean="0">
                                            <a:latin typeface="Cambria Math" panose="02040503050406030204" pitchFamily="18" charset="0"/>
                                          </a:rPr>
                                        </m:ctrlPr>
                                      </m:sSupPr>
                                      <m:e>
                                        <m:r>
                                          <a:rPr lang="en-US" altLang="zh-TW" sz="2400" b="0" i="1" smtClean="0">
                                            <a:latin typeface="Cambria Math" panose="02040503050406030204" pitchFamily="18" charset="0"/>
                                          </a:rPr>
                                          <m:t>𝐾</m:t>
                                        </m:r>
                                      </m:e>
                                      <m:sup>
                                        <m:r>
                                          <a:rPr lang="en-US" altLang="zh-TW" sz="2400" b="0" i="1" smtClean="0">
                                            <a:latin typeface="Cambria Math" panose="02040503050406030204" pitchFamily="18" charset="0"/>
                                          </a:rPr>
                                          <m:t>𝑙</m:t>
                                        </m:r>
                                      </m:sup>
                                    </m:sSup>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𝐵</m:t>
                                        </m:r>
                                      </m:e>
                                    </m:d>
                                    <m:r>
                                      <a:rPr lang="en-US" altLang="zh-TW" sz="2400" b="0" i="1" smtClean="0">
                                        <a:latin typeface="Cambria Math" panose="02040503050406030204" pitchFamily="18" charset="0"/>
                                      </a:rPr>
                                      <m:t>+</m:t>
                                    </m:r>
                                    <m:r>
                                      <a:rPr lang="zh-TW" altLang="en-US" sz="2400" b="0" i="1" smtClean="0">
                                        <a:latin typeface="Cambria Math" panose="02040503050406030204" pitchFamily="18" charset="0"/>
                                      </a:rPr>
                                      <m:t>𝜏</m:t>
                                    </m:r>
                                  </m:e>
                                </m:d>
                              </m:e>
                            </m:func>
                          </m:e>
                        </m:eqArr>
                      </m:e>
                    </m:d>
                  </m:oMath>
                </a14:m>
                <a:endParaRPr lang="zh-TW" altLang="en-US" sz="2400"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654776" y="409302"/>
                <a:ext cx="7886700" cy="5808617"/>
              </a:xfrm>
              <a:blipFill rotWithShape="0">
                <a:blip r:embed="rId2"/>
                <a:stretch>
                  <a:fillRect t="-63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58979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Example</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normAutofit/>
              </a:bodyPr>
              <a:lstStyle/>
              <a:p>
                <a:pPr marL="0" indent="0">
                  <a:buNone/>
                </a:pPr>
                <a:r>
                  <a:rPr lang="en-US" altLang="zh-TW" sz="2800" dirty="0" smtClean="0"/>
                  <a:t>Given a regular grammar G = (V, T, </a:t>
                </a:r>
                <a:r>
                  <a:rPr lang="en-US" altLang="zh-TW" sz="2800" i="1" dirty="0"/>
                  <a:t>P, </a:t>
                </a:r>
                <a:r>
                  <a:rPr lang="en-US" altLang="zh-TW" sz="2800" dirty="0"/>
                  <a:t>S</a:t>
                </a:r>
                <a:r>
                  <a:rPr lang="en-US" altLang="zh-TW" sz="2800" dirty="0" smtClean="0"/>
                  <a:t>) where </a:t>
                </a:r>
                <a14:m>
                  <m:oMath xmlns:m="http://schemas.openxmlformats.org/officeDocument/2006/math">
                    <m:r>
                      <a:rPr lang="en-US" altLang="zh-TW" sz="2800" b="0" i="1" smtClean="0">
                        <a:latin typeface="Cambria Math" panose="02040503050406030204" pitchFamily="18" charset="0"/>
                      </a:rPr>
                      <m:t>𝑉</m:t>
                    </m:r>
                    <m:r>
                      <a:rPr lang="en-US" altLang="zh-TW" sz="2800" b="0" i="1" smtClean="0">
                        <a:latin typeface="Cambria Math" panose="02040503050406030204" pitchFamily="18" charset="0"/>
                      </a:rPr>
                      <m:t>=</m:t>
                    </m:r>
                    <m:d>
                      <m:dPr>
                        <m:begChr m:val="{"/>
                        <m:endChr m:val="}"/>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𝐴</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𝐵</m:t>
                        </m:r>
                      </m:e>
                    </m:d>
                    <m:r>
                      <a:rPr lang="en-US" altLang="zh-TW" sz="2800" b="0" i="1" smtClean="0">
                        <a:latin typeface="Cambria Math" panose="02040503050406030204" pitchFamily="18" charset="0"/>
                      </a:rPr>
                      <m:t>,</m:t>
                    </m:r>
                  </m:oMath>
                </a14:m>
                <a:r>
                  <a:rPr lang="en-US" altLang="zh-TW" sz="2800" dirty="0" smtClean="0"/>
                  <a:t> </a:t>
                </a:r>
                <a14:m>
                  <m:oMath xmlns:m="http://schemas.openxmlformats.org/officeDocument/2006/math">
                    <m:r>
                      <a:rPr lang="en-US" altLang="zh-TW" sz="2800" b="0" i="1" dirty="0" smtClean="0">
                        <a:latin typeface="Cambria Math" panose="02040503050406030204" pitchFamily="18" charset="0"/>
                      </a:rPr>
                      <m:t>𝑇</m:t>
                    </m:r>
                    <m:r>
                      <a:rPr lang="en-US" altLang="zh-TW" sz="2800" b="0" i="1" dirty="0" smtClean="0">
                        <a:latin typeface="Cambria Math" panose="02040503050406030204" pitchFamily="18" charset="0"/>
                      </a:rPr>
                      <m:t>=</m:t>
                    </m:r>
                    <m:d>
                      <m:dPr>
                        <m:begChr m:val="{"/>
                        <m:endChr m:val="}"/>
                        <m:ctrlPr>
                          <a:rPr lang="en-US" altLang="zh-TW" sz="2800" b="0" i="1" dirty="0" smtClean="0">
                            <a:latin typeface="Cambria Math" panose="02040503050406030204" pitchFamily="18" charset="0"/>
                          </a:rPr>
                        </m:ctrlPr>
                      </m:dPr>
                      <m:e>
                        <m:r>
                          <a:rPr lang="en-US" altLang="zh-TW" sz="2800" b="0" i="1" dirty="0" smtClean="0">
                            <a:latin typeface="Cambria Math" panose="02040503050406030204" pitchFamily="18" charset="0"/>
                          </a:rPr>
                          <m:t>1,2,3</m:t>
                        </m:r>
                      </m:e>
                    </m:d>
                  </m:oMath>
                </a14:m>
                <a:r>
                  <a:rPr lang="en-US" altLang="zh-TW" sz="2800" dirty="0" smtClean="0"/>
                  <a:t> and </a:t>
                </a:r>
                <a14:m>
                  <m:oMath xmlns:m="http://schemas.openxmlformats.org/officeDocument/2006/math">
                    <m:r>
                      <a:rPr lang="en-US" altLang="zh-TW" sz="2800" b="0" i="1" smtClean="0">
                        <a:latin typeface="Cambria Math" panose="02040503050406030204" pitchFamily="18" charset="0"/>
                      </a:rPr>
                      <m:t>𝑃</m:t>
                    </m:r>
                    <m:r>
                      <a:rPr lang="en-US" altLang="zh-TW" sz="2800" b="0" i="1" smtClean="0">
                        <a:latin typeface="Cambria Math" panose="02040503050406030204" pitchFamily="18" charset="0"/>
                      </a:rPr>
                      <m:t>=</m:t>
                    </m:r>
                    <m:d>
                      <m:dPr>
                        <m:begChr m:val="{"/>
                        <m:endChr m:val="}"/>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𝑆</m:t>
                        </m:r>
                        <m:r>
                          <a:rPr lang="en-US" altLang="zh-TW" sz="2800" b="0" i="1" smtClean="0">
                            <a:latin typeface="Cambria Math" panose="02040503050406030204" pitchFamily="18" charset="0"/>
                            <a:ea typeface="Cambria Math" panose="02040503050406030204" pitchFamily="18" charset="0"/>
                          </a:rPr>
                          <m:t>→1</m:t>
                        </m:r>
                        <m:r>
                          <a:rPr lang="en-US" altLang="zh-TW" sz="2800" b="0" i="1" smtClean="0">
                            <a:latin typeface="Cambria Math" panose="02040503050406030204" pitchFamily="18" charset="0"/>
                            <a:ea typeface="Cambria Math" panose="02040503050406030204" pitchFamily="18" charset="0"/>
                          </a:rPr>
                          <m:t>𝐴</m:t>
                        </m:r>
                        <m:r>
                          <a:rPr lang="en-US" altLang="zh-TW" sz="2800" b="0" i="1" smtClean="0">
                            <a:latin typeface="Cambria Math" panose="02040503050406030204" pitchFamily="18" charset="0"/>
                            <a:ea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𝐴</m:t>
                        </m:r>
                        <m:r>
                          <a:rPr lang="en-US" altLang="zh-TW" sz="2800" b="0" i="1" smtClean="0">
                            <a:latin typeface="Cambria Math" panose="02040503050406030204" pitchFamily="18" charset="0"/>
                            <a:ea typeface="Cambria Math" panose="02040503050406030204" pitchFamily="18" charset="0"/>
                          </a:rPr>
                          <m:t>→2</m:t>
                        </m:r>
                        <m:r>
                          <a:rPr lang="en-US" altLang="zh-TW" sz="2800" b="0" i="1" smtClean="0">
                            <a:latin typeface="Cambria Math" panose="02040503050406030204" pitchFamily="18" charset="0"/>
                            <a:ea typeface="Cambria Math" panose="02040503050406030204" pitchFamily="18" charset="0"/>
                          </a:rPr>
                          <m:t>𝐵</m:t>
                        </m:r>
                        <m:r>
                          <a:rPr lang="en-US" altLang="zh-TW" sz="2800" b="0" i="1" smtClean="0">
                            <a:latin typeface="Cambria Math" panose="02040503050406030204" pitchFamily="18" charset="0"/>
                            <a:ea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𝑆</m:t>
                        </m:r>
                        <m:r>
                          <a:rPr lang="en-US" altLang="zh-TW" sz="2800" b="0" i="1" smtClean="0">
                            <a:latin typeface="Cambria Math" panose="02040503050406030204" pitchFamily="18" charset="0"/>
                            <a:ea typeface="Cambria Math" panose="02040503050406030204" pitchFamily="18" charset="0"/>
                          </a:rPr>
                          <m:t>→3</m:t>
                        </m:r>
                        <m:r>
                          <a:rPr lang="en-US" altLang="zh-TW" sz="2800" b="0" i="1" smtClean="0">
                            <a:latin typeface="Cambria Math" panose="02040503050406030204" pitchFamily="18" charset="0"/>
                            <a:ea typeface="Cambria Math" panose="02040503050406030204" pitchFamily="18" charset="0"/>
                          </a:rPr>
                          <m:t>𝐵</m:t>
                        </m:r>
                        <m:r>
                          <a:rPr lang="en-US" altLang="zh-TW" sz="2800" b="0" i="1" smtClean="0">
                            <a:latin typeface="Cambria Math" panose="02040503050406030204" pitchFamily="18" charset="0"/>
                            <a:ea typeface="Cambria Math" panose="02040503050406030204" pitchFamily="18" charset="0"/>
                          </a:rPr>
                          <m:t>, </m:t>
                        </m:r>
                        <m:r>
                          <a:rPr lang="en-US" altLang="zh-TW" sz="2800" b="0" i="1" smtClean="0">
                            <a:latin typeface="Cambria Math" panose="02040503050406030204" pitchFamily="18" charset="0"/>
                            <a:ea typeface="Cambria Math" panose="02040503050406030204" pitchFamily="18" charset="0"/>
                          </a:rPr>
                          <m:t>𝐵</m:t>
                        </m:r>
                        <m:r>
                          <a:rPr lang="en-US" altLang="zh-TW" sz="2800" b="0" i="1" smtClean="0">
                            <a:latin typeface="Cambria Math" panose="02040503050406030204" pitchFamily="18" charset="0"/>
                            <a:ea typeface="Cambria Math" panose="02040503050406030204" pitchFamily="18" charset="0"/>
                          </a:rPr>
                          <m:t>→1#, </m:t>
                        </m:r>
                        <m:r>
                          <a:rPr lang="en-US" altLang="zh-TW" sz="2800" b="0" i="1" smtClean="0">
                            <a:latin typeface="Cambria Math" panose="02040503050406030204" pitchFamily="18" charset="0"/>
                            <a:ea typeface="Cambria Math" panose="02040503050406030204" pitchFamily="18" charset="0"/>
                          </a:rPr>
                          <m:t>𝐵</m:t>
                        </m:r>
                        <m:r>
                          <a:rPr lang="en-US" altLang="zh-TW" sz="2800" b="0" i="1" smtClean="0">
                            <a:latin typeface="Cambria Math" panose="02040503050406030204" pitchFamily="18" charset="0"/>
                            <a:ea typeface="Cambria Math" panose="02040503050406030204" pitchFamily="18" charset="0"/>
                          </a:rPr>
                          <m:t>→1</m:t>
                        </m:r>
                        <m:r>
                          <a:rPr lang="en-US" altLang="zh-TW" sz="2800" b="0" i="1" smtClean="0">
                            <a:latin typeface="Cambria Math" panose="02040503050406030204" pitchFamily="18" charset="0"/>
                            <a:ea typeface="Cambria Math" panose="02040503050406030204" pitchFamily="18" charset="0"/>
                          </a:rPr>
                          <m:t>𝑆</m:t>
                        </m:r>
                      </m:e>
                    </m:d>
                  </m:oMath>
                </a14:m>
                <a:r>
                  <a:rPr lang="en-US" altLang="zh-TW" sz="2800" dirty="0" smtClean="0"/>
                  <a:t>.</a:t>
                </a:r>
              </a:p>
              <a:p>
                <a:pPr marL="0" indent="0">
                  <a:buNone/>
                </a:pPr>
                <a:r>
                  <a:rPr lang="en-US" altLang="zh-TW" sz="2800" dirty="0" smtClean="0"/>
                  <a:t>An input string is  1.9  0.8  3  1. If </a:t>
                </a:r>
                <a14:m>
                  <m:oMath xmlns:m="http://schemas.openxmlformats.org/officeDocument/2006/math">
                    <m:r>
                      <a:rPr lang="zh-TW" altLang="en-US" sz="2800" i="1" smtClean="0">
                        <a:latin typeface="Cambria Math" panose="02040503050406030204" pitchFamily="18" charset="0"/>
                      </a:rPr>
                      <m:t>𝜏</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0.5</m:t>
                    </m:r>
                  </m:oMath>
                </a14:m>
                <a:r>
                  <a:rPr lang="en-US" altLang="zh-TW" sz="2800" dirty="0" smtClean="0"/>
                  <a:t> , and </a:t>
                </a:r>
                <a14:m>
                  <m:oMath xmlns:m="http://schemas.openxmlformats.org/officeDocument/2006/math">
                    <m:r>
                      <a:rPr lang="en-US" altLang="zh-TW" sz="2800" b="0" i="1" smtClean="0">
                        <a:latin typeface="Cambria Math" panose="02040503050406030204" pitchFamily="18" charset="0"/>
                      </a:rPr>
                      <m:t>𝐾</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0,</m:t>
                        </m:r>
                        <m:r>
                          <a:rPr lang="en-US" altLang="zh-TW" sz="2800" b="0" i="1" smtClean="0">
                            <a:latin typeface="Cambria Math" panose="02040503050406030204" pitchFamily="18" charset="0"/>
                          </a:rPr>
                          <m:t>𝑆</m:t>
                        </m:r>
                      </m:e>
                    </m:d>
                    <m:r>
                      <a:rPr lang="en-US" altLang="zh-TW" sz="2800" b="0" i="1" smtClean="0">
                        <a:latin typeface="Cambria Math" panose="02040503050406030204" pitchFamily="18" charset="0"/>
                      </a:rPr>
                      <m:t>=0, </m:t>
                    </m:r>
                    <m:r>
                      <a:rPr lang="en-US" altLang="zh-TW" sz="2800" b="0" i="1" smtClean="0">
                        <a:latin typeface="Cambria Math" panose="02040503050406030204" pitchFamily="18" charset="0"/>
                      </a:rPr>
                      <m:t>𝐾</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0,</m:t>
                        </m:r>
                        <m:r>
                          <a:rPr lang="en-US" altLang="zh-TW" sz="2800" b="0" i="1" smtClean="0">
                            <a:latin typeface="Cambria Math" panose="02040503050406030204" pitchFamily="18" charset="0"/>
                          </a:rPr>
                          <m:t>𝐴</m:t>
                        </m:r>
                      </m:e>
                    </m:d>
                    <m:r>
                      <a:rPr lang="en-US" altLang="zh-TW" sz="2800" b="0" i="1" smtClean="0">
                        <a:latin typeface="Cambria Math" panose="02040503050406030204" pitchFamily="18" charset="0"/>
                      </a:rPr>
                      <m:t>=</m:t>
                    </m:r>
                    <m:r>
                      <a:rPr lang="zh-TW" altLang="en-US" sz="2800" b="0" i="1" smtClean="0">
                        <a:latin typeface="Cambria Math" panose="02040503050406030204" pitchFamily="18" charset="0"/>
                      </a:rPr>
                      <m:t>𝜏</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𝐾</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0,</m:t>
                        </m:r>
                        <m:r>
                          <a:rPr lang="en-US" altLang="zh-TW" sz="2800" b="0" i="1" smtClean="0">
                            <a:latin typeface="Cambria Math" panose="02040503050406030204" pitchFamily="18" charset="0"/>
                          </a:rPr>
                          <m:t>𝐵</m:t>
                        </m:r>
                      </m:e>
                    </m:d>
                    <m:r>
                      <a:rPr lang="en-US" altLang="zh-TW" sz="2800" b="0" i="1" smtClean="0">
                        <a:latin typeface="Cambria Math" panose="02040503050406030204" pitchFamily="18" charset="0"/>
                      </a:rPr>
                      <m:t>=</m:t>
                    </m:r>
                    <m:r>
                      <a:rPr lang="zh-TW" altLang="en-US" sz="2800" b="0" i="1" smtClean="0">
                        <a:latin typeface="Cambria Math" panose="02040503050406030204" pitchFamily="18" charset="0"/>
                      </a:rPr>
                      <m:t>𝜏</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𝐾</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0,#</m:t>
                        </m:r>
                      </m:e>
                    </m:d>
                    <m:r>
                      <a:rPr lang="en-US" altLang="zh-TW" sz="2800" b="0" i="1" smtClean="0">
                        <a:latin typeface="Cambria Math" panose="02040503050406030204" pitchFamily="18" charset="0"/>
                      </a:rPr>
                      <m:t>=2</m:t>
                    </m:r>
                    <m:r>
                      <a:rPr lang="zh-TW" altLang="en-US" sz="2800" b="0" i="1" smtClean="0">
                        <a:latin typeface="Cambria Math" panose="02040503050406030204" pitchFamily="18" charset="0"/>
                      </a:rPr>
                      <m:t>𝜏</m:t>
                    </m:r>
                  </m:oMath>
                </a14:m>
                <a:endParaRPr lang="en-US" altLang="zh-TW" sz="2800" dirty="0" smtClean="0"/>
              </a:p>
              <a:p>
                <a:pPr marL="0" indent="0">
                  <a:buNone/>
                </a:pPr>
                <a:endParaRPr lang="en-US" altLang="zh-TW" sz="2800"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2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1223373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628650" y="95794"/>
                <a:ext cx="7886700" cy="6081169"/>
              </a:xfrm>
            </p:spPr>
            <p:txBody>
              <a:bodyPr/>
              <a:lstStyle/>
              <a:p>
                <a:pPr marL="0" indent="0">
                  <a:buNone/>
                </a:pPr>
                <a:r>
                  <a:rPr lang="en-US" altLang="zh-TW" sz="2800" dirty="0" smtClean="0"/>
                  <a:t>Then the set </a:t>
                </a:r>
              </a:p>
              <a:p>
                <a:pPr marL="0" indent="0">
                  <a:buNone/>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en-US" altLang="zh-TW" sz="2800" b="0" i="1" smtClean="0">
                              <a:latin typeface="Cambria Math" panose="02040503050406030204" pitchFamily="18" charset="0"/>
                            </a:rPr>
                            <m:t>𝐾</m:t>
                          </m:r>
                        </m:e>
                        <m:sup>
                          <m:r>
                            <a:rPr lang="en-US" altLang="zh-TW" sz="2800" b="0" i="1" smtClean="0">
                              <a:latin typeface="Cambria Math" panose="02040503050406030204" pitchFamily="18" charset="0"/>
                            </a:rPr>
                            <m:t>1</m:t>
                          </m:r>
                        </m:sup>
                      </m:sSup>
                      <m:d>
                        <m:dPr>
                          <m:begChr m:val="{"/>
                          <m:endChr m:val="}"/>
                          <m:ctrlPr>
                            <a:rPr lang="en-US" altLang="zh-TW" sz="2800" i="1" smtClean="0">
                              <a:latin typeface="Cambria Math" panose="02040503050406030204" pitchFamily="18" charset="0"/>
                            </a:rPr>
                          </m:ctrlPr>
                        </m:dPr>
                        <m:e>
                          <m:r>
                            <a:rPr lang="en-US" altLang="zh-TW" sz="2800" b="0" i="1" smtClean="0">
                              <a:latin typeface="Cambria Math" panose="02040503050406030204" pitchFamily="18" charset="0"/>
                            </a:rPr>
                            <m:t>1,</m:t>
                          </m:r>
                          <m:d>
                            <m:dPr>
                              <m:begChr m:val="{"/>
                              <m:endChr m:val="}"/>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𝑉</m:t>
                              </m:r>
                            </m:e>
                          </m:d>
                          <m:r>
                            <a:rPr lang="en-US" altLang="zh-TW" sz="2800" b="0" i="1" smtClean="0">
                              <a:latin typeface="Cambria Math" panose="02040503050406030204" pitchFamily="18" charset="0"/>
                            </a:rPr>
                            <m:t> </m:t>
                          </m:r>
                        </m:e>
                      </m:d>
                      <m:r>
                        <a:rPr lang="en-US" altLang="zh-TW" sz="2800" b="0" i="0" smtClean="0">
                          <a:latin typeface="Cambria Math" panose="02040503050406030204" pitchFamily="18" charset="0"/>
                        </a:rPr>
                        <m:t>=</m:t>
                      </m:r>
                      <m:d>
                        <m:dPr>
                          <m:begChr m:val="{"/>
                          <m:endChr m:val="}"/>
                          <m:ctrlPr>
                            <a:rPr lang="en-US" altLang="zh-TW" sz="2800" b="0" i="1" smtClean="0">
                              <a:latin typeface="Cambria Math" panose="02040503050406030204" pitchFamily="18" charset="0"/>
                            </a:rPr>
                          </m:ctrlPr>
                        </m:dPr>
                        <m:e>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𝐾</m:t>
                              </m:r>
                            </m:e>
                            <m:sup>
                              <m:r>
                                <a:rPr lang="en-US" altLang="zh-TW" sz="2800" b="0" i="1" smtClean="0">
                                  <a:latin typeface="Cambria Math" panose="02040503050406030204" pitchFamily="18" charset="0"/>
                                </a:rPr>
                                <m:t>1</m:t>
                              </m:r>
                            </m:sup>
                          </m:sSup>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𝑆</m:t>
                              </m:r>
                            </m:e>
                          </m:d>
                          <m:r>
                            <a:rPr lang="en-US" altLang="zh-TW" sz="2800" b="0" i="1" smtClean="0">
                              <a:latin typeface="Cambria Math" panose="02040503050406030204" pitchFamily="18" charset="0"/>
                            </a:rPr>
                            <m:t>,</m:t>
                          </m:r>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𝐾</m:t>
                              </m:r>
                            </m:e>
                            <m:sup>
                              <m:r>
                                <a:rPr lang="en-US" altLang="zh-TW" sz="2800" b="0" i="1" smtClean="0">
                                  <a:latin typeface="Cambria Math" panose="02040503050406030204" pitchFamily="18" charset="0"/>
                                </a:rPr>
                                <m:t>1</m:t>
                              </m:r>
                            </m:sup>
                          </m:sSup>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𝐴</m:t>
                              </m:r>
                            </m:e>
                          </m:d>
                          <m:r>
                            <a:rPr lang="en-US" altLang="zh-TW" sz="2800" b="0" i="1" smtClean="0">
                              <a:latin typeface="Cambria Math" panose="02040503050406030204" pitchFamily="18" charset="0"/>
                            </a:rPr>
                            <m:t>,</m:t>
                          </m:r>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𝐾</m:t>
                              </m:r>
                            </m:e>
                            <m:sup>
                              <m:r>
                                <a:rPr lang="en-US" altLang="zh-TW" sz="2800" b="0" i="1" smtClean="0">
                                  <a:latin typeface="Cambria Math" panose="02040503050406030204" pitchFamily="18" charset="0"/>
                                </a:rPr>
                                <m:t>1</m:t>
                              </m:r>
                            </m:sup>
                          </m:sSup>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𝐵</m:t>
                              </m:r>
                            </m:e>
                          </m:d>
                        </m:e>
                      </m:d>
                    </m:oMath>
                  </m:oMathPara>
                </a14:m>
                <a:endParaRPr lang="en-US" altLang="zh-TW" sz="2800"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m:t>
                      </m:r>
                      <m:d>
                        <m:dPr>
                          <m:begChr m:val="{"/>
                          <m:endChr m:val="}"/>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0.5, 0.9, 0.6</m:t>
                          </m:r>
                        </m:e>
                      </m:d>
                      <m:r>
                        <a:rPr lang="en-US" altLang="zh-TW" sz="2800" b="0" i="1" smtClean="0">
                          <a:latin typeface="Cambria Math" panose="02040503050406030204" pitchFamily="18" charset="0"/>
                        </a:rPr>
                        <m:t>.</m:t>
                      </m:r>
                    </m:oMath>
                  </m:oMathPara>
                </a14:m>
                <a:endParaRPr lang="en-US" altLang="zh-TW" sz="2800" dirty="0" smtClean="0"/>
              </a:p>
              <a:p>
                <a:pPr marL="0" indent="0">
                  <a:buNone/>
                </a:pPr>
                <a:endParaRPr lang="zh-TW" altLang="en-US" sz="2800" dirty="0"/>
              </a:p>
              <a:p>
                <a:pPr marL="0" indent="0">
                  <a:buNone/>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en-US" altLang="zh-TW" sz="2800" b="0" i="1" smtClean="0">
                              <a:latin typeface="Cambria Math" panose="02040503050406030204" pitchFamily="18" charset="0"/>
                            </a:rPr>
                            <m:t>𝐾</m:t>
                          </m:r>
                        </m:e>
                        <m:sup>
                          <m:r>
                            <a:rPr lang="en-US" altLang="zh-TW" sz="2800" b="0" i="1" smtClean="0">
                              <a:latin typeface="Cambria Math" panose="02040503050406030204" pitchFamily="18" charset="0"/>
                            </a:rPr>
                            <m:t>1</m:t>
                          </m:r>
                        </m:sup>
                      </m:sSup>
                      <m:d>
                        <m:dPr>
                          <m:begChr m:val="{"/>
                          <m:endChr m:val="}"/>
                          <m:ctrlPr>
                            <a:rPr lang="en-US" altLang="zh-TW" sz="2800" i="1" smtClean="0">
                              <a:latin typeface="Cambria Math" panose="02040503050406030204" pitchFamily="18" charset="0"/>
                            </a:rPr>
                          </m:ctrlPr>
                        </m:dPr>
                        <m:e>
                          <m:r>
                            <a:rPr lang="en-US" altLang="zh-TW" sz="2800" b="0" i="1" smtClean="0">
                              <a:latin typeface="Cambria Math" panose="02040503050406030204" pitchFamily="18" charset="0"/>
                            </a:rPr>
                            <m:t>1,</m:t>
                          </m:r>
                          <m:d>
                            <m:dPr>
                              <m:begChr m:val="{"/>
                              <m:endChr m:val="}"/>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𝑉</m:t>
                              </m:r>
                            </m:e>
                          </m:d>
                          <m:r>
                            <a:rPr lang="en-US" altLang="zh-TW" sz="2800" b="0" i="1" smtClean="0">
                              <a:latin typeface="Cambria Math" panose="02040503050406030204" pitchFamily="18" charset="0"/>
                            </a:rPr>
                            <m:t> </m:t>
                          </m:r>
                        </m:e>
                      </m:d>
                      <m:r>
                        <a:rPr lang="en-US" altLang="zh-TW" sz="2800" b="0" i="1" smtClean="0">
                          <a:latin typeface="Cambria Math" panose="02040503050406030204" pitchFamily="18" charset="0"/>
                        </a:rPr>
                        <m:t>=</m:t>
                      </m:r>
                      <m:sSup>
                        <m:sSupPr>
                          <m:ctrlPr>
                            <a:rPr lang="en-US" altLang="zh-TW" sz="2800" i="1" smtClean="0">
                              <a:latin typeface="Cambria Math" panose="02040503050406030204" pitchFamily="18" charset="0"/>
                            </a:rPr>
                          </m:ctrlPr>
                        </m:sSupPr>
                        <m:e>
                          <m:r>
                            <a:rPr lang="en-US" altLang="zh-TW" sz="2800" b="0" i="1" smtClean="0">
                              <a:latin typeface="Cambria Math" panose="02040503050406030204" pitchFamily="18" charset="0"/>
                            </a:rPr>
                            <m:t>𝐾</m:t>
                          </m:r>
                        </m:e>
                        <m:sup>
                          <m:r>
                            <a:rPr lang="en-US" altLang="zh-TW" sz="2800" b="0" i="1" smtClean="0">
                              <a:latin typeface="Cambria Math" panose="02040503050406030204" pitchFamily="18" charset="0"/>
                            </a:rPr>
                            <m:t>2</m:t>
                          </m:r>
                        </m:sup>
                      </m:sSup>
                      <m:d>
                        <m:dPr>
                          <m:begChr m:val="{"/>
                          <m:endChr m:val="}"/>
                          <m:ctrlPr>
                            <a:rPr lang="en-US" altLang="zh-TW" sz="2800" i="1" smtClean="0">
                              <a:latin typeface="Cambria Math" panose="02040503050406030204" pitchFamily="18" charset="0"/>
                            </a:rPr>
                          </m:ctrlPr>
                        </m:dPr>
                        <m:e>
                          <m:r>
                            <a:rPr lang="en-US" altLang="zh-TW" sz="2800" b="0" i="1" smtClean="0">
                              <a:latin typeface="Cambria Math" panose="02040503050406030204" pitchFamily="18" charset="0"/>
                            </a:rPr>
                            <m:t>1,</m:t>
                          </m:r>
                          <m:d>
                            <m:dPr>
                              <m:begChr m:val="{"/>
                              <m:endChr m:val="}"/>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𝑉</m:t>
                              </m:r>
                            </m:e>
                          </m:d>
                          <m:r>
                            <a:rPr lang="en-US" altLang="zh-TW" sz="2800" b="0" i="1" smtClean="0">
                              <a:latin typeface="Cambria Math" panose="02040503050406030204" pitchFamily="18" charset="0"/>
                            </a:rPr>
                            <m:t> </m:t>
                          </m:r>
                        </m:e>
                      </m:d>
                    </m:oMath>
                  </m:oMathPara>
                </a14:m>
                <a:endParaRPr lang="en-US" altLang="zh-TW" sz="2800" dirty="0" smtClean="0"/>
              </a:p>
              <a:p>
                <a:pPr marL="0" indent="0">
                  <a:buNone/>
                </a:pPr>
                <a:endParaRPr lang="en-US" altLang="zh-TW" sz="2800" dirty="0"/>
              </a:p>
              <a:p>
                <a:pPr marL="0" indent="0">
                  <a:buNone/>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𝐾</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4,#</m:t>
                          </m:r>
                        </m:e>
                      </m:d>
                      <m:r>
                        <a:rPr lang="en-US" altLang="zh-TW" sz="2800" b="0" i="1" smtClean="0">
                          <a:latin typeface="Cambria Math" panose="02040503050406030204" pitchFamily="18" charset="0"/>
                        </a:rPr>
                        <m:t>=0.8</m:t>
                      </m:r>
                    </m:oMath>
                  </m:oMathPara>
                </a14:m>
                <a:endParaRPr lang="en-US" altLang="zh-TW" sz="2800" b="0" dirty="0" smtClean="0"/>
              </a:p>
              <a:p>
                <a:pPr marL="0" indent="0">
                  <a:buNone/>
                </a:pPr>
                <a:r>
                  <a:rPr lang="en-US" altLang="zh-TW" sz="2800" dirty="0" smtClean="0"/>
                  <a:t>Then the OCS is</a:t>
                </a:r>
              </a:p>
              <a:p>
                <a:pPr marL="0" indent="0">
                  <a:buNone/>
                </a:pPr>
                <a14:m>
                  <m:oMathPara xmlns:m="http://schemas.openxmlformats.org/officeDocument/2006/math">
                    <m:oMathParaPr>
                      <m:jc m:val="centerGroup"/>
                    </m:oMathParaPr>
                    <m:oMath xmlns:m="http://schemas.openxmlformats.org/officeDocument/2006/math">
                      <m:d>
                        <m:dPr>
                          <m:ctrlPr>
                            <a:rPr lang="en-US" altLang="zh-TW" sz="2800" i="1" smtClean="0">
                              <a:latin typeface="Cambria Math" panose="02040503050406030204" pitchFamily="18" charset="0"/>
                            </a:rPr>
                          </m:ctrlPr>
                        </m:dPr>
                        <m:e>
                          <m:r>
                            <a:rPr lang="en-US" altLang="zh-TW" sz="2800" b="0" i="1" smtClean="0">
                              <a:latin typeface="Cambria Math" panose="02040503050406030204" pitchFamily="18" charset="0"/>
                            </a:rPr>
                            <m:t>1, 2, 1, 3, 1</m:t>
                          </m:r>
                        </m:e>
                      </m:d>
                      <m:r>
                        <a:rPr lang="en-US" altLang="zh-TW" sz="2800" i="1">
                          <a:latin typeface="Cambria Math" panose="02040503050406030204" pitchFamily="18" charset="0"/>
                          <a:ea typeface="Cambria Math" panose="02040503050406030204" pitchFamily="18" charset="0"/>
                        </a:rPr>
                        <m:t>→</m:t>
                      </m:r>
                      <m:d>
                        <m:dPr>
                          <m:ctrlPr>
                            <a:rPr lang="en-US" altLang="zh-TW" sz="2800" i="1" smtClean="0">
                              <a:latin typeface="Cambria Math" panose="02040503050406030204" pitchFamily="18" charset="0"/>
                              <a:ea typeface="Cambria Math" panose="02040503050406030204" pitchFamily="18" charset="0"/>
                            </a:rPr>
                          </m:ctrlPr>
                        </m:dPr>
                        <m:e>
                          <m:r>
                            <a:rPr lang="en-US" altLang="zh-TW" sz="2800" i="1" smtClean="0">
                              <a:latin typeface="Cambria Math" panose="02040503050406030204" pitchFamily="18" charset="0"/>
                              <a:ea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,1.9, 0.8, 3, 1</m:t>
                          </m:r>
                        </m:e>
                      </m:d>
                    </m:oMath>
                  </m:oMathPara>
                </a14:m>
                <a:endParaRPr lang="zh-TW" altLang="en-US" sz="2800"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628650" y="95794"/>
                <a:ext cx="7886700" cy="6081169"/>
              </a:xfrm>
              <a:blipFill rotWithShape="0">
                <a:blip r:embed="rId2"/>
                <a:stretch>
                  <a:fillRect l="-1546" t="-170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16963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Penalty </a:t>
            </a:r>
            <a:r>
              <a:rPr lang="en-US" altLang="zh-TW" dirty="0" err="1" smtClean="0"/>
              <a:t>Fuction</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normAutofit/>
              </a:bodyPr>
              <a:lstStyle/>
              <a:p>
                <a:r>
                  <a:rPr lang="en-US" altLang="zh-TW" sz="2800" dirty="0" smtClean="0"/>
                  <a:t>Pointwise </a:t>
                </a:r>
              </a:p>
              <a:p>
                <a:pPr marL="0" indent="0">
                  <a:buNone/>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𝑝</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𝑥</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𝑦</m:t>
                          </m:r>
                        </m:e>
                      </m:d>
                      <m:r>
                        <a:rPr lang="en-US" altLang="zh-TW" sz="2800" b="0" i="1" smtClean="0">
                          <a:latin typeface="Cambria Math" panose="02040503050406030204" pitchFamily="18" charset="0"/>
                        </a:rPr>
                        <m:t>=</m:t>
                      </m:r>
                      <m:d>
                        <m:dPr>
                          <m:begChr m:val="|"/>
                          <m:endChr m:val="|"/>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𝑥</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𝑦</m:t>
                          </m:r>
                        </m:e>
                      </m:d>
                    </m:oMath>
                  </m:oMathPara>
                </a14:m>
                <a:endParaRPr lang="en-US" altLang="zh-TW" sz="2800" dirty="0" smtClean="0"/>
              </a:p>
              <a:p>
                <a:r>
                  <a:rPr lang="en-US" altLang="zh-TW" sz="2800" dirty="0" smtClean="0"/>
                  <a:t>Piecewise</a:t>
                </a:r>
                <a:endParaRPr lang="en-US" altLang="zh-TW" sz="2500" dirty="0" smtClean="0"/>
              </a:p>
              <a:p>
                <a:pPr marL="0" indent="0">
                  <a:buNone/>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𝑝</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𝑦</m:t>
                              </m:r>
                            </m:e>
                            <m:sub>
                              <m:r>
                                <a:rPr lang="en-US" altLang="zh-TW" sz="2400" b="0" i="1" smtClean="0">
                                  <a:latin typeface="Cambria Math" panose="02040503050406030204" pitchFamily="18" charset="0"/>
                                </a:rPr>
                                <m:t>𝑗</m:t>
                              </m:r>
                            </m:sub>
                          </m:sSub>
                        </m:e>
                      </m:d>
                      <m:r>
                        <a:rPr lang="en-US" altLang="zh-TW" sz="2400" b="0" i="0" smtClean="0">
                          <a:latin typeface="Cambria Math" panose="02040503050406030204" pitchFamily="18" charset="0"/>
                        </a:rPr>
                        <m:t>=</m:t>
                      </m:r>
                      <m:nary>
                        <m:naryPr>
                          <m:chr m:val="∑"/>
                          <m:ctrlPr>
                            <a:rPr lang="en-US" altLang="zh-TW" sz="2400" b="0" i="1" smtClean="0">
                              <a:latin typeface="Cambria Math" panose="02040503050406030204" pitchFamily="18" charset="0"/>
                            </a:rPr>
                          </m:ctrlPr>
                        </m:naryPr>
                        <m:sub>
                          <m:r>
                            <m:rPr>
                              <m:brk m:alnAt="23"/>
                            </m:rPr>
                            <a:rPr lang="en-US" altLang="zh-TW" sz="2400" b="0" i="1" smtClean="0">
                              <a:latin typeface="Cambria Math" panose="02040503050406030204" pitchFamily="18" charset="0"/>
                            </a:rPr>
                            <m:t>𝑘</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m:t>
                          </m:r>
                        </m:sub>
                        <m:sup>
                          <m:r>
                            <a:rPr lang="en-US" altLang="zh-TW" sz="2400" b="0" i="1" smtClean="0">
                              <a:latin typeface="Cambria Math" panose="02040503050406030204" pitchFamily="18" charset="0"/>
                            </a:rPr>
                            <m:t>𝑏</m:t>
                          </m:r>
                          <m:r>
                            <a:rPr lang="en-US" altLang="zh-TW" sz="2400" b="0" i="1" smtClean="0">
                              <a:latin typeface="Cambria Math" panose="02040503050406030204" pitchFamily="18" charset="0"/>
                            </a:rPr>
                            <m:t>−1</m:t>
                          </m:r>
                        </m:sup>
                        <m:e>
                          <m:d>
                            <m:dPr>
                              <m:begChr m:val="|"/>
                              <m:endChr m:val="|"/>
                              <m:ctrlPr>
                                <a:rPr lang="en-US" altLang="zh-TW" sz="2400" b="0" i="1" smtClean="0">
                                  <a:latin typeface="Cambria Math" panose="02040503050406030204" pitchFamily="18" charset="0"/>
                                </a:rPr>
                              </m:ctrlPr>
                            </m:dPr>
                            <m:e>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𝑘</m:t>
                                      </m:r>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𝑘</m:t>
                                      </m:r>
                                    </m:sub>
                                  </m:sSub>
                                </m:e>
                              </m:d>
                              <m:r>
                                <a:rPr lang="en-US" altLang="zh-TW" sz="2400" b="0" i="1" smtClean="0">
                                  <a:latin typeface="Cambria Math" panose="02040503050406030204" pitchFamily="18" charset="0"/>
                                </a:rPr>
                                <m:t>−</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𝑦</m:t>
                                      </m:r>
                                    </m:e>
                                    <m:sub>
                                      <m:r>
                                        <a:rPr lang="en-US" altLang="zh-TW" sz="2400" b="0" i="1" smtClean="0">
                                          <a:latin typeface="Cambria Math" panose="02040503050406030204" pitchFamily="18" charset="0"/>
                                        </a:rPr>
                                        <m:t>𝑗</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𝑘</m:t>
                                      </m:r>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𝑦</m:t>
                                      </m:r>
                                    </m:e>
                                    <m:sub>
                                      <m:r>
                                        <a:rPr lang="en-US" altLang="zh-TW" sz="2400" b="0" i="1" smtClean="0">
                                          <a:latin typeface="Cambria Math" panose="02040503050406030204" pitchFamily="18" charset="0"/>
                                        </a:rPr>
                                        <m:t>𝑗</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𝑘</m:t>
                                      </m:r>
                                    </m:sub>
                                  </m:sSub>
                                </m:e>
                              </m:d>
                            </m:e>
                          </m:d>
                        </m:e>
                      </m:nary>
                    </m:oMath>
                  </m:oMathPara>
                </a14:m>
                <a:endParaRPr lang="en-US" altLang="zh-TW" sz="2800" dirty="0" smtClean="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391" t="-2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3676510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The </a:t>
            </a:r>
            <a:r>
              <a:rPr lang="en-US" altLang="zh-TW" dirty="0" err="1"/>
              <a:t>E</a:t>
            </a:r>
            <a:r>
              <a:rPr lang="en-US" altLang="zh-TW" dirty="0" err="1" smtClean="0"/>
              <a:t>pipolar</a:t>
            </a:r>
            <a:r>
              <a:rPr lang="en-US" altLang="zh-TW" dirty="0" smtClean="0"/>
              <a:t> Line</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1229" y="1861707"/>
            <a:ext cx="5943600" cy="3390900"/>
          </a:xfrm>
        </p:spPr>
      </p:pic>
    </p:spTree>
    <p:extLst>
      <p:ext uri="{BB962C8B-B14F-4D97-AF65-F5344CB8AC3E}">
        <p14:creationId xmlns:p14="http://schemas.microsoft.com/office/powerpoint/2010/main" val="1219866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628650" y="1773374"/>
            <a:ext cx="7886700" cy="4351338"/>
          </a:xfrm>
        </p:spPr>
        <p:txBody>
          <a:bodyPr>
            <a:normAutofit/>
          </a:bodyPr>
          <a:lstStyle/>
          <a:p>
            <a:pPr marL="0" indent="0">
              <a:buNone/>
            </a:pPr>
            <a:r>
              <a:rPr lang="en-US" altLang="zh-TW" sz="2800" dirty="0" smtClean="0"/>
              <a:t>The algorithm for finding the conjugate points of left and right images can be described in two stages.</a:t>
            </a:r>
          </a:p>
          <a:p>
            <a:pPr marL="0" indent="0">
              <a:buNone/>
            </a:pPr>
            <a:endParaRPr lang="en-US" altLang="zh-TW" sz="2800" dirty="0"/>
          </a:p>
          <a:p>
            <a:pPr marL="514350" indent="-514350">
              <a:buFont typeface="+mj-lt"/>
              <a:buAutoNum type="arabicPeriod"/>
            </a:pPr>
            <a:r>
              <a:rPr lang="en-US" altLang="zh-TW" sz="2800" b="1" i="1" dirty="0" err="1"/>
              <a:t>Epipolar</a:t>
            </a:r>
            <a:r>
              <a:rPr lang="en-US" altLang="zh-TW" sz="2800" b="1" i="1" dirty="0"/>
              <a:t> Line </a:t>
            </a:r>
            <a:r>
              <a:rPr lang="en-US" altLang="zh-TW" sz="2800" b="1" i="1" dirty="0" smtClean="0"/>
              <a:t>Registration</a:t>
            </a:r>
          </a:p>
          <a:p>
            <a:pPr marL="514350" indent="-514350">
              <a:buFont typeface="+mj-lt"/>
              <a:buAutoNum type="arabicPeriod"/>
            </a:pPr>
            <a:endParaRPr lang="en-US" altLang="zh-TW" sz="2800" b="1" i="1" dirty="0" smtClean="0"/>
          </a:p>
          <a:p>
            <a:pPr marL="514350" indent="-514350">
              <a:buFont typeface="+mj-lt"/>
              <a:buAutoNum type="arabicPeriod"/>
            </a:pPr>
            <a:r>
              <a:rPr lang="en-US" altLang="zh-TW" sz="2800" b="1" i="1" dirty="0"/>
              <a:t>Finding Conjugate Points</a:t>
            </a:r>
            <a:endParaRPr lang="zh-TW" altLang="en-US" sz="2800" dirty="0"/>
          </a:p>
        </p:txBody>
      </p:sp>
    </p:spTree>
    <p:extLst>
      <p:ext uri="{BB962C8B-B14F-4D97-AF65-F5344CB8AC3E}">
        <p14:creationId xmlns:p14="http://schemas.microsoft.com/office/powerpoint/2010/main" val="27057298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73678" y="70111"/>
            <a:ext cx="5824401" cy="2809416"/>
          </a:xfrm>
        </p:spPr>
      </p:pic>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3678" y="3169456"/>
            <a:ext cx="6396186" cy="3274887"/>
          </a:xfrm>
          <a:prstGeom prst="rect">
            <a:avLst/>
          </a:prstGeom>
        </p:spPr>
      </p:pic>
    </p:spTree>
    <p:extLst>
      <p:ext uri="{BB962C8B-B14F-4D97-AF65-F5344CB8AC3E}">
        <p14:creationId xmlns:p14="http://schemas.microsoft.com/office/powerpoint/2010/main" val="82597046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87086"/>
            <a:ext cx="7886700" cy="1325563"/>
          </a:xfrm>
        </p:spPr>
        <p:txBody>
          <a:bodyPr/>
          <a:lstStyle/>
          <a:p>
            <a:r>
              <a:rPr lang="en-US" altLang="zh-TW" dirty="0" smtClean="0"/>
              <a:t>Experiment</a:t>
            </a:r>
            <a:endParaRPr lang="zh-TW" altLang="en-US" dirty="0"/>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1680" y="-69668"/>
            <a:ext cx="3784698" cy="3905257"/>
          </a:xfrm>
          <a:prstGeom prst="rect">
            <a:avLst/>
          </a:prstGeom>
        </p:spPr>
      </p:pic>
      <p:pic>
        <p:nvPicPr>
          <p:cNvPr id="4" name="內容版面配置區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7655" y="950486"/>
            <a:ext cx="5469689" cy="3504020"/>
          </a:xfrm>
        </p:spPr>
      </p:pic>
      <p:pic>
        <p:nvPicPr>
          <p:cNvPr id="6" name="圖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21824" y="3565619"/>
            <a:ext cx="3487045" cy="3827958"/>
          </a:xfrm>
          <a:prstGeom prst="rect">
            <a:avLst/>
          </a:prstGeom>
        </p:spPr>
      </p:pic>
    </p:spTree>
    <p:extLst>
      <p:ext uri="{BB962C8B-B14F-4D97-AF65-F5344CB8AC3E}">
        <p14:creationId xmlns:p14="http://schemas.microsoft.com/office/powerpoint/2010/main" val="280660633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UPC bar Decoding</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50" y="2107475"/>
            <a:ext cx="4257332" cy="2274275"/>
          </a:xfrm>
        </p:spPr>
      </p:pic>
    </p:spTree>
    <p:extLst>
      <p:ext uri="{BB962C8B-B14F-4D97-AF65-F5344CB8AC3E}">
        <p14:creationId xmlns:p14="http://schemas.microsoft.com/office/powerpoint/2010/main" val="17266815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Conclusion</a:t>
            </a:r>
            <a:endParaRPr lang="zh-TW" altLang="en-US" dirty="0"/>
          </a:p>
        </p:txBody>
      </p:sp>
      <p:sp>
        <p:nvSpPr>
          <p:cNvPr id="3" name="內容版面配置區 2"/>
          <p:cNvSpPr>
            <a:spLocks noGrp="1"/>
          </p:cNvSpPr>
          <p:nvPr>
            <p:ph idx="1"/>
          </p:nvPr>
        </p:nvSpPr>
        <p:spPr>
          <a:xfrm>
            <a:off x="628650" y="1463040"/>
            <a:ext cx="7886700" cy="5271272"/>
          </a:xfrm>
        </p:spPr>
        <p:txBody>
          <a:bodyPr>
            <a:normAutofit/>
          </a:bodyPr>
          <a:lstStyle/>
          <a:p>
            <a:pPr marL="0" indent="0">
              <a:buNone/>
            </a:pPr>
            <a:r>
              <a:rPr lang="en-US" altLang="zh-TW" sz="2400" dirty="0"/>
              <a:t>The classical LCS problem is well </a:t>
            </a:r>
            <a:r>
              <a:rPr lang="en-US" altLang="zh-TW" sz="2400" dirty="0" smtClean="0"/>
              <a:t>understood</a:t>
            </a:r>
            <a:r>
              <a:rPr lang="en-US" altLang="zh-TW" sz="2400" b="1" dirty="0" smtClean="0"/>
              <a:t>. </a:t>
            </a:r>
            <a:r>
              <a:rPr lang="en-US" altLang="zh-TW" sz="2400" dirty="0"/>
              <a:t>It </a:t>
            </a:r>
            <a:r>
              <a:rPr lang="en-US" altLang="zh-TW" sz="2400" dirty="0" smtClean="0"/>
              <a:t>seems that </a:t>
            </a:r>
            <a:r>
              <a:rPr lang="en-US" altLang="zh-TW" sz="2400" dirty="0"/>
              <a:t>the OCS problem has not been explored as much as </a:t>
            </a:r>
            <a:r>
              <a:rPr lang="en-US" altLang="zh-TW" sz="2400" dirty="0" smtClean="0"/>
              <a:t>LCS. </a:t>
            </a:r>
          </a:p>
          <a:p>
            <a:pPr marL="0" indent="0">
              <a:buNone/>
            </a:pPr>
            <a:r>
              <a:rPr lang="en-US" altLang="zh-TW" sz="2400" dirty="0" smtClean="0"/>
              <a:t>This </a:t>
            </a:r>
            <a:r>
              <a:rPr lang="en-US" altLang="zh-TW" sz="2400" dirty="0"/>
              <a:t>paper gives the definition of the optimal </a:t>
            </a:r>
            <a:r>
              <a:rPr lang="en-US" altLang="zh-TW" sz="2400" dirty="0" smtClean="0"/>
              <a:t>correspondent subsequence </a:t>
            </a:r>
            <a:r>
              <a:rPr lang="en-US" altLang="zh-TW" sz="2400" dirty="0"/>
              <a:t>(OCS) problem and the algorithms. </a:t>
            </a:r>
            <a:endParaRPr lang="en-US" altLang="zh-TW" sz="2400" dirty="0" smtClean="0"/>
          </a:p>
          <a:p>
            <a:pPr marL="0" indent="0">
              <a:buNone/>
            </a:pPr>
            <a:r>
              <a:rPr lang="en-US" altLang="zh-TW" sz="2400" dirty="0" smtClean="0"/>
              <a:t>The complexity of </a:t>
            </a:r>
            <a:r>
              <a:rPr lang="en-US" altLang="zh-TW" sz="2400" dirty="0"/>
              <a:t>OCS is quadratic. It is superior to relaxation and </a:t>
            </a:r>
            <a:r>
              <a:rPr lang="en-US" altLang="zh-TW" sz="2400" dirty="0" smtClean="0"/>
              <a:t>elastic matching </a:t>
            </a:r>
            <a:r>
              <a:rPr lang="en-US" altLang="zh-TW" sz="2400" dirty="0"/>
              <a:t>of which complexity are cubic. </a:t>
            </a:r>
            <a:endParaRPr lang="en-US" altLang="zh-TW" sz="2400" dirty="0" smtClean="0"/>
          </a:p>
          <a:p>
            <a:pPr marL="0" indent="0">
              <a:buNone/>
            </a:pPr>
            <a:r>
              <a:rPr lang="en-US" altLang="zh-TW" sz="2400" dirty="0" smtClean="0"/>
              <a:t>In </a:t>
            </a:r>
            <a:r>
              <a:rPr lang="en-US" altLang="zh-TW" sz="2400" dirty="0"/>
              <a:t>comparison to </a:t>
            </a:r>
            <a:r>
              <a:rPr lang="en-US" altLang="zh-TW" sz="2400" dirty="0" smtClean="0"/>
              <a:t>relaxation and </a:t>
            </a:r>
            <a:r>
              <a:rPr lang="en-US" altLang="zh-TW" sz="2400" dirty="0"/>
              <a:t>elastic matching techniques, the OCS also shows </a:t>
            </a:r>
            <a:r>
              <a:rPr lang="en-US" altLang="zh-TW" sz="2400" dirty="0" smtClean="0"/>
              <a:t>its elegance </a:t>
            </a:r>
            <a:r>
              <a:rPr lang="en-US" altLang="zh-TW" sz="2400" dirty="0"/>
              <a:t>in combining syntactic information and doing </a:t>
            </a:r>
            <a:r>
              <a:rPr lang="en-US" altLang="zh-TW" sz="2400" dirty="0" smtClean="0"/>
              <a:t>matching incrementally</a:t>
            </a:r>
            <a:r>
              <a:rPr lang="en-US" altLang="zh-TW" sz="2400" dirty="0"/>
              <a:t>. </a:t>
            </a:r>
            <a:endParaRPr lang="en-US" altLang="zh-TW" sz="2400" dirty="0" smtClean="0"/>
          </a:p>
          <a:p>
            <a:pPr marL="0" indent="0">
              <a:buNone/>
            </a:pPr>
            <a:r>
              <a:rPr lang="en-US" altLang="zh-TW" sz="2400" dirty="0" smtClean="0"/>
              <a:t>The </a:t>
            </a:r>
            <a:r>
              <a:rPr lang="en-US" altLang="zh-TW" sz="2400" dirty="0"/>
              <a:t>diversity of the OCS algorithm is shown </a:t>
            </a:r>
            <a:r>
              <a:rPr lang="en-US" altLang="zh-TW" sz="2400" dirty="0" smtClean="0"/>
              <a:t>in the </a:t>
            </a:r>
            <a:r>
              <a:rPr lang="en-US" altLang="zh-TW" sz="2400" dirty="0"/>
              <a:t>last two applications. It can tackle either the </a:t>
            </a:r>
            <a:r>
              <a:rPr lang="en-US" altLang="zh-TW" sz="2400" dirty="0" smtClean="0"/>
              <a:t>string-to-string or </a:t>
            </a:r>
            <a:r>
              <a:rPr lang="en-US" altLang="zh-TW" sz="2400" dirty="0"/>
              <a:t>string-to-regular-grammar approximate matching problem </a:t>
            </a:r>
            <a:r>
              <a:rPr lang="en-US" altLang="zh-TW" sz="2400" dirty="0" smtClean="0"/>
              <a:t>in the </a:t>
            </a:r>
            <a:r>
              <a:rPr lang="en-US" altLang="zh-TW" sz="2400" dirty="0"/>
              <a:t>infinite alphabet domain.</a:t>
            </a:r>
            <a:endParaRPr lang="zh-TW" altLang="en-US" sz="2400" dirty="0"/>
          </a:p>
        </p:txBody>
      </p:sp>
    </p:spTree>
    <p:extLst>
      <p:ext uri="{BB962C8B-B14F-4D97-AF65-F5344CB8AC3E}">
        <p14:creationId xmlns:p14="http://schemas.microsoft.com/office/powerpoint/2010/main" val="48406097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TotalTime>
  <Words>552</Words>
  <Application>Microsoft Office PowerPoint</Application>
  <PresentationFormat>如螢幕大小 (4:3)</PresentationFormat>
  <Paragraphs>107</Paragraphs>
  <Slides>25</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25</vt:i4>
      </vt:variant>
    </vt:vector>
  </HeadingPairs>
  <TitlesOfParts>
    <vt:vector size="32" baseType="lpstr">
      <vt:lpstr>新細明體</vt:lpstr>
      <vt:lpstr>Arial</vt:lpstr>
      <vt:lpstr>Calibri</vt:lpstr>
      <vt:lpstr>Calibri Light</vt:lpstr>
      <vt:lpstr>Cambria Math</vt:lpstr>
      <vt:lpstr>Verdana</vt:lpstr>
      <vt:lpstr>Office 佈景主題</vt:lpstr>
      <vt:lpstr>PowerPoint 簡報</vt:lpstr>
      <vt:lpstr>Abstract</vt:lpstr>
      <vt:lpstr>PowerPoint 簡報</vt:lpstr>
      <vt:lpstr>Introduction</vt:lpstr>
      <vt:lpstr>PowerPoint 簡報</vt:lpstr>
      <vt:lpstr>PowerPoint 簡報</vt:lpstr>
      <vt:lpstr>PowerPoint 簡報</vt:lpstr>
      <vt:lpstr>Compare with LCS</vt:lpstr>
      <vt:lpstr>Example</vt:lpstr>
      <vt:lpstr>Optimal Correspondent Subsequence(OCS) Problem</vt:lpstr>
      <vt:lpstr>PowerPoint 簡報</vt:lpstr>
      <vt:lpstr>Example</vt:lpstr>
      <vt:lpstr>String Distance</vt:lpstr>
      <vt:lpstr>PowerPoint 簡報</vt:lpstr>
      <vt:lpstr>Template Matching</vt:lpstr>
      <vt:lpstr>PowerPoint 簡報</vt:lpstr>
      <vt:lpstr>Example</vt:lpstr>
      <vt:lpstr>PowerPoint 簡報</vt:lpstr>
      <vt:lpstr>Penalty Fuction</vt:lpstr>
      <vt:lpstr>The Epipolar Line</vt:lpstr>
      <vt:lpstr>PowerPoint 簡報</vt:lpstr>
      <vt:lpstr>PowerPoint 簡報</vt:lpstr>
      <vt:lpstr>Experiment</vt:lpstr>
      <vt:lpstr>UPC bar Decoding</vt:lpstr>
      <vt:lpstr>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HUGO</dc:creator>
  <cp:lastModifiedBy>HUGO</cp:lastModifiedBy>
  <cp:revision>18</cp:revision>
  <dcterms:created xsi:type="dcterms:W3CDTF">2014-12-21T05:00:39Z</dcterms:created>
  <dcterms:modified xsi:type="dcterms:W3CDTF">2014-12-21T07:54:05Z</dcterms:modified>
</cp:coreProperties>
</file>