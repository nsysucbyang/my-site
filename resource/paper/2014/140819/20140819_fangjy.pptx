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ink/ink1.xml" ContentType="application/inkml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88" r:id="rId4"/>
    <p:sldId id="257" r:id="rId5"/>
    <p:sldId id="289" r:id="rId6"/>
    <p:sldId id="272" r:id="rId7"/>
    <p:sldId id="279" r:id="rId8"/>
    <p:sldId id="274" r:id="rId9"/>
    <p:sldId id="284" r:id="rId10"/>
    <p:sldId id="290" r:id="rId11"/>
    <p:sldId id="280" r:id="rId12"/>
    <p:sldId id="281" r:id="rId13"/>
    <p:sldId id="282" r:id="rId14"/>
    <p:sldId id="283" r:id="rId15"/>
    <p:sldId id="292" r:id="rId16"/>
  </p:sldIdLst>
  <p:sldSz cx="9144000" cy="6858000" type="screen4x3"/>
  <p:notesSz cx="6858000" cy="99472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620"/>
    <p:restoredTop sz="94670" autoAdjust="0"/>
  </p:normalViewPr>
  <p:slideViewPr>
    <p:cSldViewPr>
      <p:cViewPr varScale="1">
        <p:scale>
          <a:sx n="69" d="100"/>
          <a:sy n="69" d="100"/>
        </p:scale>
        <p:origin x="-15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4-08-11T12:55:51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4516 8872,'0'18,"0"17,0 1,0-1,0 0,0 0,-18 18,18-17,0-19,0 1,-18 17,18-17,0-1,0 19,0-36,0 17,0 19,0-36,0 17,0 1,0 0,0-18,0 17,0 1,0-18,0 17,0-17,0 18,0-18,0 0,0 18,18-18,0 0,-1 17,18-17,-17 0,17 0,1 0,-1 0,0 0,18 0,-18 0,1 0,-1 0,0 0,1 0,-19 0,18 0,-17 0,0 0,-1 0,-17 0,18 0,0 0,-18 0,17 0,-17 0,36 0,-36 0,35 0,-35 0,17 0,1 0,0 0,-18 0,17 0,1 0,0 0,-1 0,-17 0,18 0,0 0,-18 0,17 0,-17 0,0 0,0 0,0-17,0-1,18 0,-18 1,0-1,0 1,0-1,0-35,0 53,0-18,0-17,0 35,0-35,0 35,0-18,0 18,0-17,0 17,0-18,0 0,0 18,0-17,0 17,0-18,0 0,0 18,0-17,0 17,0-18,0 18,0-18,0 1,0 17,0-18,0 18,0-18,0 18</inkml:trace>
  <inkml:trace contextRef="#ctx0" brushRef="#br0" timeOffset="3664.2095">8625 8890,'0'18,"0"-1,0 19,0-19,0 36,0-18,0 1,0 17,0 17,0-35,0-17,0 35,0-35,0 17,0-17,0-1,0-17,0 18,0-18,18 0,17 0,-17 0,17 0,36 17,17-17,0 0,18 0,18 0,-19 0,54 0,-18 0,18 0,17 0,-35 0,1 0,-19 0,53 0,-34 0,-37 0,-16 0,16 0,-16 0,16 0,-34 0,52 0,-34 0,-1 0,-18 0,19 0,-1 0,0 0,0 0,-17 0,-18 0,35 0,-35 0,17 0,36 0,-18 0,-17 0,17 0,-17 18,-1-18,18 0,-17 0,-18 0,0 0,0 0,-18 0,-17 0,35 18,-18-18,0 17,0-17,1 0,17 0,-18 0,-18 0,1 0,0 0,-1 0,1 0,35 0,-18 0,-17 0,17 0,0 0,1 0,-1 0,0 0,1 0,-19 0,1 0,17 0,-35 0,18 0,-18-17,17 17,-17 0,0-18,0-17,0 17,18 1,-18-19,0 1,0 0,0-1,0 1,0 0,0 0,0-18,0 0,0 17,0 1,0 18,0-1,0-17,-18 35,18-18</inkml:trace>
  <inkml:trace contextRef="#ctx0" brushRef="#br0" timeOffset="4961.2837">4533 10195,'0'0,"0"18,0 35,0-36,0 19,0-1,18 18,-1-18,1 18,0-18,-1 1,19-1,-36 0,17 1,1-19,-18 1,18-1,-18 1,0-18,17 18,-17-18,0 17,18-17,-18 0</inkml:trace>
  <inkml:trace contextRef="#ctx0" brushRef="#br0" timeOffset="5912.3381">5309 10319,'0'0,"0"17,18 54,-18-53,18 17,-18 0,0-17,0 17,0 0,35 1,-35-36,18 35,-18 0,0-35,17 35,-17-35,18 18,-18 0,0-1,0-17,0 0,0 18,0-18,17 18,-17-1</inkml:trace>
  <inkml:trace contextRef="#ctx0" brushRef="#br0" timeOffset="7584.4338">8537 10283,'18'0,"-18"18,17 17,1-17,0 17,-1 1,1-19,17 36,-17-35,0-1,-1 19,1-36,-18 0,0 0,0 17,0 1,0-18,-18 18,1-1,-19 1,-17 17,0-35,1 18,-1 17,17-17,-17-1,36 19,-18-36,35 17,-18 1,18-18,0 0,0 0,18 0,-1 0,36 0,-18 0,1-18,34 18,1 0,17-17,35-1,-52 0,-18-70,0 88,0-17,0 17,-36-18,1 18,-18 0,18 0,-18 0,0 0,35 0,-17 0,-1 0,1 0</inkml:trace>
  <inkml:trace contextRef="#ctx0" brushRef="#br0" timeOffset="9546.546">13899 10213,'0'0,"0"35,18-17,0-1,-1 19,1-1,17 0,-35-35,18 36,0-36,-1 17,1 1,-18 0,17-18,-17 17,0 1,-17-18,-1 17,-17 1,35 0,-35-18,17 17,-53 1,-17 17,0 18,-18-18,36 1,17-19,-18 1,54 0,-1-1,0-17,18 0,36 18,-36-18,17 0,1 18,-1-18,19 0,17 0,-18 0,0 0,36 0,-1 0,19-18,16 0,-16 1,52-19,0 19,-88-1,53-17,-71 17,0 1,-17 17,-1 0,-17-18,0 18,18 0</inkml:trace>
  <inkml:trace contextRef="#ctx0" brushRef="#br0" timeOffset="14704.841">5433 7743,'0'-17,"0"17,0-18,0-17,0 17,0 1,0-19,0 19,0-1,0 0,0 1,0 17,0-18,0 18,17 0,1 0,0-17,17-1,0 18,18 0,35-35,-35 17,18 18,17-18,-17 18,-18 0,35-17,-35 17,17 0,-17 0,18 0,-1 0,1 0,-1 0,1 0,-1 0,-17-18,36 18,-37 0,1 0,0 0,0 0,0 0,18 0,-18 0,17 0,-17 0,18 0,-36 0,18 0,-18 0,0 0,1 0,17 0,17 0,-17 0,-18 0,36 0,-1 0,-17 0,36 0,-1 0,-53 0,18 0,-18 0,0-18,-17 18,-18 0,35 0,-35 0,18 0,0 0,-1 0,1 0,-18 0,35 0,-35 0,18 0,-18 0,17 0,19 0,-19 0,1 0,0 0,-1 0,-17 0,18 0,0 0,-1 0,-17 0,0 0,0 18,0 0,0-1,0 1,0 0,18-1,-18 19,0 16,0-34,0 17,18 1,-18-19,0 1,0 17,0-35,0 18,0-18,0 17,0 1,0-18</inkml:trace>
  <inkml:trace contextRef="#ctx0" brushRef="#br0" timeOffset="17537.003">4498 7743,'0'-17,"0"-54,0 1,0 17,-18-35,18-18,-17 35,17-35,0 36,0 17,-18 0,18 0,0 35,0-34,0 34,0 18,0-18,0 1,0 17,18 0,-18 0,17 0,19 0,-19 0,1 0,-1 17,19-17,-19 0,36 0,18 0,-1 18,54-18,17 0,53 0,-18 0,-17 0,35 0,-17 0,-19 0,36 0,0 0,18 0,35 0,-18 0,-17 0,35 0,53 0,17-18,-52 1,-36 17,-17-18,-18 18,-18 0,-52-18,17 18,-18 0,18 0,-35-17,18 17,-54-18,54 0,-1 18,1 0,-1-17,1 17,-1-18,1 18,-1-17,-17 17,17-18,-34 18,16 0,-52-18,18 18,-1 0,19 0,-1 0,18 0,-18 0,35 0,-17 0,-35 0,35-17,-36 17,1 0,17-18,-18 18,-34 0,17 0,17-18,-17 18,0-17,35 17,-35 0,18 0,-18 0,17 0,-17 0,-18 0,1 0,-19 0,1 0,-18 0,17 0,1 0,0 0,17 0,-17 0,-1 0,-17 0,53 0,-17 0,-1 0,-18 17,1-17,-18 0,0 0,18 0,-18 18,0-18,0 35,0-35,17 18,-17 0,18-1,-18 18,0 1,0-19,0 36,0 0,0-18,0 18,0-17,0 17,18-18,-18 0,0 18,0 0,17-18,-17 0,0 1,0 17,0-36,0 1,0-18,0 18,0-1,0 1</inkml:trace>
  <inkml:trace contextRef="#ctx0" brushRef="#br0" timeOffset="21208.213">4216 6068,'0'0,"0"17,0 1,0 0,0-1,17 1,-17 17,0-17,0 0,0 17,0-18,18 1,-18 0,0-18,0 17,0 1,0-18,0 18,0-18,0 35,0-35,0 18,0-18,0 17,0 1,0-18</inkml:trace>
  <inkml:trace contextRef="#ctx0" brushRef="#br0" timeOffset="23704.3558">5398 6015,'0'0,"0"17,17-17,-17 18,18 0,-1-1,1-17,-18 36,0-36,18 17,-1 1,-17 0,0-1,18-17,-18 18,0-18,0 18,0-18,0 17,0 1,18-18,-18 17,70-17,-70 0,0 18,0-18,0 35,0-35,0 18,-17 0,17-1,0-17,-18 36,18-36,0 17,-18-17,1 18,17-18,-18 17,0 1,-17 0,17-1,-17 1,0 0,0-18,17 17,-17 1,35-18,-18 0,0 0,18 0,18 0,-18-18,18 18,35-35,-36 35,19-18,-1 1,35-1,-52 18,35 0,-35-18,17 1,-35 17,35 0,-35 0,18 0,-18-18</inkml:trace>
  <inkml:trace contextRef="#ctx0" brushRef="#br0" timeOffset="26248.5013">8555 5997,'0'0,"0"0,0 35,17 1,-17-1,36 0,-19-17,1 35,17-35,-35-1,18 18,0-35,-18 18,0 0,0-18,0 0,0 17,0-17,0 18,0-18,0 18,0-1,0-17,0 18,0-18,-18 18,0-18,18 17,-35 1,0-1,-1 1,19 0,-36-1,35 1,-17 0,35-18,-18 17,1-17,-1 18,18-18,-18 0,18 18,0-18,0 0,0 0,18-18,0 18,-18-18,17 18,-17 0,18 0,-18 0,0-17,35 17,-35 0,36 0,-19-18,1 18,17 0,18 0,-18-18,1 1,-1 17,18 0,0-36,-18 36,0-17,1 17,-36 0</inkml:trace>
  <inkml:trace contextRef="#ctx0" brushRef="#br0" timeOffset="28040.6038">14023 5644,'0'18,"0"0,0-1,0 36,0-35,0 0,0 34,-18-16,18-1,0-17,0 17,0 0,0-35,0 18,0 17,0-35,0 18,0-1,-17-17,17 0,0 18,0-18,0 18,-18-18,18 17,0 1,0-18,0 18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233B4-1F5A-4615-A07F-508CB2C0B35C}" type="datetimeFigureOut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E89EA-78D1-4B11-AE23-F92136618C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7134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A016-A8B6-408A-B2E0-0CE7413CD190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4431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188E-42AD-4265-BD7B-6D6D62334585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130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BC49-2A70-44CB-BD05-F5523CF62895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8036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DC24-0C81-48BE-97C2-62CCE451FDAA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3911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64F-3C1D-48B7-8183-0D6E3F79441F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0156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22956-F816-4489-BEC6-6685A548AA59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121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ADA2-2374-455D-A7FA-CBE43F928384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277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822B-1F80-4359-86BD-0AF2EA72313D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163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B3D8-B68C-4BDE-A967-9E6BFCEF0A9C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867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FB12-F263-4B58-BAEE-385AF3FF4CA7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1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838-7870-49FE-B96F-7B68F6D17578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3264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4308A-8816-4285-94BB-1C847B9DA00D}" type="datetime1">
              <a:rPr lang="zh-TW" altLang="en-US" smtClean="0"/>
              <a:pPr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1744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Pattern Prediction</a:t>
            </a:r>
            <a:r>
              <a:rPr lang="zh-TW" altLang="en-US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Student: Chun-Yi Fang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方鈞毅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Advisor: Prof. Chang-Biau Yang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楊昌彪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Date: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Aug.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19,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2014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2620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80520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氨基酸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(amino acid)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為構成蛋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白質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protein)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的基本單位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範例如下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SNPV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HLEHSNL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Times New Roman" panose="02020603050405020304" pitchFamily="18" charset="0"/>
                <a:ea typeface="Gungsuh" panose="02030600000101010101" pitchFamily="18" charset="-127"/>
                <a:cs typeface="Times New Roman" panose="02020603050405020304" pitchFamily="18" charset="0"/>
              </a:rPr>
              <a:t>GGAAGG</a:t>
            </a:r>
          </a:p>
          <a:p>
            <a:pPr lvl="2"/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不同的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字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母代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表不同的氨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基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 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雙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硫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鍵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(disulfide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bond/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disulfide bridge)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是由兩個</a:t>
            </a:r>
            <a:r>
              <a:rPr lang="zh-TW" altLang="en-US" sz="2800" u="sng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氧化的半</a:t>
            </a:r>
            <a:r>
              <a:rPr lang="zh-TW" altLang="en-US" sz="2800" u="sng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胱氨</a:t>
            </a:r>
            <a:r>
              <a:rPr lang="zh-TW" altLang="en-US" sz="2800" u="sng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所構成，半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胱氨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酸的簡寫為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”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(Cystine)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/>
            <a:r>
              <a:rPr lang="en-US" altLang="zh-TW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</a:t>
            </a:r>
            <a:r>
              <a:rPr lang="zh-TW" altLang="en-US" sz="24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在本次實驗</a:t>
            </a:r>
            <a:r>
              <a:rPr lang="zh-TW" altLang="en-US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中，</a:t>
            </a:r>
            <a:r>
              <a:rPr lang="zh-TW" altLang="en-US" sz="24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半胱氨酸</a:t>
            </a:r>
            <a:r>
              <a:rPr lang="zh-TW" altLang="en-US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的氧化狀</a:t>
            </a:r>
            <a:r>
              <a:rPr lang="zh-TW" altLang="en-US" sz="24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態是已</a:t>
            </a:r>
            <a:r>
              <a:rPr lang="zh-TW" altLang="en-US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經得</a:t>
            </a:r>
            <a:r>
              <a:rPr lang="zh-TW" altLang="en-US" sz="24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知的</a:t>
            </a:r>
            <a:r>
              <a:rPr lang="en-US" altLang="zh-TW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)</a:t>
            </a:r>
            <a:r>
              <a:rPr lang="zh-TW" altLang="en-US" sz="24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</a:t>
            </a:r>
            <a:r>
              <a:rPr lang="zh-TW" altLang="en-US" sz="2400" dirty="0" smtClean="0"/>
              <a:t>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9841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</a:t>
            </a:r>
          </a:p>
          <a:p>
            <a:pPr lvl="1"/>
            <a:endParaRPr lang="en-US" altLang="zh-TW" dirty="0" smtClean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SNPV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HLEHSNL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GGAAGG</a:t>
            </a:r>
            <a:endParaRPr lang="en-US" altLang="zh-TW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TW" altLang="en-US" dirty="0" smtClean="0"/>
              <a:t>   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從前端最先出現的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為</a:t>
            </a:r>
            <a:r>
              <a:rPr lang="en-US" altLang="zh-TW" dirty="0" smtClean="0"/>
              <a:t>C</a:t>
            </a:r>
            <a:r>
              <a:rPr lang="en-US" altLang="zh-TW" baseline="-25000" dirty="0"/>
              <a:t>0</a:t>
            </a:r>
            <a:r>
              <a:rPr lang="zh-TW" altLang="en-US" baseline="-25000" dirty="0" smtClean="0"/>
              <a:t> 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其次為</a:t>
            </a:r>
            <a:r>
              <a:rPr lang="en-US" altLang="zh-TW" dirty="0" smtClean="0"/>
              <a:t>C</a:t>
            </a:r>
            <a:r>
              <a:rPr lang="en-US" altLang="zh-TW" baseline="-25000" dirty="0"/>
              <a:t>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C</a:t>
            </a:r>
            <a:r>
              <a:rPr lang="en-US" altLang="zh-TW" baseline="-25000" dirty="0"/>
              <a:t>2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與</a:t>
            </a:r>
            <a:r>
              <a:rPr lang="en-US" altLang="zh-TW" dirty="0" smtClean="0"/>
              <a:t>C</a:t>
            </a:r>
            <a:r>
              <a:rPr lang="en-US" altLang="zh-TW" baseline="-25000" dirty="0"/>
              <a:t>3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以此類推。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3</a:t>
            </a:fld>
            <a:endParaRPr lang="zh-TW" altLang="en-US"/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5" name="筆跡 4"/>
              <p14:cNvContentPartPr/>
              <p14:nvPr/>
            </p14:nvContentPartPr>
            <p14:xfrm>
              <a:off x="1517760" y="2031840"/>
              <a:ext cx="3740400" cy="1880280"/>
            </p14:xfrm>
          </p:contentPart>
        </mc:Choice>
        <mc:Fallback>
          <p:pic>
            <p:nvPicPr>
              <p:cNvPr id="5" name="筆跡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8400" y="2022480"/>
                <a:ext cx="3759120" cy="18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278483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3904"/>
            <a:ext cx="8229600" cy="103883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4886003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雙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硫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鍵的存在，在蛋白質序列中會拉近兩氨基酸之間的距離而造成摺疊，並影響其結構與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功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能。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本次的實驗專注於預測在單條序列中具有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至 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5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個雙硫鍵鍵結的蛋白質序列。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LK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NKLVPLFYKT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PAGKNL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YKMFMVSNKMVPVKRG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IDV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PKSSLLVKYV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NTDR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N</a:t>
            </a:r>
            <a:endParaRPr lang="en-US" altLang="zh-TW" sz="2400" dirty="0" smtClean="0">
              <a:latin typeface="Times New Roman" panose="02020603050405020304" pitchFamily="18" charset="0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1028" name="Picture 4" descr="http://upload.wikimedia.org/wikipedia/commons/thumb/8/8c/Disulfide_Bridges_%28SCHEMATIC%29_V.1.svg/250px-Disulfide_Bridges_%28SCHEMATIC%29_V.1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077072"/>
            <a:ext cx="2056757" cy="26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941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(4/4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雙硫鍵相關的研究問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題分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類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半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胱氨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酸的氧化狀態預測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只有氧化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半胱氨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(cystine)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才能構成雙硫鍵。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w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ith/without the priority knowledge of disulfide bonding state(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有鍵結跟誰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?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不知道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)</a:t>
            </a:r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成對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半胱氨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酸是否共同構成一個雙硫鍵鍵結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對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於同序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列中的任兩個半胱氨酸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cystine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進行預測。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預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測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整條蛋白質的雙硫鍵鍵結情形，即為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disulfide pattern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的預測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本次研究的問題屬於此類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別。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580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Pairwise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t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arget: 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在同序列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中，任一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成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對的 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cystine</a:t>
            </a:r>
          </a:p>
          <a:p>
            <a:r>
              <a:rPr lang="en-US" altLang="zh-TW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p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redict: 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是否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構成同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一個雙</a:t>
            </a:r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硫鍵</a:t>
            </a:r>
            <a:endParaRPr lang="en-US" altLang="zh-TW" sz="28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作法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: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對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target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擷取特徵</a:t>
            </a:r>
            <a:endParaRPr lang="en-US" altLang="zh-TW" sz="28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該對</a:t>
            </a:r>
            <a:r>
              <a:rPr lang="en-US" altLang="zh-TW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cystine</a:t>
            </a:r>
            <a:r>
              <a:rPr lang="zh-TW" altLang="en-US" sz="20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間彼此的</a:t>
            </a:r>
            <a:r>
              <a:rPr lang="zh-TW" altLang="en-US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距離</a:t>
            </a:r>
            <a:endParaRPr lang="en-US" altLang="zh-TW" sz="20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蛋白質長度</a:t>
            </a:r>
            <a:endParaRPr lang="en-US" altLang="zh-TW" sz="20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en-US" altLang="zh-TW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Position-specific Scoring Matrix (PSSM)(</a:t>
            </a:r>
            <a:r>
              <a:rPr lang="zh-TW" altLang="en-US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統計</a:t>
            </a:r>
            <a:r>
              <a:rPr lang="zh-TW" altLang="en-US" sz="20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所有</a:t>
            </a:r>
            <a:r>
              <a:rPr lang="zh-TW" altLang="en-US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基本氨基酸在該位置出現的頻率</a:t>
            </a:r>
            <a:r>
              <a:rPr lang="en-US" altLang="zh-TW" sz="20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)</a:t>
            </a:r>
          </a:p>
          <a:p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使用機器學習的方法預測此對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cystine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是否有滿足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predict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的條件</a:t>
            </a:r>
            <a:endParaRPr lang="en-US" altLang="zh-TW" sz="28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r>
              <a:rPr lang="zh-TW" altLang="en-US" sz="28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最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後整理所有的預測狀態，歸納整理出最有可能的蛋白質鍵結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(disulfide pattern)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情形</a:t>
            </a:r>
            <a:endParaRPr lang="en-US" altLang="zh-TW" sz="28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8487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Pattern-wise methods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arget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: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蛋</a:t>
                </a: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白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質</a:t>
                </a: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序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列</a:t>
                </a:r>
                <a:endParaRPr lang="en-US" altLang="zh-TW" sz="2800" dirty="0" smtClean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predict</a:t>
                </a:r>
                <a:r>
                  <a:rPr lang="en-US" altLang="zh-TW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: 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disulfide pattern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的預測</a:t>
                </a:r>
                <a:endParaRPr lang="en-US" altLang="zh-TW" sz="2800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對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於較高的雙硫鍵鍵結數的蛋白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質，其可能的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pattern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數量將大幅增加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對於五個鍵結的蛋白質序列，共可能有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/5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!</m:t>
                    </m:r>
                  </m:oMath>
                </a14:m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=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945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種可能的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patterns)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，故訓練的資料可能因此大幅分散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(99/945)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使的預測的成效不佳。</a:t>
                </a:r>
                <a:endParaRPr lang="zh-TW" altLang="en-US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752" r="-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397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SP39(SWISS-PROT release no. 39)</a:t>
            </a:r>
          </a:p>
          <a:p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Number of proteins in each bond level:</a:t>
            </a:r>
          </a:p>
          <a:p>
            <a:endParaRPr lang="en-US" altLang="zh-TW" sz="2800" dirty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 smtClean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2351264"/>
              </p:ext>
            </p:extLst>
          </p:nvPr>
        </p:nvGraphicFramePr>
        <p:xfrm>
          <a:off x="1331640" y="2924944"/>
          <a:ext cx="5951986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02"/>
                <a:gridCol w="929392"/>
                <a:gridCol w="968334"/>
                <a:gridCol w="1015662"/>
                <a:gridCol w="991998"/>
                <a:gridCol w="991998"/>
              </a:tblGrid>
              <a:tr h="64807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2..5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64807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5651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method(1/4)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這裡將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sp39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資料庫中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具有</a:t>
            </a:r>
            <a:r>
              <a:rPr lang="en-US" altLang="zh-TW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x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個雙硫鍵的蛋白質抽出作為新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資料庫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sp39bn</a:t>
            </a:r>
            <a:r>
              <a:rPr lang="en-US" altLang="zh-TW" sz="2400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0</a:t>
            </a:r>
            <a:r>
              <a:rPr lang="en-US" altLang="zh-TW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x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(bn</a:t>
            </a:r>
            <a:r>
              <a:rPr lang="en-US" altLang="zh-TW" sz="2400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0</a:t>
            </a:r>
            <a:r>
              <a:rPr lang="en-US" altLang="zh-TW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x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)</a:t>
            </a:r>
          </a:p>
          <a:p>
            <a:pPr lvl="2"/>
            <a:r>
              <a:rPr lang="en-US" altLang="zh-TW" dirty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個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雙硫鍵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的為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sp39bn</a:t>
            </a:r>
            <a:r>
              <a:rPr lang="en-US" altLang="zh-TW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04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(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bn</a:t>
            </a:r>
            <a:r>
              <a:rPr lang="en-US" altLang="zh-TW" dirty="0" smtClean="0">
                <a:latin typeface="Impact" panose="020B0806030902050204" pitchFamily="34" charset="0"/>
                <a:ea typeface="Meiryo" panose="020B0604030504040204" pitchFamily="34" charset="-128"/>
                <a:cs typeface="Meiryo" panose="020B0604030504040204" pitchFamily="34" charset="-128"/>
              </a:rPr>
              <a:t>04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)</a:t>
            </a:r>
          </a:p>
          <a:p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target: 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在該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資料庫中任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一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個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cystein</a:t>
            </a:r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predict: 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預測該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cystein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label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值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方法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: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將不同位置的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cystine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作為不同的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SVM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分開訓練預預測</a:t>
            </a:r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endParaRPr lang="en-US" altLang="zh-TW" baseline="-25000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454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method(2/4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44333" y="16288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protein</a:t>
                </a:r>
                <a:r>
                  <a:rPr lang="en-US" altLang="zh-TW" dirty="0" smtClean="0">
                    <a:latin typeface="Impact" panose="020B0806030902050204" pitchFamily="34" charset="0"/>
                    <a:ea typeface="Meiryo" panose="020B0604030504040204" pitchFamily="34" charset="-128"/>
                    <a:cs typeface="Meiryo" panose="020B0604030504040204" pitchFamily="34" charset="-128"/>
                  </a:rPr>
                  <a:t>1..N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∈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(</m:t>
                    </m:r>
                  </m:oMath>
                </a14:m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sp39bn04)</a:t>
                </a:r>
              </a:p>
              <a:p>
                <a:pPr lvl="1"/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protein</a:t>
                </a:r>
                <a:r>
                  <a:rPr lang="en-US" altLang="zh-TW" dirty="0" smtClean="0">
                    <a:latin typeface="Impact" panose="020B0806030902050204" pitchFamily="34" charset="0"/>
                    <a:ea typeface="Meiryo" panose="020B0604030504040204" pitchFamily="34" charset="-128"/>
                    <a:cs typeface="Meiryo" panose="020B0604030504040204" pitchFamily="34" charset="-128"/>
                  </a:rPr>
                  <a:t>1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1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2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3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 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4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5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6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7</a:t>
                </a:r>
                <a:endParaRPr lang="en-US" altLang="zh-TW" baseline="-25000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protein</a:t>
                </a:r>
                <a:r>
                  <a:rPr lang="en-US" altLang="zh-TW" dirty="0">
                    <a:latin typeface="Impact" panose="020B0806030902050204" pitchFamily="34" charset="0"/>
                    <a:ea typeface="Meiryo" panose="020B0604030504040204" pitchFamily="34" charset="-128"/>
                    <a:cs typeface="Meiryo" panose="020B0604030504040204" pitchFamily="34" charset="-128"/>
                  </a:rPr>
                  <a:t>2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1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2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3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4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5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6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7</a:t>
                </a:r>
                <a:endParaRPr lang="en-US" altLang="zh-TW" baseline="-25000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...</a:t>
                </a:r>
              </a:p>
              <a:p>
                <a:pPr lvl="1"/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protein</a:t>
                </a:r>
                <a:r>
                  <a:rPr lang="en-US" altLang="zh-TW" dirty="0">
                    <a:latin typeface="Impact" panose="020B0806030902050204" pitchFamily="34" charset="0"/>
                    <a:ea typeface="Meiryo" panose="020B0604030504040204" pitchFamily="34" charset="-128"/>
                    <a:cs typeface="Meiryo" panose="020B0604030504040204" pitchFamily="34" charset="-128"/>
                  </a:rPr>
                  <a:t>N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1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2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3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4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5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6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,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c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7</a:t>
                </a:r>
                <a:endParaRPr lang="en-US" altLang="zh-TW" baseline="-25000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/>
                </a:r>
                <a:r>
                  <a:rPr lang="en-US" altLang="zh-TW" dirty="0" smtClean="0"/>
                  <a:t/>
                </a:r>
                <a:r>
                  <a:rPr lang="en-US" altLang="zh-TW" sz="2000" dirty="0" smtClean="0">
                    <a:solidFill>
                      <a:srgbClr val="002060"/>
                    </a:solidFill>
                  </a:rPr>
                  <a:t>SVM0</a:t>
                </a:r>
                <a:r>
                  <a:rPr lang="en-US" altLang="zh-TW" sz="2000" dirty="0" smtClean="0"/>
                  <a:t/>
                </a:r>
                <a:r>
                  <a:rPr lang="en-US" altLang="zh-TW" sz="2000" dirty="0" smtClean="0">
                    <a:solidFill>
                      <a:srgbClr val="00B0F0"/>
                    </a:solidFill>
                  </a:rPr>
                  <a:t>SVM1</a:t>
                </a:r>
                <a:r>
                  <a:rPr lang="en-US" altLang="zh-TW" sz="2000" dirty="0" smtClean="0"/>
                  <a:t/>
                </a:r>
                <a:r>
                  <a:rPr lang="en-US" altLang="zh-TW" sz="2000" dirty="0" smtClean="0">
                    <a:solidFill>
                      <a:srgbClr val="00B050"/>
                    </a:solidFill>
                  </a:rPr>
                  <a:t>SVM2</a:t>
                </a:r>
                <a:r>
                  <a:rPr lang="en-US" altLang="zh-TW" sz="2000" dirty="0"/>
                  <a:t/>
                </a:r>
                <a:r>
                  <a:rPr lang="en-US" altLang="zh-TW" sz="2000" dirty="0" smtClean="0"/>
                  <a:t>...........................................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SVM7</a:t>
                </a:r>
              </a:p>
              <a:p>
                <a:pPr lvl="2"/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所有相同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位置的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</a:t>
                </a:r>
                <a:r>
                  <a:rPr lang="zh-TW" altLang="en-US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將會一同訓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練，使用多個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fold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的交差驗證</a:t>
                </a:r>
                <a:endParaRPr lang="en-US" altLang="zh-TW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333" y="1628800"/>
                <a:ext cx="8229600" cy="4525963"/>
              </a:xfrm>
              <a:blipFill rotWithShape="1">
                <a:blip r:embed="rId2"/>
                <a:stretch>
                  <a:fillRect l="-1704" t="-2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100462" y="2204860"/>
            <a:ext cx="432048" cy="18610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604773" y="2204864"/>
            <a:ext cx="432048" cy="18002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76300" y="2204863"/>
            <a:ext cx="504056" cy="181318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004048" y="2204862"/>
            <a:ext cx="432048" cy="181318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5652120" y="2204862"/>
            <a:ext cx="432048" cy="182452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372200" y="2204861"/>
            <a:ext cx="432048" cy="183930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2870718" y="2204864"/>
            <a:ext cx="432048" cy="18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7741123" y="2204859"/>
            <a:ext cx="432048" cy="1874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5878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b</a:t>
            </a:r>
            <a:r>
              <a:rPr lang="en-US" altLang="zh-TW" dirty="0" smtClean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n04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為具有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個雙硫鍵鍵結的蛋白質資料庫，故每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一個</a:t>
            </a:r>
            <a:r>
              <a:rPr lang="en-US" altLang="zh-TW" dirty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cystines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皆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有</a:t>
            </a:r>
            <a:r>
              <a:rPr lang="en-US" altLang="zh-TW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4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種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可能的</a:t>
            </a:r>
            <a:r>
              <a:rPr lang="en-US" altLang="zh-TW" dirty="0" smtClean="0"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label</a:t>
            </a:r>
          </a:p>
          <a:p>
            <a:pPr lvl="1"/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利用</a:t>
            </a:r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libsvm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的選項，可以預測到</a:t>
            </a:r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C</a:t>
            </a:r>
            <a:r>
              <a:rPr lang="en-US" altLang="zh-TW" baseline="-25000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i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 對</a:t>
            </a:r>
            <a:r>
              <a:rPr lang="en-US" altLang="zh-TW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each label</a:t>
            </a:r>
            <a:r>
              <a:rPr lang="zh-TW" altLang="en-US" dirty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的機</a:t>
            </a:r>
            <a:r>
              <a:rPr lang="zh-TW" altLang="en-US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率值</a:t>
            </a:r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2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.label(prob(1)|prob(2)|prob(3)|prob(4))</a:t>
            </a:r>
            <a:endParaRPr lang="en-US" altLang="zh-TW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/>
              <a:t>Example(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,i=5)</a:t>
            </a:r>
            <a:endParaRPr lang="en-US" altLang="zh-TW" dirty="0"/>
          </a:p>
          <a:p>
            <a:pPr lvl="2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labels 1 2 3 4 </a:t>
            </a:r>
            <a:endParaRPr lang="en-US" altLang="zh-TW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.4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( 0.13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0.14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0.19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0.54 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80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method(3/4)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在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同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一序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列中的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</a:t>
                </a:r>
                <a:r>
                  <a:rPr lang="zh-TW" altLang="en-US" sz="2800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，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j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(i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≠</m:t>
                    </m:r>
                  </m:oMath>
                </a14:m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 j) 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則</a:t>
                </a:r>
                <a:r>
                  <a:rPr lang="en-US" altLang="zh-TW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</a:t>
                </a:r>
                <a:r>
                  <a:rPr lang="zh-TW" altLang="en-US" sz="2800" baseline="-250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，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j</a:t>
                </a: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是否構成同個雙硫鍵鍵</a:t>
                </a:r>
                <a:r>
                  <a:rPr lang="zh-TW" altLang="en-US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結的機率可以表示成以下公式</a:t>
                </a:r>
                <a:r>
                  <a:rPr lang="en-US" altLang="zh-TW" sz="28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:</a:t>
                </a:r>
              </a:p>
              <a:p>
                <a:pPr lvl="1"/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rob</a:t>
                </a:r>
                <a:r>
                  <a:rPr lang="en-US" altLang="zh-TW" baseline="-250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i,j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𝑙𝑎𝑏𝑒𝑙</m:t>
                        </m:r>
                        <m: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𝑏𝑜𝑛𝑑𝑛𝑢𝑚</m:t>
                        </m:r>
                      </m:sup>
                      <m:e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𝑝𝑟𝑜𝑏</m:t>
                        </m:r>
                        <m:r>
                          <a:rPr lang="en-US" altLang="zh-TW" b="0" i="1" baseline="-25000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𝑖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𝑙𝑎𝑏𝑒𝑙</m:t>
                            </m:r>
                          </m:e>
                        </m:d>
                        <m:r>
                          <a:rPr lang="zh-TW" altLang="en-US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∗</m:t>
                        </m:r>
                        <m: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𝑝𝑟𝑜𝑏</m:t>
                        </m:r>
                        <m:r>
                          <a:rPr lang="en-US" altLang="zh-TW" b="0" i="1" baseline="-25000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𝑗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𝑙𝑎𝑏𝑒𝑙</m:t>
                            </m:r>
                          </m:e>
                        </m:d>
                      </m:e>
                    </m:nary>
                  </m:oMath>
                </a14:m>
                <a:endParaRPr lang="en-US" altLang="zh-TW" dirty="0" smtClean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2"/>
                <a:endParaRPr lang="en-US" altLang="zh-TW" dirty="0" smtClean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labels 1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2 3 4</a:t>
                </a:r>
                <a:endParaRPr lang="en-US" altLang="zh-TW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1   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( 0.39 | 0.35 | 0.18 | 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0.08) </a:t>
                </a:r>
                <a:endParaRPr lang="en-US" altLang="zh-TW" dirty="0" smtClean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3 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0.09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| 0.41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| 0.43 |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0.07)</a:t>
                </a:r>
                <a:endParaRPr lang="zh-TW" altLang="en-US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marL="57150" indent="0">
                  <a:buNone/>
                </a:pP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	0.09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0.39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0.41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0.35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0.43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0.18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	0.07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0.08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=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0.2616</a:t>
                </a:r>
              </a:p>
              <a:p>
                <a:pPr lvl="1"/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3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(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0.08 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|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0.23 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|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0.58 </a:t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| 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0.11)</a:t>
                </a:r>
                <a:endParaRPr lang="en-US" altLang="zh-TW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marL="57150" indent="0">
                  <a:buNone/>
                </a:pP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	0.09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0.08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0.41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0.23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0.43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0.58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+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	0.07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0.11</a:t>
                </a:r>
                <a:r>
                  <a:rPr lang="zh-TW" altLang="en-US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0.3586</a:t>
                </a:r>
              </a:p>
              <a:p>
                <a:pPr marL="57150" indent="0">
                  <a:buNone/>
                </a:pP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利用此方法求出任兩個</a:t>
                </a:r>
                <a:r>
                  <a:rPr lang="en-US" altLang="zh-TW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cystine</a:t>
                </a:r>
                <a:r>
                  <a:rPr lang="zh-TW" altLang="en-US" sz="2800" dirty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是否構成同一個雙硫鍵鍵結</a:t>
                </a:r>
              </a:p>
              <a:p>
                <a:pPr marL="457200" lvl="1" indent="0">
                  <a:buNone/>
                </a:pPr>
                <a:endParaRPr lang="zh-TW" altLang="en-US" dirty="0"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  <a:blipFill rotWithShape="1">
                <a:blip r:embed="rId2"/>
                <a:stretch>
                  <a:fillRect l="-963" t="-20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403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method(4/4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最後再利用</a:t>
            </a:r>
            <a:r>
              <a:rPr lang="en-US" altLang="zh-TW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graph matching</a:t>
            </a:r>
            <a:r>
              <a:rPr lang="zh-TW" altLang="en-US" sz="2800" dirty="0" smtClean="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的方式找出在一條蛋白質中最有可能的雙硫鍵鍵結情形</a:t>
            </a:r>
            <a:endParaRPr lang="en-US" altLang="zh-TW" sz="2800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13</a:t>
            </a:fld>
            <a:endParaRPr lang="zh-TW" altLang="en-US"/>
          </a:p>
        </p:txBody>
      </p:sp>
      <p:grpSp>
        <p:nvGrpSpPr>
          <p:cNvPr id="134" name="群組 133"/>
          <p:cNvGrpSpPr/>
          <p:nvPr/>
        </p:nvGrpSpPr>
        <p:grpSpPr>
          <a:xfrm>
            <a:off x="2786586" y="2518588"/>
            <a:ext cx="3400011" cy="3081231"/>
            <a:chOff x="1512597" y="2524087"/>
            <a:chExt cx="3400011" cy="3081231"/>
          </a:xfrm>
        </p:grpSpPr>
        <p:sp>
          <p:nvSpPr>
            <p:cNvPr id="9" name="橢圓 8"/>
            <p:cNvSpPr/>
            <p:nvPr/>
          </p:nvSpPr>
          <p:spPr>
            <a:xfrm>
              <a:off x="1512597" y="3284984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2"/>
                  </a:solidFill>
                </a:rPr>
                <a:t>0</a:t>
              </a:r>
              <a:endParaRPr lang="zh-TW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2388758" y="2547946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2"/>
                  </a:solidFill>
                </a:rPr>
                <a:t>1</a:t>
              </a:r>
              <a:endParaRPr lang="zh-TW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橢圓 46"/>
            <p:cNvSpPr/>
            <p:nvPr/>
          </p:nvSpPr>
          <p:spPr>
            <a:xfrm>
              <a:off x="1512597" y="4293096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2"/>
                  </a:solidFill>
                </a:rPr>
                <a:t>7</a:t>
              </a:r>
              <a:endParaRPr lang="zh-TW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橢圓 47"/>
            <p:cNvSpPr/>
            <p:nvPr/>
          </p:nvSpPr>
          <p:spPr>
            <a:xfrm>
              <a:off x="2388758" y="5029254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2"/>
                  </a:solidFill>
                </a:rPr>
                <a:t>6</a:t>
              </a:r>
              <a:endParaRPr lang="zh-TW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橢圓 50"/>
            <p:cNvSpPr/>
            <p:nvPr/>
          </p:nvSpPr>
          <p:spPr>
            <a:xfrm>
              <a:off x="3472448" y="5019856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2"/>
                  </a:solidFill>
                </a:rPr>
                <a:t>5</a:t>
              </a:r>
              <a:endParaRPr lang="zh-TW" altLang="en-US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52" name="橢圓 51"/>
            <p:cNvSpPr/>
            <p:nvPr/>
          </p:nvSpPr>
          <p:spPr>
            <a:xfrm>
              <a:off x="4336544" y="4293096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2"/>
                  </a:solidFill>
                </a:rPr>
                <a:t>4</a:t>
              </a:r>
              <a:endParaRPr lang="zh-TW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橢圓 52"/>
            <p:cNvSpPr/>
            <p:nvPr/>
          </p:nvSpPr>
          <p:spPr>
            <a:xfrm>
              <a:off x="3472448" y="2524087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2"/>
                  </a:solidFill>
                </a:rPr>
                <a:t>2</a:t>
              </a:r>
              <a:endParaRPr lang="zh-TW" altLang="en-US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54" name="橢圓 53"/>
            <p:cNvSpPr/>
            <p:nvPr/>
          </p:nvSpPr>
          <p:spPr>
            <a:xfrm>
              <a:off x="4336544" y="3284984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2"/>
                  </a:solidFill>
                </a:rPr>
                <a:t>3</a:t>
              </a:r>
              <a:endParaRPr lang="zh-TW" altLang="en-US" baseline="-25000" dirty="0">
                <a:solidFill>
                  <a:schemeClr val="tx2"/>
                </a:solidFill>
              </a:endParaRPr>
            </a:p>
          </p:txBody>
        </p:sp>
        <p:cxnSp>
          <p:nvCxnSpPr>
            <p:cNvPr id="13" name="直線接點 12"/>
            <p:cNvCxnSpPr>
              <a:stCxn id="46" idx="5"/>
              <a:endCxn id="9" idx="6"/>
            </p:cNvCxnSpPr>
            <p:nvPr/>
          </p:nvCxnSpPr>
          <p:spPr>
            <a:xfrm flipH="1">
              <a:off x="2088661" y="3039647"/>
              <a:ext cx="791798" cy="5333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9" idx="6"/>
              <a:endCxn id="47" idx="7"/>
            </p:cNvCxnSpPr>
            <p:nvPr/>
          </p:nvCxnSpPr>
          <p:spPr>
            <a:xfrm flipH="1">
              <a:off x="2004298" y="3573016"/>
              <a:ext cx="84363" cy="8044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47" idx="7"/>
              <a:endCxn id="48" idx="0"/>
            </p:cNvCxnSpPr>
            <p:nvPr/>
          </p:nvCxnSpPr>
          <p:spPr>
            <a:xfrm>
              <a:off x="2004298" y="4377459"/>
              <a:ext cx="672492" cy="651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/>
            <p:cNvCxnSpPr>
              <a:stCxn id="46" idx="5"/>
              <a:endCxn id="53" idx="3"/>
            </p:cNvCxnSpPr>
            <p:nvPr/>
          </p:nvCxnSpPr>
          <p:spPr>
            <a:xfrm flipV="1">
              <a:off x="2880459" y="3015788"/>
              <a:ext cx="676352" cy="238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>
              <a:stCxn id="53" idx="3"/>
            </p:cNvCxnSpPr>
            <p:nvPr/>
          </p:nvCxnSpPr>
          <p:spPr>
            <a:xfrm>
              <a:off x="3556811" y="3015788"/>
              <a:ext cx="779733" cy="5572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54" idx="2"/>
              <a:endCxn id="52" idx="1"/>
            </p:cNvCxnSpPr>
            <p:nvPr/>
          </p:nvCxnSpPr>
          <p:spPr>
            <a:xfrm>
              <a:off x="4336544" y="3573016"/>
              <a:ext cx="84363" cy="8044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>
              <a:stCxn id="52" idx="1"/>
              <a:endCxn id="51" idx="0"/>
            </p:cNvCxnSpPr>
            <p:nvPr/>
          </p:nvCxnSpPr>
          <p:spPr>
            <a:xfrm flipH="1">
              <a:off x="3760480" y="4377459"/>
              <a:ext cx="660427" cy="642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48" idx="0"/>
              <a:endCxn id="51" idx="0"/>
            </p:cNvCxnSpPr>
            <p:nvPr/>
          </p:nvCxnSpPr>
          <p:spPr>
            <a:xfrm flipV="1">
              <a:off x="2676790" y="5019856"/>
              <a:ext cx="1083690" cy="93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46" idx="5"/>
              <a:endCxn id="54" idx="2"/>
            </p:cNvCxnSpPr>
            <p:nvPr/>
          </p:nvCxnSpPr>
          <p:spPr>
            <a:xfrm>
              <a:off x="2880459" y="3039647"/>
              <a:ext cx="1456085" cy="5333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46" idx="5"/>
              <a:endCxn id="52" idx="1"/>
            </p:cNvCxnSpPr>
            <p:nvPr/>
          </p:nvCxnSpPr>
          <p:spPr>
            <a:xfrm>
              <a:off x="2880459" y="3039647"/>
              <a:ext cx="1540448" cy="13378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>
              <a:stCxn id="46" idx="5"/>
              <a:endCxn id="51" idx="0"/>
            </p:cNvCxnSpPr>
            <p:nvPr/>
          </p:nvCxnSpPr>
          <p:spPr>
            <a:xfrm>
              <a:off x="2880459" y="3039647"/>
              <a:ext cx="880021" cy="19802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46" idx="5"/>
              <a:endCxn id="48" idx="0"/>
            </p:cNvCxnSpPr>
            <p:nvPr/>
          </p:nvCxnSpPr>
          <p:spPr>
            <a:xfrm flipH="1">
              <a:off x="2676790" y="3039647"/>
              <a:ext cx="203669" cy="19896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接點 80"/>
            <p:cNvCxnSpPr>
              <a:stCxn id="46" idx="5"/>
              <a:endCxn id="47" idx="7"/>
            </p:cNvCxnSpPr>
            <p:nvPr/>
          </p:nvCxnSpPr>
          <p:spPr>
            <a:xfrm flipH="1">
              <a:off x="2004298" y="3039647"/>
              <a:ext cx="876161" cy="13378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>
              <a:stCxn id="9" idx="6"/>
            </p:cNvCxnSpPr>
            <p:nvPr/>
          </p:nvCxnSpPr>
          <p:spPr>
            <a:xfrm flipV="1">
              <a:off x="2088661" y="3026814"/>
              <a:ext cx="1383787" cy="5462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85"/>
            <p:cNvCxnSpPr>
              <a:endCxn id="54" idx="2"/>
            </p:cNvCxnSpPr>
            <p:nvPr/>
          </p:nvCxnSpPr>
          <p:spPr>
            <a:xfrm>
              <a:off x="2088661" y="3573016"/>
              <a:ext cx="22478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/>
            <p:cNvCxnSpPr>
              <a:endCxn id="52" idx="1"/>
            </p:cNvCxnSpPr>
            <p:nvPr/>
          </p:nvCxnSpPr>
          <p:spPr>
            <a:xfrm>
              <a:off x="2088661" y="3573016"/>
              <a:ext cx="2332246" cy="8044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/>
            <p:cNvCxnSpPr>
              <a:stCxn id="9" idx="6"/>
              <a:endCxn id="51" idx="0"/>
            </p:cNvCxnSpPr>
            <p:nvPr/>
          </p:nvCxnSpPr>
          <p:spPr>
            <a:xfrm>
              <a:off x="2088661" y="3573016"/>
              <a:ext cx="1671819" cy="14468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>
              <a:endCxn id="48" idx="0"/>
            </p:cNvCxnSpPr>
            <p:nvPr/>
          </p:nvCxnSpPr>
          <p:spPr>
            <a:xfrm>
              <a:off x="2123728" y="3573016"/>
              <a:ext cx="553062" cy="1456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>
              <a:stCxn id="47" idx="7"/>
              <a:endCxn id="53" idx="3"/>
            </p:cNvCxnSpPr>
            <p:nvPr/>
          </p:nvCxnSpPr>
          <p:spPr>
            <a:xfrm flipV="1">
              <a:off x="2004298" y="3015788"/>
              <a:ext cx="1552513" cy="13616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/>
            <p:cNvCxnSpPr>
              <a:stCxn id="47" idx="7"/>
              <a:endCxn id="54" idx="2"/>
            </p:cNvCxnSpPr>
            <p:nvPr/>
          </p:nvCxnSpPr>
          <p:spPr>
            <a:xfrm flipV="1">
              <a:off x="2004298" y="3573016"/>
              <a:ext cx="2332246" cy="80444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>
              <a:endCxn id="52" idx="1"/>
            </p:cNvCxnSpPr>
            <p:nvPr/>
          </p:nvCxnSpPr>
          <p:spPr>
            <a:xfrm>
              <a:off x="2004298" y="4377459"/>
              <a:ext cx="24166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/>
            <p:cNvCxnSpPr>
              <a:stCxn id="47" idx="7"/>
              <a:endCxn id="51" idx="0"/>
            </p:cNvCxnSpPr>
            <p:nvPr/>
          </p:nvCxnSpPr>
          <p:spPr>
            <a:xfrm>
              <a:off x="2004298" y="4377459"/>
              <a:ext cx="1756182" cy="642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>
              <a:stCxn id="48" idx="0"/>
              <a:endCxn id="53" idx="3"/>
            </p:cNvCxnSpPr>
            <p:nvPr/>
          </p:nvCxnSpPr>
          <p:spPr>
            <a:xfrm flipV="1">
              <a:off x="2676790" y="3015788"/>
              <a:ext cx="880021" cy="20134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/>
            <p:cNvCxnSpPr>
              <a:stCxn id="48" idx="0"/>
              <a:endCxn id="54" idx="2"/>
            </p:cNvCxnSpPr>
            <p:nvPr/>
          </p:nvCxnSpPr>
          <p:spPr>
            <a:xfrm flipV="1">
              <a:off x="2676790" y="3573016"/>
              <a:ext cx="1659754" cy="1456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/>
            <p:cNvCxnSpPr>
              <a:endCxn id="52" idx="1"/>
            </p:cNvCxnSpPr>
            <p:nvPr/>
          </p:nvCxnSpPr>
          <p:spPr>
            <a:xfrm flipV="1">
              <a:off x="2676790" y="4377459"/>
              <a:ext cx="1744117" cy="6423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109"/>
            <p:cNvCxnSpPr>
              <a:endCxn id="53" idx="3"/>
            </p:cNvCxnSpPr>
            <p:nvPr/>
          </p:nvCxnSpPr>
          <p:spPr>
            <a:xfrm flipH="1" flipV="1">
              <a:off x="3556811" y="3015788"/>
              <a:ext cx="203670" cy="20040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接點 111"/>
            <p:cNvCxnSpPr>
              <a:stCxn id="51" idx="0"/>
            </p:cNvCxnSpPr>
            <p:nvPr/>
          </p:nvCxnSpPr>
          <p:spPr>
            <a:xfrm flipV="1">
              <a:off x="3760480" y="3573016"/>
              <a:ext cx="576064" cy="14468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/>
            <p:cNvCxnSpPr>
              <a:stCxn id="52" idx="1"/>
              <a:endCxn id="53" idx="3"/>
            </p:cNvCxnSpPr>
            <p:nvPr/>
          </p:nvCxnSpPr>
          <p:spPr>
            <a:xfrm flipH="1" flipV="1">
              <a:off x="3556811" y="3015788"/>
              <a:ext cx="864096" cy="13616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70061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71338314"/>
              </p:ext>
            </p:extLst>
          </p:nvPr>
        </p:nvGraphicFramePr>
        <p:xfrm>
          <a:off x="683568" y="548680"/>
          <a:ext cx="7920882" cy="5218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/>
                <a:gridCol w="1152128"/>
                <a:gridCol w="1152128"/>
                <a:gridCol w="1224136"/>
                <a:gridCol w="1440160"/>
                <a:gridCol w="1080122"/>
              </a:tblGrid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 Bonds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3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4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5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all Bonds 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CSP(4)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72.4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52.7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51.8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r>
                        <a:rPr lang="en-US" altLang="zh-TW" baseline="30000" dirty="0" smtClean="0"/>
                        <a:t>   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84.0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53.4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46.7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63.9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(leave one out)</a:t>
                      </a:r>
                      <a:endParaRPr lang="zh-TW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85.3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55.5    ?&lt;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i="1" u="sng" dirty="0" smtClean="0"/>
                        <a:t>65.7</a:t>
                      </a:r>
                      <a:endParaRPr lang="zh-TW" altLang="en-US" b="1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65.3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r>
                        <a:rPr lang="en-US" altLang="zh-TW" dirty="0" smtClean="0"/>
                        <a:t>+BKS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84.0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56.8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57.8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65.9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Our method 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79.3(156)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none" dirty="0" smtClean="0"/>
                        <a:t>69.2</a:t>
                      </a:r>
                      <a:r>
                        <a:rPr lang="en-US" altLang="zh-TW" b="1" u="none" baseline="0" dirty="0" smtClean="0"/>
                        <a:t>(146)</a:t>
                      </a:r>
                      <a:endParaRPr lang="zh-TW" altLang="en-US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none" dirty="0" smtClean="0"/>
                        <a:t>74.8</a:t>
                      </a:r>
                      <a:r>
                        <a:rPr lang="en-US" altLang="zh-TW" b="1" u="none" baseline="0" dirty="0" smtClean="0"/>
                        <a:t>(99)</a:t>
                      </a:r>
                      <a:endParaRPr lang="zh-TW" altLang="en-US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baseline="0" dirty="0" smtClean="0"/>
                        <a:t>44.4(45)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none" dirty="0" smtClean="0"/>
                        <a:t>71.2</a:t>
                      </a:r>
                      <a:endParaRPr lang="zh-TW" altLang="en-US" b="1" u="none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Our method + 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79.3(156)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71.9</a:t>
                      </a:r>
                      <a:r>
                        <a:rPr lang="en-US" altLang="zh-TW" baseline="0" dirty="0" smtClean="0"/>
                        <a:t>(146)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78.8</a:t>
                      </a:r>
                      <a:r>
                        <a:rPr lang="en-US" altLang="zh-TW" baseline="0" dirty="0" smtClean="0"/>
                        <a:t>(99)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55.6</a:t>
                      </a:r>
                      <a:r>
                        <a:rPr lang="en-US" altLang="zh-TW" u="none" baseline="0" dirty="0" smtClean="0"/>
                        <a:t>(45)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76.0</a:t>
                      </a:r>
                      <a:endParaRPr lang="zh-TW" altLang="en-US" u="sng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Our method + 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(leave one out)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79.9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i="1" u="sng" dirty="0" smtClean="0"/>
                        <a:t>77.8</a:t>
                      </a:r>
                      <a:endParaRPr lang="zh-TW" altLang="en-US" b="1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48.9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u="sng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75728529"/>
              </p:ext>
            </p:extLst>
          </p:nvPr>
        </p:nvGraphicFramePr>
        <p:xfrm>
          <a:off x="683568" y="5949280"/>
          <a:ext cx="5807970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085"/>
                <a:gridCol w="906904"/>
                <a:gridCol w="944904"/>
                <a:gridCol w="991087"/>
                <a:gridCol w="967995"/>
                <a:gridCol w="967995"/>
              </a:tblGrid>
              <a:tr h="21602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2..5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42632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3154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Our method</a:t>
            </a:r>
            <a:r>
              <a:rPr lang="en-US" altLang="zh-TW" dirty="0" smtClean="0"/>
              <a:t>(leave one out) with difference windows size(w) for PSSM feature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00481535"/>
              </p:ext>
            </p:extLst>
          </p:nvPr>
        </p:nvGraphicFramePr>
        <p:xfrm>
          <a:off x="899592" y="2852936"/>
          <a:ext cx="6984777" cy="246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861677"/>
                <a:gridCol w="943356"/>
                <a:gridCol w="982884"/>
                <a:gridCol w="1030924"/>
                <a:gridCol w="1006904"/>
                <a:gridCol w="1006904"/>
              </a:tblGrid>
              <a:tr h="67248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=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6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sp39bn02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79.3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sp39bn03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69.2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74.7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76.0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76.7</a:t>
                      </a:r>
                      <a:endParaRPr lang="zh-TW" altLang="en-US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sp39bn04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74.8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sp39bn05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37.8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3255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59085</TotalTime>
  <Words>794</Words>
  <Application>Microsoft Office PowerPoint</Application>
  <PresentationFormat>如螢幕大小 (4:3)</PresentationFormat>
  <Paragraphs>211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The Disulfide Pattern Prediction </vt:lpstr>
      <vt:lpstr>Introduction(1/4)</vt:lpstr>
      <vt:lpstr>Introduction (2/4)</vt:lpstr>
      <vt:lpstr>Introduction (3/4)</vt:lpstr>
      <vt:lpstr>Introduction (4/4)</vt:lpstr>
      <vt:lpstr>Pairwise Methods</vt:lpstr>
      <vt:lpstr>Pattern-wise methods</vt:lpstr>
      <vt:lpstr>Dataset</vt:lpstr>
      <vt:lpstr>Our method(1/4)</vt:lpstr>
      <vt:lpstr>Our method(2/4)</vt:lpstr>
      <vt:lpstr>Our method(3/4)</vt:lpstr>
      <vt:lpstr>Our method(3/4)</vt:lpstr>
      <vt:lpstr>Our method(4/4)</vt:lpstr>
      <vt:lpstr>投影片 14</vt:lpstr>
      <vt:lpstr>投影片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Fangcy</dc:creator>
  <cp:lastModifiedBy>admin</cp:lastModifiedBy>
  <cp:revision>137</cp:revision>
  <cp:lastPrinted>2014-08-14T05:01:10Z</cp:lastPrinted>
  <dcterms:created xsi:type="dcterms:W3CDTF">2014-03-16T09:44:44Z</dcterms:created>
  <dcterms:modified xsi:type="dcterms:W3CDTF">2014-08-19T11:12:04Z</dcterms:modified>
</cp:coreProperties>
</file>