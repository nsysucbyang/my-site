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5" r:id="rId29"/>
    <p:sldId id="284" r:id="rId30"/>
    <p:sldId id="283" r:id="rId31"/>
    <p:sldId id="286" r:id="rId32"/>
    <p:sldId id="287" r:id="rId33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4995" autoAdjust="0"/>
    <p:restoredTop sz="94660"/>
  </p:normalViewPr>
  <p:slideViewPr>
    <p:cSldViewPr>
      <p:cViewPr varScale="1">
        <p:scale>
          <a:sx n="109" d="100"/>
          <a:sy n="109" d="100"/>
        </p:scale>
        <p:origin x="-16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2014/8/19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2014/8/19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2014/8/19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2014/8/19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2014/8/19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2014/8/19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2014/8/19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2014/8/19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2014/8/19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2014/8/19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t>2014/8/19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t>2014/8/19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New Approximation Algorithms for Longest Common Subsequences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55576" y="3933056"/>
            <a:ext cx="7232848" cy="1752600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en-US" altLang="zh-TW" dirty="0" err="1"/>
              <a:t>Lasse</a:t>
            </a:r>
            <a:r>
              <a:rPr lang="en-US" altLang="zh-TW" dirty="0"/>
              <a:t> </a:t>
            </a:r>
            <a:r>
              <a:rPr lang="en-US" altLang="zh-TW" dirty="0" err="1" smtClean="0"/>
              <a:t>Bergroth</a:t>
            </a:r>
            <a:r>
              <a:rPr lang="en-US" altLang="zh-TW" dirty="0" smtClean="0"/>
              <a:t>, </a:t>
            </a:r>
            <a:r>
              <a:rPr lang="en-US" altLang="zh-TW" dirty="0" err="1"/>
              <a:t>Harri</a:t>
            </a:r>
            <a:r>
              <a:rPr lang="en-US" altLang="zh-TW" dirty="0"/>
              <a:t> </a:t>
            </a:r>
            <a:r>
              <a:rPr lang="en-US" altLang="zh-TW" dirty="0" err="1" smtClean="0"/>
              <a:t>Hakonen</a:t>
            </a:r>
            <a:r>
              <a:rPr lang="en-US" altLang="zh-TW" dirty="0" smtClean="0"/>
              <a:t>, and </a:t>
            </a:r>
            <a:r>
              <a:rPr lang="en-US" altLang="zh-TW" dirty="0" err="1" smtClean="0"/>
              <a:t>Timo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Raita</a:t>
            </a:r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String Processing and Information Retrieval: A South American Symposium, 1998. </a:t>
            </a:r>
            <a:r>
              <a:rPr lang="en-US" altLang="zh-TW" dirty="0" smtClean="0"/>
              <a:t>Proceedings page 32-40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675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矩形 2"/>
          <p:cNvSpPr/>
          <p:nvPr/>
        </p:nvSpPr>
        <p:spPr>
          <a:xfrm>
            <a:off x="323528" y="1160917"/>
            <a:ext cx="849694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/>
              <a:t>This paper focuses on finding approximations for </a:t>
            </a:r>
            <a:r>
              <a:rPr lang="en-US" altLang="zh-TW" sz="2400" dirty="0" smtClean="0"/>
              <a:t>the longest </a:t>
            </a:r>
            <a:r>
              <a:rPr lang="en-US" altLang="zh-TW" sz="2400" dirty="0"/>
              <a:t>common subsequence </a:t>
            </a:r>
            <a:r>
              <a:rPr lang="en-US" altLang="zh-TW" sz="2400" dirty="0" smtClean="0"/>
              <a:t>(LCS) </a:t>
            </a:r>
            <a:r>
              <a:rPr lang="en-US" altLang="zh-TW" sz="2400" dirty="0"/>
              <a:t>of two strings. </a:t>
            </a:r>
            <a:r>
              <a:rPr lang="en-US" altLang="zh-TW" sz="2400" dirty="0" smtClean="0"/>
              <a:t>Most methods </a:t>
            </a:r>
            <a:r>
              <a:rPr lang="en-US" altLang="zh-TW" sz="2400" dirty="0"/>
              <a:t>which calculate an approximation for the </a:t>
            </a:r>
            <a:r>
              <a:rPr lang="en-US" altLang="zh-TW" sz="2400" dirty="0" smtClean="0"/>
              <a:t>more general </a:t>
            </a:r>
            <a:r>
              <a:rPr lang="en-US" altLang="zh-TW" sz="2400" dirty="0"/>
              <a:t>problem accepting N (N </a:t>
            </a:r>
            <a:r>
              <a:rPr lang="en-US" altLang="zh-TW" sz="2400" dirty="0" smtClean="0"/>
              <a:t>≧ </a:t>
            </a:r>
            <a:r>
              <a:rPr lang="en-US" altLang="zh-TW" sz="2400" dirty="0"/>
              <a:t>3) input strings, </a:t>
            </a:r>
            <a:r>
              <a:rPr lang="en-US" altLang="zh-TW" sz="2400" dirty="0" smtClean="0"/>
              <a:t>give typically </a:t>
            </a:r>
            <a:r>
              <a:rPr lang="en-US" altLang="zh-TW" sz="2400" dirty="0"/>
              <a:t>trivial results for the restricted case under </a:t>
            </a:r>
            <a:r>
              <a:rPr lang="en-US" altLang="zh-TW" sz="2400" dirty="0" smtClean="0"/>
              <a:t>study. Because </a:t>
            </a:r>
            <a:r>
              <a:rPr lang="en-US" altLang="zh-TW" sz="2400" dirty="0"/>
              <a:t>of the small number of reliable existing </a:t>
            </a:r>
            <a:r>
              <a:rPr lang="en-US" altLang="zh-TW" sz="2400" dirty="0" smtClean="0"/>
              <a:t>heuristics, we </a:t>
            </a:r>
            <a:r>
              <a:rPr lang="en-US" altLang="zh-TW" sz="2400" dirty="0"/>
              <a:t>introduce several new ones in this survey.</a:t>
            </a:r>
          </a:p>
          <a:p>
            <a:r>
              <a:rPr lang="en-US" altLang="zh-TW" sz="2400" dirty="0"/>
              <a:t>Majority of the presented algorithms give a lower </a:t>
            </a:r>
            <a:r>
              <a:rPr lang="en-US" altLang="zh-TW" sz="2400" dirty="0" smtClean="0"/>
              <a:t>bound for </a:t>
            </a:r>
            <a:r>
              <a:rPr lang="en-US" altLang="zh-TW" sz="2400" dirty="0"/>
              <a:t>the </a:t>
            </a:r>
            <a:r>
              <a:rPr lang="en-US" altLang="zh-TW" sz="2400" dirty="0" smtClean="0"/>
              <a:t>LCS. </a:t>
            </a:r>
            <a:r>
              <a:rPr lang="en-US" altLang="zh-TW" sz="2400" dirty="0"/>
              <a:t>Thus they can be used, for example, as a </a:t>
            </a:r>
            <a:r>
              <a:rPr lang="en-US" altLang="zh-TW" sz="2400" dirty="0" smtClean="0"/>
              <a:t>filter to </a:t>
            </a:r>
            <a:r>
              <a:rPr lang="en-US" altLang="zh-TW" sz="2400" dirty="0"/>
              <a:t>decide quickly, if a more detailed, space- and </a:t>
            </a:r>
            <a:r>
              <a:rPr lang="en-US" altLang="zh-TW" sz="2400" dirty="0" smtClean="0"/>
              <a:t>time consuming study </a:t>
            </a:r>
            <a:r>
              <a:rPr lang="en-US" altLang="zh-TW" sz="2400" dirty="0"/>
              <a:t>is needed. A lower bound can also be </a:t>
            </a:r>
            <a:r>
              <a:rPr lang="en-US" altLang="zh-TW" sz="2400" dirty="0" smtClean="0"/>
              <a:t>used to </a:t>
            </a:r>
            <a:r>
              <a:rPr lang="en-US" altLang="zh-TW" sz="2400" dirty="0"/>
              <a:t>limit the search space of an exact </a:t>
            </a:r>
            <a:r>
              <a:rPr lang="en-US" altLang="zh-TW" sz="2400" dirty="0" smtClean="0"/>
              <a:t>LCS </a:t>
            </a:r>
            <a:r>
              <a:rPr lang="en-US" altLang="zh-TW" sz="2400" dirty="0"/>
              <a:t>method </a:t>
            </a:r>
            <a:r>
              <a:rPr lang="en-US" altLang="zh-TW" sz="2400" dirty="0" smtClean="0"/>
              <a:t>effectively. The </a:t>
            </a:r>
            <a:r>
              <a:rPr lang="en-US" altLang="zh-TW" sz="2400" dirty="0"/>
              <a:t>upper bounds complement the information about </a:t>
            </a:r>
            <a:r>
              <a:rPr lang="en-US" altLang="zh-TW" sz="2400" dirty="0" smtClean="0"/>
              <a:t>the true LCS; </a:t>
            </a:r>
            <a:r>
              <a:rPr lang="en-US" altLang="zh-TW" sz="2400" dirty="0"/>
              <a:t>they form a basis to make </a:t>
            </a:r>
            <a:r>
              <a:rPr lang="en-US" altLang="zh-TW" sz="2400" dirty="0" smtClean="0"/>
              <a:t>a judgement </a:t>
            </a:r>
            <a:r>
              <a:rPr lang="en-US" altLang="zh-TW" sz="2400" dirty="0"/>
              <a:t>about </a:t>
            </a:r>
            <a:r>
              <a:rPr lang="en-US" altLang="zh-TW" sz="2400" dirty="0" smtClean="0"/>
              <a:t>the reliability of </a:t>
            </a:r>
            <a:r>
              <a:rPr lang="en-US" altLang="zh-TW" sz="2400" dirty="0"/>
              <a:t>a lower bound. Extensive tests have been </a:t>
            </a:r>
            <a:r>
              <a:rPr lang="en-US" altLang="zh-TW" sz="2400" dirty="0" smtClean="0"/>
              <a:t>carried out </a:t>
            </a:r>
            <a:r>
              <a:rPr lang="en-US" altLang="zh-TW" sz="2400" dirty="0"/>
              <a:t>to show the strengths of the heuristics and a </a:t>
            </a:r>
            <a:r>
              <a:rPr lang="en-US" altLang="zh-TW" sz="2400" dirty="0" smtClean="0"/>
              <a:t>discussion about </a:t>
            </a:r>
            <a:r>
              <a:rPr lang="en-US" altLang="zh-TW" sz="2400" dirty="0"/>
              <a:t>their role in various environments is given.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16998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Σ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 input alphabet</a:t>
                </a:r>
              </a:p>
              <a:p>
                <a:r>
                  <a:rPr lang="el-GR" altLang="zh-TW" dirty="0" smtClean="0"/>
                  <a:t>σ</a:t>
                </a:r>
                <a:r>
                  <a:rPr lang="en-US" altLang="zh-TW" dirty="0" smtClean="0"/>
                  <a:t> = input alphabet size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h</m:t>
                    </m:r>
                  </m:oMath>
                </a14:m>
                <a:r>
                  <a:rPr lang="en-US" altLang="zh-TW" dirty="0" smtClean="0"/>
                  <a:t> = heuristic</a:t>
                </a:r>
              </a:p>
              <a:p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/>
                      </a:rPr>
                      <m:t>𝑟</m:t>
                    </m:r>
                  </m:oMath>
                </a14:m>
                <a:r>
                  <a:rPr lang="en-US" altLang="zh-TW" dirty="0" smtClean="0"/>
                  <a:t> = exact LCS length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altLang="zh-TW" i="1" dirty="0" smtClean="0">
                    <a:latin typeface="Cambria Math"/>
                  </a:rPr>
                  <a:t> </a:t>
                </a:r>
                <a:r>
                  <a:rPr lang="en-US" altLang="zh-TW" dirty="0" smtClean="0"/>
                  <a:t>= approximation LCS length derived by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/>
                      </a:rPr>
                      <m:t>h</m:t>
                    </m:r>
                  </m:oMath>
                </a14:m>
                <a:endParaRPr lang="en-US" altLang="zh-TW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1758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Upper Bounds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Mapping symbols of </a:t>
            </a:r>
            <a:r>
              <a:rPr lang="el-GR" altLang="zh-TW" dirty="0" smtClean="0"/>
              <a:t>Σ</a:t>
            </a:r>
            <a:r>
              <a:rPr lang="en-US" altLang="zh-TW" dirty="0" smtClean="0"/>
              <a:t> into equivalence classes.</a:t>
            </a:r>
          </a:p>
          <a:p>
            <a:r>
              <a:rPr lang="en-US" altLang="zh-TW" dirty="0" smtClean="0"/>
              <a:t>Solving independent </a:t>
            </a:r>
            <a:r>
              <a:rPr lang="en-US" altLang="zh-TW" dirty="0" err="1" smtClean="0"/>
              <a:t>subproblems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Loosening the order of symbols.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460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Mapping Symbols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dirty="0" smtClean="0"/>
                  <a:t>X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:r>
                  <a:rPr lang="en-US" altLang="zh-TW" dirty="0" smtClean="0"/>
                  <a:t>LCS(X, Y) = a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A,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a or 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B,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c or g</a:t>
                </a:r>
              </a:p>
              <a:p>
                <a:r>
                  <a:rPr lang="en-US" altLang="zh-TW" dirty="0" smtClean="0"/>
                  <a:t>X’ = AAAABBBA</a:t>
                </a:r>
              </a:p>
              <a:p>
                <a:r>
                  <a:rPr lang="en-US" altLang="zh-TW" dirty="0" smtClean="0"/>
                  <a:t>Y’ = ABBAABAA</a:t>
                </a:r>
              </a:p>
              <a:p>
                <a:r>
                  <a:rPr lang="en-US" altLang="zh-TW" dirty="0" smtClean="0"/>
                  <a:t>LCS(X’, Y’) = AAAAA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3017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Solving Independent </a:t>
            </a:r>
            <a:r>
              <a:rPr lang="en-US" altLang="zh-TW" dirty="0" err="1" smtClean="0"/>
              <a:t>Subproblems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altLang="zh-TW" dirty="0" smtClean="0"/>
                  <a:t>X = 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:r>
                  <a:rPr lang="zh-TW" altLang="en-US" dirty="0" smtClean="0"/>
                  <a:t>將 </a:t>
                </a:r>
                <a:r>
                  <a:rPr lang="el-GR" altLang="zh-TW" dirty="0" smtClean="0"/>
                  <a:t>Σ</a:t>
                </a:r>
                <a:r>
                  <a:rPr lang="zh-TW" altLang="en-US" dirty="0" smtClean="0"/>
                  <a:t> 分成 </a:t>
                </a:r>
                <a:r>
                  <a:rPr lang="en-US" altLang="zh-TW" dirty="0" smtClean="0"/>
                  <a:t>k</a:t>
                </a:r>
                <a:r>
                  <a:rPr lang="zh-TW" altLang="en-US" dirty="0" smtClean="0"/>
                  <a:t> 個部分，掃描 </a:t>
                </a:r>
                <a:r>
                  <a:rPr lang="en-US" altLang="zh-TW" dirty="0" smtClean="0"/>
                  <a:t>X</a:t>
                </a:r>
                <a:r>
                  <a:rPr lang="zh-TW" altLang="en-US" dirty="0" smtClean="0"/>
                  <a:t> 與 </a:t>
                </a:r>
                <a:r>
                  <a:rPr lang="en-US" altLang="zh-TW" dirty="0" smtClean="0"/>
                  <a:t>Y</a:t>
                </a:r>
                <a:r>
                  <a:rPr lang="zh-TW" altLang="en-US" dirty="0" smtClean="0"/>
                  <a:t> 後，將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TW" altLang="en-US" dirty="0" smtClean="0"/>
                  <a:t>歸類完成，保留順序，得到 </a:t>
                </a:r>
                <a:r>
                  <a:rPr lang="en-US" altLang="zh-TW" dirty="0" smtClean="0"/>
                  <a:t>X’</a:t>
                </a:r>
                <a:r>
                  <a:rPr lang="zh-TW" altLang="en-US" dirty="0" smtClean="0"/>
                  <a:t> 與</a:t>
                </a:r>
                <a:r>
                  <a:rPr lang="en-US" altLang="zh-TW" dirty="0" smtClean="0"/>
                  <a:t>Y’</a:t>
                </a:r>
                <a:r>
                  <a:rPr lang="zh-TW" altLang="en-US" dirty="0" smtClean="0"/>
                  <a:t>，將每個 </a:t>
                </a:r>
                <a:r>
                  <a:rPr lang="el-GR" altLang="zh-TW" dirty="0" smtClean="0"/>
                  <a:t>Σ</a:t>
                </a:r>
                <a:r>
                  <a:rPr lang="zh-TW" altLang="en-US" dirty="0" smtClean="0"/>
                  <a:t> 的</a:t>
                </a:r>
                <a:r>
                  <a:rPr lang="en-US" altLang="zh-TW" dirty="0" smtClean="0"/>
                  <a:t>LCS</a:t>
                </a:r>
                <a:r>
                  <a:rPr lang="zh-TW" altLang="en-US" dirty="0" smtClean="0"/>
                  <a:t>加總得到</a:t>
                </a:r>
                <a:r>
                  <a:rPr lang="en-US" altLang="zh-TW" dirty="0" smtClean="0"/>
                  <a:t>upper bound</a:t>
                </a:r>
              </a:p>
              <a:p>
                <a:r>
                  <a:rPr lang="zh-TW" altLang="en-US" dirty="0"/>
                  <a:t>例如</a:t>
                </a:r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Σ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 smtClean="0"/>
                  <a:t>為出現頻率最高的元素，</a:t>
                </a:r>
                <a:r>
                  <a:rPr lang="el-GR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Σ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TW" altLang="en-US" dirty="0" smtClean="0"/>
                  <a:t>為剩下的元素。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Σ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 altLang="zh-TW" dirty="0"/>
                          <m:t>Σ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dirty="0" smtClean="0"/>
                  <a:t> = a, c, g</a:t>
                </a:r>
              </a:p>
              <a:p>
                <a:r>
                  <a:rPr lang="en-US" altLang="zh-TW" dirty="0" smtClean="0"/>
                  <a:t>X’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a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</a:t>
                </a:r>
                <a:r>
                  <a:rPr lang="zh-TW" altLang="en-US" dirty="0" smtClean="0"/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</a:t>
                </a:r>
                <a:r>
                  <a:rPr lang="zh-TW" altLang="en-US" dirty="0" smtClean="0"/>
                  <a:t> </a:t>
                </a:r>
                <a:r>
                  <a:rPr lang="en-US" altLang="zh-TW" dirty="0"/>
                  <a:t>g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</a:t>
                </a:r>
              </a:p>
              <a:p>
                <a:r>
                  <a:rPr lang="en-US" altLang="zh-TW" dirty="0" smtClean="0"/>
                  <a:t>Y’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a</a:t>
                </a:r>
                <a:r>
                  <a:rPr lang="zh-TW" altLang="en-US" dirty="0" smtClean="0"/>
                  <a:t> </a:t>
                </a:r>
                <a:r>
                  <a:rPr lang="en-US" altLang="zh-TW" dirty="0"/>
                  <a:t>g</a:t>
                </a:r>
                <a:r>
                  <a:rPr lang="zh-TW" altLang="en-US" dirty="0" smtClean="0"/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</a:t>
                </a:r>
                <a:r>
                  <a:rPr lang="zh-TW" altLang="en-US" dirty="0" smtClean="0"/>
                  <a:t> </a:t>
                </a:r>
                <a:r>
                  <a:rPr lang="en-US" altLang="zh-TW" dirty="0"/>
                  <a:t>a</a:t>
                </a:r>
                <a:r>
                  <a:rPr lang="zh-TW" altLang="en-US" dirty="0" smtClean="0"/>
                  <a:t> </a:t>
                </a:r>
                <a:r>
                  <a:rPr lang="en-US" altLang="zh-TW" dirty="0"/>
                  <a:t>a</a:t>
                </a:r>
                <a:r>
                  <a:rPr lang="zh-TW" altLang="en-US" dirty="0" smtClean="0"/>
                  <a:t>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c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</a:t>
                </a:r>
              </a:p>
              <a:p>
                <a:r>
                  <a:rPr lang="en-US" altLang="zh-TW" dirty="0" smtClean="0"/>
                  <a:t>LCS(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′</m:t>
                    </m:r>
                  </m:oMath>
                </a14:m>
                <a:r>
                  <a:rPr lang="en-US" altLang="zh-TW" dirty="0" smtClean="0"/>
                  <a:t>) = 2, LCS(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′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′</m:t>
                    </m:r>
                  </m:oMath>
                </a14:m>
                <a:r>
                  <a:rPr lang="en-US" altLang="zh-TW" dirty="0" smtClean="0"/>
                  <a:t>) = 3</a:t>
                </a:r>
              </a:p>
              <a:p>
                <a:r>
                  <a:rPr lang="en-US" altLang="zh-TW" dirty="0" smtClean="0"/>
                  <a:t>upper bound = 2 + 3 = 5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85" t="-2965" r="-56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452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Loosening the Order of the Symbols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計算 </a:t>
                </a:r>
                <a:r>
                  <a:rPr lang="el-GR" altLang="zh-TW" dirty="0" smtClean="0"/>
                  <a:t>Σ</a:t>
                </a:r>
                <a:r>
                  <a:rPr lang="zh-TW" altLang="en-US" dirty="0"/>
                  <a:t> </a:t>
                </a:r>
                <a:r>
                  <a:rPr lang="zh-TW" altLang="en-US" dirty="0" smtClean="0"/>
                  <a:t>中的每</a:t>
                </a:r>
                <a:r>
                  <a:rPr lang="zh-TW" altLang="en-US" dirty="0"/>
                  <a:t>個</a:t>
                </a:r>
                <a:r>
                  <a:rPr lang="zh-TW" altLang="en-US" dirty="0" smtClean="0"/>
                  <a:t>元素出現在</a:t>
                </a:r>
                <a:r>
                  <a:rPr lang="en-US" altLang="zh-TW" dirty="0" smtClean="0"/>
                  <a:t>X</a:t>
                </a:r>
                <a:r>
                  <a:rPr lang="zh-TW" altLang="en-US" dirty="0" smtClean="0"/>
                  <a:t>與</a:t>
                </a:r>
                <a:r>
                  <a:rPr lang="en-US" altLang="zh-TW" dirty="0" smtClean="0"/>
                  <a:t>Y</a:t>
                </a:r>
                <a:r>
                  <a:rPr lang="zh-TW" altLang="en-US" dirty="0" smtClean="0"/>
                  <a:t>中的頻率</a:t>
                </a:r>
                <a:endParaRPr lang="en-US" altLang="zh-TW" dirty="0" smtClean="0"/>
              </a:p>
              <a:p>
                <a:r>
                  <a:rPr lang="en-US" altLang="zh-TW" dirty="0" smtClean="0"/>
                  <a:t>upper bound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TW" i="1" smtClean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TW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TW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l-GR" altLang="zh-TW" i="1" smtClean="0">
                            <a:latin typeface="Cambria Math"/>
                          </a:rPr>
                          <m:t>σ</m:t>
                        </m:r>
                      </m:sup>
                      <m:e>
                        <m:r>
                          <m:rPr>
                            <m:nor/>
                          </m:rPr>
                          <a:rPr lang="en-US" altLang="zh-TW" dirty="0"/>
                          <m:t>min</m:t>
                        </m:r>
                        <m:r>
                          <a:rPr lang="en-US" altLang="zh-TW" b="0" i="1" dirty="0" smtClean="0">
                            <a:latin typeface="Cambria Math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dirty="0"/>
                          <m:t>(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dirty="0"/>
                          <m:t>) , 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/>
                              </a:rPr>
                              <m:t>𝑌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dirty="0"/>
                          <m:t>(</m:t>
                        </m:r>
                        <m:sSub>
                          <m:sSubPr>
                            <m:ctrlPr>
                              <a:rPr lang="en-US" altLang="zh-TW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TW" dirty="0"/>
                          <m:t>)</m:t>
                        </m:r>
                        <m:r>
                          <m:rPr>
                            <m:nor/>
                          </m:rPr>
                          <a:rPr lang="en-US" altLang="zh-TW" b="0" i="0" dirty="0" smtClean="0"/>
                          <m:t>}</m:t>
                        </m:r>
                        <m:r>
                          <m:rPr>
                            <m:nor/>
                          </m:rPr>
                          <a:rPr lang="en-US" altLang="zh-TW" dirty="0"/>
                          <m:t> </m:t>
                        </m:r>
                      </m:e>
                    </m:nary>
                  </m:oMath>
                </a14:m>
                <a:endParaRPr lang="en-US" altLang="zh-TW" dirty="0" smtClean="0"/>
              </a:p>
              <a:p>
                <a:r>
                  <a:rPr lang="en-US" altLang="zh-TW" dirty="0" smtClean="0"/>
                  <a:t>X = 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(a) =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(t)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(c) =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(g) =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(a)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(t) =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:r>
                  <a:rPr lang="en-US" altLang="zh-TW" dirty="0" smtClean="0"/>
                  <a:t>upper bound = 1 + 2 + 2 + 1 = 6</a:t>
                </a:r>
                <a:endParaRPr lang="en-US" altLang="zh-TW" dirty="0"/>
              </a:p>
              <a:p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64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Lower Bounds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The symbol of maximum frequency.</a:t>
            </a:r>
          </a:p>
          <a:p>
            <a:r>
              <a:rPr lang="en-US" altLang="zh-TW" dirty="0" err="1" smtClean="0"/>
              <a:t>Cnt</a:t>
            </a:r>
            <a:r>
              <a:rPr lang="en-US" altLang="zh-TW" dirty="0" smtClean="0"/>
              <a:t> heuristic.</a:t>
            </a:r>
          </a:p>
          <a:p>
            <a:r>
              <a:rPr lang="en-US" altLang="zh-TW" dirty="0" smtClean="0"/>
              <a:t>Best next heuristic.</a:t>
            </a:r>
          </a:p>
          <a:p>
            <a:r>
              <a:rPr lang="en-US" altLang="zh-TW" dirty="0" smtClean="0"/>
              <a:t>From an upper bound to a lower bound: the mapping technique.</a:t>
            </a:r>
          </a:p>
          <a:p>
            <a:r>
              <a:rPr lang="en-US" altLang="zh-TW" dirty="0" smtClean="0"/>
              <a:t>Reducing the lengths of the input strings.</a:t>
            </a:r>
          </a:p>
          <a:p>
            <a:r>
              <a:rPr lang="en-US" altLang="zh-TW" dirty="0" smtClean="0"/>
              <a:t>An approach used in </a:t>
            </a:r>
            <a:r>
              <a:rPr lang="en-US" altLang="zh-TW" dirty="0" err="1" smtClean="0"/>
              <a:t>biosequence</a:t>
            </a:r>
            <a:r>
              <a:rPr lang="en-US" altLang="zh-TW" dirty="0" smtClean="0"/>
              <a:t> comparison.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671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The Symbol of maximum frequency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找出現</a:t>
                </a:r>
                <a:r>
                  <a:rPr lang="zh-TW" altLang="en-US" dirty="0"/>
                  <a:t>頻率最高的</a:t>
                </a:r>
                <a:r>
                  <a:rPr lang="zh-TW" altLang="en-US" dirty="0" smtClean="0"/>
                  <a:t>元素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b="0" i="0" dirty="0" smtClean="0"/>
                      <m:t>max</m:t>
                    </m:r>
                    <m:r>
                      <m:rPr>
                        <m:nor/>
                      </m:rPr>
                      <a:rPr lang="en-US" altLang="zh-TW" b="0" i="0" dirty="0" smtClean="0"/>
                      <m:t> {</m:t>
                    </m:r>
                    <m:r>
                      <m:rPr>
                        <m:nor/>
                      </m:rPr>
                      <a:rPr lang="en-US" altLang="zh-TW" dirty="0"/>
                      <m:t>min</m:t>
                    </m:r>
                    <m:r>
                      <a:rPr lang="en-US" altLang="zh-TW" i="1" dirty="0">
                        <a:latin typeface="Cambria Math"/>
                      </a:rPr>
                      <m:t>{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(</m:t>
                    </m:r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) , 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(</m:t>
                    </m:r>
                    <m:sSub>
                      <m:sSubPr>
                        <m:ctrlPr>
                          <a:rPr lang="en-US" altLang="zh-TW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zh-TW" dirty="0"/>
                      <m:t>)}</m:t>
                    </m:r>
                    <m:r>
                      <m:rPr>
                        <m:nor/>
                      </m:rPr>
                      <a:rPr lang="en-US" altLang="zh-TW" b="0" i="0" dirty="0" smtClean="0"/>
                      <m:t> }</m:t>
                    </m:r>
                  </m:oMath>
                </a14:m>
                <a:r>
                  <a:rPr lang="en-US" altLang="zh-TW" dirty="0" smtClean="0"/>
                  <a:t>(1 ≦ </a:t>
                </a:r>
                <a:r>
                  <a:rPr lang="en-US" altLang="zh-TW" i="1" dirty="0" err="1" smtClean="0"/>
                  <a:t>i</a:t>
                </a:r>
                <a:r>
                  <a:rPr lang="en-US" altLang="zh-TW" i="1" dirty="0" smtClean="0"/>
                  <a:t> </a:t>
                </a:r>
                <a:r>
                  <a:rPr lang="en-US" altLang="zh-TW" dirty="0" smtClean="0"/>
                  <a:t>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i="1">
                        <a:latin typeface="Cambria Math"/>
                      </a:rPr>
                      <m:t>σ</m:t>
                    </m:r>
                  </m:oMath>
                </a14:m>
                <a:r>
                  <a:rPr lang="en-US" altLang="zh-TW" dirty="0" smtClean="0"/>
                  <a:t>)</a:t>
                </a:r>
              </a:p>
              <a:p>
                <a:r>
                  <a:rPr lang="en-US" altLang="zh-TW" dirty="0"/>
                  <a:t>X = t </a:t>
                </a:r>
                <a:r>
                  <a:rPr lang="en-US" altLang="zh-TW" dirty="0" err="1"/>
                  <a:t>t</a:t>
                </a:r>
                <a:r>
                  <a:rPr lang="en-US" altLang="zh-TW" dirty="0"/>
                  <a:t> a t c </a:t>
                </a:r>
                <a:r>
                  <a:rPr lang="en-US" altLang="zh-TW" dirty="0" err="1"/>
                  <a:t>c</a:t>
                </a:r>
                <a:r>
                  <a:rPr lang="en-US" altLang="zh-TW" dirty="0"/>
                  <a:t> g t</a:t>
                </a:r>
              </a:p>
              <a:p>
                <a:r>
                  <a:rPr lang="en-US" altLang="zh-TW" dirty="0"/>
                  <a:t>Y = a g c a </a:t>
                </a:r>
                <a:r>
                  <a:rPr lang="en-US" altLang="zh-TW" dirty="0" err="1"/>
                  <a:t>a</a:t>
                </a:r>
                <a:r>
                  <a:rPr lang="en-US" altLang="zh-TW" dirty="0"/>
                  <a:t> c t </a:t>
                </a:r>
                <a:r>
                  <a:rPr lang="en-US" altLang="zh-TW" dirty="0" err="1"/>
                  <a:t>t</a:t>
                </a:r>
                <a:endParaRPr lang="en-US" altLang="zh-TW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(a) =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(t)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(c) =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(g) =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(a)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(t) =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TW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(g) = </a:t>
                </a:r>
                <a:r>
                  <a:rPr lang="en-US" altLang="zh-TW" dirty="0" smtClean="0"/>
                  <a:t>1</a:t>
                </a:r>
              </a:p>
              <a:p>
                <a:r>
                  <a:rPr lang="en-US" altLang="zh-TW" dirty="0" smtClean="0"/>
                  <a:t>lower bound = 2</a:t>
                </a:r>
                <a:endParaRPr lang="en-US" altLang="zh-TW" dirty="0"/>
              </a:p>
              <a:p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390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Cnt</a:t>
            </a:r>
            <a:r>
              <a:rPr lang="en-US" altLang="zh-TW" dirty="0" smtClean="0"/>
              <a:t> Heuristic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/>
              <a:t>計算每個元素的出現</a:t>
            </a:r>
            <a:r>
              <a:rPr lang="zh-TW" altLang="en-US" sz="2800" dirty="0" smtClean="0"/>
              <a:t>頻率</a:t>
            </a:r>
            <a:endParaRPr lang="en-US" altLang="zh-TW" sz="2800" dirty="0" smtClean="0"/>
          </a:p>
          <a:p>
            <a:r>
              <a:rPr lang="zh-TW" altLang="en-US" sz="2800" dirty="0" smtClean="0"/>
              <a:t>從頭開始掃描</a:t>
            </a:r>
            <a:r>
              <a:rPr lang="en-US" altLang="zh-TW" sz="2800" dirty="0" smtClean="0"/>
              <a:t>X</a:t>
            </a:r>
            <a:r>
              <a:rPr lang="zh-TW" altLang="en-US" sz="2800" dirty="0" smtClean="0"/>
              <a:t>與</a:t>
            </a:r>
            <a:r>
              <a:rPr lang="en-US" altLang="zh-TW" sz="2800" dirty="0" smtClean="0"/>
              <a:t>Y</a:t>
            </a:r>
            <a:r>
              <a:rPr lang="zh-TW" altLang="en-US" sz="2800" dirty="0" smtClean="0"/>
              <a:t>，</a:t>
            </a:r>
            <a:r>
              <a:rPr lang="zh-TW" altLang="en-US" sz="2800" smtClean="0"/>
              <a:t>若</a:t>
            </a:r>
            <a:r>
              <a:rPr lang="zh-TW" altLang="en-US" sz="2800" smtClean="0"/>
              <a:t>當下元素</a:t>
            </a:r>
            <a:r>
              <a:rPr lang="zh-TW" altLang="en-US" sz="2800" dirty="0" smtClean="0"/>
              <a:t>相同，則將該元素加入</a:t>
            </a:r>
            <a:r>
              <a:rPr lang="en-US" altLang="zh-TW" sz="2800" dirty="0" smtClean="0"/>
              <a:t>CS</a:t>
            </a:r>
            <a:r>
              <a:rPr lang="zh-TW" altLang="en-US" sz="2800" dirty="0" smtClean="0"/>
              <a:t>中，且指標同時 </a:t>
            </a:r>
            <a:r>
              <a:rPr lang="en-US" altLang="zh-TW" sz="2800" dirty="0" smtClean="0"/>
              <a:t>+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1</a:t>
            </a:r>
            <a:r>
              <a:rPr lang="zh-TW" altLang="en-US" sz="2800" dirty="0" smtClean="0"/>
              <a:t>，若</a:t>
            </a:r>
            <a:r>
              <a:rPr lang="zh-TW" altLang="en-US" sz="2800" dirty="0" smtClean="0"/>
              <a:t>當</a:t>
            </a:r>
            <a:r>
              <a:rPr lang="zh-TW" altLang="en-US" sz="2800" dirty="0"/>
              <a:t>下</a:t>
            </a:r>
            <a:r>
              <a:rPr lang="zh-TW" altLang="en-US" sz="2800" dirty="0" smtClean="0"/>
              <a:t>元素</a:t>
            </a:r>
            <a:r>
              <a:rPr lang="zh-TW" altLang="en-US" sz="2800" dirty="0" smtClean="0"/>
              <a:t>不同，則元素出現頻率較少的指標 </a:t>
            </a:r>
            <a:r>
              <a:rPr lang="en-US" altLang="zh-TW" sz="2800" dirty="0" smtClean="0"/>
              <a:t>+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1</a:t>
            </a:r>
            <a:r>
              <a:rPr lang="zh-TW" altLang="en-US" sz="2800" dirty="0" smtClean="0"/>
              <a:t>，直到</a:t>
            </a:r>
            <a:r>
              <a:rPr lang="en-US" altLang="zh-TW" sz="2800" dirty="0" smtClean="0"/>
              <a:t>X</a:t>
            </a:r>
            <a:r>
              <a:rPr lang="zh-TW" altLang="en-US" sz="2800" dirty="0" smtClean="0"/>
              <a:t>或</a:t>
            </a:r>
            <a:r>
              <a:rPr lang="en-US" altLang="zh-TW" sz="2800" dirty="0" smtClean="0"/>
              <a:t>Y</a:t>
            </a:r>
            <a:r>
              <a:rPr lang="zh-TW" altLang="en-US" sz="2800" dirty="0"/>
              <a:t>結束</a:t>
            </a:r>
            <a:r>
              <a:rPr lang="zh-TW" altLang="en-US" sz="2800" dirty="0" smtClean="0"/>
              <a:t>。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3249793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Cnt</a:t>
            </a:r>
            <a:r>
              <a:rPr lang="en-US" altLang="zh-TW" dirty="0" smtClean="0"/>
              <a:t>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X = 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 smtClean="0"/>
                  <a:t>(a)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(t</a:t>
                </a:r>
                <a:r>
                  <a:rPr lang="en-US" altLang="zh-TW" dirty="0" smtClean="0"/>
                  <a:t>)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smtClean="0"/>
                  <a:t>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smtClean="0"/>
                  <a:t>g) =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smtClean="0"/>
                  <a:t>a)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smtClean="0"/>
                  <a:t>t)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smtClean="0"/>
                  <a:t>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smtClean="0"/>
                  <a:t>g) = 1</a:t>
                </a:r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296283"/>
              </p:ext>
            </p:extLst>
          </p:nvPr>
        </p:nvGraphicFramePr>
        <p:xfrm>
          <a:off x="827584" y="4293096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710280"/>
              </p:ext>
            </p:extLst>
          </p:nvPr>
        </p:nvGraphicFramePr>
        <p:xfrm>
          <a:off x="827584" y="5949280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9495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Cnt</a:t>
            </a:r>
            <a:r>
              <a:rPr lang="en-US" altLang="zh-TW" dirty="0" smtClean="0"/>
              <a:t>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X = 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 smtClean="0"/>
                  <a:t>(a)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(t</a:t>
                </a:r>
                <a:r>
                  <a:rPr lang="en-US" altLang="zh-TW" dirty="0" smtClean="0"/>
                  <a:t>)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smtClean="0"/>
                  <a:t>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smtClean="0"/>
                  <a:t>g) =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smtClean="0"/>
                  <a:t>a)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smtClean="0"/>
                  <a:t>t)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smtClean="0"/>
                  <a:t>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</a:t>
                </a:r>
                <a:r>
                  <a:rPr lang="en-US" altLang="zh-TW" dirty="0" smtClean="0"/>
                  <a:t>g) = 1</a:t>
                </a:r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311032"/>
              </p:ext>
            </p:extLst>
          </p:nvPr>
        </p:nvGraphicFramePr>
        <p:xfrm>
          <a:off x="827584" y="4293096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11326"/>
              </p:ext>
            </p:extLst>
          </p:nvPr>
        </p:nvGraphicFramePr>
        <p:xfrm>
          <a:off x="827584" y="5949280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679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Cnt</a:t>
            </a:r>
            <a:r>
              <a:rPr lang="en-US" altLang="zh-TW" dirty="0" smtClean="0"/>
              <a:t>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X = 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(a)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(t)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(a)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(t)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341436"/>
              </p:ext>
            </p:extLst>
          </p:nvPr>
        </p:nvGraphicFramePr>
        <p:xfrm>
          <a:off x="827584" y="4293096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185943"/>
              </p:ext>
            </p:extLst>
          </p:nvPr>
        </p:nvGraphicFramePr>
        <p:xfrm>
          <a:off x="827584" y="5949280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44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Cnt</a:t>
            </a:r>
            <a:r>
              <a:rPr lang="en-US" altLang="zh-TW" dirty="0" smtClean="0"/>
              <a:t>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X = 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(a)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(t)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(a)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(t)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229158"/>
              </p:ext>
            </p:extLst>
          </p:nvPr>
        </p:nvGraphicFramePr>
        <p:xfrm>
          <a:off x="827584" y="4293096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275769"/>
              </p:ext>
            </p:extLst>
          </p:nvPr>
        </p:nvGraphicFramePr>
        <p:xfrm>
          <a:off x="827584" y="5949280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6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Cnt</a:t>
            </a:r>
            <a:r>
              <a:rPr lang="en-US" altLang="zh-TW" dirty="0" smtClean="0"/>
              <a:t>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X = 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(a)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(t)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(a)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(t)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410837"/>
              </p:ext>
            </p:extLst>
          </p:nvPr>
        </p:nvGraphicFramePr>
        <p:xfrm>
          <a:off x="827584" y="4293096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998577"/>
              </p:ext>
            </p:extLst>
          </p:nvPr>
        </p:nvGraphicFramePr>
        <p:xfrm>
          <a:off x="827584" y="5949280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452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Cnt</a:t>
            </a:r>
            <a:r>
              <a:rPr lang="en-US" altLang="zh-TW" dirty="0" smtClean="0"/>
              <a:t>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X = 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(a)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(t)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(a)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(t)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690593"/>
              </p:ext>
            </p:extLst>
          </p:nvPr>
        </p:nvGraphicFramePr>
        <p:xfrm>
          <a:off x="827584" y="4293096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69770"/>
              </p:ext>
            </p:extLst>
          </p:nvPr>
        </p:nvGraphicFramePr>
        <p:xfrm>
          <a:off x="827584" y="5949280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7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Cnt</a:t>
            </a:r>
            <a:r>
              <a:rPr lang="en-US" altLang="zh-TW" dirty="0" smtClean="0"/>
              <a:t>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X = 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(a)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(t)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(a)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(t)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544280"/>
              </p:ext>
            </p:extLst>
          </p:nvPr>
        </p:nvGraphicFramePr>
        <p:xfrm>
          <a:off x="827584" y="4293096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8895903"/>
              </p:ext>
            </p:extLst>
          </p:nvPr>
        </p:nvGraphicFramePr>
        <p:xfrm>
          <a:off x="827584" y="5949280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559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Cnt</a:t>
            </a:r>
            <a:r>
              <a:rPr lang="en-US" altLang="zh-TW" dirty="0" smtClean="0"/>
              <a:t>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 smtClean="0"/>
                  <a:t>X = 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(a)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(t)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(a)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(t)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8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925"/>
              </p:ext>
            </p:extLst>
          </p:nvPr>
        </p:nvGraphicFramePr>
        <p:xfrm>
          <a:off x="827584" y="4293096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538165"/>
              </p:ext>
            </p:extLst>
          </p:nvPr>
        </p:nvGraphicFramePr>
        <p:xfrm>
          <a:off x="827584" y="5949280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792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Best Next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定義元素下一次出現的位置為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，指標的下一個的位置是最大的</a:t>
                </a:r>
                <a:r>
                  <a:rPr lang="en-US" altLang="zh-TW" dirty="0" smtClean="0"/>
                  <a:t>min{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m</m:t>
                    </m:r>
                    <m:r>
                      <a:rPr lang="en-US" altLang="zh-TW" b="0" i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n</m:t>
                    </m:r>
                    <m:r>
                      <a:rPr lang="en-US" altLang="zh-TW" b="0" i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}</a:t>
                </a:r>
              </a:p>
              <a:p>
                <a:r>
                  <a:rPr lang="en-US" altLang="zh-TW" dirty="0" smtClean="0"/>
                  <a:t>X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264603"/>
              </p:ext>
            </p:extLst>
          </p:nvPr>
        </p:nvGraphicFramePr>
        <p:xfrm>
          <a:off x="467544" y="4509120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320733"/>
              </p:ext>
            </p:extLst>
          </p:nvPr>
        </p:nvGraphicFramePr>
        <p:xfrm>
          <a:off x="6804248" y="3933056"/>
          <a:ext cx="1944215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88843"/>
                <a:gridCol w="388843"/>
                <a:gridCol w="388843"/>
                <a:gridCol w="388843"/>
                <a:gridCol w="38884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038056"/>
              </p:ext>
            </p:extLst>
          </p:nvPr>
        </p:nvGraphicFramePr>
        <p:xfrm>
          <a:off x="6804248" y="5628848"/>
          <a:ext cx="1944215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88843"/>
                <a:gridCol w="388843"/>
                <a:gridCol w="388843"/>
                <a:gridCol w="388843"/>
                <a:gridCol w="38884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804248" y="3501008"/>
                <a:ext cx="20410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3501008"/>
                <a:ext cx="204107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5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660232" y="5229200"/>
                <a:ext cx="24899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/>
                  <a:t>m-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, </a:t>
                </a:r>
                <a:r>
                  <a:rPr lang="en-US" altLang="zh-TW" dirty="0" smtClean="0"/>
                  <a:t>n-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5229200"/>
                <a:ext cx="2489912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206" t="-8333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589276"/>
              </p:ext>
            </p:extLst>
          </p:nvPr>
        </p:nvGraphicFramePr>
        <p:xfrm>
          <a:off x="467544" y="6093296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992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Best Next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/>
                  <a:t>定義元素下一次出現的位置為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，指標的下一個的位置是最大的</a:t>
                </a:r>
                <a:r>
                  <a:rPr lang="en-US" altLang="zh-TW" dirty="0" smtClean="0"/>
                  <a:t>min{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m</m:t>
                    </m:r>
                    <m:r>
                      <a:rPr lang="en-US" altLang="zh-TW" b="0" i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n</m:t>
                    </m:r>
                    <m:r>
                      <a:rPr lang="en-US" altLang="zh-TW" b="0" i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}</a:t>
                </a:r>
              </a:p>
              <a:p>
                <a:r>
                  <a:rPr lang="en-US" altLang="zh-TW" dirty="0" smtClean="0"/>
                  <a:t>X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769895"/>
              </p:ext>
            </p:extLst>
          </p:nvPr>
        </p:nvGraphicFramePr>
        <p:xfrm>
          <a:off x="467544" y="4509120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436934"/>
              </p:ext>
            </p:extLst>
          </p:nvPr>
        </p:nvGraphicFramePr>
        <p:xfrm>
          <a:off x="6804248" y="3933056"/>
          <a:ext cx="1944215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88843"/>
                <a:gridCol w="388843"/>
                <a:gridCol w="388843"/>
                <a:gridCol w="388843"/>
                <a:gridCol w="38884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388306"/>
              </p:ext>
            </p:extLst>
          </p:nvPr>
        </p:nvGraphicFramePr>
        <p:xfrm>
          <a:off x="6804248" y="5628848"/>
          <a:ext cx="1944215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88843"/>
                <a:gridCol w="388843"/>
                <a:gridCol w="388843"/>
                <a:gridCol w="388843"/>
                <a:gridCol w="38884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804248" y="3501008"/>
                <a:ext cx="20410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3501008"/>
                <a:ext cx="204107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5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660232" y="5229200"/>
                <a:ext cx="24899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/>
                  <a:t>m-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, </a:t>
                </a:r>
                <a:r>
                  <a:rPr lang="en-US" altLang="zh-TW" dirty="0" smtClean="0"/>
                  <a:t>n-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5229200"/>
                <a:ext cx="2489912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206" t="-8333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5612210"/>
              </p:ext>
            </p:extLst>
          </p:nvPr>
        </p:nvGraphicFramePr>
        <p:xfrm>
          <a:off x="467544" y="6093296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285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Best Next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定義</a:t>
                </a:r>
                <a:r>
                  <a:rPr lang="zh-TW" altLang="en-US" dirty="0"/>
                  <a:t>元素</a:t>
                </a:r>
                <a:r>
                  <a:rPr lang="zh-TW" altLang="en-US" dirty="0" smtClean="0"/>
                  <a:t>下</a:t>
                </a:r>
                <a:r>
                  <a:rPr lang="zh-TW" altLang="en-US" dirty="0"/>
                  <a:t>一次</a:t>
                </a:r>
                <a:r>
                  <a:rPr lang="zh-TW" altLang="en-US" dirty="0" smtClean="0"/>
                  <a:t>出現的位置為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，指標的下一個的位置是最大的</a:t>
                </a:r>
                <a:r>
                  <a:rPr lang="en-US" altLang="zh-TW" dirty="0" smtClean="0"/>
                  <a:t>min{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m</m:t>
                    </m:r>
                    <m:r>
                      <a:rPr lang="en-US" altLang="zh-TW" b="0" i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n</m:t>
                    </m:r>
                    <m:r>
                      <a:rPr lang="en-US" altLang="zh-TW" b="0" i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}</a:t>
                </a:r>
              </a:p>
              <a:p>
                <a:r>
                  <a:rPr lang="en-US" altLang="zh-TW" dirty="0" smtClean="0"/>
                  <a:t>X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142556"/>
              </p:ext>
            </p:extLst>
          </p:nvPr>
        </p:nvGraphicFramePr>
        <p:xfrm>
          <a:off x="467544" y="4509120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642874"/>
              </p:ext>
            </p:extLst>
          </p:nvPr>
        </p:nvGraphicFramePr>
        <p:xfrm>
          <a:off x="6804248" y="3933056"/>
          <a:ext cx="1944215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88843"/>
                <a:gridCol w="388843"/>
                <a:gridCol w="388843"/>
                <a:gridCol w="388843"/>
                <a:gridCol w="38884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897369"/>
              </p:ext>
            </p:extLst>
          </p:nvPr>
        </p:nvGraphicFramePr>
        <p:xfrm>
          <a:off x="6804248" y="5628848"/>
          <a:ext cx="1944215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88843"/>
                <a:gridCol w="388843"/>
                <a:gridCol w="388843"/>
                <a:gridCol w="388843"/>
                <a:gridCol w="38884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804248" y="3501008"/>
                <a:ext cx="20410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3501008"/>
                <a:ext cx="204107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5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660232" y="5229200"/>
                <a:ext cx="24899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/>
                  <a:t>m-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, </a:t>
                </a:r>
                <a:r>
                  <a:rPr lang="en-US" altLang="zh-TW" dirty="0" smtClean="0"/>
                  <a:t>n-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5229200"/>
                <a:ext cx="2489912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206" t="-8333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3714674"/>
              </p:ext>
            </p:extLst>
          </p:nvPr>
        </p:nvGraphicFramePr>
        <p:xfrm>
          <a:off x="467544" y="6093296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331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Best Next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定義</a:t>
                </a:r>
                <a:r>
                  <a:rPr lang="zh-TW" altLang="en-US" dirty="0"/>
                  <a:t>元素</a:t>
                </a:r>
                <a:r>
                  <a:rPr lang="zh-TW" altLang="en-US" dirty="0" smtClean="0"/>
                  <a:t>下</a:t>
                </a:r>
                <a:r>
                  <a:rPr lang="zh-TW" altLang="en-US" dirty="0"/>
                  <a:t>一次</a:t>
                </a:r>
                <a:r>
                  <a:rPr lang="zh-TW" altLang="en-US" dirty="0" smtClean="0"/>
                  <a:t>出現的位置為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，指標的下一個的位置是最大的</a:t>
                </a:r>
                <a:r>
                  <a:rPr lang="en-US" altLang="zh-TW" dirty="0" smtClean="0"/>
                  <a:t>min{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m</m:t>
                    </m:r>
                    <m:r>
                      <a:rPr lang="en-US" altLang="zh-TW" b="0" i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n</m:t>
                    </m:r>
                    <m:r>
                      <a:rPr lang="en-US" altLang="zh-TW" b="0" i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}</a:t>
                </a:r>
              </a:p>
              <a:p>
                <a:r>
                  <a:rPr lang="en-US" altLang="zh-TW" dirty="0" smtClean="0"/>
                  <a:t>X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083825"/>
              </p:ext>
            </p:extLst>
          </p:nvPr>
        </p:nvGraphicFramePr>
        <p:xfrm>
          <a:off x="467544" y="4509120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834342"/>
              </p:ext>
            </p:extLst>
          </p:nvPr>
        </p:nvGraphicFramePr>
        <p:xfrm>
          <a:off x="6804248" y="3933056"/>
          <a:ext cx="1944215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88843"/>
                <a:gridCol w="388843"/>
                <a:gridCol w="388843"/>
                <a:gridCol w="388843"/>
                <a:gridCol w="38884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43862"/>
              </p:ext>
            </p:extLst>
          </p:nvPr>
        </p:nvGraphicFramePr>
        <p:xfrm>
          <a:off x="6804248" y="5628848"/>
          <a:ext cx="1944215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88843"/>
                <a:gridCol w="388843"/>
                <a:gridCol w="388843"/>
                <a:gridCol w="388843"/>
                <a:gridCol w="38884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804248" y="3501008"/>
                <a:ext cx="20410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3501008"/>
                <a:ext cx="204107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5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660232" y="5229200"/>
                <a:ext cx="24899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/>
                  <a:t>m-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, </a:t>
                </a:r>
                <a:r>
                  <a:rPr lang="en-US" altLang="zh-TW" dirty="0" smtClean="0"/>
                  <a:t>n-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5229200"/>
                <a:ext cx="2489912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206" t="-8333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062669"/>
              </p:ext>
            </p:extLst>
          </p:nvPr>
        </p:nvGraphicFramePr>
        <p:xfrm>
          <a:off x="467544" y="6093296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703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Best Next Heuristic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TW" altLang="en-US" dirty="0" smtClean="0"/>
                  <a:t>定義</a:t>
                </a:r>
                <a:r>
                  <a:rPr lang="zh-TW" altLang="en-US" dirty="0"/>
                  <a:t>元素</a:t>
                </a:r>
                <a:r>
                  <a:rPr lang="zh-TW" altLang="en-US" dirty="0" smtClean="0"/>
                  <a:t>下</a:t>
                </a:r>
                <a:r>
                  <a:rPr lang="zh-TW" altLang="en-US" dirty="0"/>
                  <a:t>一次</a:t>
                </a:r>
                <a:r>
                  <a:rPr lang="zh-TW" altLang="en-US" dirty="0" smtClean="0"/>
                  <a:t>出現的位置為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zh-TW" altLang="en-US" dirty="0" smtClean="0"/>
                  <a:t>，指標的下一個的位置是最大的</a:t>
                </a:r>
                <a:r>
                  <a:rPr lang="en-US" altLang="zh-TW" dirty="0" smtClean="0"/>
                  <a:t>min{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m</m:t>
                    </m:r>
                    <m:r>
                      <a:rPr lang="en-US" altLang="zh-TW" b="0" i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smtClean="0">
                        <a:latin typeface="Cambria Math"/>
                      </a:rPr>
                      <m:t>n</m:t>
                    </m:r>
                    <m:r>
                      <a:rPr lang="en-US" altLang="zh-TW" b="0" i="0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}</a:t>
                </a:r>
              </a:p>
              <a:p>
                <a:r>
                  <a:rPr lang="en-US" altLang="zh-TW" dirty="0" smtClean="0"/>
                  <a:t>X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791694"/>
              </p:ext>
            </p:extLst>
          </p:nvPr>
        </p:nvGraphicFramePr>
        <p:xfrm>
          <a:off x="467544" y="4509120"/>
          <a:ext cx="60959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509206"/>
              </p:ext>
            </p:extLst>
          </p:nvPr>
        </p:nvGraphicFramePr>
        <p:xfrm>
          <a:off x="6804248" y="3933056"/>
          <a:ext cx="1944215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88843"/>
                <a:gridCol w="388843"/>
                <a:gridCol w="388843"/>
                <a:gridCol w="388843"/>
                <a:gridCol w="38884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413412"/>
              </p:ext>
            </p:extLst>
          </p:nvPr>
        </p:nvGraphicFramePr>
        <p:xfrm>
          <a:off x="6804248" y="5628848"/>
          <a:ext cx="1944215" cy="111252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88843"/>
                <a:gridCol w="388843"/>
                <a:gridCol w="388843"/>
                <a:gridCol w="388843"/>
                <a:gridCol w="38884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-1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6804248" y="3501008"/>
                <a:ext cx="20410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8" y="3501008"/>
                <a:ext cx="204107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5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6660232" y="5229200"/>
                <a:ext cx="24899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dirty="0" smtClean="0"/>
                  <a:t>m-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𝑋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r>
                  <a:rPr lang="en-US" altLang="zh-TW" dirty="0"/>
                  <a:t>, </a:t>
                </a:r>
                <a:r>
                  <a:rPr lang="en-US" altLang="zh-TW" dirty="0" smtClean="0"/>
                  <a:t>n-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𝑝𝑜𝑠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𝑌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5229200"/>
                <a:ext cx="2489912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2206" t="-8333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033468"/>
              </p:ext>
            </p:extLst>
          </p:nvPr>
        </p:nvGraphicFramePr>
        <p:xfrm>
          <a:off x="467544" y="6093296"/>
          <a:ext cx="6095997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77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From an Upper Bound to a Lower Bound: the Mapping Technique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8112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zh-TW" altLang="en-US" dirty="0" smtClean="0"/>
                  <a:t>利用上述</a:t>
                </a:r>
                <a:r>
                  <a:rPr lang="en-US" altLang="zh-TW" dirty="0" smtClean="0"/>
                  <a:t>upper bound </a:t>
                </a:r>
                <a:r>
                  <a:rPr lang="zh-TW" altLang="en-US" dirty="0" smtClean="0"/>
                  <a:t>的 </a:t>
                </a:r>
                <a:r>
                  <a:rPr lang="en-US" altLang="zh-TW" dirty="0" smtClean="0"/>
                  <a:t>mapping symbols</a:t>
                </a:r>
                <a:r>
                  <a:rPr lang="zh-TW" altLang="en-US" dirty="0" smtClean="0"/>
                  <a:t>，我們將 </a:t>
                </a:r>
                <a:r>
                  <a:rPr lang="en-US" altLang="zh-TW" dirty="0" smtClean="0"/>
                  <a:t>X</a:t>
                </a:r>
                <a:r>
                  <a:rPr lang="zh-TW" altLang="en-US" dirty="0" smtClean="0"/>
                  <a:t>與 </a:t>
                </a:r>
                <a:r>
                  <a:rPr lang="en-US" altLang="zh-TW" dirty="0" smtClean="0"/>
                  <a:t>Y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mapping </a:t>
                </a:r>
                <a:r>
                  <a:rPr lang="zh-TW" altLang="en-US" dirty="0" smtClean="0"/>
                  <a:t>後的 </a:t>
                </a:r>
                <a:r>
                  <a:rPr lang="en-US" altLang="zh-TW" dirty="0" smtClean="0"/>
                  <a:t>X’</a:t>
                </a:r>
                <a:r>
                  <a:rPr lang="zh-TW" altLang="en-US" dirty="0" smtClean="0"/>
                  <a:t> 與 </a:t>
                </a:r>
                <a:r>
                  <a:rPr lang="en-US" altLang="zh-TW" dirty="0" smtClean="0"/>
                  <a:t>Y’</a:t>
                </a:r>
                <a:r>
                  <a:rPr lang="zh-TW" altLang="en-US" dirty="0" smtClean="0"/>
                  <a:t> 的</a:t>
                </a:r>
                <a:r>
                  <a:rPr lang="en-US" altLang="zh-TW" dirty="0" smtClean="0"/>
                  <a:t>LCS</a:t>
                </a:r>
                <a:r>
                  <a:rPr lang="zh-TW" altLang="en-US" dirty="0" smtClean="0"/>
                  <a:t>逐個元素還原，確認是否真正為一個</a:t>
                </a:r>
                <a:r>
                  <a:rPr lang="en-US" altLang="zh-TW" dirty="0" smtClean="0"/>
                  <a:t>match</a:t>
                </a:r>
                <a:r>
                  <a:rPr lang="zh-TW" altLang="en-US" dirty="0" smtClean="0"/>
                  <a:t>，若是，則加入</a:t>
                </a:r>
                <a:r>
                  <a:rPr lang="en-US" altLang="zh-TW" dirty="0" smtClean="0"/>
                  <a:t>lower bound CS</a:t>
                </a:r>
                <a:r>
                  <a:rPr lang="zh-TW" altLang="en-US" dirty="0" smtClean="0"/>
                  <a:t>。</a:t>
                </a:r>
                <a:endParaRPr lang="en-US" altLang="zh-TW" dirty="0" smtClean="0"/>
              </a:p>
              <a:p>
                <a:r>
                  <a:rPr lang="en-US" altLang="zh-TW" dirty="0" smtClean="0"/>
                  <a:t>X</a:t>
                </a:r>
                <a:r>
                  <a:rPr lang="zh-TW" altLang="en-US" dirty="0" smtClean="0"/>
                  <a:t> </a:t>
                </a:r>
                <a:r>
                  <a:rPr lang="en-US" altLang="zh-TW" dirty="0"/>
                  <a:t>=</a:t>
                </a:r>
                <a:r>
                  <a:rPr lang="zh-TW" altLang="en-US" dirty="0"/>
                  <a:t> </a:t>
                </a:r>
                <a:r>
                  <a:rPr lang="en-US" altLang="zh-TW" dirty="0"/>
                  <a:t>t </a:t>
                </a:r>
                <a:r>
                  <a:rPr lang="en-US" altLang="zh-TW" dirty="0" err="1"/>
                  <a:t>t</a:t>
                </a:r>
                <a:r>
                  <a:rPr lang="en-US" altLang="zh-TW" dirty="0"/>
                  <a:t> a t c </a:t>
                </a:r>
                <a:r>
                  <a:rPr lang="en-US" altLang="zh-TW" dirty="0" err="1"/>
                  <a:t>c</a:t>
                </a:r>
                <a:r>
                  <a:rPr lang="en-US" altLang="zh-TW" dirty="0"/>
                  <a:t> g t</a:t>
                </a:r>
              </a:p>
              <a:p>
                <a:r>
                  <a:rPr lang="en-US" altLang="zh-TW" dirty="0"/>
                  <a:t>Y = a g c a </a:t>
                </a:r>
                <a:r>
                  <a:rPr lang="en-US" altLang="zh-TW" dirty="0" err="1"/>
                  <a:t>a</a:t>
                </a:r>
                <a:r>
                  <a:rPr lang="en-US" altLang="zh-TW" dirty="0"/>
                  <a:t> c t </a:t>
                </a:r>
                <a:r>
                  <a:rPr lang="en-US" altLang="zh-TW" dirty="0" err="1"/>
                  <a:t>t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= A,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= a or 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= B,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/>
                  <a:t> = c or g</a:t>
                </a:r>
              </a:p>
              <a:p>
                <a:r>
                  <a:rPr lang="en-US" altLang="zh-TW" dirty="0"/>
                  <a:t>X’ = AAAABBBA</a:t>
                </a:r>
              </a:p>
              <a:p>
                <a:r>
                  <a:rPr lang="en-US" altLang="zh-TW" dirty="0"/>
                  <a:t>Y’ = ABBAABAA</a:t>
                </a:r>
              </a:p>
              <a:p>
                <a:r>
                  <a:rPr lang="en-US" altLang="zh-TW" dirty="0"/>
                  <a:t>LCS(X’, Y’) = </a:t>
                </a:r>
                <a:r>
                  <a:rPr lang="en-US" altLang="zh-TW" dirty="0" smtClean="0"/>
                  <a:t>AAAAA</a:t>
                </a:r>
              </a:p>
              <a:p>
                <a:r>
                  <a:rPr lang="zh-TW" altLang="en-US" dirty="0" smtClean="0"/>
                  <a:t>逐個還原：</a:t>
                </a:r>
                <a:r>
                  <a:rPr lang="en-US" altLang="zh-TW" dirty="0" smtClean="0"/>
                  <a:t>(t, a), (t, a), (a, a), (t, t), (t, t)</a:t>
                </a:r>
              </a:p>
              <a:p>
                <a:r>
                  <a:rPr lang="en-US" altLang="zh-TW" dirty="0" smtClean="0"/>
                  <a:t>lower bound CS: a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81128"/>
              </a:xfrm>
              <a:blipFill rotWithShape="1">
                <a:blip r:embed="rId2"/>
                <a:stretch>
                  <a:fillRect l="-1185" t="-2806" r="-667" b="-15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8182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Reducing the lengths of the input strings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zh-TW" altLang="en-US" dirty="0" smtClean="0"/>
                  <a:t>將輸入字串中的元素</a:t>
                </a:r>
                <a:r>
                  <a:rPr lang="zh-TW" altLang="en-US" dirty="0"/>
                  <a:t>有條件的</a:t>
                </a:r>
                <a:r>
                  <a:rPr lang="zh-TW" altLang="en-US" dirty="0" smtClean="0"/>
                  <a:t>捨去，縮短輸入字串。</a:t>
                </a:r>
                <a:endParaRPr lang="en-US" altLang="zh-TW" dirty="0" smtClean="0"/>
              </a:p>
              <a:p>
                <a:r>
                  <a:rPr lang="en-US" altLang="zh-TW" dirty="0" smtClean="0"/>
                  <a:t>X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=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 </a:t>
                </a:r>
                <a:r>
                  <a:rPr lang="en-US" altLang="zh-TW" dirty="0" err="1" smtClean="0"/>
                  <a:t>t</a:t>
                </a:r>
                <a:r>
                  <a:rPr lang="en-US" altLang="zh-TW" dirty="0" smtClean="0"/>
                  <a:t> a t c </a:t>
                </a:r>
                <a:r>
                  <a:rPr lang="en-US" altLang="zh-TW" dirty="0" err="1" smtClean="0"/>
                  <a:t>c</a:t>
                </a:r>
                <a:r>
                  <a:rPr lang="en-US" altLang="zh-TW" dirty="0" smtClean="0"/>
                  <a:t> g t</a:t>
                </a:r>
              </a:p>
              <a:p>
                <a:r>
                  <a:rPr lang="en-US" altLang="zh-TW" dirty="0" smtClean="0"/>
                  <a:t>Y = a g c a </a:t>
                </a:r>
                <a:r>
                  <a:rPr lang="en-US" altLang="zh-TW" dirty="0" err="1" smtClean="0"/>
                  <a:t>a</a:t>
                </a:r>
                <a:r>
                  <a:rPr lang="en-US" altLang="zh-TW" dirty="0" smtClean="0"/>
                  <a:t> c t </a:t>
                </a:r>
                <a:r>
                  <a:rPr lang="en-US" altLang="zh-TW" dirty="0" err="1" smtClean="0"/>
                  <a:t>t</a:t>
                </a:r>
                <a:endParaRPr lang="en-US" altLang="zh-TW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(a) 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(t) = 4,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(a) = 3,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(t)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(c) = 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/>
                  <a:t>(g) = 1</a:t>
                </a:r>
              </a:p>
              <a:p>
                <a:r>
                  <a:rPr lang="zh-TW" altLang="en-US" dirty="0" smtClean="0"/>
                  <a:t>捨去</a:t>
                </a:r>
                <a:r>
                  <a:rPr lang="en-US" altLang="zh-TW" dirty="0" smtClean="0"/>
                  <a:t>min{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/>
                          </a:rPr>
                          <m:t>𝑓</m:t>
                        </m:r>
                      </m:e>
                      <m:sub>
                        <m:r>
                          <a:rPr lang="en-US" altLang="zh-TW" b="0" i="1" smtClean="0">
                            <a:latin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altLang="zh-TW" dirty="0" smtClean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TW" i="1" dirty="0">
                            <a:latin typeface="Cambria Math"/>
                          </a:rPr>
                          <m:t>𝑎</m:t>
                        </m:r>
                      </m:e>
                      <m:sub>
                        <m:r>
                          <a:rPr lang="en-US" altLang="zh-TW" i="1" dirty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)}</a:t>
                </a:r>
                <a:r>
                  <a:rPr lang="zh-TW" altLang="en-US" dirty="0" smtClean="0"/>
                  <a:t>值最大的元素</a:t>
                </a:r>
                <a:r>
                  <a:rPr lang="en-US" altLang="zh-TW" dirty="0" smtClean="0"/>
                  <a:t>: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t c</a:t>
                </a:r>
              </a:p>
              <a:p>
                <a:r>
                  <a:rPr lang="en-US" altLang="zh-TW" dirty="0" smtClean="0"/>
                  <a:t>X’ = a g</a:t>
                </a:r>
              </a:p>
              <a:p>
                <a:r>
                  <a:rPr lang="en-US" altLang="zh-TW" dirty="0" smtClean="0"/>
                  <a:t>Y’ = a g a </a:t>
                </a:r>
                <a:r>
                  <a:rPr lang="en-US" altLang="zh-TW" dirty="0" err="1" smtClean="0"/>
                  <a:t>a</a:t>
                </a:r>
                <a:endParaRPr lang="en-US" altLang="zh-TW" dirty="0"/>
              </a:p>
              <a:p>
                <a:r>
                  <a:rPr lang="en-US" altLang="zh-TW" dirty="0"/>
                  <a:t>l</a:t>
                </a:r>
                <a:r>
                  <a:rPr lang="en-US" altLang="zh-TW" dirty="0" smtClean="0"/>
                  <a:t>ower bound CS = a g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3639" r="-667" b="-31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6553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An Approach Used in </a:t>
            </a:r>
            <a:r>
              <a:rPr lang="en-US" altLang="zh-TW" dirty="0"/>
              <a:t>B</a:t>
            </a:r>
            <a:r>
              <a:rPr lang="en-US" altLang="zh-TW" dirty="0" smtClean="0"/>
              <a:t>iosequence </a:t>
            </a:r>
            <a:r>
              <a:rPr lang="en-US" altLang="zh-TW" dirty="0"/>
              <a:t>C</a:t>
            </a:r>
            <a:r>
              <a:rPr lang="en-US" altLang="zh-TW" dirty="0" smtClean="0"/>
              <a:t>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給定長度</a:t>
            </a:r>
            <a:r>
              <a:rPr lang="en-US" altLang="zh-TW" dirty="0"/>
              <a:t>q</a:t>
            </a:r>
            <a:r>
              <a:rPr lang="zh-TW" altLang="en-US" dirty="0" smtClean="0"/>
              <a:t>，將</a:t>
            </a:r>
            <a:r>
              <a:rPr lang="en-US" altLang="zh-TW" dirty="0"/>
              <a:t>Y</a:t>
            </a:r>
            <a:r>
              <a:rPr lang="zh-TW" altLang="en-US" dirty="0" smtClean="0"/>
              <a:t>中符合長度</a:t>
            </a:r>
            <a:r>
              <a:rPr lang="en-US" altLang="zh-TW" dirty="0" smtClean="0"/>
              <a:t>q</a:t>
            </a:r>
            <a:r>
              <a:rPr lang="zh-TW" altLang="en-US" dirty="0" smtClean="0"/>
              <a:t>的</a:t>
            </a:r>
            <a:r>
              <a:rPr lang="en-US" altLang="zh-TW" dirty="0" smtClean="0"/>
              <a:t>substring</a:t>
            </a:r>
            <a:r>
              <a:rPr lang="zh-TW" altLang="en-US" dirty="0" smtClean="0"/>
              <a:t>找出，利用這些</a:t>
            </a:r>
            <a:r>
              <a:rPr lang="en-US" altLang="zh-TW" dirty="0" smtClean="0"/>
              <a:t>substring</a:t>
            </a:r>
            <a:r>
              <a:rPr lang="zh-TW" altLang="en-US" dirty="0" smtClean="0"/>
              <a:t>，檢查</a:t>
            </a:r>
            <a:r>
              <a:rPr lang="en-US" altLang="zh-TW" dirty="0" smtClean="0"/>
              <a:t>X</a:t>
            </a:r>
            <a:r>
              <a:rPr lang="zh-TW" altLang="en-US" dirty="0" smtClean="0"/>
              <a:t>中的</a:t>
            </a:r>
            <a:r>
              <a:rPr lang="en-US" altLang="zh-TW" dirty="0" smtClean="0"/>
              <a:t>common substring</a:t>
            </a:r>
            <a:r>
              <a:rPr lang="zh-TW" altLang="en-US" dirty="0" smtClean="0"/>
              <a:t>，從</a:t>
            </a:r>
            <a:r>
              <a:rPr lang="zh-TW" altLang="en-US" dirty="0"/>
              <a:t>輸入字串</a:t>
            </a:r>
            <a:r>
              <a:rPr lang="zh-TW" altLang="en-US" dirty="0" smtClean="0"/>
              <a:t>中間選擇最長的</a:t>
            </a:r>
            <a:r>
              <a:rPr lang="en-US" altLang="zh-TW" dirty="0" smtClean="0"/>
              <a:t>common substring</a:t>
            </a:r>
            <a:r>
              <a:rPr lang="zh-TW" altLang="en-US" dirty="0" smtClean="0"/>
              <a:t>，將其加入</a:t>
            </a:r>
            <a:r>
              <a:rPr lang="en-US" altLang="zh-TW" dirty="0" smtClean="0"/>
              <a:t>lower bound</a:t>
            </a:r>
            <a:r>
              <a:rPr lang="zh-TW" altLang="en-US" dirty="0" smtClean="0"/>
              <a:t>中，繼續檢查其起點與</a:t>
            </a:r>
            <a:r>
              <a:rPr lang="en-US" altLang="zh-TW" dirty="0" smtClean="0"/>
              <a:t>(0,</a:t>
            </a:r>
            <a:r>
              <a:rPr lang="zh-TW" altLang="en-US" dirty="0" smtClean="0"/>
              <a:t> </a:t>
            </a:r>
            <a:r>
              <a:rPr lang="en-US" altLang="zh-TW" dirty="0" smtClean="0"/>
              <a:t>0)</a:t>
            </a:r>
            <a:r>
              <a:rPr lang="zh-TW" altLang="en-US" dirty="0" smtClean="0"/>
              <a:t>產生的左上矩形，與其中點和</a:t>
            </a:r>
            <a:r>
              <a:rPr lang="en-US" altLang="zh-TW" dirty="0" smtClean="0"/>
              <a:t>(m, n)</a:t>
            </a:r>
            <a:r>
              <a:rPr lang="zh-TW" altLang="en-US" dirty="0" smtClean="0"/>
              <a:t>產生的右下矩形中的</a:t>
            </a:r>
            <a:r>
              <a:rPr lang="en-US" altLang="zh-TW" dirty="0" smtClean="0"/>
              <a:t>common substring</a:t>
            </a:r>
            <a:r>
              <a:rPr lang="zh-TW" altLang="en-US" dirty="0" smtClean="0"/>
              <a:t>，而矩形外的則不檢查。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55398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An Approach Used in </a:t>
            </a:r>
            <a:r>
              <a:rPr lang="en-US" altLang="zh-TW" dirty="0"/>
              <a:t>B</a:t>
            </a:r>
            <a:r>
              <a:rPr lang="en-US" altLang="zh-TW" dirty="0" smtClean="0"/>
              <a:t>iosequence </a:t>
            </a:r>
            <a:r>
              <a:rPr lang="en-US" altLang="zh-TW" dirty="0"/>
              <a:t>C</a:t>
            </a:r>
            <a:r>
              <a:rPr lang="en-US" altLang="zh-TW" dirty="0" smtClean="0"/>
              <a:t>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X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t </a:t>
            </a:r>
            <a:r>
              <a:rPr lang="en-US" altLang="zh-TW" dirty="0" err="1" smtClean="0"/>
              <a:t>t</a:t>
            </a:r>
            <a:r>
              <a:rPr lang="en-US" altLang="zh-TW" dirty="0" smtClean="0"/>
              <a:t> a t c </a:t>
            </a:r>
            <a:r>
              <a:rPr lang="en-US" altLang="zh-TW" dirty="0" err="1" smtClean="0"/>
              <a:t>c</a:t>
            </a:r>
            <a:r>
              <a:rPr lang="en-US" altLang="zh-TW" dirty="0" smtClean="0"/>
              <a:t> g t</a:t>
            </a:r>
          </a:p>
          <a:p>
            <a:r>
              <a:rPr lang="en-US" altLang="zh-TW" dirty="0" smtClean="0"/>
              <a:t>Y = a g c a </a:t>
            </a:r>
            <a:r>
              <a:rPr lang="en-US" altLang="zh-TW" dirty="0" err="1" smtClean="0"/>
              <a:t>a</a:t>
            </a:r>
            <a:r>
              <a:rPr lang="en-US" altLang="zh-TW" dirty="0" smtClean="0"/>
              <a:t> c t </a:t>
            </a:r>
            <a:r>
              <a:rPr lang="en-US" altLang="zh-TW" dirty="0" err="1" smtClean="0"/>
              <a:t>t</a:t>
            </a:r>
            <a:endParaRPr lang="en-US" altLang="zh-TW" dirty="0"/>
          </a:p>
          <a:p>
            <a:r>
              <a:rPr lang="zh-TW" altLang="en-US" dirty="0" smtClean="0"/>
              <a:t>令 </a:t>
            </a:r>
            <a:r>
              <a:rPr lang="en-US" altLang="zh-TW" dirty="0" smtClean="0"/>
              <a:t>q = 1</a:t>
            </a:r>
          </a:p>
          <a:p>
            <a:r>
              <a:rPr lang="en-US" altLang="zh-TW" dirty="0" smtClean="0"/>
              <a:t>Lower bound = c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868247"/>
              </p:ext>
            </p:extLst>
          </p:nvPr>
        </p:nvGraphicFramePr>
        <p:xfrm>
          <a:off x="4571999" y="2132856"/>
          <a:ext cx="4320486" cy="38495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54"/>
                <a:gridCol w="480054"/>
                <a:gridCol w="480054"/>
                <a:gridCol w="480054"/>
                <a:gridCol w="480054"/>
                <a:gridCol w="480054"/>
                <a:gridCol w="480054"/>
                <a:gridCol w="480054"/>
                <a:gridCol w="480054"/>
              </a:tblGrid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 smtClean="0"/>
                        <a:t>X</a:t>
                      </a:r>
                      <a:br>
                        <a:rPr lang="en-US" altLang="zh-TW" sz="1200" b="0" dirty="0" smtClean="0"/>
                      </a:br>
                      <a:r>
                        <a:rPr lang="en-US" altLang="zh-TW" sz="1200" b="0" dirty="0" smtClean="0"/>
                        <a:t>Y</a:t>
                      </a:r>
                      <a:endParaRPr lang="zh-TW" altLang="en-US" sz="1200" b="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c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c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g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線接點 6"/>
          <p:cNvCxnSpPr/>
          <p:nvPr/>
        </p:nvCxnSpPr>
        <p:spPr>
          <a:xfrm>
            <a:off x="5004048" y="2564904"/>
            <a:ext cx="3888432" cy="3384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85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An Approach Used in </a:t>
            </a:r>
            <a:r>
              <a:rPr lang="en-US" altLang="zh-TW" dirty="0"/>
              <a:t>B</a:t>
            </a:r>
            <a:r>
              <a:rPr lang="en-US" altLang="zh-TW" dirty="0" smtClean="0"/>
              <a:t>iosequence </a:t>
            </a:r>
            <a:r>
              <a:rPr lang="en-US" altLang="zh-TW" dirty="0"/>
              <a:t>C</a:t>
            </a:r>
            <a:r>
              <a:rPr lang="en-US" altLang="zh-TW" dirty="0" smtClean="0"/>
              <a:t>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X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t </a:t>
            </a:r>
            <a:r>
              <a:rPr lang="en-US" altLang="zh-TW" dirty="0" err="1" smtClean="0"/>
              <a:t>t</a:t>
            </a:r>
            <a:r>
              <a:rPr lang="en-US" altLang="zh-TW" dirty="0" smtClean="0"/>
              <a:t> a t c </a:t>
            </a:r>
            <a:r>
              <a:rPr lang="en-US" altLang="zh-TW" dirty="0" err="1" smtClean="0"/>
              <a:t>c</a:t>
            </a:r>
            <a:r>
              <a:rPr lang="en-US" altLang="zh-TW" dirty="0" smtClean="0"/>
              <a:t> g t</a:t>
            </a:r>
          </a:p>
          <a:p>
            <a:r>
              <a:rPr lang="en-US" altLang="zh-TW" dirty="0" smtClean="0"/>
              <a:t>Y = a g c a </a:t>
            </a:r>
            <a:r>
              <a:rPr lang="en-US" altLang="zh-TW" dirty="0" err="1" smtClean="0"/>
              <a:t>a</a:t>
            </a:r>
            <a:r>
              <a:rPr lang="en-US" altLang="zh-TW" dirty="0" smtClean="0"/>
              <a:t> c t </a:t>
            </a:r>
            <a:r>
              <a:rPr lang="en-US" altLang="zh-TW" dirty="0" err="1" smtClean="0"/>
              <a:t>t</a:t>
            </a:r>
            <a:endParaRPr lang="en-US" altLang="zh-TW" dirty="0"/>
          </a:p>
          <a:p>
            <a:r>
              <a:rPr lang="zh-TW" altLang="en-US" dirty="0" smtClean="0"/>
              <a:t>令 </a:t>
            </a:r>
            <a:r>
              <a:rPr lang="en-US" altLang="zh-TW" dirty="0" smtClean="0"/>
              <a:t>q = 1</a:t>
            </a:r>
          </a:p>
          <a:p>
            <a:r>
              <a:rPr lang="en-US" altLang="zh-TW" dirty="0" smtClean="0"/>
              <a:t>Lower bound = c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373081"/>
              </p:ext>
            </p:extLst>
          </p:nvPr>
        </p:nvGraphicFramePr>
        <p:xfrm>
          <a:off x="4571999" y="2132856"/>
          <a:ext cx="4320486" cy="38495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54"/>
                <a:gridCol w="480054"/>
                <a:gridCol w="480054"/>
                <a:gridCol w="480054"/>
                <a:gridCol w="480054"/>
                <a:gridCol w="480054"/>
                <a:gridCol w="480054"/>
                <a:gridCol w="480054"/>
                <a:gridCol w="480054"/>
              </a:tblGrid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 smtClean="0"/>
                        <a:t>X</a:t>
                      </a:r>
                      <a:br>
                        <a:rPr lang="en-US" altLang="zh-TW" sz="1200" b="0" dirty="0" smtClean="0"/>
                      </a:br>
                      <a:r>
                        <a:rPr lang="en-US" altLang="zh-TW" sz="1200" b="0" dirty="0" smtClean="0"/>
                        <a:t>Y</a:t>
                      </a:r>
                      <a:endParaRPr lang="zh-TW" altLang="en-US" sz="1200" b="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c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c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g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線接點 6"/>
          <p:cNvCxnSpPr/>
          <p:nvPr/>
        </p:nvCxnSpPr>
        <p:spPr>
          <a:xfrm>
            <a:off x="5004048" y="2564904"/>
            <a:ext cx="3888432" cy="3384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004048" y="2564904"/>
            <a:ext cx="2448272" cy="21602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7945707" y="5085184"/>
            <a:ext cx="936104" cy="8640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189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An Approach Used in </a:t>
            </a:r>
            <a:r>
              <a:rPr lang="en-US" altLang="zh-TW" dirty="0"/>
              <a:t>B</a:t>
            </a:r>
            <a:r>
              <a:rPr lang="en-US" altLang="zh-TW" dirty="0" smtClean="0"/>
              <a:t>iosequence </a:t>
            </a:r>
            <a:r>
              <a:rPr lang="en-US" altLang="zh-TW" dirty="0"/>
              <a:t>C</a:t>
            </a:r>
            <a:r>
              <a:rPr lang="en-US" altLang="zh-TW" dirty="0" smtClean="0"/>
              <a:t>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X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t </a:t>
            </a:r>
            <a:r>
              <a:rPr lang="en-US" altLang="zh-TW" dirty="0" err="1" smtClean="0"/>
              <a:t>t</a:t>
            </a:r>
            <a:r>
              <a:rPr lang="en-US" altLang="zh-TW" dirty="0" smtClean="0"/>
              <a:t> a t c </a:t>
            </a:r>
            <a:r>
              <a:rPr lang="en-US" altLang="zh-TW" dirty="0" err="1" smtClean="0"/>
              <a:t>c</a:t>
            </a:r>
            <a:r>
              <a:rPr lang="en-US" altLang="zh-TW" dirty="0" smtClean="0"/>
              <a:t> g t</a:t>
            </a:r>
          </a:p>
          <a:p>
            <a:r>
              <a:rPr lang="en-US" altLang="zh-TW" dirty="0" smtClean="0"/>
              <a:t>Y = a g c a </a:t>
            </a:r>
            <a:r>
              <a:rPr lang="en-US" altLang="zh-TW" dirty="0" err="1" smtClean="0"/>
              <a:t>a</a:t>
            </a:r>
            <a:r>
              <a:rPr lang="en-US" altLang="zh-TW" dirty="0" smtClean="0"/>
              <a:t> c t </a:t>
            </a:r>
            <a:r>
              <a:rPr lang="en-US" altLang="zh-TW" dirty="0" err="1" smtClean="0"/>
              <a:t>t</a:t>
            </a:r>
            <a:endParaRPr lang="en-US" altLang="zh-TW" dirty="0"/>
          </a:p>
          <a:p>
            <a:r>
              <a:rPr lang="zh-TW" altLang="en-US" dirty="0" smtClean="0"/>
              <a:t>令 </a:t>
            </a:r>
            <a:r>
              <a:rPr lang="en-US" altLang="zh-TW" dirty="0" smtClean="0"/>
              <a:t>q = 1</a:t>
            </a:r>
          </a:p>
          <a:p>
            <a:r>
              <a:rPr lang="en-US" altLang="zh-TW" dirty="0" smtClean="0"/>
              <a:t>Lower bound = c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962482"/>
              </p:ext>
            </p:extLst>
          </p:nvPr>
        </p:nvGraphicFramePr>
        <p:xfrm>
          <a:off x="4571999" y="2132856"/>
          <a:ext cx="4320486" cy="38495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54"/>
                <a:gridCol w="480054"/>
                <a:gridCol w="480054"/>
                <a:gridCol w="480054"/>
                <a:gridCol w="480054"/>
                <a:gridCol w="480054"/>
                <a:gridCol w="480054"/>
                <a:gridCol w="480054"/>
                <a:gridCol w="480054"/>
              </a:tblGrid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 smtClean="0"/>
                        <a:t>X</a:t>
                      </a:r>
                      <a:br>
                        <a:rPr lang="en-US" altLang="zh-TW" sz="1200" b="0" dirty="0" smtClean="0"/>
                      </a:br>
                      <a:r>
                        <a:rPr lang="en-US" altLang="zh-TW" sz="1200" b="0" dirty="0" smtClean="0"/>
                        <a:t>Y</a:t>
                      </a:r>
                      <a:endParaRPr lang="zh-TW" altLang="en-US" sz="1200" b="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c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c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g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線接點 6"/>
          <p:cNvCxnSpPr/>
          <p:nvPr/>
        </p:nvCxnSpPr>
        <p:spPr>
          <a:xfrm>
            <a:off x="5004048" y="2564904"/>
            <a:ext cx="3888432" cy="3384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004048" y="2564904"/>
            <a:ext cx="2448272" cy="21602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7945707" y="5085184"/>
            <a:ext cx="936104" cy="86409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950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/>
              <a:t>An Approach Used in </a:t>
            </a:r>
            <a:r>
              <a:rPr lang="en-US" altLang="zh-TW" dirty="0"/>
              <a:t>B</a:t>
            </a:r>
            <a:r>
              <a:rPr lang="en-US" altLang="zh-TW" dirty="0" smtClean="0"/>
              <a:t>iosequence </a:t>
            </a:r>
            <a:r>
              <a:rPr lang="en-US" altLang="zh-TW" dirty="0"/>
              <a:t>C</a:t>
            </a:r>
            <a:r>
              <a:rPr lang="en-US" altLang="zh-TW" dirty="0" smtClean="0"/>
              <a:t>omparison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X</a:t>
            </a:r>
            <a:r>
              <a:rPr lang="zh-TW" altLang="en-US" dirty="0" smtClean="0"/>
              <a:t> </a:t>
            </a:r>
            <a:r>
              <a:rPr lang="en-US" altLang="zh-TW" dirty="0" smtClean="0"/>
              <a:t>=</a:t>
            </a:r>
            <a:r>
              <a:rPr lang="zh-TW" altLang="en-US" dirty="0" smtClean="0"/>
              <a:t> </a:t>
            </a:r>
            <a:r>
              <a:rPr lang="en-US" altLang="zh-TW" dirty="0" smtClean="0"/>
              <a:t>t </a:t>
            </a:r>
            <a:r>
              <a:rPr lang="en-US" altLang="zh-TW" dirty="0" err="1" smtClean="0"/>
              <a:t>t</a:t>
            </a:r>
            <a:r>
              <a:rPr lang="en-US" altLang="zh-TW" dirty="0" smtClean="0"/>
              <a:t> a t c </a:t>
            </a:r>
            <a:r>
              <a:rPr lang="en-US" altLang="zh-TW" dirty="0" err="1" smtClean="0"/>
              <a:t>c</a:t>
            </a:r>
            <a:r>
              <a:rPr lang="en-US" altLang="zh-TW" dirty="0" smtClean="0"/>
              <a:t> g t</a:t>
            </a:r>
          </a:p>
          <a:p>
            <a:r>
              <a:rPr lang="en-US" altLang="zh-TW" dirty="0" smtClean="0"/>
              <a:t>Y = a g c a </a:t>
            </a:r>
            <a:r>
              <a:rPr lang="en-US" altLang="zh-TW" dirty="0" err="1" smtClean="0"/>
              <a:t>a</a:t>
            </a:r>
            <a:r>
              <a:rPr lang="en-US" altLang="zh-TW" dirty="0" smtClean="0"/>
              <a:t> c t </a:t>
            </a:r>
            <a:r>
              <a:rPr lang="en-US" altLang="zh-TW" dirty="0" err="1" smtClean="0"/>
              <a:t>t</a:t>
            </a:r>
            <a:endParaRPr lang="en-US" altLang="zh-TW" dirty="0"/>
          </a:p>
          <a:p>
            <a:r>
              <a:rPr lang="zh-TW" altLang="en-US" dirty="0" smtClean="0"/>
              <a:t>令 </a:t>
            </a:r>
            <a:r>
              <a:rPr lang="en-US" altLang="zh-TW" dirty="0" smtClean="0"/>
              <a:t>q = 1</a:t>
            </a:r>
          </a:p>
          <a:p>
            <a:r>
              <a:rPr lang="en-US" altLang="zh-TW" dirty="0" smtClean="0"/>
              <a:t>Lower bound = a c t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742746"/>
              </p:ext>
            </p:extLst>
          </p:nvPr>
        </p:nvGraphicFramePr>
        <p:xfrm>
          <a:off x="4571999" y="2132856"/>
          <a:ext cx="4320486" cy="384957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80054"/>
                <a:gridCol w="480054"/>
                <a:gridCol w="480054"/>
                <a:gridCol w="480054"/>
                <a:gridCol w="480054"/>
                <a:gridCol w="480054"/>
                <a:gridCol w="480054"/>
                <a:gridCol w="480054"/>
                <a:gridCol w="480054"/>
              </a:tblGrid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200" b="0" dirty="0" smtClean="0"/>
                        <a:t>X</a:t>
                      </a:r>
                      <a:br>
                        <a:rPr lang="en-US" altLang="zh-TW" sz="1200" b="0" dirty="0" smtClean="0"/>
                      </a:br>
                      <a:r>
                        <a:rPr lang="en-US" altLang="zh-TW" sz="1200" b="0" dirty="0" smtClean="0"/>
                        <a:t>Y</a:t>
                      </a:r>
                      <a:endParaRPr lang="zh-TW" altLang="en-US" sz="1200" b="0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a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c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c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g</a:t>
                      </a:r>
                      <a:endParaRPr lang="zh-TW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t</a:t>
                      </a:r>
                      <a:endParaRPr lang="zh-TW" altLang="en-US" b="0" dirty="0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</a:tr>
              <a:tr h="42404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*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TW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線接點 6"/>
          <p:cNvCxnSpPr/>
          <p:nvPr/>
        </p:nvCxnSpPr>
        <p:spPr>
          <a:xfrm>
            <a:off x="5004048" y="2564904"/>
            <a:ext cx="3888432" cy="338437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5004048" y="2564904"/>
            <a:ext cx="1008112" cy="129614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623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Performance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05" y="1600200"/>
            <a:ext cx="8161989" cy="4525963"/>
          </a:xfrm>
        </p:spPr>
      </p:pic>
    </p:spTree>
    <p:extLst>
      <p:ext uri="{BB962C8B-B14F-4D97-AF65-F5344CB8AC3E}">
        <p14:creationId xmlns:p14="http://schemas.microsoft.com/office/powerpoint/2010/main" val="162727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040" y="1600200"/>
            <a:ext cx="8103920" cy="4525963"/>
          </a:xfrm>
        </p:spPr>
      </p:pic>
    </p:spTree>
    <p:extLst>
      <p:ext uri="{BB962C8B-B14F-4D97-AF65-F5344CB8AC3E}">
        <p14:creationId xmlns:p14="http://schemas.microsoft.com/office/powerpoint/2010/main" val="3647272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3427</Words>
  <Application>Microsoft Office PowerPoint</Application>
  <PresentationFormat>如螢幕大小 (4:3)</PresentationFormat>
  <Paragraphs>731</Paragraphs>
  <Slides>32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3" baseType="lpstr">
      <vt:lpstr>Office 佈景主題</vt:lpstr>
      <vt:lpstr>New Approximation Algorithms for Longest Common Subsequences</vt:lpstr>
      <vt:lpstr>Abstract</vt:lpstr>
      <vt:lpstr>Introduction</vt:lpstr>
      <vt:lpstr>Upper Bounds</vt:lpstr>
      <vt:lpstr>Mapping Symbols</vt:lpstr>
      <vt:lpstr>Solving Independent Subproblems</vt:lpstr>
      <vt:lpstr>Loosening the Order of the Symbols</vt:lpstr>
      <vt:lpstr>Lower Bounds</vt:lpstr>
      <vt:lpstr>The Symbol of maximum frequency</vt:lpstr>
      <vt:lpstr>Cnt Heuristic</vt:lpstr>
      <vt:lpstr>Cnt Heuristic</vt:lpstr>
      <vt:lpstr>Cnt Heuristic</vt:lpstr>
      <vt:lpstr>Cnt Heuristic</vt:lpstr>
      <vt:lpstr>Cnt Heuristic</vt:lpstr>
      <vt:lpstr>Cnt Heuristic</vt:lpstr>
      <vt:lpstr>Cnt Heuristic</vt:lpstr>
      <vt:lpstr>Cnt Heuristic</vt:lpstr>
      <vt:lpstr>Cnt Heuristic</vt:lpstr>
      <vt:lpstr>Best Next Heuristic</vt:lpstr>
      <vt:lpstr>Best Next Heuristic</vt:lpstr>
      <vt:lpstr>Best Next Heuristic</vt:lpstr>
      <vt:lpstr>Best Next Heuristic</vt:lpstr>
      <vt:lpstr>Best Next Heuristic</vt:lpstr>
      <vt:lpstr>From an Upper Bound to a Lower Bound: the Mapping Technique</vt:lpstr>
      <vt:lpstr>Reducing the lengths of the input strings</vt:lpstr>
      <vt:lpstr>An Approach Used in Biosequence Comparison</vt:lpstr>
      <vt:lpstr>An Approach Used in Biosequence Comparison</vt:lpstr>
      <vt:lpstr>An Approach Used in Biosequence Comparison</vt:lpstr>
      <vt:lpstr>An Approach Used in Biosequence Comparison</vt:lpstr>
      <vt:lpstr>An Approach Used in Biosequence Comparison</vt:lpstr>
      <vt:lpstr>Performance</vt:lpstr>
      <vt:lpstr>Time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Sena</dc:creator>
  <cp:lastModifiedBy>PotatOS</cp:lastModifiedBy>
  <cp:revision>86</cp:revision>
  <dcterms:created xsi:type="dcterms:W3CDTF">2014-08-11T15:51:28Z</dcterms:created>
  <dcterms:modified xsi:type="dcterms:W3CDTF">2014-08-19T10:52:25Z</dcterms:modified>
</cp:coreProperties>
</file>