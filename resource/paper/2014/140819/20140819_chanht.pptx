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7" r:id="rId11"/>
    <p:sldId id="266" r:id="rId12"/>
    <p:sldId id="268" r:id="rId13"/>
    <p:sldId id="269" r:id="rId14"/>
    <p:sldId id="270" r:id="rId15"/>
    <p:sldId id="274" r:id="rId16"/>
    <p:sldId id="273" r:id="rId17"/>
    <p:sldId id="272" r:id="rId18"/>
    <p:sldId id="275" r:id="rId19"/>
    <p:sldId id="276" r:id="rId20"/>
    <p:sldId id="277" r:id="rId21"/>
    <p:sldId id="278" r:id="rId22"/>
    <p:sldId id="279" r:id="rId23"/>
    <p:sldId id="280" r:id="rId24"/>
    <p:sldId id="281" r:id="rId25"/>
    <p:sldId id="282" r:id="rId26"/>
    <p:sldId id="284" r:id="rId27"/>
    <p:sldId id="283" r:id="rId28"/>
    <p:sldId id="285" r:id="rId29"/>
    <p:sldId id="286" r:id="rId30"/>
    <p:sldId id="287" r:id="rId31"/>
    <p:sldId id="288" r:id="rId32"/>
    <p:sldId id="289" r:id="rId33"/>
    <p:sldId id="290" r:id="rId34"/>
    <p:sldId id="291" r:id="rId35"/>
    <p:sldId id="295" r:id="rId36"/>
    <p:sldId id="296" r:id="rId3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101" d="100"/>
          <a:sy n="101" d="100"/>
        </p:scale>
        <p:origin x="12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250772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3477865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2888251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536319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1089947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3333392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2731537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1817609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1370213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4118628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7CE623A9-2773-41CD-A60F-01EA085A3163}" type="datetimeFigureOut">
              <a:rPr lang="zh-TW" altLang="en-US" smtClean="0"/>
              <a:t>2014/8/19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847364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E623A9-2773-41CD-A60F-01EA085A3163}" type="datetimeFigureOut">
              <a:rPr lang="zh-TW" altLang="en-US" smtClean="0"/>
              <a:t>2014/8/19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5C3435-ACDD-4C90-B971-B52A776E0196}" type="slidenum">
              <a:rPr lang="zh-TW" altLang="en-US" smtClean="0"/>
              <a:t>‹#›</a:t>
            </a:fld>
            <a:endParaRPr lang="zh-TW" altLang="en-US"/>
          </a:p>
        </p:txBody>
      </p:sp>
    </p:spTree>
    <p:extLst>
      <p:ext uri="{BB962C8B-B14F-4D97-AF65-F5344CB8AC3E}">
        <p14:creationId xmlns:p14="http://schemas.microsoft.com/office/powerpoint/2010/main" val="8209754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579438" y="1419225"/>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3600" dirty="0">
                <a:latin typeface="Arial Unicode MS" pitchFamily="34" charset="-120"/>
                <a:ea typeface="Arial Unicode MS" pitchFamily="34" charset="-120"/>
                <a:cs typeface="Arial Unicode MS" pitchFamily="34" charset="-120"/>
              </a:rPr>
              <a:t>A hybrid genetic algorithm for the repetition free longest common subsequence problem</a:t>
            </a:r>
          </a:p>
        </p:txBody>
      </p:sp>
      <p:sp>
        <p:nvSpPr>
          <p:cNvPr id="5" name="副標題 2"/>
          <p:cNvSpPr txBox="1">
            <a:spLocks/>
          </p:cNvSpPr>
          <p:nvPr/>
        </p:nvSpPr>
        <p:spPr>
          <a:xfrm>
            <a:off x="1397000" y="3076575"/>
            <a:ext cx="6400800" cy="479425"/>
          </a:xfrm>
          <a:prstGeom prst="rect">
            <a:avLst/>
          </a:prstGeom>
        </p:spPr>
        <p:txBody>
          <a:bodyPr>
            <a:normAutofit fontScale="70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defRPr/>
            </a:pPr>
            <a:r>
              <a:rPr lang="en-US" altLang="zh-TW" sz="3100" dirty="0"/>
              <a:t>Mauro </a:t>
            </a:r>
            <a:r>
              <a:rPr lang="en-US" altLang="zh-TW" sz="3100" dirty="0" err="1"/>
              <a:t>Castelli</a:t>
            </a:r>
            <a:r>
              <a:rPr lang="en-US" altLang="zh-TW" sz="3100" dirty="0"/>
              <a:t>, Stefano Beretta, Leonardo </a:t>
            </a:r>
            <a:r>
              <a:rPr lang="en-US" altLang="zh-TW" sz="3100" dirty="0" err="1" smtClean="0"/>
              <a:t>Vanneschi</a:t>
            </a:r>
            <a:endParaRPr kumimoji="0"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val="4290514383"/>
              </p:ext>
            </p:extLst>
          </p:nvPr>
        </p:nvGraphicFramePr>
        <p:xfrm>
          <a:off x="2843213" y="3581400"/>
          <a:ext cx="3816350" cy="1220788"/>
        </p:xfrm>
        <a:graphic>
          <a:graphicData uri="http://schemas.openxmlformats.org/drawingml/2006/table">
            <a:tbl>
              <a:tblPr/>
              <a:tblGrid>
                <a:gridCol w="3816350"/>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dirty="0" smtClean="0">
                          <a:solidFill>
                            <a:schemeClr val="tx1"/>
                          </a:solidFill>
                          <a:effectLst/>
                          <a:latin typeface="Verdana" panose="020B0604030504040204" pitchFamily="34" charset="0"/>
                          <a:ea typeface="+mn-ea"/>
                          <a:cs typeface="+mn-cs"/>
                        </a:rPr>
                        <a:t>Operations Research Letters</a:t>
                      </a:r>
                      <a:endParaRPr lang="en-US" sz="1800" kern="1200" dirty="0">
                        <a:solidFill>
                          <a:schemeClr val="tx1"/>
                        </a:solidFill>
                        <a:effectLst/>
                        <a:latin typeface="Verdana" panose="020B0604030504040204" pitchFamily="34" charset="0"/>
                        <a:ea typeface="+mn-ea"/>
                        <a:cs typeface="+mn-cs"/>
                      </a:endParaRPr>
                    </a:p>
                  </a:txBody>
                  <a:tcPr marL="95250" marR="9525" marT="9523" marB="9523">
                    <a:lnL>
                      <a:noFill/>
                    </a:lnL>
                    <a:lnR>
                      <a:noFill/>
                    </a:lnR>
                    <a:lnT>
                      <a:noFill/>
                    </a:lnT>
                    <a:lnB>
                      <a:noFill/>
                    </a:lnB>
                    <a:solidFill>
                      <a:srgbClr val="FFFFFF"/>
                    </a:solidFill>
                  </a:tcPr>
                </a:tc>
              </a:tr>
              <a:tr h="653245">
                <a:tc>
                  <a:txBody>
                    <a:bodyPr/>
                    <a:lstStyle/>
                    <a:p>
                      <a:r>
                        <a:rPr lang="en-US" altLang="zh-TW" sz="1400" kern="1200" dirty="0" smtClean="0">
                          <a:solidFill>
                            <a:schemeClr val="tx1"/>
                          </a:solidFill>
                          <a:effectLst/>
                          <a:latin typeface="Verdana" panose="020B0604030504040204" pitchFamily="34" charset="0"/>
                          <a:ea typeface="+mn-ea"/>
                          <a:cs typeface="+mn-cs"/>
                        </a:rPr>
                        <a:t>Volume 41, Issue 6, November 2013, Pages 644–649</a:t>
                      </a:r>
                      <a:endParaRPr lang="en-US" sz="1400" kern="1200" dirty="0">
                        <a:solidFill>
                          <a:schemeClr val="tx1"/>
                        </a:solidFill>
                        <a:effectLst/>
                        <a:latin typeface="Verdana" panose="020B0604030504040204" pitchFamily="34" charset="0"/>
                        <a:ea typeface="+mn-ea"/>
                        <a:cs typeface="+mn-cs"/>
                      </a:endParaRPr>
                    </a:p>
                  </a:txBody>
                  <a:tcPr marL="95250"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38" y="5229225"/>
            <a:ext cx="324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dirty="0"/>
              <a:t>Presenter:  Huang-Ting Chan</a:t>
            </a:r>
          </a:p>
          <a:p>
            <a:pPr eaLnBrk="1" hangingPunct="1">
              <a:spcBef>
                <a:spcPct val="0"/>
              </a:spcBef>
              <a:buFontTx/>
              <a:buNone/>
            </a:pPr>
            <a:r>
              <a:rPr kumimoji="0" lang="en-US" altLang="zh-TW" sz="1800" dirty="0"/>
              <a:t>Date:</a:t>
            </a:r>
            <a:fld id="{F3590F60-3E7B-48AD-979A-345F224951B5}" type="datetime1">
              <a:rPr kumimoji="0" lang="zh-TW" altLang="en-US" sz="1800"/>
              <a:pPr eaLnBrk="1" hangingPunct="1">
                <a:spcBef>
                  <a:spcPct val="0"/>
                </a:spcBef>
                <a:buFontTx/>
                <a:buNone/>
              </a:pPr>
              <a:t>2014/8/19</a:t>
            </a:fld>
            <a:endParaRPr kumimoji="0" lang="zh-TW" altLang="en-US" sz="1800" dirty="0"/>
          </a:p>
        </p:txBody>
      </p:sp>
    </p:spTree>
    <p:extLst>
      <p:ext uri="{BB962C8B-B14F-4D97-AF65-F5344CB8AC3E}">
        <p14:creationId xmlns:p14="http://schemas.microsoft.com/office/powerpoint/2010/main" val="28935190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Computing the longest common subsequence of two sequences is one of the most studied algorithmic problems. In this work we focus on a particular variant of the problem, called repetition free longest common subsequence (</a:t>
            </a:r>
            <a:r>
              <a:rPr lang="en-US" altLang="zh-TW" cap="small" dirty="0"/>
              <a:t>RF-LCS</a:t>
            </a:r>
            <a:r>
              <a:rPr lang="en-US" altLang="zh-TW" dirty="0"/>
              <a:t>), which has been proved to be NP-hard. We propose a hybrid genetic algorithm, which combines standard genetic algorithms and estimation of distribution algorithms, to solve this problem. An experimental comparison with some well-known approximation algorithms shows the suitability of the proposed technique.</a:t>
            </a:r>
            <a:endParaRPr lang="zh-TW" altLang="en-US" dirty="0"/>
          </a:p>
        </p:txBody>
      </p:sp>
    </p:spTree>
    <p:extLst>
      <p:ext uri="{BB962C8B-B14F-4D97-AF65-F5344CB8AC3E}">
        <p14:creationId xmlns:p14="http://schemas.microsoft.com/office/powerpoint/2010/main" val="1699479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RF-LCS(repetition-free longest common subsequence)</a:t>
                </a:r>
              </a:p>
              <a:p>
                <a:pPr marL="0" indent="0">
                  <a:buNone/>
                </a:pPr>
                <a:endParaRPr lang="en-US" altLang="zh-TW" dirty="0" smtClean="0"/>
              </a:p>
              <a:p>
                <a:pPr marL="0" indent="0">
                  <a:buNone/>
                </a:pPr>
                <a:r>
                  <a:rPr lang="en-US" altLang="zh-TW" dirty="0" smtClean="0"/>
                  <a:t>Input: two strings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oMath>
                </a14:m>
                <a:r>
                  <a:rPr lang="en-US" altLang="zh-TW" dirty="0" smtClean="0"/>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2</m:t>
                        </m:r>
                      </m:sub>
                    </m:sSub>
                  </m:oMath>
                </a14:m>
                <a:r>
                  <a:rPr lang="zh-TW" altLang="en-US" dirty="0" smtClean="0"/>
                  <a:t> </a:t>
                </a:r>
                <a:r>
                  <a:rPr lang="en-US" altLang="zh-TW" dirty="0" smtClean="0"/>
                  <a:t>over an alphabet </a:t>
                </a:r>
                <a:r>
                  <a:rPr lang="en-US" altLang="zh-TW" dirty="0"/>
                  <a:t>Σ</a:t>
                </a:r>
                <a:r>
                  <a:rPr lang="en-US" altLang="zh-TW" dirty="0" smtClean="0"/>
                  <a:t>.</a:t>
                </a:r>
              </a:p>
              <a:p>
                <a:pPr marL="0" indent="0">
                  <a:buNone/>
                </a:pPr>
                <a:endParaRPr lang="en-US" altLang="zh-TW" dirty="0"/>
              </a:p>
              <a:p>
                <a:pPr marL="0" indent="0">
                  <a:buNone/>
                </a:pPr>
                <a:r>
                  <a:rPr lang="en-US" altLang="zh-TW" dirty="0" smtClean="0"/>
                  <a:t>Output: a longest common subsequence </a:t>
                </a:r>
                <a14:m>
                  <m:oMath xmlns:m="http://schemas.openxmlformats.org/officeDocument/2006/math">
                    <m:r>
                      <a:rPr lang="en-US" altLang="zh-TW" i="1">
                        <a:latin typeface="Cambria Math" panose="02040503050406030204" pitchFamily="18" charset="0"/>
                      </a:rPr>
                      <m:t>𝑆</m:t>
                    </m:r>
                  </m:oMath>
                </a14:m>
                <a:r>
                  <a:rPr lang="zh-TW" altLang="en-US" dirty="0" smtClean="0"/>
                  <a:t> </a:t>
                </a:r>
                <a:r>
                  <a:rPr lang="en-US" altLang="zh-TW" dirty="0" smtClean="0"/>
                  <a:t>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oMath>
                </a14:m>
                <a:r>
                  <a:rPr lang="en-US" altLang="zh-TW" dirty="0"/>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2</m:t>
                        </m:r>
                      </m:sub>
                    </m:sSub>
                  </m:oMath>
                </a14:m>
                <a:r>
                  <a:rPr lang="zh-TW" altLang="en-US" dirty="0" smtClean="0"/>
                  <a:t> </a:t>
                </a:r>
                <a:r>
                  <a:rPr lang="en-US" altLang="zh-TW" dirty="0" smtClean="0"/>
                  <a:t>so that </a:t>
                </a:r>
                <a14:m>
                  <m:oMath xmlns:m="http://schemas.openxmlformats.org/officeDocument/2006/math">
                    <m:r>
                      <a:rPr lang="en-US" altLang="zh-TW" i="1">
                        <a:latin typeface="Cambria Math" panose="02040503050406030204" pitchFamily="18" charset="0"/>
                      </a:rPr>
                      <m:t>𝑆</m:t>
                    </m:r>
                  </m:oMath>
                </a14:m>
                <a:r>
                  <a:rPr lang="zh-TW" altLang="en-US" dirty="0" smtClean="0"/>
                  <a:t> </a:t>
                </a:r>
                <a:r>
                  <a:rPr lang="en-US" altLang="zh-TW" dirty="0" smtClean="0"/>
                  <a:t>contains at most one occurrence of each symbol </a:t>
                </a:r>
                <a14:m>
                  <m:oMath xmlns:m="http://schemas.openxmlformats.org/officeDocument/2006/math">
                    <m:r>
                      <m:rPr>
                        <m:sty m:val="p"/>
                      </m:rPr>
                      <a:rPr lang="el-GR" altLang="zh-TW" i="1" smtClean="0">
                        <a:latin typeface="Cambria Math" panose="02040503050406030204" pitchFamily="18" charset="0"/>
                        <a:ea typeface="Cambria Math" panose="02040503050406030204" pitchFamily="18" charset="0"/>
                      </a:rPr>
                      <m:t>σ</m:t>
                    </m:r>
                    <m:r>
                      <a:rPr lang="zh-TW" altLang="en-US" i="1" smtClean="0">
                        <a:latin typeface="Cambria Math" panose="02040503050406030204" pitchFamily="18" charset="0"/>
                      </a:rPr>
                      <m:t>∈</m:t>
                    </m:r>
                    <m:r>
                      <m:rPr>
                        <m:nor/>
                      </m:rPr>
                      <a:rPr lang="en-US" altLang="zh-TW" dirty="0"/>
                      <m:t>Σ</m:t>
                    </m:r>
                  </m:oMath>
                </a14:m>
                <a:r>
                  <a:rPr lang="en-US" altLang="zh-TW" dirty="0" smtClean="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23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66635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ABCCB</m:t>
                    </m:r>
                  </m:oMath>
                </a14:m>
                <a:r>
                  <a:rPr lang="en-US" altLang="zh-TW" dirty="0" smtClean="0"/>
                  <a:t>,</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𝐶𝐶𝐴𝐴𝐵</m:t>
                    </m:r>
                  </m:oMath>
                </a14:m>
                <a:endParaRPr lang="en-US" altLang="zh-TW" b="0" i="1" dirty="0" smtClean="0">
                  <a:latin typeface="Cambria Math" panose="02040503050406030204" pitchFamily="18" charset="0"/>
                </a:endParaRPr>
              </a:p>
              <a:p>
                <a:pPr marL="0" indent="0">
                  <a:buNone/>
                </a:pPr>
                <a:endParaRPr lang="en-US" altLang="zh-TW" b="0" i="1" dirty="0" smtClean="0">
                  <a:latin typeface="Cambria Math" panose="02040503050406030204" pitchFamily="18" charset="0"/>
                </a:endParaRPr>
              </a:p>
              <a:p>
                <a:pPr marL="0" indent="0">
                  <a:buNone/>
                </a:pPr>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𝐿𝐶𝑆</m:t>
                      </m:r>
                      <m:r>
                        <a:rPr lang="en-US" altLang="zh-TW" b="0" i="1" smtClean="0">
                          <a:latin typeface="Cambria Math" panose="02040503050406030204" pitchFamily="18" charset="0"/>
                        </a:rPr>
                        <m:t>=</m:t>
                      </m:r>
                      <m:r>
                        <a:rPr lang="en-US" altLang="zh-TW" b="0" i="1" smtClean="0">
                          <a:latin typeface="Cambria Math" panose="02040503050406030204" pitchFamily="18" charset="0"/>
                        </a:rPr>
                        <m:t>𝐶𝐶𝐵</m:t>
                      </m:r>
                    </m:oMath>
                  </m:oMathPara>
                </a14:m>
                <a:endParaRPr lang="en-US" altLang="zh-TW" b="0" i="1" dirty="0" smtClean="0">
                  <a:latin typeface="Cambria Math" panose="02040503050406030204" pitchFamily="18" charset="0"/>
                </a:endParaRPr>
              </a:p>
              <a:p>
                <a:pPr marL="0" indent="0">
                  <a:buNone/>
                </a:pPr>
                <a14:m>
                  <m:oMath xmlns:m="http://schemas.openxmlformats.org/officeDocument/2006/math">
                    <m:r>
                      <a:rPr lang="en-US" altLang="zh-TW" b="0" i="1" smtClean="0">
                        <a:latin typeface="Cambria Math" panose="02040503050406030204" pitchFamily="18" charset="0"/>
                      </a:rPr>
                      <m:t>𝑅𝐹</m:t>
                    </m:r>
                  </m:oMath>
                </a14:m>
                <a:r>
                  <a:rPr lang="en-US" altLang="zh-TW" dirty="0" smtClean="0"/>
                  <a:t>-</a:t>
                </a:r>
                <a14:m>
                  <m:oMath xmlns:m="http://schemas.openxmlformats.org/officeDocument/2006/math">
                    <m:r>
                      <a:rPr lang="en-US" altLang="zh-TW" i="1">
                        <a:latin typeface="Cambria Math" panose="02040503050406030204" pitchFamily="18" charset="0"/>
                      </a:rPr>
                      <m:t>𝐿𝐶𝑆</m:t>
                    </m:r>
                    <m:r>
                      <a:rPr lang="en-US" altLang="zh-TW" i="1">
                        <a:latin typeface="Cambria Math" panose="02040503050406030204" pitchFamily="18" charset="0"/>
                      </a:rPr>
                      <m:t>=</m:t>
                    </m:r>
                    <m:r>
                      <a:rPr lang="en-US" altLang="zh-TW" i="1">
                        <a:latin typeface="Cambria Math" panose="02040503050406030204" pitchFamily="18" charset="0"/>
                      </a:rPr>
                      <m:t>𝐴𝐵</m:t>
                    </m:r>
                  </m:oMath>
                </a14:m>
                <a:endParaRPr lang="en-US" altLang="zh-TW" dirty="0"/>
              </a:p>
              <a:p>
                <a:pPr marL="0" indent="0">
                  <a:buNone/>
                </a:pPr>
                <a:endParaRPr lang="en-US" altLang="zh-TW" dirty="0"/>
              </a:p>
              <a:p>
                <a:pPr marL="0" indent="0">
                  <a:buNone/>
                </a:pPr>
                <a:r>
                  <a:rPr lang="en-US" altLang="zh-TW" dirty="0" smtClean="0"/>
                  <a:t>This variant is used to model the genome rearrangement with respect to the duplications of some genes.</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b="-14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493687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r>
              <a:rPr lang="en-US" altLang="zh-TW" dirty="0" smtClean="0"/>
              <a:t>Evolution </a:t>
            </a:r>
            <a:r>
              <a:rPr lang="en-US" altLang="zh-TW" dirty="0"/>
              <a:t>implies that genomes contain multiple </a:t>
            </a:r>
            <a:r>
              <a:rPr lang="en-US" altLang="zh-TW" dirty="0" smtClean="0"/>
              <a:t>copies of </a:t>
            </a:r>
            <a:r>
              <a:rPr lang="en-US" altLang="zh-TW" dirty="0"/>
              <a:t>a gene</a:t>
            </a:r>
            <a:r>
              <a:rPr lang="en-US" altLang="zh-TW" dirty="0" smtClean="0"/>
              <a:t>.</a:t>
            </a:r>
          </a:p>
          <a:p>
            <a:pPr marL="0" indent="0">
              <a:buNone/>
            </a:pPr>
            <a:endParaRPr lang="en-US" altLang="zh-TW" dirty="0"/>
          </a:p>
          <a:p>
            <a:pPr marL="0" indent="0">
              <a:buNone/>
            </a:pPr>
            <a:r>
              <a:rPr lang="en-US" altLang="zh-TW" dirty="0" smtClean="0"/>
              <a:t>Exemplar </a:t>
            </a:r>
            <a:r>
              <a:rPr lang="en-US" altLang="zh-TW" dirty="0"/>
              <a:t>model </a:t>
            </a:r>
            <a:r>
              <a:rPr lang="en-US" altLang="zh-TW" dirty="0" smtClean="0"/>
              <a:t>: </a:t>
            </a:r>
            <a:r>
              <a:rPr lang="en-US" altLang="zh-TW" dirty="0"/>
              <a:t>for each family of </a:t>
            </a:r>
            <a:r>
              <a:rPr lang="en-US" altLang="zh-TW" dirty="0" smtClean="0"/>
              <a:t>duplicated genes </a:t>
            </a:r>
            <a:r>
              <a:rPr lang="en-US" altLang="zh-TW" dirty="0"/>
              <a:t>there is an exemplar one, </a:t>
            </a:r>
            <a:r>
              <a:rPr lang="en-US" altLang="zh-TW" dirty="0" smtClean="0"/>
              <a:t>representative </a:t>
            </a:r>
            <a:r>
              <a:rPr lang="en-US" altLang="zh-TW" dirty="0"/>
              <a:t>gene </a:t>
            </a:r>
            <a:r>
              <a:rPr lang="en-US" altLang="zh-TW" dirty="0" smtClean="0"/>
              <a:t>from which </a:t>
            </a:r>
            <a:r>
              <a:rPr lang="en-US" altLang="zh-TW" dirty="0"/>
              <a:t>all other genes have originated.</a:t>
            </a:r>
          </a:p>
          <a:p>
            <a:endParaRPr lang="zh-TW" altLang="en-US" dirty="0"/>
          </a:p>
        </p:txBody>
      </p:sp>
    </p:spTree>
    <p:extLst>
      <p:ext uri="{BB962C8B-B14F-4D97-AF65-F5344CB8AC3E}">
        <p14:creationId xmlns:p14="http://schemas.microsoft.com/office/powerpoint/2010/main" val="13436960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Basic definitions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smtClean="0"/>
                  <a:t>Let </a:t>
                </a:r>
                <a14:m>
                  <m:oMath xmlns:m="http://schemas.openxmlformats.org/officeDocument/2006/math">
                    <m:r>
                      <a:rPr lang="en-US" altLang="zh-TW" b="0" i="1" smtClean="0">
                        <a:latin typeface="Cambria Math" panose="02040503050406030204" pitchFamily="18" charset="0"/>
                      </a:rPr>
                      <m:t>𝑆</m:t>
                    </m:r>
                  </m:oMath>
                </a14:m>
                <a:r>
                  <a:rPr lang="en-US" altLang="zh-TW" dirty="0" smtClean="0"/>
                  <a:t> </a:t>
                </a:r>
                <a:r>
                  <a:rPr lang="en-US" altLang="zh-TW" dirty="0"/>
                  <a:t>be a string over an </a:t>
                </a:r>
                <a:r>
                  <a:rPr lang="en-US" altLang="zh-TW" dirty="0" smtClean="0"/>
                  <a:t>alphabet Σ </a:t>
                </a:r>
                <a:r>
                  <a:rPr lang="en-US" altLang="zh-TW" dirty="0"/>
                  <a:t>of size |Σ|. </a:t>
                </a:r>
                <a:endParaRPr lang="en-US" altLang="zh-TW" dirty="0" smtClean="0"/>
              </a:p>
              <a:p>
                <a:pPr marL="0" indent="0">
                  <a:buNone/>
                </a:pPr>
                <a:r>
                  <a:rPr lang="en-US" altLang="zh-TW" dirty="0" smtClean="0"/>
                  <a:t>Given </a:t>
                </a:r>
                <a:r>
                  <a:rPr lang="en-US" altLang="zh-TW" dirty="0"/>
                  <a:t>a string </a:t>
                </a:r>
                <a14:m>
                  <m:oMath xmlns:m="http://schemas.openxmlformats.org/officeDocument/2006/math">
                    <m:r>
                      <a:rPr lang="en-US" altLang="zh-TW" i="1">
                        <a:latin typeface="Cambria Math" panose="02040503050406030204" pitchFamily="18" charset="0"/>
                      </a:rPr>
                      <m:t>𝑆</m:t>
                    </m:r>
                  </m:oMath>
                </a14:m>
                <a:r>
                  <a:rPr lang="en-US" altLang="zh-TW" dirty="0"/>
                  <a:t>, we denote by </a:t>
                </a:r>
                <a14:m>
                  <m:oMath xmlns:m="http://schemas.openxmlformats.org/officeDocument/2006/math">
                    <m:r>
                      <a:rPr lang="en-US" altLang="zh-TW" i="1">
                        <a:latin typeface="Cambria Math" panose="02040503050406030204" pitchFamily="18" charset="0"/>
                      </a:rPr>
                      <m:t>𝑆</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oMath>
                </a14:m>
                <a:r>
                  <a:rPr lang="en-US" altLang="zh-TW" dirty="0" smtClean="0"/>
                  <a:t> </a:t>
                </a:r>
                <a:r>
                  <a:rPr lang="en-US" altLang="zh-TW" dirty="0"/>
                  <a:t>the </a:t>
                </a:r>
                <a:r>
                  <a:rPr lang="en-US" altLang="zh-TW" dirty="0" smtClean="0"/>
                  <a:t>symbol occurring </a:t>
                </a:r>
                <a:r>
                  <a:rPr lang="en-US" altLang="zh-TW" dirty="0"/>
                  <a:t>at position </a:t>
                </a:r>
                <a14:m>
                  <m:oMath xmlns:m="http://schemas.openxmlformats.org/officeDocument/2006/math">
                    <m:r>
                      <a:rPr lang="en-US" altLang="zh-TW" b="0" i="1" smtClean="0">
                        <a:latin typeface="Cambria Math" panose="02040503050406030204" pitchFamily="18" charset="0"/>
                      </a:rPr>
                      <m:t>𝑖</m:t>
                    </m:r>
                  </m:oMath>
                </a14:m>
                <a:r>
                  <a:rPr lang="en-US" altLang="zh-TW" dirty="0" smtClean="0"/>
                  <a:t> </a:t>
                </a:r>
                <a:r>
                  <a:rPr lang="en-US" altLang="zh-TW" dirty="0"/>
                  <a:t>in string </a:t>
                </a:r>
                <a14:m>
                  <m:oMath xmlns:m="http://schemas.openxmlformats.org/officeDocument/2006/math">
                    <m:r>
                      <a:rPr lang="en-US" altLang="zh-TW" i="1">
                        <a:latin typeface="Cambria Math" panose="02040503050406030204" pitchFamily="18" charset="0"/>
                      </a:rPr>
                      <m:t>𝑆</m:t>
                    </m:r>
                  </m:oMath>
                </a14:m>
                <a:r>
                  <a:rPr lang="en-US" altLang="zh-TW" dirty="0"/>
                  <a:t>. </a:t>
                </a:r>
                <a:endParaRPr lang="en-US" altLang="zh-TW" dirty="0" smtClean="0"/>
              </a:p>
              <a:p>
                <a:pPr marL="0" indent="0">
                  <a:buNone/>
                </a:pPr>
                <a:r>
                  <a:rPr lang="en-US" altLang="zh-TW" dirty="0" smtClean="0"/>
                  <a:t>Let </a:t>
                </a:r>
                <a:r>
                  <a:rPr lang="en-US" altLang="zh-TW" dirty="0"/>
                  <a:t>also</a:t>
                </a:r>
                <a14:m>
                  <m:oMath xmlns:m="http://schemas.openxmlformats.org/officeDocument/2006/math">
                    <m:r>
                      <a:rPr lang="en-US" altLang="zh-TW" b="0" i="0" smtClean="0">
                        <a:latin typeface="Cambria Math" panose="02040503050406030204" pitchFamily="18" charset="0"/>
                      </a:rPr>
                      <m:t> </m:t>
                    </m:r>
                    <m:r>
                      <a:rPr lang="en-US" altLang="zh-TW" i="1">
                        <a:latin typeface="Cambria Math" panose="02040503050406030204" pitchFamily="18" charset="0"/>
                      </a:rPr>
                      <m:t>𝑆</m:t>
                    </m:r>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i="1">
                        <a:latin typeface="Cambria Math" panose="02040503050406030204" pitchFamily="18" charset="0"/>
                      </a:rPr>
                      <m:t>]</m:t>
                    </m:r>
                  </m:oMath>
                </a14:m>
                <a:r>
                  <a:rPr lang="en-US" altLang="zh-TW" dirty="0"/>
                  <a:t>be the </a:t>
                </a:r>
                <a:r>
                  <a:rPr lang="en-US" altLang="zh-TW" dirty="0" smtClean="0"/>
                  <a:t>substring of </a:t>
                </a:r>
                <a14:m>
                  <m:oMath xmlns:m="http://schemas.openxmlformats.org/officeDocument/2006/math">
                    <m:r>
                      <a:rPr lang="en-US" altLang="zh-TW" i="1">
                        <a:latin typeface="Cambria Math" panose="02040503050406030204" pitchFamily="18" charset="0"/>
                      </a:rPr>
                      <m:t>𝑆</m:t>
                    </m:r>
                  </m:oMath>
                </a14:m>
                <a:r>
                  <a:rPr lang="en-US" altLang="zh-TW" dirty="0"/>
                  <a:t> starting at position </a:t>
                </a:r>
                <a14:m>
                  <m:oMath xmlns:m="http://schemas.openxmlformats.org/officeDocument/2006/math">
                    <m:r>
                      <a:rPr lang="en-US" altLang="zh-TW" i="1">
                        <a:latin typeface="Cambria Math" panose="02040503050406030204" pitchFamily="18" charset="0"/>
                      </a:rPr>
                      <m:t>𝑖</m:t>
                    </m:r>
                  </m:oMath>
                </a14:m>
                <a:r>
                  <a:rPr lang="en-US" altLang="zh-TW" dirty="0" smtClean="0"/>
                  <a:t> </a:t>
                </a:r>
                <a:r>
                  <a:rPr lang="en-US" altLang="zh-TW" dirty="0"/>
                  <a:t>and ending at position </a:t>
                </a:r>
                <a14:m>
                  <m:oMath xmlns:m="http://schemas.openxmlformats.org/officeDocument/2006/math">
                    <m:r>
                      <m:rPr>
                        <m:sty m:val="p"/>
                      </m:rPr>
                      <a:rPr lang="en-US" altLang="zh-TW" b="0" i="0" smtClean="0">
                        <a:latin typeface="Cambria Math" panose="02040503050406030204" pitchFamily="18" charset="0"/>
                      </a:rPr>
                      <m:t>j</m:t>
                    </m:r>
                  </m:oMath>
                </a14:m>
                <a:r>
                  <a:rPr lang="en-US" altLang="zh-TW" dirty="0"/>
                  <a:t> </a:t>
                </a:r>
                <a:r>
                  <a:rPr lang="en-US" altLang="zh-TW" dirty="0" smtClean="0"/>
                  <a:t>.</a:t>
                </a:r>
              </a:p>
              <a:p>
                <a:pPr marL="0" indent="0">
                  <a:buNone/>
                </a:pPr>
                <a:r>
                  <a:rPr lang="en-US" altLang="zh-TW" dirty="0" smtClean="0"/>
                  <a:t>Given </a:t>
                </a:r>
                <a:r>
                  <a:rPr lang="en-US" altLang="zh-TW" dirty="0"/>
                  <a:t>two </a:t>
                </a:r>
                <a:r>
                  <a:rPr lang="en-US" altLang="zh-TW" dirty="0" smtClean="0"/>
                  <a:t>sequences </a:t>
                </a:r>
                <a14:m>
                  <m:oMath xmlns:m="http://schemas.openxmlformats.org/officeDocument/2006/math">
                    <m:r>
                      <a:rPr lang="en-US" altLang="zh-TW" i="1">
                        <a:latin typeface="Cambria Math" panose="02040503050406030204" pitchFamily="18" charset="0"/>
                      </a:rPr>
                      <m:t>𝑆</m:t>
                    </m:r>
                  </m:oMath>
                </a14:m>
                <a:r>
                  <a:rPr lang="en-US" altLang="zh-TW" dirty="0" smtClean="0"/>
                  <a:t> </a:t>
                </a:r>
                <a:r>
                  <a:rPr lang="en-US" altLang="zh-TW" dirty="0"/>
                  <a:t>and </a:t>
                </a:r>
                <a14:m>
                  <m:oMath xmlns:m="http://schemas.openxmlformats.org/officeDocument/2006/math">
                    <m:r>
                      <a:rPr lang="en-US" altLang="zh-TW" i="1">
                        <a:latin typeface="Cambria Math" panose="02040503050406030204" pitchFamily="18" charset="0"/>
                      </a:rPr>
                      <m:t>𝑆</m:t>
                    </m:r>
                    <m:r>
                      <a:rPr lang="en-US" altLang="zh-TW" b="0" i="1" smtClean="0">
                        <a:latin typeface="Cambria Math" panose="02040503050406030204" pitchFamily="18" charset="0"/>
                      </a:rPr>
                      <m:t>′</m:t>
                    </m:r>
                  </m:oMath>
                </a14:m>
                <a:r>
                  <a:rPr lang="en-US" altLang="zh-TW" dirty="0"/>
                  <a:t> over a finite alphabet Σ</a:t>
                </a:r>
                <a:r>
                  <a:rPr lang="en-US" altLang="zh-TW" dirty="0" smtClean="0"/>
                  <a:t>, </a:t>
                </a:r>
                <a14:m>
                  <m:oMath xmlns:m="http://schemas.openxmlformats.org/officeDocument/2006/math">
                    <m:r>
                      <a:rPr lang="en-US" altLang="zh-TW" i="1">
                        <a:latin typeface="Cambria Math" panose="02040503050406030204" pitchFamily="18" charset="0"/>
                      </a:rPr>
                      <m:t>𝑆</m:t>
                    </m:r>
                    <m:r>
                      <a:rPr lang="en-US" altLang="zh-TW" i="1">
                        <a:latin typeface="Cambria Math" panose="02040503050406030204" pitchFamily="18" charset="0"/>
                      </a:rPr>
                      <m:t>′</m:t>
                    </m:r>
                  </m:oMath>
                </a14:m>
                <a:r>
                  <a:rPr lang="en-US" altLang="zh-TW" dirty="0"/>
                  <a:t> is a subsequence of </a:t>
                </a:r>
                <a14:m>
                  <m:oMath xmlns:m="http://schemas.openxmlformats.org/officeDocument/2006/math">
                    <m:r>
                      <a:rPr lang="en-US" altLang="zh-TW" i="1">
                        <a:latin typeface="Cambria Math" panose="02040503050406030204" pitchFamily="18" charset="0"/>
                      </a:rPr>
                      <m:t>𝑆</m:t>
                    </m:r>
                  </m:oMath>
                </a14:m>
                <a:r>
                  <a:rPr lang="en-US" altLang="zh-TW" dirty="0"/>
                  <a:t> </a:t>
                </a:r>
                <a:r>
                  <a:rPr lang="en-US" altLang="zh-TW" dirty="0" smtClean="0"/>
                  <a:t>if </a:t>
                </a:r>
                <a14:m>
                  <m:oMath xmlns:m="http://schemas.openxmlformats.org/officeDocument/2006/math">
                    <m:r>
                      <a:rPr lang="en-US" altLang="zh-TW" i="1">
                        <a:latin typeface="Cambria Math" panose="02040503050406030204" pitchFamily="18" charset="0"/>
                      </a:rPr>
                      <m:t>𝑆</m:t>
                    </m:r>
                    <m:r>
                      <a:rPr lang="en-US" altLang="zh-TW" i="1">
                        <a:latin typeface="Cambria Math" panose="02040503050406030204" pitchFamily="18" charset="0"/>
                      </a:rPr>
                      <m:t>′</m:t>
                    </m:r>
                  </m:oMath>
                </a14:m>
                <a:r>
                  <a:rPr lang="en-US" altLang="zh-TW" dirty="0"/>
                  <a:t> can be obtained from </a:t>
                </a:r>
                <a14:m>
                  <m:oMath xmlns:m="http://schemas.openxmlformats.org/officeDocument/2006/math">
                    <m:r>
                      <a:rPr lang="en-US" altLang="zh-TW" i="1">
                        <a:latin typeface="Cambria Math" panose="02040503050406030204" pitchFamily="18" charset="0"/>
                      </a:rPr>
                      <m:t>𝑆</m:t>
                    </m:r>
                  </m:oMath>
                </a14:m>
                <a:r>
                  <a:rPr lang="en-US" altLang="zh-TW" dirty="0"/>
                  <a:t> by removing some (possibly zero) </a:t>
                </a:r>
                <a:r>
                  <a:rPr lang="en-US" altLang="zh-TW" dirty="0" smtClean="0"/>
                  <a:t>characters.</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139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01026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Genetic algorithm</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dirty="0"/>
              <a:t>Genetic Algorithms (</a:t>
            </a:r>
            <a:r>
              <a:rPr lang="en-US" altLang="zh-TW" dirty="0" smtClean="0"/>
              <a:t>GAs)  are </a:t>
            </a:r>
            <a:r>
              <a:rPr lang="en-US" altLang="zh-TW" dirty="0"/>
              <a:t>a class of </a:t>
            </a:r>
            <a:r>
              <a:rPr lang="en-US" altLang="zh-TW" dirty="0" smtClean="0"/>
              <a:t>computational models </a:t>
            </a:r>
            <a:r>
              <a:rPr lang="en-US" altLang="zh-TW" dirty="0"/>
              <a:t>that mimic the process of natural evolution. </a:t>
            </a:r>
            <a:endParaRPr lang="en-US" altLang="zh-TW" dirty="0" smtClean="0"/>
          </a:p>
          <a:p>
            <a:pPr marL="0" indent="0">
              <a:buNone/>
            </a:pPr>
            <a:r>
              <a:rPr lang="en-US" altLang="zh-TW" dirty="0" smtClean="0"/>
              <a:t>GAs </a:t>
            </a:r>
            <a:r>
              <a:rPr lang="en-US" altLang="zh-TW" dirty="0"/>
              <a:t>are </a:t>
            </a:r>
            <a:r>
              <a:rPr lang="en-US" altLang="zh-TW" dirty="0" smtClean="0"/>
              <a:t>often viewed </a:t>
            </a:r>
            <a:r>
              <a:rPr lang="en-US" altLang="zh-TW" dirty="0"/>
              <a:t>as function optimizers </a:t>
            </a:r>
            <a:r>
              <a:rPr lang="en-US" altLang="zh-TW" dirty="0" smtClean="0"/>
              <a:t>although </a:t>
            </a:r>
            <a:r>
              <a:rPr lang="en-US" altLang="zh-TW" dirty="0"/>
              <a:t>the range of </a:t>
            </a:r>
            <a:r>
              <a:rPr lang="en-US" altLang="zh-TW" dirty="0" smtClean="0"/>
              <a:t>problems to </a:t>
            </a:r>
            <a:r>
              <a:rPr lang="en-US" altLang="zh-TW" dirty="0"/>
              <a:t>which they have been applied is quite </a:t>
            </a:r>
            <a:r>
              <a:rPr lang="en-US" altLang="zh-TW" dirty="0" smtClean="0"/>
              <a:t>broad.</a:t>
            </a:r>
            <a:endParaRPr lang="zh-TW" altLang="en-US" dirty="0"/>
          </a:p>
        </p:txBody>
      </p:sp>
    </p:spTree>
    <p:extLst>
      <p:ext uri="{BB962C8B-B14F-4D97-AF65-F5344CB8AC3E}">
        <p14:creationId xmlns:p14="http://schemas.microsoft.com/office/powerpoint/2010/main" val="4542749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r>
              <a:rPr lang="en-US" altLang="zh-TW" dirty="0"/>
              <a:t>P</a:t>
            </a:r>
            <a:r>
              <a:rPr lang="en-US" altLang="zh-TW" dirty="0" smtClean="0"/>
              <a:t>opulations </a:t>
            </a:r>
            <a:r>
              <a:rPr lang="en-US" altLang="zh-TW" dirty="0"/>
              <a:t>of </a:t>
            </a:r>
            <a:r>
              <a:rPr lang="en-US" altLang="zh-TW" dirty="0" smtClean="0"/>
              <a:t>chromosomes</a:t>
            </a:r>
          </a:p>
          <a:p>
            <a:pPr marL="0" indent="0">
              <a:buNone/>
            </a:pPr>
            <a:endParaRPr lang="en-US" altLang="zh-TW" dirty="0"/>
          </a:p>
          <a:p>
            <a:pPr marL="0" indent="0">
              <a:buNone/>
            </a:pPr>
            <a:r>
              <a:rPr lang="en-US" altLang="zh-TW" dirty="0"/>
              <a:t>S</a:t>
            </a:r>
            <a:r>
              <a:rPr lang="en-US" altLang="zh-TW" dirty="0" smtClean="0"/>
              <a:t>election </a:t>
            </a:r>
            <a:r>
              <a:rPr lang="en-US" altLang="zh-TW" dirty="0"/>
              <a:t>according to </a:t>
            </a:r>
            <a:r>
              <a:rPr lang="en-US" altLang="zh-TW" dirty="0" smtClean="0"/>
              <a:t>fitness </a:t>
            </a:r>
          </a:p>
          <a:p>
            <a:pPr marL="0" indent="0">
              <a:buNone/>
            </a:pPr>
            <a:endParaRPr lang="en-US" altLang="zh-TW" dirty="0" smtClean="0"/>
          </a:p>
          <a:p>
            <a:pPr marL="0" indent="0">
              <a:buNone/>
            </a:pPr>
            <a:r>
              <a:rPr lang="en-US" altLang="zh-TW" dirty="0"/>
              <a:t>C</a:t>
            </a:r>
            <a:r>
              <a:rPr lang="en-US" altLang="zh-TW" dirty="0" smtClean="0"/>
              <a:t>rossover </a:t>
            </a:r>
            <a:r>
              <a:rPr lang="en-US" altLang="zh-TW" dirty="0"/>
              <a:t>to produce new </a:t>
            </a:r>
            <a:r>
              <a:rPr lang="en-US" altLang="zh-TW" dirty="0" smtClean="0"/>
              <a:t>offspring</a:t>
            </a:r>
          </a:p>
          <a:p>
            <a:pPr marL="0" indent="0">
              <a:buNone/>
            </a:pPr>
            <a:endParaRPr lang="en-US" altLang="zh-TW" dirty="0"/>
          </a:p>
          <a:p>
            <a:pPr marL="0" indent="0">
              <a:buNone/>
            </a:pPr>
            <a:r>
              <a:rPr lang="en-US" altLang="zh-TW" dirty="0"/>
              <a:t>R</a:t>
            </a:r>
            <a:r>
              <a:rPr lang="en-US" altLang="zh-TW" dirty="0" smtClean="0"/>
              <a:t>andom </a:t>
            </a:r>
            <a:r>
              <a:rPr lang="en-US" altLang="zh-TW" dirty="0"/>
              <a:t>mutation of new </a:t>
            </a:r>
            <a:r>
              <a:rPr lang="en-US" altLang="zh-TW" dirty="0" smtClean="0"/>
              <a:t>offspring</a:t>
            </a:r>
            <a:endParaRPr lang="zh-TW" altLang="en-US" dirty="0"/>
          </a:p>
        </p:txBody>
      </p:sp>
    </p:spTree>
    <p:extLst>
      <p:ext uri="{BB962C8B-B14F-4D97-AF65-F5344CB8AC3E}">
        <p14:creationId xmlns:p14="http://schemas.microsoft.com/office/powerpoint/2010/main" val="18278923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Population</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The </a:t>
            </a:r>
            <a:r>
              <a:rPr lang="en-US" altLang="zh-TW" dirty="0" smtClean="0"/>
              <a:t>chromosomes in </a:t>
            </a:r>
            <a:r>
              <a:rPr lang="en-US" altLang="zh-TW" dirty="0"/>
              <a:t>a GA population typically take the form of bit strings. </a:t>
            </a:r>
            <a:endParaRPr lang="en-US" altLang="zh-TW" dirty="0" smtClean="0"/>
          </a:p>
          <a:p>
            <a:pPr marL="0" indent="0">
              <a:buNone/>
            </a:pPr>
            <a:endParaRPr lang="en-US" altLang="zh-TW" dirty="0" smtClean="0"/>
          </a:p>
          <a:p>
            <a:pPr marL="0" indent="0">
              <a:buNone/>
            </a:pPr>
            <a:r>
              <a:rPr lang="en-US" altLang="zh-TW" dirty="0" smtClean="0"/>
              <a:t>Each locus in </a:t>
            </a:r>
            <a:r>
              <a:rPr lang="en-US" altLang="zh-TW" dirty="0"/>
              <a:t>the </a:t>
            </a:r>
            <a:r>
              <a:rPr lang="en-US" altLang="zh-TW" dirty="0" smtClean="0"/>
              <a:t>chromosome </a:t>
            </a:r>
            <a:r>
              <a:rPr lang="en-US" altLang="zh-TW" dirty="0"/>
              <a:t>has two possible alleles: 0 and 1. </a:t>
            </a:r>
            <a:endParaRPr lang="en-US" altLang="zh-TW" dirty="0" smtClean="0"/>
          </a:p>
          <a:p>
            <a:pPr marL="0" indent="0">
              <a:buNone/>
            </a:pPr>
            <a:endParaRPr lang="en-US" altLang="zh-TW" dirty="0" smtClean="0"/>
          </a:p>
          <a:p>
            <a:pPr marL="0" indent="0">
              <a:buNone/>
            </a:pPr>
            <a:r>
              <a:rPr lang="en-US" altLang="zh-TW" dirty="0" smtClean="0"/>
              <a:t>Each chromosome (or </a:t>
            </a:r>
            <a:r>
              <a:rPr lang="en-US" altLang="zh-TW" dirty="0"/>
              <a:t>individual) can be thought of as a point in the search </a:t>
            </a:r>
            <a:r>
              <a:rPr lang="en-US" altLang="zh-TW" dirty="0" smtClean="0"/>
              <a:t>space of </a:t>
            </a:r>
            <a:r>
              <a:rPr lang="en-US" altLang="zh-TW" dirty="0"/>
              <a:t>candidate solutions.</a:t>
            </a:r>
            <a:endParaRPr lang="zh-TW" altLang="en-US" dirty="0"/>
          </a:p>
        </p:txBody>
      </p:sp>
    </p:spTree>
    <p:extLst>
      <p:ext uri="{BB962C8B-B14F-4D97-AF65-F5344CB8AC3E}">
        <p14:creationId xmlns:p14="http://schemas.microsoft.com/office/powerpoint/2010/main" val="15170644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Fitness function	</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GAs most often require a fitness function that assigns a score (</a:t>
            </a:r>
            <a:r>
              <a:rPr lang="en-US" altLang="zh-TW" dirty="0" smtClean="0"/>
              <a:t>fitness) to </a:t>
            </a:r>
            <a:r>
              <a:rPr lang="en-US" altLang="zh-TW" dirty="0"/>
              <a:t>each chromosome in the current population. </a:t>
            </a:r>
            <a:endParaRPr lang="en-US" altLang="zh-TW" dirty="0" smtClean="0"/>
          </a:p>
          <a:p>
            <a:pPr marL="0" indent="0">
              <a:buNone/>
            </a:pPr>
            <a:endParaRPr lang="en-US" altLang="zh-TW" dirty="0" smtClean="0"/>
          </a:p>
          <a:p>
            <a:pPr marL="0" indent="0">
              <a:buNone/>
            </a:pPr>
            <a:r>
              <a:rPr lang="en-US" altLang="zh-TW" dirty="0" smtClean="0"/>
              <a:t>The </a:t>
            </a:r>
            <a:r>
              <a:rPr lang="en-US" altLang="zh-TW" dirty="0"/>
              <a:t>fitness </a:t>
            </a:r>
            <a:r>
              <a:rPr lang="en-US" altLang="zh-TW" dirty="0" smtClean="0"/>
              <a:t>of a </a:t>
            </a:r>
            <a:r>
              <a:rPr lang="en-US" altLang="zh-TW" dirty="0"/>
              <a:t>chromosome depends on how well that chromosome solves </a:t>
            </a:r>
            <a:r>
              <a:rPr lang="en-US" altLang="zh-TW" dirty="0" smtClean="0"/>
              <a:t>the problem </a:t>
            </a:r>
            <a:r>
              <a:rPr lang="en-US" altLang="zh-TW" dirty="0"/>
              <a:t>at hand.</a:t>
            </a:r>
            <a:endParaRPr lang="zh-TW" altLang="en-US" dirty="0"/>
          </a:p>
        </p:txBody>
      </p:sp>
    </p:spTree>
    <p:extLst>
      <p:ext uri="{BB962C8B-B14F-4D97-AF65-F5344CB8AC3E}">
        <p14:creationId xmlns:p14="http://schemas.microsoft.com/office/powerpoint/2010/main" val="819258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Genetic operators</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The operators are used to create a new population of chromosomes starting from the existing one (population of parents).</a:t>
            </a:r>
          </a:p>
          <a:p>
            <a:pPr marL="0" indent="0">
              <a:buNone/>
            </a:pPr>
            <a:r>
              <a:rPr lang="en-US" altLang="zh-TW" dirty="0" smtClean="0"/>
              <a:t>Three operators</a:t>
            </a:r>
          </a:p>
          <a:p>
            <a:pPr marL="0" indent="0">
              <a:buNone/>
            </a:pPr>
            <a:r>
              <a:rPr lang="en-US" altLang="zh-TW" dirty="0" smtClean="0"/>
              <a:t>Selection</a:t>
            </a:r>
          </a:p>
          <a:p>
            <a:pPr marL="0" indent="0">
              <a:buNone/>
            </a:pPr>
            <a:r>
              <a:rPr lang="en-US" altLang="zh-TW" dirty="0" smtClean="0"/>
              <a:t>Crossover</a:t>
            </a:r>
          </a:p>
          <a:p>
            <a:pPr marL="0" indent="0">
              <a:buNone/>
            </a:pPr>
            <a:r>
              <a:rPr lang="en-US" altLang="zh-TW" dirty="0" smtClean="0"/>
              <a:t>Mutation</a:t>
            </a:r>
            <a:endParaRPr lang="en-US" altLang="zh-TW" dirty="0"/>
          </a:p>
        </p:txBody>
      </p:sp>
    </p:spTree>
    <p:extLst>
      <p:ext uri="{BB962C8B-B14F-4D97-AF65-F5344CB8AC3E}">
        <p14:creationId xmlns:p14="http://schemas.microsoft.com/office/powerpoint/2010/main" val="39517218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Selection</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The selection operator selects chromosomes in the </a:t>
            </a:r>
            <a:r>
              <a:rPr lang="en-US" altLang="zh-TW" dirty="0" smtClean="0"/>
              <a:t>population for </a:t>
            </a:r>
            <a:r>
              <a:rPr lang="en-US" altLang="zh-TW" dirty="0"/>
              <a:t>reproduction. </a:t>
            </a:r>
            <a:endParaRPr lang="en-US" altLang="zh-TW" dirty="0" smtClean="0"/>
          </a:p>
          <a:p>
            <a:pPr marL="0" indent="0">
              <a:buNone/>
            </a:pPr>
            <a:r>
              <a:rPr lang="en-US" altLang="zh-TW" dirty="0" smtClean="0"/>
              <a:t>The </a:t>
            </a:r>
            <a:r>
              <a:rPr lang="en-US" altLang="zh-TW" dirty="0"/>
              <a:t>fitter the chromosome, the more times it </a:t>
            </a:r>
            <a:r>
              <a:rPr lang="en-US" altLang="zh-TW" dirty="0" smtClean="0"/>
              <a:t>is likely </a:t>
            </a:r>
            <a:r>
              <a:rPr lang="en-US" altLang="zh-TW" dirty="0"/>
              <a:t>to be selected to </a:t>
            </a:r>
            <a:r>
              <a:rPr lang="en-US" altLang="zh-TW" dirty="0" smtClean="0"/>
              <a:t>reproduce.</a:t>
            </a:r>
            <a:endParaRPr lang="zh-TW" altLang="en-US" dirty="0"/>
          </a:p>
        </p:txBody>
      </p:sp>
    </p:spTree>
    <p:extLst>
      <p:ext uri="{BB962C8B-B14F-4D97-AF65-F5344CB8AC3E}">
        <p14:creationId xmlns:p14="http://schemas.microsoft.com/office/powerpoint/2010/main" val="31497293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Crossover</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The crossover operator </a:t>
            </a:r>
            <a:r>
              <a:rPr lang="en-US" altLang="zh-TW" dirty="0" smtClean="0"/>
              <a:t>randomly chooses </a:t>
            </a:r>
            <a:r>
              <a:rPr lang="en-US" altLang="zh-TW" dirty="0"/>
              <a:t>a locus and exchanges the subsequences before and </a:t>
            </a:r>
            <a:r>
              <a:rPr lang="en-US" altLang="zh-TW" dirty="0" smtClean="0"/>
              <a:t>after that </a:t>
            </a:r>
            <a:r>
              <a:rPr lang="en-US" altLang="zh-TW" dirty="0"/>
              <a:t>locus between two chromosomes to create two offspring. </a:t>
            </a:r>
            <a:endParaRPr lang="en-US" altLang="zh-TW" dirty="0" smtClean="0"/>
          </a:p>
          <a:p>
            <a:pPr marL="0" indent="0">
              <a:buNone/>
            </a:pPr>
            <a:r>
              <a:rPr lang="en-US" altLang="zh-TW" dirty="0" smtClean="0"/>
              <a:t>The crossover </a:t>
            </a:r>
            <a:r>
              <a:rPr lang="en-US" altLang="zh-TW" dirty="0"/>
              <a:t>operator roughly mimics biological recombination </a:t>
            </a:r>
            <a:r>
              <a:rPr lang="en-US" altLang="zh-TW" dirty="0" smtClean="0"/>
              <a:t>between two single-chromosome </a:t>
            </a:r>
            <a:r>
              <a:rPr lang="en-US" altLang="zh-TW" dirty="0"/>
              <a:t>(haploid) </a:t>
            </a:r>
            <a:r>
              <a:rPr lang="en-US" altLang="zh-TW" dirty="0" smtClean="0"/>
              <a:t>organisms.</a:t>
            </a:r>
            <a:endParaRPr lang="zh-TW" altLang="en-US" dirty="0"/>
          </a:p>
        </p:txBody>
      </p:sp>
    </p:spTree>
    <p:extLst>
      <p:ext uri="{BB962C8B-B14F-4D97-AF65-F5344CB8AC3E}">
        <p14:creationId xmlns:p14="http://schemas.microsoft.com/office/powerpoint/2010/main" val="12387367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Mutation</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The </a:t>
            </a:r>
            <a:r>
              <a:rPr lang="en-US" altLang="zh-TW" dirty="0" smtClean="0"/>
              <a:t>mutation operator </a:t>
            </a:r>
            <a:r>
              <a:rPr lang="en-US" altLang="zh-TW" dirty="0"/>
              <a:t>randomly flips some of the bits in a chromosome. </a:t>
            </a:r>
            <a:endParaRPr lang="en-US" altLang="zh-TW" dirty="0" smtClean="0"/>
          </a:p>
          <a:p>
            <a:pPr marL="0" indent="0">
              <a:buNone/>
            </a:pPr>
            <a:endParaRPr lang="en-US" altLang="zh-TW" dirty="0" smtClean="0"/>
          </a:p>
          <a:p>
            <a:pPr marL="0" indent="0">
              <a:buNone/>
            </a:pPr>
            <a:r>
              <a:rPr lang="en-US" altLang="zh-TW" dirty="0" smtClean="0"/>
              <a:t>Mutation can </a:t>
            </a:r>
            <a:r>
              <a:rPr lang="en-US" altLang="zh-TW" dirty="0"/>
              <a:t>occur at each bit position in a string with some </a:t>
            </a:r>
            <a:r>
              <a:rPr lang="en-US" altLang="zh-TW" dirty="0" smtClean="0"/>
              <a:t>probability, usually </a:t>
            </a:r>
            <a:r>
              <a:rPr lang="en-US" altLang="zh-TW" dirty="0"/>
              <a:t>very small (e.g., 0.001).</a:t>
            </a:r>
            <a:endParaRPr lang="zh-TW" altLang="en-US" dirty="0"/>
          </a:p>
        </p:txBody>
      </p:sp>
    </p:spTree>
    <p:extLst>
      <p:ext uri="{BB962C8B-B14F-4D97-AF65-F5344CB8AC3E}">
        <p14:creationId xmlns:p14="http://schemas.microsoft.com/office/powerpoint/2010/main" val="41186652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Genetic 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(1) Start with a randomly generated population of </a:t>
                </a:r>
                <a14:m>
                  <m:oMath xmlns:m="http://schemas.openxmlformats.org/officeDocument/2006/math">
                    <m:r>
                      <a:rPr lang="en-US" altLang="zh-TW" i="1" dirty="0" smtClean="0">
                        <a:latin typeface="Cambria Math" panose="02040503050406030204" pitchFamily="18" charset="0"/>
                      </a:rPr>
                      <m:t>𝑛𝑙</m:t>
                    </m:r>
                  </m:oMath>
                </a14:m>
                <a:r>
                  <a:rPr lang="en-US" altLang="zh-TW" dirty="0"/>
                  <a:t>-bit chromosomes (candidate solutions to the problem). </a:t>
                </a:r>
              </a:p>
              <a:p>
                <a:pPr marL="457200" indent="-457200">
                  <a:buAutoNum type="arabicParenBoth"/>
                </a:pPr>
                <a:endParaRPr lang="en-US" altLang="zh-TW" dirty="0"/>
              </a:p>
              <a:p>
                <a:pPr marL="0" indent="0">
                  <a:buNone/>
                </a:pPr>
                <a:r>
                  <a:rPr lang="en-US" altLang="zh-TW" dirty="0"/>
                  <a:t>(2) Calculate the fitness </a:t>
                </a:r>
                <a14:m>
                  <m:oMath xmlns:m="http://schemas.openxmlformats.org/officeDocument/2006/math">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𝑥</m:t>
                    </m:r>
                    <m:r>
                      <a:rPr lang="en-US" altLang="zh-TW" i="1" dirty="0" smtClean="0">
                        <a:latin typeface="Cambria Math" panose="02040503050406030204" pitchFamily="18" charset="0"/>
                      </a:rPr>
                      <m:t>)</m:t>
                    </m:r>
                  </m:oMath>
                </a14:m>
                <a:r>
                  <a:rPr lang="en-US" altLang="zh-TW" dirty="0"/>
                  <a:t> of each chromosome x in the population.</a:t>
                </a: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146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847502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(3) Repeat the following steps until </a:t>
                </a:r>
                <a14:m>
                  <m:oMath xmlns:m="http://schemas.openxmlformats.org/officeDocument/2006/math">
                    <m:r>
                      <a:rPr lang="en-US" altLang="zh-TW" i="1" dirty="0" smtClean="0">
                        <a:latin typeface="Cambria Math" panose="02040503050406030204" pitchFamily="18" charset="0"/>
                      </a:rPr>
                      <m:t>𝑛</m:t>
                    </m:r>
                  </m:oMath>
                </a14:m>
                <a:r>
                  <a:rPr lang="en-US" altLang="zh-TW" dirty="0"/>
                  <a:t> offspring has been created: </a:t>
                </a:r>
              </a:p>
              <a:p>
                <a:pPr marL="0" indent="0">
                  <a:buNone/>
                </a:pPr>
                <a:r>
                  <a:rPr lang="en-US" altLang="zh-TW" dirty="0"/>
                  <a:t>(3.1) select a pair of parent chromosomes from the current population, the probability of selection being an increasing function of fitness. </a:t>
                </a:r>
                <a:r>
                  <a:rPr lang="en-US" altLang="zh-TW" dirty="0" smtClean="0"/>
                  <a:t>Selection </a:t>
                </a:r>
                <a:r>
                  <a:rPr lang="en-US" altLang="zh-TW" dirty="0"/>
                  <a:t>is done ‘‘with replacement’’, meaning that the same chromosome can be selected more than once to become a parent. </a:t>
                </a: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18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462055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smtClean="0"/>
                  <a:t>(3.2) With probability </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𝑝</m:t>
                        </m:r>
                      </m:e>
                      <m:sub>
                        <m:r>
                          <a:rPr lang="en-US" altLang="zh-TW" b="0" i="1" dirty="0" smtClean="0">
                            <a:latin typeface="Cambria Math" panose="02040503050406030204" pitchFamily="18" charset="0"/>
                          </a:rPr>
                          <m:t>𝑐</m:t>
                        </m:r>
                      </m:sub>
                    </m:sSub>
                  </m:oMath>
                </a14:m>
                <a:r>
                  <a:rPr lang="en-US" altLang="zh-TW" dirty="0"/>
                  <a:t> (the ‘‘crossover probability’’), cross over the pair at a randomly chosen point (chosen with uniform probability) to form two offspring. If no crossover takes place, form two offspring that are exact copies of their respective parents. </a:t>
                </a:r>
              </a:p>
              <a:p>
                <a:pPr marL="0" indent="0">
                  <a:buNone/>
                </a:pPr>
                <a:r>
                  <a:rPr lang="en-US" altLang="zh-TW" dirty="0"/>
                  <a:t>(3.3) Mutate the two offspring at each locus with probability </a:t>
                </a:r>
                <a14:m>
                  <m:oMath xmlns:m="http://schemas.openxmlformats.org/officeDocument/2006/math">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𝑝</m:t>
                        </m:r>
                      </m:e>
                      <m:sub>
                        <m:r>
                          <a:rPr lang="en-US" altLang="zh-TW" b="0" i="1" dirty="0" smtClean="0">
                            <a:latin typeface="Cambria Math" panose="02040503050406030204" pitchFamily="18" charset="0"/>
                          </a:rPr>
                          <m:t>𝑚</m:t>
                        </m:r>
                      </m:sub>
                    </m:sSub>
                  </m:oMath>
                </a14:m>
                <a:r>
                  <a:rPr lang="en-US" altLang="zh-TW" dirty="0"/>
                  <a:t> (the ‘‘mutation probability’’), and place the resulting chromosomes in the new population. </a:t>
                </a: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23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889443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r>
              <a:rPr lang="en-US" altLang="zh-TW" dirty="0"/>
              <a:t>(4) Replace the current population with the new population, and repeat from Step 2 until a certain number of generations have been performed (or other termination criteria are met). </a:t>
            </a:r>
            <a:endParaRPr lang="en-US" altLang="zh-TW" dirty="0" smtClean="0"/>
          </a:p>
          <a:p>
            <a:pPr marL="0" indent="0">
              <a:buNone/>
            </a:pPr>
            <a:endParaRPr lang="en-US" altLang="zh-TW" dirty="0"/>
          </a:p>
          <a:p>
            <a:pPr marL="0" indent="0">
              <a:buNone/>
            </a:pPr>
            <a:endParaRPr lang="en-US" altLang="zh-TW" dirty="0"/>
          </a:p>
          <a:p>
            <a:pPr marL="0" indent="0">
              <a:buNone/>
            </a:pPr>
            <a:r>
              <a:rPr lang="en-US" altLang="zh-TW" dirty="0"/>
              <a:t>Each iteration of this process is called a generation</a:t>
            </a:r>
            <a:endParaRPr lang="zh-TW" altLang="en-US" dirty="0"/>
          </a:p>
          <a:p>
            <a:pPr marL="0" indent="0">
              <a:buNone/>
            </a:pPr>
            <a:endParaRPr lang="zh-TW" altLang="en-US" dirty="0"/>
          </a:p>
        </p:txBody>
      </p:sp>
    </p:spTree>
    <p:extLst>
      <p:ext uri="{BB962C8B-B14F-4D97-AF65-F5344CB8AC3E}">
        <p14:creationId xmlns:p14="http://schemas.microsoft.com/office/powerpoint/2010/main" val="37030559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EDA</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dirty="0" smtClean="0"/>
              <a:t>EDA(estimation of distribution algorithm)</a:t>
            </a:r>
          </a:p>
          <a:p>
            <a:pPr marL="0" indent="0">
              <a:buNone/>
            </a:pPr>
            <a:r>
              <a:rPr lang="en-US" altLang="zh-TW" dirty="0" smtClean="0"/>
              <a:t>From </a:t>
            </a:r>
            <a:r>
              <a:rPr lang="en-US" altLang="zh-TW" dirty="0"/>
              <a:t>an abstract point of view, the </a:t>
            </a:r>
            <a:r>
              <a:rPr lang="en-US" altLang="zh-TW" dirty="0" smtClean="0"/>
              <a:t>selected set </a:t>
            </a:r>
            <a:r>
              <a:rPr lang="en-US" altLang="zh-TW" dirty="0"/>
              <a:t>of promising solutions can be viewed as a sample drawn </a:t>
            </a:r>
            <a:r>
              <a:rPr lang="en-US" altLang="zh-TW" dirty="0" smtClean="0"/>
              <a:t>from a </a:t>
            </a:r>
            <a:r>
              <a:rPr lang="en-US" altLang="zh-TW" dirty="0"/>
              <a:t>probability distribution. </a:t>
            </a:r>
            <a:endParaRPr lang="en-US" altLang="zh-TW" dirty="0" smtClean="0"/>
          </a:p>
          <a:p>
            <a:pPr marL="0" indent="0">
              <a:buNone/>
            </a:pPr>
            <a:r>
              <a:rPr lang="en-US" altLang="zh-TW" dirty="0" smtClean="0"/>
              <a:t>Although </a:t>
            </a:r>
            <a:r>
              <a:rPr lang="en-US" altLang="zh-TW" dirty="0"/>
              <a:t>the true probability </a:t>
            </a:r>
            <a:r>
              <a:rPr lang="en-US" altLang="zh-TW" dirty="0" smtClean="0"/>
              <a:t>distribution is </a:t>
            </a:r>
            <a:r>
              <a:rPr lang="en-US" altLang="zh-TW" dirty="0"/>
              <a:t>unknown, there are algorithms that are able to estimate </a:t>
            </a:r>
            <a:r>
              <a:rPr lang="en-US" altLang="zh-TW" dirty="0" smtClean="0"/>
              <a:t>that probability </a:t>
            </a:r>
            <a:r>
              <a:rPr lang="en-US" altLang="zh-TW" dirty="0"/>
              <a:t>distribution by using the selected set of solutions </a:t>
            </a:r>
            <a:r>
              <a:rPr lang="en-US" altLang="zh-TW" dirty="0" smtClean="0"/>
              <a:t>itself and </a:t>
            </a:r>
            <a:r>
              <a:rPr lang="en-US" altLang="zh-TW" dirty="0"/>
              <a:t>use this estimate to generate new solutions.</a:t>
            </a:r>
            <a:endParaRPr lang="en-US" altLang="zh-TW" dirty="0" smtClean="0"/>
          </a:p>
          <a:p>
            <a:pPr marL="0" indent="0">
              <a:buNone/>
            </a:pPr>
            <a:endParaRPr lang="zh-TW" altLang="en-US" dirty="0"/>
          </a:p>
        </p:txBody>
      </p:sp>
    </p:spTree>
    <p:extLst>
      <p:ext uri="{BB962C8B-B14F-4D97-AF65-F5344CB8AC3E}">
        <p14:creationId xmlns:p14="http://schemas.microsoft.com/office/powerpoint/2010/main" val="23907553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marL="0" indent="0">
              <a:buNone/>
            </a:pPr>
            <a:r>
              <a:rPr lang="en-US" altLang="zh-TW" dirty="0"/>
              <a:t>Then, the true </a:t>
            </a:r>
            <a:r>
              <a:rPr lang="en-US" altLang="zh-TW" dirty="0" smtClean="0"/>
              <a:t>probability distribution </a:t>
            </a:r>
            <a:r>
              <a:rPr lang="en-US" altLang="zh-TW" dirty="0"/>
              <a:t>of the selected set of solutions is estimated </a:t>
            </a:r>
            <a:r>
              <a:rPr lang="en-US" altLang="zh-TW" dirty="0" smtClean="0"/>
              <a:t>and new </a:t>
            </a:r>
            <a:r>
              <a:rPr lang="en-US" altLang="zh-TW" dirty="0"/>
              <a:t>solutions are generated according to this estimate. </a:t>
            </a:r>
            <a:endParaRPr lang="en-US" altLang="zh-TW" dirty="0" smtClean="0"/>
          </a:p>
          <a:p>
            <a:pPr marL="0" indent="0">
              <a:buNone/>
            </a:pPr>
            <a:r>
              <a:rPr lang="en-US" altLang="zh-TW" dirty="0" smtClean="0"/>
              <a:t>The new solutions </a:t>
            </a:r>
            <a:r>
              <a:rPr lang="en-US" altLang="zh-TW" dirty="0"/>
              <a:t>are then added into the original population, </a:t>
            </a:r>
            <a:r>
              <a:rPr lang="en-US" altLang="zh-TW" dirty="0" smtClean="0"/>
              <a:t>replacing some </a:t>
            </a:r>
            <a:r>
              <a:rPr lang="en-US" altLang="zh-TW" dirty="0"/>
              <a:t>of the old ones. The process is repeated until the </a:t>
            </a:r>
            <a:r>
              <a:rPr lang="en-US" altLang="zh-TW" dirty="0" smtClean="0"/>
              <a:t>termination criteria </a:t>
            </a:r>
            <a:r>
              <a:rPr lang="en-US" altLang="zh-TW" dirty="0"/>
              <a:t>are met.</a:t>
            </a:r>
            <a:endParaRPr lang="zh-TW" altLang="en-US" dirty="0"/>
          </a:p>
        </p:txBody>
      </p:sp>
    </p:spTree>
    <p:extLst>
      <p:ext uri="{BB962C8B-B14F-4D97-AF65-F5344CB8AC3E}">
        <p14:creationId xmlns:p14="http://schemas.microsoft.com/office/powerpoint/2010/main" val="35660407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lnSpcReduction="20000"/>
          </a:bodyPr>
          <a:lstStyle/>
          <a:p>
            <a:pPr marL="0" indent="0">
              <a:buNone/>
            </a:pPr>
            <a:r>
              <a:rPr lang="en-US" altLang="zh-TW" dirty="0"/>
              <a:t>EDAs therefore do the same as GAs except for that they </a:t>
            </a:r>
            <a:r>
              <a:rPr lang="en-US" altLang="zh-TW" dirty="0" smtClean="0"/>
              <a:t>replace genetic </a:t>
            </a:r>
            <a:r>
              <a:rPr lang="en-US" altLang="zh-TW" dirty="0"/>
              <a:t>crossover and mutation operators by the following </a:t>
            </a:r>
            <a:r>
              <a:rPr lang="en-US" altLang="zh-TW" dirty="0" smtClean="0"/>
              <a:t>two steps</a:t>
            </a:r>
            <a:r>
              <a:rPr lang="en-US" altLang="zh-TW" dirty="0"/>
              <a:t>: </a:t>
            </a:r>
            <a:endParaRPr lang="en-US" altLang="zh-TW" dirty="0" smtClean="0"/>
          </a:p>
          <a:p>
            <a:pPr marL="514350" indent="-514350">
              <a:buAutoNum type="arabicParenBoth"/>
            </a:pPr>
            <a:r>
              <a:rPr lang="en-US" altLang="zh-TW" dirty="0" smtClean="0"/>
              <a:t>a </a:t>
            </a:r>
            <a:r>
              <a:rPr lang="en-US" altLang="zh-TW" dirty="0"/>
              <a:t>model (an estimate of the true distribution) of </a:t>
            </a:r>
            <a:r>
              <a:rPr lang="en-US" altLang="zh-TW" dirty="0" smtClean="0"/>
              <a:t>selected promising </a:t>
            </a:r>
            <a:r>
              <a:rPr lang="en-US" altLang="zh-TW" dirty="0"/>
              <a:t>solutions is </a:t>
            </a:r>
            <a:r>
              <a:rPr lang="en-US" altLang="zh-TW" dirty="0" smtClean="0"/>
              <a:t>constructed.</a:t>
            </a:r>
            <a:endParaRPr lang="en-US" altLang="zh-TW" dirty="0"/>
          </a:p>
          <a:p>
            <a:pPr marL="514350" indent="-514350">
              <a:buAutoNum type="arabicParenBoth"/>
            </a:pPr>
            <a:r>
              <a:rPr lang="en-US" altLang="zh-TW" dirty="0" smtClean="0"/>
              <a:t>new </a:t>
            </a:r>
            <a:r>
              <a:rPr lang="en-US" altLang="zh-TW" dirty="0"/>
              <a:t>solutions are </a:t>
            </a:r>
            <a:r>
              <a:rPr lang="en-US" altLang="zh-TW" dirty="0" smtClean="0"/>
              <a:t>generated according </a:t>
            </a:r>
            <a:r>
              <a:rPr lang="en-US" altLang="zh-TW" dirty="0"/>
              <a:t>to the constructed model. </a:t>
            </a:r>
            <a:endParaRPr lang="en-US" altLang="zh-TW" dirty="0" smtClean="0"/>
          </a:p>
          <a:p>
            <a:pPr marL="0" indent="0">
              <a:buNone/>
            </a:pPr>
            <a:r>
              <a:rPr lang="en-US" altLang="zh-TW" dirty="0" smtClean="0"/>
              <a:t>Hence</a:t>
            </a:r>
            <a:r>
              <a:rPr lang="en-US" altLang="zh-TW" dirty="0"/>
              <a:t>, while in </a:t>
            </a:r>
            <a:r>
              <a:rPr lang="en-US" altLang="zh-TW" dirty="0" smtClean="0"/>
              <a:t>GAs (and </a:t>
            </a:r>
            <a:r>
              <a:rPr lang="en-US" altLang="zh-TW" dirty="0"/>
              <a:t>other heuristics from evolutionary computation) the </a:t>
            </a:r>
            <a:r>
              <a:rPr lang="en-US" altLang="zh-TW" dirty="0" smtClean="0"/>
              <a:t>interrelations between </a:t>
            </a:r>
            <a:r>
              <a:rPr lang="en-US" altLang="zh-TW" dirty="0"/>
              <a:t>the different variables representing the </a:t>
            </a:r>
            <a:r>
              <a:rPr lang="en-US" altLang="zh-TW" dirty="0" smtClean="0"/>
              <a:t>individuals are </a:t>
            </a:r>
            <a:r>
              <a:rPr lang="en-US" altLang="zh-TW" dirty="0"/>
              <a:t>kept in mind implicitly </a:t>
            </a:r>
            <a:r>
              <a:rPr lang="en-US" altLang="zh-TW" dirty="0" smtClean="0"/>
              <a:t>in </a:t>
            </a:r>
            <a:r>
              <a:rPr lang="en-US" altLang="zh-TW" dirty="0"/>
              <a:t>EDAs the interrelations are expressed explicitly through </a:t>
            </a:r>
            <a:r>
              <a:rPr lang="en-US" altLang="zh-TW" dirty="0" smtClean="0"/>
              <a:t>the probability </a:t>
            </a:r>
            <a:r>
              <a:rPr lang="en-US" altLang="zh-TW" dirty="0"/>
              <a:t>distribution associated with </a:t>
            </a:r>
            <a:r>
              <a:rPr lang="en-US" altLang="zh-TW" dirty="0" smtClean="0"/>
              <a:t>the individuals </a:t>
            </a:r>
            <a:r>
              <a:rPr lang="en-US" altLang="zh-TW" dirty="0"/>
              <a:t>selected </a:t>
            </a:r>
            <a:r>
              <a:rPr lang="en-US" altLang="zh-TW" dirty="0" smtClean="0"/>
              <a:t>at each </a:t>
            </a:r>
            <a:r>
              <a:rPr lang="en-US" altLang="zh-TW" dirty="0"/>
              <a:t>iteration.</a:t>
            </a:r>
            <a:endParaRPr lang="zh-TW" altLang="en-US" dirty="0"/>
          </a:p>
        </p:txBody>
      </p:sp>
    </p:spTree>
    <p:extLst>
      <p:ext uri="{BB962C8B-B14F-4D97-AF65-F5344CB8AC3E}">
        <p14:creationId xmlns:p14="http://schemas.microsoft.com/office/powerpoint/2010/main" val="288522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Method</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lnSpcReduction="10000"/>
              </a:bodyPr>
              <a:lstStyle/>
              <a:p>
                <a:pPr marL="0" indent="0">
                  <a:buNone/>
                </a:pPr>
                <a:r>
                  <a:rPr lang="en-US" altLang="zh-TW" dirty="0" smtClean="0"/>
                  <a:t>Let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oMath>
                </a14:m>
                <a:r>
                  <a:rPr lang="en-US" altLang="zh-TW" dirty="0"/>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2</m:t>
                        </m:r>
                      </m:sub>
                    </m:sSub>
                  </m:oMath>
                </a14:m>
                <a:r>
                  <a:rPr lang="zh-TW" altLang="en-US" dirty="0" smtClean="0"/>
                  <a:t> </a:t>
                </a:r>
                <a:r>
                  <a:rPr lang="en-US" altLang="zh-TW" dirty="0" smtClean="0"/>
                  <a:t>be the two sequences, and have the same length </a:t>
                </a:r>
                <a14:m>
                  <m:oMath xmlns:m="http://schemas.openxmlformats.org/officeDocument/2006/math">
                    <m:r>
                      <a:rPr lang="en-US" altLang="zh-TW" i="1" dirty="0" smtClean="0">
                        <a:latin typeface="Cambria Math" panose="02040503050406030204" pitchFamily="18" charset="0"/>
                      </a:rPr>
                      <m:t>𝑙</m:t>
                    </m:r>
                  </m:oMath>
                </a14:m>
                <a:r>
                  <a:rPr lang="en-US" altLang="zh-TW" dirty="0" smtClean="0"/>
                  <a:t>.</a:t>
                </a:r>
                <a:endParaRPr lang="en-US" altLang="zh-TW" dirty="0"/>
              </a:p>
              <a:p>
                <a:pPr marL="0" indent="0">
                  <a:buNone/>
                </a:pPr>
                <a:r>
                  <a:rPr lang="en-US" altLang="zh-TW" dirty="0" smtClean="0"/>
                  <a:t>RF-LCS solution is codified by means of a binary string </a:t>
                </a:r>
                <a14:m>
                  <m:oMath xmlns:m="http://schemas.openxmlformats.org/officeDocument/2006/math">
                    <m:r>
                      <a:rPr lang="en-US" altLang="zh-TW" i="1" dirty="0" smtClean="0">
                        <a:latin typeface="Cambria Math" panose="02040503050406030204" pitchFamily="18" charset="0"/>
                      </a:rPr>
                      <m:t>𝑘</m:t>
                    </m:r>
                  </m:oMath>
                </a14:m>
                <a:r>
                  <a:rPr lang="en-US" altLang="zh-TW" dirty="0" smtClean="0"/>
                  <a:t>.</a:t>
                </a:r>
              </a:p>
              <a:p>
                <a:pPr marL="0" indent="0">
                  <a:buNone/>
                </a:pPr>
                <a:r>
                  <a:rPr lang="en-US" altLang="zh-TW" dirty="0"/>
                  <a:t>‘1’ in a particular </a:t>
                </a:r>
                <a:r>
                  <a:rPr lang="en-US" altLang="zh-TW" dirty="0" smtClean="0"/>
                  <a:t>position </a:t>
                </a:r>
                <a14:m>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 </m:t>
                    </m:r>
                  </m:oMath>
                </a14:m>
                <a:r>
                  <a:rPr lang="en-US" altLang="zh-TW" dirty="0"/>
                  <a:t>(with </a:t>
                </a:r>
                <a14:m>
                  <m:oMath xmlns:m="http://schemas.openxmlformats.org/officeDocument/2006/math">
                    <m:r>
                      <a:rPr lang="en-US" altLang="zh-TW" i="1" dirty="0"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a:latin typeface="Cambria Math" panose="02040503050406030204" pitchFamily="18" charset="0"/>
                      </a:rPr>
                      <m:t>𝑙</m:t>
                    </m:r>
                  </m:oMath>
                </a14:m>
                <a:r>
                  <a:rPr lang="en-US" altLang="zh-TW" dirty="0"/>
                  <a:t>) indicates that the longest common </a:t>
                </a:r>
                <a:r>
                  <a:rPr lang="en-US" altLang="zh-TW" dirty="0" smtClean="0"/>
                  <a:t>subsequence (without </a:t>
                </a:r>
                <a:r>
                  <a:rPr lang="en-US" altLang="zh-TW" dirty="0"/>
                  <a:t>repetition of characters) between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oMath>
                </a14:m>
                <a:r>
                  <a:rPr lang="en-US" altLang="zh-TW" dirty="0"/>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2</m:t>
                        </m:r>
                      </m:sub>
                    </m:sSub>
                  </m:oMath>
                </a14:m>
                <a:r>
                  <a:rPr lang="en-US" altLang="zh-TW" dirty="0" smtClean="0"/>
                  <a:t> includes the </a:t>
                </a:r>
                <a14:m>
                  <m:oMath xmlns:m="http://schemas.openxmlformats.org/officeDocument/2006/math">
                    <m:r>
                      <a:rPr lang="en-US" altLang="zh-TW" i="1" dirty="0" smtClean="0">
                        <a:latin typeface="Cambria Math" panose="02040503050406030204" pitchFamily="18" charset="0"/>
                      </a:rPr>
                      <m:t>𝑖</m:t>
                    </m:r>
                  </m:oMath>
                </a14:m>
                <a:r>
                  <a:rPr lang="en-US" altLang="zh-TW" dirty="0" err="1" smtClean="0"/>
                  <a:t>th</a:t>
                </a:r>
                <a:r>
                  <a:rPr lang="en-US" altLang="zh-TW" dirty="0" smtClean="0"/>
                  <a:t> </a:t>
                </a:r>
                <a:r>
                  <a:rPr lang="en-US" altLang="zh-TW" dirty="0"/>
                  <a:t>character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oMath>
                </a14:m>
                <a:r>
                  <a:rPr lang="en-US" altLang="zh-TW" dirty="0"/>
                  <a:t>. </a:t>
                </a:r>
                <a:endParaRPr lang="en-US" altLang="zh-TW" dirty="0" smtClean="0"/>
              </a:p>
              <a:p>
                <a:pPr marL="0" indent="0">
                  <a:buNone/>
                </a:pPr>
                <a:r>
                  <a:rPr lang="en-US" altLang="zh-TW" dirty="0" smtClean="0"/>
                  <a:t>On </a:t>
                </a:r>
                <a:r>
                  <a:rPr lang="en-US" altLang="zh-TW" dirty="0"/>
                  <a:t>the other hand, ‘0’ indicates that the </a:t>
                </a:r>
                <a:r>
                  <a:rPr lang="en-US" altLang="zh-TW" dirty="0" smtClean="0"/>
                  <a:t>common subsequence </a:t>
                </a:r>
                <a:r>
                  <a:rPr lang="en-US" altLang="zh-TW" dirty="0"/>
                  <a:t>should not consider the </a:t>
                </a:r>
                <a14:m>
                  <m:oMath xmlns:m="http://schemas.openxmlformats.org/officeDocument/2006/math">
                    <m:r>
                      <a:rPr lang="en-US" altLang="zh-TW" i="1" dirty="0">
                        <a:latin typeface="Cambria Math" panose="02040503050406030204" pitchFamily="18" charset="0"/>
                      </a:rPr>
                      <m:t>𝑖</m:t>
                    </m:r>
                  </m:oMath>
                </a14:m>
                <a:r>
                  <a:rPr lang="en-US" altLang="zh-TW" dirty="0" err="1"/>
                  <a:t>th</a:t>
                </a:r>
                <a:r>
                  <a:rPr lang="en-US" altLang="zh-TW" dirty="0"/>
                  <a:t> character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oMath>
                </a14:m>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3081" b="-140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24576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marL="0" indent="0">
              <a:buNone/>
            </a:pPr>
            <a:r>
              <a:rPr lang="en-US" altLang="zh-TW" dirty="0"/>
              <a:t>Given an initial population P of N chromosomes, the </a:t>
            </a:r>
            <a:r>
              <a:rPr lang="en-US" altLang="zh-TW" dirty="0" smtClean="0"/>
              <a:t>standard GA </a:t>
            </a:r>
            <a:r>
              <a:rPr lang="en-US" altLang="zh-TW" dirty="0"/>
              <a:t>is used to build a new population of candidate solutions. </a:t>
            </a:r>
            <a:r>
              <a:rPr lang="en-US" altLang="zh-TW" dirty="0" smtClean="0"/>
              <a:t>It </a:t>
            </a:r>
            <a:r>
              <a:rPr lang="en-US" altLang="zh-TW" dirty="0"/>
              <a:t>is not possible to guarantee that </a:t>
            </a:r>
            <a:r>
              <a:rPr lang="en-US" altLang="zh-TW" dirty="0" smtClean="0"/>
              <a:t>a particular </a:t>
            </a:r>
            <a:r>
              <a:rPr lang="en-US" altLang="zh-TW" dirty="0"/>
              <a:t>character will appear only once in the common subsequence</a:t>
            </a:r>
            <a:r>
              <a:rPr lang="en-US" altLang="zh-TW" dirty="0" smtClean="0"/>
              <a:t>.</a:t>
            </a:r>
          </a:p>
          <a:p>
            <a:pPr marL="514350" indent="-514350">
              <a:buAutoNum type="arabicPeriod"/>
            </a:pPr>
            <a:r>
              <a:rPr lang="en-US" altLang="zh-TW" dirty="0" smtClean="0"/>
              <a:t>penalize </a:t>
            </a:r>
            <a:r>
              <a:rPr lang="en-US" altLang="zh-TW" dirty="0"/>
              <a:t>the repetition of a particular </a:t>
            </a:r>
            <a:r>
              <a:rPr lang="en-US" altLang="zh-TW" dirty="0" smtClean="0"/>
              <a:t>character</a:t>
            </a:r>
          </a:p>
          <a:p>
            <a:pPr marL="514350" indent="-514350">
              <a:buAutoNum type="arabicPeriod"/>
            </a:pPr>
            <a:r>
              <a:rPr lang="en-US" altLang="zh-TW" dirty="0" smtClean="0"/>
              <a:t>consider </a:t>
            </a:r>
            <a:r>
              <a:rPr lang="en-US" altLang="zh-TW" dirty="0"/>
              <a:t>a specific mechanism able to guarantee that all </a:t>
            </a:r>
            <a:r>
              <a:rPr lang="en-US" altLang="zh-TW" dirty="0" smtClean="0"/>
              <a:t>the chromosomes </a:t>
            </a:r>
            <a:r>
              <a:rPr lang="en-US" altLang="zh-TW" dirty="0"/>
              <a:t>in the population satisfy the constraint of the </a:t>
            </a:r>
            <a:r>
              <a:rPr lang="en-US" altLang="zh-TW" dirty="0" smtClean="0"/>
              <a:t>RF-LCS problem</a:t>
            </a:r>
            <a:r>
              <a:rPr lang="en-US" altLang="zh-TW" dirty="0"/>
              <a:t>.</a:t>
            </a:r>
            <a:endParaRPr lang="zh-TW" altLang="en-US" dirty="0"/>
          </a:p>
        </p:txBody>
      </p:sp>
    </p:spTree>
    <p:extLst>
      <p:ext uri="{BB962C8B-B14F-4D97-AF65-F5344CB8AC3E}">
        <p14:creationId xmlns:p14="http://schemas.microsoft.com/office/powerpoint/2010/main" val="36185455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marL="0" indent="0">
              <a:buNone/>
            </a:pPr>
            <a:r>
              <a:rPr lang="en-US" altLang="zh-TW" dirty="0" smtClean="0"/>
              <a:t>First, integrating </a:t>
            </a:r>
            <a:r>
              <a:rPr lang="en-US" altLang="zh-TW" dirty="0"/>
              <a:t>this penalty in the </a:t>
            </a:r>
            <a:r>
              <a:rPr lang="en-US" altLang="zh-TW" dirty="0" smtClean="0"/>
              <a:t>fitness function</a:t>
            </a:r>
            <a:r>
              <a:rPr lang="en-US" altLang="zh-TW" dirty="0"/>
              <a:t>. This approach is not easy because the definition of the </a:t>
            </a:r>
            <a:r>
              <a:rPr lang="en-US" altLang="zh-TW" dirty="0" smtClean="0"/>
              <a:t>fitness function </a:t>
            </a:r>
            <a:r>
              <a:rPr lang="en-US" altLang="zh-TW" dirty="0"/>
              <a:t>is the key point for a successful use of the GA, and </a:t>
            </a:r>
            <a:r>
              <a:rPr lang="en-US" altLang="zh-TW" dirty="0" smtClean="0"/>
              <a:t>the inclusion </a:t>
            </a:r>
            <a:r>
              <a:rPr lang="en-US" altLang="zh-TW" dirty="0"/>
              <a:t>of a penalty mechanism makes this definition more </a:t>
            </a:r>
            <a:r>
              <a:rPr lang="en-US" altLang="zh-TW" dirty="0" smtClean="0"/>
              <a:t>tricky and </a:t>
            </a:r>
            <a:r>
              <a:rPr lang="en-US" altLang="zh-TW" dirty="0"/>
              <a:t>complicated</a:t>
            </a:r>
            <a:r>
              <a:rPr lang="en-US" altLang="zh-TW" dirty="0" smtClean="0"/>
              <a:t>.</a:t>
            </a:r>
          </a:p>
          <a:p>
            <a:pPr marL="0" indent="0">
              <a:buNone/>
            </a:pPr>
            <a:endParaRPr lang="zh-TW" altLang="en-US" dirty="0"/>
          </a:p>
        </p:txBody>
      </p:sp>
    </p:spTree>
    <p:extLst>
      <p:ext uri="{BB962C8B-B14F-4D97-AF65-F5344CB8AC3E}">
        <p14:creationId xmlns:p14="http://schemas.microsoft.com/office/powerpoint/2010/main" val="40503230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r>
              <a:rPr lang="en-US" altLang="zh-TW" dirty="0"/>
              <a:t>Second, the approach used in this paper considers EDA. The idea is to estimate the distribution of promising solutions assuming that the variables in the problem are  independent and to look at the values of each variable regardless of the remaining solutions.</a:t>
            </a:r>
          </a:p>
          <a:p>
            <a:endParaRPr lang="zh-TW" altLang="en-US" dirty="0"/>
          </a:p>
        </p:txBody>
      </p:sp>
    </p:spTree>
    <p:extLst>
      <p:ext uri="{BB962C8B-B14F-4D97-AF65-F5344CB8AC3E}">
        <p14:creationId xmlns:p14="http://schemas.microsoft.com/office/powerpoint/2010/main" val="35673915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4746" y="643697"/>
            <a:ext cx="6224753" cy="5295141"/>
          </a:xfrm>
          <a:prstGeom prst="rect">
            <a:avLst/>
          </a:prstGeom>
        </p:spPr>
      </p:pic>
    </p:spTree>
    <p:extLst>
      <p:ext uri="{BB962C8B-B14F-4D97-AF65-F5344CB8AC3E}">
        <p14:creationId xmlns:p14="http://schemas.microsoft.com/office/powerpoint/2010/main" val="5328233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06575"/>
                <a:ext cx="7886700" cy="4351338"/>
              </a:xfrm>
            </p:spPr>
            <p:txBody>
              <a:bodyPr>
                <a:normAutofit/>
              </a:bodyPr>
              <a:lstStyle/>
              <a:p>
                <a:pPr marL="0" indent="0">
                  <a:buNone/>
                </a:pPr>
                <a:r>
                  <a:rPr lang="en-US" altLang="zh-TW" dirty="0"/>
                  <a:t>The vector </a:t>
                </a:r>
                <a14:m>
                  <m:oMath xmlns:m="http://schemas.openxmlformats.org/officeDocument/2006/math">
                    <m:r>
                      <a:rPr lang="en-US" altLang="zh-TW" i="1" dirty="0" smtClean="0">
                        <a:latin typeface="Cambria Math" panose="02040503050406030204" pitchFamily="18" charset="0"/>
                      </a:rPr>
                      <m:t>𝑉</m:t>
                    </m:r>
                  </m:oMath>
                </a14:m>
                <a:r>
                  <a:rPr lang="en-US" altLang="zh-TW" dirty="0"/>
                  <a:t> of frequencies is then used to resolve conflicts </a:t>
                </a:r>
                <a:r>
                  <a:rPr lang="en-US" altLang="zh-TW" dirty="0" smtClean="0"/>
                  <a:t>that may </a:t>
                </a:r>
                <a:r>
                  <a:rPr lang="en-US" altLang="zh-TW" dirty="0"/>
                  <a:t>occur in the candidate solutions. </a:t>
                </a:r>
                <a:endParaRPr lang="en-US" altLang="zh-TW" dirty="0" smtClean="0"/>
              </a:p>
              <a:p>
                <a:pPr marL="0" indent="0">
                  <a:buNone/>
                </a:pPr>
                <a:r>
                  <a:rPr lang="en-US" altLang="zh-TW" dirty="0" smtClean="0"/>
                  <a:t>In </a:t>
                </a:r>
                <a:r>
                  <a:rPr lang="en-US" altLang="zh-TW" dirty="0"/>
                  <a:t>other words, a conflict appears if and only if the common </a:t>
                </a:r>
                <a:r>
                  <a:rPr lang="en-US" altLang="zh-TW" dirty="0" smtClean="0"/>
                  <a:t>subsequence contains </a:t>
                </a:r>
                <a:r>
                  <a:rPr lang="en-US" altLang="zh-TW" dirty="0"/>
                  <a:t>at least one repetition of one of the characters </a:t>
                </a:r>
                <a:r>
                  <a:rPr lang="en-US" altLang="zh-TW" dirty="0" smtClean="0"/>
                  <a:t>of the </a:t>
                </a:r>
                <a:r>
                  <a:rPr lang="en-US" altLang="zh-TW" dirty="0"/>
                  <a:t>alphabet </a:t>
                </a:r>
                <a:r>
                  <a:rPr lang="el-GR" altLang="zh-TW" dirty="0" smtClean="0"/>
                  <a:t>Σ.</a:t>
                </a:r>
                <a:r>
                  <a:rPr lang="en-US" altLang="zh-TW" dirty="0" smtClean="0"/>
                  <a:t> </a:t>
                </a:r>
              </a:p>
              <a:p>
                <a:pPr marL="0" indent="0">
                  <a:buNone/>
                </a:pPr>
                <a:r>
                  <a:rPr lang="en-US" altLang="zh-TW" dirty="0" smtClean="0"/>
                  <a:t>The </a:t>
                </a:r>
                <a:r>
                  <a:rPr lang="en-US" altLang="zh-TW" dirty="0"/>
                  <a:t>conflict is solved in the following way: </a:t>
                </a:r>
                <a:endParaRPr lang="en-US" altLang="zh-TW" dirty="0" smtClean="0"/>
              </a:p>
              <a:p>
                <a:pPr marL="0" indent="0">
                  <a:buNone/>
                </a:pPr>
                <a:r>
                  <a:rPr lang="en-US" altLang="zh-TW" dirty="0" smtClean="0"/>
                  <a:t>if </a:t>
                </a:r>
                <a14:m>
                  <m:oMath xmlns:m="http://schemas.openxmlformats.org/officeDocument/2006/math">
                    <m:r>
                      <a:rPr lang="en-US" altLang="zh-TW" i="1" dirty="0" smtClean="0">
                        <a:latin typeface="Cambria Math" panose="02040503050406030204" pitchFamily="18" charset="0"/>
                      </a:rPr>
                      <m:t>𝑉</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]&gt;</m:t>
                    </m:r>
                    <m:r>
                      <a:rPr lang="en-US" altLang="zh-TW" i="1" dirty="0">
                        <a:latin typeface="Cambria Math" panose="02040503050406030204" pitchFamily="18" charset="0"/>
                      </a:rPr>
                      <m:t>𝑉</m:t>
                    </m:r>
                    <m:r>
                      <a:rPr lang="en-US" altLang="zh-TW" i="1" dirty="0">
                        <a:latin typeface="Cambria Math" panose="02040503050406030204" pitchFamily="18" charset="0"/>
                      </a:rPr>
                      <m:t>[</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smtClean="0"/>
                  <a:t>then </a:t>
                </a:r>
                <a14:m>
                  <m:oMath xmlns:m="http://schemas.openxmlformats.org/officeDocument/2006/math">
                    <m:r>
                      <a:rPr lang="en-US" altLang="zh-TW" i="1" dirty="0" smtClean="0">
                        <a:latin typeface="Cambria Math" panose="02040503050406030204" pitchFamily="18" charset="0"/>
                      </a:rPr>
                      <m:t>𝐾</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𝑗</m:t>
                    </m:r>
                    <m:r>
                      <a:rPr lang="en-US" altLang="zh-TW" i="1" dirty="0">
                        <a:latin typeface="Cambria Math" panose="02040503050406030204" pitchFamily="18" charset="0"/>
                      </a:rPr>
                      <m:t>]</m:t>
                    </m:r>
                  </m:oMath>
                </a14:m>
                <a:r>
                  <a:rPr lang="en-US" altLang="zh-TW" dirty="0"/>
                  <a:t> is set to </a:t>
                </a:r>
                <a14:m>
                  <m:oMath xmlns:m="http://schemas.openxmlformats.org/officeDocument/2006/math">
                    <m:r>
                      <a:rPr lang="en-US" altLang="zh-TW" i="1" dirty="0" smtClean="0">
                        <a:latin typeface="Cambria Math" panose="02040503050406030204" pitchFamily="18" charset="0"/>
                      </a:rPr>
                      <m:t>0</m:t>
                    </m:r>
                  </m:oMath>
                </a14:m>
                <a:r>
                  <a:rPr lang="en-US" altLang="zh-TW" dirty="0" smtClean="0"/>
                  <a:t>.</a:t>
                </a:r>
              </a:p>
              <a:p>
                <a:pPr marL="0" indent="0">
                  <a:buNone/>
                </a:pPr>
                <a:r>
                  <a:rPr lang="en-US" altLang="zh-TW" dirty="0" smtClean="0"/>
                  <a:t>In </a:t>
                </a:r>
                <a:r>
                  <a:rPr lang="en-US" altLang="zh-TW" dirty="0"/>
                  <a:t>the opposite case </a:t>
                </a:r>
                <a14:m>
                  <m:oMath xmlns:m="http://schemas.openxmlformats.org/officeDocument/2006/math">
                    <m:r>
                      <a:rPr lang="en-US" altLang="zh-TW" i="1" dirty="0" smtClean="0">
                        <a:latin typeface="Cambria Math" panose="02040503050406030204" pitchFamily="18" charset="0"/>
                      </a:rPr>
                      <m:t>𝐾</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m:t>
                    </m:r>
                  </m:oMath>
                </a14:m>
                <a:r>
                  <a:rPr lang="en-US" altLang="zh-TW" dirty="0"/>
                  <a:t> is set to </a:t>
                </a:r>
                <a14:m>
                  <m:oMath xmlns:m="http://schemas.openxmlformats.org/officeDocument/2006/math">
                    <m:r>
                      <a:rPr lang="en-US" altLang="zh-TW" i="1" dirty="0" smtClean="0">
                        <a:latin typeface="Cambria Math" panose="02040503050406030204" pitchFamily="18" charset="0"/>
                      </a:rPr>
                      <m:t>0</m:t>
                    </m:r>
                  </m:oMath>
                </a14:m>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06575"/>
                <a:ext cx="7886700" cy="4351338"/>
              </a:xfrm>
              <a:blipFill rotWithShape="0">
                <a:blip r:embed="rId2"/>
                <a:stretch>
                  <a:fillRect l="-1546" t="-2241" r="-1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513949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1. Start with a randomly generated population of </a:t>
                </a:r>
                <a14:m>
                  <m:oMath xmlns:m="http://schemas.openxmlformats.org/officeDocument/2006/math">
                    <m:r>
                      <a:rPr lang="en-US" altLang="zh-TW" i="1" dirty="0" smtClean="0">
                        <a:latin typeface="Cambria Math" panose="02040503050406030204" pitchFamily="18" charset="0"/>
                      </a:rPr>
                      <m:t>𝑁</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𝑙</m:t>
                    </m:r>
                  </m:oMath>
                </a14:m>
                <a:r>
                  <a:rPr lang="en-US" altLang="zh-TW" dirty="0"/>
                  <a:t>-bit </a:t>
                </a:r>
                <a:r>
                  <a:rPr lang="en-US" altLang="zh-TW" dirty="0" smtClean="0"/>
                  <a:t>chromosomes(candidate </a:t>
                </a:r>
                <a:r>
                  <a:rPr lang="en-US" altLang="zh-TW" dirty="0"/>
                  <a:t>solutions to the problem) where the </a:t>
                </a:r>
                <a:r>
                  <a:rPr lang="en-US" altLang="zh-TW" dirty="0" smtClean="0"/>
                  <a:t>conflicts are </a:t>
                </a:r>
                <a:r>
                  <a:rPr lang="en-US" altLang="zh-TW" dirty="0"/>
                  <a:t>randomly resolved.</a:t>
                </a:r>
              </a:p>
              <a:p>
                <a:pPr marL="0" indent="0">
                  <a:buNone/>
                </a:pPr>
                <a:r>
                  <a:rPr lang="en-US" altLang="zh-TW" dirty="0"/>
                  <a:t>2. Calculate the fitness </a:t>
                </a:r>
                <a14:m>
                  <m:oMath xmlns:m="http://schemas.openxmlformats.org/officeDocument/2006/math">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𝑥</m:t>
                    </m:r>
                    <m:r>
                      <a:rPr lang="en-US" altLang="zh-TW" i="1" dirty="0" smtClean="0">
                        <a:latin typeface="Cambria Math" panose="02040503050406030204" pitchFamily="18" charset="0"/>
                      </a:rPr>
                      <m:t>)</m:t>
                    </m:r>
                  </m:oMath>
                </a14:m>
                <a:r>
                  <a:rPr lang="en-US" altLang="zh-TW" dirty="0"/>
                  <a:t> of each chromosome </a:t>
                </a:r>
                <a14:m>
                  <m:oMath xmlns:m="http://schemas.openxmlformats.org/officeDocument/2006/math">
                    <m:r>
                      <a:rPr lang="en-US" altLang="zh-TW" i="1" dirty="0" smtClean="0">
                        <a:latin typeface="Cambria Math" panose="02040503050406030204" pitchFamily="18" charset="0"/>
                      </a:rPr>
                      <m:t>𝑥</m:t>
                    </m:r>
                  </m:oMath>
                </a14:m>
                <a:r>
                  <a:rPr lang="en-US" altLang="zh-TW" dirty="0"/>
                  <a:t> in the population.</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434007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3. Repeat the following steps until </a:t>
                </a:r>
                <a14:m>
                  <m:oMath xmlns:m="http://schemas.openxmlformats.org/officeDocument/2006/math">
                    <m:r>
                      <a:rPr lang="en-US" altLang="zh-TW" i="1" dirty="0" smtClean="0">
                        <a:latin typeface="Cambria Math" panose="02040503050406030204" pitchFamily="18" charset="0"/>
                      </a:rPr>
                      <m:t>𝑛</m:t>
                    </m:r>
                    <m:r>
                      <a:rPr lang="en-US" altLang="zh-TW" i="1" dirty="0" smtClean="0">
                        <a:latin typeface="Cambria Math" panose="02040503050406030204" pitchFamily="18" charset="0"/>
                      </a:rPr>
                      <m:t> </m:t>
                    </m:r>
                  </m:oMath>
                </a14:m>
                <a:r>
                  <a:rPr lang="en-US" altLang="zh-TW" dirty="0"/>
                  <a:t>offspring have been created:</a:t>
                </a:r>
              </a:p>
              <a:p>
                <a:pPr marL="514350" indent="-514350">
                  <a:buAutoNum type="arabicParenBoth"/>
                </a:pPr>
                <a:r>
                  <a:rPr lang="en-US" altLang="zh-TW" dirty="0"/>
                  <a:t>S</a:t>
                </a:r>
                <a:r>
                  <a:rPr lang="en-US" altLang="zh-TW" dirty="0" smtClean="0"/>
                  <a:t>elect </a:t>
                </a:r>
                <a:r>
                  <a:rPr lang="en-US" altLang="zh-TW" dirty="0"/>
                  <a:t>a subset </a:t>
                </a:r>
                <a14:m>
                  <m:oMath xmlns:m="http://schemas.openxmlformats.org/officeDocument/2006/math">
                    <m:r>
                      <a:rPr lang="en-US" altLang="zh-TW" i="1" dirty="0" smtClean="0">
                        <a:latin typeface="Cambria Math" panose="02040503050406030204" pitchFamily="18" charset="0"/>
                      </a:rPr>
                      <m:t>𝑄</m:t>
                    </m:r>
                  </m:oMath>
                </a14:m>
                <a:r>
                  <a:rPr lang="en-US" altLang="zh-TW" dirty="0"/>
                  <a:t> of chromosomes from the current </a:t>
                </a:r>
                <a:r>
                  <a:rPr lang="en-US" altLang="zh-TW" dirty="0" smtClean="0"/>
                  <a:t>population, with </a:t>
                </a:r>
                <a:r>
                  <a:rPr lang="en-US" altLang="zh-TW" dirty="0"/>
                  <a:t>the probability of selection being an increasing </a:t>
                </a:r>
                <a:r>
                  <a:rPr lang="en-US" altLang="zh-TW" dirty="0" smtClean="0"/>
                  <a:t>function of </a:t>
                </a:r>
                <a:r>
                  <a:rPr lang="en-US" altLang="zh-TW" dirty="0"/>
                  <a:t>fitness. In this application </a:t>
                </a:r>
                <a14:m>
                  <m:oMath xmlns:m="http://schemas.openxmlformats.org/officeDocument/2006/math">
                    <m:r>
                      <a:rPr lang="en-US" altLang="zh-TW" i="1" dirty="0" smtClean="0">
                        <a:latin typeface="Cambria Math" panose="02040503050406030204" pitchFamily="18" charset="0"/>
                      </a:rPr>
                      <m:t>|</m:t>
                    </m:r>
                    <m:r>
                      <a:rPr lang="en-US" altLang="zh-TW" i="1" dirty="0" smtClean="0">
                        <a:latin typeface="Cambria Math" panose="02040503050406030204" pitchFamily="18" charset="0"/>
                      </a:rPr>
                      <m:t>𝑄</m:t>
                    </m:r>
                    <m:r>
                      <a:rPr lang="en-US" altLang="zh-TW" i="1" dirty="0" smtClean="0">
                        <a:latin typeface="Cambria Math" panose="02040503050406030204" pitchFamily="18" charset="0"/>
                      </a:rPr>
                      <m:t>| = |</m:t>
                    </m:r>
                    <m:r>
                      <a:rPr lang="en-US" altLang="zh-TW" i="1" dirty="0" smtClean="0">
                        <a:latin typeface="Cambria Math" panose="02040503050406030204" pitchFamily="18" charset="0"/>
                      </a:rPr>
                      <m:t>𝑃</m:t>
                    </m:r>
                    <m:r>
                      <a:rPr lang="en-US" altLang="zh-TW" i="1" dirty="0" smtClean="0">
                        <a:latin typeface="Cambria Math" panose="02040503050406030204" pitchFamily="18" charset="0"/>
                      </a:rPr>
                      <m:t>|/2 </m:t>
                    </m:r>
                  </m:oMath>
                </a14:m>
                <a:r>
                  <a:rPr lang="en-US" altLang="zh-TW" dirty="0"/>
                  <a:t>. </a:t>
                </a:r>
                <a:endParaRPr lang="en-US" altLang="zh-TW" dirty="0" smtClean="0"/>
              </a:p>
              <a:p>
                <a:pPr marL="514350" indent="-514350">
                  <a:buAutoNum type="arabicParenBoth"/>
                </a:pPr>
                <a:r>
                  <a:rPr lang="en-US" altLang="zh-TW" dirty="0" smtClean="0"/>
                  <a:t>Calculate the frequency </a:t>
                </a:r>
                <a:r>
                  <a:rPr lang="en-US" altLang="zh-TW" dirty="0"/>
                  <a:t>vector </a:t>
                </a:r>
                <a14:m>
                  <m:oMath xmlns:m="http://schemas.openxmlformats.org/officeDocument/2006/math">
                    <m:r>
                      <a:rPr lang="en-US" altLang="zh-TW" i="1" dirty="0" smtClean="0">
                        <a:latin typeface="Cambria Math" panose="02040503050406030204" pitchFamily="18" charset="0"/>
                      </a:rPr>
                      <m:t>𝑉</m:t>
                    </m:r>
                  </m:oMath>
                </a14:m>
                <a:r>
                  <a:rPr lang="en-US" altLang="zh-TW" dirty="0"/>
                  <a:t> using Algorithm 1</a:t>
                </a:r>
                <a:r>
                  <a:rPr lang="en-US" altLang="zh-TW" dirty="0" smtClean="0"/>
                  <a:t>.</a:t>
                </a:r>
              </a:p>
              <a:p>
                <a:pPr marL="514350" indent="-514350">
                  <a:buFont typeface="Arial" panose="020B0604020202020204" pitchFamily="34" charset="0"/>
                  <a:buAutoNum type="arabicParenBoth"/>
                </a:pPr>
                <a:r>
                  <a:rPr lang="en-US" altLang="zh-TW" dirty="0" smtClean="0"/>
                  <a:t>Update </a:t>
                </a:r>
                <a:r>
                  <a:rPr lang="en-US" altLang="zh-TW" dirty="0"/>
                  <a:t>elements in </a:t>
                </a:r>
                <a14:m>
                  <m:oMath xmlns:m="http://schemas.openxmlformats.org/officeDocument/2006/math">
                    <m:r>
                      <a:rPr lang="en-US" altLang="zh-TW" i="1" dirty="0" smtClean="0">
                        <a:latin typeface="Cambria Math" panose="02040503050406030204" pitchFamily="18" charset="0"/>
                      </a:rPr>
                      <m:t>𝑃</m:t>
                    </m:r>
                    <m:r>
                      <a:rPr lang="en-US" altLang="zh-TW" i="1" dirty="0" smtClean="0">
                        <a:latin typeface="Cambria Math" panose="02040503050406030204" pitchFamily="18" charset="0"/>
                      </a:rPr>
                      <m:t>,</m:t>
                    </m:r>
                  </m:oMath>
                </a14:m>
                <a:r>
                  <a:rPr lang="en-US" altLang="zh-TW" dirty="0"/>
                  <a:t> resolving all the existing conflicts based on the information in </a:t>
                </a:r>
                <a14:m>
                  <m:oMath xmlns:m="http://schemas.openxmlformats.org/officeDocument/2006/math">
                    <m:r>
                      <a:rPr lang="en-US" altLang="zh-TW" i="1" dirty="0" smtClean="0">
                        <a:latin typeface="Cambria Math" panose="02040503050406030204" pitchFamily="18" charset="0"/>
                      </a:rPr>
                      <m:t>𝑉</m:t>
                    </m:r>
                  </m:oMath>
                </a14:m>
                <a:r>
                  <a:rPr lang="en-US" altLang="zh-TW" dirty="0"/>
                  <a:t>. </a:t>
                </a:r>
              </a:p>
              <a:p>
                <a:pPr marL="514350" indent="-514350">
                  <a:buAutoNum type="arabicParenBoth"/>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623" t="-2241" r="-1159" b="-30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677552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514350" indent="-514350">
                  <a:buFont typeface="Wingdings" panose="05000000000000000000" pitchFamily="2" charset="2"/>
                  <a:buAutoNum type="arabicParenBoth" startAt="4"/>
                </a:pPr>
                <a:r>
                  <a:rPr lang="en-US" altLang="zh-TW" dirty="0" smtClean="0"/>
                  <a:t>Select </a:t>
                </a:r>
                <a:r>
                  <a:rPr lang="en-US" altLang="zh-TW" dirty="0"/>
                  <a:t>(with replacement) a pair of parent chromosomes from </a:t>
                </a:r>
                <a14:m>
                  <m:oMath xmlns:m="http://schemas.openxmlformats.org/officeDocument/2006/math">
                    <m:r>
                      <a:rPr lang="en-US" altLang="zh-TW" i="1" dirty="0" smtClean="0">
                        <a:latin typeface="Cambria Math" panose="02040503050406030204" pitchFamily="18" charset="0"/>
                      </a:rPr>
                      <m:t>𝑃</m:t>
                    </m:r>
                  </m:oMath>
                </a14:m>
                <a:r>
                  <a:rPr lang="en-US" altLang="zh-TW" dirty="0"/>
                  <a:t>, with the probability of selection being an increasing function of fitness.</a:t>
                </a:r>
              </a:p>
              <a:p>
                <a:pPr marL="514350" indent="-514350">
                  <a:buFont typeface="Arial" panose="020B0604020202020204" pitchFamily="34" charset="0"/>
                  <a:buAutoNum type="arabicParenBoth" startAt="4"/>
                </a:pPr>
                <a:r>
                  <a:rPr lang="en-US" altLang="zh-TW" dirty="0"/>
                  <a:t> </a:t>
                </a:r>
                <a:r>
                  <a:rPr lang="en-US" altLang="zh-TW" dirty="0" smtClean="0"/>
                  <a:t>With </a:t>
                </a:r>
                <a:r>
                  <a:rPr lang="en-US" altLang="zh-TW" dirty="0"/>
                  <a:t>probability </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𝑝</m:t>
                        </m:r>
                      </m:e>
                      <m:sub>
                        <m:r>
                          <a:rPr lang="en-US" altLang="zh-TW" b="0" i="1" dirty="0" smtClean="0">
                            <a:latin typeface="Cambria Math" panose="02040503050406030204" pitchFamily="18" charset="0"/>
                          </a:rPr>
                          <m:t>𝑐</m:t>
                        </m:r>
                      </m:sub>
                    </m:sSub>
                  </m:oMath>
                </a14:m>
                <a:r>
                  <a:rPr lang="en-US" altLang="zh-TW" dirty="0"/>
                  <a:t> (the ‘‘crossover probability’’), cross over the pair of selected parents at a randomly chosen point (chosen with uniform probability) to form  two offspring. </a:t>
                </a:r>
                <a:endParaRPr lang="en-US" altLang="zh-TW" dirty="0" smtClean="0"/>
              </a:p>
              <a:p>
                <a:pPr marL="0" indent="0">
                  <a:buNone/>
                </a:pPr>
                <a:r>
                  <a:rPr lang="en-US" altLang="zh-TW" dirty="0" smtClean="0"/>
                  <a:t>If </a:t>
                </a:r>
                <a:r>
                  <a:rPr lang="en-US" altLang="zh-TW" dirty="0"/>
                  <a:t>no crossover takes place, form two offspring that are exact copies of their respective parents. </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623" t="-2381" r="-23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978639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514350" indent="-514350">
                  <a:buFont typeface="Wingdings" panose="05000000000000000000" pitchFamily="2" charset="2"/>
                  <a:buAutoNum type="arabicParenBoth" startAt="6"/>
                </a:pPr>
                <a:r>
                  <a:rPr lang="en-US" altLang="zh-TW" dirty="0" smtClean="0"/>
                  <a:t>Mutate the two </a:t>
                </a:r>
                <a:r>
                  <a:rPr lang="en-US" altLang="zh-TW" dirty="0"/>
                  <a:t>offspring at each locus with probability </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𝑝</m:t>
                        </m:r>
                      </m:e>
                      <m:sub>
                        <m:r>
                          <a:rPr lang="en-US" altLang="zh-TW" b="0" i="1" dirty="0" smtClean="0">
                            <a:latin typeface="Cambria Math" panose="02040503050406030204" pitchFamily="18" charset="0"/>
                          </a:rPr>
                          <m:t>𝑚</m:t>
                        </m:r>
                      </m:sub>
                    </m:sSub>
                  </m:oMath>
                </a14:m>
                <a:r>
                  <a:rPr lang="en-US" altLang="zh-TW" dirty="0" smtClean="0"/>
                  <a:t>(</a:t>
                </a:r>
                <a:r>
                  <a:rPr lang="en-US" altLang="zh-TW" dirty="0"/>
                  <a:t>the ‘‘mutation probability’’), and place the resulting chromosomes in the new population.</a:t>
                </a:r>
              </a:p>
              <a:p>
                <a:pPr marL="514350" indent="-514350">
                  <a:buFont typeface="+mj-lt"/>
                  <a:buAutoNum type="arabicPeriod" startAt="4"/>
                </a:pPr>
                <a:r>
                  <a:rPr lang="en-US" altLang="zh-TW" dirty="0" smtClean="0"/>
                  <a:t>Replace </a:t>
                </a:r>
                <a:r>
                  <a:rPr lang="en-US" altLang="zh-TW" dirty="0"/>
                  <a:t>the current population with the new population, </a:t>
                </a:r>
                <a:r>
                  <a:rPr lang="en-US" altLang="zh-TW" dirty="0" smtClean="0"/>
                  <a:t>and repeat </a:t>
                </a:r>
                <a:r>
                  <a:rPr lang="en-US" altLang="zh-TW" dirty="0"/>
                  <a:t>from Step 2 until a certain number of generations </a:t>
                </a:r>
                <a:r>
                  <a:rPr lang="en-US" altLang="zh-TW" dirty="0" smtClean="0"/>
                  <a:t>has been </a:t>
                </a:r>
                <a:r>
                  <a:rPr lang="en-US" altLang="zh-TW" dirty="0"/>
                  <a:t>performed (or other termination criteria are met).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623" t="-2381" r="-200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258368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marL="0" indent="0">
              <a:buNone/>
            </a:pPr>
            <a:r>
              <a:rPr lang="en-US" altLang="zh-TW" dirty="0"/>
              <a:t>All the runs used populations of 100 individuals and </a:t>
            </a:r>
            <a:r>
              <a:rPr lang="en-US" altLang="zh-TW" dirty="0" smtClean="0"/>
              <a:t>the evolution </a:t>
            </a:r>
            <a:r>
              <a:rPr lang="en-US" altLang="zh-TW" dirty="0"/>
              <a:t>stopped after 1000 generations. </a:t>
            </a:r>
            <a:endParaRPr lang="en-US" altLang="zh-TW" dirty="0" smtClean="0"/>
          </a:p>
          <a:p>
            <a:pPr marL="0" indent="0">
              <a:buNone/>
            </a:pPr>
            <a:r>
              <a:rPr lang="en-US" altLang="zh-TW" dirty="0" smtClean="0"/>
              <a:t>Candidate </a:t>
            </a:r>
            <a:r>
              <a:rPr lang="en-US" altLang="zh-TW" dirty="0"/>
              <a:t>solutions </a:t>
            </a:r>
            <a:r>
              <a:rPr lang="en-US" altLang="zh-TW" dirty="0" smtClean="0"/>
              <a:t>are represented </a:t>
            </a:r>
            <a:r>
              <a:rPr lang="en-US" altLang="zh-TW" dirty="0"/>
              <a:t>as binary strings of length equal to the length of the </a:t>
            </a:r>
            <a:r>
              <a:rPr lang="en-US" altLang="zh-TW" dirty="0" smtClean="0"/>
              <a:t>sequences. </a:t>
            </a:r>
          </a:p>
          <a:p>
            <a:pPr marL="0" indent="0">
              <a:buNone/>
            </a:pPr>
            <a:r>
              <a:rPr lang="en-US" altLang="zh-TW" dirty="0" smtClean="0"/>
              <a:t>Individuals </a:t>
            </a:r>
            <a:r>
              <a:rPr lang="en-US" altLang="zh-TW" dirty="0"/>
              <a:t>are randomly generated, with a </a:t>
            </a:r>
            <a:r>
              <a:rPr lang="en-US" altLang="zh-TW" dirty="0" smtClean="0"/>
              <a:t>probability of having </a:t>
            </a:r>
            <a:r>
              <a:rPr lang="en-US" altLang="zh-TW" dirty="0"/>
              <a:t>0 or 1 in a specific locus equal to 0.5. To create new </a:t>
            </a:r>
            <a:r>
              <a:rPr lang="en-US" altLang="zh-TW" dirty="0" smtClean="0"/>
              <a:t>individuals, one </a:t>
            </a:r>
            <a:r>
              <a:rPr lang="en-US" altLang="zh-TW" dirty="0"/>
              <a:t>point crossover and flip mutation with probabilities </a:t>
            </a:r>
            <a:r>
              <a:rPr lang="en-US" altLang="zh-TW" dirty="0" smtClean="0"/>
              <a:t>equal to </a:t>
            </a:r>
            <a:r>
              <a:rPr lang="en-US" altLang="zh-TW" dirty="0"/>
              <a:t>0.9 and 0.05, respectively, have been used. </a:t>
            </a:r>
            <a:endParaRPr lang="zh-TW" altLang="en-US" dirty="0"/>
          </a:p>
        </p:txBody>
      </p:sp>
    </p:spTree>
    <p:extLst>
      <p:ext uri="{BB962C8B-B14F-4D97-AF65-F5344CB8AC3E}">
        <p14:creationId xmlns:p14="http://schemas.microsoft.com/office/powerpoint/2010/main" val="5482715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Fitness function</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𝐿𝐶𝑆</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𝑆</m:t>
                                  </m:r>
                                </m:e>
                                <m:sup>
                                  <m:r>
                                    <a:rPr lang="en-US" altLang="zh-TW" b="0" i="1" smtClean="0">
                                      <a:latin typeface="Cambria Math" panose="02040503050406030204" pitchFamily="18" charset="0"/>
                                    </a:rPr>
                                    <m:t>′</m:t>
                                  </m:r>
                                </m:sup>
                              </m:sSup>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𝑙𝑒𝑛</m:t>
                          </m:r>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sSup>
                                <m:sSupPr>
                                  <m:ctrlPr>
                                    <a:rPr lang="en-US" altLang="zh-TW" i="1">
                                      <a:latin typeface="Cambria Math" panose="02040503050406030204" pitchFamily="18" charset="0"/>
                                    </a:rPr>
                                  </m:ctrlPr>
                                </m:sSupPr>
                                <m:e>
                                  <m:r>
                                    <a:rPr lang="en-US" altLang="zh-TW" i="1">
                                      <a:latin typeface="Cambria Math" panose="02040503050406030204" pitchFamily="18" charset="0"/>
                                    </a:rPr>
                                    <m:t>𝑆</m:t>
                                  </m:r>
                                </m:e>
                                <m:sup>
                                  <m:r>
                                    <a:rPr lang="en-US" altLang="zh-TW" i="1">
                                      <a:latin typeface="Cambria Math" panose="02040503050406030204" pitchFamily="18" charset="0"/>
                                    </a:rPr>
                                    <m:t>′</m:t>
                                  </m:r>
                                </m:sup>
                              </m:sSup>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sup>
                        <m:e>
                          <m:r>
                            <a:rPr lang="en-US" altLang="zh-TW" b="0"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sSup>
                                <m:sSupPr>
                                  <m:ctrlPr>
                                    <a:rPr lang="en-US" altLang="zh-TW" i="1">
                                      <a:latin typeface="Cambria Math" panose="02040503050406030204" pitchFamily="18" charset="0"/>
                                    </a:rPr>
                                  </m:ctrlPr>
                                </m:sSupPr>
                                <m:e>
                                  <m:r>
                                    <a:rPr lang="en-US" altLang="zh-TW" i="1">
                                      <a:latin typeface="Cambria Math" panose="02040503050406030204" pitchFamily="18" charset="0"/>
                                    </a:rPr>
                                    <m:t>𝑆</m:t>
                                  </m:r>
                                </m:e>
                                <m:sup>
                                  <m:r>
                                    <a:rPr lang="en-US" altLang="zh-TW" i="1">
                                      <a:latin typeface="Cambria Math" panose="02040503050406030204" pitchFamily="18" charset="0"/>
                                    </a:rPr>
                                    <m:t>′</m:t>
                                  </m:r>
                                </m:sup>
                              </m:sSup>
                            </m:e>
                            <m:sub>
                              <m:r>
                                <a:rPr lang="en-US" altLang="zh-TW" i="1">
                                  <a:latin typeface="Cambria Math" panose="02040503050406030204" pitchFamily="18" charset="0"/>
                                </a:rPr>
                                <m:t>1</m:t>
                              </m:r>
                            </m:sub>
                          </m:sSub>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𝑗</m:t>
                              </m:r>
                            </m:e>
                          </m:d>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ea typeface="Cambria Math" panose="02040503050406030204" pitchFamily="18" charset="0"/>
                            </a:rPr>
                            <m:t>)</m:t>
                          </m:r>
                        </m:e>
                      </m:nary>
                    </m:oMath>
                  </m:oMathPara>
                </a14:m>
                <a:endParaRPr lang="en-US" altLang="zh-TW" dirty="0" smtClean="0"/>
              </a:p>
              <a:p>
                <a:pPr marL="0" indent="0">
                  <a:buNone/>
                </a:pPr>
                <a:r>
                  <a:rPr lang="en-US" altLang="zh-TW" dirty="0" smtClean="0"/>
                  <a:t>Where</a:t>
                </a:r>
              </a:p>
              <a:p>
                <a:pPr marL="0" indent="0">
                  <a:buNone/>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sSup>
                            <m:sSupPr>
                              <m:ctrlPr>
                                <a:rPr lang="en-US" altLang="zh-TW" i="1">
                                  <a:latin typeface="Cambria Math" panose="02040503050406030204" pitchFamily="18" charset="0"/>
                                </a:rPr>
                              </m:ctrlPr>
                            </m:sSupPr>
                            <m:e>
                              <m:r>
                                <a:rPr lang="en-US" altLang="zh-TW" i="1">
                                  <a:latin typeface="Cambria Math" panose="02040503050406030204" pitchFamily="18" charset="0"/>
                                </a:rPr>
                                <m:t>𝑆</m:t>
                              </m:r>
                            </m:e>
                            <m:sup>
                              <m:r>
                                <a:rPr lang="en-US" altLang="zh-TW" i="1">
                                  <a:latin typeface="Cambria Math" panose="02040503050406030204" pitchFamily="18" charset="0"/>
                                </a:rPr>
                                <m:t>′</m:t>
                              </m:r>
                            </m:sup>
                          </m:sSup>
                        </m:e>
                        <m:sub>
                          <m:r>
                            <a:rPr lang="en-US" altLang="zh-TW" i="1">
                              <a:latin typeface="Cambria Math" panose="02040503050406030204" pitchFamily="18" charset="0"/>
                            </a:rPr>
                            <m:t>1</m:t>
                          </m:r>
                        </m:sub>
                      </m:sSub>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𝑗</m:t>
                          </m:r>
                        </m:e>
                      </m:d>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2</m:t>
                          </m:r>
                        </m:sub>
                      </m:sSub>
                      <m:r>
                        <a:rPr lang="en-US" altLang="zh-TW" i="1">
                          <a:latin typeface="Cambria Math" panose="02040503050406030204" pitchFamily="18" charset="0"/>
                          <a:ea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d>
                        <m:dPr>
                          <m:begChr m:val="{"/>
                          <m:endChr m:val=""/>
                          <m:ctrlPr>
                            <a:rPr lang="en-US" altLang="zh-TW" i="1" smtClean="0">
                              <a:latin typeface="Cambria Math" panose="02040503050406030204" pitchFamily="18" charset="0"/>
                              <a:ea typeface="Cambria Math" panose="02040503050406030204" pitchFamily="18" charset="0"/>
                            </a:rPr>
                          </m:ctrlPr>
                        </m:dPr>
                        <m:e>
                          <m:eqArr>
                            <m:eqArrPr>
                              <m:ctrlPr>
                                <a:rPr lang="en-US" altLang="zh-TW" i="1" smtClean="0">
                                  <a:latin typeface="Cambria Math" panose="02040503050406030204" pitchFamily="18" charset="0"/>
                                  <a:ea typeface="Cambria Math" panose="02040503050406030204" pitchFamily="18" charset="0"/>
                                </a:rPr>
                              </m:ctrlPr>
                            </m:eqArrPr>
                            <m:e>
                              <m:r>
                                <a:rPr lang="en-US" altLang="zh-TW" b="0" i="1" smtClean="0">
                                  <a:latin typeface="Cambria Math" panose="02040503050406030204" pitchFamily="18" charset="0"/>
                                  <a:ea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𝑖𝑓</m:t>
                              </m:r>
                              <m:sSub>
                                <m:sSubPr>
                                  <m:ctrlPr>
                                    <a:rPr lang="en-US" altLang="zh-TW" i="1">
                                      <a:latin typeface="Cambria Math" panose="02040503050406030204" pitchFamily="18" charset="0"/>
                                    </a:rPr>
                                  </m:ctrlPr>
                                </m:sSubPr>
                                <m:e>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  </m:t>
                                      </m:r>
                                      <m:r>
                                        <a:rPr lang="en-US" altLang="zh-TW" i="1">
                                          <a:latin typeface="Cambria Math" panose="02040503050406030204" pitchFamily="18" charset="0"/>
                                        </a:rPr>
                                        <m:t>𝑆</m:t>
                                      </m:r>
                                    </m:e>
                                    <m:sup>
                                      <m:r>
                                        <a:rPr lang="en-US" altLang="zh-TW" i="1">
                                          <a:latin typeface="Cambria Math" panose="02040503050406030204" pitchFamily="18" charset="0"/>
                                        </a:rPr>
                                        <m:t>′</m:t>
                                      </m:r>
                                    </m:sup>
                                  </m:sSup>
                                </m:e>
                                <m:sub>
                                  <m:r>
                                    <a:rPr lang="en-US" altLang="zh-TW" i="1">
                                      <a:latin typeface="Cambria Math" panose="02040503050406030204" pitchFamily="18" charset="0"/>
                                    </a:rPr>
                                    <m:t>1</m:t>
                                  </m:r>
                                </m:sub>
                              </m:sSub>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𝑗</m:t>
                                  </m:r>
                                </m:e>
                              </m:d>
                              <m:r>
                                <a:rPr lang="en-US" altLang="zh-TW" i="1" smtClean="0">
                                  <a:latin typeface="Cambria Math" panose="02040503050406030204" pitchFamily="18" charset="0"/>
                                </a:rPr>
                                <m:t>∉</m:t>
                              </m:r>
                              <m:r>
                                <a:rPr lang="en-US" altLang="zh-TW" i="1">
                                  <a:latin typeface="Cambria Math" panose="02040503050406030204" pitchFamily="18" charset="0"/>
                                </a:rPr>
                                <m:t>𝐿𝐶𝑆</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sSup>
                                        <m:sSupPr>
                                          <m:ctrlPr>
                                            <a:rPr lang="en-US" altLang="zh-TW" i="1">
                                              <a:latin typeface="Cambria Math" panose="02040503050406030204" pitchFamily="18" charset="0"/>
                                            </a:rPr>
                                          </m:ctrlPr>
                                        </m:sSupPr>
                                        <m:e>
                                          <m:r>
                                            <a:rPr lang="en-US" altLang="zh-TW" i="1">
                                              <a:latin typeface="Cambria Math" panose="02040503050406030204" pitchFamily="18" charset="0"/>
                                            </a:rPr>
                                            <m:t>𝑆</m:t>
                                          </m:r>
                                        </m:e>
                                        <m:sup>
                                          <m:r>
                                            <a:rPr lang="en-US" altLang="zh-TW" i="1">
                                              <a:latin typeface="Cambria Math" panose="02040503050406030204" pitchFamily="18" charset="0"/>
                                            </a:rPr>
                                            <m:t>′</m:t>
                                          </m:r>
                                        </m:sup>
                                      </m:sSup>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2</m:t>
                                      </m:r>
                                    </m:sub>
                                  </m:sSub>
                                </m:e>
                              </m:d>
                            </m:e>
                            <m:e>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𝑖𝑛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𝑡h𝑒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𝑜𝑝𝑝𝑜𝑠𝑖𝑡𝑒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𝑐𝑎𝑠𝑒</m:t>
                              </m:r>
                              <m:r>
                                <a:rPr lang="en-US" altLang="zh-TW" b="0" i="1" smtClean="0">
                                  <a:latin typeface="Cambria Math" panose="02040503050406030204" pitchFamily="18" charset="0"/>
                                  <a:ea typeface="Cambria Math" panose="02040503050406030204" pitchFamily="18" charset="0"/>
                                </a:rPr>
                                <m:t>.</m:t>
                              </m:r>
                            </m:e>
                          </m:eqArr>
                        </m:e>
                      </m:d>
                    </m:oMath>
                  </m:oMathPara>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304427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1797" y="171450"/>
            <a:ext cx="8540406" cy="5795963"/>
          </a:xfrm>
        </p:spPr>
      </p:pic>
    </p:spTree>
    <p:extLst>
      <p:ext uri="{BB962C8B-B14F-4D97-AF65-F5344CB8AC3E}">
        <p14:creationId xmlns:p14="http://schemas.microsoft.com/office/powerpoint/2010/main" val="15897308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8749" y="157162"/>
            <a:ext cx="5895975" cy="6491288"/>
          </a:xfrm>
        </p:spPr>
      </p:pic>
    </p:spTree>
    <p:extLst>
      <p:ext uri="{BB962C8B-B14F-4D97-AF65-F5344CB8AC3E}">
        <p14:creationId xmlns:p14="http://schemas.microsoft.com/office/powerpoint/2010/main" val="4837449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smtClean="0"/>
                  <a:t>the </a:t>
                </a:r>
                <a:r>
                  <a:rPr lang="en-US" altLang="zh-TW" dirty="0"/>
                  <a:t>proposed hybrid GA, we have a polynomial </a:t>
                </a:r>
                <a:r>
                  <a:rPr lang="en-US" altLang="zh-TW" dirty="0" smtClean="0"/>
                  <a:t>time </a:t>
                </a:r>
                <a14:m>
                  <m:oMath xmlns:m="http://schemas.openxmlformats.org/officeDocument/2006/math">
                    <m:r>
                      <a:rPr lang="en-US" altLang="zh-TW" i="1" dirty="0" smtClean="0">
                        <a:latin typeface="Cambria Math" panose="02040503050406030204" pitchFamily="18" charset="0"/>
                      </a:rPr>
                      <m:t>𝑂</m:t>
                    </m:r>
                    <m:r>
                      <a:rPr lang="en-US" altLang="zh-TW" i="1" dirty="0" smtClean="0">
                        <a:latin typeface="Cambria Math" panose="02040503050406030204" pitchFamily="18" charset="0"/>
                      </a:rPr>
                      <m:t>(</m:t>
                    </m:r>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𝑙</m:t>
                        </m:r>
                      </m:e>
                      <m:sup>
                        <m:r>
                          <a:rPr lang="en-US" altLang="zh-TW" b="0" i="1" dirty="0" smtClean="0">
                            <a:latin typeface="Cambria Math" panose="02040503050406030204" pitchFamily="18" charset="0"/>
                          </a:rPr>
                          <m:t>2</m:t>
                        </m:r>
                      </m:sup>
                    </m:sSup>
                    <m:r>
                      <a:rPr lang="en-US" altLang="zh-TW" i="1" dirty="0">
                        <a:latin typeface="Cambria Math" panose="02040503050406030204" pitchFamily="18" charset="0"/>
                      </a:rPr>
                      <m:t>)</m:t>
                    </m:r>
                  </m:oMath>
                </a14:m>
                <a:r>
                  <a:rPr lang="en-US" altLang="zh-TW" dirty="0"/>
                  <a:t> to </a:t>
                </a:r>
                <a:r>
                  <a:rPr lang="en-US" altLang="zh-TW" dirty="0" smtClean="0"/>
                  <a:t>calculate </a:t>
                </a:r>
                <a:r>
                  <a:rPr lang="en-US" altLang="zh-TW" dirty="0"/>
                  <a:t>the fitness and a linear time</a:t>
                </a:r>
                <a14:m>
                  <m:oMath xmlns:m="http://schemas.openxmlformats.org/officeDocument/2006/math">
                    <m:r>
                      <a:rPr lang="en-US" altLang="zh-TW" i="1" dirty="0" smtClean="0">
                        <a:latin typeface="Cambria Math" panose="02040503050406030204" pitchFamily="18" charset="0"/>
                      </a:rPr>
                      <m:t> </m:t>
                    </m:r>
                    <m:r>
                      <a:rPr lang="en-US" altLang="zh-TW" i="1" dirty="0" smtClean="0">
                        <a:latin typeface="Cambria Math" panose="02040503050406030204" pitchFamily="18" charset="0"/>
                      </a:rPr>
                      <m:t>𝑂</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𝑙</m:t>
                    </m:r>
                    <m:r>
                      <a:rPr lang="en-US" altLang="zh-TW" i="1" dirty="0" smtClean="0">
                        <a:latin typeface="Cambria Math" panose="02040503050406030204" pitchFamily="18" charset="0"/>
                      </a:rPr>
                      <m:t>) </m:t>
                    </m:r>
                  </m:oMath>
                </a14:m>
                <a:r>
                  <a:rPr lang="en-US" altLang="zh-TW" dirty="0"/>
                  <a:t>to calculate </a:t>
                </a:r>
                <a:r>
                  <a:rPr lang="en-US" altLang="zh-TW" dirty="0" smtClean="0"/>
                  <a:t>the distribution </a:t>
                </a:r>
                <a:r>
                  <a:rPr lang="en-US" altLang="zh-TW" dirty="0"/>
                  <a:t>used by the EDA. </a:t>
                </a:r>
                <a:r>
                  <a:rPr lang="en-US" altLang="zh-TW" dirty="0" smtClean="0"/>
                  <a:t>The </a:t>
                </a:r>
                <a:r>
                  <a:rPr lang="en-US" altLang="zh-TW" dirty="0"/>
                  <a:t>execution time </a:t>
                </a:r>
                <a:r>
                  <a:rPr lang="en-US" altLang="zh-TW" dirty="0" smtClean="0"/>
                  <a:t>must consider </a:t>
                </a:r>
                <a:r>
                  <a:rPr lang="en-US" altLang="zh-TW" dirty="0"/>
                  <a:t>a multiplicative constant </a:t>
                </a:r>
                <a14:m>
                  <m:oMath xmlns:m="http://schemas.openxmlformats.org/officeDocument/2006/math">
                    <m:r>
                      <a:rPr lang="en-US" altLang="zh-TW" i="1" dirty="0" smtClean="0">
                        <a:latin typeface="Cambria Math" panose="02040503050406030204" pitchFamily="18" charset="0"/>
                      </a:rPr>
                      <m:t>𝑃</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rPr>
                      <m:t>𝐺</m:t>
                    </m:r>
                    <m:r>
                      <a:rPr lang="en-US" altLang="zh-TW" i="1" dirty="0">
                        <a:latin typeface="Cambria Math" panose="02040503050406030204" pitchFamily="18" charset="0"/>
                      </a:rPr>
                      <m:t> </m:t>
                    </m:r>
                  </m:oMath>
                </a14:m>
                <a:r>
                  <a:rPr lang="en-US" altLang="zh-TW" dirty="0"/>
                  <a:t>(where P denotes the </a:t>
                </a:r>
                <a:r>
                  <a:rPr lang="en-US" altLang="zh-TW" dirty="0" smtClean="0"/>
                  <a:t>number of </a:t>
                </a:r>
                <a:r>
                  <a:rPr lang="en-US" altLang="zh-TW" dirty="0"/>
                  <a:t>solutions in </a:t>
                </a:r>
                <a:r>
                  <a:rPr lang="en-US" altLang="zh-TW" dirty="0" smtClean="0"/>
                  <a:t>the GA population </a:t>
                </a:r>
                <a:r>
                  <a:rPr lang="en-US" altLang="zh-TW" dirty="0"/>
                  <a:t>and G the number of </a:t>
                </a:r>
                <a:r>
                  <a:rPr lang="en-US" altLang="zh-TW" dirty="0" smtClean="0"/>
                  <a:t>iterations of </a:t>
                </a:r>
                <a:r>
                  <a:rPr lang="en-US" altLang="zh-TW" dirty="0"/>
                  <a:t>the algorithm) that is typical of all the evolutionary </a:t>
                </a:r>
                <a:r>
                  <a:rPr lang="en-US" altLang="zh-TW" dirty="0" smtClean="0"/>
                  <a:t>algorithms. Hence</a:t>
                </a:r>
                <a:r>
                  <a:rPr lang="en-US" altLang="zh-TW" dirty="0"/>
                  <a:t>, the time needed to solve an instance of the RF-LCS with </a:t>
                </a:r>
                <a:r>
                  <a:rPr lang="en-US" altLang="zh-TW" dirty="0" smtClean="0"/>
                  <a:t>the proposed </a:t>
                </a:r>
                <a:r>
                  <a:rPr lang="en-US" altLang="zh-TW" dirty="0"/>
                  <a:t>algorithm is </a:t>
                </a:r>
                <a14:m>
                  <m:oMath xmlns:m="http://schemas.openxmlformats.org/officeDocument/2006/math">
                    <m:r>
                      <a:rPr lang="en-US" altLang="zh-TW" i="1" dirty="0">
                        <a:latin typeface="Cambria Math" panose="02040503050406030204" pitchFamily="18" charset="0"/>
                      </a:rPr>
                      <m:t>𝑃𝐺</m:t>
                    </m:r>
                    <m:r>
                      <a:rPr lang="en-US" altLang="zh-TW" i="1" dirty="0">
                        <a:latin typeface="Cambria Math" panose="02040503050406030204" pitchFamily="18" charset="0"/>
                        <a:ea typeface="Cambria Math" panose="02040503050406030204" pitchFamily="18" charset="0"/>
                      </a:rPr>
                      <m:t>∗</m:t>
                    </m:r>
                    <m:r>
                      <a:rPr lang="en-US" altLang="zh-TW" i="1" dirty="0">
                        <a:latin typeface="Cambria Math" panose="02040503050406030204" pitchFamily="18" charset="0"/>
                      </a:rPr>
                      <m:t>𝑂</m:t>
                    </m:r>
                    <m:d>
                      <m:dPr>
                        <m:ctrlPr>
                          <a:rPr lang="en-US" altLang="zh-TW" i="1" dirty="0">
                            <a:latin typeface="Cambria Math" panose="02040503050406030204" pitchFamily="18" charset="0"/>
                          </a:rPr>
                        </m:ctrlPr>
                      </m:dPr>
                      <m:e>
                        <m:sSup>
                          <m:sSupPr>
                            <m:ctrlPr>
                              <a:rPr lang="en-US" altLang="zh-TW" i="1" dirty="0">
                                <a:latin typeface="Cambria Math" panose="02040503050406030204" pitchFamily="18" charset="0"/>
                              </a:rPr>
                            </m:ctrlPr>
                          </m:sSupPr>
                          <m:e>
                            <m:r>
                              <a:rPr lang="en-US" altLang="zh-TW" i="1" dirty="0">
                                <a:latin typeface="Cambria Math" panose="02040503050406030204" pitchFamily="18" charset="0"/>
                              </a:rPr>
                              <m:t>𝑙</m:t>
                            </m:r>
                          </m:e>
                          <m:sup>
                            <m:r>
                              <a:rPr lang="en-US" altLang="zh-TW" i="1" dirty="0">
                                <a:latin typeface="Cambria Math" panose="02040503050406030204" pitchFamily="18" charset="0"/>
                              </a:rPr>
                              <m:t>2</m:t>
                            </m:r>
                          </m:sup>
                        </m:sSup>
                      </m:e>
                    </m:d>
                  </m:oMath>
                </a14:m>
                <a:r>
                  <a:rPr lang="en-US" altLang="zh-TW" dirty="0" smtClean="0"/>
                  <a:t> which </a:t>
                </a:r>
                <a:r>
                  <a:rPr lang="en-US" altLang="zh-TW" dirty="0"/>
                  <a:t>is linear in </a:t>
                </a:r>
                <a14:m>
                  <m:oMath xmlns:m="http://schemas.openxmlformats.org/officeDocument/2006/math">
                    <m:r>
                      <a:rPr lang="en-US" altLang="zh-TW" i="1" dirty="0" smtClean="0">
                        <a:latin typeface="Cambria Math" panose="02040503050406030204" pitchFamily="18" charset="0"/>
                      </a:rPr>
                      <m:t>𝑙</m:t>
                    </m:r>
                  </m:oMath>
                </a14:m>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77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032377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243</TotalTime>
  <Words>1430</Words>
  <Application>Microsoft Office PowerPoint</Application>
  <PresentationFormat>如螢幕大小 (4:3)</PresentationFormat>
  <Paragraphs>122</Paragraphs>
  <Slides>36</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36</vt:i4>
      </vt:variant>
    </vt:vector>
  </HeadingPairs>
  <TitlesOfParts>
    <vt:vector size="45" baseType="lpstr">
      <vt:lpstr>Arial Unicode MS</vt:lpstr>
      <vt:lpstr>新細明體</vt:lpstr>
      <vt:lpstr>Arial</vt:lpstr>
      <vt:lpstr>Calibri</vt:lpstr>
      <vt:lpstr>Calibri Light</vt:lpstr>
      <vt:lpstr>Cambria Math</vt:lpstr>
      <vt:lpstr>Verdana</vt:lpstr>
      <vt:lpstr>Wingdings</vt:lpstr>
      <vt:lpstr>Office 佈景主題</vt:lpstr>
      <vt:lpstr>PowerPoint 簡報</vt:lpstr>
      <vt:lpstr>Abstract</vt:lpstr>
      <vt:lpstr>Introduction</vt:lpstr>
      <vt:lpstr>Example</vt:lpstr>
      <vt:lpstr>PowerPoint 簡報</vt:lpstr>
      <vt:lpstr>Basic definitions</vt:lpstr>
      <vt:lpstr>Genetic algorithm</vt:lpstr>
      <vt:lpstr>PowerPoint 簡報</vt:lpstr>
      <vt:lpstr>Population</vt:lpstr>
      <vt:lpstr>Fitness function </vt:lpstr>
      <vt:lpstr>Genetic operators</vt:lpstr>
      <vt:lpstr>Selection</vt:lpstr>
      <vt:lpstr>Crossover</vt:lpstr>
      <vt:lpstr>Mutation</vt:lpstr>
      <vt:lpstr>Genetic algorithm</vt:lpstr>
      <vt:lpstr>PowerPoint 簡報</vt:lpstr>
      <vt:lpstr>PowerPoint 簡報</vt:lpstr>
      <vt:lpstr>PowerPoint 簡報</vt:lpstr>
      <vt:lpstr>EDA</vt:lpstr>
      <vt:lpstr>PowerPoint 簡報</vt:lpstr>
      <vt:lpstr>PowerPoint 簡報</vt:lpstr>
      <vt:lpstr>Method</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HUGO</dc:creator>
  <cp:lastModifiedBy>HUGO</cp:lastModifiedBy>
  <cp:revision>20</cp:revision>
  <dcterms:created xsi:type="dcterms:W3CDTF">2014-08-12T03:11:04Z</dcterms:created>
  <dcterms:modified xsi:type="dcterms:W3CDTF">2014-08-19T10:31:23Z</dcterms:modified>
</cp:coreProperties>
</file>