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6" r:id="rId2"/>
    <p:sldId id="257" r:id="rId3"/>
    <p:sldId id="264" r:id="rId4"/>
    <p:sldId id="265" r:id="rId5"/>
    <p:sldId id="266" r:id="rId6"/>
    <p:sldId id="267" r:id="rId7"/>
    <p:sldId id="260" r:id="rId8"/>
    <p:sldId id="281" r:id="rId9"/>
    <p:sldId id="286" r:id="rId10"/>
    <p:sldId id="270" r:id="rId11"/>
    <p:sldId id="282" r:id="rId12"/>
    <p:sldId id="271" r:id="rId13"/>
    <p:sldId id="283" r:id="rId14"/>
    <p:sldId id="284" r:id="rId15"/>
    <p:sldId id="276" r:id="rId16"/>
    <p:sldId id="274" r:id="rId17"/>
    <p:sldId id="275" r:id="rId18"/>
    <p:sldId id="262" r:id="rId19"/>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6871" autoAdjust="0"/>
  </p:normalViewPr>
  <p:slideViewPr>
    <p:cSldViewPr snapToGrid="0">
      <p:cViewPr varScale="1">
        <p:scale>
          <a:sx n="64" d="100"/>
          <a:sy n="64" d="100"/>
        </p:scale>
        <p:origin x="71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EF243C-9A7C-40AD-81CD-CEE94422C0EF}" type="datetimeFigureOut">
              <a:rPr lang="zh-TW" altLang="en-US" smtClean="0"/>
              <a:t>2014/12/15</a:t>
            </a:fld>
            <a:endParaRPr lang="zh-TW" altLang="en-US"/>
          </a:p>
        </p:txBody>
      </p:sp>
      <p:sp>
        <p:nvSpPr>
          <p:cNvPr id="4" name="投影片圖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9C7601-E818-440F-87EB-CA3BEF05EA4A}" type="slidenum">
              <a:rPr lang="zh-TW" altLang="en-US" smtClean="0"/>
              <a:t>‹#›</a:t>
            </a:fld>
            <a:endParaRPr lang="zh-TW" altLang="en-US"/>
          </a:p>
        </p:txBody>
      </p:sp>
    </p:spTree>
    <p:extLst>
      <p:ext uri="{BB962C8B-B14F-4D97-AF65-F5344CB8AC3E}">
        <p14:creationId xmlns:p14="http://schemas.microsoft.com/office/powerpoint/2010/main" val="3128764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530068AF-0EE9-47C4-8AA9-10FB371C69F4}" type="slidenum">
              <a:rPr lang="zh-TW" altLang="en-US" smtClean="0"/>
              <a:t>5</a:t>
            </a:fld>
            <a:endParaRPr lang="zh-TW" altLang="en-US"/>
          </a:p>
        </p:txBody>
      </p:sp>
    </p:spTree>
    <p:extLst>
      <p:ext uri="{BB962C8B-B14F-4D97-AF65-F5344CB8AC3E}">
        <p14:creationId xmlns:p14="http://schemas.microsoft.com/office/powerpoint/2010/main" val="37628420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smtClean="0">
                <a:solidFill>
                  <a:srgbClr val="000000"/>
                </a:solidFill>
                <a:effectLst/>
                <a:latin typeface="arial" panose="020B0604020202020204" pitchFamily="34" charset="0"/>
              </a:rPr>
              <a:t>那霸市</a:t>
            </a:r>
            <a:r>
              <a:rPr lang="en-US" altLang="zh-TW" b="0" i="0" dirty="0" smtClean="0">
                <a:solidFill>
                  <a:srgbClr val="000000"/>
                </a:solidFill>
                <a:effectLst/>
                <a:latin typeface="arial" panose="020B0604020202020204" pitchFamily="34" charset="0"/>
              </a:rPr>
              <a:t>-</a:t>
            </a:r>
            <a:r>
              <a:rPr lang="zh-TW" altLang="en-US" b="0" i="0" dirty="0" smtClean="0">
                <a:solidFill>
                  <a:srgbClr val="000000"/>
                </a:solidFill>
                <a:effectLst/>
                <a:latin typeface="arial" panose="020B0604020202020204" pitchFamily="34" charset="0"/>
              </a:rPr>
              <a:t>沖繩  最南邊</a:t>
            </a:r>
            <a:endParaRPr lang="en-US" altLang="zh-TW" b="0" i="0" dirty="0" smtClean="0">
              <a:solidFill>
                <a:srgbClr val="000000"/>
              </a:solidFill>
              <a:effectLst/>
              <a:latin typeface="arial" panose="020B0604020202020204" pitchFamily="34" charset="0"/>
            </a:endParaRPr>
          </a:p>
          <a:p>
            <a:r>
              <a:rPr lang="en-US" altLang="zh-TW" dirty="0" smtClean="0"/>
              <a:t>Hamamatsu</a:t>
            </a:r>
            <a:r>
              <a:rPr lang="zh-TW" altLang="en-US" dirty="0" smtClean="0"/>
              <a:t>濱松</a:t>
            </a:r>
            <a:r>
              <a:rPr lang="en-US" altLang="zh-TW" dirty="0" smtClean="0"/>
              <a:t>—</a:t>
            </a:r>
            <a:r>
              <a:rPr lang="zh-TW" altLang="en-US" dirty="0" smtClean="0"/>
              <a:t>中間</a:t>
            </a:r>
            <a:endParaRPr lang="en-US" altLang="zh-TW" dirty="0" smtClean="0"/>
          </a:p>
          <a:p>
            <a:r>
              <a:rPr lang="en-US" altLang="zh-TW" dirty="0" smtClean="0"/>
              <a:t>Sapporo</a:t>
            </a:r>
            <a:r>
              <a:rPr lang="zh-TW" altLang="en-US" dirty="0" smtClean="0"/>
              <a:t>札晃</a:t>
            </a:r>
            <a:r>
              <a:rPr lang="en-US" altLang="zh-TW" dirty="0" smtClean="0"/>
              <a:t>---</a:t>
            </a:r>
            <a:r>
              <a:rPr lang="zh-TW" altLang="en-US" dirty="0" smtClean="0"/>
              <a:t>最北方</a:t>
            </a:r>
            <a:endParaRPr lang="en-US" altLang="zh-TW" dirty="0" smtClean="0"/>
          </a:p>
          <a:p>
            <a:endParaRPr lang="zh-TW" altLang="en-US" dirty="0"/>
          </a:p>
        </p:txBody>
      </p:sp>
      <p:sp>
        <p:nvSpPr>
          <p:cNvPr id="4" name="投影片編號版面配置區 3"/>
          <p:cNvSpPr>
            <a:spLocks noGrp="1"/>
          </p:cNvSpPr>
          <p:nvPr>
            <p:ph type="sldNum" sz="quarter" idx="10"/>
          </p:nvPr>
        </p:nvSpPr>
        <p:spPr/>
        <p:txBody>
          <a:bodyPr/>
          <a:lstStyle/>
          <a:p>
            <a:fld id="{E39C7601-E818-440F-87EB-CA3BEF05EA4A}" type="slidenum">
              <a:rPr lang="zh-TW" altLang="en-US" smtClean="0"/>
              <a:t>7</a:t>
            </a:fld>
            <a:endParaRPr lang="zh-TW" altLang="en-US"/>
          </a:p>
        </p:txBody>
      </p:sp>
    </p:spTree>
    <p:extLst>
      <p:ext uri="{BB962C8B-B14F-4D97-AF65-F5344CB8AC3E}">
        <p14:creationId xmlns:p14="http://schemas.microsoft.com/office/powerpoint/2010/main" val="1490204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第一階段將資料分成</a:t>
            </a:r>
            <a:r>
              <a:rPr lang="en-US" altLang="zh-TW" dirty="0" smtClean="0"/>
              <a:t>n</a:t>
            </a:r>
            <a:r>
              <a:rPr lang="zh-TW" altLang="en-US" dirty="0" smtClean="0"/>
              <a:t>等份</a:t>
            </a:r>
            <a:r>
              <a:rPr lang="en-US" altLang="zh-TW" dirty="0" smtClean="0"/>
              <a:t>,N</a:t>
            </a:r>
            <a:r>
              <a:rPr lang="zh-TW" altLang="en-US" dirty="0" smtClean="0"/>
              <a:t>要怎麼切是使用者自己決定</a:t>
            </a:r>
            <a:endParaRPr lang="zh-TW" altLang="en-US" dirty="0"/>
          </a:p>
        </p:txBody>
      </p:sp>
      <p:sp>
        <p:nvSpPr>
          <p:cNvPr id="4" name="投影片編號版面配置區 3"/>
          <p:cNvSpPr>
            <a:spLocks noGrp="1"/>
          </p:cNvSpPr>
          <p:nvPr>
            <p:ph type="sldNum" sz="quarter" idx="10"/>
          </p:nvPr>
        </p:nvSpPr>
        <p:spPr/>
        <p:txBody>
          <a:bodyPr/>
          <a:lstStyle/>
          <a:p>
            <a:fld id="{E39C7601-E818-440F-87EB-CA3BEF05EA4A}" type="slidenum">
              <a:rPr lang="zh-TW" altLang="en-US" smtClean="0"/>
              <a:t>9</a:t>
            </a:fld>
            <a:endParaRPr lang="zh-TW" altLang="en-US"/>
          </a:p>
        </p:txBody>
      </p:sp>
    </p:spTree>
    <p:extLst>
      <p:ext uri="{BB962C8B-B14F-4D97-AF65-F5344CB8AC3E}">
        <p14:creationId xmlns:p14="http://schemas.microsoft.com/office/powerpoint/2010/main" val="6974109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第一階段將資料分成</a:t>
            </a:r>
            <a:r>
              <a:rPr lang="en-US" altLang="zh-TW" dirty="0" smtClean="0"/>
              <a:t>n</a:t>
            </a:r>
            <a:r>
              <a:rPr lang="zh-TW" altLang="en-US" dirty="0" smtClean="0"/>
              <a:t>等份</a:t>
            </a:r>
            <a:r>
              <a:rPr lang="en-US" altLang="zh-TW" dirty="0" smtClean="0"/>
              <a:t>,N</a:t>
            </a:r>
            <a:r>
              <a:rPr lang="zh-TW" altLang="en-US" dirty="0" smtClean="0"/>
              <a:t>要怎麼切是使用者自己決定</a:t>
            </a:r>
            <a:endParaRPr lang="zh-TW" altLang="en-US" dirty="0"/>
          </a:p>
        </p:txBody>
      </p:sp>
      <p:sp>
        <p:nvSpPr>
          <p:cNvPr id="4" name="投影片編號版面配置區 3"/>
          <p:cNvSpPr>
            <a:spLocks noGrp="1"/>
          </p:cNvSpPr>
          <p:nvPr>
            <p:ph type="sldNum" sz="quarter" idx="10"/>
          </p:nvPr>
        </p:nvSpPr>
        <p:spPr/>
        <p:txBody>
          <a:bodyPr/>
          <a:lstStyle/>
          <a:p>
            <a:fld id="{E39C7601-E818-440F-87EB-CA3BEF05EA4A}" type="slidenum">
              <a:rPr lang="zh-TW" altLang="en-US" smtClean="0"/>
              <a:t>10</a:t>
            </a:fld>
            <a:endParaRPr lang="zh-TW" altLang="en-US"/>
          </a:p>
        </p:txBody>
      </p:sp>
    </p:spTree>
    <p:extLst>
      <p:ext uri="{BB962C8B-B14F-4D97-AF65-F5344CB8AC3E}">
        <p14:creationId xmlns:p14="http://schemas.microsoft.com/office/powerpoint/2010/main" val="32485163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選擇周期</a:t>
            </a:r>
            <a:endParaRPr lang="zh-TW" altLang="en-US" dirty="0"/>
          </a:p>
        </p:txBody>
      </p:sp>
      <p:sp>
        <p:nvSpPr>
          <p:cNvPr id="4" name="投影片編號版面配置區 3"/>
          <p:cNvSpPr>
            <a:spLocks noGrp="1"/>
          </p:cNvSpPr>
          <p:nvPr>
            <p:ph type="sldNum" sz="quarter" idx="10"/>
          </p:nvPr>
        </p:nvSpPr>
        <p:spPr/>
        <p:txBody>
          <a:bodyPr/>
          <a:lstStyle/>
          <a:p>
            <a:fld id="{E39C7601-E818-440F-87EB-CA3BEF05EA4A}" type="slidenum">
              <a:rPr lang="zh-TW" altLang="en-US" smtClean="0"/>
              <a:t>11</a:t>
            </a:fld>
            <a:endParaRPr lang="zh-TW" altLang="en-US"/>
          </a:p>
        </p:txBody>
      </p:sp>
    </p:spTree>
    <p:extLst>
      <p:ext uri="{BB962C8B-B14F-4D97-AF65-F5344CB8AC3E}">
        <p14:creationId xmlns:p14="http://schemas.microsoft.com/office/powerpoint/2010/main" val="14672680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預測的變異量 之後都沒有超過這個</a:t>
            </a:r>
            <a:r>
              <a:rPr lang="en-US" altLang="zh-TW" dirty="0" smtClean="0"/>
              <a:t>threshold</a:t>
            </a:r>
          </a:p>
          <a:p>
            <a:r>
              <a:rPr lang="zh-TW" altLang="en-US" dirty="0" smtClean="0"/>
              <a:t>找到並定義這個收斂值</a:t>
            </a:r>
            <a:endParaRPr lang="en-US" altLang="zh-TW" dirty="0" smtClean="0"/>
          </a:p>
          <a:p>
            <a:endParaRPr lang="zh-TW" altLang="en-US" dirty="0"/>
          </a:p>
        </p:txBody>
      </p:sp>
      <p:sp>
        <p:nvSpPr>
          <p:cNvPr id="4" name="投影片編號版面配置區 3"/>
          <p:cNvSpPr>
            <a:spLocks noGrp="1"/>
          </p:cNvSpPr>
          <p:nvPr>
            <p:ph type="sldNum" sz="quarter" idx="10"/>
          </p:nvPr>
        </p:nvSpPr>
        <p:spPr/>
        <p:txBody>
          <a:bodyPr/>
          <a:lstStyle/>
          <a:p>
            <a:fld id="{E39C7601-E818-440F-87EB-CA3BEF05EA4A}" type="slidenum">
              <a:rPr lang="zh-TW" altLang="en-US" smtClean="0"/>
              <a:t>12</a:t>
            </a:fld>
            <a:endParaRPr lang="zh-TW" altLang="en-US"/>
          </a:p>
        </p:txBody>
      </p:sp>
    </p:spTree>
    <p:extLst>
      <p:ext uri="{BB962C8B-B14F-4D97-AF65-F5344CB8AC3E}">
        <p14:creationId xmlns:p14="http://schemas.microsoft.com/office/powerpoint/2010/main" val="32583716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不是的話 換下一個</a:t>
            </a:r>
            <a:r>
              <a:rPr lang="en-US" altLang="zh-TW" dirty="0" smtClean="0"/>
              <a:t>WINDOW</a:t>
            </a:r>
            <a:endParaRPr lang="zh-TW" altLang="en-US" dirty="0"/>
          </a:p>
        </p:txBody>
      </p:sp>
      <p:sp>
        <p:nvSpPr>
          <p:cNvPr id="4" name="投影片編號版面配置區 3"/>
          <p:cNvSpPr>
            <a:spLocks noGrp="1"/>
          </p:cNvSpPr>
          <p:nvPr>
            <p:ph type="sldNum" sz="quarter" idx="10"/>
          </p:nvPr>
        </p:nvSpPr>
        <p:spPr/>
        <p:txBody>
          <a:bodyPr/>
          <a:lstStyle/>
          <a:p>
            <a:fld id="{E39C7601-E818-440F-87EB-CA3BEF05EA4A}" type="slidenum">
              <a:rPr lang="zh-TW" altLang="en-US" smtClean="0"/>
              <a:t>14</a:t>
            </a:fld>
            <a:endParaRPr lang="zh-TW" altLang="en-US"/>
          </a:p>
        </p:txBody>
      </p:sp>
    </p:spTree>
    <p:extLst>
      <p:ext uri="{BB962C8B-B14F-4D97-AF65-F5344CB8AC3E}">
        <p14:creationId xmlns:p14="http://schemas.microsoft.com/office/powerpoint/2010/main" val="16703859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E39C7601-E818-440F-87EB-CA3BEF05EA4A}" type="slidenum">
              <a:rPr lang="zh-TW" altLang="en-US" smtClean="0"/>
              <a:t>16</a:t>
            </a:fld>
            <a:endParaRPr lang="zh-TW" altLang="en-US"/>
          </a:p>
        </p:txBody>
      </p:sp>
    </p:spTree>
    <p:extLst>
      <p:ext uri="{BB962C8B-B14F-4D97-AF65-F5344CB8AC3E}">
        <p14:creationId xmlns:p14="http://schemas.microsoft.com/office/powerpoint/2010/main" val="24839000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smtClean="0"/>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en-US" dirty="0"/>
          </a:p>
        </p:txBody>
      </p:sp>
      <p:sp>
        <p:nvSpPr>
          <p:cNvPr id="4" name="Date Placeholder 3"/>
          <p:cNvSpPr>
            <a:spLocks noGrp="1"/>
          </p:cNvSpPr>
          <p:nvPr>
            <p:ph type="dt" sz="half" idx="10"/>
          </p:nvPr>
        </p:nvSpPr>
        <p:spPr/>
        <p:txBody>
          <a:bodyPr/>
          <a:lstStyle/>
          <a:p>
            <a:fld id="{91689E8F-5FAE-4FCE-83A5-FF379C5C2F9B}" type="datetimeFigureOut">
              <a:rPr lang="zh-TW" altLang="en-US" smtClean="0"/>
              <a:t>2014/12/15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1711A35-EBC3-425B-AACB-9E58686EB6CC}" type="slidenum">
              <a:rPr lang="zh-TW" altLang="en-US" smtClean="0"/>
              <a:t>‹#›</a:t>
            </a:fld>
            <a:endParaRPr lang="zh-TW" altLang="en-US"/>
          </a:p>
        </p:txBody>
      </p:sp>
    </p:spTree>
    <p:extLst>
      <p:ext uri="{BB962C8B-B14F-4D97-AF65-F5344CB8AC3E}">
        <p14:creationId xmlns:p14="http://schemas.microsoft.com/office/powerpoint/2010/main" val="2320383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91689E8F-5FAE-4FCE-83A5-FF379C5C2F9B}" type="datetimeFigureOut">
              <a:rPr lang="zh-TW" altLang="en-US" smtClean="0"/>
              <a:t>2014/12/15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1711A35-EBC3-425B-AACB-9E58686EB6CC}" type="slidenum">
              <a:rPr lang="zh-TW" altLang="en-US" smtClean="0"/>
              <a:t>‹#›</a:t>
            </a:fld>
            <a:endParaRPr lang="zh-TW" altLang="en-US"/>
          </a:p>
        </p:txBody>
      </p:sp>
    </p:spTree>
    <p:extLst>
      <p:ext uri="{BB962C8B-B14F-4D97-AF65-F5344CB8AC3E}">
        <p14:creationId xmlns:p14="http://schemas.microsoft.com/office/powerpoint/2010/main" val="1781850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91689E8F-5FAE-4FCE-83A5-FF379C5C2F9B}" type="datetimeFigureOut">
              <a:rPr lang="zh-TW" altLang="en-US" smtClean="0"/>
              <a:t>2014/12/15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1711A35-EBC3-425B-AACB-9E58686EB6CC}" type="slidenum">
              <a:rPr lang="zh-TW" altLang="en-US" smtClean="0"/>
              <a:t>‹#›</a:t>
            </a:fld>
            <a:endParaRPr lang="zh-TW" altLang="en-US"/>
          </a:p>
        </p:txBody>
      </p:sp>
    </p:spTree>
    <p:extLst>
      <p:ext uri="{BB962C8B-B14F-4D97-AF65-F5344CB8AC3E}">
        <p14:creationId xmlns:p14="http://schemas.microsoft.com/office/powerpoint/2010/main" val="3595078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Date Placeholder 4"/>
          <p:cNvSpPr>
            <a:spLocks noGrp="1"/>
          </p:cNvSpPr>
          <p:nvPr>
            <p:ph type="dt" sz="half" idx="10"/>
          </p:nvPr>
        </p:nvSpPr>
        <p:spPr/>
        <p:txBody>
          <a:bodyPr/>
          <a:lstStyle/>
          <a:p>
            <a:fld id="{91689E8F-5FAE-4FCE-83A5-FF379C5C2F9B}" type="datetimeFigureOut">
              <a:rPr lang="zh-TW" altLang="en-US" smtClean="0"/>
              <a:t>2014/12/15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1711A35-EBC3-425B-AACB-9E58686EB6CC}" type="slidenum">
              <a:rPr lang="zh-TW" altLang="en-US" smtClean="0"/>
              <a:t>‹#›</a:t>
            </a:fld>
            <a:endParaRPr lang="zh-TW" altLang="en-US"/>
          </a:p>
        </p:txBody>
      </p:sp>
    </p:spTree>
    <p:extLst>
      <p:ext uri="{BB962C8B-B14F-4D97-AF65-F5344CB8AC3E}">
        <p14:creationId xmlns:p14="http://schemas.microsoft.com/office/powerpoint/2010/main" val="27141214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7" name="Date Placeholder 6"/>
          <p:cNvSpPr>
            <a:spLocks noGrp="1"/>
          </p:cNvSpPr>
          <p:nvPr>
            <p:ph type="dt" sz="half" idx="10"/>
          </p:nvPr>
        </p:nvSpPr>
        <p:spPr/>
        <p:txBody>
          <a:bodyPr/>
          <a:lstStyle/>
          <a:p>
            <a:fld id="{91689E8F-5FAE-4FCE-83A5-FF379C5C2F9B}" type="datetimeFigureOut">
              <a:rPr lang="zh-TW" altLang="en-US" smtClean="0"/>
              <a:t>2014/12/15</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01711A35-EBC3-425B-AACB-9E58686EB6CC}" type="slidenum">
              <a:rPr lang="zh-TW" altLang="en-US" smtClean="0"/>
              <a:t>‹#›</a:t>
            </a:fld>
            <a:endParaRPr lang="zh-TW" altLang="en-US"/>
          </a:p>
        </p:txBody>
      </p:sp>
    </p:spTree>
    <p:extLst>
      <p:ext uri="{BB962C8B-B14F-4D97-AF65-F5344CB8AC3E}">
        <p14:creationId xmlns:p14="http://schemas.microsoft.com/office/powerpoint/2010/main" val="295811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Date Placeholder 2"/>
          <p:cNvSpPr>
            <a:spLocks noGrp="1"/>
          </p:cNvSpPr>
          <p:nvPr>
            <p:ph type="dt" sz="half" idx="10"/>
          </p:nvPr>
        </p:nvSpPr>
        <p:spPr/>
        <p:txBody>
          <a:bodyPr/>
          <a:lstStyle/>
          <a:p>
            <a:fld id="{91689E8F-5FAE-4FCE-83A5-FF379C5C2F9B}" type="datetimeFigureOut">
              <a:rPr lang="zh-TW" altLang="en-US" smtClean="0"/>
              <a:t>2014/12/15</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01711A35-EBC3-425B-AACB-9E58686EB6CC}" type="slidenum">
              <a:rPr lang="zh-TW" altLang="en-US" smtClean="0"/>
              <a:t>‹#›</a:t>
            </a:fld>
            <a:endParaRPr lang="zh-TW" altLang="en-US"/>
          </a:p>
        </p:txBody>
      </p:sp>
    </p:spTree>
    <p:extLst>
      <p:ext uri="{BB962C8B-B14F-4D97-AF65-F5344CB8AC3E}">
        <p14:creationId xmlns:p14="http://schemas.microsoft.com/office/powerpoint/2010/main" val="27206956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689E8F-5FAE-4FCE-83A5-FF379C5C2F9B}" type="datetimeFigureOut">
              <a:rPr lang="zh-TW" altLang="en-US" smtClean="0"/>
              <a:t>2014/12/15</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01711A35-EBC3-425B-AACB-9E58686EB6CC}" type="slidenum">
              <a:rPr lang="zh-TW" altLang="en-US" smtClean="0"/>
              <a:t>‹#›</a:t>
            </a:fld>
            <a:endParaRPr lang="zh-TW" altLang="en-US"/>
          </a:p>
        </p:txBody>
      </p:sp>
    </p:spTree>
    <p:extLst>
      <p:ext uri="{BB962C8B-B14F-4D97-AF65-F5344CB8AC3E}">
        <p14:creationId xmlns:p14="http://schemas.microsoft.com/office/powerpoint/2010/main" val="33530809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91689E8F-5FAE-4FCE-83A5-FF379C5C2F9B}" type="datetimeFigureOut">
              <a:rPr lang="zh-TW" altLang="en-US" smtClean="0"/>
              <a:t>2014/12/15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1711A35-EBC3-425B-AACB-9E58686EB6CC}" type="slidenum">
              <a:rPr lang="zh-TW" altLang="en-US" smtClean="0"/>
              <a:t>‹#›</a:t>
            </a:fld>
            <a:endParaRPr lang="zh-TW" altLang="en-US"/>
          </a:p>
        </p:txBody>
      </p:sp>
    </p:spTree>
    <p:extLst>
      <p:ext uri="{BB962C8B-B14F-4D97-AF65-F5344CB8AC3E}">
        <p14:creationId xmlns:p14="http://schemas.microsoft.com/office/powerpoint/2010/main" val="1220505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smtClean="0"/>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91689E8F-5FAE-4FCE-83A5-FF379C5C2F9B}" type="datetimeFigureOut">
              <a:rPr lang="zh-TW" altLang="en-US" smtClean="0"/>
              <a:t>2014/12/15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1711A35-EBC3-425B-AACB-9E58686EB6CC}" type="slidenum">
              <a:rPr lang="zh-TW" altLang="en-US" smtClean="0"/>
              <a:t>‹#›</a:t>
            </a:fld>
            <a:endParaRPr lang="zh-TW" altLang="en-US"/>
          </a:p>
        </p:txBody>
      </p:sp>
    </p:spTree>
    <p:extLst>
      <p:ext uri="{BB962C8B-B14F-4D97-AF65-F5344CB8AC3E}">
        <p14:creationId xmlns:p14="http://schemas.microsoft.com/office/powerpoint/2010/main" val="32447947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91689E8F-5FAE-4FCE-83A5-FF379C5C2F9B}" type="datetimeFigureOut">
              <a:rPr lang="zh-TW" altLang="en-US" smtClean="0"/>
              <a:t>2014/12/15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1711A35-EBC3-425B-AACB-9E58686EB6CC}" type="slidenum">
              <a:rPr lang="zh-TW" altLang="en-US" smtClean="0"/>
              <a:t>‹#›</a:t>
            </a:fld>
            <a:endParaRPr lang="zh-TW" altLang="en-US"/>
          </a:p>
        </p:txBody>
      </p:sp>
    </p:spTree>
    <p:extLst>
      <p:ext uri="{BB962C8B-B14F-4D97-AF65-F5344CB8AC3E}">
        <p14:creationId xmlns:p14="http://schemas.microsoft.com/office/powerpoint/2010/main" val="11417746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91689E8F-5FAE-4FCE-83A5-FF379C5C2F9B}" type="datetimeFigureOut">
              <a:rPr lang="zh-TW" altLang="en-US" smtClean="0"/>
              <a:t>2014/12/15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1711A35-EBC3-425B-AACB-9E58686EB6CC}" type="slidenum">
              <a:rPr lang="zh-TW" altLang="en-US" smtClean="0"/>
              <a:t>‹#›</a:t>
            </a:fld>
            <a:endParaRPr lang="zh-TW" altLang="en-US"/>
          </a:p>
        </p:txBody>
      </p:sp>
    </p:spTree>
    <p:extLst>
      <p:ext uri="{BB962C8B-B14F-4D97-AF65-F5344CB8AC3E}">
        <p14:creationId xmlns:p14="http://schemas.microsoft.com/office/powerpoint/2010/main" val="2034194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689E8F-5FAE-4FCE-83A5-FF379C5C2F9B}" type="datetimeFigureOut">
              <a:rPr lang="zh-TW" altLang="en-US" smtClean="0"/>
              <a:t>2014/12/15</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711A35-EBC3-425B-AACB-9E58686EB6CC}" type="slidenum">
              <a:rPr lang="zh-TW" altLang="en-US" smtClean="0"/>
              <a:t>‹#›</a:t>
            </a:fld>
            <a:endParaRPr lang="zh-TW" altLang="en-US"/>
          </a:p>
        </p:txBody>
      </p:sp>
    </p:spTree>
    <p:extLst>
      <p:ext uri="{BB962C8B-B14F-4D97-AF65-F5344CB8AC3E}">
        <p14:creationId xmlns:p14="http://schemas.microsoft.com/office/powerpoint/2010/main" val="42452705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a:bodyPr>
          <a:lstStyle/>
          <a:p>
            <a:r>
              <a:rPr lang="en-US" altLang="zh-TW" sz="4400" b="1" dirty="0"/>
              <a:t>Proposal to sliding window-based support vector regression</a:t>
            </a:r>
            <a:endParaRPr lang="zh-TW" altLang="en-US" sz="4400" b="1" dirty="0"/>
          </a:p>
        </p:txBody>
      </p:sp>
      <p:sp>
        <p:nvSpPr>
          <p:cNvPr id="3" name="副標題 2"/>
          <p:cNvSpPr>
            <a:spLocks noGrp="1"/>
          </p:cNvSpPr>
          <p:nvPr>
            <p:ph type="subTitle" idx="1"/>
          </p:nvPr>
        </p:nvSpPr>
        <p:spPr/>
        <p:txBody>
          <a:bodyPr>
            <a:normAutofit/>
          </a:bodyPr>
          <a:lstStyle/>
          <a:p>
            <a:pPr algn="r"/>
            <a:r>
              <a:rPr lang="en-US" altLang="zh-TW" sz="1800" dirty="0" err="1"/>
              <a:t>Yuya</a:t>
            </a:r>
            <a:r>
              <a:rPr lang="en-US" altLang="zh-TW" sz="1800" dirty="0"/>
              <a:t> </a:t>
            </a:r>
            <a:r>
              <a:rPr lang="en-US" altLang="zh-TW" sz="1800" dirty="0" err="1"/>
              <a:t>Suzukia</a:t>
            </a:r>
            <a:r>
              <a:rPr lang="en-US" altLang="zh-TW" sz="1800" dirty="0"/>
              <a:t>, Hirofumi </a:t>
            </a:r>
            <a:r>
              <a:rPr lang="en-US" altLang="zh-TW" sz="1800" dirty="0" err="1"/>
              <a:t>Ibayashia</a:t>
            </a:r>
            <a:r>
              <a:rPr lang="en-US" altLang="zh-TW" sz="1800" dirty="0"/>
              <a:t>, </a:t>
            </a:r>
            <a:r>
              <a:rPr lang="en-US" altLang="zh-TW" sz="1800" dirty="0" err="1"/>
              <a:t>Yukimasa</a:t>
            </a:r>
            <a:r>
              <a:rPr lang="en-US" altLang="zh-TW" sz="1800" dirty="0"/>
              <a:t> </a:t>
            </a:r>
            <a:r>
              <a:rPr lang="en-US" altLang="zh-TW" sz="1800" dirty="0" err="1"/>
              <a:t>Kanedab</a:t>
            </a:r>
            <a:r>
              <a:rPr lang="en-US" altLang="zh-TW" sz="1800" dirty="0"/>
              <a:t>, Hiroshi </a:t>
            </a:r>
            <a:r>
              <a:rPr lang="en-US" altLang="zh-TW" sz="1800" dirty="0" err="1"/>
              <a:t>Minenoa</a:t>
            </a:r>
            <a:r>
              <a:rPr lang="en-US" altLang="zh-TW" sz="1800" dirty="0"/>
              <a:t>*</a:t>
            </a:r>
            <a:endParaRPr lang="it-IT" altLang="zh-TW" sz="1800" dirty="0" smtClean="0"/>
          </a:p>
          <a:p>
            <a:pPr algn="r"/>
            <a:r>
              <a:rPr lang="it-IT" altLang="zh-TW" sz="1800" dirty="0" smtClean="0"/>
              <a:t>Procedia </a:t>
            </a:r>
            <a:r>
              <a:rPr lang="it-IT" altLang="zh-TW" sz="1800" dirty="0"/>
              <a:t>Computer Science 35 ( 2014 ) 1615 </a:t>
            </a:r>
            <a:r>
              <a:rPr lang="it-IT" altLang="zh-TW" sz="1800" dirty="0" smtClean="0"/>
              <a:t>– 1624</a:t>
            </a:r>
          </a:p>
          <a:p>
            <a:pPr algn="r"/>
            <a:r>
              <a:rPr lang="it-IT" altLang="zh-TW" sz="1800" dirty="0" smtClean="0"/>
              <a:t>Presenter:Ding-Yao,Hunag</a:t>
            </a:r>
          </a:p>
          <a:p>
            <a:pPr algn="r"/>
            <a:r>
              <a:rPr lang="it-IT" altLang="zh-TW" sz="1800" dirty="0" smtClean="0"/>
              <a:t>Date: 2014/12/15 </a:t>
            </a:r>
            <a:endParaRPr lang="zh-TW" altLang="en-US" sz="1800" dirty="0"/>
          </a:p>
        </p:txBody>
      </p:sp>
    </p:spTree>
    <p:extLst>
      <p:ext uri="{BB962C8B-B14F-4D97-AF65-F5344CB8AC3E}">
        <p14:creationId xmlns:p14="http://schemas.microsoft.com/office/powerpoint/2010/main" val="11943877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b="1" dirty="0" smtClean="0">
                <a:latin typeface="Arial Rounded MT Bold" panose="020F0704030504030204" pitchFamily="34" charset="0"/>
                <a:ea typeface="Gungsuh" panose="02030600000101010101" pitchFamily="18" charset="-127"/>
              </a:rPr>
              <a:t>Abstract</a:t>
            </a:r>
            <a:endParaRPr lang="zh-TW" altLang="en-US" sz="4000" b="1" dirty="0">
              <a:latin typeface="Arial Rounded MT Bold" panose="020F0704030504030204" pitchFamily="34" charset="0"/>
              <a:ea typeface="Gungsuh" panose="02030600000101010101" pitchFamily="18" charset="-127"/>
            </a:endParaRPr>
          </a:p>
        </p:txBody>
      </p:sp>
      <p:sp>
        <p:nvSpPr>
          <p:cNvPr id="3" name="內容版面配置區 2"/>
          <p:cNvSpPr>
            <a:spLocks noGrp="1"/>
          </p:cNvSpPr>
          <p:nvPr>
            <p:ph idx="1"/>
          </p:nvPr>
        </p:nvSpPr>
        <p:spPr/>
        <p:txBody>
          <a:bodyPr>
            <a:normAutofit/>
          </a:bodyPr>
          <a:lstStyle/>
          <a:p>
            <a:pPr marL="0" indent="0">
              <a:buNone/>
            </a:pPr>
            <a:r>
              <a:rPr lang="en-US" altLang="zh-TW" sz="2400" dirty="0">
                <a:latin typeface="Times New Roman" panose="02020603050405020304" pitchFamily="18" charset="0"/>
                <a:cs typeface="Times New Roman" panose="02020603050405020304" pitchFamily="18" charset="0"/>
              </a:rPr>
              <a:t>This paper proposes a new methodology, Sliding Window-based Support Vector Regression (SW-SVR), for </a:t>
            </a:r>
            <a:r>
              <a:rPr lang="en-US" altLang="zh-TW" sz="2400" dirty="0" smtClean="0">
                <a:latin typeface="Times New Roman" panose="02020603050405020304" pitchFamily="18" charset="0"/>
                <a:cs typeface="Times New Roman" panose="02020603050405020304" pitchFamily="18" charset="0"/>
              </a:rPr>
              <a:t>micrometeorological data </a:t>
            </a:r>
            <a:r>
              <a:rPr lang="en-US" altLang="zh-TW" sz="2400" dirty="0">
                <a:latin typeface="Times New Roman" panose="02020603050405020304" pitchFamily="18" charset="0"/>
                <a:cs typeface="Times New Roman" panose="02020603050405020304" pitchFamily="18" charset="0"/>
              </a:rPr>
              <a:t>prediction. SVR is derived from a statistical learning theory and can be used to predict a quantity forward in time based </a:t>
            </a:r>
            <a:r>
              <a:rPr lang="en-US" altLang="zh-TW" sz="2400" dirty="0" smtClean="0">
                <a:latin typeface="Times New Roman" panose="02020603050405020304" pitchFamily="18" charset="0"/>
                <a:cs typeface="Times New Roman" panose="02020603050405020304" pitchFamily="18" charset="0"/>
              </a:rPr>
              <a:t>on training </a:t>
            </a:r>
            <a:r>
              <a:rPr lang="en-US" altLang="zh-TW" sz="2400" dirty="0">
                <a:latin typeface="Times New Roman" panose="02020603050405020304" pitchFamily="18" charset="0"/>
                <a:cs typeface="Times New Roman" panose="02020603050405020304" pitchFamily="18" charset="0"/>
              </a:rPr>
              <a:t>that uses past data. </a:t>
            </a:r>
            <a:endParaRPr lang="en-US" altLang="zh-TW" sz="2400" dirty="0" smtClean="0">
              <a:latin typeface="Times New Roman" panose="02020603050405020304" pitchFamily="18" charset="0"/>
              <a:cs typeface="Times New Roman" panose="02020603050405020304" pitchFamily="18" charset="0"/>
            </a:endParaRPr>
          </a:p>
          <a:p>
            <a:pPr marL="0" indent="0">
              <a:buNone/>
            </a:pPr>
            <a:endParaRPr lang="en-US" altLang="zh-TW" sz="2400" dirty="0" smtClean="0">
              <a:latin typeface="Times New Roman" panose="02020603050405020304" pitchFamily="18" charset="0"/>
              <a:cs typeface="Times New Roman" panose="02020603050405020304" pitchFamily="18" charset="0"/>
            </a:endParaRPr>
          </a:p>
          <a:p>
            <a:pPr marL="0" indent="0">
              <a:buNone/>
            </a:pPr>
            <a:r>
              <a:rPr lang="en-US" altLang="zh-TW" sz="2400" dirty="0" smtClean="0">
                <a:latin typeface="Times New Roman" panose="02020603050405020304" pitchFamily="18" charset="0"/>
                <a:cs typeface="Times New Roman" panose="02020603050405020304" pitchFamily="18" charset="0"/>
              </a:rPr>
              <a:t>Although </a:t>
            </a:r>
            <a:r>
              <a:rPr lang="en-US" altLang="zh-TW" sz="2400" dirty="0">
                <a:latin typeface="Times New Roman" panose="02020603050405020304" pitchFamily="18" charset="0"/>
                <a:cs typeface="Times New Roman" panose="02020603050405020304" pitchFamily="18" charset="0"/>
              </a:rPr>
              <a:t>SVR is superior to traditional learning algorithms such as Artificial Neural Network (ANN</a:t>
            </a:r>
            <a:r>
              <a:rPr lang="en-US" altLang="zh-TW" sz="2400" dirty="0" smtClean="0">
                <a:latin typeface="Times New Roman" panose="02020603050405020304" pitchFamily="18" charset="0"/>
                <a:cs typeface="Times New Roman" panose="02020603050405020304" pitchFamily="18" charset="0"/>
              </a:rPr>
              <a:t>),it </a:t>
            </a:r>
            <a:r>
              <a:rPr lang="en-US" altLang="zh-TW" sz="2400" dirty="0">
                <a:latin typeface="Times New Roman" panose="02020603050405020304" pitchFamily="18" charset="0"/>
                <a:cs typeface="Times New Roman" panose="02020603050405020304" pitchFamily="18" charset="0"/>
              </a:rPr>
              <a:t>is difficult to choose the suitable amount of training data to build an optimum SVR model for micrometeorological </a:t>
            </a:r>
            <a:r>
              <a:rPr lang="en-US" altLang="zh-TW" sz="2400" dirty="0" smtClean="0">
                <a:latin typeface="Times New Roman" panose="02020603050405020304" pitchFamily="18" charset="0"/>
                <a:cs typeface="Times New Roman" panose="02020603050405020304" pitchFamily="18" charset="0"/>
              </a:rPr>
              <a:t>data prediction</a:t>
            </a:r>
            <a:r>
              <a:rPr lang="en-US" altLang="zh-TW"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95478092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b="1" dirty="0" smtClean="0">
                <a:latin typeface="Arial Rounded MT Bold" panose="020F0704030504030204" pitchFamily="34" charset="0"/>
                <a:ea typeface="Gungsuh" panose="02030600000101010101" pitchFamily="18" charset="-127"/>
              </a:rPr>
              <a:t>Abstract</a:t>
            </a:r>
            <a:endParaRPr lang="zh-TW" altLang="en-US" sz="4000" b="1" dirty="0">
              <a:latin typeface="Arial Rounded MT Bold" panose="020F0704030504030204" pitchFamily="34" charset="0"/>
              <a:ea typeface="Gungsuh" panose="02030600000101010101" pitchFamily="18" charset="-127"/>
            </a:endParaRPr>
          </a:p>
        </p:txBody>
      </p:sp>
      <p:sp>
        <p:nvSpPr>
          <p:cNvPr id="3" name="內容版面配置區 2"/>
          <p:cNvSpPr>
            <a:spLocks noGrp="1"/>
          </p:cNvSpPr>
          <p:nvPr>
            <p:ph idx="1"/>
          </p:nvPr>
        </p:nvSpPr>
        <p:spPr/>
        <p:txBody>
          <a:bodyPr>
            <a:normAutofit/>
          </a:bodyPr>
          <a:lstStyle/>
          <a:p>
            <a:pPr marL="0" indent="0">
              <a:buNone/>
            </a:pPr>
            <a:r>
              <a:rPr lang="en-US" altLang="zh-TW" sz="2400" dirty="0" smtClean="0">
                <a:latin typeface="Times New Roman" panose="02020603050405020304" pitchFamily="18" charset="0"/>
                <a:cs typeface="Times New Roman" panose="02020603050405020304" pitchFamily="18" charset="0"/>
              </a:rPr>
              <a:t>This paper revealed the periodic characteristics of micrometeorological data and evaluated SW-SVR can adapt the appropriate amount of training data to build an optimum SVR model automatically using parallel distributed processing. The future prediction experiment was conducted on air temperature of Sapporo, Tokyo, Hamamatsu, and Naha. </a:t>
            </a:r>
          </a:p>
          <a:p>
            <a:pPr marL="0" indent="0">
              <a:buNone/>
            </a:pPr>
            <a:endParaRPr lang="en-US" altLang="zh-TW" sz="2400" dirty="0" smtClean="0">
              <a:latin typeface="Times New Roman" panose="02020603050405020304" pitchFamily="18" charset="0"/>
              <a:cs typeface="Times New Roman" panose="02020603050405020304" pitchFamily="18" charset="0"/>
            </a:endParaRPr>
          </a:p>
          <a:p>
            <a:pPr marL="0" indent="0">
              <a:buNone/>
            </a:pPr>
            <a:r>
              <a:rPr lang="en-US" altLang="zh-TW" sz="2400" dirty="0" smtClean="0">
                <a:latin typeface="Times New Roman" panose="02020603050405020304" pitchFamily="18" charset="0"/>
                <a:cs typeface="Times New Roman" panose="02020603050405020304" pitchFamily="18" charset="0"/>
              </a:rPr>
              <a:t>As a result, SW-SVR has improved prediction accuracy in Sapporo, and Tokyo. In addition, it has reduced calculation time by more than 96 % in all regions.</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172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b="1" dirty="0" smtClean="0">
                <a:latin typeface="Arial Rounded MT Bold" panose="020F0704030504030204" pitchFamily="34" charset="0"/>
              </a:rPr>
              <a:t>Introduction </a:t>
            </a:r>
            <a:r>
              <a:rPr lang="en-US" altLang="zh-TW" sz="2400" b="1" dirty="0" smtClean="0">
                <a:latin typeface="Arial Rounded MT Bold" panose="020F0704030504030204" pitchFamily="34" charset="0"/>
              </a:rPr>
              <a:t>(Support Vector Regression)</a:t>
            </a:r>
            <a:endParaRPr lang="zh-TW" altLang="en-US" sz="2400" b="1" dirty="0">
              <a:latin typeface="Arial Rounded MT Bold" panose="020F0704030504030204" pitchFamily="34" charset="0"/>
            </a:endParaRPr>
          </a:p>
        </p:txBody>
      </p:sp>
      <p:pic>
        <p:nvPicPr>
          <p:cNvPr id="7" name="圖片 6"/>
          <p:cNvPicPr>
            <a:picLocks noChangeAspect="1"/>
          </p:cNvPicPr>
          <p:nvPr/>
        </p:nvPicPr>
        <p:blipFill>
          <a:blip r:embed="rId2"/>
          <a:stretch>
            <a:fillRect/>
          </a:stretch>
        </p:blipFill>
        <p:spPr>
          <a:xfrm>
            <a:off x="4787561" y="1690689"/>
            <a:ext cx="4008870" cy="2320925"/>
          </a:xfrm>
          <a:prstGeom prst="rect">
            <a:avLst/>
          </a:prstGeom>
        </p:spPr>
      </p:pic>
      <p:pic>
        <p:nvPicPr>
          <p:cNvPr id="10" name="圖片 9"/>
          <p:cNvPicPr>
            <a:picLocks noChangeAspect="1"/>
          </p:cNvPicPr>
          <p:nvPr/>
        </p:nvPicPr>
        <p:blipFill>
          <a:blip r:embed="rId3"/>
          <a:stretch>
            <a:fillRect/>
          </a:stretch>
        </p:blipFill>
        <p:spPr>
          <a:xfrm>
            <a:off x="256300" y="2919187"/>
            <a:ext cx="4531261" cy="1416695"/>
          </a:xfrm>
          <a:prstGeom prst="rect">
            <a:avLst/>
          </a:prstGeom>
        </p:spPr>
      </p:pic>
      <p:sp>
        <p:nvSpPr>
          <p:cNvPr id="12" name="文字方塊 11"/>
          <p:cNvSpPr txBox="1"/>
          <p:nvPr/>
        </p:nvSpPr>
        <p:spPr>
          <a:xfrm>
            <a:off x="454479" y="4829345"/>
            <a:ext cx="6033407" cy="1015663"/>
          </a:xfrm>
          <a:prstGeom prst="rect">
            <a:avLst/>
          </a:prstGeom>
          <a:noFill/>
        </p:spPr>
        <p:txBody>
          <a:bodyPr wrap="square" rtlCol="0">
            <a:spAutoFit/>
          </a:bodyPr>
          <a:lstStyle/>
          <a:p>
            <a:r>
              <a:rPr lang="en-US" altLang="zh-TW" sz="2000" dirty="0" smtClean="0">
                <a:latin typeface="+mj-ea"/>
                <a:ea typeface="+mj-ea"/>
              </a:rPr>
              <a:t>x</a:t>
            </a:r>
            <a:r>
              <a:rPr lang="en-US" altLang="zh-TW" sz="2000" baseline="-25000" dirty="0" smtClean="0">
                <a:latin typeface="+mj-ea"/>
                <a:ea typeface="+mj-ea"/>
              </a:rPr>
              <a:t>i</a:t>
            </a:r>
            <a:r>
              <a:rPr lang="en-US" altLang="zh-TW" sz="2000" dirty="0" smtClean="0">
                <a:latin typeface="+mj-ea"/>
                <a:ea typeface="+mj-ea"/>
              </a:rPr>
              <a:t> </a:t>
            </a:r>
            <a:r>
              <a:rPr lang="zh-TW" altLang="en-US" sz="2000" dirty="0" smtClean="0">
                <a:latin typeface="+mj-ea"/>
                <a:ea typeface="+mj-ea"/>
              </a:rPr>
              <a:t>是輸入向量，</a:t>
            </a:r>
            <a:r>
              <a:rPr lang="en-US" altLang="zh-TW" sz="2000" dirty="0" err="1" smtClean="0">
                <a:latin typeface="+mj-ea"/>
                <a:ea typeface="+mj-ea"/>
              </a:rPr>
              <a:t>y</a:t>
            </a:r>
            <a:r>
              <a:rPr lang="en-US" altLang="zh-TW" sz="2000" baseline="-25000" dirty="0" err="1" smtClean="0">
                <a:latin typeface="+mj-ea"/>
                <a:ea typeface="+mj-ea"/>
              </a:rPr>
              <a:t>i</a:t>
            </a:r>
            <a:r>
              <a:rPr lang="en-US" altLang="zh-TW" sz="2000" baseline="-25000" dirty="0" smtClean="0">
                <a:latin typeface="+mj-ea"/>
                <a:ea typeface="+mj-ea"/>
              </a:rPr>
              <a:t> </a:t>
            </a:r>
            <a:r>
              <a:rPr lang="zh-TW" altLang="en-US" sz="2000" baseline="-25000" dirty="0" smtClean="0">
                <a:latin typeface="+mj-ea"/>
                <a:ea typeface="+mj-ea"/>
              </a:rPr>
              <a:t> </a:t>
            </a:r>
            <a:r>
              <a:rPr lang="zh-TW" altLang="en-US" sz="2000" dirty="0" smtClean="0">
                <a:latin typeface="+mj-ea"/>
                <a:ea typeface="+mj-ea"/>
              </a:rPr>
              <a:t>是實際目標值</a:t>
            </a:r>
            <a:endParaRPr lang="en-US" altLang="zh-TW" sz="2000" dirty="0" smtClean="0">
              <a:latin typeface="+mj-ea"/>
              <a:ea typeface="+mj-ea"/>
            </a:endParaRPr>
          </a:p>
          <a:p>
            <a:r>
              <a:rPr lang="en-US" altLang="zh-TW" sz="2000" dirty="0" smtClean="0"/>
              <a:t>                 </a:t>
            </a:r>
          </a:p>
          <a:p>
            <a:r>
              <a:rPr lang="en-US" altLang="zh-TW" sz="2000" dirty="0"/>
              <a:t>	</a:t>
            </a:r>
            <a:r>
              <a:rPr lang="zh-TW" altLang="en-US" sz="2000" dirty="0" smtClean="0"/>
              <a:t>               </a:t>
            </a:r>
            <a:r>
              <a:rPr lang="en-US" altLang="zh-TW" sz="2000" dirty="0" smtClean="0"/>
              <a:t> </a:t>
            </a:r>
            <a:r>
              <a:rPr lang="zh-TW" altLang="en-US" sz="2000" dirty="0"/>
              <a:t>是經驗誤差風險</a:t>
            </a:r>
            <a:r>
              <a:rPr lang="en-US" altLang="zh-TW" sz="2000" dirty="0"/>
              <a:t>(empirical </a:t>
            </a:r>
            <a:r>
              <a:rPr lang="en-US" altLang="zh-TW" sz="2000" dirty="0" smtClean="0"/>
              <a:t>error </a:t>
            </a:r>
            <a:r>
              <a:rPr lang="en-US" altLang="zh-TW" sz="2000" dirty="0"/>
              <a:t>risk)      </a:t>
            </a:r>
            <a:endParaRPr lang="zh-TW" altLang="en-US" sz="2000" baseline="-25000" dirty="0"/>
          </a:p>
        </p:txBody>
      </p:sp>
      <p:pic>
        <p:nvPicPr>
          <p:cNvPr id="13" name="圖片 12"/>
          <p:cNvPicPr>
            <a:picLocks noChangeAspect="1"/>
          </p:cNvPicPr>
          <p:nvPr/>
        </p:nvPicPr>
        <p:blipFill>
          <a:blip r:embed="rId4"/>
          <a:stretch>
            <a:fillRect/>
          </a:stretch>
        </p:blipFill>
        <p:spPr>
          <a:xfrm>
            <a:off x="454479" y="1619592"/>
            <a:ext cx="2493612" cy="800701"/>
          </a:xfrm>
          <a:prstGeom prst="rect">
            <a:avLst/>
          </a:prstGeom>
        </p:spPr>
      </p:pic>
      <p:pic>
        <p:nvPicPr>
          <p:cNvPr id="15" name="圖片 14"/>
          <p:cNvPicPr>
            <a:picLocks noChangeAspect="1"/>
          </p:cNvPicPr>
          <p:nvPr/>
        </p:nvPicPr>
        <p:blipFill>
          <a:blip r:embed="rId5"/>
          <a:stretch>
            <a:fillRect/>
          </a:stretch>
        </p:blipFill>
        <p:spPr>
          <a:xfrm>
            <a:off x="454479" y="5337176"/>
            <a:ext cx="1695450" cy="619125"/>
          </a:xfrm>
          <a:prstGeom prst="rect">
            <a:avLst/>
          </a:prstGeom>
        </p:spPr>
      </p:pic>
    </p:spTree>
    <p:extLst>
      <p:ext uri="{BB962C8B-B14F-4D97-AF65-F5344CB8AC3E}">
        <p14:creationId xmlns:p14="http://schemas.microsoft.com/office/powerpoint/2010/main" val="425932575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b="1" dirty="0" smtClean="0">
                <a:latin typeface="Arial Rounded MT Bold" panose="020F0704030504030204" pitchFamily="34" charset="0"/>
              </a:rPr>
              <a:t>Introduction </a:t>
            </a:r>
            <a:r>
              <a:rPr lang="en-US" altLang="zh-TW" sz="2400" b="1" dirty="0" smtClean="0">
                <a:latin typeface="Arial Rounded MT Bold" panose="020F0704030504030204" pitchFamily="34" charset="0"/>
              </a:rPr>
              <a:t>(Support Vector Regression)</a:t>
            </a:r>
            <a:endParaRPr lang="zh-TW" altLang="en-US" sz="2400" b="1" dirty="0">
              <a:latin typeface="Arial Rounded MT Bold" panose="020F0704030504030204" pitchFamily="34" charset="0"/>
            </a:endParaRPr>
          </a:p>
        </p:txBody>
      </p:sp>
      <p:pic>
        <p:nvPicPr>
          <p:cNvPr id="5" name="內容版面配置區 4"/>
          <p:cNvPicPr>
            <a:picLocks noGrp="1" noChangeAspect="1"/>
          </p:cNvPicPr>
          <p:nvPr>
            <p:ph idx="1"/>
          </p:nvPr>
        </p:nvPicPr>
        <p:blipFill>
          <a:blip r:embed="rId3"/>
          <a:stretch>
            <a:fillRect/>
          </a:stretch>
        </p:blipFill>
        <p:spPr>
          <a:xfrm>
            <a:off x="561068" y="5481862"/>
            <a:ext cx="7886700" cy="1376138"/>
          </a:xfrm>
          <a:prstGeom prst="rect">
            <a:avLst/>
          </a:prstGeom>
        </p:spPr>
      </p:pic>
      <p:pic>
        <p:nvPicPr>
          <p:cNvPr id="4" name="圖片 3"/>
          <p:cNvPicPr>
            <a:picLocks noChangeAspect="1"/>
          </p:cNvPicPr>
          <p:nvPr/>
        </p:nvPicPr>
        <p:blipFill>
          <a:blip r:embed="rId4"/>
          <a:stretch>
            <a:fillRect/>
          </a:stretch>
        </p:blipFill>
        <p:spPr>
          <a:xfrm>
            <a:off x="730250" y="3529398"/>
            <a:ext cx="2686050" cy="1809750"/>
          </a:xfrm>
          <a:prstGeom prst="rect">
            <a:avLst/>
          </a:prstGeom>
        </p:spPr>
      </p:pic>
      <p:pic>
        <p:nvPicPr>
          <p:cNvPr id="11" name="圖片 10"/>
          <p:cNvPicPr>
            <a:picLocks noChangeAspect="1"/>
          </p:cNvPicPr>
          <p:nvPr/>
        </p:nvPicPr>
        <p:blipFill>
          <a:blip r:embed="rId5"/>
          <a:stretch>
            <a:fillRect/>
          </a:stretch>
        </p:blipFill>
        <p:spPr>
          <a:xfrm>
            <a:off x="5086804" y="4434273"/>
            <a:ext cx="3360964" cy="464604"/>
          </a:xfrm>
          <a:prstGeom prst="rect">
            <a:avLst/>
          </a:prstGeom>
        </p:spPr>
      </p:pic>
      <p:pic>
        <p:nvPicPr>
          <p:cNvPr id="12" name="圖片 11"/>
          <p:cNvPicPr>
            <a:picLocks noChangeAspect="1"/>
          </p:cNvPicPr>
          <p:nvPr/>
        </p:nvPicPr>
        <p:blipFill>
          <a:blip r:embed="rId6"/>
          <a:stretch>
            <a:fillRect/>
          </a:stretch>
        </p:blipFill>
        <p:spPr>
          <a:xfrm>
            <a:off x="382577" y="1656885"/>
            <a:ext cx="4007768" cy="1795028"/>
          </a:xfrm>
          <a:prstGeom prst="rect">
            <a:avLst/>
          </a:prstGeom>
        </p:spPr>
      </p:pic>
      <p:cxnSp>
        <p:nvCxnSpPr>
          <p:cNvPr id="14" name="直線接點 13"/>
          <p:cNvCxnSpPr/>
          <p:nvPr/>
        </p:nvCxnSpPr>
        <p:spPr>
          <a:xfrm>
            <a:off x="561068" y="5448295"/>
            <a:ext cx="8021864"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50503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200" b="1" dirty="0">
                <a:latin typeface="Arial Rounded MT Bold" panose="020F0704030504030204" pitchFamily="34" charset="0"/>
              </a:rPr>
              <a:t>Support Vector Regression </a:t>
            </a:r>
            <a:r>
              <a:rPr lang="en-US" altLang="zh-TW" sz="2000" b="1" dirty="0" smtClean="0">
                <a:latin typeface="Arial Rounded MT Bold" panose="020F0704030504030204" pitchFamily="34" charset="0"/>
              </a:rPr>
              <a:t>(kernel function)</a:t>
            </a:r>
            <a:endParaRPr lang="zh-TW" altLang="en-US" sz="2400" b="1" dirty="0">
              <a:latin typeface="Arial Rounded MT Bold" panose="020F0704030504030204" pitchFamily="34" charset="0"/>
            </a:endParaRPr>
          </a:p>
        </p:txBody>
      </p:sp>
      <p:pic>
        <p:nvPicPr>
          <p:cNvPr id="6" name="圖片 5"/>
          <p:cNvPicPr>
            <a:picLocks noChangeAspect="1"/>
          </p:cNvPicPr>
          <p:nvPr/>
        </p:nvPicPr>
        <p:blipFill>
          <a:blip r:embed="rId2"/>
          <a:stretch>
            <a:fillRect/>
          </a:stretch>
        </p:blipFill>
        <p:spPr>
          <a:xfrm>
            <a:off x="416379" y="1997129"/>
            <a:ext cx="3545785" cy="812347"/>
          </a:xfrm>
          <a:prstGeom prst="rect">
            <a:avLst/>
          </a:prstGeom>
        </p:spPr>
      </p:pic>
      <p:pic>
        <p:nvPicPr>
          <p:cNvPr id="8" name="圖片 7"/>
          <p:cNvPicPr>
            <a:picLocks noChangeAspect="1"/>
          </p:cNvPicPr>
          <p:nvPr/>
        </p:nvPicPr>
        <p:blipFill>
          <a:blip r:embed="rId3"/>
          <a:stretch>
            <a:fillRect/>
          </a:stretch>
        </p:blipFill>
        <p:spPr>
          <a:xfrm>
            <a:off x="4702629" y="1997129"/>
            <a:ext cx="3385234" cy="776313"/>
          </a:xfrm>
          <a:prstGeom prst="rect">
            <a:avLst/>
          </a:prstGeom>
        </p:spPr>
      </p:pic>
      <p:sp>
        <p:nvSpPr>
          <p:cNvPr id="9" name="向右箭號 8"/>
          <p:cNvSpPr/>
          <p:nvPr/>
        </p:nvSpPr>
        <p:spPr>
          <a:xfrm>
            <a:off x="3860965" y="2308266"/>
            <a:ext cx="841664" cy="14075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Rectangle 2"/>
          <p:cNvSpPr>
            <a:spLocks noChangeArrowheads="1"/>
          </p:cNvSpPr>
          <p:nvPr/>
        </p:nvSpPr>
        <p:spPr bwMode="auto">
          <a:xfrm>
            <a:off x="655292" y="3677507"/>
            <a:ext cx="5500224"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zh-TW" altLang="zh-TW" sz="2000" b="0" i="0" u="none" strike="noStrike" cap="none" normalizeH="0" baseline="0" dirty="0" smtClean="0">
                <a:ln>
                  <a:noFill/>
                </a:ln>
                <a:solidFill>
                  <a:srgbClr val="000000"/>
                </a:solidFill>
                <a:effectLst/>
                <a:latin typeface="Arial Unicode MS" panose="020B0604020202020204" pitchFamily="34" charset="-120"/>
              </a:rPr>
              <a:t>linear: u'*v </a:t>
            </a:r>
            <a:endParaRPr kumimoji="0" lang="en-US" altLang="zh-TW" sz="2000" b="0" i="0" u="none" strike="noStrike" cap="none" normalizeH="0" baseline="0" dirty="0" smtClean="0">
              <a:ln>
                <a:noFill/>
              </a:ln>
              <a:solidFill>
                <a:srgbClr val="000000"/>
              </a:solidFill>
              <a:effectLst/>
              <a:latin typeface="Arial Unicode MS" panose="020B0604020202020204" pitchFamily="34" charset="-12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zh-TW" altLang="zh-TW" sz="2000" b="0" i="0" u="none" strike="noStrike" cap="none" normalizeH="0" baseline="0" dirty="0" smtClean="0">
                <a:ln>
                  <a:noFill/>
                </a:ln>
                <a:solidFill>
                  <a:srgbClr val="000000"/>
                </a:solidFill>
                <a:effectLst/>
                <a:latin typeface="Arial Unicode MS" panose="020B0604020202020204" pitchFamily="34" charset="-120"/>
              </a:rPr>
              <a:t>polynomial: (gamma*u'*v + coef0)^degree</a:t>
            </a:r>
            <a:endParaRPr kumimoji="0" lang="en-US" altLang="zh-TW" sz="2000" b="0" i="0" u="none" strike="noStrike" cap="none" normalizeH="0" baseline="0" dirty="0" smtClean="0">
              <a:ln>
                <a:noFill/>
              </a:ln>
              <a:solidFill>
                <a:srgbClr val="000000"/>
              </a:solidFill>
              <a:effectLst/>
              <a:latin typeface="Arial Unicode MS" panose="020B0604020202020204" pitchFamily="34" charset="-12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zh-TW" altLang="zh-TW" sz="2000" b="0" i="0" u="none" strike="noStrike" cap="none" normalizeH="0" baseline="0" dirty="0" smtClean="0">
                <a:ln>
                  <a:noFill/>
                </a:ln>
                <a:solidFill>
                  <a:srgbClr val="000000"/>
                </a:solidFill>
                <a:effectLst/>
                <a:latin typeface="Arial Unicode MS" panose="020B0604020202020204" pitchFamily="34" charset="-120"/>
              </a:rPr>
              <a:t>radial basis function: exp(-gamma*|u-v|^2) </a:t>
            </a:r>
            <a:endParaRPr kumimoji="0" lang="en-US" altLang="zh-TW" sz="2000" b="0" i="0" u="none" strike="noStrike" cap="none" normalizeH="0" baseline="0" dirty="0" smtClean="0">
              <a:ln>
                <a:noFill/>
              </a:ln>
              <a:solidFill>
                <a:srgbClr val="000000"/>
              </a:solidFill>
              <a:effectLst/>
              <a:latin typeface="Arial Unicode MS" panose="020B0604020202020204" pitchFamily="34" charset="-12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zh-TW" altLang="zh-TW" sz="2000" b="0" i="0" u="none" strike="noStrike" cap="none" normalizeH="0" baseline="0" dirty="0" smtClean="0">
                <a:ln>
                  <a:noFill/>
                </a:ln>
                <a:solidFill>
                  <a:srgbClr val="000000"/>
                </a:solidFill>
                <a:effectLst/>
                <a:latin typeface="Arial Unicode MS" panose="020B0604020202020204" pitchFamily="34" charset="-120"/>
              </a:rPr>
              <a:t>sigmoid: tanh(gamma*u'*v + coef0)</a:t>
            </a:r>
            <a:r>
              <a:rPr kumimoji="0" lang="zh-TW" altLang="zh-TW" sz="1600" b="0" i="0" u="none" strike="noStrike" cap="none" normalizeH="0" baseline="0" dirty="0" smtClean="0">
                <a:ln>
                  <a:noFill/>
                </a:ln>
                <a:solidFill>
                  <a:schemeClr val="tx1"/>
                </a:solidFill>
                <a:effectLst/>
              </a:rPr>
              <a:t> </a:t>
            </a:r>
            <a:endParaRPr kumimoji="0" lang="zh-TW" altLang="zh-TW" sz="4400" b="0" i="0" u="none" strike="noStrike" cap="none" normalizeH="0" baseline="0" dirty="0" smtClean="0">
              <a:ln>
                <a:noFill/>
              </a:ln>
              <a:solidFill>
                <a:schemeClr val="tx1"/>
              </a:solidFill>
              <a:effectLst/>
              <a:latin typeface="Arial" panose="020B0604020202020204" pitchFamily="34" charset="0"/>
            </a:endParaRPr>
          </a:p>
        </p:txBody>
      </p:sp>
      <p:sp>
        <p:nvSpPr>
          <p:cNvPr id="12" name="文字方塊 11"/>
          <p:cNvSpPr txBox="1"/>
          <p:nvPr/>
        </p:nvSpPr>
        <p:spPr>
          <a:xfrm>
            <a:off x="628650" y="3204131"/>
            <a:ext cx="2593521" cy="369332"/>
          </a:xfrm>
          <a:prstGeom prst="rect">
            <a:avLst/>
          </a:prstGeom>
          <a:noFill/>
        </p:spPr>
        <p:txBody>
          <a:bodyPr wrap="square" rtlCol="0">
            <a:spAutoFit/>
          </a:bodyPr>
          <a:lstStyle/>
          <a:p>
            <a:r>
              <a:rPr lang="en-US" altLang="zh-TW" b="1" dirty="0">
                <a:latin typeface="Arial Rounded MT Bold" panose="020F0704030504030204" pitchFamily="34" charset="0"/>
              </a:rPr>
              <a:t>kernel function</a:t>
            </a:r>
            <a:endParaRPr lang="zh-TW" altLang="en-US" dirty="0"/>
          </a:p>
        </p:txBody>
      </p:sp>
      <p:cxnSp>
        <p:nvCxnSpPr>
          <p:cNvPr id="10" name="直線單箭頭接點 9"/>
          <p:cNvCxnSpPr/>
          <p:nvPr/>
        </p:nvCxnSpPr>
        <p:spPr>
          <a:xfrm>
            <a:off x="1895707" y="1851102"/>
            <a:ext cx="223025" cy="3456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文字方塊 12"/>
          <p:cNvSpPr txBox="1"/>
          <p:nvPr/>
        </p:nvSpPr>
        <p:spPr>
          <a:xfrm>
            <a:off x="225667" y="1425401"/>
            <a:ext cx="7270595" cy="369332"/>
          </a:xfrm>
          <a:prstGeom prst="rect">
            <a:avLst/>
          </a:prstGeom>
          <a:noFill/>
        </p:spPr>
        <p:txBody>
          <a:bodyPr wrap="square" rtlCol="0">
            <a:spAutoFit/>
          </a:bodyPr>
          <a:lstStyle/>
          <a:p>
            <a:r>
              <a:rPr lang="en-US" altLang="zh-TW" dirty="0"/>
              <a:t>Support Vector (</a:t>
            </a:r>
            <a:r>
              <a:rPr lang="el-GR" altLang="zh-TW" dirty="0"/>
              <a:t>α</a:t>
            </a:r>
            <a:r>
              <a:rPr lang="en-US" altLang="zh-TW" baseline="-25000" dirty="0" err="1"/>
              <a:t>i</a:t>
            </a:r>
            <a:r>
              <a:rPr lang="en-US" altLang="zh-TW" dirty="0"/>
              <a:t> − </a:t>
            </a:r>
            <a:r>
              <a:rPr lang="el-GR" altLang="zh-TW" dirty="0"/>
              <a:t>α</a:t>
            </a:r>
            <a:r>
              <a:rPr lang="en-US" altLang="zh-TW" baseline="-25000" dirty="0" err="1"/>
              <a:t>i</a:t>
            </a:r>
            <a:r>
              <a:rPr lang="en-US" altLang="zh-TW" baseline="30000" dirty="0"/>
              <a:t>∗</a:t>
            </a:r>
            <a:r>
              <a:rPr lang="en-US" altLang="zh-TW" dirty="0"/>
              <a:t> </a:t>
            </a:r>
            <a:r>
              <a:rPr lang="zh-TW" altLang="en-US" dirty="0"/>
              <a:t>不為零的 </a:t>
            </a:r>
            <a:r>
              <a:rPr lang="en-US" altLang="zh-TW" dirty="0"/>
              <a:t>instances) </a:t>
            </a:r>
            <a:r>
              <a:rPr lang="zh-TW" altLang="en-US" dirty="0"/>
              <a:t>的個數有關</a:t>
            </a:r>
          </a:p>
        </p:txBody>
      </p:sp>
    </p:spTree>
    <p:extLst>
      <p:ext uri="{BB962C8B-B14F-4D97-AF65-F5344CB8AC3E}">
        <p14:creationId xmlns:p14="http://schemas.microsoft.com/office/powerpoint/2010/main" val="42308447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b="1" dirty="0" smtClean="0">
                <a:latin typeface="Arial Rounded MT Bold" panose="020F0704030504030204" pitchFamily="34" charset="0"/>
              </a:rPr>
              <a:t>Sliding Windows-SVR</a:t>
            </a:r>
            <a:endParaRPr lang="zh-TW" altLang="en-US" sz="4000" b="1" dirty="0">
              <a:latin typeface="Arial Rounded MT Bold" panose="020F0704030504030204" pitchFamily="34" charset="0"/>
            </a:endParaRPr>
          </a:p>
        </p:txBody>
      </p:sp>
      <p:pic>
        <p:nvPicPr>
          <p:cNvPr id="4" name="內容版面配置區 3"/>
          <p:cNvPicPr>
            <a:picLocks noGrp="1" noChangeAspect="1"/>
          </p:cNvPicPr>
          <p:nvPr>
            <p:ph idx="1"/>
          </p:nvPr>
        </p:nvPicPr>
        <p:blipFill>
          <a:blip r:embed="rId3"/>
          <a:stretch>
            <a:fillRect/>
          </a:stretch>
        </p:blipFill>
        <p:spPr>
          <a:xfrm>
            <a:off x="296140" y="1690689"/>
            <a:ext cx="8328313" cy="4479371"/>
          </a:xfrm>
          <a:prstGeom prst="rect">
            <a:avLst/>
          </a:prstGeom>
        </p:spPr>
      </p:pic>
    </p:spTree>
    <p:extLst>
      <p:ext uri="{BB962C8B-B14F-4D97-AF65-F5344CB8AC3E}">
        <p14:creationId xmlns:p14="http://schemas.microsoft.com/office/powerpoint/2010/main" val="345305135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b="1" dirty="0" smtClean="0">
                <a:latin typeface="Arial Rounded MT Bold" panose="020F0704030504030204" pitchFamily="34" charset="0"/>
              </a:rPr>
              <a:t>Sliding Windows-SVR</a:t>
            </a:r>
            <a:endParaRPr lang="zh-TW" altLang="en-US" sz="4000" b="1" dirty="0">
              <a:latin typeface="Arial Rounded MT Bold" panose="020F0704030504030204" pitchFamily="34" charset="0"/>
            </a:endParaRPr>
          </a:p>
        </p:txBody>
      </p:sp>
      <p:pic>
        <p:nvPicPr>
          <p:cNvPr id="5" name="內容版面配置區 4"/>
          <p:cNvPicPr>
            <a:picLocks noGrp="1" noChangeAspect="1"/>
          </p:cNvPicPr>
          <p:nvPr>
            <p:ph idx="1"/>
          </p:nvPr>
        </p:nvPicPr>
        <p:blipFill>
          <a:blip r:embed="rId2"/>
          <a:stretch>
            <a:fillRect/>
          </a:stretch>
        </p:blipFill>
        <p:spPr>
          <a:xfrm>
            <a:off x="1081347" y="1690689"/>
            <a:ext cx="6586451" cy="4351338"/>
          </a:xfrm>
          <a:prstGeom prst="rect">
            <a:avLst/>
          </a:prstGeom>
        </p:spPr>
      </p:pic>
    </p:spTree>
    <p:extLst>
      <p:ext uri="{BB962C8B-B14F-4D97-AF65-F5344CB8AC3E}">
        <p14:creationId xmlns:p14="http://schemas.microsoft.com/office/powerpoint/2010/main" val="27149649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b="1" dirty="0" smtClean="0">
                <a:latin typeface="Arial Rounded MT Bold" panose="020F0704030504030204" pitchFamily="34" charset="0"/>
              </a:rPr>
              <a:t>Sliding Windows-SVR</a:t>
            </a:r>
            <a:endParaRPr lang="zh-TW" altLang="en-US" sz="4000" b="1" dirty="0">
              <a:latin typeface="Arial Rounded MT Bold" panose="020F0704030504030204" pitchFamily="34" charset="0"/>
            </a:endParaRPr>
          </a:p>
        </p:txBody>
      </p:sp>
      <p:pic>
        <p:nvPicPr>
          <p:cNvPr id="5" name="內容版面配置區 4"/>
          <p:cNvPicPr>
            <a:picLocks noGrp="1" noChangeAspect="1"/>
          </p:cNvPicPr>
          <p:nvPr>
            <p:ph idx="1"/>
          </p:nvPr>
        </p:nvPicPr>
        <p:blipFill>
          <a:blip r:embed="rId3"/>
          <a:stretch>
            <a:fillRect/>
          </a:stretch>
        </p:blipFill>
        <p:spPr>
          <a:xfrm>
            <a:off x="1613155" y="1690689"/>
            <a:ext cx="5419965" cy="4351338"/>
          </a:xfrm>
          <a:prstGeom prst="rect">
            <a:avLst/>
          </a:prstGeom>
        </p:spPr>
      </p:pic>
    </p:spTree>
    <p:extLst>
      <p:ext uri="{BB962C8B-B14F-4D97-AF65-F5344CB8AC3E}">
        <p14:creationId xmlns:p14="http://schemas.microsoft.com/office/powerpoint/2010/main" val="280967531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b="1" dirty="0" smtClean="0">
                <a:latin typeface="Arial Rounded MT Bold" panose="020F0704030504030204" pitchFamily="34" charset="0"/>
              </a:rPr>
              <a:t>Sliding Windows-SVR</a:t>
            </a:r>
            <a:endParaRPr lang="zh-TW" altLang="en-US" sz="4000" b="1" dirty="0">
              <a:latin typeface="Arial Rounded MT Bold" panose="020F0704030504030204" pitchFamily="34" charset="0"/>
            </a:endParaRPr>
          </a:p>
        </p:txBody>
      </p:sp>
      <p:pic>
        <p:nvPicPr>
          <p:cNvPr id="5" name="內容版面配置區 4"/>
          <p:cNvPicPr>
            <a:picLocks noGrp="1" noChangeAspect="1"/>
          </p:cNvPicPr>
          <p:nvPr>
            <p:ph idx="1"/>
          </p:nvPr>
        </p:nvPicPr>
        <p:blipFill>
          <a:blip r:embed="rId3"/>
          <a:stretch>
            <a:fillRect/>
          </a:stretch>
        </p:blipFill>
        <p:spPr>
          <a:xfrm>
            <a:off x="1613155" y="1690689"/>
            <a:ext cx="5419965" cy="4351338"/>
          </a:xfrm>
          <a:prstGeom prst="rect">
            <a:avLst/>
          </a:prstGeom>
        </p:spPr>
      </p:pic>
      <p:sp>
        <p:nvSpPr>
          <p:cNvPr id="3" name="框架 2"/>
          <p:cNvSpPr/>
          <p:nvPr/>
        </p:nvSpPr>
        <p:spPr>
          <a:xfrm>
            <a:off x="1473201" y="1549401"/>
            <a:ext cx="5702300" cy="1206500"/>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4" name="文字方塊 3"/>
          <p:cNvSpPr txBox="1"/>
          <p:nvPr/>
        </p:nvSpPr>
        <p:spPr>
          <a:xfrm>
            <a:off x="7033120" y="2897189"/>
            <a:ext cx="2247900" cy="646331"/>
          </a:xfrm>
          <a:prstGeom prst="rect">
            <a:avLst/>
          </a:prstGeom>
          <a:noFill/>
        </p:spPr>
        <p:txBody>
          <a:bodyPr wrap="square" rtlCol="0">
            <a:spAutoFit/>
          </a:bodyPr>
          <a:lstStyle/>
          <a:p>
            <a:r>
              <a:rPr lang="zh-TW" altLang="en-US" dirty="0" smtClean="0"/>
              <a:t>將過去</a:t>
            </a:r>
            <a:r>
              <a:rPr lang="en-US" altLang="zh-TW" dirty="0" smtClean="0"/>
              <a:t>3</a:t>
            </a:r>
            <a:r>
              <a:rPr lang="zh-TW" altLang="en-US" dirty="0" smtClean="0"/>
              <a:t>年</a:t>
            </a:r>
            <a:endParaRPr lang="en-US" altLang="zh-TW" dirty="0" smtClean="0"/>
          </a:p>
          <a:p>
            <a:r>
              <a:rPr lang="en-US" altLang="zh-TW" dirty="0" smtClean="0"/>
              <a:t>2011/1/1~2014/1/1</a:t>
            </a:r>
            <a:endParaRPr lang="zh-TW" altLang="en-US" dirty="0"/>
          </a:p>
        </p:txBody>
      </p:sp>
    </p:spTree>
    <p:extLst>
      <p:ext uri="{BB962C8B-B14F-4D97-AF65-F5344CB8AC3E}">
        <p14:creationId xmlns:p14="http://schemas.microsoft.com/office/powerpoint/2010/main" val="83577149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b="1" dirty="0" smtClean="0">
                <a:latin typeface="Arial Rounded MT Bold" panose="020F0704030504030204" pitchFamily="34" charset="0"/>
              </a:rPr>
              <a:t>Sliding Windows-SVR</a:t>
            </a:r>
            <a:endParaRPr lang="zh-TW" altLang="en-US" sz="4000" b="1" dirty="0">
              <a:latin typeface="Arial Rounded MT Bold" panose="020F0704030504030204" pitchFamily="34" charset="0"/>
            </a:endParaRPr>
          </a:p>
        </p:txBody>
      </p:sp>
      <p:pic>
        <p:nvPicPr>
          <p:cNvPr id="5" name="內容版面配置區 4"/>
          <p:cNvPicPr>
            <a:picLocks noGrp="1" noChangeAspect="1"/>
          </p:cNvPicPr>
          <p:nvPr>
            <p:ph idx="1"/>
          </p:nvPr>
        </p:nvPicPr>
        <p:blipFill>
          <a:blip r:embed="rId3"/>
          <a:stretch>
            <a:fillRect/>
          </a:stretch>
        </p:blipFill>
        <p:spPr>
          <a:xfrm>
            <a:off x="1613155" y="1690689"/>
            <a:ext cx="5419965" cy="4351338"/>
          </a:xfrm>
          <a:prstGeom prst="rect">
            <a:avLst/>
          </a:prstGeom>
        </p:spPr>
      </p:pic>
      <p:sp>
        <p:nvSpPr>
          <p:cNvPr id="3" name="框架 2"/>
          <p:cNvSpPr/>
          <p:nvPr/>
        </p:nvSpPr>
        <p:spPr>
          <a:xfrm>
            <a:off x="1422400" y="2463800"/>
            <a:ext cx="5816600" cy="1600200"/>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Tree>
    <p:extLst>
      <p:ext uri="{BB962C8B-B14F-4D97-AF65-F5344CB8AC3E}">
        <p14:creationId xmlns:p14="http://schemas.microsoft.com/office/powerpoint/2010/main" val="319637326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latin typeface="Arial Rounded MT Bold" panose="020F0704030504030204" pitchFamily="34" charset="0"/>
              </a:rPr>
              <a:t>Sliding Windows-SVR</a:t>
            </a:r>
            <a:endParaRPr lang="zh-TW" altLang="en-US" dirty="0"/>
          </a:p>
        </p:txBody>
      </p:sp>
      <p:pic>
        <p:nvPicPr>
          <p:cNvPr id="4" name="內容版面配置區 3"/>
          <p:cNvPicPr>
            <a:picLocks noGrp="1" noChangeAspect="1"/>
          </p:cNvPicPr>
          <p:nvPr>
            <p:ph idx="1"/>
          </p:nvPr>
        </p:nvPicPr>
        <p:blipFill>
          <a:blip r:embed="rId3"/>
          <a:stretch>
            <a:fillRect/>
          </a:stretch>
        </p:blipFill>
        <p:spPr>
          <a:xfrm>
            <a:off x="1048962" y="1825625"/>
            <a:ext cx="7046075" cy="4351338"/>
          </a:xfrm>
          <a:prstGeom prst="rect">
            <a:avLst/>
          </a:prstGeom>
        </p:spPr>
      </p:pic>
    </p:spTree>
    <p:extLst>
      <p:ext uri="{BB962C8B-B14F-4D97-AF65-F5344CB8AC3E}">
        <p14:creationId xmlns:p14="http://schemas.microsoft.com/office/powerpoint/2010/main" val="412817375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b="1" dirty="0" smtClean="0">
                <a:latin typeface="Arial Rounded MT Bold" panose="020F0704030504030204" pitchFamily="34" charset="0"/>
              </a:rPr>
              <a:t>Sliding Windows-SVR</a:t>
            </a:r>
            <a:endParaRPr lang="zh-TW" altLang="en-US" sz="4000" b="1" dirty="0">
              <a:latin typeface="Arial Rounded MT Bold" panose="020F0704030504030204" pitchFamily="34" charset="0"/>
            </a:endParaRPr>
          </a:p>
        </p:txBody>
      </p:sp>
      <p:pic>
        <p:nvPicPr>
          <p:cNvPr id="5" name="內容版面配置區 4"/>
          <p:cNvPicPr>
            <a:picLocks noGrp="1" noChangeAspect="1"/>
          </p:cNvPicPr>
          <p:nvPr>
            <p:ph idx="1"/>
          </p:nvPr>
        </p:nvPicPr>
        <p:blipFill>
          <a:blip r:embed="rId2"/>
          <a:stretch>
            <a:fillRect/>
          </a:stretch>
        </p:blipFill>
        <p:spPr>
          <a:xfrm>
            <a:off x="1613155" y="1690689"/>
            <a:ext cx="5419965" cy="4351338"/>
          </a:xfrm>
          <a:prstGeom prst="rect">
            <a:avLst/>
          </a:prstGeom>
        </p:spPr>
      </p:pic>
      <p:sp>
        <p:nvSpPr>
          <p:cNvPr id="3" name="框架 2"/>
          <p:cNvSpPr/>
          <p:nvPr/>
        </p:nvSpPr>
        <p:spPr>
          <a:xfrm>
            <a:off x="1414837" y="3619500"/>
            <a:ext cx="5816600" cy="1600200"/>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pic>
        <p:nvPicPr>
          <p:cNvPr id="6" name="內容版面配置區 3"/>
          <p:cNvPicPr>
            <a:picLocks noChangeAspect="1"/>
          </p:cNvPicPr>
          <p:nvPr/>
        </p:nvPicPr>
        <p:blipFill>
          <a:blip r:embed="rId3"/>
          <a:stretch>
            <a:fillRect/>
          </a:stretch>
        </p:blipFill>
        <p:spPr>
          <a:xfrm>
            <a:off x="7136294" y="5369850"/>
            <a:ext cx="1762661" cy="928095"/>
          </a:xfrm>
          <a:prstGeom prst="rect">
            <a:avLst/>
          </a:prstGeom>
        </p:spPr>
      </p:pic>
    </p:spTree>
    <p:extLst>
      <p:ext uri="{BB962C8B-B14F-4D97-AF65-F5344CB8AC3E}">
        <p14:creationId xmlns:p14="http://schemas.microsoft.com/office/powerpoint/2010/main" val="356959730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b="1" dirty="0" smtClean="0">
                <a:latin typeface="Arial Rounded MT Bold" panose="020F0704030504030204" pitchFamily="34" charset="0"/>
              </a:rPr>
              <a:t>Sliding Windows-SVR</a:t>
            </a:r>
            <a:endParaRPr lang="zh-TW" altLang="en-US" sz="4000" b="1" dirty="0">
              <a:latin typeface="Arial Rounded MT Bold" panose="020F0704030504030204" pitchFamily="34" charset="0"/>
            </a:endParaRPr>
          </a:p>
        </p:txBody>
      </p:sp>
      <p:pic>
        <p:nvPicPr>
          <p:cNvPr id="5" name="內容版面配置區 4"/>
          <p:cNvPicPr>
            <a:picLocks noGrp="1" noChangeAspect="1"/>
          </p:cNvPicPr>
          <p:nvPr>
            <p:ph idx="1"/>
          </p:nvPr>
        </p:nvPicPr>
        <p:blipFill>
          <a:blip r:embed="rId3"/>
          <a:stretch>
            <a:fillRect/>
          </a:stretch>
        </p:blipFill>
        <p:spPr>
          <a:xfrm>
            <a:off x="1613155" y="1690689"/>
            <a:ext cx="5419965" cy="4351338"/>
          </a:xfrm>
          <a:prstGeom prst="rect">
            <a:avLst/>
          </a:prstGeom>
        </p:spPr>
      </p:pic>
      <p:sp>
        <p:nvSpPr>
          <p:cNvPr id="3" name="框架 2"/>
          <p:cNvSpPr/>
          <p:nvPr/>
        </p:nvSpPr>
        <p:spPr>
          <a:xfrm>
            <a:off x="1414837" y="4813300"/>
            <a:ext cx="5816600" cy="1409700"/>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Tree>
    <p:extLst>
      <p:ext uri="{BB962C8B-B14F-4D97-AF65-F5344CB8AC3E}">
        <p14:creationId xmlns:p14="http://schemas.microsoft.com/office/powerpoint/2010/main" val="219876447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b="1" dirty="0">
                <a:latin typeface="Arial Rounded MT Bold" panose="020F0704030504030204" pitchFamily="34" charset="0"/>
              </a:rPr>
              <a:t>Result and discussion</a:t>
            </a:r>
            <a:endParaRPr lang="zh-TW" altLang="en-US" sz="4000" dirty="0">
              <a:latin typeface="Arial Rounded MT Bold" panose="020F0704030504030204" pitchFamily="34" charset="0"/>
            </a:endParaRPr>
          </a:p>
        </p:txBody>
      </p:sp>
      <p:pic>
        <p:nvPicPr>
          <p:cNvPr id="4" name="內容版面配置區 3"/>
          <p:cNvPicPr>
            <a:picLocks noGrp="1" noChangeAspect="1"/>
          </p:cNvPicPr>
          <p:nvPr>
            <p:ph idx="1"/>
          </p:nvPr>
        </p:nvPicPr>
        <p:blipFill>
          <a:blip r:embed="rId2"/>
          <a:stretch>
            <a:fillRect/>
          </a:stretch>
        </p:blipFill>
        <p:spPr>
          <a:xfrm>
            <a:off x="751049" y="1825625"/>
            <a:ext cx="7641902" cy="4351338"/>
          </a:xfrm>
          <a:prstGeom prst="rect">
            <a:avLst/>
          </a:prstGeom>
        </p:spPr>
      </p:pic>
    </p:spTree>
    <p:extLst>
      <p:ext uri="{BB962C8B-B14F-4D97-AF65-F5344CB8AC3E}">
        <p14:creationId xmlns:p14="http://schemas.microsoft.com/office/powerpoint/2010/main" val="23011062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b="1" dirty="0">
                <a:latin typeface="Arial Rounded MT Bold" panose="020F0704030504030204" pitchFamily="34" charset="0"/>
              </a:rPr>
              <a:t>Result and discussion</a:t>
            </a:r>
            <a:endParaRPr lang="zh-TW" altLang="en-US" sz="4000" dirty="0">
              <a:latin typeface="Arial Rounded MT Bold" panose="020F0704030504030204" pitchFamily="34" charset="0"/>
            </a:endParaRPr>
          </a:p>
        </p:txBody>
      </p:sp>
      <p:pic>
        <p:nvPicPr>
          <p:cNvPr id="5" name="內容版面配置區 4"/>
          <p:cNvPicPr>
            <a:picLocks noGrp="1" noChangeAspect="1"/>
          </p:cNvPicPr>
          <p:nvPr>
            <p:ph idx="1"/>
          </p:nvPr>
        </p:nvPicPr>
        <p:blipFill>
          <a:blip r:embed="rId3"/>
          <a:stretch>
            <a:fillRect/>
          </a:stretch>
        </p:blipFill>
        <p:spPr>
          <a:xfrm>
            <a:off x="1266826" y="2064255"/>
            <a:ext cx="6153150" cy="3333750"/>
          </a:xfrm>
          <a:prstGeom prst="rect">
            <a:avLst/>
          </a:prstGeom>
        </p:spPr>
      </p:pic>
    </p:spTree>
    <p:extLst>
      <p:ext uri="{BB962C8B-B14F-4D97-AF65-F5344CB8AC3E}">
        <p14:creationId xmlns:p14="http://schemas.microsoft.com/office/powerpoint/2010/main" val="349570003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b="1" dirty="0">
                <a:latin typeface="Arial Rounded MT Bold" panose="020F0704030504030204" pitchFamily="34" charset="0"/>
              </a:rPr>
              <a:t>Result and discussion</a:t>
            </a:r>
            <a:endParaRPr lang="zh-TW" altLang="en-US" sz="4000" dirty="0">
              <a:latin typeface="Arial Rounded MT Bold" panose="020F0704030504030204" pitchFamily="34" charset="0"/>
            </a:endParaRPr>
          </a:p>
        </p:txBody>
      </p:sp>
      <p:pic>
        <p:nvPicPr>
          <p:cNvPr id="6" name="內容版面配置區 5"/>
          <p:cNvPicPr>
            <a:picLocks noGrp="1" noChangeAspect="1"/>
          </p:cNvPicPr>
          <p:nvPr>
            <p:ph idx="1"/>
          </p:nvPr>
        </p:nvPicPr>
        <p:blipFill>
          <a:blip r:embed="rId2"/>
          <a:stretch>
            <a:fillRect/>
          </a:stretch>
        </p:blipFill>
        <p:spPr>
          <a:xfrm>
            <a:off x="1354552" y="2124756"/>
            <a:ext cx="5924550" cy="3371850"/>
          </a:xfrm>
          <a:prstGeom prst="rect">
            <a:avLst/>
          </a:prstGeom>
        </p:spPr>
      </p:pic>
    </p:spTree>
    <p:extLst>
      <p:ext uri="{BB962C8B-B14F-4D97-AF65-F5344CB8AC3E}">
        <p14:creationId xmlns:p14="http://schemas.microsoft.com/office/powerpoint/2010/main" val="377248670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b="1" dirty="0">
                <a:latin typeface="Arial Rounded MT Bold" panose="020F0704030504030204" pitchFamily="34" charset="0"/>
              </a:rPr>
              <a:t>Conclusion and future work</a:t>
            </a:r>
            <a:endParaRPr lang="zh-TW" altLang="en-US" sz="4000" dirty="0">
              <a:latin typeface="Arial Rounded MT Bold" panose="020F0704030504030204" pitchFamily="34" charset="0"/>
            </a:endParaRPr>
          </a:p>
        </p:txBody>
      </p:sp>
      <p:sp>
        <p:nvSpPr>
          <p:cNvPr id="3" name="內容版面配置區 2"/>
          <p:cNvSpPr>
            <a:spLocks noGrp="1"/>
          </p:cNvSpPr>
          <p:nvPr>
            <p:ph idx="1"/>
          </p:nvPr>
        </p:nvSpPr>
        <p:spPr>
          <a:xfrm>
            <a:off x="628650" y="1690689"/>
            <a:ext cx="7886700" cy="4486274"/>
          </a:xfrm>
        </p:spPr>
        <p:txBody>
          <a:bodyPr>
            <a:normAutofit fontScale="70000" lnSpcReduction="20000"/>
          </a:bodyPr>
          <a:lstStyle/>
          <a:p>
            <a:pPr marL="0" indent="0">
              <a:buNone/>
            </a:pPr>
            <a:r>
              <a:rPr lang="en-US" altLang="zh-TW" dirty="0"/>
              <a:t>In this paper, SW-SVR that is a new methodology for micrometeorological data prediction was proposed. </a:t>
            </a:r>
            <a:r>
              <a:rPr lang="en-US" altLang="zh-TW" dirty="0" smtClean="0"/>
              <a:t>In time </a:t>
            </a:r>
            <a:r>
              <a:rPr lang="en-US" altLang="zh-TW" dirty="0"/>
              <a:t>series air-prediction, since the meteorological data characteristics change according to the time elapsed, </a:t>
            </a:r>
            <a:r>
              <a:rPr lang="en-US" altLang="zh-TW" dirty="0" smtClean="0"/>
              <a:t>past data </a:t>
            </a:r>
            <a:r>
              <a:rPr lang="en-US" altLang="zh-TW" dirty="0"/>
              <a:t>work as a noise data. Thus, it is necessary to determine the suitable amount of training data for </a:t>
            </a:r>
            <a:r>
              <a:rPr lang="en-US" altLang="zh-TW" dirty="0" smtClean="0"/>
              <a:t>building prediction </a:t>
            </a:r>
            <a:r>
              <a:rPr lang="en-US" altLang="zh-TW" dirty="0"/>
              <a:t>model. </a:t>
            </a:r>
            <a:endParaRPr lang="en-US" altLang="zh-TW" dirty="0" smtClean="0"/>
          </a:p>
          <a:p>
            <a:pPr marL="0" indent="0">
              <a:buNone/>
            </a:pPr>
            <a:endParaRPr lang="en-US" altLang="zh-TW" dirty="0" smtClean="0"/>
          </a:p>
          <a:p>
            <a:pPr marL="0" indent="0">
              <a:buNone/>
            </a:pPr>
            <a:r>
              <a:rPr lang="en-US" altLang="zh-TW" dirty="0" smtClean="0"/>
              <a:t>SW-SVR </a:t>
            </a:r>
            <a:r>
              <a:rPr lang="en-US" altLang="zh-TW" dirty="0"/>
              <a:t>can determine the appropriate amount of training data to build more optimum </a:t>
            </a:r>
            <a:r>
              <a:rPr lang="en-US" altLang="zh-TW" dirty="0" smtClean="0"/>
              <a:t>SVR model </a:t>
            </a:r>
            <a:r>
              <a:rPr lang="en-US" altLang="zh-TW" dirty="0"/>
              <a:t>automatically using parallel distributed processing. The experiments show that the proposed was </a:t>
            </a:r>
            <a:r>
              <a:rPr lang="en-US" altLang="zh-TW" dirty="0" smtClean="0"/>
              <a:t>successfully to </a:t>
            </a:r>
            <a:r>
              <a:rPr lang="en-US" altLang="zh-TW" dirty="0"/>
              <a:t>determine the suitable amount of training data in the meteorological data of the year to January1, 2014 </a:t>
            </a:r>
            <a:r>
              <a:rPr lang="en-US" altLang="zh-TW" dirty="0" smtClean="0"/>
              <a:t>from January1</a:t>
            </a:r>
            <a:r>
              <a:rPr lang="en-US" altLang="zh-TW" dirty="0"/>
              <a:t>, 2011 in Sapporo, Tokyo, Hamamatsu, and Naha provided by </a:t>
            </a:r>
            <a:r>
              <a:rPr lang="en-US" altLang="zh-TW" dirty="0" err="1"/>
              <a:t>AMeDAS</a:t>
            </a:r>
            <a:r>
              <a:rPr lang="en-US" altLang="zh-TW" dirty="0"/>
              <a:t>. </a:t>
            </a:r>
            <a:endParaRPr lang="en-US" altLang="zh-TW" dirty="0" smtClean="0"/>
          </a:p>
          <a:p>
            <a:pPr marL="0" indent="0">
              <a:buNone/>
            </a:pPr>
            <a:endParaRPr lang="en-US" altLang="zh-TW" dirty="0" smtClean="0"/>
          </a:p>
          <a:p>
            <a:pPr marL="0" indent="0">
              <a:buNone/>
            </a:pPr>
            <a:r>
              <a:rPr lang="en-US" altLang="zh-TW" dirty="0" smtClean="0"/>
              <a:t>SW-SVR </a:t>
            </a:r>
            <a:r>
              <a:rPr lang="en-US" altLang="zh-TW" dirty="0"/>
              <a:t>could improve </a:t>
            </a:r>
            <a:r>
              <a:rPr lang="en-US" altLang="zh-TW" dirty="0" smtClean="0"/>
              <a:t>RMSE in </a:t>
            </a:r>
            <a:r>
              <a:rPr lang="en-US" altLang="zh-TW" dirty="0"/>
              <a:t>Sapporo, and Tokyo. In addition, it could reduce calculation time in all area. The remaining issues are </a:t>
            </a:r>
            <a:r>
              <a:rPr lang="en-US" altLang="zh-TW" dirty="0" smtClean="0"/>
              <a:t>evaluating more </a:t>
            </a:r>
            <a:r>
              <a:rPr lang="en-US" altLang="zh-TW" dirty="0"/>
              <a:t>various situations to show SW-SVR works useful. In this paper, SW-SVR was evaluated using only </a:t>
            </a:r>
            <a:r>
              <a:rPr lang="en-US" altLang="zh-TW" dirty="0" smtClean="0"/>
              <a:t>air temperature</a:t>
            </a:r>
            <a:r>
              <a:rPr lang="en-US" altLang="zh-TW" dirty="0"/>
              <a:t>.</a:t>
            </a:r>
            <a:endParaRPr lang="zh-TW" altLang="en-US" dirty="0"/>
          </a:p>
        </p:txBody>
      </p:sp>
    </p:spTree>
    <p:extLst>
      <p:ext uri="{BB962C8B-B14F-4D97-AF65-F5344CB8AC3E}">
        <p14:creationId xmlns:p14="http://schemas.microsoft.com/office/powerpoint/2010/main" val="413259201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1339</TotalTime>
  <Words>593</Words>
  <Application>Microsoft Office PowerPoint</Application>
  <PresentationFormat>如螢幕大小 (4:3)</PresentationFormat>
  <Paragraphs>61</Paragraphs>
  <Slides>18</Slides>
  <Notes>8</Notes>
  <HiddenSlides>0</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18</vt:i4>
      </vt:variant>
    </vt:vector>
  </HeadingPairs>
  <TitlesOfParts>
    <vt:vector size="28" baseType="lpstr">
      <vt:lpstr>Arial Unicode MS</vt:lpstr>
      <vt:lpstr>Gungsuh</vt:lpstr>
      <vt:lpstr>新細明體</vt:lpstr>
      <vt:lpstr>Arial</vt:lpstr>
      <vt:lpstr>Arial</vt:lpstr>
      <vt:lpstr>Arial Rounded MT Bold</vt:lpstr>
      <vt:lpstr>Calibri</vt:lpstr>
      <vt:lpstr>Calibri Light</vt:lpstr>
      <vt:lpstr>Times New Roman</vt:lpstr>
      <vt:lpstr>Office 佈景主題</vt:lpstr>
      <vt:lpstr>Proposal to sliding window-based support vector regression</vt:lpstr>
      <vt:lpstr>Abstract</vt:lpstr>
      <vt:lpstr>Abstract</vt:lpstr>
      <vt:lpstr>Introduction (Support Vector Regression)</vt:lpstr>
      <vt:lpstr>Introduction (Support Vector Regression)</vt:lpstr>
      <vt:lpstr>Support Vector Regression (kernel function)</vt:lpstr>
      <vt:lpstr>Sliding Windows-SVR</vt:lpstr>
      <vt:lpstr>Sliding Windows-SVR</vt:lpstr>
      <vt:lpstr>Sliding Windows-SVR</vt:lpstr>
      <vt:lpstr>Sliding Windows-SVR</vt:lpstr>
      <vt:lpstr>Sliding Windows-SVR</vt:lpstr>
      <vt:lpstr>Sliding Windows-SVR</vt:lpstr>
      <vt:lpstr>Sliding Windows-SVR</vt:lpstr>
      <vt:lpstr>Sliding Windows-SVR</vt:lpstr>
      <vt:lpstr>Result and discussion</vt:lpstr>
      <vt:lpstr>Result and discussion</vt:lpstr>
      <vt:lpstr>Result and discussion</vt:lpstr>
      <vt:lpstr>Conclusion and future work</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Proposal to sliding window-based support vector regression</dc:title>
  <dc:creator>Huang</dc:creator>
  <cp:lastModifiedBy>Huang</cp:lastModifiedBy>
  <cp:revision>75</cp:revision>
  <dcterms:created xsi:type="dcterms:W3CDTF">2014-12-10T13:17:32Z</dcterms:created>
  <dcterms:modified xsi:type="dcterms:W3CDTF">2014-12-15T10:32:00Z</dcterms:modified>
</cp:coreProperties>
</file>