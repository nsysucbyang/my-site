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3" autoAdjust="0"/>
    <p:restoredTop sz="94660"/>
  </p:normalViewPr>
  <p:slideViewPr>
    <p:cSldViewPr snapToGrid="0">
      <p:cViewPr varScale="1">
        <p:scale>
          <a:sx n="57" d="100"/>
          <a:sy n="57" d="100"/>
        </p:scale>
        <p:origin x="108"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21912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1211713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3029057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2055684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1917951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3400141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4203982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3219504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397472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1673678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FCA8A84-2AB0-4EBA-AFF5-E66A4F3D8525}" type="datetimeFigureOut">
              <a:rPr lang="zh-TW" altLang="en-US" smtClean="0"/>
              <a:t>2014/12/15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663752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CA8A84-2AB0-4EBA-AFF5-E66A4F3D8525}" type="datetimeFigureOut">
              <a:rPr lang="zh-TW" altLang="en-US" smtClean="0"/>
              <a:t>2014/12/15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C79A57-2BA3-4060-8A51-938E0CA0F7A9}" type="slidenum">
              <a:rPr lang="zh-TW" altLang="en-US" smtClean="0"/>
              <a:t>‹#›</a:t>
            </a:fld>
            <a:endParaRPr lang="zh-TW" altLang="en-US"/>
          </a:p>
        </p:txBody>
      </p:sp>
    </p:spTree>
    <p:extLst>
      <p:ext uri="{BB962C8B-B14F-4D97-AF65-F5344CB8AC3E}">
        <p14:creationId xmlns:p14="http://schemas.microsoft.com/office/powerpoint/2010/main" val="2490418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70000" y="3860799"/>
            <a:ext cx="9144000" cy="2447533"/>
          </a:xfrm>
        </p:spPr>
        <p:txBody>
          <a:bodyPr>
            <a:normAutofit/>
          </a:bodyPr>
          <a:lstStyle/>
          <a:p>
            <a:r>
              <a:rPr lang="en-US" altLang="zh-TW" sz="4000" dirty="0" err="1"/>
              <a:t>Marios</a:t>
            </a:r>
            <a:r>
              <a:rPr lang="en-US" altLang="zh-TW" sz="4000" dirty="0"/>
              <a:t> A. </a:t>
            </a:r>
            <a:r>
              <a:rPr lang="en-US" altLang="zh-TW" sz="4000" dirty="0" err="1"/>
              <a:t>Gavrielides</a:t>
            </a:r>
            <a:r>
              <a:rPr lang="en-US" altLang="zh-TW" sz="4000" dirty="0"/>
              <a:t>, Elena ˇ</a:t>
            </a:r>
            <a:r>
              <a:rPr lang="en-US" altLang="zh-TW" sz="4000" dirty="0" err="1"/>
              <a:t>Sikudová</a:t>
            </a:r>
            <a:r>
              <a:rPr lang="en-US" altLang="zh-TW" sz="4000" dirty="0"/>
              <a:t>, and </a:t>
            </a:r>
            <a:r>
              <a:rPr lang="en-US" altLang="zh-TW" sz="4000" dirty="0" err="1"/>
              <a:t>Ioannis</a:t>
            </a:r>
            <a:r>
              <a:rPr lang="en-US" altLang="zh-TW" sz="4000" dirty="0"/>
              <a:t> </a:t>
            </a:r>
            <a:r>
              <a:rPr lang="en-US" altLang="zh-TW" sz="4000" dirty="0" smtClean="0"/>
              <a:t>Pitas</a:t>
            </a:r>
            <a:r>
              <a:rPr lang="en-US" altLang="zh-TW" sz="4000" i="1" dirty="0"/>
              <a:t/>
            </a:r>
            <a:br>
              <a:rPr lang="en-US" altLang="zh-TW" sz="4000" i="1" dirty="0"/>
            </a:br>
            <a:r>
              <a:rPr lang="en-US" altLang="zh-TW" sz="4000" dirty="0" smtClean="0"/>
              <a:t> </a:t>
            </a:r>
            <a:r>
              <a:rPr lang="en-US" altLang="zh-TW" sz="4000" dirty="0"/>
              <a:t>IEEE TRANSACTIONS ON MULTIMEDIA, VOL. 8, NO. 4, </a:t>
            </a:r>
            <a:r>
              <a:rPr lang="en-US" altLang="zh-TW" sz="4000" dirty="0" smtClean="0"/>
              <a:t>pp. 740-748, AUGUST, 2006.</a:t>
            </a:r>
            <a:endParaRPr lang="zh-TW" altLang="en-US" sz="4000" dirty="0"/>
          </a:p>
        </p:txBody>
      </p:sp>
      <p:sp>
        <p:nvSpPr>
          <p:cNvPr id="3" name="矩形 2"/>
          <p:cNvSpPr/>
          <p:nvPr/>
        </p:nvSpPr>
        <p:spPr>
          <a:xfrm>
            <a:off x="1523999" y="992201"/>
            <a:ext cx="8094133" cy="1754326"/>
          </a:xfrm>
          <a:prstGeom prst="rect">
            <a:avLst/>
          </a:prstGeom>
        </p:spPr>
        <p:txBody>
          <a:bodyPr wrap="square">
            <a:spAutoFit/>
          </a:bodyPr>
          <a:lstStyle/>
          <a:p>
            <a:r>
              <a:rPr lang="en-US" altLang="zh-TW" sz="5400" dirty="0"/>
              <a:t>Color-Based Descriptors for Image Fingerprinting</a:t>
            </a:r>
            <a:endParaRPr lang="zh-TW" altLang="en-US" sz="5400" dirty="0"/>
          </a:p>
        </p:txBody>
      </p:sp>
    </p:spTree>
    <p:extLst>
      <p:ext uri="{BB962C8B-B14F-4D97-AF65-F5344CB8AC3E}">
        <p14:creationId xmlns:p14="http://schemas.microsoft.com/office/powerpoint/2010/main" val="27796241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a:t>
            </a:r>
            <a:r>
              <a:rPr lang="en-US" altLang="zh-TW" dirty="0" smtClean="0"/>
              <a:t>bstract(1/2)</a:t>
            </a:r>
            <a:endParaRPr lang="zh-TW" altLang="en-US" dirty="0"/>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smtClean="0"/>
              <a:t>     Typically, content-based image retrieval (CBIR)systems receive an image or an image description as input and retrieve images from a database that are similar to the query image in regard to properties such as color, texture, shape, or layout. A kind of system that did not receive much attention compared to CBIR systems, is one that searches for images that are not similar but exact copies of the same image that have undergone some transformation. In this paper, we present such a system referred to as an image fingerprinting system, since it aims to extract unique and robust image descriptors (in analogy to human fingerprints).We examine the use of color-based descriptors and provide comparisons for different quantization methods, histograms calculated using color-only and/or spatial-color information with different similarity measures.</a:t>
            </a:r>
            <a:endParaRPr lang="zh-TW" altLang="en-US" dirty="0"/>
          </a:p>
        </p:txBody>
      </p:sp>
    </p:spTree>
    <p:extLst>
      <p:ext uri="{BB962C8B-B14F-4D97-AF65-F5344CB8AC3E}">
        <p14:creationId xmlns:p14="http://schemas.microsoft.com/office/powerpoint/2010/main" val="3039912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smtClean="0"/>
              <a:t>The system was evaluated with receiver operating characteristic (ROC) analysis on a large database of 919 original images consisting of randomly drawn art images and similar images from specific categories, along with 30 transformed images for each original, totaling 27570 images. The transformed images were produced with attacks that typically occur during digital image distribution, including different degrees of scaling, rotation, cropping, smoothing, additive noise and compression, as well as illumination contrast changes. Results showed a sensitivity of 96% at the small false positive fraction of 4% and a reduced sensitivity of 88% when 13% of all transformations involved changing the illuminance of the images. The overall performance of the system is encouraging for the use of color, and particularly spatial chromatic descriptors for image fingerprinting.</a:t>
            </a:r>
            <a:endParaRPr lang="zh-TW" altLang="en-US" dirty="0"/>
          </a:p>
        </p:txBody>
      </p:sp>
    </p:spTree>
    <p:extLst>
      <p:ext uri="{BB962C8B-B14F-4D97-AF65-F5344CB8AC3E}">
        <p14:creationId xmlns:p14="http://schemas.microsoft.com/office/powerpoint/2010/main" val="40644038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365125"/>
            <a:ext cx="11031583" cy="1325563"/>
          </a:xfrm>
        </p:spPr>
        <p:txBody>
          <a:bodyPr>
            <a:normAutofit/>
          </a:bodyPr>
          <a:lstStyle/>
          <a:p>
            <a:r>
              <a:rPr lang="en-US" altLang="zh-TW" sz="4000" dirty="0"/>
              <a:t>TRANSFORMATIONS APPLIED TO ORIGINAL IMAGES</a:t>
            </a:r>
            <a:endParaRPr lang="zh-TW" altLang="en-US" sz="4000" dirty="0"/>
          </a:p>
        </p:txBody>
      </p:sp>
      <p:pic>
        <p:nvPicPr>
          <p:cNvPr id="4" name="內容版面配置區 3"/>
          <p:cNvPicPr>
            <a:picLocks noGrp="1" noChangeAspect="1"/>
          </p:cNvPicPr>
          <p:nvPr>
            <p:ph idx="1"/>
          </p:nvPr>
        </p:nvPicPr>
        <p:blipFill>
          <a:blip r:embed="rId2"/>
          <a:stretch>
            <a:fillRect/>
          </a:stretch>
        </p:blipFill>
        <p:spPr>
          <a:xfrm>
            <a:off x="1520734" y="1799498"/>
            <a:ext cx="9150531" cy="4785073"/>
          </a:xfrm>
          <a:prstGeom prst="rect">
            <a:avLst/>
          </a:prstGeom>
        </p:spPr>
      </p:pic>
    </p:spTree>
    <p:extLst>
      <p:ext uri="{BB962C8B-B14F-4D97-AF65-F5344CB8AC3E}">
        <p14:creationId xmlns:p14="http://schemas.microsoft.com/office/powerpoint/2010/main" val="30404344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COLOR-BASED FINGERPRINT MATCHING</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838200" y="1812608"/>
            <a:ext cx="6172200" cy="4807652"/>
          </a:xfrm>
          <a:prstGeom prst="rect">
            <a:avLst/>
          </a:prstGeom>
        </p:spPr>
      </p:pic>
      <p:sp>
        <p:nvSpPr>
          <p:cNvPr id="7" name="文字方塊 6"/>
          <p:cNvSpPr txBox="1"/>
          <p:nvPr/>
        </p:nvSpPr>
        <p:spPr>
          <a:xfrm>
            <a:off x="6406379" y="1387005"/>
            <a:ext cx="3962400" cy="369332"/>
          </a:xfrm>
          <a:prstGeom prst="rect">
            <a:avLst/>
          </a:prstGeom>
          <a:noFill/>
        </p:spPr>
        <p:txBody>
          <a:bodyPr wrap="square" rtlCol="0">
            <a:spAutoFit/>
          </a:bodyPr>
          <a:lstStyle/>
          <a:p>
            <a:r>
              <a:rPr lang="en-US" altLang="zh-TW" dirty="0" smtClean="0"/>
              <a:t>Normalized </a:t>
            </a:r>
            <a:endParaRPr lang="zh-TW" altLang="en-US" dirty="0"/>
          </a:p>
        </p:txBody>
      </p:sp>
      <p:pic>
        <p:nvPicPr>
          <p:cNvPr id="8" name="圖片 7"/>
          <p:cNvPicPr>
            <a:picLocks noChangeAspect="1"/>
          </p:cNvPicPr>
          <p:nvPr/>
        </p:nvPicPr>
        <p:blipFill>
          <a:blip r:embed="rId3"/>
          <a:stretch>
            <a:fillRect/>
          </a:stretch>
        </p:blipFill>
        <p:spPr>
          <a:xfrm>
            <a:off x="7032308" y="1995983"/>
            <a:ext cx="3867150" cy="885825"/>
          </a:xfrm>
          <a:prstGeom prst="rect">
            <a:avLst/>
          </a:prstGeom>
        </p:spPr>
      </p:pic>
      <p:pic>
        <p:nvPicPr>
          <p:cNvPr id="9" name="圖片 8"/>
          <p:cNvPicPr>
            <a:picLocks noChangeAspect="1"/>
          </p:cNvPicPr>
          <p:nvPr/>
        </p:nvPicPr>
        <p:blipFill>
          <a:blip r:embed="rId4"/>
          <a:stretch>
            <a:fillRect/>
          </a:stretch>
        </p:blipFill>
        <p:spPr>
          <a:xfrm>
            <a:off x="6406379" y="2781955"/>
            <a:ext cx="4876800" cy="457200"/>
          </a:xfrm>
          <a:prstGeom prst="rect">
            <a:avLst/>
          </a:prstGeom>
        </p:spPr>
      </p:pic>
      <p:pic>
        <p:nvPicPr>
          <p:cNvPr id="10" name="圖片 9"/>
          <p:cNvPicPr>
            <a:picLocks noChangeAspect="1"/>
          </p:cNvPicPr>
          <p:nvPr/>
        </p:nvPicPr>
        <p:blipFill>
          <a:blip r:embed="rId5"/>
          <a:stretch>
            <a:fillRect/>
          </a:stretch>
        </p:blipFill>
        <p:spPr>
          <a:xfrm>
            <a:off x="6476048" y="3236887"/>
            <a:ext cx="1714500" cy="409575"/>
          </a:xfrm>
          <a:prstGeom prst="rect">
            <a:avLst/>
          </a:prstGeom>
        </p:spPr>
      </p:pic>
      <p:pic>
        <p:nvPicPr>
          <p:cNvPr id="11" name="圖片 10"/>
          <p:cNvPicPr>
            <a:picLocks noChangeAspect="1"/>
          </p:cNvPicPr>
          <p:nvPr/>
        </p:nvPicPr>
        <p:blipFill>
          <a:blip r:embed="rId6"/>
          <a:stretch>
            <a:fillRect/>
          </a:stretch>
        </p:blipFill>
        <p:spPr>
          <a:xfrm>
            <a:off x="8190548" y="3270384"/>
            <a:ext cx="3867150" cy="323850"/>
          </a:xfrm>
          <a:prstGeom prst="rect">
            <a:avLst/>
          </a:prstGeom>
        </p:spPr>
      </p:pic>
      <p:pic>
        <p:nvPicPr>
          <p:cNvPr id="12" name="圖片 11"/>
          <p:cNvPicPr>
            <a:picLocks noChangeAspect="1"/>
          </p:cNvPicPr>
          <p:nvPr/>
        </p:nvPicPr>
        <p:blipFill>
          <a:blip r:embed="rId7"/>
          <a:stretch>
            <a:fillRect/>
          </a:stretch>
        </p:blipFill>
        <p:spPr>
          <a:xfrm>
            <a:off x="6476048" y="3682907"/>
            <a:ext cx="3200400" cy="457200"/>
          </a:xfrm>
          <a:prstGeom prst="rect">
            <a:avLst/>
          </a:prstGeom>
        </p:spPr>
      </p:pic>
    </p:spTree>
    <p:extLst>
      <p:ext uri="{BB962C8B-B14F-4D97-AF65-F5344CB8AC3E}">
        <p14:creationId xmlns:p14="http://schemas.microsoft.com/office/powerpoint/2010/main" val="2354478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COLOR-BASED FINGERPRINT MATCHING</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1043531" y="1851909"/>
            <a:ext cx="7248525" cy="1790700"/>
          </a:xfrm>
          <a:prstGeom prst="rect">
            <a:avLst/>
          </a:prstGeom>
        </p:spPr>
      </p:pic>
    </p:spTree>
    <p:extLst>
      <p:ext uri="{BB962C8B-B14F-4D97-AF65-F5344CB8AC3E}">
        <p14:creationId xmlns:p14="http://schemas.microsoft.com/office/powerpoint/2010/main" val="42284103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COLOR-BASED FINGERPRINT MATCHING</a:t>
            </a:r>
            <a:endParaRPr lang="zh-TW" altLang="en-US" dirty="0"/>
          </a:p>
        </p:txBody>
      </p:sp>
      <p:pic>
        <p:nvPicPr>
          <p:cNvPr id="5" name="圖片 4"/>
          <p:cNvPicPr>
            <a:picLocks noChangeAspect="1"/>
          </p:cNvPicPr>
          <p:nvPr/>
        </p:nvPicPr>
        <p:blipFill>
          <a:blip r:embed="rId2"/>
          <a:stretch>
            <a:fillRect/>
          </a:stretch>
        </p:blipFill>
        <p:spPr>
          <a:xfrm>
            <a:off x="526911" y="1497875"/>
            <a:ext cx="6973618" cy="5291457"/>
          </a:xfrm>
          <a:prstGeom prst="rect">
            <a:avLst/>
          </a:prstGeom>
        </p:spPr>
      </p:pic>
    </p:spTree>
    <p:extLst>
      <p:ext uri="{BB962C8B-B14F-4D97-AF65-F5344CB8AC3E}">
        <p14:creationId xmlns:p14="http://schemas.microsoft.com/office/powerpoint/2010/main" val="35181433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CIELab</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838199" y="1398905"/>
            <a:ext cx="2828109" cy="5481448"/>
          </a:xfrm>
          <a:prstGeom prst="rect">
            <a:avLst/>
          </a:prstGeom>
        </p:spPr>
      </p:pic>
      <p:pic>
        <p:nvPicPr>
          <p:cNvPr id="1026" name="Picture 2" descr="http://dba.med.sc.edu/price/irf/Adobe_tg/models/images/CIELAB.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5355" y="1690688"/>
            <a:ext cx="4782187" cy="3682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7705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COLOR-BASED FINGERPRINT MATCHING</a:t>
            </a:r>
            <a:endParaRPr lang="zh-TW" altLang="en-US" dirty="0"/>
          </a:p>
        </p:txBody>
      </p:sp>
      <p:pic>
        <p:nvPicPr>
          <p:cNvPr id="7" name="圖片 6"/>
          <p:cNvPicPr>
            <a:picLocks noChangeAspect="1"/>
          </p:cNvPicPr>
          <p:nvPr/>
        </p:nvPicPr>
        <p:blipFill>
          <a:blip r:embed="rId2"/>
          <a:stretch>
            <a:fillRect/>
          </a:stretch>
        </p:blipFill>
        <p:spPr>
          <a:xfrm>
            <a:off x="917257" y="1637007"/>
            <a:ext cx="3286125" cy="390525"/>
          </a:xfrm>
          <a:prstGeom prst="rect">
            <a:avLst/>
          </a:prstGeom>
        </p:spPr>
      </p:pic>
      <p:pic>
        <p:nvPicPr>
          <p:cNvPr id="8" name="圖片 7"/>
          <p:cNvPicPr>
            <a:picLocks noChangeAspect="1"/>
          </p:cNvPicPr>
          <p:nvPr/>
        </p:nvPicPr>
        <p:blipFill>
          <a:blip r:embed="rId3"/>
          <a:stretch>
            <a:fillRect/>
          </a:stretch>
        </p:blipFill>
        <p:spPr>
          <a:xfrm>
            <a:off x="4347482" y="1739379"/>
            <a:ext cx="3914775" cy="1076325"/>
          </a:xfrm>
          <a:prstGeom prst="rect">
            <a:avLst/>
          </a:prstGeom>
        </p:spPr>
      </p:pic>
      <p:pic>
        <p:nvPicPr>
          <p:cNvPr id="9" name="圖片 8"/>
          <p:cNvPicPr>
            <a:picLocks noChangeAspect="1"/>
          </p:cNvPicPr>
          <p:nvPr/>
        </p:nvPicPr>
        <p:blipFill>
          <a:blip r:embed="rId4"/>
          <a:stretch>
            <a:fillRect/>
          </a:stretch>
        </p:blipFill>
        <p:spPr>
          <a:xfrm>
            <a:off x="2068013" y="2844624"/>
            <a:ext cx="3314700" cy="409575"/>
          </a:xfrm>
          <a:prstGeom prst="rect">
            <a:avLst/>
          </a:prstGeom>
        </p:spPr>
      </p:pic>
      <p:pic>
        <p:nvPicPr>
          <p:cNvPr id="10" name="圖片 9"/>
          <p:cNvPicPr>
            <a:picLocks noChangeAspect="1"/>
          </p:cNvPicPr>
          <p:nvPr/>
        </p:nvPicPr>
        <p:blipFill>
          <a:blip r:embed="rId5"/>
          <a:stretch>
            <a:fillRect/>
          </a:stretch>
        </p:blipFill>
        <p:spPr>
          <a:xfrm>
            <a:off x="5732417" y="2630390"/>
            <a:ext cx="2971800" cy="1095375"/>
          </a:xfrm>
          <a:prstGeom prst="rect">
            <a:avLst/>
          </a:prstGeom>
        </p:spPr>
      </p:pic>
      <p:pic>
        <p:nvPicPr>
          <p:cNvPr id="11" name="圖片 10"/>
          <p:cNvPicPr>
            <a:picLocks noChangeAspect="1"/>
          </p:cNvPicPr>
          <p:nvPr/>
        </p:nvPicPr>
        <p:blipFill>
          <a:blip r:embed="rId6"/>
          <a:stretch>
            <a:fillRect/>
          </a:stretch>
        </p:blipFill>
        <p:spPr>
          <a:xfrm>
            <a:off x="8979625" y="2630390"/>
            <a:ext cx="2981325" cy="1057275"/>
          </a:xfrm>
          <a:prstGeom prst="rect">
            <a:avLst/>
          </a:prstGeom>
        </p:spPr>
      </p:pic>
      <p:pic>
        <p:nvPicPr>
          <p:cNvPr id="13" name="圖片 12"/>
          <p:cNvPicPr>
            <a:picLocks noChangeAspect="1"/>
          </p:cNvPicPr>
          <p:nvPr/>
        </p:nvPicPr>
        <p:blipFill>
          <a:blip r:embed="rId7"/>
          <a:stretch>
            <a:fillRect/>
          </a:stretch>
        </p:blipFill>
        <p:spPr>
          <a:xfrm>
            <a:off x="3411038" y="2126780"/>
            <a:ext cx="628650" cy="381000"/>
          </a:xfrm>
          <a:prstGeom prst="rect">
            <a:avLst/>
          </a:prstGeom>
        </p:spPr>
      </p:pic>
      <p:sp>
        <p:nvSpPr>
          <p:cNvPr id="14" name="文字方塊 13"/>
          <p:cNvSpPr txBox="1"/>
          <p:nvPr/>
        </p:nvSpPr>
        <p:spPr>
          <a:xfrm>
            <a:off x="4093028" y="2103557"/>
            <a:ext cx="313508" cy="369332"/>
          </a:xfrm>
          <a:prstGeom prst="rect">
            <a:avLst/>
          </a:prstGeom>
          <a:noFill/>
        </p:spPr>
        <p:txBody>
          <a:bodyPr wrap="square" rtlCol="0">
            <a:spAutoFit/>
          </a:bodyPr>
          <a:lstStyle/>
          <a:p>
            <a:r>
              <a:rPr lang="en-US" altLang="zh-TW" dirty="0" smtClean="0"/>
              <a:t>:</a:t>
            </a:r>
            <a:endParaRPr lang="zh-TW" altLang="en-US" dirty="0"/>
          </a:p>
        </p:txBody>
      </p:sp>
      <p:pic>
        <p:nvPicPr>
          <p:cNvPr id="15" name="圖片 14"/>
          <p:cNvPicPr>
            <a:picLocks noChangeAspect="1"/>
          </p:cNvPicPr>
          <p:nvPr/>
        </p:nvPicPr>
        <p:blipFill>
          <a:blip r:embed="rId8"/>
          <a:stretch>
            <a:fillRect/>
          </a:stretch>
        </p:blipFill>
        <p:spPr>
          <a:xfrm>
            <a:off x="79465" y="3289981"/>
            <a:ext cx="4762500" cy="1543050"/>
          </a:xfrm>
          <a:prstGeom prst="rect">
            <a:avLst/>
          </a:prstGeom>
        </p:spPr>
      </p:pic>
      <p:pic>
        <p:nvPicPr>
          <p:cNvPr id="16" name="圖片 15"/>
          <p:cNvPicPr>
            <a:picLocks noChangeAspect="1"/>
          </p:cNvPicPr>
          <p:nvPr/>
        </p:nvPicPr>
        <p:blipFill>
          <a:blip r:embed="rId9"/>
          <a:stretch>
            <a:fillRect/>
          </a:stretch>
        </p:blipFill>
        <p:spPr>
          <a:xfrm>
            <a:off x="79465" y="5591802"/>
            <a:ext cx="7686675" cy="371475"/>
          </a:xfrm>
          <a:prstGeom prst="rect">
            <a:avLst/>
          </a:prstGeom>
        </p:spPr>
      </p:pic>
      <p:pic>
        <p:nvPicPr>
          <p:cNvPr id="17" name="圖片 16"/>
          <p:cNvPicPr>
            <a:picLocks noChangeAspect="1"/>
          </p:cNvPicPr>
          <p:nvPr/>
        </p:nvPicPr>
        <p:blipFill>
          <a:blip r:embed="rId10"/>
          <a:stretch>
            <a:fillRect/>
          </a:stretch>
        </p:blipFill>
        <p:spPr>
          <a:xfrm>
            <a:off x="7766140" y="5628221"/>
            <a:ext cx="3038475" cy="352425"/>
          </a:xfrm>
          <a:prstGeom prst="rect">
            <a:avLst/>
          </a:prstGeom>
        </p:spPr>
      </p:pic>
      <p:pic>
        <p:nvPicPr>
          <p:cNvPr id="19" name="圖片 18"/>
          <p:cNvPicPr>
            <a:picLocks noChangeAspect="1"/>
          </p:cNvPicPr>
          <p:nvPr/>
        </p:nvPicPr>
        <p:blipFill>
          <a:blip r:embed="rId11"/>
          <a:stretch>
            <a:fillRect/>
          </a:stretch>
        </p:blipFill>
        <p:spPr>
          <a:xfrm>
            <a:off x="220980" y="4904015"/>
            <a:ext cx="6734175" cy="361950"/>
          </a:xfrm>
          <a:prstGeom prst="rect">
            <a:avLst/>
          </a:prstGeom>
        </p:spPr>
      </p:pic>
      <p:pic>
        <p:nvPicPr>
          <p:cNvPr id="20" name="圖片 19"/>
          <p:cNvPicPr>
            <a:picLocks noChangeAspect="1"/>
          </p:cNvPicPr>
          <p:nvPr/>
        </p:nvPicPr>
        <p:blipFill>
          <a:blip r:embed="rId12"/>
          <a:stretch>
            <a:fillRect/>
          </a:stretch>
        </p:blipFill>
        <p:spPr>
          <a:xfrm>
            <a:off x="6955155" y="4921384"/>
            <a:ext cx="3371850" cy="381000"/>
          </a:xfrm>
          <a:prstGeom prst="rect">
            <a:avLst/>
          </a:prstGeom>
        </p:spPr>
      </p:pic>
    </p:spTree>
    <p:extLst>
      <p:ext uri="{BB962C8B-B14F-4D97-AF65-F5344CB8AC3E}">
        <p14:creationId xmlns:p14="http://schemas.microsoft.com/office/powerpoint/2010/main" val="34421702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COLOR-BASED FINGERPRINT MATCHING</a:t>
            </a:r>
            <a:endParaRPr lang="zh-TW" altLang="en-US" dirty="0"/>
          </a:p>
        </p:txBody>
      </p:sp>
      <p:pic>
        <p:nvPicPr>
          <p:cNvPr id="4" name="圖片 3"/>
          <p:cNvPicPr>
            <a:picLocks noChangeAspect="1"/>
          </p:cNvPicPr>
          <p:nvPr/>
        </p:nvPicPr>
        <p:blipFill>
          <a:blip r:embed="rId2"/>
          <a:stretch>
            <a:fillRect/>
          </a:stretch>
        </p:blipFill>
        <p:spPr>
          <a:xfrm>
            <a:off x="838200" y="2371725"/>
            <a:ext cx="7600950" cy="2114550"/>
          </a:xfrm>
          <a:prstGeom prst="rect">
            <a:avLst/>
          </a:prstGeom>
        </p:spPr>
      </p:pic>
      <p:pic>
        <p:nvPicPr>
          <p:cNvPr id="6" name="圖片 5"/>
          <p:cNvPicPr>
            <a:picLocks noChangeAspect="1"/>
          </p:cNvPicPr>
          <p:nvPr/>
        </p:nvPicPr>
        <p:blipFill>
          <a:blip r:embed="rId3"/>
          <a:stretch>
            <a:fillRect/>
          </a:stretch>
        </p:blipFill>
        <p:spPr>
          <a:xfrm>
            <a:off x="838200" y="1835944"/>
            <a:ext cx="3286125" cy="390525"/>
          </a:xfrm>
          <a:prstGeom prst="rect">
            <a:avLst/>
          </a:prstGeom>
        </p:spPr>
      </p:pic>
    </p:spTree>
    <p:extLst>
      <p:ext uri="{BB962C8B-B14F-4D97-AF65-F5344CB8AC3E}">
        <p14:creationId xmlns:p14="http://schemas.microsoft.com/office/powerpoint/2010/main" val="32124977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333</Words>
  <Application>Microsoft Office PowerPoint</Application>
  <PresentationFormat>寬螢幕</PresentationFormat>
  <Paragraphs>15</Paragraphs>
  <Slides>10</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新細明體</vt:lpstr>
      <vt:lpstr>Arial</vt:lpstr>
      <vt:lpstr>Calibri</vt:lpstr>
      <vt:lpstr>Calibri Light</vt:lpstr>
      <vt:lpstr>Office 佈景主題</vt:lpstr>
      <vt:lpstr>Marios A. Gavrielides, Elena ˇSikudová, and Ioannis Pitas  IEEE TRANSACTIONS ON MULTIMEDIA, VOL. 8, NO. 4, pp. 740-748, AUGUST, 2006.</vt:lpstr>
      <vt:lpstr>Abstract(1/2)</vt:lpstr>
      <vt:lpstr>Abstract(2/2)</vt:lpstr>
      <vt:lpstr>TRANSFORMATIONS APPLIED TO ORIGINAL IMAGES</vt:lpstr>
      <vt:lpstr>COLOR-BASED FINGERPRINT MATCHING</vt:lpstr>
      <vt:lpstr>COLOR-BASED FINGERPRINT MATCHING</vt:lpstr>
      <vt:lpstr>COLOR-BASED FINGERPRINT MATCHING</vt:lpstr>
      <vt:lpstr>CIELab</vt:lpstr>
      <vt:lpstr>COLOR-BASED FINGERPRINT MATCHING</vt:lpstr>
      <vt:lpstr>COLOR-BASED FINGERPRINT MATCHING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Marios A. Gavrielides, Elena ˇSikudová, and Ioannis Pitas, Color-Based Descriptors for Image Fingerprinting, Color-Based Descriptors for Image Fingerprinting, IEEE TRANSACTIONS ON MULTIMEDIA, VOL. 8, NO. 4, pp. 740-748, AUGUST, 2006.</dc:title>
  <dc:creator>Sun</dc:creator>
  <cp:lastModifiedBy>guo</cp:lastModifiedBy>
  <cp:revision>9</cp:revision>
  <dcterms:created xsi:type="dcterms:W3CDTF">2014-12-15T06:27:51Z</dcterms:created>
  <dcterms:modified xsi:type="dcterms:W3CDTF">2014-12-15T12:34:35Z</dcterms:modified>
</cp:coreProperties>
</file>