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handoutMasterIdLst>
    <p:handoutMasterId r:id="rId18"/>
  </p:handoutMasterIdLst>
  <p:sldIdLst>
    <p:sldId id="256" r:id="rId2"/>
    <p:sldId id="308" r:id="rId3"/>
    <p:sldId id="309" r:id="rId4"/>
    <p:sldId id="310" r:id="rId5"/>
    <p:sldId id="311" r:id="rId6"/>
    <p:sldId id="315" r:id="rId7"/>
    <p:sldId id="316" r:id="rId8"/>
    <p:sldId id="328" r:id="rId9"/>
    <p:sldId id="317" r:id="rId10"/>
    <p:sldId id="329" r:id="rId11"/>
    <p:sldId id="330" r:id="rId12"/>
    <p:sldId id="322" r:id="rId13"/>
    <p:sldId id="323" r:id="rId14"/>
    <p:sldId id="325" r:id="rId15"/>
    <p:sldId id="326" r:id="rId16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FFFFFF"/>
    <a:srgbClr val="0000FF"/>
    <a:srgbClr val="7B93DF"/>
    <a:srgbClr val="6F84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8FB837D-C827-4EFA-A057-4D05807E0F7C}" styleName="佈景主題樣式 1 - 輔色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9012ECD-51FC-41F1-AA8D-1B2483CD663E}" styleName="淺色樣式 2 - 輔色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中等深淺樣式 1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淺色樣式 1 - 輔色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淺色樣式 1 - 輔色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淺色樣式 3 - 輔色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中等深淺樣式 1 - 輔色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42" autoAdjust="0"/>
    <p:restoredTop sz="96793" autoAdjust="0"/>
  </p:normalViewPr>
  <p:slideViewPr>
    <p:cSldViewPr>
      <p:cViewPr varScale="1">
        <p:scale>
          <a:sx n="83" d="100"/>
          <a:sy n="83" d="100"/>
        </p:scale>
        <p:origin x="90" y="7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966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8" d="100"/>
          <a:sy n="88" d="100"/>
        </p:scale>
        <p:origin x="3822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A1E9FC-490C-4865-A082-2CA8BB7D5A91}" type="datetimeFigureOut">
              <a:rPr lang="zh-TW" altLang="en-US" smtClean="0"/>
              <a:t>2014/3/24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BA81C7-1ECC-4CF7-ABF1-426C762021B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910503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2458AF-C11A-4B8D-B5DF-F124E30CB17B}" type="datetimeFigureOut">
              <a:rPr lang="zh-TW" altLang="en-US" smtClean="0"/>
              <a:t>2014/3/24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879042-3193-49F2-8086-409E581C9D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13517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879042-3193-49F2-8086-409E581C9D3A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979989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1242392" y="1556792"/>
            <a:ext cx="6858000" cy="1440160"/>
          </a:xfrm>
        </p:spPr>
        <p:txBody>
          <a:bodyPr anchor="t" anchorCtr="0"/>
          <a:lstStyle>
            <a:lvl1pPr algn="r">
              <a:defRPr sz="3200" b="1">
                <a:solidFill>
                  <a:schemeClr val="tx1"/>
                </a:solidFill>
              </a:defRPr>
            </a:lvl1pPr>
          </a:lstStyle>
          <a:p>
            <a:r>
              <a:rPr kumimoji="0" lang="zh-TW" altLang="en-US" dirty="0" smtClean="0"/>
              <a:t>按一下以編輯母片標題樣式</a:t>
            </a:r>
            <a:endParaRPr kumimoji="0" lang="en-US" dirty="0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1219200" y="3228979"/>
            <a:ext cx="6858000" cy="2200243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 smtClean="0"/>
              <a:t>按一下以編輯母片副標題樣式</a:t>
            </a:r>
            <a:endParaRPr kumimoji="0" lang="en-US"/>
          </a:p>
        </p:txBody>
      </p:sp>
      <p:sp>
        <p:nvSpPr>
          <p:cNvPr id="28" name="日期版面配置區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49332FA7-A15B-4166-A1DC-D7D16AA524C9}" type="datetime1">
              <a:rPr lang="zh-TW" altLang="en-US" smtClean="0"/>
              <a:t>2014/3/24</a:t>
            </a:fld>
            <a:endParaRPr lang="zh-TW" altLang="en-US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29" name="投影片編號版面配置區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61A04B93-F247-42E5-95CE-B8478AD23DB7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21" name="矩形 20"/>
          <p:cNvSpPr/>
          <p:nvPr/>
        </p:nvSpPr>
        <p:spPr>
          <a:xfrm>
            <a:off x="904875" y="980728"/>
            <a:ext cx="7315200" cy="2088232"/>
          </a:xfrm>
          <a:prstGeom prst="rect">
            <a:avLst/>
          </a:prstGeom>
          <a:noFill/>
          <a:ln w="6350" cap="rnd" cmpd="sng" algn="ctr">
            <a:solidFill>
              <a:schemeClr val="accent1">
                <a:lumMod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矩形 32"/>
          <p:cNvSpPr/>
          <p:nvPr/>
        </p:nvSpPr>
        <p:spPr>
          <a:xfrm>
            <a:off x="914400" y="3140968"/>
            <a:ext cx="7305675" cy="2376264"/>
          </a:xfrm>
          <a:prstGeom prst="rect">
            <a:avLst/>
          </a:prstGeom>
          <a:noFill/>
          <a:ln w="6350" cap="rnd" cmpd="sng" algn="ctr">
            <a:solidFill>
              <a:schemeClr val="accent3">
                <a:lumMod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矩形 21"/>
          <p:cNvSpPr/>
          <p:nvPr/>
        </p:nvSpPr>
        <p:spPr>
          <a:xfrm>
            <a:off x="904875" y="980728"/>
            <a:ext cx="228600" cy="208823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矩形 31"/>
          <p:cNvSpPr/>
          <p:nvPr/>
        </p:nvSpPr>
        <p:spPr>
          <a:xfrm>
            <a:off x="904875" y="3140968"/>
            <a:ext cx="238125" cy="2376264"/>
          </a:xfrm>
          <a:prstGeom prst="rect">
            <a:avLst/>
          </a:prstGeom>
          <a:solidFill>
            <a:schemeClr val="accent3">
              <a:lumMod val="75000"/>
            </a:schemeClr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latin typeface="+mj-lt"/>
                <a:ea typeface="微軟正黑體" panose="020B0604030504040204" pitchFamily="34" charset="-120"/>
              </a:defRPr>
            </a:lvl1pPr>
          </a:lstStyle>
          <a:p>
            <a:r>
              <a:rPr kumimoji="0" lang="zh-TW" altLang="en-US" dirty="0" smtClean="0"/>
              <a:t>按一下以編輯母片標題樣式</a:t>
            </a:r>
            <a:endParaRPr kumimoji="0" 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2A80F149-3CBC-4A5B-81A9-952F83998E03}" type="datetime1">
              <a:rPr lang="zh-TW" altLang="en-US" smtClean="0"/>
              <a:t>2014/3/24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61A04B93-F247-42E5-95CE-B8478AD23DB7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內容版面配置區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>
            <a:lvl1pPr>
              <a:defRPr>
                <a:latin typeface="+mj-lt"/>
                <a:ea typeface="微軟正黑體" panose="020B0604030504040204" pitchFamily="34" charset="-120"/>
              </a:defRPr>
            </a:lvl1pPr>
            <a:lvl2pPr>
              <a:defRPr>
                <a:latin typeface="+mj-lt"/>
                <a:ea typeface="微軟正黑體" panose="020B0604030504040204" pitchFamily="34" charset="-120"/>
              </a:defRPr>
            </a:lvl2pPr>
            <a:lvl3pPr>
              <a:defRPr>
                <a:latin typeface="+mj-lt"/>
                <a:ea typeface="微軟正黑體" panose="020B0604030504040204" pitchFamily="34" charset="-120"/>
              </a:defRPr>
            </a:lvl3pPr>
            <a:lvl4pPr>
              <a:defRPr>
                <a:latin typeface="+mj-lt"/>
                <a:ea typeface="微軟正黑體" panose="020B0604030504040204" pitchFamily="34" charset="-120"/>
              </a:defRPr>
            </a:lvl4pPr>
            <a:lvl5pPr>
              <a:defRPr>
                <a:latin typeface="+mj-lt"/>
                <a:ea typeface="微軟正黑體" panose="020B0604030504040204" pitchFamily="34" charset="-120"/>
              </a:defRPr>
            </a:lvl5pPr>
          </a:lstStyle>
          <a:p>
            <a:pPr lvl="0" eaLnBrk="1" latinLnBrk="0" hangingPunct="1"/>
            <a:r>
              <a:rPr lang="zh-TW" altLang="en-US" dirty="0" smtClean="0"/>
              <a:t>按一下以編輯母片文字樣式</a:t>
            </a:r>
          </a:p>
          <a:p>
            <a:pPr lvl="1" eaLnBrk="1" latinLnBrk="0" hangingPunct="1"/>
            <a:r>
              <a:rPr lang="zh-TW" altLang="en-US" dirty="0" smtClean="0"/>
              <a:t>第二層</a:t>
            </a:r>
          </a:p>
          <a:p>
            <a:pPr lvl="2" eaLnBrk="1" latinLnBrk="0" hangingPunct="1"/>
            <a:r>
              <a:rPr lang="zh-TW" altLang="en-US" dirty="0" smtClean="0"/>
              <a:t>第三層</a:t>
            </a:r>
          </a:p>
          <a:p>
            <a:pPr lvl="3" eaLnBrk="1" latinLnBrk="0" hangingPunct="1"/>
            <a:r>
              <a:rPr lang="zh-TW" altLang="en-US" dirty="0" smtClean="0"/>
              <a:t>第四層</a:t>
            </a:r>
          </a:p>
          <a:p>
            <a:pPr lvl="4" eaLnBrk="1" latinLnBrk="0" hangingPunct="1"/>
            <a:r>
              <a:rPr lang="zh-TW" altLang="en-US" dirty="0" smtClean="0"/>
              <a:t>第五層</a:t>
            </a:r>
            <a:endParaRPr kumimoji="0"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zh-TW" altLang="en-US" dirty="0" smtClean="0"/>
              <a:t>按一下以編輯母片標題樣式</a:t>
            </a:r>
            <a:endParaRPr kumimoji="0" 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545DF8FB-30B2-4D52-8FD8-18FC72F7579D}" type="datetime1">
              <a:rPr lang="zh-TW" altLang="en-US" smtClean="0"/>
              <a:t>2014/3/24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61A04B93-F247-42E5-95CE-B8478AD23DB7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17169-0A5E-4BF8-AA5B-F7C651BDFF5C}" type="datetime1">
              <a:rPr lang="zh-TW" altLang="en-US" smtClean="0"/>
              <a:t>2014/3/24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9" name="內容版面配置區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11" name="內容版面配置區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EF9DE-6128-4588-9816-0BB3E982B4C0}" type="datetime1">
              <a:rPr lang="zh-TW" altLang="en-US" smtClean="0"/>
              <a:t>2014/3/24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1" name="內容版面配置區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13" name="內容版面配置區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1049C-8CD5-4921-9EEA-F966DF0034E1}" type="datetime1">
              <a:rPr lang="zh-TW" altLang="en-US" smtClean="0"/>
              <a:t>2014/3/24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6" name="等腰三角形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EC912-A51D-47EA-9FC4-BB3549732B2F}" type="datetime1">
              <a:rPr lang="zh-TW" altLang="en-US" smtClean="0"/>
              <a:t>2014/3/24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5" name="直線接點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等腰三角形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13A7A-7B8B-43B9-A158-9B008191095F}" type="datetime1">
              <a:rPr lang="zh-TW" altLang="en-US" smtClean="0"/>
              <a:t>2014/3/24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" name="直線接點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直線接點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等腰三角形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內容版面配置區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zh-TW" altLang="en-US" smtClean="0"/>
              <a:t>按一下圖示以新增圖片</a:t>
            </a:r>
            <a:endParaRPr kumimoji="0"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0D30E-3BD9-4A18-BD8B-AFC2A09AE9ED}" type="datetime1">
              <a:rPr lang="zh-TW" altLang="en-US" smtClean="0"/>
              <a:t>2014/3/24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" name="直線接點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等腰三角形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284AA-1BC8-44CC-BC2E-168710872FC0}" type="datetime1">
              <a:rPr lang="zh-TW" altLang="en-US" smtClean="0"/>
              <a:t>2014/3/24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E911C-47F3-4CD9-A2EE-C6C5F4FF2345}" type="datetime1">
              <a:rPr lang="zh-TW" altLang="en-US" smtClean="0"/>
              <a:t>2014/3/24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7" name="直線接點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等腰三角形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直線接點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2000" y="533400"/>
            <a:ext cx="7620000" cy="769938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762000" y="1524000"/>
            <a:ext cx="7772400" cy="41148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9144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88C5F4BC-8D99-4BE8-B13E-7ECC42E9DEFD}" type="datetime1">
              <a:rPr lang="zh-TW" altLang="en-US" smtClean="0"/>
              <a:t>2014/3/24</a:t>
            </a:fld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2362200" y="6324600"/>
            <a:ext cx="4876800" cy="457200"/>
          </a:xfrm>
        </p:spPr>
        <p:txBody>
          <a:bodyPr/>
          <a:lstStyle>
            <a:lvl1pPr>
              <a:defRPr/>
            </a:lvl1pPr>
          </a:lstStyle>
          <a:p>
            <a:endParaRPr lang="zh-TW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TW"/>
              <a:t>4 -</a:t>
            </a:r>
            <a:fld id="{D006B8F7-737D-4A54-86E7-4A80C1E61F93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173615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zh-TW" altLang="en-US" dirty="0" smtClean="0"/>
              <a:t>按一下以編輯母片標題樣式</a:t>
            </a:r>
            <a:endParaRPr kumimoji="0" lang="en-US" dirty="0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 dirty="0" smtClean="0"/>
              <a:t>按一下以編輯母片文字樣式</a:t>
            </a:r>
          </a:p>
          <a:p>
            <a:pPr lvl="1" eaLnBrk="1" latinLnBrk="0" hangingPunct="1"/>
            <a:r>
              <a:rPr kumimoji="0" lang="zh-TW" altLang="en-US" dirty="0" smtClean="0"/>
              <a:t>第二層</a:t>
            </a:r>
          </a:p>
          <a:p>
            <a:pPr lvl="2" eaLnBrk="1" latinLnBrk="0" hangingPunct="1"/>
            <a:r>
              <a:rPr kumimoji="0" lang="zh-TW" altLang="en-US" dirty="0" smtClean="0"/>
              <a:t>第三層</a:t>
            </a:r>
          </a:p>
          <a:p>
            <a:pPr lvl="3" eaLnBrk="1" latinLnBrk="0" hangingPunct="1"/>
            <a:r>
              <a:rPr kumimoji="0" lang="zh-TW" altLang="en-US" dirty="0" smtClean="0"/>
              <a:t>第四層</a:t>
            </a:r>
          </a:p>
          <a:p>
            <a:pPr lvl="4" eaLnBrk="1" latinLnBrk="0" hangingPunct="1"/>
            <a:r>
              <a:rPr kumimoji="0" lang="zh-TW" altLang="en-US" dirty="0" smtClean="0"/>
              <a:t>第五層</a:t>
            </a:r>
            <a:endParaRPr kumimoji="0" lang="en-US" dirty="0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74DAA889-071E-4936-830B-F7BEBEDD3C21}" type="datetime1">
              <a:rPr lang="zh-TW" altLang="en-US" smtClean="0"/>
              <a:t>2014/3/24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61A04B93-F247-42E5-95CE-B8478AD23DB7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28" name="直線接點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直線接點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等腰三角形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iming>
    <p:tnLst>
      <p:par>
        <p:cTn id="1" dur="indefinite" restart="never" nodeType="tmRoot"/>
      </p:par>
    </p:tnLst>
  </p:timing>
  <p:hf hdr="0" ftr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6.png"/><Relationship Id="rId4" Type="http://schemas.openxmlformats.org/officeDocument/2006/relationships/image" Target="../media/image5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242392" y="1052736"/>
            <a:ext cx="6858000" cy="1944216"/>
          </a:xfrm>
        </p:spPr>
        <p:txBody>
          <a:bodyPr>
            <a:noAutofit/>
          </a:bodyPr>
          <a:lstStyle/>
          <a:p>
            <a:pPr algn="l"/>
            <a:r>
              <a:rPr lang="en-US" altLang="zh-TW" dirty="0">
                <a:solidFill>
                  <a:schemeClr val="tx2">
                    <a:satMod val="130000"/>
                  </a:schemeClr>
                </a:solidFill>
                <a:cs typeface="Times New Roman" pitchFamily="18" charset="0"/>
              </a:rPr>
              <a:t>Protein Backbone Reconstruction with Tool Preference </a:t>
            </a:r>
            <a:r>
              <a:rPr lang="en-US" altLang="zh-TW" dirty="0" smtClean="0">
                <a:solidFill>
                  <a:schemeClr val="tx2">
                    <a:satMod val="130000"/>
                  </a:schemeClr>
                </a:solidFill>
                <a:cs typeface="Times New Roman" pitchFamily="18" charset="0"/>
              </a:rPr>
              <a:t>Classification and Feature Selection</a:t>
            </a:r>
            <a:r>
              <a:rPr lang="en-US" altLang="zh-TW" dirty="0"/>
              <a:t/>
            </a:r>
            <a:br>
              <a:rPr lang="en-US" altLang="zh-TW" dirty="0"/>
            </a:br>
            <a:endParaRPr lang="zh-TW" altLang="en-US" sz="2000" dirty="0">
              <a:ea typeface="微軟正黑體" pitchFamily="34" charset="-12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219200" y="3228979"/>
            <a:ext cx="6858000" cy="2144237"/>
          </a:xfrm>
        </p:spPr>
        <p:txBody>
          <a:bodyPr>
            <a:noAutofit/>
          </a:bodyPr>
          <a:lstStyle/>
          <a:p>
            <a:pPr algn="l"/>
            <a:r>
              <a:rPr lang="en-US" altLang="zh-TW" sz="2400" dirty="0" smtClean="0">
                <a:solidFill>
                  <a:schemeClr val="tx1"/>
                </a:solidFill>
                <a:latin typeface="+mn-lt"/>
              </a:rPr>
              <a:t>Student</a:t>
            </a:r>
            <a:r>
              <a:rPr lang="en-US" altLang="zh-TW" sz="2400" dirty="0" smtClean="0">
                <a:latin typeface="+mn-lt"/>
                <a:cs typeface="Times New Roman" panose="02020603050405020304" pitchFamily="18" charset="0"/>
              </a:rPr>
              <a:t>: </a:t>
            </a:r>
            <a:r>
              <a:rPr lang="en-US" altLang="zh-TW" sz="2400" dirty="0" smtClean="0">
                <a:solidFill>
                  <a:schemeClr val="tx1"/>
                </a:solidFill>
                <a:latin typeface="+mn-lt"/>
              </a:rPr>
              <a:t>Hsin-Chuan Yuan</a:t>
            </a:r>
            <a:r>
              <a:rPr lang="zh-TW" altLang="en-US" sz="24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altLang="zh-TW" sz="2400" dirty="0" smtClean="0">
                <a:solidFill>
                  <a:schemeClr val="tx1"/>
                </a:solidFill>
                <a:latin typeface="+mn-lt"/>
              </a:rPr>
              <a:t>(</a:t>
            </a:r>
            <a:r>
              <a:rPr lang="zh-TW" altLang="en-US" sz="2400" dirty="0">
                <a:latin typeface="+mn-lt"/>
                <a:ea typeface="標楷體" panose="03000509000000000000" pitchFamily="65" charset="-120"/>
              </a:rPr>
              <a:t>袁信全</a:t>
            </a:r>
            <a:r>
              <a:rPr lang="en-US" altLang="zh-TW" sz="2400" dirty="0" smtClean="0">
                <a:solidFill>
                  <a:schemeClr val="tx1"/>
                </a:solidFill>
                <a:latin typeface="+mn-lt"/>
              </a:rPr>
              <a:t>)</a:t>
            </a:r>
          </a:p>
          <a:p>
            <a:pPr algn="l"/>
            <a:r>
              <a:rPr lang="en-US" altLang="zh-TW" sz="2400" dirty="0">
                <a:latin typeface="+mn-lt"/>
                <a:cs typeface="Times New Roman" panose="02020603050405020304" pitchFamily="18" charset="0"/>
              </a:rPr>
              <a:t>Advisor: </a:t>
            </a:r>
            <a:r>
              <a:rPr lang="en-US" altLang="zh-TW" sz="2400" dirty="0">
                <a:latin typeface="+mn-lt"/>
                <a:ea typeface="標楷體" panose="03000509000000000000" pitchFamily="65" charset="-120"/>
              </a:rPr>
              <a:t>Prof. Chang-</a:t>
            </a:r>
            <a:r>
              <a:rPr lang="en-US" altLang="zh-TW" sz="2400" dirty="0" err="1">
                <a:latin typeface="+mn-lt"/>
                <a:ea typeface="標楷體" panose="03000509000000000000" pitchFamily="65" charset="-120"/>
              </a:rPr>
              <a:t>Biau</a:t>
            </a:r>
            <a:r>
              <a:rPr lang="en-US" altLang="zh-TW" sz="2400" dirty="0">
                <a:latin typeface="+mn-lt"/>
                <a:ea typeface="標楷體" panose="03000509000000000000" pitchFamily="65" charset="-120"/>
              </a:rPr>
              <a:t> </a:t>
            </a:r>
            <a:r>
              <a:rPr lang="en-US" altLang="zh-TW" sz="2400" dirty="0" smtClean="0">
                <a:latin typeface="+mn-lt"/>
                <a:ea typeface="標楷體" panose="03000509000000000000" pitchFamily="65" charset="-120"/>
              </a:rPr>
              <a:t>Yang</a:t>
            </a:r>
            <a:r>
              <a:rPr lang="zh-TW" altLang="en-US" sz="2400" dirty="0" smtClean="0">
                <a:latin typeface="+mn-lt"/>
                <a:ea typeface="標楷體" panose="03000509000000000000" pitchFamily="65" charset="-120"/>
              </a:rPr>
              <a:t> </a:t>
            </a:r>
            <a:r>
              <a:rPr lang="en-US" altLang="zh-TW" sz="2400" dirty="0" smtClean="0">
                <a:latin typeface="+mn-lt"/>
                <a:ea typeface="標楷體" panose="03000509000000000000" pitchFamily="65" charset="-120"/>
              </a:rPr>
              <a:t>(</a:t>
            </a:r>
            <a:r>
              <a:rPr lang="zh-TW" altLang="en-US" sz="2400" dirty="0" smtClean="0">
                <a:latin typeface="+mn-lt"/>
                <a:ea typeface="標楷體" panose="03000509000000000000" pitchFamily="65" charset="-120"/>
              </a:rPr>
              <a:t>楊昌彪</a:t>
            </a:r>
            <a:r>
              <a:rPr lang="en-US" altLang="zh-TW" sz="2400" dirty="0" smtClean="0">
                <a:latin typeface="+mn-lt"/>
                <a:ea typeface="標楷體" panose="03000509000000000000" pitchFamily="65" charset="-120"/>
              </a:rPr>
              <a:t>)</a:t>
            </a:r>
          </a:p>
          <a:p>
            <a:pPr algn="l"/>
            <a:r>
              <a:rPr lang="en-US" altLang="zh-TW" sz="2400" dirty="0" smtClean="0">
                <a:latin typeface="+mn-lt"/>
                <a:ea typeface="標楷體" panose="03000509000000000000" pitchFamily="65" charset="-120"/>
              </a:rPr>
              <a:t>Date: March 24, 2014</a:t>
            </a:r>
            <a:endParaRPr lang="zh-TW" altLang="en-US" sz="24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>
                <a:latin typeface="+mj-ea"/>
                <a:ea typeface="+mj-ea"/>
              </a:rPr>
              <a:t>2014/3/24</a:t>
            </a:r>
            <a:endParaRPr lang="zh-TW" altLang="en-US" dirty="0">
              <a:latin typeface="+mj-ea"/>
              <a:ea typeface="+mj-ea"/>
            </a:endParaRPr>
          </a:p>
        </p:txBody>
      </p:sp>
      <p:sp>
        <p:nvSpPr>
          <p:cNvPr id="6" name="副標題 2"/>
          <p:cNvSpPr txBox="1">
            <a:spLocks/>
          </p:cNvSpPr>
          <p:nvPr/>
        </p:nvSpPr>
        <p:spPr>
          <a:xfrm>
            <a:off x="1259632" y="5649613"/>
            <a:ext cx="6817568" cy="413196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 algn="r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None/>
              <a:defRPr kumimoji="0" sz="2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None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None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None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None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None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None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None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878209D2-26D0-4742-8CF9-8E6B7D860B29}" type="slidenum">
              <a:rPr lang="zh-TW" altLang="en-US" sz="2400" smtClean="0">
                <a:solidFill>
                  <a:schemeClr val="tx1"/>
                </a:solidFill>
              </a:rPr>
              <a:t>1</a:t>
            </a:fld>
            <a:endParaRPr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t>1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63136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標題 1"/>
          <p:cNvSpPr>
            <a:spLocks noGrp="1"/>
          </p:cNvSpPr>
          <p:nvPr>
            <p:ph type="title"/>
          </p:nvPr>
        </p:nvSpPr>
        <p:spPr>
          <a:xfrm>
            <a:off x="571500" y="285750"/>
            <a:ext cx="7648575" cy="928688"/>
          </a:xfrm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 smtClean="0">
                <a:solidFill>
                  <a:schemeClr val="tx2">
                    <a:satMod val="130000"/>
                  </a:schemeClr>
                </a:solidFill>
                <a:latin typeface="+mj-lt"/>
                <a:cs typeface="Times New Roman" pitchFamily="18" charset="0"/>
              </a:rPr>
              <a:t>Introduction (1/3)</a:t>
            </a:r>
            <a:endParaRPr lang="zh-TW" altLang="en-US" dirty="0" smtClean="0">
              <a:solidFill>
                <a:schemeClr val="tx2">
                  <a:satMod val="130000"/>
                </a:schemeClr>
              </a:solidFill>
              <a:latin typeface="+mj-lt"/>
              <a:cs typeface="Times New Roman" pitchFamily="18" charset="0"/>
            </a:endParaRPr>
          </a:p>
        </p:txBody>
      </p:sp>
      <p:sp>
        <p:nvSpPr>
          <p:cNvPr id="7171" name="內容版面配置區 2"/>
          <p:cNvSpPr>
            <a:spLocks noGrp="1"/>
          </p:cNvSpPr>
          <p:nvPr>
            <p:ph idx="1"/>
          </p:nvPr>
        </p:nvSpPr>
        <p:spPr>
          <a:xfrm>
            <a:off x="571500" y="1285875"/>
            <a:ext cx="8362950" cy="1000125"/>
          </a:xfrm>
        </p:spPr>
        <p:txBody>
          <a:bodyPr/>
          <a:lstStyle/>
          <a:p>
            <a:r>
              <a:rPr lang="en-US" altLang="zh-TW" sz="2700" dirty="0" smtClean="0">
                <a:latin typeface="+mj-lt"/>
                <a:cs typeface="Times New Roman" panose="02020603050405020304" pitchFamily="18" charset="0"/>
              </a:rPr>
              <a:t>A protein is a consecutive 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zh-TW" sz="2700" dirty="0" smtClean="0">
                <a:latin typeface="+mj-lt"/>
                <a:cs typeface="Times New Roman" panose="02020603050405020304" pitchFamily="18" charset="0"/>
              </a:rPr>
              <a:t>   chain of amino acids.</a:t>
            </a:r>
          </a:p>
          <a:p>
            <a:pPr>
              <a:buFont typeface="Wingdings 2" panose="05020102010507070707" pitchFamily="18" charset="2"/>
              <a:buNone/>
            </a:pPr>
            <a:endParaRPr lang="zh-TW" altLang="en-US" sz="2700" dirty="0" smtClean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851A24BB-DCE6-4956-8107-5DCB428DD48C}" type="slidenum">
              <a:rPr kumimoji="0" lang="zh-TW" altLang="en-US">
                <a:solidFill>
                  <a:srgbClr val="045C75"/>
                </a:solidFill>
                <a:latin typeface="+mj-lt"/>
              </a:rPr>
              <a:pPr eaLnBrk="1" hangingPunct="1"/>
              <a:t>2</a:t>
            </a:fld>
            <a:endParaRPr kumimoji="0" lang="zh-TW" altLang="en-US">
              <a:solidFill>
                <a:srgbClr val="045C75"/>
              </a:solidFill>
              <a:latin typeface="+mj-lt"/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1278150"/>
              </p:ext>
            </p:extLst>
          </p:nvPr>
        </p:nvGraphicFramePr>
        <p:xfrm>
          <a:off x="5427051" y="214313"/>
          <a:ext cx="3714750" cy="6134110"/>
        </p:xfrm>
        <a:graphic>
          <a:graphicData uri="http://schemas.openxmlformats.org/drawingml/2006/table">
            <a:tbl>
              <a:tblPr>
                <a:tableStyleId>{0E3FDE45-AF77-4B5C-9715-49D594BDF05E}</a:tableStyleId>
              </a:tblPr>
              <a:tblGrid>
                <a:gridCol w="320675"/>
                <a:gridCol w="1136650"/>
                <a:gridCol w="1092200"/>
                <a:gridCol w="1165225"/>
              </a:tblGrid>
              <a:tr h="6413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3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 Amino Acid</a:t>
                      </a:r>
                      <a:endParaRPr kumimoji="0" lang="zh-TW" altLang="en-US" sz="13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One-letter Abbreviation</a:t>
                      </a:r>
                      <a:endParaRPr kumimoji="0" lang="zh-TW" altLang="en-US" sz="13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Three-letter Abbreviation</a:t>
                      </a:r>
                      <a:endParaRPr kumimoji="0" lang="zh-TW" altLang="en-US" sz="13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solidFill>
                      <a:schemeClr val="bg1"/>
                    </a:solidFill>
                  </a:tcPr>
                </a:tc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en-US" altLang="zh-TW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  Alanine 	</a:t>
                      </a:r>
                      <a:endParaRPr kumimoji="0" lang="en-US" altLang="zh-TW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A</a:t>
                      </a:r>
                      <a:endParaRPr kumimoji="0" lang="zh-TW" altLang="en-US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Ala</a:t>
                      </a:r>
                      <a:endParaRPr kumimoji="0" lang="zh-TW" altLang="en-US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solidFill>
                      <a:schemeClr val="bg1"/>
                    </a:solidFill>
                  </a:tcPr>
                </a:tc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en-US" altLang="zh-TW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 Cysteine 	</a:t>
                      </a:r>
                      <a:endParaRPr kumimoji="0" lang="en-US" altLang="zh-TW" sz="13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C</a:t>
                      </a:r>
                      <a:endParaRPr kumimoji="0" lang="zh-TW" altLang="en-US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Cys</a:t>
                      </a:r>
                      <a:endParaRPr kumimoji="0" lang="zh-TW" altLang="en-US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solidFill>
                      <a:schemeClr val="bg1"/>
                    </a:solidFill>
                  </a:tcPr>
                </a:tc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3</a:t>
                      </a:r>
                      <a:endParaRPr kumimoji="0" lang="en-US" altLang="zh-TW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 Aspartic Acid </a:t>
                      </a:r>
                      <a:endParaRPr kumimoji="0" lang="en-US" altLang="zh-TW" sz="13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D</a:t>
                      </a:r>
                      <a:endParaRPr kumimoji="0" lang="zh-TW" altLang="en-US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Asp</a:t>
                      </a:r>
                      <a:endParaRPr kumimoji="0" lang="zh-TW" altLang="en-US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solidFill>
                      <a:schemeClr val="bg1"/>
                    </a:solidFill>
                  </a:tcPr>
                </a:tc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4</a:t>
                      </a:r>
                      <a:endParaRPr kumimoji="0" lang="en-US" altLang="zh-TW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  Glutamic Acid </a:t>
                      </a:r>
                      <a:endParaRPr kumimoji="0" lang="en-US" altLang="zh-TW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E</a:t>
                      </a:r>
                      <a:endParaRPr kumimoji="0" lang="zh-TW" altLang="en-US" sz="13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Glu</a:t>
                      </a:r>
                      <a:endParaRPr kumimoji="0" lang="zh-TW" altLang="en-US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solidFill>
                      <a:schemeClr val="bg1"/>
                    </a:solidFill>
                  </a:tcPr>
                </a:tc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5</a:t>
                      </a:r>
                      <a:endParaRPr kumimoji="0" lang="en-US" altLang="zh-TW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  Phenylalanine</a:t>
                      </a:r>
                      <a:endParaRPr kumimoji="0" lang="en-US" altLang="zh-TW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F</a:t>
                      </a:r>
                      <a:endParaRPr kumimoji="0" lang="zh-TW" altLang="en-US" sz="13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Phe</a:t>
                      </a:r>
                      <a:endParaRPr kumimoji="0" lang="zh-TW" altLang="en-US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solidFill>
                      <a:schemeClr val="bg1"/>
                    </a:solidFill>
                  </a:tcPr>
                </a:tc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6</a:t>
                      </a:r>
                      <a:endParaRPr kumimoji="0" lang="en-US" altLang="zh-TW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  Glycine </a:t>
                      </a:r>
                      <a:endParaRPr kumimoji="0" lang="en-US" altLang="zh-TW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G</a:t>
                      </a:r>
                      <a:endParaRPr kumimoji="0" lang="zh-TW" altLang="en-US" sz="13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Gly</a:t>
                      </a:r>
                      <a:endParaRPr kumimoji="0" lang="zh-TW" altLang="en-US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solidFill>
                      <a:schemeClr val="bg1"/>
                    </a:solidFill>
                  </a:tcPr>
                </a:tc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7</a:t>
                      </a:r>
                      <a:endParaRPr kumimoji="0" lang="en-US" altLang="zh-TW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  Histidine 	</a:t>
                      </a:r>
                      <a:endParaRPr kumimoji="0" lang="en-US" altLang="zh-TW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H</a:t>
                      </a:r>
                      <a:endParaRPr kumimoji="0" lang="zh-TW" altLang="en-US" sz="13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His</a:t>
                      </a:r>
                      <a:endParaRPr kumimoji="0" lang="zh-TW" altLang="en-US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solidFill>
                      <a:schemeClr val="bg1"/>
                    </a:solidFill>
                  </a:tcPr>
                </a:tc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8</a:t>
                      </a:r>
                      <a:endParaRPr kumimoji="0" lang="en-US" altLang="zh-TW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  Isoleucine 	</a:t>
                      </a:r>
                      <a:endParaRPr kumimoji="0" lang="en-US" altLang="zh-TW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I</a:t>
                      </a:r>
                      <a:endParaRPr kumimoji="0" lang="zh-TW" altLang="en-US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Ile</a:t>
                      </a:r>
                      <a:endParaRPr kumimoji="0" lang="zh-TW" altLang="en-US" sz="13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solidFill>
                      <a:schemeClr val="bg1"/>
                    </a:solidFill>
                  </a:tcPr>
                </a:tc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9</a:t>
                      </a:r>
                      <a:endParaRPr kumimoji="0" lang="en-US" altLang="zh-TW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  Lysine 	</a:t>
                      </a:r>
                      <a:endParaRPr kumimoji="0" lang="en-US" altLang="zh-TW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K</a:t>
                      </a:r>
                      <a:endParaRPr kumimoji="0" lang="zh-TW" altLang="en-US" sz="13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Lys</a:t>
                      </a:r>
                      <a:endParaRPr kumimoji="0" lang="zh-TW" altLang="en-US" sz="13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solidFill>
                      <a:schemeClr val="bg1"/>
                    </a:solidFill>
                  </a:tcPr>
                </a:tc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10</a:t>
                      </a:r>
                      <a:endParaRPr kumimoji="0" lang="en-US" altLang="zh-TW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  Leucine 	</a:t>
                      </a:r>
                      <a:endParaRPr kumimoji="0" lang="en-US" altLang="zh-TW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L</a:t>
                      </a:r>
                      <a:endParaRPr kumimoji="0" lang="zh-TW" altLang="en-US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Leu</a:t>
                      </a:r>
                      <a:endParaRPr kumimoji="0" lang="zh-TW" altLang="en-US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solidFill>
                      <a:schemeClr val="bg1"/>
                    </a:solidFill>
                  </a:tcPr>
                </a:tc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11</a:t>
                      </a:r>
                      <a:endParaRPr kumimoji="0" lang="en-US" altLang="zh-TW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  Methionine </a:t>
                      </a:r>
                      <a:endParaRPr kumimoji="0" lang="en-US" altLang="zh-TW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M</a:t>
                      </a:r>
                      <a:endParaRPr kumimoji="0" lang="zh-TW" altLang="en-US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Met</a:t>
                      </a:r>
                      <a:endParaRPr kumimoji="0" lang="zh-TW" altLang="en-US" sz="13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solidFill>
                      <a:schemeClr val="bg1"/>
                    </a:solidFill>
                  </a:tcPr>
                </a:tc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12</a:t>
                      </a:r>
                      <a:endParaRPr kumimoji="0" lang="en-US" altLang="zh-TW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  Asparagine </a:t>
                      </a:r>
                      <a:endParaRPr kumimoji="0" lang="en-US" altLang="zh-TW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N</a:t>
                      </a:r>
                      <a:endParaRPr kumimoji="0" lang="zh-TW" altLang="en-US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Asn</a:t>
                      </a:r>
                      <a:endParaRPr kumimoji="0" lang="zh-TW" altLang="en-US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solidFill>
                      <a:schemeClr val="bg1"/>
                    </a:solidFill>
                  </a:tcPr>
                </a:tc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13</a:t>
                      </a:r>
                      <a:endParaRPr kumimoji="0" lang="en-US" altLang="zh-TW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  Proline 	</a:t>
                      </a:r>
                      <a:endParaRPr kumimoji="0" lang="en-US" altLang="zh-TW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P</a:t>
                      </a:r>
                      <a:endParaRPr kumimoji="0" lang="zh-TW" altLang="en-US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Pro</a:t>
                      </a:r>
                      <a:endParaRPr kumimoji="0" lang="zh-TW" altLang="en-US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solidFill>
                      <a:schemeClr val="bg1"/>
                    </a:solidFill>
                  </a:tcPr>
                </a:tc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14</a:t>
                      </a:r>
                      <a:endParaRPr kumimoji="0" lang="en-US" altLang="zh-TW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  Glutamine 	</a:t>
                      </a:r>
                      <a:endParaRPr kumimoji="0" lang="en-US" altLang="zh-TW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Q</a:t>
                      </a:r>
                      <a:endParaRPr kumimoji="0" lang="zh-TW" altLang="en-US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Gln</a:t>
                      </a:r>
                      <a:endParaRPr kumimoji="0" lang="zh-TW" altLang="en-US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solidFill>
                      <a:schemeClr val="bg1"/>
                    </a:solidFill>
                  </a:tcPr>
                </a:tc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15</a:t>
                      </a:r>
                      <a:endParaRPr kumimoji="0" lang="en-US" altLang="zh-TW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  Arginine 	</a:t>
                      </a:r>
                      <a:endParaRPr kumimoji="0" lang="en-US" altLang="zh-TW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R</a:t>
                      </a:r>
                      <a:endParaRPr kumimoji="0" lang="zh-TW" altLang="en-US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Arg</a:t>
                      </a:r>
                      <a:endParaRPr kumimoji="0" lang="zh-TW" altLang="en-US" sz="13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solidFill>
                      <a:schemeClr val="bg1"/>
                    </a:solidFill>
                  </a:tcPr>
                </a:tc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16</a:t>
                      </a:r>
                      <a:endParaRPr kumimoji="0" lang="en-US" altLang="zh-TW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  Serine 	</a:t>
                      </a:r>
                      <a:endParaRPr kumimoji="0" lang="en-US" altLang="zh-TW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S</a:t>
                      </a:r>
                      <a:endParaRPr kumimoji="0" lang="zh-TW" altLang="en-US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Ser</a:t>
                      </a:r>
                      <a:endParaRPr kumimoji="0" lang="zh-TW" altLang="en-US" sz="13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solidFill>
                      <a:schemeClr val="bg1"/>
                    </a:solidFill>
                  </a:tcPr>
                </a:tc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17</a:t>
                      </a:r>
                      <a:endParaRPr kumimoji="0" lang="en-US" altLang="zh-TW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  Threonine 	</a:t>
                      </a:r>
                      <a:endParaRPr kumimoji="0" lang="en-US" altLang="zh-TW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T</a:t>
                      </a:r>
                      <a:endParaRPr kumimoji="0" lang="zh-TW" altLang="en-US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Thr</a:t>
                      </a:r>
                      <a:endParaRPr kumimoji="0" lang="zh-TW" altLang="en-US" sz="13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solidFill>
                      <a:schemeClr val="bg1"/>
                    </a:solidFill>
                  </a:tcPr>
                </a:tc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18</a:t>
                      </a:r>
                      <a:endParaRPr kumimoji="0" lang="en-US" altLang="zh-TW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  Valine 	</a:t>
                      </a:r>
                      <a:endParaRPr kumimoji="0" lang="en-US" altLang="zh-TW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V</a:t>
                      </a:r>
                      <a:endParaRPr kumimoji="0" lang="zh-TW" altLang="en-US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Val</a:t>
                      </a:r>
                      <a:endParaRPr kumimoji="0" lang="zh-TW" altLang="en-US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solidFill>
                      <a:schemeClr val="bg1"/>
                    </a:solidFill>
                  </a:tcPr>
                </a:tc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19</a:t>
                      </a:r>
                      <a:endParaRPr kumimoji="0" lang="en-US" altLang="zh-TW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  Tryptophan </a:t>
                      </a:r>
                      <a:endParaRPr kumimoji="0" lang="en-US" altLang="zh-TW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W</a:t>
                      </a:r>
                      <a:endParaRPr kumimoji="0" lang="zh-TW" altLang="en-US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Trp</a:t>
                      </a:r>
                      <a:endParaRPr kumimoji="0" lang="zh-TW" altLang="en-US" sz="13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solidFill>
                      <a:schemeClr val="bg1"/>
                    </a:solidFill>
                  </a:tcPr>
                </a:tc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20</a:t>
                      </a:r>
                      <a:endParaRPr kumimoji="0" lang="en-US" altLang="zh-TW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  Tyrosine </a:t>
                      </a:r>
                      <a:endParaRPr kumimoji="0" lang="en-US" altLang="zh-TW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Y</a:t>
                      </a:r>
                      <a:endParaRPr kumimoji="0" lang="zh-TW" altLang="en-US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Tyr</a:t>
                      </a:r>
                      <a:endParaRPr kumimoji="0" lang="zh-TW" altLang="en-US" sz="13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285" name="文字方塊 7"/>
          <p:cNvSpPr txBox="1">
            <a:spLocks noChangeArrowheads="1"/>
          </p:cNvSpPr>
          <p:nvPr/>
        </p:nvSpPr>
        <p:spPr bwMode="auto">
          <a:xfrm>
            <a:off x="1763688" y="5986463"/>
            <a:ext cx="42148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lang="en-US" altLang="zh-TW" dirty="0">
                <a:latin typeface="+mj-lt"/>
                <a:cs typeface="Times New Roman" panose="02020603050405020304" pitchFamily="18" charset="0"/>
              </a:rPr>
              <a:t>The fundamental structure of </a:t>
            </a:r>
            <a:r>
              <a:rPr lang="en-US" altLang="zh-TW" dirty="0" err="1">
                <a:latin typeface="+mj-lt"/>
                <a:cs typeface="Times New Roman" panose="02020603050405020304" pitchFamily="18" charset="0"/>
              </a:rPr>
              <a:t>Valine</a:t>
            </a:r>
            <a:r>
              <a:rPr lang="en-US" altLang="zh-TW" dirty="0">
                <a:latin typeface="+mj-lt"/>
                <a:cs typeface="Times New Roman" panose="02020603050405020304" pitchFamily="18" charset="0"/>
              </a:rPr>
              <a:t>.</a:t>
            </a:r>
            <a:endParaRPr lang="zh-TW" altLang="en-US" dirty="0"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7286" name="Picture 12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907" y="2417763"/>
            <a:ext cx="2214563" cy="218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287" name="Picture 12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7470" y="3894138"/>
            <a:ext cx="1885950" cy="204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87064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標題 1"/>
          <p:cNvSpPr>
            <a:spLocks noGrp="1"/>
          </p:cNvSpPr>
          <p:nvPr>
            <p:ph type="title"/>
          </p:nvPr>
        </p:nvSpPr>
        <p:spPr>
          <a:xfrm>
            <a:off x="857250" y="274638"/>
            <a:ext cx="8077200" cy="939800"/>
          </a:xfrm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 smtClean="0">
                <a:solidFill>
                  <a:schemeClr val="tx2">
                    <a:satMod val="130000"/>
                  </a:schemeClr>
                </a:solidFill>
                <a:latin typeface="+mn-lt"/>
                <a:cs typeface="Times New Roman" pitchFamily="18" charset="0"/>
              </a:rPr>
              <a:t>Introduction (2/3)</a:t>
            </a:r>
            <a:endParaRPr lang="zh-TW" altLang="en-US" dirty="0" smtClean="0">
              <a:solidFill>
                <a:schemeClr val="tx2">
                  <a:satMod val="130000"/>
                </a:schemeClr>
              </a:solidFill>
              <a:latin typeface="+mn-lt"/>
              <a:cs typeface="Times New Roman" pitchFamily="18" charset="0"/>
            </a:endParaRPr>
          </a:p>
        </p:txBody>
      </p:sp>
      <p:sp>
        <p:nvSpPr>
          <p:cNvPr id="8195" name="內容版面配置區 2"/>
          <p:cNvSpPr>
            <a:spLocks noGrp="1"/>
          </p:cNvSpPr>
          <p:nvPr>
            <p:ph idx="1"/>
          </p:nvPr>
        </p:nvSpPr>
        <p:spPr>
          <a:xfrm>
            <a:off x="714375" y="1285875"/>
            <a:ext cx="8220075" cy="5357813"/>
          </a:xfrm>
        </p:spPr>
        <p:txBody>
          <a:bodyPr/>
          <a:lstStyle/>
          <a:p>
            <a:r>
              <a:rPr lang="en-US" altLang="zh-TW" sz="2700" smtClean="0">
                <a:latin typeface="+mn-lt"/>
                <a:cs typeface="Times New Roman" panose="02020603050405020304" pitchFamily="18" charset="0"/>
              </a:rPr>
              <a:t>Peptide bond and backbone</a:t>
            </a: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8EF545FD-5CDB-40AD-9FE3-AF0AB5BE1918}" type="slidenum">
              <a:rPr kumimoji="0" lang="zh-TW" altLang="en-US">
                <a:solidFill>
                  <a:srgbClr val="045C75"/>
                </a:solidFill>
                <a:latin typeface="+mn-lt"/>
              </a:rPr>
              <a:pPr eaLnBrk="1" hangingPunct="1"/>
              <a:t>3</a:t>
            </a:fld>
            <a:endParaRPr kumimoji="0" lang="zh-TW" altLang="en-US">
              <a:solidFill>
                <a:srgbClr val="045C75"/>
              </a:solidFill>
              <a:latin typeface="+mn-lt"/>
            </a:endParaRPr>
          </a:p>
        </p:txBody>
      </p:sp>
      <p:pic>
        <p:nvPicPr>
          <p:cNvPr id="819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50" y="1857375"/>
            <a:ext cx="4572000" cy="309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50" y="5110163"/>
            <a:ext cx="6429375" cy="174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21225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標題 1"/>
          <p:cNvSpPr>
            <a:spLocks noGrp="1"/>
          </p:cNvSpPr>
          <p:nvPr>
            <p:ph type="title"/>
          </p:nvPr>
        </p:nvSpPr>
        <p:spPr>
          <a:xfrm>
            <a:off x="857250" y="274638"/>
            <a:ext cx="8077200" cy="939800"/>
          </a:xfrm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 smtClean="0">
                <a:solidFill>
                  <a:schemeClr val="tx2">
                    <a:satMod val="130000"/>
                  </a:schemeClr>
                </a:solidFill>
                <a:cs typeface="Times New Roman" pitchFamily="18" charset="0"/>
              </a:rPr>
              <a:t>Introduction (3/3)</a:t>
            </a:r>
            <a:endParaRPr lang="zh-TW" altLang="en-US" dirty="0" smtClean="0">
              <a:solidFill>
                <a:schemeClr val="tx2">
                  <a:satMod val="130000"/>
                </a:schemeClr>
              </a:solidFill>
              <a:cs typeface="Times New Roman" pitchFamily="18" charset="0"/>
            </a:endParaRPr>
          </a:p>
        </p:txBody>
      </p:sp>
      <p:sp>
        <p:nvSpPr>
          <p:cNvPr id="9219" name="內容版面配置區 2"/>
          <p:cNvSpPr>
            <a:spLocks noGrp="1"/>
          </p:cNvSpPr>
          <p:nvPr>
            <p:ph idx="1"/>
          </p:nvPr>
        </p:nvSpPr>
        <p:spPr>
          <a:xfrm>
            <a:off x="785813" y="1285875"/>
            <a:ext cx="8148637" cy="5357813"/>
          </a:xfrm>
        </p:spPr>
        <p:txBody>
          <a:bodyPr/>
          <a:lstStyle/>
          <a:p>
            <a:r>
              <a:rPr lang="en-US" altLang="zh-TW" sz="2700" dirty="0" smtClean="0">
                <a:cs typeface="Times New Roman" panose="02020603050405020304" pitchFamily="18" charset="0"/>
              </a:rPr>
              <a:t>Protein Backbone Reconstruction Problem (PBRP)</a:t>
            </a:r>
          </a:p>
          <a:p>
            <a:pPr lvl="1"/>
            <a:r>
              <a:rPr lang="en-US" altLang="zh-TW" sz="2300" dirty="0" smtClean="0">
                <a:cs typeface="Times New Roman" panose="02020603050405020304" pitchFamily="18" charset="0"/>
              </a:rPr>
              <a:t>Input: A protein sequence and its all C</a:t>
            </a:r>
            <a:r>
              <a:rPr lang="el-GR" altLang="zh-TW" sz="2300" dirty="0" smtClean="0">
                <a:cs typeface="Times New Roman" panose="02020603050405020304" pitchFamily="18" charset="0"/>
              </a:rPr>
              <a:t>α</a:t>
            </a:r>
            <a:r>
              <a:rPr lang="en-US" altLang="zh-TW" sz="2300" dirty="0" smtClean="0">
                <a:cs typeface="Times New Roman" panose="02020603050405020304" pitchFamily="18" charset="0"/>
              </a:rPr>
              <a:t> coordinates.</a:t>
            </a:r>
          </a:p>
          <a:p>
            <a:pPr lvl="1"/>
            <a:r>
              <a:rPr lang="en-US" altLang="zh-TW" sz="2300" dirty="0" smtClean="0">
                <a:cs typeface="Times New Roman" panose="02020603050405020304" pitchFamily="18" charset="0"/>
              </a:rPr>
              <a:t>Output: The coordinates of  N, C and O atoms on the                     </a:t>
            </a:r>
          </a:p>
          <a:p>
            <a:pPr lvl="1">
              <a:buFont typeface="Verdana" panose="020B0604030504040204" pitchFamily="34" charset="0"/>
              <a:buNone/>
            </a:pPr>
            <a:r>
              <a:rPr lang="en-US" altLang="zh-TW" sz="2300" dirty="0" smtClean="0">
                <a:cs typeface="Times New Roman" panose="02020603050405020304" pitchFamily="18" charset="0"/>
              </a:rPr>
              <a:t>                 backbone.</a:t>
            </a:r>
          </a:p>
          <a:p>
            <a:pPr lvl="1">
              <a:buFont typeface="Verdana" panose="020B0604030504040204" pitchFamily="34" charset="0"/>
              <a:buNone/>
            </a:pPr>
            <a:endParaRPr lang="en-US" altLang="zh-TW" sz="2300" dirty="0" smtClean="0">
              <a:cs typeface="Times New Roman" panose="02020603050405020304" pitchFamily="18" charset="0"/>
            </a:endParaRPr>
          </a:p>
          <a:p>
            <a:pPr lvl="1"/>
            <a:endParaRPr lang="en-US" altLang="zh-TW" sz="2300" dirty="0" smtClean="0">
              <a:cs typeface="Times New Roman" panose="02020603050405020304" pitchFamily="18" charset="0"/>
            </a:endParaRPr>
          </a:p>
          <a:p>
            <a:endParaRPr lang="en-US" altLang="zh-TW" sz="2700" dirty="0" smtClean="0">
              <a:cs typeface="Times New Roman" panose="02020603050405020304" pitchFamily="18" charset="0"/>
            </a:endParaRPr>
          </a:p>
          <a:p>
            <a:endParaRPr lang="en-US" altLang="zh-TW" sz="2700" dirty="0" smtClean="0">
              <a:cs typeface="Times New Roman" panose="02020603050405020304" pitchFamily="18" charset="0"/>
            </a:endParaRPr>
          </a:p>
          <a:p>
            <a:pPr>
              <a:buFont typeface="Wingdings 2" panose="05020102010507070707" pitchFamily="18" charset="2"/>
              <a:buNone/>
            </a:pPr>
            <a:endParaRPr lang="en-US" altLang="zh-TW" sz="2700" dirty="0" smtClean="0">
              <a:cs typeface="Times New Roman" panose="02020603050405020304" pitchFamily="18" charset="0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F2D4784D-9477-4206-A6E4-590B961B7069}" type="slidenum">
              <a:rPr kumimoji="0" lang="zh-TW" altLang="en-US">
                <a:solidFill>
                  <a:srgbClr val="045C75"/>
                </a:solidFill>
                <a:latin typeface="+mj-lt"/>
              </a:rPr>
              <a:pPr eaLnBrk="1" hangingPunct="1"/>
              <a:t>4</a:t>
            </a:fld>
            <a:endParaRPr kumimoji="0" lang="zh-TW" altLang="en-US">
              <a:solidFill>
                <a:srgbClr val="045C75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91021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 smtClean="0">
                <a:solidFill>
                  <a:schemeClr val="tx2">
                    <a:satMod val="130000"/>
                  </a:schemeClr>
                </a:solidFill>
                <a:latin typeface="+mn-lt"/>
                <a:cs typeface="Times New Roman" pitchFamily="18" charset="0"/>
              </a:rPr>
              <a:t>Root Mean Square Deviation (RMSD)</a:t>
            </a:r>
            <a:endParaRPr lang="zh-TW" altLang="en-US" dirty="0" smtClean="0">
              <a:solidFill>
                <a:schemeClr val="tx2">
                  <a:satMod val="130000"/>
                </a:schemeClr>
              </a:solidFill>
              <a:latin typeface="+mn-lt"/>
              <a:cs typeface="Times New Roman" pitchFamily="18" charset="0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56ABDA60-A55B-4C14-9C65-C80651196F69}" type="slidenum">
              <a:rPr kumimoji="0" lang="zh-TW" altLang="en-US">
                <a:solidFill>
                  <a:srgbClr val="045C75"/>
                </a:solidFill>
                <a:latin typeface="+mn-lt"/>
              </a:rPr>
              <a:pPr eaLnBrk="1" hangingPunct="1"/>
              <a:t>5</a:t>
            </a:fld>
            <a:endParaRPr kumimoji="0" lang="zh-TW" altLang="en-US">
              <a:solidFill>
                <a:srgbClr val="045C75"/>
              </a:solidFill>
              <a:latin typeface="+mn-lt"/>
            </a:endParaRPr>
          </a:p>
        </p:txBody>
      </p:sp>
      <p:sp>
        <p:nvSpPr>
          <p:cNvPr id="1028" name="內容版面配置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sz="2800" dirty="0" smtClean="0">
                <a:latin typeface="+mn-lt"/>
                <a:cs typeface="Times New Roman" panose="02020603050405020304" pitchFamily="18" charset="0"/>
              </a:rPr>
              <a:t>The RMSD is a measure of similarity between a predicted structure and a real one.</a:t>
            </a:r>
          </a:p>
          <a:p>
            <a:r>
              <a:rPr lang="en-US" altLang="zh-TW" sz="2800" dirty="0" smtClean="0">
                <a:latin typeface="+mn-lt"/>
                <a:cs typeface="Times New Roman" panose="02020603050405020304" pitchFamily="18" charset="0"/>
              </a:rPr>
              <a:t>RMSD formula:</a:t>
            </a:r>
          </a:p>
          <a:p>
            <a:endParaRPr lang="en-US" altLang="zh-TW" sz="2800" dirty="0" smtClean="0">
              <a:latin typeface="+mn-lt"/>
              <a:cs typeface="Times New Roman" panose="02020603050405020304" pitchFamily="18" charset="0"/>
            </a:endParaRPr>
          </a:p>
          <a:p>
            <a:endParaRPr lang="zh-TW" altLang="en-US" sz="2800" dirty="0" smtClean="0">
              <a:latin typeface="+mn-lt"/>
              <a:cs typeface="Times New Roman" panose="02020603050405020304" pitchFamily="18" charset="0"/>
            </a:endParaRPr>
          </a:p>
        </p:txBody>
      </p:sp>
      <p:graphicFrame>
        <p:nvGraphicFramePr>
          <p:cNvPr id="102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8058307"/>
              </p:ext>
            </p:extLst>
          </p:nvPr>
        </p:nvGraphicFramePr>
        <p:xfrm>
          <a:off x="773577" y="2870973"/>
          <a:ext cx="3020342" cy="8253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2" name="Equation" r:id="rId3" imgW="1765080" imgH="482400" progId="Equation.3">
                  <p:embed/>
                </p:oleObj>
              </mc:Choice>
              <mc:Fallback>
                <p:oleObj name="Equation" r:id="rId3" imgW="1765080" imgH="482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3577" y="2870973"/>
                        <a:ext cx="3020342" cy="82538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30" name="Picture 1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7084" y="2187846"/>
            <a:ext cx="5176916" cy="456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98338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標題 1"/>
          <p:cNvSpPr>
            <a:spLocks noGrp="1"/>
          </p:cNvSpPr>
          <p:nvPr>
            <p:ph type="title"/>
          </p:nvPr>
        </p:nvSpPr>
        <p:spPr>
          <a:xfrm>
            <a:off x="457200" y="500063"/>
            <a:ext cx="8229600" cy="642937"/>
          </a:xfrm>
        </p:spPr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 smtClean="0">
                <a:solidFill>
                  <a:schemeClr val="tx2">
                    <a:satMod val="130000"/>
                  </a:schemeClr>
                </a:solidFill>
                <a:cs typeface="Times New Roman" pitchFamily="18" charset="0"/>
              </a:rPr>
              <a:t>Support Vector Machine (SVM)</a:t>
            </a:r>
            <a:endParaRPr lang="zh-TW" altLang="en-US" dirty="0" smtClean="0">
              <a:solidFill>
                <a:schemeClr val="tx2">
                  <a:satMod val="130000"/>
                </a:schemeClr>
              </a:solidFill>
              <a:cs typeface="Times New Roman" pitchFamily="18" charset="0"/>
            </a:endParaRPr>
          </a:p>
        </p:txBody>
      </p:sp>
      <p:sp>
        <p:nvSpPr>
          <p:cNvPr id="13315" name="內容版面配置區 2"/>
          <p:cNvSpPr>
            <a:spLocks noGrp="1"/>
          </p:cNvSpPr>
          <p:nvPr>
            <p:ph idx="1"/>
          </p:nvPr>
        </p:nvSpPr>
        <p:spPr>
          <a:xfrm>
            <a:off x="428625" y="1447800"/>
            <a:ext cx="8505825" cy="973088"/>
          </a:xfrm>
        </p:spPr>
        <p:txBody>
          <a:bodyPr>
            <a:normAutofit/>
          </a:bodyPr>
          <a:lstStyle/>
          <a:p>
            <a:r>
              <a:rPr lang="en-US" altLang="zh-TW" sz="2800" dirty="0" smtClean="0"/>
              <a:t>SVM </a:t>
            </a:r>
            <a:r>
              <a:rPr lang="en-US" altLang="zh-TW" sz="2800" dirty="0"/>
              <a:t>is a supervised learning model which can be applied to classification or regression.</a:t>
            </a:r>
            <a:endParaRPr lang="en-US" altLang="zh-TW" sz="2800" dirty="0" smtClean="0">
              <a:cs typeface="Times New Roman" panose="02020603050405020304" pitchFamily="18" charset="0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0DA8CE4E-83FD-4749-8274-A90665781FDD}" type="slidenum">
              <a:rPr kumimoji="0" lang="zh-TW" altLang="en-US">
                <a:solidFill>
                  <a:srgbClr val="045C75"/>
                </a:solidFill>
                <a:latin typeface="+mj-lt"/>
              </a:rPr>
              <a:pPr eaLnBrk="1" hangingPunct="1"/>
              <a:t>6</a:t>
            </a:fld>
            <a:endParaRPr kumimoji="0" lang="zh-TW" altLang="en-US">
              <a:solidFill>
                <a:srgbClr val="045C75"/>
              </a:solidFill>
              <a:latin typeface="+mj-lt"/>
            </a:endParaRPr>
          </a:p>
        </p:txBody>
      </p:sp>
      <p:pic>
        <p:nvPicPr>
          <p:cNvPr id="13317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825" y="2905397"/>
            <a:ext cx="3706813" cy="3589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9188" y="2379935"/>
            <a:ext cx="4000500" cy="428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14848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標題 1"/>
          <p:cNvSpPr>
            <a:spLocks noGrp="1"/>
          </p:cNvSpPr>
          <p:nvPr>
            <p:ph type="title"/>
          </p:nvPr>
        </p:nvSpPr>
        <p:spPr>
          <a:xfrm>
            <a:off x="428625" y="142875"/>
            <a:ext cx="8505825" cy="928688"/>
          </a:xfrm>
        </p:spPr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 smtClean="0">
                <a:solidFill>
                  <a:schemeClr val="tx2">
                    <a:satMod val="130000"/>
                  </a:schemeClr>
                </a:solidFill>
                <a:cs typeface="Times New Roman" pitchFamily="18" charset="0"/>
              </a:rPr>
              <a:t>Previous Work (1/2)</a:t>
            </a:r>
            <a:endParaRPr lang="zh-TW" altLang="en-US" dirty="0" smtClean="0">
              <a:solidFill>
                <a:schemeClr val="tx2">
                  <a:satMod val="130000"/>
                </a:schemeClr>
              </a:solidFill>
              <a:cs typeface="Times New Roman" pitchFamily="18" charset="0"/>
            </a:endParaRPr>
          </a:p>
        </p:txBody>
      </p:sp>
      <p:sp>
        <p:nvSpPr>
          <p:cNvPr id="14339" name="內容版面配置區 2"/>
          <p:cNvSpPr>
            <a:spLocks noGrp="1"/>
          </p:cNvSpPr>
          <p:nvPr>
            <p:ph idx="1"/>
          </p:nvPr>
        </p:nvSpPr>
        <p:spPr>
          <a:xfrm>
            <a:off x="251520" y="1214438"/>
            <a:ext cx="3391793" cy="5195887"/>
          </a:xfrm>
        </p:spPr>
        <p:txBody>
          <a:bodyPr>
            <a:normAutofit lnSpcReduction="10000"/>
          </a:bodyPr>
          <a:lstStyle/>
          <a:p>
            <a:r>
              <a:rPr lang="en-US" altLang="zh-TW" sz="2800" dirty="0" smtClean="0">
                <a:cs typeface="Times New Roman" panose="02020603050405020304" pitchFamily="18" charset="0"/>
              </a:rPr>
              <a:t>Chen determines the tool to be used on N, C and O atoms of each protein. </a:t>
            </a:r>
          </a:p>
          <a:p>
            <a:r>
              <a:rPr lang="en-US" altLang="zh-TW" sz="2800" dirty="0" smtClean="0">
                <a:cs typeface="Times New Roman" panose="02020603050405020304" pitchFamily="18" charset="0"/>
              </a:rPr>
              <a:t>The feature vectors were derived from a coding rule which applied on the properties of amino </a:t>
            </a:r>
            <a:r>
              <a:rPr lang="en-US" altLang="zh-TW" sz="2800" dirty="0">
                <a:cs typeface="Times New Roman" panose="02020603050405020304" pitchFamily="18" charset="0"/>
              </a:rPr>
              <a:t>acids of each </a:t>
            </a:r>
            <a:r>
              <a:rPr lang="en-US" altLang="zh-TW" sz="2800" dirty="0" smtClean="0">
                <a:cs typeface="Times New Roman" panose="02020603050405020304" pitchFamily="18" charset="0"/>
              </a:rPr>
              <a:t>protein.</a:t>
            </a: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5E441B26-F980-4D78-8906-8A71B8F21814}" type="slidenum">
              <a:rPr kumimoji="0" lang="zh-TW" altLang="en-US">
                <a:solidFill>
                  <a:srgbClr val="045C75"/>
                </a:solidFill>
                <a:latin typeface="+mj-lt"/>
              </a:rPr>
              <a:pPr eaLnBrk="1" hangingPunct="1"/>
              <a:t>7</a:t>
            </a:fld>
            <a:endParaRPr kumimoji="0" lang="zh-TW" altLang="en-US">
              <a:solidFill>
                <a:srgbClr val="045C75"/>
              </a:solidFill>
              <a:latin typeface="+mj-lt"/>
            </a:endParaRPr>
          </a:p>
        </p:txBody>
      </p:sp>
      <p:pic>
        <p:nvPicPr>
          <p:cNvPr id="14341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0" r="100000">
                        <a14:backgroundMark x1="1979" y1="8412" x2="20449" y2="8175"/>
                        <a14:backgroundMark x1="19393" y1="8175" x2="25462" y2="237"/>
                        <a14:backgroundMark x1="24934" y1="237" x2="13456" y2="0"/>
                        <a14:backgroundMark x1="792" y1="11137" x2="1055" y2="237"/>
                        <a14:backgroundMark x1="3298" y1="8649" x2="0" y2="864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1874" y="653179"/>
            <a:ext cx="5572126" cy="62048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11605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標題 1"/>
          <p:cNvSpPr>
            <a:spLocks noGrp="1"/>
          </p:cNvSpPr>
          <p:nvPr>
            <p:ph type="title"/>
          </p:nvPr>
        </p:nvSpPr>
        <p:spPr>
          <a:xfrm>
            <a:off x="428625" y="142875"/>
            <a:ext cx="8505825" cy="928688"/>
          </a:xfrm>
        </p:spPr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 smtClean="0">
                <a:solidFill>
                  <a:schemeClr val="tx2">
                    <a:satMod val="130000"/>
                  </a:schemeClr>
                </a:solidFill>
                <a:cs typeface="Times New Roman" pitchFamily="18" charset="0"/>
              </a:rPr>
              <a:t>Previous Work (2/2</a:t>
            </a:r>
            <a:r>
              <a:rPr lang="en-US" altLang="zh-TW" dirty="0">
                <a:solidFill>
                  <a:schemeClr val="tx2">
                    <a:satMod val="130000"/>
                  </a:schemeClr>
                </a:solidFill>
                <a:cs typeface="Times New Roman" pitchFamily="18" charset="0"/>
              </a:rPr>
              <a:t>)</a:t>
            </a:r>
            <a:endParaRPr lang="zh-TW" altLang="en-US" dirty="0" smtClean="0">
              <a:solidFill>
                <a:schemeClr val="tx2">
                  <a:satMod val="130000"/>
                </a:schemeClr>
              </a:solidFill>
              <a:cs typeface="Times New Roman" pitchFamily="18" charset="0"/>
            </a:endParaRPr>
          </a:p>
        </p:txBody>
      </p:sp>
      <p:sp>
        <p:nvSpPr>
          <p:cNvPr id="14339" name="內容版面配置區 2"/>
          <p:cNvSpPr>
            <a:spLocks noGrp="1"/>
          </p:cNvSpPr>
          <p:nvPr>
            <p:ph idx="1"/>
          </p:nvPr>
        </p:nvSpPr>
        <p:spPr>
          <a:xfrm>
            <a:off x="251520" y="1214438"/>
            <a:ext cx="4344452" cy="5195887"/>
          </a:xfrm>
        </p:spPr>
        <p:txBody>
          <a:bodyPr/>
          <a:lstStyle/>
          <a:p>
            <a:r>
              <a:rPr lang="en-US" altLang="zh-TW" sz="2800" dirty="0" smtClean="0">
                <a:cs typeface="Times New Roman" panose="02020603050405020304" pitchFamily="18" charset="0"/>
              </a:rPr>
              <a:t>Wu determines the tool to be used on all </a:t>
            </a:r>
            <a:r>
              <a:rPr lang="en-US" altLang="zh-TW" sz="2800" dirty="0">
                <a:cs typeface="Times New Roman" panose="02020603050405020304" pitchFamily="18" charset="0"/>
              </a:rPr>
              <a:t>atoms of each residue of the </a:t>
            </a:r>
            <a:r>
              <a:rPr lang="en-US" altLang="zh-TW" sz="2800" dirty="0" smtClean="0">
                <a:cs typeface="Times New Roman" panose="02020603050405020304" pitchFamily="18" charset="0"/>
              </a:rPr>
              <a:t>proteins.</a:t>
            </a:r>
          </a:p>
          <a:p>
            <a:r>
              <a:rPr lang="en-US" altLang="zh-TW" sz="2800" dirty="0">
                <a:cs typeface="Times New Roman" panose="02020603050405020304" pitchFamily="18" charset="0"/>
              </a:rPr>
              <a:t>The feature vectors were derived from </a:t>
            </a:r>
            <a:r>
              <a:rPr lang="en-US" altLang="zh-TW" sz="2800" dirty="0" smtClean="0">
                <a:cs typeface="Times New Roman" panose="02020603050405020304" pitchFamily="18" charset="0"/>
              </a:rPr>
              <a:t>the </a:t>
            </a:r>
            <a:r>
              <a:rPr lang="en-US" altLang="zh-TW" sz="2800" dirty="0">
                <a:cs typeface="Times New Roman" panose="02020603050405020304" pitchFamily="18" charset="0"/>
              </a:rPr>
              <a:t>properties</a:t>
            </a:r>
            <a:r>
              <a:rPr lang="en-US" altLang="zh-TW" sz="2800" dirty="0" smtClean="0">
                <a:cs typeface="Times New Roman" panose="02020603050405020304" pitchFamily="18" charset="0"/>
              </a:rPr>
              <a:t>  of amino </a:t>
            </a:r>
            <a:r>
              <a:rPr lang="en-US" altLang="zh-TW" sz="2800" dirty="0">
                <a:cs typeface="Times New Roman" panose="02020603050405020304" pitchFamily="18" charset="0"/>
              </a:rPr>
              <a:t>acids of each </a:t>
            </a:r>
            <a:r>
              <a:rPr lang="en-US" altLang="zh-TW" sz="2800" dirty="0" smtClean="0">
                <a:cs typeface="Times New Roman" panose="02020603050405020304" pitchFamily="18" charset="0"/>
              </a:rPr>
              <a:t>protein and </a:t>
            </a:r>
            <a:r>
              <a:rPr lang="en-US" altLang="zh-TW" sz="2800" dirty="0">
                <a:cs typeface="Times New Roman" panose="02020603050405020304" pitchFamily="18" charset="0"/>
              </a:rPr>
              <a:t>the properties  of </a:t>
            </a:r>
            <a:r>
              <a:rPr lang="en-US" altLang="zh-TW" sz="2800" dirty="0" smtClean="0"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cs typeface="Times New Roman" panose="02020603050405020304" pitchFamily="18" charset="0"/>
              </a:rPr>
              <a:t>the </a:t>
            </a:r>
            <a:r>
              <a:rPr lang="en-US" altLang="zh-TW" sz="2800" dirty="0" smtClean="0">
                <a:cs typeface="Times New Roman" panose="02020603050405020304" pitchFamily="18" charset="0"/>
              </a:rPr>
              <a:t>adjacent </a:t>
            </a:r>
            <a:r>
              <a:rPr lang="en-US" altLang="zh-TW" sz="2800" dirty="0">
                <a:cs typeface="Times New Roman" panose="02020603050405020304" pitchFamily="18" charset="0"/>
              </a:rPr>
              <a:t>amino acids </a:t>
            </a:r>
            <a:r>
              <a:rPr lang="en-US" altLang="zh-TW" sz="2800" dirty="0" smtClean="0">
                <a:cs typeface="Times New Roman" panose="02020603050405020304" pitchFamily="18" charset="0"/>
              </a:rPr>
              <a:t>.</a:t>
            </a:r>
            <a:endParaRPr lang="en-US" altLang="zh-TW" sz="2800" dirty="0">
              <a:cs typeface="Times New Roman" panose="02020603050405020304" pitchFamily="18" charset="0"/>
            </a:endParaRPr>
          </a:p>
          <a:p>
            <a:endParaRPr lang="en-US" altLang="zh-TW" sz="2800" dirty="0" smtClean="0">
              <a:cs typeface="Times New Roman" panose="02020603050405020304" pitchFamily="18" charset="0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5E441B26-F980-4D78-8906-8A71B8F21814}" type="slidenum">
              <a:rPr kumimoji="0" lang="zh-TW" altLang="en-US">
                <a:solidFill>
                  <a:srgbClr val="045C75"/>
                </a:solidFill>
                <a:latin typeface="+mj-lt"/>
              </a:rPr>
              <a:pPr eaLnBrk="1" hangingPunct="1"/>
              <a:t>8</a:t>
            </a:fld>
            <a:endParaRPr kumimoji="0" lang="zh-TW" altLang="en-US">
              <a:solidFill>
                <a:srgbClr val="045C75"/>
              </a:solidFill>
              <a:latin typeface="+mj-lt"/>
            </a:endParaRPr>
          </a:p>
        </p:txBody>
      </p:sp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5972" y="0"/>
            <a:ext cx="453072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500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標題 1"/>
          <p:cNvSpPr>
            <a:spLocks noGrp="1"/>
          </p:cNvSpPr>
          <p:nvPr>
            <p:ph type="title"/>
          </p:nvPr>
        </p:nvSpPr>
        <p:spPr>
          <a:xfrm>
            <a:off x="714375" y="142875"/>
            <a:ext cx="8220075" cy="928688"/>
          </a:xfrm>
        </p:spPr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 smtClean="0">
                <a:solidFill>
                  <a:schemeClr val="tx2">
                    <a:satMod val="130000"/>
                  </a:schemeClr>
                </a:solidFill>
                <a:cs typeface="Times New Roman" pitchFamily="18" charset="0"/>
              </a:rPr>
              <a:t>Our Method (1/3)</a:t>
            </a:r>
            <a:endParaRPr lang="zh-TW" altLang="en-US" dirty="0" smtClean="0">
              <a:solidFill>
                <a:schemeClr val="tx2">
                  <a:satMod val="130000"/>
                </a:schemeClr>
              </a:solidFill>
              <a:cs typeface="Times New Roman" pitchFamily="18" charset="0"/>
            </a:endParaRPr>
          </a:p>
        </p:txBody>
      </p:sp>
      <p:sp>
        <p:nvSpPr>
          <p:cNvPr id="15363" name="內容版面配置區 2"/>
          <p:cNvSpPr>
            <a:spLocks noGrp="1"/>
          </p:cNvSpPr>
          <p:nvPr>
            <p:ph idx="1"/>
          </p:nvPr>
        </p:nvSpPr>
        <p:spPr>
          <a:xfrm>
            <a:off x="642938" y="1214438"/>
            <a:ext cx="8286750" cy="5195887"/>
          </a:xfrm>
        </p:spPr>
        <p:txBody>
          <a:bodyPr/>
          <a:lstStyle/>
          <a:p>
            <a:r>
              <a:rPr lang="en-US" altLang="zh-TW" sz="2800" dirty="0" smtClean="0">
                <a:cs typeface="Times New Roman" panose="02020603050405020304" pitchFamily="18" charset="0"/>
              </a:rPr>
              <a:t>It is based on Chen’s method and Wu’s </a:t>
            </a:r>
            <a:r>
              <a:rPr lang="en-US" altLang="zh-TW" sz="2800" dirty="0">
                <a:cs typeface="Times New Roman" panose="02020603050405020304" pitchFamily="18" charset="0"/>
              </a:rPr>
              <a:t>method </a:t>
            </a:r>
            <a:r>
              <a:rPr lang="en-US" altLang="zh-TW" sz="2800" dirty="0" smtClean="0">
                <a:cs typeface="Times New Roman" panose="02020603050405020304" pitchFamily="18" charset="0"/>
              </a:rPr>
              <a:t>which determines the tool to be used.</a:t>
            </a:r>
          </a:p>
          <a:p>
            <a:r>
              <a:rPr lang="en-US" altLang="zh-TW" sz="2800" dirty="0" smtClean="0">
                <a:cs typeface="Times New Roman" panose="02020603050405020304" pitchFamily="18" charset="0"/>
              </a:rPr>
              <a:t>We further use 135 properties of amino acids as the training feature.</a:t>
            </a:r>
          </a:p>
          <a:p>
            <a:r>
              <a:rPr lang="en-US" altLang="zh-TW" sz="2800" dirty="0" smtClean="0">
                <a:cs typeface="Times New Roman" panose="02020603050405020304" pitchFamily="18" charset="0"/>
              </a:rPr>
              <a:t>In order to </a:t>
            </a:r>
            <a:r>
              <a:rPr lang="en-US" altLang="zh-TW" sz="2800" dirty="0">
                <a:cs typeface="Times New Roman" panose="02020603050405020304" pitchFamily="18" charset="0"/>
              </a:rPr>
              <a:t>balance the significance </a:t>
            </a:r>
            <a:r>
              <a:rPr lang="en-US" altLang="zh-TW" sz="2800" dirty="0" smtClean="0">
                <a:cs typeface="Times New Roman" panose="02020603050405020304" pitchFamily="18" charset="0"/>
              </a:rPr>
              <a:t>of each property of </a:t>
            </a:r>
            <a:r>
              <a:rPr lang="en-US" altLang="zh-TW" sz="2800" dirty="0">
                <a:cs typeface="Times New Roman" panose="02020603050405020304" pitchFamily="18" charset="0"/>
              </a:rPr>
              <a:t>amino acids</a:t>
            </a:r>
            <a:r>
              <a:rPr lang="en-US" altLang="zh-TW" sz="2800" dirty="0" smtClean="0">
                <a:cs typeface="Times New Roman" panose="02020603050405020304" pitchFamily="18" charset="0"/>
              </a:rPr>
              <a:t>, we modified </a:t>
            </a:r>
            <a:r>
              <a:rPr lang="en-US" altLang="zh-TW" sz="2800" dirty="0">
                <a:cs typeface="Times New Roman" panose="02020603050405020304" pitchFamily="18" charset="0"/>
              </a:rPr>
              <a:t>Wu’s method </a:t>
            </a:r>
            <a:r>
              <a:rPr lang="en-US" altLang="zh-TW" sz="2800" dirty="0" smtClean="0">
                <a:cs typeface="Times New Roman" panose="02020603050405020304" pitchFamily="18" charset="0"/>
              </a:rPr>
              <a:t>on the feature vectors </a:t>
            </a:r>
            <a:r>
              <a:rPr lang="en-US" altLang="zh-TW" sz="2800" dirty="0">
                <a:cs typeface="Times New Roman" panose="02020603050405020304" pitchFamily="18" charset="0"/>
              </a:rPr>
              <a:t>by </a:t>
            </a:r>
            <a:r>
              <a:rPr lang="en-US" altLang="zh-TW" sz="2800" dirty="0" smtClean="0">
                <a:cs typeface="Times New Roman" panose="02020603050405020304" pitchFamily="18" charset="0"/>
              </a:rPr>
              <a:t>normalizing the properties.</a:t>
            </a:r>
          </a:p>
          <a:p>
            <a:r>
              <a:rPr lang="en-US" altLang="zh-TW" sz="2800" dirty="0" smtClean="0">
                <a:cs typeface="Times New Roman" panose="02020603050405020304" pitchFamily="18" charset="0"/>
              </a:rPr>
              <a:t>We aim to select significant </a:t>
            </a:r>
            <a:r>
              <a:rPr lang="en-US" altLang="zh-TW" sz="2800" dirty="0">
                <a:cs typeface="Times New Roman" panose="02020603050405020304" pitchFamily="18" charset="0"/>
              </a:rPr>
              <a:t>property </a:t>
            </a:r>
            <a:r>
              <a:rPr lang="en-US" altLang="zh-TW" sz="2800" dirty="0" smtClean="0">
                <a:cs typeface="Times New Roman" panose="02020603050405020304" pitchFamily="18" charset="0"/>
              </a:rPr>
              <a:t>from the 135 </a:t>
            </a:r>
            <a:r>
              <a:rPr lang="en-US" altLang="zh-TW" sz="2800" dirty="0">
                <a:cs typeface="Times New Roman" panose="02020603050405020304" pitchFamily="18" charset="0"/>
              </a:rPr>
              <a:t>properties </a:t>
            </a:r>
            <a:r>
              <a:rPr lang="en-US" altLang="zh-TW" sz="2800" dirty="0" smtClean="0">
                <a:cs typeface="Times New Roman" panose="02020603050405020304" pitchFamily="18" charset="0"/>
              </a:rPr>
              <a:t>to </a:t>
            </a:r>
            <a:r>
              <a:rPr lang="en-US" altLang="zh-TW" sz="2800" dirty="0">
                <a:cs typeface="Times New Roman" panose="02020603050405020304" pitchFamily="18" charset="0"/>
              </a:rPr>
              <a:t>obtain higher </a:t>
            </a:r>
            <a:r>
              <a:rPr lang="en-US" altLang="zh-TW" sz="2800" dirty="0" smtClean="0">
                <a:cs typeface="Times New Roman" panose="02020603050405020304" pitchFamily="18" charset="0"/>
              </a:rPr>
              <a:t>accuracy and </a:t>
            </a:r>
            <a:r>
              <a:rPr lang="en-US" altLang="zh-TW" sz="2800" dirty="0"/>
              <a:t>increase </a:t>
            </a:r>
            <a:r>
              <a:rPr lang="en-US" altLang="zh-TW" sz="2800" dirty="0" smtClean="0"/>
              <a:t>the efficiency of the process</a:t>
            </a:r>
            <a:r>
              <a:rPr lang="en-US" altLang="zh-TW" sz="2800" dirty="0" smtClean="0">
                <a:cs typeface="Times New Roman" panose="02020603050405020304" pitchFamily="18" charset="0"/>
              </a:rPr>
              <a:t>.</a:t>
            </a:r>
            <a:endParaRPr lang="zh-TW" altLang="en-US" sz="2800" dirty="0" smtClean="0">
              <a:cs typeface="Times New Roman" panose="02020603050405020304" pitchFamily="18" charset="0"/>
            </a:endParaRPr>
          </a:p>
          <a:p>
            <a:endParaRPr lang="zh-TW" altLang="en-US" sz="2800" dirty="0" smtClean="0">
              <a:cs typeface="Times New Roman" panose="02020603050405020304" pitchFamily="18" charset="0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D8DC7A06-82B7-4DED-93BE-CCD9A0C12253}" type="slidenum">
              <a:rPr kumimoji="0" lang="zh-TW" altLang="en-US">
                <a:solidFill>
                  <a:srgbClr val="045C75"/>
                </a:solidFill>
                <a:latin typeface="+mj-lt"/>
              </a:rPr>
              <a:pPr eaLnBrk="1" hangingPunct="1"/>
              <a:t>9</a:t>
            </a:fld>
            <a:endParaRPr kumimoji="0" lang="zh-TW" altLang="en-US">
              <a:solidFill>
                <a:srgbClr val="045C75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35725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標題 1"/>
          <p:cNvSpPr>
            <a:spLocks noGrp="1"/>
          </p:cNvSpPr>
          <p:nvPr>
            <p:ph type="title"/>
          </p:nvPr>
        </p:nvSpPr>
        <p:spPr>
          <a:xfrm>
            <a:off x="714375" y="142875"/>
            <a:ext cx="8220075" cy="928688"/>
          </a:xfrm>
        </p:spPr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 smtClean="0">
                <a:solidFill>
                  <a:schemeClr val="tx2">
                    <a:satMod val="130000"/>
                  </a:schemeClr>
                </a:solidFill>
                <a:cs typeface="Times New Roman" pitchFamily="18" charset="0"/>
              </a:rPr>
              <a:t>Our Method (2/3)</a:t>
            </a:r>
            <a:endParaRPr lang="zh-TW" altLang="en-US" dirty="0" smtClean="0">
              <a:solidFill>
                <a:schemeClr val="tx2">
                  <a:satMod val="130000"/>
                </a:schemeClr>
              </a:solidFill>
              <a:cs typeface="Times New Roman" pitchFamily="18" charset="0"/>
            </a:endParaRPr>
          </a:p>
        </p:txBody>
      </p:sp>
      <p:sp>
        <p:nvSpPr>
          <p:cNvPr id="15363" name="內容版面配置區 2"/>
          <p:cNvSpPr>
            <a:spLocks noGrp="1"/>
          </p:cNvSpPr>
          <p:nvPr>
            <p:ph idx="1"/>
          </p:nvPr>
        </p:nvSpPr>
        <p:spPr>
          <a:xfrm>
            <a:off x="642938" y="1214438"/>
            <a:ext cx="8286750" cy="5195887"/>
          </a:xfrm>
        </p:spPr>
        <p:txBody>
          <a:bodyPr/>
          <a:lstStyle/>
          <a:p>
            <a:r>
              <a:rPr lang="en-US" altLang="zh-TW" sz="2800" dirty="0"/>
              <a:t>A grid-search technique was used to determine the best parameters</a:t>
            </a:r>
            <a:r>
              <a:rPr lang="en-US" altLang="zh-TW" sz="2800" dirty="0" smtClean="0"/>
              <a:t>, </a:t>
            </a:r>
            <a:r>
              <a:rPr lang="en-US" altLang="zh-TW" sz="2800" i="1" dirty="0" smtClean="0"/>
              <a:t>cost</a:t>
            </a:r>
            <a:r>
              <a:rPr lang="en-US" altLang="zh-TW" sz="2800" dirty="0" smtClean="0"/>
              <a:t> and </a:t>
            </a:r>
            <a:r>
              <a:rPr lang="en-US" altLang="zh-TW" sz="2800" i="1" dirty="0" smtClean="0"/>
              <a:t>gamma</a:t>
            </a:r>
            <a:r>
              <a:rPr lang="en-US" altLang="zh-TW" sz="2800" dirty="0" smtClean="0"/>
              <a:t>. </a:t>
            </a:r>
            <a:r>
              <a:rPr lang="en-US" altLang="zh-TW" sz="2800" dirty="0"/>
              <a:t>The two parameters were limit in </a:t>
            </a:r>
            <a:r>
              <a:rPr lang="en-US" altLang="zh-TW" sz="2800" dirty="0" smtClean="0"/>
              <a:t>2</a:t>
            </a:r>
            <a:r>
              <a:rPr lang="en-US" altLang="zh-TW" sz="2800" baseline="30000" dirty="0" smtClean="0"/>
              <a:t>-10</a:t>
            </a:r>
            <a:r>
              <a:rPr lang="en-US" altLang="zh-TW" sz="2800" dirty="0" smtClean="0"/>
              <a:t> </a:t>
            </a:r>
            <a:r>
              <a:rPr lang="en-US" altLang="zh-TW" sz="2800" dirty="0"/>
              <a:t>to </a:t>
            </a:r>
            <a:r>
              <a:rPr lang="en-US" altLang="zh-TW" sz="2800" dirty="0" smtClean="0"/>
              <a:t>2</a:t>
            </a:r>
            <a:r>
              <a:rPr lang="en-US" altLang="zh-TW" sz="2800" baseline="30000" dirty="0" smtClean="0"/>
              <a:t>-5</a:t>
            </a:r>
            <a:r>
              <a:rPr lang="en-US" altLang="zh-TW" sz="2800" dirty="0" smtClean="0"/>
              <a:t> </a:t>
            </a:r>
            <a:r>
              <a:rPr lang="en-US" altLang="zh-TW" sz="2800" dirty="0"/>
              <a:t>and </a:t>
            </a:r>
            <a:r>
              <a:rPr lang="en-US" altLang="zh-TW" sz="2800" dirty="0" smtClean="0"/>
              <a:t>2</a:t>
            </a:r>
            <a:r>
              <a:rPr lang="en-US" altLang="zh-TW" sz="2800" baseline="30000" dirty="0" smtClean="0"/>
              <a:t>-3</a:t>
            </a:r>
            <a:r>
              <a:rPr lang="en-US" altLang="zh-TW" sz="2800" dirty="0" smtClean="0"/>
              <a:t> </a:t>
            </a:r>
            <a:r>
              <a:rPr lang="en-US" altLang="zh-TW" sz="2800" dirty="0"/>
              <a:t>to </a:t>
            </a:r>
            <a:r>
              <a:rPr lang="en-US" altLang="zh-TW" sz="2800" dirty="0" smtClean="0"/>
              <a:t>2</a:t>
            </a:r>
            <a:r>
              <a:rPr lang="en-US" altLang="zh-TW" sz="2800" baseline="30000" dirty="0" smtClean="0"/>
              <a:t>2</a:t>
            </a:r>
            <a:r>
              <a:rPr lang="en-US" altLang="zh-TW" sz="2800" dirty="0" smtClean="0"/>
              <a:t>, </a:t>
            </a:r>
            <a:r>
              <a:rPr lang="en-US" altLang="zh-TW" sz="2800" dirty="0"/>
              <a:t>respectively.</a:t>
            </a:r>
            <a:endParaRPr lang="zh-TW" altLang="en-US" sz="2800" dirty="0" smtClean="0">
              <a:cs typeface="Times New Roman" panose="02020603050405020304" pitchFamily="18" charset="0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D8DC7A06-82B7-4DED-93BE-CCD9A0C12253}" type="slidenum">
              <a:rPr kumimoji="0" lang="zh-TW" altLang="en-US">
                <a:solidFill>
                  <a:srgbClr val="045C75"/>
                </a:solidFill>
                <a:latin typeface="+mj-lt"/>
              </a:rPr>
              <a:pPr eaLnBrk="1" hangingPunct="1"/>
              <a:t>10</a:t>
            </a:fld>
            <a:endParaRPr kumimoji="0" lang="zh-TW" altLang="en-US">
              <a:solidFill>
                <a:srgbClr val="045C75"/>
              </a:solidFill>
              <a:latin typeface="+mj-lt"/>
            </a:endParaRPr>
          </a:p>
        </p:txBody>
      </p:sp>
      <p:pic>
        <p:nvPicPr>
          <p:cNvPr id="2050" name="Picture 2" descr="http://cg2010studio.files.wordpress.com/2012/10/a1a-scale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5" b="8651"/>
          <a:stretch/>
        </p:blipFill>
        <p:spPr bwMode="auto">
          <a:xfrm>
            <a:off x="2833688" y="3030245"/>
            <a:ext cx="6096000" cy="3816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7568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標題 1"/>
          <p:cNvSpPr>
            <a:spLocks noGrp="1"/>
          </p:cNvSpPr>
          <p:nvPr>
            <p:ph type="title"/>
          </p:nvPr>
        </p:nvSpPr>
        <p:spPr>
          <a:xfrm>
            <a:off x="714375" y="142875"/>
            <a:ext cx="8220075" cy="928688"/>
          </a:xfrm>
        </p:spPr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 smtClean="0">
                <a:solidFill>
                  <a:schemeClr val="tx2">
                    <a:satMod val="130000"/>
                  </a:schemeClr>
                </a:solidFill>
                <a:cs typeface="Times New Roman" pitchFamily="18" charset="0"/>
              </a:rPr>
              <a:t>Our Method (3/3)</a:t>
            </a:r>
            <a:endParaRPr lang="zh-TW" altLang="en-US" dirty="0" smtClean="0">
              <a:solidFill>
                <a:schemeClr val="tx2">
                  <a:satMod val="130000"/>
                </a:schemeClr>
              </a:solidFill>
              <a:cs typeface="Times New Roman" pitchFamily="18" charset="0"/>
            </a:endParaRPr>
          </a:p>
        </p:txBody>
      </p:sp>
      <p:sp>
        <p:nvSpPr>
          <p:cNvPr id="15363" name="內容版面配置區 2"/>
          <p:cNvSpPr>
            <a:spLocks noGrp="1"/>
          </p:cNvSpPr>
          <p:nvPr>
            <p:ph idx="1"/>
          </p:nvPr>
        </p:nvSpPr>
        <p:spPr>
          <a:xfrm>
            <a:off x="642938" y="1214438"/>
            <a:ext cx="8286750" cy="5195887"/>
          </a:xfrm>
        </p:spPr>
        <p:txBody>
          <a:bodyPr/>
          <a:lstStyle/>
          <a:p>
            <a:r>
              <a:rPr lang="en-US" altLang="zh-TW" sz="2800" dirty="0"/>
              <a:t>Fisher score and distance correlation </a:t>
            </a:r>
            <a:r>
              <a:rPr lang="en-US" altLang="zh-TW" sz="2800" dirty="0" smtClean="0"/>
              <a:t>are also applied on our </a:t>
            </a:r>
            <a:r>
              <a:rPr lang="en-US" altLang="zh-TW" sz="2800" dirty="0" smtClean="0"/>
              <a:t>method to </a:t>
            </a:r>
            <a:r>
              <a:rPr lang="en-US" altLang="zh-TW" sz="2800" dirty="0" smtClean="0"/>
              <a:t>determine a method on selecting </a:t>
            </a:r>
            <a:r>
              <a:rPr lang="en-US" altLang="zh-TW" sz="2800" dirty="0"/>
              <a:t>crucial </a:t>
            </a:r>
            <a:r>
              <a:rPr lang="en-US" altLang="zh-TW" sz="2800" dirty="0" smtClean="0"/>
              <a:t>features</a:t>
            </a:r>
            <a:r>
              <a:rPr lang="en-US" altLang="zh-TW" sz="2800" dirty="0" smtClean="0"/>
              <a:t>. </a:t>
            </a:r>
          </a:p>
          <a:p>
            <a:r>
              <a:rPr lang="en-US" altLang="zh-TW" sz="2800" dirty="0" smtClean="0"/>
              <a:t>However, the two method is not suitable for our case.</a:t>
            </a:r>
            <a:endParaRPr lang="zh-TW" altLang="en-US" sz="2800" dirty="0" smtClean="0">
              <a:cs typeface="Times New Roman" panose="02020603050405020304" pitchFamily="18" charset="0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D8DC7A06-82B7-4DED-93BE-CCD9A0C12253}" type="slidenum">
              <a:rPr kumimoji="0" lang="zh-TW" altLang="en-US">
                <a:solidFill>
                  <a:srgbClr val="045C75"/>
                </a:solidFill>
                <a:latin typeface="+mj-lt"/>
              </a:rPr>
              <a:pPr eaLnBrk="1" hangingPunct="1"/>
              <a:t>11</a:t>
            </a:fld>
            <a:endParaRPr kumimoji="0" lang="zh-TW" altLang="en-US">
              <a:solidFill>
                <a:srgbClr val="045C75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89530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內容版面配置區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83033932"/>
              </p:ext>
            </p:extLst>
          </p:nvPr>
        </p:nvGraphicFramePr>
        <p:xfrm>
          <a:off x="1042988" y="1963738"/>
          <a:ext cx="6818549" cy="2291080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965074"/>
                <a:gridCol w="915906"/>
                <a:gridCol w="972920"/>
                <a:gridCol w="972920"/>
                <a:gridCol w="997243"/>
                <a:gridCol w="997243"/>
                <a:gridCol w="997243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Training</a:t>
                      </a:r>
                    </a:p>
                    <a:p>
                      <a:r>
                        <a:rPr lang="en-US" altLang="zh-TW" dirty="0" smtClean="0"/>
                        <a:t>Set</a:t>
                      </a:r>
                      <a:endParaRPr lang="zh-TW" altLang="en-US" dirty="0">
                        <a:latin typeface="+mj-lt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Testing</a:t>
                      </a:r>
                    </a:p>
                    <a:p>
                      <a:r>
                        <a:rPr lang="en-US" altLang="zh-TW" dirty="0" smtClean="0"/>
                        <a:t>Set</a:t>
                      </a:r>
                      <a:endParaRPr lang="zh-TW" altLang="en-US" dirty="0">
                        <a:latin typeface="+mj-lt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BBQ</a:t>
                      </a:r>
                      <a:endParaRPr lang="zh-TW" altLang="en-US" dirty="0">
                        <a:latin typeface="+mj-lt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Chang’s Method</a:t>
                      </a:r>
                      <a:endParaRPr lang="zh-TW" altLang="en-US" dirty="0">
                        <a:latin typeface="+mj-lt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Chen’s Method</a:t>
                      </a:r>
                      <a:endParaRPr lang="zh-TW" altLang="en-US" dirty="0">
                        <a:latin typeface="+mj-lt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Wu’s </a:t>
                      </a:r>
                      <a:r>
                        <a:rPr lang="en-US" altLang="zh-TW" dirty="0" smtClean="0"/>
                        <a:t>Method</a:t>
                      </a:r>
                      <a:endParaRPr lang="zh-TW" altLang="en-US" dirty="0">
                        <a:latin typeface="+mj-lt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Our</a:t>
                      </a:r>
                      <a:r>
                        <a:rPr lang="en-US" altLang="zh-TW" baseline="0" dirty="0" smtClean="0"/>
                        <a:t> </a:t>
                      </a:r>
                    </a:p>
                    <a:p>
                      <a:r>
                        <a:rPr lang="en-US" altLang="zh-TW" baseline="0" dirty="0" smtClean="0"/>
                        <a:t>Method</a:t>
                      </a:r>
                      <a:endParaRPr lang="zh-TW" altLang="en-US" dirty="0">
                        <a:latin typeface="+mj-lt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CASP7</a:t>
                      </a:r>
                      <a:endParaRPr lang="zh-TW" altLang="en-US" dirty="0">
                        <a:latin typeface="+mj-lt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CASP7</a:t>
                      </a:r>
                      <a:endParaRPr lang="zh-TW" altLang="en-US" dirty="0">
                        <a:latin typeface="+mj-lt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0.3624</a:t>
                      </a:r>
                      <a:endParaRPr lang="zh-TW" altLang="en-US" dirty="0">
                        <a:solidFill>
                          <a:srgbClr val="0070C0"/>
                        </a:solidFill>
                        <a:latin typeface="+mj-lt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0.4108</a:t>
                      </a:r>
                      <a:endParaRPr lang="zh-TW" altLang="en-US" dirty="0">
                        <a:latin typeface="+mj-lt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0.3505</a:t>
                      </a:r>
                      <a:endParaRPr lang="zh-TW" altLang="en-US" dirty="0">
                        <a:solidFill>
                          <a:srgbClr val="00B050"/>
                        </a:solidFill>
                        <a:latin typeface="+mj-lt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0.3355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+mj-lt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0.2659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CASP8</a:t>
                      </a:r>
                      <a:endParaRPr lang="zh-TW" altLang="en-US" dirty="0">
                        <a:latin typeface="+mj-lt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CASP8</a:t>
                      </a:r>
                      <a:endParaRPr lang="zh-TW" altLang="en-US" dirty="0">
                        <a:latin typeface="+mj-lt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en-US" altLang="zh-TW" kern="1200" dirty="0" smtClean="0"/>
                        <a:t>0.4584</a:t>
                      </a:r>
                      <a:endParaRPr kumimoji="0" lang="zh-TW" altLang="en-US" kern="1200" dirty="0">
                        <a:solidFill>
                          <a:srgbClr val="0070C0"/>
                        </a:solidFill>
                        <a:latin typeface="+mj-lt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0.4888</a:t>
                      </a:r>
                      <a:endParaRPr lang="zh-TW" altLang="en-US" dirty="0">
                        <a:latin typeface="+mj-lt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0.4106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+mj-lt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0.4379</a:t>
                      </a:r>
                      <a:endParaRPr lang="zh-TW" altLang="en-US" dirty="0">
                        <a:solidFill>
                          <a:srgbClr val="00B050"/>
                        </a:solidFill>
                        <a:latin typeface="+mj-lt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0.3443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CASP9</a:t>
                      </a:r>
                      <a:endParaRPr lang="zh-TW" altLang="en-US" dirty="0">
                        <a:latin typeface="+mj-lt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CASP9</a:t>
                      </a:r>
                      <a:endParaRPr lang="zh-TW" altLang="en-US" dirty="0">
                        <a:latin typeface="+mj-lt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kern="1200" dirty="0" smtClean="0"/>
                        <a:t>0.4280</a:t>
                      </a:r>
                      <a:endParaRPr kumimoji="0" lang="zh-TW" altLang="en-US" kern="1200" dirty="0">
                        <a:solidFill>
                          <a:srgbClr val="00B050"/>
                        </a:solidFill>
                        <a:latin typeface="+mj-lt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0.4406</a:t>
                      </a:r>
                      <a:endParaRPr lang="zh-TW" altLang="en-US" dirty="0">
                        <a:latin typeface="+mj-lt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0.3693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+mj-lt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kern="1200" dirty="0" smtClean="0"/>
                        <a:t>0.4293</a:t>
                      </a:r>
                      <a:endParaRPr kumimoji="0" lang="zh-TW" altLang="en-US" kern="1200" dirty="0">
                        <a:solidFill>
                          <a:srgbClr val="0070C0"/>
                        </a:solidFill>
                        <a:latin typeface="+mj-lt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B557DE00-8D85-4E77-B7F6-3B2DD4C7DFD2}" type="slidenum">
              <a:rPr kumimoji="0" lang="zh-TW" altLang="en-US">
                <a:solidFill>
                  <a:srgbClr val="045C75"/>
                </a:solidFill>
                <a:latin typeface="+mn-lt"/>
                <a:cs typeface="Times New Roman" panose="02020603050405020304" pitchFamily="18" charset="0"/>
              </a:rPr>
              <a:pPr eaLnBrk="1" hangingPunct="1"/>
              <a:t>12</a:t>
            </a:fld>
            <a:endParaRPr kumimoji="0" lang="zh-TW" altLang="en-US">
              <a:solidFill>
                <a:srgbClr val="045C75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8" name="內容版面配置區 2"/>
          <p:cNvSpPr txBox="1">
            <a:spLocks/>
          </p:cNvSpPr>
          <p:nvPr/>
        </p:nvSpPr>
        <p:spPr bwMode="auto">
          <a:xfrm>
            <a:off x="900113" y="1196975"/>
            <a:ext cx="6408191" cy="5038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65125" indent="-282575">
              <a:spcBef>
                <a:spcPts val="600"/>
              </a:spcBef>
              <a:buClr>
                <a:schemeClr val="accent1"/>
              </a:buClr>
              <a:buSzPct val="80000"/>
              <a:buFont typeface="Wingdings 2" pitchFamily="18" charset="2"/>
              <a:buChar char=""/>
              <a:defRPr/>
            </a:pPr>
            <a:r>
              <a:rPr kumimoji="0" lang="en-US" altLang="zh-TW" sz="3200" dirty="0" smtClean="0">
                <a:ea typeface="+mn-ea"/>
                <a:cs typeface="Times New Roman" pitchFamily="18" charset="0"/>
              </a:rPr>
              <a:t>Self-test</a:t>
            </a:r>
            <a:br>
              <a:rPr kumimoji="0" lang="en-US" altLang="zh-TW" sz="3200" dirty="0" smtClean="0">
                <a:ea typeface="+mn-ea"/>
                <a:cs typeface="Times New Roman" pitchFamily="18" charset="0"/>
              </a:rPr>
            </a:br>
            <a:r>
              <a:rPr kumimoji="0" lang="en-US" altLang="zh-TW" sz="3200" dirty="0" smtClean="0">
                <a:ea typeface="+mn-ea"/>
                <a:cs typeface="Times New Roman" pitchFamily="18" charset="0"/>
              </a:rPr>
              <a:t/>
            </a:r>
            <a:br>
              <a:rPr kumimoji="0" lang="en-US" altLang="zh-TW" sz="3200" dirty="0" smtClean="0">
                <a:ea typeface="+mn-ea"/>
                <a:cs typeface="Times New Roman" pitchFamily="18" charset="0"/>
              </a:rPr>
            </a:br>
            <a:r>
              <a:rPr kumimoji="0" lang="en-US" altLang="zh-TW" sz="3200" dirty="0" smtClean="0">
                <a:ea typeface="+mn-ea"/>
                <a:cs typeface="Times New Roman" pitchFamily="18" charset="0"/>
              </a:rPr>
              <a:t/>
            </a:r>
            <a:br>
              <a:rPr kumimoji="0" lang="en-US" altLang="zh-TW" sz="3200" dirty="0" smtClean="0">
                <a:ea typeface="+mn-ea"/>
                <a:cs typeface="Times New Roman" pitchFamily="18" charset="0"/>
              </a:rPr>
            </a:br>
            <a:r>
              <a:rPr kumimoji="0" lang="en-US" altLang="zh-TW" sz="3200" dirty="0" smtClean="0">
                <a:ea typeface="+mn-ea"/>
                <a:cs typeface="Times New Roman" pitchFamily="18" charset="0"/>
              </a:rPr>
              <a:t/>
            </a:r>
            <a:br>
              <a:rPr kumimoji="0" lang="en-US" altLang="zh-TW" sz="3200" dirty="0" smtClean="0">
                <a:ea typeface="+mn-ea"/>
                <a:cs typeface="Times New Roman" pitchFamily="18" charset="0"/>
              </a:rPr>
            </a:br>
            <a:r>
              <a:rPr kumimoji="0" lang="en-US" altLang="zh-TW" sz="3200" dirty="0" smtClean="0">
                <a:ea typeface="+mn-ea"/>
                <a:cs typeface="Times New Roman" pitchFamily="18" charset="0"/>
              </a:rPr>
              <a:t/>
            </a:r>
            <a:br>
              <a:rPr kumimoji="0" lang="en-US" altLang="zh-TW" sz="3200" dirty="0" smtClean="0">
                <a:ea typeface="+mn-ea"/>
                <a:cs typeface="Times New Roman" pitchFamily="18" charset="0"/>
              </a:rPr>
            </a:br>
            <a:endParaRPr kumimoji="0" lang="en-US" altLang="zh-TW" sz="3200" dirty="0">
              <a:ea typeface="+mn-ea"/>
              <a:cs typeface="Times New Roman" pitchFamily="18" charset="0"/>
            </a:endParaRPr>
          </a:p>
        </p:txBody>
      </p:sp>
      <p:sp>
        <p:nvSpPr>
          <p:cNvPr id="10" name="標題 1"/>
          <p:cNvSpPr txBox="1">
            <a:spLocks/>
          </p:cNvSpPr>
          <p:nvPr/>
        </p:nvSpPr>
        <p:spPr>
          <a:xfrm>
            <a:off x="642938" y="214313"/>
            <a:ext cx="8043862" cy="928687"/>
          </a:xfrm>
          <a:prstGeom prst="rect">
            <a:avLst/>
          </a:prstGeom>
        </p:spPr>
        <p:txBody>
          <a:bodyPr lIns="0" rIns="0" bIns="0" anchor="b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sz="3200" dirty="0" smtClean="0">
                <a:solidFill>
                  <a:schemeClr val="tx2">
                    <a:satMod val="130000"/>
                  </a:schemeClr>
                </a:solidFill>
                <a:ea typeface="新細明體" charset="-120"/>
                <a:cs typeface="Times New Roman" pitchFamily="18" charset="0"/>
              </a:rPr>
              <a:t>Experimental Results</a:t>
            </a:r>
            <a:endParaRPr kumimoji="0" lang="zh-TW" altLang="en-US" sz="3200" dirty="0">
              <a:solidFill>
                <a:schemeClr val="tx2">
                  <a:satMod val="130000"/>
                </a:schemeClr>
              </a:solidFill>
              <a:ea typeface="+mj-ea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9381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內容版面配置區 4"/>
          <p:cNvSpPr>
            <a:spLocks noGrp="1"/>
          </p:cNvSpPr>
          <p:nvPr>
            <p:ph idx="1"/>
          </p:nvPr>
        </p:nvSpPr>
        <p:spPr>
          <a:xfrm>
            <a:off x="900113" y="1196975"/>
            <a:ext cx="7499350" cy="4800600"/>
          </a:xfrm>
        </p:spPr>
        <p:txBody>
          <a:bodyPr/>
          <a:lstStyle/>
          <a:p>
            <a:r>
              <a:rPr lang="en-US" altLang="zh-TW" smtClean="0">
                <a:cs typeface="Times New Roman" panose="02020603050405020304" pitchFamily="18" charset="0"/>
              </a:rPr>
              <a:t>Independent test</a:t>
            </a:r>
            <a:endParaRPr lang="zh-TW" altLang="en-US" smtClean="0">
              <a:cs typeface="Times New Roman" panose="02020603050405020304" pitchFamily="18" charset="0"/>
            </a:endParaRPr>
          </a:p>
        </p:txBody>
      </p:sp>
      <p:sp>
        <p:nvSpPr>
          <p:cNvPr id="10" name="投影片編號版面配置區 9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E0D26033-F937-4ACC-BF84-29256C53D356}" type="slidenum">
              <a:rPr kumimoji="0" lang="zh-TW" altLang="en-US">
                <a:solidFill>
                  <a:srgbClr val="045C75"/>
                </a:solidFill>
                <a:latin typeface="+mj-lt"/>
              </a:rPr>
              <a:pPr eaLnBrk="1" hangingPunct="1"/>
              <a:t>13</a:t>
            </a:fld>
            <a:endParaRPr kumimoji="0" lang="zh-TW" altLang="en-US">
              <a:solidFill>
                <a:srgbClr val="045C75"/>
              </a:solidFill>
              <a:latin typeface="+mj-lt"/>
            </a:endParaRPr>
          </a:p>
        </p:txBody>
      </p:sp>
      <p:graphicFrame>
        <p:nvGraphicFramePr>
          <p:cNvPr id="11" name="內容版面配置區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59770988"/>
              </p:ext>
            </p:extLst>
          </p:nvPr>
        </p:nvGraphicFramePr>
        <p:xfrm>
          <a:off x="467544" y="1857375"/>
          <a:ext cx="8219257" cy="1381378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1163326"/>
                <a:gridCol w="1104057"/>
                <a:gridCol w="1172784"/>
                <a:gridCol w="1172784"/>
                <a:gridCol w="1202102"/>
                <a:gridCol w="1202102"/>
                <a:gridCol w="1202102"/>
              </a:tblGrid>
              <a:tr h="639786"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Training</a:t>
                      </a:r>
                    </a:p>
                    <a:p>
                      <a:r>
                        <a:rPr lang="en-US" altLang="zh-TW" sz="1800" dirty="0" smtClean="0"/>
                        <a:t>Set</a:t>
                      </a:r>
                      <a:endParaRPr lang="zh-TW" altLang="en-US" sz="1800" dirty="0">
                        <a:latin typeface="+mn-lt"/>
                        <a:cs typeface="Times New Roman" pitchFamily="18" charset="0"/>
                      </a:endParaRPr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Testing</a:t>
                      </a:r>
                    </a:p>
                    <a:p>
                      <a:r>
                        <a:rPr lang="en-US" altLang="zh-TW" sz="1800" dirty="0" smtClean="0"/>
                        <a:t>Set</a:t>
                      </a:r>
                      <a:endParaRPr lang="zh-TW" altLang="en-US" sz="1800" dirty="0">
                        <a:latin typeface="+mn-lt"/>
                        <a:cs typeface="Times New Roman" pitchFamily="18" charset="0"/>
                      </a:endParaRPr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BBQ</a:t>
                      </a:r>
                      <a:endParaRPr lang="zh-TW" altLang="en-US" sz="1800" dirty="0">
                        <a:latin typeface="+mn-lt"/>
                        <a:cs typeface="Times New Roman" pitchFamily="18" charset="0"/>
                      </a:endParaRPr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Chang’s Method</a:t>
                      </a:r>
                      <a:endParaRPr lang="zh-TW" altLang="en-US" sz="1800" dirty="0">
                        <a:latin typeface="+mn-lt"/>
                        <a:cs typeface="Times New Roman" pitchFamily="18" charset="0"/>
                      </a:endParaRPr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Chen’s Method</a:t>
                      </a:r>
                      <a:endParaRPr lang="zh-TW" altLang="en-US" sz="1800" dirty="0">
                        <a:latin typeface="+mn-lt"/>
                        <a:cs typeface="Times New Roman" pitchFamily="18" charset="0"/>
                      </a:endParaRPr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Wu’s Method</a:t>
                      </a:r>
                      <a:endParaRPr kumimoji="0" lang="zh-TW" altLang="en-US" b="1" kern="120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Times New Roman" pitchFamily="18" charset="0"/>
                      </a:endParaRPr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Our Method</a:t>
                      </a:r>
                      <a:endParaRPr lang="zh-TW" altLang="en-US" sz="1800" dirty="0">
                        <a:latin typeface="+mn-lt"/>
                        <a:cs typeface="Times New Roman" pitchFamily="18" charset="0"/>
                      </a:endParaRPr>
                    </a:p>
                  </a:txBody>
                  <a:tcPr marT="45699" marB="45699"/>
                </a:tc>
              </a:tr>
              <a:tr h="370670"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CASP8</a:t>
                      </a:r>
                      <a:endParaRPr lang="zh-TW" altLang="en-US" sz="1800" dirty="0">
                        <a:latin typeface="+mn-lt"/>
                        <a:cs typeface="Times New Roman" pitchFamily="18" charset="0"/>
                      </a:endParaRPr>
                    </a:p>
                  </a:txBody>
                  <a:tcPr marT="45699" marB="45699"/>
                </a:tc>
                <a:tc rowSpan="2">
                  <a:txBody>
                    <a:bodyPr/>
                    <a:lstStyle/>
                    <a:p>
                      <a:pPr algn="l">
                        <a:lnSpc>
                          <a:spcPct val="200000"/>
                        </a:lnSpc>
                      </a:pPr>
                      <a:r>
                        <a:rPr lang="en-US" altLang="zh-TW" sz="1800" dirty="0" smtClean="0"/>
                        <a:t>CASP7</a:t>
                      </a:r>
                      <a:endParaRPr lang="zh-TW" altLang="en-US" sz="1800" dirty="0">
                        <a:latin typeface="+mn-lt"/>
                        <a:cs typeface="Times New Roman" pitchFamily="18" charset="0"/>
                      </a:endParaRPr>
                    </a:p>
                  </a:txBody>
                  <a:tcPr marT="45699" marB="45699"/>
                </a:tc>
                <a:tc row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kern="1200" dirty="0" smtClean="0"/>
                        <a:t>0.3624</a:t>
                      </a:r>
                      <a:endParaRPr kumimoji="0" lang="zh-TW" altLang="en-US" sz="1800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Times New Roman" pitchFamily="18" charset="0"/>
                      </a:endParaRPr>
                    </a:p>
                  </a:txBody>
                  <a:tcPr marT="45699" marB="45699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US" altLang="zh-TW" sz="1800" dirty="0" smtClean="0"/>
                        <a:t>0.4108</a:t>
                      </a:r>
                      <a:endParaRPr lang="zh-TW" altLang="en-US" sz="1800" dirty="0">
                        <a:latin typeface="+mn-lt"/>
                        <a:cs typeface="Times New Roman" pitchFamily="18" charset="0"/>
                      </a:endParaRPr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0.3589</a:t>
                      </a:r>
                      <a:endParaRPr lang="zh-TW" altLang="en-US" sz="1800" dirty="0">
                        <a:solidFill>
                          <a:srgbClr val="FF0000"/>
                        </a:solidFill>
                        <a:latin typeface="+mn-lt"/>
                        <a:cs typeface="Times New Roman" pitchFamily="18" charset="0"/>
                      </a:endParaRPr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kern="1200" dirty="0" smtClean="0"/>
                        <a:t>0.3636</a:t>
                      </a:r>
                      <a:endParaRPr kumimoji="0" lang="zh-TW" altLang="en-US" sz="1800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Times New Roman" pitchFamily="18" charset="0"/>
                      </a:endParaRPr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kern="1200" smtClean="0"/>
                        <a:t>0.3661</a:t>
                      </a:r>
                      <a:endParaRPr kumimoji="0" lang="en-US" altLang="zh-TW" sz="1800" kern="1200" dirty="0" smtClean="0"/>
                    </a:p>
                  </a:txBody>
                  <a:tcPr marT="45699" marB="45699"/>
                </a:tc>
              </a:tr>
              <a:tr h="370670"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CASP9</a:t>
                      </a:r>
                      <a:endParaRPr lang="zh-TW" altLang="en-US" sz="1800" dirty="0">
                        <a:latin typeface="+mn-lt"/>
                        <a:cs typeface="Times New Roman" pitchFamily="18" charset="0"/>
                      </a:endParaRPr>
                    </a:p>
                  </a:txBody>
                  <a:tcPr marT="45699" marB="45699"/>
                </a:tc>
                <a:tc vMerge="1">
                  <a:txBody>
                    <a:bodyPr/>
                    <a:lstStyle/>
                    <a:p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0.3609</a:t>
                      </a:r>
                      <a:endParaRPr lang="zh-TW" altLang="en-US" sz="1800" dirty="0">
                        <a:solidFill>
                          <a:srgbClr val="FF0000"/>
                        </a:solidFill>
                        <a:latin typeface="+mn-lt"/>
                        <a:cs typeface="Times New Roman" pitchFamily="18" charset="0"/>
                      </a:endParaRPr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kern="1200" dirty="0" smtClean="0"/>
                        <a:t>0.3632</a:t>
                      </a:r>
                      <a:endParaRPr kumimoji="0" lang="zh-TW" altLang="en-US" sz="1800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Times New Roman" pitchFamily="18" charset="0"/>
                      </a:endParaRPr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kern="1200" dirty="0" smtClean="0"/>
                        <a:t>0.3632</a:t>
                      </a:r>
                      <a:endParaRPr kumimoji="0" lang="zh-TW" altLang="en-US" sz="1800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Times New Roman" pitchFamily="18" charset="0"/>
                      </a:endParaRPr>
                    </a:p>
                  </a:txBody>
                  <a:tcPr marT="45699" marB="45699"/>
                </a:tc>
              </a:tr>
            </a:tbl>
          </a:graphicData>
        </a:graphic>
      </p:graphicFrame>
      <p:graphicFrame>
        <p:nvGraphicFramePr>
          <p:cNvPr id="12" name="內容版面配置區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27312556"/>
              </p:ext>
            </p:extLst>
          </p:nvPr>
        </p:nvGraphicFramePr>
        <p:xfrm>
          <a:off x="467544" y="3357563"/>
          <a:ext cx="8219257" cy="138137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63326"/>
                <a:gridCol w="1104057"/>
                <a:gridCol w="1172784"/>
                <a:gridCol w="1172784"/>
                <a:gridCol w="1202102"/>
                <a:gridCol w="1202102"/>
                <a:gridCol w="1202102"/>
              </a:tblGrid>
              <a:tr h="639786"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Training</a:t>
                      </a:r>
                    </a:p>
                    <a:p>
                      <a:r>
                        <a:rPr lang="en-US" altLang="zh-TW" sz="1800" dirty="0" smtClean="0"/>
                        <a:t>Set</a:t>
                      </a:r>
                      <a:endParaRPr lang="zh-TW" alt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Testing</a:t>
                      </a:r>
                    </a:p>
                    <a:p>
                      <a:r>
                        <a:rPr lang="en-US" altLang="zh-TW" sz="1800" dirty="0" smtClean="0"/>
                        <a:t>Set</a:t>
                      </a:r>
                      <a:endParaRPr lang="zh-TW" alt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BBQ</a:t>
                      </a:r>
                      <a:endParaRPr lang="zh-TW" alt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Chang’s Method</a:t>
                      </a:r>
                      <a:endParaRPr lang="zh-TW" alt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Chen’s Method</a:t>
                      </a:r>
                      <a:endParaRPr lang="zh-TW" alt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Wu’s Method</a:t>
                      </a:r>
                      <a:endParaRPr kumimoji="0" lang="zh-TW" altLang="en-US" b="1" kern="120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Times New Roman" pitchFamily="18" charset="0"/>
                      </a:endParaRPr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Our Method</a:t>
                      </a:r>
                      <a:endParaRPr lang="zh-TW" alt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699" marB="45699"/>
                </a:tc>
              </a:tr>
              <a:tr h="370670"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CASP7</a:t>
                      </a:r>
                      <a:endParaRPr lang="zh-TW" alt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699" marB="45699"/>
                </a:tc>
                <a:tc rowSpan="2">
                  <a:txBody>
                    <a:bodyPr/>
                    <a:lstStyle/>
                    <a:p>
                      <a:pPr algn="l">
                        <a:lnSpc>
                          <a:spcPct val="200000"/>
                        </a:lnSpc>
                      </a:pPr>
                      <a:r>
                        <a:rPr lang="en-US" altLang="zh-TW" sz="1800" dirty="0" smtClean="0"/>
                        <a:t>CASP8</a:t>
                      </a:r>
                      <a:endParaRPr lang="zh-TW" alt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699" marB="45699"/>
                </a:tc>
                <a:tc row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kern="1200" dirty="0" smtClean="0"/>
                        <a:t>0.4584</a:t>
                      </a:r>
                      <a:endParaRPr kumimoji="0" lang="en-US" altLang="zh-TW" sz="1800" kern="1200" dirty="0" smtClean="0">
                        <a:solidFill>
                          <a:srgbClr val="00B050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T="45699" marB="45699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US" altLang="zh-TW" sz="1800" dirty="0" smtClean="0"/>
                        <a:t>0.4888</a:t>
                      </a:r>
                      <a:endParaRPr lang="en-US" altLang="zh-TW" sz="180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0.4558</a:t>
                      </a:r>
                      <a:endParaRPr lang="zh-TW" altLang="en-US" sz="1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kern="1200" dirty="0" smtClean="0"/>
                        <a:t>0.4589</a:t>
                      </a:r>
                      <a:endParaRPr kumimoji="0" lang="zh-TW" altLang="en-US" sz="1800" kern="1200" dirty="0">
                        <a:solidFill>
                          <a:srgbClr val="0070C0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kern="1200" dirty="0" smtClean="0"/>
                        <a:t>0.4536</a:t>
                      </a:r>
                      <a:endParaRPr kumimoji="0" lang="zh-TW" altLang="en-US" sz="1800" kern="1200" dirty="0">
                        <a:solidFill>
                          <a:srgbClr val="0070C0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T="45699" marB="45699"/>
                </a:tc>
              </a:tr>
              <a:tr h="370670"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CASP9</a:t>
                      </a:r>
                      <a:endParaRPr lang="zh-TW" alt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699" marB="45699"/>
                </a:tc>
                <a:tc vMerge="1">
                  <a:txBody>
                    <a:bodyPr/>
                    <a:lstStyle/>
                    <a:p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0.4187</a:t>
                      </a:r>
                      <a:endParaRPr lang="zh-TW" altLang="en-US" sz="1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kern="1200" dirty="0" smtClean="0"/>
                        <a:t>0.4590</a:t>
                      </a:r>
                      <a:endParaRPr kumimoji="0" lang="zh-TW" altLang="en-US" sz="1800" kern="1200" dirty="0">
                        <a:solidFill>
                          <a:srgbClr val="0070C0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kern="1200" dirty="0" smtClean="0"/>
                        <a:t>0.4590</a:t>
                      </a:r>
                      <a:endParaRPr kumimoji="0" lang="zh-TW" altLang="en-US" sz="1800" kern="1200" dirty="0">
                        <a:solidFill>
                          <a:srgbClr val="0070C0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T="45699" marB="45699"/>
                </a:tc>
              </a:tr>
            </a:tbl>
          </a:graphicData>
        </a:graphic>
      </p:graphicFrame>
      <p:graphicFrame>
        <p:nvGraphicFramePr>
          <p:cNvPr id="13" name="內容版面配置區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58054357"/>
              </p:ext>
            </p:extLst>
          </p:nvPr>
        </p:nvGraphicFramePr>
        <p:xfrm>
          <a:off x="467544" y="4857750"/>
          <a:ext cx="8219257" cy="138137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63326"/>
                <a:gridCol w="1104057"/>
                <a:gridCol w="1172784"/>
                <a:gridCol w="1172784"/>
                <a:gridCol w="1202102"/>
                <a:gridCol w="1202102"/>
                <a:gridCol w="1202102"/>
              </a:tblGrid>
              <a:tr h="639786"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Training</a:t>
                      </a:r>
                    </a:p>
                    <a:p>
                      <a:r>
                        <a:rPr lang="en-US" altLang="zh-TW" sz="1800" dirty="0" smtClean="0"/>
                        <a:t>Set</a:t>
                      </a:r>
                      <a:endParaRPr lang="zh-TW" alt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Testing</a:t>
                      </a:r>
                    </a:p>
                    <a:p>
                      <a:r>
                        <a:rPr lang="en-US" altLang="zh-TW" sz="1800" dirty="0" smtClean="0"/>
                        <a:t>Set</a:t>
                      </a:r>
                      <a:endParaRPr lang="zh-TW" alt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BBQ</a:t>
                      </a:r>
                      <a:endParaRPr lang="zh-TW" alt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Chang’s Method</a:t>
                      </a:r>
                      <a:endParaRPr lang="zh-TW" alt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Chen’s Method</a:t>
                      </a:r>
                      <a:endParaRPr lang="zh-TW" alt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Wu’s Method</a:t>
                      </a:r>
                      <a:endParaRPr kumimoji="0" lang="zh-TW" altLang="en-US" b="1" kern="120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Times New Roman" pitchFamily="18" charset="0"/>
                      </a:endParaRPr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Our Method</a:t>
                      </a:r>
                      <a:endParaRPr lang="zh-TW" alt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699" marB="45699"/>
                </a:tc>
              </a:tr>
              <a:tr h="370670"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CASP7</a:t>
                      </a:r>
                      <a:endParaRPr lang="zh-TW" alt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699" marB="45699"/>
                </a:tc>
                <a:tc rowSpan="2">
                  <a:txBody>
                    <a:bodyPr/>
                    <a:lstStyle/>
                    <a:p>
                      <a:pPr algn="l">
                        <a:lnSpc>
                          <a:spcPct val="200000"/>
                        </a:lnSpc>
                      </a:pPr>
                      <a:r>
                        <a:rPr lang="en-US" altLang="zh-TW" sz="1800" dirty="0" smtClean="0"/>
                        <a:t>CASP9</a:t>
                      </a:r>
                      <a:endParaRPr lang="zh-TW" alt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699" marB="45699"/>
                </a:tc>
                <a:tc row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kern="1200" dirty="0" smtClean="0"/>
                        <a:t>0.4280</a:t>
                      </a:r>
                      <a:endParaRPr kumimoji="0" lang="en-US" altLang="zh-TW" sz="1800" kern="1200" dirty="0" smtClean="0">
                        <a:solidFill>
                          <a:srgbClr val="00B050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T="45699" marB="45699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US" altLang="zh-TW" sz="1800" dirty="0" smtClean="0"/>
                        <a:t>0.4406</a:t>
                      </a:r>
                      <a:endParaRPr lang="en-US" altLang="zh-TW" sz="180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 smtClean="0"/>
                        <a:t>0.4127</a:t>
                      </a:r>
                      <a:endParaRPr lang="zh-TW" altLang="en-US" sz="1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kern="1200" dirty="0" smtClean="0"/>
                        <a:t>0.4334</a:t>
                      </a:r>
                      <a:endParaRPr kumimoji="0" lang="zh-TW" altLang="en-US" sz="1800" kern="1200" dirty="0">
                        <a:solidFill>
                          <a:srgbClr val="0070C0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kern="1200" smtClean="0"/>
                        <a:t>0.4363</a:t>
                      </a:r>
                      <a:endParaRPr kumimoji="0" lang="zh-TW" altLang="en-US" sz="1800" kern="1200" dirty="0">
                        <a:solidFill>
                          <a:srgbClr val="0070C0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T="45699" marB="45699"/>
                </a:tc>
              </a:tr>
              <a:tr h="370670"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CASP8</a:t>
                      </a:r>
                      <a:endParaRPr lang="zh-TW" alt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699" marB="45699"/>
                </a:tc>
                <a:tc vMerge="1">
                  <a:txBody>
                    <a:bodyPr/>
                    <a:lstStyle/>
                    <a:p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0.3757</a:t>
                      </a:r>
                      <a:endParaRPr lang="zh-TW" altLang="en-US" sz="1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kern="1200" dirty="0" smtClean="0"/>
                        <a:t>0.4297</a:t>
                      </a:r>
                      <a:endParaRPr kumimoji="0" lang="zh-TW" altLang="en-US" sz="1800" kern="1200" dirty="0">
                        <a:solidFill>
                          <a:srgbClr val="0070C0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kern="1200" dirty="0" smtClean="0"/>
                        <a:t>0.4372</a:t>
                      </a:r>
                      <a:endParaRPr kumimoji="0" lang="en-US" altLang="zh-TW" sz="1800" kern="1200" dirty="0" smtClean="0">
                        <a:solidFill>
                          <a:srgbClr val="0070C0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T="45699" marB="45699"/>
                </a:tc>
              </a:tr>
            </a:tbl>
          </a:graphicData>
        </a:graphic>
      </p:graphicFrame>
      <p:sp>
        <p:nvSpPr>
          <p:cNvPr id="9" name="標題 1"/>
          <p:cNvSpPr txBox="1">
            <a:spLocks/>
          </p:cNvSpPr>
          <p:nvPr/>
        </p:nvSpPr>
        <p:spPr>
          <a:xfrm>
            <a:off x="642938" y="214313"/>
            <a:ext cx="8043862" cy="928687"/>
          </a:xfrm>
          <a:prstGeom prst="rect">
            <a:avLst/>
          </a:prstGeom>
        </p:spPr>
        <p:txBody>
          <a:bodyPr lIns="0" rIns="0" bIns="0" anchor="b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sz="3200" dirty="0">
                <a:solidFill>
                  <a:schemeClr val="tx2">
                    <a:satMod val="130000"/>
                  </a:schemeClr>
                </a:solidFill>
                <a:latin typeface="+mj-lt"/>
                <a:ea typeface="新細明體" charset="-120"/>
                <a:cs typeface="Times New Roman" pitchFamily="18" charset="0"/>
              </a:rPr>
              <a:t>Experimental </a:t>
            </a:r>
            <a:r>
              <a:rPr lang="en-US" altLang="zh-TW" sz="3200" dirty="0" smtClean="0">
                <a:solidFill>
                  <a:schemeClr val="tx2">
                    <a:satMod val="130000"/>
                  </a:schemeClr>
                </a:solidFill>
                <a:latin typeface="+mj-lt"/>
                <a:ea typeface="新細明體" charset="-120"/>
                <a:cs typeface="Times New Roman" pitchFamily="18" charset="0"/>
              </a:rPr>
              <a:t>Results</a:t>
            </a:r>
            <a:endParaRPr kumimoji="0" lang="zh-TW" altLang="en-US" sz="3200" dirty="0">
              <a:solidFill>
                <a:schemeClr val="tx2">
                  <a:satMod val="130000"/>
                </a:schemeClr>
              </a:solidFill>
              <a:latin typeface="+mj-lt"/>
              <a:ea typeface="+mj-ea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0811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內容版面配置區 2"/>
          <p:cNvSpPr>
            <a:spLocks noGrp="1"/>
          </p:cNvSpPr>
          <p:nvPr>
            <p:ph idx="1"/>
          </p:nvPr>
        </p:nvSpPr>
        <p:spPr>
          <a:xfrm>
            <a:off x="457200" y="1214438"/>
            <a:ext cx="8229600" cy="5110162"/>
          </a:xfrm>
        </p:spPr>
        <p:txBody>
          <a:bodyPr/>
          <a:lstStyle/>
          <a:p>
            <a:r>
              <a:rPr lang="en-US" altLang="zh-TW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 only get better result than Chen’s result in CASP7-CASP7.</a:t>
            </a:r>
          </a:p>
          <a:p>
            <a:endParaRPr lang="en-US" altLang="zh-TW" sz="28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 get better results than BBQ’s results in CASP7-CASP7 and CASP8-CASP8.</a:t>
            </a:r>
          </a:p>
          <a:p>
            <a:endParaRPr lang="en-US" altLang="zh-TW" sz="28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other results are better than Chang’s results but worse than BBQ’s and Chen’s results.</a:t>
            </a:r>
            <a:endParaRPr lang="zh-TW" altLang="en-US" sz="28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3CB2E518-B8FF-42DB-86C0-00539530B634}" type="slidenum">
              <a:rPr kumimoji="0" lang="zh-TW" altLang="en-US">
                <a:solidFill>
                  <a:srgbClr val="045C75"/>
                </a:solidFill>
              </a:rPr>
              <a:pPr eaLnBrk="1" hangingPunct="1"/>
              <a:t>14</a:t>
            </a:fld>
            <a:endParaRPr kumimoji="0" lang="zh-TW" altLang="en-US">
              <a:solidFill>
                <a:srgbClr val="045C75"/>
              </a:solidFill>
            </a:endParaRPr>
          </a:p>
        </p:txBody>
      </p:sp>
      <p:sp>
        <p:nvSpPr>
          <p:cNvPr id="5" name="標題 1"/>
          <p:cNvSpPr txBox="1">
            <a:spLocks/>
          </p:cNvSpPr>
          <p:nvPr/>
        </p:nvSpPr>
        <p:spPr>
          <a:xfrm>
            <a:off x="642938" y="214313"/>
            <a:ext cx="8043862" cy="928687"/>
          </a:xfrm>
          <a:prstGeom prst="rect">
            <a:avLst/>
          </a:prstGeom>
        </p:spPr>
        <p:txBody>
          <a:bodyPr lIns="0" rIns="0" bIns="0" anchor="b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sz="5400" dirty="0">
                <a:solidFill>
                  <a:schemeClr val="tx2">
                    <a:satMod val="130000"/>
                  </a:schemeClr>
                </a:solidFill>
                <a:latin typeface="Times New Roman" pitchFamily="18" charset="0"/>
                <a:ea typeface="新細明體" charset="-120"/>
                <a:cs typeface="Times New Roman" pitchFamily="18" charset="0"/>
              </a:rPr>
              <a:t>Conclusion</a:t>
            </a:r>
            <a:endParaRPr kumimoji="0" lang="zh-TW" altLang="en-US" sz="5000" dirty="0">
              <a:solidFill>
                <a:schemeClr val="tx2">
                  <a:satMod val="130000"/>
                </a:schemeClr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7837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內容版面配置區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81600"/>
          </a:xfrm>
        </p:spPr>
        <p:txBody>
          <a:bodyPr/>
          <a:lstStyle/>
          <a:p>
            <a:r>
              <a:rPr lang="en-US" altLang="zh-TW" sz="25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Find more useful features to improve our model.</a:t>
            </a:r>
          </a:p>
          <a:p>
            <a:pPr>
              <a:buFont typeface="Wingdings 2" panose="05020102010507070707" pitchFamily="18" charset="2"/>
              <a:buNone/>
            </a:pPr>
            <a:endParaRPr lang="en-US" altLang="zh-TW" sz="25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5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Change the method of normalization.</a:t>
            </a:r>
          </a:p>
          <a:p>
            <a:endParaRPr lang="en-US" altLang="zh-TW" sz="25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5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Add probability feedback method to converge the result.</a:t>
            </a:r>
          </a:p>
          <a:p>
            <a:endParaRPr lang="en-US" altLang="zh-TW" sz="25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5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 the tool </a:t>
            </a:r>
            <a:r>
              <a:rPr lang="en-US" altLang="zh-TW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be used on N, C and O atoms for each residue of the protein.</a:t>
            </a:r>
            <a:endParaRPr lang="zh-TW" altLang="en-US" sz="25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F0A2399A-3C6A-4A26-ABD5-74CBE0B30909}" type="slidenum">
              <a:rPr kumimoji="0" lang="zh-TW" altLang="en-US">
                <a:solidFill>
                  <a:srgbClr val="045C75"/>
                </a:solidFill>
              </a:rPr>
              <a:pPr eaLnBrk="1" hangingPunct="1"/>
              <a:t>15</a:t>
            </a:fld>
            <a:endParaRPr kumimoji="0" lang="zh-TW" altLang="en-US">
              <a:solidFill>
                <a:srgbClr val="045C75"/>
              </a:solidFill>
            </a:endParaRPr>
          </a:p>
        </p:txBody>
      </p:sp>
      <p:sp>
        <p:nvSpPr>
          <p:cNvPr id="5" name="標題 1"/>
          <p:cNvSpPr txBox="1">
            <a:spLocks/>
          </p:cNvSpPr>
          <p:nvPr/>
        </p:nvSpPr>
        <p:spPr>
          <a:xfrm>
            <a:off x="642938" y="214313"/>
            <a:ext cx="8043862" cy="928687"/>
          </a:xfrm>
          <a:prstGeom prst="rect">
            <a:avLst/>
          </a:prstGeom>
        </p:spPr>
        <p:txBody>
          <a:bodyPr lIns="0" rIns="0" bIns="0" anchor="b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sz="5400" dirty="0">
                <a:solidFill>
                  <a:schemeClr val="tx2">
                    <a:satMod val="130000"/>
                  </a:schemeClr>
                </a:solidFill>
                <a:latin typeface="Times New Roman" pitchFamily="18" charset="0"/>
                <a:ea typeface="新細明體" charset="-120"/>
                <a:cs typeface="Times New Roman" pitchFamily="18" charset="0"/>
              </a:rPr>
              <a:t>Future Work</a:t>
            </a:r>
            <a:endParaRPr kumimoji="0" lang="zh-TW" altLang="en-US" sz="5000" dirty="0">
              <a:solidFill>
                <a:schemeClr val="tx2">
                  <a:satMod val="130000"/>
                </a:schemeClr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1833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theme/theme1.xml><?xml version="1.0" encoding="utf-8"?>
<a:theme xmlns:a="http://schemas.openxmlformats.org/drawingml/2006/main" name="原創">
  <a:themeElements>
    <a:clrScheme name="自訂 3">
      <a:dk1>
        <a:sysClr val="windowText" lastClr="000000"/>
      </a:dk1>
      <a:lt1>
        <a:sysClr val="window" lastClr="FFFFFF"/>
      </a:lt1>
      <a:dk2>
        <a:srgbClr val="000000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0000"/>
      </a:hlink>
      <a:folHlink>
        <a:srgbClr val="0000FF"/>
      </a:folHlink>
    </a:clrScheme>
    <a:fontScheme name="自訂 1">
      <a:majorFont>
        <a:latin typeface="Calibri"/>
        <a:ea typeface="微軟正黑體"/>
        <a:cs typeface=""/>
      </a:majorFont>
      <a:minorFont>
        <a:latin typeface="Calibri"/>
        <a:ea typeface="微軟正黑體"/>
        <a:cs typeface=""/>
      </a:minorFont>
    </a:fontScheme>
    <a:fmtScheme name="原創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10019</TotalTime>
  <Words>706</Words>
  <Application>Microsoft Office PowerPoint</Application>
  <PresentationFormat>如螢幕大小 (4:3)</PresentationFormat>
  <Paragraphs>248</Paragraphs>
  <Slides>15</Slides>
  <Notes>1</Notes>
  <HiddenSlides>0</HiddenSlides>
  <MMClips>0</MMClips>
  <ScaleCrop>false</ScaleCrop>
  <HeadingPairs>
    <vt:vector size="8" baseType="variant">
      <vt:variant>
        <vt:lpstr>使用字型</vt:lpstr>
      </vt:variant>
      <vt:variant>
        <vt:i4>11</vt:i4>
      </vt:variant>
      <vt:variant>
        <vt:lpstr>佈景主題</vt:lpstr>
      </vt:variant>
      <vt:variant>
        <vt:i4>1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28" baseType="lpstr">
      <vt:lpstr>微軟正黑體</vt:lpstr>
      <vt:lpstr>新細明體</vt:lpstr>
      <vt:lpstr>標楷體</vt:lpstr>
      <vt:lpstr>Arial</vt:lpstr>
      <vt:lpstr>Calibri</vt:lpstr>
      <vt:lpstr>Constantia</vt:lpstr>
      <vt:lpstr>Times New Roman</vt:lpstr>
      <vt:lpstr>Verdana</vt:lpstr>
      <vt:lpstr>Wingdings</vt:lpstr>
      <vt:lpstr>Wingdings 2</vt:lpstr>
      <vt:lpstr>Wingdings 3</vt:lpstr>
      <vt:lpstr>原創</vt:lpstr>
      <vt:lpstr>Equation</vt:lpstr>
      <vt:lpstr>Protein Backbone Reconstruction with Tool Preference Classification and Feature Selection </vt:lpstr>
      <vt:lpstr>Introduction (1/3)</vt:lpstr>
      <vt:lpstr>Introduction (2/3)</vt:lpstr>
      <vt:lpstr>Introduction (3/3)</vt:lpstr>
      <vt:lpstr>Root Mean Square Deviation (RMSD)</vt:lpstr>
      <vt:lpstr>Support Vector Machine (SVM)</vt:lpstr>
      <vt:lpstr>Previous Work (1/2)</vt:lpstr>
      <vt:lpstr>Previous Work (2/2)</vt:lpstr>
      <vt:lpstr>Our Method (1/3)</vt:lpstr>
      <vt:lpstr>Our Method (2/3)</vt:lpstr>
      <vt:lpstr>Our Method (3/3)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Quadratic-time algorithm for a string constrained LCS problem</dc:title>
  <dc:creator>Robert</dc:creator>
  <cp:lastModifiedBy>Chuan Yuan</cp:lastModifiedBy>
  <cp:revision>481</cp:revision>
  <cp:lastPrinted>2012-09-10T21:31:19Z</cp:lastPrinted>
  <dcterms:created xsi:type="dcterms:W3CDTF">2012-09-10T08:29:10Z</dcterms:created>
  <dcterms:modified xsi:type="dcterms:W3CDTF">2014-03-24T10:33:28Z</dcterms:modified>
</cp:coreProperties>
</file>