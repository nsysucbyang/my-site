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8BDCD8F5-3340-4F85-BFE0-DF4DF8B7870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6"/>
            <p14:sldId id="265"/>
          </p14:sldIdLst>
        </p14:section>
        <p14:section name="Demo1" id="{B50E5987-2030-45F4-8093-D315660AE82F}">
          <p14:sldIdLst/>
        </p14:section>
        <p14:section name="未命名的章節" id="{22DBD20F-1DD1-4EFD-9B65-77163A56676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68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259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3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1931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4836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812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689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CC8552F6-939D-4F68-BCCA-205DDEEE0495}" type="datetimeFigureOut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1029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0637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7959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552F6-939D-4F68-BCCA-205DDEEE0495}" type="datetimeFigureOut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0592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C8552F6-939D-4F68-BCCA-205DDEEE0495}" type="datetimeFigureOut">
              <a:rPr lang="zh-TW" altLang="en-US" smtClean="0"/>
              <a:t>2014/3/24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B07801-6704-46F2-9CBF-C4E0727C69D0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502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22960" y="783666"/>
            <a:ext cx="7543800" cy="3566160"/>
          </a:xfrm>
        </p:spPr>
        <p:txBody>
          <a:bodyPr>
            <a:noAutofit/>
          </a:bodyPr>
          <a:lstStyle/>
          <a:p>
            <a:r>
              <a:rPr lang="en-US" altLang="zh-TW" sz="4800" dirty="0" smtClean="0"/>
              <a:t>IMPROVING COMMON INTERVAL PROBLEM</a:t>
            </a:r>
            <a:endParaRPr lang="zh-TW" altLang="en-US" sz="4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25038" y="4982844"/>
            <a:ext cx="75438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CING-YAO CHEN</a:t>
            </a:r>
          </a:p>
          <a:p>
            <a:r>
              <a:rPr lang="en-US" altLang="zh-TW" dirty="0" smtClean="0"/>
              <a:t>Reporter </a:t>
            </a:r>
            <a:r>
              <a:rPr lang="en-US" altLang="zh-TW" dirty="0" smtClean="0"/>
              <a:t>: </a:t>
            </a:r>
            <a:r>
              <a:rPr lang="en-US" altLang="zh-TW" dirty="0" err="1"/>
              <a:t>Cing</a:t>
            </a:r>
            <a:r>
              <a:rPr lang="en-US" altLang="zh-TW" dirty="0"/>
              <a:t>-Yao Chen </a:t>
            </a:r>
            <a:r>
              <a:rPr lang="en-US" altLang="zh-TW" dirty="0" smtClean="0"/>
              <a:t>Date:2014/3/24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870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ABSTRUCT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5318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COMMON INTERVAL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Sequence </a:t>
            </a:r>
          </a:p>
          <a:p>
            <a:pPr lvl="1"/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acbdaadbcc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ccadbbaadc</a:t>
            </a:r>
            <a:endParaRPr lang="en-US" altLang="zh-TW" dirty="0" smtClean="0"/>
          </a:p>
          <a:p>
            <a:r>
              <a:rPr lang="en-US" altLang="zh-TW" dirty="0" smtClean="0"/>
              <a:t>Interval </a:t>
            </a:r>
          </a:p>
          <a:p>
            <a:pPr lvl="1"/>
            <a:r>
              <a:rPr lang="en-US" altLang="zh-TW" dirty="0" smtClean="0"/>
              <a:t>I(S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,2,5) = {a:1, b:1, c:1, d:1}</a:t>
            </a:r>
            <a:endParaRPr lang="en-US" altLang="zh-TW" dirty="0"/>
          </a:p>
          <a:p>
            <a:pPr lvl="1"/>
            <a:r>
              <a:rPr lang="en-US" altLang="zh-TW" dirty="0"/>
              <a:t>I(S</a:t>
            </a:r>
            <a:r>
              <a:rPr lang="en-US" altLang="zh-TW" baseline="-25000" dirty="0"/>
              <a:t>1</a:t>
            </a:r>
            <a:r>
              <a:rPr lang="en-US" altLang="zh-TW" dirty="0"/>
              <a:t>,2,6) = {a:2, b:1, c:1, d:1</a:t>
            </a:r>
            <a:r>
              <a:rPr lang="en-US" altLang="zh-TW" dirty="0" smtClean="0"/>
              <a:t>}</a:t>
            </a:r>
            <a:endParaRPr lang="en-US" altLang="zh-TW" dirty="0"/>
          </a:p>
          <a:p>
            <a:pPr lvl="1"/>
            <a:r>
              <a:rPr lang="en-US" altLang="zh-TW" dirty="0" smtClean="0"/>
              <a:t>I(S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,5,8) </a:t>
            </a:r>
            <a:r>
              <a:rPr lang="en-US" altLang="zh-TW" dirty="0"/>
              <a:t>= {a:2, b:1</a:t>
            </a:r>
            <a:r>
              <a:rPr lang="en-US" altLang="zh-TW" dirty="0" smtClean="0"/>
              <a:t>, </a:t>
            </a:r>
            <a:r>
              <a:rPr lang="en-US" altLang="zh-TW" dirty="0"/>
              <a:t>d:1</a:t>
            </a:r>
            <a:r>
              <a:rPr lang="en-US" altLang="zh-TW" dirty="0" smtClean="0"/>
              <a:t>}</a:t>
            </a:r>
          </a:p>
          <a:p>
            <a:pPr lvl="1"/>
            <a:r>
              <a:rPr lang="en-US" altLang="zh-TW" dirty="0" smtClean="0"/>
              <a:t>I(S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,2,5</a:t>
            </a:r>
            <a:r>
              <a:rPr lang="en-US" altLang="zh-TW" dirty="0"/>
              <a:t>) = {a:1, b:1, c:1, d:1</a:t>
            </a:r>
            <a:r>
              <a:rPr lang="en-US" altLang="zh-TW" dirty="0" smtClean="0"/>
              <a:t>}</a:t>
            </a:r>
            <a:endParaRPr lang="en-US" altLang="zh-TW" dirty="0"/>
          </a:p>
          <a:p>
            <a:pPr lvl="1"/>
            <a:r>
              <a:rPr lang="en-US" altLang="zh-TW" dirty="0" smtClean="0"/>
              <a:t>I(S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,6,9) </a:t>
            </a:r>
            <a:r>
              <a:rPr lang="en-US" altLang="zh-TW" dirty="0"/>
              <a:t>= {</a:t>
            </a:r>
            <a:r>
              <a:rPr lang="en-US" altLang="zh-TW" dirty="0" smtClean="0"/>
              <a:t>a:2, </a:t>
            </a:r>
            <a:r>
              <a:rPr lang="en-US" altLang="zh-TW" dirty="0"/>
              <a:t>b:1</a:t>
            </a:r>
            <a:r>
              <a:rPr lang="en-US" altLang="zh-TW" dirty="0" smtClean="0"/>
              <a:t>, </a:t>
            </a:r>
            <a:r>
              <a:rPr lang="en-US" altLang="zh-TW" dirty="0"/>
              <a:t>d:1</a:t>
            </a:r>
            <a:r>
              <a:rPr lang="en-US" altLang="zh-TW" dirty="0" smtClean="0"/>
              <a:t>}</a:t>
            </a:r>
          </a:p>
          <a:p>
            <a:r>
              <a:rPr lang="en-US" altLang="zh-TW" dirty="0" smtClean="0"/>
              <a:t>Common Interval</a:t>
            </a:r>
          </a:p>
          <a:p>
            <a:pPr lvl="1"/>
            <a:r>
              <a:rPr lang="en-US" altLang="zh-TW" dirty="0"/>
              <a:t>I(S</a:t>
            </a:r>
            <a:r>
              <a:rPr lang="en-US" altLang="zh-TW" baseline="-25000" dirty="0"/>
              <a:t>1</a:t>
            </a:r>
            <a:r>
              <a:rPr lang="en-US" altLang="zh-TW" dirty="0"/>
              <a:t>,5,8</a:t>
            </a:r>
            <a:r>
              <a:rPr lang="en-US" altLang="zh-TW" dirty="0" smtClean="0"/>
              <a:t>)  = </a:t>
            </a:r>
            <a:r>
              <a:rPr lang="en-US" altLang="zh-TW" dirty="0"/>
              <a:t>I(S</a:t>
            </a:r>
            <a:r>
              <a:rPr lang="en-US" altLang="zh-TW" baseline="-25000" dirty="0"/>
              <a:t>2</a:t>
            </a:r>
            <a:r>
              <a:rPr lang="en-US" altLang="zh-TW" dirty="0"/>
              <a:t>,6,9) </a:t>
            </a:r>
            <a:r>
              <a:rPr lang="en-US" altLang="zh-TW" dirty="0" smtClean="0"/>
              <a:t> is Common Interval</a:t>
            </a:r>
          </a:p>
          <a:p>
            <a:pPr lvl="1"/>
            <a:r>
              <a:rPr lang="en-US" altLang="zh-TW" dirty="0"/>
              <a:t>I(S</a:t>
            </a:r>
            <a:r>
              <a:rPr lang="en-US" altLang="zh-TW" baseline="-25000" dirty="0"/>
              <a:t>1</a:t>
            </a:r>
            <a:r>
              <a:rPr lang="en-US" altLang="zh-TW" dirty="0"/>
              <a:t>,2,5) </a:t>
            </a:r>
            <a:r>
              <a:rPr lang="en-US" altLang="zh-TW" dirty="0" smtClean="0"/>
              <a:t>!= I(S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,6,9)  is not Common Interval </a:t>
            </a:r>
          </a:p>
        </p:txBody>
      </p:sp>
    </p:spTree>
    <p:extLst>
      <p:ext uri="{BB962C8B-B14F-4D97-AF65-F5344CB8AC3E}">
        <p14:creationId xmlns:p14="http://schemas.microsoft.com/office/powerpoint/2010/main" val="3405110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METHOD I      </a:t>
            </a:r>
            <a:r>
              <a:rPr lang="zh-TW" altLang="en-US" dirty="0" smtClean="0"/>
              <a:t>：Ｏ（</a:t>
            </a:r>
            <a:r>
              <a:rPr lang="en-US" altLang="zh-TW" dirty="0" smtClean="0"/>
              <a:t>n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 * sigma</a:t>
            </a:r>
            <a:r>
              <a:rPr lang="zh-TW" altLang="en-US" dirty="0" smtClean="0"/>
              <a:t>）</a:t>
            </a:r>
            <a:endParaRPr lang="en-US" altLang="zh-TW" dirty="0" smtClean="0"/>
          </a:p>
          <a:p>
            <a:r>
              <a:rPr lang="en-US" altLang="zh-TW" dirty="0" smtClean="0"/>
              <a:t>METHOD I +   </a:t>
            </a:r>
            <a:r>
              <a:rPr lang="zh-TW" altLang="en-US" dirty="0" smtClean="0"/>
              <a:t>：Ｏ（</a:t>
            </a:r>
            <a:r>
              <a:rPr lang="en-US" altLang="zh-TW" dirty="0" smtClean="0"/>
              <a:t>n</a:t>
            </a:r>
            <a:r>
              <a:rPr lang="en-US" altLang="zh-TW" baseline="30000" dirty="0"/>
              <a:t>3</a:t>
            </a:r>
            <a:r>
              <a:rPr lang="zh-TW" altLang="en-US" dirty="0" smtClean="0"/>
              <a:t>）</a:t>
            </a:r>
            <a:endParaRPr lang="en-US" altLang="zh-TW" dirty="0" smtClean="0"/>
          </a:p>
          <a:p>
            <a:r>
              <a:rPr lang="en-US" altLang="zh-TW" dirty="0"/>
              <a:t>METHOD II</a:t>
            </a:r>
            <a:r>
              <a:rPr lang="zh-TW" altLang="en-US" dirty="0"/>
              <a:t>  </a:t>
            </a:r>
            <a:r>
              <a:rPr lang="zh-TW" altLang="en-US" dirty="0" smtClean="0"/>
              <a:t>   ：Ｏ（</a:t>
            </a:r>
            <a:r>
              <a:rPr lang="en-US" altLang="zh-TW" dirty="0" smtClean="0"/>
              <a:t>n</a:t>
            </a:r>
            <a:r>
              <a:rPr lang="en-US" altLang="zh-TW" baseline="30000" dirty="0"/>
              <a:t>3</a:t>
            </a:r>
            <a:r>
              <a:rPr lang="zh-TW" altLang="en-US" dirty="0" smtClean="0"/>
              <a:t>）</a:t>
            </a:r>
            <a:endParaRPr lang="en-US" altLang="zh-TW" dirty="0"/>
          </a:p>
          <a:p>
            <a:r>
              <a:rPr lang="en-US" altLang="zh-TW" dirty="0"/>
              <a:t>METHOD </a:t>
            </a:r>
            <a:r>
              <a:rPr lang="en-US" altLang="zh-TW" dirty="0" smtClean="0"/>
              <a:t>II+   </a:t>
            </a:r>
            <a:r>
              <a:rPr lang="zh-TW" altLang="en-US" dirty="0" smtClean="0"/>
              <a:t>：Ｏ（</a:t>
            </a:r>
            <a:r>
              <a:rPr lang="en-US" altLang="zh-TW" dirty="0" smtClean="0"/>
              <a:t>n</a:t>
            </a:r>
            <a:r>
              <a:rPr lang="en-US" altLang="zh-TW" baseline="30000" dirty="0" smtClean="0"/>
              <a:t>2</a:t>
            </a:r>
            <a:r>
              <a:rPr lang="zh-TW" altLang="en-US" dirty="0" smtClean="0"/>
              <a:t>）</a:t>
            </a:r>
            <a:endParaRPr lang="en-US" altLang="zh-TW" dirty="0"/>
          </a:p>
          <a:p>
            <a:r>
              <a:rPr lang="en-US" altLang="zh-TW" dirty="0" smtClean="0"/>
              <a:t>METHOD III    </a:t>
            </a:r>
            <a:r>
              <a:rPr lang="zh-TW" altLang="en-US" dirty="0" smtClean="0"/>
              <a:t>：Ｏ（</a:t>
            </a:r>
            <a:r>
              <a:rPr lang="en-US" altLang="zh-TW" dirty="0" smtClean="0"/>
              <a:t>n</a:t>
            </a:r>
            <a:r>
              <a:rPr lang="en-US" altLang="zh-TW" baseline="30000" dirty="0"/>
              <a:t>2</a:t>
            </a:r>
            <a:r>
              <a:rPr lang="en-US" altLang="zh-TW" dirty="0" smtClean="0"/>
              <a:t> * </a:t>
            </a:r>
            <a:r>
              <a:rPr lang="zh-TW" altLang="en-US" dirty="0" smtClean="0"/>
              <a:t>（</a:t>
            </a:r>
            <a:r>
              <a:rPr lang="en-US" altLang="zh-TW" dirty="0" smtClean="0"/>
              <a:t>1 + p * sigma</a:t>
            </a:r>
            <a:r>
              <a:rPr lang="zh-TW" altLang="en-US" dirty="0" smtClean="0"/>
              <a:t>）），</a:t>
            </a:r>
            <a:r>
              <a:rPr lang="en-US" altLang="zh-TW" dirty="0" smtClean="0"/>
              <a:t>p = </a:t>
            </a:r>
            <a:r>
              <a:rPr lang="zh-TW" altLang="en-US" dirty="0" smtClean="0"/>
              <a:t>碰撞因素</a:t>
            </a:r>
            <a:endParaRPr lang="en-US" altLang="zh-TW" dirty="0"/>
          </a:p>
          <a:p>
            <a:r>
              <a:rPr lang="en-US" altLang="zh-TW" dirty="0"/>
              <a:t>METHOD III</a:t>
            </a:r>
            <a:r>
              <a:rPr lang="en-US" altLang="zh-TW" dirty="0" smtClean="0"/>
              <a:t>+  </a:t>
            </a:r>
            <a:r>
              <a:rPr lang="zh-TW" altLang="en-US" dirty="0" smtClean="0"/>
              <a:t>：Ｏ（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* </a:t>
            </a:r>
            <a:r>
              <a:rPr lang="zh-TW" altLang="en-US" dirty="0"/>
              <a:t>（</a:t>
            </a:r>
            <a:r>
              <a:rPr lang="en-US" altLang="zh-TW" dirty="0"/>
              <a:t>1 + p * sigma</a:t>
            </a:r>
            <a:r>
              <a:rPr lang="zh-TW" altLang="en-US" dirty="0"/>
              <a:t>）），</a:t>
            </a:r>
            <a:r>
              <a:rPr lang="en-US" altLang="zh-TW" dirty="0"/>
              <a:t>p = </a:t>
            </a:r>
            <a:r>
              <a:rPr lang="zh-TW" altLang="en-US" dirty="0"/>
              <a:t>碰撞</a:t>
            </a:r>
            <a:r>
              <a:rPr lang="zh-TW" altLang="en-US" dirty="0" smtClean="0"/>
              <a:t>因素</a:t>
            </a:r>
            <a:endParaRPr lang="en-US" altLang="zh-TW" dirty="0"/>
          </a:p>
          <a:p>
            <a:r>
              <a:rPr lang="en-US" altLang="zh-TW" dirty="0"/>
              <a:t>METHOD </a:t>
            </a:r>
            <a:r>
              <a:rPr lang="en-US" altLang="zh-TW" dirty="0" smtClean="0"/>
              <a:t>IIIC  </a:t>
            </a:r>
            <a:r>
              <a:rPr lang="zh-TW" altLang="en-US" dirty="0" smtClean="0"/>
              <a:t>：Ｏ（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* </a:t>
            </a:r>
            <a:r>
              <a:rPr lang="zh-TW" altLang="en-US" dirty="0"/>
              <a:t>（</a:t>
            </a:r>
            <a:r>
              <a:rPr lang="en-US" altLang="zh-TW" dirty="0"/>
              <a:t>1 + </a:t>
            </a:r>
            <a:r>
              <a:rPr lang="en-US" altLang="zh-TW" dirty="0" smtClean="0"/>
              <a:t>p * </a:t>
            </a:r>
            <a:r>
              <a:rPr lang="en-US" altLang="zh-TW" dirty="0"/>
              <a:t>sigma</a:t>
            </a:r>
            <a:r>
              <a:rPr lang="zh-TW" altLang="en-US" dirty="0"/>
              <a:t>）），</a:t>
            </a:r>
            <a:r>
              <a:rPr lang="en-US" altLang="zh-TW" dirty="0"/>
              <a:t>p = </a:t>
            </a:r>
            <a:r>
              <a:rPr lang="zh-TW" altLang="en-US" dirty="0"/>
              <a:t>碰撞</a:t>
            </a:r>
            <a:r>
              <a:rPr lang="zh-TW" altLang="en-US" dirty="0" smtClean="0"/>
              <a:t>因素</a:t>
            </a:r>
            <a:endParaRPr lang="en-US" altLang="zh-TW" dirty="0" smtClean="0"/>
          </a:p>
          <a:p>
            <a:r>
              <a:rPr lang="en-US" altLang="zh-TW" dirty="0"/>
              <a:t>METHOD </a:t>
            </a:r>
            <a:r>
              <a:rPr lang="en-US" altLang="zh-TW" dirty="0" smtClean="0"/>
              <a:t>IIIC+</a:t>
            </a:r>
            <a:r>
              <a:rPr lang="zh-TW" altLang="en-US" dirty="0" smtClean="0"/>
              <a:t>：Ｏ（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* </a:t>
            </a:r>
            <a:r>
              <a:rPr lang="zh-TW" altLang="en-US" dirty="0"/>
              <a:t>（</a:t>
            </a:r>
            <a:r>
              <a:rPr lang="en-US" altLang="zh-TW" dirty="0"/>
              <a:t>1 + p * sigma</a:t>
            </a:r>
            <a:r>
              <a:rPr lang="zh-TW" altLang="en-US" dirty="0"/>
              <a:t>）），</a:t>
            </a:r>
            <a:r>
              <a:rPr lang="en-US" altLang="zh-TW" dirty="0"/>
              <a:t>p = </a:t>
            </a:r>
            <a:r>
              <a:rPr lang="zh-TW" altLang="en-US" dirty="0"/>
              <a:t>碰撞</a:t>
            </a:r>
            <a:r>
              <a:rPr lang="zh-TW" altLang="en-US" dirty="0" smtClean="0"/>
              <a:t>因素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741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METHOD I      </a:t>
            </a:r>
            <a:r>
              <a:rPr lang="zh-TW" altLang="en-US" dirty="0" smtClean="0"/>
              <a:t>：Ｏ（</a:t>
            </a:r>
            <a:r>
              <a:rPr lang="en-US" altLang="zh-TW" dirty="0" smtClean="0"/>
              <a:t>n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 * sigma</a:t>
            </a:r>
            <a:r>
              <a:rPr lang="zh-TW" altLang="en-US" dirty="0" smtClean="0"/>
              <a:t>）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rgbClr val="FF0000"/>
                </a:solidFill>
              </a:rPr>
              <a:t>METHOD I +   </a:t>
            </a:r>
            <a:r>
              <a:rPr lang="zh-TW" altLang="en-US" dirty="0" smtClean="0">
                <a:solidFill>
                  <a:srgbClr val="FF0000"/>
                </a:solidFill>
              </a:rPr>
              <a:t>：Ｏ（</a:t>
            </a:r>
            <a:r>
              <a:rPr lang="en-US" altLang="zh-TW" dirty="0" smtClean="0">
                <a:solidFill>
                  <a:srgbClr val="FF0000"/>
                </a:solidFill>
              </a:rPr>
              <a:t>n</a:t>
            </a:r>
            <a:r>
              <a:rPr lang="en-US" altLang="zh-TW" baseline="30000" dirty="0">
                <a:solidFill>
                  <a:srgbClr val="FF0000"/>
                </a:solidFill>
              </a:rPr>
              <a:t>3</a:t>
            </a:r>
            <a:r>
              <a:rPr lang="zh-TW" altLang="en-US" dirty="0" smtClean="0">
                <a:solidFill>
                  <a:srgbClr val="FF0000"/>
                </a:solidFill>
              </a:rPr>
              <a:t>）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en-US" altLang="zh-TW" dirty="0"/>
              <a:t>METHOD II</a:t>
            </a:r>
            <a:r>
              <a:rPr lang="zh-TW" altLang="en-US" dirty="0"/>
              <a:t>  </a:t>
            </a:r>
            <a:r>
              <a:rPr lang="zh-TW" altLang="en-US" dirty="0" smtClean="0"/>
              <a:t>   ：Ｏ（</a:t>
            </a:r>
            <a:r>
              <a:rPr lang="en-US" altLang="zh-TW" dirty="0" smtClean="0"/>
              <a:t>n</a:t>
            </a:r>
            <a:r>
              <a:rPr lang="en-US" altLang="zh-TW" baseline="30000" dirty="0"/>
              <a:t>3</a:t>
            </a:r>
            <a:r>
              <a:rPr lang="zh-TW" altLang="en-US" dirty="0" smtClean="0"/>
              <a:t>）</a:t>
            </a:r>
            <a:endParaRPr lang="en-US" altLang="zh-TW" dirty="0"/>
          </a:p>
          <a:p>
            <a:r>
              <a:rPr lang="en-US" altLang="zh-TW" dirty="0">
                <a:solidFill>
                  <a:srgbClr val="FF0000"/>
                </a:solidFill>
              </a:rPr>
              <a:t>METHOD </a:t>
            </a:r>
            <a:r>
              <a:rPr lang="en-US" altLang="zh-TW" dirty="0" smtClean="0">
                <a:solidFill>
                  <a:srgbClr val="FF0000"/>
                </a:solidFill>
              </a:rPr>
              <a:t>II+   </a:t>
            </a:r>
            <a:r>
              <a:rPr lang="zh-TW" altLang="en-US" dirty="0" smtClean="0">
                <a:solidFill>
                  <a:srgbClr val="FF0000"/>
                </a:solidFill>
              </a:rPr>
              <a:t>：Ｏ（</a:t>
            </a:r>
            <a:r>
              <a:rPr lang="en-US" altLang="zh-TW" dirty="0" smtClean="0">
                <a:solidFill>
                  <a:srgbClr val="FF0000"/>
                </a:solidFill>
              </a:rPr>
              <a:t>n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2</a:t>
            </a:r>
            <a:r>
              <a:rPr lang="zh-TW" altLang="en-US" dirty="0" smtClean="0">
                <a:solidFill>
                  <a:srgbClr val="FF0000"/>
                </a:solidFill>
              </a:rPr>
              <a:t>）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 smtClean="0">
                <a:solidFill>
                  <a:srgbClr val="FF0000"/>
                </a:solidFill>
              </a:rPr>
              <a:t>METHOD III    </a:t>
            </a:r>
            <a:r>
              <a:rPr lang="zh-TW" altLang="en-US" dirty="0" smtClean="0">
                <a:solidFill>
                  <a:srgbClr val="FF0000"/>
                </a:solidFill>
              </a:rPr>
              <a:t>：Ｏ（</a:t>
            </a:r>
            <a:r>
              <a:rPr lang="en-US" altLang="zh-TW" dirty="0" smtClean="0">
                <a:solidFill>
                  <a:srgbClr val="FF0000"/>
                </a:solidFill>
              </a:rPr>
              <a:t>n</a:t>
            </a:r>
            <a:r>
              <a:rPr lang="en-US" altLang="zh-TW" baseline="30000" dirty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 * </a:t>
            </a:r>
            <a:r>
              <a:rPr lang="zh-TW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TW" dirty="0" smtClean="0">
                <a:solidFill>
                  <a:srgbClr val="FF0000"/>
                </a:solidFill>
              </a:rPr>
              <a:t>1 + p * sigma</a:t>
            </a:r>
            <a:r>
              <a:rPr lang="zh-TW" altLang="en-US" dirty="0" smtClean="0">
                <a:solidFill>
                  <a:srgbClr val="FF0000"/>
                </a:solidFill>
              </a:rPr>
              <a:t>）），</a:t>
            </a:r>
            <a:r>
              <a:rPr lang="en-US" altLang="zh-TW" dirty="0" smtClean="0">
                <a:solidFill>
                  <a:srgbClr val="FF0000"/>
                </a:solidFill>
              </a:rPr>
              <a:t>p = </a:t>
            </a:r>
            <a:r>
              <a:rPr lang="zh-TW" altLang="en-US" dirty="0" smtClean="0">
                <a:solidFill>
                  <a:srgbClr val="FF0000"/>
                </a:solidFill>
              </a:rPr>
              <a:t>碰撞因素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METHOD III</a:t>
            </a:r>
            <a:r>
              <a:rPr lang="en-US" altLang="zh-TW" dirty="0" smtClean="0"/>
              <a:t>+  </a:t>
            </a:r>
            <a:r>
              <a:rPr lang="zh-TW" altLang="en-US" dirty="0" smtClean="0"/>
              <a:t>：Ｏ（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* </a:t>
            </a:r>
            <a:r>
              <a:rPr lang="zh-TW" altLang="en-US" dirty="0"/>
              <a:t>（</a:t>
            </a:r>
            <a:r>
              <a:rPr lang="en-US" altLang="zh-TW" dirty="0"/>
              <a:t>1 + p * sigma</a:t>
            </a:r>
            <a:r>
              <a:rPr lang="zh-TW" altLang="en-US" dirty="0"/>
              <a:t>）），</a:t>
            </a:r>
            <a:r>
              <a:rPr lang="en-US" altLang="zh-TW" dirty="0"/>
              <a:t>p = </a:t>
            </a:r>
            <a:r>
              <a:rPr lang="zh-TW" altLang="en-US" dirty="0"/>
              <a:t>碰撞</a:t>
            </a:r>
            <a:r>
              <a:rPr lang="zh-TW" altLang="en-US" dirty="0" smtClean="0"/>
              <a:t>因素</a:t>
            </a:r>
            <a:endParaRPr lang="en-US" altLang="zh-TW" dirty="0"/>
          </a:p>
          <a:p>
            <a:r>
              <a:rPr lang="en-US" altLang="zh-TW" dirty="0"/>
              <a:t>METHOD </a:t>
            </a:r>
            <a:r>
              <a:rPr lang="en-US" altLang="zh-TW" dirty="0" smtClean="0"/>
              <a:t>IIIC  </a:t>
            </a:r>
            <a:r>
              <a:rPr lang="zh-TW" altLang="en-US" dirty="0" smtClean="0"/>
              <a:t>：Ｏ（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* </a:t>
            </a:r>
            <a:r>
              <a:rPr lang="zh-TW" altLang="en-US" dirty="0"/>
              <a:t>（</a:t>
            </a:r>
            <a:r>
              <a:rPr lang="en-US" altLang="zh-TW" dirty="0"/>
              <a:t>1 + </a:t>
            </a:r>
            <a:r>
              <a:rPr lang="en-US" altLang="zh-TW" dirty="0" smtClean="0"/>
              <a:t>p * </a:t>
            </a:r>
            <a:r>
              <a:rPr lang="en-US" altLang="zh-TW" dirty="0"/>
              <a:t>sigma</a:t>
            </a:r>
            <a:r>
              <a:rPr lang="zh-TW" altLang="en-US" dirty="0"/>
              <a:t>）），</a:t>
            </a:r>
            <a:r>
              <a:rPr lang="en-US" altLang="zh-TW" dirty="0"/>
              <a:t>p = </a:t>
            </a:r>
            <a:r>
              <a:rPr lang="zh-TW" altLang="en-US" dirty="0"/>
              <a:t>碰撞</a:t>
            </a:r>
            <a:r>
              <a:rPr lang="zh-TW" altLang="en-US" dirty="0" smtClean="0"/>
              <a:t>因素</a:t>
            </a:r>
            <a:endParaRPr lang="en-US" altLang="zh-TW" dirty="0" smtClean="0"/>
          </a:p>
          <a:p>
            <a:r>
              <a:rPr lang="en-US" altLang="zh-TW" dirty="0">
                <a:solidFill>
                  <a:srgbClr val="FF0000"/>
                </a:solidFill>
              </a:rPr>
              <a:t>METHOD </a:t>
            </a:r>
            <a:r>
              <a:rPr lang="en-US" altLang="zh-TW" dirty="0" smtClean="0">
                <a:solidFill>
                  <a:srgbClr val="FF0000"/>
                </a:solidFill>
              </a:rPr>
              <a:t>IIIC+</a:t>
            </a:r>
            <a:r>
              <a:rPr lang="zh-TW" altLang="en-US" dirty="0" smtClean="0">
                <a:solidFill>
                  <a:srgbClr val="FF0000"/>
                </a:solidFill>
              </a:rPr>
              <a:t>：Ｏ（</a:t>
            </a:r>
            <a:r>
              <a:rPr lang="en-US" altLang="zh-TW" dirty="0">
                <a:solidFill>
                  <a:srgbClr val="FF0000"/>
                </a:solidFill>
              </a:rPr>
              <a:t>n</a:t>
            </a:r>
            <a:r>
              <a:rPr lang="en-US" altLang="zh-TW" baseline="30000" dirty="0">
                <a:solidFill>
                  <a:srgbClr val="FF0000"/>
                </a:solidFill>
              </a:rPr>
              <a:t>2</a:t>
            </a:r>
            <a:r>
              <a:rPr lang="en-US" altLang="zh-TW" dirty="0">
                <a:solidFill>
                  <a:srgbClr val="FF0000"/>
                </a:solidFill>
              </a:rPr>
              <a:t> * </a:t>
            </a:r>
            <a:r>
              <a:rPr lang="zh-TW" altLang="en-US" dirty="0">
                <a:solidFill>
                  <a:srgbClr val="FF0000"/>
                </a:solidFill>
              </a:rPr>
              <a:t>（</a:t>
            </a:r>
            <a:r>
              <a:rPr lang="en-US" altLang="zh-TW" dirty="0">
                <a:solidFill>
                  <a:srgbClr val="FF0000"/>
                </a:solidFill>
              </a:rPr>
              <a:t>1 + p * sigma</a:t>
            </a:r>
            <a:r>
              <a:rPr lang="zh-TW" altLang="en-US" dirty="0">
                <a:solidFill>
                  <a:srgbClr val="FF0000"/>
                </a:solidFill>
              </a:rPr>
              <a:t>）），</a:t>
            </a:r>
            <a:r>
              <a:rPr lang="en-US" altLang="zh-TW" dirty="0">
                <a:solidFill>
                  <a:srgbClr val="FF0000"/>
                </a:solidFill>
              </a:rPr>
              <a:t>p = </a:t>
            </a:r>
            <a:r>
              <a:rPr lang="zh-TW" altLang="en-US" dirty="0">
                <a:solidFill>
                  <a:srgbClr val="FF0000"/>
                </a:solidFill>
              </a:rPr>
              <a:t>碰撞</a:t>
            </a:r>
            <a:r>
              <a:rPr lang="zh-TW" altLang="en-US" dirty="0" smtClean="0">
                <a:solidFill>
                  <a:srgbClr val="FF0000"/>
                </a:solidFill>
              </a:rPr>
              <a:t>因素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8676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METHOD I +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Ｏ（</a:t>
            </a:r>
            <a:r>
              <a:rPr lang="en-US" altLang="zh-TW" dirty="0"/>
              <a:t>n</a:t>
            </a:r>
            <a:r>
              <a:rPr lang="en-US" altLang="zh-TW" baseline="30000" dirty="0"/>
              <a:t>3</a:t>
            </a:r>
            <a:r>
              <a:rPr lang="zh-TW" altLang="en-US" dirty="0" smtClean="0"/>
              <a:t>）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899" y="2844688"/>
            <a:ext cx="7507861" cy="208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6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 I +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5248763"/>
              </p:ext>
            </p:extLst>
          </p:nvPr>
        </p:nvGraphicFramePr>
        <p:xfrm>
          <a:off x="822327" y="1846260"/>
          <a:ext cx="7755000" cy="5004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551000"/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</a:tblGrid>
              <a:tr h="488888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 = 2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rowSpan="2"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a:1</a:t>
                      </a:r>
                    </a:p>
                    <a:p>
                      <a:r>
                        <a:rPr lang="en-US" altLang="zh-TW" dirty="0" smtClean="0"/>
                        <a:t>c:-1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b:1</a:t>
                      </a:r>
                    </a:p>
                    <a:p>
                      <a:r>
                        <a:rPr lang="en-US" altLang="zh-TW" dirty="0" smtClean="0"/>
                        <a:t>c:-1</a:t>
                      </a:r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b:1</a:t>
                      </a:r>
                    </a:p>
                    <a:p>
                      <a:r>
                        <a:rPr lang="en-US" altLang="zh-TW" dirty="0" smtClean="0"/>
                        <a:t>c:-2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d:1</a:t>
                      </a:r>
                      <a:endParaRPr lang="zh-TW" altLang="en-US" dirty="0" smtClean="0"/>
                    </a:p>
                    <a:p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a:1</a:t>
                      </a:r>
                    </a:p>
                    <a:p>
                      <a:r>
                        <a:rPr lang="en-US" altLang="zh-TW" dirty="0" smtClean="0"/>
                        <a:t>c:-2</a:t>
                      </a:r>
                    </a:p>
                  </a:txBody>
                  <a:tcPr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d:1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8888">
                <a:tc rowSpan="2"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a:1</a:t>
                      </a:r>
                    </a:p>
                    <a:p>
                      <a:r>
                        <a:rPr lang="en-US" altLang="zh-TW" dirty="0" smtClean="0"/>
                        <a:t>b:1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a:-1</a:t>
                      </a:r>
                    </a:p>
                    <a:p>
                      <a:r>
                        <a:rPr lang="en-US" altLang="zh-TW" dirty="0" smtClean="0"/>
                        <a:t>b:1</a:t>
                      </a:r>
                    </a:p>
                  </a:txBody>
                  <a:tcPr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c:-1</a:t>
                      </a:r>
                    </a:p>
                    <a:p>
                      <a:r>
                        <a:rPr lang="en-US" altLang="zh-TW" dirty="0" smtClean="0"/>
                        <a:t>d:1</a:t>
                      </a:r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row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c:1</a:t>
                      </a:r>
                    </a:p>
                    <a:p>
                      <a:r>
                        <a:rPr lang="en-US" altLang="zh-TW" dirty="0" smtClean="0"/>
                        <a:t>d:-1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a:-1</a:t>
                      </a:r>
                    </a:p>
                    <a:p>
                      <a:r>
                        <a:rPr lang="en-US" altLang="zh-TW" dirty="0" smtClean="0"/>
                        <a:t>b:1</a:t>
                      </a:r>
                    </a:p>
                  </a:txBody>
                  <a:tcPr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c:1</a:t>
                      </a:r>
                    </a:p>
                    <a:p>
                      <a:r>
                        <a:rPr lang="en-US" altLang="zh-TW" dirty="0" smtClean="0"/>
                        <a:t>d:-1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a:-1</a:t>
                      </a:r>
                    </a:p>
                    <a:p>
                      <a:r>
                        <a:rPr lang="en-US" altLang="zh-TW" dirty="0" smtClean="0"/>
                        <a:t>b:1</a:t>
                      </a:r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row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a:1</a:t>
                      </a:r>
                    </a:p>
                    <a:p>
                      <a:r>
                        <a:rPr lang="en-US" altLang="zh-TW" dirty="0" smtClean="0"/>
                        <a:t>b:-1</a:t>
                      </a:r>
                    </a:p>
                  </a:txBody>
                  <a:tcPr>
                    <a:lnR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c:1</a:t>
                      </a:r>
                    </a:p>
                    <a:p>
                      <a:r>
                        <a:rPr lang="en-US" altLang="zh-TW" dirty="0" smtClean="0"/>
                        <a:t>d:-1</a:t>
                      </a:r>
                      <a:endParaRPr lang="zh-TW" altLang="en-US" dirty="0" smtClean="0"/>
                    </a:p>
                  </a:txBody>
                  <a:tcPr>
                    <a:lnL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c:1</a:t>
                      </a:r>
                    </a:p>
                    <a:p>
                      <a:r>
                        <a:rPr lang="en-US" altLang="zh-TW" dirty="0" smtClean="0"/>
                        <a:t>d:-1</a:t>
                      </a:r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a:1</a:t>
                      </a:r>
                    </a:p>
                    <a:p>
                      <a:r>
                        <a:rPr lang="en-US" altLang="zh-TW" dirty="0" smtClean="0"/>
                        <a:t>b:-1</a:t>
                      </a:r>
                      <a:endParaRPr lang="zh-TW" altLang="en-US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4758743" y="46566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r>
              <a:rPr lang="en-US" altLang="zh-TW" dirty="0" smtClean="0"/>
              <a:t>…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r>
              <a:rPr lang="en-US" altLang="zh-TW" dirty="0" smtClean="0"/>
              <a:t>…</a:t>
            </a:r>
            <a:endParaRPr lang="en-US" altLang="zh-TW" dirty="0"/>
          </a:p>
        </p:txBody>
      </p:sp>
      <p:sp>
        <p:nvSpPr>
          <p:cNvPr id="6" name="圓角矩形 5"/>
          <p:cNvSpPr/>
          <p:nvPr/>
        </p:nvSpPr>
        <p:spPr>
          <a:xfrm>
            <a:off x="2395470" y="3515932"/>
            <a:ext cx="1455313" cy="100455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7044743" y="4621368"/>
            <a:ext cx="1455313" cy="100455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5497132" y="5741831"/>
            <a:ext cx="1455313" cy="100455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7334296" y="1106393"/>
            <a:ext cx="1077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Ｏ（</a:t>
            </a:r>
            <a:r>
              <a:rPr lang="en-US" altLang="zh-TW" dirty="0"/>
              <a:t>n</a:t>
            </a:r>
            <a:r>
              <a:rPr lang="en-US" altLang="zh-TW" baseline="30000" dirty="0"/>
              <a:t>3</a:t>
            </a:r>
            <a:r>
              <a:rPr lang="zh-TW" altLang="en-US" dirty="0"/>
              <a:t>）</a:t>
            </a:r>
          </a:p>
        </p:txBody>
      </p:sp>
      <p:sp>
        <p:nvSpPr>
          <p:cNvPr id="10" name="橢圓 9"/>
          <p:cNvSpPr/>
          <p:nvPr/>
        </p:nvSpPr>
        <p:spPr>
          <a:xfrm>
            <a:off x="1416676" y="1949026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2642100" y="2275314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1777285" y="267708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cxnSp>
        <p:nvCxnSpPr>
          <p:cNvPr id="14" name="直線單箭頭接點 13"/>
          <p:cNvCxnSpPr/>
          <p:nvPr/>
        </p:nvCxnSpPr>
        <p:spPr>
          <a:xfrm>
            <a:off x="2395470" y="2275314"/>
            <a:ext cx="610458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2137894" y="2442739"/>
            <a:ext cx="0" cy="441526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68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 </a:t>
            </a:r>
            <a:r>
              <a:rPr lang="en-US" altLang="zh-TW" dirty="0" smtClean="0"/>
              <a:t>II </a:t>
            </a:r>
            <a:r>
              <a:rPr lang="en-US" altLang="zh-TW" dirty="0"/>
              <a:t>+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758743" y="46566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r>
              <a:rPr lang="en-US" altLang="zh-TW" dirty="0" smtClean="0"/>
              <a:t>…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r>
              <a:rPr lang="en-US" altLang="zh-TW" dirty="0" smtClean="0"/>
              <a:t>…</a:t>
            </a:r>
            <a:endParaRPr lang="en-US" altLang="zh-TW" dirty="0"/>
          </a:p>
        </p:txBody>
      </p:sp>
      <p:sp>
        <p:nvSpPr>
          <p:cNvPr id="9" name="矩形 8"/>
          <p:cNvSpPr/>
          <p:nvPr/>
        </p:nvSpPr>
        <p:spPr>
          <a:xfrm>
            <a:off x="7334296" y="1106393"/>
            <a:ext cx="1077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Ｏ（</a:t>
            </a:r>
            <a:r>
              <a:rPr lang="en-US" altLang="zh-TW" dirty="0" smtClean="0"/>
              <a:t>n</a:t>
            </a:r>
            <a:r>
              <a:rPr lang="en-US" altLang="zh-TW" baseline="30000" dirty="0" smtClean="0"/>
              <a:t>2</a:t>
            </a:r>
            <a:r>
              <a:rPr lang="zh-TW" altLang="en-US" dirty="0" smtClean="0"/>
              <a:t>）</a:t>
            </a:r>
            <a:endParaRPr lang="zh-TW" altLang="en-US" dirty="0"/>
          </a:p>
        </p:txBody>
      </p:sp>
      <p:sp>
        <p:nvSpPr>
          <p:cNvPr id="10" name="橢圓 9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822960" y="445394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2470596" y="2779655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1931832" y="2310255"/>
            <a:ext cx="0" cy="18926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154513"/>
              </p:ext>
            </p:extLst>
          </p:nvPr>
        </p:nvGraphicFramePr>
        <p:xfrm>
          <a:off x="7044743" y="4189367"/>
          <a:ext cx="20161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93"/>
                <a:gridCol w="1008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378248"/>
              </p:ext>
            </p:extLst>
          </p:nvPr>
        </p:nvGraphicFramePr>
        <p:xfrm>
          <a:off x="302546" y="4453942"/>
          <a:ext cx="165504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084"/>
                <a:gridCol w="90895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[1,2]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[4,5]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[2,3]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[3,4]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067011"/>
              </p:ext>
            </p:extLst>
          </p:nvPr>
        </p:nvGraphicFramePr>
        <p:xfrm>
          <a:off x="323895" y="2305388"/>
          <a:ext cx="14533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50"/>
                <a:gridCol w="66133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125485"/>
              </p:ext>
            </p:extLst>
          </p:nvPr>
        </p:nvGraphicFramePr>
        <p:xfrm>
          <a:off x="2363272" y="1699312"/>
          <a:ext cx="6204000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</a:tblGrid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25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822960" y="1872373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sp>
        <p:nvSpPr>
          <p:cNvPr id="22" name="橢圓 21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24" name="直線單箭頭接點 23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迴轉箭號 27"/>
          <p:cNvSpPr/>
          <p:nvPr/>
        </p:nvSpPr>
        <p:spPr>
          <a:xfrm rot="5400000">
            <a:off x="2100901" y="3818482"/>
            <a:ext cx="1107582" cy="1137703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085840" y="3449357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lnsert</a:t>
            </a:r>
            <a:endParaRPr lang="zh-TW" altLang="en-US" dirty="0"/>
          </a:p>
        </p:txBody>
      </p:sp>
      <p:cxnSp>
        <p:nvCxnSpPr>
          <p:cNvPr id="31" name="直線單箭頭接點 30"/>
          <p:cNvCxnSpPr/>
          <p:nvPr/>
        </p:nvCxnSpPr>
        <p:spPr>
          <a:xfrm flipH="1">
            <a:off x="3552877" y="2990384"/>
            <a:ext cx="1444126" cy="17984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4826129" y="3178725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3934822" y="2225038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圓角矩形 32"/>
          <p:cNvSpPr/>
          <p:nvPr/>
        </p:nvSpPr>
        <p:spPr>
          <a:xfrm>
            <a:off x="5516777" y="2237800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圓角矩形 33"/>
          <p:cNvSpPr/>
          <p:nvPr/>
        </p:nvSpPr>
        <p:spPr>
          <a:xfrm>
            <a:off x="7092292" y="2237799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4274940" y="5859887"/>
            <a:ext cx="195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可是</a:t>
            </a:r>
            <a:r>
              <a:rPr lang="en-US" altLang="zh-TW" dirty="0" smtClean="0"/>
              <a:t>Key </a:t>
            </a:r>
            <a:r>
              <a:rPr lang="zh-TW" altLang="en-US" dirty="0" smtClean="0"/>
              <a:t>可能很大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977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 </a:t>
            </a:r>
            <a:r>
              <a:rPr lang="en-US" altLang="zh-TW" dirty="0" smtClean="0"/>
              <a:t>III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758743" y="46566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r>
              <a:rPr lang="en-US" altLang="zh-TW" dirty="0" smtClean="0"/>
              <a:t>…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r>
              <a:rPr lang="en-US" altLang="zh-TW" dirty="0" smtClean="0"/>
              <a:t>…</a:t>
            </a:r>
            <a:endParaRPr lang="en-US" altLang="zh-TW" dirty="0"/>
          </a:p>
        </p:txBody>
      </p:sp>
      <p:sp>
        <p:nvSpPr>
          <p:cNvPr id="10" name="橢圓 9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822960" y="445394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2470596" y="2779655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1931832" y="2310255"/>
            <a:ext cx="0" cy="18926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042279"/>
              </p:ext>
            </p:extLst>
          </p:nvPr>
        </p:nvGraphicFramePr>
        <p:xfrm>
          <a:off x="7044743" y="4189367"/>
          <a:ext cx="20161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93"/>
                <a:gridCol w="1008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538211"/>
              </p:ext>
            </p:extLst>
          </p:nvPr>
        </p:nvGraphicFramePr>
        <p:xfrm>
          <a:off x="302546" y="4453942"/>
          <a:ext cx="225814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958"/>
                <a:gridCol w="124018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[1,2],[3,4]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[4,5]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[2,3]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23895" y="2305388"/>
          <a:ext cx="145338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50"/>
                <a:gridCol w="661339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420595"/>
              </p:ext>
            </p:extLst>
          </p:nvPr>
        </p:nvGraphicFramePr>
        <p:xfrm>
          <a:off x="2363272" y="1699312"/>
          <a:ext cx="6204000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</a:tblGrid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822960" y="1872373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sp>
        <p:nvSpPr>
          <p:cNvPr id="22" name="橢圓 21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24" name="直線單箭頭接點 23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迴轉箭號 27"/>
          <p:cNvSpPr/>
          <p:nvPr/>
        </p:nvSpPr>
        <p:spPr>
          <a:xfrm rot="5400000">
            <a:off x="2100901" y="3818482"/>
            <a:ext cx="1107582" cy="1137703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085840" y="3449357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lnsert</a:t>
            </a:r>
            <a:endParaRPr lang="zh-TW" altLang="en-US" dirty="0"/>
          </a:p>
        </p:txBody>
      </p:sp>
      <p:cxnSp>
        <p:nvCxnSpPr>
          <p:cNvPr id="31" name="直線單箭頭接點 30"/>
          <p:cNvCxnSpPr/>
          <p:nvPr/>
        </p:nvCxnSpPr>
        <p:spPr>
          <a:xfrm flipH="1">
            <a:off x="3552877" y="2990384"/>
            <a:ext cx="1444126" cy="17984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4826129" y="3178725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3934822" y="2225038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圓角矩形 32"/>
          <p:cNvSpPr/>
          <p:nvPr/>
        </p:nvSpPr>
        <p:spPr>
          <a:xfrm>
            <a:off x="5516777" y="2237800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圓角矩形 33"/>
          <p:cNvSpPr/>
          <p:nvPr/>
        </p:nvSpPr>
        <p:spPr>
          <a:xfrm>
            <a:off x="7092292" y="2237799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4274940" y="5859887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</a:t>
            </a:r>
            <a:r>
              <a:rPr lang="en-US" altLang="zh-TW" dirty="0" smtClean="0"/>
              <a:t>od d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7648977" y="3316744"/>
            <a:ext cx="1124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d=11</a:t>
            </a:r>
            <a:endParaRPr lang="zh-TW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5880760" y="1196997"/>
            <a:ext cx="3041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* </a:t>
            </a:r>
            <a:r>
              <a:rPr lang="zh-TW" altLang="en-US" dirty="0"/>
              <a:t>（</a:t>
            </a:r>
            <a:r>
              <a:rPr lang="en-US" altLang="zh-TW" dirty="0"/>
              <a:t>1 + p * sigma</a:t>
            </a:r>
            <a:r>
              <a:rPr lang="zh-TW" altLang="en-US" dirty="0" smtClean="0"/>
              <a:t>））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563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 </a:t>
            </a:r>
            <a:r>
              <a:rPr lang="en-US" altLang="zh-TW" dirty="0" smtClean="0"/>
              <a:t>IIIC+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758743" y="46566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 = </a:t>
            </a:r>
            <a:r>
              <a:rPr lang="en-US" altLang="zh-TW" dirty="0" err="1" smtClean="0"/>
              <a:t>acbda</a:t>
            </a:r>
            <a:r>
              <a:rPr lang="en-US" altLang="zh-TW" dirty="0" smtClean="0"/>
              <a:t>…</a:t>
            </a:r>
            <a:endParaRPr lang="en-US" altLang="zh-TW" dirty="0"/>
          </a:p>
          <a:p>
            <a:pPr lvl="1"/>
            <a:r>
              <a:rPr lang="en-US" altLang="zh-TW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 = </a:t>
            </a:r>
            <a:r>
              <a:rPr lang="en-US" altLang="zh-TW" dirty="0" err="1" smtClean="0"/>
              <a:t>ccadb</a:t>
            </a:r>
            <a:r>
              <a:rPr lang="en-US" altLang="zh-TW" dirty="0" smtClean="0"/>
              <a:t>…</a:t>
            </a:r>
            <a:endParaRPr lang="en-US" altLang="zh-TW" dirty="0"/>
          </a:p>
        </p:txBody>
      </p:sp>
      <p:sp>
        <p:nvSpPr>
          <p:cNvPr id="10" name="橢圓 9"/>
          <p:cNvSpPr/>
          <p:nvPr/>
        </p:nvSpPr>
        <p:spPr>
          <a:xfrm>
            <a:off x="462351" y="1872373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1" name="橢圓 10"/>
          <p:cNvSpPr/>
          <p:nvPr/>
        </p:nvSpPr>
        <p:spPr>
          <a:xfrm>
            <a:off x="822960" y="4453942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12" name="橢圓 11"/>
          <p:cNvSpPr/>
          <p:nvPr/>
        </p:nvSpPr>
        <p:spPr>
          <a:xfrm>
            <a:off x="2470596" y="2779655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3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1931832" y="2310255"/>
            <a:ext cx="0" cy="18926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7044743" y="4189367"/>
          <a:ext cx="20161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93"/>
                <a:gridCol w="1008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Element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Prime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x+1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x^2+x+1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x^3+x+1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169258"/>
              </p:ext>
            </p:extLst>
          </p:nvPr>
        </p:nvGraphicFramePr>
        <p:xfrm>
          <a:off x="302546" y="4453942"/>
          <a:ext cx="32503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231"/>
                <a:gridCol w="17851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x^2+1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[4,5]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x^3+x^2+x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[1,2],[3,4]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x^3+1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[2,3]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02809"/>
              </p:ext>
            </p:extLst>
          </p:nvPr>
        </p:nvGraphicFramePr>
        <p:xfrm>
          <a:off x="323895" y="2305388"/>
          <a:ext cx="216119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778"/>
                <a:gridCol w="1493415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x^3+x^2+x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cb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x^3+1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bd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x^3+x^2+x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x^2+1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312183"/>
              </p:ext>
            </p:extLst>
          </p:nvPr>
        </p:nvGraphicFramePr>
        <p:xfrm>
          <a:off x="2363272" y="1699312"/>
          <a:ext cx="6204000" cy="9777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  <a:gridCol w="775500"/>
              </a:tblGrid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cc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ca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ad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err="1" smtClean="0"/>
                        <a:t>db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88888"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x^3+x+1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x^3+x^2+x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x^2+1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zh-TW" dirty="0" smtClean="0"/>
                        <a:t>x^3+x^2+x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文字方塊 19"/>
          <p:cNvSpPr txBox="1"/>
          <p:nvPr/>
        </p:nvSpPr>
        <p:spPr>
          <a:xfrm>
            <a:off x="822960" y="1872373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</a:t>
            </a:r>
            <a:r>
              <a:rPr lang="en-US" altLang="zh-TW" dirty="0" smtClean="0"/>
              <a:t>=2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6952445" y="3833542"/>
            <a:ext cx="526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EPT</a:t>
            </a:r>
          </a:p>
        </p:txBody>
      </p:sp>
      <p:sp>
        <p:nvSpPr>
          <p:cNvPr id="22" name="橢圓 21"/>
          <p:cNvSpPr/>
          <p:nvPr/>
        </p:nvSpPr>
        <p:spPr>
          <a:xfrm>
            <a:off x="1852411" y="2039798"/>
            <a:ext cx="360609" cy="33485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2</a:t>
            </a:r>
            <a:endParaRPr lang="zh-TW" altLang="en-US" dirty="0"/>
          </a:p>
        </p:txBody>
      </p:sp>
      <p:cxnSp>
        <p:nvCxnSpPr>
          <p:cNvPr id="24" name="直線單箭頭接點 23"/>
          <p:cNvCxnSpPr/>
          <p:nvPr/>
        </p:nvCxnSpPr>
        <p:spPr>
          <a:xfrm>
            <a:off x="2419082" y="2728748"/>
            <a:ext cx="6184005" cy="1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迴轉箭號 27"/>
          <p:cNvSpPr/>
          <p:nvPr/>
        </p:nvSpPr>
        <p:spPr>
          <a:xfrm rot="5400000">
            <a:off x="3039506" y="3380218"/>
            <a:ext cx="1082164" cy="2219984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500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470369" y="3589132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lnsert</a:t>
            </a:r>
            <a:endParaRPr lang="zh-TW" altLang="en-US" dirty="0"/>
          </a:p>
        </p:txBody>
      </p:sp>
      <p:cxnSp>
        <p:nvCxnSpPr>
          <p:cNvPr id="31" name="直線單箭頭接點 30"/>
          <p:cNvCxnSpPr/>
          <p:nvPr/>
        </p:nvCxnSpPr>
        <p:spPr>
          <a:xfrm flipH="1">
            <a:off x="4758355" y="2947080"/>
            <a:ext cx="1733671" cy="209507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/>
          <p:cNvSpPr txBox="1"/>
          <p:nvPr/>
        </p:nvSpPr>
        <p:spPr>
          <a:xfrm>
            <a:off x="4826129" y="3178725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Compare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3934822" y="2225038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圓角矩形 32"/>
          <p:cNvSpPr/>
          <p:nvPr/>
        </p:nvSpPr>
        <p:spPr>
          <a:xfrm>
            <a:off x="5516777" y="2237800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圓角矩形 33"/>
          <p:cNvSpPr/>
          <p:nvPr/>
        </p:nvSpPr>
        <p:spPr>
          <a:xfrm>
            <a:off x="7092292" y="2237799"/>
            <a:ext cx="1435668" cy="39677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4274940" y="5859887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</a:t>
            </a:r>
            <a:r>
              <a:rPr lang="en-US" altLang="zh-TW" dirty="0" smtClean="0"/>
              <a:t>od d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6270255" y="3302797"/>
            <a:ext cx="2212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d=x^4+x+1</a:t>
            </a:r>
            <a:endParaRPr lang="zh-TW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5880760" y="1196997"/>
            <a:ext cx="3041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Ｏ（</a:t>
            </a:r>
            <a:r>
              <a:rPr lang="en-US" altLang="zh-TW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* </a:t>
            </a:r>
            <a:r>
              <a:rPr lang="zh-TW" altLang="en-US" dirty="0"/>
              <a:t>（</a:t>
            </a:r>
            <a:r>
              <a:rPr lang="en-US" altLang="zh-TW" dirty="0"/>
              <a:t>1 + p * sigma</a:t>
            </a:r>
            <a:r>
              <a:rPr lang="zh-TW" altLang="en-US" dirty="0" smtClean="0"/>
              <a:t>））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367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加</a:t>
            </a:r>
            <a:r>
              <a:rPr lang="zh-TW" altLang="en-US" dirty="0"/>
              <a:t>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Primitive root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898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2504</TotalTime>
  <Words>613</Words>
  <Application>Microsoft Office PowerPoint</Application>
  <PresentationFormat>如螢幕大小 (4:3)</PresentationFormat>
  <Paragraphs>247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新細明體</vt:lpstr>
      <vt:lpstr>Calibri</vt:lpstr>
      <vt:lpstr>Calibri Light</vt:lpstr>
      <vt:lpstr>回顧</vt:lpstr>
      <vt:lpstr>IMPROVING COMMON INTERVAL PROBLEM</vt:lpstr>
      <vt:lpstr>ABSTRUCT</vt:lpstr>
      <vt:lpstr>COMMON INTERVAL</vt:lpstr>
      <vt:lpstr>METHOD</vt:lpstr>
      <vt:lpstr>METHOD</vt:lpstr>
      <vt:lpstr>METHOD I +</vt:lpstr>
      <vt:lpstr>METHOD I +</vt:lpstr>
      <vt:lpstr>METHOD II +</vt:lpstr>
      <vt:lpstr>METHOD III</vt:lpstr>
      <vt:lpstr>METHOD IIIC+</vt:lpstr>
      <vt:lpstr>加速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THE WORST-CASE PERFORMANCE OF THE HUNT-SZYMANSKI STRATEGY FOR THE LOGEST COMMON SUBSEQUENCE OF TWO STRINGS</dc:title>
  <dc:creator>Pichu</dc:creator>
  <cp:lastModifiedBy>Pichu</cp:lastModifiedBy>
  <cp:revision>52</cp:revision>
  <dcterms:created xsi:type="dcterms:W3CDTF">2014-03-03T02:27:23Z</dcterms:created>
  <dcterms:modified xsi:type="dcterms:W3CDTF">2014-03-24T10:41:25Z</dcterms:modified>
</cp:coreProperties>
</file>