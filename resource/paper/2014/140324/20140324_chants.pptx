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8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05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3103" autoAdjust="0"/>
  </p:normalViewPr>
  <p:slideViewPr>
    <p:cSldViewPr>
      <p:cViewPr>
        <p:scale>
          <a:sx n="100" d="100"/>
          <a:sy n="100" d="100"/>
        </p:scale>
        <p:origin x="-78" y="13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72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2014/3/24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New Algorithms for the LCS Problem *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W. </a:t>
            </a:r>
            <a:r>
              <a:rPr lang="en-US" altLang="zh-TW" b="1" dirty="0" smtClean="0"/>
              <a:t>J. Hsu </a:t>
            </a:r>
            <a:r>
              <a:rPr lang="en-US" altLang="zh-TW" b="1" dirty="0" smtClean="0"/>
              <a:t>and </a:t>
            </a:r>
            <a:r>
              <a:rPr lang="en-US" altLang="zh-TW" b="1" dirty="0" smtClean="0"/>
              <a:t>M. </a:t>
            </a:r>
            <a:r>
              <a:rPr lang="en-US" altLang="zh-TW" b="1" dirty="0" smtClean="0"/>
              <a:t>W. </a:t>
            </a:r>
            <a:r>
              <a:rPr lang="en-US" altLang="zh-TW" b="1" dirty="0" smtClean="0"/>
              <a:t>Du</a:t>
            </a:r>
            <a:endParaRPr lang="en-US" altLang="zh-TW" dirty="0" smtClean="0"/>
          </a:p>
          <a:p>
            <a:r>
              <a:rPr lang="en-US" altLang="zh-TW" dirty="0" smtClean="0"/>
              <a:t>JOURNAL </a:t>
            </a:r>
            <a:r>
              <a:rPr lang="en-US" altLang="zh-TW" dirty="0" smtClean="0"/>
              <a:t>OF COMPUTER AND SYSTEM </a:t>
            </a:r>
            <a:r>
              <a:rPr lang="en-US" altLang="zh-TW" b="1" dirty="0" smtClean="0"/>
              <a:t>SCIENCES </a:t>
            </a:r>
            <a:r>
              <a:rPr lang="en-US" altLang="zh-TW" b="1" dirty="0" smtClean="0"/>
              <a:t>29, 133-152 (1984</a:t>
            </a:r>
            <a:r>
              <a:rPr lang="en-US" altLang="zh-TW" b="1" dirty="0" smtClean="0"/>
              <a:t>)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6357950" y="5500702"/>
            <a:ext cx="26424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Calibri" pitchFamily="34" charset="0"/>
              </a:rPr>
              <a:t>Presenter : </a:t>
            </a:r>
            <a:r>
              <a:rPr lang="en-US" dirty="0" smtClean="0"/>
              <a:t>De-</a:t>
            </a:r>
            <a:r>
              <a:rPr lang="en-US" dirty="0" err="1" smtClean="0"/>
              <a:t>Sheng</a:t>
            </a:r>
            <a:r>
              <a:rPr lang="en-US" dirty="0" smtClean="0"/>
              <a:t> </a:t>
            </a:r>
            <a:r>
              <a:rPr lang="en-US" dirty="0" err="1" smtClean="0"/>
              <a:t>Jhan</a:t>
            </a:r>
            <a:endParaRPr lang="en-US" altLang="zh-TW" dirty="0" smtClean="0">
              <a:latin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</a:rPr>
              <a:t>              2014/03/24</a:t>
            </a:r>
            <a:endParaRPr lang="zh-TW" altLang="en-US" dirty="0" smtClean="0">
              <a:latin typeface="Calibri" pitchFamily="34" charset="0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428736"/>
            <a:ext cx="8786874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200" dirty="0" smtClean="0"/>
              <a:t>The LCS problem is to determine a longest common subsequence (LCS) of two symbol sequences. Two algorithms which improve two existing results, respectively, are resented. Let m, </a:t>
            </a:r>
            <a:r>
              <a:rPr lang="en-US" altLang="zh-TW" sz="2200" i="1" dirty="0" smtClean="0"/>
              <a:t>n be the lengths of the two input strings, with m ≦ n, p being the length of the LCS, and s </a:t>
            </a:r>
            <a:r>
              <a:rPr lang="en-US" altLang="zh-TW" sz="2200" dirty="0" smtClean="0"/>
              <a:t>being the number of distinct symbols appearing in the two strings. It is shown that the first algorithm presented requires at most </a:t>
            </a:r>
            <a:r>
              <a:rPr lang="en-US" altLang="zh-TW" sz="2200" i="1" dirty="0" smtClean="0"/>
              <a:t>O(n log s)  reprocessing time and O(pm log(n/m) + pm) </a:t>
            </a:r>
            <a:r>
              <a:rPr lang="en-US" altLang="zh-TW" sz="2200" dirty="0" smtClean="0"/>
              <a:t>processing time to solve the problem. This bound is better than that of previous algorithms especially when n is much greater than </a:t>
            </a:r>
            <a:r>
              <a:rPr lang="en-US" altLang="zh-TW" sz="2200" i="1" dirty="0" smtClean="0"/>
              <a:t>m. The algorithm also exhibits desirable properties </a:t>
            </a:r>
            <a:r>
              <a:rPr lang="en-US" altLang="zh-TW" sz="2200" dirty="0" smtClean="0"/>
              <a:t>under conditions of sparse matches. The second scheme achieves essentially the same bound </a:t>
            </a:r>
            <a:r>
              <a:rPr lang="en-US" altLang="zh-TW" sz="2200" i="1" dirty="0" smtClean="0"/>
              <a:t>O(pm log(n/p) + pm) by employing efficient merging methods in the computations. It also </a:t>
            </a:r>
            <a:r>
              <a:rPr lang="en-US" altLang="zh-TW" sz="2200" dirty="0" smtClean="0"/>
              <a:t>outperforms existing algorithms designed for sparsely-matched situations. Together, the two algorithms provide interesting contrasts of different approaches to one problem; they also offer improved alternatives for actual implementation.</a:t>
            </a:r>
            <a:endParaRPr lang="zh-TW" alt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1(1/13)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D. S. HIRSCHBERG, Algorithms for the longest common subsequence problem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643182"/>
            <a:ext cx="8858312" cy="407196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6929454" y="3071810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 dirty="0" smtClean="0">
                <a:solidFill>
                  <a:srgbClr val="FF0000"/>
                </a:solidFill>
              </a:rPr>
              <a:t>O(p(m + n))</a:t>
            </a:r>
            <a:endParaRPr lang="zh-TW" altLang="en-US" sz="24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1(2/13)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4525963"/>
          </a:xfrm>
        </p:spPr>
        <p:txBody>
          <a:bodyPr/>
          <a:lstStyle/>
          <a:p>
            <a:r>
              <a:rPr lang="en-US" altLang="zh-TW" i="1" dirty="0" smtClean="0"/>
              <a:t>A</a:t>
            </a:r>
            <a:r>
              <a:rPr lang="en-US" altLang="zh-TW" dirty="0" smtClean="0"/>
              <a:t> = “</a:t>
            </a:r>
            <a:r>
              <a:rPr lang="en-US" altLang="zh-TW" i="1" dirty="0" err="1" smtClean="0"/>
              <a:t>abcdbb</a:t>
            </a:r>
            <a:r>
              <a:rPr lang="en-US" altLang="zh-TW" i="1" dirty="0" smtClean="0"/>
              <a:t>”</a:t>
            </a:r>
            <a:r>
              <a:rPr lang="en-US" altLang="zh-TW" dirty="0" smtClean="0"/>
              <a:t> ,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= “</a:t>
            </a:r>
            <a:r>
              <a:rPr lang="en-US" altLang="zh-TW" i="1" dirty="0" err="1" smtClean="0"/>
              <a:t>cbacbaaba</a:t>
            </a:r>
            <a:r>
              <a:rPr lang="en-US" altLang="zh-TW" i="1" dirty="0" smtClean="0"/>
              <a:t>”</a:t>
            </a:r>
          </a:p>
          <a:p>
            <a:endParaRPr lang="zh-TW" altLang="en-US" i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2500306"/>
          <a:ext cx="4286244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187"/>
                <a:gridCol w="357187"/>
                <a:gridCol w="357187"/>
                <a:gridCol w="357187"/>
                <a:gridCol w="357187"/>
                <a:gridCol w="357187"/>
                <a:gridCol w="357187"/>
                <a:gridCol w="357187"/>
                <a:gridCol w="357187"/>
                <a:gridCol w="357187"/>
                <a:gridCol w="357187"/>
                <a:gridCol w="357187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429124" y="2571744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786446" y="3071810"/>
            <a:ext cx="285752" cy="28575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929190" y="4000504"/>
            <a:ext cx="285752" cy="28575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357818" y="3500438"/>
            <a:ext cx="285752" cy="28575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8001024" y="5357826"/>
            <a:ext cx="285752" cy="28575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6715140" y="4929198"/>
            <a:ext cx="285752" cy="28575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29256" y="4929198"/>
            <a:ext cx="285752" cy="28575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6215074" y="4000504"/>
            <a:ext cx="285752" cy="28575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6643702" y="3500438"/>
            <a:ext cx="357190" cy="4286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1(3/13)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428736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rank(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) 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5643570" y="4714884"/>
            <a:ext cx="22874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rank(3,4) = </a:t>
            </a:r>
            <a:r>
              <a:rPr lang="en-US" altLang="zh-TW" sz="3200" dirty="0" smtClean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  <a:p>
            <a:r>
              <a:rPr lang="en-US" altLang="zh-TW" sz="3200" dirty="0" smtClean="0"/>
              <a:t>rank(6,8) = </a:t>
            </a:r>
            <a:r>
              <a:rPr lang="en-US" altLang="zh-TW" sz="3200" dirty="0" smtClean="0">
                <a:solidFill>
                  <a:srgbClr val="00B050"/>
                </a:solidFill>
              </a:rPr>
              <a:t>4</a:t>
            </a:r>
            <a:endParaRPr lang="zh-TW" altLang="en-US" sz="3200" dirty="0">
              <a:solidFill>
                <a:srgbClr val="00B05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85720" y="2500306"/>
          <a:ext cx="4643472" cy="4143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6956"/>
                <a:gridCol w="386956"/>
                <a:gridCol w="386956"/>
                <a:gridCol w="386956"/>
                <a:gridCol w="386956"/>
                <a:gridCol w="386956"/>
                <a:gridCol w="386956"/>
                <a:gridCol w="386956"/>
                <a:gridCol w="386956"/>
                <a:gridCol w="386956"/>
                <a:gridCol w="386956"/>
                <a:gridCol w="386956"/>
              </a:tblGrid>
              <a:tr h="46037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6037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46037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6037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6037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6037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6037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6037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6037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1(4/13)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zh-TW" dirty="0" smtClean="0"/>
              <a:t>successor (</a:t>
            </a:r>
            <a:r>
              <a:rPr lang="zh-TW" altLang="en-US" dirty="0" smtClean="0"/>
              <a:t>繼承者</a:t>
            </a:r>
            <a:r>
              <a:rPr lang="en-US" altLang="zh-TW" dirty="0" smtClean="0"/>
              <a:t>): a point P(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) to be a successor of another point P’(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’,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’) </a:t>
            </a:r>
            <a:r>
              <a:rPr lang="en-US" altLang="zh-TW" dirty="0" err="1" smtClean="0"/>
              <a:t>iff</a:t>
            </a:r>
            <a:r>
              <a:rPr lang="en-US" altLang="zh-TW" dirty="0" smtClean="0"/>
              <a:t>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’ &lt;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and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’ &lt; </a:t>
            </a:r>
            <a:r>
              <a:rPr lang="en-US" altLang="zh-TW" i="1" dirty="0" smtClean="0"/>
              <a:t>j , which simply  means rank(</a:t>
            </a:r>
            <a:r>
              <a:rPr lang="en-US" altLang="zh-TW" i="1" dirty="0" err="1" smtClean="0"/>
              <a:t>i</a:t>
            </a:r>
            <a:r>
              <a:rPr lang="en-US" altLang="zh-TW" i="1" dirty="0" smtClean="0"/>
              <a:t>, j) ≧ rank(</a:t>
            </a:r>
            <a:r>
              <a:rPr lang="en-US" altLang="zh-TW" i="1" dirty="0" err="1" smtClean="0"/>
              <a:t>i</a:t>
            </a:r>
            <a:r>
              <a:rPr lang="en-US" altLang="zh-TW" i="1" dirty="0" smtClean="0"/>
              <a:t>’, j’)</a:t>
            </a:r>
            <a:endParaRPr lang="zh-TW" altLang="en-US" i="1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5786" y="3143248"/>
          <a:ext cx="4000524" cy="3500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</a:tblGrid>
              <a:tr h="3889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889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889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1(5/13)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A</a:t>
            </a:r>
            <a:r>
              <a:rPr lang="en-US" altLang="zh-TW" dirty="0" smtClean="0"/>
              <a:t> = “</a:t>
            </a:r>
            <a:r>
              <a:rPr lang="en-US" altLang="zh-TW" i="1" dirty="0" err="1" smtClean="0"/>
              <a:t>abcdbb</a:t>
            </a:r>
            <a:r>
              <a:rPr lang="en-US" altLang="zh-TW" i="1" dirty="0" smtClean="0"/>
              <a:t>”</a:t>
            </a:r>
            <a:r>
              <a:rPr lang="en-US" altLang="zh-TW" dirty="0" smtClean="0"/>
              <a:t> ,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= “</a:t>
            </a:r>
            <a:r>
              <a:rPr lang="en-US" altLang="zh-TW" i="1" dirty="0" err="1" smtClean="0"/>
              <a:t>cbacbaaba</a:t>
            </a:r>
            <a:r>
              <a:rPr lang="en-US" altLang="zh-TW" i="1" dirty="0" smtClean="0"/>
              <a:t>”</a:t>
            </a:r>
            <a:endParaRPr lang="en-US" altLang="zh-TW" dirty="0" smtClean="0"/>
          </a:p>
          <a:p>
            <a:r>
              <a:rPr lang="en-US" altLang="zh-TW" dirty="0" smtClean="0"/>
              <a:t>if A[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== b[j] =&gt; *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85786" y="2928934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1(6/13)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1 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2643182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3143240" y="3143248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738680" y="2643182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橢圓 6"/>
          <p:cNvSpPr/>
          <p:nvPr/>
        </p:nvSpPr>
        <p:spPr>
          <a:xfrm>
            <a:off x="7429520" y="3143248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4429124" y="4357694"/>
            <a:ext cx="28575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1(7/13)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1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2643182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2714612" y="3143248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738680" y="2643182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橢圓 6"/>
          <p:cNvSpPr/>
          <p:nvPr/>
        </p:nvSpPr>
        <p:spPr>
          <a:xfrm>
            <a:off x="6072198" y="3143248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4429124" y="4357694"/>
            <a:ext cx="28575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1(8/13)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“Minimal candidates” is sufficient in determining a single LCS 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2844" y="3000372"/>
          <a:ext cx="307183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7183"/>
                <a:gridCol w="307183"/>
                <a:gridCol w="307183"/>
                <a:gridCol w="307183"/>
                <a:gridCol w="307183"/>
                <a:gridCol w="307183"/>
                <a:gridCol w="307183"/>
                <a:gridCol w="307183"/>
                <a:gridCol w="307183"/>
                <a:gridCol w="307183"/>
              </a:tblGrid>
              <a:tr h="33677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367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367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367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367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367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367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7620" y="3000372"/>
            <a:ext cx="4151201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A point(</a:t>
            </a:r>
            <a:r>
              <a:rPr lang="en-US" altLang="zh-TW" sz="2000" dirty="0" err="1" smtClean="0"/>
              <a:t>i,j</a:t>
            </a:r>
            <a:r>
              <a:rPr lang="en-US" altLang="zh-TW" sz="2000" dirty="0" smtClean="0"/>
              <a:t>) is a minimal K-candidate </a:t>
            </a:r>
            <a:r>
              <a:rPr lang="en-US" altLang="zh-TW" sz="2000" dirty="0" err="1" smtClean="0"/>
              <a:t>iff</a:t>
            </a:r>
            <a:endParaRPr lang="en-US" altLang="zh-TW" sz="2000" dirty="0" smtClean="0"/>
          </a:p>
          <a:p>
            <a:r>
              <a:rPr lang="en-US" altLang="zh-TW" sz="2000" dirty="0" smtClean="0"/>
              <a:t>          &lt; j &lt;           and j = </a:t>
            </a:r>
          </a:p>
          <a:p>
            <a:endParaRPr lang="en-US" altLang="zh-TW" sz="2000" baseline="-25000" dirty="0" smtClean="0"/>
          </a:p>
          <a:p>
            <a:endParaRPr lang="en-US" altLang="zh-TW" sz="2000" baseline="-25000" dirty="0" smtClean="0"/>
          </a:p>
          <a:p>
            <a:r>
              <a:rPr lang="en-US" altLang="zh-TW" sz="2000" dirty="0" smtClean="0"/>
              <a:t>point(1,3)</a:t>
            </a:r>
          </a:p>
          <a:p>
            <a:r>
              <a:rPr lang="en-US" altLang="zh-TW" sz="2000" dirty="0" smtClean="0"/>
              <a:t>                </a:t>
            </a:r>
          </a:p>
          <a:p>
            <a:r>
              <a:rPr lang="en-US" altLang="zh-TW" sz="2000" dirty="0" smtClean="0"/>
              <a:t>        &lt;   3    &lt;           and  3 =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0      &lt;    3    &lt;  </a:t>
            </a:r>
            <a:r>
              <a:rPr lang="en-US" altLang="zh-TW" sz="2400" dirty="0" smtClean="0"/>
              <a:t> </a:t>
            </a:r>
            <a:r>
              <a:rPr lang="zh-TW" altLang="en-US" sz="2400" dirty="0" smtClean="0"/>
              <a:t>∞</a:t>
            </a:r>
            <a:r>
              <a:rPr lang="en-US" altLang="zh-TW" sz="2400" dirty="0" smtClean="0"/>
              <a:t>  </a:t>
            </a:r>
            <a:r>
              <a:rPr lang="en-US" altLang="zh-TW" sz="2000" dirty="0" smtClean="0"/>
              <a:t>and  3 = 3 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=&gt;point(1,3) is minimal 1-candidate</a:t>
            </a:r>
            <a:endParaRPr lang="en-US" altLang="zh-TW" sz="2400" dirty="0" smtClean="0"/>
          </a:p>
          <a:p>
            <a:endParaRPr lang="zh-TW" altLang="en-US" sz="2000" baseline="-25000" dirty="0"/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/>
        </p:nvGraphicFramePr>
        <p:xfrm>
          <a:off x="3857620" y="3357562"/>
          <a:ext cx="500066" cy="452441"/>
        </p:xfrm>
        <a:graphic>
          <a:graphicData uri="http://schemas.openxmlformats.org/presentationml/2006/ole">
            <p:oleObj spid="_x0000_s1026" name="Equation" r:id="rId3" imgW="266400" imgH="241200" progId="Equation.3">
              <p:embed/>
            </p:oleObj>
          </a:graphicData>
        </a:graphic>
      </p:graphicFrame>
      <p:graphicFrame>
        <p:nvGraphicFramePr>
          <p:cNvPr id="7" name="物件 6"/>
          <p:cNvGraphicFramePr>
            <a:graphicFrameLocks noChangeAspect="1"/>
          </p:cNvGraphicFramePr>
          <p:nvPr/>
        </p:nvGraphicFramePr>
        <p:xfrm>
          <a:off x="4929190" y="3286124"/>
          <a:ext cx="552705" cy="500066"/>
        </p:xfrm>
        <a:graphic>
          <a:graphicData uri="http://schemas.openxmlformats.org/presentationml/2006/ole">
            <p:oleObj spid="_x0000_s1028" name="Equation" r:id="rId4" imgW="266400" imgH="241200" progId="Equation.3">
              <p:embed/>
            </p:oleObj>
          </a:graphicData>
        </a:graphic>
      </p:graphicFrame>
      <p:graphicFrame>
        <p:nvGraphicFramePr>
          <p:cNvPr id="8" name="物件 7"/>
          <p:cNvGraphicFramePr>
            <a:graphicFrameLocks noChangeAspect="1"/>
          </p:cNvGraphicFramePr>
          <p:nvPr/>
        </p:nvGraphicFramePr>
        <p:xfrm>
          <a:off x="6215074" y="3357561"/>
          <a:ext cx="368471" cy="500067"/>
        </p:xfrm>
        <a:graphic>
          <a:graphicData uri="http://schemas.openxmlformats.org/presentationml/2006/ole">
            <p:oleObj spid="_x0000_s1029" name="Equation" r:id="rId5" imgW="177480" imgH="241200" progId="Equation.3">
              <p:embed/>
            </p:oleObj>
          </a:graphicData>
        </a:graphic>
      </p:graphicFrame>
      <p:graphicFrame>
        <p:nvGraphicFramePr>
          <p:cNvPr id="9" name="物件 8"/>
          <p:cNvGraphicFramePr>
            <a:graphicFrameLocks noChangeAspect="1"/>
          </p:cNvGraphicFramePr>
          <p:nvPr/>
        </p:nvGraphicFramePr>
        <p:xfrm>
          <a:off x="3786182" y="4572008"/>
          <a:ext cx="428628" cy="508996"/>
        </p:xfrm>
        <a:graphic>
          <a:graphicData uri="http://schemas.openxmlformats.org/presentationml/2006/ole">
            <p:oleObj spid="_x0000_s1030" name="Equation" r:id="rId6" imgW="203040" imgH="241200" progId="Equation.3">
              <p:embed/>
            </p:oleObj>
          </a:graphicData>
        </a:graphic>
      </p:graphicFrame>
      <p:graphicFrame>
        <p:nvGraphicFramePr>
          <p:cNvPr id="10" name="物件 9"/>
          <p:cNvGraphicFramePr>
            <a:graphicFrameLocks noChangeAspect="1"/>
          </p:cNvGraphicFramePr>
          <p:nvPr/>
        </p:nvGraphicFramePr>
        <p:xfrm>
          <a:off x="5214941" y="4572008"/>
          <a:ext cx="444503" cy="500066"/>
        </p:xfrm>
        <a:graphic>
          <a:graphicData uri="http://schemas.openxmlformats.org/presentationml/2006/ole">
            <p:oleObj spid="_x0000_s1031" name="Equation" r:id="rId7" imgW="203040" imgH="228600" progId="Equation.3">
              <p:embed/>
            </p:oleObj>
          </a:graphicData>
        </a:graphic>
      </p:graphicFrame>
      <p:graphicFrame>
        <p:nvGraphicFramePr>
          <p:cNvPr id="11" name="物件 10"/>
          <p:cNvGraphicFramePr>
            <a:graphicFrameLocks noChangeAspect="1"/>
          </p:cNvGraphicFramePr>
          <p:nvPr/>
        </p:nvGraphicFramePr>
        <p:xfrm>
          <a:off x="6572264" y="4572008"/>
          <a:ext cx="476253" cy="571504"/>
        </p:xfrm>
        <a:graphic>
          <a:graphicData uri="http://schemas.openxmlformats.org/presentationml/2006/ole">
            <p:oleObj spid="_x0000_s1032" name="Equation" r:id="rId8" imgW="19044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1(9/13)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1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2643182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928662" y="3571876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向右箭號 5"/>
          <p:cNvSpPr/>
          <p:nvPr/>
        </p:nvSpPr>
        <p:spPr>
          <a:xfrm>
            <a:off x="4429124" y="4143380"/>
            <a:ext cx="28575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738680" y="2643182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214942" y="4071942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1(10/13)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1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57224" y="2714620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1(11/13)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2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2500306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2214546" y="3429000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向右箭號 5"/>
          <p:cNvSpPr/>
          <p:nvPr/>
        </p:nvSpPr>
        <p:spPr>
          <a:xfrm>
            <a:off x="4429124" y="4143380"/>
            <a:ext cx="28575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738680" y="2500306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6572264" y="3929066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1(12/13)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2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0" y="2571744"/>
          <a:ext cx="342899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714348" y="4929198"/>
            <a:ext cx="285752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3428992" y="4143380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786182" y="3857628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smtClean="0"/>
              <a:t>……</a:t>
            </a:r>
            <a:endParaRPr lang="zh-TW" altLang="en-US" sz="3600" dirty="0"/>
          </a:p>
        </p:txBody>
      </p:sp>
      <p:sp>
        <p:nvSpPr>
          <p:cNvPr id="11" name="向右箭號 10"/>
          <p:cNvSpPr/>
          <p:nvPr/>
        </p:nvSpPr>
        <p:spPr>
          <a:xfrm>
            <a:off x="4500562" y="4143380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000628" y="2571744"/>
          <a:ext cx="342899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1(13/13)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3                             find rank = 4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1472" y="2714620"/>
          <a:ext cx="342899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857752" y="2714620"/>
          <a:ext cx="342899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  <a:gridCol w="342899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Improvement Approach 1(1/5)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O(pm * max(1 , log(n/m))</a:t>
            </a:r>
            <a:r>
              <a:rPr lang="en-US" altLang="zh-TW" dirty="0" smtClean="0"/>
              <a:t>)</a:t>
            </a:r>
            <a:endParaRPr lang="zh-TW" altLang="en-US" baseline="300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5720" y="2500306"/>
          <a:ext cx="4000524" cy="3500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</a:tblGrid>
              <a:tr h="3889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889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889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572000" y="2500306"/>
          <a:ext cx="4000524" cy="3500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  <a:gridCol w="333377"/>
              </a:tblGrid>
              <a:tr h="3889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889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889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889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4286248" y="4071942"/>
            <a:ext cx="285752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Improvement Approach 1(2/5)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1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2500306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5214942" y="3929066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向右箭號 5"/>
          <p:cNvSpPr/>
          <p:nvPr/>
        </p:nvSpPr>
        <p:spPr>
          <a:xfrm>
            <a:off x="4429124" y="3929066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738680" y="2500306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928662" y="3429000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214942" y="3929066"/>
            <a:ext cx="357190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Improvement Approach 1(3/5)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1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57158" y="2714620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Improvement Approach 1(4/5)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2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2643185"/>
          <a:ext cx="3500430" cy="32861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</a:tblGrid>
              <a:tr h="46944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1428728" y="4071942"/>
            <a:ext cx="285752" cy="357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向右箭號 5"/>
          <p:cNvSpPr/>
          <p:nvPr/>
        </p:nvSpPr>
        <p:spPr>
          <a:xfrm>
            <a:off x="3500430" y="4000504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3857620" y="3714752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smtClean="0"/>
              <a:t>……</a:t>
            </a:r>
            <a:endParaRPr lang="zh-TW" altLang="en-US" sz="3600" dirty="0"/>
          </a:p>
        </p:txBody>
      </p:sp>
      <p:sp>
        <p:nvSpPr>
          <p:cNvPr id="8" name="向右箭號 7"/>
          <p:cNvSpPr/>
          <p:nvPr/>
        </p:nvSpPr>
        <p:spPr>
          <a:xfrm>
            <a:off x="4572000" y="4000504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929190" y="2643182"/>
          <a:ext cx="3500430" cy="32861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</a:tblGrid>
              <a:tr h="46944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Improvement Approach 1(5/5)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rank = 3                             find rank = 4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5720" y="2500306"/>
          <a:ext cx="3500430" cy="32861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</a:tblGrid>
              <a:tr h="46944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643438" y="2500306"/>
          <a:ext cx="3500430" cy="32861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  <a:gridCol w="350043"/>
              </a:tblGrid>
              <a:tr h="46944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6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2(1/8)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A Fast Algorithm for Computing Longest Common Subsequences - </a:t>
            </a:r>
            <a:r>
              <a:rPr lang="en-US" altLang="zh-TW" dirty="0" smtClean="0"/>
              <a:t>Hunt and Szymanski 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714596"/>
            <a:ext cx="9144000" cy="4143404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6215074" y="3143248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O(N</a:t>
            </a:r>
            <a:r>
              <a:rPr lang="en-US" altLang="zh-TW" sz="3200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sz="3200" dirty="0" smtClean="0">
                <a:solidFill>
                  <a:srgbClr val="FF0000"/>
                </a:solidFill>
              </a:rPr>
              <a:t>logn)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2(2/8)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A</a:t>
            </a:r>
            <a:r>
              <a:rPr lang="en-US" altLang="zh-TW" dirty="0" smtClean="0"/>
              <a:t> = “</a:t>
            </a:r>
            <a:r>
              <a:rPr lang="en-US" altLang="zh-TW" i="1" dirty="0" err="1" smtClean="0"/>
              <a:t>abcdbb</a:t>
            </a:r>
            <a:r>
              <a:rPr lang="en-US" altLang="zh-TW" i="1" dirty="0" smtClean="0"/>
              <a:t>”</a:t>
            </a:r>
            <a:r>
              <a:rPr lang="en-US" altLang="zh-TW" dirty="0" smtClean="0"/>
              <a:t> ,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= “</a:t>
            </a:r>
            <a:r>
              <a:rPr lang="en-US" altLang="zh-TW" i="1" dirty="0" err="1" smtClean="0"/>
              <a:t>cbacbaaba</a:t>
            </a:r>
            <a:r>
              <a:rPr lang="en-US" altLang="zh-TW" i="1" dirty="0" smtClean="0"/>
              <a:t>”</a:t>
            </a:r>
          </a:p>
          <a:p>
            <a:r>
              <a:rPr lang="en-US" altLang="zh-TW" dirty="0" smtClean="0"/>
              <a:t>if A[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== b[j] =&gt; *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00034" y="3429000"/>
          <a:ext cx="440532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2(3/8)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A</a:t>
            </a:r>
            <a:r>
              <a:rPr lang="en-US" altLang="zh-TW" dirty="0" smtClean="0"/>
              <a:t> = “</a:t>
            </a:r>
            <a:r>
              <a:rPr lang="en-US" altLang="zh-TW" i="1" dirty="0" err="1" smtClean="0"/>
              <a:t>abcdbb</a:t>
            </a:r>
            <a:r>
              <a:rPr lang="en-US" altLang="zh-TW" i="1" dirty="0" smtClean="0"/>
              <a:t>”</a:t>
            </a:r>
            <a:r>
              <a:rPr lang="en-US" altLang="zh-TW" dirty="0" smtClean="0"/>
              <a:t> ,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= “</a:t>
            </a:r>
            <a:r>
              <a:rPr lang="en-US" altLang="zh-TW" i="1" dirty="0" err="1" smtClean="0"/>
              <a:t>cbacbaaba</a:t>
            </a:r>
            <a:r>
              <a:rPr lang="en-US" altLang="zh-TW" i="1" dirty="0" smtClean="0"/>
              <a:t>”</a:t>
            </a:r>
          </a:p>
          <a:p>
            <a:r>
              <a:rPr lang="en-US" altLang="zh-TW" dirty="0" smtClean="0"/>
              <a:t>n = max( |A|, |B|) = 9</a:t>
            </a:r>
          </a:p>
          <a:p>
            <a:r>
              <a:rPr lang="en-US" altLang="zh-TW" dirty="0" smtClean="0"/>
              <a:t>Thresh[0:n]=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                    =               </a:t>
            </a:r>
          </a:p>
          <a:p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048000" y="2714620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n+1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n+1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n+1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n+1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n+1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n+1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048000" y="385762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2(4/8)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/>
          <a:lstStyle/>
          <a:p>
            <a:r>
              <a:rPr lang="en-US" altLang="zh-TW" dirty="0" smtClean="0"/>
              <a:t>Thresh[0:n]=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Thresh[k-1] </a:t>
            </a:r>
            <a:r>
              <a:rPr lang="zh-TW" altLang="en-US" dirty="0" smtClean="0"/>
              <a:t>＜ </a:t>
            </a:r>
            <a:r>
              <a:rPr lang="en-US" altLang="zh-TW" dirty="0" smtClean="0"/>
              <a:t>j ≦ Thresh[k]   =&gt;   Thresh[k] = j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048000" y="1571612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2(5/8)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1472" y="2714620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1472" y="1785926"/>
          <a:ext cx="320758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587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071934" y="2857496"/>
            <a:ext cx="528641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Point(</a:t>
            </a:r>
            <a:r>
              <a:rPr lang="en-US" altLang="zh-TW" sz="2000" dirty="0" err="1" smtClean="0"/>
              <a:t>i</a:t>
            </a:r>
            <a:r>
              <a:rPr lang="en-US" altLang="zh-TW" sz="2000" dirty="0" smtClean="0"/>
              <a:t>, j) = (1, </a:t>
            </a:r>
            <a:r>
              <a:rPr lang="en-US" altLang="zh-TW" sz="2000" dirty="0" smtClean="0">
                <a:solidFill>
                  <a:srgbClr val="00B050"/>
                </a:solidFill>
              </a:rPr>
              <a:t>9</a:t>
            </a:r>
            <a:r>
              <a:rPr lang="en-US" altLang="zh-TW" sz="2000" dirty="0" smtClean="0"/>
              <a:t>)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Thresh[0] </a:t>
            </a:r>
            <a:r>
              <a:rPr lang="zh-TW" altLang="en-US" sz="2000" dirty="0" smtClean="0"/>
              <a:t>＜</a:t>
            </a:r>
            <a:r>
              <a:rPr lang="en-US" altLang="zh-TW" sz="2000" dirty="0" smtClean="0">
                <a:solidFill>
                  <a:srgbClr val="00B050"/>
                </a:solidFill>
              </a:rPr>
              <a:t>9</a:t>
            </a:r>
            <a:r>
              <a:rPr lang="en-US" altLang="zh-TW" sz="2000" dirty="0" smtClean="0"/>
              <a:t> ≦ Thresh[</a:t>
            </a:r>
            <a:r>
              <a:rPr lang="en-US" altLang="zh-TW" sz="2000" dirty="0" smtClean="0">
                <a:solidFill>
                  <a:srgbClr val="FF0000"/>
                </a:solidFill>
              </a:rPr>
              <a:t>1</a:t>
            </a:r>
            <a:r>
              <a:rPr lang="en-US" altLang="zh-TW" sz="2000" dirty="0" smtClean="0"/>
              <a:t>]   =&gt;   Thresh[1] = 9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rank of point(1,9) = </a:t>
            </a:r>
            <a:r>
              <a:rPr lang="en-US" altLang="zh-TW" sz="2000" dirty="0" smtClean="0">
                <a:solidFill>
                  <a:srgbClr val="FF0000"/>
                </a:solidFill>
              </a:rPr>
              <a:t>1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8" name="向右箭號 7"/>
          <p:cNvSpPr/>
          <p:nvPr/>
        </p:nvSpPr>
        <p:spPr>
          <a:xfrm>
            <a:off x="3929058" y="2000240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429124" y="1857364"/>
          <a:ext cx="320758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587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2(6/8)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1472" y="2714620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71472" y="1785926"/>
          <a:ext cx="320758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587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3929058" y="2000240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429124" y="1857364"/>
          <a:ext cx="320758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587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071934" y="2857496"/>
            <a:ext cx="528641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Point(</a:t>
            </a:r>
            <a:r>
              <a:rPr lang="en-US" altLang="zh-TW" sz="2000" dirty="0" err="1" smtClean="0"/>
              <a:t>i</a:t>
            </a:r>
            <a:r>
              <a:rPr lang="en-US" altLang="zh-TW" sz="2000" dirty="0" smtClean="0"/>
              <a:t>, j) = (1, </a:t>
            </a:r>
            <a:r>
              <a:rPr lang="en-US" altLang="zh-TW" sz="2000" dirty="0" smtClean="0">
                <a:solidFill>
                  <a:srgbClr val="00B050"/>
                </a:solidFill>
              </a:rPr>
              <a:t>7</a:t>
            </a:r>
            <a:r>
              <a:rPr lang="en-US" altLang="zh-TW" sz="2000" dirty="0" smtClean="0"/>
              <a:t>)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Thresh[0] </a:t>
            </a:r>
            <a:r>
              <a:rPr lang="zh-TW" altLang="en-US" sz="2000" dirty="0" smtClean="0"/>
              <a:t>＜</a:t>
            </a:r>
            <a:r>
              <a:rPr lang="en-US" altLang="zh-TW" sz="2000" dirty="0" smtClean="0">
                <a:solidFill>
                  <a:srgbClr val="00B050"/>
                </a:solidFill>
              </a:rPr>
              <a:t>7</a:t>
            </a:r>
            <a:r>
              <a:rPr lang="en-US" altLang="zh-TW" sz="2000" dirty="0" smtClean="0"/>
              <a:t> ≦ Thresh[</a:t>
            </a:r>
            <a:r>
              <a:rPr lang="en-US" altLang="zh-TW" sz="2000" dirty="0" smtClean="0">
                <a:solidFill>
                  <a:srgbClr val="FF0000"/>
                </a:solidFill>
              </a:rPr>
              <a:t>1</a:t>
            </a:r>
            <a:r>
              <a:rPr lang="en-US" altLang="zh-TW" sz="2000" dirty="0" smtClean="0"/>
              <a:t>]   =&gt;   Thresh[1] = 7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rank of point(1,7) = </a:t>
            </a:r>
            <a:r>
              <a:rPr lang="en-US" altLang="zh-TW" sz="2000" dirty="0" smtClean="0">
                <a:solidFill>
                  <a:srgbClr val="FF0000"/>
                </a:solidFill>
              </a:rPr>
              <a:t>1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2(7/8)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1472" y="2714620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71472" y="1785926"/>
          <a:ext cx="320758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587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3929058" y="2000240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429124" y="1857364"/>
          <a:ext cx="320758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587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071934" y="2857496"/>
            <a:ext cx="528641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Point(</a:t>
            </a:r>
            <a:r>
              <a:rPr lang="en-US" altLang="zh-TW" sz="2000" dirty="0" err="1" smtClean="0"/>
              <a:t>i</a:t>
            </a:r>
            <a:r>
              <a:rPr lang="en-US" altLang="zh-TW" sz="2000" dirty="0" smtClean="0"/>
              <a:t>, j) = (2, </a:t>
            </a:r>
            <a:r>
              <a:rPr lang="en-US" altLang="zh-TW" sz="2000" dirty="0" smtClean="0">
                <a:solidFill>
                  <a:srgbClr val="00B050"/>
                </a:solidFill>
              </a:rPr>
              <a:t>8</a:t>
            </a:r>
            <a:r>
              <a:rPr lang="en-US" altLang="zh-TW" sz="2000" dirty="0" smtClean="0"/>
              <a:t>)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Thresh[1] </a:t>
            </a:r>
            <a:r>
              <a:rPr lang="zh-TW" altLang="en-US" sz="2000" dirty="0" smtClean="0"/>
              <a:t>＜</a:t>
            </a:r>
            <a:r>
              <a:rPr lang="en-US" altLang="zh-TW" sz="2000" dirty="0" smtClean="0">
                <a:solidFill>
                  <a:srgbClr val="00B050"/>
                </a:solidFill>
              </a:rPr>
              <a:t>8</a:t>
            </a:r>
            <a:r>
              <a:rPr lang="en-US" altLang="zh-TW" sz="2000" dirty="0" smtClean="0"/>
              <a:t> ≦ Thresh[</a:t>
            </a:r>
            <a:r>
              <a:rPr lang="en-US" altLang="zh-TW" sz="2000" dirty="0" smtClean="0">
                <a:solidFill>
                  <a:srgbClr val="FF0000"/>
                </a:solidFill>
              </a:rPr>
              <a:t>2</a:t>
            </a:r>
            <a:r>
              <a:rPr lang="en-US" altLang="zh-TW" sz="2000" dirty="0" smtClean="0"/>
              <a:t>]   =&gt;   Thresh[2] = 8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rank of point(2,8) = </a:t>
            </a:r>
            <a:r>
              <a:rPr lang="en-US" altLang="zh-TW" sz="2000" dirty="0" smtClean="0">
                <a:solidFill>
                  <a:srgbClr val="FF0000"/>
                </a:solidFill>
              </a:rPr>
              <a:t>2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Approach 2(8/8)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00034" y="3143248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14348" y="1714488"/>
          <a:ext cx="320758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587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572000" y="3571876"/>
            <a:ext cx="4000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Length of LCS(A,B)=4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Improvement Approach 2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3214686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857620" y="1857364"/>
          <a:ext cx="320758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587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429124" y="4143380"/>
            <a:ext cx="1214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j = 4</a:t>
            </a:r>
            <a:endParaRPr lang="zh-TW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4500562" y="4214818"/>
            <a:ext cx="714380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圖案 13"/>
          <p:cNvCxnSpPr>
            <a:stCxn id="8" idx="1"/>
          </p:cNvCxnSpPr>
          <p:nvPr/>
        </p:nvCxnSpPr>
        <p:spPr>
          <a:xfrm rot="10800000" flipH="1">
            <a:off x="4500562" y="2643186"/>
            <a:ext cx="142876" cy="1785946"/>
          </a:xfrm>
          <a:prstGeom prst="curvedConnector4">
            <a:avLst>
              <a:gd name="adj1" fmla="val -159999"/>
              <a:gd name="adj2" fmla="val 77333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4286248" y="3214686"/>
            <a:ext cx="3786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chemeClr val="accent4">
                    <a:lumMod val="75000"/>
                  </a:schemeClr>
                </a:solidFill>
              </a:rPr>
              <a:t>binary search =&gt; </a:t>
            </a:r>
            <a:r>
              <a:rPr lang="en-US" altLang="zh-TW" sz="2400" dirty="0" err="1" smtClean="0">
                <a:solidFill>
                  <a:schemeClr val="accent4">
                    <a:lumMod val="75000"/>
                  </a:schemeClr>
                </a:solidFill>
              </a:rPr>
              <a:t>logn</a:t>
            </a:r>
            <a:endParaRPr lang="zh-TW" altLang="en-US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3214686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71472" y="4572008"/>
            <a:ext cx="3000396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214810" y="1785926"/>
          <a:ext cx="320758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587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286248" y="3214686"/>
            <a:ext cx="48577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 smtClean="0"/>
              <a:t>SetA</a:t>
            </a:r>
            <a:r>
              <a:rPr lang="en-US" altLang="zh-TW" sz="2400" dirty="0" smtClean="0"/>
              <a:t>{ j</a:t>
            </a:r>
            <a:r>
              <a:rPr lang="en-US" altLang="zh-TW" sz="2400" baseline="-25000" dirty="0" smtClean="0"/>
              <a:t>1</a:t>
            </a:r>
            <a:r>
              <a:rPr lang="en-US" altLang="zh-TW" sz="2400" dirty="0" smtClean="0"/>
              <a:t>= 1 , j</a:t>
            </a:r>
            <a:r>
              <a:rPr lang="en-US" altLang="zh-TW" sz="2400" baseline="-25000" dirty="0" smtClean="0"/>
              <a:t>2</a:t>
            </a:r>
            <a:r>
              <a:rPr lang="en-US" altLang="zh-TW" sz="2400" dirty="0" smtClean="0"/>
              <a:t> = 4}</a:t>
            </a:r>
          </a:p>
          <a:p>
            <a:r>
              <a:rPr lang="en-US" altLang="zh-TW" sz="2400" dirty="0" err="1" smtClean="0"/>
              <a:t>SetB</a:t>
            </a:r>
            <a:r>
              <a:rPr lang="en-US" altLang="zh-TW" sz="2400" dirty="0" smtClean="0"/>
              <a:t>{0 , 2 , 5 , 10, 10, 10, 10}</a:t>
            </a:r>
          </a:p>
          <a:p>
            <a:endParaRPr lang="en-US" altLang="zh-TW" sz="2400" dirty="0" smtClean="0"/>
          </a:p>
          <a:p>
            <a:r>
              <a:rPr lang="en-US" altLang="zh-TW" sz="2400" i="1" dirty="0" smtClean="0"/>
              <a:t>merging algorithms:</a:t>
            </a:r>
            <a:endParaRPr lang="en-US" altLang="zh-TW" sz="2400" dirty="0" smtClean="0"/>
          </a:p>
          <a:p>
            <a:r>
              <a:rPr lang="en-US" altLang="zh-TW" sz="2400" dirty="0" smtClean="0">
                <a:solidFill>
                  <a:schemeClr val="accent4">
                    <a:lumMod val="75000"/>
                  </a:schemeClr>
                </a:solidFill>
              </a:rPr>
              <a:t>Hwang-Lin merge</a:t>
            </a:r>
            <a:r>
              <a:rPr lang="en-US" altLang="zh-TW" sz="2400" dirty="0" smtClean="0"/>
              <a:t> is recommended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Hwang-Lin merge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1744"/>
            <a:ext cx="9144000" cy="428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428596" y="1643050"/>
            <a:ext cx="8715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TW" sz="2400" dirty="0" smtClean="0"/>
              <a:t>  Average case analysis of the merging algorithm of Hwang and Lin</a:t>
            </a:r>
          </a:p>
          <a:p>
            <a:r>
              <a:rPr lang="en-US" altLang="zh-TW" sz="2400" dirty="0" smtClean="0"/>
              <a:t>  	W. Fernandez de la Vega*      </a:t>
            </a:r>
            <a:r>
              <a:rPr lang="en-US" altLang="zh-TW" sz="2400" dirty="0" err="1" smtClean="0"/>
              <a:t>A.M.Frieze</a:t>
            </a:r>
            <a:r>
              <a:rPr lang="en-US" altLang="zh-TW" sz="2400" baseline="30000" dirty="0" smtClean="0"/>
              <a:t>+ </a:t>
            </a:r>
            <a:r>
              <a:rPr lang="en-US" altLang="zh-TW" sz="2400" dirty="0" smtClean="0"/>
              <a:t>     M. </a:t>
            </a:r>
            <a:r>
              <a:rPr lang="en-US" altLang="zh-TW" sz="2400" dirty="0" err="1" smtClean="0"/>
              <a:t>Santha</a:t>
            </a:r>
            <a:r>
              <a:rPr lang="en-US" altLang="zh-TW" sz="2400" dirty="0" smtClean="0"/>
              <a:t>*</a:t>
            </a:r>
            <a:endParaRPr lang="zh-TW" altLang="en-US" sz="2400" baseline="30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A={1,3,4}     B={0,2,5}</a:t>
            </a:r>
          </a:p>
          <a:p>
            <a:r>
              <a:rPr lang="en-US" altLang="zh-TW" dirty="0" smtClean="0"/>
              <a:t>J(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) denotes the index of the rightmost term of the first sequence which is smaller than B</a:t>
            </a:r>
            <a:r>
              <a:rPr lang="en-US" altLang="zh-TW" baseline="-25000" dirty="0" smtClean="0"/>
              <a:t>i</a:t>
            </a:r>
          </a:p>
          <a:p>
            <a:pPr>
              <a:buNone/>
            </a:pPr>
            <a:endParaRPr lang="en-US" altLang="zh-TW" dirty="0" smtClean="0"/>
          </a:p>
          <a:p>
            <a:r>
              <a:rPr lang="en-US" altLang="zh-TW" dirty="0" smtClean="0"/>
              <a:t>J[1:3]={0,1,3}</a:t>
            </a:r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O(</a:t>
            </a:r>
            <a:r>
              <a:rPr lang="en-US" altLang="zh-TW" i="1" dirty="0" smtClean="0"/>
              <a:t>p log(n/p) + p</a:t>
            </a:r>
            <a:r>
              <a:rPr lang="en-US" altLang="zh-TW" dirty="0" smtClean="0"/>
              <a:t>)</a:t>
            </a:r>
          </a:p>
          <a:p>
            <a:pPr>
              <a:buNone/>
            </a:pPr>
            <a:r>
              <a:rPr lang="en-US" altLang="zh-TW" dirty="0" smtClean="0"/>
              <a:t>for m rows, </a:t>
            </a:r>
            <a:r>
              <a:rPr lang="en-US" altLang="zh-TW" i="1" dirty="0" smtClean="0"/>
              <a:t>O(mp log(n/p) + mp)</a:t>
            </a:r>
            <a:endParaRPr lang="zh-TW" altLang="en-US" i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                 Thank you for listening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1815</TotalTime>
  <Words>2398</Words>
  <PresentationFormat>如螢幕大小 (4:3)</PresentationFormat>
  <Paragraphs>1720</Paragraphs>
  <Slides>33</Slides>
  <Notes>0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5" baseType="lpstr">
      <vt:lpstr>Office 佈景主題</vt:lpstr>
      <vt:lpstr>Equation</vt:lpstr>
      <vt:lpstr>New Algorithms for the LCS Problem *</vt:lpstr>
      <vt:lpstr>Abstract</vt:lpstr>
      <vt:lpstr>Approach 1(1/13)</vt:lpstr>
      <vt:lpstr>Approach 1(2/13)</vt:lpstr>
      <vt:lpstr>Approach 1(3/13)</vt:lpstr>
      <vt:lpstr>Approach 1(4/13)</vt:lpstr>
      <vt:lpstr>Approach 1(5/13)</vt:lpstr>
      <vt:lpstr>Approach 1(6/13)</vt:lpstr>
      <vt:lpstr>Approach 1(7/13)</vt:lpstr>
      <vt:lpstr>Approach 1(8/13)</vt:lpstr>
      <vt:lpstr>Approach 1(9/13)</vt:lpstr>
      <vt:lpstr>Approach 1(10/13)</vt:lpstr>
      <vt:lpstr>Approach 1(11/13)</vt:lpstr>
      <vt:lpstr>Approach 1(12/13)</vt:lpstr>
      <vt:lpstr>Approach 1(13/13)</vt:lpstr>
      <vt:lpstr>Improvement Approach 1(1/5)</vt:lpstr>
      <vt:lpstr>Improvement Approach 1(2/5)</vt:lpstr>
      <vt:lpstr>Improvement Approach 1(3/5)</vt:lpstr>
      <vt:lpstr>Improvement Approach 1(4/5)</vt:lpstr>
      <vt:lpstr>Improvement Approach 1(5/5)</vt:lpstr>
      <vt:lpstr>Approach 2(1/8)</vt:lpstr>
      <vt:lpstr>Approach 2(2/8)</vt:lpstr>
      <vt:lpstr>Approach 2(3/8)</vt:lpstr>
      <vt:lpstr>Approach 2(4/8)</vt:lpstr>
      <vt:lpstr>Approach 2(5/8)</vt:lpstr>
      <vt:lpstr>Approach 2(6/8)</vt:lpstr>
      <vt:lpstr>Approach 2(7/8)</vt:lpstr>
      <vt:lpstr>Approach 2(8/8)</vt:lpstr>
      <vt:lpstr>Improvement Approach 2</vt:lpstr>
      <vt:lpstr>投影片 30</vt:lpstr>
      <vt:lpstr>Hwang-Lin merge</vt:lpstr>
      <vt:lpstr>投影片 32</vt:lpstr>
      <vt:lpstr>投影片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Algorithms for the LCS Problem *</dc:title>
  <cp:lastModifiedBy>admin</cp:lastModifiedBy>
  <cp:revision>116</cp:revision>
  <dcterms:modified xsi:type="dcterms:W3CDTF">2014-03-24T12:34:33Z</dcterms:modified>
</cp:coreProperties>
</file>