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sldIdLst>
    <p:sldId id="256" r:id="rId2"/>
    <p:sldId id="257" r:id="rId3"/>
    <p:sldId id="258" r:id="rId4"/>
    <p:sldId id="272" r:id="rId5"/>
    <p:sldId id="273" r:id="rId6"/>
    <p:sldId id="274" r:id="rId7"/>
    <p:sldId id="275" r:id="rId8"/>
    <p:sldId id="282" r:id="rId9"/>
    <p:sldId id="265" r:id="rId10"/>
    <p:sldId id="276" r:id="rId11"/>
    <p:sldId id="285" r:id="rId12"/>
    <p:sldId id="286" r:id="rId13"/>
    <p:sldId id="277" r:id="rId14"/>
    <p:sldId id="278" r:id="rId15"/>
    <p:sldId id="259" r:id="rId16"/>
    <p:sldId id="283" r:id="rId17"/>
    <p:sldId id="284" r:id="rId18"/>
    <p:sldId id="266" r:id="rId19"/>
    <p:sldId id="268" r:id="rId20"/>
    <p:sldId id="267" r:id="rId21"/>
    <p:sldId id="269" r:id="rId22"/>
    <p:sldId id="261" r:id="rId23"/>
    <p:sldId id="270" r:id="rId24"/>
    <p:sldId id="279" r:id="rId25"/>
    <p:sldId id="280" r:id="rId26"/>
    <p:sldId id="281" r:id="rId27"/>
    <p:sldId id="271" r:id="rId28"/>
    <p:sldId id="262" r:id="rId29"/>
    <p:sldId id="264" r:id="rId3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64" d="100"/>
          <a:sy n="64" d="100"/>
        </p:scale>
        <p:origin x="-108" y="-29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35810-A5E1-4271-A45E-173FB46534F3}" type="datetimeFigureOut">
              <a:rPr lang="zh-TW" altLang="en-US" smtClean="0"/>
              <a:pPr/>
              <a:t>2014/4/29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EB8FA6-44C6-4144-B0F1-AC65EC876A11}" type="slidenum">
              <a:rPr lang="zh-TW" altLang="en-US" smtClean="0"/>
              <a:pPr/>
              <a:t>‹#›</a:t>
            </a:fld>
            <a:endParaRPr lang="zh-TW" altLang="en-US"/>
          </a:p>
        </p:txBody>
      </p:sp>
    </p:spTree>
    <p:extLst>
      <p:ext uri="{BB962C8B-B14F-4D97-AF65-F5344CB8AC3E}">
        <p14:creationId xmlns:p14="http://schemas.microsoft.com/office/powerpoint/2010/main" xmlns="" val="212393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73EB8FA6-44C6-4144-B0F1-AC65EC876A11}" type="slidenum">
              <a:rPr lang="zh-TW" altLang="en-US" smtClean="0"/>
              <a:pPr/>
              <a:t>15</a:t>
            </a:fld>
            <a:endParaRPr lang="zh-TW" altLang="en-US"/>
          </a:p>
        </p:txBody>
      </p:sp>
    </p:spTree>
    <p:extLst>
      <p:ext uri="{BB962C8B-B14F-4D97-AF65-F5344CB8AC3E}">
        <p14:creationId xmlns:p14="http://schemas.microsoft.com/office/powerpoint/2010/main" xmlns="" val="655353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73EB8FA6-44C6-4144-B0F1-AC65EC876A11}" type="slidenum">
              <a:rPr lang="zh-TW" altLang="en-US" smtClean="0"/>
              <a:pPr/>
              <a:t>28</a:t>
            </a:fld>
            <a:endParaRPr lang="zh-TW" altLang="en-US"/>
          </a:p>
        </p:txBody>
      </p:sp>
    </p:spTree>
    <p:extLst>
      <p:ext uri="{BB962C8B-B14F-4D97-AF65-F5344CB8AC3E}">
        <p14:creationId xmlns:p14="http://schemas.microsoft.com/office/powerpoint/2010/main" xmlns="" val="4285986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95B98750-B9CB-4ECE-9E7C-41F1EC734D3A}"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4172493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4976644-58E2-4E3F-A304-30C12747F85C}"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1914234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1545A32E-4A5D-4EB8-81B0-D6F8F973F012}"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3338154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2C46E3E-7609-41F0-BC67-ACF28DE95208}" type="datetime1">
              <a:rPr lang="zh-TW" altLang="en-US" smtClean="0"/>
              <a:pPr/>
              <a:t>2014/4/29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3128953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7A45CEC-28BA-41EC-A29D-12FA973336A6}" type="datetime1">
              <a:rPr lang="zh-TW" altLang="en-US" smtClean="0"/>
              <a:pPr/>
              <a:t>2014/4/29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132522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5D8CF25-D7DE-43DE-AE24-D80D7F12203E}" type="datetime1">
              <a:rPr lang="zh-TW" altLang="en-US" smtClean="0"/>
              <a:pPr/>
              <a:t>2014/4/29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361832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85A3759-B188-4CCE-8E55-A63BCCD270DB}" type="datetime1">
              <a:rPr lang="zh-TW" altLang="en-US" smtClean="0"/>
              <a:pPr/>
              <a:t>2014/4/29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737757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DB46814-1180-46A6-B3BA-30EA117674A5}" type="datetime1">
              <a:rPr lang="zh-TW" altLang="en-US" smtClean="0"/>
              <a:pPr/>
              <a:t>2014/4/29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421182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ACCA86E-1FC9-45E8-9D29-C1F414AEB606}" type="datetime1">
              <a:rPr lang="zh-TW" altLang="en-US" smtClean="0"/>
              <a:pPr/>
              <a:t>2014/4/29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783395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0B0AC5-0454-42EC-89F0-7E8245E046E1}"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1060788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E36F6A0-53DE-4D12-AEA4-147ADE76CC8C}"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1158059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502DFA-9683-4E3E-80ED-C3EAB3C5890B}" type="datetime1">
              <a:rPr lang="zh-TW" altLang="en-US" smtClean="0"/>
              <a:pPr/>
              <a:t>2014/4/29</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E38F8E-F105-4395-BB51-B47D06FD7340}" type="slidenum">
              <a:rPr lang="zh-TW" altLang="en-US" smtClean="0"/>
              <a:pPr/>
              <a:t>‹#›</a:t>
            </a:fld>
            <a:endParaRPr lang="zh-TW" altLang="en-US"/>
          </a:p>
        </p:txBody>
      </p:sp>
    </p:spTree>
    <p:extLst>
      <p:ext uri="{BB962C8B-B14F-4D97-AF65-F5344CB8AC3E}">
        <p14:creationId xmlns:p14="http://schemas.microsoft.com/office/powerpoint/2010/main" xmlns="" val="4049490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317938" y="220842"/>
            <a:ext cx="9144000" cy="2387600"/>
          </a:xfrm>
        </p:spPr>
        <p:txBody>
          <a:bodyPr/>
          <a:lstStyle/>
          <a:p>
            <a:r>
              <a:rPr lang="en-US" altLang="zh-TW" dirty="0" smtClean="0"/>
              <a:t>Stock Investment with Stochastic Programming</a:t>
            </a:r>
            <a:endParaRPr lang="zh-TW" altLang="en-US" dirty="0"/>
          </a:p>
        </p:txBody>
      </p:sp>
      <p:sp>
        <p:nvSpPr>
          <p:cNvPr id="3" name="副標題 2"/>
          <p:cNvSpPr>
            <a:spLocks noGrp="1"/>
          </p:cNvSpPr>
          <p:nvPr>
            <p:ph type="subTitle" idx="1"/>
          </p:nvPr>
        </p:nvSpPr>
        <p:spPr>
          <a:xfrm>
            <a:off x="1524000" y="3020517"/>
            <a:ext cx="9144000" cy="673748"/>
          </a:xfrm>
        </p:spPr>
        <p:txBody>
          <a:bodyPr>
            <a:noAutofit/>
          </a:bodyPr>
          <a:lstStyle/>
          <a:p>
            <a:r>
              <a:rPr lang="en-US" altLang="zh-TW" sz="2800" dirty="0">
                <a:latin typeface="Times New Roman" panose="02020603050405020304" pitchFamily="18" charset="0"/>
                <a:ea typeface="微軟正黑體" panose="020B0604030504040204" pitchFamily="34" charset="-120"/>
                <a:cs typeface="Times New Roman" panose="02020603050405020304" pitchFamily="18" charset="0"/>
              </a:rPr>
              <a:t>Department of Computer Science and Engineering, </a:t>
            </a:r>
            <a:br>
              <a:rPr lang="en-US" altLang="zh-TW" sz="2800" dirty="0">
                <a:latin typeface="Times New Roman" panose="02020603050405020304" pitchFamily="18" charset="0"/>
                <a:ea typeface="微軟正黑體" panose="020B0604030504040204" pitchFamily="34" charset="-120"/>
                <a:cs typeface="Times New Roman" panose="02020603050405020304" pitchFamily="18" charset="0"/>
              </a:rPr>
            </a:br>
            <a:r>
              <a:rPr lang="en-US" altLang="zh-TW" sz="2800" dirty="0">
                <a:latin typeface="Times New Roman" panose="02020603050405020304" pitchFamily="18" charset="0"/>
                <a:ea typeface="微軟正黑體" panose="020B0604030504040204" pitchFamily="34" charset="-120"/>
                <a:cs typeface="Times New Roman" panose="02020603050405020304" pitchFamily="18" charset="0"/>
              </a:rPr>
              <a:t>National Sun-</a:t>
            </a:r>
            <a:r>
              <a:rPr lang="en-US" altLang="zh-TW" sz="2800" dirty="0" err="1">
                <a:latin typeface="Times New Roman" panose="02020603050405020304" pitchFamily="18" charset="0"/>
                <a:ea typeface="微軟正黑體" panose="020B0604030504040204" pitchFamily="34" charset="-120"/>
                <a:cs typeface="Times New Roman" panose="02020603050405020304" pitchFamily="18" charset="0"/>
              </a:rPr>
              <a:t>Yat</a:t>
            </a:r>
            <a:r>
              <a:rPr lang="en-US" altLang="zh-TW" sz="2800" dirty="0">
                <a:latin typeface="Times New Roman" panose="02020603050405020304" pitchFamily="18" charset="0"/>
                <a:ea typeface="微軟正黑體" panose="020B0604030504040204" pitchFamily="34" charset="-120"/>
                <a:cs typeface="Times New Roman" panose="02020603050405020304" pitchFamily="18" charset="0"/>
              </a:rPr>
              <a:t>-</a:t>
            </a:r>
            <a:r>
              <a:rPr lang="en-US" altLang="zh-TW" sz="2800" dirty="0" err="1">
                <a:latin typeface="Times New Roman" panose="02020603050405020304" pitchFamily="18" charset="0"/>
                <a:ea typeface="微軟正黑體" panose="020B0604030504040204" pitchFamily="34" charset="-120"/>
                <a:cs typeface="Times New Roman" panose="02020603050405020304" pitchFamily="18" charset="0"/>
              </a:rPr>
              <a:t>sen</a:t>
            </a:r>
            <a:r>
              <a:rPr lang="en-US" altLang="zh-TW" sz="2800" dirty="0">
                <a:latin typeface="Times New Roman" panose="02020603050405020304" pitchFamily="18" charset="0"/>
                <a:ea typeface="微軟正黑體" panose="020B0604030504040204" pitchFamily="34" charset="-120"/>
                <a:cs typeface="Times New Roman" panose="02020603050405020304" pitchFamily="18" charset="0"/>
              </a:rPr>
              <a:t> University</a:t>
            </a:r>
          </a:p>
          <a:p>
            <a:endParaRPr lang="zh-TW" altLang="en-US" sz="2800" dirty="0"/>
          </a:p>
        </p:txBody>
      </p:sp>
      <p:sp>
        <p:nvSpPr>
          <p:cNvPr id="4" name="矩形 3"/>
          <p:cNvSpPr/>
          <p:nvPr/>
        </p:nvSpPr>
        <p:spPr>
          <a:xfrm>
            <a:off x="2518348" y="4384429"/>
            <a:ext cx="6790544" cy="954107"/>
          </a:xfrm>
          <a:prstGeom prst="rect">
            <a:avLst/>
          </a:prstGeom>
        </p:spPr>
        <p:txBody>
          <a:bodyPr wrap="square">
            <a:spAutoFit/>
          </a:bodyPr>
          <a:lstStyle/>
          <a:p>
            <a:r>
              <a:rPr kumimoji="0" lang="en-US" altLang="zh-TW" sz="2800" dirty="0" smtClean="0">
                <a:latin typeface="Times New Roman" panose="02020603050405020304" pitchFamily="18" charset="0"/>
                <a:ea typeface="微軟正黑體" panose="020B0604030504040204" pitchFamily="34" charset="-120"/>
                <a:cs typeface="Times New Roman" panose="02020603050405020304" pitchFamily="18" charset="0"/>
              </a:rPr>
              <a:t>Presenter: </a:t>
            </a:r>
            <a:r>
              <a:rPr kumimoji="0" lang="en-US" altLang="zh-TW" sz="2800" b="1" dirty="0" smtClean="0">
                <a:latin typeface="Times New Roman" panose="02020603050405020304" pitchFamily="18" charset="0"/>
                <a:ea typeface="微軟正黑體" panose="020B0604030504040204" pitchFamily="34" charset="-120"/>
                <a:cs typeface="Times New Roman" panose="02020603050405020304" pitchFamily="18" charset="0"/>
              </a:rPr>
              <a:t>Hung-</a:t>
            </a:r>
            <a:r>
              <a:rPr kumimoji="0" lang="en-US" altLang="zh-TW" sz="2800" b="1" dirty="0" err="1" smtClean="0">
                <a:latin typeface="Times New Roman" panose="02020603050405020304" pitchFamily="18" charset="0"/>
                <a:ea typeface="微軟正黑體" panose="020B0604030504040204" pitchFamily="34" charset="-120"/>
                <a:cs typeface="Times New Roman" panose="02020603050405020304" pitchFamily="18" charset="0"/>
              </a:rPr>
              <a:t>Hsin</a:t>
            </a:r>
            <a:r>
              <a:rPr kumimoji="0" lang="en-US" altLang="zh-TW" sz="2800" b="1" dirty="0" smtClean="0">
                <a:latin typeface="Times New Roman" panose="02020603050405020304" pitchFamily="18" charset="0"/>
                <a:ea typeface="微軟正黑體" panose="020B0604030504040204" pitchFamily="34" charset="-120"/>
                <a:cs typeface="Times New Roman" panose="02020603050405020304" pitchFamily="18" charset="0"/>
              </a:rPr>
              <a:t> Chen (</a:t>
            </a:r>
            <a:r>
              <a:rPr kumimoji="0" lang="zh-TW" altLang="en-US" sz="2800" b="1" dirty="0" smtClean="0">
                <a:latin typeface="Times New Roman" panose="02020603050405020304" pitchFamily="18" charset="0"/>
                <a:ea typeface="微軟正黑體" panose="020B0604030504040204" pitchFamily="34" charset="-120"/>
                <a:cs typeface="Times New Roman" panose="02020603050405020304" pitchFamily="18" charset="0"/>
              </a:rPr>
              <a:t>陳紘昕</a:t>
            </a:r>
            <a:r>
              <a:rPr kumimoji="0" lang="en-US" altLang="zh-TW" sz="2800" b="1" dirty="0" smtClean="0">
                <a:latin typeface="Times New Roman" panose="02020603050405020304" pitchFamily="18" charset="0"/>
                <a:ea typeface="微軟正黑體" panose="020B0604030504040204" pitchFamily="34" charset="-120"/>
                <a:cs typeface="Times New Roman" panose="02020603050405020304" pitchFamily="18" charset="0"/>
              </a:rPr>
              <a:t>)</a:t>
            </a:r>
          </a:p>
          <a:p>
            <a:r>
              <a:rPr kumimoji="0" lang="en-US" altLang="zh-TW" sz="2800" dirty="0" smtClean="0">
                <a:latin typeface="Times New Roman" panose="02020603050405020304" pitchFamily="18" charset="0"/>
                <a:ea typeface="微軟正黑體" panose="020B0604030504040204" pitchFamily="34" charset="-120"/>
                <a:cs typeface="Times New Roman" panose="02020603050405020304" pitchFamily="18" charset="0"/>
              </a:rPr>
              <a:t>Advisor: Prof. Chang-</a:t>
            </a:r>
            <a:r>
              <a:rPr kumimoji="0" lang="en-US" altLang="zh-TW" sz="2800" dirty="0" err="1" smtClean="0">
                <a:latin typeface="Times New Roman" panose="02020603050405020304" pitchFamily="18" charset="0"/>
                <a:ea typeface="微軟正黑體" panose="020B0604030504040204" pitchFamily="34" charset="-120"/>
                <a:cs typeface="Times New Roman" panose="02020603050405020304" pitchFamily="18" charset="0"/>
              </a:rPr>
              <a:t>Biau</a:t>
            </a:r>
            <a:r>
              <a:rPr kumimoji="0" lang="en-US" altLang="zh-TW" sz="2800" dirty="0" smtClean="0">
                <a:latin typeface="Times New Roman" panose="02020603050405020304" pitchFamily="18" charset="0"/>
                <a:ea typeface="微軟正黑體" panose="020B0604030504040204" pitchFamily="34" charset="-120"/>
                <a:cs typeface="Times New Roman" panose="02020603050405020304" pitchFamily="18" charset="0"/>
              </a:rPr>
              <a:t> Yang (</a:t>
            </a:r>
            <a:r>
              <a:rPr kumimoji="0" lang="zh-TW" altLang="en-US" sz="2800" dirty="0" smtClean="0">
                <a:latin typeface="Times New Roman" panose="02020603050405020304" pitchFamily="18" charset="0"/>
                <a:ea typeface="微軟正黑體" panose="020B0604030504040204" pitchFamily="34" charset="-120"/>
                <a:cs typeface="Times New Roman" panose="02020603050405020304" pitchFamily="18" charset="0"/>
              </a:rPr>
              <a:t>楊昌彪</a:t>
            </a:r>
            <a:r>
              <a:rPr kumimoji="0" lang="en-US" altLang="zh-TW" sz="2800" dirty="0" smtClean="0">
                <a:latin typeface="Times New Roman" panose="02020603050405020304" pitchFamily="18" charset="0"/>
                <a:ea typeface="微軟正黑體" panose="020B0604030504040204" pitchFamily="34" charset="-120"/>
                <a:cs typeface="Times New Roman" panose="02020603050405020304" pitchFamily="18" charset="0"/>
              </a:rPr>
              <a:t>)</a:t>
            </a:r>
            <a:endParaRPr kumimoji="0" lang="en-US" altLang="zh-TW" sz="2800"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5" name="矩形 4"/>
          <p:cNvSpPr/>
          <p:nvPr/>
        </p:nvSpPr>
        <p:spPr>
          <a:xfrm>
            <a:off x="8484711" y="5930721"/>
            <a:ext cx="2603277" cy="461665"/>
          </a:xfrm>
          <a:prstGeom prst="rect">
            <a:avLst/>
          </a:prstGeom>
        </p:spPr>
        <p:txBody>
          <a:bodyPr wrap="none">
            <a:spAutoFit/>
          </a:bodyPr>
          <a:lstStyle/>
          <a:p>
            <a:r>
              <a:rPr kumimoji="0" lang="en-US" altLang="zh-TW" sz="2400" dirty="0" smtClean="0">
                <a:latin typeface="Times New Roman" panose="02020603050405020304" pitchFamily="18" charset="0"/>
                <a:ea typeface="微軟正黑體" panose="020B0604030504040204" pitchFamily="34" charset="-120"/>
                <a:cs typeface="Times New Roman" panose="02020603050405020304" pitchFamily="18" charset="0"/>
              </a:rPr>
              <a:t>Date: Apr. 29, 2014</a:t>
            </a:r>
            <a:endParaRPr kumimoji="0" lang="en-US" altLang="zh-TW" sz="2400" dirty="0">
              <a:latin typeface="Times New Roman" panose="02020603050405020304" pitchFamily="18" charset="0"/>
              <a:ea typeface="微軟正黑體" panose="020B0604030504040204" pitchFamily="34" charset="-120"/>
              <a:cs typeface="Times New Roman" panose="02020603050405020304" pitchFamily="18" charset="0"/>
            </a:endParaRPr>
          </a:p>
        </p:txBody>
      </p:sp>
      <p:pic>
        <p:nvPicPr>
          <p:cNvPr id="6" name="圖片 5" descr="sys_1091_7210170_26106.png"/>
          <p:cNvPicPr>
            <a:picLocks noChangeAspect="1"/>
          </p:cNvPicPr>
          <p:nvPr/>
        </p:nvPicPr>
        <p:blipFill>
          <a:blip r:embed="rId2" cstate="print"/>
          <a:stretch>
            <a:fillRect/>
          </a:stretch>
        </p:blipFill>
        <p:spPr>
          <a:xfrm>
            <a:off x="839131" y="5697564"/>
            <a:ext cx="5905985" cy="694822"/>
          </a:xfrm>
          <a:prstGeom prst="rect">
            <a:avLst/>
          </a:prstGeom>
        </p:spPr>
      </p:pic>
    </p:spTree>
    <p:extLst>
      <p:ext uri="{BB962C8B-B14F-4D97-AF65-F5344CB8AC3E}">
        <p14:creationId xmlns:p14="http://schemas.microsoft.com/office/powerpoint/2010/main" xmlns="" val="3021190751"/>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838200" y="1383442"/>
            <a:ext cx="10515600" cy="5254580"/>
          </a:xfrm>
        </p:spPr>
        <p:txBody>
          <a:bodyPr>
            <a:noAutofit/>
          </a:bodyPr>
          <a:lstStyle/>
          <a:p>
            <a:pPr marL="0" indent="0" algn="just">
              <a:buNone/>
            </a:pPr>
            <a:r>
              <a:rPr lang="en-US" altLang="zh-TW" sz="3200" dirty="0" smtClean="0"/>
              <a:t>In this paper, we propose the stochastic programming (SP) model with risk measure conditional value at risk (</a:t>
            </a:r>
            <a:r>
              <a:rPr lang="en-US" altLang="zh-TW" sz="3200" dirty="0" err="1" smtClean="0"/>
              <a:t>CVaR</a:t>
            </a:r>
            <a:r>
              <a:rPr lang="en-US" altLang="zh-TW" sz="3200" dirty="0" smtClean="0"/>
              <a:t>) for investing stocks in Taiwan stock market. In each period of investment, 200 scenarios are generated for solving SP, and the </a:t>
            </a:r>
            <a:r>
              <a:rPr lang="en-US" altLang="zh-TW" sz="3200" dirty="0" err="1" smtClean="0"/>
              <a:t>CVaR</a:t>
            </a:r>
            <a:r>
              <a:rPr lang="en-US" altLang="zh-TW" sz="3200" dirty="0" smtClean="0"/>
              <a:t> is utilized to manage the risk. The experiment interval starts from 2005/1/1 and ends on 2013/12/31, which has totally 2235 trading periods. The experimental results show that our method is able to earn positive return. We also perform superior predictive ability test to illustrate that our method can avoid the data snooping problem. Our method achieves the best annualized return 13.26%, which is higher than the buy-and-hold annualized return 12.19%.</a:t>
            </a:r>
            <a:endParaRPr lang="zh-TW" altLang="en-US" sz="3200" dirty="0"/>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2</a:t>
            </a:fld>
            <a:endParaRPr lang="zh-TW" altLang="en-US"/>
          </a:p>
        </p:txBody>
      </p:sp>
    </p:spTree>
    <p:extLst>
      <p:ext uri="{BB962C8B-B14F-4D97-AF65-F5344CB8AC3E}">
        <p14:creationId xmlns:p14="http://schemas.microsoft.com/office/powerpoint/2010/main" xmlns="" val="27397882"/>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94785"/>
            <a:ext cx="10515600" cy="1325563"/>
          </a:xfrm>
        </p:spPr>
        <p:txBody>
          <a:bodyPr/>
          <a:lstStyle/>
          <a:p>
            <a:r>
              <a:rPr lang="en-US" altLang="zh-TW" dirty="0" smtClean="0"/>
              <a:t>Two-stage stochastic programming (SP)</a:t>
            </a:r>
            <a:endParaRPr lang="zh-TW" altLang="en-US" dirty="0"/>
          </a:p>
        </p:txBody>
      </p:sp>
      <mc:AlternateContent xmlns:mc="http://schemas.openxmlformats.org/markup-compatibility/2006">
        <mc:Choice xmlns:a14="http://schemas.microsoft.com/office/drawing/2010/main" xmlns="" Requires="a14">
          <p:sp>
            <p:nvSpPr>
              <p:cNvPr id="3" name="文字方塊 2"/>
              <p:cNvSpPr txBox="1"/>
              <p:nvPr/>
            </p:nvSpPr>
            <p:spPr>
              <a:xfrm>
                <a:off x="717755" y="1936086"/>
                <a:ext cx="10636045" cy="3795013"/>
              </a:xfrm>
              <a:prstGeom prst="rect">
                <a:avLst/>
              </a:prstGeom>
              <a:noFill/>
            </p:spPr>
            <p:txBody>
              <a:bodyPr wrap="square" lIns="0" tIns="0" rIns="0" bIns="0" rtlCol="0">
                <a:spAutoFit/>
              </a:bodyPr>
              <a:lstStyle/>
              <a:p>
                <a:r>
                  <a:rPr lang="en-US" altLang="zh-TW" sz="2800" b="1" dirty="0" smtClean="0">
                    <a:latin typeface="Cambria Math" panose="02040503050406030204" pitchFamily="18" charset="0"/>
                  </a:rPr>
                  <a:t>Stage 1 problem (</a:t>
                </a:r>
                <a:r>
                  <a:rPr lang="en-US" altLang="zh-TW" sz="2800" b="1" dirty="0" smtClean="0">
                    <a:solidFill>
                      <a:srgbClr val="00B0F0"/>
                    </a:solidFill>
                    <a:latin typeface="Cambria Math" panose="02040503050406030204" pitchFamily="18" charset="0"/>
                  </a:rPr>
                  <a:t>at this stage, we do not know the realization of y in the future, but we can estimate the values from historical data</a:t>
                </a:r>
                <a:r>
                  <a:rPr lang="en-US" altLang="zh-TW" sz="2800" b="1" dirty="0" smtClean="0">
                    <a:latin typeface="Cambria Math" panose="02040503050406030204" pitchFamily="18" charset="0"/>
                  </a:rPr>
                  <a:t>).</a:t>
                </a:r>
              </a:p>
              <a:p>
                <a:pPr/>
                <a14:m>
                  <m:oMathPara xmlns:m="http://schemas.openxmlformats.org/officeDocument/2006/math">
                    <m:oMathParaPr>
                      <m:jc m:val="left"/>
                    </m:oMathParaPr>
                    <m:oMath xmlns:m="http://schemas.openxmlformats.org/officeDocument/2006/math">
                      <m:func>
                        <m:funcPr>
                          <m:ctrlPr>
                            <a:rPr lang="en-US" altLang="zh-TW" sz="2800" i="1" smtClean="0">
                              <a:latin typeface="Cambria Math" panose="02040503050406030204" pitchFamily="18" charset="0"/>
                            </a:rPr>
                          </m:ctrlPr>
                        </m:funcPr>
                        <m:fName>
                          <m:limLow>
                            <m:limLowPr>
                              <m:ctrlPr>
                                <a:rPr lang="en-US" altLang="zh-TW" sz="2800" i="1" smtClean="0">
                                  <a:latin typeface="Cambria Math" panose="02040503050406030204" pitchFamily="18" charset="0"/>
                                </a:rPr>
                              </m:ctrlPr>
                            </m:limLowPr>
                            <m:e>
                              <m:r>
                                <m:rPr>
                                  <m:sty m:val="p"/>
                                </m:rPr>
                                <a:rPr lang="en-US" altLang="zh-TW" sz="2800" i="0" smtClean="0">
                                  <a:latin typeface="Cambria Math" panose="02040503050406030204" pitchFamily="18" charset="0"/>
                                </a:rPr>
                                <m:t>min</m:t>
                              </m:r>
                            </m:e>
                            <m:lim>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𝑋</m:t>
                              </m:r>
                            </m:lim>
                          </m:limLow>
                        </m:fName>
                        <m:e>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𝑔</m:t>
                              </m:r>
                              <m:d>
                                <m:dPr>
                                  <m:ctrlPr>
                                    <a:rPr lang="en-US" altLang="zh-TW" sz="2800" b="0" i="1" smtClean="0">
                                      <a:latin typeface="Cambria Math" panose="02040503050406030204" pitchFamily="18" charset="0"/>
                                    </a:rPr>
                                  </m:ctrlPr>
                                </m:dPr>
                                <m:e>
                                  <m:r>
                                    <a:rPr lang="en-US" altLang="zh-TW" sz="2800" b="1" i="1" smtClean="0">
                                      <a:latin typeface="Cambria Math" panose="02040503050406030204" pitchFamily="18" charset="0"/>
                                    </a:rPr>
                                    <m:t>𝒙</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𝑓</m:t>
                              </m:r>
                              <m:d>
                                <m:dPr>
                                  <m:ctrlPr>
                                    <a:rPr lang="en-US" altLang="zh-TW" sz="2800" b="0" i="1" smtClean="0">
                                      <a:latin typeface="Cambria Math" panose="02040503050406030204" pitchFamily="18" charset="0"/>
                                    </a:rPr>
                                  </m:ctrlPr>
                                </m:dPr>
                                <m:e>
                                  <m:r>
                                    <a:rPr lang="en-US" altLang="zh-TW" sz="2800" b="1" i="1" smtClean="0">
                                      <a:latin typeface="Cambria Math" panose="02040503050406030204" pitchFamily="18" charset="0"/>
                                    </a:rPr>
                                    <m:t>𝒙</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𝐸</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𝑄</m:t>
                                  </m:r>
                                  <m:d>
                                    <m:dPr>
                                      <m:ctrlPr>
                                        <a:rPr lang="en-US" altLang="zh-TW" sz="2800" b="0" i="1" smtClean="0">
                                          <a:latin typeface="Cambria Math" panose="02040503050406030204" pitchFamily="18" charset="0"/>
                                        </a:rPr>
                                      </m:ctrlPr>
                                    </m:dPr>
                                    <m:e>
                                      <m:r>
                                        <a:rPr lang="en-US" altLang="zh-TW" sz="2800" b="1" i="1" smtClean="0">
                                          <a:latin typeface="Cambria Math" panose="02040503050406030204" pitchFamily="18" charset="0"/>
                                        </a:rPr>
                                        <m:t>𝒙</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𝜉</m:t>
                                      </m:r>
                                    </m:e>
                                  </m:d>
                                </m:e>
                              </m:d>
                            </m:e>
                          </m:d>
                        </m:e>
                      </m:func>
                    </m:oMath>
                  </m:oMathPara>
                </a14:m>
                <a:endParaRPr lang="en-US" altLang="zh-TW" sz="2800" dirty="0" smtClean="0"/>
              </a:p>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rPr>
                        <m:t>𝑠</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 </m:t>
                      </m:r>
                      <m:r>
                        <a:rPr lang="en-US" altLang="zh-TW" sz="2800" b="1" i="1" smtClean="0">
                          <a:latin typeface="Cambria Math" panose="02040503050406030204" pitchFamily="18" charset="0"/>
                        </a:rPr>
                        <m:t>𝑨𝒙</m:t>
                      </m:r>
                      <m:r>
                        <a:rPr lang="en-US" altLang="zh-TW" sz="2800" b="0" i="1" smtClean="0">
                          <a:latin typeface="Cambria Math" panose="02040503050406030204" pitchFamily="18" charset="0"/>
                        </a:rPr>
                        <m:t>≤</m:t>
                      </m:r>
                      <m:r>
                        <a:rPr lang="en-US" altLang="zh-TW" sz="2800" b="1" i="1" smtClean="0">
                          <a:latin typeface="Cambria Math" panose="02040503050406030204" pitchFamily="18" charset="0"/>
                        </a:rPr>
                        <m:t>𝒃</m:t>
                      </m:r>
                      <m:r>
                        <a:rPr lang="en-US" altLang="zh-TW" sz="2800" b="0" i="1" smtClean="0">
                          <a:latin typeface="Cambria Math" panose="02040503050406030204" pitchFamily="18" charset="0"/>
                        </a:rPr>
                        <m:t>, </m:t>
                      </m:r>
                      <m:r>
                        <a:rPr lang="en-US" altLang="zh-TW" sz="2800" b="1" i="1" smtClean="0">
                          <a:latin typeface="Cambria Math" panose="02040503050406030204" pitchFamily="18" charset="0"/>
                        </a:rPr>
                        <m:t>𝒙</m:t>
                      </m:r>
                      <m:r>
                        <a:rPr lang="en-US" altLang="zh-TW" sz="2800" b="0" i="1" smtClean="0">
                          <a:latin typeface="Cambria Math" panose="02040503050406030204" pitchFamily="18" charset="0"/>
                        </a:rPr>
                        <m:t>≥0</m:t>
                      </m:r>
                    </m:oMath>
                  </m:oMathPara>
                </a14:m>
                <a:endParaRPr lang="en-US" altLang="zh-TW" sz="2800" b="0" dirty="0" smtClean="0"/>
              </a:p>
              <a:p>
                <a:r>
                  <a:rPr lang="en-US" altLang="zh-TW" sz="2800" b="1" dirty="0" smtClean="0"/>
                  <a:t>Stage </a:t>
                </a:r>
                <a:r>
                  <a:rPr lang="en-US" altLang="zh-TW" sz="2800" b="1" dirty="0" smtClean="0"/>
                  <a:t>2 problem:</a:t>
                </a:r>
              </a:p>
              <a:p>
                <a:pPr/>
                <a14:m>
                  <m:oMathPara xmlns:m="http://schemas.openxmlformats.org/officeDocument/2006/math">
                    <m:oMathParaPr>
                      <m:jc m:val="left"/>
                    </m:oMathParaPr>
                    <m:oMath xmlns:m="http://schemas.openxmlformats.org/officeDocument/2006/math">
                      <m:func>
                        <m:funcPr>
                          <m:ctrlPr>
                            <a:rPr lang="en-US" altLang="zh-TW" sz="2800" i="1" smtClean="0">
                              <a:latin typeface="Cambria Math" panose="02040503050406030204" pitchFamily="18" charset="0"/>
                            </a:rPr>
                          </m:ctrlPr>
                        </m:funcPr>
                        <m:fName>
                          <m:limLow>
                            <m:limLowPr>
                              <m:ctrlPr>
                                <a:rPr lang="en-US" altLang="zh-TW" sz="2800" i="1" smtClean="0">
                                  <a:latin typeface="Cambria Math" panose="02040503050406030204" pitchFamily="18" charset="0"/>
                                </a:rPr>
                              </m:ctrlPr>
                            </m:limLowPr>
                            <m:e>
                              <m:r>
                                <m:rPr>
                                  <m:sty m:val="p"/>
                                </m:rPr>
                                <a:rPr lang="en-US" altLang="zh-TW" sz="2800" i="0" smtClean="0">
                                  <a:latin typeface="Cambria Math" panose="02040503050406030204" pitchFamily="18" charset="0"/>
                                </a:rPr>
                                <m:t>min</m:t>
                              </m:r>
                            </m:e>
                            <m:lim>
                              <m:r>
                                <a:rPr lang="en-US" altLang="zh-TW" sz="2800" b="0" i="1" smtClean="0">
                                  <a:latin typeface="Cambria Math" panose="02040503050406030204" pitchFamily="18" charset="0"/>
                                </a:rPr>
                                <m:t>𝑦</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𝑌</m:t>
                              </m:r>
                            </m:lim>
                          </m:limLow>
                        </m:fName>
                        <m:e>
                          <m:sSup>
                            <m:sSupPr>
                              <m:ctrlPr>
                                <a:rPr lang="en-US" altLang="zh-TW" sz="2800" b="0" i="1" smtClean="0">
                                  <a:latin typeface="Cambria Math" panose="02040503050406030204" pitchFamily="18" charset="0"/>
                                </a:rPr>
                              </m:ctrlPr>
                            </m:sSupPr>
                            <m:e>
                              <m:r>
                                <a:rPr lang="en-US" altLang="zh-TW" sz="2800" b="1" i="1" smtClean="0">
                                  <a:latin typeface="Cambria Math" panose="02040503050406030204" pitchFamily="18" charset="0"/>
                                </a:rPr>
                                <m:t>𝒒</m:t>
                              </m:r>
                            </m:e>
                            <m:sup>
                              <m:r>
                                <a:rPr lang="en-US" altLang="zh-TW" sz="2800" b="0" i="1" smtClean="0">
                                  <a:latin typeface="Cambria Math" panose="02040503050406030204" pitchFamily="18" charset="0"/>
                                </a:rPr>
                                <m:t>𝑇</m:t>
                              </m:r>
                            </m:sup>
                          </m:sSup>
                          <m:r>
                            <a:rPr lang="en-US" altLang="zh-TW" sz="2800" b="1" i="1" smtClean="0">
                              <a:latin typeface="Cambria Math" panose="02040503050406030204" pitchFamily="18" charset="0"/>
                            </a:rPr>
                            <m:t>𝒚</m:t>
                          </m:r>
                        </m:e>
                      </m:func>
                    </m:oMath>
                  </m:oMathPara>
                </a14:m>
                <a:endParaRPr lang="en-US" altLang="zh-TW" sz="2800" dirty="0" smtClean="0"/>
              </a:p>
              <a:p>
                <a:pPr/>
                <a14:m>
                  <m:oMathPara xmlns:m="http://schemas.openxmlformats.org/officeDocument/2006/math">
                    <m:oMathParaPr>
                      <m:jc m:val="left"/>
                    </m:oMathParaPr>
                    <m:oMath xmlns:m="http://schemas.openxmlformats.org/officeDocument/2006/math">
                      <m:r>
                        <a:rPr lang="en-US" altLang="zh-TW" sz="2800" b="0" i="1" smtClean="0">
                          <a:latin typeface="Cambria Math" panose="02040503050406030204" pitchFamily="18" charset="0"/>
                        </a:rPr>
                        <m:t>𝑠</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 </m:t>
                      </m:r>
                      <m:r>
                        <a:rPr lang="en-US" altLang="zh-TW" sz="2800" b="1" i="1" smtClean="0">
                          <a:latin typeface="Cambria Math" panose="02040503050406030204" pitchFamily="18" charset="0"/>
                        </a:rPr>
                        <m:t>𝑻𝒙</m:t>
                      </m:r>
                      <m:r>
                        <a:rPr lang="en-US" altLang="zh-TW" sz="2800" b="0" i="1" smtClean="0">
                          <a:latin typeface="Cambria Math" panose="02040503050406030204" pitchFamily="18" charset="0"/>
                        </a:rPr>
                        <m:t>+</m:t>
                      </m:r>
                      <m:r>
                        <a:rPr lang="en-US" altLang="zh-TW" sz="2800" b="1" i="1" smtClean="0">
                          <a:latin typeface="Cambria Math" panose="02040503050406030204" pitchFamily="18" charset="0"/>
                        </a:rPr>
                        <m:t>𝑾𝒚</m:t>
                      </m:r>
                      <m:r>
                        <a:rPr lang="en-US" altLang="zh-TW" sz="2800" b="0" i="1" smtClean="0">
                          <a:latin typeface="Cambria Math" panose="02040503050406030204" pitchFamily="18" charset="0"/>
                        </a:rPr>
                        <m:t>≤</m:t>
                      </m:r>
                      <m:r>
                        <a:rPr lang="en-US" altLang="zh-TW" sz="2800" b="1" i="1" smtClean="0">
                          <a:latin typeface="Cambria Math" panose="02040503050406030204" pitchFamily="18" charset="0"/>
                        </a:rPr>
                        <m:t>𝒉</m:t>
                      </m:r>
                      <m:r>
                        <a:rPr lang="en-US" altLang="zh-TW" sz="2800" b="0" i="1" smtClean="0">
                          <a:latin typeface="Cambria Math" panose="02040503050406030204" pitchFamily="18" charset="0"/>
                        </a:rPr>
                        <m:t>, </m:t>
                      </m:r>
                      <m:r>
                        <a:rPr lang="en-US" altLang="zh-TW" sz="2800" b="1" i="1" smtClean="0">
                          <a:latin typeface="Cambria Math" panose="02040503050406030204" pitchFamily="18" charset="0"/>
                        </a:rPr>
                        <m:t>𝒚</m:t>
                      </m:r>
                      <m:r>
                        <a:rPr lang="en-US" altLang="zh-TW" sz="2800" b="0" i="1" smtClean="0">
                          <a:latin typeface="Cambria Math" panose="02040503050406030204" pitchFamily="18" charset="0"/>
                        </a:rPr>
                        <m:t>≥0</m:t>
                      </m:r>
                    </m:oMath>
                  </m:oMathPara>
                </a14:m>
                <a:endParaRPr lang="en-US" altLang="zh-TW" sz="2800" dirty="0" smtClean="0"/>
              </a:p>
              <a:p>
                <a:endParaRPr lang="zh-TW" altLang="en-US" sz="2800" dirty="0"/>
              </a:p>
            </p:txBody>
          </p:sp>
        </mc:Choice>
        <mc:Fallback>
          <p:sp>
            <p:nvSpPr>
              <p:cNvPr id="3" name="文字方塊 2"/>
              <p:cNvSpPr txBox="1">
                <a:spLocks noRot="1" noChangeAspect="1" noMove="1" noResize="1" noEditPoints="1" noAdjustHandles="1" noChangeArrowheads="1" noChangeShapeType="1" noTextEdit="1"/>
              </p:cNvSpPr>
              <p:nvPr/>
            </p:nvSpPr>
            <p:spPr>
              <a:xfrm>
                <a:off x="717755" y="1936086"/>
                <a:ext cx="10636045" cy="3795013"/>
              </a:xfrm>
              <a:prstGeom prst="rect">
                <a:avLst/>
              </a:prstGeom>
              <a:blipFill rotWithShape="0">
                <a:blip r:embed="rId2"/>
                <a:stretch>
                  <a:fillRect l="-2063" t="-2894"/>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56E38F8E-F105-4395-BB51-B47D06FD7340}" type="slidenum">
              <a:rPr lang="zh-TW" altLang="en-US" smtClean="0"/>
              <a:pPr/>
              <a:t>3</a:t>
            </a:fld>
            <a:endParaRPr lang="zh-TW" altLang="en-US"/>
          </a:p>
        </p:txBody>
      </p:sp>
      <mc:AlternateContent xmlns:mc="http://schemas.openxmlformats.org/markup-compatibility/2006">
        <mc:Choice xmlns:a14="http://schemas.microsoft.com/office/drawing/2010/main" xmlns="" Requires="a14">
          <p:sp>
            <p:nvSpPr>
              <p:cNvPr id="6" name="文字方塊 5"/>
              <p:cNvSpPr txBox="1"/>
              <p:nvPr/>
            </p:nvSpPr>
            <p:spPr>
              <a:xfrm>
                <a:off x="5601238" y="4044203"/>
                <a:ext cx="4198374" cy="11329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a:rPr>
                        <m:t>𝐸</m:t>
                      </m:r>
                      <m:d>
                        <m:dPr>
                          <m:ctrlPr>
                            <a:rPr lang="en-US" altLang="zh-TW" sz="2400" b="0" i="1" smtClean="0">
                              <a:latin typeface="Cambria Math" panose="02040503050406030204" pitchFamily="18" charset="0"/>
                            </a:rPr>
                          </m:ctrlPr>
                        </m:dPr>
                        <m:e>
                          <m:r>
                            <a:rPr lang="en-US" altLang="zh-TW" sz="2400" b="0" i="1" smtClean="0">
                              <a:latin typeface="Cambria Math"/>
                            </a:rPr>
                            <m:t>𝑄</m:t>
                          </m:r>
                          <m:d>
                            <m:dPr>
                              <m:ctrlPr>
                                <a:rPr lang="en-US" altLang="zh-TW" sz="2400" b="0" i="1" smtClean="0">
                                  <a:latin typeface="Cambria Math" panose="02040503050406030204" pitchFamily="18" charset="0"/>
                                </a:rPr>
                              </m:ctrlPr>
                            </m:dPr>
                            <m:e>
                              <m:r>
                                <a:rPr lang="en-US" altLang="zh-TW" sz="2400" b="0" i="1" smtClean="0">
                                  <a:latin typeface="Cambria Math"/>
                                </a:rPr>
                                <m:t>𝑥</m:t>
                              </m:r>
                              <m:r>
                                <a:rPr lang="en-US" altLang="zh-TW" sz="2400" b="0" i="1" smtClean="0">
                                  <a:latin typeface="Cambria Math"/>
                                </a:rPr>
                                <m:t>,</m:t>
                              </m:r>
                              <m:r>
                                <a:rPr lang="en-US" altLang="zh-TW" sz="2400" b="0" i="1" smtClean="0">
                                  <a:latin typeface="Cambria Math"/>
                                </a:rPr>
                                <m:t>𝜉</m:t>
                              </m:r>
                            </m:e>
                          </m:d>
                        </m:e>
                      </m:d>
                      <m:r>
                        <a:rPr lang="en-US" altLang="zh-TW" sz="2400" b="0" i="1" smtClean="0">
                          <a:latin typeface="Cambria Math"/>
                        </a:rPr>
                        <m:t>=</m:t>
                      </m:r>
                      <m:nary>
                        <m:naryPr>
                          <m:chr m:val="∑"/>
                          <m:ctrlPr>
                            <a:rPr lang="en-US" altLang="zh-TW" sz="2400" b="0" i="1" smtClean="0">
                              <a:latin typeface="Cambria Math" panose="02040503050406030204" pitchFamily="18" charset="0"/>
                            </a:rPr>
                          </m:ctrlPr>
                        </m:naryPr>
                        <m:sub>
                          <m:r>
                            <a:rPr lang="en-US" altLang="zh-TW" sz="2400" b="0" i="1" smtClean="0">
                              <a:latin typeface="Cambria Math"/>
                            </a:rPr>
                            <m:t>𝑠</m:t>
                          </m:r>
                          <m:r>
                            <a:rPr lang="en-US" altLang="zh-TW" sz="2400" b="0" i="1" smtClean="0">
                              <a:latin typeface="Cambria Math"/>
                            </a:rPr>
                            <m:t>=1</m:t>
                          </m:r>
                        </m:sub>
                        <m:sup>
                          <m:r>
                            <a:rPr lang="en-US" altLang="zh-TW" sz="2400" b="0" i="1" smtClean="0">
                              <a:latin typeface="Cambria Math"/>
                            </a:rPr>
                            <m:t>𝑆</m:t>
                          </m:r>
                        </m:sup>
                        <m:e>
                          <m:sSub>
                            <m:sSubPr>
                              <m:ctrlPr>
                                <a:rPr lang="en-US" altLang="zh-TW" sz="2400" b="0" i="1" smtClean="0">
                                  <a:latin typeface="Cambria Math" panose="02040503050406030204" pitchFamily="18" charset="0"/>
                                </a:rPr>
                              </m:ctrlPr>
                            </m:sSubPr>
                            <m:e>
                              <m:r>
                                <a:rPr lang="en-US" altLang="zh-TW" sz="2400" b="0" i="1" smtClean="0">
                                  <a:latin typeface="Cambria Math"/>
                                </a:rPr>
                                <m:t>𝑝</m:t>
                              </m:r>
                            </m:e>
                            <m:sub>
                              <m:r>
                                <a:rPr lang="en-US" altLang="zh-TW" sz="2400" b="0" i="1" smtClean="0">
                                  <a:latin typeface="Cambria Math"/>
                                </a:rPr>
                                <m:t>𝑠</m:t>
                              </m:r>
                            </m:sub>
                          </m:sSub>
                          <m:r>
                            <a:rPr lang="en-US" altLang="zh-TW" sz="2400" b="0" i="1" smtClean="0">
                              <a:latin typeface="Cambria Math"/>
                            </a:rPr>
                            <m:t>𝑄</m:t>
                          </m:r>
                          <m:d>
                            <m:dPr>
                              <m:ctrlPr>
                                <a:rPr lang="en-US" altLang="zh-TW" sz="2400" b="0" i="1" smtClean="0">
                                  <a:latin typeface="Cambria Math" panose="02040503050406030204" pitchFamily="18" charset="0"/>
                                </a:rPr>
                              </m:ctrlPr>
                            </m:dPr>
                            <m:e>
                              <m:r>
                                <a:rPr lang="en-US" altLang="zh-TW" sz="2400" b="0" i="1" smtClean="0">
                                  <a:latin typeface="Cambria Math"/>
                                </a:rPr>
                                <m:t>𝑥</m:t>
                              </m:r>
                              <m:r>
                                <a:rPr lang="en-US" altLang="zh-TW" sz="2400" b="0" i="1" smtClean="0">
                                  <a:latin typeface="Cambria Math"/>
                                </a:rPr>
                                <m:t>, </m:t>
                              </m:r>
                              <m:sSub>
                                <m:sSubPr>
                                  <m:ctrlPr>
                                    <a:rPr lang="en-US" altLang="zh-TW" sz="2400" b="0" i="1" smtClean="0">
                                      <a:latin typeface="Cambria Math" panose="02040503050406030204" pitchFamily="18" charset="0"/>
                                    </a:rPr>
                                  </m:ctrlPr>
                                </m:sSubPr>
                                <m:e>
                                  <m:r>
                                    <a:rPr lang="en-US" altLang="zh-TW" sz="2400" b="0" i="1" smtClean="0">
                                      <a:latin typeface="Cambria Math"/>
                                    </a:rPr>
                                    <m:t>𝜉</m:t>
                                  </m:r>
                                </m:e>
                                <m:sub>
                                  <m:r>
                                    <a:rPr lang="en-US" altLang="zh-TW" sz="2400" b="0" i="1" smtClean="0">
                                      <a:latin typeface="Cambria Math"/>
                                    </a:rPr>
                                    <m:t>𝑘</m:t>
                                  </m:r>
                                </m:sub>
                              </m:sSub>
                            </m:e>
                          </m:d>
                        </m:e>
                      </m:nary>
                    </m:oMath>
                  </m:oMathPara>
                </a14:m>
                <a:endParaRPr lang="zh-TW" altLang="en-US" sz="2400" dirty="0"/>
              </a:p>
            </p:txBody>
          </p:sp>
        </mc:Choice>
        <mc:Fallback>
          <p:sp>
            <p:nvSpPr>
              <p:cNvPr id="6" name="文字方塊 5"/>
              <p:cNvSpPr txBox="1">
                <a:spLocks noRot="1" noChangeAspect="1" noMove="1" noResize="1" noEditPoints="1" noAdjustHandles="1" noChangeArrowheads="1" noChangeShapeType="1" noTextEdit="1"/>
              </p:cNvSpPr>
              <p:nvPr/>
            </p:nvSpPr>
            <p:spPr>
              <a:xfrm>
                <a:off x="5601238" y="4044203"/>
                <a:ext cx="4198374" cy="1132939"/>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406645398"/>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Farmer’s problem</a:t>
            </a:r>
            <a:endParaRPr lang="zh-TW" altLang="en-US" dirty="0"/>
          </a:p>
        </p:txBody>
      </p:sp>
      <p:sp>
        <p:nvSpPr>
          <p:cNvPr id="3" name="內容版面配置區 2"/>
          <p:cNvSpPr>
            <a:spLocks noGrp="1"/>
          </p:cNvSpPr>
          <p:nvPr>
            <p:ph idx="1"/>
          </p:nvPr>
        </p:nvSpPr>
        <p:spPr>
          <a:xfrm>
            <a:off x="390105" y="1612030"/>
            <a:ext cx="11300450" cy="4486275"/>
          </a:xfrm>
        </p:spPr>
        <p:txBody>
          <a:bodyPr>
            <a:normAutofit fontScale="85000" lnSpcReduction="20000"/>
          </a:bodyPr>
          <a:lstStyle/>
          <a:p>
            <a:pPr lvl="0"/>
            <a:r>
              <a:rPr lang="zh-TW" altLang="zh-TW" dirty="0"/>
              <a:t>農夫要在他的</a:t>
            </a:r>
            <a:r>
              <a:rPr lang="en-US" altLang="zh-TW" dirty="0"/>
              <a:t>500 acres</a:t>
            </a:r>
            <a:r>
              <a:rPr lang="zh-TW" altLang="zh-TW" dirty="0"/>
              <a:t>農地上種植</a:t>
            </a:r>
            <a:r>
              <a:rPr lang="en-US" altLang="zh-TW" dirty="0"/>
              <a:t>wheat, corn</a:t>
            </a:r>
            <a:r>
              <a:rPr lang="zh-TW" altLang="zh-TW" dirty="0"/>
              <a:t>與</a:t>
            </a:r>
            <a:r>
              <a:rPr lang="en-US" altLang="zh-TW" dirty="0"/>
              <a:t>sugar beets</a:t>
            </a:r>
            <a:r>
              <a:rPr lang="zh-TW" altLang="zh-TW" dirty="0"/>
              <a:t>，且必須在冬天之前做出決定。</a:t>
            </a:r>
          </a:p>
          <a:p>
            <a:pPr lvl="0"/>
            <a:r>
              <a:rPr lang="en-US" altLang="zh-TW" dirty="0"/>
              <a:t>Wheat</a:t>
            </a:r>
            <a:r>
              <a:rPr lang="zh-TW" altLang="zh-TW" dirty="0"/>
              <a:t>種植成本</a:t>
            </a:r>
            <a:r>
              <a:rPr lang="en-US" altLang="zh-TW" dirty="0"/>
              <a:t>$$150/acre, corn</a:t>
            </a:r>
            <a:r>
              <a:rPr lang="zh-TW" altLang="zh-TW" dirty="0"/>
              <a:t>種植成本為</a:t>
            </a:r>
            <a:r>
              <a:rPr lang="en-US" altLang="zh-TW" dirty="0"/>
              <a:t>$230/acre, sugar beets</a:t>
            </a:r>
            <a:r>
              <a:rPr lang="zh-TW" altLang="zh-TW" dirty="0"/>
              <a:t>種植成本為</a:t>
            </a:r>
            <a:r>
              <a:rPr lang="en-US" altLang="zh-TW" dirty="0"/>
              <a:t>$260/acre</a:t>
            </a:r>
            <a:endParaRPr lang="zh-TW" altLang="zh-TW" dirty="0"/>
          </a:p>
          <a:p>
            <a:pPr lvl="0"/>
            <a:r>
              <a:rPr lang="zh-TW" altLang="zh-TW" dirty="0"/>
              <a:t>為了</a:t>
            </a:r>
            <a:r>
              <a:rPr lang="en-US" altLang="zh-TW" dirty="0"/>
              <a:t>cattle feed</a:t>
            </a:r>
            <a:r>
              <a:rPr lang="zh-TW" altLang="zh-TW" dirty="0"/>
              <a:t>，至少必須有</a:t>
            </a:r>
            <a:r>
              <a:rPr lang="en-US" altLang="zh-TW" dirty="0"/>
              <a:t> 200 tons (T) of wheat</a:t>
            </a:r>
            <a:r>
              <a:rPr lang="zh-TW" altLang="zh-TW" dirty="0"/>
              <a:t>與</a:t>
            </a:r>
            <a:r>
              <a:rPr lang="en-US" altLang="zh-TW" dirty="0"/>
              <a:t>240 T of corn. </a:t>
            </a:r>
            <a:r>
              <a:rPr lang="zh-TW" altLang="zh-TW" dirty="0"/>
              <a:t>這些農產品可用種植或是向</a:t>
            </a:r>
            <a:r>
              <a:rPr lang="en-US" altLang="zh-TW" dirty="0"/>
              <a:t>wholesaler</a:t>
            </a:r>
            <a:r>
              <a:rPr lang="zh-TW" altLang="zh-TW" dirty="0"/>
              <a:t>購買。</a:t>
            </a:r>
          </a:p>
          <a:p>
            <a:pPr lvl="0"/>
            <a:r>
              <a:rPr lang="zh-TW" altLang="zh-TW" dirty="0"/>
              <a:t>如果農產品的量超出需求時，則將農產品賣出。</a:t>
            </a:r>
            <a:r>
              <a:rPr lang="en-US" altLang="zh-TW" dirty="0"/>
              <a:t>Wheat</a:t>
            </a:r>
            <a:r>
              <a:rPr lang="zh-TW" altLang="zh-TW" dirty="0"/>
              <a:t>賣出價為</a:t>
            </a:r>
            <a:r>
              <a:rPr lang="en-US" altLang="zh-TW" dirty="0"/>
              <a:t>$170/T, corn</a:t>
            </a:r>
            <a:r>
              <a:rPr lang="zh-TW" altLang="zh-TW" dirty="0"/>
              <a:t>賣出價</a:t>
            </a:r>
            <a:r>
              <a:rPr lang="en-US" altLang="zh-TW" dirty="0"/>
              <a:t>$150/T</a:t>
            </a:r>
            <a:r>
              <a:rPr lang="zh-TW" altLang="zh-TW" dirty="0"/>
              <a:t>。但是若是量</a:t>
            </a:r>
            <a:r>
              <a:rPr lang="en-US" altLang="zh-TW" dirty="0"/>
              <a:t>wholesaler</a:t>
            </a:r>
            <a:r>
              <a:rPr lang="zh-TW" altLang="zh-TW" dirty="0"/>
              <a:t>購買時，上述兩產品為</a:t>
            </a:r>
            <a:r>
              <a:rPr lang="en-US" altLang="zh-TW" dirty="0"/>
              <a:t>(wheat:$238/T, corn: $210/T)</a:t>
            </a:r>
            <a:r>
              <a:rPr lang="zh-TW" altLang="zh-TW" dirty="0"/>
              <a:t>。</a:t>
            </a:r>
          </a:p>
          <a:p>
            <a:pPr lvl="0"/>
            <a:r>
              <a:rPr lang="en-US" altLang="zh-TW" dirty="0"/>
              <a:t>Sugar beet</a:t>
            </a:r>
            <a:r>
              <a:rPr lang="zh-TW" altLang="zh-TW" dirty="0"/>
              <a:t>賣出價為</a:t>
            </a:r>
            <a:r>
              <a:rPr lang="en-US" altLang="zh-TW" dirty="0"/>
              <a:t>$36/T, </a:t>
            </a:r>
            <a:r>
              <a:rPr lang="zh-TW" altLang="zh-TW" dirty="0"/>
              <a:t>但</a:t>
            </a:r>
            <a:r>
              <a:rPr lang="en-US" altLang="zh-TW" dirty="0"/>
              <a:t>European Commission</a:t>
            </a:r>
            <a:r>
              <a:rPr lang="zh-TW" altLang="zh-TW" dirty="0"/>
              <a:t>有限制</a:t>
            </a:r>
            <a:r>
              <a:rPr lang="en-US" altLang="zh-TW" dirty="0"/>
              <a:t>sugar beet</a:t>
            </a:r>
            <a:r>
              <a:rPr lang="zh-TW" altLang="zh-TW" dirty="0"/>
              <a:t>的產量，若超過產量時，</a:t>
            </a:r>
            <a:r>
              <a:rPr lang="en-US" altLang="zh-TW" dirty="0"/>
              <a:t>sugar beet</a:t>
            </a:r>
            <a:r>
              <a:rPr lang="zh-TW" altLang="zh-TW" dirty="0"/>
              <a:t>的賣出價只有</a:t>
            </a:r>
            <a:r>
              <a:rPr lang="en-US" altLang="zh-TW" dirty="0"/>
              <a:t>$10/T</a:t>
            </a:r>
            <a:r>
              <a:rPr lang="zh-TW" altLang="zh-TW" dirty="0"/>
              <a:t>，而農夫的產量限制為</a:t>
            </a:r>
            <a:r>
              <a:rPr lang="en-US" altLang="zh-TW" dirty="0"/>
              <a:t>6000T. </a:t>
            </a:r>
            <a:endParaRPr lang="zh-TW" altLang="zh-TW" dirty="0"/>
          </a:p>
          <a:p>
            <a:pPr lvl="0"/>
            <a:r>
              <a:rPr lang="zh-TW" altLang="zh-TW" dirty="0"/>
              <a:t>根據經驗，農夫知道他的農地</a:t>
            </a:r>
            <a:r>
              <a:rPr lang="en-US" altLang="zh-TW" dirty="0"/>
              <a:t>wheat</a:t>
            </a:r>
            <a:r>
              <a:rPr lang="zh-TW" altLang="zh-TW" dirty="0"/>
              <a:t>產量為</a:t>
            </a:r>
            <a:r>
              <a:rPr lang="en-US" altLang="zh-TW" dirty="0"/>
              <a:t>2.5T/acre, corn</a:t>
            </a:r>
            <a:r>
              <a:rPr lang="zh-TW" altLang="zh-TW" dirty="0"/>
              <a:t>產量為</a:t>
            </a:r>
            <a:r>
              <a:rPr lang="en-US" altLang="zh-TW" dirty="0"/>
              <a:t>3T/acre, sugar beet</a:t>
            </a:r>
            <a:r>
              <a:rPr lang="zh-TW" altLang="zh-TW" dirty="0"/>
              <a:t>產量為</a:t>
            </a:r>
            <a:r>
              <a:rPr lang="en-US" altLang="zh-TW" dirty="0"/>
              <a:t>20T/acre.</a:t>
            </a:r>
            <a:endParaRPr lang="zh-TW" altLang="zh-TW" dirty="0"/>
          </a:p>
          <a:p>
            <a:endParaRPr lang="zh-TW" altLang="en-US" dirty="0"/>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4</a:t>
            </a:fld>
            <a:endParaRPr lang="zh-TW" altLang="en-US"/>
          </a:p>
        </p:txBody>
      </p:sp>
    </p:spTree>
    <p:extLst>
      <p:ext uri="{BB962C8B-B14F-4D97-AF65-F5344CB8AC3E}">
        <p14:creationId xmlns:p14="http://schemas.microsoft.com/office/powerpoint/2010/main" xmlns="" val="19335513"/>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Decision parameters</a:t>
            </a:r>
            <a:endParaRPr lang="zh-TW" altLang="en-US" dirty="0"/>
          </a:p>
        </p:txBody>
      </p:sp>
      <p:sp>
        <p:nvSpPr>
          <p:cNvPr id="3" name="內容版面配置區 2"/>
          <p:cNvSpPr>
            <a:spLocks noGrp="1"/>
          </p:cNvSpPr>
          <p:nvPr>
            <p:ph idx="1"/>
          </p:nvPr>
        </p:nvSpPr>
        <p:spPr/>
        <p:txBody>
          <a:bodyPr>
            <a:normAutofit lnSpcReduction="10000"/>
          </a:bodyPr>
          <a:lstStyle/>
          <a:p>
            <a:pPr lvl="0"/>
            <a:r>
              <a:rPr lang="en-US" altLang="zh-TW" dirty="0"/>
              <a:t>x1: </a:t>
            </a:r>
            <a:r>
              <a:rPr lang="zh-TW" altLang="zh-TW" dirty="0"/>
              <a:t>農地種稙</a:t>
            </a:r>
            <a:r>
              <a:rPr lang="en-US" altLang="zh-TW" dirty="0"/>
              <a:t>wheat</a:t>
            </a:r>
            <a:r>
              <a:rPr lang="zh-TW" altLang="zh-TW" dirty="0"/>
              <a:t>的面積</a:t>
            </a:r>
            <a:r>
              <a:rPr lang="en-US" altLang="zh-TW" dirty="0"/>
              <a:t>(acre)</a:t>
            </a:r>
            <a:endParaRPr lang="zh-TW" altLang="zh-TW" dirty="0"/>
          </a:p>
          <a:p>
            <a:pPr lvl="0"/>
            <a:r>
              <a:rPr lang="en-US" altLang="zh-TW" dirty="0"/>
              <a:t>x2: </a:t>
            </a:r>
            <a:r>
              <a:rPr lang="zh-TW" altLang="zh-TW" dirty="0"/>
              <a:t>農地種稙</a:t>
            </a:r>
            <a:r>
              <a:rPr lang="en-US" altLang="zh-TW" dirty="0"/>
              <a:t>corn</a:t>
            </a:r>
            <a:r>
              <a:rPr lang="zh-TW" altLang="zh-TW" dirty="0"/>
              <a:t>的面積</a:t>
            </a:r>
            <a:r>
              <a:rPr lang="en-US" altLang="zh-TW" dirty="0"/>
              <a:t>(acre)</a:t>
            </a:r>
            <a:endParaRPr lang="zh-TW" altLang="zh-TW" dirty="0"/>
          </a:p>
          <a:p>
            <a:pPr lvl="0"/>
            <a:r>
              <a:rPr lang="en-US" altLang="zh-TW" dirty="0"/>
              <a:t>x3: </a:t>
            </a:r>
            <a:r>
              <a:rPr lang="zh-TW" altLang="zh-TW" dirty="0"/>
              <a:t>農地種稙</a:t>
            </a:r>
            <a:r>
              <a:rPr lang="en-US" altLang="zh-TW" dirty="0"/>
              <a:t>sugar beet</a:t>
            </a:r>
            <a:r>
              <a:rPr lang="zh-TW" altLang="zh-TW" dirty="0"/>
              <a:t>的面積</a:t>
            </a:r>
            <a:r>
              <a:rPr lang="en-US" altLang="zh-TW" dirty="0"/>
              <a:t>(acre)</a:t>
            </a:r>
            <a:endParaRPr lang="zh-TW" altLang="zh-TW" dirty="0"/>
          </a:p>
          <a:p>
            <a:pPr lvl="0"/>
            <a:r>
              <a:rPr lang="en-US" altLang="zh-TW" dirty="0"/>
              <a:t>w1: wheat</a:t>
            </a:r>
            <a:r>
              <a:rPr lang="zh-TW" altLang="zh-TW" dirty="0"/>
              <a:t>賣出量</a:t>
            </a:r>
            <a:r>
              <a:rPr lang="en-US" altLang="zh-TW" dirty="0"/>
              <a:t>(ton)</a:t>
            </a:r>
            <a:endParaRPr lang="zh-TW" altLang="zh-TW" dirty="0"/>
          </a:p>
          <a:p>
            <a:pPr lvl="0"/>
            <a:r>
              <a:rPr lang="en-US" altLang="zh-TW" dirty="0"/>
              <a:t>y1: wheat</a:t>
            </a:r>
            <a:r>
              <a:rPr lang="zh-TW" altLang="zh-TW" dirty="0"/>
              <a:t>買進量</a:t>
            </a:r>
            <a:r>
              <a:rPr lang="en-US" altLang="zh-TW" dirty="0"/>
              <a:t>(ton)</a:t>
            </a:r>
            <a:endParaRPr lang="zh-TW" altLang="zh-TW" dirty="0"/>
          </a:p>
          <a:p>
            <a:pPr lvl="0"/>
            <a:r>
              <a:rPr lang="en-US" altLang="zh-TW" dirty="0"/>
              <a:t>w2: corn</a:t>
            </a:r>
            <a:r>
              <a:rPr lang="zh-TW" altLang="zh-TW" dirty="0"/>
              <a:t>賣出量</a:t>
            </a:r>
            <a:r>
              <a:rPr lang="en-US" altLang="zh-TW" dirty="0"/>
              <a:t>(ton)</a:t>
            </a:r>
            <a:endParaRPr lang="zh-TW" altLang="zh-TW" dirty="0"/>
          </a:p>
          <a:p>
            <a:pPr lvl="0"/>
            <a:r>
              <a:rPr lang="en-US" altLang="zh-TW" dirty="0"/>
              <a:t>y2: corn</a:t>
            </a:r>
            <a:r>
              <a:rPr lang="zh-TW" altLang="zh-TW" dirty="0"/>
              <a:t>買進量</a:t>
            </a:r>
            <a:r>
              <a:rPr lang="en-US" altLang="zh-TW" dirty="0"/>
              <a:t>(ton)</a:t>
            </a:r>
            <a:endParaRPr lang="zh-TW" altLang="zh-TW" dirty="0"/>
          </a:p>
          <a:p>
            <a:pPr lvl="0"/>
            <a:r>
              <a:rPr lang="en-US" altLang="zh-TW" dirty="0"/>
              <a:t>w3: sugar beet</a:t>
            </a:r>
            <a:r>
              <a:rPr lang="zh-TW" altLang="zh-TW" dirty="0"/>
              <a:t>賣出量</a:t>
            </a:r>
            <a:r>
              <a:rPr lang="en-US" altLang="zh-TW" dirty="0"/>
              <a:t>(ton) (at higher price)</a:t>
            </a:r>
            <a:endParaRPr lang="zh-TW" altLang="zh-TW" dirty="0"/>
          </a:p>
          <a:p>
            <a:pPr lvl="0"/>
            <a:r>
              <a:rPr lang="en-US" altLang="zh-TW" dirty="0"/>
              <a:t>w4: sugar beet </a:t>
            </a:r>
            <a:r>
              <a:rPr lang="zh-TW" altLang="zh-TW" dirty="0"/>
              <a:t>賣出量</a:t>
            </a:r>
            <a:r>
              <a:rPr lang="en-US" altLang="zh-TW" dirty="0"/>
              <a:t>(ton) (at lower price)</a:t>
            </a:r>
            <a:endParaRPr lang="zh-TW" altLang="zh-TW" dirty="0"/>
          </a:p>
          <a:p>
            <a:endParaRPr lang="zh-TW" altLang="en-US" dirty="0"/>
          </a:p>
          <a:p>
            <a:endParaRPr lang="zh-TW" altLang="en-US" dirty="0"/>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5</a:t>
            </a:fld>
            <a:endParaRPr lang="zh-TW" altLang="en-US"/>
          </a:p>
        </p:txBody>
      </p:sp>
    </p:spTree>
    <p:extLst>
      <p:ext uri="{BB962C8B-B14F-4D97-AF65-F5344CB8AC3E}">
        <p14:creationId xmlns:p14="http://schemas.microsoft.com/office/powerpoint/2010/main" xmlns="" val="2651227304"/>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Uncertainty</a:t>
            </a:r>
            <a:endParaRPr lang="zh-TW" altLang="en-US" dirty="0"/>
          </a:p>
        </p:txBody>
      </p:sp>
      <p:sp>
        <p:nvSpPr>
          <p:cNvPr id="3" name="內容版面配置區 2"/>
          <p:cNvSpPr>
            <a:spLocks noGrp="1"/>
          </p:cNvSpPr>
          <p:nvPr>
            <p:ph idx="1"/>
          </p:nvPr>
        </p:nvSpPr>
        <p:spPr/>
        <p:txBody>
          <a:bodyPr/>
          <a:lstStyle/>
          <a:p>
            <a:pPr marL="0" indent="0">
              <a:buNone/>
            </a:pPr>
            <a:r>
              <a:rPr lang="zh-TW" altLang="en-US" dirty="0"/>
              <a:t>在上述模型中，我們只考慮單位產量</a:t>
            </a:r>
            <a:r>
              <a:rPr lang="en-US" altLang="zh-TW" dirty="0"/>
              <a:t>(yield)</a:t>
            </a:r>
            <a:r>
              <a:rPr lang="zh-TW" altLang="en-US" dirty="0"/>
              <a:t>的不確定性</a:t>
            </a:r>
            <a:r>
              <a:rPr lang="en-US" altLang="zh-TW" dirty="0"/>
              <a:t>(higher or lower)</a:t>
            </a:r>
            <a:r>
              <a:rPr lang="zh-TW" altLang="en-US" dirty="0"/>
              <a:t>。假設：</a:t>
            </a:r>
            <a:endParaRPr lang="en-US" altLang="zh-TW" dirty="0"/>
          </a:p>
          <a:p>
            <a:r>
              <a:rPr lang="en-US" altLang="zh-TW" dirty="0"/>
              <a:t>1/3</a:t>
            </a:r>
            <a:r>
              <a:rPr lang="zh-TW" altLang="en-US" dirty="0"/>
              <a:t>的機率</a:t>
            </a:r>
            <a:r>
              <a:rPr lang="en-US" altLang="zh-TW" dirty="0"/>
              <a:t>yield</a:t>
            </a:r>
            <a:r>
              <a:rPr lang="zh-TW" altLang="en-US" dirty="0"/>
              <a:t>為平均值</a:t>
            </a:r>
            <a:r>
              <a:rPr lang="en-US" altLang="zh-TW" dirty="0"/>
              <a:t>(2.5, 3, 20)</a:t>
            </a:r>
            <a:r>
              <a:rPr lang="zh-TW" altLang="en-US" dirty="0"/>
              <a:t>。</a:t>
            </a:r>
            <a:endParaRPr lang="en-US" altLang="zh-TW" dirty="0"/>
          </a:p>
          <a:p>
            <a:r>
              <a:rPr lang="en-US" altLang="zh-TW" dirty="0"/>
              <a:t>1/3</a:t>
            </a:r>
            <a:r>
              <a:rPr lang="zh-TW" altLang="en-US" dirty="0"/>
              <a:t>的機率</a:t>
            </a:r>
            <a:r>
              <a:rPr lang="en-US" altLang="zh-TW" dirty="0"/>
              <a:t>yield</a:t>
            </a:r>
            <a:r>
              <a:rPr lang="zh-TW" altLang="en-US" dirty="0"/>
              <a:t>會於平均值</a:t>
            </a:r>
            <a:r>
              <a:rPr lang="en-US" altLang="zh-TW" dirty="0"/>
              <a:t>(2, 2.4, 16)</a:t>
            </a:r>
            <a:r>
              <a:rPr lang="zh-TW" altLang="en-US" dirty="0"/>
              <a:t>。</a:t>
            </a:r>
            <a:endParaRPr lang="en-US" altLang="zh-TW" dirty="0"/>
          </a:p>
          <a:p>
            <a:r>
              <a:rPr lang="en-US" altLang="zh-TW" dirty="0"/>
              <a:t>1/3</a:t>
            </a:r>
            <a:r>
              <a:rPr lang="zh-TW" altLang="en-US" dirty="0"/>
              <a:t>的機率</a:t>
            </a:r>
            <a:r>
              <a:rPr lang="en-US" altLang="zh-TW" dirty="0"/>
              <a:t>yield</a:t>
            </a:r>
            <a:r>
              <a:rPr lang="zh-TW" altLang="en-US" dirty="0"/>
              <a:t>高於平均值</a:t>
            </a:r>
            <a:r>
              <a:rPr lang="en-US" altLang="zh-TW" dirty="0"/>
              <a:t>(3, 3.6, 24)</a:t>
            </a:r>
            <a:r>
              <a:rPr lang="zh-TW" altLang="en-US" dirty="0"/>
              <a:t>。</a:t>
            </a:r>
          </a:p>
          <a:p>
            <a:pPr marL="0" indent="0">
              <a:buNone/>
            </a:pPr>
            <a:r>
              <a:rPr lang="zh-TW" altLang="en-US" dirty="0"/>
              <a:t>上述每一種情形稱為一個</a:t>
            </a:r>
            <a:r>
              <a:rPr lang="en-US" altLang="zh-TW" dirty="0"/>
              <a:t>scenario</a:t>
            </a:r>
            <a:r>
              <a:rPr lang="zh-TW" altLang="en-US" dirty="0"/>
              <a:t>，全部</a:t>
            </a:r>
            <a:r>
              <a:rPr lang="en-US" altLang="zh-TW" dirty="0"/>
              <a:t>scenario</a:t>
            </a:r>
            <a:r>
              <a:rPr lang="zh-TW" altLang="en-US" dirty="0"/>
              <a:t>所形成的集合稱</a:t>
            </a:r>
            <a:r>
              <a:rPr lang="en-US" altLang="zh-TW" dirty="0"/>
              <a:t>scenario tree</a:t>
            </a:r>
            <a:r>
              <a:rPr lang="zh-TW" altLang="en-US" dirty="0"/>
              <a:t>。</a:t>
            </a:r>
          </a:p>
          <a:p>
            <a:pPr marL="0" indent="0">
              <a:buNone/>
            </a:pPr>
            <a:r>
              <a:rPr lang="zh-TW" altLang="en-US" dirty="0"/>
              <a:t>所以此</a:t>
            </a:r>
            <a:r>
              <a:rPr lang="en-US" altLang="zh-TW" dirty="0"/>
              <a:t>scenario tree</a:t>
            </a:r>
            <a:r>
              <a:rPr lang="zh-TW" altLang="en-US" dirty="0"/>
              <a:t>有一個</a:t>
            </a:r>
            <a:r>
              <a:rPr lang="en-US" altLang="zh-TW" dirty="0"/>
              <a:t>root node</a:t>
            </a:r>
            <a:r>
              <a:rPr lang="zh-TW" altLang="en-US" dirty="0"/>
              <a:t>，三個</a:t>
            </a:r>
            <a:r>
              <a:rPr lang="en-US" altLang="zh-TW" dirty="0"/>
              <a:t>leaf node</a:t>
            </a:r>
            <a:r>
              <a:rPr lang="zh-TW" altLang="en-US" dirty="0"/>
              <a:t>。</a:t>
            </a:r>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6</a:t>
            </a:fld>
            <a:endParaRPr lang="zh-TW" altLang="en-US"/>
          </a:p>
        </p:txBody>
      </p:sp>
    </p:spTree>
    <p:extLst>
      <p:ext uri="{BB962C8B-B14F-4D97-AF65-F5344CB8AC3E}">
        <p14:creationId xmlns:p14="http://schemas.microsoft.com/office/powerpoint/2010/main" xmlns="" val="2568992069"/>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Two-stage Stochastic programming </a:t>
            </a:r>
            <a:endParaRPr lang="zh-TW" altLang="en-US" dirty="0"/>
          </a:p>
        </p:txBody>
      </p:sp>
      <p:sp>
        <p:nvSpPr>
          <p:cNvPr id="4" name="投影片編號版面配置區 3"/>
          <p:cNvSpPr>
            <a:spLocks noGrp="1"/>
          </p:cNvSpPr>
          <p:nvPr>
            <p:ph type="sldNum" sz="quarter" idx="12"/>
          </p:nvPr>
        </p:nvSpPr>
        <p:spPr/>
        <p:txBody>
          <a:bodyPr/>
          <a:lstStyle/>
          <a:p>
            <a:fld id="{130D0941-8144-49F1-8C85-D0BFDF359D59}" type="slidenum">
              <a:rPr lang="zh-TW" altLang="en-US" smtClean="0"/>
              <a:pPr/>
              <a:t>7</a:t>
            </a:fld>
            <a:endParaRPr lang="zh-TW" altLang="en-US"/>
          </a:p>
        </p:txBody>
      </p:sp>
      <p:pic>
        <p:nvPicPr>
          <p:cNvPr id="6" name="圖片 5"/>
          <p:cNvPicPr>
            <a:picLocks noChangeAspect="1"/>
          </p:cNvPicPr>
          <p:nvPr/>
        </p:nvPicPr>
        <p:blipFill>
          <a:blip r:embed="rId2"/>
          <a:stretch>
            <a:fillRect/>
          </a:stretch>
        </p:blipFill>
        <p:spPr>
          <a:xfrm>
            <a:off x="582325" y="1866355"/>
            <a:ext cx="11027349" cy="4314327"/>
          </a:xfrm>
          <a:prstGeom prst="rect">
            <a:avLst/>
          </a:prstGeom>
        </p:spPr>
      </p:pic>
      <p:sp>
        <p:nvSpPr>
          <p:cNvPr id="8" name="矩形 7"/>
          <p:cNvSpPr/>
          <p:nvPr/>
        </p:nvSpPr>
        <p:spPr>
          <a:xfrm>
            <a:off x="1801504" y="2497540"/>
            <a:ext cx="8180696" cy="126924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1569492" y="2101754"/>
            <a:ext cx="3111689" cy="382138"/>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70C0"/>
              </a:solidFill>
            </a:endParaRPr>
          </a:p>
        </p:txBody>
      </p:sp>
      <p:sp>
        <p:nvSpPr>
          <p:cNvPr id="9" name="圓角矩形圖說文字 8"/>
          <p:cNvSpPr/>
          <p:nvPr/>
        </p:nvSpPr>
        <p:spPr>
          <a:xfrm>
            <a:off x="4817660" y="1583140"/>
            <a:ext cx="2019868" cy="518614"/>
          </a:xfrm>
          <a:prstGeom prst="wedgeRoundRectCallout">
            <a:avLst>
              <a:gd name="adj1" fmla="val -48536"/>
              <a:gd name="adj2" fmla="val 75658"/>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smtClean="0"/>
              <a:t>1-stage cost</a:t>
            </a:r>
            <a:endParaRPr lang="zh-TW" altLang="en-US" sz="2400" dirty="0"/>
          </a:p>
        </p:txBody>
      </p:sp>
      <p:sp>
        <p:nvSpPr>
          <p:cNvPr id="12" name="圓角矩形圖說文字 11"/>
          <p:cNvSpPr/>
          <p:nvPr/>
        </p:nvSpPr>
        <p:spPr>
          <a:xfrm>
            <a:off x="8392238" y="1631785"/>
            <a:ext cx="2019868" cy="518614"/>
          </a:xfrm>
          <a:prstGeom prst="wedgeRoundRectCallout">
            <a:avLst>
              <a:gd name="adj1" fmla="val -28941"/>
              <a:gd name="adj2" fmla="val 101974"/>
              <a:gd name="adj3" fmla="val 16667"/>
            </a:avLst>
          </a:prstGeom>
          <a:solidFill>
            <a:srgbClr val="FF000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smtClean="0"/>
              <a:t>2-stage cost</a:t>
            </a:r>
            <a:endParaRPr lang="zh-TW" altLang="en-US" sz="2400" dirty="0"/>
          </a:p>
        </p:txBody>
      </p:sp>
      <p:sp>
        <p:nvSpPr>
          <p:cNvPr id="13" name="矩形 12"/>
          <p:cNvSpPr/>
          <p:nvPr/>
        </p:nvSpPr>
        <p:spPr>
          <a:xfrm>
            <a:off x="1473958" y="4612942"/>
            <a:ext cx="7928214" cy="156773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圓角矩形圖說文字 13"/>
          <p:cNvSpPr/>
          <p:nvPr/>
        </p:nvSpPr>
        <p:spPr>
          <a:xfrm>
            <a:off x="9495989" y="4790364"/>
            <a:ext cx="2019868" cy="635495"/>
          </a:xfrm>
          <a:prstGeom prst="wedgeRoundRectCallout">
            <a:avLst>
              <a:gd name="adj1" fmla="val -47184"/>
              <a:gd name="adj2" fmla="val 91448"/>
              <a:gd name="adj3" fmla="val 16667"/>
            </a:avLst>
          </a:prstGeom>
          <a:solidFill>
            <a:srgbClr val="FF000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smtClean="0"/>
              <a:t>2-stage constraints</a:t>
            </a:r>
            <a:endParaRPr lang="zh-TW" altLang="en-US" sz="2400" dirty="0"/>
          </a:p>
        </p:txBody>
      </p:sp>
    </p:spTree>
    <p:extLst>
      <p:ext uri="{BB962C8B-B14F-4D97-AF65-F5344CB8AC3E}">
        <p14:creationId xmlns:p14="http://schemas.microsoft.com/office/powerpoint/2010/main" xmlns="" val="3351870727"/>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Multiperiod</a:t>
            </a:r>
            <a:r>
              <a:rPr lang="en-US" altLang="zh-TW" dirty="0" smtClean="0"/>
              <a:t> portfolio problem</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838200" y="1825624"/>
                <a:ext cx="10515600" cy="4755479"/>
              </a:xfrm>
            </p:spPr>
            <p:txBody>
              <a:bodyPr>
                <a:normAutofit/>
              </a:bodyPr>
              <a:lstStyle/>
              <a:p>
                <a:pPr marL="0" indent="0">
                  <a:buNone/>
                </a:pPr>
                <a14:m>
                  <m:oMath xmlns:m="http://schemas.openxmlformats.org/officeDocument/2006/math">
                    <m:func>
                      <m:funcPr>
                        <m:ctrlPr>
                          <a:rPr lang="en-US" altLang="zh-TW" i="1" smtClean="0">
                            <a:latin typeface="Cambria Math" panose="02040503050406030204" pitchFamily="18" charset="0"/>
                          </a:rPr>
                        </m:ctrlPr>
                      </m:funcPr>
                      <m:fName>
                        <m:r>
                          <m:rPr>
                            <m:sty m:val="p"/>
                          </m:rPr>
                          <a:rPr lang="en-US" altLang="zh-TW">
                            <a:latin typeface="Cambria Math" panose="02040503050406030204" pitchFamily="18" charset="0"/>
                          </a:rPr>
                          <m:t>max</m:t>
                        </m:r>
                      </m:fName>
                      <m:e>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𝑚</m:t>
                            </m:r>
                            <m:r>
                              <a:rPr lang="en-US" altLang="zh-TW" b="0" i="1" smtClean="0">
                                <a:latin typeface="Cambria Math" panose="02040503050406030204" pitchFamily="18" charset="0"/>
                              </a:rPr>
                              <m:t>=0</m:t>
                            </m:r>
                          </m:sub>
                          <m:sup>
                            <m:r>
                              <a:rPr lang="en-US" altLang="zh-TW" b="0" i="1" smtClean="0">
                                <a:latin typeface="Cambria Math" panose="02040503050406030204" pitchFamily="18" charset="0"/>
                              </a:rPr>
                              <m:t>𝑀</m:t>
                            </m:r>
                          </m:sup>
                          <m:e>
                            <m:d>
                              <m:dPr>
                                <m:ctrlPr>
                                  <a:rPr lang="en-US" altLang="zh-TW" b="0" i="1" smtClean="0">
                                    <a:latin typeface="Cambria Math" panose="02040503050406030204" pitchFamily="18" charset="0"/>
                                  </a:rPr>
                                </m:ctrlPr>
                              </m:dPr>
                              <m:e>
                                <m:r>
                                  <a:rPr lang="en-US" altLang="zh-TW" i="1">
                                    <a:latin typeface="Cambria Math" panose="02040503050406030204" pitchFamily="18" charset="0"/>
                                  </a:rPr>
                                  <m:t>1+</m:t>
                                </m:r>
                                <m:sSubSup>
                                  <m:sSubSupPr>
                                    <m:ctrlPr>
                                      <a:rPr lang="en-US" altLang="zh-TW" i="1" smtClean="0">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𝑟</m:t>
                                    </m:r>
                                  </m:e>
                                  <m:sub>
                                    <m:r>
                                      <a:rPr lang="en-US" altLang="zh-TW" i="1">
                                        <a:solidFill>
                                          <a:srgbClr val="00B050"/>
                                        </a:solidFill>
                                        <a:latin typeface="Cambria Math" panose="02040503050406030204" pitchFamily="18" charset="0"/>
                                      </a:rPr>
                                      <m:t>𝑇</m:t>
                                    </m:r>
                                  </m:sub>
                                  <m:sup>
                                    <m:r>
                                      <a:rPr lang="en-US" altLang="zh-TW" i="1">
                                        <a:solidFill>
                                          <a:srgbClr val="00B050"/>
                                        </a:solidFill>
                                        <a:latin typeface="Cambria Math" panose="02040503050406030204" pitchFamily="18" charset="0"/>
                                      </a:rPr>
                                      <m:t>𝑚</m:t>
                                    </m:r>
                                  </m:sup>
                                </m:sSubSup>
                              </m:e>
                            </m:d>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𝑤</m:t>
                                </m:r>
                              </m:e>
                              <m:sub>
                                <m:r>
                                  <a:rPr lang="en-US" altLang="zh-TW" b="0" i="1" smtClean="0">
                                    <a:solidFill>
                                      <a:srgbClr val="FF0000"/>
                                    </a:solidFill>
                                    <a:latin typeface="Cambria Math" panose="02040503050406030204" pitchFamily="18" charset="0"/>
                                  </a:rPr>
                                  <m:t>𝑇</m:t>
                                </m:r>
                                <m:r>
                                  <a:rPr lang="en-US" altLang="zh-TW" b="0" i="1" smtClean="0">
                                    <a:solidFill>
                                      <a:srgbClr val="FF0000"/>
                                    </a:solidFill>
                                    <a:latin typeface="Cambria Math" panose="02040503050406030204" pitchFamily="18" charset="0"/>
                                  </a:rPr>
                                  <m:t>−1</m:t>
                                </m:r>
                              </m:sub>
                              <m:sup>
                                <m:r>
                                  <a:rPr lang="en-US" altLang="zh-TW" b="0" i="1" smtClean="0">
                                    <a:solidFill>
                                      <a:srgbClr val="FF0000"/>
                                    </a:solidFill>
                                    <a:latin typeface="Cambria Math" panose="02040503050406030204" pitchFamily="18" charset="0"/>
                                  </a:rPr>
                                  <m:t>𝑚</m:t>
                                </m:r>
                              </m:sup>
                            </m:sSubSup>
                          </m:e>
                        </m:nary>
                      </m:e>
                    </m:func>
                  </m:oMath>
                </a14:m>
                <a:r>
                  <a:rPr lang="en-US" altLang="zh-TW" dirty="0" smtClean="0"/>
                  <a:t> (</a:t>
                </a:r>
                <a:r>
                  <a:rPr lang="en-US" altLang="zh-TW" b="1" dirty="0" smtClean="0"/>
                  <a:t>maximize final wealth</a:t>
                </a:r>
                <a:r>
                  <a:rPr lang="en-US" altLang="zh-TW" dirty="0" smtClean="0"/>
                  <a:t>)</a:t>
                </a:r>
                <a:endParaRPr lang="en-US" altLang="zh-TW" dirty="0"/>
              </a:p>
              <a:p>
                <a:pPr marL="0" indent="0">
                  <a:buNone/>
                </a:pPr>
                <a14:m>
                  <m:oMathPara xmlns:m="http://schemas.openxmlformats.org/officeDocument/2006/math">
                    <m:oMathParaPr>
                      <m:jc m:val="left"/>
                    </m:oMathParaPr>
                    <m:oMath xmlns:m="http://schemas.openxmlformats.org/officeDocument/2006/math">
                      <m:r>
                        <a:rPr lang="en-US" altLang="zh-TW" i="1">
                          <a:latin typeface="Cambria Math" panose="02040503050406030204" pitchFamily="18" charset="0"/>
                        </a:rPr>
                        <m:t>𝑠</m:t>
                      </m:r>
                      <m:r>
                        <a:rPr lang="en-US" altLang="zh-TW" i="1">
                          <a:latin typeface="Cambria Math" panose="02040503050406030204" pitchFamily="18" charset="0"/>
                        </a:rPr>
                        <m:t>.</m:t>
                      </m:r>
                      <m:r>
                        <a:rPr lang="en-US" altLang="zh-TW" i="1">
                          <a:latin typeface="Cambria Math" panose="02040503050406030204" pitchFamily="18" charset="0"/>
                        </a:rPr>
                        <m:t>𝑡</m:t>
                      </m:r>
                      <m:r>
                        <a:rPr lang="en-US" altLang="zh-TW" i="1">
                          <a:latin typeface="Cambria Math" panose="02040503050406030204" pitchFamily="18" charset="0"/>
                        </a:rPr>
                        <m:t>.</m:t>
                      </m:r>
                    </m:oMath>
                  </m:oMathPara>
                </a14:m>
                <a:endParaRPr lang="en-US" altLang="zh-TW" dirty="0"/>
              </a:p>
              <a:p>
                <a:pPr marL="0" indent="0">
                  <a:buNone/>
                </a:pPr>
                <a14:m>
                  <m:oMathPara xmlns:m="http://schemas.openxmlformats.org/officeDocument/2006/math">
                    <m:oMathParaPr>
                      <m:jc m:val="left"/>
                    </m:oMathParaPr>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r>
                        <a:rPr lang="en-US" altLang="zh-TW" i="1">
                          <a:latin typeface="Cambria Math" panose="02040503050406030204" pitchFamily="18" charset="0"/>
                        </a:rPr>
                        <m:t>=</m:t>
                      </m:r>
                      <m:d>
                        <m:dPr>
                          <m:ctrlPr>
                            <a:rPr lang="en-US" altLang="zh-TW" i="1">
                              <a:latin typeface="Cambria Math" panose="02040503050406030204" pitchFamily="18" charset="0"/>
                            </a:rPr>
                          </m:ctrlPr>
                        </m:dPr>
                        <m:e>
                          <m:r>
                            <a:rPr lang="en-US" altLang="zh-TW" i="1">
                              <a:latin typeface="Cambria Math" panose="02040503050406030204" pitchFamily="18" charset="0"/>
                            </a:rPr>
                            <m:t>1+</m:t>
                          </m:r>
                          <m:sSubSup>
                            <m:sSubSupPr>
                              <m:ctrlPr>
                                <a:rPr lang="en-US" altLang="zh-TW" i="1" smtClean="0">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𝑟</m:t>
                              </m:r>
                            </m:e>
                            <m:sub>
                              <m:r>
                                <a:rPr lang="en-US" altLang="zh-TW" i="1">
                                  <a:solidFill>
                                    <a:srgbClr val="00B050"/>
                                  </a:solidFill>
                                  <a:latin typeface="Cambria Math" panose="02040503050406030204" pitchFamily="18" charset="0"/>
                                </a:rPr>
                                <m:t>𝑡</m:t>
                              </m:r>
                            </m:sub>
                            <m:sup>
                              <m:r>
                                <a:rPr lang="en-US" altLang="zh-TW" i="1">
                                  <a:solidFill>
                                    <a:srgbClr val="00B050"/>
                                  </a:solidFill>
                                  <a:latin typeface="Cambria Math" panose="02040503050406030204" pitchFamily="18" charset="0"/>
                                </a:rPr>
                                <m:t>𝑚</m:t>
                              </m:r>
                            </m:sup>
                          </m:sSubSup>
                        </m:e>
                      </m:d>
                      <m:sSubSup>
                        <m:sSubSupPr>
                          <m:ctrlPr>
                            <a:rPr lang="en-US" altLang="zh-TW" i="1">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𝑤</m:t>
                          </m:r>
                        </m:e>
                        <m:sub>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up>
                          <m:r>
                            <a:rPr lang="en-US" altLang="zh-TW" i="1">
                              <a:solidFill>
                                <a:srgbClr val="00B050"/>
                              </a:solidFill>
                              <a:latin typeface="Cambria Math" panose="02040503050406030204" pitchFamily="18" charset="0"/>
                            </a:rPr>
                            <m:t>𝑚</m:t>
                          </m:r>
                        </m:sup>
                      </m:sSubSup>
                      <m:r>
                        <a:rPr lang="en-US" altLang="zh-TW" i="1">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𝑏</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r>
                        <a:rPr lang="en-US" altLang="zh-TW" i="1">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𝑠</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r>
                        <a:rPr lang="en-US" altLang="zh-TW" i="1">
                          <a:latin typeface="Cambria Math" panose="02040503050406030204" pitchFamily="18" charset="0"/>
                        </a:rPr>
                        <m:t>,</m:t>
                      </m:r>
                    </m:oMath>
                  </m:oMathPara>
                </a14:m>
                <a:endParaRPr lang="en-US" altLang="zh-TW" dirty="0"/>
              </a:p>
              <a:p>
                <a:pPr marL="0" indent="0">
                  <a:buNone/>
                </a:pPr>
                <a14:m>
                  <m:oMathPara xmlns:m="http://schemas.openxmlformats.org/officeDocument/2006/math">
                    <m:oMathParaPr>
                      <m:jc m:val="left"/>
                    </m:oMathParaPr>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0</m:t>
                          </m:r>
                        </m:sup>
                      </m:sSubSup>
                      <m:r>
                        <a:rPr lang="en-US" altLang="zh-TW" i="1">
                          <a:latin typeface="Cambria Math" panose="02040503050406030204" pitchFamily="18" charset="0"/>
                        </a:rPr>
                        <m:t>=</m:t>
                      </m:r>
                      <m:d>
                        <m:dPr>
                          <m:ctrlPr>
                            <a:rPr lang="en-US" altLang="zh-TW" i="1">
                              <a:latin typeface="Cambria Math" panose="02040503050406030204" pitchFamily="18" charset="0"/>
                            </a:rPr>
                          </m:ctrlPr>
                        </m:dPr>
                        <m:e>
                          <m:r>
                            <a:rPr lang="en-US" altLang="zh-TW" i="1">
                              <a:latin typeface="Cambria Math" panose="02040503050406030204" pitchFamily="18" charset="0"/>
                            </a:rPr>
                            <m:t>1+</m:t>
                          </m:r>
                          <m:sSubSup>
                            <m:sSubSupPr>
                              <m:ctrlPr>
                                <a:rPr lang="en-US" altLang="zh-TW" i="1">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𝑟</m:t>
                              </m:r>
                            </m:e>
                            <m:sub>
                              <m:r>
                                <a:rPr lang="en-US" altLang="zh-TW" i="1">
                                  <a:solidFill>
                                    <a:srgbClr val="00B050"/>
                                  </a:solidFill>
                                  <a:latin typeface="Cambria Math" panose="02040503050406030204" pitchFamily="18" charset="0"/>
                                </a:rPr>
                                <m:t>𝑡</m:t>
                              </m:r>
                            </m:sub>
                            <m:sup>
                              <m:r>
                                <a:rPr lang="en-US" altLang="zh-TW" i="1">
                                  <a:solidFill>
                                    <a:srgbClr val="00B050"/>
                                  </a:solidFill>
                                  <a:latin typeface="Cambria Math" panose="02040503050406030204" pitchFamily="18" charset="0"/>
                                </a:rPr>
                                <m:t>0</m:t>
                              </m:r>
                            </m:sup>
                          </m:sSubSup>
                        </m:e>
                      </m:d>
                      <m:sSubSup>
                        <m:sSubSupPr>
                          <m:ctrlPr>
                            <a:rPr lang="en-US" altLang="zh-TW" i="1">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𝑤</m:t>
                          </m:r>
                        </m:e>
                        <m:sub>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up>
                          <m:r>
                            <a:rPr lang="en-US" altLang="zh-TW" i="1">
                              <a:solidFill>
                                <a:srgbClr val="00B050"/>
                              </a:solidFill>
                              <a:latin typeface="Cambria Math" panose="02040503050406030204" pitchFamily="18" charset="0"/>
                            </a:rPr>
                            <m:t>0</m:t>
                          </m:r>
                        </m:sup>
                      </m:sSubSup>
                      <m:r>
                        <a:rPr lang="en-US" altLang="zh-TW" i="1">
                          <a:latin typeface="Cambria Math" panose="02040503050406030204" pitchFamily="18" charset="0"/>
                        </a:rPr>
                        <m:t>−</m:t>
                      </m:r>
                      <m:nary>
                        <m:naryPr>
                          <m:chr m:val="∑"/>
                          <m:ctrlPr>
                            <a:rPr lang="en-US" altLang="zh-TW" i="1">
                              <a:latin typeface="Cambria Math" panose="02040503050406030204" pitchFamily="18" charset="0"/>
                            </a:rPr>
                          </m:ctrlPr>
                        </m:naryPr>
                        <m:sub>
                          <m:r>
                            <a:rPr lang="en-US" altLang="zh-TW" i="1">
                              <a:latin typeface="Cambria Math" panose="02040503050406030204" pitchFamily="18" charset="0"/>
                            </a:rPr>
                            <m:t>𝑚</m:t>
                          </m:r>
                          <m:r>
                            <a:rPr lang="en-US" altLang="zh-TW" i="1">
                              <a:latin typeface="Cambria Math" panose="02040503050406030204" pitchFamily="18" charset="0"/>
                            </a:rPr>
                            <m:t>=1</m:t>
                          </m:r>
                        </m:sub>
                        <m:sup>
                          <m:r>
                            <a:rPr lang="en-US" altLang="zh-TW" i="1">
                              <a:latin typeface="Cambria Math" panose="02040503050406030204" pitchFamily="18" charset="0"/>
                            </a:rPr>
                            <m:t>𝑀</m:t>
                          </m:r>
                        </m:sup>
                        <m:e>
                          <m:d>
                            <m:dPr>
                              <m:ctrlPr>
                                <a:rPr lang="en-US" altLang="zh-TW" i="1">
                                  <a:latin typeface="Cambria Math" panose="02040503050406030204" pitchFamily="18" charset="0"/>
                                </a:rPr>
                              </m:ctrlPr>
                            </m:dPr>
                            <m:e>
                              <m:r>
                                <a:rPr lang="en-US" altLang="zh-TW" i="1">
                                  <a:latin typeface="Cambria Math" panose="02040503050406030204" pitchFamily="18" charset="0"/>
                                </a:rPr>
                                <m:t>1+</m:t>
                              </m:r>
                              <m:sSubSup>
                                <m:sSubSupPr>
                                  <m:ctrlPr>
                                    <a:rPr lang="en-US" altLang="zh-TW" i="1">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𝑐</m:t>
                                  </m:r>
                                </m:e>
                                <m:sub>
                                  <m:r>
                                    <a:rPr lang="en-US" altLang="zh-TW" i="1">
                                      <a:solidFill>
                                        <a:srgbClr val="00B050"/>
                                      </a:solidFill>
                                      <a:latin typeface="Cambria Math" panose="02040503050406030204" pitchFamily="18" charset="0"/>
                                    </a:rPr>
                                    <m:t>𝑏</m:t>
                                  </m:r>
                                  <m:r>
                                    <a:rPr lang="en-US" altLang="zh-TW" i="1">
                                      <a:solidFill>
                                        <a:srgbClr val="00B050"/>
                                      </a:solidFill>
                                      <a:latin typeface="Cambria Math" panose="02040503050406030204" pitchFamily="18" charset="0"/>
                                    </a:rPr>
                                    <m:t>,</m:t>
                                  </m:r>
                                  <m:r>
                                    <a:rPr lang="en-US" altLang="zh-TW" i="1">
                                      <a:solidFill>
                                        <a:srgbClr val="00B050"/>
                                      </a:solidFill>
                                      <a:latin typeface="Cambria Math" panose="02040503050406030204" pitchFamily="18" charset="0"/>
                                    </a:rPr>
                                    <m:t>𝑡</m:t>
                                  </m:r>
                                </m:sub>
                                <m:sup>
                                  <m:r>
                                    <a:rPr lang="en-US" altLang="zh-TW" i="1">
                                      <a:solidFill>
                                        <a:srgbClr val="00B050"/>
                                      </a:solidFill>
                                      <a:latin typeface="Cambria Math" panose="02040503050406030204" pitchFamily="18" charset="0"/>
                                    </a:rPr>
                                    <m:t>𝑚</m:t>
                                  </m:r>
                                </m:sup>
                              </m:sSubSup>
                            </m:e>
                          </m:d>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𝑏</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e>
                      </m:nary>
                      <m:r>
                        <a:rPr lang="en-US" altLang="zh-TW" i="1">
                          <a:latin typeface="Cambria Math" panose="02040503050406030204" pitchFamily="18" charset="0"/>
                        </a:rPr>
                        <m:t>+</m:t>
                      </m:r>
                      <m:nary>
                        <m:naryPr>
                          <m:chr m:val="∑"/>
                          <m:ctrlPr>
                            <a:rPr lang="en-US" altLang="zh-TW" i="1">
                              <a:latin typeface="Cambria Math" panose="02040503050406030204" pitchFamily="18" charset="0"/>
                            </a:rPr>
                          </m:ctrlPr>
                        </m:naryPr>
                        <m:sub>
                          <m:r>
                            <a:rPr lang="en-US" altLang="zh-TW" i="1">
                              <a:latin typeface="Cambria Math" panose="02040503050406030204" pitchFamily="18" charset="0"/>
                            </a:rPr>
                            <m:t>𝑚</m:t>
                          </m:r>
                          <m:r>
                            <a:rPr lang="en-US" altLang="zh-TW" i="1">
                              <a:latin typeface="Cambria Math" panose="02040503050406030204" pitchFamily="18" charset="0"/>
                            </a:rPr>
                            <m:t>=1</m:t>
                          </m:r>
                        </m:sub>
                        <m:sup>
                          <m:r>
                            <a:rPr lang="en-US" altLang="zh-TW" i="1">
                              <a:latin typeface="Cambria Math" panose="02040503050406030204" pitchFamily="18" charset="0"/>
                            </a:rPr>
                            <m:t>𝑀</m:t>
                          </m:r>
                        </m:sup>
                        <m:e>
                          <m:d>
                            <m:dPr>
                              <m:ctrlPr>
                                <a:rPr lang="en-US" altLang="zh-TW" i="1">
                                  <a:latin typeface="Cambria Math" panose="02040503050406030204" pitchFamily="18" charset="0"/>
                                </a:rPr>
                              </m:ctrlPr>
                            </m:dPr>
                            <m:e>
                              <m:r>
                                <a:rPr lang="en-US" altLang="zh-TW" i="1">
                                  <a:latin typeface="Cambria Math" panose="02040503050406030204" pitchFamily="18" charset="0"/>
                                </a:rPr>
                                <m:t>1−</m:t>
                              </m:r>
                              <m:sSubSup>
                                <m:sSubSupPr>
                                  <m:ctrlPr>
                                    <a:rPr lang="en-US" altLang="zh-TW" i="1">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𝑐</m:t>
                                  </m:r>
                                </m:e>
                                <m:sub>
                                  <m:r>
                                    <a:rPr lang="en-US" altLang="zh-TW" i="1">
                                      <a:solidFill>
                                        <a:srgbClr val="00B050"/>
                                      </a:solidFill>
                                      <a:latin typeface="Cambria Math" panose="02040503050406030204" pitchFamily="18" charset="0"/>
                                    </a:rPr>
                                    <m:t>𝑠</m:t>
                                  </m:r>
                                  <m:r>
                                    <a:rPr lang="en-US" altLang="zh-TW" i="1">
                                      <a:solidFill>
                                        <a:srgbClr val="00B050"/>
                                      </a:solidFill>
                                      <a:latin typeface="Cambria Math" panose="02040503050406030204" pitchFamily="18" charset="0"/>
                                    </a:rPr>
                                    <m:t>,</m:t>
                                  </m:r>
                                  <m:r>
                                    <a:rPr lang="en-US" altLang="zh-TW" i="1">
                                      <a:solidFill>
                                        <a:srgbClr val="00B050"/>
                                      </a:solidFill>
                                      <a:latin typeface="Cambria Math" panose="02040503050406030204" pitchFamily="18" charset="0"/>
                                    </a:rPr>
                                    <m:t>𝑡</m:t>
                                  </m:r>
                                </m:sub>
                                <m:sup>
                                  <m:r>
                                    <a:rPr lang="en-US" altLang="zh-TW" i="1">
                                      <a:solidFill>
                                        <a:srgbClr val="00B050"/>
                                      </a:solidFill>
                                      <a:latin typeface="Cambria Math" panose="02040503050406030204" pitchFamily="18" charset="0"/>
                                    </a:rPr>
                                    <m:t>𝑚</m:t>
                                  </m:r>
                                </m:sup>
                              </m:sSubSup>
                            </m:e>
                          </m:d>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𝑠</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e>
                      </m:nary>
                      <m:r>
                        <a:rPr lang="en-US" altLang="zh-TW" i="1">
                          <a:latin typeface="Cambria Math" panose="02040503050406030204" pitchFamily="18" charset="0"/>
                        </a:rPr>
                        <m:t>,</m:t>
                      </m:r>
                    </m:oMath>
                  </m:oMathPara>
                </a14:m>
                <a:endParaRPr lang="en-US" altLang="zh-TW" dirty="0"/>
              </a:p>
              <a:p>
                <a:pPr marL="0" indent="0">
                  <a:buNone/>
                </a:pP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r>
                      <a:rPr lang="en-US" altLang="zh-TW" i="1">
                        <a:latin typeface="Cambria Math" panose="02040503050406030204" pitchFamily="18" charset="0"/>
                      </a:rPr>
                      <m:t>≥0, </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0</m:t>
                        </m:r>
                      </m:sup>
                    </m:sSubSup>
                    <m:r>
                      <a:rPr lang="en-US" altLang="zh-TW" i="1">
                        <a:latin typeface="Cambria Math" panose="02040503050406030204" pitchFamily="18" charset="0"/>
                      </a:rPr>
                      <m:t>≥0, </m:t>
                    </m:r>
                  </m:oMath>
                </a14:m>
                <a:r>
                  <a:rPr lang="en-US" altLang="zh-TW" i="1" dirty="0" smtClean="0">
                    <a:latin typeface="Cambria Math" panose="02040503050406030204" pitchFamily="18" charset="0"/>
                  </a:rPr>
                  <a:t>(</a:t>
                </a:r>
                <a:r>
                  <a:rPr lang="en-US" altLang="zh-TW" b="1" i="1" dirty="0" smtClean="0">
                    <a:latin typeface="Cambria Math" panose="02040503050406030204" pitchFamily="18" charset="0"/>
                  </a:rPr>
                  <a:t>not short sell</a:t>
                </a:r>
                <a:r>
                  <a:rPr lang="en-US" altLang="zh-TW" i="1" dirty="0" smtClean="0">
                    <a:latin typeface="Cambria Math" panose="02040503050406030204" pitchFamily="18" charset="0"/>
                  </a:rPr>
                  <a:t>)</a:t>
                </a:r>
              </a:p>
              <a:p>
                <a:pPr marL="0" indent="0">
                  <a:buNone/>
                </a:pP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𝑏</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r>
                      <a:rPr lang="en-US" altLang="zh-TW" i="1">
                        <a:latin typeface="Cambria Math" panose="02040503050406030204" pitchFamily="18" charset="0"/>
                      </a:rPr>
                      <m:t>≥0, </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𝑠</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r>
                      <a:rPr lang="en-US" altLang="zh-TW" i="1">
                        <a:latin typeface="Cambria Math" panose="02040503050406030204" pitchFamily="18" charset="0"/>
                      </a:rPr>
                      <m:t>≥0, </m:t>
                    </m:r>
                  </m:oMath>
                </a14:m>
                <a:r>
                  <a:rPr lang="en-US" altLang="zh-TW" dirty="0" smtClean="0"/>
                  <a:t/>
                </a:r>
                <a:endParaRPr lang="en-US" altLang="zh-TW" dirty="0"/>
              </a:p>
              <a:p>
                <a:pPr marL="0" indent="0">
                  <a:buNone/>
                </a:pPr>
                <a14:m>
                  <m:oMathPara xmlns:m="http://schemas.openxmlformats.org/officeDocument/2006/math">
                    <m:oMathParaPr>
                      <m:jc m:val="left"/>
                    </m:oMathParaPr>
                    <m:oMath xmlns:m="http://schemas.openxmlformats.org/officeDocument/2006/math">
                      <m:r>
                        <a:rPr lang="en-US" altLang="zh-TW" i="1">
                          <a:latin typeface="Cambria Math" panose="02040503050406030204" pitchFamily="18" charset="0"/>
                        </a:rPr>
                        <m:t>𝑡</m:t>
                      </m:r>
                      <m:r>
                        <a:rPr lang="en-US" altLang="zh-TW" i="1">
                          <a:latin typeface="Cambria Math" panose="02040503050406030204" pitchFamily="18" charset="0"/>
                        </a:rPr>
                        <m:t>=1,…,</m:t>
                      </m:r>
                      <m:r>
                        <a:rPr lang="en-US" altLang="zh-TW" i="1">
                          <a:latin typeface="Cambria Math" panose="02040503050406030204" pitchFamily="18" charset="0"/>
                        </a:rPr>
                        <m:t>𝑇</m:t>
                      </m:r>
                      <m:r>
                        <a:rPr lang="en-US" altLang="zh-TW" i="1">
                          <a:latin typeface="Cambria Math" panose="02040503050406030204" pitchFamily="18" charset="0"/>
                        </a:rPr>
                        <m:t>, </m:t>
                      </m:r>
                    </m:oMath>
                  </m:oMathPara>
                </a14:m>
                <a:endParaRPr lang="en-US" altLang="zh-TW"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i="1">
                          <a:latin typeface="Cambria Math" panose="02040503050406030204" pitchFamily="18" charset="0"/>
                        </a:rPr>
                        <m:t>𝑚</m:t>
                      </m:r>
                      <m:r>
                        <a:rPr lang="en-US" altLang="zh-TW" i="1">
                          <a:latin typeface="Cambria Math" panose="02040503050406030204" pitchFamily="18" charset="0"/>
                        </a:rPr>
                        <m:t>=1,…,</m:t>
                      </m:r>
                      <m:r>
                        <a:rPr lang="en-US" altLang="zh-TW" i="1">
                          <a:latin typeface="Cambria Math" panose="02040503050406030204" pitchFamily="18" charset="0"/>
                        </a:rPr>
                        <m:t>𝑀</m:t>
                      </m:r>
                    </m:oMath>
                  </m:oMathPara>
                </a14:m>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825624"/>
                <a:ext cx="10515600" cy="4755479"/>
              </a:xfrm>
              <a:blipFill rotWithShape="0">
                <a:blip r:embed="rId2"/>
                <a:stretch>
                  <a:fillRect t="-192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56E38F8E-F105-4395-BB51-B47D06FD7340}" type="slidenum">
              <a:rPr lang="zh-TW" altLang="en-US" smtClean="0"/>
              <a:pPr/>
              <a:t>8</a:t>
            </a:fld>
            <a:endParaRPr lang="zh-TW" altLang="en-US"/>
          </a:p>
        </p:txBody>
      </p:sp>
      <p:sp>
        <p:nvSpPr>
          <p:cNvPr id="5" name="文字方塊 4"/>
          <p:cNvSpPr txBox="1"/>
          <p:nvPr/>
        </p:nvSpPr>
        <p:spPr>
          <a:xfrm>
            <a:off x="8522138" y="1736669"/>
            <a:ext cx="3026534" cy="830997"/>
          </a:xfrm>
          <a:prstGeom prst="rect">
            <a:avLst/>
          </a:prstGeom>
          <a:noFill/>
        </p:spPr>
        <p:txBody>
          <a:bodyPr wrap="none" rtlCol="0">
            <a:spAutoFit/>
          </a:bodyPr>
          <a:lstStyle/>
          <a:p>
            <a:r>
              <a:rPr lang="en-US" altLang="zh-TW" sz="2400" dirty="0" smtClean="0">
                <a:solidFill>
                  <a:srgbClr val="FF0000"/>
                </a:solidFill>
              </a:rPr>
              <a:t>Red: decision variables</a:t>
            </a:r>
          </a:p>
          <a:p>
            <a:r>
              <a:rPr lang="en-US" altLang="zh-TW" sz="2400" dirty="0" smtClean="0">
                <a:solidFill>
                  <a:srgbClr val="00B050"/>
                </a:solidFill>
              </a:rPr>
              <a:t>Green: parameters</a:t>
            </a:r>
          </a:p>
        </p:txBody>
      </p:sp>
    </p:spTree>
    <p:extLst>
      <p:ext uri="{BB962C8B-B14F-4D97-AF65-F5344CB8AC3E}">
        <p14:creationId xmlns:p14="http://schemas.microsoft.com/office/powerpoint/2010/main" xmlns="" val="1976014059"/>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83913" y="1584669"/>
            <a:ext cx="7930758" cy="411653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標題 1"/>
          <p:cNvSpPr>
            <a:spLocks noGrp="1"/>
          </p:cNvSpPr>
          <p:nvPr>
            <p:ph type="title"/>
          </p:nvPr>
        </p:nvSpPr>
        <p:spPr>
          <a:xfrm>
            <a:off x="639418" y="259108"/>
            <a:ext cx="10515600" cy="1325563"/>
          </a:xfrm>
        </p:spPr>
        <p:txBody>
          <a:bodyPr/>
          <a:lstStyle/>
          <a:p>
            <a:r>
              <a:rPr lang="en-US" altLang="zh-TW" dirty="0" smtClean="0"/>
              <a:t>Scenario tree</a:t>
            </a:r>
            <a:endParaRPr lang="zh-TW" altLang="en-US" dirty="0"/>
          </a:p>
        </p:txBody>
      </p:sp>
      <p:sp>
        <p:nvSpPr>
          <p:cNvPr id="7" name="矩形 6"/>
          <p:cNvSpPr/>
          <p:nvPr/>
        </p:nvSpPr>
        <p:spPr>
          <a:xfrm>
            <a:off x="1939227" y="2067951"/>
            <a:ext cx="1020417" cy="36973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圓角矩形圖說文字 7"/>
          <p:cNvSpPr/>
          <p:nvPr/>
        </p:nvSpPr>
        <p:spPr>
          <a:xfrm>
            <a:off x="287103" y="1584670"/>
            <a:ext cx="1117674" cy="722431"/>
          </a:xfrm>
          <a:prstGeom prst="wedgeRoundRectCallout">
            <a:avLst>
              <a:gd name="adj1" fmla="val 81380"/>
              <a:gd name="adj2" fmla="val 101265"/>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smtClean="0"/>
              <a:t>Stages</a:t>
            </a:r>
            <a:endParaRPr lang="zh-TW" altLang="en-US" sz="2400" dirty="0"/>
          </a:p>
        </p:txBody>
      </p:sp>
      <p:sp>
        <p:nvSpPr>
          <p:cNvPr id="11" name="圓角矩形 10"/>
          <p:cNvSpPr/>
          <p:nvPr/>
        </p:nvSpPr>
        <p:spPr>
          <a:xfrm>
            <a:off x="3578942" y="3038622"/>
            <a:ext cx="6063176" cy="45016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圓角矩形圖說文字 11"/>
          <p:cNvSpPr/>
          <p:nvPr/>
        </p:nvSpPr>
        <p:spPr>
          <a:xfrm>
            <a:off x="9385600" y="1584669"/>
            <a:ext cx="1117674" cy="722431"/>
          </a:xfrm>
          <a:prstGeom prst="wedgeRoundRectCallout">
            <a:avLst>
              <a:gd name="adj1" fmla="val -54555"/>
              <a:gd name="adj2" fmla="val 134369"/>
              <a:gd name="adj3" fmla="val 166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TW" sz="2400" dirty="0" smtClean="0"/>
              <a:t>Period</a:t>
            </a:r>
            <a:endParaRPr lang="zh-TW" altLang="en-US" sz="2400" dirty="0"/>
          </a:p>
        </p:txBody>
      </p:sp>
      <p:sp>
        <p:nvSpPr>
          <p:cNvPr id="13" name="圓角矩形圖說文字 12"/>
          <p:cNvSpPr/>
          <p:nvPr/>
        </p:nvSpPr>
        <p:spPr>
          <a:xfrm>
            <a:off x="8722600" y="5964072"/>
            <a:ext cx="3210094" cy="682179"/>
          </a:xfrm>
          <a:prstGeom prst="wedgeRoundRectCallout">
            <a:avLst>
              <a:gd name="adj1" fmla="val -15402"/>
              <a:gd name="adj2" fmla="val -107571"/>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smtClean="0"/>
              <a:t>Scenarios;</a:t>
            </a:r>
          </a:p>
          <a:p>
            <a:pPr algn="ctr"/>
            <a:r>
              <a:rPr lang="en-US" altLang="zh-TW" sz="2400" dirty="0" smtClean="0"/>
              <a:t>A path from root to leaf</a:t>
            </a:r>
            <a:endParaRPr lang="zh-TW" altLang="en-US" sz="2400" dirty="0"/>
          </a:p>
        </p:txBody>
      </p:sp>
      <p:sp>
        <p:nvSpPr>
          <p:cNvPr id="3" name="投影片編號版面配置區 2"/>
          <p:cNvSpPr>
            <a:spLocks noGrp="1"/>
          </p:cNvSpPr>
          <p:nvPr>
            <p:ph type="sldNum" sz="quarter" idx="12"/>
          </p:nvPr>
        </p:nvSpPr>
        <p:spPr/>
        <p:txBody>
          <a:bodyPr/>
          <a:lstStyle/>
          <a:p>
            <a:fld id="{56E38F8E-F105-4395-BB51-B47D06FD7340}" type="slidenum">
              <a:rPr lang="zh-TW" altLang="en-US" smtClean="0"/>
              <a:pPr/>
              <a:t>9</a:t>
            </a:fld>
            <a:endParaRPr lang="zh-TW" altLang="en-US"/>
          </a:p>
        </p:txBody>
      </p:sp>
    </p:spTree>
    <p:extLst>
      <p:ext uri="{BB962C8B-B14F-4D97-AF65-F5344CB8AC3E}">
        <p14:creationId xmlns:p14="http://schemas.microsoft.com/office/powerpoint/2010/main" xmlns="" val="2056565452"/>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Moment matching </a:t>
            </a:r>
            <a:endParaRPr lang="zh-TW" altLang="en-US" dirty="0"/>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10</a:t>
            </a:fld>
            <a:endParaRPr lang="zh-TW" altLang="en-US"/>
          </a:p>
        </p:txBody>
      </p:sp>
      <p:sp>
        <p:nvSpPr>
          <p:cNvPr id="5" name="文字方塊 4"/>
          <p:cNvSpPr txBox="1"/>
          <p:nvPr/>
        </p:nvSpPr>
        <p:spPr>
          <a:xfrm>
            <a:off x="2644879" y="2281083"/>
            <a:ext cx="1179870" cy="523220"/>
          </a:xfrm>
          <a:prstGeom prst="rect">
            <a:avLst/>
          </a:prstGeom>
          <a:noFill/>
        </p:spPr>
        <p:txBody>
          <a:bodyPr wrap="square" rtlCol="0">
            <a:spAutoFit/>
          </a:bodyPr>
          <a:lstStyle/>
          <a:p>
            <a:r>
              <a:rPr lang="en-US" altLang="zh-TW" sz="2800" dirty="0" smtClean="0"/>
              <a:t>Data</a:t>
            </a:r>
            <a:endParaRPr lang="zh-TW" altLang="en-US" sz="2800" dirty="0"/>
          </a:p>
        </p:txBody>
      </p:sp>
      <p:cxnSp>
        <p:nvCxnSpPr>
          <p:cNvPr id="7" name="直線單箭頭接點 6"/>
          <p:cNvCxnSpPr/>
          <p:nvPr/>
        </p:nvCxnSpPr>
        <p:spPr>
          <a:xfrm flipV="1">
            <a:off x="4404852" y="2450342"/>
            <a:ext cx="1366684" cy="196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6331975" y="2066487"/>
            <a:ext cx="4070555" cy="1200329"/>
          </a:xfrm>
          <a:prstGeom prst="rect">
            <a:avLst/>
          </a:prstGeom>
          <a:noFill/>
        </p:spPr>
        <p:txBody>
          <a:bodyPr wrap="square" rtlCol="0">
            <a:spAutoFit/>
          </a:bodyPr>
          <a:lstStyle/>
          <a:p>
            <a:r>
              <a:rPr lang="en-US" altLang="zh-TW" sz="2400" dirty="0" smtClean="0"/>
              <a:t>Statistics, such as mean, standard deviation, </a:t>
            </a:r>
            <a:r>
              <a:rPr lang="en-US" altLang="zh-TW" sz="2400" dirty="0" err="1" smtClean="0"/>
              <a:t>skewness</a:t>
            </a:r>
            <a:r>
              <a:rPr lang="en-US" altLang="zh-TW" sz="2400" dirty="0" smtClean="0"/>
              <a:t>, kurtosis, correlation etc.</a:t>
            </a:r>
            <a:endParaRPr lang="zh-TW" altLang="en-US" sz="2400" dirty="0"/>
          </a:p>
        </p:txBody>
      </p:sp>
      <p:sp>
        <p:nvSpPr>
          <p:cNvPr id="9" name="矩形圖說文字 8"/>
          <p:cNvSpPr/>
          <p:nvPr/>
        </p:nvSpPr>
        <p:spPr>
          <a:xfrm>
            <a:off x="4149213" y="1543665"/>
            <a:ext cx="1809135" cy="522822"/>
          </a:xfrm>
          <a:prstGeom prst="wedgeRectCallout">
            <a:avLst>
              <a:gd name="adj1" fmla="val -1811"/>
              <a:gd name="adj2" fmla="val 1030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Easy to compute</a:t>
            </a:r>
            <a:endParaRPr lang="zh-TW" altLang="en-US" dirty="0"/>
          </a:p>
        </p:txBody>
      </p:sp>
      <p:cxnSp>
        <p:nvCxnSpPr>
          <p:cNvPr id="10" name="直線單箭頭接點 9"/>
          <p:cNvCxnSpPr/>
          <p:nvPr/>
        </p:nvCxnSpPr>
        <p:spPr>
          <a:xfrm flipH="1">
            <a:off x="4380272" y="2796587"/>
            <a:ext cx="1366685" cy="1"/>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矩形圖說文字 13"/>
          <p:cNvSpPr/>
          <p:nvPr/>
        </p:nvSpPr>
        <p:spPr>
          <a:xfrm>
            <a:off x="4208206" y="3295457"/>
            <a:ext cx="2123769" cy="522822"/>
          </a:xfrm>
          <a:prstGeom prst="wedgeRectCallout">
            <a:avLst>
              <a:gd name="adj1" fmla="val -2354"/>
              <a:gd name="adj2" fmla="val -1226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bg1"/>
                </a:solidFill>
              </a:rPr>
              <a:t>Moment matching!!</a:t>
            </a:r>
            <a:endParaRPr lang="zh-TW" altLang="en-US" dirty="0">
              <a:solidFill>
                <a:schemeClr val="bg1"/>
              </a:solidFill>
            </a:endParaRPr>
          </a:p>
        </p:txBody>
      </p:sp>
      <mc:AlternateContent xmlns:mc="http://schemas.openxmlformats.org/markup-compatibility/2006">
        <mc:Choice xmlns:a14="http://schemas.microsoft.com/office/drawing/2010/main" xmlns="" Requires="a14">
          <p:sp>
            <p:nvSpPr>
              <p:cNvPr id="15" name="文字方塊 14"/>
              <p:cNvSpPr txBox="1"/>
              <p:nvPr/>
            </p:nvSpPr>
            <p:spPr>
              <a:xfrm>
                <a:off x="477671" y="4473677"/>
                <a:ext cx="11491415" cy="1815882"/>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smtClean="0"/>
                  <a:t>Given </a:t>
                </a:r>
                <a:r>
                  <a:rPr lang="en-US" altLang="zh-TW" sz="2800" u="sng" dirty="0" smtClean="0">
                    <a:solidFill>
                      <a:srgbClr val="0070C0"/>
                    </a:solidFill>
                  </a:rPr>
                  <a:t>mean</a:t>
                </a:r>
                <a:r>
                  <a:rPr lang="en-US" altLang="zh-TW" sz="2800" dirty="0" smtClean="0"/>
                  <a:t>, </a:t>
                </a:r>
                <a:r>
                  <a:rPr lang="en-US" altLang="zh-TW" sz="2800" u="sng" dirty="0" smtClean="0">
                    <a:solidFill>
                      <a:srgbClr val="0070C0"/>
                    </a:solidFill>
                  </a:rPr>
                  <a:t>standard deviation</a:t>
                </a:r>
                <a:r>
                  <a:rPr lang="en-US" altLang="zh-TW" sz="2800" dirty="0" smtClean="0"/>
                  <a:t>, </a:t>
                </a:r>
                <a:r>
                  <a:rPr lang="en-US" altLang="zh-TW" sz="2800" u="sng" dirty="0" err="1" smtClean="0">
                    <a:solidFill>
                      <a:srgbClr val="0070C0"/>
                    </a:solidFill>
                  </a:rPr>
                  <a:t>skewness</a:t>
                </a:r>
                <a:r>
                  <a:rPr lang="en-US" altLang="zh-TW" sz="2800" dirty="0" smtClean="0"/>
                  <a:t>, </a:t>
                </a:r>
                <a:r>
                  <a:rPr lang="en-US" altLang="zh-TW" sz="2800" u="sng" dirty="0" smtClean="0">
                    <a:solidFill>
                      <a:srgbClr val="0070C0"/>
                    </a:solidFill>
                  </a:rPr>
                  <a:t>kurtosis</a:t>
                </a:r>
                <a:r>
                  <a:rPr lang="en-US" altLang="zh-TW" sz="2800" dirty="0" smtClean="0">
                    <a:solidFill>
                      <a:srgbClr val="0070C0"/>
                    </a:solidFill>
                  </a:rPr>
                  <a:t>,</a:t>
                </a:r>
                <a:r>
                  <a:rPr lang="en-US" altLang="zh-TW" sz="2800" dirty="0" smtClean="0"/>
                  <a:t> and </a:t>
                </a:r>
                <a:r>
                  <a:rPr lang="en-US" altLang="zh-TW" sz="2800" u="sng" dirty="0" smtClean="0">
                    <a:solidFill>
                      <a:srgbClr val="0070C0"/>
                    </a:solidFill>
                  </a:rPr>
                  <a:t>correlation matrix</a:t>
                </a:r>
                <a14:m>
                  <m:oMath xmlns:m="http://schemas.openxmlformats.org/officeDocument/2006/math">
                    <m:r>
                      <a:rPr lang="en-US" altLang="zh-TW" sz="2800" b="0" i="1" smtClean="0">
                        <a:latin typeface="Cambria Math"/>
                      </a:rPr>
                      <m:t>∈</m:t>
                    </m:r>
                    <m:sSup>
                      <m:sSupPr>
                        <m:ctrlPr>
                          <a:rPr lang="en-US" altLang="zh-TW" sz="2800" b="0" i="1" smtClean="0">
                            <a:latin typeface="Cambria Math" panose="02040503050406030204" pitchFamily="18" charset="0"/>
                          </a:rPr>
                        </m:ctrlPr>
                      </m:sSupPr>
                      <m:e>
                        <m:r>
                          <a:rPr lang="en-US" altLang="zh-TW" sz="2800" b="0" i="1" smtClean="0">
                            <a:latin typeface="Cambria Math"/>
                          </a:rPr>
                          <m:t>ℝ</m:t>
                        </m:r>
                      </m:e>
                      <m:sup>
                        <m:r>
                          <a:rPr lang="en-US" altLang="zh-TW" sz="2800" b="0" i="1" smtClean="0">
                            <a:latin typeface="Cambria Math"/>
                          </a:rPr>
                          <m:t>𝑛</m:t>
                        </m:r>
                        <m:r>
                          <a:rPr lang="en-US" altLang="zh-TW" sz="2800" b="0" i="1" smtClean="0">
                            <a:latin typeface="Cambria Math"/>
                          </a:rPr>
                          <m:t>×</m:t>
                        </m:r>
                        <m:r>
                          <a:rPr lang="en-US" altLang="zh-TW" sz="2800" b="0" i="1" smtClean="0">
                            <a:latin typeface="Cambria Math"/>
                          </a:rPr>
                          <m:t>𝑛</m:t>
                        </m:r>
                      </m:sup>
                    </m:sSup>
                  </m:oMath>
                </a14:m>
                <a:endParaRPr lang="en-US" altLang="zh-TW" sz="2800" b="0" dirty="0" smtClean="0"/>
              </a:p>
              <a:p>
                <a:pPr marL="457200" indent="-457200">
                  <a:buFont typeface="Arial" panose="020B0604020202020204" pitchFamily="34" charset="0"/>
                  <a:buChar char="•"/>
                </a:pPr>
                <a:r>
                  <a:rPr lang="en-US" altLang="zh-TW" sz="2800" dirty="0" smtClean="0"/>
                  <a:t>Moment matching is to sample data whose statistics are corresponding to these given statistics.</a:t>
                </a:r>
                <a:endParaRPr lang="zh-TW" altLang="en-US" sz="2800" dirty="0"/>
              </a:p>
            </p:txBody>
          </p:sp>
        </mc:Choice>
        <mc:Fallback>
          <p:sp>
            <p:nvSpPr>
              <p:cNvPr id="15" name="文字方塊 14"/>
              <p:cNvSpPr txBox="1">
                <a:spLocks noRot="1" noChangeAspect="1" noMove="1" noResize="1" noEditPoints="1" noAdjustHandles="1" noChangeArrowheads="1" noChangeShapeType="1" noTextEdit="1"/>
              </p:cNvSpPr>
              <p:nvPr/>
            </p:nvSpPr>
            <p:spPr>
              <a:xfrm>
                <a:off x="477671" y="4473677"/>
                <a:ext cx="11491415" cy="1815882"/>
              </a:xfrm>
              <a:prstGeom prst="rect">
                <a:avLst/>
              </a:prstGeom>
              <a:blipFill rotWithShape="1">
                <a:blip r:embed="rId2"/>
                <a:stretch>
                  <a:fillRect l="-902" t="-3020" b="-8725"/>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488340657"/>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648237" y="1087858"/>
            <a:ext cx="5486400" cy="3933825"/>
          </a:xfrm>
        </p:spPr>
      </p:pic>
      <p:sp>
        <p:nvSpPr>
          <p:cNvPr id="4" name="投影片編號版面配置區 3"/>
          <p:cNvSpPr>
            <a:spLocks noGrp="1"/>
          </p:cNvSpPr>
          <p:nvPr>
            <p:ph type="sldNum" sz="quarter" idx="12"/>
          </p:nvPr>
        </p:nvSpPr>
        <p:spPr/>
        <p:txBody>
          <a:bodyPr/>
          <a:lstStyle/>
          <a:p>
            <a:fld id="{56E38F8E-F105-4395-BB51-B47D06FD7340}" type="slidenum">
              <a:rPr lang="zh-TW" altLang="en-US" smtClean="0"/>
              <a:pPr/>
              <a:t>11</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375905" y="539035"/>
            <a:ext cx="3429470" cy="2515736"/>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988868" y="3872919"/>
            <a:ext cx="4364932" cy="2723718"/>
          </a:xfrm>
          <a:prstGeom prst="rect">
            <a:avLst/>
          </a:prstGeom>
        </p:spPr>
      </p:pic>
    </p:spTree>
    <p:extLst>
      <p:ext uri="{BB962C8B-B14F-4D97-AF65-F5344CB8AC3E}">
        <p14:creationId xmlns:p14="http://schemas.microsoft.com/office/powerpoint/2010/main" xmlns="" val="1478104635"/>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56E38F8E-F105-4395-BB51-B47D06FD7340}" type="slidenum">
              <a:rPr lang="zh-TW" altLang="en-US" smtClean="0"/>
              <a:pPr/>
              <a:t>12</a:t>
            </a:fld>
            <a:endParaRPr lang="zh-TW" altLang="en-US"/>
          </a:p>
        </p:txBody>
      </p:sp>
      <p:pic>
        <p:nvPicPr>
          <p:cNvPr id="5" name="圖片 4"/>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880315" y="440559"/>
            <a:ext cx="9002332" cy="6098353"/>
          </a:xfrm>
          <a:prstGeom prst="rect">
            <a:avLst/>
          </a:prstGeom>
        </p:spPr>
      </p:pic>
    </p:spTree>
    <p:extLst>
      <p:ext uri="{BB962C8B-B14F-4D97-AF65-F5344CB8AC3E}">
        <p14:creationId xmlns:p14="http://schemas.microsoft.com/office/powerpoint/2010/main" xmlns="" val="3854899970"/>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Heuristic moment matching </a:t>
            </a:r>
            <a:r>
              <a:rPr lang="en-US" altLang="zh-TW" sz="3200" dirty="0" smtClean="0"/>
              <a:t>[</a:t>
            </a:r>
            <a:r>
              <a:rPr lang="en-US" altLang="zh-TW" sz="3200" dirty="0" err="1" smtClean="0"/>
              <a:t>Hoyland</a:t>
            </a:r>
            <a:r>
              <a:rPr lang="en-US" altLang="zh-TW" sz="3200" dirty="0" smtClean="0"/>
              <a:t> </a:t>
            </a:r>
            <a:r>
              <a:rPr lang="en-US" altLang="zh-TW" sz="3200" i="1" dirty="0" smtClean="0"/>
              <a:t>et al.</a:t>
            </a:r>
            <a:r>
              <a:rPr lang="en-US" altLang="zh-TW" sz="3200" dirty="0" smtClean="0"/>
              <a:t>, 2003]</a:t>
            </a:r>
            <a:endParaRPr lang="zh-TW" altLang="en-US" sz="3200"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848032" y="1510992"/>
                <a:ext cx="10515600" cy="4351338"/>
              </a:xfrm>
            </p:spPr>
            <p:txBody>
              <a:bodyPr/>
              <a:lstStyle/>
              <a:p>
                <a:r>
                  <a:rPr lang="en-US" altLang="zh-TW" dirty="0" smtClean="0">
                    <a:solidFill>
                      <a:srgbClr val="FF0000"/>
                    </a:solidFill>
                  </a:rPr>
                  <a:t>1. cubic transform (correct statistics, wrong correlation)</a:t>
                </a:r>
              </a:p>
              <a:p>
                <a:r>
                  <a:rPr lang="en-US" altLang="zh-TW" dirty="0"/>
                  <a:t>y</a:t>
                </a:r>
                <a:r>
                  <a:rPr lang="en-US" altLang="zh-TW" dirty="0" smtClean="0"/>
                  <a:t> is the target statistics vector, x is the sample vectors</a:t>
                </a:r>
              </a:p>
              <a:p>
                <a14:m>
                  <m:oMath xmlns:m="http://schemas.openxmlformats.org/officeDocument/2006/math">
                    <m:r>
                      <a:rPr lang="en-US" altLang="zh-TW" b="0" i="1" smtClean="0">
                        <a:latin typeface="Cambria Math"/>
                      </a:rPr>
                      <m:t>𝑦</m:t>
                    </m:r>
                    <m:r>
                      <a:rPr lang="en-US" altLang="zh-TW" b="0" i="1" smtClean="0">
                        <a:latin typeface="Cambria Math"/>
                      </a:rPr>
                      <m:t>=</m:t>
                    </m:r>
                    <m:r>
                      <a:rPr lang="en-US" altLang="zh-TW" b="0" i="1" smtClean="0">
                        <a:latin typeface="Cambria Math"/>
                      </a:rPr>
                      <m:t>𝑎</m:t>
                    </m:r>
                    <m:r>
                      <a:rPr lang="en-US" altLang="zh-TW" b="0" i="1" smtClean="0">
                        <a:latin typeface="Cambria Math"/>
                      </a:rPr>
                      <m:t>+</m:t>
                    </m:r>
                    <m:r>
                      <a:rPr lang="en-US" altLang="zh-TW" b="0" i="1" smtClean="0">
                        <a:latin typeface="Cambria Math"/>
                      </a:rPr>
                      <m:t>𝑏𝑥</m:t>
                    </m:r>
                    <m:r>
                      <a:rPr lang="en-US" altLang="zh-TW" b="0" i="1" smtClean="0">
                        <a:latin typeface="Cambria Math"/>
                      </a:rPr>
                      <m:t>+</m:t>
                    </m:r>
                    <m:r>
                      <a:rPr lang="en-US" altLang="zh-TW" b="0" i="1" smtClean="0">
                        <a:latin typeface="Cambria Math"/>
                      </a:rPr>
                      <m:t>𝑐</m:t>
                    </m:r>
                    <m:sSup>
                      <m:sSupPr>
                        <m:ctrlPr>
                          <a:rPr lang="en-US" altLang="zh-TW" b="0" i="1" smtClean="0">
                            <a:latin typeface="Cambria Math" panose="02040503050406030204" pitchFamily="18" charset="0"/>
                          </a:rPr>
                        </m:ctrlPr>
                      </m:sSupPr>
                      <m:e>
                        <m:r>
                          <a:rPr lang="en-US" altLang="zh-TW" b="0" i="1" smtClean="0">
                            <a:latin typeface="Cambria Math"/>
                          </a:rPr>
                          <m:t>𝑥</m:t>
                        </m:r>
                      </m:e>
                      <m:sup>
                        <m:r>
                          <a:rPr lang="en-US" altLang="zh-TW" b="0" i="1" smtClean="0">
                            <a:latin typeface="Cambria Math"/>
                          </a:rPr>
                          <m:t>2</m:t>
                        </m:r>
                      </m:sup>
                    </m:sSup>
                    <m:r>
                      <a:rPr lang="en-US" altLang="zh-TW" b="0" i="1" smtClean="0">
                        <a:latin typeface="Cambria Math"/>
                      </a:rPr>
                      <m:t>+</m:t>
                    </m:r>
                    <m:r>
                      <a:rPr lang="en-US" altLang="zh-TW" b="0" i="1" smtClean="0">
                        <a:latin typeface="Cambria Math"/>
                      </a:rPr>
                      <m:t>𝑑</m:t>
                    </m:r>
                    <m:sSup>
                      <m:sSupPr>
                        <m:ctrlPr>
                          <a:rPr lang="en-US" altLang="zh-TW" b="0" i="1" smtClean="0">
                            <a:latin typeface="Cambria Math" panose="02040503050406030204" pitchFamily="18" charset="0"/>
                          </a:rPr>
                        </m:ctrlPr>
                      </m:sSupPr>
                      <m:e>
                        <m:r>
                          <a:rPr lang="en-US" altLang="zh-TW" b="0" i="1" smtClean="0">
                            <a:latin typeface="Cambria Math"/>
                          </a:rPr>
                          <m:t>𝑥</m:t>
                        </m:r>
                      </m:e>
                      <m:sup>
                        <m:r>
                          <a:rPr lang="en-US" altLang="zh-TW" b="0" i="1" smtClean="0">
                            <a:latin typeface="Cambria Math"/>
                          </a:rPr>
                          <m:t>3</m:t>
                        </m:r>
                      </m:sup>
                    </m:sSup>
                  </m:oMath>
                </a14:m>
                <a:endParaRPr lang="en-US" altLang="zh-TW" dirty="0" smtClean="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48032" y="1510992"/>
                <a:ext cx="10515600" cy="4351338"/>
              </a:xfrm>
              <a:blipFill rotWithShape="1">
                <a:blip r:embed="rId2"/>
                <a:stretch>
                  <a:fillRect l="-986" t="-22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56E38F8E-F105-4395-BB51-B47D06FD7340}" type="slidenum">
              <a:rPr lang="zh-TW" altLang="en-US" smtClean="0"/>
              <a:pPr/>
              <a:t>13</a:t>
            </a:fld>
            <a:endParaRPr lang="zh-TW" altLang="en-US"/>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4775" y="3088481"/>
            <a:ext cx="6195512" cy="87534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6360287" y="3088481"/>
            <a:ext cx="5703894" cy="305762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文字方塊 4"/>
          <p:cNvSpPr txBox="1"/>
          <p:nvPr/>
        </p:nvSpPr>
        <p:spPr>
          <a:xfrm>
            <a:off x="334296" y="4493793"/>
            <a:ext cx="5919019" cy="1200329"/>
          </a:xfrm>
          <a:prstGeom prst="rect">
            <a:avLst/>
          </a:prstGeom>
          <a:noFill/>
        </p:spPr>
        <p:txBody>
          <a:bodyPr wrap="square" rtlCol="0">
            <a:spAutoFit/>
          </a:bodyPr>
          <a:lstStyle/>
          <a:p>
            <a:r>
              <a:rPr lang="en-US" altLang="zh-TW" sz="2400" dirty="0" smtClean="0">
                <a:solidFill>
                  <a:srgbClr val="00B0F0"/>
                </a:solidFill>
              </a:rPr>
              <a:t>Solve (or get the approximate solution) the equation using least square method to get parameters </a:t>
            </a:r>
            <a:r>
              <a:rPr lang="en-US" altLang="zh-TW" sz="2400" u="sng" dirty="0" smtClean="0">
                <a:solidFill>
                  <a:srgbClr val="00B0F0"/>
                </a:solidFill>
              </a:rPr>
              <a:t>a, b, c, d</a:t>
            </a:r>
            <a:r>
              <a:rPr lang="en-US" altLang="zh-TW" sz="2400" dirty="0" smtClean="0">
                <a:solidFill>
                  <a:srgbClr val="00B0F0"/>
                </a:solidFill>
              </a:rPr>
              <a:t>.</a:t>
            </a:r>
            <a:endParaRPr lang="zh-TW" altLang="en-US" sz="2400" dirty="0">
              <a:solidFill>
                <a:srgbClr val="00B0F0"/>
              </a:solidFill>
            </a:endParaRPr>
          </a:p>
        </p:txBody>
      </p:sp>
    </p:spTree>
    <p:extLst>
      <p:ext uri="{BB962C8B-B14F-4D97-AF65-F5344CB8AC3E}">
        <p14:creationId xmlns:p14="http://schemas.microsoft.com/office/powerpoint/2010/main" xmlns="" val="2787994657"/>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Heuristic moment </a:t>
            </a:r>
            <a:r>
              <a:rPr lang="en-US" altLang="zh-TW" dirty="0" smtClean="0"/>
              <a:t>matching </a:t>
            </a:r>
            <a:r>
              <a:rPr lang="en-US" altLang="zh-TW" dirty="0"/>
              <a:t>[</a:t>
            </a:r>
            <a:r>
              <a:rPr lang="en-US" altLang="zh-TW" sz="3200" dirty="0" err="1"/>
              <a:t>Hoyland</a:t>
            </a:r>
            <a:r>
              <a:rPr lang="en-US" altLang="zh-TW" sz="3200" dirty="0"/>
              <a:t> </a:t>
            </a:r>
            <a:r>
              <a:rPr lang="en-US" altLang="zh-TW" sz="3200" i="1" dirty="0"/>
              <a:t>et al.</a:t>
            </a:r>
            <a:r>
              <a:rPr lang="en-US" altLang="zh-TW" sz="3200" dirty="0"/>
              <a:t>, 2003]</a:t>
            </a:r>
            <a:endParaRPr lang="zh-TW" altLang="en-US" sz="3200"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393290" y="1825625"/>
                <a:ext cx="11468152" cy="4351338"/>
              </a:xfrm>
            </p:spPr>
            <p:txBody>
              <a:bodyPr/>
              <a:lstStyle/>
              <a:p>
                <a:r>
                  <a:rPr lang="en-US" altLang="zh-TW" dirty="0" smtClean="0"/>
                  <a:t>2. </a:t>
                </a:r>
                <a:r>
                  <a:rPr lang="en-US" altLang="zh-TW" dirty="0" err="1" smtClean="0">
                    <a:solidFill>
                      <a:srgbClr val="FF0000"/>
                    </a:solidFill>
                  </a:rPr>
                  <a:t>Cholesky</a:t>
                </a:r>
                <a:r>
                  <a:rPr lang="en-US" altLang="zh-TW" dirty="0" smtClean="0">
                    <a:solidFill>
                      <a:srgbClr val="FF0000"/>
                    </a:solidFill>
                  </a:rPr>
                  <a:t> decomposition (wrong statistics, but correct correlation matrix)</a:t>
                </a:r>
              </a:p>
              <a:p>
                <a:r>
                  <a:rPr lang="en-US" altLang="zh-TW" dirty="0" smtClean="0"/>
                  <a:t>Target correlation </a:t>
                </a:r>
                <a14:m>
                  <m:oMath xmlns:m="http://schemas.openxmlformats.org/officeDocument/2006/math">
                    <m:r>
                      <a:rPr lang="en-US" altLang="zh-TW" b="0" i="1" smtClean="0">
                        <a:latin typeface="Cambria Math"/>
                      </a:rPr>
                      <m:t>𝑅</m:t>
                    </m:r>
                    <m:r>
                      <a:rPr lang="en-US" altLang="zh-TW" b="0" i="1" smtClean="0">
                        <a:latin typeface="Cambria Math"/>
                      </a:rPr>
                      <m:t>=</m:t>
                    </m:r>
                    <m:r>
                      <a:rPr lang="en-US" altLang="zh-TW" b="0" i="1" smtClean="0">
                        <a:latin typeface="Cambria Math"/>
                      </a:rPr>
                      <m:t>𝐿</m:t>
                    </m:r>
                    <m:sSup>
                      <m:sSupPr>
                        <m:ctrlPr>
                          <a:rPr lang="en-US" altLang="zh-TW" b="0" i="1" smtClean="0">
                            <a:latin typeface="Cambria Math" panose="02040503050406030204" pitchFamily="18" charset="0"/>
                          </a:rPr>
                        </m:ctrlPr>
                      </m:sSupPr>
                      <m:e>
                        <m:r>
                          <a:rPr lang="en-US" altLang="zh-TW" b="0" i="1" smtClean="0">
                            <a:latin typeface="Cambria Math"/>
                          </a:rPr>
                          <m:t>𝐿</m:t>
                        </m:r>
                      </m:e>
                      <m:sup>
                        <m:r>
                          <a:rPr lang="en-US" altLang="zh-TW" b="0" i="1" smtClean="0">
                            <a:latin typeface="Cambria Math"/>
                          </a:rPr>
                          <m:t>𝑇</m:t>
                        </m:r>
                      </m:sup>
                    </m:sSup>
                  </m:oMath>
                </a14:m>
                <a:endParaRPr lang="en-US" altLang="zh-TW" dirty="0" smtClean="0"/>
              </a:p>
              <a:p>
                <a:r>
                  <a:rPr lang="en-US" altLang="zh-TW" dirty="0" smtClean="0"/>
                  <a:t>Current sample correlation matrix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a:rPr>
                          <m:t>𝑅</m:t>
                        </m:r>
                      </m:e>
                      <m:sub>
                        <m:r>
                          <a:rPr lang="en-US" altLang="zh-TW" b="0" i="1" smtClean="0">
                            <a:latin typeface="Cambria Math"/>
                          </a:rPr>
                          <m:t>𝑝</m:t>
                        </m:r>
                      </m:sub>
                    </m:sSub>
                    <m:r>
                      <a:rPr lang="en-US" altLang="zh-TW" b="0" i="1" smtClean="0">
                        <a:latin typeface="Cambria Math"/>
                      </a:rPr>
                      <m:t>=</m:t>
                    </m:r>
                    <m:sSub>
                      <m:sSubPr>
                        <m:ctrlPr>
                          <a:rPr lang="en-US" altLang="zh-TW" b="0" i="1" smtClean="0">
                            <a:latin typeface="Cambria Math" panose="02040503050406030204" pitchFamily="18" charset="0"/>
                          </a:rPr>
                        </m:ctrlPr>
                      </m:sSubPr>
                      <m:e>
                        <m:r>
                          <a:rPr lang="en-US" altLang="zh-TW" b="0" i="1" smtClean="0">
                            <a:latin typeface="Cambria Math"/>
                          </a:rPr>
                          <m:t>𝐿</m:t>
                        </m:r>
                      </m:e>
                      <m:sub>
                        <m:r>
                          <a:rPr lang="en-US" altLang="zh-TW" b="0" i="1" smtClean="0">
                            <a:latin typeface="Cambria Math"/>
                          </a:rPr>
                          <m:t>𝑝</m:t>
                        </m:r>
                      </m:sub>
                    </m:sSub>
                    <m:sSubSup>
                      <m:sSubSupPr>
                        <m:ctrlPr>
                          <a:rPr lang="en-US" altLang="zh-TW" b="0" i="1" smtClean="0">
                            <a:latin typeface="Cambria Math" panose="02040503050406030204" pitchFamily="18" charset="0"/>
                          </a:rPr>
                        </m:ctrlPr>
                      </m:sSubSupPr>
                      <m:e>
                        <m:r>
                          <a:rPr lang="en-US" altLang="zh-TW" b="0" i="1" smtClean="0">
                            <a:latin typeface="Cambria Math"/>
                          </a:rPr>
                          <m:t>𝐿</m:t>
                        </m:r>
                      </m:e>
                      <m:sub>
                        <m:r>
                          <a:rPr lang="en-US" altLang="zh-TW" b="0" i="1" smtClean="0">
                            <a:latin typeface="Cambria Math"/>
                          </a:rPr>
                          <m:t>𝑝</m:t>
                        </m:r>
                      </m:sub>
                      <m:sup>
                        <m:r>
                          <a:rPr lang="en-US" altLang="zh-TW" b="0" i="1" smtClean="0">
                            <a:latin typeface="Cambria Math"/>
                          </a:rPr>
                          <m:t>𝑇</m:t>
                        </m:r>
                      </m:sup>
                    </m:sSubSup>
                  </m:oMath>
                </a14:m>
                <a:endParaRPr lang="en-US" altLang="zh-TW" dirty="0" smtClean="0"/>
              </a:p>
              <a:p>
                <a:r>
                  <a:rPr lang="en-US" altLang="zh-TW" dirty="0" smtClean="0"/>
                  <a:t>Get the inverse down triangle matrix </a:t>
                </a:r>
                <a14:m>
                  <m:oMath xmlns:m="http://schemas.openxmlformats.org/officeDocument/2006/math">
                    <m:sSubSup>
                      <m:sSubSupPr>
                        <m:ctrlPr>
                          <a:rPr lang="en-US" altLang="zh-TW" b="0" i="1" smtClean="0">
                            <a:latin typeface="Cambria Math" panose="02040503050406030204" pitchFamily="18" charset="0"/>
                          </a:rPr>
                        </m:ctrlPr>
                      </m:sSubSupPr>
                      <m:e>
                        <m:r>
                          <a:rPr lang="en-US" altLang="zh-TW" b="0" i="1" smtClean="0">
                            <a:latin typeface="Cambria Math"/>
                          </a:rPr>
                          <m:t>𝐿</m:t>
                        </m:r>
                      </m:e>
                      <m:sub>
                        <m:r>
                          <a:rPr lang="en-US" altLang="zh-TW" b="0" i="1" smtClean="0">
                            <a:latin typeface="Cambria Math"/>
                          </a:rPr>
                          <m:t>𝑝</m:t>
                        </m:r>
                      </m:sub>
                      <m:sup>
                        <m:r>
                          <a:rPr lang="en-US" altLang="zh-TW" b="0" i="1" smtClean="0">
                            <a:latin typeface="Cambria Math"/>
                          </a:rPr>
                          <m:t>−1</m:t>
                        </m:r>
                      </m:sup>
                    </m:sSubSup>
                  </m:oMath>
                </a14:m>
                <a:endParaRPr lang="en-US" altLang="zh-TW" dirty="0" smtClean="0"/>
              </a:p>
              <a:p>
                <a:r>
                  <a:rPr lang="en-US" altLang="zh-TW" dirty="0" smtClean="0">
                    <a:solidFill>
                      <a:srgbClr val="00B0F0"/>
                    </a:solidFill>
                  </a:rPr>
                  <a:t>New sampling data </a:t>
                </a:r>
                <a14:m>
                  <m:oMath xmlns:m="http://schemas.openxmlformats.org/officeDocument/2006/math">
                    <m:sSubSup>
                      <m:sSubSupPr>
                        <m:ctrlPr>
                          <a:rPr lang="en-US" altLang="zh-TW" b="0" i="1" smtClean="0">
                            <a:solidFill>
                              <a:srgbClr val="00B0F0"/>
                            </a:solidFill>
                            <a:latin typeface="Cambria Math" panose="02040503050406030204" pitchFamily="18" charset="0"/>
                          </a:rPr>
                        </m:ctrlPr>
                      </m:sSubSupPr>
                      <m:e>
                        <m:r>
                          <a:rPr lang="en-US" altLang="zh-TW" b="0" i="1" smtClean="0">
                            <a:solidFill>
                              <a:srgbClr val="00B0F0"/>
                            </a:solidFill>
                            <a:latin typeface="Cambria Math"/>
                          </a:rPr>
                          <m:t>𝑦</m:t>
                        </m:r>
                      </m:e>
                      <m:sub>
                        <m:r>
                          <a:rPr lang="en-US" altLang="zh-TW" b="0" i="1" smtClean="0">
                            <a:solidFill>
                              <a:srgbClr val="00B0F0"/>
                            </a:solidFill>
                            <a:latin typeface="Cambria Math"/>
                          </a:rPr>
                          <m:t>𝑝</m:t>
                        </m:r>
                      </m:sub>
                      <m:sup>
                        <m:r>
                          <a:rPr lang="en-US" altLang="zh-TW" b="0" i="1" smtClean="0">
                            <a:solidFill>
                              <a:srgbClr val="00B0F0"/>
                            </a:solidFill>
                            <a:latin typeface="Cambria Math"/>
                          </a:rPr>
                          <m:t>∗</m:t>
                        </m:r>
                      </m:sup>
                    </m:sSubSup>
                    <m:r>
                      <a:rPr lang="en-US" altLang="zh-TW" b="0" i="1" smtClean="0">
                        <a:solidFill>
                          <a:srgbClr val="00B0F0"/>
                        </a:solidFill>
                        <a:latin typeface="Cambria Math"/>
                      </a:rPr>
                      <m:t>=</m:t>
                    </m:r>
                    <m:r>
                      <a:rPr lang="en-US" altLang="zh-TW" b="0" i="1" smtClean="0">
                        <a:solidFill>
                          <a:srgbClr val="00B0F0"/>
                        </a:solidFill>
                        <a:latin typeface="Cambria Math"/>
                      </a:rPr>
                      <m:t>𝐿</m:t>
                    </m:r>
                    <m:sSubSup>
                      <m:sSubSupPr>
                        <m:ctrlPr>
                          <a:rPr lang="en-US" altLang="zh-TW" b="0" i="1" smtClean="0">
                            <a:solidFill>
                              <a:srgbClr val="00B0F0"/>
                            </a:solidFill>
                            <a:latin typeface="Cambria Math" panose="02040503050406030204" pitchFamily="18" charset="0"/>
                          </a:rPr>
                        </m:ctrlPr>
                      </m:sSubSupPr>
                      <m:e>
                        <m:r>
                          <a:rPr lang="en-US" altLang="zh-TW" b="0" i="1" smtClean="0">
                            <a:solidFill>
                              <a:srgbClr val="00B0F0"/>
                            </a:solidFill>
                            <a:latin typeface="Cambria Math"/>
                          </a:rPr>
                          <m:t>𝐿</m:t>
                        </m:r>
                      </m:e>
                      <m:sub>
                        <m:r>
                          <a:rPr lang="en-US" altLang="zh-TW" b="0" i="1" smtClean="0">
                            <a:solidFill>
                              <a:srgbClr val="00B0F0"/>
                            </a:solidFill>
                            <a:latin typeface="Cambria Math"/>
                          </a:rPr>
                          <m:t>𝑃</m:t>
                        </m:r>
                      </m:sub>
                      <m:sup>
                        <m:r>
                          <a:rPr lang="en-US" altLang="zh-TW" b="0" i="1" smtClean="0">
                            <a:solidFill>
                              <a:srgbClr val="00B0F0"/>
                            </a:solidFill>
                            <a:latin typeface="Cambria Math"/>
                          </a:rPr>
                          <m:t>−1</m:t>
                        </m:r>
                      </m:sup>
                    </m:sSubSup>
                    <m:sSub>
                      <m:sSubPr>
                        <m:ctrlPr>
                          <a:rPr lang="en-US" altLang="zh-TW" b="0" i="1" smtClean="0">
                            <a:solidFill>
                              <a:srgbClr val="00B0F0"/>
                            </a:solidFill>
                            <a:latin typeface="Cambria Math" panose="02040503050406030204" pitchFamily="18" charset="0"/>
                          </a:rPr>
                        </m:ctrlPr>
                      </m:sSubPr>
                      <m:e>
                        <m:r>
                          <a:rPr lang="en-US" altLang="zh-TW" b="0" i="1" smtClean="0">
                            <a:solidFill>
                              <a:srgbClr val="00B0F0"/>
                            </a:solidFill>
                            <a:latin typeface="Cambria Math"/>
                          </a:rPr>
                          <m:t>𝑦</m:t>
                        </m:r>
                      </m:e>
                      <m:sub>
                        <m:r>
                          <a:rPr lang="en-US" altLang="zh-TW" b="0" i="1" smtClean="0">
                            <a:solidFill>
                              <a:srgbClr val="00B0F0"/>
                            </a:solidFill>
                            <a:latin typeface="Cambria Math"/>
                          </a:rPr>
                          <m:t>𝑝</m:t>
                        </m:r>
                      </m:sub>
                    </m:sSub>
                  </m:oMath>
                </a14:m>
                <a:endParaRPr lang="en-US" altLang="zh-TW" dirty="0" smtClean="0">
                  <a:solidFill>
                    <a:srgbClr val="00B0F0"/>
                  </a:solidFill>
                </a:endParaRPr>
              </a:p>
              <a:p>
                <a:endParaRPr lang="en-US" altLang="zh-TW" b="0" i="1" dirty="0" smtClean="0">
                  <a:solidFill>
                    <a:srgbClr val="00B0F0"/>
                  </a:solidFill>
                  <a:latin typeface="Cambria Math" panose="02040503050406030204" pitchFamily="18" charset="0"/>
                </a:endParaRPr>
              </a:p>
              <a:p>
                <a14:m>
                  <m:oMath xmlns:m="http://schemas.openxmlformats.org/officeDocument/2006/math">
                    <m:r>
                      <a:rPr lang="en-US" altLang="zh-TW" b="0" i="1" smtClean="0">
                        <a:solidFill>
                          <a:srgbClr val="00B050"/>
                        </a:solidFill>
                        <a:latin typeface="Cambria Math" panose="02040503050406030204" pitchFamily="18" charset="0"/>
                      </a:rPr>
                      <m:t>𝑅</m:t>
                    </m:r>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𝐿</m:t>
                    </m:r>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𝐿</m:t>
                        </m:r>
                      </m:e>
                      <m:sup>
                        <m:r>
                          <a:rPr lang="en-US" altLang="zh-TW" b="0" i="1" smtClean="0">
                            <a:solidFill>
                              <a:srgbClr val="00B050"/>
                            </a:solidFill>
                            <a:latin typeface="Cambria Math" panose="02040503050406030204" pitchFamily="18" charset="0"/>
                          </a:rPr>
                          <m:t>𝑇</m:t>
                        </m:r>
                      </m:sup>
                    </m:sSup>
                  </m:oMath>
                </a14:m>
                <a:r>
                  <a:rPr lang="zh-TW" altLang="en-US" dirty="0" smtClean="0">
                    <a:solidFill>
                      <a:srgbClr val="00B050"/>
                    </a:solidFill>
                  </a:rPr>
                  <a:t/>
                </a:r>
                <a:r>
                  <a:rPr lang="en-US" altLang="zh-TW" dirty="0" smtClean="0">
                    <a:solidFill>
                      <a:srgbClr val="00B050"/>
                    </a:solidFill>
                  </a:rPr>
                  <a:t>let samples </a:t>
                </a:r>
                <a14:m>
                  <m:oMath xmlns:m="http://schemas.openxmlformats.org/officeDocument/2006/math">
                    <m:r>
                      <a:rPr lang="en-US" altLang="zh-TW" b="0" i="1" smtClean="0">
                        <a:solidFill>
                          <a:srgbClr val="00B050"/>
                        </a:solidFill>
                        <a:latin typeface="Cambria Math" panose="02040503050406030204" pitchFamily="18" charset="0"/>
                      </a:rPr>
                      <m:t>𝐸</m:t>
                    </m:r>
                    <m:d>
                      <m:dPr>
                        <m:ctrlPr>
                          <a:rPr lang="en-US" altLang="zh-TW" b="0" i="1" smtClean="0">
                            <a:solidFill>
                              <a:srgbClr val="00B050"/>
                            </a:solidFill>
                            <a:latin typeface="Cambria Math" panose="02040503050406030204" pitchFamily="18" charset="0"/>
                          </a:rPr>
                        </m:ctrlPr>
                      </m:dPr>
                      <m:e>
                        <m:r>
                          <a:rPr lang="en-US" altLang="zh-TW" b="0" i="1" smtClean="0">
                            <a:solidFill>
                              <a:srgbClr val="00B050"/>
                            </a:solidFill>
                            <a:latin typeface="Cambria Math" panose="02040503050406030204" pitchFamily="18" charset="0"/>
                          </a:rPr>
                          <m:t>𝑋</m:t>
                        </m:r>
                      </m:e>
                    </m:d>
                    <m:r>
                      <a:rPr lang="en-US" altLang="zh-TW" b="0" i="1" smtClean="0">
                        <a:solidFill>
                          <a:srgbClr val="00B050"/>
                        </a:solidFill>
                        <a:latin typeface="Cambria Math" panose="02040503050406030204" pitchFamily="18" charset="0"/>
                      </a:rPr>
                      <m:t>=0, </m:t>
                    </m:r>
                    <m:r>
                      <a:rPr lang="en-US" altLang="zh-TW" b="0" i="1" smtClean="0">
                        <a:solidFill>
                          <a:srgbClr val="00B050"/>
                        </a:solidFill>
                        <a:latin typeface="Cambria Math" panose="02040503050406030204" pitchFamily="18" charset="0"/>
                      </a:rPr>
                      <m:t>𝐸</m:t>
                    </m:r>
                    <m:d>
                      <m:dPr>
                        <m:ctrlPr>
                          <a:rPr lang="en-US" altLang="zh-TW" b="0" i="1" smtClean="0">
                            <a:solidFill>
                              <a:srgbClr val="00B050"/>
                            </a:solidFill>
                            <a:latin typeface="Cambria Math" panose="02040503050406030204" pitchFamily="18" charset="0"/>
                          </a:rPr>
                        </m:ctrlPr>
                      </m:dPr>
                      <m:e>
                        <m:r>
                          <a:rPr lang="en-US" altLang="zh-TW" b="0" i="1" smtClean="0">
                            <a:solidFill>
                              <a:srgbClr val="00B050"/>
                            </a:solidFill>
                            <a:latin typeface="Cambria Math" panose="02040503050406030204" pitchFamily="18" charset="0"/>
                          </a:rPr>
                          <m:t>𝑋</m:t>
                        </m:r>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𝑋</m:t>
                            </m:r>
                          </m:e>
                          <m:sup>
                            <m:r>
                              <a:rPr lang="en-US" altLang="zh-TW" b="0" i="1" smtClean="0">
                                <a:solidFill>
                                  <a:srgbClr val="00B050"/>
                                </a:solidFill>
                                <a:latin typeface="Cambria Math" panose="02040503050406030204" pitchFamily="18" charset="0"/>
                              </a:rPr>
                              <m:t>𝑇</m:t>
                            </m:r>
                          </m:sup>
                        </m:sSup>
                      </m:e>
                    </m:d>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𝐼</m:t>
                    </m:r>
                    <m:r>
                      <a:rPr lang="en-US" altLang="zh-TW" b="0" i="1" smtClean="0">
                        <a:solidFill>
                          <a:srgbClr val="00B050"/>
                        </a:solidFill>
                        <a:latin typeface="Cambria Math" panose="02040503050406030204" pitchFamily="18" charset="0"/>
                      </a:rPr>
                      <m:t>, </m:t>
                    </m:r>
                    <m:r>
                      <a:rPr lang="en-US" altLang="zh-TW" b="0" i="1" smtClean="0">
                        <a:solidFill>
                          <a:srgbClr val="00B050"/>
                        </a:solidFill>
                        <a:latin typeface="Cambria Math" panose="02040503050406030204" pitchFamily="18" charset="0"/>
                      </a:rPr>
                      <m:t>𝑌</m:t>
                    </m:r>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𝐿𝑋</m:t>
                    </m:r>
                  </m:oMath>
                </a14:m>
                <a:r>
                  <a:rPr lang="en-US" altLang="zh-TW" b="0" dirty="0" smtClean="0">
                    <a:solidFill>
                      <a:srgbClr val="00B050"/>
                    </a:solidFill>
                  </a:rPr>
                  <a:t>,</a:t>
                </a:r>
              </a:p>
              <a:p>
                <a14:m>
                  <m:oMath xmlns:m="http://schemas.openxmlformats.org/officeDocument/2006/math">
                    <m:r>
                      <a:rPr lang="en-US" altLang="zh-TW" b="0" i="1" smtClean="0">
                        <a:solidFill>
                          <a:srgbClr val="00B050"/>
                        </a:solidFill>
                        <a:latin typeface="Cambria Math" panose="02040503050406030204" pitchFamily="18" charset="0"/>
                      </a:rPr>
                      <m:t>𝐸</m:t>
                    </m:r>
                    <m:d>
                      <m:dPr>
                        <m:ctrlPr>
                          <a:rPr lang="en-US" altLang="zh-TW" b="0" i="1" smtClean="0">
                            <a:solidFill>
                              <a:srgbClr val="00B050"/>
                            </a:solidFill>
                            <a:latin typeface="Cambria Math" panose="02040503050406030204" pitchFamily="18" charset="0"/>
                          </a:rPr>
                        </m:ctrlPr>
                      </m:dPr>
                      <m:e>
                        <m:r>
                          <a:rPr lang="en-US" altLang="zh-TW" b="0" i="1" smtClean="0">
                            <a:solidFill>
                              <a:srgbClr val="00B050"/>
                            </a:solidFill>
                            <a:latin typeface="Cambria Math" panose="02040503050406030204" pitchFamily="18" charset="0"/>
                          </a:rPr>
                          <m:t>𝑌</m:t>
                        </m:r>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𝑌</m:t>
                            </m:r>
                          </m:e>
                          <m:sup>
                            <m:r>
                              <a:rPr lang="en-US" altLang="zh-TW" b="0" i="1" smtClean="0">
                                <a:solidFill>
                                  <a:srgbClr val="00B050"/>
                                </a:solidFill>
                                <a:latin typeface="Cambria Math" panose="02040503050406030204" pitchFamily="18" charset="0"/>
                              </a:rPr>
                              <m:t>𝑇</m:t>
                            </m:r>
                          </m:sup>
                        </m:sSup>
                      </m:e>
                    </m:d>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𝐸</m:t>
                    </m:r>
                    <m:d>
                      <m:dPr>
                        <m:ctrlPr>
                          <a:rPr lang="en-US" altLang="zh-TW" b="0" i="1" smtClean="0">
                            <a:solidFill>
                              <a:srgbClr val="00B050"/>
                            </a:solidFill>
                            <a:latin typeface="Cambria Math" panose="02040503050406030204" pitchFamily="18" charset="0"/>
                          </a:rPr>
                        </m:ctrlPr>
                      </m:dPr>
                      <m:e>
                        <m:d>
                          <m:dPr>
                            <m:ctrlPr>
                              <a:rPr lang="en-US" altLang="zh-TW" b="0" i="1" smtClean="0">
                                <a:solidFill>
                                  <a:srgbClr val="00B050"/>
                                </a:solidFill>
                                <a:latin typeface="Cambria Math" panose="02040503050406030204" pitchFamily="18" charset="0"/>
                              </a:rPr>
                            </m:ctrlPr>
                          </m:dPr>
                          <m:e>
                            <m:r>
                              <a:rPr lang="en-US" altLang="zh-TW" b="0" i="1" smtClean="0">
                                <a:solidFill>
                                  <a:srgbClr val="00B050"/>
                                </a:solidFill>
                                <a:latin typeface="Cambria Math" panose="02040503050406030204" pitchFamily="18" charset="0"/>
                              </a:rPr>
                              <m:t>𝐿𝑋</m:t>
                            </m:r>
                          </m:e>
                        </m:d>
                        <m:sSup>
                          <m:sSupPr>
                            <m:ctrlPr>
                              <a:rPr lang="en-US" altLang="zh-TW" b="0" i="1" smtClean="0">
                                <a:solidFill>
                                  <a:srgbClr val="00B050"/>
                                </a:solidFill>
                                <a:latin typeface="Cambria Math" panose="02040503050406030204" pitchFamily="18" charset="0"/>
                              </a:rPr>
                            </m:ctrlPr>
                          </m:sSupPr>
                          <m:e>
                            <m:d>
                              <m:dPr>
                                <m:ctrlPr>
                                  <a:rPr lang="en-US" altLang="zh-TW" b="0" i="1" smtClean="0">
                                    <a:solidFill>
                                      <a:srgbClr val="00B050"/>
                                    </a:solidFill>
                                    <a:latin typeface="Cambria Math" panose="02040503050406030204" pitchFamily="18" charset="0"/>
                                  </a:rPr>
                                </m:ctrlPr>
                              </m:dPr>
                              <m:e>
                                <m:r>
                                  <a:rPr lang="en-US" altLang="zh-TW" b="0" i="1" smtClean="0">
                                    <a:solidFill>
                                      <a:srgbClr val="00B050"/>
                                    </a:solidFill>
                                    <a:latin typeface="Cambria Math" panose="02040503050406030204" pitchFamily="18" charset="0"/>
                                  </a:rPr>
                                  <m:t>𝐿𝑋</m:t>
                                </m:r>
                              </m:e>
                            </m:d>
                          </m:e>
                          <m:sup>
                            <m:r>
                              <a:rPr lang="en-US" altLang="zh-TW" b="0" i="1" smtClean="0">
                                <a:solidFill>
                                  <a:srgbClr val="00B050"/>
                                </a:solidFill>
                                <a:latin typeface="Cambria Math" panose="02040503050406030204" pitchFamily="18" charset="0"/>
                              </a:rPr>
                              <m:t>𝑇</m:t>
                            </m:r>
                          </m:sup>
                        </m:sSup>
                      </m:e>
                    </m:d>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𝐸</m:t>
                    </m:r>
                    <m:d>
                      <m:dPr>
                        <m:ctrlPr>
                          <a:rPr lang="en-US" altLang="zh-TW" b="0" i="1" smtClean="0">
                            <a:solidFill>
                              <a:srgbClr val="00B050"/>
                            </a:solidFill>
                            <a:latin typeface="Cambria Math" panose="02040503050406030204" pitchFamily="18" charset="0"/>
                          </a:rPr>
                        </m:ctrlPr>
                      </m:dPr>
                      <m:e>
                        <m:r>
                          <a:rPr lang="en-US" altLang="zh-TW" b="0" i="1" smtClean="0">
                            <a:solidFill>
                              <a:srgbClr val="00B050"/>
                            </a:solidFill>
                            <a:latin typeface="Cambria Math" panose="02040503050406030204" pitchFamily="18" charset="0"/>
                          </a:rPr>
                          <m:t>𝐿𝑋</m:t>
                        </m:r>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𝑋</m:t>
                            </m:r>
                          </m:e>
                          <m:sup>
                            <m:r>
                              <a:rPr lang="en-US" altLang="zh-TW" b="0" i="1" smtClean="0">
                                <a:solidFill>
                                  <a:srgbClr val="00B050"/>
                                </a:solidFill>
                                <a:latin typeface="Cambria Math" panose="02040503050406030204" pitchFamily="18" charset="0"/>
                              </a:rPr>
                              <m:t>𝑇</m:t>
                            </m:r>
                          </m:sup>
                        </m:sSup>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𝐿</m:t>
                            </m:r>
                          </m:e>
                          <m:sup>
                            <m:r>
                              <a:rPr lang="en-US" altLang="zh-TW" b="0" i="1" smtClean="0">
                                <a:solidFill>
                                  <a:srgbClr val="00B050"/>
                                </a:solidFill>
                                <a:latin typeface="Cambria Math" panose="02040503050406030204" pitchFamily="18" charset="0"/>
                              </a:rPr>
                              <m:t>𝑇</m:t>
                            </m:r>
                          </m:sup>
                        </m:sSup>
                      </m:e>
                    </m:d>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𝐿𝐸</m:t>
                    </m:r>
                    <m:d>
                      <m:dPr>
                        <m:ctrlPr>
                          <a:rPr lang="en-US" altLang="zh-TW" b="0" i="1" smtClean="0">
                            <a:solidFill>
                              <a:srgbClr val="00B050"/>
                            </a:solidFill>
                            <a:latin typeface="Cambria Math" panose="02040503050406030204" pitchFamily="18" charset="0"/>
                          </a:rPr>
                        </m:ctrlPr>
                      </m:dPr>
                      <m:e>
                        <m:r>
                          <a:rPr lang="en-US" altLang="zh-TW" b="0" i="1" smtClean="0">
                            <a:solidFill>
                              <a:srgbClr val="00B050"/>
                            </a:solidFill>
                            <a:latin typeface="Cambria Math" panose="02040503050406030204" pitchFamily="18" charset="0"/>
                          </a:rPr>
                          <m:t>𝑋</m:t>
                        </m:r>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𝑋</m:t>
                            </m:r>
                          </m:e>
                          <m:sup>
                            <m:r>
                              <a:rPr lang="en-US" altLang="zh-TW" b="0" i="1" smtClean="0">
                                <a:solidFill>
                                  <a:srgbClr val="00B050"/>
                                </a:solidFill>
                                <a:latin typeface="Cambria Math" panose="02040503050406030204" pitchFamily="18" charset="0"/>
                              </a:rPr>
                              <m:t>𝑇</m:t>
                            </m:r>
                          </m:sup>
                        </m:sSup>
                      </m:e>
                    </m:d>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𝐿</m:t>
                        </m:r>
                      </m:e>
                      <m:sup>
                        <m:r>
                          <a:rPr lang="en-US" altLang="zh-TW" b="0" i="1" smtClean="0">
                            <a:solidFill>
                              <a:srgbClr val="00B050"/>
                            </a:solidFill>
                            <a:latin typeface="Cambria Math" panose="02040503050406030204" pitchFamily="18" charset="0"/>
                          </a:rPr>
                          <m:t>𝑇</m:t>
                        </m:r>
                      </m:sup>
                    </m:sSup>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𝐿𝐼𝐿</m:t>
                    </m:r>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𝐿</m:t>
                    </m:r>
                    <m:sSup>
                      <m:sSupPr>
                        <m:ctrlPr>
                          <a:rPr lang="en-US" altLang="zh-TW" b="0" i="1" smtClean="0">
                            <a:solidFill>
                              <a:srgbClr val="00B050"/>
                            </a:solidFill>
                            <a:latin typeface="Cambria Math" panose="02040503050406030204" pitchFamily="18" charset="0"/>
                          </a:rPr>
                        </m:ctrlPr>
                      </m:sSupPr>
                      <m:e>
                        <m:r>
                          <a:rPr lang="en-US" altLang="zh-TW" b="0" i="1" smtClean="0">
                            <a:solidFill>
                              <a:srgbClr val="00B050"/>
                            </a:solidFill>
                            <a:latin typeface="Cambria Math" panose="02040503050406030204" pitchFamily="18" charset="0"/>
                          </a:rPr>
                          <m:t>𝐿</m:t>
                        </m:r>
                      </m:e>
                      <m:sup>
                        <m:r>
                          <a:rPr lang="en-US" altLang="zh-TW" b="0" i="1" smtClean="0">
                            <a:solidFill>
                              <a:srgbClr val="00B050"/>
                            </a:solidFill>
                            <a:latin typeface="Cambria Math" panose="02040503050406030204" pitchFamily="18" charset="0"/>
                          </a:rPr>
                          <m:t>𝑇</m:t>
                        </m:r>
                      </m:sup>
                    </m:sSup>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𝑅</m:t>
                    </m:r>
                  </m:oMath>
                </a14:m>
                <a:endParaRPr lang="zh-TW" altLang="en-US" dirty="0">
                  <a:solidFill>
                    <a:srgbClr val="00B050"/>
                  </a:solidFill>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393290" y="1825625"/>
                <a:ext cx="11468152" cy="4351338"/>
              </a:xfrm>
              <a:blipFill rotWithShape="0">
                <a:blip r:embed="rId2"/>
                <a:stretch>
                  <a:fillRect l="-957" t="-22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56E38F8E-F105-4395-BB51-B47D06FD7340}" type="slidenum">
              <a:rPr lang="zh-TW" altLang="en-US" smtClean="0"/>
              <a:pPr/>
              <a:t>14</a:t>
            </a:fld>
            <a:endParaRPr lang="zh-TW" altLang="en-US"/>
          </a:p>
        </p:txBody>
      </p:sp>
    </p:spTree>
    <p:extLst>
      <p:ext uri="{BB962C8B-B14F-4D97-AF65-F5344CB8AC3E}">
        <p14:creationId xmlns:p14="http://schemas.microsoft.com/office/powerpoint/2010/main" xmlns="" val="1183636850"/>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59542" y="235048"/>
            <a:ext cx="10515600" cy="1325563"/>
          </a:xfrm>
        </p:spPr>
        <p:txBody>
          <a:bodyPr/>
          <a:lstStyle/>
          <a:p>
            <a:r>
              <a:rPr lang="en-US" altLang="zh-TW" dirty="0" smtClean="0"/>
              <a:t>Conditional value at risk (</a:t>
            </a:r>
            <a:r>
              <a:rPr lang="en-US" altLang="zh-TW" dirty="0" err="1" smtClean="0"/>
              <a:t>CVaR</a:t>
            </a:r>
            <a:r>
              <a:rPr lang="en-US" altLang="zh-TW" dirty="0" smtClean="0"/>
              <a:t>)</a:t>
            </a:r>
            <a:endParaRPr lang="zh-TW" altLang="en-US" dirty="0"/>
          </a:p>
        </p:txBody>
      </p:sp>
      <p:pic>
        <p:nvPicPr>
          <p:cNvPr id="7" name="圖片 6"/>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421928" y="2010581"/>
            <a:ext cx="4481991" cy="3042519"/>
          </a:xfrm>
          <a:prstGeom prst="rect">
            <a:avLst/>
          </a:prstGeom>
        </p:spPr>
      </p:pic>
      <mc:AlternateContent xmlns:mc="http://schemas.openxmlformats.org/markup-compatibility/2006">
        <mc:Choice xmlns:a14="http://schemas.microsoft.com/office/drawing/2010/main" xmlns="" Requires="a14">
          <p:sp>
            <p:nvSpPr>
              <p:cNvPr id="3" name="文字方塊 2"/>
              <p:cNvSpPr txBox="1"/>
              <p:nvPr/>
            </p:nvSpPr>
            <p:spPr>
              <a:xfrm>
                <a:off x="98320" y="1560611"/>
                <a:ext cx="7959144" cy="5236049"/>
              </a:xfrm>
              <a:prstGeom prst="rect">
                <a:avLst/>
              </a:prstGeom>
              <a:noFill/>
            </p:spPr>
            <p:txBody>
              <a:bodyPr wrap="square" rtlCol="0">
                <a:spAutoFit/>
              </a:bodyPr>
              <a:lstStyle/>
              <a:p>
                <a:pPr marL="457200" indent="-457200">
                  <a:lnSpc>
                    <a:spcPct val="120000"/>
                  </a:lnSpc>
                  <a:buFont typeface="Arial" panose="020B0604020202020204" pitchFamily="34" charset="0"/>
                  <a:buChar char="•"/>
                </a:pPr>
                <a14:m>
                  <m:oMath xmlns:m="http://schemas.openxmlformats.org/officeDocument/2006/math">
                    <m:r>
                      <a:rPr lang="en-US" altLang="zh-TW" sz="2800" b="0" i="1" smtClean="0">
                        <a:latin typeface="Cambria Math" panose="02040503050406030204" pitchFamily="18" charset="0"/>
                      </a:rPr>
                      <m:t>𝑉𝑎𝑅</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𝛼</m:t>
                        </m:r>
                      </m:e>
                    </m:d>
                    <m:r>
                      <a:rPr lang="en-US" altLang="zh-TW" sz="2800" b="0" i="1" smtClean="0">
                        <a:latin typeface="Cambria Math" panose="02040503050406030204" pitchFamily="18" charset="0"/>
                      </a:rPr>
                      <m:t>=</m:t>
                    </m:r>
                    <m:func>
                      <m:funcPr>
                        <m:ctrlPr>
                          <a:rPr lang="en-US" altLang="zh-TW" sz="2800" b="0" i="1" smtClean="0">
                            <a:latin typeface="Cambria Math" panose="02040503050406030204" pitchFamily="18" charset="0"/>
                          </a:rPr>
                        </m:ctrlPr>
                      </m:funcPr>
                      <m:fName>
                        <m:r>
                          <m:rPr>
                            <m:sty m:val="p"/>
                          </m:rPr>
                          <a:rPr lang="en-US" altLang="zh-TW" sz="2800" b="0" i="0" smtClean="0">
                            <a:latin typeface="Cambria Math"/>
                          </a:rPr>
                          <m:t>inf</m:t>
                        </m:r>
                      </m:fName>
                      <m:e>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𝑢</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𝑃</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𝑢</m:t>
                                </m:r>
                              </m:e>
                            </m:d>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𝛼</m:t>
                            </m:r>
                          </m:e>
                        </m:d>
                      </m:e>
                    </m:func>
                  </m:oMath>
                </a14:m>
                <a:endParaRPr lang="en-US" altLang="zh-TW" sz="2800" dirty="0" smtClean="0"/>
              </a:p>
              <a:p>
                <a:pPr marL="457200" indent="-457200">
                  <a:lnSpc>
                    <a:spcPct val="120000"/>
                  </a:lnSpc>
                  <a:buFont typeface="Arial" panose="020B0604020202020204" pitchFamily="34" charset="0"/>
                  <a:buChar char="•"/>
                </a:pPr>
                <a:r>
                  <a:rPr lang="en-US" altLang="zh-TW" sz="2800" dirty="0" smtClean="0">
                    <a:solidFill>
                      <a:srgbClr val="0070C0"/>
                    </a:solidFill>
                  </a:rPr>
                  <a:t>for </a:t>
                </a:r>
                <a:r>
                  <a:rPr lang="en-US" altLang="zh-TW" sz="2800" dirty="0">
                    <a:solidFill>
                      <a:srgbClr val="0070C0"/>
                    </a:solidFill>
                  </a:rPr>
                  <a:t>continuous </a:t>
                </a:r>
                <a:r>
                  <a:rPr lang="en-US" altLang="zh-TW" sz="2800" dirty="0" smtClean="0">
                    <a:solidFill>
                      <a:srgbClr val="0070C0"/>
                    </a:solidFill>
                  </a:rPr>
                  <a:t>distribution</a:t>
                </a:r>
                <a:r>
                  <a:rPr lang="en-US" altLang="zh-TW" sz="2800" i="1" dirty="0">
                    <a:latin typeface="Cambria Math" panose="02040503050406030204" pitchFamily="18" charset="0"/>
                  </a:rPr>
                  <a:t>:</a:t>
                </a:r>
                <a:r>
                  <a:rPr lang="en-US" altLang="zh-TW" sz="2800" i="1" dirty="0" smtClean="0">
                    <a:latin typeface="Cambria Math" panose="02040503050406030204" pitchFamily="18" charset="0"/>
                  </a:rPr>
                  <a:t/>
                </a:r>
                <a:br>
                  <a:rPr lang="en-US" altLang="zh-TW" sz="2800" i="1" dirty="0" smtClean="0">
                    <a:latin typeface="Cambria Math" panose="02040503050406030204" pitchFamily="18" charset="0"/>
                  </a:rPr>
                </a:br>
                <a14:m>
                  <m:oMath xmlns:m="http://schemas.openxmlformats.org/officeDocument/2006/math">
                    <m:r>
                      <a:rPr lang="en-US" altLang="zh-TW" sz="2800" b="0" i="1" smtClean="0">
                        <a:latin typeface="Cambria Math" panose="02040503050406030204" pitchFamily="18" charset="0"/>
                      </a:rPr>
                      <m:t>𝐶𝑉𝑎𝑅</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𝛼</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𝐸</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𝑉𝑎𝑅</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𝛼</m:t>
                            </m:r>
                          </m:e>
                        </m:d>
                      </m:e>
                    </m:d>
                  </m:oMath>
                </a14:m>
                <a:endParaRPr lang="en-US" altLang="zh-TW" sz="2800" dirty="0" smtClean="0"/>
              </a:p>
              <a:p>
                <a:pPr marL="457200" indent="-457200">
                  <a:lnSpc>
                    <a:spcPct val="120000"/>
                  </a:lnSpc>
                  <a:buFont typeface="Arial" panose="020B0604020202020204" pitchFamily="34" charset="0"/>
                  <a:buChar char="•"/>
                </a:pPr>
                <a:r>
                  <a:rPr lang="en-US" altLang="zh-TW" sz="2800" b="0" dirty="0" smtClean="0">
                    <a:solidFill>
                      <a:srgbClr val="0070C0"/>
                    </a:solidFill>
                  </a:rPr>
                  <a:t>For generalized distribution</a:t>
                </a:r>
                <a:r>
                  <a:rPr lang="en-US" altLang="zh-TW" sz="2800" b="0" dirty="0" smtClean="0"/>
                  <a:t>: </a:t>
                </a:r>
                <a:br>
                  <a:rPr lang="en-US" altLang="zh-TW" sz="2800" b="0" dirty="0" smtClean="0"/>
                </a:br>
                <a14:m>
                  <m:oMath xmlns:m="http://schemas.openxmlformats.org/officeDocument/2006/math">
                    <m:r>
                      <a:rPr lang="en-US" altLang="zh-TW" sz="2800" b="0" i="1" smtClean="0">
                        <a:latin typeface="Cambria Math" panose="02040503050406030204" pitchFamily="18" charset="0"/>
                      </a:rPr>
                      <m:t>𝐶𝑉𝑎𝑅</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𝛼</m:t>
                        </m:r>
                      </m:e>
                    </m:d>
                    <m:r>
                      <a:rPr lang="en-US" altLang="zh-TW" sz="2800" b="0" i="1" smtClean="0">
                        <a:latin typeface="Cambria Math" panose="02040503050406030204" pitchFamily="18" charset="0"/>
                      </a:rPr>
                      <m:t>=</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f>
                          <m:fPr>
                            <m:ctrlPr>
                              <a:rPr lang="en-US" altLang="zh-TW" sz="2800" b="0" i="1" smtClean="0">
                                <a:latin typeface="Cambria Math" panose="02040503050406030204" pitchFamily="18" charset="0"/>
                              </a:rPr>
                            </m:ctrlPr>
                          </m:fPr>
                          <m:num>
                            <m:nary>
                              <m:naryPr>
                                <m:chr m:val="∑"/>
                                <m:supHide m:val="on"/>
                                <m:ctrlPr>
                                  <a:rPr lang="en-US" altLang="zh-TW" sz="2800" b="0" i="1" smtClean="0">
                                    <a:latin typeface="Cambria Math" panose="02040503050406030204" pitchFamily="18" charset="0"/>
                                  </a:rPr>
                                </m:ctrlPr>
                              </m:naryPr>
                              <m:sub>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𝑠</m:t>
                                    </m:r>
                                    <m:r>
                                      <a:rPr lang="en-US" altLang="zh-TW" sz="2800" b="0" i="1" smtClean="0">
                                        <a:latin typeface="Cambria Math" panose="02040503050406030204" pitchFamily="18" charset="0"/>
                                      </a:rPr>
                                      <m:t>∈</m:t>
                                    </m:r>
                                    <m:r>
                                      <m:rPr>
                                        <m:sty m:val="p"/>
                                      </m:rPr>
                                      <a:rPr lang="en-US" altLang="zh-TW" sz="2800" b="0" i="0" smtClean="0">
                                        <a:latin typeface="Cambria Math" panose="02040503050406030204" pitchFamily="18" charset="0"/>
                                      </a:rPr>
                                      <m:t>Ω</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𝑠</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𝑧</m:t>
                                    </m:r>
                                  </m:e>
                                </m:d>
                              </m:sub>
                              <m:sup/>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𝑝</m:t>
                                    </m:r>
                                  </m:e>
                                  <m:sub>
                                    <m:r>
                                      <a:rPr lang="en-US" altLang="zh-TW" sz="2800" b="0" i="1" smtClean="0">
                                        <a:latin typeface="Cambria Math" panose="02040503050406030204" pitchFamily="18" charset="0"/>
                                      </a:rPr>
                                      <m:t>𝑠</m:t>
                                    </m:r>
                                  </m:sub>
                                </m:sSub>
                              </m:e>
                            </m:nary>
                          </m:num>
                          <m:den>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𝛼</m:t>
                            </m:r>
                          </m:den>
                        </m:f>
                      </m:e>
                    </m:d>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en-US" altLang="zh-TW" sz="2800" b="0" i="1" smtClean="0">
                            <a:latin typeface="Cambria Math" panose="02040503050406030204" pitchFamily="18" charset="0"/>
                          </a:rPr>
                          <m:t>1</m:t>
                        </m:r>
                      </m:num>
                      <m:den>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𝛼</m:t>
                        </m:r>
                      </m:den>
                    </m:f>
                    <m:nary>
                      <m:naryPr>
                        <m:chr m:val="∑"/>
                        <m:supHide m:val="on"/>
                        <m:ctrlPr>
                          <a:rPr lang="en-US" altLang="zh-TW" sz="2800" b="0" i="1" smtClean="0">
                            <a:latin typeface="Cambria Math" panose="02040503050406030204" pitchFamily="18" charset="0"/>
                          </a:rPr>
                        </m:ctrlPr>
                      </m:naryPr>
                      <m:sub>
                        <m:r>
                          <m:rPr>
                            <m:brk m:alnAt="7"/>
                          </m:rP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𝑠</m:t>
                        </m:r>
                        <m:r>
                          <a:rPr lang="en-US" altLang="zh-TW" sz="2800" b="0" i="1" smtClean="0">
                            <a:latin typeface="Cambria Math" panose="02040503050406030204" pitchFamily="18" charset="0"/>
                          </a:rPr>
                          <m:t>∈</m:t>
                        </m:r>
                        <m:r>
                          <m:rPr>
                            <m:sty m:val="p"/>
                          </m:rPr>
                          <a:rPr lang="en-US" altLang="zh-TW" sz="2800" b="0" i="0" smtClean="0">
                            <a:latin typeface="Cambria Math" panose="02040503050406030204" pitchFamily="18" charset="0"/>
                          </a:rPr>
                          <m:t>Ω</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𝑠</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𝑧</m:t>
                        </m:r>
                        <m:r>
                          <a:rPr lang="en-US" altLang="zh-TW" sz="2800" b="0" i="1" smtClean="0">
                            <a:latin typeface="Cambria Math" panose="02040503050406030204" pitchFamily="18" charset="0"/>
                          </a:rPr>
                          <m:t>}</m:t>
                        </m:r>
                      </m:sub>
                      <m:sup/>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𝑝</m:t>
                            </m:r>
                          </m:e>
                          <m:sub>
                            <m:r>
                              <a:rPr lang="en-US" altLang="zh-TW" sz="2800" b="0" i="1" smtClean="0">
                                <a:latin typeface="Cambria Math" panose="02040503050406030204" pitchFamily="18" charset="0"/>
                              </a:rPr>
                              <m:t>𝑠</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𝑠</m:t>
                            </m:r>
                          </m:sub>
                        </m:sSub>
                      </m:e>
                    </m:nary>
                  </m:oMath>
                </a14:m>
                <a:endParaRPr lang="zh-TW" altLang="en-US" sz="2800" dirty="0"/>
              </a:p>
            </p:txBody>
          </p:sp>
        </mc:Choice>
        <mc:Fallback>
          <p:sp>
            <p:nvSpPr>
              <p:cNvPr id="3" name="文字方塊 2"/>
              <p:cNvSpPr txBox="1">
                <a:spLocks noRot="1" noChangeAspect="1" noMove="1" noResize="1" noEditPoints="1" noAdjustHandles="1" noChangeArrowheads="1" noChangeShapeType="1" noTextEdit="1"/>
              </p:cNvSpPr>
              <p:nvPr/>
            </p:nvSpPr>
            <p:spPr>
              <a:xfrm>
                <a:off x="98320" y="1560611"/>
                <a:ext cx="7959144" cy="5236049"/>
              </a:xfrm>
              <a:prstGeom prst="rect">
                <a:avLst/>
              </a:prstGeom>
              <a:blipFill rotWithShape="1">
                <a:blip r:embed="rId4"/>
                <a:stretch>
                  <a:fillRect l="-130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56E38F8E-F105-4395-BB51-B47D06FD7340}" type="slidenum">
              <a:rPr lang="zh-TW" altLang="en-US" smtClean="0"/>
              <a:pPr/>
              <a:t>15</a:t>
            </a:fld>
            <a:endParaRPr lang="zh-TW" altLang="en-US"/>
          </a:p>
        </p:txBody>
      </p:sp>
    </p:spTree>
    <p:extLst>
      <p:ext uri="{BB962C8B-B14F-4D97-AF65-F5344CB8AC3E}">
        <p14:creationId xmlns:p14="http://schemas.microsoft.com/office/powerpoint/2010/main" xmlns="" val="2249147492"/>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CVaR</a:t>
            </a:r>
            <a:r>
              <a:rPr lang="en-US" altLang="zh-TW" dirty="0"/>
              <a:t> </a:t>
            </a:r>
            <a:r>
              <a:rPr lang="en-US" altLang="zh-TW" dirty="0" smtClean="0"/>
              <a:t>(two-asset portfolio)</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normAutofit/>
              </a:bodyPr>
              <a:lstStyle/>
              <a:p>
                <a:pPr>
                  <a:lnSpc>
                    <a:spcPct val="120000"/>
                  </a:lnSpc>
                </a:pPr>
                <a14:m>
                  <m:oMath xmlns:m="http://schemas.openxmlformats.org/officeDocument/2006/math">
                    <m:r>
                      <a:rPr lang="en-US" altLang="zh-TW" b="1" i="1" smtClean="0">
                        <a:latin typeface="Cambria Math" panose="02040503050406030204" pitchFamily="18" charset="0"/>
                      </a:rPr>
                      <m:t>𝒙</m:t>
                    </m:r>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2</m:t>
                            </m:r>
                          </m:sub>
                        </m:sSub>
                      </m:e>
                    </m:d>
                  </m:oMath>
                </a14:m>
                <a:r>
                  <a:rPr lang="zh-TW" altLang="en-US" dirty="0" smtClean="0"/>
                  <a:t/>
                </a:r>
                <a:r>
                  <a:rPr lang="en-US" altLang="zh-TW" dirty="0" smtClean="0"/>
                  <a:t>positions of two assets</a:t>
                </a:r>
              </a:p>
              <a:p>
                <a:pPr>
                  <a:lnSpc>
                    <a:spcPct val="120000"/>
                  </a:lnSpc>
                </a:pPr>
                <a14:m>
                  <m:oMath xmlns:m="http://schemas.openxmlformats.org/officeDocument/2006/math">
                    <m:r>
                      <a:rPr lang="en-US" altLang="zh-TW" b="1" i="1" smtClean="0">
                        <a:latin typeface="Cambria Math" panose="02040503050406030204" pitchFamily="18" charset="0"/>
                      </a:rPr>
                      <m:t>𝒎</m:t>
                    </m:r>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2</m:t>
                            </m:r>
                          </m:sub>
                        </m:sSub>
                      </m:e>
                    </m:d>
                  </m:oMath>
                </a14:m>
                <a:r>
                  <a:rPr lang="zh-TW" altLang="en-US" dirty="0" smtClean="0"/>
                  <a:t/>
                </a:r>
                <a:r>
                  <a:rPr lang="en-US" altLang="zh-TW" dirty="0" smtClean="0"/>
                  <a:t>initial prices of the two assets</a:t>
                </a:r>
              </a:p>
              <a:p>
                <a:pPr>
                  <a:lnSpc>
                    <a:spcPct val="120000"/>
                  </a:lnSpc>
                </a:pPr>
                <a14:m>
                  <m:oMath xmlns:m="http://schemas.openxmlformats.org/officeDocument/2006/math">
                    <m:r>
                      <a:rPr lang="en-US" altLang="zh-TW" b="1" i="1" smtClean="0">
                        <a:latin typeface="Cambria Math" panose="02040503050406030204" pitchFamily="18" charset="0"/>
                      </a:rPr>
                      <m:t>𝒚</m:t>
                    </m:r>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2</m:t>
                            </m:r>
                          </m:sub>
                        </m:sSub>
                      </m:e>
                    </m:d>
                    <m:r>
                      <a:rPr lang="en-US" altLang="zh-TW" b="0" i="1" smtClean="0">
                        <a:latin typeface="Cambria Math" panose="02040503050406030204" pitchFamily="18" charset="0"/>
                      </a:rPr>
                      <m:t> </m:t>
                    </m:r>
                  </m:oMath>
                </a14:m>
                <a:r>
                  <a:rPr lang="zh-TW" altLang="en-US" dirty="0" smtClean="0">
                    <a:solidFill>
                      <a:srgbClr val="FF0000"/>
                    </a:solidFill>
                  </a:rPr>
                  <a:t/>
                </a:r>
                <a:r>
                  <a:rPr lang="en-US" altLang="zh-TW" dirty="0" smtClean="0">
                    <a:solidFill>
                      <a:srgbClr val="FF0000"/>
                    </a:solidFill>
                  </a:rPr>
                  <a:t>uncertainty </a:t>
                </a:r>
                <a:r>
                  <a:rPr lang="en-US" altLang="zh-TW" dirty="0" smtClean="0"/>
                  <a:t>final prices of the two assets</a:t>
                </a:r>
              </a:p>
              <a:p>
                <a:pPr>
                  <a:lnSpc>
                    <a:spcPct val="120000"/>
                  </a:lnSpc>
                </a:pPr>
                <a:r>
                  <a:rPr lang="en-US" altLang="zh-TW" dirty="0" smtClean="0"/>
                  <a:t>profit function (higher is better)</a:t>
                </a:r>
                <a:br>
                  <a:rPr lang="en-US" altLang="zh-TW" dirty="0" smtClean="0"/>
                </a:br>
                <a14:m>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1" i="1" smtClean="0">
                            <a:latin typeface="Cambria Math" panose="02040503050406030204" pitchFamily="18" charset="0"/>
                          </a:rPr>
                          <m:t>𝒙</m:t>
                        </m:r>
                        <m:r>
                          <a:rPr lang="en-US" altLang="zh-TW" b="0" i="1" smtClean="0">
                            <a:latin typeface="Cambria Math" panose="02040503050406030204" pitchFamily="18" charset="0"/>
                          </a:rPr>
                          <m:t>, </m:t>
                        </m:r>
                        <m:r>
                          <a:rPr lang="en-US" altLang="zh-TW" b="1" i="1" smtClean="0">
                            <a:latin typeface="Cambria Math" panose="02040503050406030204" pitchFamily="18" charset="0"/>
                          </a:rPr>
                          <m:t>𝒚</m:t>
                        </m:r>
                      </m:e>
                    </m:d>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2</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2</m:t>
                            </m:r>
                          </m:sub>
                        </m:sSub>
                      </m:e>
                    </m:d>
                    <m:r>
                      <a:rPr lang="en-US" altLang="zh-TW" b="0" i="1" smtClean="0">
                        <a:latin typeface="Cambria Math" panose="02040503050406030204" pitchFamily="18" charset="0"/>
                      </a:rPr>
                      <m:t>−</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𝑚</m:t>
                            </m:r>
                          </m:e>
                          <m:sub>
                            <m:r>
                              <a:rPr lang="en-US" altLang="zh-TW" i="1">
                                <a:latin typeface="Cambria Math" panose="02040503050406030204" pitchFamily="18" charset="0"/>
                              </a:rPr>
                              <m:t>2</m:t>
                            </m:r>
                          </m:sub>
                        </m:sSub>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1" i="1" smtClean="0">
                            <a:latin typeface="Cambria Math" panose="02040503050406030204" pitchFamily="18" charset="0"/>
                          </a:rPr>
                          <m:t>𝒙</m:t>
                        </m:r>
                      </m:e>
                      <m:sup>
                        <m:r>
                          <a:rPr lang="en-US" altLang="zh-TW" b="0" i="1" smtClean="0">
                            <a:latin typeface="Cambria Math" panose="02040503050406030204" pitchFamily="18" charset="0"/>
                          </a:rPr>
                          <m:t>𝑇</m:t>
                        </m:r>
                      </m:sup>
                    </m:sSup>
                    <m:d>
                      <m:dPr>
                        <m:ctrlPr>
                          <a:rPr lang="en-US" altLang="zh-TW" b="0" i="1" smtClean="0">
                            <a:latin typeface="Cambria Math" panose="02040503050406030204" pitchFamily="18" charset="0"/>
                          </a:rPr>
                        </m:ctrlPr>
                      </m:dPr>
                      <m:e>
                        <m:r>
                          <a:rPr lang="en-US" altLang="zh-TW" b="1" i="1" smtClean="0">
                            <a:latin typeface="Cambria Math" panose="02040503050406030204" pitchFamily="18" charset="0"/>
                          </a:rPr>
                          <m:t>𝒚</m:t>
                        </m:r>
                        <m:r>
                          <a:rPr lang="en-US" altLang="zh-TW" b="0" i="1" smtClean="0">
                            <a:latin typeface="Cambria Math" panose="02040503050406030204" pitchFamily="18" charset="0"/>
                          </a:rPr>
                          <m:t>−</m:t>
                        </m:r>
                        <m:r>
                          <a:rPr lang="en-US" altLang="zh-TW" b="1" i="1" smtClean="0">
                            <a:latin typeface="Cambria Math" panose="02040503050406030204" pitchFamily="18" charset="0"/>
                          </a:rPr>
                          <m:t>𝒎</m:t>
                        </m:r>
                      </m:e>
                    </m:d>
                  </m:oMath>
                </a14:m>
                <a:endParaRPr lang="en-US" altLang="zh-TW" dirty="0" smtClean="0"/>
              </a:p>
              <a:p>
                <a:pPr>
                  <a:lnSpc>
                    <a:spcPct val="120000"/>
                  </a:lnSpc>
                </a:pPr>
                <a14:m>
                  <m:oMath xmlns:m="http://schemas.openxmlformats.org/officeDocument/2006/math">
                    <m:r>
                      <a:rPr lang="en-US" altLang="zh-TW" b="0" i="1" smtClean="0">
                        <a:solidFill>
                          <a:srgbClr val="00B0F0"/>
                        </a:solidFill>
                        <a:latin typeface="Cambria Math" panose="02040503050406030204" pitchFamily="18" charset="0"/>
                      </a:rPr>
                      <m:t>∴</m:t>
                    </m:r>
                    <m:r>
                      <a:rPr lang="en-US" altLang="zh-TW" b="0" i="1" smtClean="0">
                        <a:solidFill>
                          <a:srgbClr val="00B0F0"/>
                        </a:solidFill>
                        <a:latin typeface="Cambria Math" panose="02040503050406030204" pitchFamily="18" charset="0"/>
                      </a:rPr>
                      <m:t>𝑓</m:t>
                    </m:r>
                    <m:d>
                      <m:dPr>
                        <m:ctrlPr>
                          <a:rPr lang="en-US" altLang="zh-TW" b="0" i="1" smtClean="0">
                            <a:solidFill>
                              <a:srgbClr val="00B0F0"/>
                            </a:solidFill>
                            <a:latin typeface="Cambria Math" panose="02040503050406030204" pitchFamily="18" charset="0"/>
                          </a:rPr>
                        </m:ctrlPr>
                      </m:dPr>
                      <m:e>
                        <m:r>
                          <a:rPr lang="en-US" altLang="zh-TW" b="1" i="1" smtClean="0">
                            <a:solidFill>
                              <a:srgbClr val="00B0F0"/>
                            </a:solidFill>
                            <a:latin typeface="Cambria Math" panose="02040503050406030204" pitchFamily="18" charset="0"/>
                          </a:rPr>
                          <m:t>𝒙</m:t>
                        </m:r>
                        <m:r>
                          <a:rPr lang="en-US" altLang="zh-TW" b="0" i="1" smtClean="0">
                            <a:solidFill>
                              <a:srgbClr val="00B0F0"/>
                            </a:solidFill>
                            <a:latin typeface="Cambria Math" panose="02040503050406030204" pitchFamily="18" charset="0"/>
                          </a:rPr>
                          <m:t>,</m:t>
                        </m:r>
                        <m:r>
                          <a:rPr lang="en-US" altLang="zh-TW" b="1" i="1" smtClean="0">
                            <a:solidFill>
                              <a:srgbClr val="00B0F0"/>
                            </a:solidFill>
                            <a:latin typeface="Cambria Math" panose="02040503050406030204" pitchFamily="18" charset="0"/>
                          </a:rPr>
                          <m:t>𝒚</m:t>
                        </m:r>
                      </m:e>
                    </m:d>
                    <m:r>
                      <a:rPr lang="en-US" altLang="zh-TW" b="0" i="1" smtClean="0">
                        <a:solidFill>
                          <a:srgbClr val="00B0F0"/>
                        </a:solidFill>
                        <a:latin typeface="Cambria Math" panose="02040503050406030204" pitchFamily="18" charset="0"/>
                      </a:rPr>
                      <m:t> </m:t>
                    </m:r>
                  </m:oMath>
                </a14:m>
                <a:r>
                  <a:rPr lang="en-US" altLang="zh-TW" dirty="0" smtClean="0">
                    <a:solidFill>
                      <a:srgbClr val="00B0F0"/>
                    </a:solidFill>
                  </a:rPr>
                  <a:t>depends on y</a:t>
                </a:r>
                <a:endParaRPr lang="zh-TW" altLang="en-US" b="1"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043" t="-14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56E38F8E-F105-4395-BB51-B47D06FD7340}" type="slidenum">
              <a:rPr lang="zh-TW" altLang="en-US" smtClean="0"/>
              <a:pPr/>
              <a:t>16</a:t>
            </a:fld>
            <a:endParaRPr lang="zh-TW" altLang="en-US"/>
          </a:p>
        </p:txBody>
      </p:sp>
    </p:spTree>
    <p:extLst>
      <p:ext uri="{BB962C8B-B14F-4D97-AF65-F5344CB8AC3E}">
        <p14:creationId xmlns:p14="http://schemas.microsoft.com/office/powerpoint/2010/main" xmlns="" val="1946788137"/>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56E38F8E-F105-4395-BB51-B47D06FD7340}" type="slidenum">
              <a:rPr lang="zh-TW" altLang="en-US" smtClean="0"/>
              <a:pPr/>
              <a:t>17</a:t>
            </a:fld>
            <a:endParaRPr lang="zh-TW" altLang="en-US"/>
          </a:p>
        </p:txBody>
      </p:sp>
      <mc:AlternateContent xmlns:mc="http://schemas.openxmlformats.org/markup-compatibility/2006">
        <mc:Choice xmlns:a14="http://schemas.microsoft.com/office/drawing/2010/main" xmlns="" Requires="a14">
          <p:sp>
            <p:nvSpPr>
              <p:cNvPr id="5" name="矩形 4"/>
              <p:cNvSpPr/>
              <p:nvPr/>
            </p:nvSpPr>
            <p:spPr>
              <a:xfrm>
                <a:off x="665409" y="349756"/>
                <a:ext cx="9637690" cy="5406545"/>
              </a:xfrm>
              <a:prstGeom prst="rect">
                <a:avLst/>
              </a:prstGeom>
            </p:spPr>
            <p:txBody>
              <a:bodyPr wrap="square">
                <a:spAutoFit/>
              </a:bodyPr>
              <a:lstStyle/>
              <a:p>
                <a:pPr marL="342900" indent="-342900">
                  <a:lnSpc>
                    <a:spcPct val="120000"/>
                  </a:lnSpc>
                  <a:buFont typeface="Arial" panose="020B0604020202020204" pitchFamily="34" charset="0"/>
                  <a:buChar char="•"/>
                </a:pPr>
                <a:endParaRPr lang="en-US" altLang="zh-TW" sz="2400" dirty="0" smtClean="0">
                  <a:solidFill>
                    <a:srgbClr val="00B0F0"/>
                  </a:solidFill>
                </a:endParaRPr>
              </a:p>
              <a:p>
                <a:pPr marL="342900" indent="-342900">
                  <a:lnSpc>
                    <a:spcPct val="120000"/>
                  </a:lnSpc>
                  <a:buFont typeface="Arial" panose="020B0604020202020204" pitchFamily="34" charset="0"/>
                  <a:buChar char="•"/>
                </a:pPr>
                <a:r>
                  <a:rPr lang="en-US" altLang="zh-TW" sz="2400" dirty="0" smtClean="0"/>
                  <a:t>Let </a:t>
                </a:r>
                <a14:m>
                  <m:oMath xmlns:m="http://schemas.openxmlformats.org/officeDocument/2006/math">
                    <m:r>
                      <a:rPr lang="zh-TW" altLang="en-US" sz="2400" i="1">
                        <a:latin typeface="Cambria Math" panose="02040503050406030204" pitchFamily="18" charset="0"/>
                      </a:rPr>
                      <m:t>𝜓</m:t>
                    </m:r>
                    <m:d>
                      <m:dPr>
                        <m:ctrlPr>
                          <a:rPr lang="en-US" altLang="zh-TW" sz="2400" i="1">
                            <a:latin typeface="Cambria Math" panose="02040503050406030204" pitchFamily="18" charset="0"/>
                          </a:rPr>
                        </m:ctrlPr>
                      </m:dPr>
                      <m:e>
                        <m:r>
                          <a:rPr lang="en-US" altLang="zh-TW" sz="2400" b="0" i="1" smtClean="0">
                            <a:latin typeface="Cambria Math"/>
                          </a:rPr>
                          <m:t>𝑥</m:t>
                        </m:r>
                        <m:r>
                          <a:rPr lang="en-US" altLang="zh-TW" sz="2400" i="1">
                            <a:latin typeface="Cambria Math" panose="02040503050406030204" pitchFamily="18" charset="0"/>
                          </a:rPr>
                          <m:t>,</m:t>
                        </m:r>
                        <m:r>
                          <a:rPr lang="en-US" altLang="zh-TW" sz="2400" i="1">
                            <a:latin typeface="Cambria Math" panose="02040503050406030204" pitchFamily="18" charset="0"/>
                          </a:rPr>
                          <m:t>𝑧</m:t>
                        </m:r>
                      </m:e>
                    </m:d>
                    <m:r>
                      <a:rPr lang="en-US" altLang="zh-TW" sz="2400" b="0" i="1" smtClean="0">
                        <a:latin typeface="Cambria Math"/>
                      </a:rPr>
                      <m:t>=</m:t>
                    </m:r>
                    <m:r>
                      <a:rPr lang="en-US" altLang="zh-TW" sz="2400" b="0" i="1" smtClean="0">
                        <a:latin typeface="Cambria Math"/>
                      </a:rPr>
                      <m:t>𝑃</m:t>
                    </m:r>
                    <m:d>
                      <m:dPr>
                        <m:ctrlPr>
                          <a:rPr lang="en-US" altLang="zh-TW" sz="2400" b="0" i="1" smtClean="0">
                            <a:latin typeface="Cambria Math" panose="02040503050406030204" pitchFamily="18" charset="0"/>
                          </a:rPr>
                        </m:ctrlPr>
                      </m:dPr>
                      <m:e>
                        <m:r>
                          <a:rPr lang="en-US" altLang="zh-TW" sz="2400" b="0" i="1" smtClean="0">
                            <a:latin typeface="Cambria Math"/>
                          </a:rPr>
                          <m:t>𝑥</m:t>
                        </m:r>
                        <m:r>
                          <a:rPr lang="en-US" altLang="zh-TW" sz="2400" b="0" i="1" smtClean="0">
                            <a:latin typeface="Cambria Math"/>
                          </a:rPr>
                          <m:t>≤</m:t>
                        </m:r>
                        <m:r>
                          <a:rPr lang="en-US" altLang="zh-TW" sz="2400" b="0" i="1" smtClean="0">
                            <a:latin typeface="Cambria Math"/>
                          </a:rPr>
                          <m:t>𝑧</m:t>
                        </m:r>
                      </m:e>
                    </m:d>
                  </m:oMath>
                </a14:m>
                <a:endParaRPr lang="en-US" altLang="zh-TW" sz="2400" dirty="0" smtClean="0"/>
              </a:p>
              <a:p>
                <a:pPr marL="342900" indent="-342900">
                  <a:lnSpc>
                    <a:spcPct val="120000"/>
                  </a:lnSpc>
                  <a:buFont typeface="Arial" panose="020B0604020202020204" pitchFamily="34" charset="0"/>
                  <a:buChar char="•"/>
                </a:pPr>
                <a:r>
                  <a:rPr lang="en-US" altLang="zh-TW" sz="2400" dirty="0" smtClean="0"/>
                  <a:t>The </a:t>
                </a:r>
                <a:r>
                  <a:rPr lang="en-US" altLang="zh-TW" sz="2400" dirty="0" err="1" smtClean="0"/>
                  <a:t>VaR</a:t>
                </a:r>
                <a:r>
                  <a:rPr lang="en-US" altLang="zh-TW" sz="2400" dirty="0" smtClean="0"/>
                  <a:t> function </a:t>
                </a:r>
                <a14:m>
                  <m:oMath xmlns:m="http://schemas.openxmlformats.org/officeDocument/2006/math">
                    <m:r>
                      <a:rPr lang="en-US" altLang="zh-TW" sz="2400" b="0" i="1" smtClean="0">
                        <a:latin typeface="Cambria Math" panose="02040503050406030204" pitchFamily="18" charset="0"/>
                      </a:rPr>
                      <m:t>𝑉𝑎𝑅</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𝛼</m:t>
                        </m:r>
                      </m:e>
                    </m:d>
                  </m:oMath>
                </a14:m>
                <a:r>
                  <a:rPr lang="zh-TW" altLang="en-US" sz="2400" dirty="0" smtClean="0"/>
                  <a:t/>
                </a:r>
                <a:r>
                  <a:rPr lang="en-US" altLang="zh-TW" sz="2400" dirty="0" smtClean="0"/>
                  <a:t>is the percentile of the profit distribution  with confidence level </a:t>
                </a:r>
                <a14:m>
                  <m:oMath xmlns:m="http://schemas.openxmlformats.org/officeDocument/2006/math">
                    <m:r>
                      <a:rPr lang="en-US" altLang="zh-TW" sz="2400" b="0" i="1" smtClean="0">
                        <a:latin typeface="Cambria Math" panose="02040503050406030204" pitchFamily="18" charset="0"/>
                      </a:rPr>
                      <m:t>𝛼</m:t>
                    </m:r>
                  </m:oMath>
                </a14:m>
                <a:r>
                  <a:rPr lang="en-US" altLang="zh-TW" sz="2400" dirty="0" smtClean="0"/>
                  <a:t>, </a:t>
                </a:r>
                <a14:m>
                  <m:oMath xmlns:m="http://schemas.openxmlformats.org/officeDocument/2006/math">
                    <m:r>
                      <a:rPr lang="en-US" altLang="zh-TW" sz="2400" i="1" smtClean="0">
                        <a:solidFill>
                          <a:srgbClr val="FF0000"/>
                        </a:solidFill>
                        <a:latin typeface="Cambria Math" panose="02040503050406030204" pitchFamily="18" charset="0"/>
                      </a:rPr>
                      <m:t>𝑉𝑎𝑅</m:t>
                    </m:r>
                    <m:d>
                      <m:dPr>
                        <m:ctrlPr>
                          <a:rPr lang="en-US" altLang="zh-TW" sz="2400" i="1">
                            <a:solidFill>
                              <a:srgbClr val="FF0000"/>
                            </a:solidFill>
                            <a:latin typeface="Cambria Math" panose="02040503050406030204" pitchFamily="18" charset="0"/>
                          </a:rPr>
                        </m:ctrlPr>
                      </m:dPr>
                      <m:e>
                        <m:r>
                          <a:rPr lang="en-US" altLang="zh-TW" sz="2400" i="1">
                            <a:solidFill>
                              <a:srgbClr val="FF0000"/>
                            </a:solidFill>
                            <a:latin typeface="Cambria Math" panose="02040503050406030204" pitchFamily="18" charset="0"/>
                          </a:rPr>
                          <m:t>𝑥</m:t>
                        </m:r>
                        <m:r>
                          <a:rPr lang="en-US" altLang="zh-TW" sz="2400" i="1">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𝛼</m:t>
                        </m:r>
                      </m:e>
                    </m:d>
                    <m:r>
                      <a:rPr lang="en-US" altLang="zh-TW" sz="2400" i="1">
                        <a:solidFill>
                          <a:srgbClr val="FF0000"/>
                        </a:solidFill>
                        <a:latin typeface="Cambria Math" panose="02040503050406030204" pitchFamily="18" charset="0"/>
                      </a:rPr>
                      <m:t>=</m:t>
                    </m:r>
                    <m:func>
                      <m:funcPr>
                        <m:ctrlPr>
                          <a:rPr lang="en-US" altLang="zh-TW" sz="2400" i="1">
                            <a:solidFill>
                              <a:srgbClr val="FF0000"/>
                            </a:solidFill>
                            <a:latin typeface="Cambria Math" panose="02040503050406030204" pitchFamily="18" charset="0"/>
                          </a:rPr>
                        </m:ctrlPr>
                      </m:funcPr>
                      <m:fName>
                        <m:r>
                          <m:rPr>
                            <m:sty m:val="p"/>
                          </m:rPr>
                          <a:rPr lang="en-US" altLang="zh-TW" sz="2400" b="0" i="0" smtClean="0">
                            <a:solidFill>
                              <a:srgbClr val="FF0000"/>
                            </a:solidFill>
                            <a:latin typeface="Cambria Math" panose="02040503050406030204" pitchFamily="18" charset="0"/>
                          </a:rPr>
                          <m:t>inf</m:t>
                        </m:r>
                      </m:fName>
                      <m:e>
                        <m:d>
                          <m:dPr>
                            <m:begChr m:val="{"/>
                            <m:endChr m:val="}"/>
                            <m:ctrlPr>
                              <a:rPr lang="en-US" altLang="zh-TW" sz="2400" i="1">
                                <a:solidFill>
                                  <a:srgbClr val="FF0000"/>
                                </a:solidFill>
                                <a:latin typeface="Cambria Math" panose="02040503050406030204" pitchFamily="18" charset="0"/>
                              </a:rPr>
                            </m:ctrlPr>
                          </m:dPr>
                          <m:e>
                            <m:r>
                              <a:rPr lang="en-US" altLang="zh-TW" sz="2400" i="1">
                                <a:solidFill>
                                  <a:srgbClr val="FF0000"/>
                                </a:solidFill>
                                <a:latin typeface="Cambria Math" panose="02040503050406030204" pitchFamily="18" charset="0"/>
                              </a:rPr>
                              <m:t>𝑢</m:t>
                            </m:r>
                            <m:r>
                              <a:rPr lang="en-US" altLang="zh-TW" sz="2400" i="1">
                                <a:solidFill>
                                  <a:srgbClr val="FF0000"/>
                                </a:solidFill>
                                <a:latin typeface="Cambria Math" panose="02040503050406030204" pitchFamily="18" charset="0"/>
                              </a:rPr>
                              <m:t>| </m:t>
                            </m:r>
                            <m:r>
                              <a:rPr lang="en-US" altLang="zh-TW" sz="2400" i="1">
                                <a:solidFill>
                                  <a:srgbClr val="FF0000"/>
                                </a:solidFill>
                                <a:latin typeface="Cambria Math" panose="02040503050406030204" pitchFamily="18" charset="0"/>
                              </a:rPr>
                              <m:t>𝑃</m:t>
                            </m:r>
                            <m:d>
                              <m:dPr>
                                <m:ctrlPr>
                                  <a:rPr lang="en-US" altLang="zh-TW" sz="2400" i="1">
                                    <a:solidFill>
                                      <a:srgbClr val="FF0000"/>
                                    </a:solidFill>
                                    <a:latin typeface="Cambria Math" panose="02040503050406030204" pitchFamily="18" charset="0"/>
                                  </a:rPr>
                                </m:ctrlPr>
                              </m:dPr>
                              <m:e>
                                <m:r>
                                  <a:rPr lang="en-US" altLang="zh-TW" sz="2400" i="1">
                                    <a:solidFill>
                                      <a:srgbClr val="FF0000"/>
                                    </a:solidFill>
                                    <a:latin typeface="Cambria Math" panose="02040503050406030204" pitchFamily="18" charset="0"/>
                                  </a:rPr>
                                  <m:t>𝑥</m:t>
                                </m:r>
                                <m:r>
                                  <a:rPr lang="en-US" altLang="zh-TW" sz="2400" i="1">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𝑢</m:t>
                                </m:r>
                              </m:e>
                            </m:d>
                            <m:r>
                              <a:rPr lang="en-US" altLang="zh-TW" sz="2400" i="1">
                                <a:solidFill>
                                  <a:srgbClr val="FF0000"/>
                                </a:solidFill>
                                <a:latin typeface="Cambria Math" panose="02040503050406030204" pitchFamily="18" charset="0"/>
                              </a:rPr>
                              <m:t>≥1−</m:t>
                            </m:r>
                            <m:r>
                              <a:rPr lang="en-US" altLang="zh-TW" sz="2400" i="1">
                                <a:solidFill>
                                  <a:srgbClr val="FF0000"/>
                                </a:solidFill>
                                <a:latin typeface="Cambria Math" panose="02040503050406030204" pitchFamily="18" charset="0"/>
                              </a:rPr>
                              <m:t>𝛼</m:t>
                            </m:r>
                          </m:e>
                        </m:d>
                      </m:e>
                    </m:func>
                  </m:oMath>
                </a14:m>
                <a:endParaRPr lang="en-US" altLang="zh-TW" sz="2400" dirty="0" smtClean="0"/>
              </a:p>
              <a:p>
                <a:pPr marL="342900" indent="-342900">
                  <a:lnSpc>
                    <a:spcPct val="120000"/>
                  </a:lnSpc>
                  <a:buFont typeface="Arial" panose="020B0604020202020204" pitchFamily="34" charset="0"/>
                  <a:buChar char="•"/>
                </a:pPr>
                <a14:m>
                  <m:oMath xmlns:m="http://schemas.openxmlformats.org/officeDocument/2006/math">
                    <m:r>
                      <a:rPr lang="en-US" altLang="zh-TW" sz="2400" b="0" i="1" smtClean="0">
                        <a:latin typeface="Cambria Math"/>
                      </a:rPr>
                      <m:t>∴</m:t>
                    </m:r>
                    <m:r>
                      <a:rPr lang="zh-TW" altLang="en-US" sz="2400" i="1">
                        <a:latin typeface="Cambria Math" panose="02040503050406030204" pitchFamily="18" charset="0"/>
                      </a:rPr>
                      <m:t>𝜓</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r>
                          <a:rPr lang="en-US" altLang="zh-TW" sz="2400" b="0" i="1" smtClean="0">
                            <a:latin typeface="Cambria Math" panose="02040503050406030204" pitchFamily="18" charset="0"/>
                          </a:rPr>
                          <m:t>𝑉𝑎𝑅</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𝛼</m:t>
                            </m:r>
                          </m:e>
                        </m:d>
                      </m:e>
                    </m:d>
                    <m:r>
                      <a:rPr lang="en-US" altLang="zh-TW" sz="2400" b="0" i="1" smtClean="0">
                        <a:latin typeface="Cambria Math" panose="02040503050406030204" pitchFamily="18" charset="0"/>
                      </a:rPr>
                      <m:t>=</m:t>
                    </m:r>
                    <m:r>
                      <a:rPr lang="en-US" altLang="zh-TW" sz="2400" b="0" i="1" smtClean="0">
                        <a:latin typeface="Cambria Math"/>
                      </a:rPr>
                      <m:t>1−</m:t>
                    </m:r>
                    <m:r>
                      <a:rPr lang="en-US" altLang="zh-TW" sz="2400" b="0" i="1" smtClean="0">
                        <a:latin typeface="Cambria Math" panose="02040503050406030204" pitchFamily="18" charset="0"/>
                      </a:rPr>
                      <m:t>𝛼</m:t>
                    </m:r>
                  </m:oMath>
                </a14:m>
                <a:endParaRPr lang="en-US" altLang="zh-TW" sz="2400" dirty="0" smtClean="0"/>
              </a:p>
              <a:p>
                <a:pPr marL="342900" indent="-342900">
                  <a:lnSpc>
                    <a:spcPct val="120000"/>
                  </a:lnSpc>
                  <a:buFont typeface="Arial" panose="020B0604020202020204" pitchFamily="34" charset="0"/>
                  <a:buChar char="•"/>
                </a:pPr>
                <a:endParaRPr lang="en-US" altLang="zh-TW" sz="2400" dirty="0"/>
              </a:p>
              <a:p>
                <a:pPr marL="342900" indent="-342900">
                  <a:lnSpc>
                    <a:spcPct val="120000"/>
                  </a:lnSpc>
                  <a:buFont typeface="Arial" panose="020B0604020202020204" pitchFamily="34" charset="0"/>
                  <a:buChar char="•"/>
                </a:pPr>
                <a14:m>
                  <m:oMath xmlns:m="http://schemas.openxmlformats.org/officeDocument/2006/math">
                    <m:r>
                      <a:rPr lang="en-US" altLang="zh-TW" sz="2000" b="0" i="1" smtClean="0">
                        <a:solidFill>
                          <a:srgbClr val="FF0000"/>
                        </a:solidFill>
                        <a:latin typeface="Cambria Math" panose="02040503050406030204" pitchFamily="18" charset="0"/>
                      </a:rPr>
                      <m:t>𝐶𝑉𝑎𝑅</m:t>
                    </m:r>
                    <m:d>
                      <m:dPr>
                        <m:ctrlPr>
                          <a:rPr lang="en-US" altLang="zh-TW" sz="2000" b="0" i="1" smtClean="0">
                            <a:solidFill>
                              <a:srgbClr val="FF0000"/>
                            </a:solidFill>
                            <a:latin typeface="Cambria Math" panose="02040503050406030204" pitchFamily="18" charset="0"/>
                          </a:rPr>
                        </m:ctrlPr>
                      </m:dPr>
                      <m:e>
                        <m:r>
                          <a:rPr lang="en-US" altLang="zh-TW" sz="2000" b="0" i="1" smtClean="0">
                            <a:solidFill>
                              <a:srgbClr val="FF0000"/>
                            </a:solidFill>
                            <a:latin typeface="Cambria Math" panose="02040503050406030204" pitchFamily="18" charset="0"/>
                          </a:rPr>
                          <m:t>𝑥</m:t>
                        </m:r>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𝛼</m:t>
                        </m:r>
                      </m:e>
                    </m:d>
                    <m:r>
                      <a:rPr lang="en-US" altLang="zh-TW" sz="2000" b="0" i="1" smtClean="0">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𝐸</m:t>
                    </m:r>
                    <m:d>
                      <m:dPr>
                        <m:ctrlPr>
                          <a:rPr lang="en-US" altLang="zh-TW" sz="2400" i="1">
                            <a:solidFill>
                              <a:srgbClr val="FF0000"/>
                            </a:solidFill>
                            <a:latin typeface="Cambria Math" panose="02040503050406030204" pitchFamily="18" charset="0"/>
                          </a:rPr>
                        </m:ctrlPr>
                      </m:dPr>
                      <m:e>
                        <m:r>
                          <a:rPr lang="en-US" altLang="zh-TW" sz="2400" i="1">
                            <a:solidFill>
                              <a:srgbClr val="FF0000"/>
                            </a:solidFill>
                            <a:latin typeface="Cambria Math" panose="02040503050406030204" pitchFamily="18" charset="0"/>
                          </a:rPr>
                          <m:t>𝑥</m:t>
                        </m:r>
                        <m:r>
                          <a:rPr lang="en-US" altLang="zh-TW" sz="2400" i="1">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𝑥</m:t>
                        </m:r>
                        <m:r>
                          <a:rPr lang="en-US" altLang="zh-TW" sz="2400" i="1">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𝑉𝑎𝑅</m:t>
                        </m:r>
                        <m:d>
                          <m:dPr>
                            <m:ctrlPr>
                              <a:rPr lang="en-US" altLang="zh-TW" sz="2400" i="1">
                                <a:solidFill>
                                  <a:srgbClr val="FF0000"/>
                                </a:solidFill>
                                <a:latin typeface="Cambria Math" panose="02040503050406030204" pitchFamily="18" charset="0"/>
                              </a:rPr>
                            </m:ctrlPr>
                          </m:dPr>
                          <m:e>
                            <m:r>
                              <a:rPr lang="en-US" altLang="zh-TW" sz="2400" i="1">
                                <a:solidFill>
                                  <a:srgbClr val="FF0000"/>
                                </a:solidFill>
                                <a:latin typeface="Cambria Math" panose="02040503050406030204" pitchFamily="18" charset="0"/>
                              </a:rPr>
                              <m:t>𝑥</m:t>
                            </m:r>
                            <m:r>
                              <a:rPr lang="en-US" altLang="zh-TW" sz="2400" i="1">
                                <a:solidFill>
                                  <a:srgbClr val="FF0000"/>
                                </a:solidFill>
                                <a:latin typeface="Cambria Math" panose="02040503050406030204" pitchFamily="18" charset="0"/>
                              </a:rPr>
                              <m:t>,</m:t>
                            </m:r>
                            <m:r>
                              <a:rPr lang="en-US" altLang="zh-TW" sz="2400" i="1">
                                <a:solidFill>
                                  <a:srgbClr val="FF0000"/>
                                </a:solidFill>
                                <a:latin typeface="Cambria Math" panose="02040503050406030204" pitchFamily="18" charset="0"/>
                              </a:rPr>
                              <m:t>𝛼</m:t>
                            </m:r>
                          </m:e>
                        </m:d>
                      </m:e>
                    </m:d>
                    <m:r>
                      <a:rPr lang="en-US" altLang="zh-TW" sz="2400" b="0" i="1" smtClean="0">
                        <a:solidFill>
                          <a:srgbClr val="FF0000"/>
                        </a:solidFill>
                        <a:latin typeface="Cambria Math"/>
                      </a:rPr>
                      <m:t>=</m:t>
                    </m:r>
                    <m:f>
                      <m:fPr>
                        <m:ctrlPr>
                          <a:rPr lang="en-US" altLang="zh-TW" sz="2000" b="0" i="1" smtClean="0">
                            <a:solidFill>
                              <a:srgbClr val="FF0000"/>
                            </a:solidFill>
                            <a:latin typeface="Cambria Math" panose="02040503050406030204" pitchFamily="18" charset="0"/>
                          </a:rPr>
                        </m:ctrlPr>
                      </m:fPr>
                      <m:num>
                        <m:r>
                          <a:rPr lang="en-US" altLang="zh-TW" sz="2000" b="0" i="1" smtClean="0">
                            <a:solidFill>
                              <a:srgbClr val="FF0000"/>
                            </a:solidFill>
                            <a:latin typeface="Cambria Math" panose="02040503050406030204" pitchFamily="18" charset="0"/>
                          </a:rPr>
                          <m:t>1</m:t>
                        </m:r>
                      </m:num>
                      <m:den>
                        <m:r>
                          <a:rPr lang="en-US" altLang="zh-TW" sz="2000" b="0" i="1" smtClean="0">
                            <a:solidFill>
                              <a:srgbClr val="FF0000"/>
                            </a:solidFill>
                            <a:latin typeface="Cambria Math" panose="02040503050406030204" pitchFamily="18" charset="0"/>
                          </a:rPr>
                          <m:t>1−</m:t>
                        </m:r>
                        <m:r>
                          <a:rPr lang="en-US" altLang="zh-TW" sz="2000" b="0" i="1" smtClean="0">
                            <a:solidFill>
                              <a:srgbClr val="FF0000"/>
                            </a:solidFill>
                            <a:latin typeface="Cambria Math" panose="02040503050406030204" pitchFamily="18" charset="0"/>
                          </a:rPr>
                          <m:t>𝛼</m:t>
                        </m:r>
                      </m:den>
                    </m:f>
                    <m:nary>
                      <m:naryPr>
                        <m:supHide m:val="on"/>
                        <m:ctrlPr>
                          <a:rPr lang="en-US" altLang="zh-TW" sz="2000" b="0" i="1" smtClean="0">
                            <a:solidFill>
                              <a:srgbClr val="FF0000"/>
                            </a:solidFill>
                            <a:latin typeface="Cambria Math" panose="02040503050406030204" pitchFamily="18" charset="0"/>
                          </a:rPr>
                        </m:ctrlPr>
                      </m:naryPr>
                      <m:sub>
                        <m:r>
                          <a:rPr lang="en-US" altLang="zh-TW" sz="2000" b="0" i="1" smtClean="0">
                            <a:solidFill>
                              <a:srgbClr val="FF0000"/>
                            </a:solidFill>
                            <a:latin typeface="Cambria Math" panose="02040503050406030204" pitchFamily="18" charset="0"/>
                          </a:rPr>
                          <m:t>𝑓</m:t>
                        </m:r>
                        <m:d>
                          <m:dPr>
                            <m:ctrlPr>
                              <a:rPr lang="en-US" altLang="zh-TW" sz="2000" b="0" i="1" smtClean="0">
                                <a:solidFill>
                                  <a:srgbClr val="FF0000"/>
                                </a:solidFill>
                                <a:latin typeface="Cambria Math" panose="02040503050406030204" pitchFamily="18" charset="0"/>
                              </a:rPr>
                            </m:ctrlPr>
                          </m:dPr>
                          <m:e>
                            <m:r>
                              <a:rPr lang="en-US" altLang="zh-TW" sz="2000" b="0" i="1" smtClean="0">
                                <a:solidFill>
                                  <a:srgbClr val="FF0000"/>
                                </a:solidFill>
                                <a:latin typeface="Cambria Math" panose="02040503050406030204" pitchFamily="18" charset="0"/>
                              </a:rPr>
                              <m:t>𝑥</m:t>
                            </m:r>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𝑦</m:t>
                            </m:r>
                          </m:e>
                        </m:d>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𝑉𝑎𝑅</m:t>
                        </m:r>
                        <m:d>
                          <m:dPr>
                            <m:ctrlPr>
                              <a:rPr lang="en-US" altLang="zh-TW" sz="2000" b="0" i="1" smtClean="0">
                                <a:solidFill>
                                  <a:srgbClr val="FF0000"/>
                                </a:solidFill>
                                <a:latin typeface="Cambria Math" panose="02040503050406030204" pitchFamily="18" charset="0"/>
                              </a:rPr>
                            </m:ctrlPr>
                          </m:dPr>
                          <m:e>
                            <m:r>
                              <a:rPr lang="en-US" altLang="zh-TW" sz="2000" b="0" i="1" smtClean="0">
                                <a:solidFill>
                                  <a:srgbClr val="FF0000"/>
                                </a:solidFill>
                                <a:latin typeface="Cambria Math" panose="02040503050406030204" pitchFamily="18" charset="0"/>
                              </a:rPr>
                              <m:t>𝑥</m:t>
                            </m:r>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𝛼</m:t>
                            </m:r>
                          </m:e>
                        </m:d>
                      </m:sub>
                      <m:sup/>
                      <m:e>
                        <m:r>
                          <a:rPr lang="en-US" altLang="zh-TW" sz="2000" b="0" i="1" smtClean="0">
                            <a:solidFill>
                              <a:srgbClr val="FF0000"/>
                            </a:solidFill>
                            <a:latin typeface="Cambria Math" panose="02040503050406030204" pitchFamily="18" charset="0"/>
                          </a:rPr>
                          <m:t>𝑓</m:t>
                        </m:r>
                        <m:d>
                          <m:dPr>
                            <m:ctrlPr>
                              <a:rPr lang="en-US" altLang="zh-TW" sz="2000" b="0" i="1" smtClean="0">
                                <a:solidFill>
                                  <a:srgbClr val="FF0000"/>
                                </a:solidFill>
                                <a:latin typeface="Cambria Math" panose="02040503050406030204" pitchFamily="18" charset="0"/>
                              </a:rPr>
                            </m:ctrlPr>
                          </m:dPr>
                          <m:e>
                            <m:r>
                              <a:rPr lang="en-US" altLang="zh-TW" sz="2000" b="0" i="1" smtClean="0">
                                <a:solidFill>
                                  <a:srgbClr val="FF0000"/>
                                </a:solidFill>
                                <a:latin typeface="Cambria Math" panose="02040503050406030204" pitchFamily="18" charset="0"/>
                              </a:rPr>
                              <m:t>𝑥</m:t>
                            </m:r>
                            <m:r>
                              <a:rPr lang="en-US" altLang="zh-TW" sz="2000" b="0" i="1" smtClean="0">
                                <a:solidFill>
                                  <a:srgbClr val="FF0000"/>
                                </a:solidFill>
                                <a:latin typeface="Cambria Math" panose="02040503050406030204" pitchFamily="18" charset="0"/>
                              </a:rPr>
                              <m:t>,</m:t>
                            </m:r>
                            <m:r>
                              <a:rPr lang="en-US" altLang="zh-TW" sz="2000" b="0" i="1" smtClean="0">
                                <a:solidFill>
                                  <a:srgbClr val="FF0000"/>
                                </a:solidFill>
                                <a:latin typeface="Cambria Math" panose="02040503050406030204" pitchFamily="18" charset="0"/>
                              </a:rPr>
                              <m:t>𝑦</m:t>
                            </m:r>
                          </m:e>
                        </m:d>
                      </m:e>
                    </m:nary>
                    <m:r>
                      <a:rPr lang="en-US" altLang="zh-TW" sz="2000" b="0" i="1" smtClean="0">
                        <a:solidFill>
                          <a:srgbClr val="FF0000"/>
                        </a:solidFill>
                        <a:latin typeface="Cambria Math" panose="02040503050406030204" pitchFamily="18" charset="0"/>
                      </a:rPr>
                      <m:t>𝑝</m:t>
                    </m:r>
                    <m:d>
                      <m:dPr>
                        <m:ctrlPr>
                          <a:rPr lang="en-US" altLang="zh-TW" sz="2000" b="0" i="1" smtClean="0">
                            <a:solidFill>
                              <a:srgbClr val="FF0000"/>
                            </a:solidFill>
                            <a:latin typeface="Cambria Math" panose="02040503050406030204" pitchFamily="18" charset="0"/>
                          </a:rPr>
                        </m:ctrlPr>
                      </m:dPr>
                      <m:e>
                        <m:r>
                          <a:rPr lang="en-US" altLang="zh-TW" sz="2000" b="0" i="1" smtClean="0">
                            <a:solidFill>
                              <a:srgbClr val="FF0000"/>
                            </a:solidFill>
                            <a:latin typeface="Cambria Math" panose="02040503050406030204" pitchFamily="18" charset="0"/>
                          </a:rPr>
                          <m:t>𝑦</m:t>
                        </m:r>
                      </m:e>
                    </m:d>
                    <m:r>
                      <a:rPr lang="en-US" altLang="zh-TW" sz="2000" b="0" i="1" smtClean="0">
                        <a:solidFill>
                          <a:srgbClr val="FF0000"/>
                        </a:solidFill>
                        <a:latin typeface="Cambria Math" panose="02040503050406030204" pitchFamily="18" charset="0"/>
                      </a:rPr>
                      <m:t>𝑑𝑦</m:t>
                    </m:r>
                  </m:oMath>
                </a14:m>
                <a:endParaRPr lang="en-US" altLang="zh-TW" sz="2400" dirty="0" smtClean="0">
                  <a:solidFill>
                    <a:srgbClr val="FF0000"/>
                  </a:solidFill>
                </a:endParaRPr>
              </a:p>
              <a:p>
                <a:pPr marL="342900" indent="-342900">
                  <a:lnSpc>
                    <a:spcPct val="120000"/>
                  </a:lnSpc>
                  <a:buFont typeface="Arial" panose="020B0604020202020204" pitchFamily="34" charset="0"/>
                  <a:buChar char="•"/>
                </a:pPr>
                <a:r>
                  <a:rPr lang="en-US" altLang="zh-TW" sz="2400" dirty="0" smtClean="0">
                    <a:solidFill>
                      <a:schemeClr val="tx1"/>
                    </a:solidFill>
                  </a:rPr>
                  <a:t>Let </a:t>
                </a:r>
                <a14:m>
                  <m:oMath xmlns:m="http://schemas.openxmlformats.org/officeDocument/2006/math">
                    <m:r>
                      <a:rPr lang="en-US" altLang="zh-TW" sz="2400" i="1">
                        <a:solidFill>
                          <a:schemeClr val="tx1"/>
                        </a:solidFill>
                        <a:latin typeface="Cambria Math" panose="02040503050406030204" pitchFamily="18" charset="0"/>
                      </a:rPr>
                      <m:t>𝐹</m:t>
                    </m:r>
                    <m:d>
                      <m:dPr>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panose="02040503050406030204" pitchFamily="18" charset="0"/>
                          </a:rPr>
                          <m:t>𝑥</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𝛼</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𝑧</m:t>
                        </m:r>
                      </m:e>
                    </m:d>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𝑧</m:t>
                    </m:r>
                    <m:r>
                      <a:rPr lang="en-US" altLang="zh-TW" sz="2400" b="0" i="1" smtClean="0">
                        <a:solidFill>
                          <a:schemeClr val="tx1"/>
                        </a:solidFill>
                        <a:latin typeface="Cambria Math"/>
                      </a:rPr>
                      <m:t>−</m:t>
                    </m:r>
                    <m:f>
                      <m:fPr>
                        <m:ctrlPr>
                          <a:rPr lang="en-US" altLang="zh-TW" sz="2400" i="1">
                            <a:solidFill>
                              <a:schemeClr val="tx1"/>
                            </a:solidFill>
                            <a:latin typeface="Cambria Math" panose="02040503050406030204" pitchFamily="18" charset="0"/>
                          </a:rPr>
                        </m:ctrlPr>
                      </m:fPr>
                      <m:num>
                        <m:r>
                          <a:rPr lang="en-US" altLang="zh-TW" sz="2400" i="1">
                            <a:solidFill>
                              <a:schemeClr val="tx1"/>
                            </a:solidFill>
                            <a:latin typeface="Cambria Math" panose="02040503050406030204" pitchFamily="18" charset="0"/>
                          </a:rPr>
                          <m:t>1</m:t>
                        </m:r>
                      </m:num>
                      <m:den>
                        <m:r>
                          <a:rPr lang="en-US" altLang="zh-TW" sz="2400" i="1">
                            <a:solidFill>
                              <a:schemeClr val="tx1"/>
                            </a:solidFill>
                            <a:latin typeface="Cambria Math" panose="02040503050406030204" pitchFamily="18" charset="0"/>
                          </a:rPr>
                          <m:t>1−</m:t>
                        </m:r>
                        <m:r>
                          <a:rPr lang="en-US" altLang="zh-TW" sz="2400" i="1">
                            <a:solidFill>
                              <a:schemeClr val="tx1"/>
                            </a:solidFill>
                            <a:latin typeface="Cambria Math" panose="02040503050406030204" pitchFamily="18" charset="0"/>
                          </a:rPr>
                          <m:t>𝛼</m:t>
                        </m:r>
                      </m:den>
                    </m:f>
                    <m:nary>
                      <m:naryPr>
                        <m:supHide m:val="on"/>
                        <m:ctrlPr>
                          <a:rPr lang="en-US" altLang="zh-TW" sz="2400" i="1">
                            <a:solidFill>
                              <a:schemeClr val="tx1"/>
                            </a:solidFill>
                            <a:latin typeface="Cambria Math" panose="02040503050406030204" pitchFamily="18" charset="0"/>
                          </a:rPr>
                        </m:ctrlPr>
                      </m:naryPr>
                      <m:sub>
                        <m:r>
                          <a:rPr lang="en-US" altLang="zh-TW" sz="2400" i="1">
                            <a:solidFill>
                              <a:schemeClr val="tx1"/>
                            </a:solidFill>
                            <a:latin typeface="Cambria Math" panose="02040503050406030204" pitchFamily="18" charset="0"/>
                          </a:rPr>
                          <m:t>𝑓</m:t>
                        </m:r>
                        <m:d>
                          <m:dPr>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panose="02040503050406030204" pitchFamily="18" charset="0"/>
                              </a:rPr>
                              <m:t>𝑥</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𝑦</m:t>
                            </m:r>
                          </m:e>
                        </m:d>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𝑧</m:t>
                        </m:r>
                      </m:sub>
                      <m:sup/>
                      <m:e>
                        <m:d>
                          <m:dPr>
                            <m:ctrlPr>
                              <a:rPr lang="en-US" altLang="zh-TW" sz="2400" i="1">
                                <a:solidFill>
                                  <a:schemeClr val="tx1"/>
                                </a:solidFill>
                                <a:latin typeface="Cambria Math" panose="02040503050406030204" pitchFamily="18" charset="0"/>
                              </a:rPr>
                            </m:ctrlPr>
                          </m:dPr>
                          <m:e>
                            <m:r>
                              <a:rPr lang="en-US" altLang="zh-TW" sz="2400" b="0" i="1" smtClean="0">
                                <a:solidFill>
                                  <a:schemeClr val="tx1"/>
                                </a:solidFill>
                                <a:latin typeface="Cambria Math"/>
                              </a:rPr>
                              <m:t>𝑧</m:t>
                            </m:r>
                            <m:r>
                              <a:rPr lang="en-US" altLang="zh-TW" sz="2400" b="0" i="1" smtClean="0">
                                <a:solidFill>
                                  <a:schemeClr val="tx1"/>
                                </a:solidFill>
                                <a:latin typeface="Cambria Math"/>
                              </a:rPr>
                              <m:t>−</m:t>
                            </m:r>
                            <m:r>
                              <a:rPr lang="en-US" altLang="zh-TW" sz="2400" i="1">
                                <a:solidFill>
                                  <a:schemeClr val="tx1"/>
                                </a:solidFill>
                                <a:latin typeface="Cambria Math" panose="02040503050406030204" pitchFamily="18" charset="0"/>
                              </a:rPr>
                              <m:t>𝑓</m:t>
                            </m:r>
                            <m:d>
                              <m:dPr>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panose="02040503050406030204" pitchFamily="18" charset="0"/>
                                  </a:rPr>
                                  <m:t>𝑥</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𝑦</m:t>
                                </m:r>
                              </m:e>
                            </m:d>
                          </m:e>
                        </m:d>
                      </m:e>
                    </m:nary>
                    <m:r>
                      <a:rPr lang="en-US" altLang="zh-TW" sz="2400" i="1">
                        <a:solidFill>
                          <a:schemeClr val="tx1"/>
                        </a:solidFill>
                        <a:latin typeface="Cambria Math" panose="02040503050406030204" pitchFamily="18" charset="0"/>
                      </a:rPr>
                      <m:t>𝑝</m:t>
                    </m:r>
                    <m:d>
                      <m:dPr>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panose="02040503050406030204" pitchFamily="18" charset="0"/>
                          </a:rPr>
                          <m:t>𝑦</m:t>
                        </m:r>
                      </m:e>
                    </m:d>
                    <m:r>
                      <a:rPr lang="en-US" altLang="zh-TW" sz="2400" i="1">
                        <a:solidFill>
                          <a:schemeClr val="tx1"/>
                        </a:solidFill>
                        <a:latin typeface="Cambria Math" panose="02040503050406030204" pitchFamily="18" charset="0"/>
                      </a:rPr>
                      <m:t>𝑑𝑦</m:t>
                    </m:r>
                  </m:oMath>
                </a14:m>
                <a:endParaRPr lang="en-US" altLang="zh-TW" sz="2400" dirty="0">
                  <a:solidFill>
                    <a:schemeClr val="tx1"/>
                  </a:solidFill>
                </a:endParaRPr>
              </a:p>
              <a:p>
                <a:pPr marL="914400" lvl="1" indent="-457200">
                  <a:lnSpc>
                    <a:spcPct val="120000"/>
                  </a:lnSpc>
                  <a:buFont typeface="+mj-lt"/>
                  <a:buAutoNum type="arabicPeriod"/>
                </a:pPr>
                <a14:m>
                  <m:oMath xmlns:m="http://schemas.openxmlformats.org/officeDocument/2006/math">
                    <m:r>
                      <a:rPr lang="en-US" altLang="zh-TW" sz="2400" i="1">
                        <a:solidFill>
                          <a:schemeClr val="tx1"/>
                        </a:solidFill>
                        <a:latin typeface="Cambria Math" panose="02040503050406030204" pitchFamily="18" charset="0"/>
                      </a:rPr>
                      <m:t>𝐹</m:t>
                    </m:r>
                    <m:d>
                      <m:dPr>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panose="02040503050406030204" pitchFamily="18" charset="0"/>
                          </a:rPr>
                          <m:t>𝑥</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𝛼</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𝑧</m:t>
                        </m:r>
                      </m:e>
                    </m:d>
                    <m:r>
                      <m:rPr>
                        <m:nor/>
                      </m:rPr>
                      <a:rPr lang="zh-TW" altLang="en-US" sz="2400" dirty="0">
                        <a:solidFill>
                          <a:schemeClr val="tx1"/>
                        </a:solidFill>
                      </a:rPr>
                      <m:t> </m:t>
                    </m:r>
                    <m:r>
                      <m:rPr>
                        <m:nor/>
                      </m:rPr>
                      <a:rPr lang="en-US" altLang="zh-TW" sz="2400" dirty="0">
                        <a:solidFill>
                          <a:schemeClr val="tx1"/>
                        </a:solidFill>
                      </a:rPr>
                      <m:t>is</m:t>
                    </m:r>
                    <m:r>
                      <m:rPr>
                        <m:nor/>
                      </m:rPr>
                      <a:rPr lang="en-US" altLang="zh-TW" sz="2400" dirty="0">
                        <a:solidFill>
                          <a:schemeClr val="tx1"/>
                        </a:solidFill>
                      </a:rPr>
                      <m:t> </m:t>
                    </m:r>
                    <m:r>
                      <m:rPr>
                        <m:nor/>
                      </m:rPr>
                      <a:rPr lang="en-US" altLang="zh-TW" sz="2400" dirty="0">
                        <a:solidFill>
                          <a:schemeClr val="tx1"/>
                        </a:solidFill>
                      </a:rPr>
                      <m:t>convex</m:t>
                    </m:r>
                    <m:r>
                      <m:rPr>
                        <m:nor/>
                      </m:rPr>
                      <a:rPr lang="en-US" altLang="zh-TW" sz="2400" dirty="0">
                        <a:solidFill>
                          <a:schemeClr val="tx1"/>
                        </a:solidFill>
                      </a:rPr>
                      <m:t> </m:t>
                    </m:r>
                    <m:r>
                      <m:rPr>
                        <m:nor/>
                      </m:rPr>
                      <a:rPr lang="en-US" altLang="zh-TW" sz="2400" dirty="0">
                        <a:solidFill>
                          <a:schemeClr val="tx1"/>
                        </a:solidFill>
                      </a:rPr>
                      <m:t>w</m:t>
                    </m:r>
                    <m:r>
                      <m:rPr>
                        <m:nor/>
                      </m:rPr>
                      <a:rPr lang="en-US" altLang="zh-TW" sz="2400" dirty="0">
                        <a:solidFill>
                          <a:schemeClr val="tx1"/>
                        </a:solidFill>
                      </a:rPr>
                      <m:t>.</m:t>
                    </m:r>
                    <m:r>
                      <m:rPr>
                        <m:nor/>
                      </m:rPr>
                      <a:rPr lang="en-US" altLang="zh-TW" sz="2400" dirty="0">
                        <a:solidFill>
                          <a:schemeClr val="tx1"/>
                        </a:solidFill>
                      </a:rPr>
                      <m:t>r</m:t>
                    </m:r>
                    <m:r>
                      <m:rPr>
                        <m:nor/>
                      </m:rPr>
                      <a:rPr lang="en-US" altLang="zh-TW" sz="2400" dirty="0">
                        <a:solidFill>
                          <a:schemeClr val="tx1"/>
                        </a:solidFill>
                      </a:rPr>
                      <m:t>.</m:t>
                    </m:r>
                    <m:r>
                      <m:rPr>
                        <m:nor/>
                      </m:rPr>
                      <a:rPr lang="en-US" altLang="zh-TW" sz="2400" dirty="0">
                        <a:solidFill>
                          <a:schemeClr val="tx1"/>
                        </a:solidFill>
                      </a:rPr>
                      <m:t>t</m:t>
                    </m:r>
                    <m:r>
                      <m:rPr>
                        <m:nor/>
                      </m:rPr>
                      <a:rPr lang="en-US" altLang="zh-TW" sz="2400" dirty="0">
                        <a:solidFill>
                          <a:schemeClr val="tx1"/>
                        </a:solidFill>
                      </a:rPr>
                      <m:t> </m:t>
                    </m:r>
                    <m:r>
                      <a:rPr lang="en-US" altLang="zh-TW" sz="2400" i="1">
                        <a:solidFill>
                          <a:schemeClr val="tx1"/>
                        </a:solidFill>
                        <a:latin typeface="Cambria Math" panose="02040503050406030204" pitchFamily="18" charset="0"/>
                      </a:rPr>
                      <m:t>𝛼</m:t>
                    </m:r>
                  </m:oMath>
                </a14:m>
                <a:endParaRPr lang="en-US" altLang="zh-TW" sz="2400" dirty="0">
                  <a:solidFill>
                    <a:schemeClr val="tx1"/>
                  </a:solidFill>
                </a:endParaRPr>
              </a:p>
              <a:p>
                <a:pPr marL="914400" lvl="1" indent="-457200">
                  <a:lnSpc>
                    <a:spcPct val="120000"/>
                  </a:lnSpc>
                  <a:buFont typeface="+mj-lt"/>
                  <a:buAutoNum type="arabicPeriod"/>
                </a:pPr>
                <a14:m>
                  <m:oMath xmlns:m="http://schemas.openxmlformats.org/officeDocument/2006/math">
                    <m:r>
                      <a:rPr lang="en-US" altLang="zh-TW" sz="2400" b="0" i="1" smtClean="0">
                        <a:solidFill>
                          <a:srgbClr val="00B050"/>
                        </a:solidFill>
                        <a:latin typeface="Cambria Math"/>
                      </a:rPr>
                      <m:t>𝑧</m:t>
                    </m:r>
                    <m:r>
                      <a:rPr lang="en-US" altLang="zh-TW" sz="2400" b="0" i="1" smtClean="0">
                        <a:solidFill>
                          <a:srgbClr val="00B050"/>
                        </a:solidFill>
                        <a:latin typeface="Cambria Math"/>
                      </a:rPr>
                      <m:t>=</m:t>
                    </m:r>
                    <m:r>
                      <a:rPr lang="en-US" altLang="zh-TW" sz="2400" i="1">
                        <a:solidFill>
                          <a:srgbClr val="00B050"/>
                        </a:solidFill>
                        <a:latin typeface="Cambria Math" panose="02040503050406030204" pitchFamily="18" charset="0"/>
                      </a:rPr>
                      <m:t>𝑉𝑎𝑅</m:t>
                    </m:r>
                    <m:d>
                      <m:dPr>
                        <m:ctrlPr>
                          <a:rPr lang="en-US" altLang="zh-TW" sz="2400" i="1">
                            <a:solidFill>
                              <a:srgbClr val="00B050"/>
                            </a:solidFill>
                            <a:latin typeface="Cambria Math" panose="02040503050406030204" pitchFamily="18" charset="0"/>
                          </a:rPr>
                        </m:ctrlPr>
                      </m:dPr>
                      <m:e>
                        <m:r>
                          <a:rPr lang="en-US" altLang="zh-TW" sz="2400" i="1">
                            <a:solidFill>
                              <a:srgbClr val="00B050"/>
                            </a:solidFill>
                            <a:latin typeface="Cambria Math" panose="02040503050406030204" pitchFamily="18" charset="0"/>
                          </a:rPr>
                          <m:t>𝑥</m:t>
                        </m:r>
                        <m:r>
                          <a:rPr lang="en-US" altLang="zh-TW" sz="2400" i="1">
                            <a:solidFill>
                              <a:srgbClr val="00B050"/>
                            </a:solidFill>
                            <a:latin typeface="Cambria Math" panose="02040503050406030204" pitchFamily="18" charset="0"/>
                          </a:rPr>
                          <m:t>,</m:t>
                        </m:r>
                        <m:r>
                          <a:rPr lang="en-US" altLang="zh-TW" sz="2400" i="1">
                            <a:solidFill>
                              <a:srgbClr val="00B050"/>
                            </a:solidFill>
                            <a:latin typeface="Cambria Math" panose="02040503050406030204" pitchFamily="18" charset="0"/>
                          </a:rPr>
                          <m:t>𝛼</m:t>
                        </m:r>
                      </m:e>
                    </m:d>
                    <m:r>
                      <m:rPr>
                        <m:nor/>
                      </m:rPr>
                      <a:rPr lang="en-US" altLang="zh-TW" sz="2400" dirty="0">
                        <a:solidFill>
                          <a:srgbClr val="00B050"/>
                        </a:solidFill>
                      </a:rPr>
                      <m:t> </m:t>
                    </m:r>
                    <m:r>
                      <m:rPr>
                        <m:nor/>
                      </m:rPr>
                      <a:rPr lang="en-US" altLang="zh-TW" sz="2400" dirty="0">
                        <a:solidFill>
                          <a:srgbClr val="00B050"/>
                        </a:solidFill>
                      </a:rPr>
                      <m:t>is</m:t>
                    </m:r>
                    <m:r>
                      <m:rPr>
                        <m:nor/>
                      </m:rPr>
                      <a:rPr lang="en-US" altLang="zh-TW" sz="2400" dirty="0">
                        <a:solidFill>
                          <a:srgbClr val="00B050"/>
                        </a:solidFill>
                      </a:rPr>
                      <m:t> </m:t>
                    </m:r>
                    <m:r>
                      <m:rPr>
                        <m:nor/>
                      </m:rPr>
                      <a:rPr lang="en-US" altLang="zh-TW" sz="2400" dirty="0">
                        <a:solidFill>
                          <a:srgbClr val="00B050"/>
                        </a:solidFill>
                      </a:rPr>
                      <m:t>the</m:t>
                    </m:r>
                    <m:r>
                      <m:rPr>
                        <m:nor/>
                      </m:rPr>
                      <a:rPr lang="en-US" altLang="zh-TW" sz="2400" dirty="0">
                        <a:solidFill>
                          <a:srgbClr val="00B050"/>
                        </a:solidFill>
                      </a:rPr>
                      <m:t> </m:t>
                    </m:r>
                    <m:r>
                      <m:rPr>
                        <m:nor/>
                      </m:rPr>
                      <a:rPr lang="en-US" altLang="zh-TW" sz="2400" dirty="0">
                        <a:solidFill>
                          <a:srgbClr val="00B050"/>
                        </a:solidFill>
                      </a:rPr>
                      <m:t>maximizing</m:t>
                    </m:r>
                    <m:r>
                      <m:rPr>
                        <m:nor/>
                      </m:rPr>
                      <a:rPr lang="en-US" altLang="zh-TW" sz="2400" dirty="0">
                        <a:solidFill>
                          <a:srgbClr val="00B050"/>
                        </a:solidFill>
                      </a:rPr>
                      <m:t> </m:t>
                    </m:r>
                    <m:r>
                      <m:rPr>
                        <m:nor/>
                      </m:rPr>
                      <a:rPr lang="en-US" altLang="zh-TW" sz="2400" dirty="0">
                        <a:solidFill>
                          <a:srgbClr val="00B050"/>
                        </a:solidFill>
                      </a:rPr>
                      <m:t>point</m:t>
                    </m:r>
                    <m:r>
                      <m:rPr>
                        <m:nor/>
                      </m:rPr>
                      <a:rPr lang="en-US" altLang="zh-TW" sz="2400" dirty="0">
                        <a:solidFill>
                          <a:srgbClr val="00B050"/>
                        </a:solidFill>
                      </a:rPr>
                      <m:t> </m:t>
                    </m:r>
                    <m:r>
                      <m:rPr>
                        <m:nor/>
                      </m:rPr>
                      <a:rPr lang="en-US" altLang="zh-TW" sz="2400" dirty="0">
                        <a:solidFill>
                          <a:srgbClr val="00B050"/>
                        </a:solidFill>
                      </a:rPr>
                      <m:t>of</m:t>
                    </m:r>
                    <m:r>
                      <m:rPr>
                        <m:nor/>
                      </m:rPr>
                      <a:rPr lang="en-US" altLang="zh-TW" sz="2400" dirty="0">
                        <a:solidFill>
                          <a:srgbClr val="00B050"/>
                        </a:solidFill>
                      </a:rPr>
                      <m:t> </m:t>
                    </m:r>
                    <m:r>
                      <m:rPr>
                        <m:nor/>
                      </m:rPr>
                      <a:rPr lang="en-US" altLang="zh-TW" sz="2400" dirty="0">
                        <a:solidFill>
                          <a:srgbClr val="00B050"/>
                        </a:solidFill>
                      </a:rPr>
                      <m:t>this</m:t>
                    </m:r>
                    <m:r>
                      <m:rPr>
                        <m:nor/>
                      </m:rPr>
                      <a:rPr lang="en-US" altLang="zh-TW" sz="2400" dirty="0">
                        <a:solidFill>
                          <a:srgbClr val="00B050"/>
                        </a:solidFill>
                      </a:rPr>
                      <m:t> </m:t>
                    </m:r>
                    <m:r>
                      <m:rPr>
                        <m:nor/>
                      </m:rPr>
                      <a:rPr lang="en-US" altLang="zh-TW" sz="2400" dirty="0">
                        <a:solidFill>
                          <a:srgbClr val="00B050"/>
                        </a:solidFill>
                      </a:rPr>
                      <m:t>function</m:t>
                    </m:r>
                    <m:r>
                      <m:rPr>
                        <m:nor/>
                      </m:rPr>
                      <a:rPr lang="en-US" altLang="zh-TW" sz="2400" dirty="0">
                        <a:solidFill>
                          <a:srgbClr val="00B050"/>
                        </a:solidFill>
                      </a:rPr>
                      <m:t> </m:t>
                    </m:r>
                    <m:r>
                      <m:rPr>
                        <m:nor/>
                      </m:rPr>
                      <a:rPr lang="en-US" altLang="zh-TW" sz="2400" dirty="0">
                        <a:solidFill>
                          <a:srgbClr val="00B050"/>
                        </a:solidFill>
                      </a:rPr>
                      <m:t>wr</m:t>
                    </m:r>
                    <m:r>
                      <m:rPr>
                        <m:nor/>
                      </m:rPr>
                      <a:rPr lang="en-US" altLang="zh-TW" sz="2400" dirty="0">
                        <a:solidFill>
                          <a:srgbClr val="00B050"/>
                        </a:solidFill>
                      </a:rPr>
                      <m:t>.</m:t>
                    </m:r>
                    <m:r>
                      <m:rPr>
                        <m:nor/>
                      </m:rPr>
                      <a:rPr lang="en-US" altLang="zh-TW" sz="2400" dirty="0">
                        <a:solidFill>
                          <a:srgbClr val="00B050"/>
                        </a:solidFill>
                      </a:rPr>
                      <m:t>t</m:t>
                    </m:r>
                    <m:r>
                      <m:rPr>
                        <m:nor/>
                      </m:rPr>
                      <a:rPr lang="en-US" altLang="zh-TW" sz="2400" dirty="0">
                        <a:solidFill>
                          <a:srgbClr val="00B050"/>
                        </a:solidFill>
                      </a:rPr>
                      <m:t>. </m:t>
                    </m:r>
                    <m:r>
                      <a:rPr lang="en-US" altLang="zh-TW" sz="2400" i="1">
                        <a:solidFill>
                          <a:srgbClr val="00B050"/>
                        </a:solidFill>
                        <a:latin typeface="Cambria Math" panose="02040503050406030204" pitchFamily="18" charset="0"/>
                      </a:rPr>
                      <m:t>𝛼</m:t>
                    </m:r>
                  </m:oMath>
                </a14:m>
                <a:endParaRPr lang="en-US" altLang="zh-TW" sz="2400" dirty="0">
                  <a:solidFill>
                    <a:srgbClr val="00B050"/>
                  </a:solidFill>
                </a:endParaRPr>
              </a:p>
              <a:p>
                <a:pPr marL="914400" lvl="1" indent="-457200">
                  <a:lnSpc>
                    <a:spcPct val="120000"/>
                  </a:lnSpc>
                  <a:buFont typeface="+mj-lt"/>
                  <a:buAutoNum type="arabicPeriod"/>
                </a:pPr>
                <a14:m>
                  <m:oMath xmlns:m="http://schemas.openxmlformats.org/officeDocument/2006/math">
                    <m:r>
                      <m:rPr>
                        <m:nor/>
                      </m:rPr>
                      <a:rPr lang="en-US" altLang="zh-TW" sz="2400" dirty="0">
                        <a:solidFill>
                          <a:srgbClr val="00B050"/>
                        </a:solidFill>
                      </a:rPr>
                      <m:t>Maximizing</m:t>
                    </m:r>
                    <m:r>
                      <m:rPr>
                        <m:nor/>
                      </m:rPr>
                      <a:rPr lang="en-US" altLang="zh-TW" sz="2400" dirty="0">
                        <a:solidFill>
                          <a:srgbClr val="00B050"/>
                        </a:solidFill>
                      </a:rPr>
                      <m:t> </m:t>
                    </m:r>
                    <m:r>
                      <m:rPr>
                        <m:sty m:val="p"/>
                      </m:rPr>
                      <a:rPr lang="en-US" altLang="zh-TW" sz="2400">
                        <a:solidFill>
                          <a:srgbClr val="00B050"/>
                        </a:solidFill>
                        <a:latin typeface="Cambria Math" panose="02040503050406030204" pitchFamily="18" charset="0"/>
                      </a:rPr>
                      <m:t>F</m:t>
                    </m:r>
                    <m:d>
                      <m:dPr>
                        <m:ctrlPr>
                          <a:rPr lang="en-US" altLang="zh-TW" sz="2400" i="1">
                            <a:solidFill>
                              <a:srgbClr val="00B050"/>
                            </a:solidFill>
                            <a:latin typeface="Cambria Math" panose="02040503050406030204" pitchFamily="18" charset="0"/>
                          </a:rPr>
                        </m:ctrlPr>
                      </m:dPr>
                      <m:e>
                        <m:r>
                          <a:rPr lang="en-US" altLang="zh-TW" sz="2400" i="1">
                            <a:solidFill>
                              <a:srgbClr val="00B050"/>
                            </a:solidFill>
                            <a:latin typeface="Cambria Math" panose="02040503050406030204" pitchFamily="18" charset="0"/>
                          </a:rPr>
                          <m:t>𝑥</m:t>
                        </m:r>
                        <m:r>
                          <a:rPr lang="en-US" altLang="zh-TW" sz="2400" i="1">
                            <a:solidFill>
                              <a:srgbClr val="00B050"/>
                            </a:solidFill>
                            <a:latin typeface="Cambria Math" panose="02040503050406030204" pitchFamily="18" charset="0"/>
                          </a:rPr>
                          <m:t>,</m:t>
                        </m:r>
                        <m:r>
                          <a:rPr lang="en-US" altLang="zh-TW" sz="2400" i="1">
                            <a:solidFill>
                              <a:srgbClr val="00B050"/>
                            </a:solidFill>
                            <a:latin typeface="Cambria Math" panose="02040503050406030204" pitchFamily="18" charset="0"/>
                          </a:rPr>
                          <m:t>𝛼</m:t>
                        </m:r>
                        <m:r>
                          <a:rPr lang="en-US" altLang="zh-TW" sz="2400" i="1">
                            <a:solidFill>
                              <a:srgbClr val="00B050"/>
                            </a:solidFill>
                            <a:latin typeface="Cambria Math" panose="02040503050406030204" pitchFamily="18" charset="0"/>
                          </a:rPr>
                          <m:t>,</m:t>
                        </m:r>
                        <m:r>
                          <a:rPr lang="en-US" altLang="zh-TW" sz="2400" i="1">
                            <a:solidFill>
                              <a:srgbClr val="00B050"/>
                            </a:solidFill>
                            <a:latin typeface="Cambria Math" panose="02040503050406030204" pitchFamily="18" charset="0"/>
                          </a:rPr>
                          <m:t>𝑧</m:t>
                        </m:r>
                      </m:e>
                    </m:d>
                    <m:r>
                      <m:rPr>
                        <m:nor/>
                      </m:rPr>
                      <a:rPr lang="en-US" altLang="zh-TW" sz="2400" dirty="0">
                        <a:solidFill>
                          <a:srgbClr val="00B050"/>
                        </a:solidFill>
                      </a:rPr>
                      <m:t> </m:t>
                    </m:r>
                    <m:r>
                      <m:rPr>
                        <m:nor/>
                      </m:rPr>
                      <a:rPr lang="en-US" altLang="zh-TW" sz="2400" dirty="0">
                        <a:solidFill>
                          <a:srgbClr val="00B050"/>
                        </a:solidFill>
                      </a:rPr>
                      <m:t>w</m:t>
                    </m:r>
                    <m:r>
                      <m:rPr>
                        <m:nor/>
                      </m:rPr>
                      <a:rPr lang="en-US" altLang="zh-TW" sz="2400" dirty="0">
                        <a:solidFill>
                          <a:srgbClr val="00B050"/>
                        </a:solidFill>
                      </a:rPr>
                      <m:t>.</m:t>
                    </m:r>
                    <m:r>
                      <m:rPr>
                        <m:nor/>
                      </m:rPr>
                      <a:rPr lang="en-US" altLang="zh-TW" sz="2400" dirty="0">
                        <a:solidFill>
                          <a:srgbClr val="00B050"/>
                        </a:solidFill>
                      </a:rPr>
                      <m:t>r</m:t>
                    </m:r>
                    <m:r>
                      <m:rPr>
                        <m:nor/>
                      </m:rPr>
                      <a:rPr lang="en-US" altLang="zh-TW" sz="2400" dirty="0">
                        <a:solidFill>
                          <a:srgbClr val="00B050"/>
                        </a:solidFill>
                      </a:rPr>
                      <m:t>.</m:t>
                    </m:r>
                    <m:r>
                      <m:rPr>
                        <m:nor/>
                      </m:rPr>
                      <a:rPr lang="en-US" altLang="zh-TW" sz="2400" dirty="0">
                        <a:solidFill>
                          <a:srgbClr val="00B050"/>
                        </a:solidFill>
                      </a:rPr>
                      <m:t>t</m:t>
                    </m:r>
                    <m:r>
                      <m:rPr>
                        <m:nor/>
                      </m:rPr>
                      <a:rPr lang="en-US" altLang="zh-TW" sz="2400" dirty="0">
                        <a:solidFill>
                          <a:srgbClr val="00B050"/>
                        </a:solidFill>
                      </a:rPr>
                      <m:t> </m:t>
                    </m:r>
                    <m:r>
                      <a:rPr lang="en-US" altLang="zh-TW" sz="2400" i="1" dirty="0">
                        <a:solidFill>
                          <a:srgbClr val="00B050"/>
                        </a:solidFill>
                        <a:latin typeface="Cambria Math" panose="02040503050406030204" pitchFamily="18" charset="0"/>
                      </a:rPr>
                      <m:t>𝛼</m:t>
                    </m:r>
                  </m:oMath>
                </a14:m>
                <a:r>
                  <a:rPr lang="en-US" altLang="zh-TW" sz="2400" dirty="0" smtClean="0">
                    <a:solidFill>
                      <a:srgbClr val="00B050"/>
                    </a:solidFill>
                  </a:rPr>
                  <a:t> gives the </a:t>
                </a:r>
                <a:r>
                  <a:rPr lang="en-US" altLang="zh-TW" sz="2400" dirty="0" err="1" smtClean="0">
                    <a:solidFill>
                      <a:srgbClr val="00B050"/>
                    </a:solidFill>
                  </a:rPr>
                  <a:t>CVaR</a:t>
                </a:r>
                <a:r>
                  <a:rPr lang="en-US" altLang="zh-TW" sz="2400" dirty="0" smtClean="0">
                    <a:solidFill>
                      <a:srgbClr val="00B050"/>
                    </a:solidFill>
                  </a:rPr>
                  <a:t>  (given </a:t>
                </a:r>
                <a14:m>
                  <m:oMath xmlns:m="http://schemas.openxmlformats.org/officeDocument/2006/math">
                    <m:r>
                      <a:rPr lang="en-US" altLang="zh-TW" sz="2400" b="0" i="1" smtClean="0">
                        <a:solidFill>
                          <a:srgbClr val="00B050"/>
                        </a:solidFill>
                        <a:latin typeface="Cambria Math"/>
                      </a:rPr>
                      <m:t>𝛼</m:t>
                    </m:r>
                    <m:r>
                      <a:rPr lang="en-US" altLang="zh-TW" sz="2400" b="0" i="1" smtClean="0">
                        <a:solidFill>
                          <a:srgbClr val="00B050"/>
                        </a:solidFill>
                        <a:latin typeface="Cambria Math"/>
                      </a:rPr>
                      <m:t>)</m:t>
                    </m:r>
                  </m:oMath>
                </a14:m>
                <a:endParaRPr lang="en-US" altLang="zh-TW" sz="2400" dirty="0">
                  <a:solidFill>
                    <a:srgbClr val="00B050"/>
                  </a:solidFill>
                </a:endParaRPr>
              </a:p>
            </p:txBody>
          </p:sp>
        </mc:Choice>
        <mc:Fallback>
          <p:sp>
            <p:nvSpPr>
              <p:cNvPr id="5" name="矩形 4"/>
              <p:cNvSpPr>
                <a:spLocks noRot="1" noChangeAspect="1" noMove="1" noResize="1" noEditPoints="1" noAdjustHandles="1" noChangeArrowheads="1" noChangeShapeType="1" noTextEdit="1"/>
              </p:cNvSpPr>
              <p:nvPr/>
            </p:nvSpPr>
            <p:spPr>
              <a:xfrm>
                <a:off x="665409" y="349756"/>
                <a:ext cx="9637690" cy="5406545"/>
              </a:xfrm>
              <a:prstGeom prst="rect">
                <a:avLst/>
              </a:prstGeom>
              <a:blipFill rotWithShape="1">
                <a:blip r:embed="rId2"/>
                <a:stretch>
                  <a:fillRect l="-822" b="-1578"/>
                </a:stretch>
              </a:blipFill>
            </p:spPr>
            <p:txBody>
              <a:bodyPr/>
              <a:lstStyle/>
              <a:p>
                <a:r>
                  <a:rPr lang="zh-TW" altLang="en-US">
                    <a:noFill/>
                  </a:rPr>
                  <a:t> </a:t>
                </a:r>
              </a:p>
            </p:txBody>
          </p:sp>
        </mc:Fallback>
      </mc:AlternateContent>
      <p:pic>
        <p:nvPicPr>
          <p:cNvPr id="6" name="圖片 5"/>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9525869" y="4967784"/>
            <a:ext cx="2514143" cy="1706681"/>
          </a:xfrm>
          <a:prstGeom prst="rect">
            <a:avLst/>
          </a:prstGeom>
        </p:spPr>
      </p:pic>
    </p:spTree>
    <p:extLst>
      <p:ext uri="{BB962C8B-B14F-4D97-AF65-F5344CB8AC3E}">
        <p14:creationId xmlns:p14="http://schemas.microsoft.com/office/powerpoint/2010/main" xmlns="" val="4268541934"/>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23457"/>
            <a:ext cx="10515600" cy="1325563"/>
          </a:xfrm>
        </p:spPr>
        <p:txBody>
          <a:bodyPr/>
          <a:lstStyle/>
          <a:p>
            <a:r>
              <a:rPr lang="en-US" altLang="zh-TW" dirty="0" err="1" smtClean="0"/>
              <a:t>CVaR</a:t>
            </a:r>
            <a:r>
              <a:rPr lang="en-US" altLang="zh-TW" dirty="0" smtClean="0"/>
              <a:t> with finite scenarios </a:t>
            </a:r>
            <a:endParaRPr lang="zh-TW" altLang="en-US" dirty="0"/>
          </a:p>
        </p:txBody>
      </p:sp>
      <p:sp>
        <p:nvSpPr>
          <p:cNvPr id="3" name="投影片編號版面配置區 2"/>
          <p:cNvSpPr>
            <a:spLocks noGrp="1"/>
          </p:cNvSpPr>
          <p:nvPr>
            <p:ph type="sldNum" sz="quarter" idx="12"/>
          </p:nvPr>
        </p:nvSpPr>
        <p:spPr/>
        <p:txBody>
          <a:bodyPr/>
          <a:lstStyle/>
          <a:p>
            <a:fld id="{56E38F8E-F105-4395-BB51-B47D06FD7340}" type="slidenum">
              <a:rPr lang="zh-TW" altLang="en-US" smtClean="0"/>
              <a:pPr/>
              <a:t>18</a:t>
            </a:fld>
            <a:endParaRPr lang="zh-TW" altLang="en-US"/>
          </a:p>
        </p:txBody>
      </p:sp>
      <mc:AlternateContent xmlns:mc="http://schemas.openxmlformats.org/markup-compatibility/2006">
        <mc:Choice xmlns:a14="http://schemas.microsoft.com/office/drawing/2010/main" xmlns="" Requires="a14">
          <p:sp>
            <p:nvSpPr>
              <p:cNvPr id="4" name="文字方塊 3"/>
              <p:cNvSpPr txBox="1"/>
              <p:nvPr/>
            </p:nvSpPr>
            <p:spPr>
              <a:xfrm>
                <a:off x="1133340" y="1390321"/>
                <a:ext cx="10055769" cy="455252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𝑠</m:t>
                          </m:r>
                        </m:sub>
                      </m:sSub>
                      <m:r>
                        <a:rPr lang="en-US" altLang="zh-TW" sz="2400" b="0" i="1" smtClean="0">
                          <a:latin typeface="Cambria Math" panose="02040503050406030204" pitchFamily="18" charset="0"/>
                        </a:rPr>
                        <m:t>=</m:t>
                      </m:r>
                      <m:func>
                        <m:funcPr>
                          <m:ctrlPr>
                            <a:rPr lang="en-US" altLang="zh-TW" sz="2400" b="0" i="1" smtClean="0">
                              <a:latin typeface="Cambria Math" panose="02040503050406030204" pitchFamily="18" charset="0"/>
                            </a:rPr>
                          </m:ctrlPr>
                        </m:funcPr>
                        <m:fName>
                          <m:r>
                            <m:rPr>
                              <m:sty m:val="p"/>
                            </m:rPr>
                            <a:rPr lang="en-US" altLang="zh-TW" sz="2400" b="0" i="0" smtClean="0">
                              <a:latin typeface="Cambria Math" panose="02040503050406030204" pitchFamily="18" charset="0"/>
                            </a:rPr>
                            <m:t>max</m:t>
                          </m:r>
                        </m:fName>
                        <m:e>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0, </m:t>
                              </m:r>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𝑠</m:t>
                                  </m:r>
                                </m:sub>
                              </m:sSub>
                            </m:e>
                          </m:d>
                          <m:r>
                            <a:rPr lang="en-US" altLang="zh-TW" sz="2400" b="0" i="1" smtClean="0">
                              <a:latin typeface="Cambria Math" panose="02040503050406030204" pitchFamily="18" charset="0"/>
                            </a:rPr>
                            <m:t>,</m:t>
                          </m:r>
                        </m:e>
                      </m:func>
                    </m:oMath>
                  </m:oMathPara>
                </a14:m>
                <a:endParaRPr lang="en-US" altLang="zh-TW" sz="2400" b="0" dirty="0" smtClean="0"/>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nary>
                        <m:naryPr>
                          <m:chr m:val="∑"/>
                          <m:supHide m:val="on"/>
                          <m:ctrlPr>
                            <a:rPr lang="en-US" altLang="zh-TW" sz="2400" b="0" i="1" smtClean="0">
                              <a:latin typeface="Cambria Math" panose="02040503050406030204" pitchFamily="18" charset="0"/>
                            </a:rPr>
                          </m:ctrlPr>
                        </m:naryPr>
                        <m:sub>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Ω</m:t>
                          </m:r>
                        </m:sub>
                        <m:sup/>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r>
                                <a:rPr lang="en-US" altLang="zh-TW" sz="2400" b="0" i="1" smtClean="0">
                                  <a:latin typeface="Cambria Math" panose="02040503050406030204" pitchFamily="18" charset="0"/>
                                </a:rPr>
                                <m:t>𝑠</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𝑠</m:t>
                              </m:r>
                            </m:sub>
                          </m:sSub>
                        </m:e>
                      </m:nary>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f>
                            <m:fPr>
                              <m:ctrlPr>
                                <a:rPr lang="en-US" altLang="zh-TW" sz="2400" i="1">
                                  <a:latin typeface="Cambria Math" panose="02040503050406030204" pitchFamily="18" charset="0"/>
                                </a:rPr>
                              </m:ctrlPr>
                            </m:fPr>
                            <m:num>
                              <m:nary>
                                <m:naryPr>
                                  <m:chr m:val="∑"/>
                                  <m:supHide m:val="on"/>
                                  <m:ctrlPr>
                                    <a:rPr lang="en-US" altLang="zh-TW" sz="2400" i="1">
                                      <a:latin typeface="Cambria Math" panose="02040503050406030204" pitchFamily="18" charset="0"/>
                                    </a:rPr>
                                  </m:ctrlPr>
                                </m:naryPr>
                                <m:sub>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𝑠</m:t>
                                      </m:r>
                                      <m:r>
                                        <a:rPr lang="en-US" altLang="zh-TW" sz="2400" i="1">
                                          <a:latin typeface="Cambria Math" panose="02040503050406030204" pitchFamily="18" charset="0"/>
                                        </a:rPr>
                                        <m:t>∈</m:t>
                                      </m:r>
                                      <m:r>
                                        <m:rPr>
                                          <m:sty m:val="p"/>
                                        </m:rPr>
                                        <a:rPr lang="en-US" altLang="zh-TW" sz="2400">
                                          <a:latin typeface="Cambria Math" panose="02040503050406030204" pitchFamily="18" charset="0"/>
                                        </a:rPr>
                                        <m:t>Ω</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𝑠</m:t>
                                          </m:r>
                                        </m:sub>
                                      </m:sSub>
                                      <m:r>
                                        <a:rPr lang="en-US" altLang="zh-TW" sz="2400" i="1">
                                          <a:latin typeface="Cambria Math" panose="02040503050406030204" pitchFamily="18" charset="0"/>
                                        </a:rPr>
                                        <m:t>≤</m:t>
                                      </m:r>
                                      <m:r>
                                        <a:rPr lang="en-US" altLang="zh-TW" sz="2400" i="1">
                                          <a:latin typeface="Cambria Math" panose="02040503050406030204" pitchFamily="18" charset="0"/>
                                        </a:rPr>
                                        <m:t>𝑧</m:t>
                                      </m:r>
                                    </m:e>
                                  </m:d>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𝑠</m:t>
                                      </m:r>
                                    </m:sub>
                                  </m:sSub>
                                </m:e>
                              </m:nary>
                            </m:num>
                            <m:den>
                              <m:r>
                                <a:rPr lang="en-US" altLang="zh-TW" sz="2400" i="1">
                                  <a:latin typeface="Cambria Math" panose="02040503050406030204" pitchFamily="18" charset="0"/>
                                </a:rPr>
                                <m:t>1−</m:t>
                              </m:r>
                              <m:r>
                                <a:rPr lang="en-US" altLang="zh-TW" sz="2400" i="1">
                                  <a:latin typeface="Cambria Math" panose="02040503050406030204" pitchFamily="18" charset="0"/>
                                </a:rPr>
                                <m:t>𝛼</m:t>
                              </m:r>
                            </m:den>
                          </m:f>
                        </m:e>
                      </m:d>
                      <m:r>
                        <a:rPr lang="en-US" altLang="zh-TW" sz="2400" i="1">
                          <a:latin typeface="Cambria Math" panose="02040503050406030204" pitchFamily="18" charset="0"/>
                        </a:rPr>
                        <m:t>𝑧</m:t>
                      </m:r>
                      <m:r>
                        <a:rPr lang="en-US" altLang="zh-TW" sz="2400" i="1">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1−</m:t>
                          </m:r>
                          <m:r>
                            <a:rPr lang="en-US" altLang="zh-TW" sz="2400" i="1">
                              <a:latin typeface="Cambria Math" panose="02040503050406030204" pitchFamily="18" charset="0"/>
                            </a:rPr>
                            <m:t>𝛼</m:t>
                          </m:r>
                        </m:den>
                      </m:f>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m:t>
                          </m:r>
                          <m:r>
                            <a:rPr lang="en-US" altLang="zh-TW" sz="2400" i="1">
                              <a:latin typeface="Cambria Math" panose="02040503050406030204" pitchFamily="18" charset="0"/>
                            </a:rPr>
                            <m:t>𝑠</m:t>
                          </m:r>
                          <m:r>
                            <a:rPr lang="en-US" altLang="zh-TW" sz="2400" i="1">
                              <a:latin typeface="Cambria Math" panose="02040503050406030204" pitchFamily="18" charset="0"/>
                            </a:rPr>
                            <m:t>∈</m:t>
                          </m:r>
                          <m:r>
                            <m:rPr>
                              <m:sty m:val="p"/>
                            </m:rPr>
                            <a:rPr lang="en-US" altLang="zh-TW" sz="2400">
                              <a:latin typeface="Cambria Math" panose="02040503050406030204" pitchFamily="18" charset="0"/>
                            </a:rPr>
                            <m:t>Ω</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𝑠</m:t>
                              </m:r>
                            </m:sub>
                          </m:sSub>
                          <m:r>
                            <a:rPr lang="en-US" altLang="zh-TW" sz="2400" i="1">
                              <a:latin typeface="Cambria Math" panose="02040503050406030204" pitchFamily="18" charset="0"/>
                            </a:rPr>
                            <m:t>≤</m:t>
                          </m:r>
                          <m:r>
                            <a:rPr lang="en-US" altLang="zh-TW" sz="2400" i="1">
                              <a:latin typeface="Cambria Math" panose="02040503050406030204" pitchFamily="18" charset="0"/>
                            </a:rPr>
                            <m:t>𝑧</m:t>
                          </m:r>
                          <m:r>
                            <a:rPr lang="en-US" altLang="zh-TW" sz="2400" i="1">
                              <a:latin typeface="Cambria Math" panose="02040503050406030204" pitchFamily="18" charset="0"/>
                            </a:rPr>
                            <m:t>}</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𝑠</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𝑠</m:t>
                              </m:r>
                            </m:sub>
                          </m:sSub>
                        </m:e>
                      </m:nary>
                    </m:oMath>
                  </m:oMathPara>
                </a14:m>
                <a:endParaRPr lang="en-US" altLang="zh-TW" sz="2400" dirty="0" smtClean="0"/>
              </a:p>
              <a:p>
                <a:endParaRPr lang="en-US" altLang="zh-TW" sz="2400" dirty="0"/>
              </a:p>
              <a:p>
                <a:r>
                  <a:rPr lang="en-US" altLang="zh-TW" sz="2400" b="0" dirty="0" smtClean="0">
                    <a:solidFill>
                      <a:srgbClr val="FF0000"/>
                    </a:solidFill>
                  </a:rPr>
                  <a:t>(</a:t>
                </a:r>
                <a:r>
                  <a:rPr lang="en-US" altLang="zh-TW" sz="2400" b="1" i="1" dirty="0" smtClean="0">
                    <a:solidFill>
                      <a:srgbClr val="FF0000"/>
                    </a:solidFill>
                  </a:rPr>
                  <a:t>P</a:t>
                </a:r>
                <a:r>
                  <a:rPr lang="en-US" altLang="zh-TW" sz="2400" b="0" dirty="0" smtClean="0">
                    <a:solidFill>
                      <a:srgbClr val="FF0000"/>
                    </a:solidFill>
                  </a:rPr>
                  <a:t>) </a:t>
                </a:r>
                <a14:m>
                  <m:oMath xmlns:m="http://schemas.openxmlformats.org/officeDocument/2006/math">
                    <m:func>
                      <m:funcPr>
                        <m:ctrlPr>
                          <a:rPr lang="en-US" altLang="zh-TW" sz="2400" b="0" i="1" smtClean="0">
                            <a:latin typeface="Cambria Math" panose="02040503050406030204" pitchFamily="18" charset="0"/>
                          </a:rPr>
                        </m:ctrlPr>
                      </m:funcPr>
                      <m:fName>
                        <m:r>
                          <m:rPr>
                            <m:sty m:val="p"/>
                          </m:rPr>
                          <a:rPr lang="en-US" altLang="zh-TW" sz="2400" b="0" i="0" smtClean="0">
                            <a:latin typeface="Cambria Math" panose="02040503050406030204" pitchFamily="18" charset="0"/>
                          </a:rPr>
                          <m:t>max</m:t>
                        </m:r>
                      </m:fName>
                      <m:e>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𝛼</m:t>
                            </m:r>
                          </m:den>
                        </m:f>
                        <m:nary>
                          <m:naryPr>
                            <m:chr m:val="∑"/>
                            <m:ctrlPr>
                              <a:rPr lang="en-US" altLang="zh-TW" sz="2400" b="0" i="1" smtClean="0">
                                <a:latin typeface="Cambria Math" panose="02040503050406030204" pitchFamily="18" charset="0"/>
                              </a:rPr>
                            </m:ctrlPr>
                          </m:naryPr>
                          <m:sub>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𝑆</m:t>
                            </m:r>
                          </m:sup>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r>
                                  <a:rPr lang="en-US" altLang="zh-TW" sz="2400" b="0" i="1" smtClean="0">
                                    <a:latin typeface="Cambria Math" panose="02040503050406030204" pitchFamily="18" charset="0"/>
                                  </a:rPr>
                                  <m:t>𝑠</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𝑠</m:t>
                                </m:r>
                              </m:sub>
                            </m:sSub>
                          </m:e>
                        </m:nary>
                      </m:e>
                    </m:func>
                  </m:oMath>
                </a14:m>
                <a:endParaRPr lang="en-US" altLang="zh-TW" sz="2400" b="0" dirty="0" smtClean="0"/>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 </m:t>
                      </m:r>
                    </m:oMath>
                  </m:oMathPara>
                </a14:m>
                <a:endParaRPr lang="en-US" altLang="zh-TW" sz="2400" b="0" i="1" dirty="0" smtClean="0">
                  <a:latin typeface="Cambria Math" panose="02040503050406030204" pitchFamily="18" charset="0"/>
                </a:endParaRPr>
              </a:p>
              <a:p>
                <a:pPr lvl="1"/>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𝑠</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𝑋</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ℝ</m:t>
                      </m:r>
                    </m:oMath>
                  </m:oMathPara>
                </a14:m>
                <a:endParaRPr lang="en-US" altLang="zh-TW" sz="2400" dirty="0" smtClean="0"/>
              </a:p>
              <a:p>
                <a:pPr lvl="1"/>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𝑠</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𝑠</m:t>
                          </m:r>
                        </m:sub>
                      </m:sSub>
                      <m:r>
                        <a:rPr lang="en-US" altLang="zh-TW" sz="2400" b="0" i="1" smtClean="0">
                          <a:latin typeface="Cambria Math" panose="02040503050406030204" pitchFamily="18" charset="0"/>
                        </a:rPr>
                        <m:t>,</m:t>
                      </m:r>
                    </m:oMath>
                  </m:oMathPara>
                </a14:m>
                <a:endParaRPr lang="en-US" altLang="zh-TW" sz="2400" b="0" dirty="0" smtClean="0"/>
              </a:p>
              <a:p>
                <a:pPr lvl="1"/>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𝑠</m:t>
                          </m:r>
                        </m:sub>
                      </m:sSub>
                      <m:r>
                        <a:rPr lang="en-US" altLang="zh-TW" sz="2400" b="0" i="1" smtClean="0">
                          <a:latin typeface="Cambria Math" panose="02040503050406030204" pitchFamily="18" charset="0"/>
                        </a:rPr>
                        <m:t>≥0, </m:t>
                      </m:r>
                    </m:oMath>
                  </m:oMathPara>
                </a14:m>
                <a:endParaRPr lang="en-US" altLang="zh-TW" sz="2400" b="0" dirty="0" smtClean="0"/>
              </a:p>
              <a:p>
                <a:pPr lvl="1"/>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𝑆</m:t>
                      </m:r>
                    </m:oMath>
                  </m:oMathPara>
                </a14:m>
                <a:endParaRPr lang="en-US" altLang="zh-TW" sz="2400" b="0" dirty="0" smtClean="0"/>
              </a:p>
              <a:p>
                <a:pPr lvl="1"/>
                <a:endParaRPr lang="en-US" altLang="zh-TW" sz="2400" dirty="0" smtClean="0"/>
              </a:p>
            </p:txBody>
          </p:sp>
        </mc:Choice>
        <mc:Fallback>
          <p:sp>
            <p:nvSpPr>
              <p:cNvPr id="4" name="文字方塊 3"/>
              <p:cNvSpPr txBox="1">
                <a:spLocks noRot="1" noChangeAspect="1" noMove="1" noResize="1" noEditPoints="1" noAdjustHandles="1" noChangeArrowheads="1" noChangeShapeType="1" noTextEdit="1"/>
              </p:cNvSpPr>
              <p:nvPr/>
            </p:nvSpPr>
            <p:spPr>
              <a:xfrm>
                <a:off x="1133340" y="1390321"/>
                <a:ext cx="10055769" cy="4552528"/>
              </a:xfrm>
              <a:prstGeom prst="rect">
                <a:avLst/>
              </a:prstGeom>
              <a:blipFill rotWithShape="1">
                <a:blip r:embed="rId2"/>
                <a:stretch>
                  <a:fillRect l="-970"/>
                </a:stretch>
              </a:blipFill>
            </p:spPr>
            <p:txBody>
              <a:bodyPr/>
              <a:lstStyle/>
              <a:p>
                <a:r>
                  <a:rPr lang="zh-TW" altLang="en-US">
                    <a:noFill/>
                  </a:rPr>
                  <a:t> </a:t>
                </a:r>
              </a:p>
            </p:txBody>
          </p:sp>
        </mc:Fallback>
      </mc:AlternateContent>
      <p:sp>
        <p:nvSpPr>
          <p:cNvPr id="6" name="文字方塊 5"/>
          <p:cNvSpPr txBox="1"/>
          <p:nvPr/>
        </p:nvSpPr>
        <p:spPr>
          <a:xfrm>
            <a:off x="5093111" y="3362632"/>
            <a:ext cx="5801032" cy="3160224"/>
          </a:xfrm>
          <a:prstGeom prst="rect">
            <a:avLst/>
          </a:prstGeom>
          <a:noFill/>
        </p:spPr>
        <p:txBody>
          <a:bodyPr wrap="square" rtlCol="0">
            <a:spAutoFit/>
          </a:bodyPr>
          <a:lstStyle/>
          <a:p>
            <a:pPr marL="457200" indent="-457200">
              <a:lnSpc>
                <a:spcPct val="120000"/>
              </a:lnSpc>
              <a:buFont typeface="Arial" panose="020B0604020202020204" pitchFamily="34" charset="0"/>
              <a:buChar char="•"/>
            </a:pPr>
            <a:r>
              <a:rPr lang="en-US" altLang="zh-TW" sz="2800" dirty="0" smtClean="0"/>
              <a:t>The optimal solution of </a:t>
            </a:r>
            <a:r>
              <a:rPr lang="en-US" altLang="zh-TW" sz="2800" b="1" i="1" dirty="0" smtClean="0">
                <a:solidFill>
                  <a:srgbClr val="FF0000"/>
                </a:solidFill>
              </a:rPr>
              <a:t>P</a:t>
            </a:r>
            <a:r>
              <a:rPr lang="en-US" altLang="zh-TW" sz="2800" dirty="0" smtClean="0"/>
              <a:t> is the </a:t>
            </a:r>
            <a:r>
              <a:rPr lang="en-US" altLang="zh-TW" sz="2800" dirty="0" err="1" smtClean="0"/>
              <a:t>CVaR</a:t>
            </a:r>
            <a:r>
              <a:rPr lang="en-US" altLang="zh-TW" sz="2800" dirty="0" smtClean="0"/>
              <a:t> of the distribution.</a:t>
            </a:r>
          </a:p>
          <a:p>
            <a:pPr marL="457200" indent="-457200">
              <a:lnSpc>
                <a:spcPct val="120000"/>
              </a:lnSpc>
              <a:buFont typeface="Arial" panose="020B0604020202020204" pitchFamily="34" charset="0"/>
              <a:buChar char="•"/>
            </a:pPr>
            <a:r>
              <a:rPr lang="en-US" altLang="zh-TW" sz="2800" dirty="0">
                <a:solidFill>
                  <a:srgbClr val="0070C0"/>
                </a:solidFill>
              </a:rPr>
              <a:t>The </a:t>
            </a:r>
            <a:r>
              <a:rPr lang="en-US" altLang="zh-TW" sz="2800" b="1" i="1" dirty="0">
                <a:solidFill>
                  <a:srgbClr val="0070C0"/>
                </a:solidFill>
              </a:rPr>
              <a:t>z</a:t>
            </a:r>
            <a:r>
              <a:rPr lang="en-US" altLang="zh-TW" sz="2800" dirty="0">
                <a:solidFill>
                  <a:srgbClr val="0070C0"/>
                </a:solidFill>
              </a:rPr>
              <a:t> in the optimal solution is corresponding to the </a:t>
            </a:r>
            <a:r>
              <a:rPr lang="en-US" altLang="zh-TW" sz="2800" dirty="0" err="1">
                <a:solidFill>
                  <a:srgbClr val="0070C0"/>
                </a:solidFill>
              </a:rPr>
              <a:t>VaR</a:t>
            </a:r>
            <a:r>
              <a:rPr lang="en-US" altLang="zh-TW" sz="2800" dirty="0">
                <a:solidFill>
                  <a:srgbClr val="0070C0"/>
                </a:solidFill>
              </a:rPr>
              <a:t> of the distribution.</a:t>
            </a:r>
          </a:p>
          <a:p>
            <a:pPr>
              <a:lnSpc>
                <a:spcPct val="120000"/>
              </a:lnSpc>
            </a:pPr>
            <a:endParaRPr lang="zh-TW" altLang="en-US" sz="2800" dirty="0"/>
          </a:p>
        </p:txBody>
      </p:sp>
    </p:spTree>
    <p:extLst>
      <p:ext uri="{BB962C8B-B14F-4D97-AF65-F5344CB8AC3E}">
        <p14:creationId xmlns:p14="http://schemas.microsoft.com/office/powerpoint/2010/main" xmlns="" val="629896096"/>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22290" y="0"/>
            <a:ext cx="10515600" cy="1325563"/>
          </a:xfrm>
        </p:spPr>
        <p:txBody>
          <a:bodyPr/>
          <a:lstStyle/>
          <a:p>
            <a:r>
              <a:rPr lang="en-US" altLang="zh-TW" dirty="0" smtClean="0"/>
              <a:t>Our model </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838200" y="1369677"/>
                <a:ext cx="10515600" cy="5351798"/>
              </a:xfrm>
            </p:spPr>
            <p:txBody>
              <a:bodyPr>
                <a:normAutofit/>
              </a:bodyPr>
              <a:lstStyle/>
              <a:p>
                <a:pPr marL="0" indent="0">
                  <a:buNone/>
                </a:pPr>
                <a14:m>
                  <m:oMathPara xmlns:m="http://schemas.openxmlformats.org/officeDocument/2006/math">
                    <m:oMathParaPr>
                      <m:jc m:val="left"/>
                    </m:oMathParaPr>
                    <m:oMath xmlns:m="http://schemas.openxmlformats.org/officeDocument/2006/math">
                      <m:func>
                        <m:funcPr>
                          <m:ctrlPr>
                            <a:rPr lang="en-US" altLang="zh-TW" i="1" smtClean="0">
                              <a:latin typeface="Cambria Math" panose="02040503050406030204" pitchFamily="18" charset="0"/>
                            </a:rPr>
                          </m:ctrlPr>
                        </m:funcPr>
                        <m:fName>
                          <m:r>
                            <m:rPr>
                              <m:sty m:val="p"/>
                            </m:rPr>
                            <a:rPr lang="en-US" altLang="zh-TW">
                              <a:latin typeface="Cambria Math" panose="02040503050406030204" pitchFamily="18" charset="0"/>
                            </a:rPr>
                            <m:t>max</m:t>
                          </m:r>
                        </m:fName>
                        <m:e>
                          <m:r>
                            <a:rPr lang="en-US" altLang="zh-TW" i="1" smtClean="0">
                              <a:solidFill>
                                <a:srgbClr val="FF0000"/>
                              </a:solidFill>
                              <a:latin typeface="Cambria Math" panose="02040503050406030204" pitchFamily="18" charset="0"/>
                            </a:rPr>
                            <m:t>𝑧</m:t>
                          </m:r>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1−</m:t>
                              </m:r>
                              <m:r>
                                <a:rPr lang="en-US" altLang="zh-TW" i="1" smtClean="0">
                                  <a:solidFill>
                                    <a:srgbClr val="00B050"/>
                                  </a:solidFill>
                                  <a:latin typeface="Cambria Math" panose="02040503050406030204" pitchFamily="18" charset="0"/>
                                </a:rPr>
                                <m:t>𝛼</m:t>
                              </m:r>
                            </m:den>
                          </m:f>
                          <m:nary>
                            <m:naryPr>
                              <m:chr m:val="∑"/>
                              <m:ctrlPr>
                                <a:rPr lang="en-US" altLang="zh-TW" i="1">
                                  <a:latin typeface="Cambria Math" panose="02040503050406030204" pitchFamily="18" charset="0"/>
                                </a:rPr>
                              </m:ctrlPr>
                            </m:naryPr>
                            <m:sub>
                              <m:r>
                                <a:rPr lang="en-US" altLang="zh-TW" i="1">
                                  <a:latin typeface="Cambria Math" panose="02040503050406030204" pitchFamily="18" charset="0"/>
                                </a:rPr>
                                <m:t>𝑠</m:t>
                              </m:r>
                              <m:r>
                                <a:rPr lang="en-US" altLang="zh-TW" i="1">
                                  <a:latin typeface="Cambria Math" panose="02040503050406030204" pitchFamily="18" charset="0"/>
                                </a:rPr>
                                <m:t>=1</m:t>
                              </m:r>
                            </m:sub>
                            <m:sup>
                              <m:r>
                                <a:rPr lang="en-US" altLang="zh-TW" i="1">
                                  <a:latin typeface="Cambria Math" panose="02040503050406030204" pitchFamily="18" charset="0"/>
                                </a:rPr>
                                <m:t>𝑆</m:t>
                              </m:r>
                            </m:sup>
                            <m:e>
                              <m:sSub>
                                <m:sSubPr>
                                  <m:ctrlPr>
                                    <a:rPr lang="en-US" altLang="zh-TW" i="1" smtClean="0">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𝑝</m:t>
                                  </m:r>
                                </m:e>
                                <m:sub>
                                  <m:r>
                                    <a:rPr lang="en-US" altLang="zh-TW" i="1">
                                      <a:solidFill>
                                        <a:srgbClr val="00B050"/>
                                      </a:solidFill>
                                      <a:latin typeface="Cambria Math" panose="02040503050406030204" pitchFamily="18" charset="0"/>
                                    </a:rPr>
                                    <m:t>𝑠</m:t>
                                  </m:r>
                                </m:sub>
                              </m:sSub>
                              <m:sSub>
                                <m:sSubPr>
                                  <m:ctrlPr>
                                    <a:rPr lang="en-US" altLang="zh-TW" i="1" smtClean="0">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𝑦</m:t>
                                  </m:r>
                                </m:e>
                                <m:sub>
                                  <m:r>
                                    <a:rPr lang="en-US" altLang="zh-TW" i="1">
                                      <a:solidFill>
                                        <a:srgbClr val="FF0000"/>
                                      </a:solidFill>
                                      <a:latin typeface="Cambria Math" panose="02040503050406030204" pitchFamily="18" charset="0"/>
                                    </a:rPr>
                                    <m:t>𝑠</m:t>
                                  </m:r>
                                </m:sub>
                              </m:sSub>
                            </m:e>
                          </m:nary>
                        </m:e>
                      </m:func>
                    </m:oMath>
                  </m:oMathPara>
                </a14:m>
                <a:endParaRPr lang="en-US" altLang="zh-TW" dirty="0" smtClean="0"/>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r>
                        <a:rPr lang="en-US" altLang="zh-TW" b="0" i="1" smtClean="0">
                          <a:latin typeface="Cambria Math" panose="02040503050406030204" pitchFamily="18" charset="0"/>
                        </a:rPr>
                        <m:t>.</m:t>
                      </m:r>
                    </m:oMath>
                  </m:oMathPara>
                </a14:m>
                <a:endParaRPr lang="en-US" altLang="zh-TW" dirty="0" smtClean="0"/>
              </a:p>
              <a:p>
                <a:pPr marL="0" indent="0">
                  <a:buNone/>
                </a:pPr>
                <a14:m>
                  <m:oMathPara xmlns:m="http://schemas.openxmlformats.org/officeDocument/2006/math">
                    <m:oMathParaPr>
                      <m:jc m:val="left"/>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𝑦</m:t>
                          </m:r>
                        </m:e>
                        <m:sub>
                          <m:r>
                            <a:rPr lang="en-US" altLang="zh-TW" b="0" i="1" smtClean="0">
                              <a:solidFill>
                                <a:srgbClr val="FF0000"/>
                              </a:solidFill>
                              <a:latin typeface="Cambria Math" panose="02040503050406030204" pitchFamily="18" charset="0"/>
                            </a:rPr>
                            <m:t>𝑠</m:t>
                          </m:r>
                        </m:sub>
                      </m:sSub>
                      <m:r>
                        <a:rPr lang="en-US" altLang="zh-TW" b="0" i="1" smtClean="0">
                          <a:latin typeface="Cambria Math" panose="02040503050406030204" pitchFamily="18" charset="0"/>
                        </a:rPr>
                        <m:t>≥</m:t>
                      </m:r>
                      <m:r>
                        <a:rPr lang="en-US" altLang="zh-TW" b="0" i="1" smtClean="0">
                          <a:solidFill>
                            <a:srgbClr val="FF0000"/>
                          </a:solidFill>
                          <a:latin typeface="Cambria Math" panose="02040503050406030204" pitchFamily="18" charset="0"/>
                        </a:rPr>
                        <m:t>𝑧</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a:rPr lang="en-US" altLang="zh-TW" b="0" i="1" smtClean="0">
                              <a:latin typeface="Cambria Math" panose="02040503050406030204" pitchFamily="18" charset="0"/>
                            </a:rPr>
                            <m:t>𝑚</m:t>
                          </m:r>
                          <m:r>
                            <a:rPr lang="en-US" altLang="zh-TW" b="0" i="1" smtClean="0">
                              <a:latin typeface="Cambria Math" panose="02040503050406030204" pitchFamily="18" charset="0"/>
                            </a:rPr>
                            <m:t>=0</m:t>
                          </m:r>
                        </m:sub>
                        <m:sup>
                          <m:r>
                            <a:rPr lang="en-US" altLang="zh-TW" b="0" i="1" smtClean="0">
                              <a:latin typeface="Cambria Math" panose="02040503050406030204" pitchFamily="18" charset="0"/>
                            </a:rPr>
                            <m:t>𝑀</m:t>
                          </m:r>
                        </m:sup>
                        <m:e>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𝑤</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sSubSup>
                                <m:sSubSupPr>
                                  <m:ctrlPr>
                                    <a:rPr lang="en-US" altLang="zh-TW" b="0" i="1" smtClean="0">
                                      <a:solidFill>
                                        <a:srgbClr val="00B0F0"/>
                                      </a:solidFill>
                                      <a:latin typeface="Cambria Math" panose="02040503050406030204" pitchFamily="18" charset="0"/>
                                    </a:rPr>
                                  </m:ctrlPr>
                                </m:sSubSupPr>
                                <m:e>
                                  <m:r>
                                    <a:rPr lang="en-US" altLang="zh-TW" b="0" i="1" smtClean="0">
                                      <a:solidFill>
                                        <a:srgbClr val="00B0F0"/>
                                      </a:solidFill>
                                      <a:latin typeface="Cambria Math" panose="02040503050406030204" pitchFamily="18" charset="0"/>
                                    </a:rPr>
                                    <m:t>𝑟</m:t>
                                  </m:r>
                                </m:e>
                                <m:sub>
                                  <m:r>
                                    <a:rPr lang="en-US" altLang="zh-TW" b="0" i="1" smtClean="0">
                                      <a:solidFill>
                                        <a:srgbClr val="00B0F0"/>
                                      </a:solidFill>
                                      <a:latin typeface="Cambria Math" panose="02040503050406030204" pitchFamily="18" charset="0"/>
                                    </a:rPr>
                                    <m:t>𝑡</m:t>
                                  </m:r>
                                  <m:r>
                                    <a:rPr lang="en-US" altLang="zh-TW" b="0" i="1" smtClean="0">
                                      <a:solidFill>
                                        <a:srgbClr val="00B0F0"/>
                                      </a:solidFill>
                                      <a:latin typeface="Cambria Math" panose="02040503050406030204" pitchFamily="18" charset="0"/>
                                    </a:rPr>
                                    <m:t>+1,</m:t>
                                  </m:r>
                                  <m:r>
                                    <a:rPr lang="en-US" altLang="zh-TW" b="0" i="1" smtClean="0">
                                      <a:solidFill>
                                        <a:srgbClr val="00B0F0"/>
                                      </a:solidFill>
                                      <a:latin typeface="Cambria Math" panose="02040503050406030204" pitchFamily="18" charset="0"/>
                                    </a:rPr>
                                    <m:t>𝑠</m:t>
                                  </m:r>
                                </m:sub>
                                <m:sup>
                                  <m:r>
                                    <a:rPr lang="en-US" altLang="zh-TW" b="0" i="1" smtClean="0">
                                      <a:solidFill>
                                        <a:srgbClr val="00B0F0"/>
                                      </a:solidFill>
                                      <a:latin typeface="Cambria Math" panose="02040503050406030204" pitchFamily="18" charset="0"/>
                                    </a:rPr>
                                    <m:t>𝑚</m:t>
                                  </m:r>
                                </m:sup>
                              </m:sSubSup>
                            </m:e>
                          </m:d>
                        </m:e>
                      </m:nary>
                      <m:r>
                        <a:rPr lang="en-US" altLang="zh-TW" b="0" i="1" smtClean="0">
                          <a:latin typeface="Cambria Math" panose="02040503050406030204" pitchFamily="18" charset="0"/>
                        </a:rPr>
                        <m:t>,</m:t>
                      </m:r>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𝑤</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sSubSup>
                            <m:sSubSupPr>
                              <m:ctrlPr>
                                <a:rPr lang="en-US" altLang="zh-TW" b="0" i="1" smtClean="0">
                                  <a:solidFill>
                                    <a:srgbClr val="00B050"/>
                                  </a:solidFill>
                                  <a:latin typeface="Cambria Math" panose="02040503050406030204" pitchFamily="18" charset="0"/>
                                </a:rPr>
                              </m:ctrlPr>
                            </m:sSubSupPr>
                            <m:e>
                              <m:r>
                                <a:rPr lang="en-US" altLang="zh-TW" b="0" i="1" smtClean="0">
                                  <a:solidFill>
                                    <a:srgbClr val="00B050"/>
                                  </a:solidFill>
                                  <a:latin typeface="Cambria Math" panose="02040503050406030204" pitchFamily="18" charset="0"/>
                                </a:rPr>
                                <m:t>𝑟</m:t>
                              </m:r>
                            </m:e>
                            <m:sub>
                              <m:r>
                                <a:rPr lang="en-US" altLang="zh-TW" b="0" i="1" smtClean="0">
                                  <a:solidFill>
                                    <a:srgbClr val="00B050"/>
                                  </a:solidFill>
                                  <a:latin typeface="Cambria Math" panose="02040503050406030204" pitchFamily="18" charset="0"/>
                                </a:rPr>
                                <m:t>𝑡</m:t>
                              </m:r>
                            </m:sub>
                            <m:sup>
                              <m:r>
                                <a:rPr lang="en-US" altLang="zh-TW" b="0" i="1" smtClean="0">
                                  <a:solidFill>
                                    <a:srgbClr val="00B050"/>
                                  </a:solidFill>
                                  <a:latin typeface="Cambria Math" panose="02040503050406030204" pitchFamily="18" charset="0"/>
                                </a:rPr>
                                <m:t>𝑚</m:t>
                              </m:r>
                            </m:sup>
                          </m:sSubSup>
                        </m:e>
                      </m:d>
                      <m:sSubSup>
                        <m:sSubSupPr>
                          <m:ctrlPr>
                            <a:rPr lang="en-US" altLang="zh-TW" b="0" i="1" smtClean="0">
                              <a:solidFill>
                                <a:srgbClr val="00B050"/>
                              </a:solidFill>
                              <a:latin typeface="Cambria Math" panose="02040503050406030204" pitchFamily="18" charset="0"/>
                            </a:rPr>
                          </m:ctrlPr>
                        </m:sSubSupPr>
                        <m:e>
                          <m:r>
                            <a:rPr lang="en-US" altLang="zh-TW" b="0" i="1" smtClean="0">
                              <a:solidFill>
                                <a:srgbClr val="00B050"/>
                              </a:solidFill>
                              <a:latin typeface="Cambria Math" panose="02040503050406030204" pitchFamily="18" charset="0"/>
                            </a:rPr>
                            <m:t>𝑤</m:t>
                          </m:r>
                        </m:e>
                        <m:sub>
                          <m:r>
                            <a:rPr lang="en-US" altLang="zh-TW" b="0" i="1" smtClean="0">
                              <a:solidFill>
                                <a:srgbClr val="00B050"/>
                              </a:solidFill>
                              <a:latin typeface="Cambria Math" panose="02040503050406030204" pitchFamily="18" charset="0"/>
                            </a:rPr>
                            <m:t>𝑡</m:t>
                          </m:r>
                          <m:r>
                            <a:rPr lang="en-US" altLang="zh-TW" b="0" i="1" smtClean="0">
                              <a:solidFill>
                                <a:srgbClr val="00B050"/>
                              </a:solidFill>
                              <a:latin typeface="Cambria Math" panose="02040503050406030204" pitchFamily="18" charset="0"/>
                            </a:rPr>
                            <m:t>−1</m:t>
                          </m:r>
                        </m:sub>
                        <m:sup>
                          <m:r>
                            <a:rPr lang="en-US" altLang="zh-TW" b="0" i="1" smtClean="0">
                              <a:solidFill>
                                <a:srgbClr val="00B050"/>
                              </a:solidFill>
                              <a:latin typeface="Cambria Math" panose="02040503050406030204" pitchFamily="18" charset="0"/>
                            </a:rPr>
                            <m:t>𝑚</m:t>
                          </m:r>
                        </m:sup>
                      </m:sSubSup>
                      <m:r>
                        <a:rPr lang="en-US" altLang="zh-TW" b="0" i="1" smtClean="0">
                          <a:latin typeface="Cambria Math" panose="02040503050406030204" pitchFamily="18" charset="0"/>
                        </a:rPr>
                        <m:t>+</m:t>
                      </m:r>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r>
                        <a:rPr lang="en-US" altLang="zh-TW" b="0" i="1" smtClean="0">
                          <a:latin typeface="Cambria Math" panose="02040503050406030204" pitchFamily="18" charset="0"/>
                        </a:rPr>
                        <m:t>−</m:t>
                      </m:r>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𝑠</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r>
                        <a:rPr lang="en-US" altLang="zh-TW" b="0" i="1" smtClean="0">
                          <a:latin typeface="Cambria Math" panose="02040503050406030204" pitchFamily="18" charset="0"/>
                        </a:rPr>
                        <m:t>,</m:t>
                      </m:r>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𝑤</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0</m:t>
                          </m:r>
                        </m:sup>
                      </m:sSubSup>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sSubSup>
                            <m:sSubSupPr>
                              <m:ctrlPr>
                                <a:rPr lang="en-US" altLang="zh-TW" b="0" i="1" smtClean="0">
                                  <a:solidFill>
                                    <a:srgbClr val="00B050"/>
                                  </a:solidFill>
                                  <a:latin typeface="Cambria Math" panose="02040503050406030204" pitchFamily="18" charset="0"/>
                                </a:rPr>
                              </m:ctrlPr>
                            </m:sSubSupPr>
                            <m:e>
                              <m:r>
                                <a:rPr lang="en-US" altLang="zh-TW" b="0" i="1" smtClean="0">
                                  <a:solidFill>
                                    <a:srgbClr val="00B050"/>
                                  </a:solidFill>
                                  <a:latin typeface="Cambria Math" panose="02040503050406030204" pitchFamily="18" charset="0"/>
                                </a:rPr>
                                <m:t>𝑟</m:t>
                              </m:r>
                            </m:e>
                            <m:sub>
                              <m:r>
                                <a:rPr lang="en-US" altLang="zh-TW" b="0" i="1" smtClean="0">
                                  <a:solidFill>
                                    <a:srgbClr val="00B050"/>
                                  </a:solidFill>
                                  <a:latin typeface="Cambria Math" panose="02040503050406030204" pitchFamily="18" charset="0"/>
                                </a:rPr>
                                <m:t>𝑡</m:t>
                              </m:r>
                            </m:sub>
                            <m:sup>
                              <m:r>
                                <a:rPr lang="en-US" altLang="zh-TW" b="0" i="1" smtClean="0">
                                  <a:solidFill>
                                    <a:srgbClr val="00B050"/>
                                  </a:solidFill>
                                  <a:latin typeface="Cambria Math" panose="02040503050406030204" pitchFamily="18" charset="0"/>
                                </a:rPr>
                                <m:t>0</m:t>
                              </m:r>
                            </m:sup>
                          </m:sSubSup>
                        </m:e>
                      </m:d>
                      <m:sSubSup>
                        <m:sSubSupPr>
                          <m:ctrlPr>
                            <a:rPr lang="en-US" altLang="zh-TW" b="0" i="1" smtClean="0">
                              <a:solidFill>
                                <a:srgbClr val="00B050"/>
                              </a:solidFill>
                              <a:latin typeface="Cambria Math" panose="02040503050406030204" pitchFamily="18" charset="0"/>
                            </a:rPr>
                          </m:ctrlPr>
                        </m:sSubSupPr>
                        <m:e>
                          <m:r>
                            <a:rPr lang="en-US" altLang="zh-TW" b="0" i="1" smtClean="0">
                              <a:solidFill>
                                <a:srgbClr val="00B050"/>
                              </a:solidFill>
                              <a:latin typeface="Cambria Math" panose="02040503050406030204" pitchFamily="18" charset="0"/>
                            </a:rPr>
                            <m:t>𝑤</m:t>
                          </m:r>
                        </m:e>
                        <m:sub>
                          <m:r>
                            <a:rPr lang="en-US" altLang="zh-TW" b="0" i="1" smtClean="0">
                              <a:solidFill>
                                <a:srgbClr val="00B050"/>
                              </a:solidFill>
                              <a:latin typeface="Cambria Math" panose="02040503050406030204" pitchFamily="18" charset="0"/>
                            </a:rPr>
                            <m:t>𝑡</m:t>
                          </m:r>
                          <m:r>
                            <a:rPr lang="en-US" altLang="zh-TW" b="0" i="1" smtClean="0">
                              <a:solidFill>
                                <a:srgbClr val="00B050"/>
                              </a:solidFill>
                              <a:latin typeface="Cambria Math" panose="02040503050406030204" pitchFamily="18" charset="0"/>
                            </a:rPr>
                            <m:t>−1</m:t>
                          </m:r>
                        </m:sub>
                        <m:sup>
                          <m:r>
                            <a:rPr lang="en-US" altLang="zh-TW" b="0" i="1" smtClean="0">
                              <a:solidFill>
                                <a:srgbClr val="00B050"/>
                              </a:solidFill>
                              <a:latin typeface="Cambria Math" panose="02040503050406030204" pitchFamily="18" charset="0"/>
                            </a:rPr>
                            <m:t>0</m:t>
                          </m:r>
                        </m:sup>
                      </m:sSubSup>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a:rPr lang="en-US" altLang="zh-TW" b="0" i="1" smtClean="0">
                              <a:latin typeface="Cambria Math" panose="02040503050406030204" pitchFamily="18" charset="0"/>
                            </a:rPr>
                            <m:t>𝑚</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𝑀</m:t>
                          </m:r>
                        </m:sup>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sSubSup>
                                <m:sSubSupPr>
                                  <m:ctrlPr>
                                    <a:rPr lang="en-US" altLang="zh-TW" b="0" i="1" smtClean="0">
                                      <a:solidFill>
                                        <a:srgbClr val="00B050"/>
                                      </a:solidFill>
                                      <a:latin typeface="Cambria Math" panose="02040503050406030204" pitchFamily="18" charset="0"/>
                                    </a:rPr>
                                  </m:ctrlPr>
                                </m:sSubSupPr>
                                <m:e>
                                  <m:r>
                                    <a:rPr lang="en-US" altLang="zh-TW" b="0" i="1" smtClean="0">
                                      <a:solidFill>
                                        <a:srgbClr val="00B050"/>
                                      </a:solidFill>
                                      <a:latin typeface="Cambria Math" panose="02040503050406030204" pitchFamily="18" charset="0"/>
                                    </a:rPr>
                                    <m:t>𝑐</m:t>
                                  </m:r>
                                </m:e>
                                <m:sub>
                                  <m:r>
                                    <a:rPr lang="en-US" altLang="zh-TW" b="0" i="1" smtClean="0">
                                      <a:solidFill>
                                        <a:srgbClr val="00B050"/>
                                      </a:solidFill>
                                      <a:latin typeface="Cambria Math" panose="02040503050406030204" pitchFamily="18" charset="0"/>
                                    </a:rPr>
                                    <m:t>𝑏</m:t>
                                  </m:r>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𝑡</m:t>
                                  </m:r>
                                </m:sub>
                                <m:sup>
                                  <m:r>
                                    <a:rPr lang="en-US" altLang="zh-TW" b="0" i="1" smtClean="0">
                                      <a:solidFill>
                                        <a:srgbClr val="00B050"/>
                                      </a:solidFill>
                                      <a:latin typeface="Cambria Math" panose="02040503050406030204" pitchFamily="18" charset="0"/>
                                    </a:rPr>
                                    <m:t>𝑚</m:t>
                                  </m:r>
                                </m:sup>
                              </m:sSubSup>
                            </m:e>
                          </m:d>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e>
                      </m:nary>
                      <m:r>
                        <a:rPr lang="en-US" altLang="zh-TW" b="0" i="1" smtClean="0">
                          <a:latin typeface="Cambria Math" panose="02040503050406030204" pitchFamily="18" charset="0"/>
                        </a:rPr>
                        <m:t>+</m:t>
                      </m:r>
                      <m:nary>
                        <m:naryPr>
                          <m:chr m:val="∑"/>
                          <m:ctrlPr>
                            <a:rPr lang="en-US" altLang="zh-TW" i="1">
                              <a:latin typeface="Cambria Math" panose="02040503050406030204" pitchFamily="18" charset="0"/>
                            </a:rPr>
                          </m:ctrlPr>
                        </m:naryPr>
                        <m:sub>
                          <m:r>
                            <a:rPr lang="en-US" altLang="zh-TW" i="1">
                              <a:latin typeface="Cambria Math" panose="02040503050406030204" pitchFamily="18" charset="0"/>
                            </a:rPr>
                            <m:t>𝑚</m:t>
                          </m:r>
                          <m:r>
                            <a:rPr lang="en-US" altLang="zh-TW" i="1">
                              <a:latin typeface="Cambria Math" panose="02040503050406030204" pitchFamily="18" charset="0"/>
                            </a:rPr>
                            <m:t>=1</m:t>
                          </m:r>
                        </m:sub>
                        <m:sup>
                          <m:r>
                            <a:rPr lang="en-US" altLang="zh-TW" i="1">
                              <a:latin typeface="Cambria Math" panose="02040503050406030204" pitchFamily="18" charset="0"/>
                            </a:rPr>
                            <m:t>𝑀</m:t>
                          </m:r>
                        </m:sup>
                        <m:e>
                          <m:d>
                            <m:dPr>
                              <m:ctrlPr>
                                <a:rPr lang="en-US" altLang="zh-TW" i="1">
                                  <a:latin typeface="Cambria Math" panose="02040503050406030204" pitchFamily="18" charset="0"/>
                                </a:rPr>
                              </m:ctrlPr>
                            </m:dPr>
                            <m:e>
                              <m:r>
                                <a:rPr lang="en-US" altLang="zh-TW" i="1">
                                  <a:latin typeface="Cambria Math" panose="02040503050406030204" pitchFamily="18" charset="0"/>
                                </a:rPr>
                                <m:t>1</m:t>
                              </m:r>
                              <m:r>
                                <a:rPr lang="en-US" altLang="zh-TW" b="0" i="1" smtClean="0">
                                  <a:latin typeface="Cambria Math" panose="02040503050406030204" pitchFamily="18" charset="0"/>
                                </a:rPr>
                                <m:t>−</m:t>
                              </m:r>
                              <m:sSubSup>
                                <m:sSubSupPr>
                                  <m:ctrlPr>
                                    <a:rPr lang="en-US" altLang="zh-TW" i="1" smtClean="0">
                                      <a:solidFill>
                                        <a:srgbClr val="00B050"/>
                                      </a:solidFill>
                                      <a:latin typeface="Cambria Math" panose="02040503050406030204" pitchFamily="18" charset="0"/>
                                    </a:rPr>
                                  </m:ctrlPr>
                                </m:sSubSupPr>
                                <m:e>
                                  <m:r>
                                    <a:rPr lang="en-US" altLang="zh-TW" i="1">
                                      <a:solidFill>
                                        <a:srgbClr val="00B050"/>
                                      </a:solidFill>
                                      <a:latin typeface="Cambria Math" panose="02040503050406030204" pitchFamily="18" charset="0"/>
                                    </a:rPr>
                                    <m:t>𝑐</m:t>
                                  </m:r>
                                </m:e>
                                <m:sub>
                                  <m:r>
                                    <a:rPr lang="en-US" altLang="zh-TW" b="0" i="1" smtClean="0">
                                      <a:solidFill>
                                        <a:srgbClr val="00B050"/>
                                      </a:solidFill>
                                      <a:latin typeface="Cambria Math" panose="02040503050406030204" pitchFamily="18" charset="0"/>
                                    </a:rPr>
                                    <m:t>𝑠</m:t>
                                  </m:r>
                                  <m:r>
                                    <a:rPr lang="en-US" altLang="zh-TW" i="1">
                                      <a:solidFill>
                                        <a:srgbClr val="00B050"/>
                                      </a:solidFill>
                                      <a:latin typeface="Cambria Math" panose="02040503050406030204" pitchFamily="18" charset="0"/>
                                    </a:rPr>
                                    <m:t>,</m:t>
                                  </m:r>
                                  <m:r>
                                    <a:rPr lang="en-US" altLang="zh-TW" i="1">
                                      <a:solidFill>
                                        <a:srgbClr val="00B050"/>
                                      </a:solidFill>
                                      <a:latin typeface="Cambria Math" panose="02040503050406030204" pitchFamily="18" charset="0"/>
                                    </a:rPr>
                                    <m:t>𝑡</m:t>
                                  </m:r>
                                </m:sub>
                                <m:sup>
                                  <m:r>
                                    <a:rPr lang="en-US" altLang="zh-TW" i="1">
                                      <a:solidFill>
                                        <a:srgbClr val="00B050"/>
                                      </a:solidFill>
                                      <a:latin typeface="Cambria Math" panose="02040503050406030204" pitchFamily="18" charset="0"/>
                                    </a:rPr>
                                    <m:t>𝑚</m:t>
                                  </m:r>
                                </m:sup>
                              </m:sSubSup>
                            </m:e>
                          </m:d>
                          <m:sSubSup>
                            <m:sSubSupPr>
                              <m:ctrlPr>
                                <a:rPr lang="en-US" altLang="zh-TW"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𝑠</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𝑚</m:t>
                              </m:r>
                            </m:sup>
                          </m:sSubSup>
                        </m:e>
                      </m:nary>
                      <m:r>
                        <a:rPr lang="en-US" altLang="zh-TW" b="0" i="1" smtClean="0">
                          <a:latin typeface="Cambria Math" panose="02040503050406030204" pitchFamily="18" charset="0"/>
                        </a:rPr>
                        <m:t>,</m:t>
                      </m:r>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𝑦</m:t>
                          </m:r>
                        </m:e>
                        <m:sub>
                          <m:r>
                            <a:rPr lang="en-US" altLang="zh-TW" b="0" i="1" smtClean="0">
                              <a:solidFill>
                                <a:srgbClr val="FF0000"/>
                              </a:solidFill>
                              <a:latin typeface="Cambria Math" panose="02040503050406030204" pitchFamily="18" charset="0"/>
                            </a:rPr>
                            <m:t>𝑠</m:t>
                          </m:r>
                        </m:sub>
                      </m:sSub>
                      <m:r>
                        <a:rPr lang="en-US" altLang="zh-TW" b="0" i="1" smtClean="0">
                          <a:latin typeface="Cambria Math" panose="02040503050406030204" pitchFamily="18" charset="0"/>
                        </a:rPr>
                        <m:t>≥0, </m:t>
                      </m:r>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𝑤</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r>
                        <a:rPr lang="en-US" altLang="zh-TW" b="0" i="1" smtClean="0">
                          <a:latin typeface="Cambria Math" panose="02040503050406030204" pitchFamily="18" charset="0"/>
                        </a:rPr>
                        <m:t>≥0, </m:t>
                      </m:r>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𝑤</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0</m:t>
                          </m:r>
                        </m:sup>
                      </m:sSubSup>
                      <m:r>
                        <a:rPr lang="en-US" altLang="zh-TW" b="0" i="1" smtClean="0">
                          <a:latin typeface="Cambria Math" panose="02040503050406030204" pitchFamily="18" charset="0"/>
                        </a:rPr>
                        <m:t>≥0, </m:t>
                      </m:r>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𝑏</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r>
                        <a:rPr lang="en-US" altLang="zh-TW" b="0" i="1" smtClean="0">
                          <a:latin typeface="Cambria Math" panose="02040503050406030204" pitchFamily="18" charset="0"/>
                        </a:rPr>
                        <m:t>≥0, </m:t>
                      </m:r>
                      <m:sSubSup>
                        <m:sSubSupPr>
                          <m:ctrlPr>
                            <a:rPr lang="en-US" altLang="zh-TW" b="0" i="1" smtClean="0">
                              <a:solidFill>
                                <a:srgbClr val="FF0000"/>
                              </a:solidFill>
                              <a:latin typeface="Cambria Math" panose="02040503050406030204" pitchFamily="18" charset="0"/>
                            </a:rPr>
                          </m:ctrlPr>
                        </m:sSubSupPr>
                        <m:e>
                          <m:r>
                            <a:rPr lang="en-US" altLang="zh-TW" b="0" i="1" smtClean="0">
                              <a:solidFill>
                                <a:srgbClr val="FF0000"/>
                              </a:solidFill>
                              <a:latin typeface="Cambria Math" panose="02040503050406030204" pitchFamily="18" charset="0"/>
                            </a:rPr>
                            <m:t>𝑠</m:t>
                          </m:r>
                        </m:e>
                        <m:sub>
                          <m:r>
                            <a:rPr lang="en-US" altLang="zh-TW" b="0" i="1" smtClean="0">
                              <a:solidFill>
                                <a:srgbClr val="FF0000"/>
                              </a:solidFill>
                              <a:latin typeface="Cambria Math" panose="02040503050406030204" pitchFamily="18" charset="0"/>
                            </a:rPr>
                            <m:t>𝑡</m:t>
                          </m:r>
                        </m:sub>
                        <m:sup>
                          <m:r>
                            <a:rPr lang="en-US" altLang="zh-TW" b="0" i="1" smtClean="0">
                              <a:solidFill>
                                <a:srgbClr val="FF0000"/>
                              </a:solidFill>
                              <a:latin typeface="Cambria Math" panose="02040503050406030204" pitchFamily="18" charset="0"/>
                            </a:rPr>
                            <m:t>𝑚</m:t>
                          </m:r>
                        </m:sup>
                      </m:sSubSup>
                      <m:r>
                        <a:rPr lang="en-US" altLang="zh-TW" b="0" i="1" smtClean="0">
                          <a:latin typeface="Cambria Math" panose="02040503050406030204" pitchFamily="18" charset="0"/>
                        </a:rPr>
                        <m:t>≥0, </m:t>
                      </m:r>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𝑡</m:t>
                      </m:r>
                      <m:r>
                        <a:rPr lang="en-US" altLang="zh-TW" b="0" i="1" smtClean="0">
                          <a:latin typeface="Cambria Math" panose="02040503050406030204" pitchFamily="18" charset="0"/>
                        </a:rPr>
                        <m:t>=1,…,</m:t>
                      </m:r>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𝑚</m:t>
                      </m:r>
                      <m:r>
                        <a:rPr lang="en-US" altLang="zh-TW" b="0" i="1" smtClean="0">
                          <a:latin typeface="Cambria Math" panose="02040503050406030204" pitchFamily="18" charset="0"/>
                        </a:rPr>
                        <m:t>=1,…,</m:t>
                      </m:r>
                      <m:r>
                        <a:rPr lang="en-US" altLang="zh-TW" b="0" i="1" smtClean="0">
                          <a:latin typeface="Cambria Math" panose="02040503050406030204" pitchFamily="18" charset="0"/>
                        </a:rPr>
                        <m:t>𝑀</m:t>
                      </m:r>
                      <m:r>
                        <a:rPr lang="en-US" altLang="zh-TW" b="0" i="1" smtClean="0">
                          <a:latin typeface="Cambria Math" panose="02040503050406030204" pitchFamily="18" charset="0"/>
                        </a:rPr>
                        <m:t>, </m:t>
                      </m:r>
                      <m:r>
                        <a:rPr lang="en-US" altLang="zh-TW" b="0" i="1" smtClean="0">
                          <a:latin typeface="Cambria Math" panose="02040503050406030204" pitchFamily="18" charset="0"/>
                        </a:rPr>
                        <m:t>𝑠</m:t>
                      </m:r>
                      <m:r>
                        <a:rPr lang="en-US" altLang="zh-TW" b="0" i="1" smtClean="0">
                          <a:latin typeface="Cambria Math" panose="02040503050406030204" pitchFamily="18" charset="0"/>
                        </a:rPr>
                        <m:t>=1,…,</m:t>
                      </m:r>
                      <m:r>
                        <a:rPr lang="en-US" altLang="zh-TW" b="0" i="1" smtClean="0">
                          <a:latin typeface="Cambria Math" panose="02040503050406030204" pitchFamily="18" charset="0"/>
                        </a:rPr>
                        <m:t>𝑆</m:t>
                      </m:r>
                    </m:oMath>
                  </m:oMathPara>
                </a14:m>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369677"/>
                <a:ext cx="10515600" cy="5351798"/>
              </a:xfrm>
              <a:blipFill rotWithShape="0">
                <a:blip r:embed="rId2"/>
                <a:stretch>
                  <a:fillRect l="-34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56E38F8E-F105-4395-BB51-B47D06FD7340}" type="slidenum">
              <a:rPr lang="zh-TW" altLang="en-US" smtClean="0"/>
              <a:pPr/>
              <a:t>19</a:t>
            </a:fld>
            <a:endParaRPr lang="zh-TW" altLang="en-US"/>
          </a:p>
        </p:txBody>
      </p:sp>
      <p:sp>
        <p:nvSpPr>
          <p:cNvPr id="6" name="文字方塊 5"/>
          <p:cNvSpPr txBox="1"/>
          <p:nvPr/>
        </p:nvSpPr>
        <p:spPr>
          <a:xfrm>
            <a:off x="8610600" y="473325"/>
            <a:ext cx="3507692" cy="1200329"/>
          </a:xfrm>
          <a:prstGeom prst="rect">
            <a:avLst/>
          </a:prstGeom>
          <a:noFill/>
        </p:spPr>
        <p:txBody>
          <a:bodyPr wrap="none" rtlCol="0">
            <a:spAutoFit/>
          </a:bodyPr>
          <a:lstStyle/>
          <a:p>
            <a:r>
              <a:rPr lang="en-US" altLang="zh-TW" sz="2400" dirty="0" smtClean="0">
                <a:solidFill>
                  <a:srgbClr val="FF0000"/>
                </a:solidFill>
              </a:rPr>
              <a:t>Red: decision variables</a:t>
            </a:r>
          </a:p>
          <a:p>
            <a:r>
              <a:rPr lang="en-US" altLang="zh-TW" sz="2400" dirty="0" smtClean="0">
                <a:solidFill>
                  <a:srgbClr val="00B050"/>
                </a:solidFill>
              </a:rPr>
              <a:t>Green: parameters</a:t>
            </a:r>
          </a:p>
          <a:p>
            <a:r>
              <a:rPr lang="en-US" altLang="zh-TW" sz="2400" dirty="0">
                <a:solidFill>
                  <a:srgbClr val="00B0F0"/>
                </a:solidFill>
              </a:rPr>
              <a:t>Blue: scenarios  (sampling</a:t>
            </a:r>
            <a:r>
              <a:rPr lang="en-US" altLang="zh-TW" sz="2400" dirty="0" smtClean="0">
                <a:solidFill>
                  <a:srgbClr val="00B0F0"/>
                </a:solidFill>
              </a:rPr>
              <a:t>)</a:t>
            </a:r>
            <a:endParaRPr lang="zh-TW" altLang="en-US" sz="2400" dirty="0">
              <a:solidFill>
                <a:srgbClr val="00B0F0"/>
              </a:solidFill>
            </a:endParaRPr>
          </a:p>
        </p:txBody>
      </p:sp>
      <p:sp>
        <p:nvSpPr>
          <p:cNvPr id="5" name="文字方塊 4"/>
          <p:cNvSpPr txBox="1"/>
          <p:nvPr/>
        </p:nvSpPr>
        <p:spPr>
          <a:xfrm>
            <a:off x="5800859" y="1887931"/>
            <a:ext cx="5552941" cy="1384995"/>
          </a:xfrm>
          <a:prstGeom prst="rect">
            <a:avLst/>
          </a:prstGeom>
          <a:noFill/>
        </p:spPr>
        <p:txBody>
          <a:bodyPr wrap="square" rtlCol="0">
            <a:spAutoFit/>
          </a:bodyPr>
          <a:lstStyle/>
          <a:p>
            <a:r>
              <a:rPr lang="en-US" altLang="zh-TW" sz="2800" dirty="0" smtClean="0"/>
              <a:t>Given the confidence level </a:t>
            </a:r>
            <a:r>
              <a:rPr lang="el-GR" altLang="zh-TW" sz="2800" dirty="0" smtClean="0">
                <a:latin typeface="Times New Roman" panose="02020603050405020304" pitchFamily="18" charset="0"/>
                <a:cs typeface="Times New Roman" panose="02020603050405020304" pitchFamily="18" charset="0"/>
              </a:rPr>
              <a:t>α</a:t>
            </a:r>
            <a:r>
              <a:rPr lang="en-US" altLang="zh-TW" sz="2800" dirty="0" smtClean="0">
                <a:latin typeface="Times New Roman" panose="02020603050405020304" pitchFamily="18" charset="0"/>
                <a:cs typeface="Times New Roman" panose="02020603050405020304" pitchFamily="18" charset="0"/>
              </a:rPr>
              <a:t> </a:t>
            </a:r>
            <a:r>
              <a:rPr lang="en-US" altLang="zh-TW" sz="2800" dirty="0" smtClean="0"/>
              <a:t>of </a:t>
            </a:r>
            <a:r>
              <a:rPr lang="en-US" altLang="zh-TW" sz="2800" dirty="0" err="1" smtClean="0"/>
              <a:t>CVaR</a:t>
            </a:r>
            <a:r>
              <a:rPr lang="en-US" altLang="zh-TW" sz="2800" dirty="0" smtClean="0"/>
              <a:t>, to decide the buying and selling of each stock in all periods.</a:t>
            </a:r>
            <a:endParaRPr lang="zh-TW" altLang="en-US" sz="2800" dirty="0"/>
          </a:p>
        </p:txBody>
      </p:sp>
    </p:spTree>
    <p:extLst>
      <p:ext uri="{BB962C8B-B14F-4D97-AF65-F5344CB8AC3E}">
        <p14:creationId xmlns:p14="http://schemas.microsoft.com/office/powerpoint/2010/main" xmlns="" val="400005894"/>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0271"/>
            <a:ext cx="10515600" cy="1325563"/>
          </a:xfrm>
        </p:spPr>
        <p:txBody>
          <a:bodyPr/>
          <a:lstStyle/>
          <a:p>
            <a:pPr algn="ctr"/>
            <a:r>
              <a:rPr lang="en-US" altLang="zh-TW" dirty="0" smtClean="0"/>
              <a:t>Flowchart of our method</a:t>
            </a:r>
            <a:endParaRPr lang="zh-TW" altLang="en-US" dirty="0"/>
          </a:p>
        </p:txBody>
      </p:sp>
      <p:sp>
        <p:nvSpPr>
          <p:cNvPr id="3" name="投影片編號版面配置區 2"/>
          <p:cNvSpPr>
            <a:spLocks noGrp="1"/>
          </p:cNvSpPr>
          <p:nvPr>
            <p:ph type="sldNum" sz="quarter" idx="12"/>
          </p:nvPr>
        </p:nvSpPr>
        <p:spPr/>
        <p:txBody>
          <a:bodyPr/>
          <a:lstStyle/>
          <a:p>
            <a:fld id="{56E38F8E-F105-4395-BB51-B47D06FD7340}" type="slidenum">
              <a:rPr lang="zh-TW" altLang="en-US" smtClean="0"/>
              <a:pPr/>
              <a:t>20</a:t>
            </a:fld>
            <a:endParaRPr lang="zh-TW" altLang="en-US"/>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965242" y="1273257"/>
            <a:ext cx="8152534" cy="517466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100522254"/>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622565" y="1861940"/>
            <a:ext cx="6114219" cy="383923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標題 1"/>
          <p:cNvSpPr>
            <a:spLocks noGrp="1"/>
          </p:cNvSpPr>
          <p:nvPr>
            <p:ph type="title"/>
          </p:nvPr>
        </p:nvSpPr>
        <p:spPr>
          <a:xfrm>
            <a:off x="838200" y="197700"/>
            <a:ext cx="10515600" cy="1325563"/>
          </a:xfrm>
        </p:spPr>
        <p:txBody>
          <a:bodyPr/>
          <a:lstStyle/>
          <a:p>
            <a:r>
              <a:rPr lang="en-US" altLang="zh-TW" dirty="0" smtClean="0"/>
              <a:t>Experiments</a:t>
            </a:r>
            <a:endParaRPr lang="zh-TW" altLang="en-US" dirty="0"/>
          </a:p>
        </p:txBody>
      </p:sp>
      <mc:AlternateContent xmlns:mc="http://schemas.openxmlformats.org/markup-compatibility/2006">
        <mc:Choice xmlns:a14="http://schemas.microsoft.com/office/drawing/2010/main" xmlns="" Requires="a14">
          <p:sp>
            <p:nvSpPr>
              <p:cNvPr id="5" name="文字方塊 4"/>
              <p:cNvSpPr txBox="1"/>
              <p:nvPr/>
            </p:nvSpPr>
            <p:spPr>
              <a:xfrm>
                <a:off x="200640" y="1188857"/>
                <a:ext cx="10205490" cy="5294591"/>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smtClean="0"/>
                  <a:t>Experiment interval: 2005/1/1 ~ 2013/12/21, 2235 trading periods.</a:t>
                </a:r>
              </a:p>
              <a:p>
                <a:pPr marL="342900" indent="-342900">
                  <a:buFont typeface="Arial" panose="020B0604020202020204" pitchFamily="34" charset="0"/>
                  <a:buChar char="•"/>
                </a:pPr>
                <a:r>
                  <a:rPr lang="en-US" altLang="zh-TW" sz="2400" dirty="0" smtClean="0"/>
                  <a:t>Stocks with </a:t>
                </a:r>
                <a:r>
                  <a:rPr lang="en-US" altLang="zh-TW" sz="2400" dirty="0"/>
                  <a:t>t</a:t>
                </a:r>
                <a:r>
                  <a:rPr lang="en-US" altLang="zh-TW" sz="2400" dirty="0" smtClean="0"/>
                  <a:t>en largest market value at 2013/12/31.</a:t>
                </a:r>
              </a:p>
              <a:p>
                <a:endParaRPr lang="en-US" altLang="zh-TW" sz="2400" dirty="0" smtClean="0"/>
              </a:p>
              <a:p>
                <a:r>
                  <a:rPr lang="en-US" altLang="zh-TW" sz="2400" dirty="0" smtClean="0"/>
                  <a:t>Parameters:</a:t>
                </a:r>
              </a:p>
              <a:p>
                <a:pPr marL="285750" indent="-285750">
                  <a:buFont typeface="Arial" panose="020B0604020202020204" pitchFamily="34" charset="0"/>
                  <a:buChar char="•"/>
                </a:pPr>
                <a:r>
                  <a:rPr lang="en-US" altLang="zh-TW" sz="2400" i="1" dirty="0" smtClean="0"/>
                  <a:t>S</a:t>
                </a:r>
                <a:r>
                  <a:rPr lang="en-US" altLang="zh-TW" sz="2400" dirty="0" smtClean="0"/>
                  <a:t>=200 scenarios</a:t>
                </a:r>
              </a:p>
              <a:p>
                <a:pPr marL="285750" indent="-285750">
                  <a:buFont typeface="Arial" panose="020B0604020202020204" pitchFamily="34" charset="0"/>
                  <a:buChar char="•"/>
                </a:pPr>
                <a:r>
                  <a:rPr lang="en-US" altLang="zh-TW" sz="2400" dirty="0" smtClean="0"/>
                  <a:t>Buying and selling transaction fee </a:t>
                </a:r>
                <a:br>
                  <a:rPr lang="en-US" altLang="zh-TW" sz="2400" dirty="0" smtClean="0"/>
                </a:br>
                <a14:m>
                  <m:oMath xmlns:m="http://schemas.openxmlformats.org/officeDocument/2006/math">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up>
                        <m:r>
                          <a:rPr lang="en-US" altLang="zh-TW" sz="2400" b="0" i="1" smtClean="0">
                            <a:latin typeface="Cambria Math" panose="02040503050406030204" pitchFamily="18" charset="0"/>
                          </a:rPr>
                          <m:t>𝑚</m:t>
                        </m:r>
                      </m:sup>
                    </m:sSubSup>
                    <m:r>
                      <a:rPr lang="en-US" altLang="zh-TW" sz="2400" b="0" i="0" smtClean="0">
                        <a:latin typeface="Cambria Math" panose="02040503050406030204" pitchFamily="18" charset="0"/>
                      </a:rPr>
                      <m:t>=0.1425%</m:t>
                    </m:r>
                  </m:oMath>
                </a14:m>
                <a:r>
                  <a:rPr lang="en-US" altLang="zh-TW" sz="2400" dirty="0" smtClean="0"/>
                  <a:t>, </a:t>
                </a:r>
                <a14:m>
                  <m:oMath xmlns:m="http://schemas.openxmlformats.org/officeDocument/2006/math">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up>
                        <m:r>
                          <a:rPr lang="en-US" altLang="zh-TW" sz="2400" b="0" i="1" smtClean="0">
                            <a:latin typeface="Cambria Math" panose="02040503050406030204" pitchFamily="18" charset="0"/>
                          </a:rPr>
                          <m:t>𝑚</m:t>
                        </m:r>
                      </m:sup>
                    </m:sSubSup>
                    <m:r>
                      <a:rPr lang="en-US" altLang="zh-TW" sz="2400" b="0" i="0" smtClean="0">
                        <a:latin typeface="Cambria Math" panose="02040503050406030204" pitchFamily="18" charset="0"/>
                      </a:rPr>
                      <m:t>=0.4425%</m:t>
                    </m:r>
                  </m:oMath>
                </a14:m>
                <a:endParaRPr lang="en-US" altLang="zh-TW" sz="2400" dirty="0" smtClean="0"/>
              </a:p>
              <a:p>
                <a:pPr marL="285750" indent="-285750">
                  <a:buFont typeface="Arial" panose="020B0604020202020204" pitchFamily="34" charset="0"/>
                  <a:buChar char="•"/>
                </a:pPr>
                <a:r>
                  <a:rPr lang="en-US" altLang="zh-TW" sz="2400" dirty="0" err="1" smtClean="0"/>
                  <a:t>Riskfree</a:t>
                </a:r>
                <a:r>
                  <a:rPr lang="en-US" altLang="zh-TW" sz="2400" dirty="0" smtClean="0"/>
                  <a:t> return: </a:t>
                </a:r>
                <a14:m>
                  <m:oMath xmlns:m="http://schemas.openxmlformats.org/officeDocument/2006/math">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𝑡</m:t>
                        </m:r>
                      </m:sub>
                      <m:sup>
                        <m:r>
                          <a:rPr lang="en-US" altLang="zh-TW" sz="2400" b="0" i="1" smtClean="0">
                            <a:latin typeface="Cambria Math" panose="02040503050406030204" pitchFamily="18" charset="0"/>
                          </a:rPr>
                          <m:t>0</m:t>
                        </m:r>
                      </m:sup>
                    </m:sSubSup>
                    <m:r>
                      <a:rPr lang="en-US" altLang="zh-TW" sz="2400" b="0" i="1" smtClean="0">
                        <a:latin typeface="Cambria Math" panose="02040503050406030204" pitchFamily="18" charset="0"/>
                      </a:rPr>
                      <m:t>=0</m:t>
                    </m:r>
                  </m:oMath>
                </a14:m>
                <a:endParaRPr lang="en-US" altLang="zh-TW" sz="2400" b="0" dirty="0" smtClean="0"/>
              </a:p>
              <a:p>
                <a:endParaRPr lang="en-US" altLang="zh-TW" sz="2400" dirty="0" smtClean="0"/>
              </a:p>
              <a:p>
                <a:r>
                  <a:rPr lang="en-US" altLang="zh-TW" sz="2400" dirty="0" smtClean="0"/>
                  <a:t>Variables of our model:</a:t>
                </a:r>
                <a:endParaRPr lang="en-US" altLang="zh-TW" sz="2400" dirty="0"/>
              </a:p>
              <a:p>
                <a:pPr marL="285750" indent="-285750">
                  <a:buFont typeface="Arial" panose="020B0604020202020204" pitchFamily="34" charset="0"/>
                  <a:buChar char="•"/>
                </a:pPr>
                <a:r>
                  <a:rPr lang="en-US" altLang="zh-TW" sz="2400" dirty="0" smtClean="0">
                    <a:solidFill>
                      <a:srgbClr val="0070C0"/>
                    </a:solidFill>
                  </a:rPr>
                  <a:t>Portfolio size </a:t>
                </a:r>
                <a:r>
                  <a:rPr lang="en-US" altLang="zh-TW" sz="2400" i="1" dirty="0" smtClean="0">
                    <a:solidFill>
                      <a:srgbClr val="0070C0"/>
                    </a:solidFill>
                  </a:rPr>
                  <a:t>n </a:t>
                </a:r>
                <a:r>
                  <a:rPr lang="en-US" altLang="zh-TW" sz="2400" dirty="0" smtClean="0"/>
                  <a:t>= {5, 10}</a:t>
                </a:r>
                <a:endParaRPr lang="en-US" altLang="zh-TW" sz="2400" dirty="0"/>
              </a:p>
              <a:p>
                <a:pPr marL="285750" indent="-285750">
                  <a:buFont typeface="Arial" panose="020B0604020202020204" pitchFamily="34" charset="0"/>
                  <a:buChar char="•"/>
                </a:pPr>
                <a:r>
                  <a:rPr lang="en-US" altLang="zh-TW" sz="2400" dirty="0" smtClean="0">
                    <a:solidFill>
                      <a:srgbClr val="0070C0"/>
                    </a:solidFill>
                  </a:rPr>
                  <a:t>Past periods </a:t>
                </a:r>
                <a:r>
                  <a:rPr lang="en-US" altLang="zh-TW" sz="2400" i="1" dirty="0" smtClean="0">
                    <a:solidFill>
                      <a:srgbClr val="0070C0"/>
                    </a:solidFill>
                  </a:rPr>
                  <a:t>h</a:t>
                </a:r>
                <a:r>
                  <a:rPr lang="en-US" altLang="zh-TW" sz="2400" dirty="0" smtClean="0">
                    <a:solidFill>
                      <a:srgbClr val="0070C0"/>
                    </a:solidFill>
                  </a:rPr>
                  <a:t/>
                </a:r>
                <a:r>
                  <a:rPr lang="en-US" altLang="zh-TW" sz="2400" dirty="0" smtClean="0"/>
                  <a:t>= {10, 20, …, 80}</a:t>
                </a:r>
              </a:p>
              <a:p>
                <a:pPr marL="285750" indent="-285750">
                  <a:buFont typeface="Arial" panose="020B0604020202020204" pitchFamily="34" charset="0"/>
                  <a:buChar char="•"/>
                </a:pPr>
                <a:r>
                  <a:rPr lang="en-US" altLang="zh-TW" sz="2400" dirty="0" smtClean="0">
                    <a:solidFill>
                      <a:srgbClr val="0070C0"/>
                    </a:solidFill>
                  </a:rPr>
                  <a:t>Confidence level </a:t>
                </a:r>
                <a14:m>
                  <m:oMath xmlns:m="http://schemas.openxmlformats.org/officeDocument/2006/math">
                    <m:r>
                      <a:rPr lang="en-US" altLang="zh-TW" sz="2400" b="0" i="1" smtClean="0">
                        <a:solidFill>
                          <a:srgbClr val="0070C0"/>
                        </a:solidFill>
                        <a:latin typeface="Cambria Math" panose="02040503050406030204" pitchFamily="18" charset="0"/>
                      </a:rPr>
                      <m:t>𝛼</m:t>
                    </m:r>
                    <m:r>
                      <a:rPr lang="en-US" altLang="zh-TW" sz="2400" b="0" i="1" smtClean="0">
                        <a:latin typeface="Cambria Math" panose="02040503050406030204" pitchFamily="18" charset="0"/>
                      </a:rPr>
                      <m:t>={0.5, 0.55, …,0.9, 0.99}</m:t>
                    </m:r>
                  </m:oMath>
                </a14:m>
                <a:endParaRPr lang="en-US" altLang="zh-TW" sz="2400" dirty="0" smtClean="0"/>
              </a:p>
              <a:p>
                <a:pPr marL="285750" indent="-285750">
                  <a:buFont typeface="Arial" panose="020B0604020202020204" pitchFamily="34" charset="0"/>
                  <a:buChar char="•"/>
                </a:pPr>
                <a:r>
                  <a:rPr lang="en-US" altLang="zh-TW" sz="2400" dirty="0" smtClean="0"/>
                  <a:t>Totally 2*8*11=176 trails</a:t>
                </a:r>
                <a:endParaRPr lang="zh-TW" altLang="en-US" sz="2400" dirty="0"/>
              </a:p>
            </p:txBody>
          </p:sp>
        </mc:Choice>
        <mc:Fallback>
          <p:sp>
            <p:nvSpPr>
              <p:cNvPr id="5" name="文字方塊 4"/>
              <p:cNvSpPr txBox="1">
                <a:spLocks noRot="1" noChangeAspect="1" noMove="1" noResize="1" noEditPoints="1" noAdjustHandles="1" noChangeArrowheads="1" noChangeShapeType="1" noTextEdit="1"/>
              </p:cNvSpPr>
              <p:nvPr/>
            </p:nvSpPr>
            <p:spPr>
              <a:xfrm>
                <a:off x="200640" y="1188857"/>
                <a:ext cx="10205490" cy="5294591"/>
              </a:xfrm>
              <a:prstGeom prst="rect">
                <a:avLst/>
              </a:prstGeom>
              <a:blipFill rotWithShape="1">
                <a:blip r:embed="rId3"/>
                <a:stretch>
                  <a:fillRect l="-956" t="-921" b="-1611"/>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56E38F8E-F105-4395-BB51-B47D06FD7340}" type="slidenum">
              <a:rPr lang="zh-TW" altLang="en-US" smtClean="0"/>
              <a:pPr/>
              <a:t>21</a:t>
            </a:fld>
            <a:endParaRPr lang="zh-TW" altLang="en-US"/>
          </a:p>
        </p:txBody>
      </p:sp>
    </p:spTree>
    <p:extLst>
      <p:ext uri="{BB962C8B-B14F-4D97-AF65-F5344CB8AC3E}">
        <p14:creationId xmlns:p14="http://schemas.microsoft.com/office/powerpoint/2010/main" xmlns="" val="2165304297"/>
      </p:ext>
    </p:extLst>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56E38F8E-F105-4395-BB51-B47D06FD7340}" type="slidenum">
              <a:rPr lang="zh-TW" altLang="en-US" smtClean="0"/>
              <a:pPr/>
              <a:t>22</a:t>
            </a:fld>
            <a:endParaRPr lang="zh-TW" altLang="en-US"/>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4681" y="855407"/>
            <a:ext cx="5357135" cy="58900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899354" y="694125"/>
            <a:ext cx="5486401" cy="61638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標題 1"/>
          <p:cNvSpPr>
            <a:spLocks noGrp="1"/>
          </p:cNvSpPr>
          <p:nvPr>
            <p:ph type="title"/>
          </p:nvPr>
        </p:nvSpPr>
        <p:spPr>
          <a:xfrm>
            <a:off x="680884" y="-77321"/>
            <a:ext cx="10515600" cy="1325563"/>
          </a:xfrm>
        </p:spPr>
        <p:txBody>
          <a:bodyPr/>
          <a:lstStyle/>
          <a:p>
            <a:pPr algn="ctr"/>
            <a:r>
              <a:rPr lang="en-US" altLang="zh-TW" dirty="0" smtClean="0"/>
              <a:t>Experiment results</a:t>
            </a:r>
            <a:endParaRPr lang="zh-TW" altLang="en-US" dirty="0"/>
          </a:p>
        </p:txBody>
      </p:sp>
    </p:spTree>
    <p:extLst>
      <p:ext uri="{BB962C8B-B14F-4D97-AF65-F5344CB8AC3E}">
        <p14:creationId xmlns:p14="http://schemas.microsoft.com/office/powerpoint/2010/main" xmlns="" val="3073777141"/>
      </p:ext>
    </p:extLst>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Superior predictive ability (SPA) test</a:t>
            </a:r>
            <a:endParaRPr lang="zh-TW" altLang="en-US" dirty="0"/>
          </a:p>
        </p:txBody>
      </p:sp>
      <p:sp>
        <p:nvSpPr>
          <p:cNvPr id="3" name="投影片編號版面配置區 2"/>
          <p:cNvSpPr>
            <a:spLocks noGrp="1"/>
          </p:cNvSpPr>
          <p:nvPr>
            <p:ph type="sldNum" sz="quarter" idx="12"/>
          </p:nvPr>
        </p:nvSpPr>
        <p:spPr/>
        <p:txBody>
          <a:bodyPr/>
          <a:lstStyle/>
          <a:p>
            <a:fld id="{56E38F8E-F105-4395-BB51-B47D06FD7340}" type="slidenum">
              <a:rPr lang="zh-TW" altLang="en-US" smtClean="0"/>
              <a:pPr/>
              <a:t>23</a:t>
            </a:fld>
            <a:endParaRPr lang="zh-TW" altLang="en-US"/>
          </a:p>
        </p:txBody>
      </p:sp>
      <mc:AlternateContent xmlns:mc="http://schemas.openxmlformats.org/markup-compatibility/2006">
        <mc:Choice xmlns:a14="http://schemas.microsoft.com/office/drawing/2010/main" xmlns="" Requires="a14">
          <p:sp>
            <p:nvSpPr>
              <p:cNvPr id="4" name="文字方塊 3"/>
              <p:cNvSpPr txBox="1"/>
              <p:nvPr/>
            </p:nvSpPr>
            <p:spPr>
              <a:xfrm>
                <a:off x="1236372" y="1570453"/>
                <a:ext cx="9234152" cy="1200329"/>
              </a:xfrm>
              <a:prstGeom prst="rect">
                <a:avLst/>
              </a:prstGeom>
              <a:noFill/>
            </p:spPr>
            <p:txBody>
              <a:bodyPr wrap="square" rtlCol="0">
                <a:spAutoFit/>
              </a:bodyPr>
              <a:lstStyle/>
              <a:p>
                <a:r>
                  <a:rPr lang="en-US" altLang="zh-TW" sz="2400" dirty="0" smtClean="0">
                    <a:solidFill>
                      <a:srgbClr val="FF0000"/>
                    </a:solidFill>
                    <a:latin typeface="Cambria Math" panose="02040503050406030204" pitchFamily="18" charset="0"/>
                  </a:rPr>
                  <a:t>Null hypothesis:</a:t>
                </a:r>
                <a:endParaRPr lang="en-US" altLang="zh-TW" sz="2400" b="0" dirty="0" smtClean="0">
                  <a:solidFill>
                    <a:srgbClr val="FF0000"/>
                  </a:solidFill>
                  <a:latin typeface="Cambria Math" panose="02040503050406030204" pitchFamily="18" charset="0"/>
                </a:endParaRPr>
              </a:p>
              <a:p>
                <a:pPr algn="ctr"/>
                <a14:m>
                  <m:oMath xmlns:m="http://schemas.openxmlformats.org/officeDocument/2006/math">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𝐻</m:t>
                        </m:r>
                      </m:e>
                      <m:sub>
                        <m:r>
                          <a:rPr lang="en-US" altLang="zh-TW" sz="2400" b="0" i="1" smtClean="0">
                            <a:latin typeface="Cambria Math" panose="02040503050406030204" pitchFamily="18" charset="0"/>
                          </a:rPr>
                          <m:t>0</m:t>
                        </m:r>
                      </m:sub>
                      <m:sup>
                        <m:r>
                          <a:rPr lang="en-US" altLang="zh-TW" sz="2400" b="0" i="1" smtClean="0">
                            <a:latin typeface="Cambria Math" panose="02040503050406030204" pitchFamily="18" charset="0"/>
                          </a:rPr>
                          <m:t>𝑚</m:t>
                        </m:r>
                      </m:sup>
                    </m:sSubSup>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𝜇</m:t>
                        </m:r>
                      </m:e>
                      <m:sub>
                        <m:r>
                          <a:rPr lang="en-US" altLang="zh-TW" sz="2400" b="0" i="1" smtClean="0">
                            <a:latin typeface="Cambria Math" panose="02040503050406030204" pitchFamily="18" charset="0"/>
                          </a:rPr>
                          <m:t>𝑚</m:t>
                        </m:r>
                      </m:sub>
                    </m:sSub>
                    <m:r>
                      <a:rPr lang="en-US" altLang="zh-TW" sz="2400" b="0" i="1" smtClean="0">
                        <a:latin typeface="Cambria Math" panose="02040503050406030204" pitchFamily="18" charset="0"/>
                      </a:rPr>
                      <m:t>≤0, </m:t>
                    </m:r>
                    <m:r>
                      <a:rPr lang="en-US" altLang="zh-TW" sz="2400" b="0" i="1" smtClean="0">
                        <a:latin typeface="Cambria Math" panose="02040503050406030204" pitchFamily="18" charset="0"/>
                      </a:rPr>
                      <m:t>𝑤h𝑒𝑟𝑒</m:t>
                    </m:r>
                    <m:r>
                      <a:rPr lang="en-US" altLang="zh-TW" sz="2400" b="0" i="1" smtClean="0">
                        <a:latin typeface="Cambria Math" panose="02040503050406030204" pitchFamily="18" charset="0"/>
                      </a:rPr>
                      <m:t> 1≤</m:t>
                    </m:r>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𝑀</m:t>
                    </m:r>
                  </m:oMath>
                </a14:m>
                <a:r>
                  <a:rPr lang="zh-TW" altLang="en-US" sz="2400" dirty="0" smtClean="0"/>
                  <a:t/>
                </a:r>
                <a:endParaRPr lang="en-US" altLang="zh-TW" sz="2400" dirty="0" smtClean="0"/>
              </a:p>
              <a:p>
                <a:pPr algn="ctr"/>
                <a:r>
                  <a:rPr lang="en-US" altLang="zh-TW" sz="2400" dirty="0" smtClean="0"/>
                  <a:t>(all models are not able to beat the benchmark model)</a:t>
                </a:r>
                <a:endParaRPr lang="zh-TW" altLang="en-US" sz="2400" dirty="0"/>
              </a:p>
            </p:txBody>
          </p:sp>
        </mc:Choice>
        <mc:Fallback>
          <p:sp>
            <p:nvSpPr>
              <p:cNvPr id="4" name="文字方塊 3"/>
              <p:cNvSpPr txBox="1">
                <a:spLocks noRot="1" noChangeAspect="1" noMove="1" noResize="1" noEditPoints="1" noAdjustHandles="1" noChangeArrowheads="1" noChangeShapeType="1" noTextEdit="1"/>
              </p:cNvSpPr>
              <p:nvPr/>
            </p:nvSpPr>
            <p:spPr>
              <a:xfrm>
                <a:off x="1236372" y="1570453"/>
                <a:ext cx="9234152" cy="1200329"/>
              </a:xfrm>
              <a:prstGeom prst="rect">
                <a:avLst/>
              </a:prstGeom>
              <a:blipFill rotWithShape="1">
                <a:blip r:embed="rId2"/>
                <a:stretch>
                  <a:fillRect l="-1056" t="-4061" b="-1066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7" name="文字方塊 6"/>
              <p:cNvSpPr txBox="1"/>
              <p:nvPr/>
            </p:nvSpPr>
            <p:spPr>
              <a:xfrm>
                <a:off x="1236372" y="3078051"/>
                <a:ext cx="10425197" cy="2687595"/>
              </a:xfrm>
              <a:prstGeom prst="rect">
                <a:avLst/>
              </a:prstGeom>
              <a:noFill/>
            </p:spPr>
            <p:txBody>
              <a:bodyPr wrap="square" rtlCol="0">
                <a:spAutoFit/>
              </a:bodyPr>
              <a:lstStyle/>
              <a:p>
                <a:pPr>
                  <a:lnSpc>
                    <a:spcPct val="120000"/>
                  </a:lnSpc>
                </a:pPr>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𝜇</m:t>
                              </m:r>
                            </m:e>
                          </m:acc>
                        </m:e>
                        <m:sub>
                          <m:r>
                            <a:rPr lang="en-US" altLang="zh-TW" sz="2400" b="0" i="1" smtClean="0">
                              <a:latin typeface="Cambria Math" panose="02040503050406030204" pitchFamily="18" charset="0"/>
                            </a:rPr>
                            <m:t>𝑚</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𝑑</m:t>
                              </m:r>
                            </m:e>
                          </m:acc>
                        </m:e>
                        <m:sub>
                          <m:r>
                            <a:rPr lang="en-US" altLang="zh-TW" sz="2400" b="0" i="1" smtClean="0">
                              <a:latin typeface="Cambria Math" panose="02040503050406030204" pitchFamily="18" charset="0"/>
                            </a:rPr>
                            <m:t>𝑚</m:t>
                          </m:r>
                        </m:sub>
                      </m:sSub>
                      <m:r>
                        <a:rPr lang="en-US" altLang="zh-TW" sz="2400" b="0" i="1" smtClean="0">
                          <a:latin typeface="Cambria Math" panose="02040503050406030204" pitchFamily="18" charset="0"/>
                        </a:rPr>
                        <m:t>1</m:t>
                      </m:r>
                      <m:d>
                        <m:dPr>
                          <m:ctrlPr>
                            <a:rPr lang="en-US" altLang="zh-TW" sz="2400" b="0" i="1" smtClean="0">
                              <a:latin typeface="Cambria Math" panose="02040503050406030204" pitchFamily="18" charset="0"/>
                            </a:rPr>
                          </m:ctrlPr>
                        </m:dPr>
                        <m:e>
                          <m:rad>
                            <m:radPr>
                              <m:degHide m:val="on"/>
                              <m:ctrlPr>
                                <a:rPr lang="en-US" altLang="zh-TW" sz="2400" b="0" i="1" smtClean="0">
                                  <a:latin typeface="Cambria Math" panose="02040503050406030204" pitchFamily="18" charset="0"/>
                                </a:rPr>
                              </m:ctrlPr>
                            </m:radPr>
                            <m:deg/>
                            <m:e>
                              <m:r>
                                <a:rPr lang="en-US" altLang="zh-TW" sz="2400" b="0" i="1" smtClean="0">
                                  <a:latin typeface="Cambria Math" panose="02040503050406030204" pitchFamily="18" charset="0"/>
                                </a:rPr>
                                <m:t>𝑇</m:t>
                              </m:r>
                            </m:e>
                          </m:rad>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𝑑</m:t>
                                  </m:r>
                                </m:e>
                              </m:acc>
                            </m:e>
                            <m:sub>
                              <m:r>
                                <a:rPr lang="en-US" altLang="zh-TW" sz="2400" b="0" i="1" smtClean="0">
                                  <a:latin typeface="Cambria Math" panose="02040503050406030204" pitchFamily="18" charset="0"/>
                                </a:rPr>
                                <m:t>𝑚</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𝜔</m:t>
                                  </m:r>
                                </m:e>
                              </m:acc>
                            </m:e>
                            <m:sub>
                              <m:r>
                                <a:rPr lang="en-US" altLang="zh-TW" sz="2400" b="0" i="1" smtClean="0">
                                  <a:latin typeface="Cambria Math" panose="02040503050406030204" pitchFamily="18" charset="0"/>
                                </a:rPr>
                                <m:t>𝑚</m:t>
                              </m:r>
                            </m:sub>
                          </m:sSub>
                          <m:rad>
                            <m:radPr>
                              <m:degHide m:val="on"/>
                              <m:ctrlPr>
                                <a:rPr lang="en-US" altLang="zh-TW" sz="2400" b="0" i="1" smtClean="0">
                                  <a:latin typeface="Cambria Math" panose="02040503050406030204" pitchFamily="18" charset="0"/>
                                </a:rPr>
                              </m:ctrlPr>
                            </m:radPr>
                            <m:deg/>
                            <m:e>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𝑙𝑜𝑔𝑙𝑜𝑔𝑇</m:t>
                              </m:r>
                            </m:e>
                          </m:rad>
                        </m:e>
                      </m:d>
                    </m:oMath>
                  </m:oMathPara>
                </a14:m>
                <a:endParaRPr lang="en-US" altLang="zh-TW" sz="2400" b="0" i="1" dirty="0" smtClean="0">
                  <a:latin typeface="Cambria Math" panose="02040503050406030204" pitchFamily="18" charset="0"/>
                </a:endParaRPr>
              </a:p>
              <a:p>
                <a:pPr>
                  <a:lnSpc>
                    <a:spcPct val="120000"/>
                  </a:lnSpc>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𝑆𝑃</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𝐴</m:t>
                          </m:r>
                        </m:e>
                        <m:sub>
                          <m:r>
                            <a:rPr lang="en-US" altLang="zh-TW" sz="2400" b="0" i="1" smtClean="0">
                              <a:latin typeface="Cambria Math" panose="02040503050406030204" pitchFamily="18" charset="0"/>
                            </a:rPr>
                            <m:t>𝑇</m:t>
                          </m:r>
                        </m:sub>
                      </m:sSub>
                      <m:r>
                        <a:rPr lang="en-US" altLang="zh-TW" sz="2400" b="0" i="1" smtClean="0">
                          <a:latin typeface="Cambria Math" panose="02040503050406030204" pitchFamily="18" charset="0"/>
                        </a:rPr>
                        <m:t>=</m:t>
                      </m:r>
                      <m:func>
                        <m:funcPr>
                          <m:ctrlPr>
                            <a:rPr lang="en-US" altLang="zh-TW" sz="2400" b="0" i="1" smtClean="0">
                              <a:latin typeface="Cambria Math" panose="02040503050406030204" pitchFamily="18" charset="0"/>
                            </a:rPr>
                          </m:ctrlPr>
                        </m:funcPr>
                        <m:fName>
                          <m:r>
                            <m:rPr>
                              <m:sty m:val="p"/>
                            </m:rPr>
                            <a:rPr lang="en-US" altLang="zh-TW" sz="2400" b="0" i="0" smtClean="0">
                              <a:latin typeface="Cambria Math" panose="02040503050406030204" pitchFamily="18" charset="0"/>
                            </a:rPr>
                            <m:t>max</m:t>
                          </m:r>
                        </m:fName>
                        <m:e>
                          <m:d>
                            <m:dPr>
                              <m:ctrlPr>
                                <a:rPr lang="en-US" altLang="zh-TW" sz="2400" b="0" i="1" smtClean="0">
                                  <a:latin typeface="Cambria Math" panose="02040503050406030204" pitchFamily="18" charset="0"/>
                                </a:rPr>
                              </m:ctrlPr>
                            </m:dPr>
                            <m:e>
                              <m:func>
                                <m:funcPr>
                                  <m:ctrlPr>
                                    <a:rPr lang="en-US" altLang="zh-TW" sz="2400" i="1">
                                      <a:latin typeface="Cambria Math" panose="02040503050406030204" pitchFamily="18" charset="0"/>
                                    </a:rPr>
                                  </m:ctrlPr>
                                </m:funcPr>
                                <m:fName>
                                  <m:limLow>
                                    <m:limLowPr>
                                      <m:ctrlPr>
                                        <a:rPr lang="en-US" altLang="zh-TW" sz="2400" i="1">
                                          <a:latin typeface="Cambria Math" panose="02040503050406030204" pitchFamily="18" charset="0"/>
                                        </a:rPr>
                                      </m:ctrlPr>
                                    </m:limLowPr>
                                    <m:e>
                                      <m:r>
                                        <m:rPr>
                                          <m:sty m:val="p"/>
                                        </m:rPr>
                                        <a:rPr lang="en-US" altLang="zh-TW" sz="2400">
                                          <a:latin typeface="Cambria Math" panose="02040503050406030204" pitchFamily="18" charset="0"/>
                                        </a:rPr>
                                        <m:t>max</m:t>
                                      </m:r>
                                    </m:e>
                                    <m:lim>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𝑀</m:t>
                                      </m:r>
                                    </m:lim>
                                  </m:limLow>
                                </m:fName>
                                <m:e>
                                  <m:rad>
                                    <m:radPr>
                                      <m:degHide m:val="on"/>
                                      <m:ctrlPr>
                                        <a:rPr lang="en-US" altLang="zh-TW" sz="2400" b="0" i="1" smtClean="0">
                                          <a:latin typeface="Cambria Math" panose="02040503050406030204" pitchFamily="18" charset="0"/>
                                        </a:rPr>
                                      </m:ctrlPr>
                                    </m:radPr>
                                    <m:deg/>
                                    <m:e>
                                      <m:r>
                                        <a:rPr lang="en-US" altLang="zh-TW" sz="2400" b="0" i="1" smtClean="0">
                                          <a:latin typeface="Cambria Math" panose="02040503050406030204" pitchFamily="18" charset="0"/>
                                        </a:rPr>
                                        <m:t>𝑇</m:t>
                                      </m:r>
                                    </m:e>
                                  </m:rad>
                                </m:e>
                              </m:func>
                              <m:f>
                                <m:fPr>
                                  <m:ctrlPr>
                                    <a:rPr lang="en-US" altLang="zh-TW" sz="2400" i="1" smtClean="0">
                                      <a:latin typeface="Cambria Math" panose="02040503050406030204" pitchFamily="18" charset="0"/>
                                    </a:rPr>
                                  </m:ctrlPr>
                                </m:fPr>
                                <m:num>
                                  <m:sSub>
                                    <m:sSubPr>
                                      <m:ctrlPr>
                                        <a:rPr lang="en-US" altLang="zh-TW" sz="2400" b="0" i="1" smtClean="0">
                                          <a:latin typeface="Cambria Math" panose="02040503050406030204" pitchFamily="18" charset="0"/>
                                        </a:rPr>
                                      </m:ctrlPr>
                                    </m:sSub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𝑑</m:t>
                                          </m:r>
                                        </m:e>
                                      </m:acc>
                                    </m:e>
                                    <m:sub>
                                      <m:r>
                                        <a:rPr lang="en-US" altLang="zh-TW" sz="2400" b="0" i="1" smtClean="0">
                                          <a:latin typeface="Cambria Math" panose="02040503050406030204" pitchFamily="18" charset="0"/>
                                        </a:rPr>
                                        <m:t>𝑚</m:t>
                                      </m:r>
                                    </m:sub>
                                  </m:sSub>
                                </m:num>
                                <m:den>
                                  <m:sSub>
                                    <m:sSubPr>
                                      <m:ctrlPr>
                                        <a:rPr lang="en-US" altLang="zh-TW" sz="2400" b="0" i="1" smtClean="0">
                                          <a:latin typeface="Cambria Math" panose="02040503050406030204" pitchFamily="18" charset="0"/>
                                        </a:rPr>
                                      </m:ctrlPr>
                                    </m:sSub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𝜔</m:t>
                                          </m:r>
                                        </m:e>
                                      </m:acc>
                                    </m:e>
                                    <m:sub>
                                      <m:r>
                                        <a:rPr lang="en-US" altLang="zh-TW" sz="2400" b="0" i="1" smtClean="0">
                                          <a:latin typeface="Cambria Math" panose="02040503050406030204" pitchFamily="18" charset="0"/>
                                        </a:rPr>
                                        <m:t>𝑚</m:t>
                                      </m:r>
                                    </m:sub>
                                  </m:sSub>
                                </m:den>
                              </m:f>
                              <m:r>
                                <a:rPr lang="en-US" altLang="zh-TW" sz="2400" b="0" i="1" smtClean="0">
                                  <a:latin typeface="Cambria Math" panose="02040503050406030204" pitchFamily="18" charset="0"/>
                                </a:rPr>
                                <m:t>,0</m:t>
                              </m:r>
                            </m:e>
                          </m:d>
                        </m:e>
                      </m:func>
                      <m:r>
                        <a:rPr lang="en-US" altLang="zh-TW" sz="2400" b="0" i="1" smtClean="0">
                          <a:latin typeface="Cambria Math" panose="02040503050406030204" pitchFamily="18" charset="0"/>
                        </a:rPr>
                        <m:t>,</m:t>
                      </m:r>
                    </m:oMath>
                  </m:oMathPara>
                </a14:m>
                <a:endParaRPr lang="en-US" altLang="zh-TW" sz="2400" b="0" dirty="0" smtClean="0"/>
              </a:p>
              <a:p>
                <a:pPr>
                  <a:lnSpc>
                    <a:spcPct val="120000"/>
                  </a:lnSpc>
                </a:pPr>
                <a:r>
                  <a:rPr lang="en-US" altLang="zh-TW" sz="2400" dirty="0" smtClean="0"/>
                  <a:t>Let </a:t>
                </a:r>
                <a14:m>
                  <m:oMath xmlns:m="http://schemas.openxmlformats.org/officeDocument/2006/math">
                    <m:sSub>
                      <m:sSubPr>
                        <m:ctrlPr>
                          <a:rPr lang="en-US" altLang="zh-TW" sz="2400" b="0" i="1" smtClean="0">
                            <a:latin typeface="Cambria Math" panose="02040503050406030204" pitchFamily="18" charset="0"/>
                          </a:rPr>
                        </m:ctrlPr>
                      </m:sSub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𝑑</m:t>
                            </m:r>
                          </m:e>
                        </m:acc>
                      </m:e>
                      <m:sub>
                        <m:r>
                          <a:rPr lang="en-US" altLang="zh-TW" sz="2400" b="0" i="1" smtClean="0">
                            <a:latin typeface="Cambria Math" panose="02040503050406030204" pitchFamily="18" charset="0"/>
                          </a:rPr>
                          <m:t>𝑚</m:t>
                        </m:r>
                      </m:sub>
                    </m:sSub>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𝑇</m:t>
                        </m:r>
                      </m:den>
                    </m:f>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oMath>
                </a14:m>
                <a:r>
                  <a:rPr lang="zh-TW" altLang="en-US" sz="2400" dirty="0" smtClean="0"/>
                  <a:t/>
                </a:r>
                <a:endParaRPr lang="en-US" altLang="zh-TW" sz="2400" dirty="0" smtClean="0"/>
              </a:p>
              <a:p>
                <a:pPr>
                  <a:lnSpc>
                    <a:spcPct val="120000"/>
                  </a:lnSpc>
                </a:pPr>
                <a:r>
                  <a:rPr lang="en-US" altLang="zh-TW" sz="2400" dirty="0" smtClean="0">
                    <a:solidFill>
                      <a:srgbClr val="0070C0"/>
                    </a:solidFill>
                  </a:rPr>
                  <a:t>(the benchmark model is not buying and selling in all periods)</a:t>
                </a:r>
                <a:endParaRPr lang="zh-TW" altLang="en-US" sz="2400" dirty="0">
                  <a:solidFill>
                    <a:srgbClr val="0070C0"/>
                  </a:solidFill>
                </a:endParaRPr>
              </a:p>
            </p:txBody>
          </p:sp>
        </mc:Choice>
        <mc:Fallback>
          <p:sp>
            <p:nvSpPr>
              <p:cNvPr id="7" name="文字方塊 6"/>
              <p:cNvSpPr txBox="1">
                <a:spLocks noRot="1" noChangeAspect="1" noMove="1" noResize="1" noEditPoints="1" noAdjustHandles="1" noChangeArrowheads="1" noChangeShapeType="1" noTextEdit="1"/>
              </p:cNvSpPr>
              <p:nvPr/>
            </p:nvSpPr>
            <p:spPr>
              <a:xfrm>
                <a:off x="1236372" y="3078051"/>
                <a:ext cx="10425197" cy="2687595"/>
              </a:xfrm>
              <a:prstGeom prst="rect">
                <a:avLst/>
              </a:prstGeom>
              <a:blipFill rotWithShape="1">
                <a:blip r:embed="rId3"/>
                <a:stretch>
                  <a:fillRect l="-936" b="-4082"/>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073338314"/>
      </p:ext>
    </p:extLst>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56E38F8E-F105-4395-BB51-B47D06FD7340}" type="slidenum">
              <a:rPr lang="zh-TW" altLang="en-US" smtClean="0"/>
              <a:pPr/>
              <a:t>24</a:t>
            </a:fld>
            <a:endParaRPr lang="zh-TW" alt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b="56477"/>
          <a:stretch/>
        </p:blipFill>
        <p:spPr bwMode="auto">
          <a:xfrm>
            <a:off x="69131" y="1047799"/>
            <a:ext cx="6309536" cy="417313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t="43166"/>
          <a:stretch/>
        </p:blipFill>
        <p:spPr bwMode="auto">
          <a:xfrm>
            <a:off x="6378667" y="781664"/>
            <a:ext cx="5663506" cy="48915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12258478"/>
      </p:ext>
    </p:extLst>
  </p:cSld>
  <p:clrMapOvr>
    <a:masterClrMapping/>
  </p:clrMapOvr>
  <p:transition>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56E38F8E-F105-4395-BB51-B47D06FD7340}" type="slidenum">
              <a:rPr lang="zh-TW" altLang="en-US" smtClean="0"/>
              <a:pPr/>
              <a:t>25</a:t>
            </a:fld>
            <a:endParaRPr lang="zh-TW" altLang="en-US"/>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b="55453"/>
          <a:stretch/>
        </p:blipFill>
        <p:spPr bwMode="auto">
          <a:xfrm>
            <a:off x="0" y="917133"/>
            <a:ext cx="6056610" cy="416523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t="43756"/>
          <a:stretch/>
        </p:blipFill>
        <p:spPr bwMode="auto">
          <a:xfrm>
            <a:off x="5950623" y="1112541"/>
            <a:ext cx="6241377" cy="541940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740818082"/>
      </p:ext>
    </p:extLst>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Comparisons</a:t>
            </a:r>
            <a:endParaRPr lang="zh-TW" altLang="en-US" dirty="0"/>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26</a:t>
            </a:fld>
            <a:endParaRPr lang="zh-TW" alt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41622" y="1662852"/>
            <a:ext cx="8270210" cy="309245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70264800"/>
      </p:ext>
    </p:extLst>
  </p:cSld>
  <p:clrMapOvr>
    <a:masterClrMapping/>
  </p:clrMapOvr>
  <p:transition>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56E38F8E-F105-4395-BB51-B47D06FD7340}" type="slidenum">
              <a:rPr lang="zh-TW" altLang="en-US" smtClean="0"/>
              <a:pPr/>
              <a:t>27</a:t>
            </a:fld>
            <a:endParaRPr lang="zh-TW" altLang="en-US"/>
          </a:p>
        </p:txBody>
      </p:sp>
      <p:pic>
        <p:nvPicPr>
          <p:cNvPr id="8194" name="Picture 2"/>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10047" b="12442"/>
          <a:stretch/>
        </p:blipFill>
        <p:spPr bwMode="auto">
          <a:xfrm>
            <a:off x="2617895" y="202018"/>
            <a:ext cx="6086718" cy="64697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79021317"/>
      </p:ext>
    </p:extLst>
  </p:cSld>
  <p:clrMapOvr>
    <a:masterClrMapping/>
  </p:clrMapOvr>
  <p:transition>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 and future work</a:t>
            </a:r>
            <a:endParaRPr lang="zh-TW" altLang="en-US" dirty="0"/>
          </a:p>
        </p:txBody>
      </p:sp>
      <p:sp>
        <p:nvSpPr>
          <p:cNvPr id="3" name="內容版面配置區 2"/>
          <p:cNvSpPr>
            <a:spLocks noGrp="1"/>
          </p:cNvSpPr>
          <p:nvPr>
            <p:ph idx="1"/>
          </p:nvPr>
        </p:nvSpPr>
        <p:spPr>
          <a:xfrm>
            <a:off x="213757" y="1825625"/>
            <a:ext cx="11566566" cy="4351338"/>
          </a:xfrm>
        </p:spPr>
        <p:txBody>
          <a:bodyPr>
            <a:normAutofit fontScale="92500"/>
          </a:bodyPr>
          <a:lstStyle/>
          <a:p>
            <a:pPr>
              <a:lnSpc>
                <a:spcPct val="150000"/>
              </a:lnSpc>
            </a:pPr>
            <a:r>
              <a:rPr lang="en-US" altLang="zh-TW" dirty="0" smtClean="0"/>
              <a:t>Our method consists two phases:</a:t>
            </a:r>
          </a:p>
          <a:p>
            <a:pPr marL="914400" lvl="1" indent="-457200">
              <a:lnSpc>
                <a:spcPct val="150000"/>
              </a:lnSpc>
              <a:buFont typeface="+mj-lt"/>
              <a:buAutoNum type="arabicPeriod"/>
            </a:pPr>
            <a:r>
              <a:rPr lang="en-US" altLang="zh-TW" sz="2800" dirty="0" smtClean="0"/>
              <a:t>Generating scenarios of joint returns of period </a:t>
            </a:r>
            <a:r>
              <a:rPr lang="en-US" altLang="zh-TW" sz="2800" i="1" dirty="0" smtClean="0"/>
              <a:t>t</a:t>
            </a:r>
            <a:r>
              <a:rPr lang="en-US" altLang="zh-TW" sz="2800" dirty="0" smtClean="0"/>
              <a:t>+1</a:t>
            </a:r>
          </a:p>
          <a:p>
            <a:pPr marL="914400" lvl="1" indent="-457200">
              <a:lnSpc>
                <a:spcPct val="150000"/>
              </a:lnSpc>
              <a:buFont typeface="+mj-lt"/>
              <a:buAutoNum type="arabicPeriod"/>
            </a:pPr>
            <a:r>
              <a:rPr lang="en-US" altLang="zh-TW" sz="2800" dirty="0" smtClean="0"/>
              <a:t>Solving the stochastic programing to get optimal amount of buying and selling </a:t>
            </a:r>
          </a:p>
          <a:p>
            <a:pPr marL="914400" lvl="1" indent="-457200">
              <a:lnSpc>
                <a:spcPct val="150000"/>
              </a:lnSpc>
              <a:buFont typeface="+mj-lt"/>
              <a:buAutoNum type="arabicPeriod"/>
            </a:pPr>
            <a:endParaRPr lang="en-US" altLang="zh-TW" dirty="0"/>
          </a:p>
          <a:p>
            <a:pPr>
              <a:lnSpc>
                <a:spcPct val="150000"/>
              </a:lnSpc>
            </a:pPr>
            <a:r>
              <a:rPr lang="en-US" altLang="zh-TW" dirty="0" smtClean="0"/>
              <a:t>It is worth finding more precise way to generating scenarios.</a:t>
            </a:r>
          </a:p>
          <a:p>
            <a:pPr>
              <a:lnSpc>
                <a:spcPct val="150000"/>
              </a:lnSpc>
            </a:pPr>
            <a:r>
              <a:rPr lang="en-US" altLang="zh-TW" dirty="0" smtClean="0"/>
              <a:t>To modify the stochastic programming to close the real investment.</a:t>
            </a:r>
          </a:p>
        </p:txBody>
      </p:sp>
      <p:sp>
        <p:nvSpPr>
          <p:cNvPr id="4" name="投影片編號版面配置區 3"/>
          <p:cNvSpPr>
            <a:spLocks noGrp="1"/>
          </p:cNvSpPr>
          <p:nvPr>
            <p:ph type="sldNum" sz="quarter" idx="12"/>
          </p:nvPr>
        </p:nvSpPr>
        <p:spPr/>
        <p:txBody>
          <a:bodyPr/>
          <a:lstStyle/>
          <a:p>
            <a:fld id="{56E38F8E-F105-4395-BB51-B47D06FD7340}" type="slidenum">
              <a:rPr lang="zh-TW" altLang="en-US" smtClean="0"/>
              <a:pPr/>
              <a:t>28</a:t>
            </a:fld>
            <a:endParaRPr lang="zh-TW" altLang="en-US"/>
          </a:p>
        </p:txBody>
      </p:sp>
    </p:spTree>
    <p:extLst>
      <p:ext uri="{BB962C8B-B14F-4D97-AF65-F5344CB8AC3E}">
        <p14:creationId xmlns:p14="http://schemas.microsoft.com/office/powerpoint/2010/main" xmlns="" val="1952376098"/>
      </p:ext>
    </p:extLst>
  </p:cSld>
  <p:clrMapOvr>
    <a:masterClrMapping/>
  </p:clrMapOvr>
  <p:transition>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pPr algn="ctr"/>
            <a:r>
              <a:rPr lang="en-US" altLang="zh-TW" dirty="0" smtClean="0"/>
              <a:t>Thanks for your listening!</a:t>
            </a:r>
            <a:endParaRPr lang="zh-TW" altLang="en-US" dirty="0"/>
          </a:p>
        </p:txBody>
      </p:sp>
      <p:sp>
        <p:nvSpPr>
          <p:cNvPr id="3" name="投影片編號版面配置區 2"/>
          <p:cNvSpPr>
            <a:spLocks noGrp="1"/>
          </p:cNvSpPr>
          <p:nvPr>
            <p:ph type="sldNum" sz="quarter" idx="12"/>
          </p:nvPr>
        </p:nvSpPr>
        <p:spPr/>
        <p:txBody>
          <a:bodyPr/>
          <a:lstStyle/>
          <a:p>
            <a:fld id="{EDBC11D7-B428-46C8-AE33-EA48ADD530EC}" type="slidenum">
              <a:rPr lang="zh-TW" altLang="en-US" smtClean="0"/>
              <a:pPr/>
              <a:t>29</a:t>
            </a:fld>
            <a:endParaRPr lang="zh-TW" altLang="en-US"/>
          </a:p>
        </p:txBody>
      </p:sp>
      <p:pic>
        <p:nvPicPr>
          <p:cNvPr id="2" name="圖片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406876" y="1553496"/>
            <a:ext cx="4999703" cy="4999703"/>
          </a:xfrm>
          <a:prstGeom prst="rect">
            <a:avLst/>
          </a:prstGeom>
        </p:spPr>
      </p:pic>
    </p:spTree>
    <p:extLst>
      <p:ext uri="{BB962C8B-B14F-4D97-AF65-F5344CB8AC3E}">
        <p14:creationId xmlns:p14="http://schemas.microsoft.com/office/powerpoint/2010/main" xmlns="" val="2957853586"/>
      </p:ext>
    </p:extLst>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TotalTime>
  <Words>838</Words>
  <Application>Microsoft Office PowerPoint</Application>
  <PresentationFormat>自訂</PresentationFormat>
  <Paragraphs>119</Paragraphs>
  <Slides>29</Slides>
  <Notes>2</Notes>
  <HiddenSlides>0</HiddenSlides>
  <MMClips>0</MMClips>
  <ScaleCrop>false</ScaleCrop>
  <HeadingPairs>
    <vt:vector size="4" baseType="variant">
      <vt:variant>
        <vt:lpstr>佈景主題</vt:lpstr>
      </vt:variant>
      <vt:variant>
        <vt:i4>1</vt:i4>
      </vt:variant>
      <vt:variant>
        <vt:lpstr>投影片標題</vt:lpstr>
      </vt:variant>
      <vt:variant>
        <vt:i4>29</vt:i4>
      </vt:variant>
    </vt:vector>
  </HeadingPairs>
  <TitlesOfParts>
    <vt:vector size="30" baseType="lpstr">
      <vt:lpstr>Office 佈景主題</vt:lpstr>
      <vt:lpstr>Stock Investment with Stochastic Programming</vt:lpstr>
      <vt:lpstr>Abstract</vt:lpstr>
      <vt:lpstr>Two-stage stochastic programming (SP)</vt:lpstr>
      <vt:lpstr>Farmer’s problem</vt:lpstr>
      <vt:lpstr>Decision parameters</vt:lpstr>
      <vt:lpstr>Uncertainty</vt:lpstr>
      <vt:lpstr>Two-stage Stochastic programming </vt:lpstr>
      <vt:lpstr>Multiperiod portfolio problem</vt:lpstr>
      <vt:lpstr>Scenario tree</vt:lpstr>
      <vt:lpstr>Moment matching </vt:lpstr>
      <vt:lpstr>投影片 11</vt:lpstr>
      <vt:lpstr>投影片 12</vt:lpstr>
      <vt:lpstr>Heuristic moment matching [Hoyland et al., 2003]</vt:lpstr>
      <vt:lpstr>Heuristic moment matching [Hoyland et al., 2003]</vt:lpstr>
      <vt:lpstr>Conditional value at risk (CVaR)</vt:lpstr>
      <vt:lpstr>CVaR (two-asset portfolio)</vt:lpstr>
      <vt:lpstr>投影片 17</vt:lpstr>
      <vt:lpstr>CVaR with finite scenarios </vt:lpstr>
      <vt:lpstr>Our model </vt:lpstr>
      <vt:lpstr>Flowchart of our method</vt:lpstr>
      <vt:lpstr>Experiments</vt:lpstr>
      <vt:lpstr>Experiment results</vt:lpstr>
      <vt:lpstr>Superior predictive ability (SPA) test</vt:lpstr>
      <vt:lpstr>投影片 24</vt:lpstr>
      <vt:lpstr>投影片 25</vt:lpstr>
      <vt:lpstr>Comparisons</vt:lpstr>
      <vt:lpstr>投影片 27</vt:lpstr>
      <vt:lpstr>Conclusions and future work</vt:lpstr>
      <vt:lpstr>Thanks for your listening!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Investment with Stochastic Programming</dc:title>
  <dc:creator>陳紘昕</dc:creator>
  <cp:lastModifiedBy>admin</cp:lastModifiedBy>
  <cp:revision>106</cp:revision>
  <dcterms:created xsi:type="dcterms:W3CDTF">2014-04-26T02:11:33Z</dcterms:created>
  <dcterms:modified xsi:type="dcterms:W3CDTF">2014-04-29T12:11:02Z</dcterms:modified>
</cp:coreProperties>
</file>