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48"/>
  </p:notesMasterIdLst>
  <p:handoutMasterIdLst>
    <p:handoutMasterId r:id="rId4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90"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287" r:id="rId4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05"/>
  </p:clrMru>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5320" autoAdjust="0"/>
  </p:normalViewPr>
  <p:slideViewPr>
    <p:cSldViewPr>
      <p:cViewPr>
        <p:scale>
          <a:sx n="100" d="100"/>
          <a:sy n="100" d="100"/>
        </p:scale>
        <p:origin x="-72" y="936"/>
      </p:cViewPr>
      <p:guideLst>
        <p:guide orient="horz" pos="2160"/>
        <p:guide pos="2880"/>
      </p:guideLst>
    </p:cSldViewPr>
  </p:slideViewPr>
  <p:outlineViewPr>
    <p:cViewPr>
      <p:scale>
        <a:sx n="33" d="100"/>
        <a:sy n="33" d="100"/>
      </p:scale>
      <p:origin x="0" y="972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4A06315-23F0-4D79-B6F6-9A167FD9CCFA}" type="datetimeFigureOut">
              <a:rPr lang="zh-TW" altLang="en-US" smtClean="0"/>
              <a:pPr/>
              <a:t>2014/4/29</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A33191F-8E2C-41DD-84AC-B4E25980AEA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DB15E4-74EE-40E2-8A18-2A4426D1CE76}" type="datetimeFigureOut">
              <a:rPr lang="zh-TW" altLang="en-US" smtClean="0"/>
              <a:pPr/>
              <a:t>2014/4/29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174560-3B4A-4B67-8C1A-D6E1B1390F5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8D174560-3B4A-4B67-8C1A-D6E1B1390F5F}" type="slidenum">
              <a:rPr lang="zh-TW" altLang="en-US" smtClean="0"/>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8D174560-3B4A-4B67-8C1A-D6E1B1390F5F}" type="slidenum">
              <a:rPr lang="zh-TW" altLang="en-US" smtClean="0"/>
              <a:pPr/>
              <a:t>42</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F27A616-4AE0-4BB8-9991-12F18A2E9A65}"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EE7C984-4BE6-44D7-B14F-5E4127645E3C}"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7AD4AE2-6EF8-40A0-9A3A-BE4B06821EE0}"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5587CA3-5CD3-4A1D-9118-280B7C0436E6}"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D39F4A6-7B6E-443C-A8FD-344D608C522F}" type="datetime1">
              <a:rPr lang="zh-TW" altLang="en-US" smtClean="0"/>
              <a:pPr/>
              <a:t>2014/4/29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16D5624-C324-4D6E-8D30-BC58579C549D}" type="datetime1">
              <a:rPr lang="zh-TW" altLang="en-US" smtClean="0"/>
              <a:pPr/>
              <a:t>2014/4/29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B6A0B0D-F7A4-4810-8DA4-309F0D8E0CA4}" type="datetime1">
              <a:rPr lang="zh-TW" altLang="en-US" smtClean="0"/>
              <a:pPr/>
              <a:t>2014/4/29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E865C73-2C3D-42F3-B80A-B615058D098B}"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02BAA19-CAA0-4D46-9EC3-8C735311AFC6}" type="datetime1">
              <a:rPr lang="zh-TW" altLang="en-US" smtClean="0"/>
              <a:pPr/>
              <a:t>2014/4/29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A5D6397-A8EF-4138-9060-4F937FB85AD7}"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287A306-B24E-4FEE-8477-E3DC69336D7A}" type="datetime1">
              <a:rPr lang="zh-TW" altLang="en-US" smtClean="0"/>
              <a:pPr/>
              <a:t>2014/4/29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3533B-3A33-40EB-9563-3CA5B46BD341}" type="datetime1">
              <a:rPr lang="zh-TW" altLang="en-US" smtClean="0"/>
              <a:pPr/>
              <a:t>2014/4/29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6.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New Algorithms for the LCS Problem *</a:t>
            </a:r>
            <a:endParaRPr lang="zh-TW" altLang="en-US" dirty="0"/>
          </a:p>
        </p:txBody>
      </p:sp>
      <p:sp>
        <p:nvSpPr>
          <p:cNvPr id="3" name="副標題 2"/>
          <p:cNvSpPr>
            <a:spLocks noGrp="1"/>
          </p:cNvSpPr>
          <p:nvPr>
            <p:ph type="subTitle" idx="1"/>
          </p:nvPr>
        </p:nvSpPr>
        <p:spPr/>
        <p:txBody>
          <a:bodyPr>
            <a:normAutofit/>
          </a:bodyPr>
          <a:lstStyle/>
          <a:p>
            <a:r>
              <a:rPr lang="en-US" dirty="0" smtClean="0"/>
              <a:t>W.J. Hsu, M.W. Du</a:t>
            </a:r>
            <a:endParaRPr lang="en-US" altLang="zh-TW" dirty="0" smtClean="0"/>
          </a:p>
          <a:p>
            <a:r>
              <a:rPr lang="en-US" altLang="zh-TW" dirty="0" smtClean="0"/>
              <a:t>JOURNAL </a:t>
            </a:r>
            <a:r>
              <a:rPr lang="en-US" altLang="zh-TW" dirty="0" smtClean="0"/>
              <a:t>OF COMPUTER AND SYSTEM </a:t>
            </a:r>
            <a:r>
              <a:rPr lang="en-US" altLang="zh-TW" b="1" dirty="0" smtClean="0"/>
              <a:t>SCIENCES 29, 133-152 (1984</a:t>
            </a:r>
            <a:r>
              <a:rPr lang="en-US" altLang="zh-TW" b="1" dirty="0" smtClean="0"/>
              <a:t>)</a:t>
            </a:r>
            <a:endParaRPr lang="en-US" altLang="zh-TW" b="1" dirty="0" smtClean="0"/>
          </a:p>
        </p:txBody>
      </p:sp>
      <p:sp>
        <p:nvSpPr>
          <p:cNvPr id="4" name="文字方塊 3"/>
          <p:cNvSpPr txBox="1"/>
          <p:nvPr/>
        </p:nvSpPr>
        <p:spPr>
          <a:xfrm>
            <a:off x="6357950" y="5500702"/>
            <a:ext cx="2536656" cy="923330"/>
          </a:xfrm>
          <a:prstGeom prst="rect">
            <a:avLst/>
          </a:prstGeom>
          <a:noFill/>
        </p:spPr>
        <p:txBody>
          <a:bodyPr wrap="none" rtlCol="0">
            <a:spAutoFit/>
          </a:bodyPr>
          <a:lstStyle/>
          <a:p>
            <a:r>
              <a:rPr lang="en-US" altLang="zh-TW" dirty="0" err="1" smtClean="0">
                <a:latin typeface="Calibri" pitchFamily="34" charset="0"/>
              </a:rPr>
              <a:t>Presenter:</a:t>
            </a:r>
            <a:r>
              <a:rPr lang="en-US" dirty="0" err="1" smtClean="0"/>
              <a:t>De-Sheng</a:t>
            </a:r>
            <a:r>
              <a:rPr lang="en-US" dirty="0" smtClean="0"/>
              <a:t> </a:t>
            </a:r>
            <a:r>
              <a:rPr lang="en-US" dirty="0" err="1" smtClean="0"/>
              <a:t>Jhan</a:t>
            </a:r>
            <a:endParaRPr lang="en-US" altLang="zh-TW" dirty="0" smtClean="0">
              <a:latin typeface="Calibri" pitchFamily="34" charset="0"/>
            </a:endParaRPr>
          </a:p>
          <a:p>
            <a:r>
              <a:rPr lang="en-US" altLang="zh-TW" dirty="0" smtClean="0">
                <a:latin typeface="Calibri" pitchFamily="34" charset="0"/>
              </a:rPr>
              <a:t>              2014/03/24</a:t>
            </a:r>
            <a:endParaRPr lang="zh-TW" altLang="en-US" dirty="0" smtClean="0">
              <a:latin typeface="Calibri" pitchFamily="34" charset="0"/>
            </a:endParaRPr>
          </a:p>
          <a:p>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214282" y="1428736"/>
            <a:ext cx="8786874" cy="5257800"/>
          </a:xfrm>
        </p:spPr>
        <p:txBody>
          <a:bodyPr>
            <a:noAutofit/>
          </a:bodyPr>
          <a:lstStyle/>
          <a:p>
            <a:pPr>
              <a:buNone/>
            </a:pPr>
            <a:r>
              <a:rPr lang="en-US" altLang="zh-TW" sz="2200" dirty="0" smtClean="0"/>
              <a:t>The LCS problem is to determine a longest common subsequence (LCS) of two symbol sequences. Two algorithms which improve two existing results, respectively, are resented. Let m, </a:t>
            </a:r>
            <a:r>
              <a:rPr lang="en-US" altLang="zh-TW" sz="2200" i="1" dirty="0" smtClean="0"/>
              <a:t>n be the lengths of the two input strings, with m ≦ n, p being the length of the LCS, and s </a:t>
            </a:r>
            <a:r>
              <a:rPr lang="en-US" altLang="zh-TW" sz="2200" dirty="0" smtClean="0"/>
              <a:t>being the number of distinct symbols appearing in the two strings. It is shown that the first algorithm presented requires at most </a:t>
            </a:r>
            <a:r>
              <a:rPr lang="en-US" altLang="zh-TW" sz="2200" i="1" dirty="0" smtClean="0"/>
              <a:t>O(n log s)  reprocessing time and O(pm log(n/m) + pm) </a:t>
            </a:r>
            <a:r>
              <a:rPr lang="en-US" altLang="zh-TW" sz="2200" dirty="0" smtClean="0"/>
              <a:t>processing time to solve the problem. This bound is better than that of previous algorithms especially when n is much greater than </a:t>
            </a:r>
            <a:r>
              <a:rPr lang="en-US" altLang="zh-TW" sz="2200" i="1" dirty="0" smtClean="0"/>
              <a:t>m. The algorithm also exhibits desirable properties </a:t>
            </a:r>
            <a:r>
              <a:rPr lang="en-US" altLang="zh-TW" sz="2200" dirty="0" smtClean="0"/>
              <a:t>under conditions of sparse matches. The second scheme achieves essentially the same bound </a:t>
            </a:r>
            <a:r>
              <a:rPr lang="en-US" altLang="zh-TW" sz="2200" i="1" dirty="0" smtClean="0"/>
              <a:t>O(pm log(n/p) + pm) by employing efficient merging methods in the computations. It also </a:t>
            </a:r>
            <a:r>
              <a:rPr lang="en-US" altLang="zh-TW" sz="2200" dirty="0" smtClean="0"/>
              <a:t>outperforms existing algorithms designed for sparsely-matched situations. Together, the two algorithms provide interesting contrasts of different approaches to one problem; they also offer improved alternatives for actual implementation.</a:t>
            </a:r>
            <a:endParaRPr lang="zh-TW" altLang="en-US" sz="22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1</a:t>
            </a:r>
            <a:endParaRPr lang="zh-TW" altLang="en-US" dirty="0"/>
          </a:p>
        </p:txBody>
      </p:sp>
      <p:sp>
        <p:nvSpPr>
          <p:cNvPr id="3" name="內容版面配置區 2"/>
          <p:cNvSpPr>
            <a:spLocks noGrp="1"/>
          </p:cNvSpPr>
          <p:nvPr>
            <p:ph idx="1"/>
          </p:nvPr>
        </p:nvSpPr>
        <p:spPr/>
        <p:txBody>
          <a:bodyPr/>
          <a:lstStyle/>
          <a:p>
            <a:r>
              <a:rPr lang="en-US" altLang="zh-TW" dirty="0" smtClean="0"/>
              <a:t>D. S. HIRSCHBERG, Algorithms for the longest common subsequence problem</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142844" y="2643182"/>
            <a:ext cx="8858312" cy="4071966"/>
          </a:xfrm>
          <a:prstGeom prst="rect">
            <a:avLst/>
          </a:prstGeom>
          <a:noFill/>
          <a:ln w="9525">
            <a:solidFill>
              <a:schemeClr val="accent1"/>
            </a:solidFill>
            <a:miter lim="800000"/>
            <a:headEnd/>
            <a:tailEnd/>
          </a:ln>
          <a:effectLst/>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28596" y="1643050"/>
            <a:ext cx="8229600" cy="4525963"/>
          </a:xfrm>
        </p:spPr>
        <p:txBody>
          <a:bodyPr/>
          <a:lstStyle/>
          <a:p>
            <a:r>
              <a:rPr lang="en-US" altLang="zh-TW" i="1" dirty="0" smtClean="0"/>
              <a:t>A</a:t>
            </a:r>
            <a:r>
              <a:rPr lang="en-US" altLang="zh-TW" dirty="0" smtClean="0"/>
              <a:t> = “</a:t>
            </a:r>
            <a:r>
              <a:rPr lang="en-US" altLang="zh-TW" i="1" dirty="0" err="1" smtClean="0"/>
              <a:t>abcdbb</a:t>
            </a:r>
            <a:r>
              <a:rPr lang="en-US" altLang="zh-TW" i="1" dirty="0" smtClean="0"/>
              <a:t>”</a:t>
            </a:r>
            <a:r>
              <a:rPr lang="en-US" altLang="zh-TW" dirty="0" smtClean="0"/>
              <a:t> , </a:t>
            </a:r>
            <a:r>
              <a:rPr lang="en-US" altLang="zh-TW" i="1" dirty="0" smtClean="0"/>
              <a:t>B</a:t>
            </a:r>
            <a:r>
              <a:rPr lang="en-US" altLang="zh-TW" dirty="0" smtClean="0"/>
              <a:t> = “</a:t>
            </a:r>
            <a:r>
              <a:rPr lang="en-US" altLang="zh-TW" i="1" dirty="0" err="1" smtClean="0"/>
              <a:t>cbacbaaba</a:t>
            </a:r>
            <a:r>
              <a:rPr lang="en-US" altLang="zh-TW" i="1" dirty="0" smtClean="0"/>
              <a:t>”</a:t>
            </a:r>
          </a:p>
          <a:p>
            <a:endParaRPr lang="zh-TW" altLang="en-US" i="1" dirty="0"/>
          </a:p>
        </p:txBody>
      </p:sp>
      <p:graphicFrame>
        <p:nvGraphicFramePr>
          <p:cNvPr id="4" name="表格 3"/>
          <p:cNvGraphicFramePr>
            <a:graphicFrameLocks noGrp="1"/>
          </p:cNvGraphicFramePr>
          <p:nvPr/>
        </p:nvGraphicFramePr>
        <p:xfrm>
          <a:off x="285720" y="2500306"/>
          <a:ext cx="4000524" cy="3337560"/>
        </p:xfrm>
        <a:graphic>
          <a:graphicData uri="http://schemas.openxmlformats.org/drawingml/2006/table">
            <a:tbl>
              <a:tblPr firstRow="1" bandRow="1">
                <a:tableStyleId>{5940675A-B579-460E-94D1-54222C63F5DA}</a:tableStyleId>
              </a:tblPr>
              <a:tblGrid>
                <a:gridCol w="333377"/>
                <a:gridCol w="333377"/>
                <a:gridCol w="333377"/>
                <a:gridCol w="333377"/>
                <a:gridCol w="333377"/>
                <a:gridCol w="333377"/>
                <a:gridCol w="333377"/>
                <a:gridCol w="333377"/>
                <a:gridCol w="333377"/>
                <a:gridCol w="333377"/>
                <a:gridCol w="333377"/>
                <a:gridCol w="333377"/>
              </a:tblGrid>
              <a:tr h="37084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r>
              <a:tr h="370840">
                <a:tc>
                  <a:txBody>
                    <a:bodyPr/>
                    <a:lstStyle/>
                    <a:p>
                      <a:endParaRPr lang="zh-TW" altLang="en-US"/>
                    </a:p>
                  </a:txBody>
                  <a:tcPr/>
                </a:tc>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r>
              <a:tr h="370840">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r>
              <a:tr h="370840">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c</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d</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4</a:t>
                      </a:r>
                      <a:endParaRPr lang="zh-TW" altLang="en-US" dirty="0"/>
                    </a:p>
                  </a:txBody>
                  <a:tcPr/>
                </a:tc>
              </a:tr>
            </a:tbl>
          </a:graphicData>
        </a:graphic>
      </p:graphicFrame>
      <p:graphicFrame>
        <p:nvGraphicFramePr>
          <p:cNvPr id="7" name="表格 6"/>
          <p:cNvGraphicFramePr>
            <a:graphicFrameLocks noGrp="1"/>
          </p:cNvGraphicFramePr>
          <p:nvPr/>
        </p:nvGraphicFramePr>
        <p:xfrm>
          <a:off x="4429124" y="2571744"/>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4</a:t>
                      </a:r>
                      <a:endParaRPr lang="zh-TW" altLang="en-US" dirty="0"/>
                    </a:p>
                  </a:txBody>
                  <a:tcPr/>
                </a:tc>
                <a:tc>
                  <a:txBody>
                    <a:bodyPr/>
                    <a:lstStyle/>
                    <a:p>
                      <a:pPr algn="ctr"/>
                      <a:endParaRPr lang="zh-TW" altLang="en-US" dirty="0"/>
                    </a:p>
                  </a:txBody>
                  <a:tcPr/>
                </a:tc>
              </a:tr>
            </a:tbl>
          </a:graphicData>
        </a:graphic>
      </p:graphicFrame>
      <p:sp>
        <p:nvSpPr>
          <p:cNvPr id="8" name="橢圓 7"/>
          <p:cNvSpPr/>
          <p:nvPr/>
        </p:nvSpPr>
        <p:spPr>
          <a:xfrm>
            <a:off x="5786446" y="3071810"/>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4929190" y="4000504"/>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5357818" y="3500438"/>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8001024" y="5357826"/>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6715140" y="4929198"/>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5429256" y="4929198"/>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6215074" y="4000504"/>
            <a:ext cx="285752" cy="2857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6643702" y="3500438"/>
            <a:ext cx="357190" cy="42862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投影片編號版面配置區 18"/>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500034" y="1428736"/>
            <a:ext cx="8229600" cy="4525963"/>
          </a:xfrm>
        </p:spPr>
        <p:txBody>
          <a:bodyPr/>
          <a:lstStyle/>
          <a:p>
            <a:r>
              <a:rPr lang="en-US" altLang="zh-TW" dirty="0" smtClean="0"/>
              <a:t>rank(</a:t>
            </a:r>
            <a:r>
              <a:rPr lang="en-US" altLang="zh-TW" i="1" dirty="0" err="1" smtClean="0"/>
              <a:t>i</a:t>
            </a:r>
            <a:r>
              <a:rPr lang="en-US" altLang="zh-TW" dirty="0" smtClean="0"/>
              <a:t>, </a:t>
            </a:r>
            <a:r>
              <a:rPr lang="en-US" altLang="zh-TW" i="1" dirty="0" smtClean="0"/>
              <a:t>j</a:t>
            </a:r>
            <a:r>
              <a:rPr lang="en-US" altLang="zh-TW" dirty="0" smtClean="0"/>
              <a:t>) </a:t>
            </a:r>
          </a:p>
        </p:txBody>
      </p:sp>
      <p:graphicFrame>
        <p:nvGraphicFramePr>
          <p:cNvPr id="4" name="表格 3"/>
          <p:cNvGraphicFramePr>
            <a:graphicFrameLocks noGrp="1"/>
          </p:cNvGraphicFramePr>
          <p:nvPr/>
        </p:nvGraphicFramePr>
        <p:xfrm>
          <a:off x="214282" y="2357430"/>
          <a:ext cx="4071972" cy="4071969"/>
        </p:xfrm>
        <a:graphic>
          <a:graphicData uri="http://schemas.openxmlformats.org/drawingml/2006/table">
            <a:tbl>
              <a:tblPr firstRow="1" bandRow="1">
                <a:tableStyleId>{5940675A-B579-460E-94D1-54222C63F5DA}</a:tableStyleId>
              </a:tblPr>
              <a:tblGrid>
                <a:gridCol w="339331"/>
                <a:gridCol w="339331"/>
                <a:gridCol w="339331"/>
                <a:gridCol w="339331"/>
                <a:gridCol w="339331"/>
                <a:gridCol w="339331"/>
                <a:gridCol w="339331"/>
                <a:gridCol w="339331"/>
                <a:gridCol w="339331"/>
                <a:gridCol w="339331"/>
                <a:gridCol w="339331"/>
                <a:gridCol w="339331"/>
              </a:tblGrid>
              <a:tr h="452441">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r>
              <a:tr h="452441">
                <a:tc>
                  <a:txBody>
                    <a:bodyPr/>
                    <a:lstStyle/>
                    <a:p>
                      <a:endParaRPr lang="zh-TW" altLang="en-US"/>
                    </a:p>
                  </a:txBody>
                  <a:tcPr/>
                </a:tc>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r>
              <a:tr h="452441">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r>
              <a:tr h="452441">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452441">
                <a:tc>
                  <a:txBody>
                    <a:bodyPr/>
                    <a:lstStyle/>
                    <a:p>
                      <a:r>
                        <a:rPr lang="en-US" altLang="zh-TW" dirty="0" smtClean="0"/>
                        <a:t>b</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452441">
                <a:tc>
                  <a:txBody>
                    <a:bodyPr/>
                    <a:lstStyle/>
                    <a:p>
                      <a:r>
                        <a:rPr lang="en-US" altLang="zh-TW" dirty="0" smtClean="0"/>
                        <a:t>c</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452441">
                <a:tc>
                  <a:txBody>
                    <a:bodyPr/>
                    <a:lstStyle/>
                    <a:p>
                      <a:r>
                        <a:rPr lang="en-US" altLang="zh-TW" dirty="0" smtClean="0"/>
                        <a:t>d</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452441">
                <a:tc>
                  <a:txBody>
                    <a:bodyPr/>
                    <a:lstStyle/>
                    <a:p>
                      <a:r>
                        <a:rPr lang="en-US" altLang="zh-TW" dirty="0" smtClean="0"/>
                        <a:t>b</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r>
              <a:tr h="452441">
                <a:tc>
                  <a:txBody>
                    <a:bodyPr/>
                    <a:lstStyle/>
                    <a:p>
                      <a:r>
                        <a:rPr lang="en-US" altLang="zh-TW" dirty="0" smtClean="0"/>
                        <a:t>b</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4</a:t>
                      </a:r>
                      <a:endParaRPr lang="zh-TW" altLang="en-US" dirty="0"/>
                    </a:p>
                  </a:txBody>
                  <a:tcPr/>
                </a:tc>
              </a:tr>
            </a:tbl>
          </a:graphicData>
        </a:graphic>
      </p:graphicFrame>
      <p:sp>
        <p:nvSpPr>
          <p:cNvPr id="5" name="文字方塊 4"/>
          <p:cNvSpPr txBox="1"/>
          <p:nvPr/>
        </p:nvSpPr>
        <p:spPr>
          <a:xfrm>
            <a:off x="5643570" y="4714884"/>
            <a:ext cx="2287421" cy="1077218"/>
          </a:xfrm>
          <a:prstGeom prst="rect">
            <a:avLst/>
          </a:prstGeom>
          <a:noFill/>
        </p:spPr>
        <p:txBody>
          <a:bodyPr wrap="none" rtlCol="0">
            <a:spAutoFit/>
          </a:bodyPr>
          <a:lstStyle/>
          <a:p>
            <a:r>
              <a:rPr lang="en-US" altLang="zh-TW" sz="3200" dirty="0" smtClean="0"/>
              <a:t>rank(3,4) = 2</a:t>
            </a:r>
          </a:p>
          <a:p>
            <a:r>
              <a:rPr lang="en-US" altLang="zh-TW" sz="3200" dirty="0" smtClean="0"/>
              <a:t>rank(6,8) = 4</a:t>
            </a:r>
            <a:endParaRPr lang="zh-TW" altLang="en-US" sz="3200" dirty="0"/>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successor : a point P(</a:t>
            </a:r>
            <a:r>
              <a:rPr lang="en-US" altLang="zh-TW" i="1" dirty="0" err="1" smtClean="0"/>
              <a:t>i</a:t>
            </a:r>
            <a:r>
              <a:rPr lang="en-US" altLang="zh-TW" dirty="0" smtClean="0"/>
              <a:t>, </a:t>
            </a:r>
            <a:r>
              <a:rPr lang="en-US" altLang="zh-TW" i="1" dirty="0" smtClean="0"/>
              <a:t>j</a:t>
            </a:r>
            <a:r>
              <a:rPr lang="en-US" altLang="zh-TW" dirty="0" smtClean="0"/>
              <a:t>) to be a successor of another point P’(</a:t>
            </a:r>
            <a:r>
              <a:rPr lang="en-US" altLang="zh-TW" i="1" dirty="0" err="1" smtClean="0"/>
              <a:t>i</a:t>
            </a:r>
            <a:r>
              <a:rPr lang="en-US" altLang="zh-TW" dirty="0" smtClean="0"/>
              <a:t>’, </a:t>
            </a:r>
            <a:r>
              <a:rPr lang="en-US" altLang="zh-TW" i="1" dirty="0" smtClean="0"/>
              <a:t>j</a:t>
            </a:r>
            <a:r>
              <a:rPr lang="en-US" altLang="zh-TW" dirty="0" smtClean="0"/>
              <a:t>’) </a:t>
            </a:r>
            <a:r>
              <a:rPr lang="en-US" altLang="zh-TW" dirty="0" err="1" smtClean="0"/>
              <a:t>iff</a:t>
            </a:r>
            <a:r>
              <a:rPr lang="en-US" altLang="zh-TW" dirty="0" smtClean="0"/>
              <a:t> </a:t>
            </a:r>
            <a:r>
              <a:rPr lang="en-US" altLang="zh-TW" i="1" dirty="0" err="1" smtClean="0"/>
              <a:t>i</a:t>
            </a:r>
            <a:r>
              <a:rPr lang="en-US" altLang="zh-TW" dirty="0" smtClean="0"/>
              <a:t>’ &lt; </a:t>
            </a:r>
            <a:r>
              <a:rPr lang="en-US" altLang="zh-TW" i="1" dirty="0" err="1" smtClean="0"/>
              <a:t>i</a:t>
            </a:r>
            <a:r>
              <a:rPr lang="en-US" altLang="zh-TW" dirty="0" smtClean="0"/>
              <a:t> and </a:t>
            </a:r>
            <a:r>
              <a:rPr lang="en-US" altLang="zh-TW" i="1" dirty="0" smtClean="0"/>
              <a:t>j</a:t>
            </a:r>
            <a:r>
              <a:rPr lang="en-US" altLang="zh-TW" dirty="0" smtClean="0"/>
              <a:t>’ &lt; </a:t>
            </a:r>
            <a:r>
              <a:rPr lang="en-US" altLang="zh-TW" i="1" dirty="0" smtClean="0"/>
              <a:t>j , which simply  means rank(</a:t>
            </a:r>
            <a:r>
              <a:rPr lang="en-US" altLang="zh-TW" i="1" dirty="0" err="1" smtClean="0"/>
              <a:t>i</a:t>
            </a:r>
            <a:r>
              <a:rPr lang="en-US" altLang="zh-TW" i="1" dirty="0" smtClean="0"/>
              <a:t>, j) ≧ rank(</a:t>
            </a:r>
            <a:r>
              <a:rPr lang="en-US" altLang="zh-TW" i="1" dirty="0" err="1" smtClean="0"/>
              <a:t>i</a:t>
            </a:r>
            <a:r>
              <a:rPr lang="en-US" altLang="zh-TW" i="1" dirty="0" smtClean="0"/>
              <a:t>’, j’)</a:t>
            </a:r>
            <a:endParaRPr lang="zh-TW" altLang="en-US" i="1" dirty="0" smtClean="0"/>
          </a:p>
          <a:p>
            <a:endParaRPr lang="zh-TW" altLang="en-US" dirty="0"/>
          </a:p>
        </p:txBody>
      </p:sp>
      <p:graphicFrame>
        <p:nvGraphicFramePr>
          <p:cNvPr id="4" name="表格 3"/>
          <p:cNvGraphicFramePr>
            <a:graphicFrameLocks noGrp="1"/>
          </p:cNvGraphicFramePr>
          <p:nvPr/>
        </p:nvGraphicFramePr>
        <p:xfrm>
          <a:off x="785786" y="3143248"/>
          <a:ext cx="4000524" cy="3500460"/>
        </p:xfrm>
        <a:graphic>
          <a:graphicData uri="http://schemas.openxmlformats.org/drawingml/2006/table">
            <a:tbl>
              <a:tblPr firstRow="1" bandRow="1">
                <a:tableStyleId>{5940675A-B579-460E-94D1-54222C63F5DA}</a:tableStyleId>
              </a:tblPr>
              <a:tblGrid>
                <a:gridCol w="333377"/>
                <a:gridCol w="333377"/>
                <a:gridCol w="333377"/>
                <a:gridCol w="333377"/>
                <a:gridCol w="333377"/>
                <a:gridCol w="333377"/>
                <a:gridCol w="333377"/>
                <a:gridCol w="333377"/>
                <a:gridCol w="333377"/>
                <a:gridCol w="333377"/>
                <a:gridCol w="333377"/>
                <a:gridCol w="333377"/>
              </a:tblGrid>
              <a:tr h="38894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r>
              <a:tr h="388940">
                <a:tc>
                  <a:txBody>
                    <a:bodyPr/>
                    <a:lstStyle/>
                    <a:p>
                      <a:endParaRPr lang="zh-TW" altLang="en-US"/>
                    </a:p>
                  </a:txBody>
                  <a:tcPr/>
                </a:tc>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r>
              <a:tr h="388940">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r>
              <a:tr h="388940">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r>
              <a:tr h="388940">
                <a:tc>
                  <a:txBody>
                    <a:bodyPr/>
                    <a:lstStyle/>
                    <a:p>
                      <a:r>
                        <a:rPr lang="en-US" altLang="zh-TW" dirty="0" smtClean="0"/>
                        <a:t>c</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rgbClr val="FF0000"/>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r>
              <a:tr h="388940">
                <a:tc>
                  <a:txBody>
                    <a:bodyPr/>
                    <a:lstStyle/>
                    <a:p>
                      <a:r>
                        <a:rPr lang="en-US" altLang="zh-TW" dirty="0" smtClean="0"/>
                        <a:t>d</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5</a:t>
            </a:fld>
            <a:endParaRPr lang="zh-TW"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i="1" dirty="0" smtClean="0"/>
              <a:t>A</a:t>
            </a:r>
            <a:r>
              <a:rPr lang="en-US" altLang="zh-TW" dirty="0" smtClean="0"/>
              <a:t> = “</a:t>
            </a:r>
            <a:r>
              <a:rPr lang="en-US" altLang="zh-TW" i="1" dirty="0" err="1" smtClean="0"/>
              <a:t>abcdbb</a:t>
            </a:r>
            <a:r>
              <a:rPr lang="en-US" altLang="zh-TW" i="1" dirty="0" smtClean="0"/>
              <a:t>”</a:t>
            </a:r>
            <a:r>
              <a:rPr lang="en-US" altLang="zh-TW" dirty="0" smtClean="0"/>
              <a:t> , </a:t>
            </a:r>
            <a:r>
              <a:rPr lang="en-US" altLang="zh-TW" i="1" dirty="0" smtClean="0"/>
              <a:t>B</a:t>
            </a:r>
            <a:r>
              <a:rPr lang="en-US" altLang="zh-TW" dirty="0" smtClean="0"/>
              <a:t> = “</a:t>
            </a:r>
            <a:r>
              <a:rPr lang="en-US" altLang="zh-TW" i="1" dirty="0" err="1" smtClean="0"/>
              <a:t>cbacbaaba</a:t>
            </a:r>
            <a:r>
              <a:rPr lang="en-US" altLang="zh-TW" i="1" dirty="0" smtClean="0"/>
              <a:t>”</a:t>
            </a:r>
            <a:endParaRPr lang="en-US" altLang="zh-TW" dirty="0" smtClean="0"/>
          </a:p>
          <a:p>
            <a:r>
              <a:rPr lang="en-US" altLang="zh-TW" dirty="0" smtClean="0"/>
              <a:t>if A[</a:t>
            </a:r>
            <a:r>
              <a:rPr lang="en-US" altLang="zh-TW" dirty="0" err="1" smtClean="0"/>
              <a:t>i</a:t>
            </a:r>
            <a:r>
              <a:rPr lang="en-US" altLang="zh-TW" dirty="0" smtClean="0"/>
              <a:t>] == b[j] =&gt; *</a:t>
            </a:r>
            <a:endParaRPr lang="zh-TW" altLang="en-US" dirty="0"/>
          </a:p>
        </p:txBody>
      </p:sp>
      <p:graphicFrame>
        <p:nvGraphicFramePr>
          <p:cNvPr id="5" name="表格 4"/>
          <p:cNvGraphicFramePr>
            <a:graphicFrameLocks noGrp="1"/>
          </p:cNvGraphicFramePr>
          <p:nvPr/>
        </p:nvGraphicFramePr>
        <p:xfrm>
          <a:off x="785786" y="2928934"/>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6" name="投影片編號版面配置區 5"/>
          <p:cNvSpPr>
            <a:spLocks noGrp="1"/>
          </p:cNvSpPr>
          <p:nvPr>
            <p:ph type="sldNum" sz="quarter" idx="12"/>
          </p:nvPr>
        </p:nvSpPr>
        <p:spPr/>
        <p:txBody>
          <a:bodyPr/>
          <a:lstStyle/>
          <a:p>
            <a:fld id="{73DA0BB7-265A-403C-9275-D587AB510EDC}" type="slidenum">
              <a:rPr lang="zh-TW" altLang="en-US" smtClean="0"/>
              <a:pPr/>
              <a:t>6</a:t>
            </a:fld>
            <a:endParaRPr lang="zh-TW"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1 </a:t>
            </a:r>
            <a:endParaRPr lang="zh-TW" altLang="en-US" dirty="0"/>
          </a:p>
        </p:txBody>
      </p:sp>
      <p:graphicFrame>
        <p:nvGraphicFramePr>
          <p:cNvPr id="4" name="表格 3"/>
          <p:cNvGraphicFramePr>
            <a:graphicFrameLocks noGrp="1"/>
          </p:cNvGraphicFramePr>
          <p:nvPr/>
        </p:nvGraphicFramePr>
        <p:xfrm>
          <a:off x="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r>
            </a:tbl>
          </a:graphicData>
        </a:graphic>
      </p:graphicFrame>
      <p:sp>
        <p:nvSpPr>
          <p:cNvPr id="5" name="橢圓 4"/>
          <p:cNvSpPr/>
          <p:nvPr/>
        </p:nvSpPr>
        <p:spPr>
          <a:xfrm>
            <a:off x="3143240" y="3143248"/>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5"/>
          <p:cNvGraphicFramePr>
            <a:graphicFrameLocks noGrp="1"/>
          </p:cNvGraphicFramePr>
          <p:nvPr/>
        </p:nvGraphicFramePr>
        <p:xfrm>
          <a:off x="473868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7" name="橢圓 6"/>
          <p:cNvSpPr/>
          <p:nvPr/>
        </p:nvSpPr>
        <p:spPr>
          <a:xfrm>
            <a:off x="7429520" y="3143248"/>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4364251" y="3244334"/>
            <a:ext cx="415498" cy="369332"/>
          </a:xfrm>
          <a:prstGeom prst="rect">
            <a:avLst/>
          </a:prstGeom>
        </p:spPr>
        <p:txBody>
          <a:bodyPr wrap="none">
            <a:spAutoFit/>
          </a:bodyPr>
          <a:lstStyle/>
          <a:p>
            <a:r>
              <a:rPr lang="zh-TW" altLang="en-US" dirty="0" smtClean="0"/>
              <a:t>：</a:t>
            </a:r>
            <a:endParaRPr lang="zh-TW" altLang="en-US" dirty="0"/>
          </a:p>
        </p:txBody>
      </p:sp>
      <p:sp>
        <p:nvSpPr>
          <p:cNvPr id="9" name="向右箭號 8"/>
          <p:cNvSpPr/>
          <p:nvPr/>
        </p:nvSpPr>
        <p:spPr>
          <a:xfrm>
            <a:off x="4429124" y="4357694"/>
            <a:ext cx="285752"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7</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r>
              <a:rPr lang="en-US" altLang="zh-TW" dirty="0" smtClean="0"/>
              <a:t>find rank = 1 </a:t>
            </a:r>
            <a:endParaRPr lang="zh-TW" altLang="en-US" dirty="0" smtClean="0"/>
          </a:p>
          <a:p>
            <a:endParaRPr lang="zh-TW" altLang="en-US" dirty="0"/>
          </a:p>
        </p:txBody>
      </p:sp>
      <p:graphicFrame>
        <p:nvGraphicFramePr>
          <p:cNvPr id="4" name="表格 3"/>
          <p:cNvGraphicFramePr>
            <a:graphicFrameLocks noGrp="1"/>
          </p:cNvGraphicFramePr>
          <p:nvPr/>
        </p:nvGraphicFramePr>
        <p:xfrm>
          <a:off x="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5" name="橢圓 4"/>
          <p:cNvSpPr/>
          <p:nvPr/>
        </p:nvSpPr>
        <p:spPr>
          <a:xfrm>
            <a:off x="2714612" y="3143248"/>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5"/>
          <p:cNvGraphicFramePr>
            <a:graphicFrameLocks noGrp="1"/>
          </p:cNvGraphicFramePr>
          <p:nvPr/>
        </p:nvGraphicFramePr>
        <p:xfrm>
          <a:off x="473868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7" name="橢圓 6"/>
          <p:cNvSpPr/>
          <p:nvPr/>
        </p:nvSpPr>
        <p:spPr>
          <a:xfrm>
            <a:off x="6072198" y="3143248"/>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向右箭號 7"/>
          <p:cNvSpPr/>
          <p:nvPr/>
        </p:nvSpPr>
        <p:spPr>
          <a:xfrm>
            <a:off x="4429124" y="4357694"/>
            <a:ext cx="285752"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8</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1 </a:t>
            </a:r>
            <a:endParaRPr lang="zh-TW" altLang="en-US" dirty="0" smtClean="0"/>
          </a:p>
          <a:p>
            <a:endParaRPr lang="zh-TW" altLang="en-US" dirty="0"/>
          </a:p>
        </p:txBody>
      </p:sp>
      <p:graphicFrame>
        <p:nvGraphicFramePr>
          <p:cNvPr id="4" name="表格 3"/>
          <p:cNvGraphicFramePr>
            <a:graphicFrameLocks noGrp="1"/>
          </p:cNvGraphicFramePr>
          <p:nvPr/>
        </p:nvGraphicFramePr>
        <p:xfrm>
          <a:off x="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5" name="橢圓 4"/>
          <p:cNvSpPr/>
          <p:nvPr/>
        </p:nvSpPr>
        <p:spPr>
          <a:xfrm>
            <a:off x="928662" y="3571876"/>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4429124" y="4143380"/>
            <a:ext cx="285752"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nvGraphicFramePr>
        <p:xfrm>
          <a:off x="4738680" y="2643182"/>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8" name="橢圓 7"/>
          <p:cNvSpPr/>
          <p:nvPr/>
        </p:nvSpPr>
        <p:spPr>
          <a:xfrm>
            <a:off x="5214942" y="4071942"/>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9</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1 </a:t>
            </a:r>
            <a:endParaRPr lang="zh-TW" altLang="en-US" dirty="0" smtClean="0"/>
          </a:p>
          <a:p>
            <a:endParaRPr lang="zh-TW" altLang="en-US" dirty="0"/>
          </a:p>
        </p:txBody>
      </p:sp>
      <p:graphicFrame>
        <p:nvGraphicFramePr>
          <p:cNvPr id="4" name="表格 3"/>
          <p:cNvGraphicFramePr>
            <a:graphicFrameLocks noGrp="1"/>
          </p:cNvGraphicFramePr>
          <p:nvPr/>
        </p:nvGraphicFramePr>
        <p:xfrm>
          <a:off x="857224" y="2714620"/>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10</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2</a:t>
            </a:r>
            <a:endParaRPr lang="zh-TW" altLang="en-US" dirty="0" smtClean="0"/>
          </a:p>
          <a:p>
            <a:endParaRPr lang="zh-TW" altLang="en-US" dirty="0"/>
          </a:p>
        </p:txBody>
      </p:sp>
      <p:graphicFrame>
        <p:nvGraphicFramePr>
          <p:cNvPr id="4" name="表格 3"/>
          <p:cNvGraphicFramePr>
            <a:graphicFrameLocks noGrp="1"/>
          </p:cNvGraphicFramePr>
          <p:nvPr/>
        </p:nvGraphicFramePr>
        <p:xfrm>
          <a:off x="0" y="2500306"/>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2</a:t>
                      </a:r>
                      <a:endParaRPr lang="zh-TW" altLang="en-US" dirty="0"/>
                    </a:p>
                  </a:txBody>
                  <a:tcPr>
                    <a:solidFill>
                      <a:srgbClr val="FF0000"/>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r>
            </a:tbl>
          </a:graphicData>
        </a:graphic>
      </p:graphicFrame>
      <p:sp>
        <p:nvSpPr>
          <p:cNvPr id="5" name="橢圓 4"/>
          <p:cNvSpPr/>
          <p:nvPr/>
        </p:nvSpPr>
        <p:spPr>
          <a:xfrm>
            <a:off x="2214546" y="3429000"/>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4429124" y="4143380"/>
            <a:ext cx="285752"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nvGraphicFramePr>
        <p:xfrm>
          <a:off x="4738680" y="2500306"/>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2</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8" name="橢圓 7"/>
          <p:cNvSpPr/>
          <p:nvPr/>
        </p:nvSpPr>
        <p:spPr>
          <a:xfrm>
            <a:off x="6572264" y="3929066"/>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11</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2</a:t>
            </a:r>
            <a:endParaRPr lang="zh-TW" altLang="en-US" dirty="0" smtClean="0"/>
          </a:p>
          <a:p>
            <a:endParaRPr lang="zh-TW" altLang="en-US" dirty="0"/>
          </a:p>
        </p:txBody>
      </p:sp>
      <p:graphicFrame>
        <p:nvGraphicFramePr>
          <p:cNvPr id="6" name="表格 5"/>
          <p:cNvGraphicFramePr>
            <a:graphicFrameLocks noGrp="1"/>
          </p:cNvGraphicFramePr>
          <p:nvPr/>
        </p:nvGraphicFramePr>
        <p:xfrm>
          <a:off x="0" y="2571744"/>
          <a:ext cx="3428990" cy="3214708"/>
        </p:xfrm>
        <a:graphic>
          <a:graphicData uri="http://schemas.openxmlformats.org/drawingml/2006/table">
            <a:tbl>
              <a:tblPr firstRow="1" bandRow="1">
                <a:tableStyleId>{5940675A-B579-460E-94D1-54222C63F5DA}</a:tableStyleId>
              </a:tblPr>
              <a:tblGrid>
                <a:gridCol w="342899"/>
                <a:gridCol w="342899"/>
                <a:gridCol w="342899"/>
                <a:gridCol w="342899"/>
                <a:gridCol w="342899"/>
                <a:gridCol w="342899"/>
                <a:gridCol w="342899"/>
                <a:gridCol w="342899"/>
                <a:gridCol w="342899"/>
                <a:gridCol w="342899"/>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2</a:t>
                      </a:r>
                      <a:endParaRPr lang="zh-TW" altLang="en-US" dirty="0"/>
                    </a:p>
                  </a:txBody>
                  <a:tcPr>
                    <a:solidFill>
                      <a:srgbClr val="FF0000"/>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8" name="橢圓 7"/>
          <p:cNvSpPr/>
          <p:nvPr/>
        </p:nvSpPr>
        <p:spPr>
          <a:xfrm>
            <a:off x="714348" y="4929198"/>
            <a:ext cx="285752"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a:off x="3428992" y="4143380"/>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3786182" y="3857628"/>
            <a:ext cx="928694" cy="646331"/>
          </a:xfrm>
          <a:prstGeom prst="rect">
            <a:avLst/>
          </a:prstGeom>
          <a:noFill/>
        </p:spPr>
        <p:txBody>
          <a:bodyPr wrap="square" rtlCol="0">
            <a:spAutoFit/>
          </a:bodyPr>
          <a:lstStyle/>
          <a:p>
            <a:r>
              <a:rPr lang="en-US" altLang="zh-TW" sz="3600" dirty="0" smtClean="0"/>
              <a:t>……</a:t>
            </a:r>
            <a:endParaRPr lang="zh-TW" altLang="en-US" sz="3600" dirty="0"/>
          </a:p>
        </p:txBody>
      </p:sp>
      <p:sp>
        <p:nvSpPr>
          <p:cNvPr id="11" name="向右箭號 10"/>
          <p:cNvSpPr/>
          <p:nvPr/>
        </p:nvSpPr>
        <p:spPr>
          <a:xfrm>
            <a:off x="4500562" y="4143380"/>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2" name="表格 11"/>
          <p:cNvGraphicFramePr>
            <a:graphicFrameLocks noGrp="1"/>
          </p:cNvGraphicFramePr>
          <p:nvPr/>
        </p:nvGraphicFramePr>
        <p:xfrm>
          <a:off x="5000628" y="2571744"/>
          <a:ext cx="3428990" cy="3214708"/>
        </p:xfrm>
        <a:graphic>
          <a:graphicData uri="http://schemas.openxmlformats.org/drawingml/2006/table">
            <a:tbl>
              <a:tblPr firstRow="1" bandRow="1">
                <a:tableStyleId>{5940675A-B579-460E-94D1-54222C63F5DA}</a:tableStyleId>
              </a:tblPr>
              <a:tblGrid>
                <a:gridCol w="342899"/>
                <a:gridCol w="342899"/>
                <a:gridCol w="342899"/>
                <a:gridCol w="342899"/>
                <a:gridCol w="342899"/>
                <a:gridCol w="342899"/>
                <a:gridCol w="342899"/>
                <a:gridCol w="342899"/>
                <a:gridCol w="342899"/>
                <a:gridCol w="342899"/>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13" name="投影片編號版面配置區 12"/>
          <p:cNvSpPr>
            <a:spLocks noGrp="1"/>
          </p:cNvSpPr>
          <p:nvPr>
            <p:ph type="sldNum" sz="quarter" idx="12"/>
          </p:nvPr>
        </p:nvSpPr>
        <p:spPr/>
        <p:txBody>
          <a:bodyPr/>
          <a:lstStyle/>
          <a:p>
            <a:fld id="{73DA0BB7-265A-403C-9275-D587AB510EDC}" type="slidenum">
              <a:rPr lang="zh-TW" altLang="en-US" smtClean="0"/>
              <a:pPr/>
              <a:t>12</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3                             find rank = 4</a:t>
            </a:r>
            <a:endParaRPr lang="zh-TW" altLang="en-US" dirty="0" smtClean="0"/>
          </a:p>
          <a:p>
            <a:endParaRPr lang="zh-TW" altLang="en-US" dirty="0"/>
          </a:p>
        </p:txBody>
      </p:sp>
      <p:graphicFrame>
        <p:nvGraphicFramePr>
          <p:cNvPr id="4" name="表格 3"/>
          <p:cNvGraphicFramePr>
            <a:graphicFrameLocks noGrp="1"/>
          </p:cNvGraphicFramePr>
          <p:nvPr/>
        </p:nvGraphicFramePr>
        <p:xfrm>
          <a:off x="571472" y="2714620"/>
          <a:ext cx="3428990" cy="3214708"/>
        </p:xfrm>
        <a:graphic>
          <a:graphicData uri="http://schemas.openxmlformats.org/drawingml/2006/table">
            <a:tbl>
              <a:tblPr firstRow="1" bandRow="1">
                <a:tableStyleId>{5940675A-B579-460E-94D1-54222C63F5DA}</a:tableStyleId>
              </a:tblPr>
              <a:tblGrid>
                <a:gridCol w="342899"/>
                <a:gridCol w="342899"/>
                <a:gridCol w="342899"/>
                <a:gridCol w="342899"/>
                <a:gridCol w="342899"/>
                <a:gridCol w="342899"/>
                <a:gridCol w="342899"/>
                <a:gridCol w="342899"/>
                <a:gridCol w="342899"/>
                <a:gridCol w="342899"/>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graphicFrame>
        <p:nvGraphicFramePr>
          <p:cNvPr id="5" name="表格 4"/>
          <p:cNvGraphicFramePr>
            <a:graphicFrameLocks noGrp="1"/>
          </p:cNvGraphicFramePr>
          <p:nvPr/>
        </p:nvGraphicFramePr>
        <p:xfrm>
          <a:off x="5000628" y="2714620"/>
          <a:ext cx="3428990" cy="3214708"/>
        </p:xfrm>
        <a:graphic>
          <a:graphicData uri="http://schemas.openxmlformats.org/drawingml/2006/table">
            <a:tbl>
              <a:tblPr firstRow="1" bandRow="1">
                <a:tableStyleId>{5940675A-B579-460E-94D1-54222C63F5DA}</a:tableStyleId>
              </a:tblPr>
              <a:tblGrid>
                <a:gridCol w="342899"/>
                <a:gridCol w="342899"/>
                <a:gridCol w="342899"/>
                <a:gridCol w="342899"/>
                <a:gridCol w="342899"/>
                <a:gridCol w="342899"/>
                <a:gridCol w="342899"/>
                <a:gridCol w="342899"/>
                <a:gridCol w="342899"/>
                <a:gridCol w="342899"/>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bg1"/>
                    </a:solidFill>
                  </a:tcPr>
                </a:tc>
                <a:tc>
                  <a:txBody>
                    <a:bodyPr/>
                    <a:lstStyle/>
                    <a:p>
                      <a:pPr algn="ctr"/>
                      <a:r>
                        <a:rPr lang="en-US" altLang="zh-TW" dirty="0" smtClean="0"/>
                        <a:t>2</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3</a:t>
                      </a: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endParaRPr lang="zh-TW" altLang="en-US" dirty="0"/>
                    </a:p>
                  </a:txBody>
                  <a:tcPr>
                    <a:solidFill>
                      <a:schemeClr val="bg1"/>
                    </a:solidFill>
                  </a:tcPr>
                </a:tc>
                <a:tc>
                  <a:txBody>
                    <a:bodyPr/>
                    <a:lstStyle/>
                    <a:p>
                      <a:pPr algn="ctr"/>
                      <a:r>
                        <a:rPr lang="en-US" altLang="zh-TW" dirty="0" smtClean="0"/>
                        <a:t>4</a:t>
                      </a:r>
                      <a:endParaRPr lang="zh-TW" altLang="en-US" dirty="0"/>
                    </a:p>
                  </a:txBody>
                  <a:tcPr>
                    <a:solidFill>
                      <a:schemeClr val="bg1"/>
                    </a:solidFill>
                  </a:tcPr>
                </a:tc>
                <a:tc>
                  <a:txBody>
                    <a:bodyPr/>
                    <a:lstStyle/>
                    <a:p>
                      <a:pPr algn="ctr"/>
                      <a:endParaRPr lang="zh-TW" altLang="en-US" dirty="0"/>
                    </a:p>
                  </a:txBody>
                  <a:tcPr>
                    <a:solidFill>
                      <a:schemeClr val="bg1"/>
                    </a:solidFill>
                  </a:tcPr>
                </a:tc>
              </a:tr>
            </a:tbl>
          </a:graphicData>
        </a:graphic>
      </p:graphicFrame>
      <p:sp>
        <p:nvSpPr>
          <p:cNvPr id="6" name="投影片編號版面配置區 5"/>
          <p:cNvSpPr>
            <a:spLocks noGrp="1"/>
          </p:cNvSpPr>
          <p:nvPr>
            <p:ph type="sldNum" sz="quarter" idx="12"/>
          </p:nvPr>
        </p:nvSpPr>
        <p:spPr/>
        <p:txBody>
          <a:bodyPr/>
          <a:lstStyle/>
          <a:p>
            <a:fld id="{73DA0BB7-265A-403C-9275-D587AB510EDC}" type="slidenum">
              <a:rPr lang="zh-TW" altLang="en-US" smtClean="0"/>
              <a:pPr/>
              <a:t>13</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Improvement Approach 1</a:t>
            </a:r>
            <a:endParaRPr lang="zh-TW" altLang="en-US" dirty="0"/>
          </a:p>
        </p:txBody>
      </p:sp>
      <p:sp>
        <p:nvSpPr>
          <p:cNvPr id="3" name="內容版面配置區 2"/>
          <p:cNvSpPr>
            <a:spLocks noGrp="1"/>
          </p:cNvSpPr>
          <p:nvPr>
            <p:ph idx="1"/>
          </p:nvPr>
        </p:nvSpPr>
        <p:spPr/>
        <p:txBody>
          <a:bodyPr/>
          <a:lstStyle/>
          <a:p>
            <a:r>
              <a:rPr lang="en-US" altLang="zh-TW" i="1" smtClean="0"/>
              <a:t>O(m</a:t>
            </a:r>
            <a:r>
              <a:rPr lang="en-US" altLang="zh-TW" i="1" baseline="30000" smtClean="0"/>
              <a:t>2</a:t>
            </a:r>
            <a:r>
              <a:rPr lang="en-US" altLang="zh-TW" i="1" smtClean="0"/>
              <a:t> * max(1 </a:t>
            </a:r>
            <a:r>
              <a:rPr lang="en-US" altLang="zh-TW" i="1" dirty="0" smtClean="0"/>
              <a:t>, log(n/m))</a:t>
            </a:r>
            <a:r>
              <a:rPr lang="en-US" altLang="zh-TW" dirty="0" smtClean="0"/>
              <a:t>)</a:t>
            </a:r>
            <a:endParaRPr lang="zh-TW" altLang="en-US" baseline="30000" dirty="0"/>
          </a:p>
        </p:txBody>
      </p:sp>
      <p:graphicFrame>
        <p:nvGraphicFramePr>
          <p:cNvPr id="4" name="表格 3"/>
          <p:cNvGraphicFramePr>
            <a:graphicFrameLocks noGrp="1"/>
          </p:cNvGraphicFramePr>
          <p:nvPr/>
        </p:nvGraphicFramePr>
        <p:xfrm>
          <a:off x="285720" y="2500306"/>
          <a:ext cx="4000524" cy="3500460"/>
        </p:xfrm>
        <a:graphic>
          <a:graphicData uri="http://schemas.openxmlformats.org/drawingml/2006/table">
            <a:tbl>
              <a:tblPr firstRow="1" bandRow="1">
                <a:tableStyleId>{5940675A-B579-460E-94D1-54222C63F5DA}</a:tableStyleId>
              </a:tblPr>
              <a:tblGrid>
                <a:gridCol w="333377"/>
                <a:gridCol w="333377"/>
                <a:gridCol w="333377"/>
                <a:gridCol w="333377"/>
                <a:gridCol w="333377"/>
                <a:gridCol w="333377"/>
                <a:gridCol w="333377"/>
                <a:gridCol w="333377"/>
                <a:gridCol w="333377"/>
                <a:gridCol w="333377"/>
                <a:gridCol w="333377"/>
                <a:gridCol w="333377"/>
              </a:tblGrid>
              <a:tr h="38894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r>
              <a:tr h="388940">
                <a:tc>
                  <a:txBody>
                    <a:bodyPr/>
                    <a:lstStyle/>
                    <a:p>
                      <a:endParaRPr lang="zh-TW" altLang="en-US"/>
                    </a:p>
                  </a:txBody>
                  <a:tcPr/>
                </a:tc>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r>
              <a:tr h="388940">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r>
              <a:tr h="388940">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r>
              <a:tr h="388940">
                <a:tc>
                  <a:txBody>
                    <a:bodyPr/>
                    <a:lstStyle/>
                    <a:p>
                      <a:r>
                        <a:rPr lang="en-US" altLang="zh-TW" dirty="0" smtClean="0"/>
                        <a:t>c</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rgbClr val="FF0000"/>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r>
              <a:tr h="388940">
                <a:tc>
                  <a:txBody>
                    <a:bodyPr/>
                    <a:lstStyle/>
                    <a:p>
                      <a:r>
                        <a:rPr lang="en-US" altLang="zh-TW" dirty="0" smtClean="0"/>
                        <a:t>d</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r>
            </a:tbl>
          </a:graphicData>
        </a:graphic>
      </p:graphicFrame>
      <p:graphicFrame>
        <p:nvGraphicFramePr>
          <p:cNvPr id="5" name="表格 4"/>
          <p:cNvGraphicFramePr>
            <a:graphicFrameLocks noGrp="1"/>
          </p:cNvGraphicFramePr>
          <p:nvPr/>
        </p:nvGraphicFramePr>
        <p:xfrm>
          <a:off x="4572000" y="2500306"/>
          <a:ext cx="4000524" cy="3500460"/>
        </p:xfrm>
        <a:graphic>
          <a:graphicData uri="http://schemas.openxmlformats.org/drawingml/2006/table">
            <a:tbl>
              <a:tblPr firstRow="1" bandRow="1">
                <a:tableStyleId>{5940675A-B579-460E-94D1-54222C63F5DA}</a:tableStyleId>
              </a:tblPr>
              <a:tblGrid>
                <a:gridCol w="333377"/>
                <a:gridCol w="333377"/>
                <a:gridCol w="333377"/>
                <a:gridCol w="333377"/>
                <a:gridCol w="333377"/>
                <a:gridCol w="333377"/>
                <a:gridCol w="333377"/>
                <a:gridCol w="333377"/>
                <a:gridCol w="333377"/>
                <a:gridCol w="333377"/>
                <a:gridCol w="333377"/>
                <a:gridCol w="333377"/>
              </a:tblGrid>
              <a:tr h="38894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r>
              <a:tr h="388940">
                <a:tc>
                  <a:txBody>
                    <a:bodyPr/>
                    <a:lstStyle/>
                    <a:p>
                      <a:endParaRPr lang="zh-TW" altLang="en-US"/>
                    </a:p>
                  </a:txBody>
                  <a:tcPr/>
                </a:tc>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r>
              <a:tr h="388940">
                <a:tc>
                  <a:txBody>
                    <a:bodyPr/>
                    <a:lstStyle/>
                    <a:p>
                      <a:endParaRPr lang="zh-TW" altLang="en-US"/>
                    </a:p>
                  </a:txBody>
                  <a:tcPr/>
                </a:tc>
                <a:tc>
                  <a:txBody>
                    <a:bodyPr/>
                    <a:lstStyle/>
                    <a:p>
                      <a:r>
                        <a:rPr lang="en-US" altLang="zh-TW" dirty="0" smtClean="0"/>
                        <a:t>0</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0</a:t>
                      </a:r>
                      <a:endParaRPr lang="zh-TW" altLang="en-US" dirty="0"/>
                    </a:p>
                  </a:txBody>
                  <a:tcPr>
                    <a:solidFill>
                      <a:schemeClr val="accent6">
                        <a:lumMod val="60000"/>
                        <a:lumOff val="40000"/>
                      </a:schemeClr>
                    </a:solidFill>
                  </a:tcPr>
                </a:tc>
              </a:tr>
              <a:tr h="388940">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r>
              <a:tr h="388940">
                <a:tc>
                  <a:txBody>
                    <a:bodyPr/>
                    <a:lstStyle/>
                    <a:p>
                      <a:r>
                        <a:rPr lang="en-US" altLang="zh-TW" dirty="0" smtClean="0"/>
                        <a:t>c</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0</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1</a:t>
                      </a:r>
                      <a:endParaRPr lang="zh-TW" altLang="en-US" dirty="0"/>
                    </a:p>
                  </a:txBody>
                  <a:tcPr>
                    <a:solidFill>
                      <a:schemeClr val="accent5">
                        <a:lumMod val="60000"/>
                        <a:lumOff val="40000"/>
                      </a:schemeClr>
                    </a:solidFill>
                  </a:tcPr>
                </a:tc>
                <a:tc>
                  <a:txBody>
                    <a:bodyPr/>
                    <a:lstStyle/>
                    <a:p>
                      <a:r>
                        <a:rPr lang="en-US" altLang="zh-TW" dirty="0" smtClean="0"/>
                        <a:t>2</a:t>
                      </a:r>
                      <a:endParaRPr lang="zh-TW" altLang="en-US" dirty="0"/>
                    </a:p>
                  </a:txBody>
                  <a:tcPr>
                    <a:solidFill>
                      <a:srgbClr val="FF0000"/>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r>
              <a:tr h="388940">
                <a:tc>
                  <a:txBody>
                    <a:bodyPr/>
                    <a:lstStyle/>
                    <a:p>
                      <a:r>
                        <a:rPr lang="en-US" altLang="zh-TW" dirty="0" smtClean="0"/>
                        <a:t>d</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r>
              <a:tr h="388940">
                <a:tc>
                  <a:txBody>
                    <a:bodyPr/>
                    <a:lstStyle/>
                    <a:p>
                      <a:r>
                        <a:rPr lang="en-US" altLang="zh-TW" dirty="0" smtClean="0"/>
                        <a:t>b</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0</a:t>
                      </a:r>
                      <a:endParaRPr lang="zh-TW" altLang="en-US" dirty="0"/>
                    </a:p>
                  </a:txBody>
                  <a:tcPr>
                    <a:solidFill>
                      <a:schemeClr val="accent6">
                        <a:lumMod val="60000"/>
                        <a:lumOff val="40000"/>
                      </a:schemeClr>
                    </a:solidFill>
                  </a:tcPr>
                </a:tc>
                <a:tc>
                  <a:txBody>
                    <a:bodyPr/>
                    <a:lstStyle/>
                    <a:p>
                      <a:r>
                        <a:rPr lang="en-US" altLang="zh-TW" dirty="0" smtClean="0"/>
                        <a:t>1</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6">
                        <a:lumMod val="60000"/>
                        <a:lumOff val="40000"/>
                      </a:schemeClr>
                    </a:solidFill>
                  </a:tcPr>
                </a:tc>
                <a:tc>
                  <a:txBody>
                    <a:bodyPr/>
                    <a:lstStyle/>
                    <a:p>
                      <a:r>
                        <a:rPr lang="en-US" altLang="zh-TW" dirty="0" smtClean="0"/>
                        <a:t>2</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3</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c>
                  <a:txBody>
                    <a:bodyPr/>
                    <a:lstStyle/>
                    <a:p>
                      <a:r>
                        <a:rPr lang="en-US" altLang="zh-TW" dirty="0" smtClean="0"/>
                        <a:t>4</a:t>
                      </a:r>
                      <a:endParaRPr lang="zh-TW" altLang="en-US" dirty="0"/>
                    </a:p>
                  </a:txBody>
                  <a:tcPr>
                    <a:solidFill>
                      <a:schemeClr val="accent3">
                        <a:lumMod val="60000"/>
                        <a:lumOff val="40000"/>
                      </a:schemeClr>
                    </a:solidFill>
                  </a:tcPr>
                </a:tc>
              </a:tr>
            </a:tbl>
          </a:graphicData>
        </a:graphic>
      </p:graphicFrame>
      <p:sp>
        <p:nvSpPr>
          <p:cNvPr id="6" name="向右箭號 5"/>
          <p:cNvSpPr/>
          <p:nvPr/>
        </p:nvSpPr>
        <p:spPr>
          <a:xfrm>
            <a:off x="4286248" y="4071942"/>
            <a:ext cx="285752" cy="5000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14</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1 </a:t>
            </a:r>
            <a:endParaRPr lang="zh-TW" altLang="en-US" dirty="0" smtClean="0"/>
          </a:p>
          <a:p>
            <a:endParaRPr lang="zh-TW" altLang="en-US" dirty="0"/>
          </a:p>
        </p:txBody>
      </p:sp>
      <p:graphicFrame>
        <p:nvGraphicFramePr>
          <p:cNvPr id="4" name="表格 3"/>
          <p:cNvGraphicFramePr>
            <a:graphicFrameLocks noGrp="1"/>
          </p:cNvGraphicFramePr>
          <p:nvPr/>
        </p:nvGraphicFramePr>
        <p:xfrm>
          <a:off x="0" y="2500306"/>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5" name="橢圓 4"/>
          <p:cNvSpPr/>
          <p:nvPr/>
        </p:nvSpPr>
        <p:spPr>
          <a:xfrm>
            <a:off x="5214942" y="3929066"/>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4429124" y="3929066"/>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nvGraphicFramePr>
        <p:xfrm>
          <a:off x="4738680" y="2500306"/>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noFill/>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no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8" name="橢圓 7"/>
          <p:cNvSpPr/>
          <p:nvPr/>
        </p:nvSpPr>
        <p:spPr>
          <a:xfrm>
            <a:off x="928662" y="3429000"/>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5214942" y="3929066"/>
            <a:ext cx="357190"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15</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1 </a:t>
            </a:r>
            <a:endParaRPr lang="zh-TW" altLang="en-US" dirty="0" smtClean="0"/>
          </a:p>
          <a:p>
            <a:endParaRPr lang="zh-TW" altLang="en-US" dirty="0"/>
          </a:p>
        </p:txBody>
      </p:sp>
      <p:graphicFrame>
        <p:nvGraphicFramePr>
          <p:cNvPr id="8" name="表格 7"/>
          <p:cNvGraphicFramePr>
            <a:graphicFrameLocks noGrp="1"/>
          </p:cNvGraphicFramePr>
          <p:nvPr/>
        </p:nvGraphicFramePr>
        <p:xfrm>
          <a:off x="357158" y="2714620"/>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16</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2 </a:t>
            </a:r>
            <a:endParaRPr lang="zh-TW" altLang="en-US" dirty="0" smtClean="0"/>
          </a:p>
          <a:p>
            <a:endParaRPr lang="zh-TW" altLang="en-US" dirty="0"/>
          </a:p>
        </p:txBody>
      </p:sp>
      <p:graphicFrame>
        <p:nvGraphicFramePr>
          <p:cNvPr id="4" name="表格 3"/>
          <p:cNvGraphicFramePr>
            <a:graphicFrameLocks noGrp="1"/>
          </p:cNvGraphicFramePr>
          <p:nvPr/>
        </p:nvGraphicFramePr>
        <p:xfrm>
          <a:off x="0" y="2643185"/>
          <a:ext cx="3500430" cy="3286143"/>
        </p:xfrm>
        <a:graphic>
          <a:graphicData uri="http://schemas.openxmlformats.org/drawingml/2006/table">
            <a:tbl>
              <a:tblPr firstRow="1" bandRow="1">
                <a:tableStyleId>{5940675A-B579-460E-94D1-54222C63F5DA}</a:tableStyleId>
              </a:tblPr>
              <a:tblGrid>
                <a:gridCol w="350043"/>
                <a:gridCol w="350043"/>
                <a:gridCol w="350043"/>
                <a:gridCol w="350043"/>
                <a:gridCol w="350043"/>
                <a:gridCol w="350043"/>
                <a:gridCol w="350043"/>
                <a:gridCol w="350043"/>
                <a:gridCol w="350043"/>
                <a:gridCol w="350043"/>
              </a:tblGrid>
              <a:tr h="469449">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69449">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69449">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solidFill>
                      <a:srgbClr val="FF0000"/>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69449">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d</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endParaRPr lang="zh-TW" altLang="en-US" dirty="0"/>
                    </a:p>
                  </a:txBody>
                  <a:tcPr>
                    <a:solidFill>
                      <a:schemeClr val="accent6">
                        <a:lumMod val="60000"/>
                        <a:lumOff val="40000"/>
                      </a:schemeClr>
                    </a:solid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5" name="橢圓 4"/>
          <p:cNvSpPr/>
          <p:nvPr/>
        </p:nvSpPr>
        <p:spPr>
          <a:xfrm>
            <a:off x="1428728" y="4071942"/>
            <a:ext cx="285752" cy="35719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3500430" y="4000504"/>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3857620" y="3714752"/>
            <a:ext cx="928694" cy="646331"/>
          </a:xfrm>
          <a:prstGeom prst="rect">
            <a:avLst/>
          </a:prstGeom>
          <a:noFill/>
        </p:spPr>
        <p:txBody>
          <a:bodyPr wrap="square" rtlCol="0">
            <a:spAutoFit/>
          </a:bodyPr>
          <a:lstStyle/>
          <a:p>
            <a:r>
              <a:rPr lang="en-US" altLang="zh-TW" sz="3600" dirty="0" smtClean="0"/>
              <a:t>……</a:t>
            </a:r>
            <a:endParaRPr lang="zh-TW" altLang="en-US" sz="3600" dirty="0"/>
          </a:p>
        </p:txBody>
      </p:sp>
      <p:sp>
        <p:nvSpPr>
          <p:cNvPr id="8" name="向右箭號 7"/>
          <p:cNvSpPr/>
          <p:nvPr/>
        </p:nvSpPr>
        <p:spPr>
          <a:xfrm>
            <a:off x="4572000" y="4000504"/>
            <a:ext cx="357190"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8"/>
          <p:cNvGraphicFramePr>
            <a:graphicFrameLocks noGrp="1"/>
          </p:cNvGraphicFramePr>
          <p:nvPr/>
        </p:nvGraphicFramePr>
        <p:xfrm>
          <a:off x="4929190" y="2643182"/>
          <a:ext cx="3500430" cy="3286143"/>
        </p:xfrm>
        <a:graphic>
          <a:graphicData uri="http://schemas.openxmlformats.org/drawingml/2006/table">
            <a:tbl>
              <a:tblPr firstRow="1" bandRow="1">
                <a:tableStyleId>{5940675A-B579-460E-94D1-54222C63F5DA}</a:tableStyleId>
              </a:tblPr>
              <a:tblGrid>
                <a:gridCol w="350043"/>
                <a:gridCol w="350043"/>
                <a:gridCol w="350043"/>
                <a:gridCol w="350043"/>
                <a:gridCol w="350043"/>
                <a:gridCol w="350043"/>
                <a:gridCol w="350043"/>
                <a:gridCol w="350043"/>
                <a:gridCol w="350043"/>
                <a:gridCol w="350043"/>
              </a:tblGrid>
              <a:tr h="469449">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69449">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69449">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69449">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d</a:t>
                      </a:r>
                      <a:endParaRPr lang="zh-TW" altLang="en-US" dirty="0"/>
                    </a:p>
                  </a:txBody>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10" name="投影片編號版面配置區 9"/>
          <p:cNvSpPr>
            <a:spLocks noGrp="1"/>
          </p:cNvSpPr>
          <p:nvPr>
            <p:ph type="sldNum" sz="quarter" idx="12"/>
          </p:nvPr>
        </p:nvSpPr>
        <p:spPr/>
        <p:txBody>
          <a:bodyPr/>
          <a:lstStyle/>
          <a:p>
            <a:fld id="{73DA0BB7-265A-403C-9275-D587AB510EDC}" type="slidenum">
              <a:rPr lang="zh-TW" altLang="en-US" smtClean="0"/>
              <a:pPr/>
              <a:t>17</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find rank = 3                             find rank = 4</a:t>
            </a:r>
            <a:endParaRPr lang="zh-TW" altLang="en-US" dirty="0"/>
          </a:p>
        </p:txBody>
      </p:sp>
      <p:graphicFrame>
        <p:nvGraphicFramePr>
          <p:cNvPr id="4" name="表格 3"/>
          <p:cNvGraphicFramePr>
            <a:graphicFrameLocks noGrp="1"/>
          </p:cNvGraphicFramePr>
          <p:nvPr/>
        </p:nvGraphicFramePr>
        <p:xfrm>
          <a:off x="285720" y="2500306"/>
          <a:ext cx="3500430" cy="3286143"/>
        </p:xfrm>
        <a:graphic>
          <a:graphicData uri="http://schemas.openxmlformats.org/drawingml/2006/table">
            <a:tbl>
              <a:tblPr firstRow="1" bandRow="1">
                <a:tableStyleId>{5940675A-B579-460E-94D1-54222C63F5DA}</a:tableStyleId>
              </a:tblPr>
              <a:tblGrid>
                <a:gridCol w="350043"/>
                <a:gridCol w="350043"/>
                <a:gridCol w="350043"/>
                <a:gridCol w="350043"/>
                <a:gridCol w="350043"/>
                <a:gridCol w="350043"/>
                <a:gridCol w="350043"/>
                <a:gridCol w="350043"/>
                <a:gridCol w="350043"/>
                <a:gridCol w="350043"/>
              </a:tblGrid>
              <a:tr h="469449">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69449">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69449">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69449">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d</a:t>
                      </a:r>
                      <a:endParaRPr lang="zh-TW" altLang="en-US" dirty="0"/>
                    </a:p>
                  </a:txBody>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nvGraphicFramePr>
        <p:xfrm>
          <a:off x="4929190" y="2500306"/>
          <a:ext cx="3500430" cy="3286143"/>
        </p:xfrm>
        <a:graphic>
          <a:graphicData uri="http://schemas.openxmlformats.org/drawingml/2006/table">
            <a:tbl>
              <a:tblPr firstRow="1" bandRow="1">
                <a:tableStyleId>{5940675A-B579-460E-94D1-54222C63F5DA}</a:tableStyleId>
              </a:tblPr>
              <a:tblGrid>
                <a:gridCol w="350043"/>
                <a:gridCol w="350043"/>
                <a:gridCol w="350043"/>
                <a:gridCol w="350043"/>
                <a:gridCol w="350043"/>
                <a:gridCol w="350043"/>
                <a:gridCol w="350043"/>
                <a:gridCol w="350043"/>
                <a:gridCol w="350043"/>
                <a:gridCol w="350043"/>
              </a:tblGrid>
              <a:tr h="469449">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69449">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69449">
                <a:tc>
                  <a:txBody>
                    <a:bodyPr/>
                    <a:lstStyle/>
                    <a:p>
                      <a:pPr algn="ctr"/>
                      <a:r>
                        <a:rPr lang="en-US" altLang="zh-TW" dirty="0" smtClean="0"/>
                        <a:t>b</a:t>
                      </a:r>
                      <a:endParaRPr lang="zh-TW" altLang="en-US" dirty="0"/>
                    </a:p>
                  </a:txBody>
                  <a:tcPr/>
                </a:tc>
                <a:tc>
                  <a:txBody>
                    <a:bodyPr/>
                    <a:lstStyle/>
                    <a:p>
                      <a:pPr algn="ctr"/>
                      <a:endParaRPr lang="zh-TW" altLang="en-US"/>
                    </a:p>
                  </a:txBody>
                  <a:tcPr>
                    <a:noFill/>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69449">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d</a:t>
                      </a:r>
                      <a:endParaRPr lang="zh-TW" altLang="en-US" dirty="0"/>
                    </a:p>
                  </a:txBody>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endParaRPr lang="zh-TW" altLang="en-US"/>
                    </a:p>
                  </a:txBody>
                  <a:tcPr>
                    <a:noFill/>
                  </a:tcPr>
                </a:tc>
                <a:tc>
                  <a:txBody>
                    <a:bodyPr/>
                    <a:lstStyle/>
                    <a:p>
                      <a:pPr algn="ctr"/>
                      <a:endParaRPr lang="zh-TW" altLang="en-US" dirty="0"/>
                    </a:p>
                  </a:txBody>
                  <a:tcPr>
                    <a:no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69449">
                <a:tc>
                  <a:txBody>
                    <a:bodyPr/>
                    <a:lstStyle/>
                    <a:p>
                      <a:pPr algn="ctr"/>
                      <a:r>
                        <a:rPr lang="en-US" altLang="zh-TW" dirty="0" smtClean="0"/>
                        <a:t>b</a:t>
                      </a:r>
                      <a:endParaRPr lang="zh-TW" altLang="en-US" dirty="0"/>
                    </a:p>
                  </a:txBody>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noFill/>
                  </a:tcPr>
                </a:tc>
                <a:tc>
                  <a:txBody>
                    <a:bodyPr/>
                    <a:lstStyle/>
                    <a:p>
                      <a:pPr algn="ctr"/>
                      <a:endParaRPr lang="zh-TW" altLang="en-US" dirty="0"/>
                    </a:p>
                  </a:txBody>
                  <a:tcPr>
                    <a:noFill/>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4</a:t>
                      </a:r>
                      <a:endParaRPr lang="zh-TW" altLang="en-US" dirty="0"/>
                    </a:p>
                  </a:txBody>
                  <a:tcPr/>
                </a:tc>
                <a:tc>
                  <a:txBody>
                    <a:bodyPr/>
                    <a:lstStyle/>
                    <a:p>
                      <a:pPr algn="ctr"/>
                      <a:endParaRPr lang="zh-TW" altLang="en-US" dirty="0"/>
                    </a:p>
                  </a:txBody>
                  <a:tcPr/>
                </a:tc>
              </a:tr>
            </a:tbl>
          </a:graphicData>
        </a:graphic>
      </p:graphicFrame>
      <p:sp>
        <p:nvSpPr>
          <p:cNvPr id="6" name="投影片編號版面配置區 5"/>
          <p:cNvSpPr>
            <a:spLocks noGrp="1"/>
          </p:cNvSpPr>
          <p:nvPr>
            <p:ph type="sldNum" sz="quarter" idx="12"/>
          </p:nvPr>
        </p:nvSpPr>
        <p:spPr/>
        <p:txBody>
          <a:bodyPr/>
          <a:lstStyle/>
          <a:p>
            <a:fld id="{73DA0BB7-265A-403C-9275-D587AB510EDC}" type="slidenum">
              <a:rPr lang="zh-TW" altLang="en-US" smtClean="0"/>
              <a:pPr/>
              <a:t>18</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2(1/8)</a:t>
            </a:r>
            <a:endParaRPr lang="zh-TW" altLang="en-US" dirty="0"/>
          </a:p>
        </p:txBody>
      </p:sp>
      <p:sp>
        <p:nvSpPr>
          <p:cNvPr id="3" name="內容版面配置區 2"/>
          <p:cNvSpPr>
            <a:spLocks noGrp="1"/>
          </p:cNvSpPr>
          <p:nvPr>
            <p:ph idx="1"/>
          </p:nvPr>
        </p:nvSpPr>
        <p:spPr/>
        <p:txBody>
          <a:bodyPr/>
          <a:lstStyle/>
          <a:p>
            <a:r>
              <a:rPr lang="en-US" altLang="zh-TW" b="1" dirty="0" smtClean="0"/>
              <a:t>A Fast Algorithm for Computing Longest Common Subsequences - </a:t>
            </a:r>
            <a:r>
              <a:rPr lang="en-US" altLang="zh-TW" dirty="0" smtClean="0"/>
              <a:t>Hunt and Szymanski </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0" y="2714596"/>
            <a:ext cx="9144000" cy="4143404"/>
          </a:xfrm>
          <a:prstGeom prst="rect">
            <a:avLst/>
          </a:prstGeom>
          <a:noFill/>
          <a:ln w="3175">
            <a:solidFill>
              <a:schemeClr val="tx1"/>
            </a:solidFill>
            <a:miter lim="800000"/>
            <a:headEnd/>
            <a:tailEnd/>
          </a:ln>
          <a:effectLst/>
        </p:spPr>
      </p:pic>
      <p:sp>
        <p:nvSpPr>
          <p:cNvPr id="5" name="文字方塊 4"/>
          <p:cNvSpPr txBox="1"/>
          <p:nvPr/>
        </p:nvSpPr>
        <p:spPr>
          <a:xfrm>
            <a:off x="6215074" y="3143248"/>
            <a:ext cx="1832553" cy="584775"/>
          </a:xfrm>
          <a:prstGeom prst="rect">
            <a:avLst/>
          </a:prstGeom>
          <a:noFill/>
        </p:spPr>
        <p:txBody>
          <a:bodyPr wrap="none" rtlCol="0">
            <a:spAutoFit/>
          </a:bodyPr>
          <a:lstStyle/>
          <a:p>
            <a:r>
              <a:rPr lang="en-US" altLang="zh-TW" sz="3200" dirty="0" smtClean="0">
                <a:solidFill>
                  <a:srgbClr val="FF0000"/>
                </a:solidFill>
              </a:rPr>
              <a:t>O(N</a:t>
            </a:r>
            <a:r>
              <a:rPr lang="en-US" altLang="zh-TW" sz="3200" baseline="30000" dirty="0" smtClean="0">
                <a:solidFill>
                  <a:srgbClr val="FF0000"/>
                </a:solidFill>
              </a:rPr>
              <a:t>2</a:t>
            </a:r>
            <a:r>
              <a:rPr lang="en-US" altLang="zh-TW" sz="3200" dirty="0" smtClean="0">
                <a:solidFill>
                  <a:srgbClr val="FF0000"/>
                </a:solidFill>
              </a:rPr>
              <a:t>logn)</a:t>
            </a:r>
            <a:endParaRPr lang="zh-TW" altLang="en-US" sz="3200" dirty="0">
              <a:solidFill>
                <a:srgbClr val="FF0000"/>
              </a:solidFill>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19</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2(2/8)</a:t>
            </a:r>
            <a:endParaRPr lang="zh-TW" altLang="en-US" dirty="0"/>
          </a:p>
        </p:txBody>
      </p:sp>
      <p:sp>
        <p:nvSpPr>
          <p:cNvPr id="3" name="內容版面配置區 2"/>
          <p:cNvSpPr>
            <a:spLocks noGrp="1"/>
          </p:cNvSpPr>
          <p:nvPr>
            <p:ph idx="1"/>
          </p:nvPr>
        </p:nvSpPr>
        <p:spPr/>
        <p:txBody>
          <a:bodyPr/>
          <a:lstStyle/>
          <a:p>
            <a:r>
              <a:rPr lang="en-US" altLang="zh-TW" i="1" dirty="0" smtClean="0"/>
              <a:t>A</a:t>
            </a:r>
            <a:r>
              <a:rPr lang="en-US" altLang="zh-TW" dirty="0" smtClean="0"/>
              <a:t> = “</a:t>
            </a:r>
            <a:r>
              <a:rPr lang="en-US" altLang="zh-TW" i="1" dirty="0" err="1" smtClean="0"/>
              <a:t>abcdbb</a:t>
            </a:r>
            <a:r>
              <a:rPr lang="en-US" altLang="zh-TW" i="1" dirty="0" smtClean="0"/>
              <a:t>”</a:t>
            </a:r>
            <a:r>
              <a:rPr lang="en-US" altLang="zh-TW" dirty="0" smtClean="0"/>
              <a:t> , </a:t>
            </a:r>
            <a:r>
              <a:rPr lang="en-US" altLang="zh-TW" i="1" dirty="0" smtClean="0"/>
              <a:t>B</a:t>
            </a:r>
            <a:r>
              <a:rPr lang="en-US" altLang="zh-TW" dirty="0" smtClean="0"/>
              <a:t> = “</a:t>
            </a:r>
            <a:r>
              <a:rPr lang="en-US" altLang="zh-TW" i="1" dirty="0" err="1" smtClean="0"/>
              <a:t>cbacbaaba</a:t>
            </a:r>
            <a:r>
              <a:rPr lang="en-US" altLang="zh-TW" i="1" dirty="0" smtClean="0"/>
              <a:t>”</a:t>
            </a:r>
          </a:p>
          <a:p>
            <a:r>
              <a:rPr lang="en-US" altLang="zh-TW" dirty="0" smtClean="0"/>
              <a:t>if A[</a:t>
            </a:r>
            <a:r>
              <a:rPr lang="en-US" altLang="zh-TW" dirty="0" err="1" smtClean="0"/>
              <a:t>i</a:t>
            </a:r>
            <a:r>
              <a:rPr lang="en-US" altLang="zh-TW" dirty="0" smtClean="0"/>
              <a:t>] == b[j] =&gt; *</a:t>
            </a:r>
            <a:endParaRPr lang="zh-TW" altLang="en-US" dirty="0" smtClean="0"/>
          </a:p>
          <a:p>
            <a:endParaRPr lang="zh-TW" altLang="en-US" dirty="0"/>
          </a:p>
        </p:txBody>
      </p:sp>
      <p:graphicFrame>
        <p:nvGraphicFramePr>
          <p:cNvPr id="4" name="表格 3"/>
          <p:cNvGraphicFramePr>
            <a:graphicFrameLocks noGrp="1"/>
          </p:cNvGraphicFramePr>
          <p:nvPr/>
        </p:nvGraphicFramePr>
        <p:xfrm>
          <a:off x="500034" y="3429000"/>
          <a:ext cx="4405320" cy="3214708"/>
        </p:xfrm>
        <a:graphic>
          <a:graphicData uri="http://schemas.openxmlformats.org/drawingml/2006/table">
            <a:tbl>
              <a:tblPr firstRow="1" bandRow="1">
                <a:tableStyleId>{5940675A-B579-460E-94D1-54222C63F5DA}</a:tableStyleId>
              </a:tblPr>
              <a:tblGrid>
                <a:gridCol w="440532"/>
                <a:gridCol w="440532"/>
                <a:gridCol w="440532"/>
                <a:gridCol w="440532"/>
                <a:gridCol w="440532"/>
                <a:gridCol w="440532"/>
                <a:gridCol w="440532"/>
                <a:gridCol w="440532"/>
                <a:gridCol w="440532"/>
                <a:gridCol w="440532"/>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20</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2(3/8)</a:t>
            </a:r>
            <a:endParaRPr lang="zh-TW" altLang="en-US" dirty="0"/>
          </a:p>
        </p:txBody>
      </p:sp>
      <p:sp>
        <p:nvSpPr>
          <p:cNvPr id="3" name="內容版面配置區 2"/>
          <p:cNvSpPr>
            <a:spLocks noGrp="1"/>
          </p:cNvSpPr>
          <p:nvPr>
            <p:ph idx="1"/>
          </p:nvPr>
        </p:nvSpPr>
        <p:spPr/>
        <p:txBody>
          <a:bodyPr/>
          <a:lstStyle/>
          <a:p>
            <a:r>
              <a:rPr lang="en-US" altLang="zh-TW" i="1" dirty="0" smtClean="0"/>
              <a:t>A</a:t>
            </a:r>
            <a:r>
              <a:rPr lang="en-US" altLang="zh-TW" dirty="0" smtClean="0"/>
              <a:t> = “</a:t>
            </a:r>
            <a:r>
              <a:rPr lang="en-US" altLang="zh-TW" i="1" dirty="0" err="1" smtClean="0"/>
              <a:t>abcdbb</a:t>
            </a:r>
            <a:r>
              <a:rPr lang="en-US" altLang="zh-TW" i="1" dirty="0" smtClean="0"/>
              <a:t>”</a:t>
            </a:r>
            <a:r>
              <a:rPr lang="en-US" altLang="zh-TW" dirty="0" smtClean="0"/>
              <a:t> , </a:t>
            </a:r>
            <a:r>
              <a:rPr lang="en-US" altLang="zh-TW" i="1" dirty="0" smtClean="0"/>
              <a:t>B</a:t>
            </a:r>
            <a:r>
              <a:rPr lang="en-US" altLang="zh-TW" dirty="0" smtClean="0"/>
              <a:t> = “</a:t>
            </a:r>
            <a:r>
              <a:rPr lang="en-US" altLang="zh-TW" i="1" dirty="0" err="1" smtClean="0"/>
              <a:t>cbacbaaba</a:t>
            </a:r>
            <a:r>
              <a:rPr lang="en-US" altLang="zh-TW" i="1" dirty="0" smtClean="0"/>
              <a:t>”</a:t>
            </a:r>
          </a:p>
          <a:p>
            <a:r>
              <a:rPr lang="en-US" altLang="zh-TW" dirty="0" smtClean="0"/>
              <a:t>n = max( |A|, |B|) = 9</a:t>
            </a:r>
          </a:p>
          <a:p>
            <a:r>
              <a:rPr lang="en-US" altLang="zh-TW" dirty="0" smtClean="0"/>
              <a:t>Thresh[0:n]=</a:t>
            </a:r>
          </a:p>
          <a:p>
            <a:pPr>
              <a:buNone/>
            </a:pPr>
            <a:endParaRPr lang="en-US" altLang="zh-TW" dirty="0" smtClean="0"/>
          </a:p>
          <a:p>
            <a:pPr>
              <a:buNone/>
            </a:pPr>
            <a:r>
              <a:rPr lang="en-US" altLang="zh-TW" dirty="0" smtClean="0"/>
              <a:t>                        =               </a:t>
            </a:r>
          </a:p>
          <a:p>
            <a:endParaRPr lang="zh-TW" altLang="en-US" dirty="0"/>
          </a:p>
        </p:txBody>
      </p:sp>
      <p:graphicFrame>
        <p:nvGraphicFramePr>
          <p:cNvPr id="6" name="表格 5"/>
          <p:cNvGraphicFramePr>
            <a:graphicFrameLocks noGrp="1"/>
          </p:cNvGraphicFramePr>
          <p:nvPr/>
        </p:nvGraphicFramePr>
        <p:xfrm>
          <a:off x="3048000" y="2714620"/>
          <a:ext cx="6096000" cy="741680"/>
        </p:xfrm>
        <a:graphic>
          <a:graphicData uri="http://schemas.openxmlformats.org/drawingml/2006/table">
            <a:tbl>
              <a:tblPr firstRow="1" bandRow="1">
                <a:tableStyleId>{5940675A-B579-460E-94D1-54222C63F5DA}</a:tableStyleId>
              </a:tblPr>
              <a:tblGrid>
                <a:gridCol w="762000"/>
                <a:gridCol w="762000"/>
                <a:gridCol w="762000"/>
                <a:gridCol w="762000"/>
                <a:gridCol w="762000"/>
                <a:gridCol w="762000"/>
                <a:gridCol w="762000"/>
                <a:gridCol w="762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n+1</a:t>
                      </a:r>
                      <a:endParaRPr lang="zh-TW" altLang="en-US" dirty="0"/>
                    </a:p>
                  </a:txBody>
                  <a:tcPr/>
                </a:tc>
                <a:tc>
                  <a:txBody>
                    <a:bodyPr/>
                    <a:lstStyle/>
                    <a:p>
                      <a:pPr algn="ctr"/>
                      <a:r>
                        <a:rPr lang="en-US" altLang="zh-TW" dirty="0" smtClean="0"/>
                        <a:t>n+1</a:t>
                      </a:r>
                      <a:endParaRPr lang="zh-TW" altLang="en-US" dirty="0"/>
                    </a:p>
                  </a:txBody>
                  <a:tcPr/>
                </a:tc>
                <a:tc>
                  <a:txBody>
                    <a:bodyPr/>
                    <a:lstStyle/>
                    <a:p>
                      <a:pPr algn="ctr"/>
                      <a:r>
                        <a:rPr lang="en-US" altLang="zh-TW" dirty="0" smtClean="0"/>
                        <a:t>n+1</a:t>
                      </a:r>
                      <a:endParaRPr lang="zh-TW" altLang="en-US" dirty="0"/>
                    </a:p>
                  </a:txBody>
                  <a:tcPr/>
                </a:tc>
                <a:tc>
                  <a:txBody>
                    <a:bodyPr/>
                    <a:lstStyle/>
                    <a:p>
                      <a:pPr algn="ctr"/>
                      <a:r>
                        <a:rPr lang="en-US" altLang="zh-TW" dirty="0" smtClean="0"/>
                        <a:t>n+1</a:t>
                      </a:r>
                      <a:endParaRPr lang="zh-TW" altLang="en-US" dirty="0"/>
                    </a:p>
                  </a:txBody>
                  <a:tcPr/>
                </a:tc>
                <a:tc>
                  <a:txBody>
                    <a:bodyPr/>
                    <a:lstStyle/>
                    <a:p>
                      <a:pPr algn="ctr"/>
                      <a:r>
                        <a:rPr lang="en-US" altLang="zh-TW" dirty="0" smtClean="0"/>
                        <a:t>n+1</a:t>
                      </a:r>
                      <a:endParaRPr lang="zh-TW" altLang="en-US" dirty="0"/>
                    </a:p>
                  </a:txBody>
                  <a:tcPr/>
                </a:tc>
                <a:tc>
                  <a:txBody>
                    <a:bodyPr/>
                    <a:lstStyle/>
                    <a:p>
                      <a:pPr algn="ctr"/>
                      <a:r>
                        <a:rPr lang="en-US" altLang="zh-TW" dirty="0" smtClean="0"/>
                        <a:t>n+1</a:t>
                      </a:r>
                      <a:endParaRPr lang="zh-TW" altLang="en-US" dirty="0"/>
                    </a:p>
                  </a:txBody>
                  <a:tcPr/>
                </a:tc>
              </a:tr>
            </a:tbl>
          </a:graphicData>
        </a:graphic>
      </p:graphicFrame>
      <p:graphicFrame>
        <p:nvGraphicFramePr>
          <p:cNvPr id="7" name="表格 6"/>
          <p:cNvGraphicFramePr>
            <a:graphicFrameLocks noGrp="1"/>
          </p:cNvGraphicFramePr>
          <p:nvPr/>
        </p:nvGraphicFramePr>
        <p:xfrm>
          <a:off x="3048000" y="3857628"/>
          <a:ext cx="6096000" cy="741680"/>
        </p:xfrm>
        <a:graphic>
          <a:graphicData uri="http://schemas.openxmlformats.org/drawingml/2006/table">
            <a:tbl>
              <a:tblPr firstRow="1" bandRow="1">
                <a:tableStyleId>{5940675A-B579-460E-94D1-54222C63F5DA}</a:tableStyleId>
              </a:tblPr>
              <a:tblGrid>
                <a:gridCol w="762000"/>
                <a:gridCol w="762000"/>
                <a:gridCol w="762000"/>
                <a:gridCol w="762000"/>
                <a:gridCol w="762000"/>
                <a:gridCol w="762000"/>
                <a:gridCol w="762000"/>
                <a:gridCol w="762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r>
            </a:tbl>
          </a:graphicData>
        </a:graphic>
      </p:graphicFrame>
      <p:sp>
        <p:nvSpPr>
          <p:cNvPr id="8" name="投影片編號版面配置區 7"/>
          <p:cNvSpPr>
            <a:spLocks noGrp="1"/>
          </p:cNvSpPr>
          <p:nvPr>
            <p:ph type="sldNum" sz="quarter" idx="12"/>
          </p:nvPr>
        </p:nvSpPr>
        <p:spPr/>
        <p:txBody>
          <a:bodyPr/>
          <a:lstStyle/>
          <a:p>
            <a:fld id="{73DA0BB7-265A-403C-9275-D587AB510EDC}" type="slidenum">
              <a:rPr lang="zh-TW" altLang="en-US" smtClean="0"/>
              <a:pPr/>
              <a:t>21</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2(4/8)</a:t>
            </a:r>
            <a:endParaRPr lang="zh-TW" altLang="en-US" dirty="0"/>
          </a:p>
        </p:txBody>
      </p:sp>
      <p:sp>
        <p:nvSpPr>
          <p:cNvPr id="3" name="內容版面配置區 2"/>
          <p:cNvSpPr>
            <a:spLocks noGrp="1"/>
          </p:cNvSpPr>
          <p:nvPr>
            <p:ph idx="1"/>
          </p:nvPr>
        </p:nvSpPr>
        <p:spPr>
          <a:xfrm>
            <a:off x="457200" y="1600200"/>
            <a:ext cx="8472518" cy="4525963"/>
          </a:xfrm>
        </p:spPr>
        <p:txBody>
          <a:bodyPr/>
          <a:lstStyle/>
          <a:p>
            <a:r>
              <a:rPr lang="en-US" altLang="zh-TW" dirty="0" smtClean="0"/>
              <a:t>Thresh[0:n]=</a:t>
            </a:r>
          </a:p>
          <a:p>
            <a:endParaRPr lang="en-US" altLang="zh-TW" dirty="0" smtClean="0"/>
          </a:p>
          <a:p>
            <a:r>
              <a:rPr lang="en-US" altLang="zh-TW" dirty="0" smtClean="0"/>
              <a:t>Thresh[k-1] </a:t>
            </a:r>
            <a:r>
              <a:rPr lang="zh-TW" altLang="en-US" dirty="0" smtClean="0"/>
              <a:t>＜ </a:t>
            </a:r>
            <a:r>
              <a:rPr lang="en-US" altLang="zh-TW" dirty="0" smtClean="0"/>
              <a:t>j ≦ Thresh[k]   =&gt;   Thresh[k] = j</a:t>
            </a:r>
          </a:p>
          <a:p>
            <a:endParaRPr lang="zh-TW" altLang="en-US" dirty="0"/>
          </a:p>
        </p:txBody>
      </p:sp>
      <p:graphicFrame>
        <p:nvGraphicFramePr>
          <p:cNvPr id="4" name="表格 3"/>
          <p:cNvGraphicFramePr>
            <a:graphicFrameLocks noGrp="1"/>
          </p:cNvGraphicFramePr>
          <p:nvPr/>
        </p:nvGraphicFramePr>
        <p:xfrm>
          <a:off x="3048000" y="1571612"/>
          <a:ext cx="6096000" cy="741680"/>
        </p:xfrm>
        <a:graphic>
          <a:graphicData uri="http://schemas.openxmlformats.org/drawingml/2006/table">
            <a:tbl>
              <a:tblPr firstRow="1" bandRow="1">
                <a:tableStyleId>{5940675A-B579-460E-94D1-54222C63F5DA}</a:tableStyleId>
              </a:tblPr>
              <a:tblGrid>
                <a:gridCol w="762000"/>
                <a:gridCol w="762000"/>
                <a:gridCol w="762000"/>
                <a:gridCol w="762000"/>
                <a:gridCol w="762000"/>
                <a:gridCol w="762000"/>
                <a:gridCol w="762000"/>
                <a:gridCol w="762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10</a:t>
                      </a:r>
                      <a:endParaRPr lang="zh-TW" altLang="en-US" dirty="0"/>
                    </a:p>
                  </a:txBody>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22</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2(5/8)</a:t>
            </a:r>
            <a:endParaRPr lang="zh-TW" altLang="en-US" dirty="0"/>
          </a:p>
        </p:txBody>
      </p:sp>
      <p:graphicFrame>
        <p:nvGraphicFramePr>
          <p:cNvPr id="4" name="表格 3"/>
          <p:cNvGraphicFramePr>
            <a:graphicFrameLocks noGrp="1"/>
          </p:cNvGraphicFramePr>
          <p:nvPr/>
        </p:nvGraphicFramePr>
        <p:xfrm>
          <a:off x="571472" y="2714620"/>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solidFill>
                      <a:srgbClr val="FF0000"/>
                    </a:solid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graphicFrame>
        <p:nvGraphicFramePr>
          <p:cNvPr id="6" name="表格 5"/>
          <p:cNvGraphicFramePr>
            <a:graphicFrameLocks noGrp="1"/>
          </p:cNvGraphicFramePr>
          <p:nvPr/>
        </p:nvGraphicFramePr>
        <p:xfrm>
          <a:off x="571472" y="1785926"/>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7" name="文字方塊 6"/>
          <p:cNvSpPr txBox="1"/>
          <p:nvPr/>
        </p:nvSpPr>
        <p:spPr>
          <a:xfrm>
            <a:off x="4071934" y="2857496"/>
            <a:ext cx="5286412" cy="2185214"/>
          </a:xfrm>
          <a:prstGeom prst="rect">
            <a:avLst/>
          </a:prstGeom>
          <a:noFill/>
        </p:spPr>
        <p:txBody>
          <a:bodyPr wrap="square" rtlCol="0">
            <a:spAutoFit/>
          </a:bodyPr>
          <a:lstStyle/>
          <a:p>
            <a:r>
              <a:rPr lang="en-US" altLang="zh-TW" sz="2000" dirty="0" smtClean="0"/>
              <a:t>Point(</a:t>
            </a:r>
            <a:r>
              <a:rPr lang="en-US" altLang="zh-TW" sz="2000" dirty="0" err="1" smtClean="0"/>
              <a:t>i</a:t>
            </a:r>
            <a:r>
              <a:rPr lang="en-US" altLang="zh-TW" sz="2000" dirty="0" smtClean="0"/>
              <a:t>, j) = (1, </a:t>
            </a:r>
            <a:r>
              <a:rPr lang="en-US" altLang="zh-TW" sz="2000" dirty="0" smtClean="0">
                <a:solidFill>
                  <a:srgbClr val="00B050"/>
                </a:solidFill>
              </a:rPr>
              <a:t>9</a:t>
            </a:r>
            <a:r>
              <a:rPr lang="en-US" altLang="zh-TW" sz="2000" dirty="0" smtClean="0"/>
              <a:t>)</a:t>
            </a:r>
          </a:p>
          <a:p>
            <a:endParaRPr lang="en-US" altLang="zh-TW" sz="2000" dirty="0" smtClean="0"/>
          </a:p>
          <a:p>
            <a:r>
              <a:rPr lang="en-US" altLang="zh-TW" sz="2000" dirty="0" smtClean="0"/>
              <a:t>Thresh[0] </a:t>
            </a:r>
            <a:r>
              <a:rPr lang="zh-TW" altLang="en-US" sz="2000" dirty="0" smtClean="0"/>
              <a:t>＜</a:t>
            </a:r>
            <a:r>
              <a:rPr lang="en-US" altLang="zh-TW" sz="2000" dirty="0" smtClean="0">
                <a:solidFill>
                  <a:srgbClr val="00B050"/>
                </a:solidFill>
              </a:rPr>
              <a:t>9</a:t>
            </a:r>
            <a:r>
              <a:rPr lang="en-US" altLang="zh-TW" sz="2000" dirty="0" smtClean="0"/>
              <a:t> ≦ Thresh[</a:t>
            </a:r>
            <a:r>
              <a:rPr lang="en-US" altLang="zh-TW" sz="2000" dirty="0" smtClean="0">
                <a:solidFill>
                  <a:srgbClr val="FF0000"/>
                </a:solidFill>
              </a:rPr>
              <a:t>1</a:t>
            </a:r>
            <a:r>
              <a:rPr lang="en-US" altLang="zh-TW" sz="2000" dirty="0" smtClean="0"/>
              <a:t>]   =&gt;   Thresh[1] = 9</a:t>
            </a:r>
          </a:p>
          <a:p>
            <a:endParaRPr lang="en-US" altLang="zh-TW" sz="2000" dirty="0" smtClean="0"/>
          </a:p>
          <a:p>
            <a:r>
              <a:rPr lang="en-US" altLang="zh-TW" sz="2000" dirty="0" smtClean="0"/>
              <a:t>rank of point(1,9) = </a:t>
            </a:r>
            <a:r>
              <a:rPr lang="en-US" altLang="zh-TW" sz="2000" dirty="0" smtClean="0">
                <a:solidFill>
                  <a:srgbClr val="FF0000"/>
                </a:solidFill>
              </a:rPr>
              <a:t>1</a:t>
            </a:r>
          </a:p>
          <a:p>
            <a:endParaRPr lang="en-US" altLang="zh-TW" dirty="0" smtClean="0"/>
          </a:p>
          <a:p>
            <a:endParaRPr lang="zh-TW" altLang="en-US" dirty="0"/>
          </a:p>
        </p:txBody>
      </p:sp>
      <p:sp>
        <p:nvSpPr>
          <p:cNvPr id="8" name="向右箭號 7"/>
          <p:cNvSpPr/>
          <p:nvPr/>
        </p:nvSpPr>
        <p:spPr>
          <a:xfrm>
            <a:off x="3929058" y="2000240"/>
            <a:ext cx="42862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8"/>
          <p:cNvGraphicFramePr>
            <a:graphicFrameLocks noGrp="1"/>
          </p:cNvGraphicFramePr>
          <p:nvPr/>
        </p:nvGraphicFramePr>
        <p:xfrm>
          <a:off x="4429124" y="1857364"/>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9</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10" name="投影片編號版面配置區 9"/>
          <p:cNvSpPr>
            <a:spLocks noGrp="1"/>
          </p:cNvSpPr>
          <p:nvPr>
            <p:ph type="sldNum" sz="quarter" idx="12"/>
          </p:nvPr>
        </p:nvSpPr>
        <p:spPr/>
        <p:txBody>
          <a:bodyPr/>
          <a:lstStyle/>
          <a:p>
            <a:fld id="{73DA0BB7-265A-403C-9275-D587AB510EDC}" type="slidenum">
              <a:rPr lang="zh-TW" altLang="en-US" smtClean="0"/>
              <a:pPr/>
              <a:t>23</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2(6/8)</a:t>
            </a:r>
            <a:endParaRPr lang="zh-TW" altLang="en-US" dirty="0"/>
          </a:p>
        </p:txBody>
      </p:sp>
      <p:graphicFrame>
        <p:nvGraphicFramePr>
          <p:cNvPr id="4" name="表格 3"/>
          <p:cNvGraphicFramePr>
            <a:graphicFrameLocks noGrp="1"/>
          </p:cNvGraphicFramePr>
          <p:nvPr/>
        </p:nvGraphicFramePr>
        <p:xfrm>
          <a:off x="571472" y="2714620"/>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solidFill>
                      <a:srgbClr val="FF0000"/>
                    </a:solid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nvGraphicFramePr>
        <p:xfrm>
          <a:off x="571472" y="1785926"/>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9</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6" name="向右箭號 5"/>
          <p:cNvSpPr/>
          <p:nvPr/>
        </p:nvSpPr>
        <p:spPr>
          <a:xfrm>
            <a:off x="3929058" y="2000240"/>
            <a:ext cx="42862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nvGraphicFramePr>
        <p:xfrm>
          <a:off x="4429124" y="1857364"/>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7</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8" name="文字方塊 7"/>
          <p:cNvSpPr txBox="1"/>
          <p:nvPr/>
        </p:nvSpPr>
        <p:spPr>
          <a:xfrm>
            <a:off x="4071934" y="2857496"/>
            <a:ext cx="5286412" cy="2185214"/>
          </a:xfrm>
          <a:prstGeom prst="rect">
            <a:avLst/>
          </a:prstGeom>
          <a:noFill/>
        </p:spPr>
        <p:txBody>
          <a:bodyPr wrap="square" rtlCol="0">
            <a:spAutoFit/>
          </a:bodyPr>
          <a:lstStyle/>
          <a:p>
            <a:r>
              <a:rPr lang="en-US" altLang="zh-TW" sz="2000" dirty="0" smtClean="0"/>
              <a:t>Point(</a:t>
            </a:r>
            <a:r>
              <a:rPr lang="en-US" altLang="zh-TW" sz="2000" dirty="0" err="1" smtClean="0"/>
              <a:t>i</a:t>
            </a:r>
            <a:r>
              <a:rPr lang="en-US" altLang="zh-TW" sz="2000" dirty="0" smtClean="0"/>
              <a:t>, j) = (1, </a:t>
            </a:r>
            <a:r>
              <a:rPr lang="en-US" altLang="zh-TW" sz="2000" dirty="0" smtClean="0">
                <a:solidFill>
                  <a:srgbClr val="00B050"/>
                </a:solidFill>
              </a:rPr>
              <a:t>7</a:t>
            </a:r>
            <a:r>
              <a:rPr lang="en-US" altLang="zh-TW" sz="2000" dirty="0" smtClean="0"/>
              <a:t>)</a:t>
            </a:r>
          </a:p>
          <a:p>
            <a:endParaRPr lang="en-US" altLang="zh-TW" sz="2000" dirty="0" smtClean="0"/>
          </a:p>
          <a:p>
            <a:r>
              <a:rPr lang="en-US" altLang="zh-TW" sz="2000" dirty="0" smtClean="0"/>
              <a:t>Thresh[0] </a:t>
            </a:r>
            <a:r>
              <a:rPr lang="zh-TW" altLang="en-US" sz="2000" dirty="0" smtClean="0"/>
              <a:t>＜</a:t>
            </a:r>
            <a:r>
              <a:rPr lang="en-US" altLang="zh-TW" sz="2000" dirty="0" smtClean="0">
                <a:solidFill>
                  <a:srgbClr val="00B050"/>
                </a:solidFill>
              </a:rPr>
              <a:t>7</a:t>
            </a:r>
            <a:r>
              <a:rPr lang="en-US" altLang="zh-TW" sz="2000" dirty="0" smtClean="0"/>
              <a:t> ≦ Thresh[</a:t>
            </a:r>
            <a:r>
              <a:rPr lang="en-US" altLang="zh-TW" sz="2000" dirty="0" smtClean="0">
                <a:solidFill>
                  <a:srgbClr val="FF0000"/>
                </a:solidFill>
              </a:rPr>
              <a:t>1</a:t>
            </a:r>
            <a:r>
              <a:rPr lang="en-US" altLang="zh-TW" sz="2000" dirty="0" smtClean="0"/>
              <a:t>]   =&gt;   Thresh[1] = 7</a:t>
            </a:r>
          </a:p>
          <a:p>
            <a:endParaRPr lang="en-US" altLang="zh-TW" sz="2000" dirty="0" smtClean="0"/>
          </a:p>
          <a:p>
            <a:r>
              <a:rPr lang="en-US" altLang="zh-TW" sz="2000" dirty="0" smtClean="0"/>
              <a:t>rank of point(1,7) = </a:t>
            </a:r>
            <a:r>
              <a:rPr lang="en-US" altLang="zh-TW" sz="2000" dirty="0" smtClean="0">
                <a:solidFill>
                  <a:srgbClr val="FF0000"/>
                </a:solidFill>
              </a:rPr>
              <a:t>1</a:t>
            </a:r>
          </a:p>
          <a:p>
            <a:endParaRPr lang="en-US" altLang="zh-TW" dirty="0" smtClean="0"/>
          </a:p>
          <a:p>
            <a:endParaRPr lang="zh-TW" altLang="en-US" dirty="0"/>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24</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2(7/8)</a:t>
            </a:r>
            <a:endParaRPr lang="zh-TW" altLang="en-US" dirty="0"/>
          </a:p>
        </p:txBody>
      </p:sp>
      <p:graphicFrame>
        <p:nvGraphicFramePr>
          <p:cNvPr id="4" name="表格 3"/>
          <p:cNvGraphicFramePr>
            <a:graphicFrameLocks noGrp="1"/>
          </p:cNvGraphicFramePr>
          <p:nvPr/>
        </p:nvGraphicFramePr>
        <p:xfrm>
          <a:off x="571472" y="2714620"/>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solidFill>
                      <a:srgbClr val="FF0000"/>
                    </a:solidFill>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nvGraphicFramePr>
        <p:xfrm>
          <a:off x="571472" y="1785926"/>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6" name="向右箭號 5"/>
          <p:cNvSpPr/>
          <p:nvPr/>
        </p:nvSpPr>
        <p:spPr>
          <a:xfrm>
            <a:off x="3929058" y="2000240"/>
            <a:ext cx="42862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nvGraphicFramePr>
        <p:xfrm>
          <a:off x="4429124" y="1857364"/>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8</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8" name="文字方塊 7"/>
          <p:cNvSpPr txBox="1"/>
          <p:nvPr/>
        </p:nvSpPr>
        <p:spPr>
          <a:xfrm>
            <a:off x="4071934" y="2857496"/>
            <a:ext cx="5286412" cy="2185214"/>
          </a:xfrm>
          <a:prstGeom prst="rect">
            <a:avLst/>
          </a:prstGeom>
          <a:noFill/>
        </p:spPr>
        <p:txBody>
          <a:bodyPr wrap="square" rtlCol="0">
            <a:spAutoFit/>
          </a:bodyPr>
          <a:lstStyle/>
          <a:p>
            <a:r>
              <a:rPr lang="en-US" altLang="zh-TW" sz="2000" dirty="0" smtClean="0"/>
              <a:t>Point(</a:t>
            </a:r>
            <a:r>
              <a:rPr lang="en-US" altLang="zh-TW" sz="2000" dirty="0" err="1" smtClean="0"/>
              <a:t>i</a:t>
            </a:r>
            <a:r>
              <a:rPr lang="en-US" altLang="zh-TW" sz="2000" dirty="0" smtClean="0"/>
              <a:t>, j) = (2, </a:t>
            </a:r>
            <a:r>
              <a:rPr lang="en-US" altLang="zh-TW" sz="2000" dirty="0" smtClean="0">
                <a:solidFill>
                  <a:srgbClr val="00B050"/>
                </a:solidFill>
              </a:rPr>
              <a:t>8</a:t>
            </a:r>
            <a:r>
              <a:rPr lang="en-US" altLang="zh-TW" sz="2000" dirty="0" smtClean="0"/>
              <a:t>)</a:t>
            </a:r>
          </a:p>
          <a:p>
            <a:endParaRPr lang="en-US" altLang="zh-TW" sz="2000" dirty="0" smtClean="0"/>
          </a:p>
          <a:p>
            <a:r>
              <a:rPr lang="en-US" altLang="zh-TW" sz="2000" dirty="0" smtClean="0"/>
              <a:t>Thresh[1] </a:t>
            </a:r>
            <a:r>
              <a:rPr lang="zh-TW" altLang="en-US" sz="2000" dirty="0" smtClean="0"/>
              <a:t>＜</a:t>
            </a:r>
            <a:r>
              <a:rPr lang="en-US" altLang="zh-TW" sz="2000" dirty="0" smtClean="0">
                <a:solidFill>
                  <a:srgbClr val="00B050"/>
                </a:solidFill>
              </a:rPr>
              <a:t>8</a:t>
            </a:r>
            <a:r>
              <a:rPr lang="en-US" altLang="zh-TW" sz="2000" dirty="0" smtClean="0"/>
              <a:t> ≦ Thresh[</a:t>
            </a:r>
            <a:r>
              <a:rPr lang="en-US" altLang="zh-TW" sz="2000" dirty="0" smtClean="0">
                <a:solidFill>
                  <a:srgbClr val="FF0000"/>
                </a:solidFill>
              </a:rPr>
              <a:t>2</a:t>
            </a:r>
            <a:r>
              <a:rPr lang="en-US" altLang="zh-TW" sz="2000" dirty="0" smtClean="0"/>
              <a:t>]   =&gt;   Thresh[2] = 8</a:t>
            </a:r>
          </a:p>
          <a:p>
            <a:endParaRPr lang="en-US" altLang="zh-TW" sz="2000" dirty="0" smtClean="0"/>
          </a:p>
          <a:p>
            <a:r>
              <a:rPr lang="en-US" altLang="zh-TW" sz="2000" dirty="0" smtClean="0"/>
              <a:t>rank of point(2,8) = </a:t>
            </a:r>
            <a:r>
              <a:rPr lang="en-US" altLang="zh-TW" sz="2000" dirty="0" smtClean="0">
                <a:solidFill>
                  <a:srgbClr val="FF0000"/>
                </a:solidFill>
              </a:rPr>
              <a:t>2</a:t>
            </a:r>
          </a:p>
          <a:p>
            <a:endParaRPr lang="en-US" altLang="zh-TW" dirty="0" smtClean="0"/>
          </a:p>
          <a:p>
            <a:endParaRPr lang="zh-TW" altLang="en-US" dirty="0"/>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25</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Approach 2(8/8)</a:t>
            </a:r>
            <a:endParaRPr lang="zh-TW" altLang="en-US" dirty="0"/>
          </a:p>
        </p:txBody>
      </p:sp>
      <p:graphicFrame>
        <p:nvGraphicFramePr>
          <p:cNvPr id="4" name="表格 3"/>
          <p:cNvGraphicFramePr>
            <a:graphicFrameLocks noGrp="1"/>
          </p:cNvGraphicFramePr>
          <p:nvPr/>
        </p:nvGraphicFramePr>
        <p:xfrm>
          <a:off x="500034" y="3143248"/>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4</a:t>
                      </a: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nvGraphicFramePr>
        <p:xfrm>
          <a:off x="714348" y="1714488"/>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solidFill>
                      <a:srgbClr val="FF0000"/>
                    </a:solidFill>
                  </a:tcPr>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8</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6" name="文字方塊 5"/>
          <p:cNvSpPr txBox="1"/>
          <p:nvPr/>
        </p:nvSpPr>
        <p:spPr>
          <a:xfrm>
            <a:off x="4572000" y="3571876"/>
            <a:ext cx="4000528" cy="584775"/>
          </a:xfrm>
          <a:prstGeom prst="rect">
            <a:avLst/>
          </a:prstGeom>
          <a:noFill/>
        </p:spPr>
        <p:txBody>
          <a:bodyPr wrap="square" rtlCol="0">
            <a:spAutoFit/>
          </a:bodyPr>
          <a:lstStyle/>
          <a:p>
            <a:r>
              <a:rPr lang="en-US" altLang="zh-TW" sz="3200" dirty="0" smtClean="0"/>
              <a:t>Length of LCS(A,B)=4</a:t>
            </a:r>
            <a:endParaRPr lang="zh-TW" altLang="en-US" sz="3200" dirty="0"/>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26</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Improvement Approach 2</a:t>
            </a:r>
            <a:endParaRPr lang="zh-TW" altLang="en-US" dirty="0"/>
          </a:p>
        </p:txBody>
      </p:sp>
      <p:graphicFrame>
        <p:nvGraphicFramePr>
          <p:cNvPr id="4" name="表格 3"/>
          <p:cNvGraphicFramePr>
            <a:graphicFrameLocks noGrp="1"/>
          </p:cNvGraphicFramePr>
          <p:nvPr/>
        </p:nvGraphicFramePr>
        <p:xfrm>
          <a:off x="214282" y="3214686"/>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solidFill>
                      <a:srgbClr val="FF0000"/>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nvGraphicFramePr>
        <p:xfrm>
          <a:off x="3857620" y="1857364"/>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7" name="文字方塊 6"/>
          <p:cNvSpPr txBox="1"/>
          <p:nvPr/>
        </p:nvSpPr>
        <p:spPr>
          <a:xfrm>
            <a:off x="4429124" y="4143380"/>
            <a:ext cx="1214446" cy="523220"/>
          </a:xfrm>
          <a:prstGeom prst="rect">
            <a:avLst/>
          </a:prstGeom>
          <a:noFill/>
        </p:spPr>
        <p:txBody>
          <a:bodyPr wrap="square" rtlCol="0">
            <a:spAutoFit/>
          </a:bodyPr>
          <a:lstStyle/>
          <a:p>
            <a:r>
              <a:rPr lang="en-US" altLang="zh-TW" sz="2800" dirty="0" smtClean="0"/>
              <a:t>j = 4</a:t>
            </a:r>
            <a:endParaRPr lang="zh-TW" altLang="en-US" sz="2800" dirty="0"/>
          </a:p>
        </p:txBody>
      </p:sp>
      <p:sp>
        <p:nvSpPr>
          <p:cNvPr id="8" name="矩形 7"/>
          <p:cNvSpPr/>
          <p:nvPr/>
        </p:nvSpPr>
        <p:spPr>
          <a:xfrm>
            <a:off x="4500562" y="4214818"/>
            <a:ext cx="714380" cy="4286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圖案 13"/>
          <p:cNvCxnSpPr>
            <a:stCxn id="8" idx="1"/>
          </p:cNvCxnSpPr>
          <p:nvPr/>
        </p:nvCxnSpPr>
        <p:spPr>
          <a:xfrm rot="10800000" flipH="1">
            <a:off x="4500562" y="2643186"/>
            <a:ext cx="142876" cy="1785946"/>
          </a:xfrm>
          <a:prstGeom prst="curvedConnector4">
            <a:avLst>
              <a:gd name="adj1" fmla="val -159999"/>
              <a:gd name="adj2" fmla="val 77333"/>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4286248" y="3214686"/>
            <a:ext cx="3786214" cy="461665"/>
          </a:xfrm>
          <a:prstGeom prst="rect">
            <a:avLst/>
          </a:prstGeom>
          <a:noFill/>
        </p:spPr>
        <p:txBody>
          <a:bodyPr wrap="square" rtlCol="0">
            <a:spAutoFit/>
          </a:bodyPr>
          <a:lstStyle/>
          <a:p>
            <a:r>
              <a:rPr lang="en-US" altLang="zh-TW" sz="2400" dirty="0" smtClean="0">
                <a:solidFill>
                  <a:schemeClr val="accent4">
                    <a:lumMod val="75000"/>
                  </a:schemeClr>
                </a:solidFill>
              </a:rPr>
              <a:t>binary search =&gt; </a:t>
            </a:r>
            <a:r>
              <a:rPr lang="en-US" altLang="zh-TW" sz="2400" dirty="0" err="1" smtClean="0">
                <a:solidFill>
                  <a:schemeClr val="accent4">
                    <a:lumMod val="75000"/>
                  </a:schemeClr>
                </a:solidFill>
              </a:rPr>
              <a:t>logn</a:t>
            </a:r>
            <a:endParaRPr lang="zh-TW" altLang="en-US" sz="2400" dirty="0">
              <a:solidFill>
                <a:schemeClr val="accent4">
                  <a:lumMod val="75000"/>
                </a:schemeClr>
              </a:solidFill>
            </a:endParaRPr>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27</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graphicFrame>
        <p:nvGraphicFramePr>
          <p:cNvPr id="4" name="表格 3"/>
          <p:cNvGraphicFramePr>
            <a:graphicFrameLocks noGrp="1"/>
          </p:cNvGraphicFramePr>
          <p:nvPr/>
        </p:nvGraphicFramePr>
        <p:xfrm>
          <a:off x="214282" y="3214686"/>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5" name="矩形 4"/>
          <p:cNvSpPr/>
          <p:nvPr/>
        </p:nvSpPr>
        <p:spPr>
          <a:xfrm>
            <a:off x="571472" y="4572008"/>
            <a:ext cx="3000396" cy="500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 name="表格 5"/>
          <p:cNvGraphicFramePr>
            <a:graphicFrameLocks noGrp="1"/>
          </p:cNvGraphicFramePr>
          <p:nvPr/>
        </p:nvGraphicFramePr>
        <p:xfrm>
          <a:off x="4214810" y="1785926"/>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sp>
        <p:nvSpPr>
          <p:cNvPr id="7" name="文字方塊 6"/>
          <p:cNvSpPr txBox="1"/>
          <p:nvPr/>
        </p:nvSpPr>
        <p:spPr>
          <a:xfrm>
            <a:off x="4286248" y="3214686"/>
            <a:ext cx="4857752" cy="1938992"/>
          </a:xfrm>
          <a:prstGeom prst="rect">
            <a:avLst/>
          </a:prstGeom>
          <a:noFill/>
        </p:spPr>
        <p:txBody>
          <a:bodyPr wrap="square" rtlCol="0">
            <a:spAutoFit/>
          </a:bodyPr>
          <a:lstStyle/>
          <a:p>
            <a:r>
              <a:rPr lang="en-US" altLang="zh-TW" sz="2400" dirty="0" err="1" smtClean="0"/>
              <a:t>SetA</a:t>
            </a:r>
            <a:r>
              <a:rPr lang="en-US" altLang="zh-TW" sz="2400" dirty="0" smtClean="0"/>
              <a:t>{ j</a:t>
            </a:r>
            <a:r>
              <a:rPr lang="en-US" altLang="zh-TW" sz="2400" baseline="-25000" dirty="0" smtClean="0"/>
              <a:t>1</a:t>
            </a:r>
            <a:r>
              <a:rPr lang="en-US" altLang="zh-TW" sz="2400" dirty="0" smtClean="0"/>
              <a:t>= 1 , j</a:t>
            </a:r>
            <a:r>
              <a:rPr lang="en-US" altLang="zh-TW" sz="2400" baseline="-25000" dirty="0" smtClean="0"/>
              <a:t>2</a:t>
            </a:r>
            <a:r>
              <a:rPr lang="en-US" altLang="zh-TW" sz="2400" dirty="0" smtClean="0"/>
              <a:t> = 4}</a:t>
            </a:r>
          </a:p>
          <a:p>
            <a:r>
              <a:rPr lang="en-US" altLang="zh-TW" sz="2400" dirty="0" err="1" smtClean="0"/>
              <a:t>SetB</a:t>
            </a:r>
            <a:r>
              <a:rPr lang="en-US" altLang="zh-TW" sz="2400" dirty="0" smtClean="0"/>
              <a:t>{0 , 2 , 5 , 10, 10, 10, 10}</a:t>
            </a:r>
          </a:p>
          <a:p>
            <a:endParaRPr lang="en-US" altLang="zh-TW" sz="2400" dirty="0" smtClean="0"/>
          </a:p>
          <a:p>
            <a:r>
              <a:rPr lang="en-US" altLang="zh-TW" sz="2400" i="1" dirty="0" smtClean="0"/>
              <a:t>merging algorithms:</a:t>
            </a:r>
            <a:endParaRPr lang="en-US" altLang="zh-TW" sz="2400" dirty="0" smtClean="0"/>
          </a:p>
          <a:p>
            <a:r>
              <a:rPr lang="en-US" altLang="zh-TW" sz="2400" dirty="0" smtClean="0">
                <a:solidFill>
                  <a:schemeClr val="accent4">
                    <a:lumMod val="75000"/>
                  </a:schemeClr>
                </a:solidFill>
              </a:rPr>
              <a:t>Hwang-Lin merge</a:t>
            </a:r>
            <a:r>
              <a:rPr lang="en-US" altLang="zh-TW" sz="2400" dirty="0" smtClean="0"/>
              <a:t> is recommended</a:t>
            </a:r>
            <a:endParaRPr lang="zh-TW" altLang="en-US" sz="2400" dirty="0"/>
          </a:p>
        </p:txBody>
      </p:sp>
      <p:sp>
        <p:nvSpPr>
          <p:cNvPr id="8" name="投影片編號版面配置區 7"/>
          <p:cNvSpPr>
            <a:spLocks noGrp="1"/>
          </p:cNvSpPr>
          <p:nvPr>
            <p:ph type="sldNum" sz="quarter" idx="12"/>
          </p:nvPr>
        </p:nvSpPr>
        <p:spPr/>
        <p:txBody>
          <a:bodyPr/>
          <a:lstStyle/>
          <a:p>
            <a:fld id="{73DA0BB7-265A-403C-9275-D587AB510EDC}" type="slidenum">
              <a:rPr lang="zh-TW" altLang="en-US" smtClean="0"/>
              <a:pPr/>
              <a:t>28</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28596" y="1357298"/>
            <a:ext cx="8715404" cy="2214578"/>
          </a:xfrm>
        </p:spPr>
        <p:txBody>
          <a:bodyPr>
            <a:normAutofit/>
          </a:bodyPr>
          <a:lstStyle/>
          <a:p>
            <a:r>
              <a:rPr lang="en-US" altLang="zh-TW" dirty="0" smtClean="0"/>
              <a:t>A Simple Algorithm for Merging Two Disjoint Linearly Ordered Sets*</a:t>
            </a:r>
            <a:endParaRPr lang="zh-TW" altLang="en-US" dirty="0"/>
          </a:p>
        </p:txBody>
      </p:sp>
      <p:sp>
        <p:nvSpPr>
          <p:cNvPr id="5" name="文字方塊 4"/>
          <p:cNvSpPr txBox="1"/>
          <p:nvPr/>
        </p:nvSpPr>
        <p:spPr>
          <a:xfrm>
            <a:off x="1714480" y="3357562"/>
            <a:ext cx="5643602" cy="1569660"/>
          </a:xfrm>
          <a:prstGeom prst="rect">
            <a:avLst/>
          </a:prstGeom>
          <a:noFill/>
        </p:spPr>
        <p:txBody>
          <a:bodyPr wrap="square" rtlCol="0">
            <a:spAutoFit/>
          </a:bodyPr>
          <a:lstStyle/>
          <a:p>
            <a:pPr algn="ctr"/>
            <a:r>
              <a:rPr lang="en-US" altLang="zh-TW" sz="3200" dirty="0" smtClean="0"/>
              <a:t>F. K. HWANG AND S. LIN</a:t>
            </a:r>
          </a:p>
          <a:p>
            <a:pPr algn="ctr"/>
            <a:r>
              <a:rPr lang="en-US" altLang="zh-TW" sz="3200" dirty="0" smtClean="0"/>
              <a:t>SIAM J. COMPUT. Vol. 1, No. 1, March 1972</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29</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20000"/>
          </a:bodyPr>
          <a:lstStyle/>
          <a:p>
            <a:pPr>
              <a:buNone/>
            </a:pPr>
            <a:r>
              <a:rPr lang="en-US" altLang="zh-TW" dirty="0" smtClean="0"/>
              <a:t>    In this paper we present a new algorithm for merging two linearly ordered sets which requires substantially fewer comparisons than the commonly used tape merge or binary insertion algorithms. Bounds on the difference between the number of comparisons required by this algorithm and the information theory lower bounds are derived. Results from a computer implementation of the new algorithm are given and compared with a similar implementation of the tape merge algorithm.</a:t>
            </a:r>
            <a:endParaRPr lang="zh-TW" altLang="en-US" i="1"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30</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4282" y="274638"/>
            <a:ext cx="8786874" cy="1143000"/>
          </a:xfrm>
        </p:spPr>
        <p:txBody>
          <a:bodyPr>
            <a:normAutofit fontScale="90000"/>
          </a:bodyPr>
          <a:lstStyle/>
          <a:p>
            <a:r>
              <a:rPr lang="en-US" altLang="zh-TW" dirty="0" smtClean="0"/>
              <a:t>Two existing algorithms – tape merge(1/4)</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571472" y="1857364"/>
            <a:ext cx="8215370" cy="2771775"/>
          </a:xfrm>
          <a:prstGeom prst="rect">
            <a:avLst/>
          </a:prstGeom>
          <a:noFill/>
          <a:ln w="9525">
            <a:noFill/>
            <a:miter lim="800000"/>
            <a:headEnd/>
            <a:tailEnd/>
          </a:ln>
          <a:effectLst/>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pPr/>
              <a:t>31</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4282" y="274638"/>
            <a:ext cx="8786874" cy="1143000"/>
          </a:xfrm>
        </p:spPr>
        <p:txBody>
          <a:bodyPr>
            <a:normAutofit/>
          </a:bodyPr>
          <a:lstStyle/>
          <a:p>
            <a:r>
              <a:rPr lang="en-US" altLang="zh-TW" dirty="0" smtClean="0"/>
              <a:t>The example of tape merge(2/4)</a:t>
            </a:r>
            <a:endParaRPr lang="zh-TW" altLang="en-US" dirty="0"/>
          </a:p>
        </p:txBody>
      </p:sp>
      <p:sp>
        <p:nvSpPr>
          <p:cNvPr id="4" name="內容版面配置區 2"/>
          <p:cNvSpPr>
            <a:spLocks noGrp="1"/>
          </p:cNvSpPr>
          <p:nvPr>
            <p:ph idx="1"/>
          </p:nvPr>
        </p:nvSpPr>
        <p:spPr/>
        <p:txBody>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p>
          <a:p>
            <a:pPr>
              <a:buNone/>
            </a:pPr>
            <a:r>
              <a:rPr lang="en-US" altLang="zh-TW" dirty="0" smtClean="0"/>
              <a:t>          </a:t>
            </a:r>
            <a:r>
              <a:rPr lang="en-US" altLang="zh-TW" dirty="0" smtClean="0">
                <a:solidFill>
                  <a:srgbClr val="0070C0"/>
                </a:solidFill>
              </a:rPr>
              <a:t>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r>
              <a:rPr lang="en-US" altLang="zh-TW" dirty="0" smtClean="0"/>
              <a:t>}</a:t>
            </a:r>
          </a:p>
          <a:p>
            <a:pPr>
              <a:buNone/>
            </a:pPr>
            <a:r>
              <a:rPr lang="en-US" altLang="zh-TW" dirty="0" smtClean="0"/>
              <a:t>    </a:t>
            </a:r>
          </a:p>
          <a:p>
            <a:pPr>
              <a:buNone/>
            </a:pPr>
            <a:r>
              <a:rPr lang="en-US" altLang="zh-TW" dirty="0" smtClean="0"/>
              <a:t>    </a:t>
            </a:r>
            <a:r>
              <a:rPr lang="en-US" altLang="zh-TW" dirty="0" smtClean="0">
                <a:solidFill>
                  <a:srgbClr val="FF0000"/>
                </a:solidFill>
              </a:rPr>
              <a:t>512</a:t>
            </a:r>
            <a:r>
              <a:rPr lang="en-US" altLang="zh-TW" dirty="0" smtClean="0"/>
              <a:t>:</a:t>
            </a:r>
            <a:r>
              <a:rPr lang="en-US" altLang="zh-TW" dirty="0" smtClean="0">
                <a:solidFill>
                  <a:srgbClr val="0070C0"/>
                </a:solidFill>
              </a:rPr>
              <a:t>908</a:t>
            </a:r>
          </a:p>
          <a:p>
            <a:pPr>
              <a:buNone/>
            </a:pPr>
            <a:endParaRPr lang="en-US" altLang="zh-TW" dirty="0" smtClean="0"/>
          </a:p>
          <a:p>
            <a:pPr>
              <a:buNone/>
            </a:pPr>
            <a:r>
              <a:rPr lang="en-US" altLang="zh-TW" dirty="0" smtClean="0"/>
              <a:t>output: </a:t>
            </a:r>
            <a:r>
              <a:rPr lang="en-US" altLang="zh-TW" dirty="0" smtClean="0">
                <a:solidFill>
                  <a:srgbClr val="0070C0"/>
                </a:solidFill>
              </a:rPr>
              <a:t>908</a:t>
            </a:r>
            <a:endParaRPr lang="zh-TW" altLang="en-US" dirty="0">
              <a:solidFill>
                <a:srgbClr val="0070C0"/>
              </a:solidFill>
            </a:endParaRPr>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32</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4638"/>
            <a:ext cx="9144000" cy="1143000"/>
          </a:xfrm>
        </p:spPr>
        <p:txBody>
          <a:bodyPr>
            <a:normAutofit/>
          </a:bodyPr>
          <a:lstStyle/>
          <a:p>
            <a:r>
              <a:rPr lang="en-US" altLang="zh-TW" dirty="0" smtClean="0"/>
              <a:t>The example of tape merge(3/4)</a:t>
            </a:r>
            <a:endParaRPr lang="zh-TW" altLang="en-US" dirty="0"/>
          </a:p>
        </p:txBody>
      </p:sp>
      <p:sp>
        <p:nvSpPr>
          <p:cNvPr id="3" name="內容版面配置區 2"/>
          <p:cNvSpPr>
            <a:spLocks noGrp="1"/>
          </p:cNvSpPr>
          <p:nvPr>
            <p:ph idx="1"/>
          </p:nvPr>
        </p:nvSpPr>
        <p:spPr>
          <a:xfrm>
            <a:off x="457200" y="1600200"/>
            <a:ext cx="8472518" cy="4525963"/>
          </a:xfrm>
        </p:spPr>
        <p:txBody>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p>
          <a:p>
            <a:pPr>
              <a:buNone/>
            </a:pPr>
            <a:r>
              <a:rPr lang="en-US" altLang="zh-TW" dirty="0" smtClean="0"/>
              <a:t>          </a:t>
            </a:r>
            <a:r>
              <a:rPr lang="en-US" altLang="zh-TW" dirty="0" smtClean="0">
                <a:solidFill>
                  <a:srgbClr val="0070C0"/>
                </a:solidFill>
              </a:rPr>
              <a:t>765</a:t>
            </a:r>
            <a:r>
              <a:rPr lang="en-US" altLang="zh-TW" dirty="0" smtClean="0"/>
              <a:t>,</a:t>
            </a:r>
            <a:r>
              <a:rPr lang="en-US" altLang="zh-TW" dirty="0" smtClean="0">
                <a:solidFill>
                  <a:srgbClr val="0070C0"/>
                </a:solidFill>
              </a:rPr>
              <a:t>897</a:t>
            </a:r>
            <a:r>
              <a:rPr lang="en-US" altLang="zh-TW" dirty="0" smtClean="0"/>
              <a:t>}</a:t>
            </a:r>
          </a:p>
          <a:p>
            <a:pPr>
              <a:buNone/>
            </a:pPr>
            <a:r>
              <a:rPr lang="en-US" altLang="zh-TW" dirty="0" smtClean="0"/>
              <a:t>    </a:t>
            </a:r>
          </a:p>
          <a:p>
            <a:pPr>
              <a:buNone/>
            </a:pPr>
            <a:r>
              <a:rPr lang="en-US" altLang="zh-TW" dirty="0" smtClean="0"/>
              <a:t>    </a:t>
            </a:r>
            <a:r>
              <a:rPr lang="en-US" altLang="zh-TW" dirty="0" smtClean="0">
                <a:solidFill>
                  <a:srgbClr val="FF0000"/>
                </a:solidFill>
              </a:rPr>
              <a:t>512</a:t>
            </a:r>
            <a:r>
              <a:rPr lang="en-US" altLang="zh-TW" dirty="0" smtClean="0"/>
              <a:t>:</a:t>
            </a:r>
            <a:r>
              <a:rPr lang="en-US" altLang="zh-TW" dirty="0" smtClean="0">
                <a:solidFill>
                  <a:srgbClr val="0070C0"/>
                </a:solidFill>
              </a:rPr>
              <a:t>897</a:t>
            </a:r>
          </a:p>
          <a:p>
            <a:pPr>
              <a:buNone/>
            </a:pPr>
            <a:endParaRPr lang="en-US" altLang="zh-TW" dirty="0" smtClean="0"/>
          </a:p>
          <a:p>
            <a:pPr>
              <a:buNone/>
            </a:pPr>
            <a:r>
              <a:rPr lang="en-US" altLang="zh-TW" dirty="0" smtClean="0"/>
              <a:t>output: </a:t>
            </a:r>
            <a:r>
              <a:rPr lang="en-US" altLang="zh-TW" dirty="0" smtClean="0">
                <a:solidFill>
                  <a:srgbClr val="0070C0"/>
                </a:solidFill>
              </a:rPr>
              <a:t>897</a:t>
            </a:r>
            <a:r>
              <a:rPr lang="en-US" altLang="zh-TW" dirty="0" smtClean="0"/>
              <a:t>, </a:t>
            </a:r>
            <a:r>
              <a:rPr lang="en-US" altLang="zh-TW" dirty="0" smtClean="0">
                <a:solidFill>
                  <a:srgbClr val="0070C0"/>
                </a:solidFill>
              </a:rPr>
              <a:t>908</a:t>
            </a:r>
            <a:endParaRPr lang="zh-TW" altLang="en-US" dirty="0">
              <a:solidFill>
                <a:srgbClr val="0070C0"/>
              </a:solidFill>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33</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4638"/>
            <a:ext cx="9144000" cy="1143000"/>
          </a:xfrm>
        </p:spPr>
        <p:txBody>
          <a:bodyPr>
            <a:normAutofit/>
          </a:bodyPr>
          <a:lstStyle/>
          <a:p>
            <a:r>
              <a:rPr lang="en-US" altLang="zh-TW" dirty="0" smtClean="0"/>
              <a:t>The example of tape merge(4/4)</a:t>
            </a:r>
            <a:endParaRPr lang="zh-TW" altLang="en-US" dirty="0"/>
          </a:p>
        </p:txBody>
      </p:sp>
      <p:sp>
        <p:nvSpPr>
          <p:cNvPr id="3" name="內容版面配置區 2"/>
          <p:cNvSpPr>
            <a:spLocks noGrp="1"/>
          </p:cNvSpPr>
          <p:nvPr>
            <p:ph idx="1"/>
          </p:nvPr>
        </p:nvSpPr>
        <p:spPr/>
        <p:txBody>
          <a:bodyPr/>
          <a:lstStyle/>
          <a:p>
            <a:r>
              <a:rPr lang="en-US" altLang="zh-TW" dirty="0" smtClean="0"/>
              <a:t>output:</a:t>
            </a:r>
            <a:r>
              <a:rPr lang="en-US" altLang="zh-TW" dirty="0" smtClean="0">
                <a:solidFill>
                  <a:srgbClr val="0070C0"/>
                </a:solidFill>
              </a:rPr>
              <a:t> 61</a:t>
            </a:r>
            <a:r>
              <a:rPr lang="en-US" altLang="zh-TW" dirty="0" smtClean="0"/>
              <a:t>,</a:t>
            </a:r>
            <a:r>
              <a:rPr lang="en-US" altLang="zh-TW" dirty="0" smtClean="0">
                <a:solidFill>
                  <a:srgbClr val="FF0000"/>
                </a:solidFill>
              </a:rPr>
              <a:t> 087</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FF0000"/>
                </a:solidFill>
              </a:rPr>
              <a:t> 503</a:t>
            </a:r>
            <a:r>
              <a:rPr lang="en-US" altLang="zh-TW" dirty="0" smtClean="0"/>
              <a:t>,</a:t>
            </a:r>
            <a:r>
              <a:rPr lang="en-US" altLang="zh-TW" dirty="0" smtClean="0">
                <a:solidFill>
                  <a:srgbClr val="0070C0"/>
                </a:solidFill>
              </a:rPr>
              <a:t>509</a:t>
            </a:r>
            <a:r>
              <a:rPr lang="en-US" altLang="zh-TW" dirty="0" smtClean="0"/>
              <a:t>, </a:t>
            </a:r>
            <a:r>
              <a:rPr lang="en-US" altLang="zh-TW" dirty="0" smtClean="0">
                <a:solidFill>
                  <a:srgbClr val="FF0000"/>
                </a:solidFill>
              </a:rPr>
              <a:t>512,</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r>
              <a:rPr lang="en-US" altLang="zh-TW" dirty="0" smtClean="0">
                <a:solidFill>
                  <a:srgbClr val="0070C0"/>
                </a:solidFill>
              </a:rPr>
              <a:t>765</a:t>
            </a:r>
            <a:r>
              <a:rPr lang="en-US" altLang="zh-TW" dirty="0" smtClean="0"/>
              <a:t>,</a:t>
            </a:r>
            <a:r>
              <a:rPr lang="en-US" altLang="zh-TW" dirty="0" smtClean="0">
                <a:solidFill>
                  <a:srgbClr val="0070C0"/>
                </a:solidFill>
              </a:rPr>
              <a:t>897</a:t>
            </a:r>
          </a:p>
          <a:p>
            <a:endParaRPr lang="en-US" altLang="zh-TW" dirty="0" smtClean="0">
              <a:solidFill>
                <a:srgbClr val="0070C0"/>
              </a:solidFill>
            </a:endParaRPr>
          </a:p>
          <a:p>
            <a:r>
              <a:rPr lang="en-US" altLang="zh-TW" i="1" dirty="0" smtClean="0">
                <a:latin typeface="Times New Roman" pitchFamily="18" charset="0"/>
                <a:cs typeface="Times New Roman" pitchFamily="18" charset="0"/>
              </a:rPr>
              <a:t>K</a:t>
            </a:r>
            <a:r>
              <a:rPr lang="en-US" altLang="zh-TW" i="1" baseline="-25000" dirty="0" smtClean="0">
                <a:latin typeface="Times New Roman" pitchFamily="18" charset="0"/>
                <a:cs typeface="Times New Roman" pitchFamily="18" charset="0"/>
              </a:rPr>
              <a:t>t</a:t>
            </a:r>
            <a:r>
              <a:rPr lang="en-US" altLang="zh-TW" dirty="0" smtClean="0"/>
              <a:t>(3, 13) = 15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34</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472518" cy="1143000"/>
          </a:xfrm>
        </p:spPr>
        <p:txBody>
          <a:bodyPr>
            <a:normAutofit fontScale="90000"/>
          </a:bodyPr>
          <a:lstStyle/>
          <a:p>
            <a:r>
              <a:rPr lang="en-US" altLang="zh-TW" dirty="0" smtClean="0"/>
              <a:t>Two existing algorithms – simple binary(1/3)</a:t>
            </a:r>
            <a:endParaRPr lang="zh-TW" altLang="en-US" dirty="0"/>
          </a:p>
        </p:txBody>
      </p:sp>
      <p:pic>
        <p:nvPicPr>
          <p:cNvPr id="2050" name="Picture 2"/>
          <p:cNvPicPr>
            <a:picLocks noChangeAspect="1" noChangeArrowheads="1"/>
          </p:cNvPicPr>
          <p:nvPr/>
        </p:nvPicPr>
        <p:blipFill>
          <a:blip r:embed="rId2"/>
          <a:srcRect/>
          <a:stretch>
            <a:fillRect/>
          </a:stretch>
        </p:blipFill>
        <p:spPr bwMode="auto">
          <a:xfrm>
            <a:off x="0" y="1714488"/>
            <a:ext cx="9153525" cy="185738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142976" y="4429132"/>
            <a:ext cx="6856413" cy="742950"/>
          </a:xfrm>
          <a:prstGeom prst="rect">
            <a:avLst/>
          </a:prstGeom>
          <a:noFill/>
          <a:ln w="9525">
            <a:noFill/>
            <a:miter lim="800000"/>
            <a:headEnd/>
            <a:tailEnd/>
          </a:ln>
          <a:effectLst/>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35</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The example of simple binary(2/3)</a:t>
            </a:r>
            <a:endParaRPr lang="zh-TW" altLang="en-US" dirty="0"/>
          </a:p>
        </p:txBody>
      </p:sp>
      <p:sp>
        <p:nvSpPr>
          <p:cNvPr id="3" name="內容版面配置區 2"/>
          <p:cNvSpPr>
            <a:spLocks noGrp="1"/>
          </p:cNvSpPr>
          <p:nvPr>
            <p:ph idx="1"/>
          </p:nvPr>
        </p:nvSpPr>
        <p:spPr>
          <a:xfrm>
            <a:off x="457200" y="1600200"/>
            <a:ext cx="8229600" cy="4900634"/>
          </a:xfrm>
        </p:spPr>
        <p:txBody>
          <a:bodyPr>
            <a:normAutofit/>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p>
          <a:p>
            <a:pPr>
              <a:buNone/>
            </a:pPr>
            <a:r>
              <a:rPr lang="en-US" altLang="zh-TW" dirty="0" smtClean="0"/>
              <a:t>          </a:t>
            </a:r>
            <a:r>
              <a:rPr lang="en-US" altLang="zh-TW" dirty="0" smtClean="0">
                <a:solidFill>
                  <a:srgbClr val="0070C0"/>
                </a:solidFill>
              </a:rPr>
              <a:t>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r>
              <a:rPr lang="en-US" altLang="zh-TW" dirty="0" smtClean="0"/>
              <a:t>}</a:t>
            </a:r>
          </a:p>
          <a:p>
            <a:pPr>
              <a:buNone/>
            </a:pPr>
            <a:r>
              <a:rPr lang="en-US" altLang="zh-TW" dirty="0" smtClean="0"/>
              <a:t>						</a:t>
            </a:r>
            <a:r>
              <a:rPr lang="en-US" altLang="zh-TW" dirty="0" smtClean="0">
                <a:solidFill>
                  <a:srgbClr val="FF0000"/>
                </a:solidFill>
              </a:rPr>
              <a:t>512</a:t>
            </a:r>
          </a:p>
          <a:p>
            <a:pPr>
              <a:buNone/>
            </a:pPr>
            <a:r>
              <a:rPr lang="en-US" altLang="zh-TW" dirty="0" smtClean="0"/>
              <a:t>(</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p>
          <a:p>
            <a:pPr>
              <a:buNone/>
            </a:pPr>
            <a:r>
              <a:rPr lang="en-US" altLang="zh-TW" dirty="0" smtClean="0"/>
              <a:t>						</a:t>
            </a:r>
            <a:r>
              <a:rPr lang="en-US" altLang="zh-TW" dirty="0" smtClean="0">
                <a:solidFill>
                  <a:srgbClr val="0070C0"/>
                </a:solidFill>
              </a:rPr>
              <a:t>612</a:t>
            </a:r>
          </a:p>
          <a:p>
            <a:pPr>
              <a:buNone/>
            </a:pP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r>
              <a:rPr lang="en-US" altLang="zh-TW" dirty="0" smtClean="0">
                <a:solidFill>
                  <a:srgbClr val="0070C0"/>
                </a:solidFill>
              </a:rPr>
              <a:t>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r>
              <a:rPr lang="en-US" altLang="zh-TW" dirty="0" smtClean="0"/>
              <a:t>)</a:t>
            </a:r>
          </a:p>
          <a:p>
            <a:endParaRPr lang="zh-TW" altLang="en-US" dirty="0"/>
          </a:p>
        </p:txBody>
      </p:sp>
      <p:sp>
        <p:nvSpPr>
          <p:cNvPr id="4" name="上-下雙向箭號 3"/>
          <p:cNvSpPr/>
          <p:nvPr/>
        </p:nvSpPr>
        <p:spPr>
          <a:xfrm>
            <a:off x="5214942" y="3857628"/>
            <a:ext cx="428628" cy="71438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36</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The example of simple binary(3/3)</a:t>
            </a:r>
            <a:endParaRPr lang="zh-TW" altLang="en-US" dirty="0"/>
          </a:p>
        </p:txBody>
      </p:sp>
      <p:sp>
        <p:nvSpPr>
          <p:cNvPr id="3" name="內容版面配置區 2"/>
          <p:cNvSpPr>
            <a:spLocks noGrp="1"/>
          </p:cNvSpPr>
          <p:nvPr>
            <p:ph idx="1"/>
          </p:nvPr>
        </p:nvSpPr>
        <p:spPr/>
        <p:txBody>
          <a:bodyPr/>
          <a:lstStyle/>
          <a:p>
            <a:r>
              <a:rPr lang="en-US" altLang="zh-TW" dirty="0" smtClean="0"/>
              <a:t>output:</a:t>
            </a:r>
            <a:r>
              <a:rPr lang="en-US" altLang="zh-TW" dirty="0" smtClean="0">
                <a:solidFill>
                  <a:srgbClr val="0070C0"/>
                </a:solidFill>
              </a:rPr>
              <a:t> 61</a:t>
            </a:r>
            <a:r>
              <a:rPr lang="en-US" altLang="zh-TW" dirty="0" smtClean="0"/>
              <a:t>,</a:t>
            </a:r>
            <a:r>
              <a:rPr lang="en-US" altLang="zh-TW" dirty="0" smtClean="0">
                <a:solidFill>
                  <a:srgbClr val="FF0000"/>
                </a:solidFill>
              </a:rPr>
              <a:t> 087</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FF0000"/>
                </a:solidFill>
              </a:rPr>
              <a:t> 503</a:t>
            </a:r>
            <a:r>
              <a:rPr lang="en-US" altLang="zh-TW" dirty="0" smtClean="0"/>
              <a:t>,</a:t>
            </a:r>
            <a:r>
              <a:rPr lang="en-US" altLang="zh-TW" dirty="0" smtClean="0">
                <a:solidFill>
                  <a:srgbClr val="0070C0"/>
                </a:solidFill>
              </a:rPr>
              <a:t>509</a:t>
            </a:r>
            <a:r>
              <a:rPr lang="en-US" altLang="zh-TW" dirty="0" smtClean="0"/>
              <a:t>, </a:t>
            </a:r>
            <a:r>
              <a:rPr lang="en-US" altLang="zh-TW" dirty="0" smtClean="0">
                <a:solidFill>
                  <a:srgbClr val="FF0000"/>
                </a:solidFill>
              </a:rPr>
              <a:t>512,</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r>
              <a:rPr lang="en-US" altLang="zh-TW" dirty="0" smtClean="0">
                <a:solidFill>
                  <a:srgbClr val="0070C0"/>
                </a:solidFill>
              </a:rPr>
              <a:t>765</a:t>
            </a:r>
            <a:r>
              <a:rPr lang="en-US" altLang="zh-TW" dirty="0" smtClean="0"/>
              <a:t>,</a:t>
            </a:r>
            <a:r>
              <a:rPr lang="en-US" altLang="zh-TW" dirty="0" smtClean="0">
                <a:solidFill>
                  <a:srgbClr val="0070C0"/>
                </a:solidFill>
              </a:rPr>
              <a:t>897</a:t>
            </a:r>
          </a:p>
          <a:p>
            <a:endParaRPr lang="en-US" altLang="zh-TW" dirty="0" smtClean="0">
              <a:solidFill>
                <a:srgbClr val="0070C0"/>
              </a:solidFill>
            </a:endParaRPr>
          </a:p>
          <a:p>
            <a:r>
              <a:rPr lang="en-US" altLang="zh-TW" i="1" dirty="0" smtClean="0">
                <a:latin typeface="Times New Roman" pitchFamily="18" charset="0"/>
                <a:cs typeface="Times New Roman" pitchFamily="18" charset="0"/>
              </a:rPr>
              <a:t>K</a:t>
            </a:r>
            <a:r>
              <a:rPr lang="en-US" altLang="zh-TW" i="1" baseline="-25000" dirty="0" smtClean="0">
                <a:latin typeface="Times New Roman" pitchFamily="18" charset="0"/>
                <a:cs typeface="Times New Roman" pitchFamily="18" charset="0"/>
              </a:rPr>
              <a:t>s</a:t>
            </a:r>
            <a:r>
              <a:rPr lang="en-US" altLang="zh-TW" dirty="0" smtClean="0"/>
              <a:t>(3, 13) = 12</a:t>
            </a:r>
            <a:endParaRPr lang="zh-TW" altLang="en-US"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37</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algorithm(1/6)</a:t>
            </a:r>
            <a:endParaRPr lang="zh-TW" altLang="en-US" dirty="0"/>
          </a:p>
        </p:txBody>
      </p:sp>
      <p:pic>
        <p:nvPicPr>
          <p:cNvPr id="3075" name="Picture 3"/>
          <p:cNvPicPr>
            <a:picLocks noChangeAspect="1" noChangeArrowheads="1"/>
          </p:cNvPicPr>
          <p:nvPr/>
        </p:nvPicPr>
        <p:blipFill>
          <a:blip r:embed="rId2"/>
          <a:srcRect/>
          <a:stretch>
            <a:fillRect/>
          </a:stretch>
        </p:blipFill>
        <p:spPr bwMode="auto">
          <a:xfrm>
            <a:off x="142844" y="1857375"/>
            <a:ext cx="8786874" cy="3143250"/>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714348" y="5500702"/>
            <a:ext cx="5715000" cy="561975"/>
          </a:xfrm>
          <a:prstGeom prst="rect">
            <a:avLst/>
          </a:prstGeom>
          <a:noFill/>
          <a:ln w="9525">
            <a:noFill/>
            <a:miter lim="800000"/>
            <a:headEnd/>
            <a:tailEnd/>
          </a:ln>
          <a:effectLst/>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38</a:t>
            </a:fld>
            <a:endParaRPr lang="zh-TW"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algorithm(2/6)</a:t>
            </a:r>
            <a:endParaRPr lang="zh-TW" altLang="en-US" dirty="0"/>
          </a:p>
        </p:txBody>
      </p:sp>
      <p:sp>
        <p:nvSpPr>
          <p:cNvPr id="3" name="內容版面配置區 2"/>
          <p:cNvSpPr>
            <a:spLocks noGrp="1"/>
          </p:cNvSpPr>
          <p:nvPr>
            <p:ph idx="1"/>
          </p:nvPr>
        </p:nvSpPr>
        <p:spPr/>
        <p:txBody>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p>
          <a:p>
            <a:pPr>
              <a:buNone/>
            </a:pPr>
            <a:r>
              <a:rPr lang="en-US" altLang="zh-TW" dirty="0" smtClean="0"/>
              <a:t>          </a:t>
            </a:r>
            <a:r>
              <a:rPr lang="en-US" altLang="zh-TW" dirty="0" smtClean="0">
                <a:solidFill>
                  <a:srgbClr val="0070C0"/>
                </a:solidFill>
              </a:rPr>
              <a:t>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r>
              <a:rPr lang="en-US" altLang="zh-TW" dirty="0" smtClean="0"/>
              <a:t>}</a:t>
            </a:r>
          </a:p>
          <a:p>
            <a:pPr>
              <a:buNone/>
            </a:pPr>
            <a:r>
              <a:rPr lang="en-US" altLang="zh-TW" dirty="0" smtClean="0"/>
              <a:t>    Am : </a:t>
            </a:r>
            <a:r>
              <a:rPr lang="en-US" altLang="zh-TW" dirty="0" err="1" smtClean="0"/>
              <a:t>B</a:t>
            </a:r>
            <a:r>
              <a:rPr lang="en-US" altLang="zh-TW" baseline="-25000" dirty="0" err="1" smtClean="0"/>
              <a:t>n</a:t>
            </a:r>
            <a:r>
              <a:rPr lang="en-US" altLang="zh-TW" baseline="-25000" dirty="0" smtClean="0"/>
              <a:t> + 1 – 2</a:t>
            </a:r>
            <a:r>
              <a:rPr lang="en-US" altLang="zh-TW" baseline="30000" dirty="0" smtClean="0"/>
              <a:t>t</a:t>
            </a:r>
            <a:r>
              <a:rPr lang="en-US" altLang="zh-TW" dirty="0" smtClean="0">
                <a:solidFill>
                  <a:srgbClr val="0070C0"/>
                </a:solidFill>
              </a:rPr>
              <a:t>    </a:t>
            </a:r>
            <a:r>
              <a:rPr lang="en-US" altLang="zh-TW" dirty="0" smtClean="0"/>
              <a:t>t = </a:t>
            </a:r>
          </a:p>
          <a:p>
            <a:pPr>
              <a:buNone/>
            </a:pPr>
            <a:r>
              <a:rPr lang="en-US" altLang="zh-TW" dirty="0" smtClean="0"/>
              <a:t>    </a:t>
            </a:r>
            <a:r>
              <a:rPr lang="en-US" altLang="zh-TW" dirty="0" smtClean="0">
                <a:solidFill>
                  <a:srgbClr val="FF0000"/>
                </a:solidFill>
              </a:rPr>
              <a:t>512</a:t>
            </a:r>
            <a:r>
              <a:rPr lang="en-US" altLang="zh-TW" dirty="0" smtClean="0"/>
              <a:t> &lt; </a:t>
            </a:r>
            <a:r>
              <a:rPr lang="en-US" altLang="zh-TW" dirty="0" smtClean="0">
                <a:solidFill>
                  <a:srgbClr val="0070C0"/>
                </a:solidFill>
              </a:rPr>
              <a:t>703</a:t>
            </a:r>
          </a:p>
          <a:p>
            <a:pPr>
              <a:buNone/>
            </a:pPr>
            <a:endParaRPr lang="en-US" altLang="zh-TW" dirty="0" smtClean="0">
              <a:solidFill>
                <a:srgbClr val="0070C0"/>
              </a:solidFill>
            </a:endParaRPr>
          </a:p>
          <a:p>
            <a:pPr>
              <a:buNone/>
            </a:pPr>
            <a:r>
              <a:rPr lang="en-US" altLang="zh-TW" dirty="0" smtClean="0">
                <a:solidFill>
                  <a:srgbClr val="0070C0"/>
                </a:solidFill>
              </a:rPr>
              <a:t>   </a:t>
            </a:r>
            <a:r>
              <a:rPr lang="en-US" altLang="zh-TW" dirty="0" smtClean="0"/>
              <a:t>output:</a:t>
            </a:r>
            <a:r>
              <a:rPr lang="en-US" altLang="zh-TW" dirty="0" smtClean="0">
                <a:solidFill>
                  <a:srgbClr val="0070C0"/>
                </a:solidFill>
              </a:rPr>
              <a:t>703</a:t>
            </a:r>
            <a:r>
              <a:rPr lang="en-US" altLang="zh-TW" dirty="0" smtClean="0"/>
              <a:t>,</a:t>
            </a:r>
            <a:r>
              <a:rPr lang="en-US" altLang="zh-TW" dirty="0" smtClean="0">
                <a:solidFill>
                  <a:srgbClr val="0070C0"/>
                </a:solidFill>
              </a:rPr>
              <a:t> 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p>
          <a:p>
            <a:pPr>
              <a:buNone/>
            </a:pPr>
            <a:r>
              <a:rPr lang="en-US" altLang="zh-TW" baseline="30000" dirty="0" smtClean="0"/>
              <a:t>  </a:t>
            </a:r>
          </a:p>
          <a:p>
            <a:pPr>
              <a:buNone/>
            </a:pPr>
            <a:endParaRPr lang="en-US" altLang="zh-TW" baseline="30000" dirty="0" smtClean="0"/>
          </a:p>
          <a:p>
            <a:endParaRPr lang="zh-TW" altLang="en-US" dirty="0"/>
          </a:p>
        </p:txBody>
      </p:sp>
      <p:graphicFrame>
        <p:nvGraphicFramePr>
          <p:cNvPr id="4103" name="Object 7"/>
          <p:cNvGraphicFramePr>
            <a:graphicFrameLocks noChangeAspect="1"/>
          </p:cNvGraphicFramePr>
          <p:nvPr/>
        </p:nvGraphicFramePr>
        <p:xfrm>
          <a:off x="3857620" y="3357562"/>
          <a:ext cx="2214578" cy="642936"/>
        </p:xfrm>
        <a:graphic>
          <a:graphicData uri="http://schemas.openxmlformats.org/presentationml/2006/ole">
            <p:oleObj spid="_x0000_s4103" name="Equation" r:id="rId3" imgW="812520" imgH="228600" progId="Equation.3">
              <p:embed/>
            </p:oleObj>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39</a:t>
            </a:fld>
            <a:endParaRPr lang="zh-TW"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algorithm(3/6)</a:t>
            </a:r>
            <a:endParaRPr lang="zh-TW" altLang="en-US" dirty="0"/>
          </a:p>
        </p:txBody>
      </p:sp>
      <p:sp>
        <p:nvSpPr>
          <p:cNvPr id="3" name="內容版面配置區 2"/>
          <p:cNvSpPr>
            <a:spLocks noGrp="1"/>
          </p:cNvSpPr>
          <p:nvPr>
            <p:ph idx="1"/>
          </p:nvPr>
        </p:nvSpPr>
        <p:spPr/>
        <p:txBody>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p>
          <a:p>
            <a:pPr>
              <a:buNone/>
            </a:pPr>
            <a:r>
              <a:rPr lang="en-US" altLang="zh-TW" dirty="0" smtClean="0"/>
              <a:t>    Am : </a:t>
            </a:r>
            <a:r>
              <a:rPr lang="en-US" altLang="zh-TW" dirty="0" err="1" smtClean="0"/>
              <a:t>B</a:t>
            </a:r>
            <a:r>
              <a:rPr lang="en-US" altLang="zh-TW" baseline="-25000" dirty="0" err="1" smtClean="0"/>
              <a:t>n</a:t>
            </a:r>
            <a:r>
              <a:rPr lang="en-US" altLang="zh-TW" baseline="-25000" dirty="0" smtClean="0"/>
              <a:t> + 1 – 2</a:t>
            </a:r>
            <a:r>
              <a:rPr lang="en-US" altLang="zh-TW" baseline="30000" dirty="0" smtClean="0"/>
              <a:t>t</a:t>
            </a:r>
            <a:r>
              <a:rPr lang="en-US" altLang="zh-TW" dirty="0" smtClean="0">
                <a:solidFill>
                  <a:srgbClr val="0070C0"/>
                </a:solidFill>
              </a:rPr>
              <a:t>    </a:t>
            </a:r>
            <a:r>
              <a:rPr lang="en-US" altLang="zh-TW" dirty="0" smtClean="0"/>
              <a:t>t = </a:t>
            </a:r>
          </a:p>
          <a:p>
            <a:pPr>
              <a:buNone/>
            </a:pPr>
            <a:r>
              <a:rPr lang="en-US" altLang="zh-TW" dirty="0" smtClean="0"/>
              <a:t>    </a:t>
            </a:r>
            <a:r>
              <a:rPr lang="en-US" altLang="zh-TW" dirty="0" smtClean="0">
                <a:solidFill>
                  <a:srgbClr val="FF0000"/>
                </a:solidFill>
              </a:rPr>
              <a:t>512 </a:t>
            </a:r>
            <a:r>
              <a:rPr lang="en-US" altLang="zh-TW" dirty="0" smtClean="0"/>
              <a:t>&lt; </a:t>
            </a:r>
            <a:r>
              <a:rPr lang="en-US" altLang="zh-TW" dirty="0" smtClean="0">
                <a:solidFill>
                  <a:srgbClr val="0070C0"/>
                </a:solidFill>
              </a:rPr>
              <a:t>653</a:t>
            </a:r>
          </a:p>
          <a:p>
            <a:pPr>
              <a:buNone/>
            </a:pPr>
            <a:endParaRPr lang="en-US" altLang="zh-TW" dirty="0" smtClean="0">
              <a:solidFill>
                <a:srgbClr val="0070C0"/>
              </a:solidFill>
            </a:endParaRPr>
          </a:p>
          <a:p>
            <a:pPr>
              <a:buNone/>
            </a:pPr>
            <a:r>
              <a:rPr lang="en-US" altLang="zh-TW" dirty="0" smtClean="0">
                <a:solidFill>
                  <a:srgbClr val="0070C0"/>
                </a:solidFill>
              </a:rPr>
              <a:t>   </a:t>
            </a:r>
            <a:r>
              <a:rPr lang="en-US" altLang="zh-TW" dirty="0" smtClean="0"/>
              <a:t>output: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r>
              <a:rPr lang="en-US" altLang="zh-TW" dirty="0" smtClean="0">
                <a:solidFill>
                  <a:srgbClr val="0070C0"/>
                </a:solidFill>
              </a:rPr>
              <a:t> 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p>
          <a:p>
            <a:endParaRPr lang="zh-TW" altLang="en-US" dirty="0"/>
          </a:p>
        </p:txBody>
      </p:sp>
      <p:graphicFrame>
        <p:nvGraphicFramePr>
          <p:cNvPr id="5124" name="Object 4"/>
          <p:cNvGraphicFramePr>
            <a:graphicFrameLocks noChangeAspect="1"/>
          </p:cNvGraphicFramePr>
          <p:nvPr/>
        </p:nvGraphicFramePr>
        <p:xfrm>
          <a:off x="3857620" y="2786058"/>
          <a:ext cx="2214563" cy="642937"/>
        </p:xfrm>
        <a:graphic>
          <a:graphicData uri="http://schemas.openxmlformats.org/presentationml/2006/ole">
            <p:oleObj spid="_x0000_s5124" name="Equation" r:id="rId3" imgW="812520" imgH="228600" progId="Equation.3">
              <p:embed/>
            </p:oleObj>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40</a:t>
            </a:fld>
            <a:endParaRPr lang="zh-TW"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algorithm(4/6)</a:t>
            </a:r>
            <a:endParaRPr lang="zh-TW" altLang="en-US" dirty="0"/>
          </a:p>
        </p:txBody>
      </p:sp>
      <p:sp>
        <p:nvSpPr>
          <p:cNvPr id="3" name="內容版面配置區 2"/>
          <p:cNvSpPr>
            <a:spLocks noGrp="1"/>
          </p:cNvSpPr>
          <p:nvPr>
            <p:ph idx="1"/>
          </p:nvPr>
        </p:nvSpPr>
        <p:spPr/>
        <p:txBody>
          <a:bodyPr>
            <a:normAutofit/>
          </a:bodyPr>
          <a:lstStyle/>
          <a:p>
            <a:r>
              <a:rPr lang="en-US" altLang="zh-TW" dirty="0" smtClean="0"/>
              <a:t>A : {</a:t>
            </a:r>
            <a:r>
              <a:rPr lang="en-US" altLang="zh-TW" dirty="0" smtClean="0">
                <a:solidFill>
                  <a:srgbClr val="FF0000"/>
                </a:solidFill>
              </a:rPr>
              <a:t>087</a:t>
            </a:r>
            <a:r>
              <a:rPr lang="en-US" altLang="zh-TW" dirty="0" smtClean="0"/>
              <a:t>,</a:t>
            </a:r>
            <a:r>
              <a:rPr lang="en-US" altLang="zh-TW" dirty="0" smtClean="0">
                <a:solidFill>
                  <a:srgbClr val="FF0000"/>
                </a:solidFill>
              </a:rPr>
              <a:t>503</a:t>
            </a:r>
            <a:r>
              <a:rPr lang="en-US" altLang="zh-TW" dirty="0" smtClean="0"/>
              <a:t>,</a:t>
            </a:r>
            <a:r>
              <a:rPr lang="en-US" altLang="zh-TW" dirty="0" smtClean="0">
                <a:solidFill>
                  <a:srgbClr val="FF0000"/>
                </a:solidFill>
              </a:rPr>
              <a:t>512</a:t>
            </a:r>
            <a:r>
              <a:rPr lang="en-US" altLang="zh-TW" dirty="0" smtClean="0"/>
              <a:t>}</a:t>
            </a:r>
          </a:p>
          <a:p>
            <a:r>
              <a:rPr lang="en-US" altLang="zh-TW" dirty="0" smtClean="0"/>
              <a:t>B :{</a:t>
            </a:r>
            <a:r>
              <a:rPr lang="en-US" altLang="zh-TW" dirty="0" smtClean="0">
                <a:solidFill>
                  <a:srgbClr val="0070C0"/>
                </a:solidFill>
              </a:rPr>
              <a:t>61</a:t>
            </a:r>
            <a:r>
              <a:rPr lang="en-US" altLang="zh-TW" dirty="0" smtClean="0"/>
              <a:t>,</a:t>
            </a:r>
            <a:r>
              <a:rPr lang="en-US" altLang="zh-TW" dirty="0" smtClean="0">
                <a:solidFill>
                  <a:srgbClr val="0070C0"/>
                </a:solidFill>
              </a:rPr>
              <a:t>154</a:t>
            </a:r>
            <a:r>
              <a:rPr lang="en-US" altLang="zh-TW" dirty="0" smtClean="0"/>
              <a:t>,</a:t>
            </a:r>
            <a:r>
              <a:rPr lang="en-US" altLang="zh-TW" dirty="0" smtClean="0">
                <a:solidFill>
                  <a:srgbClr val="0070C0"/>
                </a:solidFill>
              </a:rPr>
              <a:t>170</a:t>
            </a:r>
            <a:r>
              <a:rPr lang="en-US" altLang="zh-TW" dirty="0" smtClean="0"/>
              <a:t>,</a:t>
            </a:r>
            <a:r>
              <a:rPr lang="en-US" altLang="zh-TW" dirty="0" smtClean="0">
                <a:solidFill>
                  <a:srgbClr val="0070C0"/>
                </a:solidFill>
              </a:rPr>
              <a:t>275</a:t>
            </a:r>
            <a:r>
              <a:rPr lang="en-US" altLang="zh-TW" dirty="0" smtClean="0"/>
              <a:t>,</a:t>
            </a:r>
            <a:r>
              <a:rPr lang="en-US" altLang="zh-TW" dirty="0" smtClean="0">
                <a:solidFill>
                  <a:srgbClr val="0070C0"/>
                </a:solidFill>
              </a:rPr>
              <a:t>426</a:t>
            </a:r>
            <a:r>
              <a:rPr lang="en-US" altLang="zh-TW" dirty="0" smtClean="0"/>
              <a:t>,</a:t>
            </a:r>
            <a:r>
              <a:rPr lang="en-US" altLang="zh-TW" dirty="0" smtClean="0">
                <a:solidFill>
                  <a:srgbClr val="0070C0"/>
                </a:solidFill>
              </a:rPr>
              <a:t>509</a:t>
            </a:r>
            <a:r>
              <a:rPr lang="en-US" altLang="zh-TW" dirty="0" smtClean="0"/>
              <a:t>,</a:t>
            </a:r>
            <a:r>
              <a:rPr lang="en-US" altLang="zh-TW" dirty="0" smtClean="0">
                <a:solidFill>
                  <a:srgbClr val="0070C0"/>
                </a:solidFill>
              </a:rPr>
              <a:t>612</a:t>
            </a:r>
            <a:r>
              <a:rPr lang="en-US" altLang="zh-TW" dirty="0" smtClean="0"/>
              <a:t>}</a:t>
            </a:r>
          </a:p>
          <a:p>
            <a:pPr>
              <a:buNone/>
            </a:pPr>
            <a:r>
              <a:rPr lang="en-US" altLang="zh-TW" dirty="0" smtClean="0"/>
              <a:t>    Am : </a:t>
            </a:r>
            <a:r>
              <a:rPr lang="en-US" altLang="zh-TW" dirty="0" err="1" smtClean="0"/>
              <a:t>B</a:t>
            </a:r>
            <a:r>
              <a:rPr lang="en-US" altLang="zh-TW" baseline="-25000" dirty="0" err="1" smtClean="0"/>
              <a:t>n</a:t>
            </a:r>
            <a:r>
              <a:rPr lang="en-US" altLang="zh-TW" baseline="-25000" dirty="0" smtClean="0"/>
              <a:t> + 1 – 2</a:t>
            </a:r>
            <a:r>
              <a:rPr lang="en-US" altLang="zh-TW" baseline="30000" dirty="0" smtClean="0"/>
              <a:t>t</a:t>
            </a:r>
            <a:r>
              <a:rPr lang="en-US" altLang="zh-TW" dirty="0" smtClean="0">
                <a:solidFill>
                  <a:srgbClr val="0070C0"/>
                </a:solidFill>
              </a:rPr>
              <a:t>    </a:t>
            </a:r>
            <a:r>
              <a:rPr lang="en-US" altLang="zh-TW" dirty="0" smtClean="0"/>
              <a:t>t = </a:t>
            </a:r>
          </a:p>
          <a:p>
            <a:pPr>
              <a:buNone/>
            </a:pPr>
            <a:r>
              <a:rPr lang="en-US" altLang="zh-TW" dirty="0" smtClean="0"/>
              <a:t>    </a:t>
            </a:r>
            <a:r>
              <a:rPr lang="en-US" altLang="zh-TW" dirty="0" smtClean="0">
                <a:solidFill>
                  <a:srgbClr val="FF0000"/>
                </a:solidFill>
              </a:rPr>
              <a:t>512 </a:t>
            </a:r>
            <a:r>
              <a:rPr lang="en-US" altLang="zh-TW" dirty="0" smtClean="0"/>
              <a:t>&gt; </a:t>
            </a:r>
            <a:r>
              <a:rPr lang="en-US" altLang="zh-TW" dirty="0" smtClean="0">
                <a:solidFill>
                  <a:srgbClr val="0070C0"/>
                </a:solidFill>
              </a:rPr>
              <a:t>509</a:t>
            </a:r>
          </a:p>
          <a:p>
            <a:pPr>
              <a:buNone/>
            </a:pPr>
            <a:r>
              <a:rPr lang="en-US" altLang="zh-TW" dirty="0" smtClean="0">
                <a:solidFill>
                  <a:srgbClr val="0070C0"/>
                </a:solidFill>
              </a:rPr>
              <a:t>           </a:t>
            </a:r>
            <a:r>
              <a:rPr lang="en-US" altLang="zh-TW" dirty="0" smtClean="0"/>
              <a:t>binary search B[7,7]</a:t>
            </a:r>
            <a:endParaRPr lang="en-US" altLang="zh-TW" dirty="0" smtClean="0">
              <a:solidFill>
                <a:srgbClr val="0070C0"/>
              </a:solidFill>
            </a:endParaRPr>
          </a:p>
          <a:p>
            <a:pPr>
              <a:buNone/>
            </a:pPr>
            <a:endParaRPr lang="en-US" altLang="zh-TW" dirty="0" smtClean="0">
              <a:solidFill>
                <a:srgbClr val="0070C0"/>
              </a:solidFill>
            </a:endParaRPr>
          </a:p>
          <a:p>
            <a:pPr>
              <a:buNone/>
            </a:pPr>
            <a:r>
              <a:rPr lang="en-US" altLang="zh-TW" dirty="0" smtClean="0">
                <a:solidFill>
                  <a:srgbClr val="0070C0"/>
                </a:solidFill>
              </a:rPr>
              <a:t>   </a:t>
            </a:r>
            <a:r>
              <a:rPr lang="en-US" altLang="zh-TW" dirty="0" smtClean="0"/>
              <a:t>output:</a:t>
            </a:r>
            <a:r>
              <a:rPr lang="en-US" altLang="zh-TW" dirty="0" smtClean="0">
                <a:solidFill>
                  <a:srgbClr val="FF0000"/>
                </a:solidFill>
              </a:rPr>
              <a:t>512</a:t>
            </a:r>
            <a:r>
              <a:rPr lang="en-US" altLang="zh-TW" dirty="0" smtClean="0"/>
              <a:t>,</a:t>
            </a:r>
            <a:r>
              <a:rPr lang="en-US" altLang="zh-TW" dirty="0" smtClean="0">
                <a:solidFill>
                  <a:srgbClr val="0070C0"/>
                </a:solidFill>
              </a:rPr>
              <a:t>612</a:t>
            </a:r>
            <a:r>
              <a:rPr lang="en-US" altLang="zh-TW" dirty="0" smtClean="0"/>
              <a:t>,</a:t>
            </a:r>
            <a:r>
              <a:rPr lang="en-US" altLang="zh-TW" dirty="0" smtClean="0">
                <a:solidFill>
                  <a:srgbClr val="0070C0"/>
                </a:solidFill>
              </a:rPr>
              <a:t>653</a:t>
            </a:r>
            <a:r>
              <a:rPr lang="en-US" altLang="zh-TW" dirty="0" smtClean="0"/>
              <a:t>,</a:t>
            </a:r>
            <a:r>
              <a:rPr lang="en-US" altLang="zh-TW" dirty="0" smtClean="0">
                <a:solidFill>
                  <a:srgbClr val="0070C0"/>
                </a:solidFill>
              </a:rPr>
              <a:t>677</a:t>
            </a:r>
            <a:r>
              <a:rPr lang="en-US" altLang="zh-TW" dirty="0" smtClean="0"/>
              <a:t>,</a:t>
            </a:r>
            <a:r>
              <a:rPr lang="en-US" altLang="zh-TW" dirty="0" smtClean="0">
                <a:solidFill>
                  <a:srgbClr val="0070C0"/>
                </a:solidFill>
              </a:rPr>
              <a:t>703</a:t>
            </a:r>
            <a:r>
              <a:rPr lang="en-US" altLang="zh-TW" dirty="0" smtClean="0"/>
              <a:t>,</a:t>
            </a:r>
            <a:r>
              <a:rPr lang="en-US" altLang="zh-TW" dirty="0" smtClean="0">
                <a:solidFill>
                  <a:srgbClr val="0070C0"/>
                </a:solidFill>
              </a:rPr>
              <a:t> 765</a:t>
            </a:r>
            <a:r>
              <a:rPr lang="en-US" altLang="zh-TW" dirty="0" smtClean="0"/>
              <a:t>,</a:t>
            </a:r>
            <a:r>
              <a:rPr lang="en-US" altLang="zh-TW" dirty="0" smtClean="0">
                <a:solidFill>
                  <a:srgbClr val="0070C0"/>
                </a:solidFill>
              </a:rPr>
              <a:t>897</a:t>
            </a:r>
            <a:r>
              <a:rPr lang="en-US" altLang="zh-TW" dirty="0" smtClean="0"/>
              <a:t>,</a:t>
            </a:r>
            <a:r>
              <a:rPr lang="en-US" altLang="zh-TW" dirty="0" smtClean="0">
                <a:solidFill>
                  <a:srgbClr val="0070C0"/>
                </a:solidFill>
              </a:rPr>
              <a:t>908</a:t>
            </a:r>
          </a:p>
          <a:p>
            <a:endParaRPr lang="zh-TW" altLang="en-US" dirty="0"/>
          </a:p>
        </p:txBody>
      </p:sp>
      <p:graphicFrame>
        <p:nvGraphicFramePr>
          <p:cNvPr id="6147" name="Object 3"/>
          <p:cNvGraphicFramePr>
            <a:graphicFrameLocks noChangeAspect="1"/>
          </p:cNvGraphicFramePr>
          <p:nvPr/>
        </p:nvGraphicFramePr>
        <p:xfrm>
          <a:off x="3929058" y="2857501"/>
          <a:ext cx="2214563" cy="642937"/>
        </p:xfrm>
        <a:graphic>
          <a:graphicData uri="http://schemas.openxmlformats.org/presentationml/2006/ole">
            <p:oleObj spid="_x0000_s6147" name="Equation" r:id="rId3" imgW="812520" imgH="228600" progId="Equation.3">
              <p:embed/>
            </p:oleObj>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41</a:t>
            </a:fld>
            <a:endParaRPr lang="zh-TW"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algorithm(5/6)</a:t>
            </a:r>
            <a:endParaRPr lang="zh-TW" altLang="en-US" dirty="0"/>
          </a:p>
        </p:txBody>
      </p:sp>
      <p:graphicFrame>
        <p:nvGraphicFramePr>
          <p:cNvPr id="4" name="表格 3"/>
          <p:cNvGraphicFramePr>
            <a:graphicFrameLocks noGrp="1"/>
          </p:cNvGraphicFramePr>
          <p:nvPr/>
        </p:nvGraphicFramePr>
        <p:xfrm>
          <a:off x="-8" y="1643046"/>
          <a:ext cx="9144016" cy="5214950"/>
        </p:xfrm>
        <a:graphic>
          <a:graphicData uri="http://schemas.openxmlformats.org/drawingml/2006/table">
            <a:tbl>
              <a:tblPr firstRow="1" bandRow="1">
                <a:tableStyleId>{2D5ABB26-0587-4C30-8999-92F81FD0307C}</a:tableStyleId>
              </a:tblPr>
              <a:tblGrid>
                <a:gridCol w="481264"/>
                <a:gridCol w="481264"/>
                <a:gridCol w="481264"/>
                <a:gridCol w="481264"/>
                <a:gridCol w="481264"/>
                <a:gridCol w="481264"/>
                <a:gridCol w="481264"/>
                <a:gridCol w="481264"/>
                <a:gridCol w="481264"/>
                <a:gridCol w="481264"/>
                <a:gridCol w="481264"/>
                <a:gridCol w="481264"/>
                <a:gridCol w="481264"/>
                <a:gridCol w="481264"/>
                <a:gridCol w="481264"/>
                <a:gridCol w="481264"/>
                <a:gridCol w="481264"/>
                <a:gridCol w="481264"/>
                <a:gridCol w="481264"/>
              </a:tblGrid>
              <a:tr h="521495">
                <a:tc gridSpan="3">
                  <a:txBody>
                    <a:bodyPr/>
                    <a:lstStyle/>
                    <a:p>
                      <a:pPr algn="ctr"/>
                      <a:r>
                        <a:rPr lang="en-US" altLang="zh-TW" sz="1500" dirty="0" smtClean="0"/>
                        <a:t>A</a:t>
                      </a:r>
                      <a:endParaRPr lang="zh-TW" altLang="en-US" sz="15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gridSpan="13">
                  <a:txBody>
                    <a:bodyPr/>
                    <a:lstStyle/>
                    <a:p>
                      <a:pPr algn="ctr"/>
                      <a:r>
                        <a:rPr lang="en-US" altLang="zh-TW" sz="1500" dirty="0" smtClean="0"/>
                        <a:t>B</a:t>
                      </a:r>
                      <a:endParaRPr lang="zh-TW" altLang="en-US" sz="15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dirty="0"/>
                    </a:p>
                  </a:txBody>
                  <a:tcPr/>
                </a:tc>
                <a:tc gridSpan="3">
                  <a:txBody>
                    <a:bodyPr/>
                    <a:lstStyle/>
                    <a:p>
                      <a:pPr algn="ctr"/>
                      <a:r>
                        <a:rPr lang="en-US" altLang="zh-TW" sz="1500" dirty="0" smtClean="0"/>
                        <a:t>output</a:t>
                      </a:r>
                      <a:endParaRPr lang="zh-TW" altLang="en-US" sz="15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dirty="0"/>
                    </a:p>
                  </a:txBody>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503</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512</a:t>
                      </a:r>
                      <a:endParaRPr lang="zh-TW" altLang="en-US" sz="15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703</a:t>
                      </a:r>
                      <a:endParaRPr lang="zh-TW" altLang="en-US" sz="1500" b="1" dirty="0">
                        <a:solidFill>
                          <a:srgbClr val="0070C0"/>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512</a:t>
                      </a:r>
                      <a:endParaRPr lang="zh-TW" altLang="en-US" sz="15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653</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703</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512</a:t>
                      </a:r>
                      <a:endParaRPr lang="zh-TW" altLang="en-US" sz="15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509</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512</a:t>
                      </a:r>
                      <a:endParaRPr lang="zh-TW" altLang="en-US" sz="15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612</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653</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503</a:t>
                      </a:r>
                      <a:endParaRPr lang="zh-TW" altLang="en-US" sz="1500" b="1" dirty="0">
                        <a:solidFill>
                          <a:srgbClr val="FF000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426</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512</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dirty="0" smtClean="0"/>
                        <a:t>087</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FF0000"/>
                          </a:solidFill>
                        </a:rPr>
                        <a:t>503</a:t>
                      </a:r>
                      <a:endParaRPr lang="zh-TW" altLang="en-US" sz="1500" b="1" dirty="0">
                        <a:solidFill>
                          <a:srgbClr val="FF000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154</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509</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512</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b="1" dirty="0" smtClean="0">
                          <a:solidFill>
                            <a:srgbClr val="FF0000"/>
                          </a:solidFill>
                        </a:rPr>
                        <a:t>087</a:t>
                      </a:r>
                      <a:endParaRPr lang="zh-TW" altLang="en-US" sz="15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061</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154</a:t>
                      </a:r>
                      <a:endParaRPr lang="zh-TW" altLang="en-US" sz="1500" b="1" dirty="0">
                        <a:solidFill>
                          <a:srgbClr val="0070C0"/>
                        </a:solidFill>
                      </a:endParaRP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503</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r>
                        <a:rPr lang="en-US" altLang="zh-TW" sz="1500" b="1" dirty="0" smtClean="0">
                          <a:solidFill>
                            <a:srgbClr val="FF0000"/>
                          </a:solidFill>
                        </a:rPr>
                        <a:t>087</a:t>
                      </a:r>
                      <a:endParaRPr lang="zh-TW" altLang="en-US" sz="15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b="1" dirty="0" smtClean="0">
                          <a:solidFill>
                            <a:srgbClr val="0070C0"/>
                          </a:solidFill>
                        </a:rPr>
                        <a:t>061</a:t>
                      </a:r>
                      <a:endParaRPr lang="zh-TW" altLang="en-US" sz="1500" b="1" dirty="0">
                        <a:solidFill>
                          <a:srgbClr val="0070C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t>154</a:t>
                      </a: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170</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275</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426</a:t>
                      </a:r>
                      <a:endParaRPr lang="zh-TW" altLang="en-US" sz="15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509</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512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612</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653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677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703</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765</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897</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altLang="zh-TW" sz="1500" dirty="0" smtClean="0"/>
                        <a:t>908</a:t>
                      </a: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521495">
                <a:tc>
                  <a:txBody>
                    <a:bodyPr/>
                    <a:lstStyle/>
                    <a:p>
                      <a:pPr algn="ctr"/>
                      <a:endParaRPr lang="zh-TW" altLang="en-US" sz="15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5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500" dirty="0" smtClean="0">
                          <a:solidFill>
                            <a:srgbClr val="0070C0"/>
                          </a:solidFill>
                        </a:rPr>
                        <a:t>061</a:t>
                      </a:r>
                      <a:endParaRPr lang="zh-TW" altLang="en-US" sz="15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TW" sz="1500" dirty="0" smtClean="0">
                          <a:solidFill>
                            <a:srgbClr val="FF0000"/>
                          </a:solidFill>
                        </a:rPr>
                        <a:t>087</a:t>
                      </a:r>
                      <a:endParaRPr lang="zh-TW" altLang="en-US" sz="1500" dirty="0">
                        <a:solidFill>
                          <a:srgbClr val="FF0000"/>
                        </a:solidFill>
                      </a:endParaRPr>
                    </a:p>
                  </a:txBody>
                  <a:tcPr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ltLang="zh-TW" sz="1500" dirty="0" smtClean="0">
                          <a:solidFill>
                            <a:srgbClr val="0070C0"/>
                          </a:solidFill>
                        </a:rPr>
                        <a:t>154</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170</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275</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426</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FF0000"/>
                          </a:solidFill>
                        </a:rPr>
                        <a:t>503</a:t>
                      </a:r>
                      <a:endParaRPr lang="zh-TW" altLang="en-US" sz="1500" dirty="0">
                        <a:solidFill>
                          <a:srgbClr val="FF000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509</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FF0000"/>
                          </a:solidFill>
                        </a:rPr>
                        <a:t>512</a:t>
                      </a:r>
                      <a:endParaRPr lang="zh-TW" altLang="en-US" sz="1500" dirty="0">
                        <a:solidFill>
                          <a:srgbClr val="FF000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612</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653</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677</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703</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765</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897</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c>
                  <a:txBody>
                    <a:bodyPr/>
                    <a:lstStyle/>
                    <a:p>
                      <a:pPr algn="ctr"/>
                      <a:r>
                        <a:rPr lang="en-US" altLang="zh-TW" sz="1500" dirty="0" smtClean="0">
                          <a:solidFill>
                            <a:srgbClr val="0070C0"/>
                          </a:solidFill>
                        </a:rPr>
                        <a:t>908</a:t>
                      </a:r>
                      <a:endParaRPr lang="zh-TW" altLang="en-US" sz="1500" dirty="0">
                        <a:solidFill>
                          <a:srgbClr val="0070C0"/>
                        </a:solidFill>
                      </a:endParaRPr>
                    </a:p>
                  </a:txBody>
                  <a:tcPr anchor="ctr">
                    <a:lnT w="12700" cap="flat" cmpd="sng" algn="ctr">
                      <a:solidFill>
                        <a:schemeClr val="tx1"/>
                      </a:solidFill>
                      <a:prstDash val="dot"/>
                      <a:round/>
                      <a:headEnd type="none" w="med" len="med"/>
                      <a:tailEnd type="none" w="med" len="med"/>
                    </a:lnT>
                  </a:tcPr>
                </a:tc>
              </a:tr>
            </a:tbl>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42</a:t>
            </a:fld>
            <a:endParaRPr lang="zh-TW"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generalized binary algorithm(6/6)</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K</a:t>
            </a:r>
            <a:r>
              <a:rPr lang="en-US" altLang="zh-TW" i="1" baseline="-25000" dirty="0" smtClean="0">
                <a:latin typeface="Times New Roman" pitchFamily="18" charset="0"/>
                <a:cs typeface="Times New Roman" pitchFamily="18" charset="0"/>
              </a:rPr>
              <a:t>g</a:t>
            </a:r>
            <a:r>
              <a:rPr lang="en-US" altLang="zh-TW" dirty="0" smtClean="0"/>
              <a:t>(3, 13) = 8</a:t>
            </a:r>
          </a:p>
          <a:p>
            <a:r>
              <a:rPr lang="en-US" altLang="zh-TW" i="1" dirty="0" smtClean="0">
                <a:latin typeface="Times New Roman" pitchFamily="18" charset="0"/>
                <a:cs typeface="Times New Roman" pitchFamily="18" charset="0"/>
              </a:rPr>
              <a:t>K</a:t>
            </a:r>
            <a:r>
              <a:rPr lang="en-US" altLang="zh-TW" i="1" baseline="-25000" dirty="0" smtClean="0">
                <a:latin typeface="Times New Roman" pitchFamily="18" charset="0"/>
                <a:cs typeface="Times New Roman" pitchFamily="18" charset="0"/>
              </a:rPr>
              <a:t>g</a:t>
            </a:r>
            <a:r>
              <a:rPr lang="en-US" altLang="zh-TW" dirty="0" smtClean="0"/>
              <a:t>(m, n) </a:t>
            </a:r>
            <a:r>
              <a:rPr lang="zh-TW" altLang="en-US" dirty="0" smtClean="0"/>
              <a:t>≈</a:t>
            </a:r>
          </a:p>
          <a:p>
            <a:endParaRPr lang="zh-TW" altLang="en-US" dirty="0"/>
          </a:p>
        </p:txBody>
      </p:sp>
      <p:graphicFrame>
        <p:nvGraphicFramePr>
          <p:cNvPr id="7171" name="Object 3"/>
          <p:cNvGraphicFramePr>
            <a:graphicFrameLocks noChangeAspect="1"/>
          </p:cNvGraphicFramePr>
          <p:nvPr/>
        </p:nvGraphicFramePr>
        <p:xfrm>
          <a:off x="2643174" y="2214554"/>
          <a:ext cx="3286148" cy="642942"/>
        </p:xfrm>
        <a:graphic>
          <a:graphicData uri="http://schemas.openxmlformats.org/presentationml/2006/ole">
            <p:oleObj spid="_x0000_s7171" name="Equation" r:id="rId3" imgW="1231560" imgH="228600" progId="Equation.3">
              <p:embed/>
            </p:oleObj>
          </a:graphicData>
        </a:graphic>
      </p:graphicFrame>
      <p:sp>
        <p:nvSpPr>
          <p:cNvPr id="5" name="投影片編號版面配置區 4"/>
          <p:cNvSpPr>
            <a:spLocks noGrp="1"/>
          </p:cNvSpPr>
          <p:nvPr>
            <p:ph type="sldNum" sz="quarter" idx="12"/>
          </p:nvPr>
        </p:nvSpPr>
        <p:spPr/>
        <p:txBody>
          <a:bodyPr/>
          <a:lstStyle/>
          <a:p>
            <a:fld id="{73DA0BB7-265A-403C-9275-D587AB510EDC}" type="slidenum">
              <a:rPr lang="zh-TW" altLang="en-US" smtClean="0"/>
              <a:pPr/>
              <a:t>43</a:t>
            </a:fld>
            <a:endParaRPr lang="zh-TW"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graphicFrame>
        <p:nvGraphicFramePr>
          <p:cNvPr id="11" name="表格 10"/>
          <p:cNvGraphicFramePr>
            <a:graphicFrameLocks noGrp="1"/>
          </p:cNvGraphicFramePr>
          <p:nvPr/>
        </p:nvGraphicFramePr>
        <p:xfrm>
          <a:off x="214282" y="3214686"/>
          <a:ext cx="3357550" cy="3214708"/>
        </p:xfrm>
        <a:graphic>
          <a:graphicData uri="http://schemas.openxmlformats.org/drawingml/2006/table">
            <a:tbl>
              <a:tblPr firstRow="1" bandRow="1">
                <a:tableStyleId>{5940675A-B579-460E-94D1-54222C63F5DA}</a:tableStyleId>
              </a:tblPr>
              <a:tblGrid>
                <a:gridCol w="335755"/>
                <a:gridCol w="335755"/>
                <a:gridCol w="335755"/>
                <a:gridCol w="335755"/>
                <a:gridCol w="335755"/>
                <a:gridCol w="335755"/>
                <a:gridCol w="335755"/>
                <a:gridCol w="335755"/>
                <a:gridCol w="335755"/>
                <a:gridCol w="335755"/>
              </a:tblGrid>
              <a:tr h="459244">
                <a:tc>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a</a:t>
                      </a:r>
                      <a:endParaRPr lang="zh-TW" altLang="en-US" dirty="0"/>
                    </a:p>
                  </a:txBody>
                  <a:tcPr/>
                </a:tc>
              </a:tr>
              <a:tr h="459244">
                <a:tc>
                  <a:txBody>
                    <a:bodyPr/>
                    <a:lstStyle/>
                    <a:p>
                      <a:pPr algn="ctr"/>
                      <a:r>
                        <a:rPr lang="en-US" altLang="zh-TW" dirty="0" smtClean="0"/>
                        <a:t>a</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noFill/>
                  </a:tcPr>
                </a:tc>
                <a:tc>
                  <a:txBody>
                    <a:bodyPr/>
                    <a:lstStyle/>
                    <a:p>
                      <a:pPr algn="ctr"/>
                      <a:endParaRPr lang="zh-TW" altLang="en-US" dirty="0"/>
                    </a:p>
                  </a:txBody>
                  <a:tcPr/>
                </a:tc>
                <a:tc>
                  <a:txBody>
                    <a:bodyPr/>
                    <a:lstStyle/>
                    <a:p>
                      <a:pPr algn="ctr"/>
                      <a:r>
                        <a:rPr lang="en-US" altLang="zh-TW" dirty="0" smtClean="0"/>
                        <a:t>1</a:t>
                      </a:r>
                      <a:endParaRPr lang="zh-TW" altLang="en-US" dirty="0"/>
                    </a:p>
                  </a:txBody>
                  <a:tcPr>
                    <a:noFill/>
                  </a:tcPr>
                </a:tc>
              </a:tr>
              <a:tr h="459244">
                <a:tc>
                  <a:txBody>
                    <a:bodyPr/>
                    <a:lstStyle/>
                    <a:p>
                      <a:pPr algn="ctr"/>
                      <a:r>
                        <a:rPr lang="en-US" altLang="zh-TW" dirty="0" smtClean="0"/>
                        <a:t>b</a:t>
                      </a:r>
                      <a:endParaRPr lang="zh-TW" altLang="en-US" dirty="0"/>
                    </a:p>
                  </a:txBody>
                  <a:tcPr/>
                </a:tc>
                <a:tc>
                  <a:txBody>
                    <a:bodyPr/>
                    <a:lstStyle/>
                    <a:p>
                      <a:pPr algn="ctr"/>
                      <a:endParaRPr lang="zh-TW" altLang="en-US"/>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2</a:t>
                      </a:r>
                      <a:endParaRPr lang="zh-TW" altLang="en-US" dirty="0"/>
                    </a:p>
                  </a:txBody>
                  <a:tcPr>
                    <a:noFill/>
                  </a:tcPr>
                </a:tc>
                <a:tc>
                  <a:txBody>
                    <a:bodyPr/>
                    <a:lstStyle/>
                    <a:p>
                      <a:pPr algn="ctr"/>
                      <a:endParaRPr lang="zh-TW" altLang="en-US" dirty="0"/>
                    </a:p>
                  </a:txBody>
                  <a:tcPr/>
                </a:tc>
              </a:tr>
              <a:tr h="459244">
                <a:tc>
                  <a:txBody>
                    <a:bodyPr/>
                    <a:lstStyle/>
                    <a:p>
                      <a:pPr algn="ctr"/>
                      <a:r>
                        <a:rPr lang="en-US" altLang="zh-TW" dirty="0" smtClean="0"/>
                        <a:t>c</a:t>
                      </a: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en-US" altLang="zh-TW" dirty="0" smtClean="0"/>
                        <a:t>*</a:t>
                      </a:r>
                      <a:endParaRPr lang="zh-TW" altLang="en-US" dirty="0"/>
                    </a:p>
                  </a:txBody>
                  <a:tcPr>
                    <a:no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d</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a:p>
                  </a:txBody>
                  <a:tcPr/>
                </a:tc>
              </a:tr>
              <a:tr h="459244">
                <a:tc>
                  <a:txBody>
                    <a:bodyPr/>
                    <a:lstStyle/>
                    <a:p>
                      <a:pPr algn="ctr"/>
                      <a:r>
                        <a:rPr lang="en-US" altLang="zh-TW" dirty="0" smtClean="0"/>
                        <a:t>b</a:t>
                      </a: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t>
                      </a:r>
                      <a:endParaRPr lang="zh-TW" altLang="en-US" dirty="0"/>
                    </a:p>
                  </a:txBody>
                  <a:tcPr/>
                </a:tc>
                <a:tc>
                  <a:txBody>
                    <a:bodyPr/>
                    <a:lstStyle/>
                    <a:p>
                      <a:pPr algn="ctr"/>
                      <a:endParaRPr lang="zh-TW" altLang="en-US" dirty="0"/>
                    </a:p>
                  </a:txBody>
                  <a:tcPr/>
                </a:tc>
              </a:tr>
            </a:tbl>
          </a:graphicData>
        </a:graphic>
      </p:graphicFrame>
      <p:sp>
        <p:nvSpPr>
          <p:cNvPr id="12" name="矩形 11"/>
          <p:cNvSpPr/>
          <p:nvPr/>
        </p:nvSpPr>
        <p:spPr>
          <a:xfrm>
            <a:off x="571472" y="4572008"/>
            <a:ext cx="3000396" cy="500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p:cNvGraphicFramePr>
            <a:graphicFrameLocks noGrp="1"/>
          </p:cNvGraphicFramePr>
          <p:nvPr/>
        </p:nvGraphicFramePr>
        <p:xfrm>
          <a:off x="4214810" y="1785926"/>
          <a:ext cx="3207587" cy="741680"/>
        </p:xfrm>
        <a:graphic>
          <a:graphicData uri="http://schemas.openxmlformats.org/drawingml/2006/table">
            <a:tbl>
              <a:tblPr firstRow="1" bandRow="1">
                <a:tableStyleId>{5940675A-B579-460E-94D1-54222C63F5DA}</a:tableStyleId>
              </a:tblPr>
              <a:tblGrid>
                <a:gridCol w="687587"/>
                <a:gridCol w="360000"/>
                <a:gridCol w="360000"/>
                <a:gridCol w="360000"/>
                <a:gridCol w="360000"/>
                <a:gridCol w="360000"/>
                <a:gridCol w="360000"/>
                <a:gridCol w="360000"/>
              </a:tblGrid>
              <a:tr h="370840">
                <a:tc>
                  <a:txBody>
                    <a:bodyPr/>
                    <a:lstStyle/>
                    <a:p>
                      <a:pPr algn="ctr"/>
                      <a:r>
                        <a:rPr lang="en-US" altLang="zh-TW" dirty="0" smtClean="0"/>
                        <a:t>index</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1</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3</a:t>
                      </a:r>
                      <a:endParaRPr lang="zh-TW" altLang="en-US" dirty="0"/>
                    </a:p>
                  </a:txBody>
                  <a:tcPr marL="36000" marR="36000"/>
                </a:tc>
                <a:tc>
                  <a:txBody>
                    <a:bodyPr/>
                    <a:lstStyle/>
                    <a:p>
                      <a:pPr algn="ctr"/>
                      <a:r>
                        <a:rPr lang="en-US" altLang="zh-TW" dirty="0" smtClean="0"/>
                        <a:t>4</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6</a:t>
                      </a:r>
                      <a:endParaRPr lang="zh-TW" altLang="en-US" dirty="0"/>
                    </a:p>
                  </a:txBody>
                  <a:tcPr marL="36000" marR="36000"/>
                </a:tc>
              </a:tr>
              <a:tr h="370840">
                <a:tc>
                  <a:txBody>
                    <a:bodyPr/>
                    <a:lstStyle/>
                    <a:p>
                      <a:pPr algn="ctr"/>
                      <a:r>
                        <a:rPr lang="en-US" altLang="zh-TW" dirty="0" smtClean="0"/>
                        <a:t>value</a:t>
                      </a:r>
                      <a:endParaRPr lang="zh-TW" altLang="en-US" dirty="0"/>
                    </a:p>
                  </a:txBody>
                  <a:tcPr/>
                </a:tc>
                <a:tc>
                  <a:txBody>
                    <a:bodyPr/>
                    <a:lstStyle/>
                    <a:p>
                      <a:pPr algn="ctr"/>
                      <a:r>
                        <a:rPr lang="en-US" altLang="zh-TW" dirty="0" smtClean="0"/>
                        <a:t>0</a:t>
                      </a:r>
                      <a:endParaRPr lang="zh-TW" altLang="en-US" dirty="0"/>
                    </a:p>
                  </a:txBody>
                  <a:tcPr marL="36000" marR="36000"/>
                </a:tc>
                <a:tc>
                  <a:txBody>
                    <a:bodyPr/>
                    <a:lstStyle/>
                    <a:p>
                      <a:pPr algn="ctr"/>
                      <a:r>
                        <a:rPr lang="en-US" altLang="zh-TW" dirty="0" smtClean="0"/>
                        <a:t>2</a:t>
                      </a:r>
                      <a:endParaRPr lang="zh-TW" altLang="en-US" dirty="0"/>
                    </a:p>
                  </a:txBody>
                  <a:tcPr marL="36000" marR="36000"/>
                </a:tc>
                <a:tc>
                  <a:txBody>
                    <a:bodyPr/>
                    <a:lstStyle/>
                    <a:p>
                      <a:pPr algn="ctr"/>
                      <a:r>
                        <a:rPr lang="en-US" altLang="zh-TW" dirty="0" smtClean="0"/>
                        <a:t>5</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c>
                  <a:txBody>
                    <a:bodyPr/>
                    <a:lstStyle/>
                    <a:p>
                      <a:pPr algn="ctr"/>
                      <a:r>
                        <a:rPr lang="en-US" altLang="zh-TW" dirty="0" smtClean="0"/>
                        <a:t>10</a:t>
                      </a:r>
                      <a:endParaRPr lang="zh-TW" altLang="en-US" dirty="0"/>
                    </a:p>
                  </a:txBody>
                  <a:tcPr marL="36000" marR="36000"/>
                </a:tc>
              </a:tr>
            </a:tbl>
          </a:graphicData>
        </a:graphic>
      </p:graphicFrame>
      <p:graphicFrame>
        <p:nvGraphicFramePr>
          <p:cNvPr id="63491" name="Object 3"/>
          <p:cNvGraphicFramePr>
            <a:graphicFrameLocks noChangeAspect="1"/>
          </p:cNvGraphicFramePr>
          <p:nvPr/>
        </p:nvGraphicFramePr>
        <p:xfrm>
          <a:off x="4929190" y="3071810"/>
          <a:ext cx="4071966" cy="714380"/>
        </p:xfrm>
        <a:graphic>
          <a:graphicData uri="http://schemas.openxmlformats.org/presentationml/2006/ole">
            <p:oleObj spid="_x0000_s63491" name="Equation" r:id="rId3" imgW="1206360" imgH="228600" progId="Equation.3">
              <p:embed/>
            </p:oleObj>
          </a:graphicData>
        </a:graphic>
      </p:graphicFrame>
      <p:sp>
        <p:nvSpPr>
          <p:cNvPr id="17" name="文字方塊 16"/>
          <p:cNvSpPr txBox="1"/>
          <p:nvPr/>
        </p:nvSpPr>
        <p:spPr>
          <a:xfrm>
            <a:off x="3643306" y="3143248"/>
            <a:ext cx="1376082" cy="584775"/>
          </a:xfrm>
          <a:prstGeom prst="rect">
            <a:avLst/>
          </a:prstGeom>
          <a:noFill/>
        </p:spPr>
        <p:txBody>
          <a:bodyPr wrap="none" rtlCol="0">
            <a:spAutoFit/>
          </a:bodyPr>
          <a:lstStyle/>
          <a:p>
            <a:r>
              <a:rPr lang="en-US" altLang="zh-TW" sz="3200" dirty="0" smtClean="0"/>
              <a:t>merge</a:t>
            </a:r>
            <a:r>
              <a:rPr lang="en-US" altLang="zh-TW" sz="3200" b="1" dirty="0" smtClean="0"/>
              <a:t>:</a:t>
            </a:r>
            <a:endParaRPr lang="zh-TW" altLang="en-US" sz="3200" b="1" dirty="0"/>
          </a:p>
        </p:txBody>
      </p:sp>
      <p:graphicFrame>
        <p:nvGraphicFramePr>
          <p:cNvPr id="63492" name="Object 4"/>
          <p:cNvGraphicFramePr>
            <a:graphicFrameLocks noChangeAspect="1"/>
          </p:cNvGraphicFramePr>
          <p:nvPr/>
        </p:nvGraphicFramePr>
        <p:xfrm>
          <a:off x="3714744" y="4286256"/>
          <a:ext cx="4786345" cy="857250"/>
        </p:xfrm>
        <a:graphic>
          <a:graphicData uri="http://schemas.openxmlformats.org/presentationml/2006/ole">
            <p:oleObj spid="_x0000_s63492" name="Equation" r:id="rId4" imgW="1307880" imgH="228600" progId="Equation.3">
              <p:embed/>
            </p:oleObj>
          </a:graphicData>
        </a:graphic>
      </p:graphicFrame>
      <p:sp>
        <p:nvSpPr>
          <p:cNvPr id="9" name="投影片編號版面配置區 8"/>
          <p:cNvSpPr>
            <a:spLocks noGrp="1"/>
          </p:cNvSpPr>
          <p:nvPr>
            <p:ph type="sldNum" sz="quarter" idx="12"/>
          </p:nvPr>
        </p:nvSpPr>
        <p:spPr/>
        <p:txBody>
          <a:bodyPr/>
          <a:lstStyle/>
          <a:p>
            <a:fld id="{73DA0BB7-265A-403C-9275-D587AB510EDC}" type="slidenum">
              <a:rPr lang="zh-TW" altLang="en-US" smtClean="0"/>
              <a:pPr/>
              <a:t>44</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en-US" altLang="zh-TW" dirty="0" smtClean="0"/>
          </a:p>
          <a:p>
            <a:endParaRPr lang="en-US" altLang="zh-TW" dirty="0" smtClean="0"/>
          </a:p>
          <a:p>
            <a:endParaRPr lang="en-US" altLang="zh-TW" dirty="0" smtClean="0"/>
          </a:p>
          <a:p>
            <a:pPr>
              <a:buNone/>
            </a:pPr>
            <a:r>
              <a:rPr lang="en-US" altLang="zh-TW" dirty="0" smtClean="0"/>
              <a:t>                     Thank you for listening</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45</a:t>
            </a:fld>
            <a:endParaRPr lang="zh-TW"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2076</TotalTime>
  <Words>2784</Words>
  <PresentationFormat>如螢幕大小 (4:3)</PresentationFormat>
  <Paragraphs>1960</Paragraphs>
  <Slides>46</Slides>
  <Notes>2</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46</vt:i4>
      </vt:variant>
    </vt:vector>
  </HeadingPairs>
  <TitlesOfParts>
    <vt:vector size="48" baseType="lpstr">
      <vt:lpstr>Office 佈景主題</vt:lpstr>
      <vt:lpstr>Equation</vt:lpstr>
      <vt:lpstr>New Algorithms for the LCS Problem *</vt:lpstr>
      <vt:lpstr>投影片 1</vt:lpstr>
      <vt:lpstr>Approach 1</vt:lpstr>
      <vt:lpstr>投影片 3</vt:lpstr>
      <vt:lpstr>投影片 4</vt:lpstr>
      <vt:lpstr>投影片 5</vt:lpstr>
      <vt:lpstr>投影片 6</vt:lpstr>
      <vt:lpstr>投影片 7</vt:lpstr>
      <vt:lpstr>投影片 8</vt:lpstr>
      <vt:lpstr>投影片 9</vt:lpstr>
      <vt:lpstr>投影片 10</vt:lpstr>
      <vt:lpstr>投影片 11</vt:lpstr>
      <vt:lpstr>投影片 12</vt:lpstr>
      <vt:lpstr>投影片 13</vt:lpstr>
      <vt:lpstr>Improvement Approach 1</vt:lpstr>
      <vt:lpstr>投影片 15</vt:lpstr>
      <vt:lpstr>投影片 16</vt:lpstr>
      <vt:lpstr>投影片 17</vt:lpstr>
      <vt:lpstr>投影片 18</vt:lpstr>
      <vt:lpstr>Approach 2(1/8)</vt:lpstr>
      <vt:lpstr>Approach 2(2/8)</vt:lpstr>
      <vt:lpstr>Approach 2(3/8)</vt:lpstr>
      <vt:lpstr>Approach 2(4/8)</vt:lpstr>
      <vt:lpstr>Approach 2(5/8)</vt:lpstr>
      <vt:lpstr>Approach 2(6/8)</vt:lpstr>
      <vt:lpstr>Approach 2(7/8)</vt:lpstr>
      <vt:lpstr>Approach 2(8/8)</vt:lpstr>
      <vt:lpstr>Improvement Approach 2</vt:lpstr>
      <vt:lpstr>投影片 28</vt:lpstr>
      <vt:lpstr>A Simple Algorithm for Merging Two Disjoint Linearly Ordered Sets*</vt:lpstr>
      <vt:lpstr>Abstract</vt:lpstr>
      <vt:lpstr>Two existing algorithms – tape merge(1/4)</vt:lpstr>
      <vt:lpstr>The example of tape merge(2/4)</vt:lpstr>
      <vt:lpstr>The example of tape merge(3/4)</vt:lpstr>
      <vt:lpstr>The example of tape merge(4/4)</vt:lpstr>
      <vt:lpstr>Two existing algorithms – simple binary(1/3)</vt:lpstr>
      <vt:lpstr>The example of simple binary(2/3)</vt:lpstr>
      <vt:lpstr>The example of simple binary(3/3)</vt:lpstr>
      <vt:lpstr>The generalized binary algorithm(1/6)</vt:lpstr>
      <vt:lpstr>The generalized binary algorithm(2/6)</vt:lpstr>
      <vt:lpstr>The generalized binary algorithm(3/6)</vt:lpstr>
      <vt:lpstr>The generalized binary algorithm(4/6)</vt:lpstr>
      <vt:lpstr>The generalized binary algorithm(5/6)</vt:lpstr>
      <vt:lpstr>The generalized binary algorithm(6/6)</vt:lpstr>
      <vt:lpstr>投影片 44</vt:lpstr>
      <vt:lpstr>投影片 45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Algorithms for the LCS Problem *</dc:title>
  <cp:lastModifiedBy>admin</cp:lastModifiedBy>
  <cp:revision>134</cp:revision>
  <dcterms:modified xsi:type="dcterms:W3CDTF">2014-04-29T13:15:41Z</dcterms:modified>
</cp:coreProperties>
</file>