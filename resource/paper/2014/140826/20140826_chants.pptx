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71" r:id="rId12"/>
    <p:sldId id="270" r:id="rId13"/>
    <p:sldId id="272" r:id="rId14"/>
    <p:sldId id="273" r:id="rId15"/>
    <p:sldId id="274" r:id="rId16"/>
    <p:sldId id="276" r:id="rId17"/>
    <p:sldId id="267" r:id="rId18"/>
    <p:sldId id="275" r:id="rId19"/>
    <p:sldId id="278" r:id="rId20"/>
    <p:sldId id="268" r:id="rId21"/>
    <p:sldId id="269" r:id="rId22"/>
    <p:sldId id="279" r:id="rId23"/>
    <p:sldId id="280" r:id="rId24"/>
    <p:sldId id="277" r:id="rId25"/>
    <p:sldId id="282" r:id="rId26"/>
    <p:sldId id="281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7291" autoAdjust="0"/>
  </p:normalViewPr>
  <p:slideViewPr>
    <p:cSldViewPr>
      <p:cViewPr varScale="1">
        <p:scale>
          <a:sx n="104" d="100"/>
          <a:sy n="104" d="100"/>
        </p:scale>
        <p:origin x="-16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1F51E1-2735-428C-AA47-2B6665C7295D}" type="datetimeFigureOut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BE955-B403-4A30-A924-9179CEF6743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8ACF-CBB7-4358-A2FD-5F78CCC0A740}" type="datetime1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1F72E-EC17-40E9-B060-11379868E03B}" type="datetime1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B3A9C-D0E9-4FC0-80CA-219DE0275B23}" type="datetime1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6118C-7F4C-4E3E-B0CC-F03AC0288418}" type="datetime1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8B07A-D540-4A5A-9800-D35A955C4894}" type="datetime1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95CB0-4451-4F07-A8FA-503E2313DD98}" type="datetime1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10EB6-3774-48DF-BC8B-D5E49BA212AC}" type="datetime1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C59E0-69DD-402E-B9F6-E211C28D837B}" type="datetime1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DE6E-DAA3-402B-A38F-53B7497D2716}" type="datetime1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80A2B-BA47-4601-94B4-C13F3543AE17}" type="datetime1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43D4-BDFA-4EC7-A244-C372E0179299}" type="datetime1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9CF8E-7345-4CDA-95FE-4B2C4FA5BA2F}" type="datetime1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Bit-Parallel Algorithms for the Merged Longest Common Subsequence Problem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l-PL" altLang="zh-TW" dirty="0" smtClean="0"/>
              <a:t>SEBASTIAN DEOROWICZ and AGNIESZKA DANEK†</a:t>
            </a:r>
            <a:endParaRPr lang="en-US" altLang="zh-TW" dirty="0" smtClean="0"/>
          </a:p>
          <a:p>
            <a:r>
              <a:rPr lang="en-US" altLang="zh-TW" dirty="0" smtClean="0"/>
              <a:t>International Journal of Foundations of Computer Science</a:t>
            </a:r>
          </a:p>
          <a:p>
            <a:r>
              <a:rPr lang="en-US" altLang="zh-TW" dirty="0" smtClean="0"/>
              <a:t>Vol. 24, No. 8 (2013) 1281–1298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6357950" y="5500702"/>
            <a:ext cx="25366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>
                <a:latin typeface="Calibri" pitchFamily="34" charset="0"/>
              </a:rPr>
              <a:t>Presenter:</a:t>
            </a:r>
            <a:r>
              <a:rPr lang="en-US" dirty="0" err="1" smtClean="0"/>
              <a:t>De-Sheng</a:t>
            </a:r>
            <a:r>
              <a:rPr lang="en-US" dirty="0" smtClean="0"/>
              <a:t> </a:t>
            </a:r>
            <a:r>
              <a:rPr lang="en-US" dirty="0" err="1" smtClean="0"/>
              <a:t>Jhan</a:t>
            </a:r>
            <a:endParaRPr lang="en-US" altLang="zh-TW" dirty="0" smtClean="0">
              <a:latin typeface="Calibri" pitchFamily="34" charset="0"/>
            </a:endParaRPr>
          </a:p>
          <a:p>
            <a:r>
              <a:rPr lang="en-US" altLang="zh-TW" dirty="0" smtClean="0">
                <a:latin typeface="Calibri" pitchFamily="34" charset="0"/>
              </a:rPr>
              <a:t>              2014/08/26</a:t>
            </a:r>
            <a:endParaRPr lang="zh-TW" altLang="en-US" dirty="0" smtClean="0">
              <a:latin typeface="Calibri" pitchFamily="34" charset="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zh-TW" sz="2800" dirty="0" smtClean="0"/>
              <a:t>     It is often a necessity to compare some sequences to find out how similar they are.</a:t>
            </a:r>
          </a:p>
          <a:p>
            <a:pPr>
              <a:buNone/>
            </a:pPr>
            <a:r>
              <a:rPr lang="en-US" altLang="zh-TW" sz="2800" dirty="0" smtClean="0"/>
              <a:t>     There are many similarity measures that can be used, e.g., longest common subsequence, edit distance, sequence alignment. Recently a merged longest common subsequence (</a:t>
            </a:r>
            <a:r>
              <a:rPr lang="en-US" altLang="zh-TW" sz="2800" dirty="0" err="1" smtClean="0"/>
              <a:t>MergedLCS</a:t>
            </a:r>
            <a:r>
              <a:rPr lang="en-US" altLang="zh-TW" sz="2800" dirty="0" smtClean="0"/>
              <a:t>) problem was formulated with applications in bioinformatics. We propose the bit-parallel algorithms for the </a:t>
            </a:r>
            <a:r>
              <a:rPr lang="en-US" altLang="zh-TW" sz="2800" dirty="0" err="1" smtClean="0"/>
              <a:t>MergedLCS</a:t>
            </a:r>
            <a:r>
              <a:rPr lang="en-US" altLang="zh-TW" sz="2800" dirty="0" smtClean="0"/>
              <a:t> problem and evaluate them in practice showing that they are usually tens times faster than the already published methods.</a:t>
            </a:r>
            <a:endParaRPr lang="zh-TW" altLang="en-US" sz="2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MergedLCS</a:t>
            </a:r>
            <a:r>
              <a:rPr lang="en-US" altLang="zh-TW" dirty="0" smtClean="0"/>
              <a:t>(1/5)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dirty="0" smtClean="0"/>
              <a:t> = ABA,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/>
              <a:t> = </a:t>
            </a:r>
            <a:r>
              <a:rPr lang="en-US" altLang="zh-TW" dirty="0" smtClean="0">
                <a:solidFill>
                  <a:srgbClr val="FF0000"/>
                </a:solidFill>
              </a:rPr>
              <a:t>DDA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/>
              <a:t> = </a:t>
            </a:r>
            <a:r>
              <a:rPr lang="en-US" altLang="zh-TW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BAC</a:t>
            </a:r>
          </a:p>
          <a:p>
            <a:endParaRPr lang="en-US" altLang="zh-TW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LCS</a:t>
            </a:r>
            <a:r>
              <a:rPr lang="en-US" altLang="zh-TW" dirty="0" smtClean="0"/>
              <a:t>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/>
              <a:t>,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B</a:t>
            </a:r>
            <a:r>
              <a:rPr lang="en-US" altLang="zh-TW" dirty="0" smtClean="0"/>
              <a:t>)) =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LCS </a:t>
            </a:r>
            <a:r>
              <a:rPr lang="en-US" altLang="zh-TW" dirty="0" smtClean="0"/>
              <a:t>(ABA, </a:t>
            </a:r>
            <a:r>
              <a:rPr lang="en-US" altLang="zh-TW" dirty="0" smtClean="0">
                <a:solidFill>
                  <a:srgbClr val="FF0000"/>
                </a:solidFill>
              </a:rPr>
              <a:t>DD</a:t>
            </a:r>
            <a:r>
              <a:rPr lang="en-US" altLang="zh-TW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BA</a:t>
            </a:r>
            <a:r>
              <a:rPr lang="en-US" altLang="zh-TW" dirty="0" smtClean="0">
                <a:solidFill>
                  <a:srgbClr val="FF0000"/>
                </a:solidFill>
              </a:rPr>
              <a:t>A</a:t>
            </a:r>
            <a:r>
              <a:rPr lang="en-US" altLang="zh-TW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</a:t>
            </a:r>
            <a:r>
              <a:rPr lang="en-US" altLang="zh-TW" dirty="0" smtClean="0"/>
              <a:t>)</a:t>
            </a:r>
            <a:r>
              <a:rPr lang="en-US" altLang="zh-TW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TW" dirty="0" smtClean="0"/>
              <a:t>= AA</a:t>
            </a:r>
          </a:p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LCS</a:t>
            </a:r>
            <a:r>
              <a:rPr lang="en-US" altLang="zh-TW" dirty="0" smtClean="0"/>
              <a:t>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/>
              <a:t>,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B</a:t>
            </a:r>
            <a:r>
              <a:rPr lang="en-US" altLang="zh-TW" dirty="0" smtClean="0"/>
              <a:t>)) =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LCS </a:t>
            </a:r>
            <a:r>
              <a:rPr lang="en-US" altLang="zh-TW" dirty="0" smtClean="0"/>
              <a:t>(ABA, </a:t>
            </a:r>
            <a:r>
              <a:rPr lang="en-US" altLang="zh-TW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BAC</a:t>
            </a:r>
            <a:r>
              <a:rPr lang="en-US" altLang="zh-TW" dirty="0" smtClean="0">
                <a:solidFill>
                  <a:srgbClr val="FF0000"/>
                </a:solidFill>
              </a:rPr>
              <a:t>DDA</a:t>
            </a:r>
            <a:r>
              <a:rPr lang="en-US" altLang="zh-TW" dirty="0" smtClean="0"/>
              <a:t>)</a:t>
            </a:r>
            <a:r>
              <a:rPr lang="en-US" altLang="zh-TW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TW" dirty="0" smtClean="0"/>
              <a:t>= AA</a:t>
            </a:r>
          </a:p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LCS</a:t>
            </a:r>
            <a:r>
              <a:rPr lang="en-US" altLang="zh-TW" dirty="0" smtClean="0"/>
              <a:t>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/>
              <a:t>,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B</a:t>
            </a:r>
            <a:r>
              <a:rPr lang="en-US" altLang="zh-TW" dirty="0" smtClean="0"/>
              <a:t>)) =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LCS </a:t>
            </a:r>
            <a:r>
              <a:rPr lang="en-US" altLang="zh-TW" dirty="0" smtClean="0"/>
              <a:t>(ABA, </a:t>
            </a:r>
            <a:r>
              <a:rPr lang="en-US" altLang="zh-TW" dirty="0" smtClean="0">
                <a:solidFill>
                  <a:srgbClr val="FF0000"/>
                </a:solidFill>
              </a:rPr>
              <a:t>DDA</a:t>
            </a:r>
            <a:r>
              <a:rPr lang="en-US" altLang="zh-TW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BAC</a:t>
            </a:r>
            <a:r>
              <a:rPr lang="en-US" altLang="zh-TW" dirty="0" smtClean="0"/>
              <a:t>)</a:t>
            </a:r>
            <a:r>
              <a:rPr lang="en-US" altLang="zh-TW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TW" dirty="0" smtClean="0"/>
              <a:t>= ABA</a:t>
            </a:r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LCS</a:t>
            </a:r>
            <a:r>
              <a:rPr lang="en-US" altLang="zh-TW" dirty="0" smtClean="0"/>
              <a:t>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TW" baseline="-25000" dirty="0" smtClean="0"/>
              <a:t> </a:t>
            </a:r>
            <a:r>
              <a:rPr lang="en-US" altLang="zh-TW" dirty="0" smtClean="0"/>
              <a:t>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/>
              <a:t>,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B</a:t>
            </a:r>
            <a:r>
              <a:rPr lang="en-US" altLang="zh-TW" dirty="0" smtClean="0"/>
              <a:t>)) =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LCS </a:t>
            </a:r>
            <a:r>
              <a:rPr lang="en-US" altLang="zh-TW" dirty="0" smtClean="0"/>
              <a:t>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/>
              <a:t>,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B</a:t>
            </a:r>
            <a:r>
              <a:rPr lang="en-US" altLang="zh-TW" dirty="0" smtClean="0"/>
              <a:t>)) </a:t>
            </a:r>
          </a:p>
          <a:p>
            <a:pPr>
              <a:buNone/>
            </a:pPr>
            <a:r>
              <a:rPr lang="en-US" altLang="zh-TW" dirty="0" smtClean="0"/>
              <a:t>|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LCS </a:t>
            </a:r>
            <a:r>
              <a:rPr lang="en-US" altLang="zh-TW" dirty="0" smtClean="0"/>
              <a:t>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TW" baseline="-25000" dirty="0" smtClean="0"/>
              <a:t> </a:t>
            </a:r>
            <a:r>
              <a:rPr lang="en-US" altLang="zh-TW" dirty="0" smtClean="0"/>
              <a:t>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/>
              <a:t>,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B</a:t>
            </a:r>
            <a:r>
              <a:rPr lang="en-US" altLang="zh-TW" dirty="0" smtClean="0"/>
              <a:t>))| = </a:t>
            </a:r>
            <a:r>
              <a:rPr lang="en-US" altLang="zh-TW" dirty="0" smtClean="0">
                <a:solidFill>
                  <a:srgbClr val="FF0000"/>
                </a:solidFill>
              </a:rPr>
              <a:t>3</a:t>
            </a:r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zh-TW" altLang="en-US" dirty="0" smtClean="0"/>
          </a:p>
          <a:p>
            <a:pPr>
              <a:buNone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MergedLCS</a:t>
            </a:r>
            <a:r>
              <a:rPr lang="en-US" altLang="zh-TW" dirty="0" smtClean="0"/>
              <a:t>(2/5)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000240"/>
            <a:ext cx="8143932" cy="4019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字方塊 4"/>
          <p:cNvSpPr txBox="1"/>
          <p:nvPr/>
        </p:nvSpPr>
        <p:spPr>
          <a:xfrm>
            <a:off x="7000892" y="5857892"/>
            <a:ext cx="13949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zh-TW" sz="3200" dirty="0" smtClean="0"/>
              <a:t>(</a:t>
            </a:r>
            <a:r>
              <a:rPr lang="en-US" altLang="zh-TW" sz="3200" i="1" dirty="0" err="1" smtClean="0">
                <a:latin typeface="Times New Roman" pitchFamily="18" charset="0"/>
                <a:cs typeface="Times New Roman" pitchFamily="18" charset="0"/>
              </a:rPr>
              <a:t>mnr</a:t>
            </a:r>
            <a:r>
              <a:rPr lang="en-US" altLang="zh-TW" sz="3200" dirty="0" smtClean="0"/>
              <a:t>)</a:t>
            </a:r>
            <a:endParaRPr lang="zh-TW" altLang="en-US" sz="32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142844" y="1500174"/>
            <a:ext cx="90893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|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sz="3200" dirty="0" smtClean="0"/>
              <a:t>| =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sz="3200" dirty="0" smtClean="0"/>
              <a:t>, |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3200" dirty="0" smtClean="0"/>
              <a:t>| =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3200" dirty="0" smtClean="0"/>
              <a:t>, |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3200" dirty="0" smtClean="0"/>
              <a:t>| =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3200" dirty="0" smtClean="0"/>
              <a:t>, 0</a:t>
            </a:r>
            <a:r>
              <a:rPr lang="zh-TW" altLang="en-US" sz="3200" dirty="0" smtClean="0"/>
              <a:t>≦</a:t>
            </a:r>
            <a:r>
              <a:rPr lang="en-US" altLang="zh-TW" sz="32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TW" altLang="en-US" sz="3200" dirty="0" smtClean="0"/>
              <a:t>≦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sz="3200" dirty="0" smtClean="0"/>
              <a:t>, 0</a:t>
            </a:r>
            <a:r>
              <a:rPr lang="zh-TW" altLang="en-US" sz="3200" dirty="0" smtClean="0"/>
              <a:t>≦</a:t>
            </a:r>
            <a:r>
              <a:rPr lang="en-US" altLang="zh-TW" sz="3200" i="1" dirty="0" err="1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zh-TW" altLang="en-US" sz="3200" dirty="0" smtClean="0"/>
              <a:t>≦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3200" dirty="0" smtClean="0"/>
              <a:t>, 0</a:t>
            </a:r>
            <a:r>
              <a:rPr lang="zh-TW" altLang="en-US" sz="3200" dirty="0" smtClean="0"/>
              <a:t>≦</a:t>
            </a:r>
            <a:r>
              <a:rPr lang="en-US" altLang="zh-TW" sz="3200" i="1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zh-TW" altLang="en-US" sz="3200" dirty="0" smtClean="0"/>
              <a:t>≦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</a:t>
            </a:r>
            <a:endParaRPr lang="zh-TW" altLang="en-US" sz="32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MergedLCS</a:t>
            </a:r>
            <a:r>
              <a:rPr lang="en-US" altLang="zh-TW" dirty="0" smtClean="0"/>
              <a:t>(3/5)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2143116"/>
            <a:ext cx="7643866" cy="313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714348" y="1571612"/>
            <a:ext cx="45866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sz="3200" dirty="0" smtClean="0"/>
              <a:t> = ABA,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3200" dirty="0" smtClean="0"/>
              <a:t> = DDA,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3200" dirty="0" smtClean="0"/>
              <a:t> = BAC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4857752" y="5857892"/>
            <a:ext cx="2223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L(3, 3, 3) = 2</a:t>
            </a:r>
            <a:endParaRPr lang="zh-TW" altLang="en-US" sz="3200" dirty="0"/>
          </a:p>
        </p:txBody>
      </p:sp>
      <p:sp>
        <p:nvSpPr>
          <p:cNvPr id="10" name="向右箭號 9"/>
          <p:cNvSpPr/>
          <p:nvPr/>
        </p:nvSpPr>
        <p:spPr>
          <a:xfrm rot="19423445">
            <a:off x="6836707" y="5469984"/>
            <a:ext cx="1438638" cy="285752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MergedLCS</a:t>
            </a:r>
            <a:r>
              <a:rPr lang="en-US" altLang="zh-TW" dirty="0" smtClean="0"/>
              <a:t>(4/5)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29190" y="2285992"/>
            <a:ext cx="3688521" cy="229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357430"/>
            <a:ext cx="4429124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714348" y="1571612"/>
            <a:ext cx="45866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sz="3200" dirty="0" smtClean="0"/>
              <a:t> = ABA,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3200" dirty="0" smtClean="0"/>
              <a:t> = DDA,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3200" dirty="0" smtClean="0"/>
              <a:t> = BAC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1714480" y="5500702"/>
            <a:ext cx="57128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TW" sz="3200" dirty="0" smtClean="0"/>
              <a:t>(3, 3, 3) = max(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TW" sz="3200" dirty="0" smtClean="0"/>
              <a:t>(2, 2, 3) + 1) = 2</a:t>
            </a:r>
            <a:endParaRPr lang="zh-TW" altLang="en-US" sz="3200" dirty="0"/>
          </a:p>
        </p:txBody>
      </p:sp>
      <p:sp>
        <p:nvSpPr>
          <p:cNvPr id="8" name="向右箭號 7"/>
          <p:cNvSpPr/>
          <p:nvPr/>
        </p:nvSpPr>
        <p:spPr>
          <a:xfrm rot="18181700">
            <a:off x="5048955" y="4739649"/>
            <a:ext cx="1682229" cy="1647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MergedLCS</a:t>
            </a:r>
            <a:r>
              <a:rPr lang="en-US" altLang="zh-TW" dirty="0" smtClean="0"/>
              <a:t>(5/5)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00213"/>
            <a:ext cx="4286248" cy="345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文字方塊 6"/>
          <p:cNvSpPr txBox="1"/>
          <p:nvPr/>
        </p:nvSpPr>
        <p:spPr>
          <a:xfrm>
            <a:off x="142844" y="5214950"/>
            <a:ext cx="720261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TW" sz="3200" dirty="0" smtClean="0"/>
              <a:t>(3, 3, 3) = max((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TW" sz="3200" dirty="0" smtClean="0"/>
              <a:t>(2, 2, 3) + 1),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 L</a:t>
            </a:r>
            <a:r>
              <a:rPr lang="en-US" altLang="zh-TW" sz="3200" dirty="0" smtClean="0"/>
              <a:t>(2, 3, 3),</a:t>
            </a:r>
          </a:p>
          <a:p>
            <a:r>
              <a:rPr lang="en-US" altLang="zh-TW" sz="3200" dirty="0" smtClean="0"/>
              <a:t> 			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TW" sz="3200" dirty="0" smtClean="0"/>
              <a:t>(3, 2, 3)       ,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 L</a:t>
            </a:r>
            <a:r>
              <a:rPr lang="en-US" altLang="zh-TW" sz="3200" dirty="0" smtClean="0"/>
              <a:t>(3, 3, 2))</a:t>
            </a:r>
          </a:p>
          <a:p>
            <a:r>
              <a:rPr lang="en-US" altLang="zh-TW" sz="3200" dirty="0" smtClean="0"/>
              <a:t>=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 L</a:t>
            </a:r>
            <a:r>
              <a:rPr lang="en-US" altLang="zh-TW" sz="3200" dirty="0" smtClean="0"/>
              <a:t>(3, 3, 3) = max(2, 2, 2, 3) = </a:t>
            </a:r>
            <a:r>
              <a:rPr lang="en-US" altLang="zh-TW" sz="3200" dirty="0" smtClean="0">
                <a:solidFill>
                  <a:srgbClr val="FF0000"/>
                </a:solidFill>
              </a:rPr>
              <a:t>3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72066" y="1643050"/>
            <a:ext cx="3417884" cy="3360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Bit-Parallel Algorithm</a:t>
            </a: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29190" y="1500174"/>
            <a:ext cx="3857652" cy="5057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6" name="向右箭號 5"/>
          <p:cNvSpPr/>
          <p:nvPr/>
        </p:nvSpPr>
        <p:spPr>
          <a:xfrm>
            <a:off x="4357686" y="3643314"/>
            <a:ext cx="500066" cy="4286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1700213"/>
            <a:ext cx="4143404" cy="3457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dirty="0" smtClean="0"/>
              <a:t>(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857364"/>
            <a:ext cx="8589963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2" y="2571744"/>
            <a:ext cx="6929454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文字方塊 5"/>
          <p:cNvSpPr txBox="1"/>
          <p:nvPr/>
        </p:nvSpPr>
        <p:spPr>
          <a:xfrm>
            <a:off x="285720" y="5857892"/>
            <a:ext cx="89899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3200" dirty="0" smtClean="0"/>
              <a:t>(3, 3) = {1, 2, 3},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 M</a:t>
            </a:r>
            <a:r>
              <a:rPr lang="en-US" altLang="zh-TW" sz="3200" dirty="0" smtClean="0"/>
              <a:t>(2, 3) = {1, 3},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3200" dirty="0" smtClean="0"/>
              <a:t>(3, 2) = {1, 2, 3}</a:t>
            </a:r>
            <a:endParaRPr lang="zh-TW" altLang="en-US" sz="3200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M’</a:t>
            </a:r>
            <a:r>
              <a:rPr lang="en-US" altLang="zh-TW" dirty="0" smtClean="0"/>
              <a:t>(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dirty="0" smtClean="0"/>
              <a:t>) and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M’’</a:t>
            </a:r>
            <a:r>
              <a:rPr lang="en-US" altLang="zh-TW" dirty="0" smtClean="0"/>
              <a:t>(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/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dirty="0" smtClean="0"/>
              <a:t>’(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dirty="0" smtClean="0"/>
              <a:t>)</a:t>
            </a:r>
          </a:p>
          <a:p>
            <a:pPr>
              <a:buNone/>
            </a:pPr>
            <a:r>
              <a:rPr lang="en-US" altLang="zh-TW" sz="2600" dirty="0" err="1" smtClean="0"/>
              <a:t>i</a:t>
            </a:r>
            <a:r>
              <a:rPr lang="zh-TW" altLang="en-US" sz="2600" dirty="0" smtClean="0"/>
              <a:t> ∈ </a:t>
            </a:r>
            <a:r>
              <a:rPr lang="en-US" altLang="zh-TW" sz="26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600" dirty="0" smtClean="0"/>
              <a:t>’( </a:t>
            </a:r>
            <a:r>
              <a:rPr lang="en-US" altLang="zh-TW" sz="2600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sz="2600" dirty="0" smtClean="0"/>
              <a:t>, </a:t>
            </a:r>
            <a:r>
              <a:rPr lang="en-US" altLang="zh-TW" sz="26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2600" dirty="0" smtClean="0"/>
              <a:t>) if and  only if </a:t>
            </a:r>
            <a:r>
              <a:rPr lang="en-US" altLang="zh-TW" sz="2600" i="1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TW" sz="2600" dirty="0" smtClean="0"/>
              <a:t>’ (</a:t>
            </a:r>
            <a:r>
              <a:rPr lang="en-US" altLang="zh-TW" sz="26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600" dirty="0" smtClean="0"/>
              <a:t>, </a:t>
            </a:r>
            <a:r>
              <a:rPr lang="en-US" altLang="zh-TW" sz="2600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sz="2600" dirty="0" smtClean="0"/>
              <a:t>, </a:t>
            </a:r>
            <a:r>
              <a:rPr lang="en-US" altLang="zh-TW" sz="26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2600" dirty="0" smtClean="0"/>
              <a:t>) - </a:t>
            </a:r>
            <a:r>
              <a:rPr lang="en-US" altLang="zh-TW" sz="2600" i="1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TW" sz="2600" dirty="0" smtClean="0"/>
              <a:t>’ (</a:t>
            </a:r>
            <a:r>
              <a:rPr lang="en-US" altLang="zh-TW" sz="26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600" i="1" dirty="0" smtClean="0">
                <a:latin typeface="Times New Roman" pitchFamily="18" charset="0"/>
                <a:cs typeface="Times New Roman" pitchFamily="18" charset="0"/>
              </a:rPr>
              <a:t> - 1</a:t>
            </a:r>
            <a:r>
              <a:rPr lang="en-US" altLang="zh-TW" sz="2600" dirty="0" smtClean="0"/>
              <a:t>, </a:t>
            </a:r>
            <a:r>
              <a:rPr lang="en-US" altLang="zh-TW" sz="2600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sz="2600" dirty="0" smtClean="0"/>
              <a:t>, </a:t>
            </a:r>
            <a:r>
              <a:rPr lang="en-US" altLang="zh-TW" sz="26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2600" dirty="0" smtClean="0"/>
              <a:t>) = 1 for 1 </a:t>
            </a:r>
            <a:r>
              <a:rPr lang="zh-TW" altLang="en-US" sz="2600" dirty="0" smtClean="0"/>
              <a:t>≦</a:t>
            </a:r>
            <a:r>
              <a:rPr lang="en-US" altLang="zh-TW" sz="2600" dirty="0" err="1" smtClean="0"/>
              <a:t>i</a:t>
            </a:r>
            <a:r>
              <a:rPr lang="en-US" altLang="zh-TW" sz="2600" dirty="0" smtClean="0"/>
              <a:t> </a:t>
            </a:r>
            <a:r>
              <a:rPr lang="zh-TW" altLang="en-US" sz="2600" dirty="0" smtClean="0"/>
              <a:t>≦ </a:t>
            </a:r>
            <a:r>
              <a:rPr lang="en-US" altLang="zh-TW" sz="2600" dirty="0" smtClean="0"/>
              <a:t>r</a:t>
            </a:r>
          </a:p>
          <a:p>
            <a:pPr>
              <a:buNone/>
            </a:pPr>
            <a:endParaRPr lang="en-US" altLang="zh-TW" sz="2600" dirty="0" smtClean="0"/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dirty="0" smtClean="0"/>
              <a:t>’’(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dirty="0" smtClean="0"/>
              <a:t>)</a:t>
            </a:r>
          </a:p>
          <a:p>
            <a:pPr>
              <a:buNone/>
            </a:pPr>
            <a:r>
              <a:rPr lang="en-US" altLang="zh-TW" sz="2600" dirty="0" err="1" smtClean="0"/>
              <a:t>i</a:t>
            </a:r>
            <a:r>
              <a:rPr lang="zh-TW" altLang="en-US" sz="2600" dirty="0" smtClean="0"/>
              <a:t> ∈ </a:t>
            </a:r>
            <a:r>
              <a:rPr lang="en-US" altLang="zh-TW" sz="2600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2800" dirty="0" smtClean="0"/>
              <a:t>’’</a:t>
            </a:r>
            <a:r>
              <a:rPr lang="en-US" altLang="zh-TW" sz="2600" dirty="0" smtClean="0"/>
              <a:t>( </a:t>
            </a:r>
            <a:r>
              <a:rPr lang="en-US" altLang="zh-TW" sz="2600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sz="2600" dirty="0" smtClean="0"/>
              <a:t>, </a:t>
            </a:r>
            <a:r>
              <a:rPr lang="en-US" altLang="zh-TW" sz="26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2600" dirty="0" smtClean="0"/>
              <a:t>)if and  only if </a:t>
            </a:r>
            <a:r>
              <a:rPr lang="en-US" altLang="zh-TW" sz="2600" i="1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TW" sz="2800" dirty="0" smtClean="0"/>
              <a:t>’’</a:t>
            </a:r>
            <a:r>
              <a:rPr lang="en-US" altLang="zh-TW" sz="2600" dirty="0" smtClean="0"/>
              <a:t>(</a:t>
            </a:r>
            <a:r>
              <a:rPr lang="en-US" altLang="zh-TW" sz="26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600" dirty="0" smtClean="0"/>
              <a:t>, </a:t>
            </a:r>
            <a:r>
              <a:rPr lang="en-US" altLang="zh-TW" sz="2600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sz="2600" dirty="0" smtClean="0"/>
              <a:t>, </a:t>
            </a:r>
            <a:r>
              <a:rPr lang="en-US" altLang="zh-TW" sz="26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2600" dirty="0" smtClean="0"/>
              <a:t>) - </a:t>
            </a:r>
            <a:r>
              <a:rPr lang="en-US" altLang="zh-TW" sz="2600" i="1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TW" sz="2800" dirty="0" smtClean="0"/>
              <a:t>’’</a:t>
            </a:r>
            <a:r>
              <a:rPr lang="en-US" altLang="zh-TW" sz="2600" dirty="0" smtClean="0"/>
              <a:t>(</a:t>
            </a:r>
            <a:r>
              <a:rPr lang="en-US" altLang="zh-TW" sz="26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600" i="1" dirty="0" smtClean="0">
                <a:latin typeface="Times New Roman" pitchFamily="18" charset="0"/>
                <a:cs typeface="Times New Roman" pitchFamily="18" charset="0"/>
              </a:rPr>
              <a:t> - 1</a:t>
            </a:r>
            <a:r>
              <a:rPr lang="en-US" altLang="zh-TW" sz="2600" dirty="0" smtClean="0"/>
              <a:t>, </a:t>
            </a:r>
            <a:r>
              <a:rPr lang="en-US" altLang="zh-TW" sz="2600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sz="2600" dirty="0" smtClean="0"/>
              <a:t>, </a:t>
            </a:r>
            <a:r>
              <a:rPr lang="en-US" altLang="zh-TW" sz="26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2600" dirty="0" smtClean="0"/>
              <a:t>) = 1 for 1 </a:t>
            </a:r>
            <a:r>
              <a:rPr lang="zh-TW" altLang="en-US" sz="2600" dirty="0" smtClean="0"/>
              <a:t>≦</a:t>
            </a:r>
            <a:r>
              <a:rPr lang="en-US" altLang="zh-TW" sz="2600" dirty="0" err="1" smtClean="0"/>
              <a:t>i</a:t>
            </a:r>
            <a:r>
              <a:rPr lang="en-US" altLang="zh-TW" sz="2600" dirty="0" smtClean="0"/>
              <a:t> </a:t>
            </a:r>
            <a:r>
              <a:rPr lang="zh-TW" altLang="en-US" sz="2600" dirty="0" smtClean="0"/>
              <a:t>≦ </a:t>
            </a:r>
            <a:r>
              <a:rPr lang="en-US" altLang="zh-TW" sz="2600" dirty="0" smtClean="0"/>
              <a:t>r</a:t>
            </a:r>
          </a:p>
          <a:p>
            <a:endParaRPr lang="en-US" altLang="zh-TW" dirty="0" smtClean="0"/>
          </a:p>
          <a:p>
            <a:pPr>
              <a:buNone/>
            </a:pPr>
            <a:endParaRPr lang="zh-TW" altLang="en-US" sz="260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zh-TW" dirty="0" smtClean="0"/>
              <a:t>(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600200"/>
            <a:ext cx="8686800" cy="4525963"/>
          </a:xfrm>
        </p:spPr>
        <p:txBody>
          <a:bodyPr/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dirty="0" smtClean="0"/>
              <a:t>(3, 3) = {1, 2, 3}         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dirty="0" smtClean="0"/>
              <a:t>(2, 3) = {1, 3}</a:t>
            </a:r>
            <a:endParaRPr lang="en-US" altLang="zh-TW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zh-TW" dirty="0" smtClean="0"/>
              <a:t>(3, 3) =                        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zh-TW" dirty="0" smtClean="0"/>
              <a:t>(2, 3) = 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000232" y="2357430"/>
          <a:ext cx="1928826" cy="278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4413"/>
                <a:gridCol w="964413"/>
              </a:tblGrid>
              <a:tr h="5572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index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value</a:t>
                      </a:r>
                      <a:endParaRPr lang="zh-TW" altLang="en-US" sz="2800" dirty="0"/>
                    </a:p>
                  </a:txBody>
                  <a:tcPr/>
                </a:tc>
              </a:tr>
              <a:tr h="5572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</a:tr>
              <a:tr h="5572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</a:tr>
              <a:tr h="5572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</a:tr>
              <a:tr h="5572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786446" y="2357430"/>
          <a:ext cx="1928826" cy="278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4413"/>
                <a:gridCol w="964413"/>
              </a:tblGrid>
              <a:tr h="5572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index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value</a:t>
                      </a:r>
                      <a:endParaRPr lang="zh-TW" altLang="en-US" sz="2800" dirty="0"/>
                    </a:p>
                  </a:txBody>
                  <a:tcPr/>
                </a:tc>
              </a:tr>
              <a:tr h="5572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</a:tr>
              <a:tr h="5572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</a:tr>
              <a:tr h="5572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</a:tr>
              <a:tr h="5572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214282" y="5786454"/>
            <a:ext cx="73581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/>
              <a:t>In a similar way 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3200" dirty="0" smtClean="0"/>
              <a:t>’(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sz="3200" dirty="0" smtClean="0"/>
              <a:t>,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3200" dirty="0" smtClean="0"/>
              <a:t>),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zh-TW" sz="3200" dirty="0" smtClean="0"/>
              <a:t>’’(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sz="3200" dirty="0" smtClean="0"/>
              <a:t>,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3200" dirty="0" smtClean="0"/>
              <a:t>) can be computed.</a:t>
            </a: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</a:t>
            </a:r>
            <a:endParaRPr lang="zh-TW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57298"/>
            <a:ext cx="9144000" cy="5500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Improved Formula</a:t>
            </a:r>
            <a:endParaRPr lang="zh-TW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9124" y="1357298"/>
            <a:ext cx="4429156" cy="33575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1357298"/>
            <a:ext cx="3929090" cy="3390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00100" y="5286388"/>
            <a:ext cx="699135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直線接點 7"/>
          <p:cNvCxnSpPr/>
          <p:nvPr/>
        </p:nvCxnSpPr>
        <p:spPr>
          <a:xfrm>
            <a:off x="3000364" y="4214818"/>
            <a:ext cx="1143008" cy="15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5429256" y="3786190"/>
            <a:ext cx="1500198" cy="15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6858016" y="4286256"/>
            <a:ext cx="785818" cy="15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Initialisation</a:t>
            </a:r>
            <a:endParaRPr lang="zh-TW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9124" y="1785926"/>
            <a:ext cx="4714876" cy="40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2214554"/>
            <a:ext cx="3786214" cy="33575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6" name="文字方塊 5"/>
          <p:cNvSpPr txBox="1"/>
          <p:nvPr/>
        </p:nvSpPr>
        <p:spPr>
          <a:xfrm>
            <a:off x="857224" y="5929330"/>
            <a:ext cx="32031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LCS(T, A), LCS(T, B)</a:t>
            </a:r>
            <a:endParaRPr lang="zh-TW" altLang="en-US" sz="3200" dirty="0" smtClean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500438"/>
            <a:ext cx="9144000" cy="335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4643438" cy="350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W’(j – 1, k</a:t>
            </a:r>
            <a:r>
              <a:rPr lang="en-US" altLang="zh-TW" dirty="0" smtClean="0"/>
              <a:t>) and W</a:t>
            </a:r>
            <a:r>
              <a:rPr lang="en-US" altLang="zh-TW" dirty="0" smtClean="0"/>
              <a:t>’’(j, k - 1)</a:t>
            </a:r>
            <a:endParaRPr lang="zh-TW" alt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928802"/>
            <a:ext cx="9143999" cy="4591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0" y="2928934"/>
            <a:ext cx="9144000" cy="1428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W’(j – 1, k) and W’’(j, k - 1)</a:t>
            </a:r>
            <a:endParaRPr lang="zh-TW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714488"/>
            <a:ext cx="8501090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字方塊 4"/>
          <p:cNvSpPr txBox="1"/>
          <p:nvPr/>
        </p:nvSpPr>
        <p:spPr>
          <a:xfrm>
            <a:off x="214282" y="3772919"/>
            <a:ext cx="878684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/>
              <a:t>ex: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sz="3200" dirty="0" smtClean="0"/>
              <a:t> = ABA,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3200" dirty="0" smtClean="0"/>
              <a:t> = DDA,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3200" dirty="0" smtClean="0"/>
              <a:t>(2, 1) = {2</a:t>
            </a:r>
            <a:r>
              <a:rPr lang="en-US" altLang="zh-TW" sz="3200" dirty="0" smtClean="0"/>
              <a:t>}</a:t>
            </a:r>
          </a:p>
          <a:p>
            <a:r>
              <a:rPr lang="en-US" altLang="zh-TW" sz="3200" dirty="0" smtClean="0"/>
              <a:t>M’(2, 1) =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3200" dirty="0" smtClean="0"/>
              <a:t>(2, 1) </a:t>
            </a:r>
            <a:r>
              <a:rPr lang="en-US" altLang="zh-TW" sz="3200" dirty="0" smtClean="0"/>
              <a:t>= {2}</a:t>
            </a:r>
          </a:p>
          <a:p>
            <a:r>
              <a:rPr lang="en-US" altLang="zh-TW" sz="3200" dirty="0" smtClean="0"/>
              <a:t>M’(2, 1) = {2, 3} t</a:t>
            </a:r>
            <a:r>
              <a:rPr lang="en-US" altLang="zh-TW" sz="3200" baseline="-25000" dirty="0" smtClean="0"/>
              <a:t>3</a:t>
            </a:r>
            <a:r>
              <a:rPr lang="en-US" altLang="zh-TW" sz="3200" dirty="0" smtClean="0"/>
              <a:t> = a</a:t>
            </a:r>
            <a:r>
              <a:rPr lang="en-US" altLang="zh-TW" sz="3200" baseline="-25000" dirty="0" smtClean="0"/>
              <a:t>3 </a:t>
            </a:r>
            <a:r>
              <a:rPr lang="en-US" altLang="zh-TW" sz="3200" dirty="0" smtClean="0"/>
              <a:t> , A = A</a:t>
            </a:r>
          </a:p>
          <a:p>
            <a:r>
              <a:rPr lang="en-US" altLang="zh-TW" sz="3200" dirty="0" smtClean="0"/>
              <a:t>M’(2, 1</a:t>
            </a:r>
            <a:r>
              <a:rPr lang="en-US" altLang="zh-TW" sz="3200" dirty="0" smtClean="0"/>
              <a:t>) = {1, 2, 3} t</a:t>
            </a:r>
            <a:r>
              <a:rPr lang="en-US" altLang="zh-TW" sz="3200" baseline="-25000" dirty="0" smtClean="0"/>
              <a:t>1</a:t>
            </a:r>
            <a:r>
              <a:rPr lang="en-US" altLang="zh-TW" sz="3200" dirty="0" smtClean="0"/>
              <a:t> </a:t>
            </a:r>
            <a:r>
              <a:rPr lang="en-US" altLang="zh-TW" sz="3200" dirty="0" smtClean="0"/>
              <a:t>= a</a:t>
            </a:r>
            <a:r>
              <a:rPr lang="en-US" altLang="zh-TW" sz="3200" baseline="-25000" dirty="0" smtClean="0"/>
              <a:t>3 </a:t>
            </a:r>
            <a:r>
              <a:rPr lang="en-US" altLang="zh-TW" sz="3200" dirty="0" smtClean="0"/>
              <a:t> , A = A</a:t>
            </a:r>
            <a:endParaRPr lang="zh-TW" altLang="en-US" sz="3200" baseline="-25000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17</a:t>
            </a:fld>
            <a:endParaRPr lang="zh-TW" altLang="en-US"/>
          </a:p>
        </p:txBody>
      </p:sp>
      <p:cxnSp>
        <p:nvCxnSpPr>
          <p:cNvPr id="8" name="直線接點 7"/>
          <p:cNvCxnSpPr/>
          <p:nvPr/>
        </p:nvCxnSpPr>
        <p:spPr>
          <a:xfrm rot="16200000" flipH="1">
            <a:off x="2393140" y="5464983"/>
            <a:ext cx="500066" cy="28575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W’(j – 1, k) and W’’(j, k - 1)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18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571612"/>
            <a:ext cx="6572296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文字方塊 5"/>
          <p:cNvSpPr txBox="1"/>
          <p:nvPr/>
        </p:nvSpPr>
        <p:spPr>
          <a:xfrm>
            <a:off x="428596" y="3000372"/>
            <a:ext cx="85725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3200" dirty="0" smtClean="0"/>
              <a:t>(2, 1</a:t>
            </a:r>
            <a:r>
              <a:rPr lang="en-US" altLang="zh-TW" sz="3200" dirty="0" smtClean="0"/>
              <a:t>) = {2}, W(2, 1) = </a:t>
            </a:r>
          </a:p>
          <a:p>
            <a:r>
              <a:rPr lang="en-US" altLang="zh-TW" sz="3200" dirty="0" smtClean="0"/>
              <a:t>Y</a:t>
            </a:r>
            <a:r>
              <a:rPr lang="en-US" altLang="zh-TW" sz="3200" baseline="-25000" dirty="0" smtClean="0"/>
              <a:t>A</a:t>
            </a:r>
            <a:r>
              <a:rPr lang="en-US" altLang="zh-TW" sz="3200" dirty="0" smtClean="0"/>
              <a:t> = 1010</a:t>
            </a:r>
          </a:p>
          <a:p>
            <a:r>
              <a:rPr lang="en-US" altLang="zh-TW" sz="3200" dirty="0" smtClean="0"/>
              <a:t>W’(2, 1) = W(2, 1) &amp; Y</a:t>
            </a:r>
            <a:r>
              <a:rPr lang="en-US" altLang="zh-TW" sz="3200" baseline="-25000" dirty="0" smtClean="0"/>
              <a:t>A</a:t>
            </a:r>
            <a:r>
              <a:rPr lang="en-US" altLang="zh-TW" sz="3200" dirty="0" smtClean="0"/>
              <a:t> = 1010</a:t>
            </a:r>
          </a:p>
          <a:p>
            <a:r>
              <a:rPr lang="en-US" altLang="zh-TW" sz="3200" dirty="0" smtClean="0"/>
              <a:t>W’(2, 1) = (W(2, 1) + W’(2, 1)) | (</a:t>
            </a:r>
            <a:r>
              <a:rPr lang="en-US" altLang="zh-TW" sz="3200" dirty="0" smtClean="0"/>
              <a:t>W(2, 1) </a:t>
            </a:r>
            <a:r>
              <a:rPr lang="en-US" altLang="zh-TW" sz="3200" dirty="0" smtClean="0"/>
              <a:t>- </a:t>
            </a:r>
            <a:r>
              <a:rPr lang="en-US" altLang="zh-TW" sz="3200" dirty="0" smtClean="0"/>
              <a:t>W’(2, 1</a:t>
            </a:r>
            <a:r>
              <a:rPr lang="en-US" altLang="zh-TW" sz="3200" dirty="0" smtClean="0"/>
              <a:t>))</a:t>
            </a:r>
          </a:p>
          <a:p>
            <a:r>
              <a:rPr lang="en-US" altLang="zh-TW" sz="3200" dirty="0" smtClean="0"/>
              <a:t>  </a:t>
            </a:r>
            <a:r>
              <a:rPr lang="en-US" altLang="zh-TW" sz="3200" dirty="0" smtClean="0"/>
              <a:t>             = 0101</a:t>
            </a:r>
            <a:endParaRPr lang="zh-TW" altLang="en-US" sz="3200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357686" y="2857496"/>
          <a:ext cx="4643472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0868"/>
                <a:gridCol w="1160868"/>
                <a:gridCol w="1160868"/>
                <a:gridCol w="116086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W(j, k)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928802"/>
            <a:ext cx="9143999" cy="4591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0" y="4357694"/>
            <a:ext cx="9144000" cy="2286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W(j, k)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571612"/>
            <a:ext cx="3857652" cy="5057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9124" y="1785926"/>
            <a:ext cx="4429156" cy="156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文字方塊 5"/>
          <p:cNvSpPr txBox="1"/>
          <p:nvPr/>
        </p:nvSpPr>
        <p:spPr>
          <a:xfrm>
            <a:off x="4000496" y="5286388"/>
            <a:ext cx="5357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L(3, 3, 3) = max{|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400" dirty="0" smtClean="0"/>
              <a:t>’( </a:t>
            </a:r>
            <a:r>
              <a:rPr lang="en-US" altLang="zh-TW" sz="2400" dirty="0" smtClean="0">
                <a:cs typeface="Times New Roman" pitchFamily="18" charset="0"/>
              </a:rPr>
              <a:t>2</a:t>
            </a:r>
            <a:r>
              <a:rPr lang="en-US" altLang="zh-TW" sz="2400" dirty="0" smtClean="0"/>
              <a:t>, </a:t>
            </a:r>
            <a:r>
              <a:rPr lang="en-US" altLang="zh-TW" sz="2400" dirty="0" smtClean="0">
                <a:cs typeface="Times New Roman" pitchFamily="18" charset="0"/>
              </a:rPr>
              <a:t>3</a:t>
            </a:r>
            <a:r>
              <a:rPr lang="en-US" altLang="zh-TW" sz="2400" dirty="0" smtClean="0"/>
              <a:t>)|,|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400" dirty="0" smtClean="0"/>
              <a:t>’’(3, </a:t>
            </a:r>
            <a:r>
              <a:rPr lang="en-US" altLang="zh-TW" sz="2400" dirty="0" smtClean="0">
                <a:cs typeface="Times New Roman" pitchFamily="18" charset="0"/>
              </a:rPr>
              <a:t>2</a:t>
            </a:r>
            <a:r>
              <a:rPr lang="en-US" altLang="zh-TW" sz="2400" dirty="0" smtClean="0"/>
              <a:t>)|}</a:t>
            </a:r>
          </a:p>
          <a:p>
            <a:r>
              <a:rPr lang="en-US" altLang="zh-TW" sz="2400" dirty="0" smtClean="0"/>
              <a:t>                =  max{2,3} = 3</a:t>
            </a:r>
            <a:endParaRPr lang="zh-TW" altLang="en-US" sz="24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4500562" y="3714752"/>
            <a:ext cx="35004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800" dirty="0" smtClean="0"/>
              <a:t>’(</a:t>
            </a:r>
            <a:r>
              <a:rPr lang="en-US" altLang="zh-TW" sz="2800" dirty="0" smtClean="0">
                <a:cs typeface="Times New Roman" pitchFamily="18" charset="0"/>
              </a:rPr>
              <a:t>2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3</a:t>
            </a:r>
            <a:r>
              <a:rPr lang="en-US" altLang="zh-TW" sz="2800" dirty="0" smtClean="0"/>
              <a:t>) = {1, 3}</a:t>
            </a:r>
          </a:p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800" dirty="0" smtClean="0"/>
              <a:t>’’(</a:t>
            </a:r>
            <a:r>
              <a:rPr lang="en-US" altLang="zh-TW" sz="2800" dirty="0" smtClean="0">
                <a:cs typeface="Times New Roman" pitchFamily="18" charset="0"/>
              </a:rPr>
              <a:t>3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2</a:t>
            </a:r>
            <a:r>
              <a:rPr lang="en-US" altLang="zh-TW" sz="2800" dirty="0" smtClean="0"/>
              <a:t>) = {1, 2, 3}</a:t>
            </a: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W(j, k)</a:t>
            </a:r>
            <a:endParaRPr lang="zh-TW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785926"/>
            <a:ext cx="8358246" cy="223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字方塊 4"/>
          <p:cNvSpPr txBox="1"/>
          <p:nvPr/>
        </p:nvSpPr>
        <p:spPr>
          <a:xfrm>
            <a:off x="500034" y="4214818"/>
            <a:ext cx="1977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ex: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3200" dirty="0" smtClean="0"/>
              <a:t>(3, 3)</a:t>
            </a:r>
            <a:endParaRPr lang="zh-TW" altLang="en-US" sz="32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2643174" y="4071942"/>
            <a:ext cx="350043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3200" dirty="0" smtClean="0"/>
              <a:t>’(</a:t>
            </a:r>
            <a:r>
              <a:rPr lang="en-US" altLang="zh-TW" sz="3200" dirty="0" smtClean="0">
                <a:cs typeface="Times New Roman" pitchFamily="18" charset="0"/>
              </a:rPr>
              <a:t>2</a:t>
            </a:r>
            <a:r>
              <a:rPr lang="en-US" altLang="zh-TW" sz="3200" dirty="0" smtClean="0"/>
              <a:t>, </a:t>
            </a:r>
            <a:r>
              <a:rPr lang="en-US" altLang="zh-TW" sz="3200" dirty="0" smtClean="0">
                <a:cs typeface="Times New Roman" pitchFamily="18" charset="0"/>
              </a:rPr>
              <a:t>3</a:t>
            </a:r>
            <a:r>
              <a:rPr lang="en-US" altLang="zh-TW" sz="3200" dirty="0" smtClean="0"/>
              <a:t>) = {1, 3}</a:t>
            </a:r>
          </a:p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3200" dirty="0" smtClean="0"/>
              <a:t>’’(</a:t>
            </a:r>
            <a:r>
              <a:rPr lang="en-US" altLang="zh-TW" sz="3200" dirty="0" smtClean="0">
                <a:cs typeface="Times New Roman" pitchFamily="18" charset="0"/>
              </a:rPr>
              <a:t>3</a:t>
            </a:r>
            <a:r>
              <a:rPr lang="en-US" altLang="zh-TW" sz="3200" dirty="0" smtClean="0"/>
              <a:t>, </a:t>
            </a:r>
            <a:r>
              <a:rPr lang="en-US" altLang="zh-TW" sz="3200" dirty="0" smtClean="0">
                <a:cs typeface="Times New Roman" pitchFamily="18" charset="0"/>
              </a:rPr>
              <a:t>2</a:t>
            </a:r>
            <a:r>
              <a:rPr lang="en-US" altLang="zh-TW" sz="3200" dirty="0" smtClean="0"/>
              <a:t>) ={1, 2, 3}</a:t>
            </a:r>
          </a:p>
          <a:p>
            <a:endParaRPr lang="en-US" altLang="zh-TW" sz="3200" dirty="0" smtClean="0"/>
          </a:p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3200" dirty="0" smtClean="0"/>
              <a:t>(</a:t>
            </a:r>
            <a:r>
              <a:rPr lang="en-US" altLang="zh-TW" sz="3200" dirty="0" smtClean="0">
                <a:cs typeface="Times New Roman" pitchFamily="18" charset="0"/>
              </a:rPr>
              <a:t>3</a:t>
            </a:r>
            <a:r>
              <a:rPr lang="en-US" altLang="zh-TW" sz="3200" dirty="0" smtClean="0"/>
              <a:t>, </a:t>
            </a:r>
            <a:r>
              <a:rPr lang="en-US" altLang="zh-TW" sz="3200" dirty="0" smtClean="0">
                <a:cs typeface="Times New Roman" pitchFamily="18" charset="0"/>
              </a:rPr>
              <a:t>3</a:t>
            </a:r>
            <a:r>
              <a:rPr lang="en-US" altLang="zh-TW" sz="3200" dirty="0" smtClean="0"/>
              <a:t>)   ={1, 2, 3}</a:t>
            </a:r>
          </a:p>
        </p:txBody>
      </p:sp>
      <p:sp>
        <p:nvSpPr>
          <p:cNvPr id="7" name="橢圓 6"/>
          <p:cNvSpPr/>
          <p:nvPr/>
        </p:nvSpPr>
        <p:spPr>
          <a:xfrm>
            <a:off x="4572000" y="4143380"/>
            <a:ext cx="357190" cy="10001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5000628" y="4143380"/>
            <a:ext cx="357190" cy="10001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W(j, k)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28596" y="1714488"/>
            <a:ext cx="1977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ex: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3200" dirty="0" smtClean="0"/>
              <a:t>(8, 8)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2571736" y="1571612"/>
            <a:ext cx="60722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3200" dirty="0" smtClean="0"/>
              <a:t>’(</a:t>
            </a:r>
            <a:r>
              <a:rPr lang="en-US" altLang="zh-TW" sz="3200" dirty="0" smtClean="0">
                <a:cs typeface="Times New Roman" pitchFamily="18" charset="0"/>
              </a:rPr>
              <a:t>7</a:t>
            </a:r>
            <a:r>
              <a:rPr lang="en-US" altLang="zh-TW" sz="3200" dirty="0" smtClean="0"/>
              <a:t>, </a:t>
            </a:r>
            <a:r>
              <a:rPr lang="en-US" altLang="zh-TW" sz="3200" dirty="0" smtClean="0">
                <a:cs typeface="Times New Roman" pitchFamily="18" charset="0"/>
              </a:rPr>
              <a:t>8</a:t>
            </a:r>
            <a:r>
              <a:rPr lang="en-US" altLang="zh-TW" sz="3200" dirty="0" smtClean="0"/>
              <a:t>) = {1, 3, 4, 5, 6}</a:t>
            </a:r>
          </a:p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3200" dirty="0" smtClean="0"/>
              <a:t>’’(</a:t>
            </a:r>
            <a:r>
              <a:rPr lang="en-US" altLang="zh-TW" sz="3200" dirty="0" smtClean="0">
                <a:cs typeface="Times New Roman" pitchFamily="18" charset="0"/>
              </a:rPr>
              <a:t>8</a:t>
            </a:r>
            <a:r>
              <a:rPr lang="en-US" altLang="zh-TW" sz="3200" dirty="0" smtClean="0"/>
              <a:t>, </a:t>
            </a:r>
            <a:r>
              <a:rPr lang="en-US" altLang="zh-TW" sz="3200" dirty="0" smtClean="0">
                <a:cs typeface="Times New Roman" pitchFamily="18" charset="0"/>
              </a:rPr>
              <a:t>7</a:t>
            </a:r>
            <a:r>
              <a:rPr lang="en-US" altLang="zh-TW" sz="3200" dirty="0" smtClean="0"/>
              <a:t>) ={1, 2, 3, 5, 8}</a:t>
            </a:r>
          </a:p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3200" dirty="0" smtClean="0"/>
              <a:t>(</a:t>
            </a:r>
            <a:r>
              <a:rPr lang="en-US" altLang="zh-TW" sz="3200" dirty="0" smtClean="0">
                <a:cs typeface="Times New Roman" pitchFamily="18" charset="0"/>
              </a:rPr>
              <a:t>8</a:t>
            </a:r>
            <a:r>
              <a:rPr lang="en-US" altLang="zh-TW" sz="3200" dirty="0" smtClean="0"/>
              <a:t>, </a:t>
            </a:r>
            <a:r>
              <a:rPr lang="en-US" altLang="zh-TW" sz="3200" dirty="0" smtClean="0">
                <a:cs typeface="Times New Roman" pitchFamily="18" charset="0"/>
              </a:rPr>
              <a:t>8</a:t>
            </a:r>
            <a:r>
              <a:rPr lang="en-US" altLang="zh-TW" sz="3200" dirty="0" smtClean="0"/>
              <a:t>)   ={1, 2, 3, 5, 6}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500034" y="3643314"/>
            <a:ext cx="367600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800" dirty="0" smtClean="0"/>
              <a:t>’ (</a:t>
            </a:r>
            <a:r>
              <a:rPr lang="en-US" altLang="zh-TW" sz="2800" dirty="0" smtClean="0">
                <a:cs typeface="Times New Roman" pitchFamily="18" charset="0"/>
              </a:rPr>
              <a:t>7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) = {</a:t>
            </a:r>
            <a:r>
              <a:rPr lang="en-US" altLang="zh-TW" sz="2800" dirty="0" smtClean="0">
                <a:solidFill>
                  <a:srgbClr val="FF0000"/>
                </a:solidFill>
              </a:rPr>
              <a:t>1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solidFill>
                  <a:srgbClr val="FF0000"/>
                </a:solidFill>
              </a:rPr>
              <a:t>3</a:t>
            </a:r>
            <a:r>
              <a:rPr lang="en-US" altLang="zh-TW" sz="2800" dirty="0" smtClean="0"/>
              <a:t>, 4, </a:t>
            </a:r>
            <a:r>
              <a:rPr lang="en-US" altLang="zh-TW" sz="2800" dirty="0" smtClean="0">
                <a:solidFill>
                  <a:srgbClr val="FF0000"/>
                </a:solidFill>
              </a:rPr>
              <a:t>5</a:t>
            </a:r>
            <a:r>
              <a:rPr lang="en-US" altLang="zh-TW" sz="2800" dirty="0" smtClean="0"/>
              <a:t>, 6}</a:t>
            </a:r>
          </a:p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800" dirty="0" smtClean="0"/>
              <a:t>’’(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7</a:t>
            </a:r>
            <a:r>
              <a:rPr lang="en-US" altLang="zh-TW" sz="2800" dirty="0" smtClean="0"/>
              <a:t>) ={</a:t>
            </a:r>
            <a:r>
              <a:rPr lang="en-US" altLang="zh-TW" sz="2800" dirty="0" smtClean="0">
                <a:solidFill>
                  <a:srgbClr val="FF0000"/>
                </a:solidFill>
              </a:rPr>
              <a:t>1</a:t>
            </a:r>
            <a:r>
              <a:rPr lang="en-US" altLang="zh-TW" sz="2800" dirty="0" smtClean="0"/>
              <a:t>, 2, </a:t>
            </a:r>
            <a:r>
              <a:rPr lang="en-US" altLang="zh-TW" sz="2800" dirty="0" smtClean="0">
                <a:solidFill>
                  <a:srgbClr val="FF0000"/>
                </a:solidFill>
              </a:rPr>
              <a:t>3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solidFill>
                  <a:srgbClr val="FF0000"/>
                </a:solidFill>
              </a:rPr>
              <a:t>5</a:t>
            </a:r>
            <a:r>
              <a:rPr lang="en-US" altLang="zh-TW" sz="2800" dirty="0" smtClean="0"/>
              <a:t>,  8}</a:t>
            </a:r>
          </a:p>
          <a:p>
            <a:endParaRPr lang="zh-TW" altLang="en-US" sz="2800" dirty="0"/>
          </a:p>
        </p:txBody>
      </p:sp>
      <p:sp>
        <p:nvSpPr>
          <p:cNvPr id="9" name="向右箭號 8"/>
          <p:cNvSpPr/>
          <p:nvPr/>
        </p:nvSpPr>
        <p:spPr>
          <a:xfrm>
            <a:off x="4429124" y="3929066"/>
            <a:ext cx="714380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5357818" y="3929066"/>
            <a:ext cx="26164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1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solidFill>
                  <a:srgbClr val="FF0000"/>
                </a:solidFill>
              </a:rPr>
              <a:t>3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solidFill>
                  <a:srgbClr val="FF0000"/>
                </a:solidFill>
              </a:rPr>
              <a:t>5</a:t>
            </a:r>
            <a:r>
              <a:rPr lang="zh-TW" altLang="en-US" sz="2800" dirty="0" smtClean="0"/>
              <a:t>∈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M </a:t>
            </a:r>
            <a:r>
              <a:rPr lang="en-US" altLang="zh-TW" sz="2800" dirty="0" smtClean="0"/>
              <a:t>(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) </a:t>
            </a:r>
            <a:endParaRPr lang="zh-TW" altLang="en-US" sz="28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80607" y="4972963"/>
            <a:ext cx="269496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800" dirty="0" smtClean="0"/>
              <a:t>’ (</a:t>
            </a:r>
            <a:r>
              <a:rPr lang="en-US" altLang="zh-TW" sz="2800" dirty="0" smtClean="0">
                <a:cs typeface="Times New Roman" pitchFamily="18" charset="0"/>
              </a:rPr>
              <a:t>7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) = {4, 6}</a:t>
            </a:r>
          </a:p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800" dirty="0" smtClean="0"/>
              <a:t>’’(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7</a:t>
            </a:r>
            <a:r>
              <a:rPr lang="en-US" altLang="zh-TW" sz="2800" dirty="0" smtClean="0"/>
              <a:t>) = {2, 8}</a:t>
            </a:r>
          </a:p>
          <a:p>
            <a:endParaRPr lang="zh-TW" altLang="en-US" sz="2800" dirty="0"/>
          </a:p>
        </p:txBody>
      </p:sp>
      <p:sp>
        <p:nvSpPr>
          <p:cNvPr id="12" name="向右箭號 11"/>
          <p:cNvSpPr/>
          <p:nvPr/>
        </p:nvSpPr>
        <p:spPr>
          <a:xfrm>
            <a:off x="3357554" y="5286388"/>
            <a:ext cx="714380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4214810" y="5143512"/>
            <a:ext cx="30604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2, 4, 6, 8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TW" altLang="en-US" sz="2800" dirty="0" smtClean="0"/>
              <a:t>∈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M </a:t>
            </a:r>
            <a:r>
              <a:rPr lang="en-US" altLang="zh-TW" sz="2800" dirty="0" smtClean="0"/>
              <a:t>(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) </a:t>
            </a:r>
            <a:endParaRPr lang="zh-TW" altLang="en-US" sz="2800" dirty="0"/>
          </a:p>
        </p:txBody>
      </p:sp>
      <p:cxnSp>
        <p:nvCxnSpPr>
          <p:cNvPr id="15" name="直線接點 14"/>
          <p:cNvCxnSpPr/>
          <p:nvPr/>
        </p:nvCxnSpPr>
        <p:spPr>
          <a:xfrm rot="5400000">
            <a:off x="4429124" y="5143512"/>
            <a:ext cx="714380" cy="4286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 rot="5400000">
            <a:off x="5072066" y="5214950"/>
            <a:ext cx="714380" cy="4286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4286248" y="6143644"/>
            <a:ext cx="38475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 smtClean="0"/>
              <a:t>∴ </a:t>
            </a:r>
            <a:r>
              <a:rPr lang="en-US" altLang="zh-TW" sz="2800" dirty="0" smtClean="0"/>
              <a:t>1, 2, 3, 5, 6</a:t>
            </a:r>
            <a:r>
              <a:rPr lang="zh-TW" altLang="en-US" sz="2800" dirty="0" smtClean="0"/>
              <a:t> ∈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M </a:t>
            </a:r>
            <a:r>
              <a:rPr lang="en-US" altLang="zh-TW" sz="2800" dirty="0" smtClean="0"/>
              <a:t>(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) </a:t>
            </a:r>
            <a:endParaRPr lang="zh-TW" altLang="en-US" sz="2800" dirty="0"/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928670"/>
            <a:ext cx="2714644" cy="25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字方塊 4"/>
          <p:cNvSpPr txBox="1"/>
          <p:nvPr/>
        </p:nvSpPr>
        <p:spPr>
          <a:xfrm>
            <a:off x="142844" y="214290"/>
            <a:ext cx="3162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in a 32-bit computer</a:t>
            </a:r>
            <a:endParaRPr lang="zh-TW" altLang="en-US" sz="28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571472" y="5643578"/>
            <a:ext cx="777328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The </a:t>
            </a:r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800" dirty="0" err="1" smtClean="0"/>
              <a:t>th</a:t>
            </a:r>
            <a:r>
              <a:rPr lang="en-US" altLang="zh-TW" sz="2800" dirty="0" smtClean="0"/>
              <a:t> bit of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sz="2800" dirty="0" smtClean="0"/>
              <a:t> is 1 if and only if the number of 1s in </a:t>
            </a:r>
          </a:p>
          <a:p>
            <a:r>
              <a:rPr lang="en-US" altLang="zh-TW" sz="2800" dirty="0" smtClean="0"/>
              <a:t>positions from 0 to </a:t>
            </a:r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800" dirty="0" smtClean="0"/>
              <a:t> in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sz="2800" dirty="0" smtClean="0"/>
              <a:t> is </a:t>
            </a:r>
            <a:r>
              <a:rPr lang="en-US" altLang="zh-TW" sz="2800" u="sng" dirty="0" smtClean="0"/>
              <a:t>odd</a:t>
            </a:r>
            <a:endParaRPr lang="zh-TW" altLang="en-US" sz="2800" u="sng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3000364" y="785794"/>
            <a:ext cx="2750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800" dirty="0" smtClean="0"/>
              <a:t>’ (</a:t>
            </a:r>
            <a:r>
              <a:rPr lang="en-US" altLang="zh-TW" sz="2800" dirty="0" smtClean="0">
                <a:cs typeface="Times New Roman" pitchFamily="18" charset="0"/>
              </a:rPr>
              <a:t>7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) = {4, 6}</a:t>
            </a:r>
          </a:p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800" dirty="0" smtClean="0"/>
              <a:t>’’(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7</a:t>
            </a:r>
            <a:r>
              <a:rPr lang="en-US" altLang="zh-TW" sz="2800" dirty="0" smtClean="0"/>
              <a:t>) = {2, 8}</a:t>
            </a:r>
          </a:p>
          <a:p>
            <a:endParaRPr lang="zh-TW" altLang="en-US" sz="28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5715008" y="1000108"/>
            <a:ext cx="31238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2, 4, 6, 8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TW" altLang="en-US" sz="2800" dirty="0" smtClean="0"/>
              <a:t>∈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M </a:t>
            </a:r>
            <a:r>
              <a:rPr lang="en-US" altLang="zh-TW" sz="2800" dirty="0" smtClean="0"/>
              <a:t>(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) </a:t>
            </a:r>
            <a:endParaRPr lang="zh-TW" altLang="en-US" sz="2800" dirty="0"/>
          </a:p>
        </p:txBody>
      </p:sp>
      <p:cxnSp>
        <p:nvCxnSpPr>
          <p:cNvPr id="17" name="直線接點 16"/>
          <p:cNvCxnSpPr/>
          <p:nvPr/>
        </p:nvCxnSpPr>
        <p:spPr>
          <a:xfrm rot="5400000">
            <a:off x="5929322" y="1000108"/>
            <a:ext cx="714380" cy="4286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 rot="5400000">
            <a:off x="6572264" y="1071546"/>
            <a:ext cx="714380" cy="4286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2928926" y="2000240"/>
            <a:ext cx="635798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x =</a:t>
            </a:r>
          </a:p>
          <a:p>
            <a:endParaRPr lang="en-US" altLang="zh-TW" sz="2800" dirty="0" smtClean="0"/>
          </a:p>
          <a:p>
            <a:r>
              <a:rPr lang="en-US" altLang="zh-TW" sz="2800" dirty="0" smtClean="0"/>
              <a:t>y = x ^ (x &lt;&lt; 1) = 111111100</a:t>
            </a:r>
          </a:p>
          <a:p>
            <a:r>
              <a:rPr lang="en-US" altLang="zh-TW" sz="2800" dirty="0" smtClean="0"/>
              <a:t>y = x ^ (x &lt;&lt; 2) = 000001100</a:t>
            </a:r>
          </a:p>
          <a:p>
            <a:r>
              <a:rPr lang="en-US" altLang="zh-TW" sz="2800" dirty="0" smtClean="0"/>
              <a:t>y = x ^ (x &lt;&lt; 4) = 011001100</a:t>
            </a:r>
          </a:p>
          <a:p>
            <a:endParaRPr lang="en-US" altLang="zh-TW" sz="2800" dirty="0" smtClean="0"/>
          </a:p>
          <a:p>
            <a:r>
              <a:rPr lang="en-US" altLang="zh-TW" sz="2800" dirty="0" smtClean="0"/>
              <a:t>y &amp; x =</a:t>
            </a:r>
            <a:endParaRPr lang="zh-TW" altLang="en-US" sz="2800" dirty="0"/>
          </a:p>
        </p:txBody>
      </p:sp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3500430" y="2000240"/>
          <a:ext cx="440532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480"/>
                <a:gridCol w="489480"/>
                <a:gridCol w="489480"/>
                <a:gridCol w="489480"/>
                <a:gridCol w="489480"/>
                <a:gridCol w="489480"/>
                <a:gridCol w="489480"/>
                <a:gridCol w="489480"/>
                <a:gridCol w="4894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4000496" y="4500570"/>
          <a:ext cx="440532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480"/>
                <a:gridCol w="489480"/>
                <a:gridCol w="489480"/>
                <a:gridCol w="489480"/>
                <a:gridCol w="489480"/>
                <a:gridCol w="489480"/>
                <a:gridCol w="489480"/>
                <a:gridCol w="489480"/>
                <a:gridCol w="4894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投影片編號版面配置區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4546" y="5119672"/>
            <a:ext cx="4714908" cy="1738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文字方塊 5"/>
          <p:cNvSpPr txBox="1"/>
          <p:nvPr/>
        </p:nvSpPr>
        <p:spPr>
          <a:xfrm>
            <a:off x="-71470" y="258055"/>
            <a:ext cx="55721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800" dirty="0" smtClean="0"/>
              <a:t>’(</a:t>
            </a:r>
            <a:r>
              <a:rPr lang="en-US" altLang="zh-TW" sz="2800" dirty="0" smtClean="0">
                <a:cs typeface="Times New Roman" pitchFamily="18" charset="0"/>
              </a:rPr>
              <a:t>7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) = {1, 3, 4, 5, 6}=&gt;W’        = </a:t>
            </a:r>
          </a:p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800" dirty="0" smtClean="0"/>
              <a:t>’’(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7</a:t>
            </a:r>
            <a:r>
              <a:rPr lang="en-US" altLang="zh-TW" sz="2800" dirty="0" smtClean="0"/>
              <a:t>) ={1, 2, 3, 5, 8}=&gt;W’’       =</a:t>
            </a:r>
          </a:p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TW" sz="2800" dirty="0" smtClean="0"/>
              <a:t>(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cs typeface="Times New Roman" pitchFamily="18" charset="0"/>
              </a:rPr>
              <a:t>8</a:t>
            </a:r>
            <a:r>
              <a:rPr lang="en-US" altLang="zh-TW" sz="2800" dirty="0" smtClean="0"/>
              <a:t>)   ={1, 2, 3, 5, 6}=&gt;W(8, 8)=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5500694" y="71414"/>
          <a:ext cx="3286152" cy="15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769"/>
                <a:gridCol w="410769"/>
                <a:gridCol w="410769"/>
                <a:gridCol w="410769"/>
                <a:gridCol w="410769"/>
                <a:gridCol w="410769"/>
                <a:gridCol w="410769"/>
                <a:gridCol w="410769"/>
              </a:tblGrid>
              <a:tr h="375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</a:tr>
              <a:tr h="375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</a:tr>
              <a:tr h="375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</a:tr>
              <a:tr h="375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/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714348" y="2071678"/>
            <a:ext cx="89297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U = W’|W’’  = 11101010</a:t>
            </a:r>
          </a:p>
          <a:p>
            <a:r>
              <a:rPr lang="en-US" altLang="zh-TW" sz="2800" dirty="0" smtClean="0"/>
              <a:t>W= W’^W’’  = 10101010     (2, 4, 6, 8)</a:t>
            </a:r>
          </a:p>
          <a:p>
            <a:r>
              <a:rPr lang="en-US" altLang="zh-TW" sz="2800" dirty="0" smtClean="0"/>
              <a:t>V = W            = 10101010</a:t>
            </a:r>
          </a:p>
          <a:p>
            <a:r>
              <a:rPr lang="en-US" altLang="zh-TW" sz="2800" dirty="0" smtClean="0"/>
              <a:t>V = V^(V&lt;&lt;1)=11111110</a:t>
            </a:r>
          </a:p>
          <a:p>
            <a:r>
              <a:rPr lang="en-US" altLang="zh-TW" sz="2800" dirty="0" smtClean="0"/>
              <a:t>V = V^(V&lt;&lt;2)=00000110</a:t>
            </a:r>
          </a:p>
          <a:p>
            <a:r>
              <a:rPr lang="en-US" altLang="zh-TW" sz="2800" dirty="0" smtClean="0"/>
              <a:t>V = V^(V&lt;&lt;4)=01100110</a:t>
            </a:r>
          </a:p>
          <a:p>
            <a:r>
              <a:rPr lang="en-US" altLang="zh-TW" sz="2800" dirty="0" smtClean="0"/>
              <a:t>W(8, 8) = ~(W &amp; V) &amp; U = 11001000 </a:t>
            </a:r>
          </a:p>
          <a:p>
            <a:endParaRPr lang="en-US" altLang="zh-TW" sz="2800" dirty="0" smtClean="0"/>
          </a:p>
        </p:txBody>
      </p:sp>
      <p:sp>
        <p:nvSpPr>
          <p:cNvPr id="13" name="投影片編號版面配置區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649399"/>
            <a:ext cx="7286676" cy="5208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文字方塊 5"/>
          <p:cNvSpPr txBox="1"/>
          <p:nvPr/>
        </p:nvSpPr>
        <p:spPr>
          <a:xfrm>
            <a:off x="1214414" y="500042"/>
            <a:ext cx="45866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sz="3200" dirty="0" smtClean="0"/>
              <a:t> = ABA,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3200" dirty="0" smtClean="0"/>
              <a:t> = DDA,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3200" dirty="0" smtClean="0"/>
              <a:t> = BAC</a:t>
            </a:r>
          </a:p>
          <a:p>
            <a:endParaRPr lang="zh-TW" altLang="en-US" sz="3200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Determining the result</a:t>
            </a:r>
            <a:endParaRPr lang="zh-TW" alt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071678"/>
            <a:ext cx="5072066" cy="24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43570" y="2000240"/>
            <a:ext cx="2786082" cy="3262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57298"/>
            <a:ext cx="9144000" cy="5500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Analysis of algorithm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5643570" y="5286388"/>
            <a:ext cx="2972289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3200" dirty="0" smtClean="0"/>
              <a:t>Θ</a:t>
            </a:r>
            <a:r>
              <a:rPr lang="en-US" sz="3200" dirty="0" smtClean="0"/>
              <a:t>(</a:t>
            </a:r>
            <a:r>
              <a:rPr lang="zh-TW" altLang="en-US" sz="3200" dirty="0" smtClean="0"/>
              <a:t>⌈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sz="3200" dirty="0" smtClean="0"/>
              <a:t>/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zh-TW" altLang="en-US" sz="3200" dirty="0" smtClean="0"/>
              <a:t>⌉</a:t>
            </a:r>
            <a:r>
              <a:rPr lang="en-US" altLang="zh-TW" sz="3200" i="1" dirty="0" err="1" smtClean="0">
                <a:latin typeface="Times New Roman" pitchFamily="18" charset="0"/>
                <a:cs typeface="Times New Roman" pitchFamily="18" charset="0"/>
              </a:rPr>
              <a:t>mn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3200" dirty="0" err="1" smtClean="0"/>
              <a:t>log</a:t>
            </a:r>
            <a:r>
              <a:rPr lang="en-US" altLang="zh-TW" sz="3200" i="1" dirty="0" err="1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zh-TW" sz="3200" dirty="0" smtClean="0"/>
              <a:t>)</a:t>
            </a:r>
            <a:endParaRPr lang="zh-TW" altLang="en-US" sz="3200" dirty="0" smtClean="0"/>
          </a:p>
          <a:p>
            <a:endParaRPr lang="zh-TW" altLang="en-US" sz="3200" dirty="0"/>
          </a:p>
        </p:txBody>
      </p:sp>
      <p:sp>
        <p:nvSpPr>
          <p:cNvPr id="6" name="矩形 5"/>
          <p:cNvSpPr/>
          <p:nvPr/>
        </p:nvSpPr>
        <p:spPr>
          <a:xfrm>
            <a:off x="6072198" y="6000768"/>
            <a:ext cx="248657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|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dirty="0" smtClean="0"/>
              <a:t>| =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dirty="0" smtClean="0"/>
              <a:t>, |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/>
              <a:t>| =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dirty="0" smtClean="0"/>
              <a:t>, |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/>
              <a:t>| =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m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w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: word size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BitPar-MergedLCS-seq</a:t>
            </a:r>
            <a:r>
              <a:rPr lang="en-US" altLang="zh-TW" dirty="0" smtClean="0"/>
              <a:t>(1/5)</a:t>
            </a:r>
            <a:endParaRPr lang="zh-TW" alt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43050"/>
            <a:ext cx="9144000" cy="52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BitPar-MergedLCS-seq</a:t>
            </a:r>
            <a:r>
              <a:rPr lang="en-US" altLang="zh-TW" dirty="0" smtClean="0"/>
              <a:t>(2/5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/>
              <a:t> = DD</a:t>
            </a:r>
            <a:r>
              <a:rPr lang="en-US" altLang="zh-TW" dirty="0" smtClean="0">
                <a:solidFill>
                  <a:srgbClr val="FF0000"/>
                </a:solidFill>
              </a:rPr>
              <a:t>A</a:t>
            </a:r>
            <a:r>
              <a:rPr lang="en-US" altLang="zh-TW" dirty="0" smtClean="0"/>
              <a:t> 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dirty="0" smtClean="0"/>
              <a:t> = ABA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/>
              <a:t> = BAC</a:t>
            </a:r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000496" y="2000240"/>
            <a:ext cx="193674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~w(3, 3) =</a:t>
            </a:r>
          </a:p>
          <a:p>
            <a:endParaRPr lang="en-US" altLang="zh-TW" sz="3200" dirty="0" smtClean="0"/>
          </a:p>
          <a:p>
            <a:r>
              <a:rPr lang="en-US" altLang="zh-TW" sz="3200" dirty="0" smtClean="0"/>
              <a:t>~w(2, 3) = </a:t>
            </a:r>
            <a:endParaRPr lang="zh-TW" altLang="en-US" sz="32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786446" y="1857364"/>
          <a:ext cx="2833684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8421"/>
                <a:gridCol w="708421"/>
                <a:gridCol w="708421"/>
                <a:gridCol w="708421"/>
              </a:tblGrid>
              <a:tr h="330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30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786446" y="2928934"/>
          <a:ext cx="2833684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8421"/>
                <a:gridCol w="708421"/>
                <a:gridCol w="708421"/>
                <a:gridCol w="708421"/>
              </a:tblGrid>
              <a:tr h="330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30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BitPar-MergedLCS-seq</a:t>
            </a:r>
            <a:r>
              <a:rPr lang="en-US" altLang="zh-TW" dirty="0" smtClean="0"/>
              <a:t>(3/5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/>
              <a:t> = DDA 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dirty="0" smtClean="0"/>
              <a:t> = ABA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/>
              <a:t> = BA</a:t>
            </a:r>
            <a:r>
              <a:rPr lang="en-US" altLang="zh-TW" dirty="0" smtClean="0">
                <a:solidFill>
                  <a:srgbClr val="FF0000"/>
                </a:solidFill>
              </a:rPr>
              <a:t>C</a:t>
            </a:r>
          </a:p>
          <a:p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4000496" y="2000240"/>
            <a:ext cx="193674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~w(3, 3) =</a:t>
            </a:r>
          </a:p>
          <a:p>
            <a:endParaRPr lang="en-US" altLang="zh-TW" sz="3200" dirty="0" smtClean="0"/>
          </a:p>
          <a:p>
            <a:r>
              <a:rPr lang="en-US" altLang="zh-TW" sz="3200" dirty="0" smtClean="0"/>
              <a:t>~w(3, 2) = </a:t>
            </a:r>
            <a:endParaRPr lang="zh-TW" altLang="en-US" sz="32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786446" y="1857364"/>
          <a:ext cx="2833684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8421"/>
                <a:gridCol w="708421"/>
                <a:gridCol w="708421"/>
                <a:gridCol w="708421"/>
              </a:tblGrid>
              <a:tr h="330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30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786446" y="2928934"/>
          <a:ext cx="2833684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8421"/>
                <a:gridCol w="708421"/>
                <a:gridCol w="708421"/>
                <a:gridCol w="708421"/>
              </a:tblGrid>
              <a:tr h="330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30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BitPar-MergedLCS-seq</a:t>
            </a:r>
            <a:r>
              <a:rPr lang="en-US" altLang="zh-TW" dirty="0" smtClean="0"/>
              <a:t>(4/5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/>
              <a:t> = DD</a:t>
            </a:r>
            <a:r>
              <a:rPr lang="en-US" altLang="zh-TW" dirty="0" smtClean="0">
                <a:solidFill>
                  <a:srgbClr val="FF0000"/>
                </a:solidFill>
              </a:rPr>
              <a:t>A</a:t>
            </a:r>
            <a:r>
              <a:rPr lang="en-US" altLang="zh-TW" dirty="0" smtClean="0"/>
              <a:t> 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dirty="0" smtClean="0"/>
              <a:t> = ABA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/>
              <a:t> = BA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4000496" y="2000240"/>
            <a:ext cx="193674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~w(3, 2) =</a:t>
            </a:r>
          </a:p>
          <a:p>
            <a:endParaRPr lang="en-US" altLang="zh-TW" sz="3200" dirty="0" smtClean="0"/>
          </a:p>
          <a:p>
            <a:r>
              <a:rPr lang="en-US" altLang="zh-TW" sz="3200" dirty="0" smtClean="0"/>
              <a:t>~w(2, 2) = </a:t>
            </a:r>
            <a:endParaRPr lang="zh-TW" altLang="en-US" sz="32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786446" y="1857364"/>
          <a:ext cx="2833684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8421"/>
                <a:gridCol w="708421"/>
                <a:gridCol w="708421"/>
                <a:gridCol w="708421"/>
              </a:tblGrid>
              <a:tr h="330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30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786446" y="2928934"/>
          <a:ext cx="2833684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8421"/>
                <a:gridCol w="708421"/>
                <a:gridCol w="708421"/>
                <a:gridCol w="708421"/>
              </a:tblGrid>
              <a:tr h="330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30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BitPar-MergedLCS-seq</a:t>
            </a:r>
            <a:r>
              <a:rPr lang="en-US" altLang="zh-TW" dirty="0" smtClean="0"/>
              <a:t>(5/5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/>
              <a:t> = DDA 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dirty="0" smtClean="0"/>
              <a:t> = ABA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/>
              <a:t> = B</a:t>
            </a:r>
            <a:r>
              <a:rPr lang="en-US" altLang="zh-TW" dirty="0" smtClean="0">
                <a:solidFill>
                  <a:srgbClr val="FF0000"/>
                </a:solidFill>
              </a:rPr>
              <a:t>A</a:t>
            </a:r>
          </a:p>
          <a:p>
            <a:endParaRPr lang="en-US" altLang="zh-TW" dirty="0" smtClean="0"/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/>
              <a:t> = DD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dirty="0" smtClean="0"/>
              <a:t> = AB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/>
              <a:t> = BA</a:t>
            </a:r>
          </a:p>
          <a:p>
            <a:pPr>
              <a:buNone/>
            </a:pPr>
            <a:r>
              <a:rPr lang="en-US" altLang="zh-TW" dirty="0" err="1" smtClean="0"/>
              <a:t>output:A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4000496" y="2000240"/>
            <a:ext cx="193674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~w(3, 2) =</a:t>
            </a:r>
          </a:p>
          <a:p>
            <a:endParaRPr lang="en-US" altLang="zh-TW" sz="3200" dirty="0" smtClean="0"/>
          </a:p>
          <a:p>
            <a:r>
              <a:rPr lang="en-US" altLang="zh-TW" sz="3200" dirty="0" smtClean="0"/>
              <a:t>~w(3, 1) = </a:t>
            </a:r>
            <a:endParaRPr lang="zh-TW" altLang="en-US" sz="32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786446" y="1857364"/>
          <a:ext cx="2833684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8421"/>
                <a:gridCol w="708421"/>
                <a:gridCol w="708421"/>
                <a:gridCol w="708421"/>
              </a:tblGrid>
              <a:tr h="330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30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786446" y="2928934"/>
          <a:ext cx="2833684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8421"/>
                <a:gridCol w="708421"/>
                <a:gridCol w="708421"/>
                <a:gridCol w="708421"/>
              </a:tblGrid>
              <a:tr h="330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30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向右箭號 7"/>
          <p:cNvSpPr/>
          <p:nvPr/>
        </p:nvSpPr>
        <p:spPr>
          <a:xfrm>
            <a:off x="0" y="4500570"/>
            <a:ext cx="500034" cy="5715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Experimental Results(1/7)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43050"/>
            <a:ext cx="9144000" cy="52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6000760" y="2857496"/>
            <a:ext cx="2972289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3200" dirty="0" smtClean="0"/>
              <a:t>Θ</a:t>
            </a:r>
            <a:r>
              <a:rPr lang="en-US" sz="3200" dirty="0" smtClean="0"/>
              <a:t>(</a:t>
            </a:r>
            <a:r>
              <a:rPr lang="zh-TW" altLang="en-US" sz="3200" dirty="0" smtClean="0"/>
              <a:t>⌈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sz="3200" dirty="0" smtClean="0"/>
              <a:t>/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zh-TW" altLang="en-US" sz="3200" dirty="0" smtClean="0"/>
              <a:t>⌉</a:t>
            </a:r>
            <a:r>
              <a:rPr lang="en-US" altLang="zh-TW" sz="3200" i="1" dirty="0" err="1" smtClean="0">
                <a:latin typeface="Times New Roman" pitchFamily="18" charset="0"/>
                <a:cs typeface="Times New Roman" pitchFamily="18" charset="0"/>
              </a:rPr>
              <a:t>mn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3200" dirty="0" err="1" smtClean="0"/>
              <a:t>log</a:t>
            </a:r>
            <a:r>
              <a:rPr lang="en-US" altLang="zh-TW" sz="3200" i="1" dirty="0" err="1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zh-TW" sz="3200" dirty="0" smtClean="0"/>
              <a:t>)</a:t>
            </a:r>
            <a:endParaRPr lang="zh-TW" altLang="en-US" sz="3200" dirty="0" smtClean="0"/>
          </a:p>
          <a:p>
            <a:endParaRPr lang="zh-TW" altLang="en-US" sz="3200" dirty="0"/>
          </a:p>
        </p:txBody>
      </p:sp>
      <p:sp>
        <p:nvSpPr>
          <p:cNvPr id="6" name="矩形 5"/>
          <p:cNvSpPr/>
          <p:nvPr/>
        </p:nvSpPr>
        <p:spPr>
          <a:xfrm>
            <a:off x="6429388" y="3571876"/>
            <a:ext cx="248657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|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dirty="0" smtClean="0"/>
              <a:t>| =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dirty="0" smtClean="0"/>
              <a:t>, |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/>
              <a:t>| =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dirty="0" smtClean="0"/>
              <a:t>, |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/>
              <a:t>| =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m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w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: word size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Experimental Results(2/7)</a:t>
            </a:r>
            <a:endParaRPr lang="zh-TW" alt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071678"/>
            <a:ext cx="8215370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Experimental Results(3/7)</a:t>
            </a:r>
            <a:endParaRPr lang="zh-TW" alt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071546"/>
            <a:ext cx="6143669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字方塊 4"/>
          <p:cNvSpPr txBox="1"/>
          <p:nvPr/>
        </p:nvSpPr>
        <p:spPr>
          <a:xfrm>
            <a:off x="928662" y="4826675"/>
            <a:ext cx="811927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H08</a:t>
            </a:r>
            <a:r>
              <a:rPr lang="en-US" altLang="zh-TW" dirty="0" smtClean="0"/>
              <a:t>: K.-S. Huang, C.-B. Yang, K.-T. Tseng, H.-Y. Ann, and Y.-H. </a:t>
            </a:r>
            <a:r>
              <a:rPr lang="en-US" altLang="zh-TW" dirty="0" err="1" smtClean="0"/>
              <a:t>Peng</a:t>
            </a:r>
            <a:r>
              <a:rPr lang="en-US" altLang="zh-TW" dirty="0" smtClean="0"/>
              <a:t>. Efficient algorithm</a:t>
            </a:r>
          </a:p>
          <a:p>
            <a:r>
              <a:rPr lang="en-US" altLang="zh-TW" dirty="0" smtClean="0"/>
              <a:t>for finding interleaving relationship between sequences. Information Processing</a:t>
            </a:r>
          </a:p>
          <a:p>
            <a:r>
              <a:rPr lang="en-US" altLang="zh-TW" dirty="0" smtClean="0"/>
              <a:t>Letters, 105(5):188–193, 2008.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P10</a:t>
            </a:r>
            <a:r>
              <a:rPr lang="en-US" altLang="zh-TW" dirty="0" smtClean="0"/>
              <a:t> : Y.-H. </a:t>
            </a:r>
            <a:r>
              <a:rPr lang="en-US" altLang="zh-TW" dirty="0" err="1" smtClean="0"/>
              <a:t>Peng</a:t>
            </a:r>
            <a:r>
              <a:rPr lang="en-US" altLang="zh-TW" dirty="0" smtClean="0"/>
              <a:t>, C.-B. Yang, K.-S. Huang, C.-T. Tseng, and C.-Y. Hor. Efficient sparse</a:t>
            </a:r>
          </a:p>
          <a:p>
            <a:r>
              <a:rPr lang="en-US" altLang="zh-TW" dirty="0" smtClean="0"/>
              <a:t>dynamic programming for the merged </a:t>
            </a:r>
            <a:r>
              <a:rPr lang="en-US" altLang="zh-TW" dirty="0" err="1" smtClean="0"/>
              <a:t>lcs</a:t>
            </a:r>
            <a:r>
              <a:rPr lang="en-US" altLang="zh-TW" dirty="0" smtClean="0"/>
              <a:t> problem with block constraints. </a:t>
            </a:r>
            <a:r>
              <a:rPr lang="en-US" altLang="zh-TW" dirty="0" err="1" smtClean="0"/>
              <a:t>Interna</a:t>
            </a:r>
            <a:r>
              <a:rPr lang="en-US" altLang="zh-TW" dirty="0" smtClean="0"/>
              <a:t>-</a:t>
            </a:r>
          </a:p>
          <a:p>
            <a:r>
              <a:rPr lang="en-US" altLang="zh-TW" dirty="0" err="1" smtClean="0"/>
              <a:t>tional</a:t>
            </a:r>
            <a:r>
              <a:rPr lang="en-US" altLang="zh-TW" dirty="0" smtClean="0"/>
              <a:t> Journal of Innovative Computing, Information and Control, 6(4):1935–1947,</a:t>
            </a:r>
          </a:p>
          <a:p>
            <a:r>
              <a:rPr lang="en-US" altLang="zh-TW" dirty="0" smtClean="0"/>
              <a:t>2010.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Experimental Results(4/7)</a:t>
            </a:r>
            <a:endParaRPr lang="zh-TW" altLang="en-US" dirty="0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2000240"/>
            <a:ext cx="7424753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500002" y="6000768"/>
            <a:ext cx="86439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 smtClean="0"/>
              <a:t>Each experiment was repeated 201 times to get median values.</a:t>
            </a:r>
            <a:endParaRPr lang="zh-TW" altLang="en-US" sz="2400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3999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algn="ctr">
              <a:buNone/>
            </a:pPr>
            <a:r>
              <a:rPr lang="en-US" altLang="zh-TW" dirty="0" smtClean="0"/>
              <a:t>Thanks for listening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1903</TotalTime>
  <Words>1773</Words>
  <PresentationFormat>如螢幕大小 (4:3)</PresentationFormat>
  <Paragraphs>367</Paragraphs>
  <Slides>40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40</vt:i4>
      </vt:variant>
    </vt:vector>
  </HeadingPairs>
  <TitlesOfParts>
    <vt:vector size="41" baseType="lpstr">
      <vt:lpstr>Office 佈景主題</vt:lpstr>
      <vt:lpstr>Bit-Parallel Algorithms for the Merged Longest Common Subsequence Problem</vt:lpstr>
      <vt:lpstr>Abstract</vt:lpstr>
      <vt:lpstr>MergedLCS(1/5)</vt:lpstr>
      <vt:lpstr>MergedLCS(2/5)</vt:lpstr>
      <vt:lpstr>MergedLCS(3/5)</vt:lpstr>
      <vt:lpstr>MergedLCS(4/5)</vt:lpstr>
      <vt:lpstr>MergedLCS(5/5)</vt:lpstr>
      <vt:lpstr>Bit-Parallel Algorithm</vt:lpstr>
      <vt:lpstr>M( j, k)</vt:lpstr>
      <vt:lpstr>M’( j, k) and M’’( j, k)</vt:lpstr>
      <vt:lpstr>W( j, k)</vt:lpstr>
      <vt:lpstr>Algorithm</vt:lpstr>
      <vt:lpstr>Improved Formula</vt:lpstr>
      <vt:lpstr>Initialisation</vt:lpstr>
      <vt:lpstr>投影片 15</vt:lpstr>
      <vt:lpstr>W’(j – 1, k) and W’’(j, k - 1)</vt:lpstr>
      <vt:lpstr>W’(j – 1, k) and W’’(j, k - 1)</vt:lpstr>
      <vt:lpstr>W’(j – 1, k) and W’’(j, k - 1)</vt:lpstr>
      <vt:lpstr>W(j, k)</vt:lpstr>
      <vt:lpstr>W(j, k)</vt:lpstr>
      <vt:lpstr>W(j, k)</vt:lpstr>
      <vt:lpstr>W(j, k)</vt:lpstr>
      <vt:lpstr>投影片 23</vt:lpstr>
      <vt:lpstr>投影片 24</vt:lpstr>
      <vt:lpstr>投影片 25</vt:lpstr>
      <vt:lpstr>Determining the result</vt:lpstr>
      <vt:lpstr>Analysis of algorithm</vt:lpstr>
      <vt:lpstr>BitPar-MergedLCS-seq(1/5)</vt:lpstr>
      <vt:lpstr>BitPar-MergedLCS-seq(2/5)</vt:lpstr>
      <vt:lpstr>BitPar-MergedLCS-seq(3/5)</vt:lpstr>
      <vt:lpstr>BitPar-MergedLCS-seq(4/5)</vt:lpstr>
      <vt:lpstr>BitPar-MergedLCS-seq(5/5)</vt:lpstr>
      <vt:lpstr>Experimental Results(1/7)</vt:lpstr>
      <vt:lpstr>Experimental Results(2/7)</vt:lpstr>
      <vt:lpstr>Experimental Results(3/7)</vt:lpstr>
      <vt:lpstr>Experimental Results(4/7)</vt:lpstr>
      <vt:lpstr>投影片 37</vt:lpstr>
      <vt:lpstr>投影片 38</vt:lpstr>
      <vt:lpstr>投影片 39</vt:lpstr>
      <vt:lpstr>投影片 40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Bit-Parallel Algorithms for the Merged Longest Common Subsequence Problem</dc:title>
  <cp:lastModifiedBy>user</cp:lastModifiedBy>
  <cp:revision>112</cp:revision>
  <dcterms:modified xsi:type="dcterms:W3CDTF">2014-08-26T10:03:47Z</dcterms:modified>
</cp:coreProperties>
</file>