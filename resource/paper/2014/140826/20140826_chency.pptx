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9" r:id="rId3"/>
    <p:sldId id="257" r:id="rId4"/>
    <p:sldId id="260" r:id="rId5"/>
    <p:sldId id="262" r:id="rId6"/>
    <p:sldId id="261" r:id="rId7"/>
    <p:sldId id="263" r:id="rId8"/>
    <p:sldId id="272" r:id="rId9"/>
    <p:sldId id="277" r:id="rId10"/>
    <p:sldId id="264" r:id="rId11"/>
    <p:sldId id="266" r:id="rId12"/>
    <p:sldId id="267" r:id="rId13"/>
    <p:sldId id="273" r:id="rId14"/>
    <p:sldId id="279" r:id="rId15"/>
    <p:sldId id="281" r:id="rId16"/>
    <p:sldId id="278" r:id="rId17"/>
    <p:sldId id="275" r:id="rId18"/>
    <p:sldId id="276" r:id="rId19"/>
    <p:sldId id="274" r:id="rId20"/>
    <p:sldId id="269" r:id="rId21"/>
    <p:sldId id="270" r:id="rId22"/>
    <p:sldId id="271" r:id="rId23"/>
  </p:sldIdLst>
  <p:sldSz cx="9144000" cy="6858000" type="screen4x3"/>
  <p:notesSz cx="9947275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D4D85-8956-4685-BA5F-509ADA39D460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265A-09C9-4B1F-B437-6207FF0D2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202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B63FA-B0AB-4A1D-A566-7A2CDCA5D5F9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430588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D86CE-B8AA-4ECA-9256-6719F460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866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長度一的通常會有</a:t>
            </a:r>
            <a:r>
              <a:rPr lang="en-US" altLang="zh-TW" dirty="0" smtClean="0"/>
              <a:t>n</a:t>
            </a:r>
            <a:r>
              <a:rPr lang="zh-TW" altLang="en-US" dirty="0" smtClean="0"/>
              <a:t>個，長度</a:t>
            </a:r>
            <a:r>
              <a:rPr lang="en-US" altLang="zh-TW" dirty="0" smtClean="0"/>
              <a:t>n</a:t>
            </a:r>
            <a:r>
              <a:rPr lang="zh-TW" altLang="en-US" dirty="0" smtClean="0"/>
              <a:t>的通常會有</a:t>
            </a:r>
            <a:r>
              <a:rPr lang="en-US" altLang="zh-TW" dirty="0" smtClean="0"/>
              <a:t>1</a:t>
            </a:r>
            <a:r>
              <a:rPr lang="zh-TW" altLang="en-US" dirty="0" smtClean="0"/>
              <a:t>個，所以不討論。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299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因為出現在</a:t>
            </a:r>
            <a:r>
              <a:rPr lang="en-US" altLang="zh-TW" dirty="0" smtClean="0"/>
              <a:t>S_1</a:t>
            </a:r>
            <a:r>
              <a:rPr lang="zh-TW" altLang="en-US" dirty="0" smtClean="0"/>
              <a:t>的不一定會出現在</a:t>
            </a:r>
            <a:r>
              <a:rPr lang="en-US" altLang="zh-TW" dirty="0" smtClean="0"/>
              <a:t>S_2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556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mtClean="0"/>
              <a:t>Ignore Length 1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3257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mtClean="0"/>
              <a:t>因為基因會複製也會搞丟，所以出現了多種的基因組定義。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686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86CE-B8AA-4ECA-9256-6719F46098B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8813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0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7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191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94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28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5725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56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5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213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08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860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C2EE19-D411-4139-966F-E5A6CCF65278}" type="datetimeFigureOut">
              <a:rPr lang="zh-TW" altLang="en-US" smtClean="0"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4D1721-3D9E-4096-AFC9-26FAFDD841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1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Efficient  Algorithm for Common </a:t>
            </a:r>
            <a:r>
              <a:rPr lang="en-US" altLang="zh-TW" dirty="0"/>
              <a:t>Combination</a:t>
            </a:r>
            <a:r>
              <a:rPr lang="en-US" altLang="zh-TW" dirty="0" smtClean="0"/>
              <a:t> Interval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Student: </a:t>
            </a:r>
            <a:r>
              <a:rPr lang="en-US" altLang="zh-TW" dirty="0" err="1" smtClean="0"/>
              <a:t>Cing</a:t>
            </a:r>
            <a:r>
              <a:rPr lang="en-US" altLang="zh-TW" dirty="0" smtClean="0"/>
              <a:t>-Yao Chen</a:t>
            </a:r>
            <a:r>
              <a:rPr lang="zh-TW" altLang="en-US" dirty="0" smtClean="0"/>
              <a:t>（陳慶耀）</a:t>
            </a:r>
            <a:endParaRPr lang="en-US" altLang="zh-TW" dirty="0" smtClean="0"/>
          </a:p>
          <a:p>
            <a:r>
              <a:rPr lang="en-US" altLang="zh-TW" dirty="0" err="1" smtClean="0"/>
              <a:t>Advisior</a:t>
            </a:r>
            <a:r>
              <a:rPr lang="en-US" altLang="zh-TW" dirty="0" smtClean="0"/>
              <a:t>: Chang-</a:t>
            </a:r>
            <a:r>
              <a:rPr lang="en-US" altLang="zh-TW" dirty="0" err="1" smtClean="0"/>
              <a:t>Biau</a:t>
            </a:r>
            <a:r>
              <a:rPr lang="en-US" altLang="zh-TW" dirty="0" smtClean="0"/>
              <a:t> Yang</a:t>
            </a:r>
            <a:r>
              <a:rPr lang="zh-TW" altLang="en-US" dirty="0" smtClean="0"/>
              <a:t>（楊昌彪）</a:t>
            </a:r>
            <a:endParaRPr lang="en-US" altLang="zh-TW" dirty="0" smtClean="0"/>
          </a:p>
          <a:p>
            <a:r>
              <a:rPr lang="en-US" altLang="zh-TW" dirty="0" smtClean="0"/>
              <a:t>Date: </a:t>
            </a:r>
            <a:r>
              <a:rPr lang="en-US" altLang="zh-TW" dirty="0" smtClean="0"/>
              <a:t>AUG. 26,2014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895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altLang="zh-TW" sz="2000" dirty="0" smtClean="0"/>
              <a:t>Introduction</a:t>
            </a:r>
          </a:p>
          <a:p>
            <a:pPr lvl="2"/>
            <a:r>
              <a:rPr lang="en-US" altLang="zh-TW" sz="1200" dirty="0" smtClean="0"/>
              <a:t>Common Interval of Two Permutations</a:t>
            </a:r>
          </a:p>
          <a:p>
            <a:pPr lvl="2"/>
            <a:r>
              <a:rPr lang="en-US" altLang="zh-TW" sz="1200" dirty="0" smtClean="0"/>
              <a:t>Common Interval of K Permutations</a:t>
            </a:r>
          </a:p>
          <a:p>
            <a:pPr lvl="2"/>
            <a:r>
              <a:rPr lang="en-US" altLang="zh-TW" sz="1200" dirty="0" smtClean="0"/>
              <a:t>Common Interval of Two Sequences</a:t>
            </a:r>
          </a:p>
          <a:p>
            <a:pPr lvl="2"/>
            <a:r>
              <a:rPr lang="en-US" altLang="zh-TW" sz="1200" dirty="0" smtClean="0"/>
              <a:t>Common Interval of K Sequences</a:t>
            </a:r>
          </a:p>
          <a:p>
            <a:pPr lvl="2"/>
            <a:r>
              <a:rPr lang="en-US" altLang="zh-TW" sz="1200" dirty="0"/>
              <a:t>Common </a:t>
            </a:r>
            <a:r>
              <a:rPr lang="en-US" altLang="zh-TW" sz="1200" dirty="0" smtClean="0"/>
              <a:t>Combination Interval</a:t>
            </a:r>
          </a:p>
          <a:p>
            <a:pPr lvl="1"/>
            <a:r>
              <a:rPr lang="en-US" altLang="zh-TW" sz="2000" dirty="0" smtClean="0"/>
              <a:t>Movement</a:t>
            </a:r>
          </a:p>
          <a:p>
            <a:pPr lvl="1"/>
            <a:r>
              <a:rPr lang="en-US" altLang="zh-TW" sz="2000" dirty="0" smtClean="0"/>
              <a:t>Our Methods For Common </a:t>
            </a:r>
            <a:r>
              <a:rPr lang="en-US" altLang="zh-TW" sz="2000" dirty="0"/>
              <a:t>Combination </a:t>
            </a:r>
            <a:r>
              <a:rPr lang="en-US" altLang="zh-TW" sz="2000" dirty="0" smtClean="0"/>
              <a:t>Interval Problem</a:t>
            </a:r>
          </a:p>
          <a:p>
            <a:pPr lvl="2"/>
            <a:r>
              <a:rPr lang="en-US" altLang="zh-TW" sz="1200" dirty="0" smtClean="0"/>
              <a:t>Method I</a:t>
            </a:r>
          </a:p>
          <a:p>
            <a:pPr lvl="2"/>
            <a:r>
              <a:rPr lang="en-US" altLang="zh-TW" sz="1200" dirty="0" smtClean="0"/>
              <a:t>Method </a:t>
            </a:r>
            <a:r>
              <a:rPr lang="en-US" altLang="zh-TW" sz="1200" dirty="0"/>
              <a:t>II</a:t>
            </a:r>
          </a:p>
          <a:p>
            <a:pPr lvl="2"/>
            <a:r>
              <a:rPr lang="en-US" altLang="zh-TW" sz="1200" dirty="0"/>
              <a:t>Method </a:t>
            </a:r>
            <a:r>
              <a:rPr lang="en-US" altLang="zh-TW" sz="1200" dirty="0" smtClean="0"/>
              <a:t>III</a:t>
            </a:r>
            <a:endParaRPr lang="en-US" altLang="zh-TW" sz="1200" dirty="0"/>
          </a:p>
          <a:p>
            <a:pPr lvl="2"/>
            <a:r>
              <a:rPr lang="en-US" altLang="zh-TW" sz="1200" dirty="0"/>
              <a:t>Method </a:t>
            </a:r>
            <a:r>
              <a:rPr lang="en-US" altLang="zh-TW" sz="1200" dirty="0" smtClean="0"/>
              <a:t>IV</a:t>
            </a:r>
          </a:p>
          <a:p>
            <a:pPr lvl="1"/>
            <a:r>
              <a:rPr lang="en-US" altLang="zh-TW" sz="2000" dirty="0" smtClean="0"/>
              <a:t>Conclusion</a:t>
            </a:r>
            <a:r>
              <a:rPr lang="en-US" altLang="zh-TW" sz="3200" dirty="0" smtClean="0"/>
              <a:t>	</a:t>
            </a:r>
          </a:p>
          <a:p>
            <a:pPr lvl="1"/>
            <a:r>
              <a:rPr lang="en-US" altLang="zh-TW" sz="2000" dirty="0" smtClean="0"/>
              <a:t>Future </a:t>
            </a:r>
            <a:r>
              <a:rPr lang="en-US" altLang="zh-TW" sz="2000" dirty="0" smtClean="0"/>
              <a:t>W</a:t>
            </a:r>
            <a:r>
              <a:rPr lang="en-US" altLang="zh-TW" dirty="0" smtClean="0"/>
              <a:t>ork</a:t>
            </a:r>
            <a:endParaRPr lang="en-US" altLang="zh-TW" sz="1400" dirty="0" smtClean="0"/>
          </a:p>
        </p:txBody>
      </p:sp>
    </p:spTree>
    <p:extLst>
      <p:ext uri="{BB962C8B-B14F-4D97-AF65-F5344CB8AC3E}">
        <p14:creationId xmlns:p14="http://schemas.microsoft.com/office/powerpoint/2010/main" val="45143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 of Two Permutations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dirty="0" smtClean="0"/>
              <a:t>Interval: </a:t>
            </a:r>
            <a:r>
              <a:rPr lang="en-US" altLang="zh-TW" dirty="0" err="1" smtClean="0"/>
              <a:t>db</a:t>
            </a:r>
            <a:r>
              <a:rPr lang="en-US" altLang="zh-TW" dirty="0" err="1" smtClean="0">
                <a:solidFill>
                  <a:srgbClr val="FF0000"/>
                </a:solidFill>
              </a:rPr>
              <a:t>ca</a:t>
            </a:r>
            <a:r>
              <a:rPr lang="en-US" altLang="zh-TW" dirty="0" err="1"/>
              <a:t>g</a:t>
            </a:r>
            <a:r>
              <a:rPr lang="en-US" altLang="zh-TW" dirty="0" err="1" smtClean="0"/>
              <a:t>fe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 {</a:t>
            </a:r>
            <a:r>
              <a:rPr lang="en-US" altLang="zh-TW" dirty="0" err="1" smtClean="0">
                <a:sym typeface="Wingdings" panose="05000000000000000000" pitchFamily="2" charset="2"/>
              </a:rPr>
              <a:t>a,c</a:t>
            </a:r>
            <a:r>
              <a:rPr lang="en-US" altLang="zh-TW" dirty="0" smtClean="0">
                <a:sym typeface="Wingdings" panose="05000000000000000000" pitchFamily="2" charset="2"/>
              </a:rPr>
              <a:t>}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dirty="0" smtClean="0">
                <a:sym typeface="Wingdings" panose="05000000000000000000" pitchFamily="2" charset="2"/>
              </a:rPr>
              <a:t>Common Interval: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smtClean="0">
                <a:sym typeface="Wingdings" panose="05000000000000000000" pitchFamily="2" charset="2"/>
              </a:rPr>
              <a:t>P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1</a:t>
            </a:r>
            <a:r>
              <a:rPr lang="en-US" altLang="zh-TW" dirty="0" smtClean="0">
                <a:sym typeface="Wingdings" panose="05000000000000000000" pitchFamily="2" charset="2"/>
              </a:rPr>
              <a:t> : </a:t>
            </a:r>
            <a:r>
              <a:rPr lang="en-US" altLang="zh-TW" dirty="0" err="1" smtClean="0">
                <a:sym typeface="Wingdings" panose="05000000000000000000" pitchFamily="2" charset="2"/>
              </a:rPr>
              <a:t>abcdefghij</a:t>
            </a:r>
            <a:r>
              <a:rPr lang="en-US" altLang="zh-TW" dirty="0" smtClean="0">
                <a:sym typeface="Wingdings" panose="05000000000000000000" pitchFamily="2" charset="2"/>
              </a:rPr>
              <a:t> P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2</a:t>
            </a:r>
            <a:r>
              <a:rPr lang="en-US" altLang="zh-TW" dirty="0" smtClean="0">
                <a:sym typeface="Wingdings" panose="05000000000000000000" pitchFamily="2" charset="2"/>
              </a:rPr>
              <a:t> : </a:t>
            </a:r>
            <a:r>
              <a:rPr lang="en-US" altLang="zh-TW" dirty="0" err="1" smtClean="0">
                <a:sym typeface="Wingdings" panose="05000000000000000000" pitchFamily="2" charset="2"/>
              </a:rPr>
              <a:t>efghaibcdj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smtClean="0">
                <a:sym typeface="Wingdings" panose="05000000000000000000" pitchFamily="2" charset="2"/>
              </a:rPr>
              <a:t>Common Interval:[1, 9], </a:t>
            </a:r>
            <a:r>
              <a:rPr lang="en-US" altLang="zh-TW" dirty="0"/>
              <a:t>[2, 3], [2, 4], [3, 4], [5, 6], [5, 7], [5, 8], [6, 7], [7, 8]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TW" dirty="0" smtClean="0"/>
          </a:p>
        </p:txBody>
      </p:sp>
      <p:sp>
        <p:nvSpPr>
          <p:cNvPr id="4" name="橢圓 3"/>
          <p:cNvSpPr/>
          <p:nvPr/>
        </p:nvSpPr>
        <p:spPr>
          <a:xfrm>
            <a:off x="149860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210284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70708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31132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391556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13" name="橢圓 12"/>
          <p:cNvSpPr/>
          <p:nvPr/>
        </p:nvSpPr>
        <p:spPr>
          <a:xfrm>
            <a:off x="451980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14" name="橢圓 13"/>
          <p:cNvSpPr/>
          <p:nvPr/>
        </p:nvSpPr>
        <p:spPr>
          <a:xfrm>
            <a:off x="512404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572828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16" name="橢圓 15"/>
          <p:cNvSpPr/>
          <p:nvPr/>
        </p:nvSpPr>
        <p:spPr>
          <a:xfrm>
            <a:off x="633252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17" name="橢圓 16"/>
          <p:cNvSpPr/>
          <p:nvPr/>
        </p:nvSpPr>
        <p:spPr>
          <a:xfrm>
            <a:off x="6936756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sp>
        <p:nvSpPr>
          <p:cNvPr id="18" name="橢圓 17"/>
          <p:cNvSpPr/>
          <p:nvPr/>
        </p:nvSpPr>
        <p:spPr>
          <a:xfrm>
            <a:off x="391556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9" name="橢圓 18"/>
          <p:cNvSpPr/>
          <p:nvPr/>
        </p:nvSpPr>
        <p:spPr>
          <a:xfrm>
            <a:off x="5124040" y="498139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橢圓 19"/>
          <p:cNvSpPr/>
          <p:nvPr/>
        </p:nvSpPr>
        <p:spPr>
          <a:xfrm>
            <a:off x="5728280" y="498139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21" name="橢圓 20"/>
          <p:cNvSpPr/>
          <p:nvPr/>
        </p:nvSpPr>
        <p:spPr>
          <a:xfrm>
            <a:off x="6332520" y="498139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22" name="橢圓 21"/>
          <p:cNvSpPr/>
          <p:nvPr/>
        </p:nvSpPr>
        <p:spPr>
          <a:xfrm>
            <a:off x="149860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23" name="橢圓 22"/>
          <p:cNvSpPr/>
          <p:nvPr/>
        </p:nvSpPr>
        <p:spPr>
          <a:xfrm>
            <a:off x="210284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24" name="橢圓 23"/>
          <p:cNvSpPr/>
          <p:nvPr/>
        </p:nvSpPr>
        <p:spPr>
          <a:xfrm>
            <a:off x="270708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25" name="橢圓 24"/>
          <p:cNvSpPr/>
          <p:nvPr/>
        </p:nvSpPr>
        <p:spPr>
          <a:xfrm>
            <a:off x="331132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26" name="橢圓 25"/>
          <p:cNvSpPr/>
          <p:nvPr/>
        </p:nvSpPr>
        <p:spPr>
          <a:xfrm>
            <a:off x="4519800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27" name="橢圓 26"/>
          <p:cNvSpPr/>
          <p:nvPr/>
        </p:nvSpPr>
        <p:spPr>
          <a:xfrm>
            <a:off x="6936756" y="496509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1498600" y="4038600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1498600" y="5567922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2102836" y="4230794"/>
            <a:ext cx="997944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5124036" y="5733022"/>
            <a:ext cx="997944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2102836" y="4383194"/>
            <a:ext cx="1602184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5124036" y="5874416"/>
            <a:ext cx="1602184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2741796" y="4560994"/>
            <a:ext cx="997944" cy="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5728280" y="6050522"/>
            <a:ext cx="997944" cy="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3907808" y="4230794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1498600" y="5709316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3915556" y="4383194"/>
            <a:ext cx="1602184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1498596" y="5874416"/>
            <a:ext cx="1602184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915556" y="4551682"/>
            <a:ext cx="2206424" cy="9312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498596" y="6029353"/>
            <a:ext cx="2206424" cy="9312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519800" y="4726094"/>
            <a:ext cx="997944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2102836" y="6164822"/>
            <a:ext cx="997944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5071544" y="4230794"/>
            <a:ext cx="99794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707076" y="5709316"/>
            <a:ext cx="99794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28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 of K Permutations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dirty="0"/>
              <a:t>Interval: </a:t>
            </a:r>
            <a:r>
              <a:rPr lang="en-US" altLang="zh-TW" dirty="0" err="1"/>
              <a:t>db</a:t>
            </a:r>
            <a:r>
              <a:rPr lang="en-US" altLang="zh-TW" dirty="0" err="1">
                <a:solidFill>
                  <a:srgbClr val="FF0000"/>
                </a:solidFill>
              </a:rPr>
              <a:t>ca</a:t>
            </a:r>
            <a:r>
              <a:rPr lang="en-US" altLang="zh-TW" dirty="0" err="1"/>
              <a:t>gfe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  {</a:t>
            </a:r>
            <a:r>
              <a:rPr lang="en-US" altLang="zh-TW" dirty="0" err="1">
                <a:sym typeface="Wingdings" panose="05000000000000000000" pitchFamily="2" charset="2"/>
              </a:rPr>
              <a:t>a,c</a:t>
            </a:r>
            <a:r>
              <a:rPr lang="en-US" altLang="zh-TW" dirty="0" smtClean="0">
                <a:sym typeface="Wingdings" panose="05000000000000000000" pitchFamily="2" charset="2"/>
              </a:rPr>
              <a:t>}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dirty="0">
                <a:sym typeface="Wingdings" panose="05000000000000000000" pitchFamily="2" charset="2"/>
              </a:rPr>
              <a:t>Common Interval: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>
                <a:sym typeface="Wingdings" panose="05000000000000000000" pitchFamily="2" charset="2"/>
              </a:rPr>
              <a:t>P</a:t>
            </a:r>
            <a:r>
              <a:rPr lang="en-US" altLang="zh-TW" baseline="-25000" dirty="0">
                <a:sym typeface="Wingdings" panose="05000000000000000000" pitchFamily="2" charset="2"/>
              </a:rPr>
              <a:t>1</a:t>
            </a:r>
            <a:r>
              <a:rPr lang="en-US" altLang="zh-TW" dirty="0">
                <a:sym typeface="Wingdings" panose="05000000000000000000" pitchFamily="2" charset="2"/>
              </a:rPr>
              <a:t> : </a:t>
            </a:r>
            <a:r>
              <a:rPr lang="en-US" altLang="zh-TW" dirty="0" err="1">
                <a:sym typeface="Wingdings" panose="05000000000000000000" pitchFamily="2" charset="2"/>
              </a:rPr>
              <a:t>abcdefghij</a:t>
            </a:r>
            <a:r>
              <a:rPr lang="en-US" altLang="zh-TW" dirty="0">
                <a:sym typeface="Wingdings" panose="05000000000000000000" pitchFamily="2" charset="2"/>
              </a:rPr>
              <a:t> P</a:t>
            </a:r>
            <a:r>
              <a:rPr lang="en-US" altLang="zh-TW" baseline="-25000" dirty="0">
                <a:sym typeface="Wingdings" panose="05000000000000000000" pitchFamily="2" charset="2"/>
              </a:rPr>
              <a:t>2</a:t>
            </a:r>
            <a:r>
              <a:rPr lang="en-US" altLang="zh-TW" dirty="0">
                <a:sym typeface="Wingdings" panose="05000000000000000000" pitchFamily="2" charset="2"/>
              </a:rPr>
              <a:t> : </a:t>
            </a:r>
            <a:r>
              <a:rPr lang="en-US" altLang="zh-TW" dirty="0" err="1" smtClean="0">
                <a:sym typeface="Wingdings" panose="05000000000000000000" pitchFamily="2" charset="2"/>
              </a:rPr>
              <a:t>efghaibcdj</a:t>
            </a:r>
            <a:r>
              <a:rPr lang="en-US" altLang="zh-TW" dirty="0" smtClean="0">
                <a:sym typeface="Wingdings" panose="05000000000000000000" pitchFamily="2" charset="2"/>
              </a:rPr>
              <a:t> P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3</a:t>
            </a:r>
            <a:r>
              <a:rPr lang="en-US" altLang="zh-TW" dirty="0" smtClean="0">
                <a:sym typeface="Wingdings" panose="05000000000000000000" pitchFamily="2" charset="2"/>
              </a:rPr>
              <a:t> : </a:t>
            </a:r>
            <a:r>
              <a:rPr lang="en-US" altLang="zh-TW" dirty="0" err="1" smtClean="0">
                <a:sym typeface="Wingdings" panose="05000000000000000000" pitchFamily="2" charset="2"/>
              </a:rPr>
              <a:t>efdgib</a:t>
            </a:r>
            <a:r>
              <a:rPr lang="en-US" altLang="zh-TW" dirty="0" err="1">
                <a:sym typeface="Wingdings" panose="05000000000000000000" pitchFamily="2" charset="2"/>
              </a:rPr>
              <a:t>ha</a:t>
            </a:r>
            <a:r>
              <a:rPr lang="en-US" altLang="zh-TW" dirty="0" err="1" smtClean="0">
                <a:sym typeface="Wingdings" panose="05000000000000000000" pitchFamily="2" charset="2"/>
              </a:rPr>
              <a:t>cj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>
                <a:sym typeface="Wingdings" panose="05000000000000000000" pitchFamily="2" charset="2"/>
              </a:rPr>
              <a:t>Common Interval:[1, 9], </a:t>
            </a:r>
            <a:r>
              <a:rPr lang="en-US" altLang="zh-TW" dirty="0" smtClean="0"/>
              <a:t>[</a:t>
            </a:r>
            <a:r>
              <a:rPr lang="en-US" altLang="zh-TW" dirty="0"/>
              <a:t>5, 6</a:t>
            </a:r>
            <a:r>
              <a:rPr lang="en-US" altLang="zh-TW" dirty="0" smtClean="0"/>
              <a:t>]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/>
          </a:p>
        </p:txBody>
      </p:sp>
      <p:sp>
        <p:nvSpPr>
          <p:cNvPr id="55" name="橢圓 54"/>
          <p:cNvSpPr/>
          <p:nvPr/>
        </p:nvSpPr>
        <p:spPr>
          <a:xfrm>
            <a:off x="149860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6" name="橢圓 55"/>
          <p:cNvSpPr/>
          <p:nvPr/>
        </p:nvSpPr>
        <p:spPr>
          <a:xfrm>
            <a:off x="210284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57" name="橢圓 56"/>
          <p:cNvSpPr/>
          <p:nvPr/>
        </p:nvSpPr>
        <p:spPr>
          <a:xfrm>
            <a:off x="270708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8" name="橢圓 57"/>
          <p:cNvSpPr/>
          <p:nvPr/>
        </p:nvSpPr>
        <p:spPr>
          <a:xfrm>
            <a:off x="331132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59" name="橢圓 58"/>
          <p:cNvSpPr/>
          <p:nvPr/>
        </p:nvSpPr>
        <p:spPr>
          <a:xfrm>
            <a:off x="391556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60" name="橢圓 59"/>
          <p:cNvSpPr/>
          <p:nvPr/>
        </p:nvSpPr>
        <p:spPr>
          <a:xfrm>
            <a:off x="451980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61" name="橢圓 60"/>
          <p:cNvSpPr/>
          <p:nvPr/>
        </p:nvSpPr>
        <p:spPr>
          <a:xfrm>
            <a:off x="512404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62" name="橢圓 61"/>
          <p:cNvSpPr/>
          <p:nvPr/>
        </p:nvSpPr>
        <p:spPr>
          <a:xfrm>
            <a:off x="572828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63" name="橢圓 62"/>
          <p:cNvSpPr/>
          <p:nvPr/>
        </p:nvSpPr>
        <p:spPr>
          <a:xfrm>
            <a:off x="6332520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64" name="橢圓 63"/>
          <p:cNvSpPr/>
          <p:nvPr/>
        </p:nvSpPr>
        <p:spPr>
          <a:xfrm>
            <a:off x="6936756" y="354330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sp>
        <p:nvSpPr>
          <p:cNvPr id="65" name="橢圓 64"/>
          <p:cNvSpPr/>
          <p:nvPr/>
        </p:nvSpPr>
        <p:spPr>
          <a:xfrm>
            <a:off x="391556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66" name="橢圓 65"/>
          <p:cNvSpPr/>
          <p:nvPr/>
        </p:nvSpPr>
        <p:spPr>
          <a:xfrm>
            <a:off x="5124040" y="442513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67" name="橢圓 66"/>
          <p:cNvSpPr/>
          <p:nvPr/>
        </p:nvSpPr>
        <p:spPr>
          <a:xfrm>
            <a:off x="5728280" y="442513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68" name="橢圓 67"/>
          <p:cNvSpPr/>
          <p:nvPr/>
        </p:nvSpPr>
        <p:spPr>
          <a:xfrm>
            <a:off x="6332520" y="4425133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69" name="橢圓 68"/>
          <p:cNvSpPr/>
          <p:nvPr/>
        </p:nvSpPr>
        <p:spPr>
          <a:xfrm>
            <a:off x="149860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70" name="橢圓 69"/>
          <p:cNvSpPr/>
          <p:nvPr/>
        </p:nvSpPr>
        <p:spPr>
          <a:xfrm>
            <a:off x="210284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71" name="橢圓 70"/>
          <p:cNvSpPr/>
          <p:nvPr/>
        </p:nvSpPr>
        <p:spPr>
          <a:xfrm>
            <a:off x="270708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72" name="橢圓 71"/>
          <p:cNvSpPr/>
          <p:nvPr/>
        </p:nvSpPr>
        <p:spPr>
          <a:xfrm>
            <a:off x="331132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73" name="橢圓 72"/>
          <p:cNvSpPr/>
          <p:nvPr/>
        </p:nvSpPr>
        <p:spPr>
          <a:xfrm>
            <a:off x="4519800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74" name="橢圓 73"/>
          <p:cNvSpPr/>
          <p:nvPr/>
        </p:nvSpPr>
        <p:spPr>
          <a:xfrm>
            <a:off x="6936756" y="4408834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1498600" y="4038600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1498600" y="4859262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3907808" y="4173647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1498600" y="5039713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橢圓 92"/>
          <p:cNvSpPr/>
          <p:nvPr/>
        </p:nvSpPr>
        <p:spPr>
          <a:xfrm>
            <a:off x="5728276" y="527302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94" name="橢圓 93"/>
          <p:cNvSpPr/>
          <p:nvPr/>
        </p:nvSpPr>
        <p:spPr>
          <a:xfrm>
            <a:off x="4519800" y="5283781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95" name="橢圓 94"/>
          <p:cNvSpPr/>
          <p:nvPr/>
        </p:nvSpPr>
        <p:spPr>
          <a:xfrm>
            <a:off x="6332520" y="5283781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96" name="橢圓 95"/>
          <p:cNvSpPr/>
          <p:nvPr/>
        </p:nvSpPr>
        <p:spPr>
          <a:xfrm>
            <a:off x="2682406" y="5298477"/>
            <a:ext cx="393700" cy="3611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1498600" y="5272251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98" name="橢圓 97"/>
          <p:cNvSpPr/>
          <p:nvPr/>
        </p:nvSpPr>
        <p:spPr>
          <a:xfrm>
            <a:off x="2102840" y="5272251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99" name="橢圓 98"/>
          <p:cNvSpPr/>
          <p:nvPr/>
        </p:nvSpPr>
        <p:spPr>
          <a:xfrm>
            <a:off x="3311320" y="5267482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100" name="橢圓 99"/>
          <p:cNvSpPr/>
          <p:nvPr/>
        </p:nvSpPr>
        <p:spPr>
          <a:xfrm>
            <a:off x="5124036" y="5273020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101" name="橢圓 100"/>
          <p:cNvSpPr/>
          <p:nvPr/>
        </p:nvSpPr>
        <p:spPr>
          <a:xfrm>
            <a:off x="3915560" y="5267482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102" name="橢圓 101"/>
          <p:cNvSpPr/>
          <p:nvPr/>
        </p:nvSpPr>
        <p:spPr>
          <a:xfrm>
            <a:off x="6936756" y="5272251"/>
            <a:ext cx="393700" cy="393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</a:t>
            </a:r>
            <a:endParaRPr lang="zh-TW" altLang="en-US" dirty="0"/>
          </a:p>
        </p:txBody>
      </p:sp>
      <p:cxnSp>
        <p:nvCxnSpPr>
          <p:cNvPr id="104" name="直線接點 103"/>
          <p:cNvCxnSpPr/>
          <p:nvPr/>
        </p:nvCxnSpPr>
        <p:spPr>
          <a:xfrm>
            <a:off x="1498600" y="5715000"/>
            <a:ext cx="52276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1498596" y="5888147"/>
            <a:ext cx="99794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72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 of Two Sequences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800" dirty="0" smtClean="0"/>
              <a:t>Interval : </a:t>
            </a:r>
            <a:r>
              <a:rPr lang="en-US" altLang="zh-TW" sz="2800" dirty="0" err="1" smtClean="0"/>
              <a:t>ac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cdca</a:t>
            </a:r>
            <a:r>
              <a:rPr lang="en-US" altLang="zh-TW" sz="2800" dirty="0" err="1" smtClean="0"/>
              <a:t>sdca</a:t>
            </a:r>
            <a:r>
              <a:rPr lang="en-US" altLang="zh-TW" sz="2800" dirty="0" smtClean="0"/>
              <a:t> =&gt; {</a:t>
            </a:r>
            <a:r>
              <a:rPr lang="en-US" altLang="zh-TW" sz="2800" dirty="0" err="1" smtClean="0"/>
              <a:t>a,c,d</a:t>
            </a:r>
            <a:r>
              <a:rPr lang="en-US" altLang="zh-TW" sz="2800" dirty="0" smtClean="0"/>
              <a:t>}</a:t>
            </a:r>
          </a:p>
          <a:p>
            <a:r>
              <a:rPr lang="en-US" altLang="zh-TW" sz="2800" dirty="0" smtClean="0"/>
              <a:t>Common Interval : </a:t>
            </a:r>
          </a:p>
          <a:p>
            <a:pPr lvl="1"/>
            <a:r>
              <a:rPr lang="en-US" altLang="zh-TW" sz="2400" dirty="0" smtClean="0"/>
              <a:t>S</a:t>
            </a:r>
            <a:r>
              <a:rPr lang="en-US" altLang="zh-TW" sz="2400" baseline="-25000" dirty="0" smtClean="0"/>
              <a:t>1</a:t>
            </a:r>
            <a:r>
              <a:rPr lang="en-US" altLang="zh-TW" sz="2400" dirty="0" smtClean="0"/>
              <a:t> : </a:t>
            </a:r>
            <a:r>
              <a:rPr lang="en-US" altLang="zh-TW" sz="2400" dirty="0" err="1"/>
              <a:t>acadebda</a:t>
            </a:r>
            <a:r>
              <a:rPr lang="en-US" altLang="zh-TW" sz="2400" dirty="0"/>
              <a:t>, S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 = </a:t>
            </a:r>
            <a:r>
              <a:rPr lang="en-US" altLang="zh-TW" sz="2400" dirty="0" err="1" smtClean="0"/>
              <a:t>adacdbea</a:t>
            </a:r>
            <a:endParaRPr lang="en-US" altLang="zh-TW" sz="2400" dirty="0" smtClean="0"/>
          </a:p>
          <a:p>
            <a:pPr lvl="1"/>
            <a:r>
              <a:rPr lang="en-US" altLang="zh-TW" sz="2400" dirty="0" smtClean="0"/>
              <a:t>C(S</a:t>
            </a:r>
            <a:r>
              <a:rPr lang="en-US" altLang="zh-TW" sz="2400" baseline="-25000" dirty="0" smtClean="0"/>
              <a:t>1</a:t>
            </a:r>
            <a:r>
              <a:rPr lang="en-US" altLang="zh-TW" sz="2400" dirty="0"/>
              <a:t>,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S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 = </a:t>
            </a:r>
            <a:r>
              <a:rPr lang="en-US" altLang="zh-TW" sz="2400" dirty="0" smtClean="0"/>
              <a:t>{</a:t>
            </a:r>
          </a:p>
          <a:p>
            <a:pPr lvl="2"/>
            <a:r>
              <a:rPr lang="en-US" altLang="zh-TW" sz="1800" dirty="0" smtClean="0"/>
              <a:t>([</a:t>
            </a:r>
            <a:r>
              <a:rPr lang="en-US" altLang="zh-TW" sz="1800" dirty="0"/>
              <a:t>1,1],[1,1]), ([1,1],[3,3]), ([1,1],[8,8]), </a:t>
            </a:r>
            <a:r>
              <a:rPr lang="en-US" altLang="zh-TW" sz="1800" dirty="0" smtClean="0"/>
              <a:t>([</a:t>
            </a:r>
            <a:r>
              <a:rPr lang="en-US" altLang="zh-TW" sz="1800" dirty="0"/>
              <a:t>1,3],[3,4</a:t>
            </a:r>
            <a:r>
              <a:rPr lang="en-US" altLang="zh-TW" sz="1800" dirty="0" smtClean="0"/>
              <a:t>]), ([</a:t>
            </a:r>
            <a:r>
              <a:rPr lang="en-US" altLang="zh-TW" sz="1800" dirty="0"/>
              <a:t>1,4],[1,5]), ([1,8],[1,8]), </a:t>
            </a:r>
            <a:endParaRPr lang="en-US" altLang="zh-TW" sz="1800" dirty="0" smtClean="0"/>
          </a:p>
          <a:p>
            <a:pPr lvl="2"/>
            <a:r>
              <a:rPr lang="en-US" altLang="zh-TW" sz="1800" dirty="0" smtClean="0"/>
              <a:t>([</a:t>
            </a:r>
            <a:r>
              <a:rPr lang="en-US" altLang="zh-TW" sz="1800" dirty="0"/>
              <a:t>2,2],[4,4]), ([3,4],[1,3]), ([3,8],[4,8]), </a:t>
            </a:r>
            <a:r>
              <a:rPr lang="en-US" altLang="zh-TW" sz="1800" dirty="0" smtClean="0"/>
              <a:t>([</a:t>
            </a:r>
            <a:r>
              <a:rPr lang="en-US" altLang="zh-TW" sz="1800" dirty="0"/>
              <a:t>4,4],[2,2]), ([4,4],[5,5]), ([4,7],[7,9</a:t>
            </a:r>
            <a:r>
              <a:rPr lang="en-US" altLang="zh-TW" sz="1800" dirty="0" smtClean="0"/>
              <a:t>]),</a:t>
            </a:r>
          </a:p>
          <a:p>
            <a:pPr lvl="2"/>
            <a:r>
              <a:rPr lang="en-US" altLang="zh-TW" sz="1800" dirty="0" smtClean="0"/>
              <a:t>([</a:t>
            </a:r>
            <a:r>
              <a:rPr lang="en-US" altLang="zh-TW" sz="1800" dirty="0"/>
              <a:t>5,5],[8,8]), ([5,6],[7,8]), ([6,6],[6,6]), </a:t>
            </a:r>
            <a:r>
              <a:rPr lang="en-US" altLang="zh-TW" sz="1800" dirty="0" smtClean="0"/>
              <a:t>([</a:t>
            </a:r>
            <a:r>
              <a:rPr lang="en-US" altLang="zh-TW" sz="1800" dirty="0"/>
              <a:t>6,7],[5,6]), ([7,7],[2,2]), ([7,7],[5,5]), </a:t>
            </a:r>
            <a:endParaRPr lang="en-US" altLang="zh-TW" sz="1800" dirty="0" smtClean="0"/>
          </a:p>
          <a:p>
            <a:pPr lvl="2"/>
            <a:r>
              <a:rPr lang="en-US" altLang="zh-TW" sz="1800" dirty="0" smtClean="0"/>
              <a:t>([</a:t>
            </a:r>
            <a:r>
              <a:rPr lang="en-US" altLang="zh-TW" sz="1800" dirty="0"/>
              <a:t>7,8],[1,3]), ([8,8],[1,1</a:t>
            </a:r>
            <a:r>
              <a:rPr lang="en-US" altLang="zh-TW" sz="1800" dirty="0" smtClean="0"/>
              <a:t>]), </a:t>
            </a:r>
            <a:r>
              <a:rPr lang="nn-NO" altLang="zh-TW" sz="1800" dirty="0" smtClean="0"/>
              <a:t>([</a:t>
            </a:r>
            <a:r>
              <a:rPr lang="nn-NO" altLang="zh-TW" sz="1800" dirty="0"/>
              <a:t>8,8],[3,3]), </a:t>
            </a:r>
            <a:r>
              <a:rPr lang="nn-NO" altLang="zh-TW" sz="1800" dirty="0" smtClean="0"/>
              <a:t>([</a:t>
            </a:r>
            <a:r>
              <a:rPr lang="nn-NO" altLang="zh-TW" sz="1800" dirty="0"/>
              <a:t>8,8],[8,8</a:t>
            </a:r>
            <a:r>
              <a:rPr lang="nn-NO" altLang="zh-TW" sz="1800" dirty="0" smtClean="0"/>
              <a:t>])</a:t>
            </a:r>
          </a:p>
          <a:p>
            <a:pPr lvl="1"/>
            <a:r>
              <a:rPr lang="nn-NO" altLang="zh-TW" sz="2200" dirty="0" smtClean="0"/>
              <a:t>}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61743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 of K Sequences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Interval : </a:t>
            </a:r>
            <a:r>
              <a:rPr lang="en-US" altLang="zh-TW" dirty="0" err="1"/>
              <a:t>ac</a:t>
            </a:r>
            <a:r>
              <a:rPr lang="en-US" altLang="zh-TW" dirty="0" err="1">
                <a:solidFill>
                  <a:srgbClr val="FF0000"/>
                </a:solidFill>
              </a:rPr>
              <a:t>cdca</a:t>
            </a:r>
            <a:r>
              <a:rPr lang="en-US" altLang="zh-TW" dirty="0" err="1"/>
              <a:t>sdca</a:t>
            </a:r>
            <a:r>
              <a:rPr lang="en-US" altLang="zh-TW" dirty="0"/>
              <a:t> =&gt; {</a:t>
            </a:r>
            <a:r>
              <a:rPr lang="en-US" altLang="zh-TW" dirty="0" err="1"/>
              <a:t>a,c,d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Common Interval :</a:t>
            </a:r>
          </a:p>
          <a:p>
            <a:pPr lvl="1"/>
            <a:r>
              <a:rPr lang="en-US" altLang="zh-TW" dirty="0"/>
              <a:t>S</a:t>
            </a:r>
            <a:r>
              <a:rPr lang="en-US" altLang="zh-TW" sz="600" dirty="0"/>
              <a:t>1 </a:t>
            </a:r>
            <a:r>
              <a:rPr lang="en-US" altLang="zh-TW" dirty="0"/>
              <a:t>= </a:t>
            </a:r>
            <a:r>
              <a:rPr lang="en-US" altLang="zh-TW" dirty="0" err="1"/>
              <a:t>acadebda</a:t>
            </a:r>
            <a:r>
              <a:rPr lang="en-US" altLang="zh-TW" dirty="0"/>
              <a:t>, S</a:t>
            </a:r>
            <a:r>
              <a:rPr lang="en-US" altLang="zh-TW" sz="600" dirty="0"/>
              <a:t>2 </a:t>
            </a:r>
            <a:r>
              <a:rPr lang="en-US" altLang="zh-TW" dirty="0"/>
              <a:t>= adacdbea,S</a:t>
            </a:r>
            <a:r>
              <a:rPr lang="en-US" altLang="zh-TW" sz="600" dirty="0"/>
              <a:t>3 </a:t>
            </a:r>
            <a:r>
              <a:rPr lang="en-US" altLang="zh-TW" dirty="0"/>
              <a:t>= </a:t>
            </a:r>
            <a:r>
              <a:rPr lang="en-US" altLang="zh-TW" dirty="0" err="1"/>
              <a:t>aadbacde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C(S</a:t>
            </a:r>
            <a:r>
              <a:rPr lang="en-US" altLang="zh-TW" sz="600" dirty="0" smtClean="0"/>
              <a:t>1</a:t>
            </a:r>
            <a:r>
              <a:rPr lang="en-US" altLang="zh-TW" dirty="0"/>
              <a:t>; S</a:t>
            </a:r>
            <a:r>
              <a:rPr lang="en-US" altLang="zh-TW" sz="600" dirty="0"/>
              <a:t>2</a:t>
            </a:r>
            <a:r>
              <a:rPr lang="en-US" altLang="zh-TW" dirty="0"/>
              <a:t>) </a:t>
            </a:r>
            <a:r>
              <a:rPr lang="en-US" altLang="zh-TW" dirty="0" smtClean="0"/>
              <a:t>=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6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1</a:t>
            </a:r>
            <a:r>
              <a:rPr lang="en-US" altLang="zh-TW" dirty="0" smtClean="0"/>
              <a:t>(1, 1) - S</a:t>
            </a:r>
            <a:r>
              <a:rPr lang="en-US" altLang="zh-TW" sz="6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2</a:t>
            </a:r>
            <a:r>
              <a:rPr lang="en-US" altLang="zh-TW" dirty="0" smtClean="0"/>
              <a:t>(1, 1) - S</a:t>
            </a:r>
            <a:r>
              <a:rPr lang="en-US" altLang="zh-TW" sz="6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3</a:t>
            </a:r>
            <a:r>
              <a:rPr lang="en-US" altLang="zh-TW" dirty="0" smtClean="0"/>
              <a:t>(1, </a:t>
            </a:r>
            <a:r>
              <a:rPr lang="en-US" altLang="zh-TW" dirty="0"/>
              <a:t>1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6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1</a:t>
            </a:r>
            <a:r>
              <a:rPr lang="en-US" altLang="zh-TW" dirty="0" smtClean="0"/>
              <a:t>(1</a:t>
            </a:r>
            <a:r>
              <a:rPr lang="en-US" altLang="zh-TW" dirty="0"/>
              <a:t>,</a:t>
            </a:r>
            <a:r>
              <a:rPr lang="en-US" altLang="zh-TW" dirty="0" smtClean="0"/>
              <a:t> 3) - S</a:t>
            </a:r>
            <a:r>
              <a:rPr lang="en-US" altLang="zh-TW" sz="6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600" dirty="0" smtClean="0"/>
              <a:t>2</a:t>
            </a:r>
            <a:r>
              <a:rPr lang="en-US" altLang="zh-TW" dirty="0" smtClean="0"/>
              <a:t>(3, 4) 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(5, </a:t>
            </a:r>
            <a:r>
              <a:rPr lang="en-US" altLang="zh-TW" dirty="0"/>
              <a:t>6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(1</a:t>
            </a:r>
            <a:r>
              <a:rPr lang="en-US" altLang="zh-TW" dirty="0"/>
              <a:t>,</a:t>
            </a:r>
            <a:r>
              <a:rPr lang="en-US" altLang="zh-TW" dirty="0" smtClean="0"/>
              <a:t> 4)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(1, 5) 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(5, </a:t>
            </a:r>
            <a:r>
              <a:rPr lang="en-US" altLang="zh-TW" dirty="0"/>
              <a:t>7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 smtClean="0"/>
              <a:t>: 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(1</a:t>
            </a:r>
            <a:r>
              <a:rPr lang="en-US" altLang="zh-TW" dirty="0"/>
              <a:t>,</a:t>
            </a:r>
            <a:r>
              <a:rPr lang="en-US" altLang="zh-TW" dirty="0" smtClean="0"/>
              <a:t> 8)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(1, </a:t>
            </a:r>
            <a:r>
              <a:rPr lang="en-US" altLang="zh-TW" dirty="0"/>
              <a:t>8</a:t>
            </a:r>
            <a:r>
              <a:rPr lang="en-US" altLang="zh-TW" dirty="0" smtClean="0"/>
              <a:t>) -</a:t>
            </a:r>
            <a:r>
              <a:rPr lang="zh-TW" altLang="en-US" dirty="0" smtClean="0"/>
              <a:t> </a:t>
            </a:r>
            <a:r>
              <a:rPr lang="en-US" altLang="zh-TW" dirty="0"/>
              <a:t>S</a:t>
            </a:r>
            <a:r>
              <a:rPr lang="en-US" altLang="zh-TW" sz="800" dirty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(1, </a:t>
            </a:r>
            <a:r>
              <a:rPr lang="en-US" altLang="zh-TW" dirty="0"/>
              <a:t>8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(2</a:t>
            </a:r>
            <a:r>
              <a:rPr lang="en-US" altLang="zh-TW" dirty="0"/>
              <a:t>,</a:t>
            </a:r>
            <a:r>
              <a:rPr lang="en-US" altLang="zh-TW" dirty="0" smtClean="0"/>
              <a:t> </a:t>
            </a:r>
            <a:r>
              <a:rPr lang="en-US" altLang="zh-TW" dirty="0"/>
              <a:t>2) </a:t>
            </a:r>
            <a:r>
              <a:rPr lang="en-US" altLang="zh-TW" dirty="0" smtClean="0"/>
              <a:t>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(4, </a:t>
            </a:r>
            <a:r>
              <a:rPr lang="en-US" altLang="zh-TW" dirty="0"/>
              <a:t>4) </a:t>
            </a:r>
            <a:r>
              <a:rPr lang="en-US" altLang="zh-TW" dirty="0" smtClean="0"/>
              <a:t>-</a:t>
            </a:r>
            <a:r>
              <a:rPr lang="zh-TW" altLang="en-US" dirty="0" smtClean="0"/>
              <a:t> </a:t>
            </a:r>
            <a:r>
              <a:rPr lang="en-US" altLang="zh-TW" dirty="0"/>
              <a:t>S</a:t>
            </a:r>
            <a:r>
              <a:rPr lang="en-US" altLang="zh-TW" sz="800" dirty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(6, </a:t>
            </a:r>
            <a:r>
              <a:rPr lang="en-US" altLang="zh-TW" dirty="0"/>
              <a:t>6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 smtClean="0"/>
              <a:t>: 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(3</a:t>
            </a:r>
            <a:r>
              <a:rPr lang="en-US" altLang="zh-TW" dirty="0"/>
              <a:t>,</a:t>
            </a:r>
            <a:r>
              <a:rPr lang="en-US" altLang="zh-TW" dirty="0" smtClean="0"/>
              <a:t> 4)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(1, 3) 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(1, </a:t>
            </a:r>
            <a:r>
              <a:rPr lang="en-US" altLang="zh-TW" dirty="0"/>
              <a:t>3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(4</a:t>
            </a:r>
            <a:r>
              <a:rPr lang="en-US" altLang="zh-TW" dirty="0"/>
              <a:t>; </a:t>
            </a:r>
            <a:r>
              <a:rPr lang="en-US" altLang="zh-TW" dirty="0" smtClean="0"/>
              <a:t>4)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LOC</a:t>
            </a:r>
            <a:r>
              <a:rPr lang="en-US" altLang="zh-TW" sz="800" dirty="0"/>
              <a:t>2</a:t>
            </a:r>
            <a:r>
              <a:rPr lang="en-US" altLang="zh-TW" dirty="0"/>
              <a:t>(2; </a:t>
            </a:r>
            <a:r>
              <a:rPr lang="en-US" altLang="zh-TW" dirty="0" smtClean="0"/>
              <a:t>2) - S</a:t>
            </a:r>
            <a:r>
              <a:rPr lang="en-US" altLang="zh-TW" sz="800" dirty="0" smtClean="0"/>
              <a:t>3 </a:t>
            </a:r>
            <a:r>
              <a:rPr lang="en-US" altLang="zh-TW" dirty="0" smtClean="0"/>
              <a:t>: 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(3, </a:t>
            </a:r>
            <a:r>
              <a:rPr lang="en-US" altLang="zh-TW" dirty="0"/>
              <a:t>3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(5</a:t>
            </a:r>
            <a:r>
              <a:rPr lang="en-US" altLang="zh-TW" dirty="0"/>
              <a:t>,</a:t>
            </a:r>
            <a:r>
              <a:rPr lang="en-US" altLang="zh-TW" dirty="0" smtClean="0"/>
              <a:t> 5) 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(8, 8) 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(8, </a:t>
            </a:r>
            <a:r>
              <a:rPr lang="en-US" altLang="zh-TW" dirty="0"/>
              <a:t>8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(6</a:t>
            </a:r>
            <a:r>
              <a:rPr lang="en-US" altLang="zh-TW" dirty="0"/>
              <a:t>,</a:t>
            </a:r>
            <a:r>
              <a:rPr lang="en-US" altLang="zh-TW" dirty="0" smtClean="0"/>
              <a:t> 6) - S</a:t>
            </a:r>
            <a:r>
              <a:rPr lang="en-US" altLang="zh-TW" sz="800" dirty="0" smtClean="0"/>
              <a:t>2 </a:t>
            </a:r>
            <a:r>
              <a:rPr lang="en-US" altLang="zh-TW" dirty="0" smtClean="0"/>
              <a:t>: 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(6</a:t>
            </a:r>
            <a:r>
              <a:rPr lang="en-US" altLang="zh-TW" dirty="0"/>
              <a:t>,</a:t>
            </a:r>
            <a:r>
              <a:rPr lang="en-US" altLang="zh-TW" dirty="0" smtClean="0"/>
              <a:t> </a:t>
            </a:r>
            <a:r>
              <a:rPr lang="en-US" altLang="zh-TW" dirty="0"/>
              <a:t>6) </a:t>
            </a:r>
            <a:r>
              <a:rPr lang="en-US" altLang="zh-TW" dirty="0" smtClean="0"/>
              <a:t>- S</a:t>
            </a:r>
            <a:r>
              <a:rPr lang="en-US" altLang="zh-TW" sz="800" dirty="0" smtClean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(4, </a:t>
            </a:r>
            <a:r>
              <a:rPr lang="en-US" altLang="zh-TW" dirty="0"/>
              <a:t>4</a:t>
            </a:r>
            <a:r>
              <a:rPr lang="en-US" altLang="zh-TW" dirty="0" smtClean="0"/>
              <a:t>),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sz="800" dirty="0" smtClean="0"/>
              <a:t>1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1</a:t>
            </a:r>
            <a:r>
              <a:rPr lang="en-US" altLang="zh-TW" dirty="0" smtClean="0"/>
              <a:t>(6</a:t>
            </a:r>
            <a:r>
              <a:rPr lang="en-US" altLang="zh-TW" dirty="0"/>
              <a:t>,</a:t>
            </a:r>
            <a:r>
              <a:rPr lang="en-US" altLang="zh-TW" dirty="0" smtClean="0"/>
              <a:t> </a:t>
            </a:r>
            <a:r>
              <a:rPr lang="en-US" altLang="zh-TW" dirty="0"/>
              <a:t>7) </a:t>
            </a:r>
            <a:r>
              <a:rPr lang="en-US" altLang="zh-TW" dirty="0" smtClean="0"/>
              <a:t>- S</a:t>
            </a:r>
            <a:r>
              <a:rPr lang="en-US" altLang="zh-TW" sz="800" dirty="0" smtClean="0"/>
              <a:t>2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2</a:t>
            </a:r>
            <a:r>
              <a:rPr lang="en-US" altLang="zh-TW" dirty="0" smtClean="0"/>
              <a:t>(5, </a:t>
            </a:r>
            <a:r>
              <a:rPr lang="en-US" altLang="zh-TW" dirty="0"/>
              <a:t>6) </a:t>
            </a:r>
            <a:r>
              <a:rPr lang="en-US" altLang="zh-TW" dirty="0" smtClean="0"/>
              <a:t>-</a:t>
            </a:r>
            <a:r>
              <a:rPr lang="zh-TW" altLang="en-US" dirty="0" smtClean="0"/>
              <a:t> </a:t>
            </a:r>
            <a:r>
              <a:rPr lang="en-US" altLang="zh-TW" dirty="0"/>
              <a:t>S</a:t>
            </a:r>
            <a:r>
              <a:rPr lang="en-US" altLang="zh-TW" sz="800" dirty="0"/>
              <a:t>3 </a:t>
            </a:r>
            <a:r>
              <a:rPr lang="en-US" altLang="zh-TW" dirty="0"/>
              <a:t>: </a:t>
            </a:r>
            <a:r>
              <a:rPr lang="en-US" altLang="zh-TW" dirty="0" smtClean="0"/>
              <a:t>LOC</a:t>
            </a:r>
            <a:r>
              <a:rPr lang="en-US" altLang="zh-TW" sz="800" dirty="0" smtClean="0"/>
              <a:t>3</a:t>
            </a:r>
            <a:r>
              <a:rPr lang="en-US" altLang="zh-TW" dirty="0" smtClean="0"/>
              <a:t>(3, </a:t>
            </a:r>
            <a:r>
              <a:rPr lang="en-US" altLang="zh-TW" dirty="0"/>
              <a:t>4).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397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Common </a:t>
            </a:r>
            <a:r>
              <a:rPr lang="en-US" altLang="zh-TW" dirty="0" smtClean="0"/>
              <a:t>Combination Interval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Interval : </a:t>
            </a:r>
            <a:r>
              <a:rPr lang="en-US" altLang="zh-TW" dirty="0" err="1" smtClean="0"/>
              <a:t>ac</a:t>
            </a:r>
            <a:r>
              <a:rPr lang="en-US" altLang="zh-TW" dirty="0" err="1" smtClean="0">
                <a:solidFill>
                  <a:srgbClr val="FF0000"/>
                </a:solidFill>
              </a:rPr>
              <a:t>cdca</a:t>
            </a:r>
            <a:r>
              <a:rPr lang="en-US" altLang="zh-TW" dirty="0" err="1" smtClean="0"/>
              <a:t>sdca</a:t>
            </a:r>
            <a:r>
              <a:rPr lang="en-US" altLang="zh-TW" dirty="0" smtClean="0"/>
              <a:t> =&gt; {a, c, c, d} </a:t>
            </a:r>
            <a:r>
              <a:rPr lang="en-US" altLang="zh-TW" dirty="0" smtClean="0">
                <a:sym typeface="Wingdings" panose="05000000000000000000" pitchFamily="2" charset="2"/>
              </a:rPr>
              <a:t> {a:1, c:2, d:1}</a:t>
            </a:r>
            <a:endParaRPr lang="en-US" altLang="zh-TW" dirty="0" smtClean="0"/>
          </a:p>
          <a:p>
            <a:r>
              <a:rPr lang="en-US" altLang="zh-TW" dirty="0" smtClean="0"/>
              <a:t>Common </a:t>
            </a:r>
            <a:r>
              <a:rPr lang="en-US" altLang="zh-TW" dirty="0"/>
              <a:t>Interval 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/>
              <a:t>S</a:t>
            </a:r>
            <a:r>
              <a:rPr lang="en-US" altLang="zh-TW" sz="500" dirty="0"/>
              <a:t>1 </a:t>
            </a:r>
            <a:r>
              <a:rPr lang="en-US" altLang="zh-TW" dirty="0"/>
              <a:t>= </a:t>
            </a:r>
            <a:r>
              <a:rPr lang="en-US" altLang="zh-TW" dirty="0" err="1"/>
              <a:t>acadebda</a:t>
            </a:r>
            <a:r>
              <a:rPr lang="en-US" altLang="zh-TW" dirty="0"/>
              <a:t>, S</a:t>
            </a:r>
            <a:r>
              <a:rPr lang="en-US" altLang="zh-TW" sz="500" dirty="0"/>
              <a:t>2 </a:t>
            </a:r>
            <a:r>
              <a:rPr lang="en-US" altLang="zh-TW" dirty="0"/>
              <a:t>= </a:t>
            </a:r>
            <a:r>
              <a:rPr lang="en-US" altLang="zh-TW" dirty="0" err="1" smtClean="0"/>
              <a:t>adacdbea</a:t>
            </a:r>
            <a:endParaRPr lang="en-US" altLang="zh-TW" dirty="0"/>
          </a:p>
          <a:p>
            <a:pPr lvl="1"/>
            <a:r>
              <a:rPr lang="en-US" altLang="zh-TW" dirty="0" smtClean="0"/>
              <a:t>C(S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) =</a:t>
            </a:r>
          </a:p>
          <a:p>
            <a:pPr lvl="1"/>
            <a:r>
              <a:rPr lang="en-US" altLang="zh-TW" dirty="0" smtClean="0"/>
              <a:t>Length 2 : ([1,2], [2,3] </a:t>
            </a:r>
            <a:r>
              <a:rPr lang="en-US" altLang="zh-TW" dirty="0" smtClean="0">
                <a:sym typeface="Wingdings" panose="05000000000000000000" pitchFamily="2" charset="2"/>
              </a:rPr>
              <a:t></a:t>
            </a:r>
            <a:r>
              <a:rPr lang="en-US" altLang="zh-TW" dirty="0" smtClean="0"/>
              <a:t> [3,4]), ([3,4],[7,8] </a:t>
            </a:r>
            <a:r>
              <a:rPr lang="en-US" altLang="zh-TW" dirty="0" smtClean="0">
                <a:sym typeface="Wingdings" panose="05000000000000000000" pitchFamily="2" charset="2"/>
              </a:rPr>
              <a:t> [1,2], [2,3]</a:t>
            </a:r>
            <a:r>
              <a:rPr lang="en-US" altLang="zh-TW" dirty="0" smtClean="0"/>
              <a:t>), ([5,6] </a:t>
            </a:r>
            <a:r>
              <a:rPr lang="en-US" altLang="zh-TW" dirty="0" smtClean="0">
                <a:sym typeface="Wingdings" panose="05000000000000000000" pitchFamily="2" charset="2"/>
              </a:rPr>
              <a:t> [6,7]</a:t>
            </a:r>
            <a:r>
              <a:rPr lang="en-US" altLang="zh-TW" dirty="0" smtClean="0"/>
              <a:t>), ([6,7] </a:t>
            </a:r>
            <a:r>
              <a:rPr lang="en-US" altLang="zh-TW" dirty="0" smtClean="0">
                <a:sym typeface="Wingdings" panose="05000000000000000000" pitchFamily="2" charset="2"/>
              </a:rPr>
              <a:t> [5,6]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3 : ([2,4]</a:t>
            </a:r>
            <a:r>
              <a:rPr lang="en-US" altLang="zh-TW" dirty="0" smtClean="0">
                <a:sym typeface="Wingdings" panose="05000000000000000000" pitchFamily="2" charset="2"/>
              </a:rPr>
              <a:t>[2,4],[3,5]</a:t>
            </a:r>
            <a:r>
              <a:rPr lang="en-US" altLang="zh-TW" dirty="0" smtClean="0"/>
              <a:t>), ([4,6],[5,7]</a:t>
            </a:r>
            <a:r>
              <a:rPr lang="en-US" altLang="zh-TW" dirty="0" smtClean="0">
                <a:sym typeface="Wingdings" panose="05000000000000000000" pitchFamily="2" charset="2"/>
              </a:rPr>
              <a:t>[5,7]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4 : ([1,4]</a:t>
            </a:r>
            <a:r>
              <a:rPr lang="en-US" altLang="zh-TW" dirty="0" smtClean="0">
                <a:sym typeface="Wingdings" panose="05000000000000000000" pitchFamily="2" charset="2"/>
              </a:rPr>
              <a:t>[1,4]</a:t>
            </a:r>
            <a:r>
              <a:rPr lang="en-US" altLang="zh-TW" dirty="0" smtClean="0"/>
              <a:t>), ([3,6][5,8]</a:t>
            </a:r>
            <a:r>
              <a:rPr lang="en-US" altLang="zh-TW" dirty="0" smtClean="0">
                <a:sym typeface="Wingdings" panose="05000000000000000000" pitchFamily="2" charset="2"/>
              </a:rPr>
              <a:t>[5,8]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5 : ([2,6]</a:t>
            </a:r>
            <a:r>
              <a:rPr lang="en-US" altLang="zh-TW" dirty="0" smtClean="0">
                <a:sym typeface="Wingdings" panose="05000000000000000000" pitchFamily="2" charset="2"/>
              </a:rPr>
              <a:t>[3,7][4,8]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6 : ([1,6]</a:t>
            </a:r>
            <a:r>
              <a:rPr lang="en-US" altLang="zh-TW" dirty="0" smtClean="0">
                <a:sym typeface="Wingdings" panose="05000000000000000000" pitchFamily="2" charset="2"/>
              </a:rPr>
              <a:t>[3,8]</a:t>
            </a:r>
            <a:r>
              <a:rPr lang="en-US" altLang="zh-TW" dirty="0" smtClean="0"/>
              <a:t>), ([2,7]</a:t>
            </a:r>
            <a:r>
              <a:rPr lang="en-US" altLang="zh-TW" dirty="0" smtClean="0">
                <a:sym typeface="Wingdings" panose="05000000000000000000" pitchFamily="2" charset="2"/>
              </a:rPr>
              <a:t>[2,7]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Length 7 : ([1,7][2,8]</a:t>
            </a:r>
            <a:r>
              <a:rPr lang="en-US" altLang="zh-TW" dirty="0" smtClean="0">
                <a:sym typeface="Wingdings" panose="05000000000000000000" pitchFamily="2" charset="2"/>
              </a:rPr>
              <a:t>[1,7][2,8]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633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2959" y="1845734"/>
            <a:ext cx="2167891" cy="916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Interval of Two Permutation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822959" y="3236384"/>
            <a:ext cx="2167891" cy="916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Interval of K Permutation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510913" y="1845734"/>
            <a:ext cx="2167891" cy="916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Interval of Two Sequences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510912" y="3236384"/>
            <a:ext cx="2167891" cy="916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Interval of K Sequences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6198863" y="1845734"/>
            <a:ext cx="2167891" cy="2307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Common Combination Interval</a:t>
            </a:r>
            <a:endParaRPr lang="zh-TW" altLang="en-US" dirty="0"/>
          </a:p>
        </p:txBody>
      </p:sp>
      <p:cxnSp>
        <p:nvCxnSpPr>
          <p:cNvPr id="10" name="直線單箭頭接點 9"/>
          <p:cNvCxnSpPr>
            <a:stCxn id="4" idx="2"/>
            <a:endCxn id="5" idx="0"/>
          </p:cNvCxnSpPr>
          <p:nvPr/>
        </p:nvCxnSpPr>
        <p:spPr>
          <a:xfrm>
            <a:off x="1906905" y="2762250"/>
            <a:ext cx="0" cy="4741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594857" y="2762250"/>
            <a:ext cx="0" cy="4741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4" idx="3"/>
          </p:cNvCxnSpPr>
          <p:nvPr/>
        </p:nvCxnSpPr>
        <p:spPr>
          <a:xfrm>
            <a:off x="2990850" y="2303992"/>
            <a:ext cx="52006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2990850" y="3674534"/>
            <a:ext cx="52006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5678803" y="2303992"/>
            <a:ext cx="52006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586987" y="2653665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2000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2586986" y="4024206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2001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5331144" y="4019550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2004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5331144" y="2653665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2003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8019095" y="4019550"/>
            <a:ext cx="695325" cy="266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2014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866234" y="4286250"/>
            <a:ext cx="2014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abcd</a:t>
            </a:r>
            <a:endParaRPr lang="en-US" altLang="zh-TW" dirty="0" smtClean="0"/>
          </a:p>
          <a:p>
            <a:r>
              <a:rPr lang="en-US" altLang="zh-TW" dirty="0" smtClean="0"/>
              <a:t>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dbca</a:t>
            </a:r>
            <a:endParaRPr lang="en-US" altLang="zh-TW" dirty="0" smtClean="0"/>
          </a:p>
          <a:p>
            <a:r>
              <a:rPr lang="en-US" altLang="zh-TW" dirty="0" smtClean="0"/>
              <a:t>Common Intervals :</a:t>
            </a:r>
          </a:p>
          <a:p>
            <a:r>
              <a:rPr lang="en-US" altLang="zh-TW" dirty="0" smtClean="0"/>
              <a:t>{</a:t>
            </a:r>
            <a:r>
              <a:rPr lang="en-US" altLang="zh-TW" dirty="0" err="1" smtClean="0"/>
              <a:t>cb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{</a:t>
            </a:r>
            <a:r>
              <a:rPr lang="en-US" altLang="zh-TW" dirty="0" err="1" smtClean="0"/>
              <a:t>abc</a:t>
            </a:r>
            <a:r>
              <a:rPr lang="en-US" altLang="zh-TW" dirty="0" smtClean="0"/>
              <a:t>},{</a:t>
            </a:r>
            <a:r>
              <a:rPr lang="en-US" altLang="zh-TW" dirty="0" err="1" smtClean="0"/>
              <a:t>bcd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3510912" y="4286250"/>
            <a:ext cx="2014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aabcd</a:t>
            </a:r>
            <a:endParaRPr lang="en-US" altLang="zh-TW" dirty="0" smtClean="0"/>
          </a:p>
          <a:p>
            <a:r>
              <a:rPr lang="en-US" altLang="zh-TW" dirty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cbaca</a:t>
            </a:r>
            <a:endParaRPr lang="en-US" altLang="zh-TW" dirty="0" smtClean="0"/>
          </a:p>
          <a:p>
            <a:r>
              <a:rPr lang="en-US" altLang="zh-TW" dirty="0" smtClean="0"/>
              <a:t>Common Intervals :</a:t>
            </a:r>
          </a:p>
          <a:p>
            <a:r>
              <a:rPr lang="en-US" altLang="zh-TW" dirty="0" smtClean="0"/>
              <a:t>{ab},{</a:t>
            </a:r>
            <a:r>
              <a:rPr lang="en-US" altLang="zh-TW" dirty="0" err="1" smtClean="0"/>
              <a:t>cb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{</a:t>
            </a:r>
            <a:r>
              <a:rPr lang="en-US" altLang="zh-TW" dirty="0" err="1" smtClean="0"/>
              <a:t>abc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6199791" y="4286250"/>
            <a:ext cx="2014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aabcd</a:t>
            </a:r>
            <a:endParaRPr lang="en-US" altLang="zh-TW" dirty="0" smtClean="0"/>
          </a:p>
          <a:p>
            <a:r>
              <a:rPr lang="en-US" altLang="zh-TW" dirty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cbaca</a:t>
            </a:r>
            <a:endParaRPr lang="en-US" altLang="zh-TW" dirty="0" smtClean="0"/>
          </a:p>
          <a:p>
            <a:r>
              <a:rPr lang="en-US" altLang="zh-TW" dirty="0" smtClean="0"/>
              <a:t>Common Intervals :</a:t>
            </a:r>
          </a:p>
          <a:p>
            <a:r>
              <a:rPr lang="en-US" altLang="zh-TW" dirty="0" smtClean="0"/>
              <a:t>{ab},{</a:t>
            </a:r>
            <a:r>
              <a:rPr lang="en-US" altLang="zh-TW" dirty="0" err="1" smtClean="0"/>
              <a:t>cb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{</a:t>
            </a:r>
            <a:r>
              <a:rPr lang="en-US" altLang="zh-TW" dirty="0" err="1" smtClean="0"/>
              <a:t>abc</a:t>
            </a:r>
            <a:r>
              <a:rPr lang="en-US" altLang="zh-TW" dirty="0" smtClean="0"/>
              <a:t>},</a:t>
            </a:r>
            <a:r>
              <a:rPr lang="en-US" altLang="zh-TW" dirty="0" smtClean="0">
                <a:solidFill>
                  <a:srgbClr val="FF0000"/>
                </a:solidFill>
              </a:rPr>
              <a:t>{</a:t>
            </a:r>
            <a:r>
              <a:rPr lang="en-US" altLang="zh-TW" dirty="0" err="1" smtClean="0">
                <a:solidFill>
                  <a:srgbClr val="FF0000"/>
                </a:solidFill>
              </a:rPr>
              <a:t>aabc</a:t>
            </a:r>
            <a:r>
              <a:rPr lang="en-US" altLang="zh-TW" dirty="0" smtClean="0">
                <a:solidFill>
                  <a:srgbClr val="FF0000"/>
                </a:solidFill>
              </a:rPr>
              <a:t>}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13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Movement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2959" y="1845734"/>
            <a:ext cx="754380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/>
              <a:t>Gene clusters</a:t>
            </a:r>
            <a:endParaRPr lang="zh-TW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822959" y="2915075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Common substring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618230" y="2915075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Common Intervals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822959" y="4440768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Common </a:t>
            </a:r>
          </a:p>
          <a:p>
            <a:pPr algn="ctr"/>
            <a:r>
              <a:rPr lang="en-US" altLang="zh-TW" sz="2000" dirty="0" smtClean="0"/>
              <a:t>Combination Intervals</a:t>
            </a:r>
            <a:endParaRPr lang="zh-TW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6459219" y="2915075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Conserved</a:t>
            </a:r>
          </a:p>
          <a:p>
            <a:pPr algn="ctr"/>
            <a:r>
              <a:rPr lang="en-US" altLang="zh-TW" sz="2400" dirty="0" smtClean="0"/>
              <a:t>Intervals</a:t>
            </a:r>
            <a:endParaRPr lang="zh-TW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6459218" y="4440768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Gene teams</a:t>
            </a:r>
            <a:endParaRPr lang="zh-TW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3618230" y="4440768"/>
            <a:ext cx="1907541" cy="83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A</a:t>
            </a:r>
            <a:r>
              <a:rPr lang="en-US" altLang="zh-TW" sz="2000" dirty="0" smtClean="0"/>
              <a:t>pproximate</a:t>
            </a:r>
            <a:endParaRPr lang="en-US" altLang="zh-TW" sz="2000" dirty="0"/>
          </a:p>
          <a:p>
            <a:pPr algn="ctr"/>
            <a:r>
              <a:rPr lang="en-US" altLang="zh-TW" sz="2000" dirty="0"/>
              <a:t>c</a:t>
            </a:r>
            <a:r>
              <a:rPr lang="en-US" altLang="zh-TW" sz="2000" dirty="0" smtClean="0"/>
              <a:t>ommon Intervals</a:t>
            </a:r>
            <a:endParaRPr lang="zh-TW" altLang="en-US" sz="2000" dirty="0"/>
          </a:p>
        </p:txBody>
      </p:sp>
      <p:sp>
        <p:nvSpPr>
          <p:cNvPr id="11" name="矩形 10"/>
          <p:cNvSpPr/>
          <p:nvPr/>
        </p:nvSpPr>
        <p:spPr>
          <a:xfrm>
            <a:off x="822959" y="3661250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abc</a:t>
            </a:r>
            <a:r>
              <a:rPr lang="en-US" altLang="zh-TW" dirty="0" err="1" smtClean="0"/>
              <a:t>adcb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cbacc</a:t>
            </a:r>
            <a:r>
              <a:rPr lang="en-US" altLang="zh-TW" dirty="0" err="1" smtClean="0">
                <a:solidFill>
                  <a:srgbClr val="FF0000"/>
                </a:solidFill>
              </a:rPr>
              <a:t>abc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18230" y="3661250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>
                <a:solidFill>
                  <a:srgbClr val="FF0000"/>
                </a:solidFill>
              </a:rPr>
              <a:t>aabca</a:t>
            </a:r>
            <a:r>
              <a:rPr lang="en-US" altLang="zh-TW" dirty="0" err="1" smtClean="0"/>
              <a:t>dcb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>
                <a:solidFill>
                  <a:srgbClr val="FF0000"/>
                </a:solidFill>
              </a:rPr>
              <a:t>cbaccabc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459218" y="3708665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bc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dcb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cb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ccabc</a:t>
            </a:r>
            <a:endParaRPr lang="en-US" altLang="zh-TW" dirty="0" smtClean="0"/>
          </a:p>
        </p:txBody>
      </p:sp>
      <p:sp>
        <p:nvSpPr>
          <p:cNvPr id="14" name="矩形 13"/>
          <p:cNvSpPr/>
          <p:nvPr/>
        </p:nvSpPr>
        <p:spPr>
          <a:xfrm>
            <a:off x="822959" y="5274734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</a:t>
            </a:r>
            <a:r>
              <a:rPr lang="en-US" altLang="zh-TW" dirty="0" err="1" smtClean="0">
                <a:solidFill>
                  <a:srgbClr val="FF0000"/>
                </a:solidFill>
              </a:rPr>
              <a:t>bca</a:t>
            </a:r>
            <a:r>
              <a:rPr lang="en-US" altLang="zh-TW" dirty="0" err="1" smtClean="0"/>
              <a:t>dcb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</a:t>
            </a:r>
            <a:r>
              <a:rPr lang="en-US" altLang="zh-TW" dirty="0" err="1" smtClean="0">
                <a:solidFill>
                  <a:srgbClr val="FF0000"/>
                </a:solidFill>
              </a:rPr>
              <a:t>bac</a:t>
            </a:r>
            <a:r>
              <a:rPr lang="en-US" altLang="zh-TW" dirty="0" err="1" smtClean="0"/>
              <a:t>cabc</a:t>
            </a:r>
            <a:endParaRPr lang="en-US" altLang="zh-TW" dirty="0" smtClean="0"/>
          </a:p>
        </p:txBody>
      </p:sp>
      <p:sp>
        <p:nvSpPr>
          <p:cNvPr id="15" name="矩形 14"/>
          <p:cNvSpPr/>
          <p:nvPr/>
        </p:nvSpPr>
        <p:spPr>
          <a:xfrm>
            <a:off x="3618230" y="5274733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aabc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altLang="zh-TW" dirty="0" err="1" smtClean="0"/>
              <a:t>cb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cc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bc</a:t>
            </a:r>
            <a:endParaRPr lang="en-US" altLang="zh-TW" dirty="0" smtClean="0"/>
          </a:p>
        </p:txBody>
      </p:sp>
      <p:sp>
        <p:nvSpPr>
          <p:cNvPr id="16" name="矩形 15"/>
          <p:cNvSpPr/>
          <p:nvPr/>
        </p:nvSpPr>
        <p:spPr>
          <a:xfrm>
            <a:off x="6459218" y="5274732"/>
            <a:ext cx="1717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aab</a:t>
            </a:r>
            <a:r>
              <a:rPr lang="en-US" altLang="zh-TW" dirty="0" err="1" smtClean="0">
                <a:solidFill>
                  <a:srgbClr val="FF0000"/>
                </a:solidFill>
              </a:rPr>
              <a:t>ca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altLang="zh-TW" dirty="0" err="1" smtClean="0">
                <a:solidFill>
                  <a:srgbClr val="FF0000"/>
                </a:solidFill>
              </a:rPr>
              <a:t>c</a:t>
            </a:r>
            <a:r>
              <a:rPr lang="en-US" altLang="zh-TW" dirty="0" err="1" smtClean="0"/>
              <a:t>b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cb</a:t>
            </a:r>
            <a:r>
              <a:rPr lang="en-US" altLang="zh-TW" dirty="0" err="1" smtClean="0">
                <a:solidFill>
                  <a:srgbClr val="FF0000"/>
                </a:solidFill>
              </a:rPr>
              <a:t>acca</a:t>
            </a:r>
            <a:r>
              <a:rPr lang="en-US" altLang="zh-TW" dirty="0" err="1" smtClean="0"/>
              <a:t>bc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54831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362280"/>
              </p:ext>
            </p:extLst>
          </p:nvPr>
        </p:nvGraphicFramePr>
        <p:xfrm>
          <a:off x="822959" y="1843618"/>
          <a:ext cx="7543803" cy="32357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08761"/>
                <a:gridCol w="754380"/>
                <a:gridCol w="754380"/>
                <a:gridCol w="754380"/>
                <a:gridCol w="754380"/>
                <a:gridCol w="1508761"/>
                <a:gridCol w="1508761"/>
              </a:tblGrid>
              <a:tr h="4888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 = 2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888">
                <a:tc row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88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a:-1</a:t>
                      </a:r>
                    </a:p>
                    <a:p>
                      <a:r>
                        <a:rPr lang="en-US" altLang="zh-TW" dirty="0" smtClean="0"/>
                        <a:t>b:1</a:t>
                      </a:r>
                    </a:p>
                  </a:txBody>
                  <a:tcPr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a:-1</a:t>
                      </a:r>
                    </a:p>
                    <a:p>
                      <a:r>
                        <a:rPr lang="en-US" altLang="zh-TW" dirty="0" smtClean="0"/>
                        <a:t>b:1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8888">
                <a:tc row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88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a:1</a:t>
                      </a:r>
                    </a:p>
                    <a:p>
                      <a:r>
                        <a:rPr lang="en-US" altLang="zh-TW" dirty="0" smtClean="0"/>
                        <a:t>b:-1</a:t>
                      </a:r>
                    </a:p>
                  </a:txBody>
                  <a:tcPr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a:1</a:t>
                      </a:r>
                    </a:p>
                    <a:p>
                      <a:r>
                        <a:rPr lang="en-US" altLang="zh-TW" dirty="0" smtClean="0"/>
                        <a:t>b:-1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6" name="橢圓 5"/>
          <p:cNvSpPr/>
          <p:nvPr/>
        </p:nvSpPr>
        <p:spPr>
          <a:xfrm>
            <a:off x="1454776" y="1939501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2262174" y="2274352"/>
            <a:ext cx="610458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2447202" y="2328540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2137894" y="2442739"/>
            <a:ext cx="0" cy="25197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橢圓 10"/>
          <p:cNvSpPr/>
          <p:nvPr/>
        </p:nvSpPr>
        <p:spPr>
          <a:xfrm>
            <a:off x="1777285" y="267708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3" name="圓角矩形 12"/>
          <p:cNvSpPr/>
          <p:nvPr/>
        </p:nvSpPr>
        <p:spPr>
          <a:xfrm>
            <a:off x="5534024" y="3981449"/>
            <a:ext cx="1181102" cy="885826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 13"/>
          <p:cNvSpPr/>
          <p:nvPr/>
        </p:nvSpPr>
        <p:spPr>
          <a:xfrm>
            <a:off x="7077075" y="2844513"/>
            <a:ext cx="1181102" cy="885826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822959" y="5287868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Ｏ（</a:t>
            </a:r>
            <a:r>
              <a:rPr lang="en-US" altLang="zh-TW" dirty="0"/>
              <a:t>n</a:t>
            </a:r>
            <a:r>
              <a:rPr lang="en-US" altLang="zh-TW" baseline="30000" dirty="0"/>
              <a:t>3</a:t>
            </a:r>
            <a:r>
              <a:rPr lang="zh-TW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8900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1931832" y="2310255"/>
            <a:ext cx="1743" cy="15232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21098"/>
              </p:ext>
            </p:extLst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012711"/>
              </p:ext>
            </p:extLst>
          </p:nvPr>
        </p:nvGraphicFramePr>
        <p:xfrm>
          <a:off x="302546" y="4453942"/>
          <a:ext cx="191047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231"/>
                <a:gridCol w="104924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[3,4]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333067"/>
              </p:ext>
            </p:extLst>
          </p:nvPr>
        </p:nvGraphicFramePr>
        <p:xfrm>
          <a:off x="323895" y="2305388"/>
          <a:ext cx="1453389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921881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迴轉箭號 15"/>
          <p:cNvSpPr/>
          <p:nvPr/>
        </p:nvSpPr>
        <p:spPr>
          <a:xfrm rot="5400000">
            <a:off x="1958159" y="3675740"/>
            <a:ext cx="1393066" cy="1137703"/>
          </a:xfrm>
          <a:prstGeom prst="uturnArrow">
            <a:avLst>
              <a:gd name="adj1" fmla="val 11605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058246" y="321669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 flipH="1">
            <a:off x="3152775" y="2990384"/>
            <a:ext cx="1844228" cy="2062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4018626" y="5052531"/>
            <a:ext cx="1956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可是</a:t>
            </a:r>
            <a:r>
              <a:rPr lang="en-US" altLang="zh-TW" dirty="0" smtClean="0"/>
              <a:t>Key </a:t>
            </a:r>
            <a:r>
              <a:rPr lang="zh-TW" altLang="en-US" dirty="0" smtClean="0"/>
              <a:t>可能很大</a:t>
            </a:r>
            <a:endParaRPr lang="en-US" altLang="zh-TW" dirty="0" smtClean="0"/>
          </a:p>
          <a:p>
            <a:r>
              <a:rPr lang="en-US" altLang="zh-TW" dirty="0" smtClean="0"/>
              <a:t>EX: 100</a:t>
            </a:r>
            <a:r>
              <a:rPr lang="zh-TW" altLang="en-US" dirty="0" smtClean="0"/>
              <a:t>個</a:t>
            </a:r>
            <a:r>
              <a:rPr lang="en-US" altLang="zh-TW" dirty="0" smtClean="0"/>
              <a:t>d </a:t>
            </a:r>
            <a:r>
              <a:rPr lang="en-US" altLang="zh-TW" dirty="0" smtClean="0">
                <a:sym typeface="Wingdings" panose="05000000000000000000" pitchFamily="2" charset="2"/>
              </a:rPr>
              <a:t> 7</a:t>
            </a:r>
            <a:r>
              <a:rPr lang="en-US" altLang="zh-TW" baseline="30000" dirty="0" smtClean="0">
                <a:sym typeface="Wingdings" panose="05000000000000000000" pitchFamily="2" charset="2"/>
              </a:rPr>
              <a:t>100</a:t>
            </a:r>
            <a:endParaRPr lang="zh-TW" altLang="en-US" baseline="30000" dirty="0"/>
          </a:p>
        </p:txBody>
      </p:sp>
      <p:sp>
        <p:nvSpPr>
          <p:cNvPr id="24" name="矩形 23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5" name="矩形 24"/>
          <p:cNvSpPr/>
          <p:nvPr/>
        </p:nvSpPr>
        <p:spPr>
          <a:xfrm>
            <a:off x="2292435" y="5783168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Ｏ（</a:t>
            </a:r>
            <a:r>
              <a:rPr lang="en-US" altLang="zh-TW" dirty="0" smtClean="0"/>
              <a:t>n</a:t>
            </a:r>
            <a:r>
              <a:rPr lang="en-US" altLang="zh-TW" baseline="30000" dirty="0" smtClean="0"/>
              <a:t>2</a:t>
            </a:r>
            <a:r>
              <a:rPr lang="zh-TW" altLang="en-US" dirty="0" smtClean="0"/>
              <a:t>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139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1931832" y="231025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206061"/>
              </p:ext>
            </p:extLst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106026"/>
              </p:ext>
            </p:extLst>
          </p:nvPr>
        </p:nvGraphicFramePr>
        <p:xfrm>
          <a:off x="302547" y="4453942"/>
          <a:ext cx="191047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54"/>
                <a:gridCol w="12961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r>
                        <a:rPr lang="en-US" altLang="zh-TW" dirty="0" smtClean="0">
                          <a:solidFill>
                            <a:srgbClr val="92D050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[1,2],[3,4]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375792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7648977" y="3316744"/>
            <a:ext cx="112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d=11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943190"/>
              </p:ext>
            </p:extLst>
          </p:nvPr>
        </p:nvGraphicFramePr>
        <p:xfrm>
          <a:off x="323895" y="2305388"/>
          <a:ext cx="1453389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迴轉箭號 25"/>
          <p:cNvSpPr/>
          <p:nvPr/>
        </p:nvSpPr>
        <p:spPr>
          <a:xfrm rot="5400000">
            <a:off x="1958159" y="3675740"/>
            <a:ext cx="1393066" cy="1137703"/>
          </a:xfrm>
          <a:prstGeom prst="uturnArrow">
            <a:avLst>
              <a:gd name="adj1" fmla="val 11605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058246" y="321669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flipH="1">
            <a:off x="3152775" y="2990384"/>
            <a:ext cx="1844228" cy="2062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圓角矩形 31"/>
          <p:cNvSpPr/>
          <p:nvPr/>
        </p:nvSpPr>
        <p:spPr>
          <a:xfrm>
            <a:off x="2412483" y="2216523"/>
            <a:ext cx="1435668" cy="39677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3" name="圓角矩形圖說文字 32"/>
          <p:cNvSpPr/>
          <p:nvPr/>
        </p:nvSpPr>
        <p:spPr>
          <a:xfrm>
            <a:off x="3081799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4" name="圓角矩形圖說文字 33"/>
          <p:cNvSpPr/>
          <p:nvPr/>
        </p:nvSpPr>
        <p:spPr>
          <a:xfrm>
            <a:off x="4594860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 time</a:t>
            </a:r>
            <a:endParaRPr lang="zh-TW" altLang="en-US" dirty="0"/>
          </a:p>
        </p:txBody>
      </p:sp>
      <p:sp>
        <p:nvSpPr>
          <p:cNvPr id="35" name="圓角矩形圖說文字 34"/>
          <p:cNvSpPr/>
          <p:nvPr/>
        </p:nvSpPr>
        <p:spPr>
          <a:xfrm>
            <a:off x="7567972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 times</a:t>
            </a:r>
            <a:endParaRPr lang="zh-TW" altLang="en-US" dirty="0"/>
          </a:p>
        </p:txBody>
      </p:sp>
      <p:sp>
        <p:nvSpPr>
          <p:cNvPr id="36" name="圓角矩形圖說文字 35"/>
          <p:cNvSpPr/>
          <p:nvPr/>
        </p:nvSpPr>
        <p:spPr>
          <a:xfrm>
            <a:off x="6052457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 times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5242844" y="5894574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 = 6</a:t>
            </a:r>
            <a:endParaRPr lang="zh-TW" altLang="en-US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261191" y="4523385"/>
            <a:ext cx="1887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ym typeface="Wingdings" panose="05000000000000000000" pitchFamily="2" charset="2"/>
              </a:rPr>
              <a:t>7</a:t>
            </a:r>
            <a:r>
              <a:rPr lang="en-US" altLang="zh-TW" baseline="30000" dirty="0" smtClean="0">
                <a:sym typeface="Wingdings" panose="05000000000000000000" pitchFamily="2" charset="2"/>
              </a:rPr>
              <a:t>100</a:t>
            </a:r>
            <a:r>
              <a:rPr lang="en-US" altLang="zh-TW" dirty="0" smtClean="0">
                <a:sym typeface="Wingdings" panose="05000000000000000000" pitchFamily="2" charset="2"/>
              </a:rPr>
              <a:t>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≡ 1 (mod 11)</a:t>
            </a:r>
            <a:endParaRPr lang="zh-TW" altLang="en-US" baseline="30000" dirty="0"/>
          </a:p>
        </p:txBody>
      </p:sp>
      <p:sp>
        <p:nvSpPr>
          <p:cNvPr id="40" name="矩形 39"/>
          <p:cNvSpPr/>
          <p:nvPr/>
        </p:nvSpPr>
        <p:spPr>
          <a:xfrm>
            <a:off x="3059457" y="5515997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</a:t>
            </a:r>
            <a:r>
              <a:rPr lang="en-US" altLang="zh-TW" dirty="0"/>
              <a:t>+ </a:t>
            </a:r>
            <a:r>
              <a:rPr lang="en-US" altLang="zh-TW" dirty="0" smtClean="0"/>
              <a:t>p|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148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1931832" y="231025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426986"/>
              </p:ext>
            </p:extLst>
          </p:nvPr>
        </p:nvGraphicFramePr>
        <p:xfrm>
          <a:off x="302547" y="4453942"/>
          <a:ext cx="191047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54"/>
                <a:gridCol w="12961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r>
                        <a:rPr lang="en-US" altLang="zh-TW" dirty="0" smtClean="0">
                          <a:solidFill>
                            <a:srgbClr val="92D050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[3,4]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358404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7648977" y="3316744"/>
            <a:ext cx="112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d=13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283513"/>
              </p:ext>
            </p:extLst>
          </p:nvPr>
        </p:nvGraphicFramePr>
        <p:xfrm>
          <a:off x="323895" y="2305388"/>
          <a:ext cx="1453389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迴轉箭號 25"/>
          <p:cNvSpPr/>
          <p:nvPr/>
        </p:nvSpPr>
        <p:spPr>
          <a:xfrm rot="5400000">
            <a:off x="1958159" y="3675740"/>
            <a:ext cx="1393066" cy="1137703"/>
          </a:xfrm>
          <a:prstGeom prst="uturnArrow">
            <a:avLst>
              <a:gd name="adj1" fmla="val 11605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058246" y="321669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flipH="1">
            <a:off x="3152775" y="2990384"/>
            <a:ext cx="1844228" cy="2062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圓角矩形圖說文字 33"/>
          <p:cNvSpPr/>
          <p:nvPr/>
        </p:nvSpPr>
        <p:spPr>
          <a:xfrm>
            <a:off x="4594860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 time</a:t>
            </a:r>
            <a:endParaRPr lang="zh-TW" altLang="en-US" dirty="0"/>
          </a:p>
        </p:txBody>
      </p:sp>
      <p:sp>
        <p:nvSpPr>
          <p:cNvPr id="35" name="圓角矩形圖說文字 34"/>
          <p:cNvSpPr/>
          <p:nvPr/>
        </p:nvSpPr>
        <p:spPr>
          <a:xfrm>
            <a:off x="7567972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6" name="圓角矩形圖說文字 35"/>
          <p:cNvSpPr/>
          <p:nvPr/>
        </p:nvSpPr>
        <p:spPr>
          <a:xfrm>
            <a:off x="6052457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5242844" y="5894574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 =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059457" y="5515997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</a:t>
            </a:r>
            <a:r>
              <a:rPr lang="en-US" altLang="zh-TW" dirty="0"/>
              <a:t>+ </a:t>
            </a:r>
            <a:r>
              <a:rPr lang="en-US" altLang="zh-TW" dirty="0" smtClean="0"/>
              <a:t>p|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  <p:sp>
        <p:nvSpPr>
          <p:cNvPr id="31" name="圓角矩形 30"/>
          <p:cNvSpPr/>
          <p:nvPr/>
        </p:nvSpPr>
        <p:spPr>
          <a:xfrm>
            <a:off x="3968909" y="4080429"/>
            <a:ext cx="2802122" cy="172362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要備份碰撞後確認用的組合，需要</a:t>
            </a:r>
            <a:r>
              <a:rPr lang="en-US" altLang="zh-TW" dirty="0" smtClean="0"/>
              <a:t>O(sigma)</a:t>
            </a:r>
            <a:r>
              <a:rPr lang="zh-TW" altLang="en-US" dirty="0" smtClean="0"/>
              <a:t>的時間。</a:t>
            </a:r>
            <a:endParaRPr lang="zh-TW" altLang="en-US" dirty="0"/>
          </a:p>
        </p:txBody>
      </p:sp>
      <p:sp>
        <p:nvSpPr>
          <p:cNvPr id="32" name="圓角矩形 31"/>
          <p:cNvSpPr/>
          <p:nvPr/>
        </p:nvSpPr>
        <p:spPr>
          <a:xfrm>
            <a:off x="3968909" y="4080430"/>
            <a:ext cx="2802122" cy="37351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一開始沒想到的問題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092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IV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1. Counting Sequences and Sigma Length</a:t>
            </a:r>
          </a:p>
          <a:p>
            <a:r>
              <a:rPr lang="en-US" altLang="zh-TW" dirty="0" smtClean="0"/>
              <a:t>2. Initial 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 Coefficient in Hash Size. (Randomly Choice)</a:t>
            </a:r>
          </a:p>
          <a:p>
            <a:r>
              <a:rPr lang="en-US" altLang="zh-TW" dirty="0" smtClean="0"/>
              <a:t>3. Initial Cache Tables , which means comb. </a:t>
            </a:r>
            <a:r>
              <a:rPr lang="en-US" altLang="zh-TW" dirty="0"/>
              <a:t>s</a:t>
            </a:r>
            <a:r>
              <a:rPr lang="en-US" altLang="zh-TW" dirty="0" smtClean="0"/>
              <a:t>tart from that position.</a:t>
            </a:r>
          </a:p>
          <a:p>
            <a:r>
              <a:rPr lang="en-US" altLang="zh-TW" dirty="0" smtClean="0"/>
              <a:t>3. for all length</a:t>
            </a:r>
            <a:r>
              <a:rPr lang="en-US" altLang="zh-TW" i="1" dirty="0" smtClean="0"/>
              <a:t> l </a:t>
            </a:r>
            <a:r>
              <a:rPr lang="en-US" altLang="zh-TW" dirty="0" smtClean="0"/>
              <a:t>in Sequences Length</a:t>
            </a:r>
          </a:p>
          <a:p>
            <a:r>
              <a:rPr lang="en-US" altLang="zh-TW" dirty="0" smtClean="0"/>
              <a:t>4. Clear Hash Table, make next Cache Table for S1, put it into HT.</a:t>
            </a:r>
          </a:p>
          <a:p>
            <a:r>
              <a:rPr lang="en-US" altLang="zh-TW" dirty="0" smtClean="0"/>
              <a:t>5.Make next CT for S2.</a:t>
            </a:r>
          </a:p>
          <a:p>
            <a:r>
              <a:rPr lang="en-US" altLang="zh-TW" dirty="0" smtClean="0"/>
              <a:t>6. Use it and HT to find Common Interval</a:t>
            </a:r>
          </a:p>
          <a:p>
            <a:r>
              <a:rPr lang="en-US" altLang="zh-TW" dirty="0" smtClean="0"/>
              <a:t>7. do next length.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6317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</a:t>
            </a:r>
            <a:r>
              <a:rPr lang="en-US" altLang="zh-TW" dirty="0" smtClean="0"/>
              <a:t>IV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035943" y="3020486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1852411" y="2310255"/>
            <a:ext cx="79421" cy="15232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529068"/>
              </p:ext>
            </p:extLst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Coeff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302547" y="4453942"/>
          <a:ext cx="191047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54"/>
                <a:gridCol w="12961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r>
                        <a:rPr lang="en-US" altLang="zh-TW" dirty="0" smtClean="0">
                          <a:solidFill>
                            <a:srgbClr val="92D050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[3,4]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562440"/>
              </p:ext>
            </p:extLst>
          </p:nvPr>
        </p:nvGraphicFramePr>
        <p:xfrm>
          <a:off x="2363272" y="1699312"/>
          <a:ext cx="6216984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90776"/>
                <a:gridCol w="690776"/>
                <a:gridCol w="690776"/>
                <a:gridCol w="690776"/>
                <a:gridCol w="690776"/>
                <a:gridCol w="690776"/>
                <a:gridCol w="690776"/>
                <a:gridCol w="690776"/>
                <a:gridCol w="690776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864154" y="3247206"/>
            <a:ext cx="2086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H_size</a:t>
            </a:r>
            <a:r>
              <a:rPr lang="en-US" altLang="zh-TW" sz="3600" dirty="0" smtClean="0"/>
              <a:t>=16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98794"/>
              </p:ext>
            </p:extLst>
          </p:nvPr>
        </p:nvGraphicFramePr>
        <p:xfrm>
          <a:off x="323895" y="2305388"/>
          <a:ext cx="1453389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>
            <a:off x="5837816" y="2871989"/>
            <a:ext cx="0" cy="324547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077688" y="3973406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</a:t>
            </a:r>
            <a:r>
              <a:rPr lang="en-US" altLang="zh-TW" dirty="0"/>
              <a:t>+ </a:t>
            </a:r>
            <a:r>
              <a:rPr lang="en-US" altLang="zh-TW" dirty="0" smtClean="0"/>
              <a:t>p|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  <p:cxnSp>
        <p:nvCxnSpPr>
          <p:cNvPr id="17" name="直線接點 16"/>
          <p:cNvCxnSpPr/>
          <p:nvPr/>
        </p:nvCxnSpPr>
        <p:spPr>
          <a:xfrm>
            <a:off x="128789" y="3992451"/>
            <a:ext cx="1803043" cy="128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163791"/>
              </p:ext>
            </p:extLst>
          </p:nvPr>
        </p:nvGraphicFramePr>
        <p:xfrm>
          <a:off x="1778129" y="6022194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1,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0,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2,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3,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1" name="直線單箭頭接點 40"/>
          <p:cNvCxnSpPr/>
          <p:nvPr/>
        </p:nvCxnSpPr>
        <p:spPr>
          <a:xfrm>
            <a:off x="2069876" y="3363391"/>
            <a:ext cx="3090705" cy="25351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橢圓 41"/>
          <p:cNvSpPr/>
          <p:nvPr/>
        </p:nvSpPr>
        <p:spPr>
          <a:xfrm>
            <a:off x="2563669" y="277091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609067" y="3464210"/>
            <a:ext cx="1082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Put… into</a:t>
            </a:r>
            <a:endParaRPr lang="zh-TW" altLang="en-US" dirty="0"/>
          </a:p>
        </p:txBody>
      </p:sp>
      <p:cxnSp>
        <p:nvCxnSpPr>
          <p:cNvPr id="45" name="直線接點 44"/>
          <p:cNvCxnSpPr/>
          <p:nvPr/>
        </p:nvCxnSpPr>
        <p:spPr>
          <a:xfrm>
            <a:off x="7718604" y="1865933"/>
            <a:ext cx="1064788" cy="7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7693383" y="2367043"/>
            <a:ext cx="1064788" cy="7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橢圓 47"/>
          <p:cNvSpPr/>
          <p:nvPr/>
        </p:nvSpPr>
        <p:spPr>
          <a:xfrm>
            <a:off x="5290849" y="2938337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9" name="橢圓 48"/>
          <p:cNvSpPr/>
          <p:nvPr/>
        </p:nvSpPr>
        <p:spPr>
          <a:xfrm>
            <a:off x="2431635" y="5292146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cxnSp>
        <p:nvCxnSpPr>
          <p:cNvPr id="50" name="直線單箭頭接點 49"/>
          <p:cNvCxnSpPr/>
          <p:nvPr/>
        </p:nvCxnSpPr>
        <p:spPr>
          <a:xfrm flipH="1" flipV="1">
            <a:off x="2213020" y="5626997"/>
            <a:ext cx="871263" cy="1813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52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468952"/>
              </p:ext>
            </p:extLst>
          </p:nvPr>
        </p:nvGraphicFramePr>
        <p:xfrm>
          <a:off x="822325" y="1846263"/>
          <a:ext cx="75438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  <a:gridCol w="15087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Problem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12602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10931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10783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10190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</a:t>
                      </a:r>
                      <a:r>
                        <a:rPr lang="en-US" altLang="zh-TW" baseline="0" dirty="0" smtClean="0"/>
                        <a:t> 1nn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99.2%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92.9%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97.8%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97.7%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1nn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99.6%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94.9%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94.3%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</a:t>
                      </a:r>
                      <a:r>
                        <a:rPr lang="en-US" altLang="zh-TW" baseline="0" dirty="0" smtClean="0"/>
                        <a:t> 3nn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89.5%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97.6%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3nn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95.7%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95.7%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96.0%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 5nn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89.5%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97.6%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5nn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95.3%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96.0%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 7nn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97.4%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90.6%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97.5%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97.1%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7nn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93.8%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96.6%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 9nn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97.0%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93.0%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97.3</a:t>
                      </a:r>
                      <a:r>
                        <a:rPr lang="en-US" altLang="zh-TW" dirty="0" smtClean="0"/>
                        <a:t>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94.3%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LCS 9nn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98.9%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95.3%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95.9%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96.0%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76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814414"/>
              </p:ext>
            </p:extLst>
          </p:nvPr>
        </p:nvGraphicFramePr>
        <p:xfrm>
          <a:off x="6100673" y="4189367"/>
          <a:ext cx="29602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128"/>
                <a:gridCol w="148012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0" dirty="0" smtClean="0"/>
                        <a:t> (0010)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x+1</a:t>
                      </a:r>
                      <a:r>
                        <a:rPr lang="en-US" altLang="zh-TW" baseline="0" dirty="0" smtClean="0"/>
                        <a:t> (0011)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(0111)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+x+1 (1011)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321746"/>
              </p:ext>
            </p:extLst>
          </p:nvPr>
        </p:nvGraphicFramePr>
        <p:xfrm>
          <a:off x="302547" y="4453942"/>
          <a:ext cx="285022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553"/>
                <a:gridCol w="12096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r>
                        <a:rPr lang="en-US" altLang="zh-TW" dirty="0" smtClean="0">
                          <a:solidFill>
                            <a:srgbClr val="92D050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+1 (0101)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+1 (1001)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strike="noStrike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[1,2][3,4]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929270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(0110)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+1 (0101)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0" dirty="0" smtClean="0"/>
                        <a:t> (1110)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928141" y="3302797"/>
            <a:ext cx="3302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d=x</a:t>
            </a:r>
            <a:r>
              <a:rPr lang="en-US" altLang="zh-TW" sz="3600" baseline="30000" dirty="0" smtClean="0"/>
              <a:t>4</a:t>
            </a:r>
            <a:r>
              <a:rPr lang="en-US" altLang="zh-TW" sz="3600" dirty="0" smtClean="0"/>
              <a:t>+x+1 (0011)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85909"/>
              </p:ext>
            </p:extLst>
          </p:nvPr>
        </p:nvGraphicFramePr>
        <p:xfrm>
          <a:off x="323897" y="2305388"/>
          <a:ext cx="1971628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4086"/>
                <a:gridCol w="147754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strike="noStrike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+1 (1001)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+1 (0101)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迴轉箭號 25"/>
          <p:cNvSpPr/>
          <p:nvPr/>
        </p:nvSpPr>
        <p:spPr>
          <a:xfrm rot="5400000">
            <a:off x="2574341" y="3463352"/>
            <a:ext cx="1393066" cy="1592601"/>
          </a:xfrm>
          <a:prstGeom prst="uturnArrow">
            <a:avLst>
              <a:gd name="adj1" fmla="val 12473"/>
              <a:gd name="adj2" fmla="val 20814"/>
              <a:gd name="adj3" fmla="val 29340"/>
              <a:gd name="adj4" fmla="val 43750"/>
              <a:gd name="adj5" fmla="val 559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362878" y="3193787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flipH="1">
            <a:off x="3795730" y="3311678"/>
            <a:ext cx="2248191" cy="19080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圓角矩形圖說文字 33"/>
          <p:cNvSpPr/>
          <p:nvPr/>
        </p:nvSpPr>
        <p:spPr>
          <a:xfrm>
            <a:off x="4594860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 time</a:t>
            </a:r>
            <a:endParaRPr lang="zh-TW" altLang="en-US" dirty="0"/>
          </a:p>
        </p:txBody>
      </p:sp>
      <p:sp>
        <p:nvSpPr>
          <p:cNvPr id="35" name="圓角矩形圖說文字 34"/>
          <p:cNvSpPr/>
          <p:nvPr/>
        </p:nvSpPr>
        <p:spPr>
          <a:xfrm>
            <a:off x="7567972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 times</a:t>
            </a:r>
            <a:endParaRPr lang="zh-TW" altLang="en-US" dirty="0"/>
          </a:p>
        </p:txBody>
      </p:sp>
      <p:sp>
        <p:nvSpPr>
          <p:cNvPr id="36" name="圓角矩形圖說文字 35"/>
          <p:cNvSpPr/>
          <p:nvPr/>
        </p:nvSpPr>
        <p:spPr>
          <a:xfrm>
            <a:off x="6052457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5242844" y="5894574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 = 4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2303307" y="223241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971942"/>
              </p:ext>
            </p:extLst>
          </p:nvPr>
        </p:nvGraphicFramePr>
        <p:xfrm>
          <a:off x="5437154" y="482600"/>
          <a:ext cx="1515291" cy="11125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722811"/>
                <a:gridCol w="383178"/>
                <a:gridCol w="40930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GF(2)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矩形 32"/>
          <p:cNvSpPr/>
          <p:nvPr/>
        </p:nvSpPr>
        <p:spPr>
          <a:xfrm>
            <a:off x="3059457" y="5515997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</a:t>
            </a:r>
            <a:r>
              <a:rPr lang="en-US" altLang="zh-TW" dirty="0"/>
              <a:t>+ </a:t>
            </a:r>
            <a:r>
              <a:rPr lang="en-US" altLang="zh-TW" dirty="0" smtClean="0"/>
              <a:t>p|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5215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III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6100673" y="4189367"/>
          <a:ext cx="29602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128"/>
                <a:gridCol w="148012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0" dirty="0" smtClean="0"/>
                        <a:t> (0010)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x+1</a:t>
                      </a:r>
                      <a:r>
                        <a:rPr lang="en-US" altLang="zh-TW" baseline="0" dirty="0" smtClean="0"/>
                        <a:t> (0011)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(0111)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+x+1 (1011)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401418"/>
              </p:ext>
            </p:extLst>
          </p:nvPr>
        </p:nvGraphicFramePr>
        <p:xfrm>
          <a:off x="302547" y="4453942"/>
          <a:ext cx="28502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553"/>
                <a:gridCol w="12096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Interval</a:t>
                      </a:r>
                      <a:r>
                        <a:rPr lang="en-US" altLang="zh-TW" dirty="0" smtClean="0">
                          <a:solidFill>
                            <a:srgbClr val="92D050"/>
                          </a:solidFill>
                        </a:rPr>
                        <a:t>s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 (0100)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[3,4]</a:t>
                      </a:r>
                      <a:endParaRPr lang="zh-TW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+1 (1001)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strike="noStrike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(1111)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83279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51000"/>
                <a:gridCol w="1551000"/>
                <a:gridCol w="1551000"/>
                <a:gridCol w="1551000"/>
              </a:tblGrid>
              <a:tr h="4888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(0110)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</a:t>
                      </a:r>
                      <a:r>
                        <a:rPr lang="en-US" altLang="zh-TW" sz="1200" dirty="0" smtClean="0"/>
                        <a:t>(1111)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baseline="0" dirty="0" smtClean="0"/>
                        <a:t> (0100)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22960" y="18723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圓角矩形 19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928141" y="3302797"/>
            <a:ext cx="3457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d=x</a:t>
            </a:r>
            <a:r>
              <a:rPr lang="en-US" altLang="zh-TW" sz="3600" baseline="30000" dirty="0" smtClean="0"/>
              <a:t>4</a:t>
            </a:r>
            <a:r>
              <a:rPr lang="en-US" altLang="zh-TW" sz="3600" dirty="0" smtClean="0"/>
              <a:t>+x</a:t>
            </a:r>
            <a:r>
              <a:rPr lang="en-US" altLang="zh-TW" sz="3600" baseline="30000" dirty="0" smtClean="0"/>
              <a:t>3</a:t>
            </a:r>
            <a:r>
              <a:rPr lang="en-US" altLang="zh-TW" sz="3600" dirty="0" smtClean="0"/>
              <a:t>+1 (1001)</a:t>
            </a:r>
            <a:endParaRPr lang="zh-TW" altLang="en-US" sz="3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805437"/>
              </p:ext>
            </p:extLst>
          </p:nvPr>
        </p:nvGraphicFramePr>
        <p:xfrm>
          <a:off x="323897" y="2305388"/>
          <a:ext cx="1971628" cy="1752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4086"/>
                <a:gridCol w="147754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strike="noStrike" baseline="30000" dirty="0" smtClean="0"/>
                        <a:t>2</a:t>
                      </a:r>
                      <a:r>
                        <a:rPr lang="en-US" altLang="zh-TW" dirty="0" smtClean="0"/>
                        <a:t>+x (1110)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+1 (1001)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 (0100)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(1111)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迴轉箭號 25"/>
          <p:cNvSpPr/>
          <p:nvPr/>
        </p:nvSpPr>
        <p:spPr>
          <a:xfrm rot="5400000">
            <a:off x="2574341" y="3463352"/>
            <a:ext cx="1393066" cy="1592601"/>
          </a:xfrm>
          <a:prstGeom prst="uturnArrow">
            <a:avLst>
              <a:gd name="adj1" fmla="val 12473"/>
              <a:gd name="adj2" fmla="val 20814"/>
              <a:gd name="adj3" fmla="val 29340"/>
              <a:gd name="adj4" fmla="val 43750"/>
              <a:gd name="adj5" fmla="val 559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362878" y="3193787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715126" y="1145216"/>
            <a:ext cx="190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26129" y="3178725"/>
            <a:ext cx="101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flipH="1">
            <a:off x="3795730" y="3311678"/>
            <a:ext cx="2248191" cy="19080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3059457" y="5515997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</a:t>
            </a:r>
            <a:r>
              <a:rPr lang="en-US" altLang="zh-TW" dirty="0"/>
              <a:t>+ </a:t>
            </a:r>
            <a:r>
              <a:rPr lang="en-US" altLang="zh-TW" dirty="0" smtClean="0"/>
              <a:t>p|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∑</a:t>
            </a:r>
            <a:r>
              <a:rPr lang="en-US" altLang="zh-TW" dirty="0" smtClean="0"/>
              <a:t>|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  <p:sp>
        <p:nvSpPr>
          <p:cNvPr id="34" name="圓角矩形圖說文字 33"/>
          <p:cNvSpPr/>
          <p:nvPr/>
        </p:nvSpPr>
        <p:spPr>
          <a:xfrm>
            <a:off x="4594860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 time</a:t>
            </a:r>
            <a:endParaRPr lang="zh-TW" altLang="en-US" dirty="0"/>
          </a:p>
        </p:txBody>
      </p:sp>
      <p:sp>
        <p:nvSpPr>
          <p:cNvPr id="35" name="圓角矩形圖說文字 34"/>
          <p:cNvSpPr/>
          <p:nvPr/>
        </p:nvSpPr>
        <p:spPr>
          <a:xfrm>
            <a:off x="7567972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times</a:t>
            </a:r>
            <a:endParaRPr lang="zh-TW" altLang="en-US" dirty="0"/>
          </a:p>
        </p:txBody>
      </p:sp>
      <p:sp>
        <p:nvSpPr>
          <p:cNvPr id="36" name="圓角矩形圖說文字 35"/>
          <p:cNvSpPr/>
          <p:nvPr/>
        </p:nvSpPr>
        <p:spPr>
          <a:xfrm>
            <a:off x="6052457" y="2677008"/>
            <a:ext cx="970348" cy="492472"/>
          </a:xfrm>
          <a:prstGeom prst="wedgeRoundRectCallout">
            <a:avLst>
              <a:gd name="adj1" fmla="val -46566"/>
              <a:gd name="adj2" fmla="val -87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time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190308" y="38335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(4 bits)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5242844" y="5894574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 = 3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2303307" y="223241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510302"/>
              </p:ext>
            </p:extLst>
          </p:nvPr>
        </p:nvGraphicFramePr>
        <p:xfrm>
          <a:off x="5437154" y="482600"/>
          <a:ext cx="1515291" cy="11125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722811"/>
                <a:gridCol w="383178"/>
                <a:gridCol w="40930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GF(2)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479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Primitive Root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If X is </a:t>
                </a:r>
                <a:r>
                  <a:rPr lang="en-US" altLang="zh-TW" dirty="0"/>
                  <a:t>p</a:t>
                </a:r>
                <a:r>
                  <a:rPr lang="en-US" altLang="zh-TW" dirty="0" smtClean="0"/>
                  <a:t>rimitive root of GF(p</a:t>
                </a:r>
                <a:r>
                  <a:rPr lang="en-US" altLang="zh-TW" baseline="30000" dirty="0" smtClean="0"/>
                  <a:t>m</a:t>
                </a:r>
                <a:r>
                  <a:rPr lang="en-US" altLang="zh-TW" dirty="0" smtClean="0"/>
                  <a:t>), </a:t>
                </a:r>
                <a:r>
                  <a:rPr lang="en-US" altLang="zh-TW" dirty="0"/>
                  <a:t>that all element expect zero can be represent as product of </a:t>
                </a:r>
                <a:r>
                  <a:rPr lang="en-US" altLang="zh-TW" dirty="0" smtClean="0"/>
                  <a:t>X, </a:t>
                </a:r>
                <a:r>
                  <a:rPr lang="de-DE" altLang="zh-TW" dirty="0" smtClean="0"/>
                  <a:t>so </a:t>
                </a:r>
                <a:r>
                  <a:rPr lang="de-DE" altLang="zh-TW" dirty="0"/>
                  <a:t>GF(x) = </a:t>
                </a:r>
                <a:r>
                  <a:rPr lang="de-DE" altLang="zh-TW" dirty="0" smtClean="0"/>
                  <a:t>{0</a:t>
                </a:r>
                <a:r>
                  <a:rPr lang="de-DE" altLang="zh-TW" dirty="0"/>
                  <a:t>,</a:t>
                </a:r>
                <a:r>
                  <a:rPr lang="de-DE" altLang="zh-TW" dirty="0" smtClean="0"/>
                  <a:t> 1, X, X2</a:t>
                </a:r>
                <a:r>
                  <a:rPr lang="de-DE" altLang="zh-TW" dirty="0"/>
                  <a:t>,</a:t>
                </a:r>
                <a:r>
                  <a:rPr lang="de-DE" altLang="zh-TW" dirty="0" smtClean="0"/>
                  <a:t> X3, ... ...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de-DE" altLang="zh-TW" dirty="0" smtClean="0"/>
                  <a:t>}.</a:t>
                </a:r>
              </a:p>
              <a:p>
                <a:r>
                  <a:rPr lang="en-US" altLang="zh-TW" dirty="0" smtClean="0"/>
                  <a:t>There are </a:t>
                </a:r>
                <a:r>
                  <a:rPr lang="el-GR" altLang="zh-TW" i="1" dirty="0" smtClean="0"/>
                  <a:t>ϕ</a:t>
                </a:r>
                <a:r>
                  <a:rPr lang="en-US" altLang="zh-TW" dirty="0" smtClean="0"/>
                  <a:t>(p</a:t>
                </a:r>
                <a:r>
                  <a:rPr lang="en-US" altLang="zh-TW" baseline="30000" dirty="0" smtClean="0"/>
                  <a:t>m</a:t>
                </a:r>
                <a:r>
                  <a:rPr lang="en-US" altLang="zh-TW" dirty="0" smtClean="0"/>
                  <a:t>-1) primitive root in GF(</a:t>
                </a:r>
                <a:r>
                  <a:rPr lang="en-US" altLang="zh-TW" dirty="0"/>
                  <a:t>p</a:t>
                </a:r>
                <a:r>
                  <a:rPr lang="en-US" altLang="zh-TW" baseline="30000" dirty="0"/>
                  <a:t>m</a:t>
                </a:r>
                <a:r>
                  <a:rPr lang="en-US" altLang="zh-TW" dirty="0" smtClean="0"/>
                  <a:t>)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de-DE" altLang="zh-TW" dirty="0" smtClean="0"/>
              </a:p>
              <a:p>
                <a:r>
                  <a:rPr lang="en-US" altLang="zh-TW" dirty="0" smtClean="0"/>
                  <a:t>(x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/>
                  <a:t>+x+1)(</a:t>
                </a:r>
                <a:r>
                  <a:rPr lang="en-US" altLang="zh-TW" dirty="0"/>
                  <a:t>x</a:t>
                </a:r>
                <a:r>
                  <a:rPr lang="en-US" altLang="zh-TW" baseline="30000" dirty="0"/>
                  <a:t>3</a:t>
                </a:r>
                <a:r>
                  <a:rPr lang="en-US" altLang="zh-TW" dirty="0"/>
                  <a:t>+x+1</a:t>
                </a:r>
                <a:r>
                  <a:rPr lang="en-US" altLang="zh-TW" dirty="0" smtClean="0"/>
                  <a:t>) = x</a:t>
                </a:r>
                <a:r>
                  <a:rPr lang="en-US" altLang="zh-TW" baseline="30000" dirty="0" smtClean="0"/>
                  <a:t>5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+1 </a:t>
                </a:r>
                <a:r>
                  <a:rPr lang="en-US" altLang="zh-TW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≡</a:t>
                </a:r>
                <a:r>
                  <a:rPr lang="en-US" altLang="zh-TW" dirty="0" smtClean="0"/>
                  <a:t> x+1 (mod x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3</a:t>
                </a:r>
                <a:r>
                  <a:rPr lang="en-US" altLang="zh-TW" dirty="0" smtClean="0"/>
                  <a:t>+1)</a:t>
                </a:r>
              </a:p>
              <a:p>
                <a:r>
                  <a:rPr lang="en-US" altLang="zh-TW" dirty="0" smtClean="0"/>
                  <a:t>(x)</a:t>
                </a:r>
                <a:r>
                  <a:rPr lang="en-US" altLang="zh-TW" baseline="30000" dirty="0" smtClean="0"/>
                  <a:t>7</a:t>
                </a:r>
                <a:r>
                  <a:rPr lang="en-US" altLang="zh-TW" dirty="0" smtClean="0"/>
                  <a:t>(x)</a:t>
                </a:r>
                <a:r>
                  <a:rPr lang="en-US" altLang="zh-TW" baseline="30000" dirty="0" smtClean="0"/>
                  <a:t>5</a:t>
                </a:r>
                <a:r>
                  <a:rPr lang="en-US" altLang="zh-TW" dirty="0" smtClean="0"/>
                  <a:t> = (x)</a:t>
                </a:r>
                <a:r>
                  <a:rPr lang="en-US" altLang="zh-TW" baseline="30000" dirty="0" smtClean="0"/>
                  <a:t>(7+5)</a:t>
                </a:r>
                <a:r>
                  <a:rPr lang="en-US" altLang="zh-TW" dirty="0" smtClean="0"/>
                  <a:t> = (x)</a:t>
                </a:r>
                <a:r>
                  <a:rPr lang="en-US" altLang="zh-TW" baseline="30000" dirty="0" smtClean="0"/>
                  <a:t>12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≡ x+1 (mod </a:t>
                </a:r>
                <a:r>
                  <a:rPr lang="en-US" altLang="zh-TW" dirty="0"/>
                  <a:t>x</a:t>
                </a:r>
                <a:r>
                  <a:rPr lang="en-US" altLang="zh-TW" baseline="30000" dirty="0"/>
                  <a:t>4</a:t>
                </a:r>
                <a:r>
                  <a:rPr lang="en-US" altLang="zh-TW" dirty="0"/>
                  <a:t>+x</a:t>
                </a:r>
                <a:r>
                  <a:rPr lang="en-US" altLang="zh-TW" baseline="30000" dirty="0"/>
                  <a:t>3</a:t>
                </a:r>
                <a:r>
                  <a:rPr lang="en-US" altLang="zh-TW" dirty="0"/>
                  <a:t>+1</a:t>
                </a:r>
                <a:r>
                  <a:rPr lang="en-US" altLang="zh-TW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endParaRPr lang="de-DE" altLang="zh-TW" dirty="0" smtClean="0"/>
              </a:p>
              <a:p>
                <a:endParaRPr lang="de-DE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808" t="-2273"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6100673" y="4189367"/>
          <a:ext cx="29602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128"/>
                <a:gridCol w="148012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0" dirty="0" smtClean="0"/>
                        <a:t> (0010)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x+1</a:t>
                      </a:r>
                      <a:r>
                        <a:rPr lang="en-US" altLang="zh-TW" baseline="0" dirty="0" smtClean="0"/>
                        <a:t> (0011)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+x+1 (0111)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+x+1 (1011)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964813"/>
              </p:ext>
            </p:extLst>
          </p:nvPr>
        </p:nvGraphicFramePr>
        <p:xfrm>
          <a:off x="889634" y="2927139"/>
          <a:ext cx="5225416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3177"/>
                <a:gridCol w="653177"/>
                <a:gridCol w="653177"/>
                <a:gridCol w="653177"/>
                <a:gridCol w="653177"/>
                <a:gridCol w="653177"/>
                <a:gridCol w="653177"/>
                <a:gridCol w="65317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0010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0001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0011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22959" y="4407697"/>
            <a:ext cx="3457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d=x</a:t>
            </a:r>
            <a:r>
              <a:rPr lang="en-US" altLang="zh-TW" sz="3600" baseline="30000" dirty="0" smtClean="0"/>
              <a:t>4</a:t>
            </a:r>
            <a:r>
              <a:rPr lang="en-US" altLang="zh-TW" sz="3600" dirty="0" smtClean="0"/>
              <a:t>+x</a:t>
            </a:r>
            <a:r>
              <a:rPr lang="en-US" altLang="zh-TW" sz="3600" baseline="30000" dirty="0" smtClean="0"/>
              <a:t>3</a:t>
            </a:r>
            <a:r>
              <a:rPr lang="en-US" altLang="zh-TW" sz="3600" dirty="0" smtClean="0"/>
              <a:t>+1 (1001)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74010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This proposal provide three type algorithm for common combination interval problem.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133517"/>
              </p:ext>
            </p:extLst>
          </p:nvPr>
        </p:nvGraphicFramePr>
        <p:xfrm>
          <a:off x="914401" y="2625725"/>
          <a:ext cx="7452359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472"/>
                <a:gridCol w="2235707"/>
                <a:gridCol w="1863090"/>
                <a:gridCol w="18630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Time Complexity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Pros.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Cons.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 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O(n</a:t>
                      </a:r>
                      <a:r>
                        <a:rPr lang="en-US" altLang="zh-TW" baseline="30000" dirty="0" smtClean="0"/>
                        <a:t>3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Easy</a:t>
                      </a:r>
                      <a:r>
                        <a:rPr lang="en-US" altLang="zh-TW" baseline="0" dirty="0" smtClean="0"/>
                        <a:t> for implement.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Time complexity is high.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 II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O(n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The lowest Time complexity.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The</a:t>
                      </a:r>
                      <a:r>
                        <a:rPr lang="en-US" altLang="zh-TW" baseline="0" dirty="0" smtClean="0"/>
                        <a:t> cost of compare key may be high.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 III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O(n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((1+p)|</a:t>
                      </a:r>
                      <a:r>
                        <a:rPr lang="en-US" altLang="zh-TW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∑</a:t>
                      </a:r>
                      <a:r>
                        <a:rPr lang="en-US" altLang="zh-TW" dirty="0" smtClean="0"/>
                        <a:t>|))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 IV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O(n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(|</a:t>
                      </a:r>
                      <a:r>
                        <a:rPr lang="en-US" altLang="zh-TW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∑</a:t>
                      </a:r>
                      <a:r>
                        <a:rPr lang="en-US" altLang="zh-TW" dirty="0" smtClean="0"/>
                        <a:t>|))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Random</a:t>
                      </a:r>
                      <a:r>
                        <a:rPr lang="en-US" altLang="zh-TW" baseline="0" dirty="0" smtClean="0"/>
                        <a:t> execute time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14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Future 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Find the relation between p and polynomials.</a:t>
            </a:r>
          </a:p>
          <a:p>
            <a:pPr lvl="1"/>
            <a:r>
              <a:rPr lang="en-US" altLang="zh-TW" sz="2400" dirty="0"/>
              <a:t>The </a:t>
            </a:r>
            <a:r>
              <a:rPr lang="en-US" altLang="zh-TW" sz="2400" dirty="0" smtClean="0"/>
              <a:t>parameters : </a:t>
            </a:r>
          </a:p>
          <a:p>
            <a:pPr lvl="2"/>
            <a:r>
              <a:rPr lang="en-US" altLang="zh-TW" sz="1800" dirty="0" smtClean="0"/>
              <a:t>Sequence Length</a:t>
            </a:r>
          </a:p>
          <a:p>
            <a:pPr lvl="2"/>
            <a:r>
              <a:rPr lang="en-US" altLang="zh-TW" sz="1800" dirty="0" smtClean="0"/>
              <a:t>Sequence </a:t>
            </a:r>
            <a:r>
              <a:rPr lang="en-US" altLang="zh-TW" sz="1800" dirty="0"/>
              <a:t>distribution (Beta </a:t>
            </a:r>
            <a:r>
              <a:rPr lang="en-US" altLang="zh-TW" sz="1800" dirty="0" smtClean="0"/>
              <a:t>Distribution)</a:t>
            </a:r>
          </a:p>
          <a:p>
            <a:pPr lvl="2"/>
            <a:r>
              <a:rPr lang="en-US" altLang="zh-TW" sz="1800" dirty="0" smtClean="0"/>
              <a:t>Polynomial Type (x</a:t>
            </a:r>
            <a:r>
              <a:rPr lang="en-US" altLang="zh-TW" sz="1800" baseline="30000" dirty="0" smtClean="0"/>
              <a:t>4</a:t>
            </a:r>
            <a:r>
              <a:rPr lang="en-US" altLang="zh-TW" sz="1800" dirty="0" smtClean="0"/>
              <a:t>+x</a:t>
            </a:r>
            <a:r>
              <a:rPr lang="en-US" altLang="zh-TW" sz="1800" baseline="30000" dirty="0" smtClean="0"/>
              <a:t>3</a:t>
            </a:r>
            <a:r>
              <a:rPr lang="en-US" altLang="zh-TW" sz="1800" dirty="0" smtClean="0"/>
              <a:t>+1 or x</a:t>
            </a:r>
            <a:r>
              <a:rPr lang="en-US" altLang="zh-TW" sz="1800" baseline="30000" dirty="0" smtClean="0"/>
              <a:t>4</a:t>
            </a:r>
            <a:r>
              <a:rPr lang="en-US" altLang="zh-TW" sz="1800" dirty="0" smtClean="0"/>
              <a:t>+x+1)</a:t>
            </a:r>
          </a:p>
          <a:p>
            <a:endParaRPr lang="en-US" altLang="zh-TW" sz="2800" dirty="0" smtClean="0"/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84163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2047110" y="2321005"/>
            <a:ext cx="504978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Q &amp; A</a:t>
            </a:r>
            <a:endParaRPr lang="zh-TW" altLang="en-US" sz="13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3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32621</TotalTime>
  <Words>2074</Words>
  <Application>Microsoft Office PowerPoint</Application>
  <PresentationFormat>如螢幕大小 (4:3)</PresentationFormat>
  <Paragraphs>721</Paragraphs>
  <Slides>22</Slides>
  <Notes>5</Notes>
  <HiddenSlides>4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0" baseType="lpstr">
      <vt:lpstr>新細明體</vt:lpstr>
      <vt:lpstr>Arial</vt:lpstr>
      <vt:lpstr>Calibri</vt:lpstr>
      <vt:lpstr>Calibri Light</vt:lpstr>
      <vt:lpstr>Cambria Math</vt:lpstr>
      <vt:lpstr>Consolas</vt:lpstr>
      <vt:lpstr>Wingdings</vt:lpstr>
      <vt:lpstr>回顧</vt:lpstr>
      <vt:lpstr>Efficient  Algorithm for Common Combination Interval Problem</vt:lpstr>
      <vt:lpstr>Outline</vt:lpstr>
      <vt:lpstr>Common Interval of Two Permutations</vt:lpstr>
      <vt:lpstr>Common Interval of K Permutations</vt:lpstr>
      <vt:lpstr>Common Interval of Two Sequences</vt:lpstr>
      <vt:lpstr>Common Interval of K Sequences</vt:lpstr>
      <vt:lpstr>Common Combination Interval</vt:lpstr>
      <vt:lpstr>Common Interval</vt:lpstr>
      <vt:lpstr>Movement</vt:lpstr>
      <vt:lpstr>Method I</vt:lpstr>
      <vt:lpstr>Method II</vt:lpstr>
      <vt:lpstr>Method III</vt:lpstr>
      <vt:lpstr>Method III</vt:lpstr>
      <vt:lpstr>Method IV</vt:lpstr>
      <vt:lpstr>Method IV</vt:lpstr>
      <vt:lpstr>Result</vt:lpstr>
      <vt:lpstr>Method III</vt:lpstr>
      <vt:lpstr>Method III</vt:lpstr>
      <vt:lpstr>Primitive Root</vt:lpstr>
      <vt:lpstr>Conclusions</vt:lpstr>
      <vt:lpstr>Future Work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Combination Common Interval in Two Sequences</dc:title>
  <dc:creator>Pichu</dc:creator>
  <cp:lastModifiedBy>Pichu</cp:lastModifiedBy>
  <cp:revision>58</cp:revision>
  <cp:lastPrinted>2014-04-15T09:17:13Z</cp:lastPrinted>
  <dcterms:created xsi:type="dcterms:W3CDTF">2014-04-13T13:27:15Z</dcterms:created>
  <dcterms:modified xsi:type="dcterms:W3CDTF">2014-08-26T11:53:09Z</dcterms:modified>
</cp:coreProperties>
</file>