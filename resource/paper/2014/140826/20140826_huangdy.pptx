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56" r:id="rId2"/>
    <p:sldId id="258" r:id="rId3"/>
    <p:sldId id="257" r:id="rId4"/>
    <p:sldId id="259" r:id="rId5"/>
    <p:sldId id="273" r:id="rId6"/>
    <p:sldId id="274" r:id="rId7"/>
    <p:sldId id="260" r:id="rId8"/>
    <p:sldId id="261" r:id="rId9"/>
    <p:sldId id="262" r:id="rId10"/>
    <p:sldId id="272" r:id="rId11"/>
    <p:sldId id="278" r:id="rId12"/>
    <p:sldId id="271" r:id="rId13"/>
    <p:sldId id="279" r:id="rId14"/>
    <p:sldId id="280" r:id="rId15"/>
    <p:sldId id="263" r:id="rId16"/>
    <p:sldId id="264" r:id="rId17"/>
    <p:sldId id="268" r:id="rId18"/>
    <p:sldId id="265" r:id="rId19"/>
    <p:sldId id="267" r:id="rId20"/>
    <p:sldId id="277" r:id="rId21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1" autoAdjust="0"/>
    <p:restoredTop sz="84000" autoAdjust="0"/>
  </p:normalViewPr>
  <p:slideViewPr>
    <p:cSldViewPr snapToGrid="0">
      <p:cViewPr varScale="1">
        <p:scale>
          <a:sx n="62" d="100"/>
          <a:sy n="62" d="100"/>
        </p:scale>
        <p:origin x="678" y="4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0573AC0-5C14-4D50-896E-0D71B9199567}" type="doc">
      <dgm:prSet loTypeId="urn:microsoft.com/office/officeart/2005/8/layout/vProcess5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zh-TW" altLang="en-US"/>
        </a:p>
      </dgm:t>
    </dgm:pt>
    <dgm:pt modelId="{93D2D5FE-EB99-4D26-AD34-4542FAF20BA1}">
      <dgm:prSet phldrT="[文字]"/>
      <dgm:spPr/>
      <dgm:t>
        <a:bodyPr/>
        <a:lstStyle/>
        <a:p>
          <a:r>
            <a:rPr lang="en-US" altLang="zh-TW" b="1" dirty="0" smtClean="0"/>
            <a:t>Path Intersection</a:t>
          </a:r>
          <a:endParaRPr lang="zh-TW" altLang="en-US" dirty="0"/>
        </a:p>
      </dgm:t>
    </dgm:pt>
    <dgm:pt modelId="{9E767EE0-8EAF-48E4-86F7-A1B4B84DD3DB}" type="parTrans" cxnId="{65C0F922-C703-4D17-9FB3-4B157DD1939A}">
      <dgm:prSet/>
      <dgm:spPr/>
      <dgm:t>
        <a:bodyPr/>
        <a:lstStyle/>
        <a:p>
          <a:endParaRPr lang="zh-TW" altLang="en-US"/>
        </a:p>
      </dgm:t>
    </dgm:pt>
    <dgm:pt modelId="{6F2542E1-0096-42FE-BBFF-50A8389ECD95}" type="sibTrans" cxnId="{65C0F922-C703-4D17-9FB3-4B157DD1939A}">
      <dgm:prSet/>
      <dgm:spPr/>
      <dgm:t>
        <a:bodyPr/>
        <a:lstStyle/>
        <a:p>
          <a:endParaRPr lang="zh-TW" altLang="en-US"/>
        </a:p>
      </dgm:t>
    </dgm:pt>
    <dgm:pt modelId="{5AB887EE-D7D7-4532-B2C4-48384B5B3B90}">
      <dgm:prSet phldrT="[文字]"/>
      <dgm:spPr/>
      <dgm:t>
        <a:bodyPr/>
        <a:lstStyle/>
        <a:p>
          <a:r>
            <a:rPr lang="en-US" altLang="zh-TW" b="1" dirty="0" smtClean="0"/>
            <a:t>Path Similarity Measure</a:t>
          </a:r>
          <a:endParaRPr lang="zh-TW" altLang="en-US" dirty="0"/>
        </a:p>
      </dgm:t>
    </dgm:pt>
    <dgm:pt modelId="{C43BAEDB-DBA1-4F7B-9BB4-B4F0D898A687}" type="parTrans" cxnId="{73010C97-3416-4F7F-9C5F-18EEFE7C09BF}">
      <dgm:prSet/>
      <dgm:spPr/>
      <dgm:t>
        <a:bodyPr/>
        <a:lstStyle/>
        <a:p>
          <a:endParaRPr lang="zh-TW" altLang="en-US"/>
        </a:p>
      </dgm:t>
    </dgm:pt>
    <dgm:pt modelId="{5485272E-A589-4BAA-A025-CC8035C96C27}" type="sibTrans" cxnId="{73010C97-3416-4F7F-9C5F-18EEFE7C09BF}">
      <dgm:prSet/>
      <dgm:spPr/>
      <dgm:t>
        <a:bodyPr/>
        <a:lstStyle/>
        <a:p>
          <a:endParaRPr lang="zh-TW" altLang="en-US"/>
        </a:p>
      </dgm:t>
    </dgm:pt>
    <dgm:pt modelId="{6A6F729D-F799-4830-B52B-EB9E41CA43B4}">
      <dgm:prSet phldrT="[文字]"/>
      <dgm:spPr/>
      <dgm:t>
        <a:bodyPr/>
        <a:lstStyle/>
        <a:p>
          <a:r>
            <a:rPr lang="en-US" altLang="zh-TW" b="1" dirty="0" smtClean="0"/>
            <a:t>The Similarity Graph and Clustering</a:t>
          </a:r>
          <a:endParaRPr lang="zh-TW" altLang="en-US" dirty="0"/>
        </a:p>
      </dgm:t>
    </dgm:pt>
    <dgm:pt modelId="{AE9FD656-8F7B-4F21-AFFA-C20F84175DE9}" type="parTrans" cxnId="{421D66BF-6E50-4A73-AC8F-F4DD94B06B4E}">
      <dgm:prSet/>
      <dgm:spPr/>
      <dgm:t>
        <a:bodyPr/>
        <a:lstStyle/>
        <a:p>
          <a:endParaRPr lang="zh-TW" altLang="en-US"/>
        </a:p>
      </dgm:t>
    </dgm:pt>
    <dgm:pt modelId="{DD2E7D13-9DC1-4B01-B623-3967638EB5A5}" type="sibTrans" cxnId="{421D66BF-6E50-4A73-AC8F-F4DD94B06B4E}">
      <dgm:prSet/>
      <dgm:spPr/>
      <dgm:t>
        <a:bodyPr/>
        <a:lstStyle/>
        <a:p>
          <a:endParaRPr lang="zh-TW" altLang="en-US"/>
        </a:p>
      </dgm:t>
    </dgm:pt>
    <dgm:pt modelId="{CCD79F74-9D33-4008-8DB3-3BB7E67D3955}">
      <dgm:prSet phldrT="[文字]"/>
      <dgm:spPr/>
      <dgm:t>
        <a:bodyPr/>
        <a:lstStyle/>
        <a:p>
          <a:r>
            <a:rPr lang="en-US" altLang="zh-TW" b="1" dirty="0" smtClean="0"/>
            <a:t>Concept-based Clustering</a:t>
          </a:r>
          <a:endParaRPr lang="zh-TW" altLang="en-US" dirty="0"/>
        </a:p>
      </dgm:t>
    </dgm:pt>
    <dgm:pt modelId="{376F733E-9082-4D90-8706-9B17F5B4581F}" type="parTrans" cxnId="{9197B5C6-793C-44D1-94AE-346347D64CB1}">
      <dgm:prSet/>
      <dgm:spPr/>
      <dgm:t>
        <a:bodyPr/>
        <a:lstStyle/>
        <a:p>
          <a:endParaRPr lang="zh-TW" altLang="en-US"/>
        </a:p>
      </dgm:t>
    </dgm:pt>
    <dgm:pt modelId="{CDD4DD93-4435-498E-AB02-E3BF4393C843}" type="sibTrans" cxnId="{9197B5C6-793C-44D1-94AE-346347D64CB1}">
      <dgm:prSet/>
      <dgm:spPr/>
      <dgm:t>
        <a:bodyPr/>
        <a:lstStyle/>
        <a:p>
          <a:endParaRPr lang="zh-TW" altLang="en-US"/>
        </a:p>
      </dgm:t>
    </dgm:pt>
    <dgm:pt modelId="{6B52769A-B62C-4984-8389-850BAAC30E53}" type="pres">
      <dgm:prSet presAssocID="{00573AC0-5C14-4D50-896E-0D71B9199567}" presName="outerComposite" presStyleCnt="0">
        <dgm:presLayoutVars>
          <dgm:chMax val="5"/>
          <dgm:dir/>
          <dgm:resizeHandles val="exact"/>
        </dgm:presLayoutVars>
      </dgm:prSet>
      <dgm:spPr/>
      <dgm:t>
        <a:bodyPr/>
        <a:lstStyle/>
        <a:p>
          <a:endParaRPr lang="zh-TW" altLang="en-US"/>
        </a:p>
      </dgm:t>
    </dgm:pt>
    <dgm:pt modelId="{07CAC057-C76C-4AEF-932D-14914A384490}" type="pres">
      <dgm:prSet presAssocID="{00573AC0-5C14-4D50-896E-0D71B9199567}" presName="dummyMaxCanvas" presStyleCnt="0">
        <dgm:presLayoutVars/>
      </dgm:prSet>
      <dgm:spPr/>
    </dgm:pt>
    <dgm:pt modelId="{4F2719E0-14CE-412C-AA32-E11F09B5AE8C}" type="pres">
      <dgm:prSet presAssocID="{00573AC0-5C14-4D50-896E-0D71B9199567}" presName="FourNodes_1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0CC58507-C27B-49FB-8BCD-35CB9A4212AE}" type="pres">
      <dgm:prSet presAssocID="{00573AC0-5C14-4D50-896E-0D71B9199567}" presName="FourNodes_2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CFCDF240-9A70-4153-843F-CE747492983E}" type="pres">
      <dgm:prSet presAssocID="{00573AC0-5C14-4D50-896E-0D71B9199567}" presName="FourNodes_3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FAC6B17C-2B3C-46FF-B5A5-1DE729B97D13}" type="pres">
      <dgm:prSet presAssocID="{00573AC0-5C14-4D50-896E-0D71B9199567}" presName="FourNodes_4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9D9C0A13-A28E-4A5D-8387-F51612518954}" type="pres">
      <dgm:prSet presAssocID="{00573AC0-5C14-4D50-896E-0D71B9199567}" presName="FourConn_1-2" presStyleLbl="fgAccFollowNode1" presStyleIdx="0" presStyleCnt="3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9FB877B3-64C4-4AC2-BC0E-CD58CC0CFD8C}" type="pres">
      <dgm:prSet presAssocID="{00573AC0-5C14-4D50-896E-0D71B9199567}" presName="FourConn_2-3" presStyleLbl="fgAccFollowNode1" presStyleIdx="1" presStyleCnt="3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9BF4A44F-420E-40C3-BF3F-D26844E39AED}" type="pres">
      <dgm:prSet presAssocID="{00573AC0-5C14-4D50-896E-0D71B9199567}" presName="FourConn_3-4" presStyleLbl="fgAccFollowNode1" presStyleIdx="2" presStyleCnt="3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27715D95-F676-4358-AE62-FDE37B659A91}" type="pres">
      <dgm:prSet presAssocID="{00573AC0-5C14-4D50-896E-0D71B9199567}" presName="FourNodes_1_text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A7ED074D-E7EB-497A-9775-8643ADBBEA0D}" type="pres">
      <dgm:prSet presAssocID="{00573AC0-5C14-4D50-896E-0D71B9199567}" presName="FourNodes_2_text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C4137F77-6628-46C8-AA5D-7A7FB89C6983}" type="pres">
      <dgm:prSet presAssocID="{00573AC0-5C14-4D50-896E-0D71B9199567}" presName="FourNodes_3_text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965D46A5-A2C2-4A12-8599-F7551A29CA19}" type="pres">
      <dgm:prSet presAssocID="{00573AC0-5C14-4D50-896E-0D71B9199567}" presName="FourNodes_4_text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</dgm:ptLst>
  <dgm:cxnLst>
    <dgm:cxn modelId="{269811E5-2E7C-4A00-A243-7025800B796A}" type="presOf" srcId="{CCD79F74-9D33-4008-8DB3-3BB7E67D3955}" destId="{965D46A5-A2C2-4A12-8599-F7551A29CA19}" srcOrd="1" destOrd="0" presId="urn:microsoft.com/office/officeart/2005/8/layout/vProcess5"/>
    <dgm:cxn modelId="{C4E05508-003C-41F5-96E3-6AF7FE5F3EF1}" type="presOf" srcId="{5485272E-A589-4BAA-A025-CC8035C96C27}" destId="{9FB877B3-64C4-4AC2-BC0E-CD58CC0CFD8C}" srcOrd="0" destOrd="0" presId="urn:microsoft.com/office/officeart/2005/8/layout/vProcess5"/>
    <dgm:cxn modelId="{4E617168-F4C7-41E8-B9D5-37AEEC241751}" type="presOf" srcId="{DD2E7D13-9DC1-4B01-B623-3967638EB5A5}" destId="{9BF4A44F-420E-40C3-BF3F-D26844E39AED}" srcOrd="0" destOrd="0" presId="urn:microsoft.com/office/officeart/2005/8/layout/vProcess5"/>
    <dgm:cxn modelId="{1655E4F4-4454-4FF9-93F7-D19E73F3594A}" type="presOf" srcId="{6A6F729D-F799-4830-B52B-EB9E41CA43B4}" destId="{CFCDF240-9A70-4153-843F-CE747492983E}" srcOrd="0" destOrd="0" presId="urn:microsoft.com/office/officeart/2005/8/layout/vProcess5"/>
    <dgm:cxn modelId="{B3F23793-2957-4C05-99D3-2D91FC1A85F0}" type="presOf" srcId="{5AB887EE-D7D7-4532-B2C4-48384B5B3B90}" destId="{A7ED074D-E7EB-497A-9775-8643ADBBEA0D}" srcOrd="1" destOrd="0" presId="urn:microsoft.com/office/officeart/2005/8/layout/vProcess5"/>
    <dgm:cxn modelId="{9197B5C6-793C-44D1-94AE-346347D64CB1}" srcId="{00573AC0-5C14-4D50-896E-0D71B9199567}" destId="{CCD79F74-9D33-4008-8DB3-3BB7E67D3955}" srcOrd="3" destOrd="0" parTransId="{376F733E-9082-4D90-8706-9B17F5B4581F}" sibTransId="{CDD4DD93-4435-498E-AB02-E3BF4393C843}"/>
    <dgm:cxn modelId="{D95A52F2-068E-4143-AD20-C7E4DCD7B6DA}" type="presOf" srcId="{93D2D5FE-EB99-4D26-AD34-4542FAF20BA1}" destId="{27715D95-F676-4358-AE62-FDE37B659A91}" srcOrd="1" destOrd="0" presId="urn:microsoft.com/office/officeart/2005/8/layout/vProcess5"/>
    <dgm:cxn modelId="{225E9FED-232E-4899-919F-660B5F9C3987}" type="presOf" srcId="{00573AC0-5C14-4D50-896E-0D71B9199567}" destId="{6B52769A-B62C-4984-8389-850BAAC30E53}" srcOrd="0" destOrd="0" presId="urn:microsoft.com/office/officeart/2005/8/layout/vProcess5"/>
    <dgm:cxn modelId="{57A1F94A-1AB2-4862-B8F3-6D75BAB3B682}" type="presOf" srcId="{6A6F729D-F799-4830-B52B-EB9E41CA43B4}" destId="{C4137F77-6628-46C8-AA5D-7A7FB89C6983}" srcOrd="1" destOrd="0" presId="urn:microsoft.com/office/officeart/2005/8/layout/vProcess5"/>
    <dgm:cxn modelId="{73010C97-3416-4F7F-9C5F-18EEFE7C09BF}" srcId="{00573AC0-5C14-4D50-896E-0D71B9199567}" destId="{5AB887EE-D7D7-4532-B2C4-48384B5B3B90}" srcOrd="1" destOrd="0" parTransId="{C43BAEDB-DBA1-4F7B-9BB4-B4F0D898A687}" sibTransId="{5485272E-A589-4BAA-A025-CC8035C96C27}"/>
    <dgm:cxn modelId="{65C0F922-C703-4D17-9FB3-4B157DD1939A}" srcId="{00573AC0-5C14-4D50-896E-0D71B9199567}" destId="{93D2D5FE-EB99-4D26-AD34-4542FAF20BA1}" srcOrd="0" destOrd="0" parTransId="{9E767EE0-8EAF-48E4-86F7-A1B4B84DD3DB}" sibTransId="{6F2542E1-0096-42FE-BBFF-50A8389ECD95}"/>
    <dgm:cxn modelId="{881A5428-46EC-4270-9760-D26E7D8F65D8}" type="presOf" srcId="{93D2D5FE-EB99-4D26-AD34-4542FAF20BA1}" destId="{4F2719E0-14CE-412C-AA32-E11F09B5AE8C}" srcOrd="0" destOrd="0" presId="urn:microsoft.com/office/officeart/2005/8/layout/vProcess5"/>
    <dgm:cxn modelId="{027D8A5A-8132-480E-932D-95E3B1BE3766}" type="presOf" srcId="{6F2542E1-0096-42FE-BBFF-50A8389ECD95}" destId="{9D9C0A13-A28E-4A5D-8387-F51612518954}" srcOrd="0" destOrd="0" presId="urn:microsoft.com/office/officeart/2005/8/layout/vProcess5"/>
    <dgm:cxn modelId="{421D66BF-6E50-4A73-AC8F-F4DD94B06B4E}" srcId="{00573AC0-5C14-4D50-896E-0D71B9199567}" destId="{6A6F729D-F799-4830-B52B-EB9E41CA43B4}" srcOrd="2" destOrd="0" parTransId="{AE9FD656-8F7B-4F21-AFFA-C20F84175DE9}" sibTransId="{DD2E7D13-9DC1-4B01-B623-3967638EB5A5}"/>
    <dgm:cxn modelId="{5BA08449-FD0B-4DDC-8B01-EB072D5AC253}" type="presOf" srcId="{CCD79F74-9D33-4008-8DB3-3BB7E67D3955}" destId="{FAC6B17C-2B3C-46FF-B5A5-1DE729B97D13}" srcOrd="0" destOrd="0" presId="urn:microsoft.com/office/officeart/2005/8/layout/vProcess5"/>
    <dgm:cxn modelId="{B74B50D2-FB08-47E9-ADDF-9A3F71615F7A}" type="presOf" srcId="{5AB887EE-D7D7-4532-B2C4-48384B5B3B90}" destId="{0CC58507-C27B-49FB-8BCD-35CB9A4212AE}" srcOrd="0" destOrd="0" presId="urn:microsoft.com/office/officeart/2005/8/layout/vProcess5"/>
    <dgm:cxn modelId="{D3491390-A2A8-4397-B619-034F53D80132}" type="presParOf" srcId="{6B52769A-B62C-4984-8389-850BAAC30E53}" destId="{07CAC057-C76C-4AEF-932D-14914A384490}" srcOrd="0" destOrd="0" presId="urn:microsoft.com/office/officeart/2005/8/layout/vProcess5"/>
    <dgm:cxn modelId="{303AB756-6BEA-4337-9150-11CAEF57ACB9}" type="presParOf" srcId="{6B52769A-B62C-4984-8389-850BAAC30E53}" destId="{4F2719E0-14CE-412C-AA32-E11F09B5AE8C}" srcOrd="1" destOrd="0" presId="urn:microsoft.com/office/officeart/2005/8/layout/vProcess5"/>
    <dgm:cxn modelId="{8EEAD822-2C01-4E87-B992-C537C27F7B21}" type="presParOf" srcId="{6B52769A-B62C-4984-8389-850BAAC30E53}" destId="{0CC58507-C27B-49FB-8BCD-35CB9A4212AE}" srcOrd="2" destOrd="0" presId="urn:microsoft.com/office/officeart/2005/8/layout/vProcess5"/>
    <dgm:cxn modelId="{50FD6F55-EDE3-45C0-BDEE-ABE6E180BA70}" type="presParOf" srcId="{6B52769A-B62C-4984-8389-850BAAC30E53}" destId="{CFCDF240-9A70-4153-843F-CE747492983E}" srcOrd="3" destOrd="0" presId="urn:microsoft.com/office/officeart/2005/8/layout/vProcess5"/>
    <dgm:cxn modelId="{67D35E6E-6F2A-405D-9CF9-6E8E970B4968}" type="presParOf" srcId="{6B52769A-B62C-4984-8389-850BAAC30E53}" destId="{FAC6B17C-2B3C-46FF-B5A5-1DE729B97D13}" srcOrd="4" destOrd="0" presId="urn:microsoft.com/office/officeart/2005/8/layout/vProcess5"/>
    <dgm:cxn modelId="{0283F2D0-5CA6-4698-8662-80A3C393A88F}" type="presParOf" srcId="{6B52769A-B62C-4984-8389-850BAAC30E53}" destId="{9D9C0A13-A28E-4A5D-8387-F51612518954}" srcOrd="5" destOrd="0" presId="urn:microsoft.com/office/officeart/2005/8/layout/vProcess5"/>
    <dgm:cxn modelId="{2F760869-1BBD-4F17-90ED-BC64D891B5C8}" type="presParOf" srcId="{6B52769A-B62C-4984-8389-850BAAC30E53}" destId="{9FB877B3-64C4-4AC2-BC0E-CD58CC0CFD8C}" srcOrd="6" destOrd="0" presId="urn:microsoft.com/office/officeart/2005/8/layout/vProcess5"/>
    <dgm:cxn modelId="{3FA0E77B-8206-4033-9B44-C0AF79FF07C2}" type="presParOf" srcId="{6B52769A-B62C-4984-8389-850BAAC30E53}" destId="{9BF4A44F-420E-40C3-BF3F-D26844E39AED}" srcOrd="7" destOrd="0" presId="urn:microsoft.com/office/officeart/2005/8/layout/vProcess5"/>
    <dgm:cxn modelId="{6D1F806C-96D8-421B-92E3-0B0029D6AAAE}" type="presParOf" srcId="{6B52769A-B62C-4984-8389-850BAAC30E53}" destId="{27715D95-F676-4358-AE62-FDE37B659A91}" srcOrd="8" destOrd="0" presId="urn:microsoft.com/office/officeart/2005/8/layout/vProcess5"/>
    <dgm:cxn modelId="{C4756A26-76D5-48CD-9D1A-F1F06C383C38}" type="presParOf" srcId="{6B52769A-B62C-4984-8389-850BAAC30E53}" destId="{A7ED074D-E7EB-497A-9775-8643ADBBEA0D}" srcOrd="9" destOrd="0" presId="urn:microsoft.com/office/officeart/2005/8/layout/vProcess5"/>
    <dgm:cxn modelId="{1FA00D22-7DCC-4D76-A68C-B73CE6C25B5D}" type="presParOf" srcId="{6B52769A-B62C-4984-8389-850BAAC30E53}" destId="{C4137F77-6628-46C8-AA5D-7A7FB89C6983}" srcOrd="10" destOrd="0" presId="urn:microsoft.com/office/officeart/2005/8/layout/vProcess5"/>
    <dgm:cxn modelId="{79774B2E-AA53-4BE8-B2DB-91DCBC1D4A10}" type="presParOf" srcId="{6B52769A-B62C-4984-8389-850BAAC30E53}" destId="{965D46A5-A2C2-4A12-8599-F7551A29CA19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9890FE-60B4-4620-9D3E-FFE1898BB635}" type="datetimeFigureOut">
              <a:rPr lang="zh-TW" altLang="en-US" smtClean="0"/>
              <a:pPr/>
              <a:t>2014/8/26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287E28-9BAF-4E91-BE67-53D54366494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251992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簡單說就是想對於使用者在網頁上的行為選擇 </a:t>
            </a:r>
            <a:endParaRPr lang="en-US" altLang="zh-TW" dirty="0" smtClean="0"/>
          </a:p>
          <a:p>
            <a:r>
              <a:rPr lang="zh-TW" altLang="en-US" dirty="0" smtClean="0"/>
              <a:t>進行分析 分群</a:t>
            </a:r>
            <a:endParaRPr lang="en-US" altLang="zh-TW" dirty="0" smtClean="0"/>
          </a:p>
          <a:p>
            <a:r>
              <a:rPr lang="zh-TW" altLang="en-US" dirty="0" smtClean="0"/>
              <a:t>就可以進一步得知 個人嗜好</a:t>
            </a:r>
            <a:endParaRPr lang="en-US" altLang="zh-TW" dirty="0" smtClean="0"/>
          </a:p>
          <a:p>
            <a:r>
              <a:rPr lang="zh-TW" altLang="en-US" dirty="0" smtClean="0"/>
              <a:t>例如 夫妻喜歡便宜要大碗 情侶喜歡華麗一點 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287E28-9BAF-4E91-BE67-53D543664949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02175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Session </a:t>
            </a:r>
            <a:r>
              <a:rPr lang="zh-TW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機制就像是你去飲料店下了單以後，得到號碼牌，然後你走開幾步，店員就忘了你是誰。所以，如果你想去取飲料，你就得靠這張號碼牌，去跟店員領，店員會跟據這號碼牌，認定你是顧客、是否點過餐、知道你點了什麼東西，然後可以接著給你屬於你的飲料。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287E28-9BAF-4E91-BE67-53D543664949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97154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目的</a:t>
            </a:r>
            <a:r>
              <a:rPr lang="en-US" altLang="zh-TW" dirty="0" smtClean="0"/>
              <a:t>:</a:t>
            </a:r>
            <a:r>
              <a:rPr lang="zh-TW" altLang="en-US" dirty="0" smtClean="0"/>
              <a:t>應該是要分析這個使用者個另一個使用者他們</a:t>
            </a:r>
            <a:r>
              <a:rPr lang="en-US" altLang="zh-TW" dirty="0" smtClean="0"/>
              <a:t>Session</a:t>
            </a:r>
            <a:r>
              <a:rPr lang="zh-TW" altLang="en-US" dirty="0" smtClean="0"/>
              <a:t>中是不是有流覽相同的網站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287E28-9BAF-4E91-BE67-53D543664949}" type="slidenum">
              <a:rPr lang="zh-TW" altLang="en-US" smtClean="0"/>
              <a:pPr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64623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有可能點錯，所以說要用時間當作判斷的依據</a:t>
            </a:r>
            <a:endParaRPr lang="en-US" altLang="zh-TW" dirty="0" smtClean="0"/>
          </a:p>
          <a:p>
            <a:r>
              <a:rPr lang="zh-TW" altLang="en-US" dirty="0" smtClean="0"/>
              <a:t>這頁要在說明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287E28-9BAF-4E91-BE67-53D543664949}" type="slidenum">
              <a:rPr lang="zh-TW" altLang="en-US" smtClean="0"/>
              <a:pPr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36089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287E28-9BAF-4E91-BE67-53D543664949}" type="slidenum">
              <a:rPr lang="zh-TW" altLang="en-US" smtClean="0"/>
              <a:pPr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830917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287E28-9BAF-4E91-BE67-53D543664949}" type="slidenum">
              <a:rPr lang="zh-TW" altLang="en-US" smtClean="0"/>
              <a:pPr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308887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287E28-9BAF-4E91-BE67-53D543664949}" type="slidenum">
              <a:rPr lang="zh-TW" altLang="en-US" smtClean="0"/>
              <a:pPr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70390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xxx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287E28-9BAF-4E91-BE67-53D543664949}" type="slidenum">
              <a:rPr lang="zh-TW" altLang="en-US" smtClean="0"/>
              <a:pPr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522135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單純看</a:t>
            </a:r>
            <a:r>
              <a:rPr lang="en-US" altLang="zh-TW" dirty="0" smtClean="0"/>
              <a:t>path</a:t>
            </a:r>
            <a:r>
              <a:rPr lang="zh-TW" altLang="en-US" dirty="0" smtClean="0"/>
              <a:t>的話 往往關聯性就會降低，所以說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287E28-9BAF-4E91-BE67-53D543664949}" type="slidenum">
              <a:rPr lang="zh-TW" altLang="en-US" smtClean="0"/>
              <a:pPr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43211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287E28-9BAF-4E91-BE67-53D543664949}" type="slidenum">
              <a:rPr lang="zh-TW" altLang="en-US" smtClean="0"/>
              <a:pPr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45274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BA8D5-596C-4227-902E-F8D94DAE661B}" type="datetimeFigureOut">
              <a:rPr lang="zh-TW" altLang="en-US" smtClean="0"/>
              <a:pPr/>
              <a:t>2014/8/26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E06A1-5D7F-471F-8B5F-6833E45368B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1247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BA8D5-596C-4227-902E-F8D94DAE661B}" type="datetimeFigureOut">
              <a:rPr lang="zh-TW" altLang="en-US" smtClean="0"/>
              <a:pPr/>
              <a:t>2014/8/26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E06A1-5D7F-471F-8B5F-6833E45368B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4614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BA8D5-596C-4227-902E-F8D94DAE661B}" type="datetimeFigureOut">
              <a:rPr lang="zh-TW" altLang="en-US" smtClean="0"/>
              <a:pPr/>
              <a:t>2014/8/26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E06A1-5D7F-471F-8B5F-6833E45368B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069033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BA8D5-596C-4227-902E-F8D94DAE661B}" type="datetimeFigureOut">
              <a:rPr lang="zh-TW" altLang="en-US" smtClean="0"/>
              <a:pPr/>
              <a:t>2014/8/26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E06A1-5D7F-471F-8B5F-6833E45368B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542254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BA8D5-596C-4227-902E-F8D94DAE661B}" type="datetimeFigureOut">
              <a:rPr lang="zh-TW" altLang="en-US" smtClean="0"/>
              <a:pPr/>
              <a:t>2014/8/26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E06A1-5D7F-471F-8B5F-6833E45368B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7650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BA8D5-596C-4227-902E-F8D94DAE661B}" type="datetimeFigureOut">
              <a:rPr lang="zh-TW" altLang="en-US" smtClean="0"/>
              <a:pPr/>
              <a:t>2014/8/26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E06A1-5D7F-471F-8B5F-6833E45368B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9312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BA8D5-596C-4227-902E-F8D94DAE661B}" type="datetimeFigureOut">
              <a:rPr lang="zh-TW" altLang="en-US" smtClean="0"/>
              <a:pPr/>
              <a:t>2014/8/26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E06A1-5D7F-471F-8B5F-6833E45368B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71167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BA8D5-596C-4227-902E-F8D94DAE661B}" type="datetimeFigureOut">
              <a:rPr lang="zh-TW" altLang="en-US" smtClean="0"/>
              <a:pPr/>
              <a:t>2014/8/26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E06A1-5D7F-471F-8B5F-6833E45368B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1220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BA8D5-596C-4227-902E-F8D94DAE661B}" type="datetimeFigureOut">
              <a:rPr lang="zh-TW" altLang="en-US" smtClean="0"/>
              <a:pPr/>
              <a:t>2014/8/26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E06A1-5D7F-471F-8B5F-6833E45368B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3778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BA8D5-596C-4227-902E-F8D94DAE661B}" type="datetimeFigureOut">
              <a:rPr lang="zh-TW" altLang="en-US" smtClean="0"/>
              <a:pPr/>
              <a:t>2014/8/26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E06A1-5D7F-471F-8B5F-6833E45368B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6105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BA8D5-596C-4227-902E-F8D94DAE661B}" type="datetimeFigureOut">
              <a:rPr lang="zh-TW" altLang="en-US" smtClean="0"/>
              <a:pPr/>
              <a:t>2014/8/26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E06A1-5D7F-471F-8B5F-6833E45368B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50067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BA8D5-596C-4227-902E-F8D94DAE661B}" type="datetimeFigureOut">
              <a:rPr lang="zh-TW" altLang="en-US" smtClean="0"/>
              <a:pPr/>
              <a:t>2014/8/26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2E06A1-5D7F-471F-8B5F-6833E45368B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5656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5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sz="4800" b="1" dirty="0" smtClean="0"/>
              <a:t>Clickstream Clustering using Weighted Longest Common</a:t>
            </a:r>
            <a:br>
              <a:rPr lang="en-US" altLang="zh-TW" sz="4800" b="1" dirty="0" smtClean="0"/>
            </a:br>
            <a:r>
              <a:rPr lang="en-US" altLang="zh-TW" sz="4800" b="1" dirty="0" smtClean="0"/>
              <a:t>Subsequences</a:t>
            </a:r>
            <a:endParaRPr lang="zh-TW" altLang="en-US" sz="4800" b="1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273628" y="4189867"/>
            <a:ext cx="6858000" cy="1655762"/>
          </a:xfrm>
        </p:spPr>
        <p:txBody>
          <a:bodyPr>
            <a:normAutofit fontScale="92500" lnSpcReduction="20000"/>
          </a:bodyPr>
          <a:lstStyle/>
          <a:p>
            <a:pPr algn="r"/>
            <a:r>
              <a:rPr lang="en-US" altLang="zh-TW" b="1" dirty="0" err="1" smtClean="0"/>
              <a:t>Arindam</a:t>
            </a:r>
            <a:r>
              <a:rPr lang="en-US" altLang="zh-TW" b="1" dirty="0" smtClean="0"/>
              <a:t> </a:t>
            </a:r>
            <a:r>
              <a:rPr lang="en-US" altLang="zh-TW" b="1" dirty="0"/>
              <a:t>Banerjee and </a:t>
            </a:r>
            <a:r>
              <a:rPr lang="en-US" altLang="zh-TW" b="1" dirty="0" err="1"/>
              <a:t>Joydeep</a:t>
            </a:r>
            <a:r>
              <a:rPr lang="en-US" altLang="zh-TW" b="1" dirty="0"/>
              <a:t> </a:t>
            </a:r>
            <a:r>
              <a:rPr lang="en-US" altLang="zh-TW" b="1" dirty="0" smtClean="0"/>
              <a:t>Ghosh</a:t>
            </a:r>
          </a:p>
          <a:p>
            <a:pPr algn="r"/>
            <a:r>
              <a:rPr lang="en-US" altLang="zh-TW" dirty="0"/>
              <a:t>In Proceedings of the Web Mining Workshop at the 1st SIAM Conference on </a:t>
            </a:r>
            <a:r>
              <a:rPr lang="en-US" altLang="zh-TW"/>
              <a:t>Data </a:t>
            </a:r>
            <a:r>
              <a:rPr lang="en-US" altLang="zh-TW" smtClean="0"/>
              <a:t>Mining</a:t>
            </a:r>
          </a:p>
          <a:p>
            <a:pPr algn="r"/>
            <a:r>
              <a:rPr lang="en-US" altLang="zh-TW" b="1" smtClean="0"/>
              <a:t>Presenter</a:t>
            </a:r>
            <a:r>
              <a:rPr lang="en-US" altLang="zh-TW" b="1" dirty="0" smtClean="0"/>
              <a:t>: Ding-Yao Huang</a:t>
            </a:r>
          </a:p>
          <a:p>
            <a:pPr algn="r"/>
            <a:r>
              <a:rPr lang="en-US" altLang="zh-TW" b="1" dirty="0" smtClean="0"/>
              <a:t>Date:2014/08/26</a:t>
            </a:r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2525463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Abstract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93486" y="1596121"/>
            <a:ext cx="8021864" cy="4676775"/>
          </a:xfrm>
        </p:spPr>
        <p:txBody>
          <a:bodyPr>
            <a:normAutofit fontScale="92500"/>
          </a:bodyPr>
          <a:lstStyle/>
          <a:p>
            <a:r>
              <a:rPr lang="en-US" altLang="zh-TW" dirty="0"/>
              <a:t>Categorizing visitors based on their interactions with a website is a key problem in web usage mining. </a:t>
            </a:r>
            <a:r>
              <a:rPr lang="en-US" altLang="zh-TW" dirty="0" smtClean="0"/>
              <a:t>The clickstreams </a:t>
            </a:r>
            <a:r>
              <a:rPr lang="en-US" altLang="zh-TW" dirty="0"/>
              <a:t>generated by various users often follow distinct patterns, the knowledge of which may help in </a:t>
            </a:r>
            <a:r>
              <a:rPr lang="en-US" altLang="zh-TW" dirty="0" smtClean="0"/>
              <a:t>providing customized </a:t>
            </a:r>
            <a:r>
              <a:rPr lang="en-US" altLang="zh-TW" dirty="0"/>
              <a:t>content. </a:t>
            </a:r>
            <a:endParaRPr lang="en-US" altLang="zh-TW" dirty="0" smtClean="0"/>
          </a:p>
          <a:p>
            <a:r>
              <a:rPr lang="en-US" altLang="zh-TW" dirty="0" smtClean="0"/>
              <a:t>In </a:t>
            </a:r>
            <a:r>
              <a:rPr lang="en-US" altLang="zh-TW" dirty="0"/>
              <a:t>this paper, we propose a novel </a:t>
            </a:r>
            <a:r>
              <a:rPr lang="en-US" altLang="zh-TW" dirty="0" smtClean="0"/>
              <a:t>and effective </a:t>
            </a:r>
            <a:r>
              <a:rPr lang="en-US" altLang="zh-TW" dirty="0"/>
              <a:t>algorithm for clustering </a:t>
            </a:r>
            <a:r>
              <a:rPr lang="en-US" altLang="zh-TW" dirty="0" smtClean="0"/>
              <a:t>web users </a:t>
            </a:r>
            <a:r>
              <a:rPr lang="en-US" altLang="zh-TW" dirty="0"/>
              <a:t>based on </a:t>
            </a:r>
            <a:r>
              <a:rPr lang="en-US" altLang="zh-TW" dirty="0" smtClean="0"/>
              <a:t>a function </a:t>
            </a:r>
            <a:r>
              <a:rPr lang="en-US" altLang="zh-TW" dirty="0"/>
              <a:t>of the longest common subsequence of their clickstreams that takes into account both the trajectory </a:t>
            </a:r>
            <a:r>
              <a:rPr lang="en-US" altLang="zh-TW" dirty="0" smtClean="0"/>
              <a:t>taken through </a:t>
            </a:r>
            <a:r>
              <a:rPr lang="en-US" altLang="zh-TW" dirty="0"/>
              <a:t>a website and the time spent at each page. </a:t>
            </a:r>
            <a:endParaRPr lang="en-US" altLang="zh-TW" dirty="0" smtClean="0"/>
          </a:p>
          <a:p>
            <a:r>
              <a:rPr lang="en-US" altLang="zh-TW" dirty="0" smtClean="0"/>
              <a:t>Results </a:t>
            </a:r>
            <a:r>
              <a:rPr lang="en-US" altLang="zh-TW" dirty="0"/>
              <a:t>are presented on weblogs of www.sulekha.com to </a:t>
            </a:r>
            <a:r>
              <a:rPr lang="en-US" altLang="zh-TW" dirty="0" smtClean="0"/>
              <a:t>illustrate  the </a:t>
            </a:r>
            <a:r>
              <a:rPr lang="en-US" altLang="zh-TW" dirty="0"/>
              <a:t>techniques.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32707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Introduction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81907" y="1596121"/>
            <a:ext cx="7886700" cy="4351338"/>
          </a:xfrm>
        </p:spPr>
        <p:txBody>
          <a:bodyPr/>
          <a:lstStyle/>
          <a:p>
            <a:r>
              <a:rPr lang="en-US" altLang="zh-TW" b="1" dirty="0" smtClean="0"/>
              <a:t>Clickstream</a:t>
            </a:r>
          </a:p>
          <a:p>
            <a:pPr lvl="1"/>
            <a:r>
              <a:rPr lang="zh-TW" altLang="en-US" dirty="0"/>
              <a:t>就是使用者的在網頁間來來去去的點選</a:t>
            </a:r>
            <a:r>
              <a:rPr lang="zh-TW" altLang="en-US" dirty="0" smtClean="0"/>
              <a:t>記錄。</a:t>
            </a:r>
            <a:endParaRPr lang="en-US" altLang="zh-TW" b="1" dirty="0"/>
          </a:p>
          <a:p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826" y="1319296"/>
            <a:ext cx="8644348" cy="529570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217715" y="2921684"/>
            <a:ext cx="9129486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TW" dirty="0" smtClean="0">
                <a:latin typeface="Courier New"/>
                <a:cs typeface="Courier New"/>
              </a:rPr>
              <a:t>Timestamp, </a:t>
            </a:r>
            <a:r>
              <a:rPr kumimoji="1" lang="en-US" altLang="zh-TW" dirty="0" err="1" smtClean="0">
                <a:latin typeface="Courier New"/>
                <a:cs typeface="Courier New"/>
              </a:rPr>
              <a:t>sessionID</a:t>
            </a:r>
            <a:r>
              <a:rPr kumimoji="1" lang="en-US" altLang="zh-TW" dirty="0" smtClean="0">
                <a:latin typeface="Courier New"/>
                <a:cs typeface="Courier New"/>
              </a:rPr>
              <a:t>, </a:t>
            </a:r>
            <a:r>
              <a:rPr kumimoji="1" lang="en-US" altLang="zh-TW" dirty="0" err="1" smtClean="0">
                <a:latin typeface="Courier New"/>
                <a:cs typeface="Courier New"/>
              </a:rPr>
              <a:t>userID</a:t>
            </a:r>
            <a:r>
              <a:rPr kumimoji="1" lang="en-US" altLang="zh-TW" dirty="0" smtClean="0">
                <a:latin typeface="Courier New"/>
                <a:cs typeface="Courier New"/>
              </a:rPr>
              <a:t>, </a:t>
            </a:r>
            <a:r>
              <a:rPr kumimoji="1" lang="en-US" altLang="zh-TW" dirty="0" err="1" smtClean="0">
                <a:latin typeface="Courier New"/>
                <a:cs typeface="Courier New"/>
              </a:rPr>
              <a:t>cookieID</a:t>
            </a:r>
            <a:r>
              <a:rPr kumimoji="1" lang="en-US" altLang="zh-TW" dirty="0" smtClean="0">
                <a:latin typeface="Courier New"/>
                <a:cs typeface="Courier New"/>
              </a:rPr>
              <a:t>, web page</a:t>
            </a:r>
          </a:p>
          <a:p>
            <a:r>
              <a:rPr kumimoji="1" lang="en-US" altLang="zh-TW" dirty="0" smtClean="0">
                <a:latin typeface="Courier New"/>
                <a:cs typeface="Courier New"/>
              </a:rPr>
              <a:t>2014/04/01:1323,x,user1,cookie1,http://abc.com/index</a:t>
            </a:r>
          </a:p>
          <a:p>
            <a:r>
              <a:rPr kumimoji="1" lang="en-US" altLang="zh-TW" dirty="0" smtClean="0">
                <a:latin typeface="Courier New"/>
                <a:cs typeface="Courier New"/>
              </a:rPr>
              <a:t>2014/04/01:1324,x,user1,cookie1,http://abc.com/</a:t>
            </a:r>
            <a:r>
              <a:rPr kumimoji="1" lang="en-US" altLang="zh-TW" dirty="0" err="1" smtClean="0">
                <a:latin typeface="Courier New"/>
                <a:cs typeface="Courier New"/>
              </a:rPr>
              <a:t>item?itemid</a:t>
            </a:r>
            <a:r>
              <a:rPr kumimoji="1" lang="en-US" altLang="zh-TW" dirty="0" smtClean="0">
                <a:latin typeface="Courier New"/>
                <a:cs typeface="Courier New"/>
              </a:rPr>
              <a:t>=1234</a:t>
            </a:r>
          </a:p>
          <a:p>
            <a:r>
              <a:rPr kumimoji="1" lang="en-US" altLang="zh-TW" dirty="0" smtClean="0">
                <a:latin typeface="Courier New"/>
                <a:cs typeface="Courier New"/>
              </a:rPr>
              <a:t>2014/04/01:1327,z,null,cookie3,http://abc.com/</a:t>
            </a:r>
            <a:r>
              <a:rPr kumimoji="1" lang="en-US" altLang="zh-TW" dirty="0" err="1" smtClean="0">
                <a:latin typeface="Courier New"/>
                <a:cs typeface="Courier New"/>
              </a:rPr>
              <a:t>item?itemid</a:t>
            </a:r>
            <a:r>
              <a:rPr kumimoji="1" lang="en-US" altLang="zh-TW" dirty="0" smtClean="0">
                <a:latin typeface="Courier New"/>
                <a:cs typeface="Courier New"/>
              </a:rPr>
              <a:t>=2345</a:t>
            </a:r>
          </a:p>
          <a:p>
            <a:r>
              <a:rPr kumimoji="1" lang="en-US" altLang="zh-TW" dirty="0" smtClean="0">
                <a:latin typeface="Courier New"/>
                <a:cs typeface="Courier New"/>
              </a:rPr>
              <a:t>2014/04/01:1340,x,user1,cookie1,http://abc.com/</a:t>
            </a:r>
            <a:r>
              <a:rPr kumimoji="1" lang="en-US" altLang="zh-TW" dirty="0" err="1" smtClean="0">
                <a:latin typeface="Courier New"/>
                <a:cs typeface="Courier New"/>
              </a:rPr>
              <a:t>item?itemid</a:t>
            </a:r>
            <a:r>
              <a:rPr kumimoji="1" lang="en-US" altLang="zh-TW" dirty="0" smtClean="0">
                <a:latin typeface="Courier New"/>
                <a:cs typeface="Courier New"/>
              </a:rPr>
              <a:t>=2837</a:t>
            </a:r>
          </a:p>
          <a:p>
            <a:r>
              <a:rPr kumimoji="1" lang="en-US" altLang="zh-TW" dirty="0" smtClean="0">
                <a:latin typeface="Courier New"/>
                <a:cs typeface="Courier New"/>
              </a:rPr>
              <a:t>2014/04/01:1341,x,user1,cookie1,http://abc.com/</a:t>
            </a:r>
            <a:r>
              <a:rPr kumimoji="1" lang="en-US" altLang="zh-TW" dirty="0" err="1" smtClean="0">
                <a:latin typeface="Courier New"/>
                <a:cs typeface="Courier New"/>
              </a:rPr>
              <a:t>category?cid</a:t>
            </a:r>
            <a:r>
              <a:rPr kumimoji="1" lang="en-US" altLang="zh-TW" dirty="0" smtClean="0">
                <a:latin typeface="Courier New"/>
                <a:cs typeface="Courier New"/>
              </a:rPr>
              <a:t>=23</a:t>
            </a:r>
          </a:p>
          <a:p>
            <a:r>
              <a:rPr kumimoji="1" lang="en-US" altLang="zh-TW" dirty="0" smtClean="0">
                <a:latin typeface="Courier New"/>
                <a:cs typeface="Courier New"/>
              </a:rPr>
              <a:t>2014/04/01:1341,z,null,cookie3,http://abc.com/</a:t>
            </a:r>
            <a:r>
              <a:rPr kumimoji="1" lang="en-US" altLang="zh-TW" dirty="0" err="1" smtClean="0">
                <a:latin typeface="Courier New"/>
                <a:cs typeface="Courier New"/>
              </a:rPr>
              <a:t>search?kw</a:t>
            </a:r>
            <a:r>
              <a:rPr kumimoji="1" lang="en-US" altLang="zh-TW" dirty="0" smtClean="0">
                <a:latin typeface="Courier New"/>
                <a:cs typeface="Courier New"/>
              </a:rPr>
              <a:t>=big data</a:t>
            </a:r>
          </a:p>
          <a:p>
            <a:r>
              <a:rPr kumimoji="1" lang="en-US" altLang="zh-TW" dirty="0" smtClean="0">
                <a:latin typeface="Courier New"/>
                <a:cs typeface="Courier New"/>
              </a:rPr>
              <a:t>2014/04/01:1344,y,user2,cookie2,http://abc.com/</a:t>
            </a:r>
            <a:r>
              <a:rPr kumimoji="1" lang="en-US" altLang="zh-TW" dirty="0" err="1" smtClean="0">
                <a:latin typeface="Courier New"/>
                <a:cs typeface="Courier New"/>
              </a:rPr>
              <a:t>top?by</a:t>
            </a:r>
            <a:r>
              <a:rPr kumimoji="1" lang="en-US" altLang="zh-TW" dirty="0" smtClean="0">
                <a:latin typeface="Courier New"/>
                <a:cs typeface="Courier New"/>
              </a:rPr>
              <a:t>=</a:t>
            </a:r>
            <a:r>
              <a:rPr kumimoji="1" lang="en-US" altLang="zh-TW" dirty="0" err="1" smtClean="0">
                <a:latin typeface="Courier New"/>
                <a:cs typeface="Courier New"/>
              </a:rPr>
              <a:t>lastweek</a:t>
            </a:r>
            <a:endParaRPr kumimoji="1" lang="en-US" altLang="zh-TW" dirty="0" smtClean="0">
              <a:latin typeface="Courier New"/>
              <a:cs typeface="Courier New"/>
            </a:endParaRPr>
          </a:p>
          <a:p>
            <a:r>
              <a:rPr kumimoji="1" lang="en-US" altLang="zh-TW" dirty="0" smtClean="0">
                <a:latin typeface="Courier New"/>
                <a:cs typeface="Courier New"/>
              </a:rPr>
              <a:t>2014/04/01:1344,x,user1,cookie1,http://abc.com/</a:t>
            </a:r>
            <a:r>
              <a:rPr kumimoji="1" lang="en-US" altLang="zh-TW" dirty="0" err="1" smtClean="0">
                <a:latin typeface="Courier New"/>
                <a:cs typeface="Courier New"/>
              </a:rPr>
              <a:t>item?itemid</a:t>
            </a:r>
            <a:r>
              <a:rPr kumimoji="1" lang="en-US" altLang="zh-TW" dirty="0" smtClean="0">
                <a:latin typeface="Courier New"/>
                <a:cs typeface="Courier New"/>
              </a:rPr>
              <a:t>=8899</a:t>
            </a:r>
          </a:p>
          <a:p>
            <a:r>
              <a:rPr kumimoji="1" lang="en-US" altLang="zh-TW" dirty="0" smtClean="0">
                <a:latin typeface="Courier New"/>
                <a:cs typeface="Courier New"/>
              </a:rPr>
              <a:t>2014/04/01:1348,x,user1,cookie1,http://abc.com/</a:t>
            </a:r>
            <a:r>
              <a:rPr kumimoji="1" lang="en-US" altLang="zh-TW" dirty="0" err="1" smtClean="0">
                <a:latin typeface="Courier New"/>
                <a:cs typeface="Courier New"/>
              </a:rPr>
              <a:t>item?itemid</a:t>
            </a:r>
            <a:r>
              <a:rPr kumimoji="1" lang="en-US" altLang="zh-TW" dirty="0" smtClean="0">
                <a:latin typeface="Courier New"/>
                <a:cs typeface="Courier New"/>
              </a:rPr>
              <a:t>=297</a:t>
            </a:r>
          </a:p>
          <a:p>
            <a:r>
              <a:rPr kumimoji="1" lang="en-US" altLang="zh-TW" dirty="0" smtClean="0">
                <a:latin typeface="Courier New"/>
                <a:cs typeface="Courier New"/>
              </a:rPr>
              <a:t>2014/04/01:1348,x,user1,cookie1,http://abc.com/</a:t>
            </a:r>
            <a:r>
              <a:rPr kumimoji="1" lang="en-US" altLang="zh-TW" dirty="0" err="1" smtClean="0">
                <a:latin typeface="Courier New"/>
                <a:cs typeface="Courier New"/>
              </a:rPr>
              <a:t>category?cid</a:t>
            </a:r>
            <a:r>
              <a:rPr kumimoji="1" lang="en-US" altLang="zh-TW" dirty="0" smtClean="0">
                <a:latin typeface="Courier New"/>
                <a:cs typeface="Courier New"/>
              </a:rPr>
              <a:t>=18</a:t>
            </a:r>
          </a:p>
          <a:p>
            <a:r>
              <a:rPr kumimoji="1" lang="en-US" altLang="zh-TW" dirty="0" smtClean="0">
                <a:latin typeface="Courier New"/>
                <a:cs typeface="Courier New"/>
              </a:rPr>
              <a:t>2014/04/01:1349,xx,user1,cookie1,http://abc.com/</a:t>
            </a:r>
            <a:r>
              <a:rPr kumimoji="1" lang="en-US" altLang="zh-TW" dirty="0" err="1" smtClean="0">
                <a:latin typeface="Courier New"/>
                <a:cs typeface="Courier New"/>
              </a:rPr>
              <a:t>category?cid</a:t>
            </a:r>
            <a:r>
              <a:rPr kumimoji="1" lang="en-US" altLang="zh-TW" dirty="0" smtClean="0">
                <a:latin typeface="Courier New"/>
                <a:cs typeface="Courier New"/>
              </a:rPr>
              <a:t>=24</a:t>
            </a:r>
          </a:p>
          <a:p>
            <a:r>
              <a:rPr kumimoji="1" lang="en-US" altLang="zh-TW" dirty="0" smtClean="0">
                <a:latin typeface="Courier New"/>
                <a:cs typeface="Courier New"/>
              </a:rPr>
              <a:t>...</a:t>
            </a:r>
            <a:endParaRPr kumimoji="1" lang="en-US" altLang="zh-TW" dirty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002474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Clustering </a:t>
            </a:r>
            <a:endParaRPr lang="zh-TW" altLang="en-US" b="1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59930" y="2521267"/>
            <a:ext cx="5767064" cy="3874454"/>
          </a:xfrm>
          <a:prstGeom prst="rect">
            <a:avLst/>
          </a:prstGeom>
        </p:spPr>
      </p:pic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576262" y="1514792"/>
            <a:ext cx="7991475" cy="89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+mn-cs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TW" altLang="en-US" sz="2600"/>
              <a:t>分群 </a:t>
            </a:r>
            <a:r>
              <a:rPr lang="en-US" altLang="zh-TW" sz="2600"/>
              <a:t>(Clustering) </a:t>
            </a:r>
            <a:r>
              <a:rPr lang="zh-TW" altLang="en-US" sz="2600"/>
              <a:t>是將一組資料依據某種距離的量度將其分割成若干群。</a:t>
            </a:r>
          </a:p>
        </p:txBody>
      </p:sp>
    </p:spTree>
    <p:extLst>
      <p:ext uri="{BB962C8B-B14F-4D97-AF65-F5344CB8AC3E}">
        <p14:creationId xmlns:p14="http://schemas.microsoft.com/office/powerpoint/2010/main" val="293069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LCS algorithm</a:t>
            </a:r>
            <a:endParaRPr lang="zh-TW" altLang="en-US" b="1" dirty="0"/>
          </a:p>
        </p:txBody>
      </p:sp>
      <p:graphicFrame>
        <p:nvGraphicFramePr>
          <p:cNvPr id="5" name="內容版面配置區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10827768"/>
              </p:ext>
            </p:extLst>
          </p:nvPr>
        </p:nvGraphicFramePr>
        <p:xfrm>
          <a:off x="761998" y="2888117"/>
          <a:ext cx="7753352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9169"/>
                <a:gridCol w="969169"/>
                <a:gridCol w="969169"/>
                <a:gridCol w="969169"/>
                <a:gridCol w="969169"/>
                <a:gridCol w="969169"/>
                <a:gridCol w="969169"/>
                <a:gridCol w="969169"/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937" y="1825625"/>
            <a:ext cx="6943725" cy="838200"/>
          </a:xfrm>
          <a:prstGeom prst="rect">
            <a:avLst/>
          </a:prstGeom>
        </p:spPr>
      </p:pic>
      <p:sp>
        <p:nvSpPr>
          <p:cNvPr id="8" name="框架 7"/>
          <p:cNvSpPr/>
          <p:nvPr/>
        </p:nvSpPr>
        <p:spPr>
          <a:xfrm>
            <a:off x="4572000" y="4354286"/>
            <a:ext cx="1103086" cy="362857"/>
          </a:xfrm>
          <a:prstGeom prst="fram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7768164"/>
              </p:ext>
            </p:extLst>
          </p:nvPr>
        </p:nvGraphicFramePr>
        <p:xfrm>
          <a:off x="4572000" y="4354286"/>
          <a:ext cx="110308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3086"/>
              </a:tblGrid>
              <a:tr h="312784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11" name="直線單箭頭接點 10"/>
          <p:cNvCxnSpPr/>
          <p:nvPr/>
        </p:nvCxnSpPr>
        <p:spPr>
          <a:xfrm flipH="1" flipV="1">
            <a:off x="4383314" y="4212772"/>
            <a:ext cx="377371" cy="28302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14" name="內容版面配置區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86643120"/>
              </p:ext>
            </p:extLst>
          </p:nvPr>
        </p:nvGraphicFramePr>
        <p:xfrm>
          <a:off x="761998" y="2866934"/>
          <a:ext cx="7753352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9169"/>
                <a:gridCol w="969169"/>
                <a:gridCol w="969169"/>
                <a:gridCol w="969169"/>
                <a:gridCol w="969169"/>
                <a:gridCol w="969169"/>
                <a:gridCol w="969169"/>
                <a:gridCol w="969169"/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6077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altLang="zh-TW" b="1" dirty="0" smtClean="0"/>
              <a:t> Path Information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949370" y="1825625"/>
            <a:ext cx="3565979" cy="4351338"/>
          </a:xfrm>
        </p:spPr>
        <p:txBody>
          <a:bodyPr/>
          <a:lstStyle/>
          <a:p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3696" y="1306286"/>
            <a:ext cx="3696607" cy="5131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507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Method</a:t>
            </a:r>
            <a:endParaRPr lang="zh-TW" altLang="en-US" b="1" dirty="0"/>
          </a:p>
        </p:txBody>
      </p:sp>
      <p:graphicFrame>
        <p:nvGraphicFramePr>
          <p:cNvPr id="5" name="內容版面配置區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78050443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3477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Path Intersection</a:t>
            </a:r>
            <a:endParaRPr lang="zh-TW" altLang="en-US" b="1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04" y="1448042"/>
            <a:ext cx="9083296" cy="2226491"/>
          </a:xfrm>
          <a:prstGeom prst="rect">
            <a:avLst/>
          </a:prstGeom>
        </p:spPr>
      </p:pic>
      <p:sp>
        <p:nvSpPr>
          <p:cNvPr id="7" name="內容版面配置區 6"/>
          <p:cNvSpPr>
            <a:spLocks noGrp="1"/>
          </p:cNvSpPr>
          <p:nvPr>
            <p:ph idx="1"/>
          </p:nvPr>
        </p:nvSpPr>
        <p:spPr>
          <a:xfrm>
            <a:off x="245660" y="3835021"/>
            <a:ext cx="2414413" cy="2647666"/>
          </a:xfrm>
        </p:spPr>
        <p:txBody>
          <a:bodyPr/>
          <a:lstStyle/>
          <a:p>
            <a:r>
              <a:rPr lang="en-US" altLang="zh-TW" dirty="0" smtClean="0"/>
              <a:t>Ex:</a:t>
            </a:r>
            <a:endParaRPr lang="zh-TW" altLang="en-US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628649" y="4331078"/>
            <a:ext cx="28983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altLang="zh-TW" dirty="0" smtClean="0"/>
              <a:t>α</a:t>
            </a:r>
            <a:r>
              <a:rPr lang="en-US" altLang="zh-TW" dirty="0" smtClean="0"/>
              <a:t>=&lt;A,B,C,B,D,A&gt;</a:t>
            </a:r>
          </a:p>
          <a:p>
            <a:r>
              <a:rPr lang="el-GR" altLang="zh-TW" dirty="0"/>
              <a:t>β</a:t>
            </a:r>
            <a:r>
              <a:rPr lang="en-US" altLang="zh-TW" dirty="0" smtClean="0"/>
              <a:t>=&lt;B,D,C,A,B,A&gt;</a:t>
            </a:r>
          </a:p>
          <a:p>
            <a:r>
              <a:rPr lang="el-GR" altLang="zh-TW" dirty="0"/>
              <a:t>γ</a:t>
            </a:r>
            <a:r>
              <a:rPr lang="en-US" altLang="zh-TW" dirty="0" smtClean="0"/>
              <a:t>=&lt;B,C,B,A&gt;</a:t>
            </a:r>
            <a:endParaRPr lang="zh-TW" altLang="en-US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3184859" y="4331078"/>
            <a:ext cx="28349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altLang="zh-TW" dirty="0" smtClean="0"/>
              <a:t>α</a:t>
            </a:r>
            <a:r>
              <a:rPr lang="en-US" altLang="zh-TW" dirty="0" smtClean="0"/>
              <a:t>=&lt;A,B,C,B,D,A,B&gt;</a:t>
            </a:r>
          </a:p>
          <a:p>
            <a:r>
              <a:rPr lang="el-GR" altLang="zh-TW" dirty="0"/>
              <a:t>β</a:t>
            </a:r>
            <a:r>
              <a:rPr lang="en-US" altLang="zh-TW" dirty="0" smtClean="0"/>
              <a:t>=&lt;B,D,C,A,B,A&gt;</a:t>
            </a:r>
          </a:p>
          <a:p>
            <a:r>
              <a:rPr lang="el-GR" altLang="zh-TW" dirty="0"/>
              <a:t>γ</a:t>
            </a:r>
            <a:r>
              <a:rPr lang="en-US" altLang="zh-TW" dirty="0" smtClean="0"/>
              <a:t>=&lt;B,C,B,A&gt;</a:t>
            </a:r>
            <a:endParaRPr lang="zh-TW" altLang="en-US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6019845" y="4331078"/>
            <a:ext cx="28349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altLang="zh-TW" dirty="0" smtClean="0"/>
              <a:t>α</a:t>
            </a:r>
            <a:r>
              <a:rPr lang="en-US" altLang="zh-TW" dirty="0" smtClean="0"/>
              <a:t>=&lt;A,B,C,B,D,A,B&gt;</a:t>
            </a:r>
          </a:p>
          <a:p>
            <a:r>
              <a:rPr lang="el-GR" altLang="zh-TW" dirty="0"/>
              <a:t>β</a:t>
            </a:r>
            <a:r>
              <a:rPr lang="en-US" altLang="zh-TW" dirty="0" smtClean="0"/>
              <a:t>=&lt;B,D,C,A,B,A&gt;</a:t>
            </a:r>
          </a:p>
          <a:p>
            <a:r>
              <a:rPr lang="el-GR" altLang="zh-TW" dirty="0"/>
              <a:t>γ</a:t>
            </a:r>
            <a:r>
              <a:rPr lang="en-US" altLang="zh-TW" dirty="0" smtClean="0"/>
              <a:t>=&lt;B,D,A,B&gt;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562391" y="5443359"/>
            <a:ext cx="80799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&lt;2,3,4,6&gt;			&lt;</a:t>
            </a:r>
            <a:r>
              <a:rPr lang="en-US" altLang="zh-TW" dirty="0"/>
              <a:t> 2,3,4,6 </a:t>
            </a:r>
            <a:r>
              <a:rPr lang="en-US" altLang="zh-TW" dirty="0" smtClean="0"/>
              <a:t>&gt;                                  &lt;2,5,6,7&gt;</a:t>
            </a:r>
          </a:p>
          <a:p>
            <a:r>
              <a:rPr lang="en-US" altLang="zh-TW" dirty="0" smtClean="0"/>
              <a:t>&lt;1,3,5,6&gt;			&lt; 1,3,5,6&gt;		&lt;1,2,4,5&gt;</a:t>
            </a:r>
            <a:endParaRPr lang="en-US" altLang="zh-TW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435428" y="6124814"/>
            <a:ext cx="37592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l</a:t>
            </a:r>
            <a:r>
              <a:rPr lang="el-GR" altLang="zh-TW" baseline="30000" dirty="0"/>
              <a:t>α</a:t>
            </a:r>
            <a:r>
              <a:rPr lang="en-US" altLang="zh-TW" dirty="0"/>
              <a:t>(1)=2 , l</a:t>
            </a:r>
            <a:r>
              <a:rPr lang="el-GR" altLang="zh-TW" baseline="30000" dirty="0"/>
              <a:t>α</a:t>
            </a:r>
            <a:r>
              <a:rPr lang="en-US" altLang="zh-TW" dirty="0"/>
              <a:t>(2)=3 , l</a:t>
            </a:r>
            <a:r>
              <a:rPr lang="el-GR" altLang="zh-TW" baseline="30000" dirty="0"/>
              <a:t>α</a:t>
            </a:r>
            <a:r>
              <a:rPr lang="en-US" altLang="zh-TW" dirty="0"/>
              <a:t>(3)=4 , l</a:t>
            </a:r>
            <a:r>
              <a:rPr lang="el-GR" altLang="zh-TW" baseline="30000" dirty="0"/>
              <a:t>α</a:t>
            </a:r>
            <a:r>
              <a:rPr lang="en-US" altLang="zh-TW" dirty="0"/>
              <a:t>(4)=6 </a:t>
            </a:r>
          </a:p>
          <a:p>
            <a:r>
              <a:rPr lang="en-US" altLang="zh-TW" dirty="0"/>
              <a:t>l</a:t>
            </a:r>
            <a:r>
              <a:rPr lang="el-GR" altLang="zh-TW" baseline="30000" dirty="0"/>
              <a:t>β</a:t>
            </a:r>
            <a:r>
              <a:rPr lang="en-US" altLang="zh-TW" dirty="0"/>
              <a:t>(1)=1, l</a:t>
            </a:r>
            <a:r>
              <a:rPr lang="el-GR" altLang="zh-TW" baseline="30000" dirty="0"/>
              <a:t>β</a:t>
            </a:r>
            <a:r>
              <a:rPr lang="en-US" altLang="zh-TW" dirty="0"/>
              <a:t>(2)=3, l</a:t>
            </a:r>
            <a:r>
              <a:rPr lang="el-GR" altLang="zh-TW" baseline="30000" dirty="0"/>
              <a:t>β</a:t>
            </a:r>
            <a:r>
              <a:rPr lang="en-US" altLang="zh-TW" dirty="0"/>
              <a:t>(3)=5, l</a:t>
            </a:r>
            <a:r>
              <a:rPr lang="el-GR" altLang="zh-TW" baseline="30000" dirty="0"/>
              <a:t>β</a:t>
            </a:r>
            <a:r>
              <a:rPr lang="en-US" altLang="zh-TW" dirty="0"/>
              <a:t>(4)=</a:t>
            </a:r>
            <a:r>
              <a:rPr lang="en-US" altLang="zh-TW" dirty="0" smtClean="0"/>
              <a:t>6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9213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Path Similarity Measure</a:t>
            </a:r>
            <a:endParaRPr lang="zh-TW" altLang="en-US" b="1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74632" y="2301900"/>
            <a:ext cx="3472599" cy="1133910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850" y="3638737"/>
            <a:ext cx="4902767" cy="946148"/>
          </a:xfrm>
          <a:prstGeom prst="rect">
            <a:avLst/>
          </a:prstGeom>
        </p:spPr>
      </p:pic>
      <p:grpSp>
        <p:nvGrpSpPr>
          <p:cNvPr id="3" name="群組 2"/>
          <p:cNvGrpSpPr/>
          <p:nvPr/>
        </p:nvGrpSpPr>
        <p:grpSpPr>
          <a:xfrm>
            <a:off x="5174003" y="1862990"/>
            <a:ext cx="3482294" cy="980665"/>
            <a:chOff x="4147231" y="2012765"/>
            <a:chExt cx="4368119" cy="1325563"/>
          </a:xfrm>
        </p:grpSpPr>
        <p:pic>
          <p:nvPicPr>
            <p:cNvPr id="12" name="圖片 1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147231" y="2795403"/>
              <a:ext cx="4295775" cy="542925"/>
            </a:xfrm>
            <a:prstGeom prst="rect">
              <a:avLst/>
            </a:prstGeom>
          </p:spPr>
        </p:pic>
        <p:pic>
          <p:nvPicPr>
            <p:cNvPr id="13" name="圖片 1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152900" y="2012765"/>
              <a:ext cx="4362450" cy="514350"/>
            </a:xfrm>
            <a:prstGeom prst="rect">
              <a:avLst/>
            </a:prstGeom>
          </p:spPr>
        </p:pic>
      </p:grpSp>
      <p:sp>
        <p:nvSpPr>
          <p:cNvPr id="14" name="文字方塊 13"/>
          <p:cNvSpPr txBox="1"/>
          <p:nvPr/>
        </p:nvSpPr>
        <p:spPr>
          <a:xfrm>
            <a:off x="495198" y="1831835"/>
            <a:ext cx="3091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The </a:t>
            </a:r>
            <a:r>
              <a:rPr lang="en-US" altLang="zh-TW" b="1" dirty="0"/>
              <a:t>Similarity </a:t>
            </a:r>
            <a:r>
              <a:rPr lang="en-US" altLang="zh-TW" dirty="0"/>
              <a:t>Component</a:t>
            </a:r>
            <a:endParaRPr lang="zh-TW" altLang="en-US" dirty="0"/>
          </a:p>
        </p:txBody>
      </p:sp>
      <p:pic>
        <p:nvPicPr>
          <p:cNvPr id="15" name="圖片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4632" y="5468686"/>
            <a:ext cx="3883767" cy="1106285"/>
          </a:xfrm>
          <a:prstGeom prst="rect">
            <a:avLst/>
          </a:prstGeom>
        </p:spPr>
      </p:pic>
      <p:grpSp>
        <p:nvGrpSpPr>
          <p:cNvPr id="16" name="群組 15"/>
          <p:cNvGrpSpPr/>
          <p:nvPr/>
        </p:nvGrpSpPr>
        <p:grpSpPr>
          <a:xfrm>
            <a:off x="6360249" y="4742047"/>
            <a:ext cx="2238375" cy="1939879"/>
            <a:chOff x="4675867" y="1831123"/>
            <a:chExt cx="2581275" cy="2112157"/>
          </a:xfrm>
        </p:grpSpPr>
        <p:pic>
          <p:nvPicPr>
            <p:cNvPr id="17" name="圖片 1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675867" y="1831123"/>
              <a:ext cx="2581275" cy="457200"/>
            </a:xfrm>
            <a:prstGeom prst="rect">
              <a:avLst/>
            </a:prstGeom>
          </p:spPr>
        </p:pic>
        <p:pic>
          <p:nvPicPr>
            <p:cNvPr id="18" name="圖片 17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704442" y="2345872"/>
              <a:ext cx="2552700" cy="485775"/>
            </a:xfrm>
            <a:prstGeom prst="rect">
              <a:avLst/>
            </a:prstGeom>
          </p:spPr>
        </p:pic>
        <p:pic>
          <p:nvPicPr>
            <p:cNvPr id="19" name="圖片 18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704442" y="2933630"/>
              <a:ext cx="1924050" cy="561975"/>
            </a:xfrm>
            <a:prstGeom prst="rect">
              <a:avLst/>
            </a:prstGeom>
          </p:spPr>
        </p:pic>
        <p:pic>
          <p:nvPicPr>
            <p:cNvPr id="20" name="圖片 19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704442" y="3495605"/>
              <a:ext cx="1905000" cy="447675"/>
            </a:xfrm>
            <a:prstGeom prst="rect">
              <a:avLst/>
            </a:prstGeom>
          </p:spPr>
        </p:pic>
      </p:grpSp>
      <p:sp>
        <p:nvSpPr>
          <p:cNvPr id="21" name="文字方塊 20"/>
          <p:cNvSpPr txBox="1"/>
          <p:nvPr/>
        </p:nvSpPr>
        <p:spPr>
          <a:xfrm>
            <a:off x="495198" y="5115463"/>
            <a:ext cx="2960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The </a:t>
            </a:r>
            <a:r>
              <a:rPr lang="en-US" altLang="zh-TW" b="1" dirty="0"/>
              <a:t>Importance </a:t>
            </a:r>
            <a:r>
              <a:rPr lang="en-US" altLang="zh-TW" dirty="0"/>
              <a:t>Component</a:t>
            </a:r>
            <a:endParaRPr lang="zh-TW" altLang="en-US" dirty="0"/>
          </a:p>
        </p:txBody>
      </p:sp>
      <p:sp>
        <p:nvSpPr>
          <p:cNvPr id="6" name="文字方塊 5"/>
          <p:cNvSpPr txBox="1"/>
          <p:nvPr/>
        </p:nvSpPr>
        <p:spPr>
          <a:xfrm>
            <a:off x="5734617" y="3257550"/>
            <a:ext cx="26521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Ex:</a:t>
            </a:r>
          </a:p>
          <a:p>
            <a:r>
              <a:rPr lang="en-US" altLang="zh-TW" dirty="0" smtClean="0"/>
              <a:t>32 33   </a:t>
            </a:r>
            <a:r>
              <a:rPr lang="en-US" altLang="zh-TW" dirty="0" err="1" smtClean="0"/>
              <a:t>vs</a:t>
            </a:r>
            <a:r>
              <a:rPr lang="en-US" altLang="zh-TW" dirty="0" smtClean="0"/>
              <a:t>    1 20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65025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6" grpId="0"/>
      <p:bldP spid="6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Path Similarity Measure</a:t>
            </a:r>
            <a:endParaRPr lang="zh-TW" altLang="en-US" b="1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1647146"/>
            <a:ext cx="6212911" cy="704340"/>
          </a:xfrm>
          <a:prstGeom prst="rect">
            <a:avLst/>
          </a:prstGeom>
        </p:spPr>
      </p:pic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7257142" y="4513943"/>
            <a:ext cx="1258207" cy="1915886"/>
          </a:xfrm>
        </p:spPr>
        <p:txBody>
          <a:bodyPr/>
          <a:lstStyle/>
          <a:p>
            <a:endParaRPr lang="zh-TW" altLang="en-US" dirty="0"/>
          </a:p>
        </p:txBody>
      </p:sp>
      <p:pic>
        <p:nvPicPr>
          <p:cNvPr id="16" name="圖片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220" y="2861525"/>
            <a:ext cx="8480607" cy="2857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778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Path Similarity Measure</a:t>
            </a:r>
            <a:endParaRPr lang="zh-TW" altLang="en-US" b="1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1647146"/>
            <a:ext cx="6212911" cy="704340"/>
          </a:xfrm>
          <a:prstGeom prst="rect">
            <a:avLst/>
          </a:prstGeom>
        </p:spPr>
      </p:pic>
      <p:sp>
        <p:nvSpPr>
          <p:cNvPr id="6" name="文字方塊 5"/>
          <p:cNvSpPr txBox="1"/>
          <p:nvPr/>
        </p:nvSpPr>
        <p:spPr>
          <a:xfrm>
            <a:off x="819335" y="2718560"/>
            <a:ext cx="32257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altLang="zh-TW" sz="2400" dirty="0" smtClean="0"/>
              <a:t>α</a:t>
            </a:r>
            <a:r>
              <a:rPr lang="en-US" altLang="zh-TW" sz="2400" dirty="0" smtClean="0"/>
              <a:t>=&lt;A,B,C,B,D,A,B&gt;</a:t>
            </a:r>
          </a:p>
          <a:p>
            <a:r>
              <a:rPr lang="el-GR" altLang="zh-TW" sz="2400" dirty="0"/>
              <a:t>β</a:t>
            </a:r>
            <a:r>
              <a:rPr lang="en-US" altLang="zh-TW" sz="2400" dirty="0" smtClean="0"/>
              <a:t>=&lt;B,D,C,A,B,A&gt;</a:t>
            </a:r>
          </a:p>
          <a:p>
            <a:r>
              <a:rPr lang="el-GR" altLang="zh-TW" sz="2400" dirty="0"/>
              <a:t>γ</a:t>
            </a:r>
            <a:r>
              <a:rPr lang="en-US" altLang="zh-TW" sz="2400" dirty="0" smtClean="0"/>
              <a:t>=&lt;B,D,A,B&gt;</a:t>
            </a:r>
            <a:endParaRPr lang="zh-TW" altLang="en-US" sz="2400" dirty="0"/>
          </a:p>
        </p:txBody>
      </p:sp>
      <p:grpSp>
        <p:nvGrpSpPr>
          <p:cNvPr id="8" name="群組 7"/>
          <p:cNvGrpSpPr/>
          <p:nvPr/>
        </p:nvGrpSpPr>
        <p:grpSpPr>
          <a:xfrm>
            <a:off x="4667373" y="3108526"/>
            <a:ext cx="2205819" cy="1948580"/>
            <a:chOff x="4675867" y="1831123"/>
            <a:chExt cx="2581275" cy="2112157"/>
          </a:xfrm>
        </p:grpSpPr>
        <p:pic>
          <p:nvPicPr>
            <p:cNvPr id="9" name="圖片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75867" y="1831123"/>
              <a:ext cx="2581275" cy="457200"/>
            </a:xfrm>
            <a:prstGeom prst="rect">
              <a:avLst/>
            </a:prstGeom>
          </p:spPr>
        </p:pic>
        <p:pic>
          <p:nvPicPr>
            <p:cNvPr id="10" name="圖片 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704442" y="2345872"/>
              <a:ext cx="2552700" cy="485775"/>
            </a:xfrm>
            <a:prstGeom prst="rect">
              <a:avLst/>
            </a:prstGeom>
          </p:spPr>
        </p:pic>
        <p:pic>
          <p:nvPicPr>
            <p:cNvPr id="11" name="圖片 1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704442" y="2933630"/>
              <a:ext cx="2552700" cy="561975"/>
            </a:xfrm>
            <a:prstGeom prst="rect">
              <a:avLst/>
            </a:prstGeom>
          </p:spPr>
        </p:pic>
        <p:pic>
          <p:nvPicPr>
            <p:cNvPr id="12" name="圖片 11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704442" y="3495605"/>
              <a:ext cx="2515685" cy="447675"/>
            </a:xfrm>
            <a:prstGeom prst="rect">
              <a:avLst/>
            </a:prstGeom>
          </p:spPr>
        </p:pic>
      </p:grpSp>
      <p:sp>
        <p:nvSpPr>
          <p:cNvPr id="13" name="文字方塊 12"/>
          <p:cNvSpPr txBox="1"/>
          <p:nvPr/>
        </p:nvSpPr>
        <p:spPr>
          <a:xfrm>
            <a:off x="819335" y="4526007"/>
            <a:ext cx="35813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altLang="zh-TW" sz="2400" dirty="0" smtClean="0"/>
              <a:t>α</a:t>
            </a:r>
            <a:r>
              <a:rPr lang="en-US" altLang="zh-TW" sz="2400" dirty="0" smtClean="0"/>
              <a:t>=&lt;4,33,10,3,27,28,15&gt;</a:t>
            </a:r>
          </a:p>
          <a:p>
            <a:r>
              <a:rPr lang="el-GR" altLang="zh-TW" sz="2400" dirty="0"/>
              <a:t>β</a:t>
            </a:r>
            <a:r>
              <a:rPr lang="en-US" altLang="zh-TW" sz="2400" dirty="0" smtClean="0"/>
              <a:t>=&lt;14,3,18,20,33,7&gt;</a:t>
            </a:r>
          </a:p>
        </p:txBody>
      </p:sp>
      <p:cxnSp>
        <p:nvCxnSpPr>
          <p:cNvPr id="15" name="直線接點 14"/>
          <p:cNvCxnSpPr/>
          <p:nvPr/>
        </p:nvCxnSpPr>
        <p:spPr>
          <a:xfrm>
            <a:off x="1657350" y="3090125"/>
            <a:ext cx="1285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/>
          <p:nvPr/>
        </p:nvCxnSpPr>
        <p:spPr>
          <a:xfrm>
            <a:off x="2360752" y="3090125"/>
            <a:ext cx="1285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/>
          <p:nvPr/>
        </p:nvCxnSpPr>
        <p:spPr>
          <a:xfrm>
            <a:off x="2627452" y="3090125"/>
            <a:ext cx="1285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/>
          <p:nvPr/>
        </p:nvCxnSpPr>
        <p:spPr>
          <a:xfrm>
            <a:off x="2908440" y="3090125"/>
            <a:ext cx="1285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/>
          <p:nvPr/>
        </p:nvCxnSpPr>
        <p:spPr>
          <a:xfrm>
            <a:off x="1366837" y="3423560"/>
            <a:ext cx="1285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/>
          <p:nvPr/>
        </p:nvCxnSpPr>
        <p:spPr>
          <a:xfrm>
            <a:off x="1657350" y="3423560"/>
            <a:ext cx="1285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/>
          <p:nvPr/>
        </p:nvCxnSpPr>
        <p:spPr>
          <a:xfrm>
            <a:off x="2117864" y="3425612"/>
            <a:ext cx="1285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/>
          <p:nvPr/>
        </p:nvCxnSpPr>
        <p:spPr>
          <a:xfrm>
            <a:off x="2360752" y="3432407"/>
            <a:ext cx="1285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/>
          <p:nvPr/>
        </p:nvCxnSpPr>
        <p:spPr>
          <a:xfrm>
            <a:off x="1700214" y="4930818"/>
            <a:ext cx="1285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/>
          <p:cNvCxnSpPr/>
          <p:nvPr/>
        </p:nvCxnSpPr>
        <p:spPr>
          <a:xfrm>
            <a:off x="2691746" y="4927687"/>
            <a:ext cx="1285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接點 25"/>
          <p:cNvCxnSpPr/>
          <p:nvPr/>
        </p:nvCxnSpPr>
        <p:spPr>
          <a:xfrm>
            <a:off x="3087038" y="4927687"/>
            <a:ext cx="1285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/>
          <p:cNvCxnSpPr/>
          <p:nvPr/>
        </p:nvCxnSpPr>
        <p:spPr>
          <a:xfrm>
            <a:off x="3468038" y="4921424"/>
            <a:ext cx="1285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接點 27"/>
          <p:cNvCxnSpPr/>
          <p:nvPr/>
        </p:nvCxnSpPr>
        <p:spPr>
          <a:xfrm>
            <a:off x="1452561" y="5268957"/>
            <a:ext cx="1285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/>
          <p:cNvCxnSpPr/>
          <p:nvPr/>
        </p:nvCxnSpPr>
        <p:spPr>
          <a:xfrm>
            <a:off x="1764508" y="5283245"/>
            <a:ext cx="1285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/>
          <p:cNvCxnSpPr/>
          <p:nvPr/>
        </p:nvCxnSpPr>
        <p:spPr>
          <a:xfrm>
            <a:off x="2425046" y="5289640"/>
            <a:ext cx="1285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/>
          <p:cNvCxnSpPr/>
          <p:nvPr/>
        </p:nvCxnSpPr>
        <p:spPr>
          <a:xfrm>
            <a:off x="2863198" y="5281746"/>
            <a:ext cx="1285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6" name="表格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2398887"/>
              </p:ext>
            </p:extLst>
          </p:nvPr>
        </p:nvGraphicFramePr>
        <p:xfrm>
          <a:off x="5616618" y="3090124"/>
          <a:ext cx="1558877" cy="30415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8877"/>
              </a:tblGrid>
              <a:tr h="394936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103</a:t>
                      </a:r>
                      <a:endParaRPr lang="zh-TW" altLang="en-US" dirty="0"/>
                    </a:p>
                  </a:txBody>
                  <a:tcPr/>
                </a:tc>
              </a:tr>
              <a:tr h="52933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70</a:t>
                      </a:r>
                      <a:endParaRPr lang="zh-TW" altLang="en-US" dirty="0"/>
                    </a:p>
                  </a:txBody>
                  <a:tcPr/>
                </a:tc>
              </a:tr>
              <a:tr h="52933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120</a:t>
                      </a:r>
                      <a:endParaRPr lang="zh-TW" altLang="en-US" dirty="0"/>
                    </a:p>
                  </a:txBody>
                  <a:tcPr/>
                </a:tc>
              </a:tr>
              <a:tr h="52933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95</a:t>
                      </a:r>
                      <a:endParaRPr lang="zh-TW" altLang="en-US" dirty="0"/>
                    </a:p>
                  </a:txBody>
                  <a:tcPr/>
                </a:tc>
              </a:tr>
              <a:tr h="52933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0.86</a:t>
                      </a:r>
                      <a:endParaRPr lang="zh-TW" altLang="en-US" dirty="0"/>
                    </a:p>
                  </a:txBody>
                  <a:tcPr/>
                </a:tc>
              </a:tr>
              <a:tr h="52933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0.74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38" name="圖片 3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48033" y="5014104"/>
            <a:ext cx="561975" cy="685800"/>
          </a:xfrm>
          <a:prstGeom prst="rect">
            <a:avLst/>
          </a:prstGeom>
        </p:spPr>
      </p:pic>
      <p:pic>
        <p:nvPicPr>
          <p:cNvPr id="39" name="圖片 3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24220" y="5626642"/>
            <a:ext cx="609600" cy="733425"/>
          </a:xfrm>
          <a:prstGeom prst="rect">
            <a:avLst/>
          </a:prstGeom>
        </p:spPr>
      </p:pic>
      <p:graphicFrame>
        <p:nvGraphicFramePr>
          <p:cNvPr id="40" name="表格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3002899"/>
              </p:ext>
            </p:extLst>
          </p:nvPr>
        </p:nvGraphicFramePr>
        <p:xfrm>
          <a:off x="7189986" y="3090125"/>
          <a:ext cx="1558877" cy="30415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8877"/>
              </a:tblGrid>
              <a:tr h="394936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73</a:t>
                      </a:r>
                      <a:endParaRPr lang="zh-TW" altLang="en-US" dirty="0"/>
                    </a:p>
                  </a:txBody>
                  <a:tcPr/>
                </a:tc>
              </a:tr>
              <a:tr h="52933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70</a:t>
                      </a:r>
                      <a:endParaRPr lang="zh-TW" altLang="en-US" dirty="0"/>
                    </a:p>
                  </a:txBody>
                  <a:tcPr/>
                </a:tc>
              </a:tr>
              <a:tr h="52933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120</a:t>
                      </a:r>
                      <a:endParaRPr lang="zh-TW" altLang="en-US" dirty="0"/>
                    </a:p>
                  </a:txBody>
                  <a:tcPr/>
                </a:tc>
              </a:tr>
              <a:tr h="52933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95</a:t>
                      </a:r>
                      <a:endParaRPr lang="zh-TW" altLang="en-US" dirty="0"/>
                    </a:p>
                  </a:txBody>
                  <a:tcPr/>
                </a:tc>
              </a:tr>
              <a:tr h="52933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0.61</a:t>
                      </a:r>
                      <a:endParaRPr lang="zh-TW" altLang="en-US" dirty="0"/>
                    </a:p>
                  </a:txBody>
                  <a:tcPr/>
                </a:tc>
              </a:tr>
              <a:tr h="52933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0.74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0120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b="1" dirty="0"/>
              <a:t>The Similarity Graph and Clustering</a:t>
            </a:r>
            <a:endParaRPr lang="zh-TW" altLang="en-US" sz="4000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956" y="2348139"/>
            <a:ext cx="6422448" cy="3530147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0213" y="1690689"/>
            <a:ext cx="4430486" cy="443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588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732139" y="5924037"/>
            <a:ext cx="2881993" cy="1092874"/>
          </a:xfrm>
        </p:spPr>
        <p:txBody>
          <a:bodyPr/>
          <a:lstStyle/>
          <a:p>
            <a:r>
              <a:rPr lang="en-US" altLang="zh-TW" dirty="0" smtClean="0"/>
              <a:t>Threshold =0.47</a:t>
            </a:r>
            <a:endParaRPr lang="zh-TW" altLang="en-US" dirty="0"/>
          </a:p>
        </p:txBody>
      </p:sp>
      <p:sp>
        <p:nvSpPr>
          <p:cNvPr id="4" name="橢圓 3"/>
          <p:cNvSpPr/>
          <p:nvPr/>
        </p:nvSpPr>
        <p:spPr>
          <a:xfrm>
            <a:off x="2784229" y="1659884"/>
            <a:ext cx="636815" cy="62048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5" name="橢圓 4"/>
          <p:cNvSpPr/>
          <p:nvPr/>
        </p:nvSpPr>
        <p:spPr>
          <a:xfrm>
            <a:off x="459964" y="3715796"/>
            <a:ext cx="646194" cy="62048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6" name="橢圓 5"/>
          <p:cNvSpPr/>
          <p:nvPr/>
        </p:nvSpPr>
        <p:spPr>
          <a:xfrm>
            <a:off x="1875273" y="5767579"/>
            <a:ext cx="636815" cy="62048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7" name="橢圓 6"/>
          <p:cNvSpPr/>
          <p:nvPr/>
        </p:nvSpPr>
        <p:spPr>
          <a:xfrm>
            <a:off x="6458158" y="4564708"/>
            <a:ext cx="636815" cy="62048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</a:t>
            </a:r>
            <a:endParaRPr lang="zh-TW" altLang="en-US" dirty="0"/>
          </a:p>
        </p:txBody>
      </p:sp>
      <p:cxnSp>
        <p:nvCxnSpPr>
          <p:cNvPr id="11" name="直線接點 10"/>
          <p:cNvCxnSpPr>
            <a:stCxn id="4" idx="3"/>
            <a:endCxn id="5" idx="7"/>
          </p:cNvCxnSpPr>
          <p:nvPr/>
        </p:nvCxnSpPr>
        <p:spPr>
          <a:xfrm flipH="1">
            <a:off x="1011525" y="2189501"/>
            <a:ext cx="1865963" cy="16171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>
            <a:stCxn id="5" idx="5"/>
            <a:endCxn id="6" idx="1"/>
          </p:cNvCxnSpPr>
          <p:nvPr/>
        </p:nvCxnSpPr>
        <p:spPr>
          <a:xfrm>
            <a:off x="1011525" y="4245413"/>
            <a:ext cx="957007" cy="16130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>
            <a:stCxn id="4" idx="5"/>
            <a:endCxn id="7" idx="1"/>
          </p:cNvCxnSpPr>
          <p:nvPr/>
        </p:nvCxnSpPr>
        <p:spPr>
          <a:xfrm>
            <a:off x="3327785" y="2189501"/>
            <a:ext cx="3223632" cy="24660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>
            <a:stCxn id="7" idx="4"/>
            <a:endCxn id="6" idx="6"/>
          </p:cNvCxnSpPr>
          <p:nvPr/>
        </p:nvCxnSpPr>
        <p:spPr>
          <a:xfrm flipH="1">
            <a:off x="2512088" y="5185193"/>
            <a:ext cx="4264478" cy="8926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/>
          <p:cNvCxnSpPr>
            <a:stCxn id="4" idx="4"/>
            <a:endCxn id="6" idx="7"/>
          </p:cNvCxnSpPr>
          <p:nvPr/>
        </p:nvCxnSpPr>
        <p:spPr>
          <a:xfrm flipH="1">
            <a:off x="2418829" y="2280369"/>
            <a:ext cx="683808" cy="35780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接點 28"/>
          <p:cNvCxnSpPr>
            <a:stCxn id="5" idx="6"/>
            <a:endCxn id="7" idx="2"/>
          </p:cNvCxnSpPr>
          <p:nvPr/>
        </p:nvCxnSpPr>
        <p:spPr>
          <a:xfrm>
            <a:off x="1106158" y="4026039"/>
            <a:ext cx="5352000" cy="8489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字方塊 38"/>
          <p:cNvSpPr txBox="1"/>
          <p:nvPr/>
        </p:nvSpPr>
        <p:spPr>
          <a:xfrm>
            <a:off x="1702900" y="2630979"/>
            <a:ext cx="1034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0.65</a:t>
            </a:r>
            <a:endParaRPr lang="zh-TW" altLang="en-US" dirty="0"/>
          </a:p>
        </p:txBody>
      </p:sp>
      <p:sp>
        <p:nvSpPr>
          <p:cNvPr id="40" name="文字方塊 39"/>
          <p:cNvSpPr txBox="1"/>
          <p:nvPr/>
        </p:nvSpPr>
        <p:spPr>
          <a:xfrm>
            <a:off x="1290697" y="4680066"/>
            <a:ext cx="1034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0.74</a:t>
            </a:r>
            <a:endParaRPr lang="zh-TW" altLang="en-US" dirty="0"/>
          </a:p>
        </p:txBody>
      </p:sp>
      <p:sp>
        <p:nvSpPr>
          <p:cNvPr id="41" name="文字方塊 40"/>
          <p:cNvSpPr txBox="1"/>
          <p:nvPr/>
        </p:nvSpPr>
        <p:spPr>
          <a:xfrm>
            <a:off x="4017401" y="5554705"/>
            <a:ext cx="1034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0.33</a:t>
            </a:r>
            <a:endParaRPr lang="zh-TW" altLang="en-US" dirty="0"/>
          </a:p>
        </p:txBody>
      </p:sp>
      <p:sp>
        <p:nvSpPr>
          <p:cNvPr id="42" name="文字方塊 41"/>
          <p:cNvSpPr txBox="1"/>
          <p:nvPr/>
        </p:nvSpPr>
        <p:spPr>
          <a:xfrm>
            <a:off x="3242692" y="4055583"/>
            <a:ext cx="1034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0.27</a:t>
            </a:r>
            <a:endParaRPr lang="zh-TW" altLang="en-US" dirty="0"/>
          </a:p>
        </p:txBody>
      </p:sp>
      <p:sp>
        <p:nvSpPr>
          <p:cNvPr id="43" name="文字方塊 42"/>
          <p:cNvSpPr txBox="1"/>
          <p:nvPr/>
        </p:nvSpPr>
        <p:spPr>
          <a:xfrm>
            <a:off x="4171327" y="2913090"/>
            <a:ext cx="1034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0.46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485560" y="3567434"/>
            <a:ext cx="1034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0.64</a:t>
            </a:r>
            <a:endParaRPr lang="zh-TW" altLang="en-US" dirty="0"/>
          </a:p>
        </p:txBody>
      </p:sp>
      <p:sp>
        <p:nvSpPr>
          <p:cNvPr id="20" name="橢圓 19"/>
          <p:cNvSpPr/>
          <p:nvPr/>
        </p:nvSpPr>
        <p:spPr>
          <a:xfrm>
            <a:off x="5656888" y="1982859"/>
            <a:ext cx="636815" cy="62048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5</a:t>
            </a:r>
            <a:endParaRPr lang="zh-TW" altLang="en-US" dirty="0"/>
          </a:p>
        </p:txBody>
      </p:sp>
      <p:cxnSp>
        <p:nvCxnSpPr>
          <p:cNvPr id="8" name="直線接點 7"/>
          <p:cNvCxnSpPr>
            <a:stCxn id="20" idx="3"/>
            <a:endCxn id="6" idx="6"/>
          </p:cNvCxnSpPr>
          <p:nvPr/>
        </p:nvCxnSpPr>
        <p:spPr>
          <a:xfrm flipH="1">
            <a:off x="2512088" y="2512476"/>
            <a:ext cx="3238059" cy="35653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/>
          <p:cNvCxnSpPr>
            <a:stCxn id="5" idx="6"/>
            <a:endCxn id="20" idx="2"/>
          </p:cNvCxnSpPr>
          <p:nvPr/>
        </p:nvCxnSpPr>
        <p:spPr>
          <a:xfrm flipV="1">
            <a:off x="1106158" y="2293102"/>
            <a:ext cx="4550730" cy="17329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>
            <a:stCxn id="4" idx="6"/>
            <a:endCxn id="20" idx="1"/>
          </p:cNvCxnSpPr>
          <p:nvPr/>
        </p:nvCxnSpPr>
        <p:spPr>
          <a:xfrm>
            <a:off x="3421044" y="1970127"/>
            <a:ext cx="2329103" cy="103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>
            <a:stCxn id="20" idx="5"/>
            <a:endCxn id="7" idx="0"/>
          </p:cNvCxnSpPr>
          <p:nvPr/>
        </p:nvCxnSpPr>
        <p:spPr>
          <a:xfrm>
            <a:off x="6200444" y="2512476"/>
            <a:ext cx="576122" cy="20522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字方塊 27"/>
          <p:cNvSpPr txBox="1"/>
          <p:nvPr/>
        </p:nvSpPr>
        <p:spPr>
          <a:xfrm>
            <a:off x="4084048" y="3801999"/>
            <a:ext cx="1034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0.53</a:t>
            </a:r>
            <a:endParaRPr lang="zh-TW" altLang="en-US" dirty="0"/>
          </a:p>
        </p:txBody>
      </p:sp>
      <p:sp>
        <p:nvSpPr>
          <p:cNvPr id="30" name="文字方塊 29"/>
          <p:cNvSpPr txBox="1"/>
          <p:nvPr/>
        </p:nvSpPr>
        <p:spPr>
          <a:xfrm>
            <a:off x="6181687" y="3161798"/>
            <a:ext cx="1034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0.63</a:t>
            </a:r>
            <a:endParaRPr lang="zh-TW" altLang="en-US" dirty="0"/>
          </a:p>
        </p:txBody>
      </p:sp>
      <p:sp>
        <p:nvSpPr>
          <p:cNvPr id="31" name="文字方塊 30"/>
          <p:cNvSpPr txBox="1"/>
          <p:nvPr/>
        </p:nvSpPr>
        <p:spPr>
          <a:xfrm>
            <a:off x="3164575" y="2850340"/>
            <a:ext cx="1034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0.43</a:t>
            </a:r>
            <a:endParaRPr lang="zh-TW" altLang="en-US" dirty="0"/>
          </a:p>
        </p:txBody>
      </p:sp>
      <p:sp>
        <p:nvSpPr>
          <p:cNvPr id="32" name="文字方塊 31"/>
          <p:cNvSpPr txBox="1"/>
          <p:nvPr/>
        </p:nvSpPr>
        <p:spPr>
          <a:xfrm>
            <a:off x="4030857" y="1809662"/>
            <a:ext cx="1034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0.66</a:t>
            </a:r>
            <a:endParaRPr lang="zh-TW" altLang="en-US" dirty="0"/>
          </a:p>
        </p:txBody>
      </p:sp>
      <p:sp>
        <p:nvSpPr>
          <p:cNvPr id="33" name="文字方塊 32"/>
          <p:cNvSpPr txBox="1"/>
          <p:nvPr/>
        </p:nvSpPr>
        <p:spPr>
          <a:xfrm>
            <a:off x="6460796" y="430229"/>
            <a:ext cx="27758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V={}</a:t>
            </a:r>
          </a:p>
          <a:p>
            <a:r>
              <a:rPr lang="en-US" altLang="zh-TW" dirty="0" smtClean="0"/>
              <a:t>E={}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86406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732139" y="5924037"/>
            <a:ext cx="2881993" cy="1092874"/>
          </a:xfrm>
        </p:spPr>
        <p:txBody>
          <a:bodyPr/>
          <a:lstStyle/>
          <a:p>
            <a:r>
              <a:rPr lang="en-US" altLang="zh-TW" dirty="0" smtClean="0"/>
              <a:t>Threshold =0.47</a:t>
            </a:r>
            <a:endParaRPr lang="zh-TW" altLang="en-US" dirty="0"/>
          </a:p>
        </p:txBody>
      </p:sp>
      <p:sp>
        <p:nvSpPr>
          <p:cNvPr id="4" name="橢圓 3"/>
          <p:cNvSpPr/>
          <p:nvPr/>
        </p:nvSpPr>
        <p:spPr>
          <a:xfrm>
            <a:off x="2784229" y="1659884"/>
            <a:ext cx="636815" cy="62048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5" name="橢圓 4"/>
          <p:cNvSpPr/>
          <p:nvPr/>
        </p:nvSpPr>
        <p:spPr>
          <a:xfrm>
            <a:off x="459964" y="3715796"/>
            <a:ext cx="646194" cy="62048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6" name="橢圓 5"/>
          <p:cNvSpPr/>
          <p:nvPr/>
        </p:nvSpPr>
        <p:spPr>
          <a:xfrm>
            <a:off x="1875273" y="5767579"/>
            <a:ext cx="636815" cy="62048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7" name="橢圓 6"/>
          <p:cNvSpPr/>
          <p:nvPr/>
        </p:nvSpPr>
        <p:spPr>
          <a:xfrm>
            <a:off x="6458158" y="4564708"/>
            <a:ext cx="636815" cy="62048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</a:t>
            </a:r>
            <a:endParaRPr lang="zh-TW" altLang="en-US" dirty="0"/>
          </a:p>
        </p:txBody>
      </p:sp>
      <p:cxnSp>
        <p:nvCxnSpPr>
          <p:cNvPr id="11" name="直線接點 10"/>
          <p:cNvCxnSpPr>
            <a:stCxn id="4" idx="3"/>
            <a:endCxn id="5" idx="7"/>
          </p:cNvCxnSpPr>
          <p:nvPr/>
        </p:nvCxnSpPr>
        <p:spPr>
          <a:xfrm flipH="1">
            <a:off x="1011525" y="2189501"/>
            <a:ext cx="1865963" cy="16171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>
            <a:stCxn id="5" idx="5"/>
            <a:endCxn id="6" idx="1"/>
          </p:cNvCxnSpPr>
          <p:nvPr/>
        </p:nvCxnSpPr>
        <p:spPr>
          <a:xfrm>
            <a:off x="1011525" y="4245413"/>
            <a:ext cx="957007" cy="16130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>
            <a:stCxn id="4" idx="5"/>
            <a:endCxn id="7" idx="1"/>
          </p:cNvCxnSpPr>
          <p:nvPr/>
        </p:nvCxnSpPr>
        <p:spPr>
          <a:xfrm>
            <a:off x="3327785" y="2189501"/>
            <a:ext cx="3223632" cy="24660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>
            <a:stCxn id="7" idx="4"/>
            <a:endCxn id="6" idx="6"/>
          </p:cNvCxnSpPr>
          <p:nvPr/>
        </p:nvCxnSpPr>
        <p:spPr>
          <a:xfrm flipH="1">
            <a:off x="2512088" y="5185193"/>
            <a:ext cx="4264478" cy="8926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/>
          <p:cNvCxnSpPr>
            <a:stCxn id="4" idx="4"/>
            <a:endCxn id="6" idx="7"/>
          </p:cNvCxnSpPr>
          <p:nvPr/>
        </p:nvCxnSpPr>
        <p:spPr>
          <a:xfrm flipH="1">
            <a:off x="2418829" y="2280369"/>
            <a:ext cx="683808" cy="35780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接點 28"/>
          <p:cNvCxnSpPr>
            <a:stCxn id="5" idx="6"/>
            <a:endCxn id="7" idx="2"/>
          </p:cNvCxnSpPr>
          <p:nvPr/>
        </p:nvCxnSpPr>
        <p:spPr>
          <a:xfrm>
            <a:off x="1106158" y="4026039"/>
            <a:ext cx="5352000" cy="8489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字方塊 38"/>
          <p:cNvSpPr txBox="1"/>
          <p:nvPr/>
        </p:nvSpPr>
        <p:spPr>
          <a:xfrm>
            <a:off x="1702900" y="2630979"/>
            <a:ext cx="1034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0.65</a:t>
            </a:r>
            <a:endParaRPr lang="zh-TW" altLang="en-US" dirty="0"/>
          </a:p>
        </p:txBody>
      </p:sp>
      <p:sp>
        <p:nvSpPr>
          <p:cNvPr id="40" name="文字方塊 39"/>
          <p:cNvSpPr txBox="1"/>
          <p:nvPr/>
        </p:nvSpPr>
        <p:spPr>
          <a:xfrm>
            <a:off x="1290697" y="4680066"/>
            <a:ext cx="1034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0.74</a:t>
            </a:r>
            <a:endParaRPr lang="zh-TW" altLang="en-US" dirty="0"/>
          </a:p>
        </p:txBody>
      </p:sp>
      <p:sp>
        <p:nvSpPr>
          <p:cNvPr id="41" name="文字方塊 40"/>
          <p:cNvSpPr txBox="1"/>
          <p:nvPr/>
        </p:nvSpPr>
        <p:spPr>
          <a:xfrm>
            <a:off x="4017401" y="5554705"/>
            <a:ext cx="1034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0.33</a:t>
            </a:r>
            <a:endParaRPr lang="zh-TW" altLang="en-US" dirty="0"/>
          </a:p>
        </p:txBody>
      </p:sp>
      <p:sp>
        <p:nvSpPr>
          <p:cNvPr id="42" name="文字方塊 41"/>
          <p:cNvSpPr txBox="1"/>
          <p:nvPr/>
        </p:nvSpPr>
        <p:spPr>
          <a:xfrm>
            <a:off x="3242692" y="4055583"/>
            <a:ext cx="1034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0.27</a:t>
            </a:r>
            <a:endParaRPr lang="zh-TW" altLang="en-US" dirty="0"/>
          </a:p>
        </p:txBody>
      </p:sp>
      <p:sp>
        <p:nvSpPr>
          <p:cNvPr id="43" name="文字方塊 42"/>
          <p:cNvSpPr txBox="1"/>
          <p:nvPr/>
        </p:nvSpPr>
        <p:spPr>
          <a:xfrm>
            <a:off x="4171327" y="2913090"/>
            <a:ext cx="1034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0.46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2485109" y="3550180"/>
            <a:ext cx="1034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0.64</a:t>
            </a:r>
            <a:endParaRPr lang="zh-TW" altLang="en-US" dirty="0"/>
          </a:p>
        </p:txBody>
      </p:sp>
      <p:sp>
        <p:nvSpPr>
          <p:cNvPr id="20" name="橢圓 19"/>
          <p:cNvSpPr/>
          <p:nvPr/>
        </p:nvSpPr>
        <p:spPr>
          <a:xfrm>
            <a:off x="5656888" y="1982859"/>
            <a:ext cx="636815" cy="62048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5</a:t>
            </a:r>
            <a:endParaRPr lang="zh-TW" altLang="en-US" dirty="0"/>
          </a:p>
        </p:txBody>
      </p:sp>
      <p:cxnSp>
        <p:nvCxnSpPr>
          <p:cNvPr id="8" name="直線接點 7"/>
          <p:cNvCxnSpPr>
            <a:stCxn id="20" idx="3"/>
            <a:endCxn id="6" idx="6"/>
          </p:cNvCxnSpPr>
          <p:nvPr/>
        </p:nvCxnSpPr>
        <p:spPr>
          <a:xfrm flipH="1">
            <a:off x="2512088" y="2512476"/>
            <a:ext cx="3238059" cy="35653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/>
          <p:cNvCxnSpPr/>
          <p:nvPr/>
        </p:nvCxnSpPr>
        <p:spPr>
          <a:xfrm flipV="1">
            <a:off x="1124915" y="2277212"/>
            <a:ext cx="4550730" cy="17329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>
            <a:stCxn id="4" idx="6"/>
            <a:endCxn id="20" idx="1"/>
          </p:cNvCxnSpPr>
          <p:nvPr/>
        </p:nvCxnSpPr>
        <p:spPr>
          <a:xfrm>
            <a:off x="3421044" y="1970127"/>
            <a:ext cx="2329103" cy="103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>
            <a:stCxn id="20" idx="5"/>
            <a:endCxn id="7" idx="0"/>
          </p:cNvCxnSpPr>
          <p:nvPr/>
        </p:nvCxnSpPr>
        <p:spPr>
          <a:xfrm>
            <a:off x="6200444" y="2512476"/>
            <a:ext cx="576122" cy="20522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字方塊 27"/>
          <p:cNvSpPr txBox="1"/>
          <p:nvPr/>
        </p:nvSpPr>
        <p:spPr>
          <a:xfrm>
            <a:off x="4084048" y="3801999"/>
            <a:ext cx="1034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0.53</a:t>
            </a:r>
            <a:endParaRPr lang="zh-TW" altLang="en-US" dirty="0"/>
          </a:p>
        </p:txBody>
      </p:sp>
      <p:sp>
        <p:nvSpPr>
          <p:cNvPr id="30" name="文字方塊 29"/>
          <p:cNvSpPr txBox="1"/>
          <p:nvPr/>
        </p:nvSpPr>
        <p:spPr>
          <a:xfrm>
            <a:off x="6181687" y="3161798"/>
            <a:ext cx="1034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0.63</a:t>
            </a:r>
            <a:endParaRPr lang="zh-TW" altLang="en-US" dirty="0"/>
          </a:p>
        </p:txBody>
      </p:sp>
      <p:sp>
        <p:nvSpPr>
          <p:cNvPr id="31" name="文字方塊 30"/>
          <p:cNvSpPr txBox="1"/>
          <p:nvPr/>
        </p:nvSpPr>
        <p:spPr>
          <a:xfrm>
            <a:off x="3164575" y="2850340"/>
            <a:ext cx="1034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0.43</a:t>
            </a:r>
            <a:endParaRPr lang="zh-TW" altLang="en-US" dirty="0"/>
          </a:p>
        </p:txBody>
      </p:sp>
      <p:sp>
        <p:nvSpPr>
          <p:cNvPr id="32" name="文字方塊 31"/>
          <p:cNvSpPr txBox="1"/>
          <p:nvPr/>
        </p:nvSpPr>
        <p:spPr>
          <a:xfrm>
            <a:off x="4030857" y="1809662"/>
            <a:ext cx="1034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0.66</a:t>
            </a:r>
            <a:endParaRPr lang="zh-TW" altLang="en-US" dirty="0"/>
          </a:p>
        </p:txBody>
      </p:sp>
      <p:sp>
        <p:nvSpPr>
          <p:cNvPr id="33" name="文字方塊 32"/>
          <p:cNvSpPr txBox="1"/>
          <p:nvPr/>
        </p:nvSpPr>
        <p:spPr>
          <a:xfrm>
            <a:off x="6460796" y="430229"/>
            <a:ext cx="27758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V={}</a:t>
            </a:r>
          </a:p>
          <a:p>
            <a:r>
              <a:rPr lang="en-US" altLang="zh-TW" dirty="0" smtClean="0"/>
              <a:t>E={}</a:t>
            </a:r>
            <a:endParaRPr lang="zh-TW" altLang="en-US" dirty="0"/>
          </a:p>
        </p:txBody>
      </p:sp>
      <p:sp>
        <p:nvSpPr>
          <p:cNvPr id="34" name="文字方塊 33"/>
          <p:cNvSpPr txBox="1"/>
          <p:nvPr/>
        </p:nvSpPr>
        <p:spPr>
          <a:xfrm>
            <a:off x="6442216" y="411273"/>
            <a:ext cx="27758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V={</a:t>
            </a:r>
            <a:r>
              <a:rPr lang="el-GR" altLang="zh-TW" dirty="0" smtClean="0"/>
              <a:t>π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,</a:t>
            </a:r>
            <a:r>
              <a:rPr lang="el-GR" altLang="zh-TW" dirty="0"/>
              <a:t> π </a:t>
            </a:r>
            <a:r>
              <a:rPr lang="en-US" altLang="zh-TW" baseline="-25000" dirty="0" smtClean="0"/>
              <a:t>3</a:t>
            </a:r>
            <a:r>
              <a:rPr lang="en-US" altLang="zh-TW" dirty="0" smtClean="0"/>
              <a:t>}</a:t>
            </a:r>
          </a:p>
          <a:p>
            <a:r>
              <a:rPr lang="en-US" altLang="zh-TW" dirty="0" smtClean="0"/>
              <a:t>E={e</a:t>
            </a:r>
            <a:r>
              <a:rPr lang="en-US" altLang="zh-TW" baseline="-25000" dirty="0" smtClean="0"/>
              <a:t>13</a:t>
            </a:r>
            <a:r>
              <a:rPr lang="en-US" altLang="zh-TW" dirty="0" smtClean="0"/>
              <a:t>}</a:t>
            </a:r>
            <a:endParaRPr lang="zh-TW" altLang="en-US" dirty="0"/>
          </a:p>
        </p:txBody>
      </p:sp>
      <p:sp>
        <p:nvSpPr>
          <p:cNvPr id="35" name="文字方塊 34"/>
          <p:cNvSpPr txBox="1"/>
          <p:nvPr/>
        </p:nvSpPr>
        <p:spPr>
          <a:xfrm>
            <a:off x="6458158" y="389594"/>
            <a:ext cx="27758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V={</a:t>
            </a:r>
            <a:r>
              <a:rPr lang="el-GR" altLang="zh-TW" dirty="0" smtClean="0"/>
              <a:t>π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,</a:t>
            </a:r>
            <a:r>
              <a:rPr lang="el-GR" altLang="zh-TW" dirty="0"/>
              <a:t> π </a:t>
            </a:r>
            <a:r>
              <a:rPr lang="en-US" altLang="zh-TW" baseline="-25000" dirty="0" smtClean="0"/>
              <a:t>3</a:t>
            </a:r>
            <a:r>
              <a:rPr lang="en-US" altLang="zh-TW" dirty="0" smtClean="0"/>
              <a:t>,</a:t>
            </a:r>
            <a:r>
              <a:rPr lang="el-GR" altLang="zh-TW" dirty="0"/>
              <a:t> π </a:t>
            </a:r>
            <a:r>
              <a:rPr lang="en-US" altLang="zh-TW" baseline="-25000" dirty="0" smtClean="0"/>
              <a:t>4</a:t>
            </a:r>
            <a:r>
              <a:rPr lang="en-US" altLang="zh-TW" dirty="0" smtClean="0"/>
              <a:t>}</a:t>
            </a:r>
          </a:p>
          <a:p>
            <a:r>
              <a:rPr lang="en-US" altLang="zh-TW" dirty="0" smtClean="0"/>
              <a:t>E={e</a:t>
            </a:r>
            <a:r>
              <a:rPr lang="en-US" altLang="zh-TW" baseline="-25000" dirty="0" smtClean="0"/>
              <a:t>13</a:t>
            </a:r>
            <a:r>
              <a:rPr lang="en-US" altLang="zh-TW" dirty="0" smtClean="0"/>
              <a:t>,e</a:t>
            </a:r>
            <a:r>
              <a:rPr lang="en-US" altLang="zh-TW" baseline="-25000" dirty="0" smtClean="0"/>
              <a:t>14</a:t>
            </a:r>
            <a:r>
              <a:rPr lang="en-US" altLang="zh-TW" dirty="0" smtClean="0"/>
              <a:t>}</a:t>
            </a:r>
            <a:endParaRPr lang="zh-TW" altLang="en-US" dirty="0"/>
          </a:p>
        </p:txBody>
      </p:sp>
      <p:sp>
        <p:nvSpPr>
          <p:cNvPr id="36" name="文字方塊 35"/>
          <p:cNvSpPr txBox="1"/>
          <p:nvPr/>
        </p:nvSpPr>
        <p:spPr>
          <a:xfrm>
            <a:off x="6427523" y="450980"/>
            <a:ext cx="27758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V={</a:t>
            </a:r>
            <a:r>
              <a:rPr lang="el-GR" altLang="zh-TW" dirty="0" smtClean="0"/>
              <a:t>π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,</a:t>
            </a:r>
            <a:r>
              <a:rPr lang="el-GR" altLang="zh-TW" dirty="0"/>
              <a:t> π 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,</a:t>
            </a:r>
            <a:r>
              <a:rPr lang="el-GR" altLang="zh-TW" dirty="0" smtClean="0"/>
              <a:t> </a:t>
            </a:r>
            <a:r>
              <a:rPr lang="el-GR" altLang="zh-TW" dirty="0"/>
              <a:t>π </a:t>
            </a:r>
            <a:r>
              <a:rPr lang="en-US" altLang="zh-TW" baseline="-25000" dirty="0" smtClean="0"/>
              <a:t>3</a:t>
            </a:r>
            <a:r>
              <a:rPr lang="en-US" altLang="zh-TW" dirty="0" smtClean="0"/>
              <a:t>,</a:t>
            </a:r>
            <a:r>
              <a:rPr lang="el-GR" altLang="zh-TW" dirty="0" smtClean="0"/>
              <a:t> </a:t>
            </a:r>
            <a:r>
              <a:rPr lang="el-GR" altLang="zh-TW" dirty="0"/>
              <a:t>π </a:t>
            </a:r>
            <a:r>
              <a:rPr lang="en-US" altLang="zh-TW" baseline="-25000" dirty="0"/>
              <a:t>5</a:t>
            </a:r>
            <a:r>
              <a:rPr lang="en-US" altLang="zh-TW" dirty="0" smtClean="0"/>
              <a:t>}</a:t>
            </a:r>
          </a:p>
          <a:p>
            <a:r>
              <a:rPr lang="en-US" altLang="zh-TW" dirty="0" smtClean="0"/>
              <a:t>E={e</a:t>
            </a:r>
            <a:r>
              <a:rPr lang="en-US" altLang="zh-TW" baseline="-25000" dirty="0" smtClean="0"/>
              <a:t>13</a:t>
            </a:r>
            <a:r>
              <a:rPr lang="en-US" altLang="zh-TW" dirty="0" smtClean="0"/>
              <a:t>,e</a:t>
            </a:r>
            <a:r>
              <a:rPr lang="en-US" altLang="zh-TW" baseline="-25000" dirty="0" smtClean="0"/>
              <a:t>14</a:t>
            </a:r>
            <a:r>
              <a:rPr lang="en-US" altLang="zh-TW" dirty="0" smtClean="0"/>
              <a:t>,e</a:t>
            </a:r>
            <a:r>
              <a:rPr lang="en-US" altLang="zh-TW" baseline="-25000" dirty="0" smtClean="0"/>
              <a:t>25</a:t>
            </a:r>
            <a:r>
              <a:rPr lang="en-US" altLang="zh-TW" dirty="0" smtClean="0"/>
              <a:t>}</a:t>
            </a:r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6479376" y="449736"/>
            <a:ext cx="27758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V={</a:t>
            </a:r>
            <a:r>
              <a:rPr lang="el-GR" altLang="zh-TW" dirty="0" smtClean="0"/>
              <a:t>π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,</a:t>
            </a:r>
            <a:r>
              <a:rPr lang="el-GR" altLang="zh-TW" dirty="0"/>
              <a:t> π 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,</a:t>
            </a:r>
            <a:r>
              <a:rPr lang="el-GR" altLang="zh-TW" dirty="0" smtClean="0"/>
              <a:t> </a:t>
            </a:r>
            <a:r>
              <a:rPr lang="el-GR" altLang="zh-TW" dirty="0"/>
              <a:t>π </a:t>
            </a:r>
            <a:r>
              <a:rPr lang="en-US" altLang="zh-TW" baseline="-25000" dirty="0" smtClean="0"/>
              <a:t>3</a:t>
            </a:r>
            <a:r>
              <a:rPr lang="en-US" altLang="zh-TW" dirty="0" smtClean="0"/>
              <a:t>,</a:t>
            </a:r>
            <a:r>
              <a:rPr lang="el-GR" altLang="zh-TW" dirty="0" smtClean="0"/>
              <a:t> </a:t>
            </a:r>
            <a:r>
              <a:rPr lang="el-GR" altLang="zh-TW" dirty="0"/>
              <a:t>π </a:t>
            </a:r>
            <a:r>
              <a:rPr lang="en-US" altLang="zh-TW" baseline="-25000" dirty="0"/>
              <a:t>4 </a:t>
            </a:r>
            <a:r>
              <a:rPr lang="en-US" altLang="zh-TW" baseline="-25000" dirty="0" smtClean="0"/>
              <a:t>,</a:t>
            </a:r>
            <a:r>
              <a:rPr lang="el-GR" altLang="zh-TW" dirty="0" smtClean="0"/>
              <a:t>π </a:t>
            </a:r>
            <a:r>
              <a:rPr lang="en-US" altLang="zh-TW" baseline="-25000" dirty="0"/>
              <a:t>5</a:t>
            </a:r>
            <a:r>
              <a:rPr lang="en-US" altLang="zh-TW" dirty="0" smtClean="0"/>
              <a:t>}</a:t>
            </a:r>
          </a:p>
          <a:p>
            <a:r>
              <a:rPr lang="en-US" altLang="zh-TW" dirty="0" smtClean="0"/>
              <a:t>E={e</a:t>
            </a:r>
            <a:r>
              <a:rPr lang="en-US" altLang="zh-TW" baseline="-25000" dirty="0" smtClean="0"/>
              <a:t>13</a:t>
            </a:r>
            <a:r>
              <a:rPr lang="en-US" altLang="zh-TW" dirty="0" smtClean="0"/>
              <a:t>,e</a:t>
            </a:r>
            <a:r>
              <a:rPr lang="en-US" altLang="zh-TW" baseline="-25000" dirty="0" smtClean="0"/>
              <a:t>14</a:t>
            </a:r>
            <a:r>
              <a:rPr lang="en-US" altLang="zh-TW" dirty="0" smtClean="0"/>
              <a:t>,e</a:t>
            </a:r>
            <a:r>
              <a:rPr lang="en-US" altLang="zh-TW" baseline="-25000" dirty="0" smtClean="0"/>
              <a:t>25,</a:t>
            </a:r>
            <a:r>
              <a:rPr lang="en-US" altLang="zh-TW" dirty="0" smtClean="0"/>
              <a:t>e</a:t>
            </a:r>
            <a:r>
              <a:rPr lang="en-US" altLang="zh-TW" baseline="-25000" dirty="0" smtClean="0"/>
              <a:t>34,</a:t>
            </a:r>
            <a:r>
              <a:rPr lang="en-US" altLang="zh-TW" dirty="0" smtClean="0"/>
              <a:t>e</a:t>
            </a:r>
            <a:r>
              <a:rPr lang="en-US" altLang="zh-TW" baseline="-25000" dirty="0" smtClean="0"/>
              <a:t>35</a:t>
            </a:r>
            <a:r>
              <a:rPr lang="en-US" altLang="zh-TW" dirty="0" smtClean="0"/>
              <a:t>}</a:t>
            </a:r>
            <a:endParaRPr lang="zh-TW" altLang="en-US" dirty="0"/>
          </a:p>
        </p:txBody>
      </p:sp>
      <p:sp>
        <p:nvSpPr>
          <p:cNvPr id="45" name="文字方塊 44"/>
          <p:cNvSpPr txBox="1"/>
          <p:nvPr/>
        </p:nvSpPr>
        <p:spPr>
          <a:xfrm>
            <a:off x="6474100" y="458183"/>
            <a:ext cx="27758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V={</a:t>
            </a:r>
            <a:r>
              <a:rPr lang="el-GR" altLang="zh-TW" dirty="0" smtClean="0"/>
              <a:t>π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,</a:t>
            </a:r>
            <a:r>
              <a:rPr lang="el-GR" altLang="zh-TW" dirty="0"/>
              <a:t> π 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,</a:t>
            </a:r>
            <a:r>
              <a:rPr lang="el-GR" altLang="zh-TW" dirty="0" smtClean="0"/>
              <a:t> </a:t>
            </a:r>
            <a:r>
              <a:rPr lang="el-GR" altLang="zh-TW" dirty="0"/>
              <a:t>π </a:t>
            </a:r>
            <a:r>
              <a:rPr lang="en-US" altLang="zh-TW" baseline="-25000" dirty="0" smtClean="0"/>
              <a:t>3</a:t>
            </a:r>
            <a:r>
              <a:rPr lang="en-US" altLang="zh-TW" dirty="0" smtClean="0"/>
              <a:t>,</a:t>
            </a:r>
            <a:r>
              <a:rPr lang="el-GR" altLang="zh-TW" dirty="0" smtClean="0"/>
              <a:t> </a:t>
            </a:r>
            <a:r>
              <a:rPr lang="el-GR" altLang="zh-TW" dirty="0"/>
              <a:t>π </a:t>
            </a:r>
            <a:r>
              <a:rPr lang="en-US" altLang="zh-TW" baseline="-25000" dirty="0"/>
              <a:t>4 </a:t>
            </a:r>
            <a:r>
              <a:rPr lang="en-US" altLang="zh-TW" baseline="-25000" dirty="0" smtClean="0"/>
              <a:t>,</a:t>
            </a:r>
            <a:r>
              <a:rPr lang="el-GR" altLang="zh-TW" dirty="0" smtClean="0"/>
              <a:t>π </a:t>
            </a:r>
            <a:r>
              <a:rPr lang="en-US" altLang="zh-TW" baseline="-25000" dirty="0"/>
              <a:t>5</a:t>
            </a:r>
            <a:r>
              <a:rPr lang="en-US" altLang="zh-TW" dirty="0" smtClean="0"/>
              <a:t>}</a:t>
            </a:r>
          </a:p>
          <a:p>
            <a:r>
              <a:rPr lang="en-US" altLang="zh-TW" dirty="0" smtClean="0"/>
              <a:t>E={e</a:t>
            </a:r>
            <a:r>
              <a:rPr lang="en-US" altLang="zh-TW" baseline="-25000" dirty="0" smtClean="0"/>
              <a:t>13</a:t>
            </a:r>
            <a:r>
              <a:rPr lang="en-US" altLang="zh-TW" dirty="0" smtClean="0"/>
              <a:t>,e</a:t>
            </a:r>
            <a:r>
              <a:rPr lang="en-US" altLang="zh-TW" baseline="-25000" dirty="0" smtClean="0"/>
              <a:t>14</a:t>
            </a:r>
            <a:r>
              <a:rPr lang="en-US" altLang="zh-TW" dirty="0" smtClean="0"/>
              <a:t>,e</a:t>
            </a:r>
            <a:r>
              <a:rPr lang="en-US" altLang="zh-TW" baseline="-25000" dirty="0" smtClean="0"/>
              <a:t>25,</a:t>
            </a:r>
            <a:r>
              <a:rPr lang="en-US" altLang="zh-TW" dirty="0" smtClean="0"/>
              <a:t>e</a:t>
            </a:r>
            <a:r>
              <a:rPr lang="en-US" altLang="zh-TW" baseline="-25000" dirty="0" smtClean="0"/>
              <a:t>34</a:t>
            </a:r>
            <a:r>
              <a:rPr lang="en-US" altLang="zh-TW" dirty="0" smtClean="0"/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04766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2" grpId="0"/>
      <p:bldP spid="43" grpId="0"/>
      <p:bldP spid="31" grpId="0"/>
      <p:bldP spid="33" grpId="0"/>
      <p:bldP spid="34" grpId="0"/>
      <p:bldP spid="34" grpId="1"/>
      <p:bldP spid="35" grpId="0"/>
      <p:bldP spid="35" grpId="1"/>
      <p:bldP spid="36" grpId="0"/>
      <p:bldP spid="36" grpId="1"/>
      <p:bldP spid="37" grpId="0"/>
      <p:bldP spid="45" grpId="0"/>
      <p:bldP spid="45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b="1" dirty="0"/>
              <a:t>The Similarity Graph and Clustering</a:t>
            </a:r>
            <a:endParaRPr lang="zh-TW" altLang="en-US" sz="40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7962901" y="3608614"/>
            <a:ext cx="552449" cy="2568348"/>
          </a:xfrm>
        </p:spPr>
        <p:txBody>
          <a:bodyPr/>
          <a:lstStyle/>
          <a:p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581" y="1313695"/>
            <a:ext cx="8472008" cy="973364"/>
          </a:xfrm>
          <a:prstGeom prst="rect">
            <a:avLst/>
          </a:prstGeom>
        </p:spPr>
      </p:pic>
      <p:grpSp>
        <p:nvGrpSpPr>
          <p:cNvPr id="13" name="群組 12"/>
          <p:cNvGrpSpPr/>
          <p:nvPr/>
        </p:nvGrpSpPr>
        <p:grpSpPr>
          <a:xfrm>
            <a:off x="530581" y="2287059"/>
            <a:ext cx="6339709" cy="4314337"/>
            <a:chOff x="628650" y="2225415"/>
            <a:chExt cx="6756596" cy="4728180"/>
          </a:xfrm>
        </p:grpSpPr>
        <p:sp>
          <p:nvSpPr>
            <p:cNvPr id="18" name="橢圓 17"/>
            <p:cNvSpPr/>
            <p:nvPr/>
          </p:nvSpPr>
          <p:spPr>
            <a:xfrm>
              <a:off x="2952915" y="2225415"/>
              <a:ext cx="636815" cy="62048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/>
                <a:t>1</a:t>
              </a:r>
              <a:endParaRPr lang="zh-TW" altLang="en-US" dirty="0"/>
            </a:p>
          </p:txBody>
        </p:sp>
        <p:sp>
          <p:nvSpPr>
            <p:cNvPr id="19" name="橢圓 18"/>
            <p:cNvSpPr/>
            <p:nvPr/>
          </p:nvSpPr>
          <p:spPr>
            <a:xfrm>
              <a:off x="628650" y="4281327"/>
              <a:ext cx="646194" cy="62048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/>
                <a:t>4</a:t>
              </a:r>
              <a:endParaRPr lang="zh-TW" altLang="en-US" dirty="0"/>
            </a:p>
          </p:txBody>
        </p:sp>
        <p:sp>
          <p:nvSpPr>
            <p:cNvPr id="20" name="橢圓 19"/>
            <p:cNvSpPr/>
            <p:nvPr/>
          </p:nvSpPr>
          <p:spPr>
            <a:xfrm>
              <a:off x="2043959" y="6333110"/>
              <a:ext cx="636815" cy="62048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/>
                <a:t>3</a:t>
              </a:r>
              <a:endParaRPr lang="zh-TW" altLang="en-US" dirty="0"/>
            </a:p>
          </p:txBody>
        </p:sp>
        <p:sp>
          <p:nvSpPr>
            <p:cNvPr id="23" name="橢圓 22"/>
            <p:cNvSpPr/>
            <p:nvPr/>
          </p:nvSpPr>
          <p:spPr>
            <a:xfrm>
              <a:off x="6626844" y="5130239"/>
              <a:ext cx="636815" cy="62048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/>
                <a:t>2</a:t>
              </a:r>
              <a:endParaRPr lang="zh-TW" altLang="en-US" dirty="0"/>
            </a:p>
          </p:txBody>
        </p:sp>
        <p:cxnSp>
          <p:nvCxnSpPr>
            <p:cNvPr id="24" name="直線接點 23"/>
            <p:cNvCxnSpPr>
              <a:stCxn id="18" idx="3"/>
              <a:endCxn id="19" idx="7"/>
            </p:cNvCxnSpPr>
            <p:nvPr/>
          </p:nvCxnSpPr>
          <p:spPr>
            <a:xfrm flipH="1">
              <a:off x="1180211" y="2755032"/>
              <a:ext cx="1865963" cy="161716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接點 24"/>
            <p:cNvCxnSpPr>
              <a:stCxn id="19" idx="5"/>
              <a:endCxn id="20" idx="1"/>
            </p:cNvCxnSpPr>
            <p:nvPr/>
          </p:nvCxnSpPr>
          <p:spPr>
            <a:xfrm>
              <a:off x="1180211" y="4810944"/>
              <a:ext cx="957007" cy="161303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接點 27"/>
            <p:cNvCxnSpPr>
              <a:stCxn id="18" idx="4"/>
              <a:endCxn id="20" idx="7"/>
            </p:cNvCxnSpPr>
            <p:nvPr/>
          </p:nvCxnSpPr>
          <p:spPr>
            <a:xfrm flipH="1">
              <a:off x="2587515" y="2845900"/>
              <a:ext cx="683808" cy="357807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文字方塊 29"/>
            <p:cNvSpPr txBox="1"/>
            <p:nvPr/>
          </p:nvSpPr>
          <p:spPr>
            <a:xfrm>
              <a:off x="1871586" y="3196510"/>
              <a:ext cx="10348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0.65</a:t>
              </a:r>
              <a:endParaRPr lang="zh-TW" altLang="en-US" dirty="0"/>
            </a:p>
          </p:txBody>
        </p:sp>
        <p:sp>
          <p:nvSpPr>
            <p:cNvPr id="31" name="文字方塊 30"/>
            <p:cNvSpPr txBox="1"/>
            <p:nvPr/>
          </p:nvSpPr>
          <p:spPr>
            <a:xfrm>
              <a:off x="1459383" y="5245597"/>
              <a:ext cx="10348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0.74</a:t>
              </a:r>
              <a:endParaRPr lang="zh-TW" altLang="en-US" dirty="0"/>
            </a:p>
          </p:txBody>
        </p:sp>
        <p:sp>
          <p:nvSpPr>
            <p:cNvPr id="35" name="文字方塊 34"/>
            <p:cNvSpPr txBox="1"/>
            <p:nvPr/>
          </p:nvSpPr>
          <p:spPr>
            <a:xfrm>
              <a:off x="2654246" y="4132965"/>
              <a:ext cx="10348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0.64</a:t>
              </a:r>
              <a:endParaRPr lang="zh-TW" altLang="en-US" dirty="0"/>
            </a:p>
          </p:txBody>
        </p:sp>
        <p:sp>
          <p:nvSpPr>
            <p:cNvPr id="36" name="橢圓 35"/>
            <p:cNvSpPr/>
            <p:nvPr/>
          </p:nvSpPr>
          <p:spPr>
            <a:xfrm>
              <a:off x="5825574" y="2548390"/>
              <a:ext cx="636815" cy="62048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/>
                <a:t>5</a:t>
              </a:r>
              <a:endParaRPr lang="zh-TW" altLang="en-US" dirty="0"/>
            </a:p>
          </p:txBody>
        </p:sp>
        <p:cxnSp>
          <p:nvCxnSpPr>
            <p:cNvPr id="37" name="直線接點 36"/>
            <p:cNvCxnSpPr>
              <a:stCxn id="36" idx="3"/>
              <a:endCxn id="20" idx="6"/>
            </p:cNvCxnSpPr>
            <p:nvPr/>
          </p:nvCxnSpPr>
          <p:spPr>
            <a:xfrm flipH="1">
              <a:off x="2680774" y="3078007"/>
              <a:ext cx="3238059" cy="356534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線接點 38"/>
            <p:cNvCxnSpPr>
              <a:stCxn id="18" idx="6"/>
              <a:endCxn id="36" idx="1"/>
            </p:cNvCxnSpPr>
            <p:nvPr/>
          </p:nvCxnSpPr>
          <p:spPr>
            <a:xfrm>
              <a:off x="3589730" y="2535658"/>
              <a:ext cx="2329103" cy="103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線接點 39"/>
            <p:cNvCxnSpPr>
              <a:stCxn id="36" idx="5"/>
              <a:endCxn id="23" idx="0"/>
            </p:cNvCxnSpPr>
            <p:nvPr/>
          </p:nvCxnSpPr>
          <p:spPr>
            <a:xfrm>
              <a:off x="6369130" y="3078007"/>
              <a:ext cx="576122" cy="205223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文字方塊 40"/>
            <p:cNvSpPr txBox="1"/>
            <p:nvPr/>
          </p:nvSpPr>
          <p:spPr>
            <a:xfrm>
              <a:off x="4252734" y="4367530"/>
              <a:ext cx="10348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0.53</a:t>
              </a:r>
              <a:endParaRPr lang="zh-TW" altLang="en-US" dirty="0"/>
            </a:p>
          </p:txBody>
        </p:sp>
        <p:sp>
          <p:nvSpPr>
            <p:cNvPr id="42" name="文字方塊 41"/>
            <p:cNvSpPr txBox="1"/>
            <p:nvPr/>
          </p:nvSpPr>
          <p:spPr>
            <a:xfrm>
              <a:off x="6350373" y="3727329"/>
              <a:ext cx="10348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0.63</a:t>
              </a:r>
              <a:endParaRPr lang="zh-TW" altLang="en-US" dirty="0"/>
            </a:p>
          </p:txBody>
        </p:sp>
        <p:sp>
          <p:nvSpPr>
            <p:cNvPr id="44" name="文字方塊 43"/>
            <p:cNvSpPr txBox="1"/>
            <p:nvPr/>
          </p:nvSpPr>
          <p:spPr>
            <a:xfrm>
              <a:off x="4199543" y="2375193"/>
              <a:ext cx="10348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0.66</a:t>
              </a:r>
              <a:endParaRPr lang="zh-TW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702859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Concept-based </a:t>
            </a:r>
            <a:r>
              <a:rPr lang="en-US" altLang="zh-TW" b="1" dirty="0" smtClean="0"/>
              <a:t>Clustering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943600" y="1825625"/>
            <a:ext cx="2571750" cy="4351338"/>
          </a:xfrm>
        </p:spPr>
        <p:txBody>
          <a:bodyPr/>
          <a:lstStyle/>
          <a:p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2187" y="1396223"/>
            <a:ext cx="5567288" cy="5210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708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386" y="0"/>
            <a:ext cx="7715249" cy="6696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263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Sample Results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025" y="1690689"/>
            <a:ext cx="8743950" cy="360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573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Concluding Remarks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altLang="zh-TW" dirty="0"/>
              <a:t>In the paper, by </a:t>
            </a:r>
            <a:r>
              <a:rPr lang="en-US" altLang="zh-TW" dirty="0" smtClean="0"/>
              <a:t>defining </a:t>
            </a:r>
            <a:r>
              <a:rPr lang="en-US" altLang="zh-TW" dirty="0"/>
              <a:t>a suitable similarity measure between any pair of paths, we map the paths into a </a:t>
            </a:r>
            <a:r>
              <a:rPr lang="en-US" altLang="zh-TW" dirty="0" smtClean="0"/>
              <a:t>similarity space</a:t>
            </a:r>
            <a:r>
              <a:rPr lang="en-US" altLang="zh-TW" dirty="0"/>
              <a:t>. This technique enables one to naturally incorporate both path and time information. The idea of </a:t>
            </a:r>
            <a:r>
              <a:rPr lang="en-US" altLang="zh-TW" dirty="0" err="1" smtClean="0"/>
              <a:t>thresholding</a:t>
            </a:r>
            <a:r>
              <a:rPr lang="en-US" altLang="zh-TW" dirty="0" smtClean="0"/>
              <a:t> the </a:t>
            </a:r>
            <a:r>
              <a:rPr lang="en-US" altLang="zh-TW" dirty="0"/>
              <a:t>similarity graph is particularly useful for data-mining applications since it is a good way of reducing the </a:t>
            </a:r>
            <a:r>
              <a:rPr lang="en-US" altLang="zh-TW" dirty="0" smtClean="0"/>
              <a:t>size of </a:t>
            </a:r>
            <a:r>
              <a:rPr lang="en-US" altLang="zh-TW" dirty="0"/>
              <a:t>the data to be handled in the clustering stage, and being more robust against outliers. </a:t>
            </a:r>
            <a:endParaRPr lang="en-US" altLang="zh-TW" dirty="0" smtClean="0"/>
          </a:p>
          <a:p>
            <a:endParaRPr lang="en-US" altLang="zh-TW" dirty="0" smtClean="0"/>
          </a:p>
          <a:p>
            <a:r>
              <a:rPr lang="en-US" altLang="zh-TW" dirty="0" smtClean="0"/>
              <a:t>A </a:t>
            </a:r>
            <a:r>
              <a:rPr lang="en-US" altLang="zh-TW" dirty="0"/>
              <a:t>fast, scalable and </a:t>
            </a:r>
            <a:r>
              <a:rPr lang="en-US" altLang="zh-TW" dirty="0" smtClean="0"/>
              <a:t>efficient </a:t>
            </a:r>
            <a:r>
              <a:rPr lang="en-US" altLang="zh-TW" dirty="0"/>
              <a:t>graph-partitioning algorithm has been used to do the clustering. It avoids curse-of-dimensionality </a:t>
            </a:r>
            <a:r>
              <a:rPr lang="en-US" altLang="zh-TW" dirty="0" smtClean="0"/>
              <a:t>problems encountered </a:t>
            </a:r>
            <a:r>
              <a:rPr lang="en-US" altLang="zh-TW" dirty="0"/>
              <a:t>in traditional clustering methods (K-means etc.) applied to high dimensional spaces. The superiority </a:t>
            </a:r>
            <a:r>
              <a:rPr lang="en-US" altLang="zh-TW" dirty="0" smtClean="0"/>
              <a:t>of graph-partitioning </a:t>
            </a:r>
            <a:r>
              <a:rPr lang="en-US" altLang="zh-TW" dirty="0"/>
              <a:t>methods for clustering has also been demonstrated in other web analytics domains such as </a:t>
            </a:r>
            <a:r>
              <a:rPr lang="en-US" altLang="zh-TW" dirty="0" smtClean="0"/>
              <a:t>clustering of </a:t>
            </a:r>
            <a:r>
              <a:rPr lang="en-US" altLang="zh-TW" dirty="0"/>
              <a:t>web documents </a:t>
            </a:r>
            <a:r>
              <a:rPr lang="en-US" altLang="zh-TW" dirty="0" smtClean="0"/>
              <a:t>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90740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400" dirty="0"/>
              <a:t>Another contribution of this paper is the use of metadata such as pre-existing </a:t>
            </a:r>
            <a:r>
              <a:rPr lang="en-US" altLang="zh-TW" sz="2400" dirty="0" smtClean="0"/>
              <a:t>category labels</a:t>
            </a:r>
            <a:r>
              <a:rPr lang="en-US" altLang="zh-TW" sz="2400" dirty="0"/>
              <a:t>. This captures the notion of </a:t>
            </a:r>
            <a:r>
              <a:rPr lang="en-US" altLang="zh-TW" sz="2400" i="1" dirty="0"/>
              <a:t>content </a:t>
            </a:r>
            <a:r>
              <a:rPr lang="en-US" altLang="zh-TW" sz="2400" dirty="0"/>
              <a:t>at a more abstract level. It is possible that extracting textual and </a:t>
            </a:r>
            <a:r>
              <a:rPr lang="en-US" altLang="zh-TW" sz="2400" dirty="0" smtClean="0"/>
              <a:t>meta-tag information </a:t>
            </a:r>
            <a:r>
              <a:rPr lang="en-US" altLang="zh-TW" sz="2400" dirty="0"/>
              <a:t>from the contents of the pages being viewed can further enhance the quality of user clustering, </a:t>
            </a:r>
            <a:r>
              <a:rPr lang="en-US" altLang="zh-TW" sz="2400" dirty="0" smtClean="0"/>
              <a:t>provided the </a:t>
            </a:r>
            <a:r>
              <a:rPr lang="en-US" altLang="zh-TW" sz="2400" dirty="0"/>
              <a:t>additional information complexity can be managed properly.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087850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1729</TotalTime>
  <Words>1039</Words>
  <Application>Microsoft Office PowerPoint</Application>
  <PresentationFormat>如螢幕大小 (4:3)</PresentationFormat>
  <Paragraphs>278</Paragraphs>
  <Slides>20</Slides>
  <Notes>10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20</vt:i4>
      </vt:variant>
    </vt:vector>
  </HeadingPairs>
  <TitlesOfParts>
    <vt:vector size="27" baseType="lpstr">
      <vt:lpstr>新細明體</vt:lpstr>
      <vt:lpstr>Arial</vt:lpstr>
      <vt:lpstr>Calibri</vt:lpstr>
      <vt:lpstr>Calibri Light</vt:lpstr>
      <vt:lpstr>Courier New</vt:lpstr>
      <vt:lpstr>Times New Roman</vt:lpstr>
      <vt:lpstr>Office 佈景主題</vt:lpstr>
      <vt:lpstr>Clickstream Clustering using Weighted Longest Common Subsequences</vt:lpstr>
      <vt:lpstr>Abstract</vt:lpstr>
      <vt:lpstr>Introduction</vt:lpstr>
      <vt:lpstr>Clustering </vt:lpstr>
      <vt:lpstr>LCS algorithm</vt:lpstr>
      <vt:lpstr> Path Information</vt:lpstr>
      <vt:lpstr>Method</vt:lpstr>
      <vt:lpstr>Path Intersection</vt:lpstr>
      <vt:lpstr>Path Similarity Measure</vt:lpstr>
      <vt:lpstr>Path Similarity Measure</vt:lpstr>
      <vt:lpstr>Path Similarity Measure</vt:lpstr>
      <vt:lpstr>The Similarity Graph and Clustering</vt:lpstr>
      <vt:lpstr>PowerPoint 簡報</vt:lpstr>
      <vt:lpstr>PowerPoint 簡報</vt:lpstr>
      <vt:lpstr>The Similarity Graph and Clustering</vt:lpstr>
      <vt:lpstr>Concept-based Clustering</vt:lpstr>
      <vt:lpstr>PowerPoint 簡報</vt:lpstr>
      <vt:lpstr>Sample Results</vt:lpstr>
      <vt:lpstr>Concluding Remarks</vt:lpstr>
      <vt:lpstr>PowerPoint 簡報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Clickstream Clustering using Weighted Longest Common Subsequences</dc:title>
  <dc:creator>Ding</dc:creator>
  <cp:lastModifiedBy>郭冠呈</cp:lastModifiedBy>
  <cp:revision>120</cp:revision>
  <dcterms:created xsi:type="dcterms:W3CDTF">2014-08-22T05:10:42Z</dcterms:created>
  <dcterms:modified xsi:type="dcterms:W3CDTF">2014-08-26T11:39:31Z</dcterms:modified>
</cp:coreProperties>
</file>