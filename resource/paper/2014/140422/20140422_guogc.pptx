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1" r:id="rId4"/>
    <p:sldId id="258" r:id="rId5"/>
    <p:sldId id="260" r:id="rId6"/>
    <p:sldId id="262" r:id="rId7"/>
    <p:sldId id="263" r:id="rId8"/>
    <p:sldId id="264" r:id="rId9"/>
    <p:sldId id="265" r:id="rId10"/>
    <p:sldId id="266" r:id="rId1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6" d="100"/>
          <a:sy n="86" d="100"/>
        </p:scale>
        <p:origin x="-38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81714A-D8B2-4B92-82B6-B2C3C57A48DA}" type="datetimeFigureOut">
              <a:rPr lang="zh-TW" altLang="en-US" smtClean="0"/>
              <a:t>2014/4/21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1D432D-7F94-43B8-AD20-8A4C1E674D43}" type="slidenum">
              <a:rPr lang="zh-TW" altLang="en-US" smtClean="0"/>
              <a:t>‹#›</a:t>
            </a:fld>
            <a:endParaRPr lang="zh-TW" altLang="en-US"/>
          </a:p>
        </p:txBody>
      </p:sp>
    </p:spTree>
    <p:extLst>
      <p:ext uri="{BB962C8B-B14F-4D97-AF65-F5344CB8AC3E}">
        <p14:creationId xmlns:p14="http://schemas.microsoft.com/office/powerpoint/2010/main" val="2724449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2973999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104649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308278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4283836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312452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3014888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2535905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4252760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1917006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4039383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089D50E-7604-4E0F-A47E-9C8FEA5DBF86}" type="datetimeFigureOut">
              <a:rPr lang="zh-TW" altLang="en-US" smtClean="0"/>
              <a:t>2014/4/21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3511228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89D50E-7604-4E0F-A47E-9C8FEA5DBF86}" type="datetimeFigureOut">
              <a:rPr lang="zh-TW" altLang="en-US" smtClean="0"/>
              <a:t>2014/4/21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0840B-D2F0-4AC2-8F80-1F9EBD3E54DE}" type="slidenum">
              <a:rPr lang="zh-TW" altLang="en-US" smtClean="0"/>
              <a:t>‹#›</a:t>
            </a:fld>
            <a:endParaRPr lang="zh-TW" altLang="en-US"/>
          </a:p>
        </p:txBody>
      </p:sp>
    </p:spTree>
    <p:extLst>
      <p:ext uri="{BB962C8B-B14F-4D97-AF65-F5344CB8AC3E}">
        <p14:creationId xmlns:p14="http://schemas.microsoft.com/office/powerpoint/2010/main" val="1618154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628801"/>
            <a:ext cx="8206680" cy="1971650"/>
          </a:xfrm>
        </p:spPr>
        <p:txBody>
          <a:bodyPr>
            <a:normAutofit fontScale="90000"/>
          </a:bodyPr>
          <a:lstStyle/>
          <a:p>
            <a:r>
              <a:rPr lang="en-US" altLang="zh-TW" dirty="0"/>
              <a:t>YAP3: </a:t>
            </a:r>
            <a:r>
              <a:rPr lang="en-US" altLang="zh-TW" dirty="0" smtClean="0"/>
              <a:t>Improve Detection of Similarities in Computer Program and Other Texts</a:t>
            </a:r>
            <a:endParaRPr lang="zh-TW" altLang="en-US" dirty="0"/>
          </a:p>
        </p:txBody>
      </p:sp>
      <p:sp>
        <p:nvSpPr>
          <p:cNvPr id="3" name="副標題 2"/>
          <p:cNvSpPr>
            <a:spLocks noGrp="1"/>
          </p:cNvSpPr>
          <p:nvPr>
            <p:ph type="subTitle" idx="1"/>
          </p:nvPr>
        </p:nvSpPr>
        <p:spPr>
          <a:xfrm>
            <a:off x="755576" y="3789040"/>
            <a:ext cx="8208912" cy="1752600"/>
          </a:xfrm>
        </p:spPr>
        <p:txBody>
          <a:bodyPr>
            <a:normAutofit fontScale="92500" lnSpcReduction="20000"/>
          </a:bodyPr>
          <a:lstStyle/>
          <a:p>
            <a:pPr algn="l"/>
            <a:r>
              <a:rPr lang="en-US" altLang="zh-TW" dirty="0" smtClean="0">
                <a:solidFill>
                  <a:schemeClr val="tx1"/>
                </a:solidFill>
              </a:rPr>
              <a:t>Author</a:t>
            </a:r>
            <a:r>
              <a:rPr lang="zh-TW" altLang="en-US" dirty="0" smtClean="0">
                <a:solidFill>
                  <a:schemeClr val="tx1"/>
                </a:solidFill>
              </a:rPr>
              <a:t>：</a:t>
            </a:r>
            <a:r>
              <a:rPr lang="en-US" altLang="zh-TW" dirty="0" smtClean="0">
                <a:solidFill>
                  <a:schemeClr val="tx1"/>
                </a:solidFill>
              </a:rPr>
              <a:t>Michael </a:t>
            </a:r>
            <a:r>
              <a:rPr lang="en-US" altLang="zh-TW" dirty="0">
                <a:solidFill>
                  <a:schemeClr val="tx1"/>
                </a:solidFill>
              </a:rPr>
              <a:t>J. </a:t>
            </a:r>
            <a:r>
              <a:rPr lang="en-US" altLang="zh-TW" dirty="0" smtClean="0">
                <a:solidFill>
                  <a:schemeClr val="tx1"/>
                </a:solidFill>
              </a:rPr>
              <a:t>Wise</a:t>
            </a:r>
          </a:p>
          <a:p>
            <a:pPr algn="l"/>
            <a:r>
              <a:rPr lang="en-US" altLang="zh-TW" dirty="0">
                <a:solidFill>
                  <a:schemeClr val="tx1"/>
                </a:solidFill>
              </a:rPr>
              <a:t>Source</a:t>
            </a:r>
            <a:r>
              <a:rPr lang="zh-TW" altLang="en-US" dirty="0">
                <a:solidFill>
                  <a:schemeClr val="tx1"/>
                </a:solidFill>
              </a:rPr>
              <a:t>：</a:t>
            </a:r>
            <a:r>
              <a:rPr lang="en-US" altLang="zh-TW" dirty="0" smtClean="0">
                <a:solidFill>
                  <a:schemeClr val="tx1"/>
                </a:solidFill>
              </a:rPr>
              <a:t>SIGCSE </a:t>
            </a:r>
            <a:r>
              <a:rPr lang="en-US" altLang="zh-TW" dirty="0">
                <a:solidFill>
                  <a:schemeClr val="tx1"/>
                </a:solidFill>
              </a:rPr>
              <a:t>Proceedings of the </a:t>
            </a:r>
            <a:r>
              <a:rPr lang="en-US" altLang="zh-TW" dirty="0" smtClean="0">
                <a:solidFill>
                  <a:schemeClr val="tx1"/>
                </a:solidFill>
              </a:rPr>
              <a:t>twenty-seventh SIGCSE </a:t>
            </a:r>
            <a:r>
              <a:rPr lang="en-US" altLang="zh-TW" dirty="0">
                <a:solidFill>
                  <a:schemeClr val="tx1"/>
                </a:solidFill>
              </a:rPr>
              <a:t>technical symposium on Computer science </a:t>
            </a:r>
            <a:r>
              <a:rPr lang="en-US" altLang="zh-TW" dirty="0" smtClean="0">
                <a:solidFill>
                  <a:schemeClr val="tx1"/>
                </a:solidFill>
              </a:rPr>
              <a:t>education 1996 pp. </a:t>
            </a:r>
            <a:r>
              <a:rPr lang="en-US" altLang="zh-TW" dirty="0">
                <a:solidFill>
                  <a:schemeClr val="tx1"/>
                </a:solidFill>
              </a:rPr>
              <a:t>130-134 </a:t>
            </a:r>
            <a:endParaRPr lang="zh-TW" altLang="en-US" dirty="0">
              <a:solidFill>
                <a:schemeClr val="tx1"/>
              </a:solidFill>
            </a:endParaRPr>
          </a:p>
        </p:txBody>
      </p:sp>
      <p:sp>
        <p:nvSpPr>
          <p:cNvPr id="5" name="矩形 4"/>
          <p:cNvSpPr/>
          <p:nvPr/>
        </p:nvSpPr>
        <p:spPr>
          <a:xfrm>
            <a:off x="5580112" y="5589240"/>
            <a:ext cx="2987824" cy="646331"/>
          </a:xfrm>
          <a:prstGeom prst="rect">
            <a:avLst/>
          </a:prstGeom>
        </p:spPr>
        <p:txBody>
          <a:bodyPr wrap="square">
            <a:spAutoFit/>
          </a:bodyPr>
          <a:lstStyle/>
          <a:p>
            <a:r>
              <a:rPr lang="en-US" altLang="zh-TW" dirty="0" smtClean="0"/>
              <a:t>Presenter</a:t>
            </a:r>
            <a:r>
              <a:rPr lang="zh-TW" altLang="en-US" dirty="0" smtClean="0"/>
              <a:t>：</a:t>
            </a:r>
            <a:r>
              <a:rPr lang="en-US" altLang="zh-TW" dirty="0" smtClean="0"/>
              <a:t>Guan-Cheng </a:t>
            </a:r>
            <a:r>
              <a:rPr lang="en-US" altLang="zh-TW" dirty="0" err="1" smtClean="0"/>
              <a:t>Guo</a:t>
            </a:r>
            <a:r>
              <a:rPr lang="en-US" altLang="zh-TW" dirty="0" smtClean="0"/>
              <a:t/>
            </a:r>
            <a:br>
              <a:rPr lang="en-US" altLang="zh-TW" dirty="0" smtClean="0"/>
            </a:br>
            <a:r>
              <a:rPr lang="en-US" altLang="zh-TW" dirty="0" smtClean="0"/>
              <a:t>Date</a:t>
            </a:r>
            <a:r>
              <a:rPr lang="zh-TW" altLang="en-US" dirty="0" smtClean="0"/>
              <a:t>：</a:t>
            </a:r>
            <a:r>
              <a:rPr lang="en-US" altLang="zh-TW" smtClean="0"/>
              <a:t>2014/4/22</a:t>
            </a:r>
            <a:endParaRPr lang="en-US" altLang="zh-TW" dirty="0"/>
          </a:p>
        </p:txBody>
      </p:sp>
    </p:spTree>
    <p:extLst>
      <p:ext uri="{BB962C8B-B14F-4D97-AF65-F5344CB8AC3E}">
        <p14:creationId xmlns:p14="http://schemas.microsoft.com/office/powerpoint/2010/main" val="2949333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179512" y="1196752"/>
            <a:ext cx="8856984" cy="5472608"/>
          </a:xfrm>
        </p:spPr>
        <p:txBody>
          <a:bodyPr>
            <a:normAutofit/>
          </a:bodyPr>
          <a:lstStyle/>
          <a:p>
            <a:pPr marL="0" indent="0">
              <a:buNone/>
            </a:pPr>
            <a:r>
              <a:rPr lang="en-US" altLang="zh-TW" dirty="0" smtClean="0"/>
              <a:t>     In </a:t>
            </a:r>
            <a:r>
              <a:rPr lang="en-US" altLang="zh-TW" dirty="0"/>
              <a:t>spite of years of effort, plagiarism in student </a:t>
            </a:r>
            <a:r>
              <a:rPr lang="en-US" altLang="zh-TW" dirty="0" smtClean="0"/>
              <a:t>assignment submissions </a:t>
            </a:r>
            <a:r>
              <a:rPr lang="en-US" altLang="zh-TW" dirty="0"/>
              <a:t>still causes considerable difficulties for </a:t>
            </a:r>
            <a:r>
              <a:rPr lang="en-US" altLang="zh-TW" dirty="0" smtClean="0"/>
              <a:t>course designers</a:t>
            </a:r>
            <a:r>
              <a:rPr lang="en-US" altLang="zh-TW" dirty="0"/>
              <a:t>; if students’ work is not their own, how </a:t>
            </a:r>
            <a:r>
              <a:rPr lang="en-US" altLang="zh-TW" dirty="0" smtClean="0"/>
              <a:t>can anyone </a:t>
            </a:r>
            <a:r>
              <a:rPr lang="en-US" altLang="zh-TW" dirty="0"/>
              <a:t>be certain they have learnt anything? YAP is </a:t>
            </a:r>
            <a:r>
              <a:rPr lang="en-US" altLang="zh-TW" dirty="0" smtClean="0"/>
              <a:t>a system </a:t>
            </a:r>
            <a:r>
              <a:rPr lang="en-US" altLang="zh-TW" dirty="0"/>
              <a:t>for detecting suspected plagiarism in </a:t>
            </a:r>
            <a:r>
              <a:rPr lang="en-US" altLang="zh-TW" dirty="0" smtClean="0"/>
              <a:t>computer programs </a:t>
            </a:r>
            <a:r>
              <a:rPr lang="en-US" altLang="zh-TW" dirty="0"/>
              <a:t>and other texts submitted by students. </a:t>
            </a:r>
            <a:endParaRPr lang="zh-TW" altLang="en-US" dirty="0"/>
          </a:p>
        </p:txBody>
      </p:sp>
    </p:spTree>
    <p:extLst>
      <p:ext uri="{BB962C8B-B14F-4D97-AF65-F5344CB8AC3E}">
        <p14:creationId xmlns:p14="http://schemas.microsoft.com/office/powerpoint/2010/main" val="28107221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a:t>
            </a:r>
            <a:endParaRPr lang="zh-TW" altLang="en-US" dirty="0"/>
          </a:p>
        </p:txBody>
      </p:sp>
      <p:sp>
        <p:nvSpPr>
          <p:cNvPr id="3" name="內容版面配置區 2"/>
          <p:cNvSpPr>
            <a:spLocks noGrp="1"/>
          </p:cNvSpPr>
          <p:nvPr>
            <p:ph idx="1"/>
          </p:nvPr>
        </p:nvSpPr>
        <p:spPr>
          <a:xfrm>
            <a:off x="457200" y="1340768"/>
            <a:ext cx="8435280" cy="5328592"/>
          </a:xfrm>
        </p:spPr>
        <p:txBody>
          <a:bodyPr>
            <a:normAutofit fontScale="77500" lnSpcReduction="20000"/>
          </a:bodyPr>
          <a:lstStyle/>
          <a:p>
            <a:pPr marL="0" indent="0">
              <a:buNone/>
            </a:pPr>
            <a:r>
              <a:rPr lang="en-US" altLang="zh-TW" sz="4100" dirty="0">
                <a:cs typeface="Times New Roman" pitchFamily="18" charset="0"/>
              </a:rPr>
              <a:t>The paper reviews YAP3, the third version of YAP, focusing on its novel underlying algorithm - Running-Karp-Rabin Greedy-String-Tiling (or RKR-GST), whose development arose from the observation with YAP and other systems that students shuffle independent code segments. YAP3 is able to detect transposed subsequences, and is less perturbed by spurious additional statements. The paper concludes with a discussion of recent extension of YAP to English texts, further illustrating the flexibility of the YAP approach.</a:t>
            </a:r>
            <a:endParaRPr lang="zh-TW" altLang="en-US" sz="4100" dirty="0">
              <a:cs typeface="Times New Roman" pitchFamily="18" charset="0"/>
            </a:endParaRPr>
          </a:p>
          <a:p>
            <a:endParaRPr lang="zh-TW" alt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16780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02630"/>
            <a:ext cx="8229600" cy="922114"/>
          </a:xfrm>
        </p:spPr>
        <p:txBody>
          <a:bodyPr/>
          <a:lstStyle/>
          <a:p>
            <a:r>
              <a:rPr lang="en-US" altLang="zh-TW" dirty="0" smtClean="0"/>
              <a:t>YAP3</a:t>
            </a:r>
            <a:endParaRPr lang="zh-TW" altLang="en-US" dirty="0"/>
          </a:p>
        </p:txBody>
      </p:sp>
      <p:sp>
        <p:nvSpPr>
          <p:cNvPr id="3" name="內容版面配置區 2"/>
          <p:cNvSpPr>
            <a:spLocks noGrp="1"/>
          </p:cNvSpPr>
          <p:nvPr>
            <p:ph idx="1"/>
          </p:nvPr>
        </p:nvSpPr>
        <p:spPr>
          <a:xfrm>
            <a:off x="107504" y="1196752"/>
            <a:ext cx="8928992" cy="5544616"/>
          </a:xfrm>
        </p:spPr>
        <p:txBody>
          <a:bodyPr>
            <a:noAutofit/>
          </a:bodyPr>
          <a:lstStyle/>
          <a:p>
            <a:pPr marL="0" indent="0">
              <a:buNone/>
            </a:pPr>
            <a:r>
              <a:rPr lang="en-US" altLang="zh-TW" dirty="0" smtClean="0">
                <a:ea typeface="標楷體" pitchFamily="65" charset="-120"/>
              </a:rPr>
              <a:t>YAP3 </a:t>
            </a:r>
            <a:r>
              <a:rPr lang="zh-TW" altLang="en-US" dirty="0" smtClean="0">
                <a:ea typeface="標楷體" pitchFamily="65" charset="-120"/>
              </a:rPr>
              <a:t>主要分成兩個階段做</a:t>
            </a:r>
            <a:r>
              <a:rPr lang="en-US" altLang="zh-TW" dirty="0" smtClean="0">
                <a:ea typeface="標楷體" pitchFamily="65" charset="-120"/>
              </a:rPr>
              <a:t>:</a:t>
            </a:r>
          </a:p>
          <a:p>
            <a:pPr marL="0" indent="0">
              <a:buNone/>
            </a:pPr>
            <a:r>
              <a:rPr lang="zh-TW" altLang="en-US" dirty="0" smtClean="0">
                <a:ea typeface="標楷體" pitchFamily="65" charset="-120"/>
              </a:rPr>
              <a:t>首先，使用</a:t>
            </a:r>
            <a:r>
              <a:rPr lang="en-US" altLang="zh-TW" dirty="0" smtClean="0">
                <a:ea typeface="標楷體" pitchFamily="65" charset="-120"/>
              </a:rPr>
              <a:t>source text</a:t>
            </a:r>
            <a:r>
              <a:rPr lang="zh-TW" altLang="en-US" dirty="0" smtClean="0">
                <a:ea typeface="標楷體" pitchFamily="65" charset="-120"/>
              </a:rPr>
              <a:t>來產生</a:t>
            </a:r>
            <a:r>
              <a:rPr lang="en-US" altLang="zh-TW" dirty="0" smtClean="0">
                <a:ea typeface="標楷體" pitchFamily="65" charset="-120"/>
              </a:rPr>
              <a:t> </a:t>
            </a:r>
            <a:r>
              <a:rPr lang="en-US" altLang="zh-TW" dirty="0">
                <a:ea typeface="標楷體" pitchFamily="65" charset="-120"/>
              </a:rPr>
              <a:t>token </a:t>
            </a:r>
            <a:r>
              <a:rPr lang="en-US" altLang="zh-TW" dirty="0" smtClean="0">
                <a:ea typeface="標楷體" pitchFamily="65" charset="-120"/>
              </a:rPr>
              <a:t>sequences </a:t>
            </a:r>
          </a:p>
          <a:p>
            <a:r>
              <a:rPr lang="zh-TW" altLang="en-US" dirty="0" smtClean="0">
                <a:ea typeface="標楷體" pitchFamily="65" charset="-120"/>
              </a:rPr>
              <a:t>移除註解和字串常數</a:t>
            </a:r>
            <a:endParaRPr lang="en-US" altLang="zh-TW" dirty="0">
              <a:ea typeface="標楷體" pitchFamily="65" charset="-120"/>
            </a:endParaRPr>
          </a:p>
          <a:p>
            <a:r>
              <a:rPr lang="zh-TW" altLang="en-US" dirty="0" smtClean="0">
                <a:ea typeface="標楷體" pitchFamily="65" charset="-120"/>
              </a:rPr>
              <a:t>將大寫字母轉換成小寫字母</a:t>
            </a:r>
            <a:endParaRPr lang="en-US" altLang="zh-TW" dirty="0" smtClean="0">
              <a:ea typeface="標楷體" pitchFamily="65" charset="-120"/>
            </a:endParaRPr>
          </a:p>
          <a:p>
            <a:r>
              <a:rPr lang="zh-TW" altLang="en-US" dirty="0" smtClean="0">
                <a:ea typeface="標楷體" pitchFamily="65" charset="-120"/>
              </a:rPr>
              <a:t>相近意義的詞映射到相同的格式 </a:t>
            </a:r>
            <a:r>
              <a:rPr lang="en-US" altLang="zh-TW" dirty="0" smtClean="0">
                <a:ea typeface="標楷體" pitchFamily="65" charset="-120"/>
              </a:rPr>
              <a:t>e.g</a:t>
            </a:r>
            <a:r>
              <a:rPr lang="en-US" altLang="zh-TW" dirty="0">
                <a:ea typeface="標楷體" pitchFamily="65" charset="-120"/>
              </a:rPr>
              <a:t>. </a:t>
            </a:r>
            <a:r>
              <a:rPr lang="en-US" altLang="zh-TW" dirty="0" err="1">
                <a:ea typeface="標楷體" pitchFamily="65" charset="-120"/>
              </a:rPr>
              <a:t>strncmp</a:t>
            </a:r>
            <a:r>
              <a:rPr lang="en-US" altLang="zh-TW" dirty="0">
                <a:ea typeface="標楷體" pitchFamily="65" charset="-120"/>
              </a:rPr>
              <a:t> </a:t>
            </a:r>
            <a:r>
              <a:rPr lang="zh-TW" altLang="en-US" dirty="0" smtClean="0">
                <a:ea typeface="標楷體" pitchFamily="65" charset="-120"/>
              </a:rPr>
              <a:t>映射到 </a:t>
            </a:r>
            <a:r>
              <a:rPr lang="en-US" altLang="zh-TW" dirty="0" err="1" smtClean="0">
                <a:ea typeface="標楷體" pitchFamily="65" charset="-120"/>
              </a:rPr>
              <a:t>strcmp</a:t>
            </a:r>
            <a:r>
              <a:rPr lang="zh-TW" altLang="en-US" dirty="0" smtClean="0">
                <a:ea typeface="標楷體" pitchFamily="65" charset="-120"/>
              </a:rPr>
              <a:t>；</a:t>
            </a:r>
            <a:r>
              <a:rPr lang="en-US" altLang="zh-TW" dirty="0" smtClean="0">
                <a:ea typeface="標楷體" pitchFamily="65" charset="-120"/>
              </a:rPr>
              <a:t>function</a:t>
            </a:r>
            <a:r>
              <a:rPr lang="zh-TW" altLang="en-US" dirty="0" smtClean="0">
                <a:ea typeface="標楷體" pitchFamily="65" charset="-120"/>
              </a:rPr>
              <a:t> 映射到 </a:t>
            </a:r>
            <a:r>
              <a:rPr lang="en-US" altLang="zh-TW" dirty="0" smtClean="0">
                <a:ea typeface="標楷體" pitchFamily="65" charset="-120"/>
              </a:rPr>
              <a:t>procedure.</a:t>
            </a:r>
          </a:p>
          <a:p>
            <a:r>
              <a:rPr lang="zh-TW" altLang="en-US" dirty="0">
                <a:ea typeface="標楷體" pitchFamily="65" charset="-120"/>
              </a:rPr>
              <a:t>重新排序</a:t>
            </a:r>
            <a:r>
              <a:rPr lang="en-US" altLang="zh-TW" dirty="0">
                <a:ea typeface="標楷體" pitchFamily="65" charset="-120"/>
              </a:rPr>
              <a:t>functions</a:t>
            </a:r>
            <a:r>
              <a:rPr lang="zh-TW" altLang="en-US" dirty="0">
                <a:ea typeface="標楷體" pitchFamily="65" charset="-120"/>
              </a:rPr>
              <a:t>到呼叫使用的地方</a:t>
            </a:r>
            <a:r>
              <a:rPr lang="en-US" altLang="zh-TW" dirty="0">
                <a:ea typeface="標楷體" pitchFamily="65" charset="-120"/>
              </a:rPr>
              <a:t> </a:t>
            </a:r>
          </a:p>
          <a:p>
            <a:r>
              <a:rPr lang="zh-TW" altLang="en-US" dirty="0">
                <a:ea typeface="標楷體" pitchFamily="65" charset="-120"/>
              </a:rPr>
              <a:t>移除非目標語言所產生之</a:t>
            </a:r>
            <a:r>
              <a:rPr lang="en-US" altLang="zh-TW" dirty="0">
                <a:ea typeface="標楷體" pitchFamily="65" charset="-120"/>
              </a:rPr>
              <a:t>token</a:t>
            </a:r>
          </a:p>
          <a:p>
            <a:pPr marL="0" indent="0">
              <a:buNone/>
            </a:pPr>
            <a:endParaRPr lang="en-US" altLang="zh-TW" dirty="0"/>
          </a:p>
        </p:txBody>
      </p:sp>
    </p:spTree>
    <p:extLst>
      <p:ext uri="{BB962C8B-B14F-4D97-AF65-F5344CB8AC3E}">
        <p14:creationId xmlns:p14="http://schemas.microsoft.com/office/powerpoint/2010/main" val="33811342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850106"/>
          </a:xfrm>
        </p:spPr>
        <p:txBody>
          <a:bodyPr/>
          <a:lstStyle/>
          <a:p>
            <a:r>
              <a:rPr lang="en-US" altLang="zh-TW" dirty="0" smtClean="0"/>
              <a:t>YAP3</a:t>
            </a:r>
            <a:endParaRPr lang="zh-TW" altLang="en-US" dirty="0"/>
          </a:p>
        </p:txBody>
      </p:sp>
      <p:sp>
        <p:nvSpPr>
          <p:cNvPr id="3" name="內容版面配置區 2"/>
          <p:cNvSpPr>
            <a:spLocks noGrp="1"/>
          </p:cNvSpPr>
          <p:nvPr>
            <p:ph idx="1"/>
          </p:nvPr>
        </p:nvSpPr>
        <p:spPr>
          <a:xfrm>
            <a:off x="457200" y="1196752"/>
            <a:ext cx="8229600" cy="4929411"/>
          </a:xfrm>
        </p:spPr>
        <p:txBody>
          <a:bodyPr>
            <a:normAutofit/>
          </a:bodyPr>
          <a:lstStyle/>
          <a:p>
            <a:pPr marL="0" indent="0">
              <a:buNone/>
            </a:pPr>
            <a:r>
              <a:rPr lang="zh-TW" altLang="en-US" dirty="0">
                <a:ea typeface="標楷體" pitchFamily="65" charset="-120"/>
              </a:rPr>
              <a:t>第二</a:t>
            </a:r>
            <a:r>
              <a:rPr lang="zh-TW" altLang="en-US" dirty="0" smtClean="0">
                <a:ea typeface="標楷體" pitchFamily="65" charset="-120"/>
              </a:rPr>
              <a:t>階段，比較階段</a:t>
            </a:r>
            <a:r>
              <a:rPr lang="en-US" altLang="zh-TW" dirty="0" smtClean="0">
                <a:ea typeface="標楷體" pitchFamily="65" charset="-120"/>
              </a:rPr>
              <a:t>:</a:t>
            </a:r>
            <a:endParaRPr lang="en-US" altLang="zh-TW" dirty="0">
              <a:ea typeface="標楷體" pitchFamily="65" charset="-120"/>
            </a:endParaRPr>
          </a:p>
          <a:p>
            <a:r>
              <a:rPr lang="zh-TW" altLang="en-US" dirty="0" smtClean="0">
                <a:ea typeface="標楷體" pitchFamily="65" charset="-120"/>
              </a:rPr>
              <a:t>使用</a:t>
            </a:r>
            <a:r>
              <a:rPr lang="en-US" altLang="zh-TW" dirty="0" smtClean="0">
                <a:ea typeface="標楷體" pitchFamily="65" charset="-120"/>
              </a:rPr>
              <a:t>Running-Karp-Rabin </a:t>
            </a:r>
            <a:r>
              <a:rPr lang="en-US" altLang="zh-TW" dirty="0">
                <a:ea typeface="標楷體" pitchFamily="65" charset="-120"/>
              </a:rPr>
              <a:t>Greedy-String-Tiling (RKR-GST</a:t>
            </a:r>
            <a:r>
              <a:rPr lang="en-US" altLang="zh-TW" dirty="0" smtClean="0">
                <a:ea typeface="標楷體" pitchFamily="65" charset="-120"/>
              </a:rPr>
              <a:t>)</a:t>
            </a:r>
            <a:r>
              <a:rPr lang="zh-TW" altLang="en-US" dirty="0" smtClean="0">
                <a:ea typeface="標楷體" pitchFamily="65" charset="-120"/>
              </a:rPr>
              <a:t> 演算法來作為</a:t>
            </a:r>
            <a:r>
              <a:rPr lang="en-US" altLang="zh-TW" dirty="0" smtClean="0">
                <a:ea typeface="標楷體" pitchFamily="65" charset="-120"/>
              </a:rPr>
              <a:t>YAP3</a:t>
            </a:r>
            <a:r>
              <a:rPr lang="zh-TW" altLang="en-US" dirty="0" smtClean="0">
                <a:ea typeface="標楷體" pitchFamily="65" charset="-120"/>
              </a:rPr>
              <a:t>的設計基礎。</a:t>
            </a:r>
            <a:endParaRPr lang="en-US" altLang="zh-TW" dirty="0" smtClean="0">
              <a:ea typeface="標楷體" pitchFamily="65" charset="-120"/>
            </a:endParaRPr>
          </a:p>
          <a:p>
            <a:endParaRPr lang="en-US" altLang="zh-TW" dirty="0" smtClean="0">
              <a:ea typeface="標楷體" pitchFamily="65" charset="-120"/>
            </a:endParaRPr>
          </a:p>
          <a:p>
            <a:r>
              <a:rPr lang="en-US" altLang="zh-TW" dirty="0" smtClean="0">
                <a:ea typeface="標楷體" pitchFamily="65" charset="-120"/>
              </a:rPr>
              <a:t>RKR-GST</a:t>
            </a:r>
            <a:r>
              <a:rPr lang="zh-TW" altLang="en-US" dirty="0" smtClean="0">
                <a:ea typeface="標楷體" pitchFamily="65" charset="-120"/>
              </a:rPr>
              <a:t>改良</a:t>
            </a:r>
            <a:r>
              <a:rPr lang="en-US" altLang="zh-TW" dirty="0" smtClean="0">
                <a:ea typeface="標楷體" pitchFamily="65" charset="-120"/>
              </a:rPr>
              <a:t>Greedy-String-Tiling(GST)</a:t>
            </a:r>
            <a:r>
              <a:rPr lang="zh-TW" altLang="en-US" dirty="0" smtClean="0">
                <a:ea typeface="標楷體" pitchFamily="65" charset="-120"/>
              </a:rPr>
              <a:t>演算法而來。</a:t>
            </a:r>
            <a:endParaRPr lang="en-US" altLang="zh-TW" dirty="0" smtClean="0">
              <a:ea typeface="標楷體" pitchFamily="65" charset="-120"/>
            </a:endParaRPr>
          </a:p>
        </p:txBody>
      </p:sp>
    </p:spTree>
    <p:extLst>
      <p:ext uri="{BB962C8B-B14F-4D97-AF65-F5344CB8AC3E}">
        <p14:creationId xmlns:p14="http://schemas.microsoft.com/office/powerpoint/2010/main" val="1284204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Greedy String Tiling(GST)</a:t>
            </a:r>
            <a:endParaRPr lang="zh-TW" altLang="en-US" dirty="0"/>
          </a:p>
        </p:txBody>
      </p:sp>
      <p:sp>
        <p:nvSpPr>
          <p:cNvPr id="3" name="內容版面配置區 2"/>
          <p:cNvSpPr>
            <a:spLocks noGrp="1"/>
          </p:cNvSpPr>
          <p:nvPr>
            <p:ph idx="1"/>
          </p:nvPr>
        </p:nvSpPr>
        <p:spPr>
          <a:xfrm>
            <a:off x="457200" y="1268760"/>
            <a:ext cx="8229600" cy="4857403"/>
          </a:xfrm>
        </p:spPr>
        <p:txBody>
          <a:bodyPr/>
          <a:lstStyle/>
          <a:p>
            <a:r>
              <a:rPr lang="zh-TW" altLang="en-US" dirty="0" smtClean="0">
                <a:ea typeface="標楷體" pitchFamily="65" charset="-120"/>
              </a:rPr>
              <a:t>給定兩字串：</a:t>
            </a:r>
            <a:r>
              <a:rPr lang="en-US" altLang="zh-TW" dirty="0">
                <a:ea typeface="標楷體" pitchFamily="65" charset="-120"/>
              </a:rPr>
              <a:t/>
            </a:r>
            <a:br>
              <a:rPr lang="en-US" altLang="zh-TW" dirty="0">
                <a:ea typeface="標楷體" pitchFamily="65" charset="-120"/>
              </a:rPr>
            </a:br>
            <a:r>
              <a:rPr lang="en-US" altLang="zh-TW" dirty="0" err="1" smtClean="0">
                <a:ea typeface="標楷體" pitchFamily="65" charset="-120"/>
              </a:rPr>
              <a:t>abcdefghijklmuvwxyz</a:t>
            </a:r>
            <a:r>
              <a:rPr lang="en-US" altLang="zh-TW" dirty="0">
                <a:ea typeface="標楷體" pitchFamily="65" charset="-120"/>
              </a:rPr>
              <a:t>,</a:t>
            </a:r>
            <a:r>
              <a:rPr lang="en-US" altLang="zh-TW" dirty="0" smtClean="0">
                <a:ea typeface="標楷體" pitchFamily="65" charset="-120"/>
              </a:rPr>
              <a:t> </a:t>
            </a:r>
            <a:r>
              <a:rPr lang="en-US" altLang="zh-TW" dirty="0" err="1" smtClean="0">
                <a:ea typeface="標楷體" pitchFamily="65" charset="-120"/>
              </a:rPr>
              <a:t>ijkabclmdefghpq</a:t>
            </a:r>
            <a:endParaRPr lang="en-US" altLang="zh-TW" dirty="0" smtClean="0">
              <a:ea typeface="標楷體" pitchFamily="65" charset="-120"/>
            </a:endParaRPr>
          </a:p>
          <a:p>
            <a:endParaRPr lang="en-US" altLang="zh-TW" dirty="0" smtClean="0">
              <a:ea typeface="標楷體" pitchFamily="65" charset="-120"/>
            </a:endParaRPr>
          </a:p>
          <a:p>
            <a:r>
              <a:rPr lang="zh-TW" altLang="en-US" dirty="0" smtClean="0">
                <a:ea typeface="標楷體" pitchFamily="65" charset="-120"/>
              </a:rPr>
              <a:t>假設</a:t>
            </a:r>
            <a:r>
              <a:rPr lang="zh-TW" altLang="en-US" dirty="0">
                <a:ea typeface="標楷體" pitchFamily="65" charset="-120"/>
              </a:rPr>
              <a:t>設定</a:t>
            </a:r>
            <a:r>
              <a:rPr lang="zh-TW" altLang="en-US" dirty="0" smtClean="0">
                <a:ea typeface="標楷體" pitchFamily="65" charset="-120"/>
              </a:rPr>
              <a:t>最小</a:t>
            </a:r>
            <a:r>
              <a:rPr lang="en-US" altLang="zh-TW" dirty="0" smtClean="0">
                <a:ea typeface="標楷體" pitchFamily="65" charset="-120"/>
              </a:rPr>
              <a:t>match length</a:t>
            </a:r>
            <a:r>
              <a:rPr lang="zh-TW" altLang="en-US" dirty="0" smtClean="0">
                <a:ea typeface="標楷體" pitchFamily="65" charset="-120"/>
              </a:rPr>
              <a:t>為</a:t>
            </a:r>
            <a:r>
              <a:rPr lang="en-US" altLang="zh-TW" dirty="0" smtClean="0">
                <a:ea typeface="標楷體" pitchFamily="65" charset="-120"/>
              </a:rPr>
              <a:t>2</a:t>
            </a:r>
          </a:p>
        </p:txBody>
      </p:sp>
    </p:spTree>
    <p:extLst>
      <p:ext uri="{BB962C8B-B14F-4D97-AF65-F5344CB8AC3E}">
        <p14:creationId xmlns:p14="http://schemas.microsoft.com/office/powerpoint/2010/main" val="545837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3752"/>
            <a:ext cx="8229600" cy="1143000"/>
          </a:xfrm>
        </p:spPr>
        <p:txBody>
          <a:bodyPr/>
          <a:lstStyle/>
          <a:p>
            <a:r>
              <a:rPr lang="en-US" altLang="zh-TW" dirty="0"/>
              <a:t>Greedy String Tiling(GST)</a:t>
            </a:r>
            <a:endParaRPr lang="zh-TW" altLang="en-US" dirty="0"/>
          </a:p>
        </p:txBody>
      </p:sp>
      <p:sp>
        <p:nvSpPr>
          <p:cNvPr id="3" name="內容版面配置區 2"/>
          <p:cNvSpPr>
            <a:spLocks noGrp="1"/>
          </p:cNvSpPr>
          <p:nvPr>
            <p:ph idx="1"/>
          </p:nvPr>
        </p:nvSpPr>
        <p:spPr>
          <a:xfrm>
            <a:off x="467544" y="1052736"/>
            <a:ext cx="8568952" cy="5805264"/>
          </a:xfrm>
        </p:spPr>
        <p:txBody>
          <a:bodyPr>
            <a:normAutofit fontScale="92500" lnSpcReduction="10000"/>
          </a:bodyPr>
          <a:lstStyle/>
          <a:p>
            <a:r>
              <a:rPr lang="zh-TW" altLang="en-US" sz="3500" dirty="0">
                <a:ea typeface="標楷體" pitchFamily="65" charset="-120"/>
                <a:cs typeface="Times New Roman" pitchFamily="18" charset="0"/>
              </a:rPr>
              <a:t>搜尋第一次：</a:t>
            </a:r>
            <a:r>
              <a:rPr lang="en-US" altLang="zh-TW" sz="3500" dirty="0">
                <a:ea typeface="標楷體" pitchFamily="65" charset="-120"/>
                <a:cs typeface="Times New Roman" pitchFamily="18" charset="0"/>
              </a:rPr>
              <a:t/>
            </a:r>
            <a:br>
              <a:rPr lang="en-US" altLang="zh-TW" sz="3500" dirty="0">
                <a:ea typeface="標楷體" pitchFamily="65" charset="-120"/>
                <a:cs typeface="Times New Roman" pitchFamily="18" charset="0"/>
              </a:rPr>
            </a:br>
            <a:r>
              <a:rPr lang="en-US" altLang="zh-TW" sz="3500" dirty="0" err="1">
                <a:solidFill>
                  <a:srgbClr val="FF0000"/>
                </a:solidFill>
                <a:ea typeface="標楷體" pitchFamily="65" charset="-120"/>
                <a:cs typeface="Times New Roman" pitchFamily="18" charset="0"/>
              </a:rPr>
              <a:t>abc</a:t>
            </a:r>
            <a:r>
              <a:rPr lang="en-US" altLang="zh-TW" sz="3500" dirty="0" err="1">
                <a:ea typeface="標楷體" pitchFamily="65" charset="-120"/>
                <a:cs typeface="Times New Roman" pitchFamily="18" charset="0"/>
              </a:rPr>
              <a:t>defghijklmuvwxyz</a:t>
            </a:r>
            <a:r>
              <a:rPr lang="en-US" altLang="zh-TW" sz="3500" dirty="0">
                <a:ea typeface="標楷體" pitchFamily="65" charset="-120"/>
                <a:cs typeface="Times New Roman" pitchFamily="18" charset="0"/>
              </a:rPr>
              <a:t>, </a:t>
            </a:r>
            <a:r>
              <a:rPr lang="en-US" altLang="zh-TW" sz="3500" dirty="0" err="1" smtClean="0">
                <a:ea typeface="標楷體" pitchFamily="65" charset="-120"/>
                <a:cs typeface="Times New Roman" pitchFamily="18" charset="0"/>
              </a:rPr>
              <a:t>ijk</a:t>
            </a:r>
            <a:r>
              <a:rPr lang="en-US" altLang="zh-TW" sz="3500" dirty="0" err="1" smtClean="0">
                <a:solidFill>
                  <a:srgbClr val="FF0000"/>
                </a:solidFill>
                <a:ea typeface="標楷體" pitchFamily="65" charset="-120"/>
                <a:cs typeface="Times New Roman" pitchFamily="18" charset="0"/>
              </a:rPr>
              <a:t>abc</a:t>
            </a:r>
            <a:r>
              <a:rPr lang="en-US" altLang="zh-TW" sz="3500" dirty="0" err="1" smtClean="0">
                <a:ea typeface="標楷體" pitchFamily="65" charset="-120"/>
                <a:cs typeface="Times New Roman" pitchFamily="18" charset="0"/>
              </a:rPr>
              <a:t>lmdefghpq</a:t>
            </a:r>
            <a:r>
              <a:rPr lang="en-US" altLang="zh-TW" sz="3500" dirty="0">
                <a:ea typeface="標楷體" pitchFamily="65" charset="-120"/>
                <a:cs typeface="Times New Roman" pitchFamily="18" charset="0"/>
              </a:rPr>
              <a:t/>
            </a:r>
            <a:br>
              <a:rPr lang="en-US" altLang="zh-TW" sz="3500" dirty="0">
                <a:ea typeface="標楷體" pitchFamily="65" charset="-120"/>
                <a:cs typeface="Times New Roman" pitchFamily="18" charset="0"/>
              </a:rPr>
            </a:br>
            <a:r>
              <a:rPr lang="zh-TW" altLang="en-US" sz="3500" dirty="0" smtClean="0">
                <a:ea typeface="標楷體" pitchFamily="65" charset="-120"/>
                <a:cs typeface="Times New Roman" pitchFamily="18" charset="0"/>
              </a:rPr>
              <a:t>找到 </a:t>
            </a:r>
            <a:r>
              <a:rPr lang="en-US" altLang="zh-TW" sz="3500" dirty="0" smtClean="0">
                <a:ea typeface="標楷體" pitchFamily="65" charset="-120"/>
                <a:cs typeface="Times New Roman" pitchFamily="18" charset="0"/>
              </a:rPr>
              <a:t>“</a:t>
            </a:r>
            <a:r>
              <a:rPr lang="en-US" altLang="zh-TW" sz="3500" dirty="0" err="1" smtClean="0">
                <a:ea typeface="標楷體" pitchFamily="65" charset="-120"/>
                <a:cs typeface="Times New Roman" pitchFamily="18" charset="0"/>
              </a:rPr>
              <a:t>abc</a:t>
            </a:r>
            <a:r>
              <a:rPr lang="en-US" altLang="zh-TW" sz="3500" dirty="0" smtClean="0">
                <a:ea typeface="標楷體" pitchFamily="65" charset="-120"/>
                <a:cs typeface="Times New Roman" pitchFamily="18" charset="0"/>
              </a:rPr>
              <a:t>”,</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length</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3,</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max</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match length = 3</a:t>
            </a:r>
            <a:br>
              <a:rPr lang="en-US" altLang="zh-TW" sz="3500" dirty="0" smtClean="0">
                <a:ea typeface="標楷體" pitchFamily="65" charset="-120"/>
                <a:cs typeface="Times New Roman" pitchFamily="18" charset="0"/>
              </a:rPr>
            </a:br>
            <a:r>
              <a:rPr lang="en-US" altLang="zh-TW" sz="3500" dirty="0" smtClean="0">
                <a:ea typeface="標楷體" pitchFamily="65" charset="-120"/>
                <a:cs typeface="Times New Roman" pitchFamily="18" charset="0"/>
              </a:rPr>
              <a:t/>
            </a:r>
            <a:br>
              <a:rPr lang="en-US" altLang="zh-TW" sz="3500" dirty="0" smtClean="0">
                <a:ea typeface="標楷體" pitchFamily="65" charset="-120"/>
                <a:cs typeface="Times New Roman" pitchFamily="18" charset="0"/>
              </a:rPr>
            </a:br>
            <a:r>
              <a:rPr lang="en-US" altLang="zh-TW" sz="3500" dirty="0" err="1">
                <a:ea typeface="標楷體" pitchFamily="65" charset="-120"/>
                <a:cs typeface="Times New Roman" pitchFamily="18" charset="0"/>
              </a:rPr>
              <a:t>abc</a:t>
            </a:r>
            <a:r>
              <a:rPr lang="en-US" altLang="zh-TW" sz="3500" dirty="0" err="1">
                <a:solidFill>
                  <a:srgbClr val="FF0000"/>
                </a:solidFill>
                <a:ea typeface="標楷體" pitchFamily="65" charset="-120"/>
                <a:cs typeface="Times New Roman" pitchFamily="18" charset="0"/>
              </a:rPr>
              <a:t>defgh</a:t>
            </a:r>
            <a:r>
              <a:rPr lang="en-US" altLang="zh-TW" sz="3500" dirty="0" err="1">
                <a:ea typeface="標楷體" pitchFamily="65" charset="-120"/>
                <a:cs typeface="Times New Roman" pitchFamily="18" charset="0"/>
              </a:rPr>
              <a:t>ijklmuvwxyz</a:t>
            </a:r>
            <a:r>
              <a:rPr lang="en-US" altLang="zh-TW" sz="3500" dirty="0">
                <a:ea typeface="標楷體" pitchFamily="65" charset="-120"/>
                <a:cs typeface="Times New Roman" pitchFamily="18" charset="0"/>
              </a:rPr>
              <a:t>, </a:t>
            </a:r>
            <a:r>
              <a:rPr lang="en-US" altLang="zh-TW" sz="3500" dirty="0" err="1" smtClean="0">
                <a:ea typeface="標楷體" pitchFamily="65" charset="-120"/>
                <a:cs typeface="Times New Roman" pitchFamily="18" charset="0"/>
              </a:rPr>
              <a:t>ijkabclm</a:t>
            </a:r>
            <a:r>
              <a:rPr lang="en-US" altLang="zh-TW" sz="3500" dirty="0" err="1" smtClean="0">
                <a:solidFill>
                  <a:srgbClr val="FF0000"/>
                </a:solidFill>
                <a:ea typeface="標楷體" pitchFamily="65" charset="-120"/>
                <a:cs typeface="Times New Roman" pitchFamily="18" charset="0"/>
              </a:rPr>
              <a:t>defgh</a:t>
            </a:r>
            <a:r>
              <a:rPr lang="en-US" altLang="zh-TW" sz="3500" dirty="0" err="1" smtClean="0">
                <a:ea typeface="標楷體" pitchFamily="65" charset="-120"/>
                <a:cs typeface="Times New Roman" pitchFamily="18" charset="0"/>
              </a:rPr>
              <a:t>pq</a:t>
            </a:r>
            <a:r>
              <a:rPr lang="en-US" altLang="zh-TW" sz="3500" dirty="0" smtClean="0">
                <a:ea typeface="標楷體" pitchFamily="65" charset="-120"/>
                <a:cs typeface="Times New Roman" pitchFamily="18" charset="0"/>
              </a:rPr>
              <a:t/>
            </a:r>
            <a:br>
              <a:rPr lang="en-US" altLang="zh-TW" sz="3500" dirty="0" smtClean="0">
                <a:ea typeface="標楷體" pitchFamily="65" charset="-120"/>
                <a:cs typeface="Times New Roman" pitchFamily="18" charset="0"/>
              </a:rPr>
            </a:br>
            <a:r>
              <a:rPr lang="zh-TW" altLang="en-US" sz="3500" dirty="0">
                <a:ea typeface="標楷體" pitchFamily="65" charset="-120"/>
                <a:cs typeface="Times New Roman" pitchFamily="18" charset="0"/>
              </a:rPr>
              <a:t>找到</a:t>
            </a:r>
            <a:r>
              <a:rPr lang="en-US" altLang="zh-TW" sz="3500" dirty="0" smtClean="0">
                <a:ea typeface="標楷體" pitchFamily="65" charset="-120"/>
                <a:cs typeface="Times New Roman" pitchFamily="18" charset="0"/>
              </a:rPr>
              <a:t>“</a:t>
            </a:r>
            <a:r>
              <a:rPr lang="en-US" altLang="zh-TW" sz="3500" dirty="0" err="1" smtClean="0">
                <a:ea typeface="標楷體" pitchFamily="65" charset="-120"/>
                <a:cs typeface="Times New Roman" pitchFamily="18" charset="0"/>
              </a:rPr>
              <a:t>defgh</a:t>
            </a:r>
            <a:r>
              <a:rPr lang="en-US" altLang="zh-TW" sz="3500" dirty="0" smtClean="0">
                <a:ea typeface="標楷體" pitchFamily="65" charset="-120"/>
                <a:cs typeface="Times New Roman" pitchFamily="18" charset="0"/>
              </a:rPr>
              <a:t>”,</a:t>
            </a:r>
            <a:r>
              <a:rPr lang="zh-TW" altLang="en-US" sz="3500" dirty="0" smtClean="0">
                <a:ea typeface="標楷體" pitchFamily="65" charset="-120"/>
                <a:cs typeface="Times New Roman" pitchFamily="18" charset="0"/>
              </a:rPr>
              <a:t> </a:t>
            </a:r>
            <a:r>
              <a:rPr lang="en-US" altLang="zh-TW" sz="3500" dirty="0">
                <a:ea typeface="標楷體" pitchFamily="65" charset="-120"/>
                <a:cs typeface="Times New Roman" pitchFamily="18" charset="0"/>
              </a:rPr>
              <a:t>length</a:t>
            </a:r>
            <a:r>
              <a:rPr lang="zh-TW" altLang="en-US" sz="3500" dirty="0">
                <a:ea typeface="標楷體" pitchFamily="65" charset="-120"/>
                <a:cs typeface="Times New Roman" pitchFamily="18" charset="0"/>
              </a:rPr>
              <a:t> </a:t>
            </a:r>
            <a:r>
              <a:rPr lang="en-US" altLang="zh-TW" sz="3500" dirty="0">
                <a:ea typeface="標楷體" pitchFamily="65" charset="-120"/>
                <a:cs typeface="Times New Roman" pitchFamily="18" charset="0"/>
              </a:rPr>
              <a:t>=</a:t>
            </a:r>
            <a:r>
              <a:rPr lang="zh-TW" altLang="en-US" sz="3500" dirty="0">
                <a:ea typeface="標楷體" pitchFamily="65" charset="-120"/>
                <a:cs typeface="Times New Roman" pitchFamily="18" charset="0"/>
              </a:rPr>
              <a:t> </a:t>
            </a:r>
            <a:r>
              <a:rPr lang="en-US" altLang="zh-TW" sz="3500" dirty="0" smtClean="0">
                <a:ea typeface="標楷體" pitchFamily="65" charset="-120"/>
                <a:cs typeface="Times New Roman" pitchFamily="18" charset="0"/>
              </a:rPr>
              <a:t>5,</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max</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match</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length</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5</a:t>
            </a:r>
            <a:r>
              <a:rPr lang="en-US" altLang="zh-TW" sz="3500" dirty="0">
                <a:ea typeface="標楷體" pitchFamily="65" charset="-120"/>
                <a:cs typeface="Times New Roman" pitchFamily="18" charset="0"/>
              </a:rPr>
              <a:t/>
            </a:r>
            <a:br>
              <a:rPr lang="en-US" altLang="zh-TW" sz="3500" dirty="0">
                <a:ea typeface="標楷體" pitchFamily="65" charset="-120"/>
                <a:cs typeface="Times New Roman" pitchFamily="18" charset="0"/>
              </a:rPr>
            </a:br>
            <a:r>
              <a:rPr lang="en-US" altLang="zh-TW" sz="3500" dirty="0" smtClean="0">
                <a:ea typeface="標楷體" pitchFamily="65" charset="-120"/>
                <a:cs typeface="Times New Roman" pitchFamily="18" charset="0"/>
              </a:rPr>
              <a:t/>
            </a:r>
            <a:br>
              <a:rPr lang="en-US" altLang="zh-TW" sz="3500" dirty="0" smtClean="0">
                <a:ea typeface="標楷體" pitchFamily="65" charset="-120"/>
                <a:cs typeface="Times New Roman" pitchFamily="18" charset="0"/>
              </a:rPr>
            </a:br>
            <a:r>
              <a:rPr lang="en-US" altLang="zh-TW" sz="3500" dirty="0" err="1">
                <a:ea typeface="標楷體" pitchFamily="65" charset="-120"/>
                <a:cs typeface="Times New Roman" pitchFamily="18" charset="0"/>
              </a:rPr>
              <a:t>abcdefgh</a:t>
            </a:r>
            <a:r>
              <a:rPr lang="en-US" altLang="zh-TW" sz="3500" dirty="0" err="1">
                <a:solidFill>
                  <a:srgbClr val="FF0000"/>
                </a:solidFill>
                <a:ea typeface="標楷體" pitchFamily="65" charset="-120"/>
                <a:cs typeface="Times New Roman" pitchFamily="18" charset="0"/>
              </a:rPr>
              <a:t>ijk</a:t>
            </a:r>
            <a:r>
              <a:rPr lang="en-US" altLang="zh-TW" sz="3500" dirty="0" err="1">
                <a:ea typeface="標楷體" pitchFamily="65" charset="-120"/>
                <a:cs typeface="Times New Roman" pitchFamily="18" charset="0"/>
              </a:rPr>
              <a:t>lmuvwxyz</a:t>
            </a:r>
            <a:r>
              <a:rPr lang="en-US" altLang="zh-TW" sz="3500" dirty="0">
                <a:ea typeface="標楷體" pitchFamily="65" charset="-120"/>
                <a:cs typeface="Times New Roman" pitchFamily="18" charset="0"/>
              </a:rPr>
              <a:t>, </a:t>
            </a:r>
            <a:r>
              <a:rPr lang="en-US" altLang="zh-TW" sz="3500" dirty="0" err="1">
                <a:solidFill>
                  <a:srgbClr val="FF0000"/>
                </a:solidFill>
                <a:ea typeface="標楷體" pitchFamily="65" charset="-120"/>
                <a:cs typeface="Times New Roman" pitchFamily="18" charset="0"/>
              </a:rPr>
              <a:t>ijk</a:t>
            </a:r>
            <a:r>
              <a:rPr lang="en-US" altLang="zh-TW" sz="3500" dirty="0" err="1">
                <a:ea typeface="標楷體" pitchFamily="65" charset="-120"/>
                <a:cs typeface="Times New Roman" pitchFamily="18" charset="0"/>
              </a:rPr>
              <a:t>abclmdefghpq</a:t>
            </a:r>
            <a:r>
              <a:rPr lang="en-US" altLang="zh-TW" sz="3500" dirty="0">
                <a:ea typeface="標楷體" pitchFamily="65" charset="-120"/>
                <a:cs typeface="Times New Roman" pitchFamily="18" charset="0"/>
              </a:rPr>
              <a:t/>
            </a:r>
            <a:br>
              <a:rPr lang="en-US" altLang="zh-TW" sz="3500" dirty="0">
                <a:ea typeface="標楷體" pitchFamily="65" charset="-120"/>
                <a:cs typeface="Times New Roman" pitchFamily="18" charset="0"/>
              </a:rPr>
            </a:br>
            <a:r>
              <a:rPr lang="zh-TW" altLang="en-US" sz="3500" dirty="0" smtClean="0">
                <a:ea typeface="標楷體" pitchFamily="65" charset="-120"/>
                <a:cs typeface="Times New Roman" pitchFamily="18" charset="0"/>
              </a:rPr>
              <a:t>找到 </a:t>
            </a:r>
            <a:r>
              <a:rPr lang="en-US" altLang="zh-TW" sz="3500" dirty="0" smtClean="0">
                <a:ea typeface="標楷體" pitchFamily="65" charset="-120"/>
                <a:cs typeface="Times New Roman" pitchFamily="18" charset="0"/>
              </a:rPr>
              <a:t>“</a:t>
            </a:r>
            <a:r>
              <a:rPr lang="en-US" altLang="zh-TW" sz="3500" dirty="0" err="1" smtClean="0">
                <a:ea typeface="標楷體" pitchFamily="65" charset="-120"/>
                <a:cs typeface="Times New Roman" pitchFamily="18" charset="0"/>
              </a:rPr>
              <a:t>ijk</a:t>
            </a:r>
            <a:r>
              <a:rPr lang="en-US" altLang="zh-TW" sz="3500" dirty="0" smtClean="0">
                <a:ea typeface="標楷體" pitchFamily="65" charset="-120"/>
                <a:cs typeface="Times New Roman" pitchFamily="18" charset="0"/>
              </a:rPr>
              <a:t>”,</a:t>
            </a:r>
            <a:r>
              <a:rPr lang="zh-TW" altLang="en-US" sz="3500" dirty="0" smtClean="0">
                <a:ea typeface="標楷體" pitchFamily="65" charset="-120"/>
                <a:cs typeface="Times New Roman" pitchFamily="18" charset="0"/>
              </a:rPr>
              <a:t> </a:t>
            </a:r>
            <a:r>
              <a:rPr lang="en-US" altLang="zh-TW" sz="3500" dirty="0">
                <a:ea typeface="標楷體" pitchFamily="65" charset="-120"/>
                <a:cs typeface="Times New Roman" pitchFamily="18" charset="0"/>
              </a:rPr>
              <a:t>length</a:t>
            </a:r>
            <a:r>
              <a:rPr lang="zh-TW" altLang="en-US" sz="3500" dirty="0">
                <a:ea typeface="標楷體" pitchFamily="65" charset="-120"/>
                <a:cs typeface="Times New Roman" pitchFamily="18" charset="0"/>
              </a:rPr>
              <a:t> </a:t>
            </a:r>
            <a:r>
              <a:rPr lang="en-US" altLang="zh-TW" sz="3500" dirty="0">
                <a:ea typeface="標楷體" pitchFamily="65" charset="-120"/>
                <a:cs typeface="Times New Roman" pitchFamily="18" charset="0"/>
              </a:rPr>
              <a:t>=</a:t>
            </a:r>
            <a:r>
              <a:rPr lang="zh-TW" altLang="en-US" sz="3500" dirty="0">
                <a:ea typeface="標楷體" pitchFamily="65" charset="-120"/>
                <a:cs typeface="Times New Roman" pitchFamily="18" charset="0"/>
              </a:rPr>
              <a:t> </a:t>
            </a:r>
            <a:r>
              <a:rPr lang="en-US" altLang="zh-TW" sz="3500" dirty="0">
                <a:ea typeface="標楷體" pitchFamily="65" charset="-120"/>
                <a:cs typeface="Times New Roman" pitchFamily="18" charset="0"/>
              </a:rPr>
              <a:t>3</a:t>
            </a:r>
            <a:r>
              <a:rPr lang="en-US" altLang="zh-TW" sz="3500" dirty="0" smtClean="0">
                <a:ea typeface="標楷體" pitchFamily="65" charset="-120"/>
                <a:cs typeface="Times New Roman" pitchFamily="18" charset="0"/>
              </a:rPr>
              <a:t>,</a:t>
            </a:r>
            <a:r>
              <a:rPr lang="zh-TW" altLang="en-US" sz="3500" dirty="0" smtClean="0">
                <a:ea typeface="標楷體" pitchFamily="65" charset="-120"/>
                <a:cs typeface="Times New Roman" pitchFamily="18" charset="0"/>
              </a:rPr>
              <a:t> </a:t>
            </a:r>
            <a:r>
              <a:rPr lang="en-US" altLang="zh-TW" sz="3500" dirty="0">
                <a:ea typeface="標楷體" pitchFamily="65" charset="-120"/>
                <a:cs typeface="Times New Roman" pitchFamily="18" charset="0"/>
              </a:rPr>
              <a:t>max</a:t>
            </a:r>
            <a:r>
              <a:rPr lang="zh-TW" altLang="en-US" sz="3500" dirty="0">
                <a:ea typeface="標楷體" pitchFamily="65" charset="-120"/>
                <a:cs typeface="Times New Roman" pitchFamily="18" charset="0"/>
              </a:rPr>
              <a:t> </a:t>
            </a:r>
            <a:r>
              <a:rPr lang="en-US" altLang="zh-TW" sz="3500" dirty="0" smtClean="0">
                <a:ea typeface="標楷體" pitchFamily="65" charset="-120"/>
                <a:cs typeface="Times New Roman" pitchFamily="18" charset="0"/>
              </a:rPr>
              <a:t>match</a:t>
            </a:r>
            <a:r>
              <a:rPr lang="zh-TW" altLang="en-US" sz="3500" dirty="0" smtClean="0">
                <a:ea typeface="標楷體" pitchFamily="65" charset="-120"/>
                <a:cs typeface="Times New Roman" pitchFamily="18" charset="0"/>
              </a:rPr>
              <a:t> </a:t>
            </a:r>
            <a:r>
              <a:rPr lang="en-US" altLang="zh-TW" sz="3500" dirty="0" smtClean="0">
                <a:ea typeface="標楷體" pitchFamily="65" charset="-120"/>
                <a:cs typeface="Times New Roman" pitchFamily="18" charset="0"/>
              </a:rPr>
              <a:t>length</a:t>
            </a:r>
            <a:r>
              <a:rPr lang="zh-TW" altLang="en-US" sz="3500" dirty="0" smtClean="0">
                <a:ea typeface="標楷體" pitchFamily="65" charset="-120"/>
                <a:cs typeface="Times New Roman" pitchFamily="18" charset="0"/>
              </a:rPr>
              <a:t> </a:t>
            </a:r>
            <a:r>
              <a:rPr lang="en-US" altLang="zh-TW" sz="3500" dirty="0">
                <a:ea typeface="標楷體" pitchFamily="65" charset="-120"/>
                <a:cs typeface="Times New Roman" pitchFamily="18" charset="0"/>
              </a:rPr>
              <a:t>=</a:t>
            </a:r>
            <a:r>
              <a:rPr lang="zh-TW" altLang="en-US" sz="3500" dirty="0">
                <a:ea typeface="標楷體" pitchFamily="65" charset="-120"/>
                <a:cs typeface="Times New Roman" pitchFamily="18" charset="0"/>
              </a:rPr>
              <a:t> </a:t>
            </a:r>
            <a:r>
              <a:rPr lang="en-US" altLang="zh-TW" sz="3500" dirty="0" smtClean="0">
                <a:ea typeface="標楷體" pitchFamily="65" charset="-120"/>
                <a:cs typeface="Times New Roman" pitchFamily="18" charset="0"/>
              </a:rPr>
              <a:t>5</a:t>
            </a:r>
            <a:br>
              <a:rPr lang="en-US" altLang="zh-TW" sz="3500" dirty="0" smtClean="0">
                <a:ea typeface="標楷體" pitchFamily="65" charset="-120"/>
                <a:cs typeface="Times New Roman" pitchFamily="18" charset="0"/>
              </a:rPr>
            </a:br>
            <a:r>
              <a:rPr lang="en-US" altLang="zh-TW" sz="3500" dirty="0" smtClean="0">
                <a:ea typeface="標楷體" pitchFamily="65" charset="-120"/>
                <a:cs typeface="Times New Roman" pitchFamily="18" charset="0"/>
              </a:rPr>
              <a:t/>
            </a:r>
            <a:br>
              <a:rPr lang="en-US" altLang="zh-TW" sz="3500" dirty="0" smtClean="0">
                <a:ea typeface="標楷體" pitchFamily="65" charset="-120"/>
                <a:cs typeface="Times New Roman" pitchFamily="18" charset="0"/>
              </a:rPr>
            </a:br>
            <a:r>
              <a:rPr lang="en-US" altLang="zh-TW" sz="3500" dirty="0" err="1">
                <a:ea typeface="標楷體" pitchFamily="65" charset="-120"/>
                <a:cs typeface="Times New Roman" pitchFamily="18" charset="0"/>
              </a:rPr>
              <a:t>abcdefghijk</a:t>
            </a:r>
            <a:r>
              <a:rPr lang="en-US" altLang="zh-TW" sz="3500" dirty="0" err="1">
                <a:solidFill>
                  <a:srgbClr val="FF0000"/>
                </a:solidFill>
                <a:ea typeface="標楷體" pitchFamily="65" charset="-120"/>
                <a:cs typeface="Times New Roman" pitchFamily="18" charset="0"/>
              </a:rPr>
              <a:t>lm</a:t>
            </a:r>
            <a:r>
              <a:rPr lang="en-US" altLang="zh-TW" sz="3500" dirty="0" err="1">
                <a:ea typeface="標楷體" pitchFamily="65" charset="-120"/>
                <a:cs typeface="Times New Roman" pitchFamily="18" charset="0"/>
              </a:rPr>
              <a:t>uvwxyz</a:t>
            </a:r>
            <a:r>
              <a:rPr lang="en-US" altLang="zh-TW" sz="3500" dirty="0">
                <a:ea typeface="標楷體" pitchFamily="65" charset="-120"/>
                <a:cs typeface="Times New Roman" pitchFamily="18" charset="0"/>
              </a:rPr>
              <a:t>, </a:t>
            </a:r>
            <a:r>
              <a:rPr lang="en-US" altLang="zh-TW" sz="3500" dirty="0" err="1">
                <a:ea typeface="標楷體" pitchFamily="65" charset="-120"/>
                <a:cs typeface="Times New Roman" pitchFamily="18" charset="0"/>
              </a:rPr>
              <a:t>ijkabc</a:t>
            </a:r>
            <a:r>
              <a:rPr lang="en-US" altLang="zh-TW" sz="3500" dirty="0" err="1">
                <a:solidFill>
                  <a:srgbClr val="FF0000"/>
                </a:solidFill>
                <a:ea typeface="標楷體" pitchFamily="65" charset="-120"/>
                <a:cs typeface="Times New Roman" pitchFamily="18" charset="0"/>
              </a:rPr>
              <a:t>lm</a:t>
            </a:r>
            <a:r>
              <a:rPr lang="en-US" altLang="zh-TW" sz="3500" dirty="0" err="1">
                <a:ea typeface="標楷體" pitchFamily="65" charset="-120"/>
                <a:cs typeface="Times New Roman" pitchFamily="18" charset="0"/>
              </a:rPr>
              <a:t>defghpq</a:t>
            </a:r>
            <a:r>
              <a:rPr lang="en-US" altLang="zh-TW" sz="3500" dirty="0">
                <a:ea typeface="標楷體" pitchFamily="65" charset="-120"/>
                <a:cs typeface="Times New Roman" pitchFamily="18" charset="0"/>
              </a:rPr>
              <a:t/>
            </a:r>
            <a:br>
              <a:rPr lang="en-US" altLang="zh-TW" sz="3500" dirty="0">
                <a:ea typeface="標楷體" pitchFamily="65" charset="-120"/>
                <a:cs typeface="Times New Roman" pitchFamily="18" charset="0"/>
              </a:rPr>
            </a:br>
            <a:r>
              <a:rPr lang="zh-TW" altLang="en-US" sz="3500" dirty="0" smtClean="0">
                <a:ea typeface="標楷體" pitchFamily="65" charset="-120"/>
                <a:cs typeface="Times New Roman" pitchFamily="18" charset="0"/>
              </a:rPr>
              <a:t>找到 </a:t>
            </a:r>
            <a:r>
              <a:rPr lang="en-US" altLang="zh-TW" sz="3500" dirty="0" smtClean="0">
                <a:ea typeface="標楷體" pitchFamily="65" charset="-120"/>
                <a:cs typeface="Times New Roman" pitchFamily="18" charset="0"/>
              </a:rPr>
              <a:t>“lm”,</a:t>
            </a:r>
            <a:r>
              <a:rPr lang="zh-TW" altLang="en-US" sz="3500" dirty="0" smtClean="0">
                <a:ea typeface="標楷體" pitchFamily="65" charset="-120"/>
                <a:cs typeface="Times New Roman" pitchFamily="18" charset="0"/>
              </a:rPr>
              <a:t> </a:t>
            </a:r>
            <a:r>
              <a:rPr lang="en-US" altLang="zh-TW" sz="3500" dirty="0">
                <a:ea typeface="標楷體" pitchFamily="65" charset="-120"/>
                <a:cs typeface="Times New Roman" pitchFamily="18" charset="0"/>
              </a:rPr>
              <a:t>length</a:t>
            </a:r>
            <a:r>
              <a:rPr lang="zh-TW" altLang="en-US" sz="3500" dirty="0">
                <a:ea typeface="標楷體" pitchFamily="65" charset="-120"/>
                <a:cs typeface="Times New Roman" pitchFamily="18" charset="0"/>
              </a:rPr>
              <a:t> </a:t>
            </a:r>
            <a:r>
              <a:rPr lang="en-US" altLang="zh-TW" sz="3500" dirty="0">
                <a:ea typeface="標楷體" pitchFamily="65" charset="-120"/>
                <a:cs typeface="Times New Roman" pitchFamily="18" charset="0"/>
              </a:rPr>
              <a:t>=</a:t>
            </a:r>
            <a:r>
              <a:rPr lang="zh-TW" altLang="en-US" sz="3500" dirty="0">
                <a:ea typeface="標楷體" pitchFamily="65" charset="-120"/>
                <a:cs typeface="Times New Roman" pitchFamily="18" charset="0"/>
              </a:rPr>
              <a:t> </a:t>
            </a:r>
            <a:r>
              <a:rPr lang="en-US" altLang="zh-TW" sz="3500" dirty="0" smtClean="0">
                <a:ea typeface="標楷體" pitchFamily="65" charset="-120"/>
                <a:cs typeface="Times New Roman" pitchFamily="18" charset="0"/>
              </a:rPr>
              <a:t>2,</a:t>
            </a:r>
            <a:r>
              <a:rPr lang="zh-TW" altLang="en-US" sz="3500" dirty="0" smtClean="0">
                <a:ea typeface="標楷體" pitchFamily="65" charset="-120"/>
                <a:cs typeface="Times New Roman" pitchFamily="18" charset="0"/>
              </a:rPr>
              <a:t> </a:t>
            </a:r>
            <a:r>
              <a:rPr lang="en-US" altLang="zh-TW" sz="3500" dirty="0">
                <a:ea typeface="標楷體" pitchFamily="65" charset="-120"/>
                <a:cs typeface="Times New Roman" pitchFamily="18" charset="0"/>
              </a:rPr>
              <a:t>max</a:t>
            </a:r>
            <a:r>
              <a:rPr lang="zh-TW" altLang="en-US" sz="3500" dirty="0">
                <a:ea typeface="標楷體" pitchFamily="65" charset="-120"/>
                <a:cs typeface="Times New Roman" pitchFamily="18" charset="0"/>
              </a:rPr>
              <a:t> </a:t>
            </a:r>
            <a:r>
              <a:rPr lang="en-US" altLang="zh-TW" sz="3500" dirty="0">
                <a:ea typeface="標楷體" pitchFamily="65" charset="-120"/>
                <a:cs typeface="Times New Roman" pitchFamily="18" charset="0"/>
              </a:rPr>
              <a:t>match</a:t>
            </a:r>
            <a:r>
              <a:rPr lang="zh-TW" altLang="en-US" sz="3500" dirty="0">
                <a:ea typeface="標楷體" pitchFamily="65" charset="-120"/>
                <a:cs typeface="Times New Roman" pitchFamily="18" charset="0"/>
              </a:rPr>
              <a:t> </a:t>
            </a:r>
            <a:r>
              <a:rPr lang="en-US" altLang="zh-TW" sz="3500" dirty="0">
                <a:ea typeface="標楷體" pitchFamily="65" charset="-120"/>
                <a:cs typeface="Times New Roman" pitchFamily="18" charset="0"/>
              </a:rPr>
              <a:t>length</a:t>
            </a:r>
            <a:r>
              <a:rPr lang="zh-TW" altLang="en-US" sz="3500" dirty="0">
                <a:ea typeface="標楷體" pitchFamily="65" charset="-120"/>
                <a:cs typeface="Times New Roman" pitchFamily="18" charset="0"/>
              </a:rPr>
              <a:t> </a:t>
            </a:r>
            <a:r>
              <a:rPr lang="en-US" altLang="zh-TW" sz="3500" dirty="0">
                <a:ea typeface="標楷體" pitchFamily="65" charset="-120"/>
                <a:cs typeface="Times New Roman" pitchFamily="18" charset="0"/>
              </a:rPr>
              <a:t>=</a:t>
            </a:r>
            <a:r>
              <a:rPr lang="zh-TW" altLang="en-US" sz="3500" dirty="0">
                <a:ea typeface="標楷體" pitchFamily="65" charset="-120"/>
                <a:cs typeface="Times New Roman" pitchFamily="18" charset="0"/>
              </a:rPr>
              <a:t> </a:t>
            </a:r>
            <a:r>
              <a:rPr lang="en-US" altLang="zh-TW" sz="3500" dirty="0">
                <a:ea typeface="標楷體" pitchFamily="65" charset="-120"/>
                <a:cs typeface="Times New Roman" pitchFamily="18" charset="0"/>
              </a:rPr>
              <a:t>5</a:t>
            </a:r>
            <a:r>
              <a:rPr lang="en-US" altLang="zh-TW" dirty="0">
                <a:ea typeface="標楷體" pitchFamily="65" charset="-120"/>
                <a:cs typeface="Times New Roman" pitchFamily="18" charset="0"/>
              </a:rPr>
              <a:t/>
            </a:r>
            <a:br>
              <a:rPr lang="en-US" altLang="zh-TW" dirty="0">
                <a:ea typeface="標楷體" pitchFamily="65" charset="-120"/>
                <a:cs typeface="Times New Roman" pitchFamily="18" charset="0"/>
              </a:rPr>
            </a:br>
            <a:endParaRPr lang="zh-TW" altLang="en-US" dirty="0">
              <a:ea typeface="標楷體" pitchFamily="65" charset="-120"/>
              <a:cs typeface="Times New Roman" pitchFamily="18" charset="0"/>
            </a:endParaRPr>
          </a:p>
        </p:txBody>
      </p:sp>
    </p:spTree>
    <p:extLst>
      <p:ext uri="{BB962C8B-B14F-4D97-AF65-F5344CB8AC3E}">
        <p14:creationId xmlns:p14="http://schemas.microsoft.com/office/powerpoint/2010/main" val="1505401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Greedy String Tiling(GST)</a:t>
            </a:r>
            <a:endParaRPr lang="zh-TW" altLang="en-US" dirty="0"/>
          </a:p>
        </p:txBody>
      </p:sp>
      <p:sp>
        <p:nvSpPr>
          <p:cNvPr id="3" name="內容版面配置區 2"/>
          <p:cNvSpPr>
            <a:spLocks noGrp="1"/>
          </p:cNvSpPr>
          <p:nvPr>
            <p:ph idx="1"/>
          </p:nvPr>
        </p:nvSpPr>
        <p:spPr/>
        <p:txBody>
          <a:bodyPr/>
          <a:lstStyle/>
          <a:p>
            <a:r>
              <a:rPr lang="zh-TW" altLang="en-US" dirty="0" smtClean="0">
                <a:ea typeface="標楷體" pitchFamily="65" charset="-120"/>
              </a:rPr>
              <a:t>將找到的最長</a:t>
            </a:r>
            <a:r>
              <a:rPr lang="en-US" altLang="zh-TW" dirty="0" smtClean="0">
                <a:ea typeface="標楷體" pitchFamily="65" charset="-120"/>
              </a:rPr>
              <a:t>match substring</a:t>
            </a:r>
            <a:r>
              <a:rPr lang="zh-TW" altLang="en-US" dirty="0" smtClean="0">
                <a:ea typeface="標楷體" pitchFamily="65" charset="-120"/>
              </a:rPr>
              <a:t>標記為已使用，重複搜尋子字串，不對已標記之子字串進行搜索，直到</a:t>
            </a:r>
            <a:r>
              <a:rPr lang="zh-TW" altLang="en-US" dirty="0">
                <a:ea typeface="標楷體" pitchFamily="65" charset="-120"/>
              </a:rPr>
              <a:t>找到的</a:t>
            </a:r>
            <a:r>
              <a:rPr lang="en-US" altLang="zh-TW" dirty="0" smtClean="0">
                <a:ea typeface="標楷體" pitchFamily="65" charset="-120"/>
              </a:rPr>
              <a:t>max match length</a:t>
            </a:r>
            <a:r>
              <a:rPr lang="zh-TW" altLang="en-US" dirty="0" smtClean="0">
                <a:ea typeface="標楷體" pitchFamily="65" charset="-120"/>
              </a:rPr>
              <a:t>為設定的最小</a:t>
            </a:r>
            <a:r>
              <a:rPr lang="en-US" altLang="zh-TW" dirty="0" smtClean="0">
                <a:ea typeface="標楷體" pitchFamily="65" charset="-120"/>
              </a:rPr>
              <a:t>match length</a:t>
            </a:r>
            <a:r>
              <a:rPr lang="zh-TW" altLang="en-US" dirty="0" smtClean="0">
                <a:ea typeface="標楷體" pitchFamily="65" charset="-120"/>
              </a:rPr>
              <a:t>。</a:t>
            </a:r>
            <a:endParaRPr lang="zh-TW" altLang="en-US" dirty="0">
              <a:ea typeface="標楷體" pitchFamily="65" charset="-120"/>
            </a:endParaRPr>
          </a:p>
        </p:txBody>
      </p:sp>
    </p:spTree>
    <p:extLst>
      <p:ext uri="{BB962C8B-B14F-4D97-AF65-F5344CB8AC3E}">
        <p14:creationId xmlns:p14="http://schemas.microsoft.com/office/powerpoint/2010/main" val="1971040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Running-Karp-Rabin </a:t>
            </a:r>
            <a:r>
              <a:rPr lang="en-US" altLang="zh-TW" dirty="0"/>
              <a:t>Greedy-String-Tiling (RKR-GST) </a:t>
            </a:r>
            <a:endParaRPr lang="zh-TW" altLang="en-US" dirty="0"/>
          </a:p>
        </p:txBody>
      </p:sp>
      <p:sp>
        <p:nvSpPr>
          <p:cNvPr id="3" name="內容版面配置區 2"/>
          <p:cNvSpPr>
            <a:spLocks noGrp="1"/>
          </p:cNvSpPr>
          <p:nvPr>
            <p:ph idx="1"/>
          </p:nvPr>
        </p:nvSpPr>
        <p:spPr>
          <a:xfrm>
            <a:off x="457200" y="1600200"/>
            <a:ext cx="8229600" cy="5069160"/>
          </a:xfrm>
        </p:spPr>
        <p:txBody>
          <a:bodyPr/>
          <a:lstStyle/>
          <a:p>
            <a:r>
              <a:rPr lang="zh-TW" altLang="en-US" dirty="0">
                <a:ea typeface="標楷體" pitchFamily="65" charset="-120"/>
              </a:rPr>
              <a:t>將</a:t>
            </a:r>
            <a:r>
              <a:rPr lang="en-US" altLang="zh-TW" dirty="0" smtClean="0">
                <a:ea typeface="標楷體" pitchFamily="65" charset="-120"/>
              </a:rPr>
              <a:t>hash</a:t>
            </a:r>
            <a:r>
              <a:rPr lang="zh-TW" altLang="en-US" dirty="0" smtClean="0">
                <a:ea typeface="標楷體" pitchFamily="65" charset="-120"/>
              </a:rPr>
              <a:t> </a:t>
            </a:r>
            <a:r>
              <a:rPr lang="en-US" altLang="zh-TW" dirty="0" smtClean="0">
                <a:ea typeface="標楷體" pitchFamily="65" charset="-120"/>
              </a:rPr>
              <a:t>function</a:t>
            </a:r>
            <a:r>
              <a:rPr lang="zh-TW" altLang="en-US" dirty="0" smtClean="0">
                <a:ea typeface="標楷體" pitchFamily="65" charset="-120"/>
              </a:rPr>
              <a:t>引入</a:t>
            </a:r>
            <a:r>
              <a:rPr lang="en-US" altLang="zh-TW" dirty="0" smtClean="0">
                <a:ea typeface="標楷體" pitchFamily="65" charset="-120"/>
              </a:rPr>
              <a:t>GST</a:t>
            </a:r>
            <a:r>
              <a:rPr lang="zh-TW" altLang="en-US" dirty="0" smtClean="0">
                <a:ea typeface="標楷體" pitchFamily="65" charset="-120"/>
              </a:rPr>
              <a:t>，計算</a:t>
            </a:r>
            <a:r>
              <a:rPr lang="en-US" altLang="zh-TW" dirty="0" smtClean="0">
                <a:ea typeface="標楷體" pitchFamily="65" charset="-120"/>
              </a:rPr>
              <a:t>pattern string </a:t>
            </a:r>
            <a:r>
              <a:rPr lang="zh-TW" altLang="en-US" dirty="0" smtClean="0">
                <a:ea typeface="標楷體" pitchFamily="65" charset="-120"/>
              </a:rPr>
              <a:t>及</a:t>
            </a:r>
            <a:r>
              <a:rPr lang="en-US" altLang="zh-TW" dirty="0" smtClean="0">
                <a:ea typeface="標楷體" pitchFamily="65" charset="-120"/>
              </a:rPr>
              <a:t>source text</a:t>
            </a:r>
            <a:r>
              <a:rPr lang="zh-TW" altLang="en-US" dirty="0" smtClean="0">
                <a:ea typeface="標楷體" pitchFamily="65" charset="-120"/>
              </a:rPr>
              <a:t>所有長度為</a:t>
            </a:r>
            <a:r>
              <a:rPr lang="en-US" altLang="zh-TW" dirty="0" smtClean="0">
                <a:ea typeface="標楷體" pitchFamily="65" charset="-120"/>
              </a:rPr>
              <a:t>m</a:t>
            </a:r>
            <a:r>
              <a:rPr lang="zh-TW" altLang="en-US" dirty="0" smtClean="0">
                <a:ea typeface="標楷體" pitchFamily="65" charset="-120"/>
              </a:rPr>
              <a:t>之子字串賦予一個</a:t>
            </a:r>
            <a:r>
              <a:rPr lang="en-US" altLang="zh-TW" dirty="0" smtClean="0">
                <a:ea typeface="標楷體" pitchFamily="65" charset="-120"/>
              </a:rPr>
              <a:t>hash</a:t>
            </a:r>
            <a:r>
              <a:rPr lang="zh-TW" altLang="en-US" dirty="0" smtClean="0">
                <a:ea typeface="標楷體" pitchFamily="65" charset="-120"/>
              </a:rPr>
              <a:t>值</a:t>
            </a:r>
            <a:endParaRPr lang="en-US" altLang="zh-TW" dirty="0" smtClean="0">
              <a:ea typeface="標楷體" pitchFamily="65" charset="-120"/>
            </a:endParaRPr>
          </a:p>
          <a:p>
            <a:r>
              <a:rPr lang="en-US" altLang="zh-TW" dirty="0" smtClean="0">
                <a:ea typeface="標楷體" pitchFamily="65" charset="-120"/>
              </a:rPr>
              <a:t>Pattern </a:t>
            </a:r>
            <a:r>
              <a:rPr lang="zh-TW" altLang="en-US" dirty="0" smtClean="0">
                <a:ea typeface="標楷體" pitchFamily="65" charset="-120"/>
              </a:rPr>
              <a:t>中所有</a:t>
            </a:r>
            <a:r>
              <a:rPr lang="en-US" altLang="zh-TW" dirty="0" smtClean="0">
                <a:ea typeface="標楷體" pitchFamily="65" charset="-120"/>
              </a:rPr>
              <a:t>hash</a:t>
            </a:r>
            <a:r>
              <a:rPr lang="zh-TW" altLang="en-US" dirty="0" smtClean="0">
                <a:ea typeface="標楷體" pitchFamily="65" charset="-120"/>
              </a:rPr>
              <a:t>值與</a:t>
            </a:r>
            <a:r>
              <a:rPr lang="en-US" altLang="zh-TW" dirty="0" smtClean="0">
                <a:ea typeface="標楷體" pitchFamily="65" charset="-120"/>
              </a:rPr>
              <a:t>text</a:t>
            </a:r>
            <a:r>
              <a:rPr lang="zh-TW" altLang="en-US" dirty="0" smtClean="0">
                <a:ea typeface="標楷體" pitchFamily="65" charset="-120"/>
              </a:rPr>
              <a:t>中的</a:t>
            </a:r>
            <a:r>
              <a:rPr lang="en-US" altLang="zh-TW" dirty="0" smtClean="0">
                <a:ea typeface="標楷體" pitchFamily="65" charset="-120"/>
              </a:rPr>
              <a:t>hash</a:t>
            </a:r>
            <a:r>
              <a:rPr lang="zh-TW" altLang="en-US" dirty="0" smtClean="0">
                <a:ea typeface="標楷體" pitchFamily="65" charset="-120"/>
              </a:rPr>
              <a:t>值進行比較，</a:t>
            </a:r>
            <a:r>
              <a:rPr lang="en-US" altLang="zh-TW" dirty="0" smtClean="0">
                <a:ea typeface="標楷體" pitchFamily="65" charset="-120"/>
              </a:rPr>
              <a:t>hash</a:t>
            </a:r>
            <a:r>
              <a:rPr lang="zh-TW" altLang="en-US" dirty="0" smtClean="0">
                <a:ea typeface="標楷體" pitchFamily="65" charset="-120"/>
              </a:rPr>
              <a:t>值相同的</a:t>
            </a:r>
            <a:r>
              <a:rPr lang="en-US" altLang="zh-TW" dirty="0" smtClean="0">
                <a:ea typeface="標楷體" pitchFamily="65" charset="-120"/>
              </a:rPr>
              <a:t>text</a:t>
            </a:r>
            <a:r>
              <a:rPr lang="zh-TW" altLang="en-US" dirty="0" smtClean="0">
                <a:ea typeface="標楷體" pitchFamily="65" charset="-120"/>
              </a:rPr>
              <a:t>與</a:t>
            </a:r>
            <a:r>
              <a:rPr lang="en-US" altLang="zh-TW" dirty="0" smtClean="0">
                <a:ea typeface="標楷體" pitchFamily="65" charset="-120"/>
              </a:rPr>
              <a:t>pattern</a:t>
            </a:r>
            <a:r>
              <a:rPr lang="zh-TW" altLang="en-US" dirty="0" smtClean="0">
                <a:ea typeface="標楷體" pitchFamily="65" charset="-120"/>
              </a:rPr>
              <a:t>在進行</a:t>
            </a:r>
            <a:r>
              <a:rPr lang="en-US" altLang="zh-TW" dirty="0" smtClean="0">
                <a:ea typeface="標楷體" pitchFamily="65" charset="-120"/>
              </a:rPr>
              <a:t>token</a:t>
            </a:r>
            <a:r>
              <a:rPr lang="zh-TW" altLang="en-US" dirty="0" smtClean="0">
                <a:ea typeface="標楷體" pitchFamily="65" charset="-120"/>
              </a:rPr>
              <a:t>的比較</a:t>
            </a:r>
            <a:endParaRPr lang="en-US" altLang="zh-TW" dirty="0" smtClean="0">
              <a:ea typeface="標楷體" pitchFamily="65" charset="-120"/>
            </a:endParaRPr>
          </a:p>
          <a:p>
            <a:r>
              <a:rPr lang="en-US" altLang="zh-TW" dirty="0" smtClean="0">
                <a:ea typeface="標楷體" pitchFamily="65" charset="-120"/>
              </a:rPr>
              <a:t>Text</a:t>
            </a:r>
            <a:r>
              <a:rPr lang="zh-TW" altLang="en-US" dirty="0" smtClean="0">
                <a:ea typeface="標楷體" pitchFamily="65" charset="-120"/>
              </a:rPr>
              <a:t>中的所有的</a:t>
            </a:r>
            <a:r>
              <a:rPr lang="en-US" altLang="zh-TW" dirty="0" smtClean="0">
                <a:ea typeface="標楷體" pitchFamily="65" charset="-120"/>
              </a:rPr>
              <a:t>hash</a:t>
            </a:r>
            <a:r>
              <a:rPr lang="zh-TW" altLang="en-US" dirty="0" smtClean="0">
                <a:ea typeface="標楷體" pitchFamily="65" charset="-120"/>
              </a:rPr>
              <a:t>值建成</a:t>
            </a:r>
            <a:r>
              <a:rPr lang="en-US" altLang="zh-TW" dirty="0" smtClean="0">
                <a:ea typeface="標楷體" pitchFamily="65" charset="-120"/>
              </a:rPr>
              <a:t>hash</a:t>
            </a:r>
            <a:r>
              <a:rPr lang="zh-TW" altLang="en-US" dirty="0" smtClean="0">
                <a:ea typeface="標楷體" pitchFamily="65" charset="-120"/>
              </a:rPr>
              <a:t>表存放，使用查表的方法，減少搜索的時間</a:t>
            </a:r>
            <a:endParaRPr lang="en-US" altLang="zh-TW" dirty="0" smtClean="0">
              <a:ea typeface="標楷體" pitchFamily="65" charset="-120"/>
            </a:endParaRPr>
          </a:p>
          <a:p>
            <a:endParaRPr lang="zh-TW" altLang="en-US" dirty="0"/>
          </a:p>
        </p:txBody>
      </p:sp>
    </p:spTree>
    <p:extLst>
      <p:ext uri="{BB962C8B-B14F-4D97-AF65-F5344CB8AC3E}">
        <p14:creationId xmlns:p14="http://schemas.microsoft.com/office/powerpoint/2010/main" val="2292178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Comparing The </a:t>
            </a:r>
            <a:r>
              <a:rPr lang="en-US" altLang="zh-TW" dirty="0"/>
              <a:t>YAP </a:t>
            </a:r>
            <a:r>
              <a:rPr lang="en-US" altLang="zh-TW" dirty="0" smtClean="0"/>
              <a:t>Versions</a:t>
            </a:r>
            <a:endParaRPr lang="zh-TW" altLang="en-US" dirty="0"/>
          </a:p>
        </p:txBody>
      </p:sp>
      <p:pic>
        <p:nvPicPr>
          <p:cNvPr id="1026" name="Picture 2" descr="C:\Users\yotsuki\Desktop\擷取.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422" y="1862249"/>
            <a:ext cx="7709010"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93983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637</TotalTime>
  <Words>413</Words>
  <Application>Microsoft Office PowerPoint</Application>
  <PresentationFormat>如螢幕大小 (4:3)</PresentationFormat>
  <Paragraphs>34</Paragraphs>
  <Slides>10</Slides>
  <Notes>0</Notes>
  <HiddenSlides>0</HiddenSlides>
  <MMClips>0</MMClips>
  <ScaleCrop>false</ScaleCrop>
  <HeadingPairs>
    <vt:vector size="4" baseType="variant">
      <vt:variant>
        <vt:lpstr>佈景主題</vt:lpstr>
      </vt:variant>
      <vt:variant>
        <vt:i4>1</vt:i4>
      </vt:variant>
      <vt:variant>
        <vt:lpstr>投影片標題</vt:lpstr>
      </vt:variant>
      <vt:variant>
        <vt:i4>10</vt:i4>
      </vt:variant>
    </vt:vector>
  </HeadingPairs>
  <TitlesOfParts>
    <vt:vector size="11" baseType="lpstr">
      <vt:lpstr>Office 佈景主題</vt:lpstr>
      <vt:lpstr>YAP3: Improve Detection of Similarities in Computer Program and Other Texts</vt:lpstr>
      <vt:lpstr>Abstract</vt:lpstr>
      <vt:lpstr>Abstract</vt:lpstr>
      <vt:lpstr>YAP3</vt:lpstr>
      <vt:lpstr>YAP3</vt:lpstr>
      <vt:lpstr>Greedy String Tiling(GST)</vt:lpstr>
      <vt:lpstr>Greedy String Tiling(GST)</vt:lpstr>
      <vt:lpstr>Greedy String Tiling(GST)</vt:lpstr>
      <vt:lpstr>Running-Karp-Rabin Greedy-String-Tiling (RKR-GST) </vt:lpstr>
      <vt:lpstr>Comparing The YAP Versions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yotsuki</dc:creator>
  <cp:lastModifiedBy>yotsuki</cp:lastModifiedBy>
  <cp:revision>43</cp:revision>
  <dcterms:created xsi:type="dcterms:W3CDTF">2014-04-16T08:11:09Z</dcterms:created>
  <dcterms:modified xsi:type="dcterms:W3CDTF">2014-04-21T14:28:41Z</dcterms:modified>
</cp:coreProperties>
</file>