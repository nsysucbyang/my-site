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80" r:id="rId6"/>
    <p:sldId id="281" r:id="rId7"/>
    <p:sldId id="261" r:id="rId8"/>
    <p:sldId id="263" r:id="rId9"/>
    <p:sldId id="264" r:id="rId10"/>
    <p:sldId id="265" r:id="rId11"/>
    <p:sldId id="266" r:id="rId12"/>
    <p:sldId id="279" r:id="rId13"/>
    <p:sldId id="267" r:id="rId14"/>
    <p:sldId id="269" r:id="rId15"/>
    <p:sldId id="270" r:id="rId16"/>
    <p:sldId id="268" r:id="rId17"/>
    <p:sldId id="274" r:id="rId18"/>
    <p:sldId id="282" r:id="rId19"/>
    <p:sldId id="273" r:id="rId20"/>
    <p:sldId id="278" r:id="rId21"/>
    <p:sldId id="275" r:id="rId22"/>
    <p:sldId id="272" r:id="rId2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9910" autoAdjust="0"/>
  </p:normalViewPr>
  <p:slideViewPr>
    <p:cSldViewPr snapToGrid="0">
      <p:cViewPr varScale="1">
        <p:scale>
          <a:sx n="67" d="100"/>
          <a:sy n="67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1ABA3-8980-4764-B6A9-D3D92B081718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47F39-62A0-464E-8143-EB35CE385A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296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排列組合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E47F39-62A0-464E-8143-EB35CE385AE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614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希望</a:t>
            </a:r>
            <a:r>
              <a:rPr lang="en-US" altLang="zh-TW" dirty="0" smtClean="0"/>
              <a:t>PSD</a:t>
            </a:r>
            <a:r>
              <a:rPr lang="zh-TW" altLang="en-US" dirty="0" smtClean="0"/>
              <a:t> 越小越好 ，因為</a:t>
            </a:r>
            <a:r>
              <a:rPr lang="en-US" altLang="zh-TW" dirty="0" smtClean="0"/>
              <a:t>PSD=minimal tree lengths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E47F39-62A0-464E-8143-EB35CE385AE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976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39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52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20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884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8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67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186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816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757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8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78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F4082-3A48-4329-B6C9-A7CE6400C633}" type="datetimeFigureOut">
              <a:rPr lang="zh-TW" altLang="en-US" smtClean="0"/>
              <a:t>2014/4/20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FADDF-A92C-4A40-BDF7-793EE800EB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73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/>
              <a:t>Aligning Amino Acid Sequences: Comparison of Commonly Used Methods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sz="2000" dirty="0"/>
              <a:t>D.F. Feng, M.S. Johnson, and R.F. </a:t>
            </a:r>
            <a:r>
              <a:rPr lang="en-US" altLang="zh-TW" sz="2000" dirty="0" smtClean="0"/>
              <a:t>Doolittle</a:t>
            </a:r>
            <a:endParaRPr lang="en-US" altLang="zh-TW" sz="2000" dirty="0"/>
          </a:p>
          <a:p>
            <a:pPr algn="r"/>
            <a:r>
              <a:rPr lang="en-US" altLang="zh-TW" sz="2000" dirty="0" smtClean="0"/>
              <a:t>Journal of Molecular Evolution</a:t>
            </a:r>
            <a:r>
              <a:rPr lang="nl-NL" altLang="zh-TW" sz="2000" dirty="0" smtClean="0"/>
              <a:t>(1985</a:t>
            </a:r>
            <a:r>
              <a:rPr lang="nl-NL" altLang="zh-TW" sz="2000" dirty="0"/>
              <a:t>) </a:t>
            </a:r>
            <a:r>
              <a:rPr lang="nl-NL" altLang="zh-TW" sz="2000" dirty="0" smtClean="0"/>
              <a:t>21:112-125</a:t>
            </a:r>
          </a:p>
          <a:p>
            <a:pPr algn="r"/>
            <a:r>
              <a:rPr lang="nl-NL" altLang="zh-TW" sz="2000" dirty="0" smtClean="0"/>
              <a:t>Presenter:Ding-Yao Huang</a:t>
            </a:r>
          </a:p>
          <a:p>
            <a:pPr algn="r"/>
            <a:r>
              <a:rPr lang="nl-NL" altLang="zh-TW" sz="2000" dirty="0" smtClean="0"/>
              <a:t>Date:2014/04/22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9631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0647" y="1448643"/>
            <a:ext cx="8202705" cy="4602534"/>
          </a:xfrm>
        </p:spPr>
        <p:txBody>
          <a:bodyPr>
            <a:noAutofit/>
          </a:bodyPr>
          <a:lstStyle/>
          <a:p>
            <a:r>
              <a:rPr lang="en-US" altLang="zh-TW" sz="2200" b="1" dirty="0"/>
              <a:t>We examined two extensive families </a:t>
            </a:r>
            <a:r>
              <a:rPr lang="en-US" altLang="zh-TW" sz="2200" b="1" dirty="0" smtClean="0"/>
              <a:t>of protein </a:t>
            </a:r>
            <a:r>
              <a:rPr lang="en-US" altLang="zh-TW" sz="2200" b="1" dirty="0"/>
              <a:t>sequences using four different </a:t>
            </a:r>
            <a:r>
              <a:rPr lang="en-US" altLang="zh-TW" sz="2200" b="1" dirty="0" smtClean="0"/>
              <a:t>alignment schemes </a:t>
            </a:r>
            <a:r>
              <a:rPr lang="en-US" altLang="zh-TW" sz="2200" b="1" dirty="0"/>
              <a:t>that employ various degrees </a:t>
            </a:r>
            <a:r>
              <a:rPr lang="en-US" altLang="zh-TW" sz="2200" b="1" dirty="0" smtClean="0"/>
              <a:t>of "weighting“ in </a:t>
            </a:r>
            <a:r>
              <a:rPr lang="en-US" altLang="zh-TW" sz="2200" b="1" dirty="0"/>
              <a:t>order to determine which approach is most </a:t>
            </a:r>
            <a:r>
              <a:rPr lang="en-US" altLang="zh-TW" sz="2200" b="1" dirty="0" smtClean="0"/>
              <a:t>sensitive in </a:t>
            </a:r>
            <a:r>
              <a:rPr lang="en-US" altLang="zh-TW" sz="2200" b="1" dirty="0"/>
              <a:t>establishing relationships. </a:t>
            </a:r>
            <a:endParaRPr lang="en-US" altLang="zh-TW" sz="2200" b="1" dirty="0" smtClean="0"/>
          </a:p>
          <a:p>
            <a:pPr marL="0" indent="0">
              <a:buNone/>
            </a:pPr>
            <a:endParaRPr lang="en-US" altLang="zh-TW" sz="2200" b="1" dirty="0" smtClean="0"/>
          </a:p>
          <a:p>
            <a:r>
              <a:rPr lang="en-US" altLang="zh-TW" sz="2200" b="1" dirty="0" smtClean="0"/>
              <a:t>All alignments used a similarity approach based on a general algorithm devised by Needleman and </a:t>
            </a:r>
            <a:r>
              <a:rPr lang="en-US" altLang="zh-TW" sz="2200" b="1" dirty="0" err="1" smtClean="0"/>
              <a:t>Wunsch</a:t>
            </a:r>
            <a:r>
              <a:rPr lang="en-US" altLang="zh-TW" sz="2200" b="1" dirty="0" smtClean="0"/>
              <a:t>. The approaches </a:t>
            </a:r>
            <a:r>
              <a:rPr lang="en-US" altLang="zh-TW" sz="2200" b="1" dirty="0"/>
              <a:t>included a simple program, </a:t>
            </a:r>
            <a:r>
              <a:rPr lang="en-US" altLang="zh-TW" sz="2200" b="1" dirty="0" smtClean="0"/>
              <a:t>UM (unitary matrix), whereby only identities are scored; a scheme in which the genetic code is used as a basis for weighting (GC); another that employs a matrix based on structural similarity of amino acids taken together with the genetic basis of mutation (SG); and a fourth that uses the empirical log-odds matrix (LOM) developed by </a:t>
            </a:r>
            <a:r>
              <a:rPr lang="en-US" altLang="zh-TW" sz="2200" b="1" dirty="0" err="1" smtClean="0"/>
              <a:t>Dayhoff</a:t>
            </a:r>
            <a:r>
              <a:rPr lang="en-US" altLang="zh-TW" sz="2200" b="1" dirty="0" smtClean="0"/>
              <a:t> on the basis of observed amino acid replacements.</a:t>
            </a:r>
          </a:p>
        </p:txBody>
      </p:sp>
    </p:spTree>
    <p:extLst>
      <p:ext uri="{BB962C8B-B14F-4D97-AF65-F5344CB8AC3E}">
        <p14:creationId xmlns:p14="http://schemas.microsoft.com/office/powerpoint/2010/main" val="236419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2072" y="1556684"/>
            <a:ext cx="8259856" cy="4351338"/>
          </a:xfrm>
        </p:spPr>
        <p:txBody>
          <a:bodyPr>
            <a:noAutofit/>
          </a:bodyPr>
          <a:lstStyle/>
          <a:p>
            <a:r>
              <a:rPr lang="en-US" altLang="zh-TW" sz="2200" b="1" dirty="0"/>
              <a:t>The two </a:t>
            </a:r>
            <a:r>
              <a:rPr lang="en-US" altLang="zh-TW" sz="2200" b="1" dirty="0" smtClean="0"/>
              <a:t>sequence families </a:t>
            </a:r>
            <a:r>
              <a:rPr lang="en-US" altLang="zh-TW" sz="2200" b="1" dirty="0"/>
              <a:t>examined were (a) nine different </a:t>
            </a:r>
            <a:r>
              <a:rPr lang="en-US" altLang="zh-TW" sz="2200" b="1" dirty="0" err="1" smtClean="0"/>
              <a:t>globins</a:t>
            </a:r>
            <a:r>
              <a:rPr lang="en-US" altLang="zh-TW" sz="2200" b="1" dirty="0"/>
              <a:t> </a:t>
            </a:r>
            <a:r>
              <a:rPr lang="en-US" altLang="zh-TW" sz="2200" b="1" dirty="0" smtClean="0"/>
              <a:t>and </a:t>
            </a:r>
            <a:r>
              <a:rPr lang="en-US" altLang="zh-TW" sz="2200" b="1" dirty="0"/>
              <a:t>(b) nine different tyrosine kinase-like </a:t>
            </a:r>
            <a:r>
              <a:rPr lang="en-US" altLang="zh-TW" sz="2200" b="1" dirty="0" smtClean="0"/>
              <a:t>proteins. It </a:t>
            </a:r>
            <a:r>
              <a:rPr lang="en-US" altLang="zh-TW" sz="2200" b="1" dirty="0"/>
              <a:t>was assumed a priori that all members of a </a:t>
            </a:r>
            <a:r>
              <a:rPr lang="en-US" altLang="zh-TW" sz="2200" b="1" dirty="0" smtClean="0"/>
              <a:t>family share </a:t>
            </a:r>
            <a:r>
              <a:rPr lang="en-US" altLang="zh-TW" sz="2200" b="1" dirty="0"/>
              <a:t>common ancestry. </a:t>
            </a:r>
            <a:endParaRPr lang="en-US" altLang="zh-TW" sz="2200" b="1" dirty="0" smtClean="0"/>
          </a:p>
          <a:p>
            <a:r>
              <a:rPr lang="en-US" altLang="zh-TW" sz="2200" b="1" dirty="0" smtClean="0"/>
              <a:t>In </a:t>
            </a:r>
            <a:r>
              <a:rPr lang="en-US" altLang="zh-TW" sz="2200" b="1" dirty="0"/>
              <a:t>cases where two </a:t>
            </a:r>
            <a:r>
              <a:rPr lang="en-US" altLang="zh-TW" sz="2200" b="1" dirty="0" smtClean="0"/>
              <a:t>sequences were </a:t>
            </a:r>
            <a:r>
              <a:rPr lang="en-US" altLang="zh-TW" sz="2200" b="1" dirty="0"/>
              <a:t>more than 30% identical, </a:t>
            </a:r>
            <a:r>
              <a:rPr lang="en-US" altLang="zh-TW" sz="2200" b="1" dirty="0" smtClean="0"/>
              <a:t>alignments by </a:t>
            </a:r>
            <a:r>
              <a:rPr lang="en-US" altLang="zh-TW" sz="2200" b="1" dirty="0"/>
              <a:t>all four methods were almost always the </a:t>
            </a:r>
            <a:r>
              <a:rPr lang="en-US" altLang="zh-TW" sz="2200" b="1" dirty="0" smtClean="0"/>
              <a:t>same.</a:t>
            </a:r>
          </a:p>
          <a:p>
            <a:r>
              <a:rPr lang="en-US" altLang="zh-TW" sz="2200" b="1" dirty="0" smtClean="0"/>
              <a:t>In </a:t>
            </a:r>
            <a:r>
              <a:rPr lang="en-US" altLang="zh-TW" sz="2200" b="1" dirty="0"/>
              <a:t>cases where the percentage identity was less </a:t>
            </a:r>
            <a:r>
              <a:rPr lang="en-US" altLang="zh-TW" sz="2200" b="1" dirty="0" smtClean="0"/>
              <a:t>than 20</a:t>
            </a:r>
            <a:r>
              <a:rPr lang="en-US" altLang="zh-TW" sz="2200" b="1" dirty="0"/>
              <a:t>%, however, there were often significant </a:t>
            </a:r>
            <a:r>
              <a:rPr lang="en-US" altLang="zh-TW" sz="2200" b="1" dirty="0" smtClean="0"/>
              <a:t>differences in </a:t>
            </a:r>
            <a:r>
              <a:rPr lang="en-US" altLang="zh-TW" sz="2200" b="1" dirty="0"/>
              <a:t>the alignments</a:t>
            </a:r>
            <a:r>
              <a:rPr lang="en-US" altLang="zh-TW" sz="2200" b="1" dirty="0" smtClean="0"/>
              <a:t>.</a:t>
            </a:r>
          </a:p>
          <a:p>
            <a:r>
              <a:rPr lang="en-US" altLang="zh-TW" sz="2200" b="1" dirty="0" smtClean="0"/>
              <a:t> </a:t>
            </a:r>
            <a:r>
              <a:rPr lang="en-US" altLang="zh-TW" sz="2200" b="1" dirty="0"/>
              <a:t>On the average, the </a:t>
            </a:r>
            <a:r>
              <a:rPr lang="en-US" altLang="zh-TW" sz="2200" b="1" dirty="0" err="1" smtClean="0"/>
              <a:t>Dayhoff</a:t>
            </a:r>
            <a:r>
              <a:rPr lang="en-US" altLang="zh-TW" sz="2200" b="1" dirty="0"/>
              <a:t> </a:t>
            </a:r>
            <a:r>
              <a:rPr lang="en-US" altLang="zh-TW" sz="2200" b="1" dirty="0" smtClean="0"/>
              <a:t>LOM </a:t>
            </a:r>
            <a:r>
              <a:rPr lang="en-US" altLang="zh-TW" sz="2200" b="1" dirty="0"/>
              <a:t>approach was the most effective in </a:t>
            </a:r>
            <a:r>
              <a:rPr lang="en-US" altLang="zh-TW" sz="2200" b="1" dirty="0" smtClean="0"/>
              <a:t>verifying distant </a:t>
            </a:r>
            <a:r>
              <a:rPr lang="en-US" altLang="zh-TW" sz="2200" b="1" dirty="0"/>
              <a:t>relationships, as judged by an </a:t>
            </a:r>
            <a:r>
              <a:rPr lang="en-US" altLang="zh-TW" sz="2200" b="1" dirty="0" smtClean="0"/>
              <a:t>empirical "jumbling </a:t>
            </a:r>
            <a:r>
              <a:rPr lang="en-US" altLang="zh-TW" sz="2200" b="1" dirty="0"/>
              <a:t>test." This was not universally the </a:t>
            </a:r>
            <a:r>
              <a:rPr lang="en-US" altLang="zh-TW" sz="2200" b="1" dirty="0" smtClean="0"/>
              <a:t>case, however</a:t>
            </a:r>
            <a:r>
              <a:rPr lang="en-US" altLang="zh-TW" sz="2200" b="1" dirty="0"/>
              <a:t>, and in some instances the simple UM </a:t>
            </a:r>
            <a:r>
              <a:rPr lang="en-US" altLang="zh-TW" sz="2200" b="1" dirty="0" smtClean="0"/>
              <a:t>was actually </a:t>
            </a:r>
            <a:r>
              <a:rPr lang="en-US" altLang="zh-TW" sz="2200" b="1" dirty="0"/>
              <a:t>as good or better.</a:t>
            </a:r>
            <a:endParaRPr lang="zh-TW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12416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0989" y="1825625"/>
            <a:ext cx="8189258" cy="4351338"/>
          </a:xfrm>
        </p:spPr>
        <p:txBody>
          <a:bodyPr>
            <a:normAutofit/>
          </a:bodyPr>
          <a:lstStyle/>
          <a:p>
            <a:r>
              <a:rPr lang="en-US" altLang="zh-TW" sz="2200" b="1" dirty="0"/>
              <a:t>Trees constructed on </a:t>
            </a:r>
            <a:r>
              <a:rPr lang="en-US" altLang="zh-TW" sz="2200" b="1" dirty="0" smtClean="0"/>
              <a:t>the basis </a:t>
            </a:r>
            <a:r>
              <a:rPr lang="en-US" altLang="zh-TW" sz="2200" b="1" dirty="0"/>
              <a:t>of the various alignments differed with </a:t>
            </a:r>
            <a:r>
              <a:rPr lang="en-US" altLang="zh-TW" sz="2200" b="1" dirty="0" smtClean="0"/>
              <a:t>regard to </a:t>
            </a:r>
            <a:r>
              <a:rPr lang="en-US" altLang="zh-TW" sz="2200" b="1" dirty="0"/>
              <a:t>their limb lengths, but </a:t>
            </a:r>
            <a:r>
              <a:rPr lang="en-US" altLang="zh-TW" sz="2200" b="1" dirty="0" smtClean="0"/>
              <a:t>had essentially </a:t>
            </a:r>
            <a:r>
              <a:rPr lang="en-US" altLang="zh-TW" sz="2200" b="1" dirty="0"/>
              <a:t>the </a:t>
            </a:r>
            <a:r>
              <a:rPr lang="en-US" altLang="zh-TW" sz="2200" b="1" dirty="0" smtClean="0"/>
              <a:t>same branching </a:t>
            </a:r>
            <a:r>
              <a:rPr lang="en-US" altLang="zh-TW" sz="2200" b="1" dirty="0"/>
              <a:t>orders. </a:t>
            </a:r>
            <a:endParaRPr lang="en-US" altLang="zh-TW" sz="2200" b="1" dirty="0" smtClean="0"/>
          </a:p>
          <a:p>
            <a:r>
              <a:rPr lang="en-US" altLang="zh-TW" sz="2200" b="1" dirty="0" smtClean="0"/>
              <a:t>We </a:t>
            </a:r>
            <a:r>
              <a:rPr lang="en-US" altLang="zh-TW" sz="2200" b="1" dirty="0"/>
              <a:t>suggest some reasons for </a:t>
            </a:r>
            <a:r>
              <a:rPr lang="en-US" altLang="zh-TW" sz="2200" b="1" dirty="0" smtClean="0"/>
              <a:t>the different </a:t>
            </a:r>
            <a:r>
              <a:rPr lang="en-US" altLang="zh-TW" sz="2200" b="1" dirty="0"/>
              <a:t>effectivenesses of the four approaches </a:t>
            </a:r>
            <a:r>
              <a:rPr lang="en-US" altLang="zh-TW" sz="2200" b="1" dirty="0" smtClean="0"/>
              <a:t>in the </a:t>
            </a:r>
            <a:r>
              <a:rPr lang="en-US" altLang="zh-TW" sz="2200" b="1" dirty="0"/>
              <a:t>two different sequence settings, and offer </a:t>
            </a:r>
            <a:r>
              <a:rPr lang="en-US" altLang="zh-TW" sz="2200" b="1" dirty="0" smtClean="0"/>
              <a:t>some rules </a:t>
            </a:r>
            <a:r>
              <a:rPr lang="en-US" altLang="zh-TW" sz="2200" b="1" dirty="0"/>
              <a:t>of thumb for assessing the significance of </a:t>
            </a:r>
            <a:r>
              <a:rPr lang="en-US" altLang="zh-TW" sz="2200" b="1" dirty="0" smtClean="0"/>
              <a:t>sequence relationships</a:t>
            </a:r>
            <a:r>
              <a:rPr lang="en-US" altLang="zh-TW" sz="2200" b="1" dirty="0" smtClean="0"/>
              <a:t>.</a:t>
            </a:r>
          </a:p>
          <a:p>
            <a:endParaRPr lang="zh-TW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97371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415380"/>
            <a:ext cx="7886700" cy="1325563"/>
          </a:xfrm>
        </p:spPr>
        <p:txBody>
          <a:bodyPr/>
          <a:lstStyle/>
          <a:p>
            <a:r>
              <a:rPr lang="en-US" altLang="zh-TW" b="1" dirty="0" smtClean="0"/>
              <a:t>Introduction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736425"/>
            <a:ext cx="7886700" cy="4351338"/>
          </a:xfrm>
        </p:spPr>
        <p:txBody>
          <a:bodyPr/>
          <a:lstStyle/>
          <a:p>
            <a:r>
              <a:rPr lang="en-US" altLang="zh-TW" dirty="0"/>
              <a:t>Based on Needleman and </a:t>
            </a:r>
            <a:r>
              <a:rPr lang="en-US" altLang="zh-TW" dirty="0" err="1" smtClean="0"/>
              <a:t>Wunsch</a:t>
            </a:r>
            <a:r>
              <a:rPr lang="en-US" altLang="zh-TW" dirty="0" smtClean="0"/>
              <a:t>(1970)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42" y="6133500"/>
            <a:ext cx="4581525" cy="352425"/>
          </a:xfrm>
          <a:prstGeom prst="rect">
            <a:avLst/>
          </a:prstGeom>
        </p:spPr>
      </p:pic>
      <p:graphicFrame>
        <p:nvGraphicFramePr>
          <p:cNvPr id="3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3808603"/>
              </p:ext>
            </p:extLst>
          </p:nvPr>
        </p:nvGraphicFramePr>
        <p:xfrm>
          <a:off x="628650" y="2351862"/>
          <a:ext cx="5533488" cy="3438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3448"/>
                <a:gridCol w="696793"/>
                <a:gridCol w="694457"/>
                <a:gridCol w="694457"/>
                <a:gridCol w="699129"/>
                <a:gridCol w="686290"/>
                <a:gridCol w="694457"/>
                <a:gridCol w="694457"/>
              </a:tblGrid>
              <a:tr h="334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M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B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40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8443164"/>
              </p:ext>
            </p:extLst>
          </p:nvPr>
        </p:nvGraphicFramePr>
        <p:xfrm>
          <a:off x="628650" y="2340591"/>
          <a:ext cx="5533488" cy="3438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3448"/>
                <a:gridCol w="696793"/>
                <a:gridCol w="694457"/>
                <a:gridCol w="694457"/>
                <a:gridCol w="699129"/>
                <a:gridCol w="686290"/>
                <a:gridCol w="694457"/>
                <a:gridCol w="694457"/>
              </a:tblGrid>
              <a:tr h="334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M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B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1" name="框架 40"/>
          <p:cNvSpPr/>
          <p:nvPr/>
        </p:nvSpPr>
        <p:spPr>
          <a:xfrm>
            <a:off x="2629301" y="3530430"/>
            <a:ext cx="721217" cy="412124"/>
          </a:xfrm>
          <a:prstGeom prst="fram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42" name="直線接點 41"/>
          <p:cNvCxnSpPr/>
          <p:nvPr/>
        </p:nvCxnSpPr>
        <p:spPr>
          <a:xfrm>
            <a:off x="1997902" y="2636986"/>
            <a:ext cx="0" cy="42500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1302443" y="3061988"/>
            <a:ext cx="695459" cy="1287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H="1">
            <a:off x="1302442" y="3061988"/>
            <a:ext cx="12879" cy="47651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>
            <a:off x="1302442" y="3538507"/>
            <a:ext cx="137804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1997902" y="2636986"/>
            <a:ext cx="66970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2667603" y="2636986"/>
            <a:ext cx="0" cy="90152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框架 47"/>
          <p:cNvSpPr/>
          <p:nvPr/>
        </p:nvSpPr>
        <p:spPr>
          <a:xfrm>
            <a:off x="2010780" y="2662743"/>
            <a:ext cx="721217" cy="412124"/>
          </a:xfrm>
          <a:prstGeom prst="fram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49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8544918"/>
              </p:ext>
            </p:extLst>
          </p:nvPr>
        </p:nvGraphicFramePr>
        <p:xfrm>
          <a:off x="628650" y="2366862"/>
          <a:ext cx="5533488" cy="34347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3448"/>
                <a:gridCol w="696793"/>
                <a:gridCol w="694457"/>
                <a:gridCol w="694457"/>
                <a:gridCol w="699129"/>
                <a:gridCol w="686290"/>
                <a:gridCol w="694457"/>
                <a:gridCol w="694457"/>
              </a:tblGrid>
              <a:tr h="3306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M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B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19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782162"/>
            <a:ext cx="7886700" cy="4351338"/>
          </a:xfrm>
        </p:spPr>
        <p:txBody>
          <a:bodyPr/>
          <a:lstStyle/>
          <a:p>
            <a:r>
              <a:rPr lang="en-US" altLang="zh-TW" dirty="0"/>
              <a:t>Based on Needleman and </a:t>
            </a:r>
            <a:r>
              <a:rPr lang="en-US" altLang="zh-TW" dirty="0" err="1"/>
              <a:t>Wunsch</a:t>
            </a:r>
            <a:r>
              <a:rPr lang="en-US" altLang="zh-TW" dirty="0"/>
              <a:t>(1970)</a:t>
            </a:r>
            <a:endParaRPr lang="zh-TW" altLang="en-US" dirty="0"/>
          </a:p>
        </p:txBody>
      </p:sp>
      <p:graphicFrame>
        <p:nvGraphicFramePr>
          <p:cNvPr id="22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6454959"/>
              </p:ext>
            </p:extLst>
          </p:nvPr>
        </p:nvGraphicFramePr>
        <p:xfrm>
          <a:off x="899106" y="2389086"/>
          <a:ext cx="5566087" cy="3438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7416"/>
                <a:gridCol w="700898"/>
                <a:gridCol w="698548"/>
                <a:gridCol w="698548"/>
                <a:gridCol w="703248"/>
                <a:gridCol w="690333"/>
                <a:gridCol w="698548"/>
                <a:gridCol w="698548"/>
              </a:tblGrid>
              <a:tr h="334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M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B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442" y="6133500"/>
            <a:ext cx="45815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2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782162"/>
            <a:ext cx="7886700" cy="4351338"/>
          </a:xfrm>
        </p:spPr>
        <p:txBody>
          <a:bodyPr/>
          <a:lstStyle/>
          <a:p>
            <a:r>
              <a:rPr lang="en-US" altLang="zh-TW" dirty="0"/>
              <a:t>Based on Needleman and </a:t>
            </a:r>
            <a:r>
              <a:rPr lang="en-US" altLang="zh-TW" dirty="0" err="1" smtClean="0"/>
              <a:t>Wunsch</a:t>
            </a:r>
            <a:r>
              <a:rPr lang="en-US" altLang="zh-TW" dirty="0" smtClean="0"/>
              <a:t>(1972)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354999" y="2694022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F</a:t>
            </a:r>
            <a:r>
              <a:rPr lang="en-US" altLang="zh-TW" baseline="-25000" dirty="0" err="1" smtClean="0"/>
              <a:t>ij</a:t>
            </a:r>
            <a:r>
              <a:rPr lang="en-US" altLang="zh-TW" dirty="0" smtClean="0"/>
              <a:t>=max</a:t>
            </a:r>
            <a:endParaRPr lang="zh-TW" altLang="en-US" dirty="0"/>
          </a:p>
        </p:txBody>
      </p:sp>
      <p:sp>
        <p:nvSpPr>
          <p:cNvPr id="10" name="左大括弧 9"/>
          <p:cNvSpPr/>
          <p:nvPr/>
        </p:nvSpPr>
        <p:spPr>
          <a:xfrm>
            <a:off x="7269677" y="2220861"/>
            <a:ext cx="336176" cy="14126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7721833" y="2147939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i-1,j-1</a:t>
            </a:r>
            <a:r>
              <a:rPr lang="en-US" altLang="zh-TW" dirty="0" smtClean="0"/>
              <a:t>+S(</a:t>
            </a:r>
            <a:r>
              <a:rPr lang="en-US" altLang="zh-TW" dirty="0" err="1" smtClean="0"/>
              <a:t>A</a:t>
            </a:r>
            <a:r>
              <a:rPr lang="en-US" altLang="zh-TW" baseline="-25000" dirty="0" err="1" smtClean="0"/>
              <a:t>i</a:t>
            </a:r>
            <a:r>
              <a:rPr lang="en-US" altLang="zh-TW" dirty="0" err="1" smtClean="0"/>
              <a:t>,B</a:t>
            </a:r>
            <a:r>
              <a:rPr lang="en-US" altLang="zh-TW" baseline="-25000" dirty="0" err="1"/>
              <a:t>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708386" y="2721995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i,j-1</a:t>
            </a:r>
            <a:r>
              <a:rPr lang="en-US" altLang="zh-TW" dirty="0" smtClean="0"/>
              <a:t>+d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721833" y="3269081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</a:t>
            </a:r>
            <a:r>
              <a:rPr lang="en-US" altLang="zh-TW" dirty="0" smtClean="0"/>
              <a:t>+d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790064" y="4095663"/>
            <a:ext cx="1909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Match =1</a:t>
            </a:r>
          </a:p>
          <a:p>
            <a:r>
              <a:rPr lang="en-US" altLang="zh-TW" dirty="0" smtClean="0"/>
              <a:t>Mismatch= 0</a:t>
            </a:r>
            <a:endParaRPr lang="en-US" altLang="zh-TW" dirty="0" smtClean="0"/>
          </a:p>
          <a:p>
            <a:r>
              <a:rPr lang="en-US" altLang="zh-TW" dirty="0" smtClean="0"/>
              <a:t>Gap penalty d= 0</a:t>
            </a:r>
            <a:endParaRPr lang="zh-TW" altLang="en-US" dirty="0"/>
          </a:p>
        </p:txBody>
      </p:sp>
      <p:graphicFrame>
        <p:nvGraphicFramePr>
          <p:cNvPr id="33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5067885"/>
              </p:ext>
            </p:extLst>
          </p:nvPr>
        </p:nvGraphicFramePr>
        <p:xfrm>
          <a:off x="173931" y="2355540"/>
          <a:ext cx="6200723" cy="38820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0254"/>
                <a:gridCol w="693487"/>
                <a:gridCol w="693487"/>
                <a:gridCol w="691162"/>
                <a:gridCol w="691162"/>
                <a:gridCol w="695812"/>
                <a:gridCol w="683035"/>
                <a:gridCol w="691162"/>
                <a:gridCol w="691162"/>
              </a:tblGrid>
              <a:tr h="334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M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B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 flipV="1">
            <a:off x="2067059" y="2988965"/>
            <a:ext cx="252248" cy="204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2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5387383"/>
              </p:ext>
            </p:extLst>
          </p:nvPr>
        </p:nvGraphicFramePr>
        <p:xfrm>
          <a:off x="173147" y="2353819"/>
          <a:ext cx="6200723" cy="38820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0254"/>
                <a:gridCol w="693487"/>
                <a:gridCol w="693487"/>
                <a:gridCol w="691162"/>
                <a:gridCol w="691162"/>
                <a:gridCol w="695812"/>
                <a:gridCol w="683035"/>
                <a:gridCol w="691162"/>
                <a:gridCol w="691162"/>
              </a:tblGrid>
              <a:tr h="334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M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B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3</a:t>
                      </a:r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78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555831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6416387" y="2863646"/>
            <a:ext cx="87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F</a:t>
            </a:r>
            <a:r>
              <a:rPr lang="en-US" altLang="zh-TW" baseline="-25000" dirty="0" err="1" smtClean="0"/>
              <a:t>ij</a:t>
            </a:r>
            <a:r>
              <a:rPr lang="en-US" altLang="zh-TW" dirty="0" smtClean="0"/>
              <a:t>=max</a:t>
            </a:r>
            <a:endParaRPr lang="zh-TW" altLang="en-US" dirty="0"/>
          </a:p>
        </p:txBody>
      </p:sp>
      <p:sp>
        <p:nvSpPr>
          <p:cNvPr id="10" name="左大括弧 9"/>
          <p:cNvSpPr/>
          <p:nvPr/>
        </p:nvSpPr>
        <p:spPr>
          <a:xfrm>
            <a:off x="7290446" y="2362512"/>
            <a:ext cx="336176" cy="14126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729155" y="2863646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i,j-1</a:t>
            </a:r>
            <a:r>
              <a:rPr lang="en-US" altLang="zh-TW" dirty="0" smtClean="0"/>
              <a:t>+d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742602" y="3410732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</a:t>
            </a:r>
            <a:r>
              <a:rPr lang="en-US" altLang="zh-TW" dirty="0" smtClean="0"/>
              <a:t>+d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39968" y="5450449"/>
            <a:ext cx="4431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MP_ </a:t>
            </a:r>
            <a:r>
              <a:rPr lang="en-US" altLang="zh-TW" dirty="0" smtClean="0"/>
              <a:t>RCL_CG</a:t>
            </a:r>
            <a:endParaRPr lang="en-US" altLang="zh-TW" dirty="0" smtClean="0"/>
          </a:p>
        </p:txBody>
      </p:sp>
      <p:sp>
        <p:nvSpPr>
          <p:cNvPr id="17" name="文字方塊 16"/>
          <p:cNvSpPr txBox="1"/>
          <p:nvPr/>
        </p:nvSpPr>
        <p:spPr>
          <a:xfrm>
            <a:off x="1114210" y="6012124"/>
            <a:ext cx="4431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_  </a:t>
            </a:r>
            <a:r>
              <a:rPr lang="en-US" altLang="zh-TW" dirty="0" smtClean="0"/>
              <a:t>PBRC_KCG</a:t>
            </a:r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>
            <a:off x="1470856" y="5819781"/>
            <a:ext cx="0" cy="284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1726287" y="5819781"/>
            <a:ext cx="0" cy="284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1842133" y="5819781"/>
            <a:ext cx="0" cy="284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2383220" y="5819781"/>
            <a:ext cx="0" cy="284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6420970" y="4527119"/>
            <a:ext cx="1909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Match =1</a:t>
            </a:r>
          </a:p>
          <a:p>
            <a:r>
              <a:rPr lang="en-US" altLang="zh-TW" dirty="0" smtClean="0"/>
              <a:t>Mismatch= 0</a:t>
            </a:r>
            <a:endParaRPr lang="en-US" altLang="zh-TW" dirty="0" smtClean="0"/>
          </a:p>
          <a:p>
            <a:r>
              <a:rPr lang="en-US" altLang="zh-TW" dirty="0" smtClean="0"/>
              <a:t>Gap penalty d= 0</a:t>
            </a:r>
            <a:endParaRPr lang="zh-TW" altLang="en-US" dirty="0"/>
          </a:p>
        </p:txBody>
      </p:sp>
      <p:cxnSp>
        <p:nvCxnSpPr>
          <p:cNvPr id="41" name="直線接點 40"/>
          <p:cNvCxnSpPr/>
          <p:nvPr/>
        </p:nvCxnSpPr>
        <p:spPr>
          <a:xfrm>
            <a:off x="2254332" y="5819781"/>
            <a:ext cx="0" cy="284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9390702"/>
              </p:ext>
            </p:extLst>
          </p:nvPr>
        </p:nvGraphicFramePr>
        <p:xfrm>
          <a:off x="113131" y="1500938"/>
          <a:ext cx="6200723" cy="38820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0254"/>
                <a:gridCol w="693487"/>
                <a:gridCol w="693487"/>
                <a:gridCol w="691162"/>
                <a:gridCol w="691162"/>
                <a:gridCol w="695812"/>
                <a:gridCol w="683035"/>
                <a:gridCol w="691162"/>
                <a:gridCol w="691162"/>
              </a:tblGrid>
              <a:tr h="33453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 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M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P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B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mtClean="0"/>
                        <a:t>3</a:t>
                      </a:r>
                      <a:endParaRPr lang="zh-TW" altLang="en-US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K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00" dirty="0" smtClean="0">
                          <a:effectLst/>
                        </a:rPr>
                        <a:t>C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  <a:tr h="4434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kern="100" dirty="0" smtClea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3" name="文字方塊 42"/>
          <p:cNvSpPr txBox="1"/>
          <p:nvPr/>
        </p:nvSpPr>
        <p:spPr>
          <a:xfrm>
            <a:off x="7556967" y="2394869"/>
            <a:ext cx="15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i-1,j-1</a:t>
            </a:r>
            <a:r>
              <a:rPr lang="en-US" altLang="zh-TW" dirty="0" smtClean="0"/>
              <a:t>+S(</a:t>
            </a:r>
            <a:r>
              <a:rPr lang="en-US" altLang="zh-TW" dirty="0" err="1" smtClean="0"/>
              <a:t>A</a:t>
            </a:r>
            <a:r>
              <a:rPr lang="en-US" altLang="zh-TW" baseline="-25000" dirty="0" err="1" smtClean="0"/>
              <a:t>i</a:t>
            </a:r>
            <a:r>
              <a:rPr lang="en-US" altLang="zh-TW" dirty="0" err="1" smtClean="0"/>
              <a:t>,B</a:t>
            </a:r>
            <a:r>
              <a:rPr lang="en-US" altLang="zh-TW" baseline="-25000" dirty="0" err="1"/>
              <a:t>j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cxnSp>
        <p:nvCxnSpPr>
          <p:cNvPr id="44" name="直線單箭頭接點 43"/>
          <p:cNvCxnSpPr/>
          <p:nvPr/>
        </p:nvCxnSpPr>
        <p:spPr>
          <a:xfrm flipH="1" flipV="1">
            <a:off x="4813750" y="4408877"/>
            <a:ext cx="236483" cy="2364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H="1" flipV="1">
            <a:off x="3329871" y="3474142"/>
            <a:ext cx="331076" cy="2425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H="1" flipV="1">
            <a:off x="2665532" y="3028143"/>
            <a:ext cx="315311" cy="2048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H="1" flipV="1">
            <a:off x="2033036" y="2063434"/>
            <a:ext cx="362607" cy="3242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2547842" y="2592559"/>
            <a:ext cx="0" cy="27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4610132" y="3947908"/>
            <a:ext cx="0" cy="302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>
            <a:off x="3866709" y="3808469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/>
          <p:nvPr/>
        </p:nvCxnSpPr>
        <p:spPr>
          <a:xfrm flipH="1" flipV="1">
            <a:off x="5383369" y="4816699"/>
            <a:ext cx="412124" cy="2962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87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Jumbling Test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05" y="1690689"/>
            <a:ext cx="7433760" cy="4486273"/>
          </a:xfrm>
        </p:spPr>
        <p:txBody>
          <a:bodyPr/>
          <a:lstStyle/>
          <a:p>
            <a:r>
              <a:rPr lang="en-US" altLang="zh-TW" dirty="0"/>
              <a:t>Globin </a:t>
            </a:r>
            <a:r>
              <a:rPr lang="en-US" altLang="zh-TW" dirty="0" smtClean="0"/>
              <a:t>sequences(</a:t>
            </a:r>
            <a:r>
              <a:rPr lang="zh-TW" altLang="en-US" dirty="0" smtClean="0"/>
              <a:t>球蛋白</a:t>
            </a:r>
            <a:r>
              <a:rPr lang="en-US" altLang="zh-TW" dirty="0" smtClean="0"/>
              <a:t>)</a:t>
            </a:r>
            <a:endParaRPr lang="en-US" altLang="zh-TW" dirty="0" smtClean="0"/>
          </a:p>
          <a:p>
            <a:r>
              <a:rPr lang="en-US" altLang="zh-TW" dirty="0"/>
              <a:t>Tyrosine kinase-type sequences(</a:t>
            </a:r>
            <a:r>
              <a:rPr lang="zh-CN" altLang="en-US" dirty="0"/>
              <a:t>酪氨酸激酶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638" y="2651294"/>
            <a:ext cx="5970494" cy="420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0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 </a:t>
            </a:r>
            <a:r>
              <a:rPr lang="en-US" altLang="zh-TW" b="1" dirty="0" smtClean="0"/>
              <a:t>Four Scoring Approaches</a:t>
            </a:r>
            <a:endParaRPr lang="en-US" altLang="zh-TW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altLang="zh-TW" dirty="0" smtClean="0"/>
              <a:t>Unitary Matrix</a:t>
            </a:r>
          </a:p>
          <a:p>
            <a:pPr marL="685800" lvl="2">
              <a:spcBef>
                <a:spcPts val="1000"/>
              </a:spcBef>
            </a:pPr>
            <a:r>
              <a:rPr lang="en-US" altLang="zh-TW" dirty="0" smtClean="0"/>
              <a:t>Matching score : </a:t>
            </a:r>
            <a:r>
              <a:rPr lang="en-US" altLang="zh-TW" dirty="0" smtClean="0"/>
              <a:t>1.0</a:t>
            </a:r>
            <a:endParaRPr lang="en-US" altLang="zh-TW" dirty="0" smtClean="0"/>
          </a:p>
          <a:p>
            <a:pPr marL="685800" lvl="2">
              <a:spcBef>
                <a:spcPts val="1000"/>
              </a:spcBef>
            </a:pPr>
            <a:r>
              <a:rPr lang="en-US" altLang="zh-TW" dirty="0" smtClean="0"/>
              <a:t>Mismatching </a:t>
            </a:r>
            <a:r>
              <a:rPr lang="en-US" altLang="zh-TW" dirty="0"/>
              <a:t>score : </a:t>
            </a:r>
            <a:r>
              <a:rPr lang="en-US" altLang="zh-TW" dirty="0" smtClean="0"/>
              <a:t>0</a:t>
            </a:r>
            <a:endParaRPr lang="en-US" altLang="zh-TW" dirty="0"/>
          </a:p>
          <a:p>
            <a:pPr marL="685800" lvl="2">
              <a:spcBef>
                <a:spcPts val="1000"/>
              </a:spcBef>
            </a:pPr>
            <a:r>
              <a:rPr lang="en-US" altLang="zh-TW" dirty="0" smtClean="0"/>
              <a:t>Gap penalty:  -2.5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en-US" altLang="zh-TW" dirty="0"/>
          </a:p>
          <a:p>
            <a:pPr marL="228600" lvl="1">
              <a:spcBef>
                <a:spcPts val="1000"/>
              </a:spcBef>
            </a:pPr>
            <a:r>
              <a:rPr lang="en-US" altLang="zh-TW" dirty="0"/>
              <a:t>Genetic </a:t>
            </a:r>
            <a:r>
              <a:rPr lang="en-US" altLang="zh-TW" dirty="0" smtClean="0"/>
              <a:t>Code Matrix </a:t>
            </a:r>
            <a:r>
              <a:rPr lang="en-US" altLang="zh-TW" dirty="0"/>
              <a:t>(three-base-change</a:t>
            </a:r>
            <a:r>
              <a:rPr lang="en-US" altLang="zh-TW" dirty="0" smtClean="0"/>
              <a:t>)</a:t>
            </a:r>
          </a:p>
          <a:p>
            <a:pPr marL="685800" lvl="2">
              <a:spcBef>
                <a:spcPts val="1000"/>
              </a:spcBef>
            </a:pPr>
            <a:r>
              <a:rPr lang="en-US" altLang="zh-TW" dirty="0"/>
              <a:t>Matching score : </a:t>
            </a:r>
            <a:r>
              <a:rPr lang="en-US" altLang="zh-TW" dirty="0" smtClean="0"/>
              <a:t>3-2-1-0 </a:t>
            </a:r>
          </a:p>
          <a:p>
            <a:pPr marL="685800" lvl="2">
              <a:spcBef>
                <a:spcPts val="1000"/>
              </a:spcBef>
            </a:pPr>
            <a:r>
              <a:rPr lang="en-US" altLang="zh-TW" dirty="0" smtClean="0"/>
              <a:t>Gap </a:t>
            </a:r>
            <a:r>
              <a:rPr lang="en-US" altLang="zh-TW" dirty="0"/>
              <a:t>penalty:  </a:t>
            </a:r>
            <a:r>
              <a:rPr lang="en-US" altLang="zh-TW" dirty="0" smtClean="0"/>
              <a:t>-</a:t>
            </a:r>
            <a:r>
              <a:rPr lang="en-US" altLang="zh-TW" dirty="0" smtClean="0"/>
              <a:t>3</a:t>
            </a:r>
            <a:endParaRPr lang="en-US" altLang="zh-TW" dirty="0"/>
          </a:p>
          <a:p>
            <a:pPr marL="685800" lvl="2">
              <a:spcBef>
                <a:spcPts val="1000"/>
              </a:spcBef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872766" y="4281229"/>
            <a:ext cx="2305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MP_ </a:t>
            </a:r>
            <a:r>
              <a:rPr lang="en-US" altLang="zh-TW" dirty="0" smtClean="0"/>
              <a:t>  </a:t>
            </a:r>
            <a:r>
              <a:rPr lang="en-US" altLang="zh-TW" dirty="0" smtClean="0"/>
              <a:t>RC L    _CG</a:t>
            </a:r>
            <a:endParaRPr lang="en-US" altLang="zh-TW" dirty="0" smtClean="0"/>
          </a:p>
        </p:txBody>
      </p:sp>
      <p:sp>
        <p:nvSpPr>
          <p:cNvPr id="8" name="文字方塊 7"/>
          <p:cNvSpPr txBox="1"/>
          <p:nvPr/>
        </p:nvSpPr>
        <p:spPr>
          <a:xfrm>
            <a:off x="5872766" y="4785497"/>
            <a:ext cx="230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_  </a:t>
            </a:r>
            <a:r>
              <a:rPr lang="en-US" altLang="zh-TW" dirty="0" smtClean="0"/>
              <a:t>PB  RC _    KCG</a:t>
            </a:r>
            <a:endParaRPr lang="zh-TW" altLang="en-US" dirty="0"/>
          </a:p>
        </p:txBody>
      </p:sp>
      <p:sp>
        <p:nvSpPr>
          <p:cNvPr id="15" name="框架 14"/>
          <p:cNvSpPr/>
          <p:nvPr/>
        </p:nvSpPr>
        <p:spPr>
          <a:xfrm>
            <a:off x="5872765" y="4253745"/>
            <a:ext cx="605308" cy="106350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" name="框架 15"/>
          <p:cNvSpPr/>
          <p:nvPr/>
        </p:nvSpPr>
        <p:spPr>
          <a:xfrm>
            <a:off x="6464480" y="4253745"/>
            <a:ext cx="605308" cy="106350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框架 16"/>
          <p:cNvSpPr/>
          <p:nvPr/>
        </p:nvSpPr>
        <p:spPr>
          <a:xfrm>
            <a:off x="7056194" y="4253745"/>
            <a:ext cx="605308" cy="1063503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227833" y="1778278"/>
            <a:ext cx="282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MP_</a:t>
            </a:r>
            <a:r>
              <a:rPr lang="en-US" altLang="zh-TW" dirty="0" smtClean="0"/>
              <a:t>RCL_CG</a:t>
            </a:r>
            <a:endParaRPr lang="en-US" altLang="zh-TW" dirty="0" smtClean="0"/>
          </a:p>
        </p:txBody>
      </p:sp>
      <p:sp>
        <p:nvSpPr>
          <p:cNvPr id="19" name="文字方塊 18"/>
          <p:cNvSpPr txBox="1"/>
          <p:nvPr/>
        </p:nvSpPr>
        <p:spPr>
          <a:xfrm>
            <a:off x="5227832" y="2282546"/>
            <a:ext cx="2821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_  </a:t>
            </a:r>
            <a:r>
              <a:rPr lang="en-US" altLang="zh-TW" dirty="0" smtClean="0"/>
              <a:t>PBRC_KCG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344732" y="3013656"/>
            <a:ext cx="270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5+4*(-2.5)=-5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982695" y="5707989"/>
            <a:ext cx="2704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1+2+2+2*(-3)+(-3)+(-3)=-7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761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 </a:t>
            </a:r>
            <a:r>
              <a:rPr lang="en-US" altLang="zh-TW" b="1" dirty="0" smtClean="0"/>
              <a:t>Four Scoring Approaches</a:t>
            </a:r>
            <a:endParaRPr lang="en-US" altLang="zh-TW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altLang="zh-TW" dirty="0" smtClean="0"/>
              <a:t>Structure-Genetic </a:t>
            </a:r>
            <a:r>
              <a:rPr lang="en-US" altLang="zh-TW" dirty="0"/>
              <a:t>Matrix  Gap penalty:  </a:t>
            </a:r>
            <a:r>
              <a:rPr lang="en-US" altLang="zh-TW" dirty="0" smtClean="0"/>
              <a:t>-5.5</a:t>
            </a:r>
          </a:p>
          <a:p>
            <a:pPr marL="228600" lvl="1">
              <a:spcBef>
                <a:spcPts val="1000"/>
              </a:spcBef>
            </a:pPr>
            <a:r>
              <a:rPr lang="en-US" altLang="zh-TW" dirty="0" smtClean="0"/>
              <a:t>Log-odds </a:t>
            </a:r>
            <a:r>
              <a:rPr lang="en-US" altLang="zh-TW" dirty="0"/>
              <a:t>Matrix  Gap penalty:  </a:t>
            </a:r>
            <a:r>
              <a:rPr lang="en-US" altLang="zh-TW" dirty="0" smtClean="0"/>
              <a:t>0</a:t>
            </a:r>
            <a:endParaRPr lang="en-US" altLang="zh-TW" dirty="0"/>
          </a:p>
          <a:p>
            <a:pPr marL="228600" lvl="1">
              <a:spcBef>
                <a:spcPts val="1000"/>
              </a:spcBef>
            </a:pPr>
            <a:endParaRPr lang="en-US" altLang="zh-TW" dirty="0" smtClean="0"/>
          </a:p>
          <a:p>
            <a:pPr marL="228600" lvl="1">
              <a:spcBef>
                <a:spcPts val="1000"/>
              </a:spcBef>
            </a:pPr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17979"/>
            <a:ext cx="7372350" cy="41529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391483" y="365126"/>
            <a:ext cx="175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MP_</a:t>
            </a:r>
            <a:r>
              <a:rPr lang="en-US" altLang="zh-TW" dirty="0" smtClean="0"/>
              <a:t>RCL_CG</a:t>
            </a:r>
            <a:endParaRPr lang="en-US" altLang="zh-TW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7391482" y="869394"/>
            <a:ext cx="1752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_  </a:t>
            </a:r>
            <a:r>
              <a:rPr lang="en-US" altLang="zh-TW" dirty="0" smtClean="0"/>
              <a:t>PBRC_KCG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615375" y="1732004"/>
            <a:ext cx="328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4*(-5.5)+5*6=8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859608" y="2281179"/>
            <a:ext cx="328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(14+14+20+20+13)/10-0.8=7.3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697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 </a:t>
            </a:r>
            <a:r>
              <a:rPr lang="en-US" altLang="zh-TW" b="1" dirty="0" smtClean="0"/>
              <a:t>Four Scoring Approaches</a:t>
            </a:r>
            <a:endParaRPr lang="en-US" altLang="zh-TW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endParaRPr lang="en-US" altLang="zh-TW" dirty="0" smtClean="0"/>
          </a:p>
          <a:p>
            <a:pPr marL="228600" lvl="1">
              <a:spcBef>
                <a:spcPts val="1000"/>
              </a:spcBef>
            </a:pPr>
            <a:endParaRPr lang="en-US" altLang="zh-TW" dirty="0" smtClean="0"/>
          </a:p>
          <a:p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3" y="1690689"/>
            <a:ext cx="8798314" cy="337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6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 smtClean="0"/>
              <a:t>Construction of Phylogenetic Trees</a:t>
            </a:r>
            <a:endParaRPr lang="zh-TW" altLang="en-US" sz="4000" b="1" dirty="0"/>
          </a:p>
        </p:txBody>
      </p:sp>
      <p:sp>
        <p:nvSpPr>
          <p:cNvPr id="3" name="向右箭號 2"/>
          <p:cNvSpPr/>
          <p:nvPr/>
        </p:nvSpPr>
        <p:spPr>
          <a:xfrm rot="5400000">
            <a:off x="4258801" y="3857431"/>
            <a:ext cx="524656" cy="6713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124262" y="4691921"/>
            <a:ext cx="4047345" cy="1663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347147" y="2245604"/>
            <a:ext cx="55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 smtClean="0"/>
              <a:t>+</a:t>
            </a:r>
            <a:endParaRPr lang="zh-TW" altLang="en-US" sz="4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250118" y="5085865"/>
            <a:ext cx="4194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smtClean="0"/>
              <a:t>Percentage Standard Deviation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5086732" y="1373118"/>
            <a:ext cx="3837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Matrix from the limb length</a:t>
            </a:r>
            <a:endParaRPr lang="zh-TW" altLang="en-US" sz="24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13" y="1690689"/>
            <a:ext cx="3147932" cy="2277536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595" y="1858910"/>
            <a:ext cx="2819944" cy="3068397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7005472" y="5085865"/>
            <a:ext cx="1767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a+b</a:t>
            </a:r>
            <a:r>
              <a:rPr lang="en-US" altLang="zh-TW" dirty="0" smtClean="0"/>
              <a:t>=24</a:t>
            </a:r>
          </a:p>
          <a:p>
            <a:r>
              <a:rPr lang="en-US" altLang="zh-TW" dirty="0" smtClean="0"/>
              <a:t>b-a=4</a:t>
            </a:r>
          </a:p>
          <a:p>
            <a:r>
              <a:rPr lang="en-US" altLang="zh-TW" dirty="0" smtClean="0"/>
              <a:t>a=10,b=14,c=18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04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Sequences Used for Comparison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12341" y="4979242"/>
            <a:ext cx="3903009" cy="1618410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66" y="1583113"/>
            <a:ext cx="7600950" cy="465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3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Sequences Used for Comparison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12341" y="4979242"/>
            <a:ext cx="3903009" cy="1618410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00" y="1690688"/>
            <a:ext cx="3588011" cy="490696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661" y="1690688"/>
            <a:ext cx="4555891" cy="4906964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430306" y="1385047"/>
            <a:ext cx="238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Globin(</a:t>
            </a:r>
            <a:r>
              <a:rPr lang="zh-TW" altLang="en-US" dirty="0"/>
              <a:t>球蛋白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146918" y="1321358"/>
            <a:ext cx="449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Tyrosine kinase-type sequences(</a:t>
            </a:r>
            <a:r>
              <a:rPr lang="zh-CN" altLang="en-US" dirty="0"/>
              <a:t>酪氨酸激</a:t>
            </a:r>
            <a:r>
              <a:rPr lang="zh-CN" altLang="en-US" dirty="0" smtClean="0"/>
              <a:t>酶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075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6065" y="-21198"/>
            <a:ext cx="7886700" cy="1325563"/>
          </a:xfrm>
        </p:spPr>
        <p:txBody>
          <a:bodyPr/>
          <a:lstStyle/>
          <a:p>
            <a:r>
              <a:rPr lang="en-US" altLang="zh-TW" b="1" dirty="0" smtClean="0"/>
              <a:t>Results</a:t>
            </a:r>
            <a:endParaRPr lang="zh-TW" altLang="en-US" b="1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89" y="1304365"/>
            <a:ext cx="3981422" cy="5351929"/>
          </a:xfrm>
          <a:prstGeom prst="rect">
            <a:avLst/>
          </a:prstGeom>
        </p:spPr>
      </p:pic>
      <p:sp>
        <p:nvSpPr>
          <p:cNvPr id="29" name="文字方塊 28"/>
          <p:cNvSpPr txBox="1"/>
          <p:nvPr/>
        </p:nvSpPr>
        <p:spPr>
          <a:xfrm>
            <a:off x="456065" y="896373"/>
            <a:ext cx="238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Globin(</a:t>
            </a:r>
            <a:r>
              <a:rPr lang="zh-TW" altLang="en-US" dirty="0"/>
              <a:t>球蛋白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31" name="圖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11" y="1727434"/>
            <a:ext cx="4859885" cy="303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2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Results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1764926" cy="435133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26" y="1362076"/>
            <a:ext cx="8629947" cy="466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5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6065" y="-21198"/>
            <a:ext cx="7886700" cy="1325563"/>
          </a:xfrm>
        </p:spPr>
        <p:txBody>
          <a:bodyPr/>
          <a:lstStyle/>
          <a:p>
            <a:r>
              <a:rPr lang="en-US" altLang="zh-TW" b="1" dirty="0" smtClean="0"/>
              <a:t>Results</a:t>
            </a:r>
            <a:endParaRPr lang="zh-TW" altLang="en-US" b="1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20" y="1438835"/>
            <a:ext cx="4097710" cy="5419165"/>
          </a:xfrm>
          <a:prstGeom prst="rect">
            <a:avLst/>
          </a:prstGeom>
        </p:spPr>
      </p:pic>
      <p:sp>
        <p:nvSpPr>
          <p:cNvPr id="30" name="文字方塊 29"/>
          <p:cNvSpPr txBox="1"/>
          <p:nvPr/>
        </p:nvSpPr>
        <p:spPr>
          <a:xfrm>
            <a:off x="129120" y="935033"/>
            <a:ext cx="449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Tyrosine kinase-type sequences(</a:t>
            </a:r>
            <a:r>
              <a:rPr lang="zh-CN" altLang="en-US" dirty="0"/>
              <a:t>酪氨酸激</a:t>
            </a:r>
            <a:r>
              <a:rPr lang="zh-CN" altLang="en-US" dirty="0" smtClean="0"/>
              <a:t>酶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415" y="1696010"/>
            <a:ext cx="4264203" cy="281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0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Results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1764926" cy="435133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4" y="1825625"/>
            <a:ext cx="8356546" cy="400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9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568" y="1273830"/>
            <a:ext cx="6846515" cy="506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2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Results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9" y="4987493"/>
            <a:ext cx="7643813" cy="1189469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A   </a:t>
            </a:r>
            <a:r>
              <a:rPr lang="en-US" altLang="zh-TW" dirty="0" smtClean="0"/>
              <a:t>v-</a:t>
            </a:r>
            <a:r>
              <a:rPr lang="en-US" altLang="zh-TW" dirty="0" err="1" smtClean="0"/>
              <a:t>rel</a:t>
            </a:r>
            <a:r>
              <a:rPr lang="en-US" altLang="zh-TW" dirty="0" smtClean="0"/>
              <a:t> (129-400) </a:t>
            </a:r>
            <a:endParaRPr lang="en-US" altLang="zh-TW" dirty="0" smtClean="0"/>
          </a:p>
          <a:p>
            <a:r>
              <a:rPr lang="en-US" altLang="zh-TW" dirty="0" smtClean="0"/>
              <a:t>B   v-</a:t>
            </a:r>
            <a:r>
              <a:rPr lang="en-US" altLang="zh-TW" dirty="0" err="1" smtClean="0"/>
              <a:t>rel</a:t>
            </a:r>
            <a:r>
              <a:rPr lang="en-US" altLang="zh-TW" dirty="0" smtClean="0"/>
              <a:t> (129-178) </a:t>
            </a:r>
          </a:p>
          <a:p>
            <a:r>
              <a:rPr lang="en-US" altLang="zh-TW" dirty="0"/>
              <a:t>C </a:t>
            </a:r>
            <a:r>
              <a:rPr lang="en-US" altLang="zh-TW" dirty="0" smtClean="0"/>
              <a:t>  v-</a:t>
            </a:r>
            <a:r>
              <a:rPr lang="en-US" altLang="zh-TW" dirty="0" err="1" smtClean="0"/>
              <a:t>rel</a:t>
            </a:r>
            <a:r>
              <a:rPr lang="en-US" altLang="zh-TW" dirty="0" smtClean="0"/>
              <a:t> (279-400</a:t>
            </a:r>
            <a:r>
              <a:rPr lang="en-US" altLang="zh-TW" dirty="0"/>
              <a:t>)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90689"/>
            <a:ext cx="8101012" cy="329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18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Conclusion</a:t>
            </a:r>
            <a:endParaRPr lang="zh-TW" altLang="en-US" b="1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We don’t know what is the best way to align two amino acid sequence if they share common ancestry.</a:t>
            </a:r>
          </a:p>
          <a:p>
            <a:r>
              <a:rPr lang="en-US" altLang="zh-TW" sz="2400" dirty="0" smtClean="0"/>
              <a:t>The answer may be to use a weight matrix.</a:t>
            </a:r>
          </a:p>
          <a:p>
            <a:r>
              <a:rPr lang="en-US" altLang="zh-TW" sz="2400" dirty="0" smtClean="0"/>
              <a:t>The best weighting schemes take account of both genetic likelihood and structural similarities between amino acids.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894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1165</TotalTime>
  <Words>1115</Words>
  <Application>Microsoft Office PowerPoint</Application>
  <PresentationFormat>如螢幕大小 (4:3)</PresentationFormat>
  <Paragraphs>561</Paragraphs>
  <Slides>22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9" baseType="lpstr">
      <vt:lpstr>宋体</vt:lpstr>
      <vt:lpstr>新細明體</vt:lpstr>
      <vt:lpstr>Arial</vt:lpstr>
      <vt:lpstr>Calibri</vt:lpstr>
      <vt:lpstr>Calibri Light</vt:lpstr>
      <vt:lpstr>Times New Roman</vt:lpstr>
      <vt:lpstr>Office 佈景主題</vt:lpstr>
      <vt:lpstr>Aligning Amino Acid Sequences: Comparison of Commonly Used Methods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Jumbling Test</vt:lpstr>
      <vt:lpstr>The Four Scoring Approaches</vt:lpstr>
      <vt:lpstr>The Four Scoring Approaches</vt:lpstr>
      <vt:lpstr>The Four Scoring Approaches</vt:lpstr>
      <vt:lpstr>Construction of Phylogenetic Trees</vt:lpstr>
      <vt:lpstr>Sequences Used for Comparison</vt:lpstr>
      <vt:lpstr>Sequences Used for Comparison</vt:lpstr>
      <vt:lpstr>Results</vt:lpstr>
      <vt:lpstr>Results</vt:lpstr>
      <vt:lpstr>Results</vt:lpstr>
      <vt:lpstr>Results</vt:lpstr>
      <vt:lpstr>Results</vt:lpstr>
      <vt:lpstr>Results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Aligning Amino Acid Sequences: Comparison of Commonly Used Methods</dc:title>
  <dc:creator>黃鼎耀</dc:creator>
  <cp:lastModifiedBy>黃鼎耀</cp:lastModifiedBy>
  <cp:revision>173</cp:revision>
  <dcterms:created xsi:type="dcterms:W3CDTF">2014-04-18T12:14:42Z</dcterms:created>
  <dcterms:modified xsi:type="dcterms:W3CDTF">2014-04-20T16:36:15Z</dcterms:modified>
</cp:coreProperties>
</file>