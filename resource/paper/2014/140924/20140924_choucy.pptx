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2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0" r:id="rId28"/>
    <p:sldId id="283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2014/9/24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New Efficient Algorithm for Computing the Longest Common Subsequence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Costas S. Iliopoulos and M. </a:t>
            </a:r>
            <a:r>
              <a:rPr lang="en-US" altLang="zh-TW" dirty="0" err="1"/>
              <a:t>Sohel</a:t>
            </a:r>
            <a:r>
              <a:rPr lang="en-US" altLang="zh-TW" dirty="0"/>
              <a:t> Rahman</a:t>
            </a:r>
            <a:br>
              <a:rPr lang="en-US" altLang="zh-TW" dirty="0"/>
            </a:br>
            <a:r>
              <a:rPr lang="en-US" altLang="zh-TW" dirty="0"/>
              <a:t>Theory of Computing Systems, Volume 45, Issue 2, pp </a:t>
            </a:r>
            <a:r>
              <a:rPr lang="en-US" altLang="zh-TW" dirty="0" smtClean="0"/>
              <a:t>355-371(2009)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10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431540" y="1484784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In this paper, we present a new and efficient algorithm </a:t>
            </a:r>
            <a:r>
              <a:rPr lang="en-US" altLang="zh-TW" sz="3600" dirty="0" smtClean="0"/>
              <a:t>for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solving </a:t>
            </a:r>
            <a:r>
              <a:rPr lang="en-US" altLang="zh-TW" sz="3600" dirty="0"/>
              <a:t>the LCS problem </a:t>
            </a:r>
            <a:r>
              <a:rPr lang="en-US" altLang="zh-TW" sz="3600" dirty="0" smtClean="0"/>
              <a:t>for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two </a:t>
            </a:r>
            <a:r>
              <a:rPr lang="en-US" altLang="zh-TW" sz="3600" dirty="0"/>
              <a:t>strings. Our algorithm runs in</a:t>
            </a:r>
            <a:r>
              <a:rPr lang="en-US" altLang="zh-TW" sz="3600" dirty="0" smtClean="0"/>
              <a:t> </a:t>
            </a:r>
            <a:r>
              <a:rPr lang="en-US" altLang="zh-TW" sz="3600" i="1" dirty="0" smtClean="0"/>
              <a:t>O</a:t>
            </a:r>
            <a:r>
              <a:rPr lang="en-US" altLang="zh-TW" sz="3600" dirty="0" smtClean="0"/>
              <a:t>(</a:t>
            </a:r>
            <a:r>
              <a:rPr lang="en-US" altLang="zh-TW" sz="3600" i="1" dirty="0" smtClean="0"/>
              <a:t>R</a:t>
            </a:r>
            <a:r>
              <a:rPr lang="zh-TW" altLang="en-US" sz="3600" i="1" dirty="0" smtClean="0"/>
              <a:t> </a:t>
            </a:r>
            <a:r>
              <a:rPr lang="en-US" altLang="zh-TW" sz="3600" dirty="0" smtClean="0"/>
              <a:t>log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log</a:t>
            </a:r>
            <a:r>
              <a:rPr lang="zh-TW" altLang="en-US" sz="3600" dirty="0" smtClean="0"/>
              <a:t> </a:t>
            </a:r>
            <a:r>
              <a:rPr lang="en-US" altLang="zh-TW" sz="3600" i="1" dirty="0" smtClean="0"/>
              <a:t>n</a:t>
            </a:r>
            <a:r>
              <a:rPr lang="zh-TW" altLang="en-US" sz="3600" i="1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i="1" dirty="0" smtClean="0"/>
              <a:t>n</a:t>
            </a:r>
            <a:r>
              <a:rPr lang="en-US" altLang="zh-TW" sz="3600" dirty="0" smtClean="0"/>
              <a:t>) time</a:t>
            </a:r>
            <a:r>
              <a:rPr lang="en-US" altLang="zh-TW" sz="3600" dirty="0"/>
              <a:t>, where </a:t>
            </a:r>
            <a:r>
              <a:rPr lang="en-US" altLang="zh-TW" sz="3600" i="1" dirty="0"/>
              <a:t>R </a:t>
            </a:r>
            <a:r>
              <a:rPr lang="en-US" altLang="zh-TW" sz="3600" dirty="0"/>
              <a:t>is the total </a:t>
            </a:r>
            <a:r>
              <a:rPr lang="en-US" altLang="zh-TW" sz="3600" dirty="0" smtClean="0"/>
              <a:t>number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of </a:t>
            </a:r>
            <a:r>
              <a:rPr lang="en-US" altLang="zh-TW" sz="3600" dirty="0"/>
              <a:t>ordered pairs of </a:t>
            </a:r>
            <a:r>
              <a:rPr lang="en-US" altLang="zh-TW" sz="3600" dirty="0" smtClean="0"/>
              <a:t>positions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at </a:t>
            </a:r>
            <a:r>
              <a:rPr lang="en-US" altLang="zh-TW" sz="3600" dirty="0"/>
              <a:t>which the two strings match.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2919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c b </a:t>
                </a:r>
                <a:r>
                  <a:rPr lang="en-US" altLang="zh-TW" dirty="0" err="1" smtClean="0"/>
                  <a:t>b</a:t>
                </a:r>
                <a:r>
                  <a:rPr lang="en-US" altLang="zh-TW" dirty="0" smtClean="0"/>
                  <a:t> d a c</a:t>
                </a:r>
              </a:p>
              <a:p>
                <a:r>
                  <a:rPr lang="en-US" altLang="zh-TW" dirty="0" smtClean="0"/>
                  <a:t>Y = a b c d </a:t>
                </a:r>
                <a:r>
                  <a:rPr lang="en-US" altLang="zh-TW" dirty="0" err="1" smtClean="0"/>
                  <a:t>d</a:t>
                </a:r>
                <a:r>
                  <a:rPr lang="en-US" altLang="zh-TW" dirty="0" smtClean="0"/>
                  <a:t> b a</a:t>
                </a:r>
              </a:p>
              <a:p>
                <a:r>
                  <a:rPr lang="en-US" altLang="zh-TW" dirty="0" smtClean="0"/>
                  <a:t>Set </a:t>
                </a:r>
                <a:r>
                  <a:rPr lang="en-US" altLang="zh-TW" dirty="0"/>
                  <a:t>M</a:t>
                </a:r>
                <a:r>
                  <a:rPr lang="en-US" altLang="zh-TW" dirty="0" smtClean="0"/>
                  <a:t> = {(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,</a:t>
                </a:r>
                <a:r>
                  <a:rPr lang="en-US" altLang="zh-TW" i="1" dirty="0" smtClean="0"/>
                  <a:t> j</a:t>
                </a:r>
                <a:r>
                  <a:rPr lang="en-US" altLang="zh-TW" dirty="0" smtClean="0"/>
                  <a:t>) | X[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] = Y[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], 1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, 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}</a:t>
                </a:r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7" y="3523523"/>
            <a:ext cx="8839546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5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Introduce</a:t>
            </a:r>
            <a:endParaRPr lang="zh-TW" altLang="en-US" dirty="0"/>
          </a:p>
        </p:txBody>
      </p:sp>
      <p:graphicFrame>
        <p:nvGraphicFramePr>
          <p:cNvPr id="3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5762430"/>
              </p:ext>
            </p:extLst>
          </p:nvPr>
        </p:nvGraphicFramePr>
        <p:xfrm>
          <a:off x="4644008" y="1709263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7" y="4919357"/>
            <a:ext cx="8839546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5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457200" y="1600200"/>
            <a:ext cx="8229600" cy="49971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/>
              <a:t>Range Maxima Query</a:t>
            </a:r>
          </a:p>
          <a:p>
            <a:r>
              <a:rPr lang="en-US" altLang="zh-TW" dirty="0" smtClean="0"/>
              <a:t>RMQ:</a:t>
            </a:r>
            <a:r>
              <a:rPr lang="zh-TW" altLang="en-US" dirty="0"/>
              <a:t> </a:t>
            </a:r>
            <a:r>
              <a:rPr lang="zh-TW" altLang="en-US" dirty="0" smtClean="0"/>
              <a:t>陣列</a:t>
            </a:r>
            <a:r>
              <a:rPr lang="en-US" altLang="zh-TW" dirty="0" smtClean="0"/>
              <a:t>A[1…n]</a:t>
            </a:r>
            <a:br>
              <a:rPr lang="en-US" altLang="zh-TW" dirty="0" smtClean="0"/>
            </a:br>
            <a:r>
              <a:rPr lang="zh-TW" altLang="en-US" dirty="0" smtClean="0"/>
              <a:t>限定範圍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j)</a:t>
            </a:r>
            <a:r>
              <a:rPr lang="zh-TW" altLang="en-US" dirty="0" smtClean="0"/>
              <a:t> 找出</a:t>
            </a:r>
            <a:r>
              <a:rPr lang="en-US" altLang="zh-TW" dirty="0" smtClean="0"/>
              <a:t>A</a:t>
            </a:r>
            <a:br>
              <a:rPr lang="en-US" altLang="zh-TW" dirty="0" smtClean="0"/>
            </a:br>
            <a:r>
              <a:rPr lang="zh-TW" altLang="en-US" dirty="0" smtClean="0"/>
              <a:t>中位置介於 </a:t>
            </a:r>
            <a:r>
              <a:rPr lang="en-US" altLang="zh-TW" dirty="0" err="1" smtClean="0"/>
              <a:t>i</a:t>
            </a:r>
            <a:r>
              <a:rPr lang="zh-TW" altLang="en-US" dirty="0" smtClean="0"/>
              <a:t> 與 </a:t>
            </a:r>
            <a:r>
              <a:rPr lang="en-US" altLang="zh-TW" dirty="0" smtClean="0"/>
              <a:t>j</a:t>
            </a:r>
            <a:r>
              <a:rPr lang="zh-TW" altLang="en-US" dirty="0" smtClean="0"/>
              <a:t> 之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間最大</a:t>
            </a:r>
            <a:r>
              <a:rPr lang="en-US" altLang="zh-TW" dirty="0" smtClean="0"/>
              <a:t>(</a:t>
            </a:r>
            <a:r>
              <a:rPr lang="zh-TW" altLang="en-US" dirty="0" smtClean="0"/>
              <a:t>小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的元素。</a:t>
            </a:r>
            <a:endParaRPr lang="en-US" altLang="zh-TW" dirty="0" smtClean="0"/>
          </a:p>
          <a:p>
            <a:r>
              <a:rPr lang="en-US" altLang="zh-TW" dirty="0" smtClean="0"/>
              <a:t>O(n)</a:t>
            </a:r>
            <a:r>
              <a:rPr lang="zh-TW" altLang="en-US" dirty="0" smtClean="0"/>
              <a:t>完成預處理後，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可於</a:t>
            </a:r>
            <a:r>
              <a:rPr lang="en-US" altLang="zh-TW" dirty="0" smtClean="0"/>
              <a:t>O(1)</a:t>
            </a:r>
            <a:r>
              <a:rPr lang="zh-TW" altLang="en-US" dirty="0" smtClean="0"/>
              <a:t>完成</a:t>
            </a:r>
            <a:r>
              <a:rPr lang="en-US" altLang="zh-TW" dirty="0" smtClean="0"/>
              <a:t>query</a:t>
            </a:r>
          </a:p>
          <a:p>
            <a:r>
              <a:rPr lang="en-US" altLang="zh-TW" dirty="0" smtClean="0"/>
              <a:t>e = (Value, j)</a:t>
            </a:r>
            <a:br>
              <a:rPr lang="en-US" altLang="zh-TW" dirty="0" smtClean="0"/>
            </a:br>
            <a:r>
              <a:rPr lang="en-US" altLang="zh-TW" dirty="0" smtClean="0"/>
              <a:t>E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{ (1, 3), (1, 2), (2, 6), (2, 4), (2, 5) }</a:t>
            </a:r>
          </a:p>
          <a:p>
            <a:endParaRPr lang="en-US" altLang="zh-TW" dirty="0" smtClean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RMQ</a:t>
            </a:r>
            <a:endParaRPr lang="zh-TW" altLang="en-US" dirty="0"/>
          </a:p>
        </p:txBody>
      </p:sp>
      <p:graphicFrame>
        <p:nvGraphicFramePr>
          <p:cNvPr id="3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594600"/>
              </p:ext>
            </p:extLst>
          </p:nvPr>
        </p:nvGraphicFramePr>
        <p:xfrm>
          <a:off x="4644008" y="1709263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148064" y="2132856"/>
            <a:ext cx="2952328" cy="18722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97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</a:p>
          <a:p>
            <a:r>
              <a:rPr lang="en-US" altLang="zh-TW" dirty="0" smtClean="0"/>
              <a:t>M = (1, 3), (2, 2), (2,</a:t>
            </a:r>
            <a:r>
              <a:rPr lang="zh-TW" altLang="en-US" dirty="0" smtClean="0"/>
              <a:t> </a:t>
            </a:r>
            <a:r>
              <a:rPr lang="en-US" altLang="zh-TW" dirty="0" smtClean="0"/>
              <a:t>6)</a:t>
            </a:r>
            <a:br>
              <a:rPr lang="en-US" altLang="zh-TW" dirty="0" smtClean="0"/>
            </a:br>
            <a:r>
              <a:rPr lang="en-US" altLang="zh-TW" dirty="0" smtClean="0"/>
              <a:t>(3, 2), (3, 6), (4, 4),</a:t>
            </a:r>
            <a:br>
              <a:rPr lang="en-US" altLang="zh-TW" dirty="0" smtClean="0"/>
            </a:br>
            <a:r>
              <a:rPr lang="en-US" altLang="zh-TW" dirty="0" smtClean="0"/>
              <a:t>(4, 5), (5, 7), (6, 3)</a:t>
            </a:r>
          </a:p>
          <a:p>
            <a:r>
              <a:rPr lang="zh-TW" altLang="en-US" dirty="0" smtClean="0"/>
              <a:t>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0</a:t>
            </a:r>
          </a:p>
          <a:p>
            <a:r>
              <a:rPr lang="zh-TW" altLang="en-US" dirty="0"/>
              <a:t>找</a:t>
            </a:r>
            <a:r>
              <a:rPr lang="zh-TW" altLang="en-US" dirty="0" smtClean="0"/>
              <a:t>每一行最大的</a:t>
            </a:r>
            <a:r>
              <a:rPr lang="zh-TW" altLang="en-US" dirty="0"/>
              <a:t>值，此值</a:t>
            </a:r>
            <a:r>
              <a:rPr lang="zh-TW" altLang="en-US" dirty="0" smtClean="0"/>
              <a:t>代表到這個元素為止的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長度，若此值大於當前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長度，則更新當前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長度。</a:t>
            </a:r>
            <a:endParaRPr lang="en-US" altLang="zh-TW" dirty="0" smtClean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384173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67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</a:p>
          <a:p>
            <a:r>
              <a:rPr lang="en-US" altLang="zh-TW" dirty="0" smtClean="0"/>
              <a:t>M = (1, 3), (2, 2), (2,</a:t>
            </a:r>
            <a:r>
              <a:rPr lang="zh-TW" altLang="en-US" dirty="0" smtClean="0"/>
              <a:t> </a:t>
            </a:r>
            <a:r>
              <a:rPr lang="en-US" altLang="zh-TW" dirty="0" smtClean="0"/>
              <a:t>6)</a:t>
            </a:r>
            <a:br>
              <a:rPr lang="en-US" altLang="zh-TW" dirty="0" smtClean="0"/>
            </a:br>
            <a:r>
              <a:rPr lang="en-US" altLang="zh-TW" dirty="0" smtClean="0"/>
              <a:t>(3, 2), (3, 6), (4, 4),</a:t>
            </a:r>
            <a:br>
              <a:rPr lang="en-US" altLang="zh-TW" dirty="0" smtClean="0"/>
            </a:br>
            <a:r>
              <a:rPr lang="en-US" altLang="zh-TW" dirty="0" smtClean="0"/>
              <a:t>(4, 5), (5, 7), (6, 3)</a:t>
            </a:r>
          </a:p>
          <a:p>
            <a:r>
              <a:rPr lang="zh-TW" altLang="en-US" dirty="0" smtClean="0"/>
              <a:t>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0</a:t>
            </a:r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 = 1</a:t>
            </a:r>
            <a:r>
              <a:rPr lang="zh-TW" altLang="en-US" dirty="0" smtClean="0"/>
              <a:t>，處理</a:t>
            </a:r>
            <a:r>
              <a:rPr lang="en-US" altLang="zh-TW" dirty="0" smtClean="0"/>
              <a:t>(1, 3)</a:t>
            </a:r>
            <a:r>
              <a:rPr lang="zh-TW" altLang="en-US" dirty="0" smtClean="0"/>
              <a:t>，此行最大的值為</a:t>
            </a:r>
            <a:r>
              <a:rPr lang="en-US" altLang="zh-TW" dirty="0" smtClean="0"/>
              <a:t>1</a:t>
            </a:r>
            <a:r>
              <a:rPr lang="zh-TW" altLang="en-US" dirty="0" smtClean="0"/>
              <a:t> </a:t>
            </a:r>
            <a:r>
              <a:rPr lang="en-US" altLang="zh-TW" dirty="0" smtClean="0"/>
              <a:t>&gt;</a:t>
            </a:r>
            <a:r>
              <a:rPr lang="zh-TW" altLang="en-US" dirty="0" smtClean="0"/>
              <a:t> </a:t>
            </a:r>
            <a:r>
              <a:rPr lang="en-US" altLang="zh-TW" dirty="0" smtClean="0"/>
              <a:t>0</a:t>
            </a:r>
            <a:r>
              <a:rPr lang="zh-TW" altLang="en-US" dirty="0" smtClean="0"/>
              <a:t>，大於當前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長度，故更新之。</a:t>
            </a:r>
            <a:endParaRPr lang="en-US" altLang="zh-TW" dirty="0" smtClean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4278720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92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</a:p>
          <a:p>
            <a:r>
              <a:rPr lang="en-US" altLang="zh-TW" dirty="0" smtClean="0"/>
              <a:t>M = (1, 3), (2, 2), (2,</a:t>
            </a:r>
            <a:r>
              <a:rPr lang="zh-TW" altLang="en-US" dirty="0" smtClean="0"/>
              <a:t> </a:t>
            </a:r>
            <a:r>
              <a:rPr lang="en-US" altLang="zh-TW" dirty="0" smtClean="0"/>
              <a:t>6)</a:t>
            </a:r>
            <a:br>
              <a:rPr lang="en-US" altLang="zh-TW" dirty="0" smtClean="0"/>
            </a:br>
            <a:r>
              <a:rPr lang="en-US" altLang="zh-TW" dirty="0" smtClean="0"/>
              <a:t>(3, 2), (3, 6), (4, 4),</a:t>
            </a:r>
            <a:br>
              <a:rPr lang="en-US" altLang="zh-TW" dirty="0" smtClean="0"/>
            </a:br>
            <a:r>
              <a:rPr lang="en-US" altLang="zh-TW" dirty="0" smtClean="0"/>
              <a:t>(4, 5), (5, 7), (6, 3)</a:t>
            </a:r>
          </a:p>
          <a:p>
            <a:r>
              <a:rPr lang="zh-TW" altLang="en-US" dirty="0" smtClean="0"/>
              <a:t>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/>
              <a:t>1</a:t>
            </a:r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 = 2</a:t>
            </a:r>
            <a:r>
              <a:rPr lang="zh-TW" altLang="en-US" dirty="0" smtClean="0"/>
              <a:t>，處理</a:t>
            </a:r>
            <a:r>
              <a:rPr lang="en-US" altLang="zh-TW" dirty="0" smtClean="0"/>
              <a:t>(2, </a:t>
            </a:r>
            <a:r>
              <a:rPr lang="en-US" altLang="zh-TW" dirty="0"/>
              <a:t>2</a:t>
            </a:r>
            <a:r>
              <a:rPr lang="en-US" altLang="zh-TW" dirty="0" smtClean="0"/>
              <a:t>)</a:t>
            </a:r>
            <a:r>
              <a:rPr lang="zh-TW" altLang="en-US" dirty="0" smtClean="0"/>
              <a:t>與</a:t>
            </a:r>
            <a:r>
              <a:rPr lang="en-US" altLang="zh-TW" dirty="0" smtClean="0"/>
              <a:t>(2, 6)</a:t>
            </a:r>
            <a:r>
              <a:rPr lang="zh-TW" altLang="en-US" dirty="0" smtClean="0"/>
              <a:t>，此行最大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的值為</a:t>
            </a:r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&gt;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  <a:r>
              <a:rPr lang="zh-TW" altLang="en-US" dirty="0" smtClean="0"/>
              <a:t>，大於當前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長度，故更新之。</a:t>
            </a:r>
            <a:endParaRPr lang="en-US" altLang="zh-TW" dirty="0" smtClean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855651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5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</a:p>
          <a:p>
            <a:r>
              <a:rPr lang="en-US" altLang="zh-TW" dirty="0" smtClean="0"/>
              <a:t>M = (1, 3), (2, 2), (2,</a:t>
            </a:r>
            <a:r>
              <a:rPr lang="zh-TW" altLang="en-US" dirty="0" smtClean="0"/>
              <a:t> </a:t>
            </a:r>
            <a:r>
              <a:rPr lang="en-US" altLang="zh-TW" dirty="0" smtClean="0"/>
              <a:t>6)</a:t>
            </a:r>
            <a:br>
              <a:rPr lang="en-US" altLang="zh-TW" dirty="0" smtClean="0"/>
            </a:br>
            <a:r>
              <a:rPr lang="en-US" altLang="zh-TW" dirty="0" smtClean="0"/>
              <a:t>(3, 2), (3, 6), (4, 4),</a:t>
            </a:r>
            <a:br>
              <a:rPr lang="en-US" altLang="zh-TW" dirty="0" smtClean="0"/>
            </a:br>
            <a:r>
              <a:rPr lang="en-US" altLang="zh-TW" dirty="0" smtClean="0"/>
              <a:t>(4, 5), (5, 7), (6, 3)</a:t>
            </a:r>
          </a:p>
          <a:p>
            <a:r>
              <a:rPr lang="zh-TW" altLang="en-US" dirty="0" smtClean="0"/>
              <a:t>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 = 3</a:t>
            </a:r>
            <a:r>
              <a:rPr lang="zh-TW" altLang="en-US" dirty="0" smtClean="0"/>
              <a:t>，處理</a:t>
            </a:r>
            <a:r>
              <a:rPr lang="en-US" altLang="zh-TW" dirty="0" smtClean="0"/>
              <a:t>(3, </a:t>
            </a:r>
            <a:r>
              <a:rPr lang="en-US" altLang="zh-TW" dirty="0"/>
              <a:t>2</a:t>
            </a:r>
            <a:r>
              <a:rPr lang="en-US" altLang="zh-TW" dirty="0" smtClean="0"/>
              <a:t>)</a:t>
            </a:r>
            <a:r>
              <a:rPr lang="zh-TW" altLang="en-US" dirty="0" smtClean="0"/>
              <a:t>與</a:t>
            </a:r>
            <a:r>
              <a:rPr lang="en-US" altLang="zh-TW" dirty="0" smtClean="0"/>
              <a:t>(3, 6)</a:t>
            </a:r>
            <a:r>
              <a:rPr lang="zh-TW" altLang="en-US" dirty="0" smtClean="0"/>
              <a:t>，此行最大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的值為</a:t>
            </a:r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  <a:r>
              <a:rPr lang="zh-TW" altLang="en-US" dirty="0" smtClean="0"/>
              <a:t>，等於當前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長度，不更新。</a:t>
            </a:r>
            <a:endParaRPr lang="en-US" altLang="zh-TW" dirty="0" smtClean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4700808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07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</a:p>
          <a:p>
            <a:r>
              <a:rPr lang="en-US" altLang="zh-TW" dirty="0" smtClean="0"/>
              <a:t>M = (1, 3), (2, 2), (2,</a:t>
            </a:r>
            <a:r>
              <a:rPr lang="zh-TW" altLang="en-US" dirty="0" smtClean="0"/>
              <a:t> </a:t>
            </a:r>
            <a:r>
              <a:rPr lang="en-US" altLang="zh-TW" dirty="0" smtClean="0"/>
              <a:t>6)</a:t>
            </a:r>
            <a:br>
              <a:rPr lang="en-US" altLang="zh-TW" dirty="0" smtClean="0"/>
            </a:br>
            <a:r>
              <a:rPr lang="en-US" altLang="zh-TW" dirty="0" smtClean="0"/>
              <a:t>(3, 2), (3, 6), (4, 4),</a:t>
            </a:r>
            <a:br>
              <a:rPr lang="en-US" altLang="zh-TW" dirty="0" smtClean="0"/>
            </a:br>
            <a:r>
              <a:rPr lang="en-US" altLang="zh-TW" dirty="0" smtClean="0"/>
              <a:t>(4, 5), (5, 7), (6, 3)</a:t>
            </a:r>
          </a:p>
          <a:p>
            <a:r>
              <a:rPr lang="zh-TW" altLang="en-US" dirty="0" smtClean="0"/>
              <a:t>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 = 4</a:t>
            </a:r>
            <a:r>
              <a:rPr lang="zh-TW" altLang="en-US" dirty="0" smtClean="0"/>
              <a:t>，處理</a:t>
            </a:r>
            <a:r>
              <a:rPr lang="en-US" altLang="zh-TW" dirty="0" smtClean="0"/>
              <a:t>(4, 4)</a:t>
            </a:r>
            <a:r>
              <a:rPr lang="zh-TW" altLang="en-US" dirty="0" smtClean="0"/>
              <a:t>與</a:t>
            </a:r>
            <a:r>
              <a:rPr lang="en-US" altLang="zh-TW" dirty="0" smtClean="0"/>
              <a:t>(4, </a:t>
            </a:r>
            <a:r>
              <a:rPr lang="en-US" altLang="zh-TW" dirty="0"/>
              <a:t>5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，此行最大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的值為</a:t>
            </a:r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  <a:r>
              <a:rPr lang="zh-TW" altLang="en-US" dirty="0" smtClean="0"/>
              <a:t>，等於當前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長度，不更新。</a:t>
            </a:r>
            <a:endParaRPr lang="en-US" altLang="zh-TW" dirty="0" smtClean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4898310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7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</a:p>
          <a:p>
            <a:r>
              <a:rPr lang="en-US" altLang="zh-TW" dirty="0" smtClean="0"/>
              <a:t>M = (1, 3), (2, 2), (2,</a:t>
            </a:r>
            <a:r>
              <a:rPr lang="zh-TW" altLang="en-US" dirty="0" smtClean="0"/>
              <a:t> </a:t>
            </a:r>
            <a:r>
              <a:rPr lang="en-US" altLang="zh-TW" dirty="0" smtClean="0"/>
              <a:t>6)</a:t>
            </a:r>
            <a:br>
              <a:rPr lang="en-US" altLang="zh-TW" dirty="0" smtClean="0"/>
            </a:br>
            <a:r>
              <a:rPr lang="en-US" altLang="zh-TW" dirty="0" smtClean="0"/>
              <a:t>(3, 2), (3, 6), (4, 4),</a:t>
            </a:r>
            <a:br>
              <a:rPr lang="en-US" altLang="zh-TW" dirty="0" smtClean="0"/>
            </a:br>
            <a:r>
              <a:rPr lang="en-US" altLang="zh-TW" dirty="0" smtClean="0"/>
              <a:t>(4, 5), (5, 7), (6, 3)</a:t>
            </a:r>
          </a:p>
          <a:p>
            <a:r>
              <a:rPr lang="zh-TW" altLang="en-US" dirty="0" smtClean="0"/>
              <a:t>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 = 5</a:t>
            </a:r>
            <a:r>
              <a:rPr lang="zh-TW" altLang="en-US" dirty="0" smtClean="0"/>
              <a:t>，處理</a:t>
            </a:r>
            <a:r>
              <a:rPr lang="en-US" altLang="zh-TW" dirty="0" smtClean="0"/>
              <a:t>(5, </a:t>
            </a:r>
            <a:r>
              <a:rPr lang="en-US" altLang="zh-TW" dirty="0"/>
              <a:t>1</a:t>
            </a:r>
            <a:r>
              <a:rPr lang="en-US" altLang="zh-TW" dirty="0" smtClean="0"/>
              <a:t>)</a:t>
            </a:r>
            <a:r>
              <a:rPr lang="zh-TW" altLang="en-US" dirty="0" smtClean="0"/>
              <a:t>與</a:t>
            </a:r>
            <a:r>
              <a:rPr lang="en-US" altLang="zh-TW" dirty="0" smtClean="0"/>
              <a:t>(5, 7)</a:t>
            </a:r>
            <a:r>
              <a:rPr lang="zh-TW" altLang="en-US" dirty="0" smtClean="0"/>
              <a:t>，此行最大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的值為</a:t>
            </a:r>
            <a:r>
              <a:rPr lang="en-US" altLang="zh-TW" dirty="0"/>
              <a:t>3</a:t>
            </a:r>
            <a:r>
              <a:rPr lang="zh-TW" altLang="en-US" dirty="0" smtClean="0"/>
              <a:t> </a:t>
            </a:r>
            <a:r>
              <a:rPr lang="en-US" altLang="zh-TW" dirty="0"/>
              <a:t>&gt;</a:t>
            </a:r>
            <a:r>
              <a:rPr lang="zh-TW" altLang="en-US" dirty="0" smtClean="0"/>
              <a:t> </a:t>
            </a:r>
            <a:r>
              <a:rPr lang="en-US" altLang="zh-TW" dirty="0" smtClean="0"/>
              <a:t>2</a:t>
            </a:r>
            <a:r>
              <a:rPr lang="zh-TW" altLang="en-US" dirty="0" smtClean="0"/>
              <a:t>，大於當前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長度，故更新之。</a:t>
            </a:r>
            <a:endParaRPr lang="en-US" altLang="zh-TW" dirty="0" smtClean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1683291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97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X = c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d a c</a:t>
            </a:r>
          </a:p>
          <a:p>
            <a:r>
              <a:rPr lang="en-US" altLang="zh-TW" dirty="0" smtClean="0"/>
              <a:t>Y = a b c d </a:t>
            </a:r>
            <a:r>
              <a:rPr lang="en-US" altLang="zh-TW" dirty="0" err="1" smtClean="0"/>
              <a:t>d</a:t>
            </a:r>
            <a:r>
              <a:rPr lang="en-US" altLang="zh-TW" dirty="0" smtClean="0"/>
              <a:t> b a</a:t>
            </a:r>
          </a:p>
          <a:p>
            <a:r>
              <a:rPr lang="en-US" altLang="zh-TW" dirty="0" smtClean="0"/>
              <a:t>M = (1, 3), (2, 2), (2,6)</a:t>
            </a:r>
            <a:br>
              <a:rPr lang="en-US" altLang="zh-TW" dirty="0" smtClean="0"/>
            </a:br>
            <a:r>
              <a:rPr lang="en-US" altLang="zh-TW" dirty="0" smtClean="0"/>
              <a:t>(3, 2), (3, 6), (4, 4),</a:t>
            </a:r>
            <a:br>
              <a:rPr lang="en-US" altLang="zh-TW" dirty="0" smtClean="0"/>
            </a:br>
            <a:r>
              <a:rPr lang="en-US" altLang="zh-TW" dirty="0" smtClean="0"/>
              <a:t>(4, 5), (5, 7), (6, 3)</a:t>
            </a:r>
          </a:p>
          <a:p>
            <a:r>
              <a:rPr lang="zh-TW" altLang="en-US" dirty="0" smtClean="0"/>
              <a:t>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/>
              <a:t>3</a:t>
            </a:r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 = 6</a:t>
            </a:r>
            <a:r>
              <a:rPr lang="zh-TW" altLang="en-US" dirty="0" smtClean="0"/>
              <a:t>，處理</a:t>
            </a:r>
            <a:r>
              <a:rPr lang="en-US" altLang="zh-TW" dirty="0" smtClean="0"/>
              <a:t>(6, 3)</a:t>
            </a:r>
            <a:r>
              <a:rPr lang="zh-TW" altLang="en-US" dirty="0" smtClean="0"/>
              <a:t>，此行最大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的值為</a:t>
            </a:r>
            <a:r>
              <a:rPr lang="en-US" altLang="zh-TW" dirty="0" smtClean="0"/>
              <a:t>2</a:t>
            </a:r>
            <a:r>
              <a:rPr lang="zh-TW" altLang="en-US" dirty="0" smtClean="0"/>
              <a:t> </a:t>
            </a:r>
            <a:r>
              <a:rPr lang="en-US" altLang="zh-TW" dirty="0" smtClean="0"/>
              <a:t>&lt;</a:t>
            </a:r>
            <a:r>
              <a:rPr lang="zh-TW" altLang="en-US" dirty="0" smtClean="0"/>
              <a:t> </a:t>
            </a:r>
            <a:r>
              <a:rPr lang="en-US" altLang="zh-TW" dirty="0" smtClean="0"/>
              <a:t>3</a:t>
            </a:r>
            <a:r>
              <a:rPr lang="zh-TW" altLang="en-US" dirty="0" smtClean="0"/>
              <a:t>，</a:t>
            </a:r>
            <a:r>
              <a:rPr lang="zh-TW" altLang="en-US" dirty="0"/>
              <a:t>小</a:t>
            </a:r>
            <a:r>
              <a:rPr lang="zh-TW" altLang="en-US" dirty="0" smtClean="0"/>
              <a:t>於當前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長度，不更新。</a:t>
            </a:r>
            <a:endParaRPr lang="en-US" altLang="zh-TW" dirty="0" smtClean="0"/>
          </a:p>
          <a:p>
            <a:r>
              <a:rPr lang="zh-TW" altLang="en-US" dirty="0"/>
              <a:t>完成，</a:t>
            </a:r>
            <a:r>
              <a:rPr lang="en-US" altLang="zh-TW" dirty="0" smtClean="0"/>
              <a:t>LCS</a:t>
            </a:r>
            <a:r>
              <a:rPr lang="zh-TW" altLang="en-US" dirty="0" smtClean="0"/>
              <a:t>長度為</a:t>
            </a:r>
            <a:r>
              <a:rPr lang="en-US" altLang="zh-TW" dirty="0" smtClean="0"/>
              <a:t>3</a:t>
            </a:r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6154369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58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找出</a:t>
                </a:r>
                <a:r>
                  <a:rPr lang="en-US" altLang="zh-TW" dirty="0" smtClean="0"/>
                  <a:t>Set M</a:t>
                </a:r>
                <a:r>
                  <a:rPr lang="zh-TW" altLang="en-US" dirty="0" smtClean="0"/>
                  <a:t>需花費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/>
                      </a:rPr>
                      <m:t>O</m:t>
                    </m:r>
                    <m:r>
                      <a:rPr lang="en-US" altLang="zh-TW" b="0" i="0" dirty="0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R</m:t>
                    </m:r>
                    <m:func>
                      <m:func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 dirty="0" smtClean="0">
                            <a:latin typeface="Cambria Math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i="0" dirty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func>
                    <m:r>
                      <a:rPr lang="en-US" altLang="zh-TW" b="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r>
                  <a:rPr lang="zh-TW" altLang="en-US" dirty="0" smtClean="0"/>
                  <a:t>更新每次的</a:t>
                </a:r>
                <a:r>
                  <a:rPr lang="en-US" altLang="zh-TW" dirty="0" smtClean="0"/>
                  <a:t>RMQ</a:t>
                </a:r>
                <a:r>
                  <a:rPr lang="zh-TW" altLang="en-US" dirty="0" smtClean="0"/>
                  <a:t>前處理需要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r>
                      <a:rPr lang="en-US" altLang="zh-TW" b="0" i="1" dirty="0" smtClean="0">
                        <a:latin typeface="Cambria Math"/>
                      </a:rPr>
                      <m:t>(</m:t>
                    </m:r>
                    <m:r>
                      <a:rPr lang="en-US" altLang="zh-TW" b="0" i="1" dirty="0" smtClean="0">
                        <a:latin typeface="Cambria Math"/>
                      </a:rPr>
                      <m:t>𝑛</m:t>
                    </m:r>
                    <m:r>
                      <a:rPr lang="en-US" altLang="zh-TW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，做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次，故需要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b="0" dirty="0" smtClean="0"/>
              </a:p>
              <a:p>
                <a:r>
                  <a:rPr lang="en-US" altLang="zh-TW" dirty="0" smtClean="0"/>
                  <a:t>LCS-1</a:t>
                </a:r>
                <a:r>
                  <a:rPr lang="zh-TW" altLang="en-US" dirty="0" smtClean="0">
                    <a:latin typeface="Cambria Math"/>
                  </a:rPr>
                  <a:t>共需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r>
                      <a:rPr lang="en-US" altLang="zh-TW" dirty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R</m:t>
                    </m:r>
                    <m:func>
                      <m:funcPr>
                        <m:ctrlPr>
                          <a:rPr lang="en-US" altLang="zh-TW" i="1" dirty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func>
                    <m:r>
                      <a:rPr lang="en-US" altLang="zh-TW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i="1" dirty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i="1" dirty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endParaRPr lang="en-US" altLang="zh-TW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1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13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vEB</a:t>
            </a:r>
            <a:r>
              <a:rPr lang="en-US" altLang="zh-TW" dirty="0" smtClean="0"/>
              <a:t> tree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van </a:t>
                </a:r>
                <a:r>
                  <a:rPr lang="en-US" altLang="zh-TW" dirty="0" err="1"/>
                  <a:t>Emde</a:t>
                </a:r>
                <a:r>
                  <a:rPr lang="en-US" altLang="zh-TW" dirty="0"/>
                  <a:t> Boas </a:t>
                </a:r>
                <a:r>
                  <a:rPr lang="en-US" altLang="zh-TW" dirty="0" smtClean="0"/>
                  <a:t>Tree</a:t>
                </a:r>
              </a:p>
              <a:p>
                <a:r>
                  <a:rPr lang="en-US" altLang="zh-TW" dirty="0" smtClean="0"/>
                  <a:t>Search: O(log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M)</a:t>
                </a:r>
              </a:p>
              <a:p>
                <a:r>
                  <a:rPr lang="en-US" altLang="zh-TW" dirty="0" smtClean="0"/>
                  <a:t>Insert: O(log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M)</a:t>
                </a:r>
              </a:p>
              <a:p>
                <a:r>
                  <a:rPr lang="en-US" altLang="zh-TW" dirty="0" smtClean="0"/>
                  <a:t>Delete: O(log </a:t>
                </a:r>
                <a:r>
                  <a:rPr lang="en-US" altLang="zh-TW" dirty="0" err="1"/>
                  <a:t>log</a:t>
                </a:r>
                <a:r>
                  <a:rPr lang="en-US" altLang="zh-TW" dirty="0"/>
                  <a:t> M</a:t>
                </a:r>
                <a:r>
                  <a:rPr lang="en-US" altLang="zh-TW" dirty="0" smtClean="0"/>
                  <a:t>)</a:t>
                </a:r>
              </a:p>
              <a:p>
                <a:r>
                  <a:rPr lang="zh-TW" altLang="en-US" dirty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TW" altLang="en-US" dirty="0"/>
                  <a:t>為一 </a:t>
                </a:r>
                <a:r>
                  <a:rPr lang="en-US" altLang="zh-TW" dirty="0" err="1"/>
                  <a:t>vEB</a:t>
                </a:r>
                <a:r>
                  <a:rPr lang="en-US" altLang="zh-TW" dirty="0"/>
                  <a:t> tree</a:t>
                </a:r>
                <a:r>
                  <a:rPr lang="zh-TW" altLang="en-US" dirty="0"/>
                  <a:t>，其中每個元素</a:t>
                </a:r>
                <a:r>
                  <a:rPr lang="en-US" altLang="zh-TW" dirty="0"/>
                  <a:t>e</a:t>
                </a:r>
                <a:r>
                  <a:rPr lang="zh-TW" altLang="en-US" dirty="0"/>
                  <a:t>記錄</a:t>
                </a:r>
                <a:r>
                  <a:rPr lang="en-US" altLang="zh-TW" dirty="0"/>
                  <a:t>(Value, Position)</a:t>
                </a:r>
                <a:r>
                  <a:rPr lang="zh-TW" altLang="en-US" dirty="0"/>
                  <a:t>，</a:t>
                </a:r>
                <a:r>
                  <a:rPr lang="zh-TW" altLang="en-US" dirty="0" smtClean="0"/>
                  <a:t>即當前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LCS</a:t>
                </a:r>
                <a:r>
                  <a:rPr lang="zh-TW" altLang="en-US" dirty="0"/>
                  <a:t>長度</a:t>
                </a:r>
                <a:r>
                  <a:rPr lang="zh-TW" altLang="en-US" dirty="0" smtClean="0"/>
                  <a:t>，與其所在的第</a:t>
                </a:r>
                <a:r>
                  <a:rPr lang="en-US" altLang="zh-TW" dirty="0"/>
                  <a:t>j</a:t>
                </a:r>
                <a:r>
                  <a:rPr lang="zh-TW" altLang="en-US" dirty="0"/>
                  <a:t>個</a:t>
                </a:r>
                <a:r>
                  <a:rPr lang="zh-TW" altLang="en-US" dirty="0" smtClean="0"/>
                  <a:t>位置。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93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zh-TW" altLang="en-US" dirty="0" smtClean="0"/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α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α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α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:r>
                  <a:rPr lang="zh-TW" altLang="en-US" dirty="0" smtClean="0"/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𝑛𝑒𝑥𝑡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=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𝑛𝑒𝑥𝑡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RMQ(1..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dirty="0" smtClean="0"/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α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𝑝𝑟𝑒𝑣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0" smtClean="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Pos</m:t>
                    </m:r>
                  </m:oMath>
                </a14:m>
                <a:r>
                  <a:rPr lang="en-US" altLang="zh-TW" dirty="0" smtClean="0"/>
                  <a:t> &lt;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dirty="0" smtClean="0"/>
                  <a:t>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/>
                  <a:t>RMQ(1..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α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&lt;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dirty="0"/>
                  <a:t>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/>
                  <a:t>RMQ(1..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dirty="0"/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α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/>
                  <a:t> &lt;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dirty="0"/>
                  <a:t>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Steps to answer the query RMQ(1..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𝑥</m:t>
                    </m:r>
                  </m:oMath>
                </a14:m>
                <a:r>
                  <a:rPr lang="en-US" altLang="zh-TW" dirty="0" smtClean="0"/>
                  <a:t>):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1: Insert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𝑒</m:t>
                    </m:r>
                    <m:r>
                      <a:rPr lang="en-US" altLang="zh-TW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dirty="0" smtClean="0"/>
                  <a:t> =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null</m:t>
                    </m:r>
                    <m:r>
                      <a:rPr lang="en-US" altLang="zh-TW" b="0" i="0" smtClean="0">
                        <a:latin typeface="Cambria Math"/>
                      </a:rPr>
                      <m:t>, </m:t>
                    </m:r>
                    <m:r>
                      <a:rPr lang="en-US" altLang="zh-TW" i="1">
                        <a:latin typeface="Cambria Math"/>
                      </a:rPr>
                      <m:t>𝑥</m:t>
                    </m:r>
                    <m:r>
                      <a:rPr lang="en-US" altLang="zh-TW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dirty="0" smtClean="0"/>
                  <a:t>)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2: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𝑅𝑒𝑠𝑢𝑙𝑡</m:t>
                    </m:r>
                  </m:oMath>
                </a14:m>
                <a:r>
                  <a:rPr lang="en-US" altLang="zh-TW" dirty="0" smtClean="0"/>
                  <a:t> =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𝑁𝑒𝑥𝑡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.</m:t>
                    </m:r>
                    <m:r>
                      <a:rPr lang="en-US" altLang="zh-TW" b="0" i="1" smtClean="0">
                        <a:latin typeface="Cambria Math"/>
                      </a:rPr>
                      <m:t>𝑉𝑎𝑙𝑢𝑒</m:t>
                    </m:r>
                  </m:oMath>
                </a14:m>
                <a:r>
                  <a:rPr lang="en-US" altLang="zh-TW" b="0" dirty="0" smtClean="0"/>
                  <a:t/>
                </a:r>
                <a:br>
                  <a:rPr lang="en-US" altLang="zh-TW" b="0" dirty="0" smtClean="0"/>
                </a:br>
                <a:r>
                  <a:rPr lang="en-US" altLang="zh-TW" dirty="0" smtClean="0"/>
                  <a:t>3: Delete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𝑒</m:t>
                    </m:r>
                    <m:r>
                      <a:rPr lang="en-US" altLang="zh-TW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dirty="0" smtClean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4: </a:t>
                </a:r>
                <a:r>
                  <a:rPr lang="en-US" altLang="zh-TW" b="1" dirty="0" smtClean="0"/>
                  <a:t>return</a:t>
                </a:r>
                <a:r>
                  <a:rPr lang="en-US" altLang="zh-TW" b="1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𝑅𝑒𝑠𝑢𝑙𝑡</m:t>
                    </m:r>
                  </m:oMath>
                </a14:m>
                <a:endParaRPr lang="en-US" altLang="zh-TW" b="1" dirty="0" smtClean="0"/>
              </a:p>
              <a:p>
                <a:r>
                  <a:rPr lang="en-US" altLang="zh-TW" dirty="0"/>
                  <a:t>query</a:t>
                </a:r>
                <a:r>
                  <a:rPr lang="zh-TW" altLang="en-US" dirty="0"/>
                  <a:t>的時間增為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r>
                      <a:rPr lang="en-US" altLang="zh-TW" dirty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altLang="zh-TW" i="1" dirty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func>
                    <m:r>
                      <a:rPr lang="en-US" altLang="zh-TW" i="1" dirty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/>
                  <a:t>，但不</a:t>
                </a:r>
                <a:r>
                  <a:rPr lang="zh-TW" altLang="en-US" dirty="0" smtClean="0"/>
                  <a:t>需要預處理</a:t>
                </a:r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185" t="-18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55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800" dirty="0" smtClean="0"/>
                  <a:t>初始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(0,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j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TW" sz="2800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US" altLang="zh-TW" sz="2800" dirty="0" smtClean="0"/>
                  <a:t>) </a:t>
                </a:r>
                <a:r>
                  <a:rPr lang="zh-TW" altLang="en-US" sz="2800" dirty="0" smtClean="0"/>
                  <a:t>→ </a:t>
                </a:r>
                <a:r>
                  <a:rPr lang="en-US" altLang="zh-TW" sz="2800" dirty="0" smtClean="0"/>
                  <a:t>(1, n) </a:t>
                </a:r>
                <a:r>
                  <a:rPr lang="zh-TW" altLang="en-US" sz="2800" dirty="0" smtClean="0"/>
                  <a:t>→ </a:t>
                </a:r>
                <a:r>
                  <a:rPr lang="en-US" altLang="zh-TW" sz="2800" dirty="0"/>
                  <a:t>(∞, ∞</a:t>
                </a:r>
                <a:r>
                  <a:rPr lang="en-US" altLang="zh-TW" sz="2800" dirty="0" smtClean="0"/>
                  <a:t>)</a:t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確保</a:t>
                </a:r>
                <a:r>
                  <a:rPr lang="en-US" altLang="zh-TW" sz="2800" dirty="0" smtClean="0"/>
                  <a:t>query</a:t>
                </a:r>
                <a:r>
                  <a:rPr lang="zh-TW" altLang="en-US" sz="2800" dirty="0" smtClean="0"/>
                  <a:t>所加入的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/>
                      </a:rPr>
                      <m:t>𝑒</m:t>
                    </m:r>
                    <m:r>
                      <a:rPr lang="en-US" altLang="zh-TW" sz="2800" i="1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能夠在範圍內</a:t>
                </a:r>
                <a:endParaRPr lang="en-US" altLang="zh-TW" sz="2800" dirty="0" smtClean="0"/>
              </a:p>
              <a:p>
                <a:r>
                  <a:rPr lang="zh-TW" altLang="en-US" sz="2800" dirty="0"/>
                  <a:t>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1.</a:t>
                </a:r>
                <a:r>
                  <a:rPr lang="zh-TW" altLang="en-US" sz="2800" dirty="0" smtClean="0"/>
                  <a:t> 當</a:t>
                </a:r>
                <a:r>
                  <a:rPr lang="en-US" altLang="zh-TW" sz="2800" dirty="0" smtClean="0"/>
                  <a:t>LCS</a:t>
                </a:r>
                <a:r>
                  <a:rPr lang="zh-TW" altLang="en-US" sz="2800" dirty="0" smtClean="0"/>
                  <a:t>長度增加時</a:t>
                </a:r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…</a:t>
                </a:r>
                <a:r>
                  <a:rPr lang="zh-TW" altLang="en-US" sz="2800" dirty="0" smtClean="0"/>
                  <a:t>→ </a:t>
                </a:r>
                <a:r>
                  <a:rPr lang="en-US" altLang="zh-TW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2800" dirty="0"/>
                          <m:t>α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8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)</a:t>
                </a:r>
                <a:r>
                  <a:rPr lang="zh-TW" altLang="en-US" sz="2800" dirty="0" smtClean="0"/>
                  <a:t>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2800" dirty="0"/>
                          <m:t>α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/>
                      </a:rPr>
                      <m:t>,</m:t>
                    </m:r>
                    <m:r>
                      <a:rPr lang="en-US" altLang="zh-TW" sz="2800" i="1">
                        <a:latin typeface="Cambria Math"/>
                      </a:rPr>
                      <m:t>𝑥</m:t>
                    </m:r>
                    <m:r>
                      <a:rPr lang="en-US" altLang="zh-TW" sz="2800" i="1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sz="2800" dirty="0" smtClean="0"/>
                  <a:t>)</a:t>
                </a:r>
                <a:r>
                  <a:rPr lang="zh-TW" altLang="en-US" sz="2800" dirty="0" smtClean="0"/>
                  <a:t> →</a:t>
                </a:r>
                <a:r>
                  <a:rPr lang="zh-TW" altLang="en-US" sz="2800" dirty="0"/>
                  <a:t> </a:t>
                </a:r>
                <a:r>
                  <a:rPr lang="en-US" altLang="zh-TW" sz="2800" dirty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>
                        <a:latin typeface="Cambria Math"/>
                      </a:rPr>
                      <m:t>′</m:t>
                    </m:r>
                    <m:r>
                      <a:rPr lang="en-US" altLang="zh-TW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800" dirty="0"/>
                  <a:t>)</a:t>
                </a:r>
                <a:r>
                  <a:rPr lang="zh-TW" altLang="en-US" sz="2800" dirty="0" smtClean="0"/>
                  <a:t>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2800" dirty="0"/>
                          <m:t>α</m:t>
                        </m:r>
                      </m:e>
                      <m:sub>
                        <m:r>
                          <a:rPr lang="en-US" altLang="zh-TW" sz="2800" b="0" i="1" dirty="0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8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800" dirty="0"/>
                  <a:t>)</a:t>
                </a:r>
                <a:r>
                  <a:rPr lang="zh-TW" altLang="en-US" sz="2800" dirty="0"/>
                  <a:t> →</a:t>
                </a:r>
                <a:r>
                  <a:rPr lang="en-US" altLang="zh-TW" sz="2800" dirty="0" smtClean="0"/>
                  <a:t>…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2.</a:t>
                </a:r>
                <a:r>
                  <a:rPr lang="zh-TW" altLang="en-US" sz="2800" dirty="0" smtClean="0"/>
                  <a:t> 當</a:t>
                </a:r>
                <a:r>
                  <a:rPr lang="en-US" altLang="zh-TW" sz="2800" dirty="0" smtClean="0"/>
                  <a:t>LCS</a:t>
                </a:r>
                <a:r>
                  <a:rPr lang="zh-TW" altLang="en-US" sz="2800" dirty="0" smtClean="0"/>
                  <a:t>長度為</a:t>
                </a:r>
                <a:r>
                  <a:rPr lang="en-US" altLang="zh-TW" sz="2800" dirty="0" smtClean="0"/>
                  <a:t>k</a:t>
                </a:r>
                <a:r>
                  <a:rPr lang="zh-TW" altLang="en-US" sz="2800" dirty="0" smtClean="0"/>
                  <a:t>的最小的</a:t>
                </a:r>
                <a:r>
                  <a:rPr lang="en-US" altLang="zh-TW" sz="2800" dirty="0" smtClean="0"/>
                  <a:t>j</a:t>
                </a:r>
                <a:r>
                  <a:rPr lang="zh-TW" altLang="en-US" sz="2800" dirty="0" smtClean="0"/>
                  <a:t>向左移動時</a:t>
                </a:r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…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2800" dirty="0"/>
                          <m:t>α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8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800" dirty="0"/>
                  <a:t>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2800" dirty="0"/>
                          <m:t>α</m:t>
                        </m:r>
                      </m:e>
                      <m:sub>
                        <m:r>
                          <a:rPr lang="en-US" altLang="zh-TW" sz="2800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/>
                      </a:rPr>
                      <m:t>,</m:t>
                    </m:r>
                    <m:r>
                      <a:rPr lang="en-US" altLang="zh-TW" sz="2800" i="1">
                        <a:latin typeface="Cambria Math"/>
                      </a:rPr>
                      <m:t>𝑥</m:t>
                    </m:r>
                    <m:r>
                      <a:rPr lang="en-US" altLang="zh-TW" sz="2800" i="1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sz="2800" dirty="0"/>
                  <a:t>)</a:t>
                </a:r>
                <a:r>
                  <a:rPr lang="zh-TW" altLang="en-US" sz="2800" dirty="0"/>
                  <a:t> →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2800" dirty="0"/>
                          <m:t>α</m:t>
                        </m:r>
                      </m:e>
                      <m:sub>
                        <m:r>
                          <a:rPr lang="en-US" altLang="zh-TW" sz="2800" i="1" dirty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altLang="zh-TW" sz="2800" b="0" i="1" dirty="0" smtClean="0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0" dirty="0" smtClean="0">
                        <a:latin typeface="Cambria Math"/>
                      </a:rPr>
                      <m:t>′</m:t>
                    </m:r>
                    <m:r>
                      <a:rPr lang="en-US" altLang="zh-TW" sz="28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800" dirty="0"/>
                  <a:t>)</a:t>
                </a:r>
                <a:r>
                  <a:rPr lang="zh-TW" altLang="en-US" sz="2800" dirty="0"/>
                  <a:t> →</a:t>
                </a:r>
                <a:r>
                  <a:rPr lang="en-US" altLang="zh-TW" sz="2800" dirty="0" smtClean="0"/>
                  <a:t>…</a:t>
                </a:r>
                <a:br>
                  <a:rPr lang="en-US" altLang="zh-TW" sz="2800" dirty="0" smtClean="0"/>
                </a:br>
                <a:endParaRPr lang="en-US" altLang="zh-TW" sz="28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78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(0, 2)</a:t>
                </a:r>
                <a:r>
                  <a:rPr lang="zh-TW" altLang="en-US" sz="2800" dirty="0" smtClean="0"/>
                  <a:t> → </a:t>
                </a:r>
                <a:r>
                  <a:rPr lang="en-US" altLang="zh-TW" sz="2800" dirty="0" smtClean="0"/>
                  <a:t>(1, 7)</a:t>
                </a:r>
                <a:r>
                  <a:rPr lang="zh-TW" altLang="en-US" sz="2800" dirty="0" smtClean="0"/>
                  <a:t> → </a:t>
                </a:r>
                <a:r>
                  <a:rPr lang="en-US" altLang="zh-TW" sz="2800" dirty="0" smtClean="0"/>
                  <a:t>(∞, </a:t>
                </a:r>
                <a:r>
                  <a:rPr lang="en-US" altLang="zh-TW" sz="2800" dirty="0"/>
                  <a:t>∞</a:t>
                </a:r>
                <a:r>
                  <a:rPr lang="en-US" altLang="zh-TW" sz="2800" dirty="0" smtClean="0"/>
                  <a:t>)</a:t>
                </a:r>
              </a:p>
              <a:p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(1, 3)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RMQ(1..2)</a:t>
                </a:r>
                <a:r>
                  <a:rPr lang="zh-TW" altLang="en-US" sz="2800" dirty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1</a:t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T[1, 3] = 1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RMQ(1..3)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，無需更新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endParaRPr lang="en-US" altLang="zh-TW" sz="28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8636022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300192" y="2154857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05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(0, 2)</a:t>
                </a:r>
                <a:r>
                  <a:rPr lang="zh-TW" altLang="en-US" sz="2800" dirty="0" smtClean="0"/>
                  <a:t> → </a:t>
                </a:r>
                <a:r>
                  <a:rPr lang="en-US" altLang="zh-TW" sz="2800" dirty="0" smtClean="0"/>
                  <a:t>(1, 7)</a:t>
                </a:r>
                <a:r>
                  <a:rPr lang="zh-TW" altLang="en-US" sz="2800" dirty="0" smtClean="0"/>
                  <a:t> → </a:t>
                </a:r>
                <a:r>
                  <a:rPr lang="en-US" altLang="zh-TW" sz="2800" dirty="0" smtClean="0"/>
                  <a:t>(∞, </a:t>
                </a:r>
                <a:r>
                  <a:rPr lang="en-US" altLang="zh-TW" sz="2800" dirty="0"/>
                  <a:t>∞</a:t>
                </a:r>
                <a:r>
                  <a:rPr lang="en-US" altLang="zh-TW" sz="2800" dirty="0" smtClean="0"/>
                  <a:t>)</a:t>
                </a:r>
              </a:p>
              <a:p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(2, 2)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RMQ(1..1)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1</a:t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T[2, </a:t>
                </a:r>
                <a:r>
                  <a:rPr lang="en-US" altLang="zh-TW" sz="2800" dirty="0"/>
                  <a:t>2</a:t>
                </a:r>
                <a:r>
                  <a:rPr lang="en-US" altLang="zh-TW" sz="2800" dirty="0" smtClean="0"/>
                  <a:t>] = 1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RMQ(1..2)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0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&lt;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，需要更新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(k</a:t>
                </a:r>
                <a:r>
                  <a:rPr lang="zh-TW" altLang="en-US" sz="2800" dirty="0" smtClean="0"/>
                  <a:t>分點左移</a:t>
                </a:r>
                <a:r>
                  <a:rPr lang="en-US" altLang="zh-TW" sz="2800" dirty="0" smtClean="0"/>
                  <a:t>):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(0, 1)</a:t>
                </a:r>
                <a:r>
                  <a:rPr lang="zh-TW" altLang="en-US" sz="2800" dirty="0" smtClean="0"/>
                  <a:t> → </a:t>
                </a: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1, 7)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>(∞, ∞)</a:t>
                </a:r>
              </a:p>
              <a:p>
                <a:endParaRPr lang="en-US" altLang="zh-TW" sz="28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3258223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796136" y="2564904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77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(0, 1)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>(1, 7)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>(∞, ∞)</a:t>
                </a:r>
              </a:p>
              <a:p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(2, 6)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RMQ(1..5)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1</a:t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T[2, 6] = 2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RMQ(1..6)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&lt;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，需要更新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(LCS</a:t>
                </a:r>
                <a:r>
                  <a:rPr lang="zh-TW" altLang="en-US" sz="2800" dirty="0" smtClean="0"/>
                  <a:t>長度增加</a:t>
                </a:r>
                <a:r>
                  <a:rPr lang="en-US" altLang="zh-TW" sz="2800" dirty="0" smtClean="0"/>
                  <a:t>):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(0, 1) </a:t>
                </a:r>
                <a:r>
                  <a:rPr lang="zh-TW" altLang="en-US" sz="2800" dirty="0" smtClean="0"/>
                  <a:t>→ </a:t>
                </a:r>
                <a:r>
                  <a:rPr lang="en-US" altLang="zh-TW" sz="2800" dirty="0" smtClean="0"/>
                  <a:t>(1, 5)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 smtClean="0"/>
                  <a:t>(2, 7)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>(∞, ∞</a:t>
                </a:r>
                <a:r>
                  <a:rPr lang="en-US" altLang="zh-TW" sz="2800" dirty="0" smtClean="0"/>
                  <a:t>)</a:t>
                </a:r>
                <a:endParaRPr lang="en-US" altLang="zh-TW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524200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740352" y="2564904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558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(0, 1)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(1, 5)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(2, 7)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∞, ∞)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(3, </a:t>
                </a:r>
                <a:r>
                  <a:rPr lang="en-US" altLang="zh-TW" sz="2800" dirty="0"/>
                  <a:t>2</a:t>
                </a:r>
                <a:r>
                  <a:rPr lang="en-US" altLang="zh-TW" sz="2800" dirty="0" smtClean="0"/>
                  <a:t>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RMQ(1..1)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0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T[3, </a:t>
                </a:r>
                <a:r>
                  <a:rPr lang="en-US" altLang="zh-TW" sz="2800" dirty="0"/>
                  <a:t>2</a:t>
                </a:r>
                <a:r>
                  <a:rPr lang="en-US" altLang="zh-TW" sz="2800" dirty="0" smtClean="0"/>
                  <a:t>] = 1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RMQ(1..2)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，無需更新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endParaRPr lang="en-US" altLang="zh-TW" sz="28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328910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796136" y="3068960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85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(0, 1)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(1, 5)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(2, 7)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/>
                  <a:t>(∞, ∞)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(3, 6)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RMQ(1..5)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1</a:t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T[3, 6] = 2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RMQ(1..6)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，無需更新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endParaRPr lang="en-US" altLang="zh-TW" sz="28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0373488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740352" y="3068960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10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(0, 1)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(1, 5)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(2, 7)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/>
                  <a:t>(∞, ∞)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(4, 4)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RMQ(1..3)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1</a:t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T[4, </a:t>
                </a:r>
                <a:r>
                  <a:rPr lang="en-US" altLang="zh-TW" sz="2800" dirty="0"/>
                  <a:t>4</a:t>
                </a:r>
                <a:r>
                  <a:rPr lang="en-US" altLang="zh-TW" sz="2800" dirty="0" smtClean="0"/>
                  <a:t>] = 2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RMQ(1..4)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&lt;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，需要更新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(k</a:t>
                </a:r>
                <a:r>
                  <a:rPr lang="zh-TW" altLang="en-US" sz="2800" dirty="0" smtClean="0"/>
                  <a:t>分點左移</a:t>
                </a:r>
                <a:r>
                  <a:rPr lang="en-US" altLang="zh-TW" sz="2800" dirty="0" smtClean="0"/>
                  <a:t>):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(0, 1</a:t>
                </a:r>
                <a:r>
                  <a:rPr lang="en-US" altLang="zh-TW" sz="2800" dirty="0" smtClean="0"/>
                  <a:t>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 smtClean="0"/>
                  <a:t> (</a:t>
                </a:r>
                <a:r>
                  <a:rPr lang="en-US" altLang="zh-TW" sz="2800" dirty="0"/>
                  <a:t>1, </a:t>
                </a:r>
                <a:r>
                  <a:rPr lang="en-US" altLang="zh-TW" sz="2800" dirty="0" smtClean="0"/>
                  <a:t>3)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 smtClean="0"/>
                  <a:t> (2</a:t>
                </a:r>
                <a:r>
                  <a:rPr lang="en-US" altLang="zh-TW" sz="2800" dirty="0"/>
                  <a:t>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(∞, ∞)</a:t>
                </a:r>
                <a:endParaRPr lang="en-US" altLang="zh-TW" sz="28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2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9761289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732240" y="3501008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77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(0, 1)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(1, 3)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(2, 7)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∞, ∞)</a:t>
                </a:r>
              </a:p>
              <a:p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(4, 5)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RMQ(1..4)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1</a:t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T[4, 5] = 2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RMQ(1..5)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，無需更新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endParaRPr lang="en-US" altLang="zh-TW" sz="28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6582484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249806" y="3557059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37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(0, 1)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(1, 3)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(2, 7)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/>
                  <a:t>(∞, ∞)</a:t>
                </a:r>
              </a:p>
              <a:p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(5, </a:t>
                </a:r>
                <a:r>
                  <a:rPr lang="en-US" altLang="zh-TW" sz="2800" dirty="0"/>
                  <a:t>1</a:t>
                </a:r>
                <a:r>
                  <a:rPr lang="en-US" altLang="zh-TW" sz="2800" dirty="0" smtClean="0"/>
                  <a:t>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RMQ(1..0)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0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T[5, </a:t>
                </a:r>
                <a:r>
                  <a:rPr lang="en-US" altLang="zh-TW" sz="2800" dirty="0"/>
                  <a:t>1</a:t>
                </a:r>
                <a:r>
                  <a:rPr lang="en-US" altLang="zh-TW" sz="2800" dirty="0" smtClean="0"/>
                  <a:t>] = 1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RMQ(1..1)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0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&lt;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</a:t>
                </a:r>
                <a:r>
                  <a:rPr lang="zh-TW" altLang="en-US" sz="2800" dirty="0"/>
                  <a:t>需要</a:t>
                </a:r>
                <a:r>
                  <a:rPr lang="zh-TW" altLang="en-US" sz="2800" dirty="0" smtClean="0"/>
                  <a:t>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(k</a:t>
                </a:r>
                <a:r>
                  <a:rPr lang="zh-TW" altLang="en-US" sz="2800" dirty="0" smtClean="0"/>
                  <a:t>分點左移</a:t>
                </a:r>
                <a:r>
                  <a:rPr lang="en-US" altLang="zh-TW" sz="2800" dirty="0" smtClean="0"/>
                  <a:t>):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/>
                  <a:t>(0, </a:t>
                </a:r>
                <a:r>
                  <a:rPr lang="en-US" altLang="zh-TW" sz="2800" dirty="0" smtClean="0"/>
                  <a:t>0)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(1, 3)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(2, 7)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∞, ∞</a:t>
                </a:r>
                <a:r>
                  <a:rPr lang="en-US" altLang="zh-TW" sz="2800" dirty="0" smtClean="0"/>
                  <a:t>)</a:t>
                </a:r>
                <a:endParaRPr lang="en-US" altLang="zh-TW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2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3047662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220072" y="3933056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33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(0, 0)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(1, 3) </a:t>
                </a:r>
                <a:r>
                  <a:rPr lang="zh-TW" altLang="en-US" sz="2800" dirty="0"/>
                  <a:t>→</a:t>
                </a:r>
                <a:r>
                  <a:rPr lang="en-US" altLang="zh-TW" sz="2800" dirty="0"/>
                  <a:t> (2, 7)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∞, ∞</a:t>
                </a:r>
                <a:r>
                  <a:rPr lang="en-US" altLang="zh-TW" sz="2800" dirty="0" smtClean="0"/>
                  <a:t>)</a:t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(5, 7)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RMQ(1..6)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T[5, 7] = 3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3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RMQ(1..7)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2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/>
                  <a:t>&lt;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，需要更新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(LCS</a:t>
                </a:r>
                <a:r>
                  <a:rPr lang="zh-TW" altLang="en-US" sz="2800" dirty="0" smtClean="0"/>
                  <a:t>長度增加</a:t>
                </a:r>
                <a:r>
                  <a:rPr lang="en-US" altLang="zh-TW" sz="2800" dirty="0" smtClean="0"/>
                  <a:t>):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(0, 0)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(1, 3</a:t>
                </a:r>
                <a:r>
                  <a:rPr lang="en-US" altLang="zh-TW" sz="2800" dirty="0" smtClean="0"/>
                  <a:t>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(2, 6</a:t>
                </a:r>
                <a:r>
                  <a:rPr lang="en-US" altLang="zh-TW" sz="2800" dirty="0" smtClean="0"/>
                  <a:t>)</a:t>
                </a:r>
                <a:r>
                  <a:rPr lang="zh-TW" altLang="en-US" sz="2800" dirty="0" smtClean="0"/>
                  <a:t> </a:t>
                </a:r>
                <a:r>
                  <a:rPr lang="zh-TW" altLang="en-US" sz="2800" dirty="0"/>
                  <a:t>→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(3, </a:t>
                </a:r>
                <a:r>
                  <a:rPr lang="en-US" altLang="zh-TW" sz="2800" dirty="0"/>
                  <a:t>7)</a:t>
                </a:r>
                <a:r>
                  <a:rPr lang="en-US" altLang="zh-TW" sz="2800" dirty="0" smtClean="0"/>
                  <a:t>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(∞, ∞</a:t>
                </a:r>
                <a:r>
                  <a:rPr lang="en-US" altLang="zh-TW" sz="2800" dirty="0" smtClean="0"/>
                  <a:t>)</a:t>
                </a:r>
                <a:endParaRPr lang="en-US" altLang="zh-TW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2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2946124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8244408" y="4005064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24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(0, 0)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(1, 3)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(2, 6)</a:t>
                </a:r>
                <a:r>
                  <a:rPr lang="zh-TW" altLang="en-US" sz="2800" dirty="0"/>
                  <a:t> 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→ </a:t>
                </a: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3, 7)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(∞, ∞</a:t>
                </a:r>
                <a:r>
                  <a:rPr lang="en-US" altLang="zh-TW" sz="2800" dirty="0" smtClean="0"/>
                  <a:t>)</a:t>
                </a:r>
                <a:br>
                  <a:rPr lang="en-US" altLang="zh-TW" sz="2800" dirty="0" smtClean="0"/>
                </a:br>
                <a:r>
                  <a:rPr lang="zh-TW" altLang="en-US" sz="2800" dirty="0" smtClean="0"/>
                  <a:t>處理</a:t>
                </a:r>
                <a:r>
                  <a:rPr lang="en-US" altLang="zh-TW" sz="2800" dirty="0" smtClean="0"/>
                  <a:t>(6, </a:t>
                </a:r>
                <a:r>
                  <a:rPr lang="en-US" altLang="zh-TW" sz="2800" dirty="0"/>
                  <a:t>3</a:t>
                </a:r>
                <a:r>
                  <a:rPr lang="en-US" altLang="zh-TW" sz="2800" dirty="0" smtClean="0"/>
                  <a:t>)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RMQ(1..2)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en-US" altLang="zh-TW" sz="2800" dirty="0" smtClean="0"/>
                  <a:t>T[6, </a:t>
                </a:r>
                <a:r>
                  <a:rPr lang="en-US" altLang="zh-TW" sz="2800" dirty="0"/>
                  <a:t>3</a:t>
                </a:r>
                <a:r>
                  <a:rPr lang="en-US" altLang="zh-TW" sz="2800" dirty="0" smtClean="0"/>
                  <a:t>] = 2</a:t>
                </a:r>
                <a:r>
                  <a:rPr lang="en-US" altLang="zh-TW" sz="2800" dirty="0"/>
                  <a:t/>
                </a:r>
                <a:br>
                  <a:rPr lang="en-US" altLang="zh-TW" sz="2800" dirty="0"/>
                </a:br>
                <a:r>
                  <a:rPr lang="zh-TW" altLang="en-US" sz="2800" dirty="0" smtClean="0"/>
                  <a:t>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2</a:t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RMQ(1..3)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1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&lt;</a:t>
                </a:r>
                <a:r>
                  <a:rPr lang="zh-TW" altLang="en-US" sz="28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2800" dirty="0"/>
                      <m:t>α</m:t>
                    </m:r>
                    <m:r>
                      <a:rPr lang="en-US" altLang="zh-TW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zh-TW" altLang="en-US" sz="2800" dirty="0" smtClean="0"/>
                  <a:t>，需要更新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(k</a:t>
                </a:r>
                <a:r>
                  <a:rPr lang="zh-TW" altLang="en-US" sz="2800" dirty="0" smtClean="0"/>
                  <a:t>分點左移</a:t>
                </a:r>
                <a:r>
                  <a:rPr lang="en-US" altLang="zh-TW" sz="2800" dirty="0" smtClean="0"/>
                  <a:t>):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(0, 0) </a:t>
                </a:r>
                <a:r>
                  <a:rPr lang="zh-TW" altLang="en-US" sz="2800" dirty="0" smtClean="0"/>
                  <a:t>→ </a:t>
                </a:r>
                <a:r>
                  <a:rPr lang="en-US" altLang="zh-TW" sz="2800" dirty="0" smtClean="0"/>
                  <a:t>(1, 2)</a:t>
                </a:r>
                <a:r>
                  <a:rPr lang="zh-TW" altLang="en-US" sz="2800" dirty="0" smtClean="0"/>
                  <a:t> → </a:t>
                </a: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2, 6)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>(3, 7)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(∞, ∞</a:t>
                </a:r>
                <a:r>
                  <a:rPr lang="en-US" altLang="zh-TW" sz="2800" dirty="0" smtClean="0"/>
                  <a:t>)</a:t>
                </a:r>
                <a:endParaRPr lang="en-US" altLang="zh-TW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2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7789829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228184" y="4437112"/>
            <a:ext cx="50405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39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LCS-II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X = c b </a:t>
                </a:r>
                <a:r>
                  <a:rPr lang="en-US" altLang="zh-TW" sz="2800" dirty="0" err="1"/>
                  <a:t>b</a:t>
                </a:r>
                <a:r>
                  <a:rPr lang="en-US" altLang="zh-TW" sz="2800" dirty="0"/>
                  <a:t> d a c</a:t>
                </a:r>
              </a:p>
              <a:p>
                <a:r>
                  <a:rPr lang="en-US" altLang="zh-TW" sz="2800" dirty="0"/>
                  <a:t>Y = a b c d </a:t>
                </a:r>
                <a:r>
                  <a:rPr lang="en-US" altLang="zh-TW" sz="2800" dirty="0" err="1"/>
                  <a:t>d</a:t>
                </a:r>
                <a:r>
                  <a:rPr lang="en-US" altLang="zh-TW" sz="2800" dirty="0"/>
                  <a:t> b </a:t>
                </a:r>
                <a:r>
                  <a:rPr lang="en-US" altLang="zh-TW" sz="2800" dirty="0" smtClean="0"/>
                  <a:t>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sz="2800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</a:t>
                </a:r>
                <a:br>
                  <a:rPr lang="en-US" altLang="zh-TW" sz="2800" dirty="0" smtClean="0"/>
                </a:br>
                <a:r>
                  <a:rPr lang="en-US" altLang="zh-TW" sz="2800" dirty="0"/>
                  <a:t>(0, 0)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(1, 2)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/>
                  <a:t>(2, 6)</a:t>
                </a:r>
                <a:r>
                  <a:rPr lang="zh-TW" altLang="en-US" sz="2800" dirty="0"/>
                  <a:t> → 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</a:t>
                </a:r>
                <a:r>
                  <a:rPr lang="en-US" altLang="zh-TW" sz="2800" dirty="0"/>
                  <a:t>3, 7) </a:t>
                </a:r>
                <a:r>
                  <a:rPr lang="zh-TW" altLang="en-US" sz="2800" dirty="0"/>
                  <a:t>→ </a:t>
                </a:r>
                <a:r>
                  <a:rPr lang="en-US" altLang="zh-TW" sz="2800" dirty="0"/>
                  <a:t>(∞, ∞) </a:t>
                </a:r>
              </a:p>
              <a:p>
                <a:r>
                  <a:rPr lang="en-US" altLang="zh-TW" sz="2800" dirty="0" smtClean="0"/>
                  <a:t>LCS</a:t>
                </a:r>
                <a:r>
                  <a:rPr lang="zh-TW" altLang="en-US" sz="2800" dirty="0" smtClean="0"/>
                  <a:t>長度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RMQ(1..7)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=</a:t>
                </a:r>
                <a:r>
                  <a:rPr lang="zh-TW" altLang="en-US" sz="2800" dirty="0" smtClean="0"/>
                  <a:t> </a:t>
                </a:r>
                <a:r>
                  <a:rPr lang="en-US" altLang="zh-TW" sz="2800" dirty="0" smtClean="0"/>
                  <a:t>3</a:t>
                </a:r>
                <a:endParaRPr lang="en-US" altLang="zh-TW" sz="28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259" t="-1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862853"/>
              </p:ext>
            </p:extLst>
          </p:nvPr>
        </p:nvGraphicFramePr>
        <p:xfrm>
          <a:off x="4788024" y="1740768"/>
          <a:ext cx="3960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  <a:gridCol w="495055"/>
              </a:tblGrid>
              <a:tr h="44233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4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 smtClean="0"/>
                  <a:t>找出</a:t>
                </a:r>
                <a:r>
                  <a:rPr lang="en-US" altLang="zh-TW" dirty="0"/>
                  <a:t>Set M</a:t>
                </a:r>
                <a:r>
                  <a:rPr lang="zh-TW" altLang="en-US" dirty="0"/>
                  <a:t>需花費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/>
                          </a:rPr>
                          <m:t>R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dirty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1: </a:t>
                </a:r>
                <a:r>
                  <a:rPr lang="en-US" altLang="zh-TW" dirty="0"/>
                  <a:t>Perform appropriate range maxima </a:t>
                </a:r>
                <a:r>
                  <a:rPr lang="en-US" altLang="zh-TW" dirty="0" smtClean="0"/>
                  <a:t>query.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 smtClean="0"/>
                  <a:t>2</a:t>
                </a:r>
                <a:r>
                  <a:rPr lang="en-US" altLang="zh-TW" dirty="0"/>
                  <a:t>: Compute T [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, j] from the result of Step </a:t>
                </a:r>
                <a:r>
                  <a:rPr lang="en-US" altLang="zh-TW" dirty="0" smtClean="0"/>
                  <a:t>1.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:r>
                  <a:rPr lang="en-US" altLang="zh-TW" dirty="0" smtClean="0"/>
                  <a:t>3</a:t>
                </a:r>
                <a:r>
                  <a:rPr lang="en-US" altLang="zh-TW" dirty="0"/>
                  <a:t>: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/>
                  <a:t>based on T [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, j</a:t>
                </a:r>
                <a:r>
                  <a:rPr lang="en-US" altLang="zh-TW" dirty="0" smtClean="0"/>
                  <a:t>].</a:t>
                </a:r>
                <a:br>
                  <a:rPr lang="en-US" altLang="zh-TW" dirty="0" smtClean="0"/>
                </a:br>
                <a:r>
                  <a:rPr lang="zh-TW" altLang="en-US" dirty="0" smtClean="0"/>
                  <a:t>步驟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與</a:t>
                </a:r>
                <a:r>
                  <a:rPr lang="en-US" altLang="zh-TW" dirty="0" smtClean="0"/>
                  <a:t>3</a:t>
                </a:r>
                <a:r>
                  <a:rPr lang="zh-TW" altLang="en-US" dirty="0" smtClean="0"/>
                  <a:t>由於使用</a:t>
                </a:r>
                <a:r>
                  <a:rPr lang="en-US" altLang="zh-TW" dirty="0" err="1" smtClean="0"/>
                  <a:t>vEB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tree</a:t>
                </a:r>
                <a:r>
                  <a:rPr lang="zh-TW" altLang="en-US" dirty="0" smtClean="0"/>
                  <a:t> 操作，時間複雜度為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 dirty="0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dirty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zh-TW" altLang="en-US" dirty="0" smtClean="0"/>
                  <a:t>，而步驟</a:t>
                </a:r>
                <a:r>
                  <a:rPr lang="en-US" altLang="zh-TW" dirty="0" smtClean="0"/>
                  <a:t>2</a:t>
                </a:r>
                <a:r>
                  <a:rPr lang="zh-TW" altLang="en-US" dirty="0" smtClean="0"/>
                  <a:t>在常數時間完成，總共有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行</a:t>
                </a:r>
                <a:r>
                  <a:rPr lang="zh-TW" altLang="en-US" dirty="0" smtClean="0"/>
                  <a:t>，</a:t>
                </a:r>
                <a:r>
                  <a:rPr lang="zh-TW" altLang="en-US" dirty="0"/>
                  <a:t>故</a:t>
                </a:r>
                <a:r>
                  <a:rPr lang="zh-TW" altLang="en-US" dirty="0" smtClean="0"/>
                  <a:t>共為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dirty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  <m:r>
                          <a:rPr lang="en-US" altLang="zh-TW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zh-TW" altLang="en-US" dirty="0" smtClean="0"/>
                  <a:t>總</a:t>
                </a:r>
                <a:r>
                  <a:rPr lang="zh-TW" altLang="en-US" dirty="0" smtClean="0"/>
                  <a:t>時間複雜度為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/>
                          </a:rPr>
                          <m:t>R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dirty="0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  <m:r>
                          <a:rPr lang="en-US" altLang="zh-TW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67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55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1983</Words>
  <Application>Microsoft Office PowerPoint</Application>
  <PresentationFormat>如螢幕大小 (4:3)</PresentationFormat>
  <Paragraphs>1233</Paragraphs>
  <Slides>28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29" baseType="lpstr">
      <vt:lpstr>Office 佈景主題</vt:lpstr>
      <vt:lpstr>A New Efficient Algorithm for Computing the Longest Common Subsequence</vt:lpstr>
      <vt:lpstr>Abstract</vt:lpstr>
      <vt:lpstr>Introduce</vt:lpstr>
      <vt:lpstr>Introduce</vt:lpstr>
      <vt:lpstr>RMQ</vt:lpstr>
      <vt:lpstr>LCS-I</vt:lpstr>
      <vt:lpstr>LCS-I</vt:lpstr>
      <vt:lpstr>LCS-I</vt:lpstr>
      <vt:lpstr>LCS-I</vt:lpstr>
      <vt:lpstr>LCS-I</vt:lpstr>
      <vt:lpstr>LCS-I</vt:lpstr>
      <vt:lpstr>LCS-I</vt:lpstr>
      <vt:lpstr>Time Complexity</vt:lpstr>
      <vt:lpstr>vEB tree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LCS-II</vt:lpstr>
      <vt:lpstr>Time Complexity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Efficient Algorithm for Computing the Longest Common Subsequence</dc:title>
  <dc:creator>Sena</dc:creator>
  <cp:lastModifiedBy>Sena</cp:lastModifiedBy>
  <cp:revision>60</cp:revision>
  <dcterms:created xsi:type="dcterms:W3CDTF">2014-09-23T18:04:36Z</dcterms:created>
  <dcterms:modified xsi:type="dcterms:W3CDTF">2014-09-24T08:18:41Z</dcterms:modified>
</cp:coreProperties>
</file>