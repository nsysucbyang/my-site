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4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75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34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025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82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46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2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63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8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73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88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89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E1E32-7BBA-426B-85E8-522EFFE85C87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A9939-513D-468A-BC66-7CD38242DF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0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On a Cyclic String-to-String Correction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fr-FR" altLang="zh-TW" dirty="0" smtClean="0">
                <a:solidFill>
                  <a:schemeClr val="tx1"/>
                </a:solidFill>
              </a:rPr>
              <a:t>Maurice Maes</a:t>
            </a:r>
          </a:p>
          <a:p>
            <a:r>
              <a:rPr lang="fr-FR" altLang="zh-TW" dirty="0" smtClean="0">
                <a:solidFill>
                  <a:schemeClr val="tx1"/>
                </a:solidFill>
              </a:rPr>
              <a:t>Information Processing Letters Volume 35, Issue 2, 29 June 1990, pp. 73–78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0112" y="558924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2014/9/24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2681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5496" y="1307901"/>
                <a:ext cx="9036496" cy="555009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 1974 Wagner and Fischer defined a distance measure on strings, based on minimum-cost sequences of edit operations needed to change one string into another, and they presented an algorithm that computes this distance between two strings A and B in O(nm) time where n and m are the lengths of A and B. By encoding polygonal objects as strings, one can use distance functions on these strings as a similarity measure for the objects they represent. In this application we often in fact consider two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...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dirty="0" smtClean="0"/>
                  <a:t> to be equivalent in the sense that they represent the same polygonal object. This leads to the notion of a cyclic string, and in this paper we present an O(nm log m) algorithm to solve the string-to-string correction problem for cyclic strings.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1307901"/>
                <a:ext cx="9036496" cy="5550099"/>
              </a:xfrm>
              <a:blipFill rotWithShape="1">
                <a:blip r:embed="rId2"/>
                <a:stretch>
                  <a:fillRect l="-1282" t="-1648" r="-7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436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string-to-string correction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Two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A,</a:t>
            </a:r>
            <a:r>
              <a:rPr lang="zh-TW" altLang="en-US" dirty="0" smtClean="0"/>
              <a:t> </a:t>
            </a:r>
            <a:r>
              <a:rPr lang="en-US" altLang="zh-TW" dirty="0" smtClean="0"/>
              <a:t>B. </a:t>
            </a:r>
            <a:r>
              <a:rPr lang="en-US" altLang="zh-TW" dirty="0"/>
              <a:t>E</a:t>
            </a:r>
            <a:r>
              <a:rPr lang="en-US" altLang="zh-TW" dirty="0" smtClean="0"/>
              <a:t>dit A to B</a:t>
            </a:r>
          </a:p>
          <a:p>
            <a:r>
              <a:rPr lang="en-US" altLang="zh-TW" dirty="0" smtClean="0"/>
              <a:t>Edit operation s = (a</a:t>
            </a:r>
            <a:r>
              <a:rPr lang="zh-TW" altLang="en-US" dirty="0"/>
              <a:t>→</a:t>
            </a:r>
            <a:r>
              <a:rPr lang="en-US" altLang="zh-TW" dirty="0" smtClean="0"/>
              <a:t>b), </a:t>
            </a:r>
            <a:r>
              <a:rPr lang="en-US" altLang="zh-TW" dirty="0"/>
              <a:t>Ʌ</a:t>
            </a:r>
            <a:r>
              <a:rPr lang="zh-TW" altLang="en-US" dirty="0"/>
              <a:t> </a:t>
            </a:r>
            <a:r>
              <a:rPr lang="en-US" altLang="zh-TW" dirty="0"/>
              <a:t>denote the null </a:t>
            </a:r>
            <a:r>
              <a:rPr lang="en-US" altLang="zh-TW" dirty="0" smtClean="0"/>
              <a:t>string</a:t>
            </a:r>
          </a:p>
          <a:p>
            <a:r>
              <a:rPr lang="en-US" altLang="zh-TW" dirty="0" smtClean="0"/>
              <a:t>Three edit operations:</a:t>
            </a:r>
            <a:br>
              <a:rPr lang="en-US" altLang="zh-TW" dirty="0" smtClean="0"/>
            </a:br>
            <a:r>
              <a:rPr lang="en-US" altLang="zh-TW" dirty="0" smtClean="0"/>
              <a:t>insert: a = Ʌ, Ʌ</a:t>
            </a:r>
            <a:r>
              <a:rPr lang="zh-TW" altLang="en-US" dirty="0" smtClean="0"/>
              <a:t>→</a:t>
            </a:r>
            <a:r>
              <a:rPr lang="en-US" altLang="zh-TW" dirty="0" smtClean="0"/>
              <a:t>b</a:t>
            </a:r>
            <a:br>
              <a:rPr lang="en-US" altLang="zh-TW" dirty="0" smtClean="0"/>
            </a:br>
            <a:r>
              <a:rPr lang="en-US" altLang="zh-TW" dirty="0" smtClean="0"/>
              <a:t>delete: b = Ʌ, a</a:t>
            </a:r>
            <a:r>
              <a:rPr lang="zh-TW" altLang="en-US" dirty="0" smtClean="0"/>
              <a:t>→</a:t>
            </a:r>
            <a:r>
              <a:rPr lang="en-US" altLang="zh-TW" dirty="0"/>
              <a:t> Ʌ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change: a</a:t>
            </a:r>
            <a:r>
              <a:rPr lang="zh-TW" altLang="en-US" dirty="0" smtClean="0"/>
              <a:t>→</a:t>
            </a:r>
            <a:r>
              <a:rPr lang="en-US" altLang="zh-TW" smtClean="0"/>
              <a:t>b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730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edit distance δ(A,B) from string A to string B is defined by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δ(A,B) = min{</a:t>
                </a:r>
                <a:r>
                  <a:rPr lang="el-GR" altLang="zh-TW" dirty="0" smtClean="0"/>
                  <a:t>γ</a:t>
                </a:r>
                <a:r>
                  <a:rPr lang="en-US" altLang="zh-TW" dirty="0" smtClean="0"/>
                  <a:t>(S) | S is an edit sequence taking </a:t>
                </a:r>
                <a:r>
                  <a:rPr lang="en-US" altLang="zh-TW" i="1" dirty="0" smtClean="0"/>
                  <a:t>A </a:t>
                </a:r>
                <a:r>
                  <a:rPr lang="en-US" altLang="zh-TW" dirty="0" smtClean="0"/>
                  <a:t>to </a:t>
                </a:r>
                <a:r>
                  <a:rPr lang="en-US" altLang="zh-TW" i="1" dirty="0" smtClean="0"/>
                  <a:t>B</a:t>
                </a:r>
                <a:r>
                  <a:rPr lang="en-US" altLang="zh-TW" dirty="0" smtClean="0"/>
                  <a:t>}</a:t>
                </a:r>
              </a:p>
              <a:p>
                <a:r>
                  <a:rPr lang="el-GR" altLang="zh-TW" dirty="0" smtClean="0"/>
                  <a:t>γ</a:t>
                </a:r>
                <a:r>
                  <a:rPr lang="en-US" altLang="zh-TW" dirty="0" smtClean="0"/>
                  <a:t> is a cost function.</a:t>
                </a:r>
                <a:r>
                  <a:rPr lang="zh-TW" altLang="en-US" dirty="0" smtClean="0"/>
                  <a:t> </a:t>
                </a:r>
                <a:r>
                  <a:rPr lang="el-GR" altLang="zh-TW" dirty="0" smtClean="0"/>
                  <a:t>γ</a:t>
                </a:r>
                <a:r>
                  <a:rPr lang="en-US" altLang="zh-TW" dirty="0" smtClean="0"/>
                  <a:t>(S)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p>
                      <m:e>
                        <m:r>
                          <m:rPr>
                            <m:nor/>
                          </m:rPr>
                          <a:rPr lang="el-GR" altLang="zh-TW" dirty="0"/>
                          <m:t>γ</m:t>
                        </m:r>
                        <m:r>
                          <m:rPr>
                            <m:nor/>
                          </m:rPr>
                          <a:rPr lang="en-US" altLang="zh-TW" dirty="0"/>
                          <m:t>(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dirty="0"/>
                          <m:t>)</m:t>
                        </m:r>
                      </m:e>
                    </m:nary>
                  </m:oMath>
                </a14:m>
                <a:r>
                  <a:rPr lang="en-US" altLang="zh-TW" dirty="0" smtClean="0"/>
                  <a:t> </a:t>
                </a:r>
                <a:br>
                  <a:rPr lang="en-US" altLang="zh-TW" dirty="0" smtClean="0"/>
                </a:br>
                <a:r>
                  <a:rPr lang="el-GR" altLang="zh-TW" dirty="0"/>
                  <a:t>γ</a:t>
                </a:r>
                <a:r>
                  <a:rPr lang="en-US" altLang="zh-TW" dirty="0" smtClean="0"/>
                  <a:t>(a</a:t>
                </a:r>
                <a:r>
                  <a:rPr lang="zh-TW" altLang="en-US" dirty="0" smtClean="0"/>
                  <a:t>→</a:t>
                </a:r>
                <a:r>
                  <a:rPr lang="en-US" altLang="zh-TW" dirty="0" smtClean="0"/>
                  <a:t>b) = δ(</a:t>
                </a:r>
                <a:r>
                  <a:rPr lang="en-US" altLang="zh-TW" dirty="0" err="1" smtClean="0"/>
                  <a:t>a,b</a:t>
                </a:r>
                <a:r>
                  <a:rPr lang="en-US" altLang="zh-TW" dirty="0" smtClean="0"/>
                  <a:t>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86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/>
              <a:t>Wagner–Fischer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229600" cy="5472608"/>
              </a:xfrm>
            </p:spPr>
            <p:txBody>
              <a:bodyPr/>
              <a:lstStyle/>
              <a:p>
                <a:r>
                  <a:rPr lang="en-US" altLang="zh-TW" dirty="0" smtClean="0"/>
                  <a:t>A </a:t>
                </a:r>
                <a:r>
                  <a:rPr lang="en-US" altLang="zh-TW" dirty="0"/>
                  <a:t>minimum cost edit </a:t>
                </a:r>
                <a:r>
                  <a:rPr lang="en-US" altLang="zh-TW" dirty="0" smtClean="0"/>
                  <a:t>sequence taking </a:t>
                </a:r>
                <a:r>
                  <a:rPr lang="en-US" altLang="zh-TW" dirty="0"/>
                  <a:t>A to </a:t>
                </a:r>
                <a:r>
                  <a:rPr lang="en-US" altLang="zh-TW" dirty="0" smtClean="0"/>
                  <a:t>B</a:t>
                </a:r>
                <a:r>
                  <a:rPr lang="en-US" altLang="zh-TW" dirty="0"/>
                  <a:t> can be computed in the </a:t>
                </a:r>
                <a:r>
                  <a:rPr lang="en-US" altLang="zh-TW" dirty="0" smtClean="0"/>
                  <a:t>following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way.</a:t>
                </a:r>
                <a:br>
                  <a:rPr lang="en-US" altLang="zh-TW" dirty="0" smtClean="0"/>
                </a:b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nn-NO" altLang="zh-TW" dirty="0"/>
                  <a:t>For all i </a:t>
                </a:r>
                <a:r>
                  <a:rPr lang="zh-TW" altLang="en-US" dirty="0" smtClean="0"/>
                  <a:t>∈</a:t>
                </a:r>
                <a:r>
                  <a:rPr lang="en-US" altLang="zh-TW" dirty="0" smtClean="0"/>
                  <a:t>{</a:t>
                </a:r>
                <a:r>
                  <a:rPr lang="nn-NO" altLang="zh-TW" dirty="0" smtClean="0"/>
                  <a:t>0, 1,. . . , n}, j</a:t>
                </a:r>
                <a:r>
                  <a:rPr lang="zh-TW" altLang="en-US" dirty="0"/>
                  <a:t> ∈</a:t>
                </a:r>
                <a:r>
                  <a:rPr lang="nn-NO" altLang="zh-TW" dirty="0" smtClean="0"/>
                  <a:t>{</a:t>
                </a:r>
                <a:r>
                  <a:rPr lang="en-US" altLang="zh-TW" dirty="0" smtClean="0"/>
                  <a:t>0</a:t>
                </a:r>
                <a:r>
                  <a:rPr lang="nn-NO" altLang="zh-TW" dirty="0" smtClean="0"/>
                  <a:t>,</a:t>
                </a:r>
                <a:r>
                  <a:rPr lang="en-US" altLang="zh-TW" dirty="0" smtClean="0"/>
                  <a:t>1</a:t>
                </a:r>
                <a:r>
                  <a:rPr lang="nn-NO" altLang="zh-TW" dirty="0" smtClean="0"/>
                  <a:t>,..., m}</a:t>
                </a:r>
                <a:br>
                  <a:rPr lang="nn-NO" altLang="zh-TW" dirty="0" smtClean="0"/>
                </a:br>
                <a:r>
                  <a:rPr lang="zh-TW" altLang="zh-TW" dirty="0" smtClean="0"/>
                  <a:t>Δ</a:t>
                </a:r>
                <a:r>
                  <a:rPr lang="en-US" altLang="zh-TW" dirty="0" smtClean="0"/>
                  <a:t>(</a:t>
                </a:r>
                <a:r>
                  <a:rPr lang="en-US" altLang="zh-TW" dirty="0" err="1" smtClean="0"/>
                  <a:t>i</a:t>
                </a:r>
                <a:r>
                  <a:rPr lang="en-US" altLang="zh-TW" dirty="0"/>
                  <a:t>, j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δ(A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&lt;1,i&gt;, B&lt;1,j&gt;)</a:t>
                </a:r>
                <a:br>
                  <a:rPr lang="en-US" altLang="zh-TW" dirty="0" smtClean="0"/>
                </a:b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zh-TW" altLang="zh-TW" dirty="0"/>
                  <a:t>Δ</a:t>
                </a:r>
                <a:r>
                  <a:rPr lang="en-US" altLang="zh-TW" dirty="0"/>
                  <a:t>(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, j</a:t>
                </a:r>
                <a:r>
                  <a:rPr lang="en-US" altLang="zh-TW" dirty="0" smtClean="0"/>
                  <a:t>) = min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zh-TW" altLang="zh-TW" dirty="0"/>
                              <m:t>Δ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−1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)</m:t>
                            </m:r>
                            <m:r>
                              <a:rPr lang="en-US" altLang="zh-TW" b="0" i="1" dirty="0" smtClean="0"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l-GR" altLang="zh-TW" dirty="0"/>
                              <m:t>γ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(Ʌ</m:t>
                            </m:r>
                            <m:r>
                              <m:rPr>
                                <m:nor/>
                              </m:rPr>
                              <a:rPr lang="zh-TW" altLang="en-US" dirty="0"/>
                              <m:t>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TW" dirty="0"/>
                              <m:t>)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zh-TW" altLang="zh-TW" dirty="0"/>
                              <m:t>Δ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−1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)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l-GR" altLang="zh-TW" dirty="0"/>
                              <m:t>γ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(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TW" altLang="en-US" dirty="0"/>
                              <m:t>→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Ʌ)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zh-TW" altLang="zh-TW" dirty="0"/>
                              <m:t>Δ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−1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−1)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l-GR" altLang="zh-TW" dirty="0"/>
                              <m:t>γ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(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TW" altLang="en-US" dirty="0"/>
                              <m:t>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TW" dirty="0"/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229600" cy="5472608"/>
              </a:xfrm>
              <a:blipFill rotWithShape="1">
                <a:blip r:embed="rId2"/>
                <a:stretch>
                  <a:fillRect l="-1630" t="-14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995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Edit 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124744"/>
                <a:ext cx="9144000" cy="547260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Determining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δ(A, B)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this way can </a:t>
                </a:r>
                <a:r>
                  <a:rPr lang="en-US" altLang="zh-TW" dirty="0" smtClean="0"/>
                  <a:t>be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seen as determining </a:t>
                </a:r>
                <a:r>
                  <a:rPr lang="en-US" altLang="zh-TW" dirty="0"/>
                  <a:t>a minimum weighted path </a:t>
                </a:r>
                <a:r>
                  <a:rPr lang="en-US" altLang="zh-TW" dirty="0" smtClean="0"/>
                  <a:t>in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 </a:t>
                </a:r>
                <a:r>
                  <a:rPr lang="en-US" altLang="zh-TW" dirty="0"/>
                  <a:t>weighted directed </a:t>
                </a:r>
                <a:r>
                  <a:rPr lang="en-US" altLang="zh-TW" dirty="0" smtClean="0"/>
                  <a:t>graph.</a:t>
                </a:r>
              </a:p>
              <a:p>
                <a:r>
                  <a:rPr lang="en-US" altLang="zh-TW" dirty="0"/>
                  <a:t>weighted directed </a:t>
                </a:r>
                <a:r>
                  <a:rPr lang="en-US" altLang="zh-TW" dirty="0" smtClean="0"/>
                  <a:t>graph G(V, E) with vertices v(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, j) (0≤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≤n, 0≤ j ≤m) and following arcs: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 (v(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, j), v(i,j+1)) 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0,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dirty="0"/>
                      <m:t>γ</m:t>
                    </m:r>
                    <m:r>
                      <m:rPr>
                        <m:nor/>
                      </m:rPr>
                      <a:rPr lang="en-US" altLang="zh-TW" dirty="0"/>
                      <m:t>(Ʌ</m:t>
                    </m:r>
                    <m:r>
                      <m:rPr>
                        <m:nor/>
                      </m:rPr>
                      <a:rPr lang="zh-TW" altLang="en-US" dirty="0"/>
                      <m:t>→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(</a:t>
                </a:r>
                <a:r>
                  <a:rPr lang="en-US" altLang="zh-TW" dirty="0"/>
                  <a:t>0≤ i ≤n, 0≤ j ≤</a:t>
                </a:r>
                <a:r>
                  <a:rPr lang="en-US" altLang="zh-TW" dirty="0" smtClean="0"/>
                  <a:t>m-1) </a:t>
                </a:r>
                <a:br>
                  <a:rPr lang="en-US" altLang="zh-TW" dirty="0" smtClean="0"/>
                </a:br>
                <a:r>
                  <a:rPr lang="en-US" altLang="zh-TW" dirty="0"/>
                  <a:t>(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) (v(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, j), </a:t>
                </a:r>
                <a:r>
                  <a:rPr lang="en-US" altLang="zh-TW" dirty="0" smtClean="0"/>
                  <a:t>v(i+1,j)) </a:t>
                </a:r>
                <a:r>
                  <a:rPr lang="en-US" altLang="zh-TW" dirty="0"/>
                  <a:t>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+1,0</m:t>
                        </m:r>
                      </m:sub>
                    </m:sSub>
                  </m:oMath>
                </a14:m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dirty="0"/>
                      <m:t>γ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zh-TW" altLang="en-US" dirty="0"/>
                      <m:t>→</m:t>
                    </m:r>
                    <m:r>
                      <m:rPr>
                        <m:nor/>
                      </m:rPr>
                      <a:rPr lang="en-US" altLang="zh-TW" dirty="0"/>
                      <m:t>Ʌ)</m:t>
                    </m:r>
                  </m:oMath>
                </a14:m>
                <a:r>
                  <a:rPr lang="en-US" altLang="zh-TW" dirty="0"/>
                  <a:t> </a:t>
                </a:r>
                <a:br>
                  <a:rPr lang="en-US" altLang="zh-TW" dirty="0"/>
                </a:br>
                <a:r>
                  <a:rPr lang="en-US" altLang="zh-TW" dirty="0"/>
                  <a:t>     (0≤ i ≤</a:t>
                </a:r>
                <a:r>
                  <a:rPr lang="en-US" altLang="zh-TW" dirty="0" smtClean="0"/>
                  <a:t>n-1, </a:t>
                </a:r>
                <a:r>
                  <a:rPr lang="en-US" altLang="zh-TW" dirty="0"/>
                  <a:t>0≤ j ≤</a:t>
                </a:r>
                <a:r>
                  <a:rPr lang="en-US" altLang="zh-TW" dirty="0" smtClean="0"/>
                  <a:t>m) </a:t>
                </a:r>
                <a:br>
                  <a:rPr lang="en-US" altLang="zh-TW" dirty="0" smtClean="0"/>
                </a:br>
                <a:r>
                  <a:rPr lang="en-US" altLang="zh-TW" dirty="0"/>
                  <a:t>(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) (v(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, j), v(I,j+1)) 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+1,</m:t>
                        </m:r>
                        <m:r>
                          <a:rPr lang="en-US" altLang="zh-TW" i="1" dirty="0">
                            <a:latin typeface="Cambria Math"/>
                          </a:rPr>
                          <m:t>𝑗</m:t>
                        </m:r>
                        <m:r>
                          <a:rPr lang="en-US" altLang="zh-TW" i="1" dirty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dirty="0"/>
                      <m:t>γ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zh-TW" altLang="en-US" dirty="0"/>
                      <m:t>→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 </a:t>
                </a:r>
                <a:br>
                  <a:rPr lang="en-US" altLang="zh-TW" dirty="0"/>
                </a:br>
                <a:r>
                  <a:rPr lang="en-US" altLang="zh-TW" dirty="0"/>
                  <a:t>     (0≤ i ≤</a:t>
                </a:r>
                <a:r>
                  <a:rPr lang="en-US" altLang="zh-TW" dirty="0" smtClean="0"/>
                  <a:t>n-1, </a:t>
                </a:r>
                <a:r>
                  <a:rPr lang="en-US" altLang="zh-TW" dirty="0"/>
                  <a:t>0≤ j ≤m-1) 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24744"/>
                <a:ext cx="9144000" cy="5472608"/>
              </a:xfrm>
              <a:blipFill rotWithShape="1">
                <a:blip r:embed="rId2"/>
                <a:stretch>
                  <a:fillRect l="-1467" t="-2341" r="-5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51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Edit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472608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C:\Users\yotsuki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4689870" cy="523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yotsuki\Desktop\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132856"/>
            <a:ext cx="220027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145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Cyclic </a:t>
            </a:r>
            <a:r>
              <a:rPr lang="en-US" altLang="zh-TW" dirty="0" smtClean="0"/>
              <a:t>Strings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en-US" altLang="zh-TW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denote the composition of k cyclic </a:t>
                </a:r>
                <a:r>
                  <a:rPr lang="en-US" altLang="zh-TW" dirty="0" smtClean="0"/>
                  <a:t>shifts for </a:t>
                </a:r>
                <a:r>
                  <a:rPr lang="en-US" altLang="zh-TW" dirty="0"/>
                  <a:t>all k </a:t>
                </a:r>
                <a:r>
                  <a:rPr lang="zh-TW" altLang="en-US" dirty="0"/>
                  <a:t>∈</a:t>
                </a:r>
                <a:r>
                  <a:rPr lang="en-US" altLang="zh-TW" dirty="0" smtClean="0"/>
                  <a:t> N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ex: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altLang="zh-TW" b="0" i="0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TW" i="1" dirty="0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[A] denote the A’s cyclic string</a:t>
                </a:r>
              </a:p>
              <a:p>
                <a:r>
                  <a:rPr lang="en-US" altLang="zh-TW" dirty="0"/>
                  <a:t>δ</a:t>
                </a:r>
                <a:r>
                  <a:rPr lang="pt-BR" altLang="zh-TW" dirty="0" smtClean="0"/>
                  <a:t>([</a:t>
                </a:r>
                <a:r>
                  <a:rPr lang="pt-BR" altLang="zh-TW" dirty="0"/>
                  <a:t>A], </a:t>
                </a:r>
                <a:r>
                  <a:rPr lang="pt-BR" altLang="zh-TW" dirty="0" smtClean="0"/>
                  <a:t>[B</a:t>
                </a:r>
                <a:r>
                  <a:rPr lang="pt-BR" altLang="zh-TW" dirty="0"/>
                  <a:t>]) </a:t>
                </a:r>
                <a:r>
                  <a:rPr lang="pt-BR" altLang="zh-TW" dirty="0" smtClean="0"/>
                  <a:t>= min{</a:t>
                </a:r>
                <a:r>
                  <a:rPr lang="en-US" altLang="zh-TW" dirty="0"/>
                  <a:t>δ</a:t>
                </a:r>
                <a:r>
                  <a:rPr lang="pt-BR" altLang="zh-TW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p>
                        <m:r>
                          <a:rPr lang="en-US" altLang="zh-TW" i="1" dirty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altLang="zh-TW" dirty="0" smtClean="0"/>
                  <a:t>(A</a:t>
                </a:r>
                <a:r>
                  <a:rPr lang="pt-BR" altLang="zh-TW" dirty="0"/>
                  <a:t>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t-BR" altLang="zh-TW" dirty="0"/>
                  <a:t>(B)) </a:t>
                </a:r>
                <a:r>
                  <a:rPr lang="pt-BR" altLang="zh-TW" dirty="0" smtClean="0"/>
                  <a:t>|k,l </a:t>
                </a:r>
                <a:r>
                  <a:rPr lang="zh-TW" altLang="en-US" dirty="0"/>
                  <a:t>∈</a:t>
                </a:r>
                <a:r>
                  <a:rPr lang="pt-BR" altLang="zh-TW" dirty="0" smtClean="0"/>
                  <a:t>N}</a:t>
                </a:r>
              </a:p>
              <a:p>
                <a:r>
                  <a:rPr lang="en-US" altLang="zh-TW" dirty="0"/>
                  <a:t>δ</a:t>
                </a:r>
                <a:r>
                  <a:rPr lang="pt-BR" altLang="zh-TW" dirty="0" smtClean="0"/>
                  <a:t>(A, </a:t>
                </a:r>
                <a:r>
                  <a:rPr lang="pt-BR" altLang="zh-TW" dirty="0"/>
                  <a:t>[B]) = min{</a:t>
                </a:r>
                <a:r>
                  <a:rPr lang="en-US" altLang="zh-TW" dirty="0"/>
                  <a:t>δ</a:t>
                </a:r>
                <a:r>
                  <a:rPr lang="pt-BR" altLang="zh-TW" dirty="0" smtClean="0"/>
                  <a:t>(A,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p>
                        <m:r>
                          <a:rPr lang="en-US" altLang="zh-TW" i="1" dirty="0">
                            <a:latin typeface="Cambria Math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pt-BR" altLang="zh-TW" dirty="0"/>
                  <a:t>(B)) </a:t>
                </a:r>
                <a:r>
                  <a:rPr lang="pt-BR" altLang="zh-TW" dirty="0" smtClean="0"/>
                  <a:t>|</a:t>
                </a:r>
                <a:r>
                  <a:rPr lang="pt-BR" altLang="zh-TW" dirty="0"/>
                  <a:t> </a:t>
                </a:r>
                <a:r>
                  <a:rPr lang="pt-BR" altLang="zh-TW" dirty="0" smtClean="0"/>
                  <a:t>l </a:t>
                </a:r>
                <a:r>
                  <a:rPr lang="zh-TW" altLang="en-US" dirty="0"/>
                  <a:t>∈</a:t>
                </a:r>
                <a:r>
                  <a:rPr lang="pt-BR" altLang="zh-TW" dirty="0"/>
                  <a:t>N}</a:t>
                </a:r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83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Cyclic </a:t>
            </a:r>
            <a:r>
              <a:rPr lang="en-US" altLang="zh-TW" dirty="0" smtClean="0"/>
              <a:t>Strings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Lemma 1 </a:t>
            </a:r>
            <a:r>
              <a:rPr lang="en-US" altLang="zh-TW" dirty="0" smtClean="0"/>
              <a:t>: For </a:t>
            </a:r>
            <a:r>
              <a:rPr lang="en-US" altLang="zh-TW" dirty="0"/>
              <a:t>each representative A of a </a:t>
            </a:r>
            <a:r>
              <a:rPr lang="en-US" altLang="zh-TW" dirty="0" smtClean="0"/>
              <a:t>cyclic string </a:t>
            </a:r>
            <a:r>
              <a:rPr lang="en-US" altLang="zh-TW" dirty="0"/>
              <a:t>[A] and for each cyclic string [B] we </a:t>
            </a:r>
            <a:r>
              <a:rPr lang="en-US" altLang="zh-TW" dirty="0" smtClean="0"/>
              <a:t>have δ</a:t>
            </a:r>
            <a:r>
              <a:rPr lang="pt-BR" altLang="zh-TW" dirty="0"/>
              <a:t>([A], [B</a:t>
            </a:r>
            <a:r>
              <a:rPr lang="pt-BR" altLang="zh-TW" dirty="0" smtClean="0"/>
              <a:t>]) = </a:t>
            </a:r>
            <a:r>
              <a:rPr lang="en-US" altLang="zh-TW" dirty="0"/>
              <a:t>δ</a:t>
            </a:r>
            <a:r>
              <a:rPr lang="pt-BR" altLang="zh-TW" dirty="0" smtClean="0"/>
              <a:t>(A, </a:t>
            </a:r>
            <a:r>
              <a:rPr lang="pt-BR" altLang="zh-TW" dirty="0"/>
              <a:t>[B]) </a:t>
            </a:r>
            <a:endParaRPr lang="pt-BR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So we will solve the problem: </a:t>
            </a:r>
            <a:br>
              <a:rPr lang="en-US" altLang="zh-TW" dirty="0" smtClean="0"/>
            </a:br>
            <a:r>
              <a:rPr lang="en-US" altLang="zh-TW" dirty="0" smtClean="0"/>
              <a:t>Given </a:t>
            </a:r>
            <a:r>
              <a:rPr lang="en-US" altLang="zh-TW" dirty="0"/>
              <a:t>two strings A</a:t>
            </a:r>
            <a:r>
              <a:rPr lang="en-US" altLang="zh-TW" b="1" i="1" dirty="0"/>
              <a:t> </a:t>
            </a:r>
            <a:r>
              <a:rPr lang="en-US" altLang="zh-TW" dirty="0"/>
              <a:t>and B, </a:t>
            </a:r>
            <a:r>
              <a:rPr lang="en-US" altLang="zh-TW" dirty="0" smtClean="0"/>
              <a:t>determine </a:t>
            </a:r>
            <a:r>
              <a:rPr lang="en-US" altLang="zh-TW" dirty="0"/>
              <a:t>δ</a:t>
            </a:r>
            <a:r>
              <a:rPr lang="en-US" altLang="zh-TW" dirty="0" smtClean="0"/>
              <a:t>(A</a:t>
            </a:r>
            <a:r>
              <a:rPr lang="en-US" altLang="zh-TW" dirty="0"/>
              <a:t>, [B]) and an edit sequence S </a:t>
            </a:r>
            <a:r>
              <a:rPr lang="en-US" altLang="zh-TW" dirty="0" smtClean="0"/>
              <a:t>between A </a:t>
            </a:r>
            <a:r>
              <a:rPr lang="en-US" altLang="zh-TW" dirty="0"/>
              <a:t>and a representative of [B] realizing </a:t>
            </a:r>
            <a:r>
              <a:rPr lang="en-US" altLang="zh-TW" dirty="0" smtClean="0"/>
              <a:t>this minimum </a:t>
            </a:r>
            <a:r>
              <a:rPr lang="en-US" altLang="zh-TW" dirty="0"/>
              <a:t>cost.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43900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77809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Cyclic String-to-String Correction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412776"/>
                <a:ext cx="9001000" cy="5328592"/>
              </a:xfrm>
            </p:spPr>
            <p:txBody>
              <a:bodyPr/>
              <a:lstStyle/>
              <a:p>
                <a:r>
                  <a:rPr lang="en-US" altLang="zh-TW" dirty="0" smtClean="0"/>
                  <a:t>Suppose we have two strings A and B of lengths n </a:t>
                </a:r>
                <a:r>
                  <a:rPr lang="en-US" altLang="zh-TW" dirty="0"/>
                  <a:t>and m respectively. </a:t>
                </a:r>
                <a:r>
                  <a:rPr lang="en-US" altLang="zh-TW" dirty="0" smtClean="0"/>
                  <a:t>Assume </a:t>
                </a:r>
                <a:r>
                  <a:rPr lang="en-US" altLang="zh-TW" dirty="0"/>
                  <a:t>that </a:t>
                </a:r>
                <a:r>
                  <a:rPr lang="en-US" altLang="zh-TW" dirty="0" err="1" smtClean="0"/>
                  <a:t>m≤n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Consider </a:t>
                </a:r>
                <a:r>
                  <a:rPr lang="en-US" altLang="zh-TW" dirty="0"/>
                  <a:t>the edit graph H associated </a:t>
                </a:r>
                <a:r>
                  <a:rPr lang="en-US" altLang="zh-TW" dirty="0" smtClean="0"/>
                  <a:t>with the </a:t>
                </a:r>
                <a:r>
                  <a:rPr lang="en-US" altLang="zh-TW" dirty="0"/>
                  <a:t>strings A and BB =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…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…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the concatenation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with </a:t>
                </a:r>
                <a:r>
                  <a:rPr lang="en-US" altLang="zh-TW" dirty="0" smtClean="0"/>
                  <a:t>itself. </a:t>
                </a:r>
                <a:r>
                  <a:rPr lang="en-US" altLang="zh-TW" dirty="0"/>
                  <a:t>This graph </a:t>
                </a:r>
                <a:r>
                  <a:rPr lang="en-US" altLang="zh-TW" dirty="0" smtClean="0"/>
                  <a:t>has </a:t>
                </a:r>
                <a:r>
                  <a:rPr lang="pt-BR" altLang="zh-TW" dirty="0" smtClean="0"/>
                  <a:t>(n+1</a:t>
                </a:r>
                <a:r>
                  <a:rPr lang="pt-BR" altLang="zh-TW" dirty="0"/>
                  <a:t>)(2m + 1) </a:t>
                </a:r>
                <a:r>
                  <a:rPr lang="pt-BR" altLang="zh-TW" dirty="0" smtClean="0"/>
                  <a:t>vertices.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412776"/>
                <a:ext cx="9001000" cy="5328592"/>
              </a:xfrm>
              <a:blipFill rotWithShape="1">
                <a:blip r:embed="rId2"/>
                <a:stretch>
                  <a:fillRect l="-1558" t="-14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130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01000" cy="850106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Cyclic String-to-String Correction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9001000" cy="5328592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2051" name="Picture 3" descr="C:\Users\yotsuki\Desktop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128792" cy="497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86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70609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Cyclic String-to-String Correction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196752"/>
            <a:ext cx="9001000" cy="5544616"/>
          </a:xfrm>
        </p:spPr>
        <p:txBody>
          <a:bodyPr/>
          <a:lstStyle/>
          <a:p>
            <a:r>
              <a:rPr lang="nn-NO" altLang="zh-TW" dirty="0" smtClean="0"/>
              <a:t>For all l </a:t>
            </a:r>
            <a:r>
              <a:rPr lang="zh-TW" altLang="en-US" dirty="0"/>
              <a:t>∈</a:t>
            </a:r>
            <a:r>
              <a:rPr lang="en-US" altLang="zh-TW" dirty="0"/>
              <a:t>{</a:t>
            </a:r>
            <a:r>
              <a:rPr lang="nn-NO" altLang="zh-TW" dirty="0"/>
              <a:t>0, 1,. . . , </a:t>
            </a:r>
            <a:r>
              <a:rPr lang="nn-NO" altLang="zh-TW" dirty="0" smtClean="0"/>
              <a:t>m}, P(l) denote a path from v(0,l) to v(n,m+l)</a:t>
            </a:r>
          </a:p>
          <a:p>
            <a:r>
              <a:rPr lang="nn-NO" altLang="zh-TW" b="1" dirty="0" smtClean="0"/>
              <a:t>Definition</a:t>
            </a:r>
            <a:r>
              <a:rPr lang="nn-NO" altLang="zh-TW" dirty="0" smtClean="0"/>
              <a:t>: three integers j, k, and l (</a:t>
            </a:r>
            <a:r>
              <a:rPr lang="en-US" altLang="zh-TW" dirty="0"/>
              <a:t>0≤ </a:t>
            </a:r>
            <a:r>
              <a:rPr lang="en-US" altLang="zh-TW" dirty="0" smtClean="0"/>
              <a:t>j&lt; k &lt; l ≤ m</a:t>
            </a:r>
            <a:r>
              <a:rPr lang="nn-NO" altLang="zh-TW" dirty="0" smtClean="0"/>
              <a:t>). We say two path P(k) and P(l) are noncrossing, following two conditions are satisfied: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   for </a:t>
            </a:r>
            <a:r>
              <a:rPr lang="nn-NO" altLang="zh-TW" dirty="0" smtClean="0"/>
              <a:t>all x </a:t>
            </a:r>
            <a:r>
              <a:rPr lang="zh-TW" altLang="en-US" dirty="0"/>
              <a:t>∈</a:t>
            </a:r>
            <a:r>
              <a:rPr lang="en-US" altLang="zh-TW" dirty="0"/>
              <a:t>{</a:t>
            </a:r>
            <a:r>
              <a:rPr lang="nn-NO" altLang="zh-TW" dirty="0"/>
              <a:t>0, 1,. . . , m</a:t>
            </a:r>
            <a:r>
              <a:rPr lang="nn-NO" altLang="zh-TW" dirty="0" smtClean="0"/>
              <a:t>}, y </a:t>
            </a:r>
            <a:r>
              <a:rPr lang="zh-TW" altLang="en-US" dirty="0"/>
              <a:t>∈</a:t>
            </a:r>
            <a:r>
              <a:rPr lang="en-US" altLang="zh-TW" dirty="0"/>
              <a:t>{</a:t>
            </a:r>
            <a:r>
              <a:rPr lang="nn-NO" altLang="zh-TW" dirty="0"/>
              <a:t>0, 1,. . . , </a:t>
            </a:r>
            <a:r>
              <a:rPr lang="nn-NO" altLang="zh-TW" dirty="0" smtClean="0"/>
              <a:t>2m}</a:t>
            </a:r>
            <a:br>
              <a:rPr lang="nn-NO" altLang="zh-TW" dirty="0" smtClean="0"/>
            </a:br>
            <a:r>
              <a:rPr lang="nn-NO" altLang="zh-TW" dirty="0" smtClean="0"/>
              <a:t>  (i)if v(x,y) </a:t>
            </a:r>
            <a:r>
              <a:rPr lang="zh-TW" altLang="en-US" dirty="0" smtClean="0"/>
              <a:t>∈</a:t>
            </a:r>
            <a:r>
              <a:rPr lang="en-US" altLang="zh-TW" dirty="0" smtClean="0"/>
              <a:t>P(k),the there is a z</a:t>
            </a:r>
            <a:r>
              <a:rPr lang="zh-TW" altLang="en-US" dirty="0" smtClean="0"/>
              <a:t>∈</a:t>
            </a:r>
            <a:r>
              <a:rPr lang="en-US" altLang="zh-TW" dirty="0" smtClean="0"/>
              <a:t>N with </a:t>
            </a:r>
            <a:r>
              <a:rPr lang="en-US" altLang="zh-TW" dirty="0" err="1" smtClean="0"/>
              <a:t>z≥y</a:t>
            </a:r>
            <a:r>
              <a:rPr lang="en-US" altLang="zh-TW" dirty="0" smtClean="0"/>
              <a:t> such   that v(</a:t>
            </a:r>
            <a:r>
              <a:rPr lang="en-US" altLang="zh-TW" dirty="0" err="1" smtClean="0"/>
              <a:t>x,z</a:t>
            </a:r>
            <a:r>
              <a:rPr lang="en-US" altLang="zh-TW" dirty="0" smtClean="0"/>
              <a:t>)</a:t>
            </a:r>
            <a:r>
              <a:rPr lang="zh-TW" altLang="en-US" dirty="0" smtClean="0"/>
              <a:t> ∈</a:t>
            </a:r>
            <a:r>
              <a:rPr lang="en-US" altLang="zh-TW" dirty="0" smtClean="0"/>
              <a:t>P(l)</a:t>
            </a:r>
            <a:r>
              <a:rPr lang="nn-NO" altLang="zh-TW" dirty="0"/>
              <a:t/>
            </a:r>
            <a:br>
              <a:rPr lang="nn-NO" altLang="zh-TW" dirty="0"/>
            </a:br>
            <a:r>
              <a:rPr lang="nn-NO" altLang="zh-TW" dirty="0" smtClean="0"/>
              <a:t>  (ii)if </a:t>
            </a:r>
            <a:r>
              <a:rPr lang="nn-NO" altLang="zh-TW" dirty="0"/>
              <a:t>v(x,y) </a:t>
            </a:r>
            <a:r>
              <a:rPr lang="zh-TW" altLang="en-US" dirty="0"/>
              <a:t>∈</a:t>
            </a:r>
            <a:r>
              <a:rPr lang="en-US" altLang="zh-TW" dirty="0" smtClean="0"/>
              <a:t>P(l),</a:t>
            </a:r>
            <a:r>
              <a:rPr lang="en-US" altLang="zh-TW" dirty="0"/>
              <a:t>the there is a z</a:t>
            </a:r>
            <a:r>
              <a:rPr lang="zh-TW" altLang="en-US" dirty="0"/>
              <a:t>∈</a:t>
            </a:r>
            <a:r>
              <a:rPr lang="en-US" altLang="zh-TW" dirty="0"/>
              <a:t>N with </a:t>
            </a:r>
            <a:r>
              <a:rPr lang="en-US" altLang="zh-TW" dirty="0" smtClean="0"/>
              <a:t>z</a:t>
            </a:r>
            <a:r>
              <a:rPr lang="en-US" altLang="zh-TW" dirty="0"/>
              <a:t> ≤ </a:t>
            </a:r>
            <a:r>
              <a:rPr lang="en-US" altLang="zh-TW" dirty="0" smtClean="0"/>
              <a:t>y </a:t>
            </a:r>
            <a:r>
              <a:rPr lang="en-US" altLang="zh-TW" dirty="0"/>
              <a:t>such that v(</a:t>
            </a:r>
            <a:r>
              <a:rPr lang="en-US" altLang="zh-TW" dirty="0" err="1"/>
              <a:t>x,z</a:t>
            </a:r>
            <a:r>
              <a:rPr lang="en-US" altLang="zh-TW" dirty="0"/>
              <a:t>)</a:t>
            </a:r>
            <a:r>
              <a:rPr lang="zh-TW" altLang="en-US" dirty="0"/>
              <a:t> ∈</a:t>
            </a:r>
            <a:r>
              <a:rPr lang="en-US" altLang="zh-TW" dirty="0" smtClean="0"/>
              <a:t>P(k)</a:t>
            </a:r>
          </a:p>
        </p:txBody>
      </p:sp>
    </p:spTree>
    <p:extLst>
      <p:ext uri="{BB962C8B-B14F-4D97-AF65-F5344CB8AC3E}">
        <p14:creationId xmlns:p14="http://schemas.microsoft.com/office/powerpoint/2010/main" val="1425816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77809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Cyclic String-to-String Correction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196752"/>
            <a:ext cx="9001000" cy="5544616"/>
          </a:xfrm>
        </p:spPr>
        <p:txBody>
          <a:bodyPr/>
          <a:lstStyle/>
          <a:p>
            <a:r>
              <a:rPr lang="en-US" altLang="zh-TW" dirty="0" smtClean="0"/>
              <a:t>Three paths P(j), P(k), P(l). We say P(k) is between P(</a:t>
            </a:r>
            <a:r>
              <a:rPr lang="en-US" altLang="zh-TW" dirty="0"/>
              <a:t>j</a:t>
            </a:r>
            <a:r>
              <a:rPr lang="en-US" altLang="zh-TW" dirty="0" smtClean="0"/>
              <a:t>) and P(l) if P(j) and P(k), as well as P(k) and p(l) are </a:t>
            </a:r>
            <a:r>
              <a:rPr lang="en-US" altLang="zh-TW" dirty="0" err="1" smtClean="0"/>
              <a:t>noncrossing</a:t>
            </a:r>
            <a:r>
              <a:rPr lang="en-US" altLang="zh-TW" dirty="0" smtClean="0"/>
              <a:t>.</a:t>
            </a:r>
          </a:p>
          <a:p>
            <a:r>
              <a:rPr lang="en-US" altLang="zh-TW" b="1" dirty="0" smtClean="0"/>
              <a:t>Lemma 2</a:t>
            </a:r>
            <a:r>
              <a:rPr lang="en-US" altLang="zh-TW" b="1" dirty="0"/>
              <a:t>: </a:t>
            </a:r>
            <a:r>
              <a:rPr lang="en-US" altLang="zh-TW" dirty="0"/>
              <a:t>L</a:t>
            </a:r>
            <a:r>
              <a:rPr lang="en-US" altLang="zh-TW" dirty="0" smtClean="0"/>
              <a:t>et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j</a:t>
            </a:r>
            <a:r>
              <a:rPr lang="en-US" altLang="zh-TW" dirty="0"/>
              <a:t>, k, and l </a:t>
            </a:r>
            <a:r>
              <a:rPr lang="en-US" altLang="zh-TW" dirty="0" smtClean="0"/>
              <a:t>be </a:t>
            </a:r>
            <a:r>
              <a:rPr lang="en-US" altLang="zh-TW" dirty="0"/>
              <a:t>three integers </a:t>
            </a:r>
            <a:r>
              <a:rPr lang="en-US" altLang="zh-TW" dirty="0" smtClean="0"/>
              <a:t>such that 0</a:t>
            </a:r>
            <a:r>
              <a:rPr lang="en-US" altLang="zh-TW" dirty="0"/>
              <a:t>≤ j&lt; k &lt; l ≤ </a:t>
            </a:r>
            <a:r>
              <a:rPr lang="en-US" altLang="zh-TW" dirty="0" smtClean="0"/>
              <a:t>m, and let P(</a:t>
            </a:r>
            <a:r>
              <a:rPr lang="en-US" altLang="zh-TW" dirty="0"/>
              <a:t>j</a:t>
            </a:r>
            <a:r>
              <a:rPr lang="en-US" altLang="zh-TW" dirty="0" smtClean="0"/>
              <a:t>) and P(l) be two </a:t>
            </a:r>
            <a:r>
              <a:rPr lang="en-US" altLang="zh-TW" dirty="0" err="1" smtClean="0"/>
              <a:t>noncrossing</a:t>
            </a:r>
            <a:r>
              <a:rPr lang="en-US" altLang="zh-TW" dirty="0" smtClean="0"/>
              <a:t> </a:t>
            </a:r>
            <a:r>
              <a:rPr lang="en-US" altLang="zh-TW" dirty="0"/>
              <a:t>minimum weighted paths in H</a:t>
            </a:r>
            <a:r>
              <a:rPr lang="en-US" altLang="zh-TW" i="1" dirty="0" smtClean="0"/>
              <a:t>. </a:t>
            </a:r>
            <a:r>
              <a:rPr lang="en-US" altLang="zh-TW" dirty="0"/>
              <a:t>Then there is a minimum weighted path P(k) </a:t>
            </a:r>
            <a:r>
              <a:rPr lang="en-US" altLang="zh-TW" dirty="0" smtClean="0"/>
              <a:t>that lies </a:t>
            </a:r>
            <a:r>
              <a:rPr lang="en-US" altLang="zh-TW" dirty="0"/>
              <a:t>between P(j) and P(I).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76763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908720"/>
                <a:ext cx="9001000" cy="583264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Two string A, B with length n, m.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assume 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TW" sz="2800" dirty="0" smtClean="0"/>
                  <a:t> q</a:t>
                </a:r>
                <a:r>
                  <a:rPr lang="zh-TW" altLang="en-US" sz="2800" dirty="0" smtClean="0"/>
                  <a:t>∈</a:t>
                </a:r>
                <a:r>
                  <a:rPr lang="en-US" altLang="zh-TW" sz="2800" dirty="0" smtClean="0"/>
                  <a:t>N. </a:t>
                </a:r>
                <a:r>
                  <a:rPr lang="en-US" altLang="zh-TW" sz="2800" dirty="0"/>
                  <a:t>C</a:t>
                </a:r>
                <a:r>
                  <a:rPr lang="en-US" altLang="zh-TW" sz="2800" dirty="0" smtClean="0"/>
                  <a:t>ompute all minimum weighted paths P(</a:t>
                </a:r>
                <a:r>
                  <a:rPr lang="en-US" altLang="zh-TW" sz="2800" dirty="0" err="1" smtClean="0"/>
                  <a:t>i</a:t>
                </a:r>
                <a:r>
                  <a:rPr lang="en-US" altLang="zh-TW" sz="2800" dirty="0" smtClean="0"/>
                  <a:t>) </a:t>
                </a:r>
                <a:r>
                  <a:rPr lang="nn-NO" altLang="zh-TW" sz="2800" dirty="0" smtClean="0"/>
                  <a:t>i </a:t>
                </a:r>
                <a:r>
                  <a:rPr lang="zh-TW" altLang="en-US" sz="2800" dirty="0"/>
                  <a:t>∈</a:t>
                </a:r>
                <a:r>
                  <a:rPr lang="en-US" altLang="zh-TW" sz="2800" dirty="0"/>
                  <a:t>{</a:t>
                </a:r>
                <a:r>
                  <a:rPr lang="nn-NO" altLang="zh-TW" sz="2800" dirty="0"/>
                  <a:t>0, 1,. . . , m</a:t>
                </a:r>
                <a:r>
                  <a:rPr lang="nn-NO" altLang="zh-TW" sz="2800" dirty="0" smtClean="0"/>
                  <a:t>}</a:t>
                </a:r>
              </a:p>
              <a:p>
                <a:r>
                  <a:rPr lang="nn-NO" altLang="zh-TW" sz="2800" dirty="0" smtClean="0"/>
                  <a:t>Step 1:</a:t>
                </a:r>
                <a:r>
                  <a:rPr lang="en-US" altLang="zh-TW" sz="2800" dirty="0"/>
                  <a:t>Determine a minimum weighted path </a:t>
                </a:r>
                <a:r>
                  <a:rPr lang="en-US" altLang="zh-TW" sz="2800" dirty="0" smtClean="0"/>
                  <a:t>P(0) and </a:t>
                </a:r>
                <a:r>
                  <a:rPr lang="en-US" altLang="zh-TW" sz="2800" dirty="0"/>
                  <a:t>the corresponding (equal) minimum </a:t>
                </a:r>
                <a:r>
                  <a:rPr lang="en-US" altLang="zh-TW" sz="2800" dirty="0" smtClean="0"/>
                  <a:t>weighted path </a:t>
                </a:r>
                <a:r>
                  <a:rPr lang="en-US" altLang="zh-TW" sz="2800" dirty="0"/>
                  <a:t>P(m</a:t>
                </a:r>
                <a:r>
                  <a:rPr lang="en-US" altLang="zh-TW" sz="2800" dirty="0" smtClean="0"/>
                  <a:t>)</a:t>
                </a:r>
              </a:p>
              <a:p>
                <a:r>
                  <a:rPr lang="en-US" altLang="zh-TW" sz="2800" dirty="0" smtClean="0"/>
                  <a:t>Step 2: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b="1" dirty="0" smtClean="0"/>
                  <a:t>for</a:t>
                </a:r>
                <a:r>
                  <a:rPr lang="en-US" altLang="zh-TW" sz="2800" dirty="0" smtClean="0"/>
                  <a:t> j </a:t>
                </a:r>
                <a:r>
                  <a:rPr lang="en-US" altLang="zh-TW" sz="2800" b="1" dirty="0" smtClean="0"/>
                  <a:t>from</a:t>
                </a:r>
                <a:r>
                  <a:rPr lang="en-US" altLang="zh-TW" sz="2800" dirty="0" smtClean="0"/>
                  <a:t> 1 </a:t>
                </a:r>
                <a:r>
                  <a:rPr lang="en-US" altLang="zh-TW" sz="2800" b="1" dirty="0" smtClean="0"/>
                  <a:t>to</a:t>
                </a:r>
                <a:r>
                  <a:rPr lang="en-US" altLang="zh-TW" sz="2800" dirty="0" smtClean="0"/>
                  <a:t> q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b="1" dirty="0" smtClean="0"/>
                  <a:t>do for </a:t>
                </a:r>
                <a:r>
                  <a:rPr lang="en-US" altLang="zh-TW" sz="2800" dirty="0" smtClean="0"/>
                  <a:t>k </a:t>
                </a:r>
                <a:r>
                  <a:rPr lang="en-US" altLang="zh-TW" sz="2800" b="1" dirty="0" smtClean="0"/>
                  <a:t>from</a:t>
                </a:r>
                <a:r>
                  <a:rPr lang="en-US" altLang="zh-TW" sz="2800" dirty="0" smtClean="0"/>
                  <a:t> 1 </a:t>
                </a:r>
                <a:r>
                  <a:rPr lang="en-US" altLang="zh-TW" sz="2800" b="1" dirty="0" smtClean="0"/>
                  <a:t>to</a:t>
                </a:r>
                <a:r>
                  <a:rPr lang="en-US" altLang="zh-TW" sz="28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      </a:t>
                </a:r>
                <a:r>
                  <a:rPr lang="en-US" altLang="zh-TW" sz="2800" b="1" dirty="0" smtClean="0"/>
                  <a:t>do</a:t>
                </a:r>
                <a:r>
                  <a:rPr lang="en-US" altLang="zh-TW" sz="2800" dirty="0" smtClean="0"/>
                  <a:t> compute a minimum weighted path P ((2k-1)m/</a:t>
                </a:r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800" dirty="0" smtClean="0"/>
                  <a:t>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            between P((2k-2)m</a:t>
                </a:r>
                <a:r>
                  <a:rPr lang="en-US" altLang="zh-TW" sz="2800" dirty="0"/>
                  <a:t>/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sz="2800" i="1">
                            <a:latin typeface="Cambria Math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800" dirty="0"/>
                  <a:t>)</a:t>
                </a:r>
                <a:r>
                  <a:rPr lang="en-US" altLang="zh-TW" sz="2800" dirty="0" smtClean="0"/>
                  <a:t> and P(2km</a:t>
                </a:r>
                <a:r>
                  <a:rPr lang="en-US" altLang="zh-TW" sz="2800" dirty="0"/>
                  <a:t>/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sz="2800" i="1">
                            <a:latin typeface="Cambria Math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800" dirty="0"/>
                  <a:t>)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      </a:t>
                </a:r>
                <a:r>
                  <a:rPr lang="en-US" altLang="zh-TW" sz="2800" b="1" dirty="0" smtClean="0"/>
                  <a:t>end do</a:t>
                </a:r>
                <a:br>
                  <a:rPr lang="en-US" altLang="zh-TW" sz="2800" b="1" dirty="0" smtClean="0"/>
                </a:br>
                <a:r>
                  <a:rPr lang="en-US" altLang="zh-TW" sz="2800" b="1" dirty="0" smtClean="0"/>
                  <a:t>end do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908720"/>
                <a:ext cx="9001000" cy="5832648"/>
              </a:xfrm>
              <a:blipFill rotWithShape="1">
                <a:blip r:embed="rId2"/>
                <a:stretch>
                  <a:fillRect l="-1220" t="-940" r="-3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70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908720"/>
                <a:ext cx="9001000" cy="5832648"/>
              </a:xfrm>
            </p:spPr>
            <p:txBody>
              <a:bodyPr/>
              <a:lstStyle/>
              <a:p>
                <a:r>
                  <a:rPr lang="en-US" altLang="zh-TW" dirty="0" smtClean="0"/>
                  <a:t>Two string A, B. |A|=5, |B|=4  =&gt;  n = 5, m=4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TW" dirty="0" smtClean="0"/>
                  <a:t>  =&gt; q = 2</a:t>
                </a:r>
              </a:p>
              <a:p>
                <a:r>
                  <a:rPr lang="en-US" altLang="zh-TW" dirty="0" smtClean="0"/>
                  <a:t>j = 1, do k </a:t>
                </a:r>
                <a:r>
                  <a:rPr lang="en-US" altLang="zh-TW" dirty="0"/>
                  <a:t>f</a:t>
                </a:r>
                <a:r>
                  <a:rPr lang="en-US" altLang="zh-TW" dirty="0" smtClean="0"/>
                  <a:t>rom 1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1−1</m:t>
                        </m:r>
                      </m:sup>
                    </m:sSup>
                  </m:oMath>
                </a14:m>
                <a:r>
                  <a:rPr lang="en-US" altLang="zh-TW" dirty="0" smtClean="0"/>
                  <a:t> =&gt; k=1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/>
                  <a:t>compute a minimum weighted path </a:t>
                </a:r>
                <a:r>
                  <a:rPr lang="en-US" altLang="zh-TW" dirty="0" smtClean="0"/>
                  <a:t>P(2) between P(0)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P(4) </a:t>
                </a:r>
              </a:p>
              <a:p>
                <a:r>
                  <a:rPr lang="en-US" altLang="zh-TW" dirty="0" smtClean="0"/>
                  <a:t>j = 2, </a:t>
                </a:r>
                <a:r>
                  <a:rPr lang="en-US" altLang="zh-TW" dirty="0"/>
                  <a:t>do k from 1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  <m:r>
                          <a:rPr lang="en-US" altLang="zh-TW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TW" dirty="0"/>
                  <a:t> =&gt; </a:t>
                </a:r>
                <a:r>
                  <a:rPr lang="en-US" altLang="zh-TW" dirty="0" smtClean="0"/>
                  <a:t>k=1, 2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 smtClean="0"/>
                  <a:t>k= 1, compute </a:t>
                </a:r>
                <a:r>
                  <a:rPr lang="en-US" altLang="zh-TW" dirty="0"/>
                  <a:t>a minimum weighted path </a:t>
                </a:r>
                <a:r>
                  <a:rPr lang="en-US" altLang="zh-TW" dirty="0" smtClean="0"/>
                  <a:t>P(1)  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     between P(0</a:t>
                </a:r>
                <a:r>
                  <a:rPr lang="en-US" altLang="zh-TW" dirty="0"/>
                  <a:t>) and </a:t>
                </a:r>
                <a:r>
                  <a:rPr lang="en-US" altLang="zh-TW" dirty="0" smtClean="0"/>
                  <a:t>P(2) </a:t>
                </a:r>
                <a:br>
                  <a:rPr lang="en-US" altLang="zh-TW" dirty="0" smtClean="0"/>
                </a:br>
                <a:r>
                  <a:rPr lang="en-US" altLang="zh-TW" dirty="0"/>
                  <a:t>k= </a:t>
                </a:r>
                <a:r>
                  <a:rPr lang="en-US" altLang="zh-TW" dirty="0" smtClean="0"/>
                  <a:t>2, </a:t>
                </a:r>
                <a:r>
                  <a:rPr lang="en-US" altLang="zh-TW" dirty="0"/>
                  <a:t>compute a minimum weighted path </a:t>
                </a:r>
                <a:r>
                  <a:rPr lang="en-US" altLang="zh-TW" dirty="0" smtClean="0"/>
                  <a:t>P(3) 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     between P(2)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P(4) </a:t>
                </a:r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908720"/>
                <a:ext cx="9001000" cy="5832648"/>
              </a:xfrm>
              <a:blipFill rotWithShape="1">
                <a:blip r:embed="rId2"/>
                <a:stretch>
                  <a:fillRect l="-1558" t="-1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521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5010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836712"/>
            <a:ext cx="9001000" cy="5688632"/>
          </a:xfrm>
        </p:spPr>
        <p:txBody>
          <a:bodyPr/>
          <a:lstStyle/>
          <a:p>
            <a:r>
              <a:rPr lang="en-US" altLang="zh-TW" dirty="0" smtClean="0"/>
              <a:t>the computation of </a:t>
            </a:r>
            <a:r>
              <a:rPr lang="en-US" altLang="zh-TW" dirty="0"/>
              <a:t>P(2) involves only vertices that lie </a:t>
            </a:r>
            <a:r>
              <a:rPr lang="en-US" altLang="zh-TW" dirty="0" smtClean="0"/>
              <a:t>within the </a:t>
            </a:r>
            <a:r>
              <a:rPr lang="en-US" altLang="zh-TW" dirty="0"/>
              <a:t>grey area or on the paths P(0) or P(4).</a:t>
            </a:r>
            <a:br>
              <a:rPr lang="en-US" altLang="zh-TW" dirty="0"/>
            </a:b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3075" name="Picture 3" descr="C:\Users\yotsuki\Desktop\擷取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50" y="1828437"/>
            <a:ext cx="7415022" cy="498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33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5010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836712"/>
            <a:ext cx="9001000" cy="5688632"/>
          </a:xfrm>
        </p:spPr>
        <p:txBody>
          <a:bodyPr/>
          <a:lstStyle/>
          <a:p>
            <a:r>
              <a:rPr lang="en-US" altLang="zh-TW" sz="2800" dirty="0"/>
              <a:t>P(1) can be computed between P(0) and P(2), </a:t>
            </a:r>
            <a:r>
              <a:rPr lang="en-US" altLang="zh-TW" sz="2800" dirty="0" smtClean="0"/>
              <a:t>so only </a:t>
            </a:r>
            <a:r>
              <a:rPr lang="en-US" altLang="zh-TW" sz="2800" dirty="0"/>
              <a:t>vertices on these paths or within the </a:t>
            </a:r>
            <a:r>
              <a:rPr lang="en-US" altLang="zh-TW" sz="2800" dirty="0" smtClean="0"/>
              <a:t>light grey </a:t>
            </a:r>
            <a:r>
              <a:rPr lang="en-US" altLang="zh-TW" sz="2800" dirty="0"/>
              <a:t>area need to be considered. </a:t>
            </a:r>
            <a:r>
              <a:rPr lang="en-US" altLang="zh-TW" sz="2800" dirty="0" smtClean="0"/>
              <a:t>P(3) can </a:t>
            </a:r>
            <a:r>
              <a:rPr lang="en-US" altLang="zh-TW" sz="2800" dirty="0"/>
              <a:t>be computed between P(2) and P(4).</a:t>
            </a:r>
            <a:r>
              <a:rPr lang="en-US" altLang="zh-TW" dirty="0"/>
              <a:t/>
            </a:r>
            <a:br>
              <a:rPr lang="en-US" altLang="zh-TW" dirty="0"/>
            </a:b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3075" name="Picture 3" descr="C:\Users\yotsuki\Desktop\擷取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211655"/>
            <a:ext cx="6844992" cy="460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901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Step 1 involves (n+1)(m+1) step.</a:t>
            </a:r>
          </a:p>
          <a:p>
            <a:r>
              <a:rPr lang="en-US" altLang="zh-TW" dirty="0" smtClean="0"/>
              <a:t>Step 2: within one j-loop of the algorithm. Each vertex of H can occur in at most </a:t>
            </a:r>
            <a:r>
              <a:rPr lang="en-US" altLang="zh-TW" dirty="0" smtClean="0"/>
              <a:t>three </a:t>
            </a:r>
            <a:r>
              <a:rPr lang="en-US" altLang="zh-TW" dirty="0" smtClean="0"/>
              <a:t>paths that are calculates within that loop</a:t>
            </a:r>
            <a:r>
              <a:rPr lang="en-US" altLang="zh-TW" smtClean="0"/>
              <a:t>. </a:t>
            </a:r>
            <a:r>
              <a:rPr lang="en-US" altLang="zh-TW" smtClean="0"/>
              <a:t>Since </a:t>
            </a:r>
            <a:r>
              <a:rPr lang="en-US" altLang="zh-TW" dirty="0" smtClean="0"/>
              <a:t>the </a:t>
            </a:r>
            <a:r>
              <a:rPr lang="en-US" altLang="zh-TW" dirty="0"/>
              <a:t>total number of vertices equals (n + 1)(2m </a:t>
            </a:r>
            <a:r>
              <a:rPr lang="en-US" altLang="zh-TW" dirty="0" smtClean="0"/>
              <a:t>+1), </a:t>
            </a:r>
            <a:r>
              <a:rPr lang="en-US" altLang="zh-TW" dirty="0"/>
              <a:t>this leads to a total of less than </a:t>
            </a:r>
            <a:r>
              <a:rPr lang="en-US" altLang="zh-TW" dirty="0" smtClean="0"/>
              <a:t>3(n </a:t>
            </a:r>
            <a:r>
              <a:rPr lang="en-US" altLang="zh-TW" dirty="0"/>
              <a:t>+ 1)(2m </a:t>
            </a:r>
            <a:r>
              <a:rPr lang="en-US" altLang="zh-TW" dirty="0" smtClean="0"/>
              <a:t>+1</a:t>
            </a:r>
            <a:r>
              <a:rPr lang="en-US" altLang="zh-TW" dirty="0"/>
              <a:t>) steps </a:t>
            </a:r>
            <a:r>
              <a:rPr lang="en-US" altLang="zh-TW" dirty="0" smtClean="0"/>
              <a:t>for </a:t>
            </a:r>
            <a:r>
              <a:rPr lang="en-US" altLang="zh-TW" dirty="0"/>
              <a:t>each of the </a:t>
            </a:r>
            <a:r>
              <a:rPr lang="en-US" altLang="zh-TW" dirty="0" smtClean="0"/>
              <a:t>q </a:t>
            </a:r>
            <a:r>
              <a:rPr lang="en-US" altLang="zh-TW" dirty="0"/>
              <a:t>= log </a:t>
            </a:r>
            <a:r>
              <a:rPr lang="en-US" altLang="zh-TW" dirty="0" smtClean="0"/>
              <a:t>m j-loops</a:t>
            </a:r>
            <a:r>
              <a:rPr lang="en-US" altLang="zh-TW" dirty="0"/>
              <a:t>. We see that O(nm log m) </a:t>
            </a:r>
            <a:r>
              <a:rPr lang="en-US" altLang="zh-TW" dirty="0" smtClean="0"/>
              <a:t>steps are </a:t>
            </a:r>
            <a:r>
              <a:rPr lang="en-US" altLang="zh-TW" dirty="0"/>
              <a:t>needed.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02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693</Words>
  <Application>Microsoft Office PowerPoint</Application>
  <PresentationFormat>如螢幕大小 (4:3)</PresentationFormat>
  <Paragraphs>56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新細明體</vt:lpstr>
      <vt:lpstr>Arial</vt:lpstr>
      <vt:lpstr>Calibri</vt:lpstr>
      <vt:lpstr>Cambria Math</vt:lpstr>
      <vt:lpstr>Office 佈景主題</vt:lpstr>
      <vt:lpstr>On a Cyclic String-to-String Correction Problem</vt:lpstr>
      <vt:lpstr>Introduction</vt:lpstr>
      <vt:lpstr>linear string-to-string correction</vt:lpstr>
      <vt:lpstr>Edit Distance</vt:lpstr>
      <vt:lpstr>Wagner–Fischer algorithm</vt:lpstr>
      <vt:lpstr>Edit Graph</vt:lpstr>
      <vt:lpstr>Edit Graph</vt:lpstr>
      <vt:lpstr>Cyclic Strings</vt:lpstr>
      <vt:lpstr>Cyclic Strings</vt:lpstr>
      <vt:lpstr>Cyclic String-to-String Correction Problem</vt:lpstr>
      <vt:lpstr>Cyclic String-to-String Correction Problem</vt:lpstr>
      <vt:lpstr>Cyclic String-to-String Correction Problem</vt:lpstr>
      <vt:lpstr>Cyclic String-to-String Correction Problem</vt:lpstr>
      <vt:lpstr>Algorithm</vt:lpstr>
      <vt:lpstr>Algorithm</vt:lpstr>
      <vt:lpstr>Algorithm</vt:lpstr>
      <vt:lpstr>Algorithm</vt:lpstr>
      <vt:lpstr>Time Analysis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a Cyclic String-to-String Correction Problem</dc:title>
  <dc:creator>yotsuki</dc:creator>
  <cp:lastModifiedBy>郭冠呈</cp:lastModifiedBy>
  <cp:revision>74</cp:revision>
  <dcterms:created xsi:type="dcterms:W3CDTF">2014-09-23T07:09:26Z</dcterms:created>
  <dcterms:modified xsi:type="dcterms:W3CDTF">2014-09-24T11:29:13Z</dcterms:modified>
</cp:coreProperties>
</file>