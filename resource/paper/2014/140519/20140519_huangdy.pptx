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commentAuthors.xml" ContentType="application/vnd.openxmlformats-officedocument.presentationml.commentAuthors+xml"/>
  <Override PartName="/ppt/slideLayouts/slideLayout10.xml" ContentType="application/vnd.openxmlformats-officedocument.presentationml.slideLayou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9"/>
  </p:notesMasterIdLst>
  <p:sldIdLst>
    <p:sldId id="256" r:id="rId2"/>
    <p:sldId id="257" r:id="rId3"/>
    <p:sldId id="283" r:id="rId4"/>
    <p:sldId id="259" r:id="rId5"/>
    <p:sldId id="280" r:id="rId6"/>
    <p:sldId id="279" r:id="rId7"/>
    <p:sldId id="285" r:id="rId8"/>
    <p:sldId id="262" r:id="rId9"/>
    <p:sldId id="284" r:id="rId10"/>
    <p:sldId id="278" r:id="rId11"/>
    <p:sldId id="265" r:id="rId12"/>
    <p:sldId id="288" r:id="rId13"/>
    <p:sldId id="281" r:id="rId14"/>
    <p:sldId id="270" r:id="rId15"/>
    <p:sldId id="271" r:id="rId16"/>
    <p:sldId id="266" r:id="rId17"/>
    <p:sldId id="282" r:id="rId18"/>
    <p:sldId id="267" r:id="rId19"/>
    <p:sldId id="289" r:id="rId20"/>
    <p:sldId id="273" r:id="rId21"/>
    <p:sldId id="272" r:id="rId22"/>
    <p:sldId id="274" r:id="rId23"/>
    <p:sldId id="275" r:id="rId24"/>
    <p:sldId id="276" r:id="rId25"/>
    <p:sldId id="260" r:id="rId26"/>
    <p:sldId id="290" r:id="rId27"/>
    <p:sldId id="261" r:id="rId28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黃鼎耀" initials="黃鼎耀" lastIdx="1" clrIdx="0">
    <p:extLst>
      <p:ext uri="{19B8F6BF-5375-455C-9EA6-DF929625EA0E}">
        <p15:presenceInfo xmlns="" xmlns:p15="http://schemas.microsoft.com/office/powerpoint/2012/main" userId="1f81c1dd750f6c2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269D01E-BC32-4049-B463-5C60D7B0CCD2}" styleName="佈景主題樣式 2 - 輔色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佈景主題樣式 2 - 輔色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D7B26C5-4107-4FEC-AEDC-1716B250A1EF}" styleName="淺色樣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DBED569-4797-4DF1-A0F4-6AAB3CD982D8}" styleName="淺色樣式 3 - 輔色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7DF18680-E054-41AD-8BC1-D1AEF772440D}" styleName="中等深淺樣式 2 - 輔色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20000" autoAdjust="0"/>
    <p:restoredTop sz="88566" autoAdjust="0"/>
  </p:normalViewPr>
  <p:slideViewPr>
    <p:cSldViewPr snapToGrid="0">
      <p:cViewPr varScale="1">
        <p:scale>
          <a:sx n="76" d="100"/>
          <a:sy n="76" d="100"/>
        </p:scale>
        <p:origin x="-204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23F6E2-7DEE-4261-8DD6-07563E58F12A}" type="datetimeFigureOut">
              <a:rPr lang="zh-TW" altLang="en-US" smtClean="0"/>
              <a:pPr/>
              <a:t>2014/5/19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BF90B9-D7D8-415F-9651-851FA714EAA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="" xmlns:p14="http://schemas.microsoft.com/office/powerpoint/2010/main" val="22090347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/>
            <a:r>
              <a:rPr lang="zh-TW" altLang="en-US" dirty="0" smtClean="0"/>
              <a:t>提出一個策略，讓</a:t>
            </a:r>
            <a:r>
              <a:rPr lang="en-US" altLang="zh-TW" dirty="0" smtClean="0"/>
              <a:t>multiple</a:t>
            </a:r>
            <a:r>
              <a:rPr lang="zh-TW" altLang="en-US" dirty="0" smtClean="0"/>
              <a:t> </a:t>
            </a:r>
            <a:r>
              <a:rPr lang="en-US" altLang="zh-TW" dirty="0" smtClean="0"/>
              <a:t>alignment</a:t>
            </a:r>
            <a:r>
              <a:rPr lang="zh-TW" altLang="en-US" dirty="0" smtClean="0"/>
              <a:t> 更快，利用三維結構比較數進行分析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BF90B9-D7D8-415F-9651-851FA714EAA6}" type="slidenum">
              <a:rPr lang="zh-TW" altLang="en-US" smtClean="0"/>
              <a:pPr/>
              <a:t>1</a:t>
            </a:fld>
            <a:endParaRPr lang="zh-TW" altLang="en-US"/>
          </a:p>
        </p:txBody>
      </p:sp>
    </p:spTree>
    <p:extLst>
      <p:ext uri="{BB962C8B-B14F-4D97-AF65-F5344CB8AC3E}">
        <p14:creationId xmlns="" xmlns:p14="http://schemas.microsoft.com/office/powerpoint/2010/main" val="36368034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 smtClean="0"/>
              <a:t>每個</a:t>
            </a:r>
            <a:r>
              <a:rPr lang="en-US" altLang="zh-TW" dirty="0" smtClean="0"/>
              <a:t>region </a:t>
            </a:r>
            <a:r>
              <a:rPr lang="zh-TW" altLang="en-US" dirty="0" smtClean="0"/>
              <a:t>代表著二級結構 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BF90B9-D7D8-415F-9651-851FA714EAA6}" type="slidenum">
              <a:rPr lang="zh-TW" altLang="en-US" smtClean="0"/>
              <a:pPr/>
              <a:t>3</a:t>
            </a:fld>
            <a:endParaRPr lang="zh-TW" altLang="en-US"/>
          </a:p>
        </p:txBody>
      </p:sp>
    </p:spTree>
    <p:extLst>
      <p:ext uri="{BB962C8B-B14F-4D97-AF65-F5344CB8AC3E}">
        <p14:creationId xmlns="" xmlns:p14="http://schemas.microsoft.com/office/powerpoint/2010/main" val="9925297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BF90B9-D7D8-415F-9651-851FA714EAA6}" type="slidenum">
              <a:rPr lang="zh-TW" altLang="en-US" smtClean="0"/>
              <a:pPr/>
              <a:t>7</a:t>
            </a:fld>
            <a:endParaRPr lang="zh-TW" altLang="en-US"/>
          </a:p>
        </p:txBody>
      </p:sp>
    </p:spTree>
    <p:extLst>
      <p:ext uri="{BB962C8B-B14F-4D97-AF65-F5344CB8AC3E}">
        <p14:creationId xmlns="" xmlns:p14="http://schemas.microsoft.com/office/powerpoint/2010/main" val="41868778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 smtClean="0"/>
              <a:t>在</a:t>
            </a:r>
            <a:r>
              <a:rPr lang="en-US" altLang="zh-TW" dirty="0" smtClean="0"/>
              <a:t>region</a:t>
            </a:r>
            <a:r>
              <a:rPr lang="zh-TW" altLang="en-US" dirty="0" smtClean="0"/>
              <a:t> 內的排法就是</a:t>
            </a:r>
            <a:r>
              <a:rPr lang="en-US" altLang="zh-TW" dirty="0" smtClean="0"/>
              <a:t>reference alignment</a:t>
            </a:r>
          </a:p>
          <a:p>
            <a:endParaRPr lang="en-US" altLang="zh-TW" dirty="0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BF90B9-D7D8-415F-9651-851FA714EAA6}" type="slidenum">
              <a:rPr lang="zh-TW" altLang="en-US" smtClean="0"/>
              <a:pPr/>
              <a:t>16</a:t>
            </a:fld>
            <a:endParaRPr lang="zh-TW" altLang="en-US"/>
          </a:p>
        </p:txBody>
      </p:sp>
    </p:spTree>
    <p:extLst>
      <p:ext uri="{BB962C8B-B14F-4D97-AF65-F5344CB8AC3E}">
        <p14:creationId xmlns="" xmlns:p14="http://schemas.microsoft.com/office/powerpoint/2010/main" val="40221095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 smtClean="0"/>
              <a:t>有個大家都認為不錯的</a:t>
            </a:r>
            <a:r>
              <a:rPr lang="en-US" altLang="zh-TW" dirty="0" smtClean="0"/>
              <a:t>alignment</a:t>
            </a:r>
            <a:r>
              <a:rPr lang="zh-TW" altLang="en-US" dirty="0" smtClean="0"/>
              <a:t>  當作</a:t>
            </a:r>
            <a:r>
              <a:rPr lang="en-US" altLang="zh-TW" dirty="0" smtClean="0"/>
              <a:t>reference</a:t>
            </a:r>
            <a:r>
              <a:rPr lang="en-US" altLang="zh-TW" baseline="0" dirty="0" smtClean="0"/>
              <a:t> alignment</a:t>
            </a:r>
            <a:endParaRPr lang="en-US" altLang="zh-TW" dirty="0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BF90B9-D7D8-415F-9651-851FA714EAA6}" type="slidenum">
              <a:rPr lang="zh-TW" altLang="en-US" smtClean="0"/>
              <a:pPr/>
              <a:t>17</a:t>
            </a:fld>
            <a:endParaRPr lang="zh-TW" altLang="en-US"/>
          </a:p>
        </p:txBody>
      </p:sp>
    </p:spTree>
    <p:extLst>
      <p:ext uri="{BB962C8B-B14F-4D97-AF65-F5344CB8AC3E}">
        <p14:creationId xmlns="" xmlns:p14="http://schemas.microsoft.com/office/powerpoint/2010/main" val="10392985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 smtClean="0"/>
              <a:t>透過這張圖 利用</a:t>
            </a:r>
            <a:r>
              <a:rPr lang="en-US" altLang="zh-TW" dirty="0" smtClean="0"/>
              <a:t>significance score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BF90B9-D7D8-415F-9651-851FA714EAA6}" type="slidenum">
              <a:rPr lang="zh-TW" altLang="en-US" smtClean="0"/>
              <a:pPr/>
              <a:t>20</a:t>
            </a:fld>
            <a:endParaRPr lang="zh-TW" altLang="en-US"/>
          </a:p>
        </p:txBody>
      </p:sp>
    </p:spTree>
    <p:extLst>
      <p:ext uri="{BB962C8B-B14F-4D97-AF65-F5344CB8AC3E}">
        <p14:creationId xmlns="" xmlns:p14="http://schemas.microsoft.com/office/powerpoint/2010/main" val="22426391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1C927-D349-461D-82C2-54B1D2715C92}" type="datetimeFigureOut">
              <a:rPr lang="zh-TW" altLang="en-US" smtClean="0"/>
              <a:pPr/>
              <a:t>2014/5/19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E00C0-2B50-4499-B7DF-57D0ED9BD57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="" xmlns:p14="http://schemas.microsoft.com/office/powerpoint/2010/main" val="4751067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1C927-D349-461D-82C2-54B1D2715C92}" type="datetimeFigureOut">
              <a:rPr lang="zh-TW" altLang="en-US" smtClean="0"/>
              <a:pPr/>
              <a:t>2014/5/19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E00C0-2B50-4499-B7DF-57D0ED9BD57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="" xmlns:p14="http://schemas.microsoft.com/office/powerpoint/2010/main" val="15254548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1C927-D349-461D-82C2-54B1D2715C92}" type="datetimeFigureOut">
              <a:rPr lang="zh-TW" altLang="en-US" smtClean="0"/>
              <a:pPr/>
              <a:t>2014/5/19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E00C0-2B50-4499-B7DF-57D0ED9BD57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="" xmlns:p14="http://schemas.microsoft.com/office/powerpoint/2010/main" val="1000736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1C927-D349-461D-82C2-54B1D2715C92}" type="datetimeFigureOut">
              <a:rPr lang="zh-TW" altLang="en-US" smtClean="0"/>
              <a:pPr/>
              <a:t>2014/5/19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E00C0-2B50-4499-B7DF-57D0ED9BD57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="" xmlns:p14="http://schemas.microsoft.com/office/powerpoint/2010/main" val="10034688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1C927-D349-461D-82C2-54B1D2715C92}" type="datetimeFigureOut">
              <a:rPr lang="zh-TW" altLang="en-US" smtClean="0"/>
              <a:pPr/>
              <a:t>2014/5/19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E00C0-2B50-4499-B7DF-57D0ED9BD57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="" xmlns:p14="http://schemas.microsoft.com/office/powerpoint/2010/main" val="41631307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1C927-D349-461D-82C2-54B1D2715C92}" type="datetimeFigureOut">
              <a:rPr lang="zh-TW" altLang="en-US" smtClean="0"/>
              <a:pPr/>
              <a:t>2014/5/19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E00C0-2B50-4499-B7DF-57D0ED9BD57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="" xmlns:p14="http://schemas.microsoft.com/office/powerpoint/2010/main" val="23028310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1C927-D349-461D-82C2-54B1D2715C92}" type="datetimeFigureOut">
              <a:rPr lang="zh-TW" altLang="en-US" smtClean="0"/>
              <a:pPr/>
              <a:t>2014/5/19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E00C0-2B50-4499-B7DF-57D0ED9BD57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="" xmlns:p14="http://schemas.microsoft.com/office/powerpoint/2010/main" val="27148368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1C927-D349-461D-82C2-54B1D2715C92}" type="datetimeFigureOut">
              <a:rPr lang="zh-TW" altLang="en-US" smtClean="0"/>
              <a:pPr/>
              <a:t>2014/5/19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E00C0-2B50-4499-B7DF-57D0ED9BD57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="" xmlns:p14="http://schemas.microsoft.com/office/powerpoint/2010/main" val="30486003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1C927-D349-461D-82C2-54B1D2715C92}" type="datetimeFigureOut">
              <a:rPr lang="zh-TW" altLang="en-US" smtClean="0"/>
              <a:pPr/>
              <a:t>2014/5/19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E00C0-2B50-4499-B7DF-57D0ED9BD57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="" xmlns:p14="http://schemas.microsoft.com/office/powerpoint/2010/main" val="1795519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1C927-D349-461D-82C2-54B1D2715C92}" type="datetimeFigureOut">
              <a:rPr lang="zh-TW" altLang="en-US" smtClean="0"/>
              <a:pPr/>
              <a:t>2014/5/19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E00C0-2B50-4499-B7DF-57D0ED9BD57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="" xmlns:p14="http://schemas.microsoft.com/office/powerpoint/2010/main" val="25190944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1C927-D349-461D-82C2-54B1D2715C92}" type="datetimeFigureOut">
              <a:rPr lang="zh-TW" altLang="en-US" smtClean="0"/>
              <a:pPr/>
              <a:t>2014/5/19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E00C0-2B50-4499-B7DF-57D0ED9BD57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="" xmlns:p14="http://schemas.microsoft.com/office/powerpoint/2010/main" val="2753716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21C927-D349-461D-82C2-54B1D2715C92}" type="datetimeFigureOut">
              <a:rPr lang="zh-TW" altLang="en-US" smtClean="0"/>
              <a:pPr/>
              <a:t>2014/5/19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CE00C0-2B50-4499-B7DF-57D0ED9BD57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="" xmlns:p14="http://schemas.microsoft.com/office/powerpoint/2010/main" val="1077576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TW" sz="2400" b="1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A Strategy for the Rapid Multiple Alignment</a:t>
            </a:r>
            <a:br>
              <a:rPr lang="en-US" altLang="zh-TW" sz="2400" b="1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</a:br>
            <a:r>
              <a:rPr lang="en-US" altLang="zh-TW" sz="2400" b="1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of Protein Sequences</a:t>
            </a:r>
            <a:br>
              <a:rPr lang="en-US" altLang="zh-TW" sz="2400" b="1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</a:br>
            <a:r>
              <a:rPr lang="en-US" altLang="zh-TW" sz="2400" b="1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Confidence Levels from Tertiary Structure Comparisons</a:t>
            </a:r>
            <a:endParaRPr lang="zh-TW" altLang="en-US" sz="2400" b="1" dirty="0"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pPr algn="r"/>
            <a:endParaRPr lang="en-US" altLang="zh-TW" dirty="0" smtClean="0"/>
          </a:p>
          <a:p>
            <a:pPr algn="r"/>
            <a:r>
              <a:rPr lang="en-US" altLang="zh-TW" dirty="0" smtClean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Geoffrey </a:t>
            </a:r>
            <a:r>
              <a:rPr lang="en-US" altLang="zh-TW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J. </a:t>
            </a:r>
            <a:r>
              <a:rPr lang="en-US" altLang="zh-TW" dirty="0" smtClean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Barton  and </a:t>
            </a:r>
            <a:r>
              <a:rPr lang="en-US" altLang="zh-TW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Michael J. E. </a:t>
            </a:r>
            <a:r>
              <a:rPr lang="en-US" altLang="zh-TW" dirty="0" smtClean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Sternberg</a:t>
            </a:r>
          </a:p>
          <a:p>
            <a:pPr algn="r"/>
            <a:r>
              <a:rPr lang="nl-NL" altLang="zh-TW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J. Mol. Biol. (</a:t>
            </a:r>
            <a:r>
              <a:rPr lang="nl-NL" altLang="zh-TW" dirty="0" smtClean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1987)198,327-337</a:t>
            </a:r>
          </a:p>
          <a:p>
            <a:pPr algn="r"/>
            <a:r>
              <a:rPr lang="nl-NL" altLang="zh-TW" dirty="0" smtClean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Presenter:Ding-Yao Huang</a:t>
            </a:r>
          </a:p>
          <a:p>
            <a:pPr algn="r"/>
            <a:r>
              <a:rPr lang="nl-NL" altLang="zh-TW" smtClean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Date:2014/5/19</a:t>
            </a:r>
            <a:endParaRPr lang="zh-TW" altLang="en-US" dirty="0"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5987402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Abstract</a:t>
            </a:r>
            <a:endParaRPr lang="zh-TW" altLang="en-US" b="1" dirty="0"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28650" y="1308295"/>
            <a:ext cx="7886700" cy="526131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TW" sz="2000" dirty="0"/>
              <a:t>An algorithm is presented for the multiple alignment of protein </a:t>
            </a:r>
            <a:r>
              <a:rPr lang="en-US" altLang="zh-TW" sz="2000" dirty="0" smtClean="0"/>
              <a:t>sequences that </a:t>
            </a:r>
            <a:r>
              <a:rPr lang="en-US" altLang="zh-TW" sz="2000" dirty="0"/>
              <a:t>is </a:t>
            </a:r>
            <a:r>
              <a:rPr lang="en-US" altLang="zh-TW" sz="2000" dirty="0" smtClean="0"/>
              <a:t>both accurate </a:t>
            </a:r>
            <a:r>
              <a:rPr lang="en-US" altLang="zh-TW" sz="2000" dirty="0"/>
              <a:t>and rapid computationally. The approach is based on the conventional </a:t>
            </a:r>
            <a:r>
              <a:rPr lang="en-US" altLang="zh-TW" sz="2000" dirty="0" smtClean="0"/>
              <a:t>dynamic programming</a:t>
            </a:r>
            <a:r>
              <a:rPr lang="en-US" altLang="zh-TW" sz="2000" dirty="0"/>
              <a:t> </a:t>
            </a:r>
            <a:r>
              <a:rPr lang="en-US" altLang="zh-TW" sz="2000" dirty="0" smtClean="0"/>
              <a:t>method </a:t>
            </a:r>
            <a:r>
              <a:rPr lang="en-US" altLang="zh-TW" sz="2000" dirty="0"/>
              <a:t>of pairwise alignment. Initially, two </a:t>
            </a:r>
            <a:r>
              <a:rPr lang="en-US" altLang="zh-TW" sz="2000" dirty="0" smtClean="0"/>
              <a:t>sequences are </a:t>
            </a:r>
            <a:r>
              <a:rPr lang="en-US" altLang="zh-TW" sz="2000" dirty="0"/>
              <a:t>aligned, then </a:t>
            </a:r>
            <a:r>
              <a:rPr lang="en-US" altLang="zh-TW" sz="2000" dirty="0" smtClean="0"/>
              <a:t>the third sequence is </a:t>
            </a:r>
            <a:r>
              <a:rPr lang="en-US" altLang="zh-TW" sz="2000" dirty="0"/>
              <a:t>aligned against the alignment of both </a:t>
            </a:r>
            <a:r>
              <a:rPr lang="en-US" altLang="zh-TW" sz="2000" dirty="0" smtClean="0"/>
              <a:t>sequences one </a:t>
            </a:r>
            <a:r>
              <a:rPr lang="en-US" altLang="zh-TW" sz="2000" dirty="0"/>
              <a:t>and two. </a:t>
            </a:r>
            <a:r>
              <a:rPr lang="en-US" altLang="zh-TW" sz="2000" dirty="0" smtClean="0"/>
              <a:t>Similarly, the </a:t>
            </a:r>
            <a:r>
              <a:rPr lang="en-US" altLang="zh-TW" sz="2000" dirty="0"/>
              <a:t>fourth sequence is aligned against one, two and three. This is repeated until </a:t>
            </a:r>
            <a:r>
              <a:rPr lang="en-US" altLang="zh-TW" sz="2000" dirty="0" smtClean="0"/>
              <a:t>all sequences have </a:t>
            </a:r>
            <a:r>
              <a:rPr lang="en-US" altLang="zh-TW" sz="2000" dirty="0"/>
              <a:t>been aligned. Iteration is then performed to yield a final </a:t>
            </a:r>
            <a:r>
              <a:rPr lang="en-US" altLang="zh-TW" sz="2000" dirty="0" smtClean="0"/>
              <a:t>alignment.</a:t>
            </a:r>
            <a:endParaRPr lang="en-US" altLang="zh-TW" sz="2000" dirty="0"/>
          </a:p>
          <a:p>
            <a:pPr marL="0" indent="0">
              <a:buNone/>
            </a:pPr>
            <a:r>
              <a:rPr lang="en-US" altLang="zh-TW" sz="2000" dirty="0" smtClean="0"/>
              <a:t>The </a:t>
            </a:r>
            <a:r>
              <a:rPr lang="en-US" altLang="zh-TW" sz="2000" dirty="0"/>
              <a:t>accuracy of sequence alignment is evaluated from alignment of the </a:t>
            </a:r>
            <a:r>
              <a:rPr lang="en-US" altLang="zh-TW" sz="2000" dirty="0" smtClean="0"/>
              <a:t>secondary structures </a:t>
            </a:r>
            <a:r>
              <a:rPr lang="en-US" altLang="zh-TW" sz="2000" dirty="0"/>
              <a:t>in a family of proteins. For the </a:t>
            </a:r>
            <a:r>
              <a:rPr lang="en-US" altLang="zh-TW" sz="2000" dirty="0" err="1"/>
              <a:t>globins</a:t>
            </a:r>
            <a:r>
              <a:rPr lang="en-US" altLang="zh-TW" sz="2000" dirty="0"/>
              <a:t>, the multiple alignment was on </a:t>
            </a:r>
            <a:r>
              <a:rPr lang="en-US" altLang="zh-TW" sz="2000" dirty="0" smtClean="0"/>
              <a:t>average 99% accurate compared to 90% for </a:t>
            </a:r>
            <a:r>
              <a:rPr lang="en-US" altLang="zh-TW" sz="2000" dirty="0"/>
              <a:t>pairwise </a:t>
            </a:r>
            <a:r>
              <a:rPr lang="en-US" altLang="zh-TW" sz="2000" dirty="0" smtClean="0"/>
              <a:t>comparison of sequences. For </a:t>
            </a:r>
            <a:r>
              <a:rPr lang="en-US" altLang="zh-TW" sz="2000" dirty="0"/>
              <a:t>the alignment </a:t>
            </a:r>
            <a:r>
              <a:rPr lang="en-US" altLang="zh-TW" sz="2000" dirty="0" smtClean="0"/>
              <a:t>of immunoglobulin </a:t>
            </a:r>
            <a:r>
              <a:rPr lang="en-US" altLang="zh-TW" sz="2000" dirty="0"/>
              <a:t>constant and variable domains, the use of many sequences yielded </a:t>
            </a:r>
            <a:r>
              <a:rPr lang="en-US" altLang="zh-TW" sz="2000" dirty="0" smtClean="0"/>
              <a:t>an alignment </a:t>
            </a:r>
            <a:r>
              <a:rPr lang="en-US" altLang="zh-TW" sz="2000" dirty="0"/>
              <a:t>of </a:t>
            </a:r>
            <a:r>
              <a:rPr lang="en-US" altLang="zh-TW" sz="2000" dirty="0" smtClean="0"/>
              <a:t>63 % </a:t>
            </a:r>
            <a:r>
              <a:rPr lang="en-US" altLang="zh-TW" sz="2000" dirty="0"/>
              <a:t>average accuracy compared to </a:t>
            </a:r>
            <a:r>
              <a:rPr lang="en-US" altLang="zh-TW" sz="2000" dirty="0" smtClean="0"/>
              <a:t>41% </a:t>
            </a:r>
            <a:r>
              <a:rPr lang="en-US" altLang="zh-TW" sz="2000" dirty="0"/>
              <a:t>average for individual </a:t>
            </a:r>
            <a:r>
              <a:rPr lang="en-US" altLang="zh-TW" sz="2000" dirty="0" smtClean="0"/>
              <a:t>variable/constant </a:t>
            </a:r>
            <a:r>
              <a:rPr lang="en-US" altLang="zh-TW" sz="2000" dirty="0"/>
              <a:t>alignments. The multiple alignment algorithm yields an assignment of </a:t>
            </a:r>
            <a:r>
              <a:rPr lang="en-US" altLang="zh-TW" sz="2000" dirty="0" err="1" smtClean="0"/>
              <a:t>disulphide</a:t>
            </a:r>
            <a:r>
              <a:rPr lang="en-US" altLang="zh-TW" sz="2000" dirty="0"/>
              <a:t> </a:t>
            </a:r>
            <a:r>
              <a:rPr lang="en-US" altLang="zh-TW" sz="2000" dirty="0" smtClean="0"/>
              <a:t>connectivity </a:t>
            </a:r>
            <a:r>
              <a:rPr lang="en-US" altLang="zh-TW" sz="2000" dirty="0"/>
              <a:t>in </a:t>
            </a:r>
            <a:r>
              <a:rPr lang="en-US" altLang="zh-TW" sz="2000" dirty="0" smtClean="0"/>
              <a:t>mammalian </a:t>
            </a:r>
            <a:r>
              <a:rPr lang="en-US" altLang="zh-TW" sz="2000" dirty="0" err="1" smtClean="0"/>
              <a:t>serotransferrin</a:t>
            </a:r>
            <a:r>
              <a:rPr lang="en-US" altLang="zh-TW" sz="2000" dirty="0" smtClean="0"/>
              <a:t> </a:t>
            </a:r>
            <a:r>
              <a:rPr lang="en-US" altLang="zh-TW" sz="2000" dirty="0"/>
              <a:t>that is consistent with crystallographic </a:t>
            </a:r>
            <a:r>
              <a:rPr lang="en-US" altLang="zh-TW" sz="2000" dirty="0" smtClean="0"/>
              <a:t>data, whereas </a:t>
            </a:r>
            <a:r>
              <a:rPr lang="en-US" altLang="zh-TW" sz="2000" dirty="0"/>
              <a:t>pairwise alignments give an alternative assignment</a:t>
            </a:r>
            <a:endParaRPr lang="zh-TW" altLang="en-US" sz="2000" dirty="0"/>
          </a:p>
        </p:txBody>
      </p:sp>
    </p:spTree>
    <p:extLst>
      <p:ext uri="{BB962C8B-B14F-4D97-AF65-F5344CB8AC3E}">
        <p14:creationId xmlns="" xmlns:p14="http://schemas.microsoft.com/office/powerpoint/2010/main" val="37571412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408" y="1208551"/>
            <a:ext cx="8639175" cy="428625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627240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Procedure</a:t>
            </a:r>
            <a:endParaRPr lang="zh-TW" altLang="en-US" b="1" dirty="0"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 dirty="0" smtClean="0"/>
              <a:t>(a)Needleman &amp; </a:t>
            </a:r>
            <a:r>
              <a:rPr lang="en-US" altLang="zh-TW" dirty="0" err="1" smtClean="0"/>
              <a:t>Wunsch</a:t>
            </a:r>
            <a:r>
              <a:rPr lang="en-US" altLang="zh-TW" dirty="0" smtClean="0"/>
              <a:t> algorithm</a:t>
            </a:r>
          </a:p>
          <a:p>
            <a:pPr marL="0" indent="0">
              <a:buNone/>
            </a:pPr>
            <a:r>
              <a:rPr lang="en-US" altLang="zh-TW" dirty="0" smtClean="0"/>
              <a:t>(b)Multiple alignment</a:t>
            </a:r>
          </a:p>
          <a:p>
            <a:pPr marL="0" indent="0">
              <a:buNone/>
            </a:pPr>
            <a:r>
              <a:rPr lang="en-US" altLang="zh-TW" dirty="0" smtClean="0"/>
              <a:t>(c)Criteria for assessing the quality of alignment</a:t>
            </a:r>
          </a:p>
          <a:p>
            <a:pPr marL="0" indent="0">
              <a:buNone/>
            </a:pPr>
            <a:r>
              <a:rPr lang="en-US" altLang="zh-TW" dirty="0" smtClean="0"/>
              <a:t>(d)Order of alignment</a:t>
            </a:r>
          </a:p>
          <a:p>
            <a:pPr marL="0" indent="0">
              <a:buNone/>
            </a:pPr>
            <a:r>
              <a:rPr lang="en-US" altLang="zh-TW" dirty="0" smtClean="0"/>
              <a:t>(e)Reducing calculation time</a:t>
            </a:r>
          </a:p>
          <a:p>
            <a:pPr marL="0" indent="0">
              <a:buNone/>
            </a:pPr>
            <a:r>
              <a:rPr lang="en-US" altLang="zh-TW" dirty="0" smtClean="0"/>
              <a:t>(f)Test sequences and reference alignments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="" xmlns:p14="http://schemas.microsoft.com/office/powerpoint/2010/main" val="2584849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000" b="1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Needleman &amp; </a:t>
            </a:r>
            <a:r>
              <a:rPr lang="en-US" altLang="zh-TW" sz="4000" b="1" dirty="0" err="1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Wunsch</a:t>
            </a:r>
            <a:r>
              <a:rPr lang="en-US" altLang="zh-TW" sz="4000" b="1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 algorithm</a:t>
            </a:r>
            <a:endParaRPr lang="zh-TW" altLang="en-US" sz="4000" b="1" dirty="0"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  <p:graphicFrame>
        <p:nvGraphicFramePr>
          <p:cNvPr id="5" name="內容版面配置區 3"/>
          <p:cNvGraphicFramePr>
            <a:graphicFrameLocks/>
          </p:cNvGraphicFramePr>
          <p:nvPr>
            <p:extLst>
              <p:ext uri="{D42A27DB-BD31-4B8C-83A1-F6EECF244321}">
                <p14:modId xmlns="" xmlns:p14="http://schemas.microsoft.com/office/powerpoint/2010/main" val="1249434747"/>
              </p:ext>
            </p:extLst>
          </p:nvPr>
        </p:nvGraphicFramePr>
        <p:xfrm>
          <a:off x="476635" y="2826692"/>
          <a:ext cx="4754376" cy="337923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62786"/>
                <a:gridCol w="685760"/>
                <a:gridCol w="683461"/>
                <a:gridCol w="683461"/>
                <a:gridCol w="688060"/>
                <a:gridCol w="675424"/>
                <a:gridCol w="675424"/>
              </a:tblGrid>
              <a:tr h="43185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 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 dirty="0" smtClean="0">
                          <a:effectLst/>
                        </a:rPr>
                        <a:t>P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 dirty="0" smtClean="0">
                          <a:effectLst/>
                        </a:rPr>
                        <a:t>R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 dirty="0" smtClean="0">
                          <a:effectLst/>
                        </a:rPr>
                        <a:t>C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 dirty="0" smtClean="0">
                          <a:effectLst/>
                        </a:rPr>
                        <a:t>L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altLang="zh-TW" sz="1800" kern="100" dirty="0" smtClean="0"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42105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68580" marR="68580" marT="0" marB="0"/>
                </a:tc>
              </a:tr>
              <a:tr h="42105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 dirty="0" smtClean="0">
                          <a:effectLst/>
                        </a:rPr>
                        <a:t>P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</a:tr>
              <a:tr h="42105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altLang="zh-TW" sz="1800" kern="100" dirty="0" smtClean="0">
                          <a:effectLst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</a:tr>
              <a:tr h="42105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 dirty="0" smtClean="0">
                          <a:effectLst/>
                        </a:rPr>
                        <a:t>R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 marL="68580" marR="68580" marT="0" marB="0"/>
                </a:tc>
              </a:tr>
              <a:tr h="42105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 dirty="0" smtClean="0">
                          <a:effectLst/>
                        </a:rPr>
                        <a:t>C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 marL="68580" marR="68580" marT="0" marB="0"/>
                </a:tc>
              </a:tr>
              <a:tr h="42105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 dirty="0" smtClean="0">
                          <a:effectLst/>
                        </a:rPr>
                        <a:t>K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 marL="68580" marR="68580" marT="0" marB="0"/>
                </a:tc>
              </a:tr>
              <a:tr h="42105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altLang="zh-TW" sz="1800" kern="100" dirty="0" smtClean="0"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68580" marR="68580" marT="0" marB="0"/>
                </a:tc>
              </a:tr>
            </a:tbl>
          </a:graphicData>
        </a:graphic>
      </p:graphicFrame>
      <p:sp>
        <p:nvSpPr>
          <p:cNvPr id="71" name="文字方塊 70"/>
          <p:cNvSpPr txBox="1"/>
          <p:nvPr/>
        </p:nvSpPr>
        <p:spPr>
          <a:xfrm>
            <a:off x="6190133" y="2052106"/>
            <a:ext cx="874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err="1" smtClean="0"/>
              <a:t>F</a:t>
            </a:r>
            <a:r>
              <a:rPr lang="en-US" altLang="zh-TW" baseline="-25000" dirty="0" err="1" smtClean="0"/>
              <a:t>ij</a:t>
            </a:r>
            <a:r>
              <a:rPr lang="en-US" altLang="zh-TW" dirty="0" smtClean="0"/>
              <a:t>=max</a:t>
            </a:r>
            <a:endParaRPr lang="zh-TW" altLang="en-US" dirty="0"/>
          </a:p>
        </p:txBody>
      </p:sp>
      <p:sp>
        <p:nvSpPr>
          <p:cNvPr id="72" name="左大括弧 71"/>
          <p:cNvSpPr/>
          <p:nvPr/>
        </p:nvSpPr>
        <p:spPr>
          <a:xfrm>
            <a:off x="7104811" y="1578945"/>
            <a:ext cx="336176" cy="1412639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3" name="文字方塊 72"/>
          <p:cNvSpPr txBox="1"/>
          <p:nvPr/>
        </p:nvSpPr>
        <p:spPr>
          <a:xfrm>
            <a:off x="7556967" y="1506023"/>
            <a:ext cx="15870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F</a:t>
            </a:r>
            <a:r>
              <a:rPr lang="en-US" altLang="zh-TW" baseline="-25000" dirty="0" smtClean="0"/>
              <a:t>i-1,j-1</a:t>
            </a:r>
            <a:r>
              <a:rPr lang="en-US" altLang="zh-TW" dirty="0" smtClean="0"/>
              <a:t>+S(</a:t>
            </a:r>
            <a:r>
              <a:rPr lang="en-US" altLang="zh-TW" dirty="0" err="1" smtClean="0"/>
              <a:t>A</a:t>
            </a:r>
            <a:r>
              <a:rPr lang="en-US" altLang="zh-TW" baseline="-25000" dirty="0" err="1" smtClean="0"/>
              <a:t>i</a:t>
            </a:r>
            <a:r>
              <a:rPr lang="en-US" altLang="zh-TW" dirty="0" err="1" smtClean="0"/>
              <a:t>,B</a:t>
            </a:r>
            <a:r>
              <a:rPr lang="en-US" altLang="zh-TW" baseline="-25000" dirty="0" err="1"/>
              <a:t>j</a:t>
            </a:r>
            <a:r>
              <a:rPr lang="en-US" altLang="zh-TW" dirty="0" smtClean="0"/>
              <a:t>)</a:t>
            </a:r>
            <a:endParaRPr lang="zh-TW" altLang="en-US" dirty="0"/>
          </a:p>
        </p:txBody>
      </p:sp>
      <p:sp>
        <p:nvSpPr>
          <p:cNvPr id="74" name="文字方塊 73"/>
          <p:cNvSpPr txBox="1"/>
          <p:nvPr/>
        </p:nvSpPr>
        <p:spPr>
          <a:xfrm>
            <a:off x="7543520" y="2080079"/>
            <a:ext cx="15870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F</a:t>
            </a:r>
            <a:r>
              <a:rPr lang="en-US" altLang="zh-TW" baseline="-25000" dirty="0" smtClean="0"/>
              <a:t>i,j-1</a:t>
            </a:r>
            <a:r>
              <a:rPr lang="en-US" altLang="zh-TW" dirty="0" smtClean="0"/>
              <a:t>+s(A</a:t>
            </a:r>
            <a:r>
              <a:rPr lang="en-US" altLang="zh-TW" baseline="-25000" dirty="0" smtClean="0"/>
              <a:t>i</a:t>
            </a:r>
            <a:r>
              <a:rPr lang="en-US" altLang="zh-TW" dirty="0" smtClean="0"/>
              <a:t>,</a:t>
            </a:r>
            <a:r>
              <a:rPr lang="zh-TW" altLang="en-US" dirty="0" smtClean="0"/>
              <a:t>─</a:t>
            </a:r>
            <a:r>
              <a:rPr lang="en-US" altLang="zh-TW" dirty="0" smtClean="0"/>
              <a:t>) </a:t>
            </a:r>
            <a:endParaRPr lang="zh-TW" altLang="en-US" dirty="0"/>
          </a:p>
        </p:txBody>
      </p:sp>
      <p:sp>
        <p:nvSpPr>
          <p:cNvPr id="75" name="文字方塊 74"/>
          <p:cNvSpPr txBox="1"/>
          <p:nvPr/>
        </p:nvSpPr>
        <p:spPr>
          <a:xfrm>
            <a:off x="7556967" y="2627165"/>
            <a:ext cx="15870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F</a:t>
            </a:r>
            <a:r>
              <a:rPr lang="en-US" altLang="zh-TW" baseline="-25000" dirty="0" smtClean="0"/>
              <a:t>i-1,j</a:t>
            </a:r>
            <a:r>
              <a:rPr lang="en-US" altLang="zh-TW" dirty="0" smtClean="0"/>
              <a:t>+s(</a:t>
            </a:r>
            <a:r>
              <a:rPr lang="zh-TW" altLang="en-US" dirty="0" smtClean="0"/>
              <a:t>─</a:t>
            </a:r>
            <a:r>
              <a:rPr lang="en-US" altLang="zh-TW" dirty="0" smtClean="0"/>
              <a:t>, </a:t>
            </a:r>
            <a:r>
              <a:rPr lang="en-US" altLang="zh-TW" dirty="0" err="1" smtClean="0"/>
              <a:t>B</a:t>
            </a:r>
            <a:r>
              <a:rPr lang="en-US" altLang="zh-TW" baseline="-25000" dirty="0" err="1" smtClean="0"/>
              <a:t>j</a:t>
            </a:r>
            <a:r>
              <a:rPr lang="en-US" altLang="zh-TW" dirty="0" smtClean="0"/>
              <a:t>)</a:t>
            </a:r>
            <a:endParaRPr lang="zh-TW" altLang="en-US" dirty="0"/>
          </a:p>
          <a:p>
            <a:endParaRPr lang="zh-TW" altLang="en-US" dirty="0"/>
          </a:p>
        </p:txBody>
      </p:sp>
      <p:sp>
        <p:nvSpPr>
          <p:cNvPr id="76" name="文字方塊 75"/>
          <p:cNvSpPr txBox="1"/>
          <p:nvPr/>
        </p:nvSpPr>
        <p:spPr>
          <a:xfrm>
            <a:off x="6627162" y="3650933"/>
            <a:ext cx="19094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Match=1</a:t>
            </a:r>
          </a:p>
          <a:p>
            <a:r>
              <a:rPr lang="en-US" altLang="zh-TW" dirty="0" smtClean="0"/>
              <a:t>Mismatch=0</a:t>
            </a:r>
          </a:p>
          <a:p>
            <a:r>
              <a:rPr lang="en-US" altLang="zh-TW" dirty="0" smtClean="0"/>
              <a:t>Gap penalty d= </a:t>
            </a:r>
            <a:r>
              <a:rPr lang="en-US" altLang="zh-TW" dirty="0"/>
              <a:t>0</a:t>
            </a:r>
            <a:endParaRPr lang="zh-TW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2559391" y="4522185"/>
            <a:ext cx="647114" cy="3994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2</a:t>
            </a:r>
            <a:endParaRPr lang="zh-TW" altLang="en-US" dirty="0"/>
          </a:p>
        </p:txBody>
      </p:sp>
      <p:cxnSp>
        <p:nvCxnSpPr>
          <p:cNvPr id="4" name="直線單箭頭接點 3"/>
          <p:cNvCxnSpPr/>
          <p:nvPr/>
        </p:nvCxnSpPr>
        <p:spPr>
          <a:xfrm>
            <a:off x="2764417" y="4271773"/>
            <a:ext cx="0" cy="2354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單箭頭接點 7"/>
          <p:cNvCxnSpPr/>
          <p:nvPr/>
        </p:nvCxnSpPr>
        <p:spPr>
          <a:xfrm>
            <a:off x="2305948" y="4389484"/>
            <a:ext cx="269823" cy="2654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/>
          <p:cNvCxnSpPr/>
          <p:nvPr/>
        </p:nvCxnSpPr>
        <p:spPr>
          <a:xfrm>
            <a:off x="2238493" y="4765766"/>
            <a:ext cx="269822" cy="149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字方塊 31"/>
          <p:cNvSpPr txBox="1"/>
          <p:nvPr/>
        </p:nvSpPr>
        <p:spPr>
          <a:xfrm>
            <a:off x="6790064" y="4796393"/>
            <a:ext cx="19094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TW" dirty="0" smtClean="0"/>
          </a:p>
          <a:p>
            <a:endParaRPr lang="zh-TW" altLang="en-US" dirty="0"/>
          </a:p>
        </p:txBody>
      </p:sp>
    </p:spTree>
    <p:extLst>
      <p:ext uri="{BB962C8B-B14F-4D97-AF65-F5344CB8AC3E}">
        <p14:creationId xmlns="" xmlns:p14="http://schemas.microsoft.com/office/powerpoint/2010/main" val="3829857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3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000" b="1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Needleman &amp; </a:t>
            </a:r>
            <a:r>
              <a:rPr lang="en-US" altLang="zh-TW" sz="4000" b="1" dirty="0" err="1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Wunsch</a:t>
            </a:r>
            <a:r>
              <a:rPr lang="en-US" altLang="zh-TW" sz="4000" b="1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 </a:t>
            </a:r>
            <a:r>
              <a:rPr lang="en-US" altLang="zh-TW" sz="4000" b="1" dirty="0" smtClean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algorithm</a:t>
            </a:r>
            <a:endParaRPr lang="zh-TW" altLang="en-US" sz="4000" b="1" dirty="0"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  <p:graphicFrame>
        <p:nvGraphicFramePr>
          <p:cNvPr id="5" name="內容版面配置區 3"/>
          <p:cNvGraphicFramePr>
            <a:graphicFrameLocks/>
          </p:cNvGraphicFramePr>
          <p:nvPr>
            <p:extLst>
              <p:ext uri="{D42A27DB-BD31-4B8C-83A1-F6EECF244321}">
                <p14:modId xmlns="" xmlns:p14="http://schemas.microsoft.com/office/powerpoint/2010/main" val="1872450037"/>
              </p:ext>
            </p:extLst>
          </p:nvPr>
        </p:nvGraphicFramePr>
        <p:xfrm>
          <a:off x="476635" y="2826692"/>
          <a:ext cx="4754376" cy="337923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62786"/>
                <a:gridCol w="685760"/>
                <a:gridCol w="683461"/>
                <a:gridCol w="683461"/>
                <a:gridCol w="688060"/>
                <a:gridCol w="675424"/>
                <a:gridCol w="675424"/>
              </a:tblGrid>
              <a:tr h="43185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 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 dirty="0" smtClean="0">
                          <a:effectLst/>
                        </a:rPr>
                        <a:t>P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 dirty="0" smtClean="0">
                          <a:effectLst/>
                        </a:rPr>
                        <a:t>R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 dirty="0" smtClean="0">
                          <a:effectLst/>
                        </a:rPr>
                        <a:t>C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 dirty="0" smtClean="0">
                          <a:effectLst/>
                        </a:rPr>
                        <a:t>L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altLang="zh-TW" sz="1800" kern="100" dirty="0" smtClean="0"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42105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68580" marR="68580" marT="0" marB="0"/>
                </a:tc>
              </a:tr>
              <a:tr h="42105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 dirty="0" smtClean="0">
                          <a:effectLst/>
                        </a:rPr>
                        <a:t>P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</a:tr>
              <a:tr h="42105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altLang="zh-TW" sz="1800" kern="100" dirty="0" smtClean="0">
                          <a:effectLst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</a:tr>
              <a:tr h="42105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 dirty="0" smtClean="0">
                          <a:effectLst/>
                        </a:rPr>
                        <a:t>R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</a:tr>
              <a:tr h="42105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 dirty="0" smtClean="0">
                          <a:effectLst/>
                        </a:rPr>
                        <a:t>C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</a:tr>
              <a:tr h="42105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 dirty="0" smtClean="0">
                          <a:effectLst/>
                        </a:rPr>
                        <a:t>K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</a:tr>
              <a:tr h="42105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altLang="zh-TW" sz="1800" kern="100" dirty="0" smtClean="0"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</a:tr>
            </a:tbl>
          </a:graphicData>
        </a:graphic>
      </p:graphicFrame>
      <p:sp>
        <p:nvSpPr>
          <p:cNvPr id="71" name="文字方塊 70"/>
          <p:cNvSpPr txBox="1"/>
          <p:nvPr/>
        </p:nvSpPr>
        <p:spPr>
          <a:xfrm>
            <a:off x="6190133" y="2052106"/>
            <a:ext cx="874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err="1" smtClean="0"/>
              <a:t>F</a:t>
            </a:r>
            <a:r>
              <a:rPr lang="en-US" altLang="zh-TW" baseline="-25000" dirty="0" err="1" smtClean="0"/>
              <a:t>ij</a:t>
            </a:r>
            <a:r>
              <a:rPr lang="en-US" altLang="zh-TW" dirty="0" smtClean="0"/>
              <a:t>=max</a:t>
            </a:r>
            <a:endParaRPr lang="zh-TW" altLang="en-US" dirty="0"/>
          </a:p>
        </p:txBody>
      </p:sp>
      <p:sp>
        <p:nvSpPr>
          <p:cNvPr id="72" name="左大括弧 71"/>
          <p:cNvSpPr/>
          <p:nvPr/>
        </p:nvSpPr>
        <p:spPr>
          <a:xfrm>
            <a:off x="7104811" y="1578945"/>
            <a:ext cx="336176" cy="1412639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3" name="文字方塊 72"/>
          <p:cNvSpPr txBox="1"/>
          <p:nvPr/>
        </p:nvSpPr>
        <p:spPr>
          <a:xfrm>
            <a:off x="7556967" y="1506023"/>
            <a:ext cx="15870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F</a:t>
            </a:r>
            <a:r>
              <a:rPr lang="en-US" altLang="zh-TW" baseline="-25000" dirty="0" smtClean="0"/>
              <a:t>i-1,j-1</a:t>
            </a:r>
            <a:r>
              <a:rPr lang="en-US" altLang="zh-TW" dirty="0" smtClean="0"/>
              <a:t>+S(</a:t>
            </a:r>
            <a:r>
              <a:rPr lang="en-US" altLang="zh-TW" dirty="0" err="1" smtClean="0"/>
              <a:t>A</a:t>
            </a:r>
            <a:r>
              <a:rPr lang="en-US" altLang="zh-TW" baseline="-25000" dirty="0" err="1" smtClean="0"/>
              <a:t>i</a:t>
            </a:r>
            <a:r>
              <a:rPr lang="en-US" altLang="zh-TW" dirty="0" err="1" smtClean="0"/>
              <a:t>,B</a:t>
            </a:r>
            <a:r>
              <a:rPr lang="en-US" altLang="zh-TW" baseline="-25000" dirty="0" err="1"/>
              <a:t>j</a:t>
            </a:r>
            <a:r>
              <a:rPr lang="en-US" altLang="zh-TW" dirty="0" smtClean="0"/>
              <a:t>)</a:t>
            </a:r>
            <a:endParaRPr lang="zh-TW" altLang="en-US" dirty="0"/>
          </a:p>
        </p:txBody>
      </p:sp>
      <p:sp>
        <p:nvSpPr>
          <p:cNvPr id="74" name="文字方塊 73"/>
          <p:cNvSpPr txBox="1"/>
          <p:nvPr/>
        </p:nvSpPr>
        <p:spPr>
          <a:xfrm>
            <a:off x="7543520" y="2080079"/>
            <a:ext cx="15870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F</a:t>
            </a:r>
            <a:r>
              <a:rPr lang="en-US" altLang="zh-TW" baseline="-25000" dirty="0" smtClean="0"/>
              <a:t>i,j-1</a:t>
            </a:r>
            <a:r>
              <a:rPr lang="en-US" altLang="zh-TW" dirty="0" smtClean="0"/>
              <a:t>+s(A</a:t>
            </a:r>
            <a:r>
              <a:rPr lang="en-US" altLang="zh-TW" baseline="-25000" dirty="0" smtClean="0"/>
              <a:t>i</a:t>
            </a:r>
            <a:r>
              <a:rPr lang="en-US" altLang="zh-TW" dirty="0" smtClean="0"/>
              <a:t>,</a:t>
            </a:r>
            <a:r>
              <a:rPr lang="zh-TW" altLang="en-US" dirty="0" smtClean="0"/>
              <a:t>─</a:t>
            </a:r>
            <a:r>
              <a:rPr lang="en-US" altLang="zh-TW" dirty="0" smtClean="0"/>
              <a:t>) </a:t>
            </a:r>
            <a:endParaRPr lang="zh-TW" altLang="en-US" dirty="0"/>
          </a:p>
        </p:txBody>
      </p:sp>
      <p:sp>
        <p:nvSpPr>
          <p:cNvPr id="75" name="文字方塊 74"/>
          <p:cNvSpPr txBox="1"/>
          <p:nvPr/>
        </p:nvSpPr>
        <p:spPr>
          <a:xfrm>
            <a:off x="7556967" y="2627165"/>
            <a:ext cx="15870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F</a:t>
            </a:r>
            <a:r>
              <a:rPr lang="en-US" altLang="zh-TW" baseline="-25000" dirty="0" smtClean="0"/>
              <a:t>i-1,j</a:t>
            </a:r>
            <a:r>
              <a:rPr lang="en-US" altLang="zh-TW" dirty="0" smtClean="0"/>
              <a:t>+s(</a:t>
            </a:r>
            <a:r>
              <a:rPr lang="zh-TW" altLang="en-US" dirty="0" smtClean="0"/>
              <a:t>─</a:t>
            </a:r>
            <a:r>
              <a:rPr lang="en-US" altLang="zh-TW" dirty="0" smtClean="0"/>
              <a:t>, </a:t>
            </a:r>
            <a:r>
              <a:rPr lang="en-US" altLang="zh-TW" dirty="0" err="1" smtClean="0"/>
              <a:t>B</a:t>
            </a:r>
            <a:r>
              <a:rPr lang="en-US" altLang="zh-TW" baseline="-25000" dirty="0" err="1" smtClean="0"/>
              <a:t>j</a:t>
            </a:r>
            <a:r>
              <a:rPr lang="en-US" altLang="zh-TW" dirty="0" smtClean="0"/>
              <a:t>)</a:t>
            </a:r>
            <a:endParaRPr lang="zh-TW" altLang="en-US" dirty="0"/>
          </a:p>
          <a:p>
            <a:endParaRPr lang="zh-TW" altLang="en-US" dirty="0"/>
          </a:p>
        </p:txBody>
      </p:sp>
      <p:sp>
        <p:nvSpPr>
          <p:cNvPr id="76" name="文字方塊 75"/>
          <p:cNvSpPr txBox="1"/>
          <p:nvPr/>
        </p:nvSpPr>
        <p:spPr>
          <a:xfrm>
            <a:off x="6627162" y="3650933"/>
            <a:ext cx="19094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Match=1</a:t>
            </a:r>
          </a:p>
          <a:p>
            <a:r>
              <a:rPr lang="en-US" altLang="zh-TW" dirty="0" smtClean="0"/>
              <a:t>Mismatch=0</a:t>
            </a:r>
          </a:p>
          <a:p>
            <a:r>
              <a:rPr lang="en-US" altLang="zh-TW" dirty="0" smtClean="0"/>
              <a:t>Gap penalty d= </a:t>
            </a:r>
            <a:r>
              <a:rPr lang="en-US" altLang="zh-TW" dirty="0"/>
              <a:t>0</a:t>
            </a:r>
            <a:endParaRPr lang="zh-TW" altLang="en-US" dirty="0"/>
          </a:p>
        </p:txBody>
      </p:sp>
      <p:sp>
        <p:nvSpPr>
          <p:cNvPr id="92" name="文字方塊 91"/>
          <p:cNvSpPr txBox="1"/>
          <p:nvPr/>
        </p:nvSpPr>
        <p:spPr>
          <a:xfrm>
            <a:off x="5916772" y="4951828"/>
            <a:ext cx="2433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Sequnce1:  P _RCL_C</a:t>
            </a:r>
            <a:endParaRPr lang="zh-TW" altLang="en-US" dirty="0"/>
          </a:p>
        </p:txBody>
      </p:sp>
      <p:sp>
        <p:nvSpPr>
          <p:cNvPr id="93" name="文字方塊 92"/>
          <p:cNvSpPr txBox="1"/>
          <p:nvPr/>
        </p:nvSpPr>
        <p:spPr>
          <a:xfrm>
            <a:off x="5916772" y="5309138"/>
            <a:ext cx="2433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Sequnce2:  P ARC_KC</a:t>
            </a:r>
            <a:endParaRPr lang="zh-TW" altLang="en-US" dirty="0"/>
          </a:p>
        </p:txBody>
      </p:sp>
      <p:cxnSp>
        <p:nvCxnSpPr>
          <p:cNvPr id="6" name="直線單箭頭接點 5"/>
          <p:cNvCxnSpPr/>
          <p:nvPr/>
        </p:nvCxnSpPr>
        <p:spPr>
          <a:xfrm flipH="1" flipV="1">
            <a:off x="4407108" y="5705939"/>
            <a:ext cx="329784" cy="2126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單箭頭接點 9"/>
          <p:cNvCxnSpPr/>
          <p:nvPr/>
        </p:nvCxnSpPr>
        <p:spPr>
          <a:xfrm flipV="1">
            <a:off x="4407108" y="5163763"/>
            <a:ext cx="0" cy="3147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單箭頭接點 15"/>
          <p:cNvCxnSpPr/>
          <p:nvPr/>
        </p:nvCxnSpPr>
        <p:spPr>
          <a:xfrm flipH="1">
            <a:off x="3663153" y="5163763"/>
            <a:ext cx="40473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單箭頭接點 17"/>
          <p:cNvCxnSpPr/>
          <p:nvPr/>
        </p:nvCxnSpPr>
        <p:spPr>
          <a:xfrm flipH="1" flipV="1">
            <a:off x="2957504" y="4816974"/>
            <a:ext cx="434715" cy="3396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單箭頭接點 19"/>
          <p:cNvCxnSpPr/>
          <p:nvPr/>
        </p:nvCxnSpPr>
        <p:spPr>
          <a:xfrm flipH="1" flipV="1">
            <a:off x="2174684" y="4392119"/>
            <a:ext cx="359763" cy="1821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單箭頭接點 22"/>
          <p:cNvCxnSpPr/>
          <p:nvPr/>
        </p:nvCxnSpPr>
        <p:spPr>
          <a:xfrm flipH="1" flipV="1">
            <a:off x="2174684" y="3940211"/>
            <a:ext cx="1" cy="3447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單箭頭接點 26"/>
          <p:cNvCxnSpPr/>
          <p:nvPr/>
        </p:nvCxnSpPr>
        <p:spPr>
          <a:xfrm flipH="1" flipV="1">
            <a:off x="1610332" y="3503278"/>
            <a:ext cx="329783" cy="2953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3479067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" grpId="0"/>
      <p:bldP spid="9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779" y="1690689"/>
            <a:ext cx="8159038" cy="4693178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646366795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000" b="1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Needleman &amp; </a:t>
            </a:r>
            <a:r>
              <a:rPr lang="en-US" altLang="zh-TW" sz="4000" b="1" dirty="0" err="1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Wunsch</a:t>
            </a:r>
            <a:r>
              <a:rPr lang="en-US" altLang="zh-TW" sz="4000" b="1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 </a:t>
            </a:r>
            <a:r>
              <a:rPr lang="en-US" altLang="zh-TW" sz="4000" b="1" dirty="0" smtClean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algorithm</a:t>
            </a:r>
            <a:endParaRPr lang="zh-TW" altLang="en-US" sz="4000" b="1" dirty="0"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28650" y="1409075"/>
            <a:ext cx="7886700" cy="4767888"/>
          </a:xfrm>
        </p:spPr>
        <p:txBody>
          <a:bodyPr/>
          <a:lstStyle/>
          <a:p>
            <a:r>
              <a:rPr lang="en-US" altLang="zh-TW" dirty="0" err="1" smtClean="0"/>
              <a:t>Dayhoff</a:t>
            </a:r>
            <a:r>
              <a:rPr lang="en-US" altLang="zh-TW" dirty="0" smtClean="0"/>
              <a:t> MDM</a:t>
            </a:r>
            <a:r>
              <a:rPr lang="en-US" altLang="zh-TW" baseline="-25000" dirty="0" smtClean="0"/>
              <a:t>78  </a:t>
            </a:r>
            <a:r>
              <a:rPr lang="en-US" altLang="zh-TW" dirty="0" smtClean="0"/>
              <a:t>(1978)</a:t>
            </a:r>
            <a:endParaRPr lang="zh-TW" altLang="en-US" dirty="0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53325"/>
            <a:ext cx="9144000" cy="4801644"/>
          </a:xfrm>
          <a:prstGeom prst="rect">
            <a:avLst/>
          </a:prstGeom>
        </p:spPr>
      </p:pic>
      <p:cxnSp>
        <p:nvCxnSpPr>
          <p:cNvPr id="5" name="直線接點 4"/>
          <p:cNvCxnSpPr/>
          <p:nvPr/>
        </p:nvCxnSpPr>
        <p:spPr>
          <a:xfrm>
            <a:off x="203200" y="2895600"/>
            <a:ext cx="8940800" cy="50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/>
          <p:cNvCxnSpPr/>
          <p:nvPr/>
        </p:nvCxnSpPr>
        <p:spPr>
          <a:xfrm>
            <a:off x="203200" y="3837875"/>
            <a:ext cx="8940800" cy="50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/>
          <p:cNvCxnSpPr/>
          <p:nvPr/>
        </p:nvCxnSpPr>
        <p:spPr>
          <a:xfrm>
            <a:off x="203200" y="4627749"/>
            <a:ext cx="8940800" cy="50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>
            <a:off x="203200" y="5227749"/>
            <a:ext cx="8940800" cy="50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接點 9"/>
          <p:cNvCxnSpPr/>
          <p:nvPr/>
        </p:nvCxnSpPr>
        <p:spPr>
          <a:xfrm>
            <a:off x="203200" y="5991359"/>
            <a:ext cx="8940800" cy="50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 11"/>
          <p:cNvCxnSpPr/>
          <p:nvPr/>
        </p:nvCxnSpPr>
        <p:spPr>
          <a:xfrm flipH="1">
            <a:off x="1236133" y="2004125"/>
            <a:ext cx="50800" cy="47508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/>
          <p:cNvCxnSpPr/>
          <p:nvPr/>
        </p:nvCxnSpPr>
        <p:spPr>
          <a:xfrm flipH="1">
            <a:off x="3285067" y="1953325"/>
            <a:ext cx="50800" cy="47508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/>
          <p:cNvCxnSpPr/>
          <p:nvPr/>
        </p:nvCxnSpPr>
        <p:spPr>
          <a:xfrm flipH="1">
            <a:off x="4944533" y="1970369"/>
            <a:ext cx="50800" cy="47508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/>
          <p:cNvCxnSpPr/>
          <p:nvPr/>
        </p:nvCxnSpPr>
        <p:spPr>
          <a:xfrm flipH="1">
            <a:off x="6197600" y="1970369"/>
            <a:ext cx="50800" cy="47508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/>
          <p:cNvCxnSpPr/>
          <p:nvPr/>
        </p:nvCxnSpPr>
        <p:spPr>
          <a:xfrm flipH="1">
            <a:off x="7958667" y="1953325"/>
            <a:ext cx="50800" cy="47508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3887574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000" b="1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Needleman &amp; </a:t>
            </a:r>
            <a:r>
              <a:rPr lang="en-US" altLang="zh-TW" sz="4000" b="1" dirty="0" err="1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Wunsch</a:t>
            </a:r>
            <a:r>
              <a:rPr lang="en-US" altLang="zh-TW" sz="4000" b="1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 </a:t>
            </a:r>
            <a:r>
              <a:rPr lang="en-US" altLang="zh-TW" sz="4000" b="1" dirty="0" smtClean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algorithm</a:t>
            </a:r>
            <a:endParaRPr lang="zh-TW" altLang="en-US" sz="4000" b="1" dirty="0"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  <p:graphicFrame>
        <p:nvGraphicFramePr>
          <p:cNvPr id="5" name="內容版面配置區 3"/>
          <p:cNvGraphicFramePr>
            <a:graphicFrameLocks/>
          </p:cNvGraphicFramePr>
          <p:nvPr>
            <p:extLst>
              <p:ext uri="{D42A27DB-BD31-4B8C-83A1-F6EECF244321}">
                <p14:modId xmlns="" xmlns:p14="http://schemas.microsoft.com/office/powerpoint/2010/main" val="3553432551"/>
              </p:ext>
            </p:extLst>
          </p:nvPr>
        </p:nvGraphicFramePr>
        <p:xfrm>
          <a:off x="476635" y="2826689"/>
          <a:ext cx="4754376" cy="344578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62786"/>
                <a:gridCol w="685760"/>
                <a:gridCol w="683461"/>
                <a:gridCol w="683461"/>
                <a:gridCol w="688060"/>
                <a:gridCol w="675424"/>
                <a:gridCol w="675424"/>
              </a:tblGrid>
              <a:tr h="43830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 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 dirty="0" smtClean="0">
                          <a:effectLst/>
                        </a:rPr>
                        <a:t>P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 dirty="0" smtClean="0">
                          <a:effectLst/>
                        </a:rPr>
                        <a:t>R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 dirty="0" smtClean="0">
                          <a:effectLst/>
                        </a:rPr>
                        <a:t>C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 dirty="0" smtClean="0">
                          <a:effectLst/>
                        </a:rPr>
                        <a:t>L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altLang="zh-TW" sz="1800" kern="100" dirty="0" smtClean="0"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44340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</a:tr>
              <a:tr h="42734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 dirty="0" smtClean="0">
                          <a:effectLst/>
                        </a:rPr>
                        <a:t>P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14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14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14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14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14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</a:tr>
              <a:tr h="42734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altLang="zh-TW" sz="1800" kern="100" dirty="0" smtClean="0">
                          <a:effectLst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14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20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20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20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20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</a:tr>
              <a:tr h="42734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 dirty="0" smtClean="0">
                          <a:effectLst/>
                        </a:rPr>
                        <a:t>R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14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28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28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28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28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</a:tr>
              <a:tr h="42734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 dirty="0" smtClean="0">
                          <a:effectLst/>
                        </a:rPr>
                        <a:t>C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14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28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48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48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48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</a:tr>
              <a:tr h="42734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 dirty="0" smtClean="0">
                          <a:effectLst/>
                        </a:rPr>
                        <a:t>K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14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28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48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53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53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</a:tr>
              <a:tr h="42734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altLang="zh-TW" sz="1800" kern="100" dirty="0" smtClean="0"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14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28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48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53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73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</a:tr>
            </a:tbl>
          </a:graphicData>
        </a:graphic>
      </p:graphicFrame>
      <p:sp>
        <p:nvSpPr>
          <p:cNvPr id="71" name="文字方塊 70"/>
          <p:cNvSpPr txBox="1"/>
          <p:nvPr/>
        </p:nvSpPr>
        <p:spPr>
          <a:xfrm>
            <a:off x="6190133" y="2052106"/>
            <a:ext cx="874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err="1" smtClean="0"/>
              <a:t>F</a:t>
            </a:r>
            <a:r>
              <a:rPr lang="en-US" altLang="zh-TW" baseline="-25000" dirty="0" err="1" smtClean="0"/>
              <a:t>ij</a:t>
            </a:r>
            <a:r>
              <a:rPr lang="en-US" altLang="zh-TW" dirty="0" smtClean="0"/>
              <a:t>=max</a:t>
            </a:r>
            <a:endParaRPr lang="zh-TW" altLang="en-US" dirty="0"/>
          </a:p>
        </p:txBody>
      </p:sp>
      <p:sp>
        <p:nvSpPr>
          <p:cNvPr id="72" name="左大括弧 71"/>
          <p:cNvSpPr/>
          <p:nvPr/>
        </p:nvSpPr>
        <p:spPr>
          <a:xfrm>
            <a:off x="7104811" y="1578945"/>
            <a:ext cx="336176" cy="1412639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3" name="文字方塊 72"/>
          <p:cNvSpPr txBox="1"/>
          <p:nvPr/>
        </p:nvSpPr>
        <p:spPr>
          <a:xfrm>
            <a:off x="7556967" y="1506023"/>
            <a:ext cx="15870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F</a:t>
            </a:r>
            <a:r>
              <a:rPr lang="en-US" altLang="zh-TW" baseline="-25000" dirty="0" smtClean="0"/>
              <a:t>i-1,j-1</a:t>
            </a:r>
            <a:r>
              <a:rPr lang="en-US" altLang="zh-TW" dirty="0" smtClean="0"/>
              <a:t>+S(</a:t>
            </a:r>
            <a:r>
              <a:rPr lang="en-US" altLang="zh-TW" dirty="0" err="1" smtClean="0"/>
              <a:t>A</a:t>
            </a:r>
            <a:r>
              <a:rPr lang="en-US" altLang="zh-TW" baseline="-25000" dirty="0" err="1" smtClean="0"/>
              <a:t>i</a:t>
            </a:r>
            <a:r>
              <a:rPr lang="en-US" altLang="zh-TW" dirty="0" err="1" smtClean="0"/>
              <a:t>,B</a:t>
            </a:r>
            <a:r>
              <a:rPr lang="en-US" altLang="zh-TW" baseline="-25000" dirty="0" err="1"/>
              <a:t>j</a:t>
            </a:r>
            <a:r>
              <a:rPr lang="en-US" altLang="zh-TW" dirty="0" smtClean="0"/>
              <a:t>)</a:t>
            </a:r>
            <a:endParaRPr lang="zh-TW" altLang="en-US" dirty="0"/>
          </a:p>
        </p:txBody>
      </p:sp>
      <p:sp>
        <p:nvSpPr>
          <p:cNvPr id="74" name="文字方塊 73"/>
          <p:cNvSpPr txBox="1"/>
          <p:nvPr/>
        </p:nvSpPr>
        <p:spPr>
          <a:xfrm>
            <a:off x="7543520" y="2080079"/>
            <a:ext cx="15870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F</a:t>
            </a:r>
            <a:r>
              <a:rPr lang="en-US" altLang="zh-TW" baseline="-25000" dirty="0" smtClean="0"/>
              <a:t>i,j-1</a:t>
            </a:r>
            <a:r>
              <a:rPr lang="en-US" altLang="zh-TW" dirty="0" smtClean="0"/>
              <a:t>+d</a:t>
            </a:r>
            <a:endParaRPr lang="zh-TW" altLang="en-US" dirty="0"/>
          </a:p>
        </p:txBody>
      </p:sp>
      <p:sp>
        <p:nvSpPr>
          <p:cNvPr id="75" name="文字方塊 74"/>
          <p:cNvSpPr txBox="1"/>
          <p:nvPr/>
        </p:nvSpPr>
        <p:spPr>
          <a:xfrm>
            <a:off x="7556967" y="2627165"/>
            <a:ext cx="15870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F</a:t>
            </a:r>
            <a:r>
              <a:rPr lang="en-US" altLang="zh-TW" baseline="-25000" dirty="0" smtClean="0"/>
              <a:t>i-1,j</a:t>
            </a:r>
            <a:r>
              <a:rPr lang="en-US" altLang="zh-TW" dirty="0" smtClean="0"/>
              <a:t>+d</a:t>
            </a:r>
            <a:endParaRPr lang="zh-TW" altLang="en-US" dirty="0"/>
          </a:p>
          <a:p>
            <a:endParaRPr lang="zh-TW" altLang="en-US" dirty="0"/>
          </a:p>
        </p:txBody>
      </p:sp>
      <p:sp>
        <p:nvSpPr>
          <p:cNvPr id="76" name="文字方塊 75"/>
          <p:cNvSpPr txBox="1"/>
          <p:nvPr/>
        </p:nvSpPr>
        <p:spPr>
          <a:xfrm>
            <a:off x="6790064" y="4095663"/>
            <a:ext cx="19094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Gap penalty d= </a:t>
            </a:r>
            <a:r>
              <a:rPr lang="en-US" altLang="zh-TW" dirty="0"/>
              <a:t>0</a:t>
            </a:r>
            <a:endParaRPr lang="zh-TW" altLang="en-US" dirty="0"/>
          </a:p>
        </p:txBody>
      </p:sp>
      <p:cxnSp>
        <p:nvCxnSpPr>
          <p:cNvPr id="12" name="直線單箭頭接點 11"/>
          <p:cNvCxnSpPr/>
          <p:nvPr/>
        </p:nvCxnSpPr>
        <p:spPr>
          <a:xfrm flipH="1" flipV="1">
            <a:off x="4385733" y="5656494"/>
            <a:ext cx="338667" cy="4056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/>
          <p:cNvCxnSpPr/>
          <p:nvPr/>
        </p:nvCxnSpPr>
        <p:spPr>
          <a:xfrm flipH="1" flipV="1">
            <a:off x="3657600" y="5287162"/>
            <a:ext cx="338667" cy="2500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單箭頭接點 16"/>
          <p:cNvCxnSpPr/>
          <p:nvPr/>
        </p:nvCxnSpPr>
        <p:spPr>
          <a:xfrm flipH="1" flipV="1">
            <a:off x="2980267" y="4947721"/>
            <a:ext cx="423333" cy="1830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單箭頭接點 18"/>
          <p:cNvCxnSpPr/>
          <p:nvPr/>
        </p:nvCxnSpPr>
        <p:spPr>
          <a:xfrm flipH="1" flipV="1">
            <a:off x="2387600" y="4464995"/>
            <a:ext cx="287867" cy="2424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單箭頭接點 20"/>
          <p:cNvCxnSpPr/>
          <p:nvPr/>
        </p:nvCxnSpPr>
        <p:spPr>
          <a:xfrm flipV="1">
            <a:off x="2099733" y="3911600"/>
            <a:ext cx="0" cy="3725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單箭頭接點 23"/>
          <p:cNvCxnSpPr/>
          <p:nvPr/>
        </p:nvCxnSpPr>
        <p:spPr>
          <a:xfrm flipH="1" flipV="1">
            <a:off x="1608667" y="3488267"/>
            <a:ext cx="457200" cy="355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字方塊 33"/>
          <p:cNvSpPr txBox="1"/>
          <p:nvPr/>
        </p:nvSpPr>
        <p:spPr>
          <a:xfrm>
            <a:off x="6081639" y="5130800"/>
            <a:ext cx="2433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Sequnce1: P _ RCLC</a:t>
            </a:r>
            <a:endParaRPr lang="zh-TW" altLang="en-US" dirty="0"/>
          </a:p>
        </p:txBody>
      </p:sp>
      <p:sp>
        <p:nvSpPr>
          <p:cNvPr id="35" name="文字方塊 34"/>
          <p:cNvSpPr txBox="1"/>
          <p:nvPr/>
        </p:nvSpPr>
        <p:spPr>
          <a:xfrm>
            <a:off x="6081639" y="5470241"/>
            <a:ext cx="2433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Sequnce2: P ARCKC</a:t>
            </a:r>
            <a:endParaRPr lang="zh-TW" altLang="en-US" dirty="0"/>
          </a:p>
        </p:txBody>
      </p:sp>
    </p:spTree>
    <p:extLst>
      <p:ext uri="{BB962C8B-B14F-4D97-AF65-F5344CB8AC3E}">
        <p14:creationId xmlns="" xmlns:p14="http://schemas.microsoft.com/office/powerpoint/2010/main" val="2871402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3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Multiple </a:t>
            </a:r>
            <a:r>
              <a:rPr lang="en-US" altLang="zh-TW" b="1" dirty="0" smtClean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alignment</a:t>
            </a:r>
            <a:endParaRPr lang="zh-TW" altLang="en-US" b="1" dirty="0"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2679475" y="1506023"/>
            <a:ext cx="19787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Sequnce1</a:t>
            </a:r>
            <a:endParaRPr lang="zh-TW" altLang="en-US" dirty="0"/>
          </a:p>
        </p:txBody>
      </p:sp>
      <p:sp>
        <p:nvSpPr>
          <p:cNvPr id="18" name="文字方塊 17"/>
          <p:cNvSpPr txBox="1"/>
          <p:nvPr/>
        </p:nvSpPr>
        <p:spPr>
          <a:xfrm>
            <a:off x="2679475" y="2002286"/>
            <a:ext cx="19787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Sequnce2</a:t>
            </a:r>
            <a:endParaRPr lang="zh-TW" altLang="en-US" dirty="0"/>
          </a:p>
        </p:txBody>
      </p:sp>
      <p:cxnSp>
        <p:nvCxnSpPr>
          <p:cNvPr id="19" name="直線接點 18"/>
          <p:cNvCxnSpPr/>
          <p:nvPr/>
        </p:nvCxnSpPr>
        <p:spPr>
          <a:xfrm>
            <a:off x="1233764" y="2371618"/>
            <a:ext cx="557520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字方塊 24"/>
          <p:cNvSpPr txBox="1"/>
          <p:nvPr/>
        </p:nvSpPr>
        <p:spPr>
          <a:xfrm>
            <a:off x="2679474" y="2498549"/>
            <a:ext cx="19787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Alignment 12</a:t>
            </a:r>
            <a:endParaRPr lang="zh-TW" altLang="en-US" dirty="0"/>
          </a:p>
        </p:txBody>
      </p:sp>
      <p:sp>
        <p:nvSpPr>
          <p:cNvPr id="26" name="文字方塊 25"/>
          <p:cNvSpPr txBox="1"/>
          <p:nvPr/>
        </p:nvSpPr>
        <p:spPr>
          <a:xfrm>
            <a:off x="2679473" y="2878960"/>
            <a:ext cx="19787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Sequnce3</a:t>
            </a:r>
            <a:endParaRPr lang="zh-TW" altLang="en-US" dirty="0"/>
          </a:p>
        </p:txBody>
      </p:sp>
      <p:cxnSp>
        <p:nvCxnSpPr>
          <p:cNvPr id="27" name="直線接點 26"/>
          <p:cNvCxnSpPr/>
          <p:nvPr/>
        </p:nvCxnSpPr>
        <p:spPr>
          <a:xfrm>
            <a:off x="1233764" y="3384629"/>
            <a:ext cx="557520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字方塊 27"/>
          <p:cNvSpPr txBox="1"/>
          <p:nvPr/>
        </p:nvSpPr>
        <p:spPr>
          <a:xfrm>
            <a:off x="2679472" y="3511559"/>
            <a:ext cx="19787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Alignment 123</a:t>
            </a:r>
            <a:endParaRPr lang="zh-TW" altLang="en-US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3040850" y="4007820"/>
            <a:ext cx="461665" cy="107071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TW" dirty="0" smtClean="0"/>
              <a:t>…</a:t>
            </a:r>
            <a:endParaRPr lang="zh-TW" altLang="en-US" dirty="0"/>
          </a:p>
        </p:txBody>
      </p:sp>
      <p:sp>
        <p:nvSpPr>
          <p:cNvPr id="30" name="文字方塊 29"/>
          <p:cNvSpPr txBox="1"/>
          <p:nvPr/>
        </p:nvSpPr>
        <p:spPr>
          <a:xfrm>
            <a:off x="2679472" y="4709198"/>
            <a:ext cx="19787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err="1" smtClean="0"/>
              <a:t>Sequnce</a:t>
            </a:r>
            <a:r>
              <a:rPr lang="en-US" altLang="zh-TW" dirty="0" smtClean="0"/>
              <a:t>(K-1)</a:t>
            </a:r>
            <a:endParaRPr lang="zh-TW" altLang="en-US" dirty="0"/>
          </a:p>
        </p:txBody>
      </p:sp>
      <p:cxnSp>
        <p:nvCxnSpPr>
          <p:cNvPr id="31" name="直線接點 30"/>
          <p:cNvCxnSpPr/>
          <p:nvPr/>
        </p:nvCxnSpPr>
        <p:spPr>
          <a:xfrm>
            <a:off x="1233764" y="5078530"/>
            <a:ext cx="557520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字方塊 31"/>
          <p:cNvSpPr txBox="1"/>
          <p:nvPr/>
        </p:nvSpPr>
        <p:spPr>
          <a:xfrm>
            <a:off x="2513120" y="5263196"/>
            <a:ext cx="2145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Alignment 123…K-1</a:t>
            </a:r>
            <a:endParaRPr lang="zh-TW" altLang="en-US" dirty="0"/>
          </a:p>
        </p:txBody>
      </p:sp>
      <p:sp>
        <p:nvSpPr>
          <p:cNvPr id="33" name="文字方塊 32"/>
          <p:cNvSpPr txBox="1"/>
          <p:nvPr/>
        </p:nvSpPr>
        <p:spPr>
          <a:xfrm>
            <a:off x="2679471" y="5657866"/>
            <a:ext cx="19787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err="1" smtClean="0"/>
              <a:t>Sequnce</a:t>
            </a:r>
            <a:r>
              <a:rPr lang="en-US" altLang="zh-TW" dirty="0" smtClean="0"/>
              <a:t>(K)</a:t>
            </a:r>
            <a:endParaRPr lang="zh-TW" altLang="en-US" dirty="0"/>
          </a:p>
        </p:txBody>
      </p:sp>
      <p:cxnSp>
        <p:nvCxnSpPr>
          <p:cNvPr id="34" name="直線接點 33"/>
          <p:cNvCxnSpPr/>
          <p:nvPr/>
        </p:nvCxnSpPr>
        <p:spPr>
          <a:xfrm>
            <a:off x="1233764" y="6027198"/>
            <a:ext cx="557520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字方塊 34"/>
          <p:cNvSpPr txBox="1"/>
          <p:nvPr/>
        </p:nvSpPr>
        <p:spPr>
          <a:xfrm>
            <a:off x="2513120" y="6138308"/>
            <a:ext cx="2145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Final Alignment</a:t>
            </a:r>
            <a:endParaRPr lang="zh-TW" altLang="en-US" dirty="0"/>
          </a:p>
        </p:txBody>
      </p:sp>
    </p:spTree>
    <p:extLst>
      <p:ext uri="{BB962C8B-B14F-4D97-AF65-F5344CB8AC3E}">
        <p14:creationId xmlns="" xmlns:p14="http://schemas.microsoft.com/office/powerpoint/2010/main" val="3290699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  <p:bldP spid="28" grpId="0"/>
      <p:bldP spid="29" grpId="0"/>
      <p:bldP spid="30" grpId="0"/>
      <p:bldP spid="32" grpId="0"/>
      <p:bldP spid="33" grpId="0"/>
      <p:bldP spid="3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Multiple </a:t>
            </a:r>
            <a:r>
              <a:rPr lang="en-US" altLang="zh-TW" b="1" dirty="0" smtClean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alignment</a:t>
            </a:r>
            <a:endParaRPr lang="zh-TW" altLang="en-US" b="1" dirty="0"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1499517" y="2250831"/>
            <a:ext cx="47043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Sequnce1:                P_RCLC</a:t>
            </a:r>
            <a:endParaRPr lang="zh-TW" altLang="en-US" dirty="0"/>
          </a:p>
        </p:txBody>
      </p:sp>
      <p:sp>
        <p:nvSpPr>
          <p:cNvPr id="6" name="文字方塊 5"/>
          <p:cNvSpPr txBox="1"/>
          <p:nvPr/>
        </p:nvSpPr>
        <p:spPr>
          <a:xfrm>
            <a:off x="1499517" y="2620163"/>
            <a:ext cx="47043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Sequnce2:                PARCKC</a:t>
            </a:r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1499517" y="3174161"/>
            <a:ext cx="47043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Sequnce3: 	PARC_C</a:t>
            </a:r>
            <a:endParaRPr lang="zh-TW" altLang="en-US" dirty="0"/>
          </a:p>
        </p:txBody>
      </p:sp>
      <p:cxnSp>
        <p:nvCxnSpPr>
          <p:cNvPr id="9" name="直線接點 8"/>
          <p:cNvCxnSpPr/>
          <p:nvPr/>
        </p:nvCxnSpPr>
        <p:spPr>
          <a:xfrm>
            <a:off x="502041" y="2996639"/>
            <a:ext cx="557520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字方塊 10"/>
          <p:cNvSpPr txBox="1"/>
          <p:nvPr/>
        </p:nvSpPr>
        <p:spPr>
          <a:xfrm>
            <a:off x="1372908" y="4368054"/>
            <a:ext cx="47043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SequnceK-1: 	FP_RCKC</a:t>
            </a:r>
            <a:endParaRPr lang="zh-TW" altLang="en-US" dirty="0"/>
          </a:p>
        </p:txBody>
      </p:sp>
      <p:sp>
        <p:nvSpPr>
          <p:cNvPr id="12" name="文字方塊 11"/>
          <p:cNvSpPr txBox="1"/>
          <p:nvPr/>
        </p:nvSpPr>
        <p:spPr>
          <a:xfrm>
            <a:off x="2954586" y="4036008"/>
            <a:ext cx="461665" cy="107071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TW" dirty="0" smtClean="0"/>
              <a:t>…</a:t>
            </a:r>
            <a:endParaRPr lang="zh-TW" altLang="en-US" dirty="0"/>
          </a:p>
        </p:txBody>
      </p:sp>
      <p:sp>
        <p:nvSpPr>
          <p:cNvPr id="15" name="文字方塊 14"/>
          <p:cNvSpPr txBox="1"/>
          <p:nvPr/>
        </p:nvSpPr>
        <p:spPr>
          <a:xfrm>
            <a:off x="1372907" y="5000195"/>
            <a:ext cx="47043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err="1" smtClean="0"/>
              <a:t>SequnceK</a:t>
            </a:r>
            <a:r>
              <a:rPr lang="en-US" altLang="zh-TW" dirty="0" smtClean="0"/>
              <a:t>:          </a:t>
            </a:r>
            <a:r>
              <a:rPr lang="zh-TW" altLang="en-US" dirty="0" smtClean="0"/>
              <a:t>    </a:t>
            </a:r>
            <a:r>
              <a:rPr lang="en-US" altLang="zh-TW" dirty="0" smtClean="0"/>
              <a:t>GF_ARPQC</a:t>
            </a:r>
            <a:endParaRPr lang="zh-TW" altLang="en-US" dirty="0"/>
          </a:p>
        </p:txBody>
      </p:sp>
      <p:cxnSp>
        <p:nvCxnSpPr>
          <p:cNvPr id="16" name="直線接點 15"/>
          <p:cNvCxnSpPr/>
          <p:nvPr/>
        </p:nvCxnSpPr>
        <p:spPr>
          <a:xfrm>
            <a:off x="502041" y="4756029"/>
            <a:ext cx="557520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內容版面配置區 2"/>
          <p:cNvSpPr txBox="1">
            <a:spLocks/>
          </p:cNvSpPr>
          <p:nvPr/>
        </p:nvSpPr>
        <p:spPr>
          <a:xfrm>
            <a:off x="4871320" y="3295606"/>
            <a:ext cx="4043130" cy="7025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TW" sz="1800" b="1" dirty="0" smtClean="0"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9544305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Multiple </a:t>
            </a:r>
            <a:r>
              <a:rPr lang="en-US" altLang="zh-TW" b="1" dirty="0" smtClean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alignment</a:t>
            </a:r>
            <a:endParaRPr lang="zh-TW" altLang="en-US" b="1" dirty="0"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1499517" y="2250831"/>
            <a:ext cx="47043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Sequnce1:                P_RCLC</a:t>
            </a:r>
            <a:endParaRPr lang="zh-TW" altLang="en-US" dirty="0"/>
          </a:p>
        </p:txBody>
      </p:sp>
      <p:sp>
        <p:nvSpPr>
          <p:cNvPr id="6" name="文字方塊 5"/>
          <p:cNvSpPr txBox="1"/>
          <p:nvPr/>
        </p:nvSpPr>
        <p:spPr>
          <a:xfrm>
            <a:off x="1499517" y="2620163"/>
            <a:ext cx="47043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Sequnce2:                PARCKC</a:t>
            </a:r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1499517" y="3174161"/>
            <a:ext cx="47043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Sequnce3: 	PARC_C</a:t>
            </a:r>
            <a:endParaRPr lang="zh-TW" altLang="en-US" dirty="0"/>
          </a:p>
        </p:txBody>
      </p:sp>
      <p:cxnSp>
        <p:nvCxnSpPr>
          <p:cNvPr id="9" name="直線接點 8"/>
          <p:cNvCxnSpPr/>
          <p:nvPr/>
        </p:nvCxnSpPr>
        <p:spPr>
          <a:xfrm>
            <a:off x="502041" y="2996639"/>
            <a:ext cx="557520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字方塊 10"/>
          <p:cNvSpPr txBox="1"/>
          <p:nvPr/>
        </p:nvSpPr>
        <p:spPr>
          <a:xfrm>
            <a:off x="1499517" y="4386697"/>
            <a:ext cx="47043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SequnceK-1:           FP_RCKC</a:t>
            </a:r>
            <a:endParaRPr lang="zh-TW" altLang="en-US" dirty="0"/>
          </a:p>
        </p:txBody>
      </p:sp>
      <p:sp>
        <p:nvSpPr>
          <p:cNvPr id="12" name="文字方塊 11"/>
          <p:cNvSpPr txBox="1"/>
          <p:nvPr/>
        </p:nvSpPr>
        <p:spPr>
          <a:xfrm>
            <a:off x="2954586" y="4036008"/>
            <a:ext cx="461665" cy="107071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TW" dirty="0" smtClean="0"/>
              <a:t>…</a:t>
            </a:r>
            <a:endParaRPr lang="zh-TW" altLang="en-US" dirty="0"/>
          </a:p>
        </p:txBody>
      </p:sp>
      <p:sp>
        <p:nvSpPr>
          <p:cNvPr id="15" name="文字方塊 14"/>
          <p:cNvSpPr txBox="1"/>
          <p:nvPr/>
        </p:nvSpPr>
        <p:spPr>
          <a:xfrm>
            <a:off x="1499517" y="5088075"/>
            <a:ext cx="47043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err="1" smtClean="0"/>
              <a:t>SequnceK</a:t>
            </a:r>
            <a:r>
              <a:rPr lang="en-US" altLang="zh-TW" dirty="0" smtClean="0"/>
              <a:t>:          </a:t>
            </a:r>
            <a:r>
              <a:rPr lang="zh-TW" altLang="en-US" dirty="0" smtClean="0"/>
              <a:t> </a:t>
            </a:r>
            <a:r>
              <a:rPr lang="en-US" altLang="zh-TW" dirty="0" smtClean="0"/>
              <a:t>GF_ARPQC</a:t>
            </a:r>
            <a:endParaRPr lang="zh-TW" altLang="en-US" dirty="0"/>
          </a:p>
        </p:txBody>
      </p:sp>
      <p:cxnSp>
        <p:nvCxnSpPr>
          <p:cNvPr id="16" name="直線接點 15"/>
          <p:cNvCxnSpPr/>
          <p:nvPr/>
        </p:nvCxnSpPr>
        <p:spPr>
          <a:xfrm>
            <a:off x="502041" y="4756029"/>
            <a:ext cx="557520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內容版面配置區 2"/>
          <p:cNvSpPr txBox="1">
            <a:spLocks/>
          </p:cNvSpPr>
          <p:nvPr/>
        </p:nvSpPr>
        <p:spPr>
          <a:xfrm>
            <a:off x="4871320" y="3295606"/>
            <a:ext cx="4043130" cy="7025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TW" sz="1800" b="1" dirty="0" smtClean="0"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  <p:pic>
        <p:nvPicPr>
          <p:cNvPr id="13" name="圖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6409" y="1465825"/>
            <a:ext cx="3892951" cy="942243"/>
          </a:xfrm>
          <a:prstGeom prst="rect">
            <a:avLst/>
          </a:prstGeom>
        </p:spPr>
      </p:pic>
      <p:sp>
        <p:nvSpPr>
          <p:cNvPr id="14" name="文字方塊 13"/>
          <p:cNvSpPr txBox="1"/>
          <p:nvPr/>
        </p:nvSpPr>
        <p:spPr>
          <a:xfrm>
            <a:off x="6203852" y="3251272"/>
            <a:ext cx="25769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(P-P)+(P-P)/2= 24</a:t>
            </a:r>
          </a:p>
          <a:p>
            <a:r>
              <a:rPr lang="en-US" altLang="zh-TW" dirty="0"/>
              <a:t>(</a:t>
            </a:r>
            <a:r>
              <a:rPr lang="en-US" altLang="zh-TW" dirty="0" smtClean="0"/>
              <a:t>P-A)+(P-_)/</a:t>
            </a:r>
            <a:r>
              <a:rPr lang="en-US" altLang="zh-TW" dirty="0"/>
              <a:t>2= 4.5</a:t>
            </a:r>
          </a:p>
          <a:p>
            <a:endParaRPr lang="zh-TW" altLang="en-US" dirty="0"/>
          </a:p>
        </p:txBody>
      </p:sp>
      <p:sp>
        <p:nvSpPr>
          <p:cNvPr id="17" name="文字方塊 16"/>
          <p:cNvSpPr txBox="1"/>
          <p:nvPr/>
        </p:nvSpPr>
        <p:spPr>
          <a:xfrm>
            <a:off x="7092671" y="4081491"/>
            <a:ext cx="461665" cy="107071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TW" dirty="0" smtClean="0"/>
              <a:t>…</a:t>
            </a:r>
            <a:endParaRPr lang="zh-TW" altLang="en-US" dirty="0"/>
          </a:p>
        </p:txBody>
      </p:sp>
    </p:spTree>
    <p:extLst>
      <p:ext uri="{BB962C8B-B14F-4D97-AF65-F5344CB8AC3E}">
        <p14:creationId xmlns="" xmlns:p14="http://schemas.microsoft.com/office/powerpoint/2010/main" val="1779698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Multiple </a:t>
            </a:r>
            <a:r>
              <a:rPr lang="en-US" altLang="zh-TW" b="1" dirty="0" smtClean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alignment</a:t>
            </a:r>
            <a:endParaRPr lang="zh-TW" altLang="en-US" b="1" dirty="0"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1499517" y="2250831"/>
            <a:ext cx="47043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Sequnce1:               M P_RCL_</a:t>
            </a:r>
            <a:endParaRPr lang="zh-TW" altLang="en-US" dirty="0"/>
          </a:p>
        </p:txBody>
      </p:sp>
      <p:sp>
        <p:nvSpPr>
          <p:cNvPr id="6" name="文字方塊 5"/>
          <p:cNvSpPr txBox="1"/>
          <p:nvPr/>
        </p:nvSpPr>
        <p:spPr>
          <a:xfrm>
            <a:off x="1499517" y="2620163"/>
            <a:ext cx="47043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Sequnce2: 	_ PARC_K</a:t>
            </a:r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1499517" y="3174161"/>
            <a:ext cx="47043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Sequnce3: 	F _ARTL_</a:t>
            </a:r>
            <a:endParaRPr lang="zh-TW" altLang="en-US" dirty="0"/>
          </a:p>
        </p:txBody>
      </p:sp>
      <p:cxnSp>
        <p:nvCxnSpPr>
          <p:cNvPr id="9" name="直線接點 8"/>
          <p:cNvCxnSpPr/>
          <p:nvPr/>
        </p:nvCxnSpPr>
        <p:spPr>
          <a:xfrm>
            <a:off x="502041" y="2996639"/>
            <a:ext cx="557520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字方塊 10"/>
          <p:cNvSpPr txBox="1"/>
          <p:nvPr/>
        </p:nvSpPr>
        <p:spPr>
          <a:xfrm>
            <a:off x="1499517" y="4386697"/>
            <a:ext cx="47043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SequnceK-1: 	F P_RC__</a:t>
            </a:r>
            <a:endParaRPr lang="zh-TW" altLang="en-US" dirty="0"/>
          </a:p>
        </p:txBody>
      </p:sp>
      <p:sp>
        <p:nvSpPr>
          <p:cNvPr id="12" name="文字方塊 11"/>
          <p:cNvSpPr txBox="1"/>
          <p:nvPr/>
        </p:nvSpPr>
        <p:spPr>
          <a:xfrm>
            <a:off x="2954586" y="4036008"/>
            <a:ext cx="461665" cy="107071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TW" dirty="0" smtClean="0"/>
              <a:t>…</a:t>
            </a:r>
            <a:endParaRPr lang="zh-TW" altLang="en-US" dirty="0"/>
          </a:p>
        </p:txBody>
      </p:sp>
      <p:sp>
        <p:nvSpPr>
          <p:cNvPr id="15" name="文字方塊 14"/>
          <p:cNvSpPr txBox="1"/>
          <p:nvPr/>
        </p:nvSpPr>
        <p:spPr>
          <a:xfrm>
            <a:off x="1499517" y="5088075"/>
            <a:ext cx="47043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err="1" smtClean="0"/>
              <a:t>SequnceK</a:t>
            </a:r>
            <a:r>
              <a:rPr lang="en-US" altLang="zh-TW" dirty="0" smtClean="0"/>
              <a:t>:          </a:t>
            </a:r>
            <a:r>
              <a:rPr lang="zh-TW" altLang="en-US" dirty="0" smtClean="0"/>
              <a:t>    </a:t>
            </a:r>
            <a:r>
              <a:rPr lang="en-US" altLang="zh-TW" dirty="0" smtClean="0"/>
              <a:t>GF_ARPQ_</a:t>
            </a:r>
            <a:endParaRPr lang="zh-TW" altLang="en-US" dirty="0"/>
          </a:p>
        </p:txBody>
      </p:sp>
      <p:cxnSp>
        <p:nvCxnSpPr>
          <p:cNvPr id="16" name="直線接點 15"/>
          <p:cNvCxnSpPr/>
          <p:nvPr/>
        </p:nvCxnSpPr>
        <p:spPr>
          <a:xfrm>
            <a:off x="502041" y="4756029"/>
            <a:ext cx="557520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內容版面配置區 2"/>
          <p:cNvSpPr txBox="1">
            <a:spLocks/>
          </p:cNvSpPr>
          <p:nvPr/>
        </p:nvSpPr>
        <p:spPr>
          <a:xfrm>
            <a:off x="4871320" y="3295606"/>
            <a:ext cx="4043130" cy="7025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TW" sz="1800" b="1" dirty="0" smtClean="0"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707307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Multiple </a:t>
            </a:r>
            <a:r>
              <a:rPr lang="en-US" altLang="zh-TW" b="1" dirty="0" smtClean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alignment</a:t>
            </a:r>
            <a:endParaRPr lang="zh-TW" altLang="en-US" b="1" dirty="0"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687247" y="3249755"/>
            <a:ext cx="4043130" cy="702507"/>
          </a:xfrm>
        </p:spPr>
        <p:txBody>
          <a:bodyPr>
            <a:normAutofit/>
          </a:bodyPr>
          <a:lstStyle/>
          <a:p>
            <a:r>
              <a:rPr lang="en-US" altLang="zh-TW" sz="1800" b="1" dirty="0" smtClean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Realign each sequences</a:t>
            </a:r>
          </a:p>
          <a:p>
            <a:endParaRPr lang="en-US" altLang="zh-TW" sz="1800" b="1" dirty="0" smtClean="0"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1499517" y="2250831"/>
            <a:ext cx="47043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Sequnce1:               M P_RCL</a:t>
            </a:r>
            <a:endParaRPr lang="zh-TW" altLang="en-US" dirty="0"/>
          </a:p>
        </p:txBody>
      </p:sp>
      <p:sp>
        <p:nvSpPr>
          <p:cNvPr id="6" name="文字方塊 5"/>
          <p:cNvSpPr txBox="1"/>
          <p:nvPr/>
        </p:nvSpPr>
        <p:spPr>
          <a:xfrm>
            <a:off x="1499517" y="2620163"/>
            <a:ext cx="47043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Sequnce2: 	_ PARCK</a:t>
            </a:r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1499517" y="3174161"/>
            <a:ext cx="47043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Sequnce3: 	F _ARTL</a:t>
            </a:r>
            <a:endParaRPr lang="zh-TW" altLang="en-US" dirty="0"/>
          </a:p>
        </p:txBody>
      </p:sp>
      <p:cxnSp>
        <p:nvCxnSpPr>
          <p:cNvPr id="9" name="直線接點 8"/>
          <p:cNvCxnSpPr/>
          <p:nvPr/>
        </p:nvCxnSpPr>
        <p:spPr>
          <a:xfrm flipV="1">
            <a:off x="502041" y="2989495"/>
            <a:ext cx="4760072" cy="71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字方塊 10"/>
          <p:cNvSpPr txBox="1"/>
          <p:nvPr/>
        </p:nvSpPr>
        <p:spPr>
          <a:xfrm>
            <a:off x="1499517" y="4386697"/>
            <a:ext cx="47043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SequnceK-1: 	F P_RC_</a:t>
            </a:r>
            <a:endParaRPr lang="zh-TW" altLang="en-US" dirty="0"/>
          </a:p>
        </p:txBody>
      </p:sp>
      <p:sp>
        <p:nvSpPr>
          <p:cNvPr id="12" name="文字方塊 11"/>
          <p:cNvSpPr txBox="1"/>
          <p:nvPr/>
        </p:nvSpPr>
        <p:spPr>
          <a:xfrm>
            <a:off x="2954586" y="4036008"/>
            <a:ext cx="461665" cy="107071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TW" dirty="0" smtClean="0"/>
              <a:t>…</a:t>
            </a:r>
            <a:endParaRPr lang="zh-TW" altLang="en-US" dirty="0"/>
          </a:p>
        </p:txBody>
      </p:sp>
      <p:sp>
        <p:nvSpPr>
          <p:cNvPr id="15" name="文字方塊 14"/>
          <p:cNvSpPr txBox="1"/>
          <p:nvPr/>
        </p:nvSpPr>
        <p:spPr>
          <a:xfrm>
            <a:off x="1499517" y="5088075"/>
            <a:ext cx="47043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SequnceK-1:          GF_ARPQ</a:t>
            </a:r>
            <a:endParaRPr lang="zh-TW" altLang="en-US" dirty="0"/>
          </a:p>
        </p:txBody>
      </p:sp>
      <p:cxnSp>
        <p:nvCxnSpPr>
          <p:cNvPr id="16" name="直線接點 15"/>
          <p:cNvCxnSpPr/>
          <p:nvPr/>
        </p:nvCxnSpPr>
        <p:spPr>
          <a:xfrm>
            <a:off x="502041" y="4756029"/>
            <a:ext cx="476007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內容版面配置區 2"/>
          <p:cNvSpPr txBox="1">
            <a:spLocks/>
          </p:cNvSpPr>
          <p:nvPr/>
        </p:nvSpPr>
        <p:spPr>
          <a:xfrm>
            <a:off x="4871320" y="3295606"/>
            <a:ext cx="4043130" cy="7025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TW" sz="1800" b="1" dirty="0" smtClean="0"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729494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Multiple </a:t>
            </a:r>
            <a:r>
              <a:rPr lang="en-US" altLang="zh-TW" b="1" dirty="0" smtClean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alignment</a:t>
            </a:r>
            <a:endParaRPr lang="zh-TW" altLang="en-US" b="1" dirty="0"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1499517" y="2250831"/>
            <a:ext cx="47043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Sequnce1:               M P_RCL</a:t>
            </a:r>
            <a:endParaRPr lang="zh-TW" altLang="en-US" dirty="0"/>
          </a:p>
        </p:txBody>
      </p:sp>
      <p:sp>
        <p:nvSpPr>
          <p:cNvPr id="6" name="文字方塊 5"/>
          <p:cNvSpPr txBox="1"/>
          <p:nvPr/>
        </p:nvSpPr>
        <p:spPr>
          <a:xfrm>
            <a:off x="1499517" y="2620163"/>
            <a:ext cx="47043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Sequnce2: 	_ PARCK</a:t>
            </a:r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1499517" y="3174161"/>
            <a:ext cx="47043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Sequnce3: 	F _ARTL</a:t>
            </a:r>
            <a:endParaRPr lang="zh-TW" altLang="en-US" dirty="0"/>
          </a:p>
        </p:txBody>
      </p:sp>
      <p:cxnSp>
        <p:nvCxnSpPr>
          <p:cNvPr id="9" name="直線接點 8"/>
          <p:cNvCxnSpPr/>
          <p:nvPr/>
        </p:nvCxnSpPr>
        <p:spPr>
          <a:xfrm flipV="1">
            <a:off x="502041" y="3040294"/>
            <a:ext cx="4815026" cy="71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字方塊 10"/>
          <p:cNvSpPr txBox="1"/>
          <p:nvPr/>
        </p:nvSpPr>
        <p:spPr>
          <a:xfrm>
            <a:off x="1499517" y="4386697"/>
            <a:ext cx="47043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SequnceK-1: 	F P_RC_</a:t>
            </a:r>
            <a:endParaRPr lang="zh-TW" altLang="en-US" dirty="0"/>
          </a:p>
        </p:txBody>
      </p:sp>
      <p:sp>
        <p:nvSpPr>
          <p:cNvPr id="12" name="文字方塊 11"/>
          <p:cNvSpPr txBox="1"/>
          <p:nvPr/>
        </p:nvSpPr>
        <p:spPr>
          <a:xfrm>
            <a:off x="2954586" y="4036008"/>
            <a:ext cx="461665" cy="107071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TW" dirty="0" smtClean="0"/>
              <a:t>…</a:t>
            </a:r>
            <a:endParaRPr lang="zh-TW" altLang="en-US" dirty="0"/>
          </a:p>
        </p:txBody>
      </p:sp>
      <p:sp>
        <p:nvSpPr>
          <p:cNvPr id="15" name="文字方塊 14"/>
          <p:cNvSpPr txBox="1"/>
          <p:nvPr/>
        </p:nvSpPr>
        <p:spPr>
          <a:xfrm>
            <a:off x="1499517" y="5088075"/>
            <a:ext cx="47043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err="1" smtClean="0"/>
              <a:t>SequnceK</a:t>
            </a:r>
            <a:r>
              <a:rPr lang="zh-TW" altLang="en-US" dirty="0" smtClean="0"/>
              <a:t>    </a:t>
            </a:r>
            <a:r>
              <a:rPr lang="en-US" altLang="zh-TW" dirty="0" smtClean="0"/>
              <a:t>:          GF_ARPQ</a:t>
            </a:r>
            <a:endParaRPr lang="zh-TW" altLang="en-US" dirty="0"/>
          </a:p>
        </p:txBody>
      </p:sp>
      <p:cxnSp>
        <p:nvCxnSpPr>
          <p:cNvPr id="16" name="直線接點 15"/>
          <p:cNvCxnSpPr/>
          <p:nvPr/>
        </p:nvCxnSpPr>
        <p:spPr>
          <a:xfrm>
            <a:off x="502041" y="4756029"/>
            <a:ext cx="481502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內容版面配置區 2"/>
          <p:cNvSpPr txBox="1">
            <a:spLocks/>
          </p:cNvSpPr>
          <p:nvPr/>
        </p:nvSpPr>
        <p:spPr>
          <a:xfrm>
            <a:off x="4871320" y="3295606"/>
            <a:ext cx="4043130" cy="7025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TW" sz="1800" b="1" dirty="0" smtClean="0"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  <p:sp>
        <p:nvSpPr>
          <p:cNvPr id="13" name="內容版面配置區 2"/>
          <p:cNvSpPr txBox="1">
            <a:spLocks/>
          </p:cNvSpPr>
          <p:nvPr/>
        </p:nvSpPr>
        <p:spPr>
          <a:xfrm>
            <a:off x="5100870" y="3219453"/>
            <a:ext cx="4043130" cy="7025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1800" b="1" dirty="0" smtClean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Highlight conserved regions in the alignment</a:t>
            </a:r>
          </a:p>
          <a:p>
            <a:endParaRPr lang="en-US" altLang="zh-TW" sz="1800" b="1" dirty="0" smtClean="0"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6788054" y="4521249"/>
            <a:ext cx="1727296" cy="1655713"/>
          </a:xfrm>
        </p:spPr>
        <p:txBody>
          <a:bodyPr/>
          <a:lstStyle/>
          <a:p>
            <a:endParaRPr lang="zh-TW" altLang="en-US" dirty="0"/>
          </a:p>
        </p:txBody>
      </p:sp>
      <p:cxnSp>
        <p:nvCxnSpPr>
          <p:cNvPr id="8" name="直線接點 7"/>
          <p:cNvCxnSpPr>
            <a:stCxn id="4" idx="0"/>
          </p:cNvCxnSpPr>
          <p:nvPr/>
        </p:nvCxnSpPr>
        <p:spPr>
          <a:xfrm flipH="1">
            <a:off x="3785937" y="2250831"/>
            <a:ext cx="65748" cy="34601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/>
          <p:cNvCxnSpPr/>
          <p:nvPr/>
        </p:nvCxnSpPr>
        <p:spPr>
          <a:xfrm flipH="1">
            <a:off x="4031640" y="2250831"/>
            <a:ext cx="65748" cy="34601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/>
          <p:cNvCxnSpPr>
            <a:stCxn id="4" idx="0"/>
          </p:cNvCxnSpPr>
          <p:nvPr/>
        </p:nvCxnSpPr>
        <p:spPr>
          <a:xfrm>
            <a:off x="3851685" y="2250831"/>
            <a:ext cx="2295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/>
          <p:cNvCxnSpPr/>
          <p:nvPr/>
        </p:nvCxnSpPr>
        <p:spPr>
          <a:xfrm>
            <a:off x="3785937" y="5710989"/>
            <a:ext cx="2295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1029509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2800" b="1" dirty="0" smtClean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Criteria </a:t>
            </a:r>
            <a:r>
              <a:rPr lang="en-US" altLang="zh-TW" sz="2800" b="1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for assessing the quality of alignment</a:t>
            </a:r>
            <a:endParaRPr lang="zh-TW" altLang="en-US" sz="2800" b="1" dirty="0"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W</a:t>
            </a:r>
            <a:r>
              <a:rPr lang="en-US" altLang="zh-TW" dirty="0" smtClean="0"/>
              <a:t>hen </a:t>
            </a:r>
            <a:r>
              <a:rPr lang="en-US" altLang="zh-TW" dirty="0"/>
              <a:t>2 or more protein </a:t>
            </a:r>
            <a:r>
              <a:rPr lang="en-US" altLang="zh-TW" dirty="0" smtClean="0"/>
              <a:t>sequences are </a:t>
            </a:r>
            <a:r>
              <a:rPr lang="en-US" altLang="zh-TW" dirty="0"/>
              <a:t>aligned it is of crucial importance that </a:t>
            </a:r>
            <a:r>
              <a:rPr lang="en-US" altLang="zh-TW" dirty="0" smtClean="0"/>
              <a:t>residues defining </a:t>
            </a:r>
            <a:r>
              <a:rPr lang="en-US" altLang="zh-TW" dirty="0"/>
              <a:t>a common tertiary fold are </a:t>
            </a:r>
            <a:r>
              <a:rPr lang="en-US" altLang="zh-TW" dirty="0" smtClean="0"/>
              <a:t>correctly equivalence.</a:t>
            </a:r>
          </a:p>
          <a:p>
            <a:endParaRPr lang="en-US" altLang="zh-TW" dirty="0"/>
          </a:p>
          <a:p>
            <a:r>
              <a:rPr lang="en-US" altLang="zh-TW" dirty="0"/>
              <a:t>We define the </a:t>
            </a:r>
            <a:r>
              <a:rPr lang="en-US" altLang="zh-TW" dirty="0" smtClean="0"/>
              <a:t>accuracy </a:t>
            </a:r>
            <a:r>
              <a:rPr lang="en-US" altLang="zh-TW" dirty="0"/>
              <a:t>of an alignment of 2 </a:t>
            </a:r>
            <a:r>
              <a:rPr lang="en-US" altLang="zh-TW" dirty="0" smtClean="0"/>
              <a:t>sequences as </a:t>
            </a:r>
            <a:r>
              <a:rPr lang="en-US" altLang="zh-TW" dirty="0"/>
              <a:t>the percentage of residues within these zones that </a:t>
            </a:r>
            <a:r>
              <a:rPr lang="en-US" altLang="zh-TW" dirty="0" smtClean="0"/>
              <a:t>are aligned </a:t>
            </a:r>
            <a:r>
              <a:rPr lang="en-US" altLang="zh-TW" dirty="0"/>
              <a:t>in the same </a:t>
            </a:r>
            <a:r>
              <a:rPr lang="en-US" altLang="zh-TW" dirty="0" smtClean="0"/>
              <a:t>way </a:t>
            </a:r>
            <a:r>
              <a:rPr lang="en-US" altLang="zh-TW" dirty="0"/>
              <a:t>as in the reference alignment.</a:t>
            </a:r>
            <a:endParaRPr lang="en-US" altLang="zh-TW" dirty="0" smtClean="0"/>
          </a:p>
          <a:p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="" xmlns:p14="http://schemas.microsoft.com/office/powerpoint/2010/main" val="29040781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2800" b="1" dirty="0" smtClean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Criteria </a:t>
            </a:r>
            <a:r>
              <a:rPr lang="en-US" altLang="zh-TW" sz="2800" b="1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for assessing the quality of alignment</a:t>
            </a:r>
            <a:endParaRPr lang="zh-TW" altLang="en-US" sz="2800" b="1" dirty="0"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412" y="1690689"/>
            <a:ext cx="8639175" cy="428625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241236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Order of </a:t>
            </a:r>
            <a:r>
              <a:rPr lang="en-US" altLang="zh-TW" b="1" dirty="0" smtClean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alignment</a:t>
            </a:r>
            <a:endParaRPr lang="zh-TW" altLang="en-US" b="1" dirty="0"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zh-TW" dirty="0" smtClean="0"/>
              <a:t>For </a:t>
            </a:r>
            <a:r>
              <a:rPr lang="en-US" altLang="zh-TW" dirty="0"/>
              <a:t>N sequences there are </a:t>
            </a:r>
            <a:r>
              <a:rPr lang="en-US" altLang="zh-TW" dirty="0" smtClean="0"/>
              <a:t>N! alternative </a:t>
            </a:r>
            <a:r>
              <a:rPr lang="en-US" altLang="zh-TW" dirty="0"/>
              <a:t>orders, so it is important to have a </a:t>
            </a:r>
            <a:r>
              <a:rPr lang="en-US" altLang="zh-TW" dirty="0" smtClean="0"/>
              <a:t>systematic approach </a:t>
            </a:r>
            <a:r>
              <a:rPr lang="en-US" altLang="zh-TW" dirty="0"/>
              <a:t>to selecting the single order</a:t>
            </a:r>
            <a:r>
              <a:rPr lang="en-US" altLang="zh-TW" dirty="0" smtClean="0"/>
              <a:t>.</a:t>
            </a:r>
          </a:p>
          <a:p>
            <a:endParaRPr lang="en-US" altLang="zh-TW" dirty="0" smtClean="0"/>
          </a:p>
          <a:p>
            <a:r>
              <a:rPr lang="en-US" altLang="zh-TW" dirty="0" smtClean="0"/>
              <a:t>Our previous findings </a:t>
            </a:r>
            <a:r>
              <a:rPr lang="en-US" altLang="zh-TW" dirty="0"/>
              <a:t>suggested that a pairwise sequence </a:t>
            </a:r>
            <a:r>
              <a:rPr lang="en-US" altLang="zh-TW" dirty="0" smtClean="0"/>
              <a:t>comparison that </a:t>
            </a:r>
            <a:r>
              <a:rPr lang="en-US" altLang="zh-TW" dirty="0"/>
              <a:t>gives a significance score of &gt;6.0 </a:t>
            </a:r>
            <a:r>
              <a:rPr lang="en-US" altLang="zh-TW" dirty="0" smtClean="0"/>
              <a:t>S.D. </a:t>
            </a:r>
            <a:r>
              <a:rPr lang="en-US" altLang="zh-TW" dirty="0"/>
              <a:t>may be </a:t>
            </a:r>
            <a:r>
              <a:rPr lang="en-US" altLang="zh-TW" dirty="0" smtClean="0"/>
              <a:t>aligned to </a:t>
            </a:r>
            <a:r>
              <a:rPr lang="en-US" altLang="zh-TW" dirty="0"/>
              <a:t>&gt;</a:t>
            </a:r>
            <a:r>
              <a:rPr lang="en-US" altLang="zh-TW" dirty="0" smtClean="0"/>
              <a:t>75%accuracy </a:t>
            </a:r>
            <a:r>
              <a:rPr lang="en-US" altLang="zh-TW" dirty="0"/>
              <a:t>within regions of secondary </a:t>
            </a:r>
            <a:r>
              <a:rPr lang="en-US" altLang="zh-TW" dirty="0" smtClean="0"/>
              <a:t>structure (1987)</a:t>
            </a:r>
          </a:p>
          <a:p>
            <a:endParaRPr lang="en-US" altLang="zh-TW" dirty="0" smtClean="0"/>
          </a:p>
          <a:p>
            <a:r>
              <a:rPr lang="en-US" altLang="zh-TW" dirty="0"/>
              <a:t>our strategy </a:t>
            </a:r>
            <a:r>
              <a:rPr lang="en-US" altLang="zh-TW" dirty="0" smtClean="0"/>
              <a:t>for determining </a:t>
            </a:r>
            <a:r>
              <a:rPr lang="en-US" altLang="zh-TW" dirty="0"/>
              <a:t>the alignment order first identifies the pair </a:t>
            </a:r>
            <a:r>
              <a:rPr lang="en-US" altLang="zh-TW" dirty="0" smtClean="0"/>
              <a:t>of sequences </a:t>
            </a:r>
            <a:r>
              <a:rPr lang="en-US" altLang="zh-TW" dirty="0"/>
              <a:t>that have the highest pairwise </a:t>
            </a:r>
            <a:r>
              <a:rPr lang="en-US" altLang="zh-TW" dirty="0" smtClean="0"/>
              <a:t>significance score</a:t>
            </a:r>
            <a:r>
              <a:rPr lang="en-US" altLang="zh-TW" dirty="0"/>
              <a:t>.</a:t>
            </a:r>
          </a:p>
          <a:p>
            <a:endParaRPr lang="en-US" altLang="zh-TW" dirty="0" smtClean="0"/>
          </a:p>
          <a:p>
            <a:endParaRPr lang="zh-TW" altLang="en-US" dirty="0"/>
          </a:p>
        </p:txBody>
      </p:sp>
    </p:spTree>
    <p:extLst>
      <p:ext uri="{BB962C8B-B14F-4D97-AF65-F5344CB8AC3E}">
        <p14:creationId xmlns="" xmlns:p14="http://schemas.microsoft.com/office/powerpoint/2010/main" val="26369737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Significance </a:t>
            </a:r>
            <a:r>
              <a:rPr lang="en-US" altLang="zh-TW" b="1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score</a:t>
            </a:r>
            <a:endParaRPr lang="zh-TW" altLang="en-US" b="1" dirty="0"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95750"/>
            <a:ext cx="6620933" cy="4662250"/>
          </a:xfrm>
          <a:prstGeom prst="rect">
            <a:avLst/>
          </a:prstGeom>
        </p:spPr>
      </p:pic>
      <p:cxnSp>
        <p:nvCxnSpPr>
          <p:cNvPr id="6" name="直線接點 5"/>
          <p:cNvCxnSpPr/>
          <p:nvPr/>
        </p:nvCxnSpPr>
        <p:spPr>
          <a:xfrm flipH="1">
            <a:off x="3310466" y="2000745"/>
            <a:ext cx="1" cy="45889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字方塊 8"/>
          <p:cNvSpPr txBox="1"/>
          <p:nvPr/>
        </p:nvSpPr>
        <p:spPr>
          <a:xfrm>
            <a:off x="3140413" y="1601714"/>
            <a:ext cx="8914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m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6179378" y="1690689"/>
            <a:ext cx="8914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V</a:t>
            </a:r>
            <a:endParaRPr lang="zh-TW" altLang="en-US" dirty="0"/>
          </a:p>
        </p:txBody>
      </p:sp>
      <p:cxnSp>
        <p:nvCxnSpPr>
          <p:cNvPr id="12" name="直線接點 11"/>
          <p:cNvCxnSpPr/>
          <p:nvPr/>
        </p:nvCxnSpPr>
        <p:spPr>
          <a:xfrm>
            <a:off x="6386587" y="1949185"/>
            <a:ext cx="31597" cy="46548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內容版面配置區 2"/>
          <p:cNvSpPr txBox="1">
            <a:spLocks/>
          </p:cNvSpPr>
          <p:nvPr/>
        </p:nvSpPr>
        <p:spPr>
          <a:xfrm>
            <a:off x="6516624" y="2329209"/>
            <a:ext cx="3077529" cy="43953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1800" b="1" dirty="0" smtClean="0"/>
              <a:t>Significance</a:t>
            </a:r>
            <a:r>
              <a:rPr lang="zh-TW" altLang="en-US" sz="1800" b="1" dirty="0" smtClean="0"/>
              <a:t> </a:t>
            </a:r>
            <a:r>
              <a:rPr lang="en-US" altLang="zh-TW" sz="1800" b="1" dirty="0" smtClean="0"/>
              <a:t>score is      </a:t>
            </a:r>
          </a:p>
          <a:p>
            <a:pPr marL="0" indent="0">
              <a:buNone/>
            </a:pPr>
            <a:r>
              <a:rPr lang="en-US" altLang="zh-TW" sz="1800" b="1" dirty="0"/>
              <a:t> </a:t>
            </a:r>
            <a:r>
              <a:rPr lang="en-US" altLang="zh-TW" sz="1800" b="1" dirty="0" smtClean="0"/>
              <a:t> 	(V-m)/S.D.</a:t>
            </a:r>
          </a:p>
          <a:p>
            <a:pPr marL="0" indent="0">
              <a:buNone/>
            </a:pPr>
            <a:r>
              <a:rPr lang="en-US" altLang="zh-TW" sz="1800" b="1" dirty="0" smtClean="0"/>
              <a:t>V   alignment score</a:t>
            </a:r>
          </a:p>
          <a:p>
            <a:pPr marL="0" indent="0">
              <a:buNone/>
            </a:pPr>
            <a:r>
              <a:rPr lang="en-US" altLang="zh-TW" sz="1800" b="1" dirty="0" smtClean="0"/>
              <a:t>m   average random score</a:t>
            </a:r>
          </a:p>
          <a:p>
            <a:pPr marL="0" indent="0">
              <a:buNone/>
            </a:pPr>
            <a:r>
              <a:rPr lang="en-US" altLang="zh-TW" sz="1800" b="1" dirty="0" smtClean="0"/>
              <a:t>S.D. random sequence S.D.</a:t>
            </a:r>
          </a:p>
          <a:p>
            <a:endParaRPr lang="en-US" altLang="zh-TW" sz="1800" b="1" dirty="0"/>
          </a:p>
        </p:txBody>
      </p:sp>
    </p:spTree>
    <p:extLst>
      <p:ext uri="{BB962C8B-B14F-4D97-AF65-F5344CB8AC3E}">
        <p14:creationId xmlns="" xmlns:p14="http://schemas.microsoft.com/office/powerpoint/2010/main" val="10427603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581" y="657483"/>
            <a:ext cx="8394838" cy="5519480"/>
          </a:xfrm>
          <a:prstGeom prst="rect">
            <a:avLst/>
          </a:prstGeom>
        </p:spPr>
      </p:pic>
      <p:cxnSp>
        <p:nvCxnSpPr>
          <p:cNvPr id="6" name="直線接點 5"/>
          <p:cNvCxnSpPr/>
          <p:nvPr/>
        </p:nvCxnSpPr>
        <p:spPr>
          <a:xfrm>
            <a:off x="2148840" y="230190"/>
            <a:ext cx="30480" cy="59467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/>
          <p:cNvCxnSpPr/>
          <p:nvPr/>
        </p:nvCxnSpPr>
        <p:spPr>
          <a:xfrm flipV="1">
            <a:off x="938565" y="2377440"/>
            <a:ext cx="5389949" cy="304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3566146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Reducing calculation </a:t>
            </a:r>
            <a:r>
              <a:rPr lang="en-US" altLang="zh-TW" b="1" dirty="0" smtClean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time</a:t>
            </a:r>
            <a:endParaRPr lang="zh-TW" altLang="en-US" b="1" dirty="0"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altLang="zh-TW" dirty="0"/>
              <a:t>The calculation of </a:t>
            </a:r>
            <a:r>
              <a:rPr lang="en-US" altLang="zh-TW" dirty="0" smtClean="0"/>
              <a:t>significance scores </a:t>
            </a:r>
            <a:r>
              <a:rPr lang="en-US" altLang="zh-TW" dirty="0"/>
              <a:t>for all pairwise alignments of N sequences is </a:t>
            </a:r>
            <a:r>
              <a:rPr lang="en-US" altLang="zh-TW" dirty="0" smtClean="0"/>
              <a:t>an expensive </a:t>
            </a:r>
            <a:r>
              <a:rPr lang="en-US" altLang="zh-TW" dirty="0"/>
              <a:t>procedure since if M randomizations per </a:t>
            </a:r>
            <a:r>
              <a:rPr lang="en-US" altLang="zh-TW" dirty="0" smtClean="0"/>
              <a:t>pair are </a:t>
            </a:r>
            <a:r>
              <a:rPr lang="en-US" altLang="zh-TW" dirty="0"/>
              <a:t>performed then N</a:t>
            </a:r>
            <a:r>
              <a:rPr lang="en-US" altLang="zh-TW" dirty="0" smtClean="0"/>
              <a:t> </a:t>
            </a:r>
            <a:r>
              <a:rPr lang="en-US" altLang="zh-TW" dirty="0"/>
              <a:t>x </a:t>
            </a:r>
            <a:r>
              <a:rPr lang="en-US" altLang="zh-TW" dirty="0" smtClean="0"/>
              <a:t>(N -1) </a:t>
            </a:r>
            <a:r>
              <a:rPr lang="en-US" altLang="zh-TW" dirty="0"/>
              <a:t>x M </a:t>
            </a:r>
            <a:r>
              <a:rPr lang="en-US" altLang="zh-TW" dirty="0" smtClean="0"/>
              <a:t>/2 </a:t>
            </a:r>
            <a:r>
              <a:rPr lang="en-US" altLang="zh-TW" dirty="0"/>
              <a:t>comparisons </a:t>
            </a:r>
            <a:r>
              <a:rPr lang="en-US" altLang="zh-TW" dirty="0" smtClean="0"/>
              <a:t>must be </a:t>
            </a:r>
            <a:r>
              <a:rPr lang="en-US" altLang="zh-TW" dirty="0"/>
              <a:t>carried out</a:t>
            </a:r>
            <a:r>
              <a:rPr lang="en-US" altLang="zh-TW" dirty="0" smtClean="0"/>
              <a:t>.</a:t>
            </a:r>
          </a:p>
          <a:p>
            <a:endParaRPr lang="en-US" altLang="zh-TW" dirty="0"/>
          </a:p>
          <a:p>
            <a:r>
              <a:rPr lang="en-US" altLang="zh-TW" dirty="0" smtClean="0"/>
              <a:t>For </a:t>
            </a:r>
            <a:r>
              <a:rPr lang="en-US" altLang="zh-TW" dirty="0"/>
              <a:t>groups </a:t>
            </a:r>
            <a:r>
              <a:rPr lang="en-US" altLang="zh-TW" dirty="0" smtClean="0"/>
              <a:t>of proteins </a:t>
            </a:r>
            <a:r>
              <a:rPr lang="en-US" altLang="zh-TW" dirty="0"/>
              <a:t>where </a:t>
            </a:r>
            <a:r>
              <a:rPr lang="en-US" altLang="zh-TW" dirty="0" smtClean="0"/>
              <a:t>randomization procedures </a:t>
            </a:r>
            <a:r>
              <a:rPr lang="en-US" altLang="zh-TW" dirty="0"/>
              <a:t>would be </a:t>
            </a:r>
            <a:r>
              <a:rPr lang="en-US" altLang="zh-TW" dirty="0" smtClean="0"/>
              <a:t>too expensive</a:t>
            </a:r>
            <a:r>
              <a:rPr lang="en-US" altLang="zh-TW" dirty="0"/>
              <a:t>, NASs values or the slightly more </a:t>
            </a:r>
            <a:r>
              <a:rPr lang="en-US" altLang="zh-TW" dirty="0" smtClean="0"/>
              <a:t>expensive </a:t>
            </a:r>
            <a:r>
              <a:rPr lang="en-US" altLang="zh-TW" dirty="0" err="1" smtClean="0"/>
              <a:t>NASa</a:t>
            </a:r>
            <a:r>
              <a:rPr lang="en-US" altLang="zh-TW" dirty="0" smtClean="0"/>
              <a:t> </a:t>
            </a:r>
            <a:r>
              <a:rPr lang="en-US" altLang="zh-TW" dirty="0"/>
              <a:t>(match score divided by the number of residues </a:t>
            </a:r>
            <a:r>
              <a:rPr lang="en-US" altLang="zh-TW" dirty="0" smtClean="0"/>
              <a:t>not aligned </a:t>
            </a:r>
            <a:r>
              <a:rPr lang="en-US" altLang="zh-TW" dirty="0"/>
              <a:t>with gaps), may be used to </a:t>
            </a:r>
            <a:r>
              <a:rPr lang="en-US" altLang="zh-TW" dirty="0" smtClean="0"/>
              <a:t>generate systematically </a:t>
            </a:r>
            <a:r>
              <a:rPr lang="en-US" altLang="zh-TW" dirty="0"/>
              <a:t>a rational order for multiple alignment</a:t>
            </a:r>
            <a:endParaRPr lang="zh-TW" altLang="en-US" dirty="0"/>
          </a:p>
        </p:txBody>
      </p:sp>
    </p:spTree>
    <p:extLst>
      <p:ext uri="{BB962C8B-B14F-4D97-AF65-F5344CB8AC3E}">
        <p14:creationId xmlns="" xmlns:p14="http://schemas.microsoft.com/office/powerpoint/2010/main" val="1896037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862887" y="1835211"/>
            <a:ext cx="2851968" cy="4351338"/>
          </a:xfrm>
        </p:spPr>
        <p:txBody>
          <a:bodyPr/>
          <a:lstStyle/>
          <a:p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894" y="232122"/>
            <a:ext cx="5135174" cy="6492874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17214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sz="3600" b="1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Test sequences and reference alignments</a:t>
            </a:r>
            <a:r>
              <a:rPr lang="en-US" altLang="zh-TW" dirty="0"/>
              <a:t/>
            </a:r>
            <a:br>
              <a:rPr lang="en-US" altLang="zh-TW" dirty="0"/>
            </a:b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412" y="2141282"/>
            <a:ext cx="8639175" cy="428625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89158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Results(</a:t>
            </a:r>
            <a:r>
              <a:rPr lang="en-US" altLang="zh-TW" sz="3200" dirty="0"/>
              <a:t>Pairwise </a:t>
            </a:r>
            <a:r>
              <a:rPr lang="en-US" altLang="zh-TW" sz="3200" dirty="0" smtClean="0"/>
              <a:t>comparisons</a:t>
            </a:r>
            <a:r>
              <a:rPr lang="en-US" altLang="zh-TW" b="1" dirty="0" smtClean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)</a:t>
            </a:r>
            <a:endParaRPr lang="zh-TW" altLang="en-US" b="1" dirty="0"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258" y="1263536"/>
            <a:ext cx="4738255" cy="5532296"/>
          </a:xfrm>
          <a:prstGeom prst="rect">
            <a:avLst/>
          </a:prstGeom>
        </p:spPr>
      </p:pic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5652654" y="2444493"/>
            <a:ext cx="2729959" cy="4351338"/>
          </a:xfrm>
        </p:spPr>
        <p:txBody>
          <a:bodyPr/>
          <a:lstStyle/>
          <a:p>
            <a:endParaRPr lang="zh-TW" altLang="en-US" dirty="0"/>
          </a:p>
        </p:txBody>
      </p:sp>
      <p:cxnSp>
        <p:nvCxnSpPr>
          <p:cNvPr id="6" name="直線接點 5"/>
          <p:cNvCxnSpPr/>
          <p:nvPr/>
        </p:nvCxnSpPr>
        <p:spPr>
          <a:xfrm flipV="1">
            <a:off x="4389120" y="1263536"/>
            <a:ext cx="66502" cy="55322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/>
          <p:cNvCxnSpPr/>
          <p:nvPr/>
        </p:nvCxnSpPr>
        <p:spPr>
          <a:xfrm>
            <a:off x="628650" y="1624189"/>
            <a:ext cx="440886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接點 9"/>
          <p:cNvCxnSpPr/>
          <p:nvPr/>
        </p:nvCxnSpPr>
        <p:spPr>
          <a:xfrm flipV="1">
            <a:off x="2959331" y="2444493"/>
            <a:ext cx="33251" cy="43513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 11"/>
          <p:cNvCxnSpPr/>
          <p:nvPr/>
        </p:nvCxnSpPr>
        <p:spPr>
          <a:xfrm flipV="1">
            <a:off x="947651" y="3241963"/>
            <a:ext cx="2793076" cy="498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1104544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Results</a:t>
            </a:r>
            <a:br>
              <a:rPr lang="en-US" altLang="zh-TW" b="1" dirty="0" smtClean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</a:br>
            <a:r>
              <a:rPr lang="en-US" altLang="zh-TW" b="1" dirty="0" smtClean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(</a:t>
            </a:r>
            <a:r>
              <a:rPr lang="en-US" altLang="zh-TW" sz="2400" dirty="0"/>
              <a:t>Effect of iteration and order of alignment</a:t>
            </a:r>
            <a:r>
              <a:rPr lang="en-US" altLang="zh-TW" b="1" dirty="0" smtClean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)</a:t>
            </a:r>
            <a:endParaRPr lang="zh-TW" altLang="en-US" b="1" dirty="0"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2278344"/>
            <a:ext cx="9067873" cy="2780353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575689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Results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853" y="1840591"/>
            <a:ext cx="8639175" cy="428625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Conclusions</a:t>
            </a:r>
            <a:endParaRPr lang="zh-TW" altLang="en-US" b="1" dirty="0"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/>
              <a:t>One advantage of the algorithm described here </a:t>
            </a:r>
            <a:r>
              <a:rPr lang="en-US" altLang="zh-TW" dirty="0" smtClean="0"/>
              <a:t>is its </a:t>
            </a:r>
            <a:r>
              <a:rPr lang="en-US" altLang="zh-TW" dirty="0"/>
              <a:t>speed</a:t>
            </a:r>
            <a:r>
              <a:rPr lang="en-US" altLang="zh-TW" dirty="0" smtClean="0"/>
              <a:t>.</a:t>
            </a:r>
          </a:p>
          <a:p>
            <a:pPr marL="0" indent="0">
              <a:buNone/>
            </a:pPr>
            <a:endParaRPr lang="en-US" altLang="zh-TW" dirty="0"/>
          </a:p>
          <a:p>
            <a:r>
              <a:rPr lang="en-US" altLang="zh-TW" dirty="0"/>
              <a:t>The algorithm presented in this paper </a:t>
            </a:r>
            <a:r>
              <a:rPr lang="en-US" altLang="zh-TW" dirty="0" smtClean="0"/>
              <a:t>represents a </a:t>
            </a:r>
            <a:r>
              <a:rPr lang="en-US" altLang="zh-TW" dirty="0"/>
              <a:t>practical solution to the problem of </a:t>
            </a:r>
            <a:r>
              <a:rPr lang="en-US" altLang="zh-TW" dirty="0" smtClean="0"/>
              <a:t>automatically aligning </a:t>
            </a:r>
            <a:r>
              <a:rPr lang="en-US" altLang="zh-TW" dirty="0"/>
              <a:t>more than two protein sequences </a:t>
            </a:r>
            <a:r>
              <a:rPr lang="en-US" altLang="zh-TW" dirty="0" smtClean="0"/>
              <a:t>when only </a:t>
            </a:r>
            <a:r>
              <a:rPr lang="en-US" altLang="zh-TW" dirty="0"/>
              <a:t>sequence information is available</a:t>
            </a:r>
            <a:r>
              <a:rPr lang="en-US" altLang="zh-TW" dirty="0" smtClean="0"/>
              <a:t>.</a:t>
            </a:r>
            <a:r>
              <a:rPr lang="en-US" altLang="zh-TW" dirty="0"/>
              <a:t> </a:t>
            </a:r>
            <a:endParaRPr lang="en-US" altLang="zh-TW" dirty="0" smtClean="0"/>
          </a:p>
          <a:p>
            <a:endParaRPr lang="en-US" altLang="zh-TW" dirty="0"/>
          </a:p>
          <a:p>
            <a:r>
              <a:rPr lang="en-US" altLang="zh-TW" dirty="0" smtClean="0"/>
              <a:t>It </a:t>
            </a:r>
            <a:r>
              <a:rPr lang="en-US" altLang="zh-TW" dirty="0"/>
              <a:t>has been suggested that a few key residues can be sufficient to define a tertiary fold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="" xmlns:p14="http://schemas.microsoft.com/office/powerpoint/2010/main" val="3650221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2690</TotalTime>
  <Words>989</Words>
  <Application>Microsoft Office PowerPoint</Application>
  <PresentationFormat>如螢幕大小 (4:3)</PresentationFormat>
  <Paragraphs>286</Paragraphs>
  <Slides>27</Slides>
  <Notes>6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27</vt:i4>
      </vt:variant>
    </vt:vector>
  </HeadingPairs>
  <TitlesOfParts>
    <vt:vector size="28" baseType="lpstr">
      <vt:lpstr>Office 佈景主題</vt:lpstr>
      <vt:lpstr>A Strategy for the Rapid Multiple Alignment of Protein Sequences Confidence Levels from Tertiary Structure Comparisons</vt:lpstr>
      <vt:lpstr>Abstract</vt:lpstr>
      <vt:lpstr>投影片 3</vt:lpstr>
      <vt:lpstr>Procedure</vt:lpstr>
      <vt:lpstr>Needleman &amp; Wunsch algorithm</vt:lpstr>
      <vt:lpstr>Needleman &amp; Wunsch algorithm</vt:lpstr>
      <vt:lpstr>投影片 7</vt:lpstr>
      <vt:lpstr>Needleman &amp; Wunsch algorithm</vt:lpstr>
      <vt:lpstr>Needleman &amp; Wunsch algorithm</vt:lpstr>
      <vt:lpstr>Multiple alignment</vt:lpstr>
      <vt:lpstr>Multiple alignment</vt:lpstr>
      <vt:lpstr>Multiple alignment</vt:lpstr>
      <vt:lpstr>Multiple alignment</vt:lpstr>
      <vt:lpstr>Multiple alignment</vt:lpstr>
      <vt:lpstr>Multiple alignment</vt:lpstr>
      <vt:lpstr>Criteria for assessing the quality of alignment</vt:lpstr>
      <vt:lpstr>Criteria for assessing the quality of alignment</vt:lpstr>
      <vt:lpstr>Order of alignment</vt:lpstr>
      <vt:lpstr>Significance score</vt:lpstr>
      <vt:lpstr>投影片 20</vt:lpstr>
      <vt:lpstr>Reducing calculation time</vt:lpstr>
      <vt:lpstr>投影片 22</vt:lpstr>
      <vt:lpstr>Test sequences and reference alignments </vt:lpstr>
      <vt:lpstr>Results(Pairwise comparisons)</vt:lpstr>
      <vt:lpstr>Results (Effect of iteration and order of alignment)</vt:lpstr>
      <vt:lpstr>Results</vt:lpstr>
      <vt:lpstr>Conclusions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Strategy for the Rapid Multiple Alignment of Protein Sequences Confidence Levels from Tertiary Structure Comparisons</dc:title>
  <dc:creator>黃鼎耀</dc:creator>
  <cp:lastModifiedBy>admin</cp:lastModifiedBy>
  <cp:revision>254</cp:revision>
  <dcterms:created xsi:type="dcterms:W3CDTF">2014-05-05T10:45:12Z</dcterms:created>
  <dcterms:modified xsi:type="dcterms:W3CDTF">2014-05-19T11:29:54Z</dcterms:modified>
</cp:coreProperties>
</file>