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9" r:id="rId13"/>
    <p:sldId id="268" r:id="rId14"/>
    <p:sldId id="270" r:id="rId15"/>
    <p:sldId id="271" r:id="rId16"/>
    <p:sldId id="272" r:id="rId17"/>
    <p:sldId id="273" r:id="rId18"/>
    <p:sldId id="274" r:id="rId19"/>
    <p:sldId id="276" r:id="rId20"/>
    <p:sldId id="277" r:id="rId21"/>
    <p:sldId id="279" r:id="rId22"/>
    <p:sldId id="278" r:id="rId23"/>
    <p:sldId id="280" r:id="rId24"/>
    <p:sldId id="281" r:id="rId25"/>
    <p:sldId id="282" r:id="rId26"/>
    <p:sldId id="283" r:id="rId27"/>
    <p:sldId id="284" r:id="rId28"/>
    <p:sldId id="285" r:id="rId29"/>
    <p:sldId id="286" r:id="rId30"/>
    <p:sldId id="287" r:id="rId31"/>
    <p:sldId id="289" r:id="rId32"/>
    <p:sldId id="291" r:id="rId33"/>
    <p:sldId id="292" r:id="rId34"/>
    <p:sldId id="293" r:id="rId35"/>
    <p:sldId id="295" r:id="rId36"/>
    <p:sldId id="294" r:id="rId37"/>
    <p:sldId id="296" r:id="rId38"/>
    <p:sldId id="297" r:id="rId39"/>
    <p:sldId id="298" r:id="rId40"/>
    <p:sldId id="299" r:id="rId4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5" d="100"/>
          <a:sy n="65" d="100"/>
        </p:scale>
        <p:origin x="-62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4021544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895749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613317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27221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155450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3978809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3542863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1048370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1774198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93565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684C2E5-56AE-4188-B12B-27C24BB48DD0}" type="datetimeFigureOut">
              <a:rPr lang="zh-TW" altLang="en-US" smtClean="0"/>
              <a:t>2014/5/14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228826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84C2E5-56AE-4188-B12B-27C24BB48DD0}" type="datetimeFigureOut">
              <a:rPr lang="zh-TW" altLang="en-US" smtClean="0"/>
              <a:t>2014/5/14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0DA1CD-C27E-441F-9002-A2F9A3A7A934}" type="slidenum">
              <a:rPr lang="zh-TW" altLang="en-US" smtClean="0"/>
              <a:t>‹#›</a:t>
            </a:fld>
            <a:endParaRPr lang="zh-TW" altLang="en-US"/>
          </a:p>
        </p:txBody>
      </p:sp>
    </p:spTree>
    <p:extLst>
      <p:ext uri="{BB962C8B-B14F-4D97-AF65-F5344CB8AC3E}">
        <p14:creationId xmlns:p14="http://schemas.microsoft.com/office/powerpoint/2010/main" val="2686904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692696"/>
            <a:ext cx="9144000" cy="2907755"/>
          </a:xfrm>
        </p:spPr>
        <p:txBody>
          <a:bodyPr>
            <a:normAutofit/>
          </a:bodyPr>
          <a:lstStyle/>
          <a:p>
            <a:r>
              <a:rPr lang="en-US" altLang="zh-TW" sz="3600" dirty="0" smtClean="0">
                <a:latin typeface="微軟正黑體" panose="020B0604030504040204" pitchFamily="34" charset="-120"/>
                <a:ea typeface="微軟正黑體" panose="020B0604030504040204" pitchFamily="34" charset="-120"/>
              </a:rPr>
              <a:t>A General Method Applicable to the Search for Similarities in the Amino Acid Sequence of Two Proteins</a:t>
            </a:r>
            <a:endParaRPr lang="zh-TW" altLang="en-US" sz="3600" dirty="0"/>
          </a:p>
        </p:txBody>
      </p:sp>
      <p:sp>
        <p:nvSpPr>
          <p:cNvPr id="3" name="副標題 2"/>
          <p:cNvSpPr>
            <a:spLocks noGrp="1"/>
          </p:cNvSpPr>
          <p:nvPr>
            <p:ph type="subTitle" idx="1"/>
          </p:nvPr>
        </p:nvSpPr>
        <p:spPr>
          <a:xfrm>
            <a:off x="0" y="3861048"/>
            <a:ext cx="9144000" cy="1752600"/>
          </a:xfrm>
        </p:spPr>
        <p:txBody>
          <a:bodyPr/>
          <a:lstStyle/>
          <a:p>
            <a:r>
              <a:rPr lang="en-US" altLang="zh-TW" dirty="0" smtClean="0">
                <a:solidFill>
                  <a:schemeClr val="tx1"/>
                </a:solidFill>
              </a:rPr>
              <a:t>SAUL B. NEEDLEMAN AND CHRISTIAN D. WUNSCH</a:t>
            </a:r>
          </a:p>
          <a:p>
            <a:r>
              <a:rPr lang="en-US" altLang="zh-TW" dirty="0" smtClean="0">
                <a:solidFill>
                  <a:schemeClr val="tx1"/>
                </a:solidFill>
              </a:rPr>
              <a:t>Journal of Molecular Biology(1970) 48, pp. 443-453</a:t>
            </a:r>
            <a:endParaRPr lang="zh-TW" altLang="en-US" dirty="0">
              <a:solidFill>
                <a:schemeClr val="tx1"/>
              </a:solidFill>
            </a:endParaRPr>
          </a:p>
        </p:txBody>
      </p:sp>
      <p:sp>
        <p:nvSpPr>
          <p:cNvPr id="4" name="矩形 3"/>
          <p:cNvSpPr/>
          <p:nvPr/>
        </p:nvSpPr>
        <p:spPr>
          <a:xfrm>
            <a:off x="5580112" y="5589240"/>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dirty="0" smtClean="0"/>
              <a:t>2014/5/14</a:t>
            </a:r>
            <a:endParaRPr lang="en-US" altLang="zh-TW" dirty="0"/>
          </a:p>
        </p:txBody>
      </p:sp>
    </p:spTree>
    <p:extLst>
      <p:ext uri="{BB962C8B-B14F-4D97-AF65-F5344CB8AC3E}">
        <p14:creationId xmlns:p14="http://schemas.microsoft.com/office/powerpoint/2010/main" val="791700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9512" y="792088"/>
            <a:ext cx="8964488" cy="5877272"/>
          </a:xfrm>
        </p:spPr>
        <p:txBody>
          <a:bodyPr>
            <a:noAutofit/>
          </a:bodyPr>
          <a:lstStyle/>
          <a:p>
            <a:pPr marL="0" indent="0" fontAlgn="base">
              <a:buNone/>
            </a:pPr>
            <a:r>
              <a:rPr lang="en-US" altLang="zh-TW" sz="2700" dirty="0" smtClean="0"/>
              <a:t>A computer adaptable method for finding similarities in the amino acid sequences of two proteins has been developed. From these findings it is possible to determine whether significant homology exists between the proteins. This information is used to trace their possible evolutionary development.</a:t>
            </a:r>
          </a:p>
          <a:p>
            <a:pPr marL="0" indent="0" fontAlgn="base">
              <a:buNone/>
            </a:pPr>
            <a:r>
              <a:rPr lang="en-US" altLang="zh-TW" sz="2700" dirty="0" smtClean="0"/>
              <a:t>The maximum match is a number dependent upon the similarity of the sequences. One of its definitions is the largest number of amino acids of one protein that can be matched with those of a second protein allowing for all possible interruptions in either of the sequences. While the interruptions give rise to a very large number of comparisons, the method efficiently excludes from consideration those comparisons that cannot contribute to the maximum match.</a:t>
            </a:r>
          </a:p>
        </p:txBody>
      </p:sp>
    </p:spTree>
    <p:extLst>
      <p:ext uri="{BB962C8B-B14F-4D97-AF65-F5344CB8AC3E}">
        <p14:creationId xmlns:p14="http://schemas.microsoft.com/office/powerpoint/2010/main" val="203037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9512" y="980728"/>
            <a:ext cx="8964488" cy="5877272"/>
          </a:xfrm>
        </p:spPr>
        <p:txBody>
          <a:bodyPr>
            <a:noAutofit/>
          </a:bodyPr>
          <a:lstStyle/>
          <a:p>
            <a:pPr marL="0" indent="0" fontAlgn="base">
              <a:buNone/>
            </a:pPr>
            <a:r>
              <a:rPr lang="en-US" altLang="zh-TW" sz="2700" dirty="0" smtClean="0"/>
              <a:t>Comparisons are made from the smallest unit of significance, a pair of amino acids, one from each protein. All possible pairs are represented by a two-dimensional array, and all possible comparisons are represented by pathways through the array. For this maximum match only certain of the possible pathways must be evaluated. A numerical value, one in this case, is assigned to every cell in the array representing like amino acids. The maximum match is the largest number that would result from summing the cell values of every pathway.</a:t>
            </a:r>
          </a:p>
          <a:p>
            <a:pPr marL="0" indent="0" fontAlgn="base">
              <a:buNone/>
            </a:pPr>
            <a:endParaRPr lang="en-US" altLang="zh-TW" sz="2700" dirty="0" smtClean="0"/>
          </a:p>
        </p:txBody>
      </p:sp>
    </p:spTree>
    <p:extLst>
      <p:ext uri="{BB962C8B-B14F-4D97-AF65-F5344CB8AC3E}">
        <p14:creationId xmlns:p14="http://schemas.microsoft.com/office/powerpoint/2010/main" val="1883683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155781280"/>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
        <p:nvSpPr>
          <p:cNvPr id="3" name="文字方塊 2"/>
          <p:cNvSpPr txBox="1"/>
          <p:nvPr/>
        </p:nvSpPr>
        <p:spPr>
          <a:xfrm>
            <a:off x="1547664" y="5949280"/>
            <a:ext cx="6048672" cy="954107"/>
          </a:xfrm>
          <a:prstGeom prst="rect">
            <a:avLst/>
          </a:prstGeom>
          <a:noFill/>
        </p:spPr>
        <p:txBody>
          <a:bodyPr wrap="square" rtlCol="0">
            <a:spAutoFit/>
          </a:bodyPr>
          <a:lstStyle/>
          <a:p>
            <a:r>
              <a:rPr lang="en-US" altLang="zh-TW" sz="2800" dirty="0" smtClean="0"/>
              <a:t>s(A,A) = s(B,B) = s(C,C) = 1 , else = 0</a:t>
            </a:r>
          </a:p>
          <a:p>
            <a:r>
              <a:rPr lang="en-US" altLang="zh-TW" sz="2800" dirty="0" smtClean="0"/>
              <a:t>Gap penalty = 0</a:t>
            </a:r>
            <a:endParaRPr lang="zh-TW" altLang="en-US" sz="2800" dirty="0"/>
          </a:p>
        </p:txBody>
      </p:sp>
    </p:spTree>
    <p:extLst>
      <p:ext uri="{BB962C8B-B14F-4D97-AF65-F5344CB8AC3E}">
        <p14:creationId xmlns:p14="http://schemas.microsoft.com/office/powerpoint/2010/main" val="301671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59447644"/>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11" name="直線接點 10"/>
          <p:cNvCxnSpPr/>
          <p:nvPr/>
        </p:nvCxnSpPr>
        <p:spPr>
          <a:xfrm flipH="1">
            <a:off x="3815132" y="4437112"/>
            <a:ext cx="1117652"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2" name="直線接點 11"/>
          <p:cNvCxnSpPr/>
          <p:nvPr/>
        </p:nvCxnSpPr>
        <p:spPr>
          <a:xfrm flipH="1">
            <a:off x="3815210" y="5085184"/>
            <a:ext cx="1117652"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3" name="直線接點 12"/>
          <p:cNvCxnSpPr/>
          <p:nvPr/>
        </p:nvCxnSpPr>
        <p:spPr>
          <a:xfrm flipV="1">
            <a:off x="4907436" y="4437112"/>
            <a:ext cx="0" cy="648072"/>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直線接點 14"/>
          <p:cNvCxnSpPr/>
          <p:nvPr/>
        </p:nvCxnSpPr>
        <p:spPr>
          <a:xfrm flipV="1">
            <a:off x="3815210" y="4437112"/>
            <a:ext cx="0" cy="648072"/>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直線接點 16"/>
          <p:cNvCxnSpPr/>
          <p:nvPr/>
        </p:nvCxnSpPr>
        <p:spPr>
          <a:xfrm flipH="1">
            <a:off x="2467980" y="4437112"/>
            <a:ext cx="139306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8" name="直線接點 17"/>
          <p:cNvCxnSpPr/>
          <p:nvPr/>
        </p:nvCxnSpPr>
        <p:spPr>
          <a:xfrm flipH="1">
            <a:off x="2537010" y="2656736"/>
            <a:ext cx="132403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9" name="直線接點 18"/>
          <p:cNvCxnSpPr/>
          <p:nvPr/>
        </p:nvCxnSpPr>
        <p:spPr>
          <a:xfrm flipV="1">
            <a:off x="3815132" y="2656736"/>
            <a:ext cx="78" cy="1814284"/>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直線接點 24"/>
          <p:cNvCxnSpPr/>
          <p:nvPr/>
        </p:nvCxnSpPr>
        <p:spPr>
          <a:xfrm flipV="1">
            <a:off x="2467980" y="2637676"/>
            <a:ext cx="0" cy="1799436"/>
          </a:xfrm>
          <a:prstGeom prst="line">
            <a:avLst/>
          </a:prstGeom>
        </p:spPr>
        <p:style>
          <a:lnRef idx="3">
            <a:schemeClr val="accent6"/>
          </a:lnRef>
          <a:fillRef idx="0">
            <a:schemeClr val="accent6"/>
          </a:fillRef>
          <a:effectRef idx="2">
            <a:schemeClr val="accent6"/>
          </a:effectRef>
          <a:fontRef idx="minor">
            <a:schemeClr val="tx1"/>
          </a:fontRef>
        </p:style>
      </p:cxnSp>
      <p:sp>
        <p:nvSpPr>
          <p:cNvPr id="29" name="框架 28"/>
          <p:cNvSpPr/>
          <p:nvPr/>
        </p:nvSpPr>
        <p:spPr>
          <a:xfrm>
            <a:off x="2502650" y="2656736"/>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404937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017927298"/>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3788492" y="2708920"/>
            <a:ext cx="0" cy="1152128"/>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直線接點 14"/>
          <p:cNvCxnSpPr/>
          <p:nvPr/>
        </p:nvCxnSpPr>
        <p:spPr>
          <a:xfrm>
            <a:off x="3788492" y="2708920"/>
            <a:ext cx="1287564"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直線接點 16"/>
          <p:cNvCxnSpPr/>
          <p:nvPr/>
        </p:nvCxnSpPr>
        <p:spPr>
          <a:xfrm>
            <a:off x="5076056" y="2708920"/>
            <a:ext cx="0" cy="1728192"/>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555776" y="4437112"/>
            <a:ext cx="2520280"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直線接點 21"/>
          <p:cNvCxnSpPr/>
          <p:nvPr/>
        </p:nvCxnSpPr>
        <p:spPr>
          <a:xfrm flipV="1">
            <a:off x="2555776" y="3861048"/>
            <a:ext cx="0" cy="576064"/>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2555776" y="3861048"/>
            <a:ext cx="1260140" cy="7607"/>
          </a:xfrm>
          <a:prstGeom prst="line">
            <a:avLst/>
          </a:prstGeom>
        </p:spPr>
        <p:style>
          <a:lnRef idx="3">
            <a:schemeClr val="accent6"/>
          </a:lnRef>
          <a:fillRef idx="0">
            <a:schemeClr val="accent6"/>
          </a:fillRef>
          <a:effectRef idx="2">
            <a:schemeClr val="accent6"/>
          </a:effectRef>
          <a:fontRef idx="minor">
            <a:schemeClr val="tx1"/>
          </a:fontRef>
        </p:style>
      </p:cxnSp>
      <p:cxnSp>
        <p:nvCxnSpPr>
          <p:cNvPr id="28" name="直線接點 27"/>
          <p:cNvCxnSpPr/>
          <p:nvPr/>
        </p:nvCxnSpPr>
        <p:spPr>
          <a:xfrm>
            <a:off x="6228184" y="4437112"/>
            <a:ext cx="0" cy="720080"/>
          </a:xfrm>
          <a:prstGeom prst="line">
            <a:avLst/>
          </a:prstGeom>
        </p:spPr>
        <p:style>
          <a:lnRef idx="3">
            <a:schemeClr val="accent6"/>
          </a:lnRef>
          <a:fillRef idx="0">
            <a:schemeClr val="accent6"/>
          </a:fillRef>
          <a:effectRef idx="2">
            <a:schemeClr val="accent6"/>
          </a:effectRef>
          <a:fontRef idx="minor">
            <a:schemeClr val="tx1"/>
          </a:fontRef>
        </p:style>
      </p:cxnSp>
      <p:cxnSp>
        <p:nvCxnSpPr>
          <p:cNvPr id="31" name="直線接點 30"/>
          <p:cNvCxnSpPr/>
          <p:nvPr/>
        </p:nvCxnSpPr>
        <p:spPr>
          <a:xfrm flipH="1">
            <a:off x="5076056" y="5157192"/>
            <a:ext cx="115212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33" name="直線接點 32"/>
          <p:cNvCxnSpPr/>
          <p:nvPr/>
        </p:nvCxnSpPr>
        <p:spPr>
          <a:xfrm flipH="1">
            <a:off x="5110532" y="4437112"/>
            <a:ext cx="1117652"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37" name="直線接點 36"/>
          <p:cNvCxnSpPr/>
          <p:nvPr/>
        </p:nvCxnSpPr>
        <p:spPr>
          <a:xfrm flipV="1">
            <a:off x="5110532" y="4437112"/>
            <a:ext cx="0" cy="720080"/>
          </a:xfrm>
          <a:prstGeom prst="line">
            <a:avLst/>
          </a:prstGeom>
        </p:spPr>
        <p:style>
          <a:lnRef idx="3">
            <a:schemeClr val="accent6"/>
          </a:lnRef>
          <a:fillRef idx="0">
            <a:schemeClr val="accent6"/>
          </a:fillRef>
          <a:effectRef idx="2">
            <a:schemeClr val="accent6"/>
          </a:effectRef>
          <a:fontRef idx="minor">
            <a:schemeClr val="tx1"/>
          </a:fontRef>
        </p:style>
      </p:cxnSp>
      <p:sp>
        <p:nvSpPr>
          <p:cNvPr id="40" name="框架 39"/>
          <p:cNvSpPr/>
          <p:nvPr/>
        </p:nvSpPr>
        <p:spPr>
          <a:xfrm>
            <a:off x="3788492" y="3836291"/>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68063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161301639"/>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5195192" y="2692152"/>
            <a:ext cx="0" cy="1762472"/>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直線接點 14"/>
          <p:cNvCxnSpPr/>
          <p:nvPr/>
        </p:nvCxnSpPr>
        <p:spPr>
          <a:xfrm flipV="1">
            <a:off x="5195192" y="2674640"/>
            <a:ext cx="1314520" cy="17512"/>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直線接點 16"/>
          <p:cNvCxnSpPr/>
          <p:nvPr/>
        </p:nvCxnSpPr>
        <p:spPr>
          <a:xfrm>
            <a:off x="6496704" y="2674640"/>
            <a:ext cx="0" cy="2457028"/>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519772" y="5131668"/>
            <a:ext cx="3989940" cy="25524"/>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直線接點 21"/>
          <p:cNvCxnSpPr/>
          <p:nvPr/>
        </p:nvCxnSpPr>
        <p:spPr>
          <a:xfrm flipV="1">
            <a:off x="2555776" y="4454624"/>
            <a:ext cx="0" cy="720080"/>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flipV="1">
            <a:off x="2555776" y="4437112"/>
            <a:ext cx="2639416" cy="17512"/>
          </a:xfrm>
          <a:prstGeom prst="line">
            <a:avLst/>
          </a:prstGeom>
        </p:spPr>
        <p:style>
          <a:lnRef idx="3">
            <a:schemeClr val="accent6"/>
          </a:lnRef>
          <a:fillRef idx="0">
            <a:schemeClr val="accent6"/>
          </a:fillRef>
          <a:effectRef idx="2">
            <a:schemeClr val="accent6"/>
          </a:effectRef>
          <a:fontRef idx="minor">
            <a:schemeClr val="tx1"/>
          </a:fontRef>
        </p:style>
      </p:cxnSp>
      <p:cxnSp>
        <p:nvCxnSpPr>
          <p:cNvPr id="10" name="直線接點 9"/>
          <p:cNvCxnSpPr/>
          <p:nvPr/>
        </p:nvCxnSpPr>
        <p:spPr>
          <a:xfrm flipH="1">
            <a:off x="6496704" y="5131668"/>
            <a:ext cx="135318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9" name="直線接點 18"/>
          <p:cNvCxnSpPr/>
          <p:nvPr/>
        </p:nvCxnSpPr>
        <p:spPr>
          <a:xfrm flipH="1">
            <a:off x="6496704" y="5733256"/>
            <a:ext cx="135318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1" name="直線接點 20"/>
          <p:cNvCxnSpPr/>
          <p:nvPr/>
        </p:nvCxnSpPr>
        <p:spPr>
          <a:xfrm flipV="1">
            <a:off x="7805464" y="5188004"/>
            <a:ext cx="0" cy="558552"/>
          </a:xfrm>
          <a:prstGeom prst="line">
            <a:avLst/>
          </a:prstGeom>
        </p:spPr>
        <p:style>
          <a:lnRef idx="3">
            <a:schemeClr val="accent6"/>
          </a:lnRef>
          <a:fillRef idx="0">
            <a:schemeClr val="accent6"/>
          </a:fillRef>
          <a:effectRef idx="2">
            <a:schemeClr val="accent6"/>
          </a:effectRef>
          <a:fontRef idx="minor">
            <a:schemeClr val="tx1"/>
          </a:fontRef>
        </p:style>
      </p:cxnSp>
      <p:cxnSp>
        <p:nvCxnSpPr>
          <p:cNvPr id="23" name="直線接點 22"/>
          <p:cNvCxnSpPr/>
          <p:nvPr/>
        </p:nvCxnSpPr>
        <p:spPr>
          <a:xfrm flipV="1">
            <a:off x="6530084" y="5131668"/>
            <a:ext cx="0" cy="576064"/>
          </a:xfrm>
          <a:prstGeom prst="line">
            <a:avLst/>
          </a:prstGeom>
        </p:spPr>
        <p:style>
          <a:lnRef idx="3">
            <a:schemeClr val="accent6"/>
          </a:lnRef>
          <a:fillRef idx="0">
            <a:schemeClr val="accent6"/>
          </a:fillRef>
          <a:effectRef idx="2">
            <a:schemeClr val="accent6"/>
          </a:effectRef>
          <a:fontRef idx="minor">
            <a:schemeClr val="tx1"/>
          </a:fontRef>
        </p:style>
      </p:cxnSp>
      <p:sp>
        <p:nvSpPr>
          <p:cNvPr id="25" name="框架 24"/>
          <p:cNvSpPr/>
          <p:nvPr/>
        </p:nvSpPr>
        <p:spPr>
          <a:xfrm>
            <a:off x="5195192" y="4501875"/>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444486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3575881408"/>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Tree>
    <p:extLst>
      <p:ext uri="{BB962C8B-B14F-4D97-AF65-F5344CB8AC3E}">
        <p14:creationId xmlns:p14="http://schemas.microsoft.com/office/powerpoint/2010/main" val="733224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1224143995"/>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6478840" y="2687402"/>
            <a:ext cx="0" cy="2469790"/>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直線接點 14"/>
          <p:cNvCxnSpPr/>
          <p:nvPr/>
        </p:nvCxnSpPr>
        <p:spPr>
          <a:xfrm>
            <a:off x="6478840" y="2674640"/>
            <a:ext cx="133884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直線接點 16"/>
          <p:cNvCxnSpPr/>
          <p:nvPr/>
        </p:nvCxnSpPr>
        <p:spPr>
          <a:xfrm>
            <a:off x="7812360" y="2687402"/>
            <a:ext cx="0" cy="3045854"/>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555776" y="5707732"/>
            <a:ext cx="5261912" cy="25524"/>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直線接點 21"/>
          <p:cNvCxnSpPr/>
          <p:nvPr/>
        </p:nvCxnSpPr>
        <p:spPr>
          <a:xfrm flipV="1">
            <a:off x="2555776" y="5157192"/>
            <a:ext cx="0" cy="576064"/>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2555776" y="5157192"/>
            <a:ext cx="3953936" cy="0"/>
          </a:xfrm>
          <a:prstGeom prst="line">
            <a:avLst/>
          </a:prstGeom>
        </p:spPr>
        <p:style>
          <a:lnRef idx="3">
            <a:schemeClr val="accent6"/>
          </a:lnRef>
          <a:fillRef idx="0">
            <a:schemeClr val="accent6"/>
          </a:fillRef>
          <a:effectRef idx="2">
            <a:schemeClr val="accent6"/>
          </a:effectRef>
          <a:fontRef idx="minor">
            <a:schemeClr val="tx1"/>
          </a:fontRef>
        </p:style>
      </p:cxnSp>
      <p:sp>
        <p:nvSpPr>
          <p:cNvPr id="25" name="框架 24"/>
          <p:cNvSpPr/>
          <p:nvPr/>
        </p:nvSpPr>
        <p:spPr>
          <a:xfrm>
            <a:off x="6515080" y="5082155"/>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93694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366120727"/>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5139992" y="2634082"/>
            <a:ext cx="0" cy="1875038"/>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直線接點 14"/>
          <p:cNvCxnSpPr/>
          <p:nvPr/>
        </p:nvCxnSpPr>
        <p:spPr>
          <a:xfrm>
            <a:off x="5139992" y="2634082"/>
            <a:ext cx="133884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直線接點 16"/>
          <p:cNvCxnSpPr/>
          <p:nvPr/>
        </p:nvCxnSpPr>
        <p:spPr>
          <a:xfrm>
            <a:off x="6478840" y="2639762"/>
            <a:ext cx="0" cy="2517430"/>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411760" y="5148237"/>
            <a:ext cx="4067080"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直線接點 21"/>
          <p:cNvCxnSpPr/>
          <p:nvPr/>
        </p:nvCxnSpPr>
        <p:spPr>
          <a:xfrm flipV="1">
            <a:off x="2411760" y="4506091"/>
            <a:ext cx="0" cy="651101"/>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2411760" y="4509120"/>
            <a:ext cx="2728232" cy="0"/>
          </a:xfrm>
          <a:prstGeom prst="line">
            <a:avLst/>
          </a:prstGeom>
        </p:spPr>
        <p:style>
          <a:lnRef idx="3">
            <a:schemeClr val="accent6"/>
          </a:lnRef>
          <a:fillRef idx="0">
            <a:schemeClr val="accent6"/>
          </a:fillRef>
          <a:effectRef idx="2">
            <a:schemeClr val="accent6"/>
          </a:effectRef>
          <a:fontRef idx="minor">
            <a:schemeClr val="tx1"/>
          </a:fontRef>
        </p:style>
      </p:cxnSp>
      <p:sp>
        <p:nvSpPr>
          <p:cNvPr id="25" name="框架 24"/>
          <p:cNvSpPr/>
          <p:nvPr/>
        </p:nvSpPr>
        <p:spPr>
          <a:xfrm>
            <a:off x="5160776" y="4506091"/>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
        <p:nvSpPr>
          <p:cNvPr id="21" name="框架 20"/>
          <p:cNvSpPr/>
          <p:nvPr/>
        </p:nvSpPr>
        <p:spPr>
          <a:xfrm>
            <a:off x="3830880" y="4509120"/>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sp>
        <p:nvSpPr>
          <p:cNvPr id="23" name="框架 22"/>
          <p:cNvSpPr/>
          <p:nvPr/>
        </p:nvSpPr>
        <p:spPr>
          <a:xfrm>
            <a:off x="5150256" y="3258812"/>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18" name="直線單箭頭接點 17"/>
          <p:cNvCxnSpPr/>
          <p:nvPr/>
        </p:nvCxnSpPr>
        <p:spPr>
          <a:xfrm flipH="1" flipV="1">
            <a:off x="6231512" y="3691607"/>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直線單箭頭接點 25"/>
          <p:cNvCxnSpPr/>
          <p:nvPr/>
        </p:nvCxnSpPr>
        <p:spPr>
          <a:xfrm flipH="1" flipV="1">
            <a:off x="6012160" y="4831641"/>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flipV="1">
            <a:off x="4655378" y="4818879"/>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943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1"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1469620982"/>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3727256" y="2653191"/>
            <a:ext cx="0" cy="1875038"/>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466764" y="4509120"/>
            <a:ext cx="1241140"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直線接點 21"/>
          <p:cNvCxnSpPr/>
          <p:nvPr/>
        </p:nvCxnSpPr>
        <p:spPr>
          <a:xfrm flipV="1">
            <a:off x="2466764" y="2607712"/>
            <a:ext cx="0" cy="1898379"/>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2466764" y="2653191"/>
            <a:ext cx="1241140" cy="0"/>
          </a:xfrm>
          <a:prstGeom prst="line">
            <a:avLst/>
          </a:prstGeom>
        </p:spPr>
        <p:style>
          <a:lnRef idx="3">
            <a:schemeClr val="accent6"/>
          </a:lnRef>
          <a:fillRef idx="0">
            <a:schemeClr val="accent6"/>
          </a:fillRef>
          <a:effectRef idx="2">
            <a:schemeClr val="accent6"/>
          </a:effectRef>
          <a:fontRef idx="minor">
            <a:schemeClr val="tx1"/>
          </a:fontRef>
        </p:style>
      </p:cxnSp>
      <p:sp>
        <p:nvSpPr>
          <p:cNvPr id="21" name="框架 20"/>
          <p:cNvSpPr/>
          <p:nvPr/>
        </p:nvSpPr>
        <p:spPr>
          <a:xfrm>
            <a:off x="2466764" y="2653191"/>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18" name="直線單箭頭接點 17"/>
          <p:cNvCxnSpPr/>
          <p:nvPr/>
        </p:nvCxnSpPr>
        <p:spPr>
          <a:xfrm flipH="1" flipV="1">
            <a:off x="6231512" y="3691607"/>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直線單箭頭接點 25"/>
          <p:cNvCxnSpPr/>
          <p:nvPr/>
        </p:nvCxnSpPr>
        <p:spPr>
          <a:xfrm flipH="1" flipV="1">
            <a:off x="5940152" y="4831641"/>
            <a:ext cx="936104"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flipV="1">
            <a:off x="4655378" y="4818879"/>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7" name="直線單箭頭接點 26"/>
          <p:cNvCxnSpPr/>
          <p:nvPr/>
        </p:nvCxnSpPr>
        <p:spPr>
          <a:xfrm flipH="1" flipV="1">
            <a:off x="3090530" y="3065965"/>
            <a:ext cx="1193438" cy="158717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951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967009510"/>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5076056" y="2607712"/>
            <a:ext cx="0" cy="671057"/>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483768" y="3278769"/>
            <a:ext cx="2594696"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2483768" y="2636912"/>
            <a:ext cx="2592288" cy="0"/>
          </a:xfrm>
          <a:prstGeom prst="line">
            <a:avLst/>
          </a:prstGeom>
        </p:spPr>
        <p:style>
          <a:lnRef idx="3">
            <a:schemeClr val="accent6"/>
          </a:lnRef>
          <a:fillRef idx="0">
            <a:schemeClr val="accent6"/>
          </a:fillRef>
          <a:effectRef idx="2">
            <a:schemeClr val="accent6"/>
          </a:effectRef>
          <a:fontRef idx="minor">
            <a:schemeClr val="tx1"/>
          </a:fontRef>
        </p:style>
      </p:cxnSp>
      <p:sp>
        <p:nvSpPr>
          <p:cNvPr id="21" name="框架 20"/>
          <p:cNvSpPr/>
          <p:nvPr/>
        </p:nvSpPr>
        <p:spPr>
          <a:xfrm>
            <a:off x="2533600" y="2653192"/>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18" name="直線單箭頭接點 17"/>
          <p:cNvCxnSpPr/>
          <p:nvPr/>
        </p:nvCxnSpPr>
        <p:spPr>
          <a:xfrm flipH="1" flipV="1">
            <a:off x="6231512" y="3691607"/>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直線單箭頭接點 25"/>
          <p:cNvCxnSpPr/>
          <p:nvPr/>
        </p:nvCxnSpPr>
        <p:spPr>
          <a:xfrm flipH="1" flipV="1">
            <a:off x="6012160" y="4831641"/>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flipV="1">
            <a:off x="4655378" y="4818879"/>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7" name="直線單箭頭接點 26"/>
          <p:cNvCxnSpPr/>
          <p:nvPr/>
        </p:nvCxnSpPr>
        <p:spPr>
          <a:xfrm flipH="1" flipV="1">
            <a:off x="3090530" y="3065965"/>
            <a:ext cx="1193438" cy="158717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直線接點 18"/>
          <p:cNvCxnSpPr/>
          <p:nvPr/>
        </p:nvCxnSpPr>
        <p:spPr>
          <a:xfrm flipV="1">
            <a:off x="2483768" y="2675590"/>
            <a:ext cx="0" cy="603179"/>
          </a:xfrm>
          <a:prstGeom prst="line">
            <a:avLst/>
          </a:prstGeom>
        </p:spPr>
        <p:style>
          <a:lnRef idx="3">
            <a:schemeClr val="accent6"/>
          </a:lnRef>
          <a:fillRef idx="0">
            <a:schemeClr val="accent6"/>
          </a:fillRef>
          <a:effectRef idx="2">
            <a:schemeClr val="accent6"/>
          </a:effectRef>
          <a:fontRef idx="minor">
            <a:schemeClr val="tx1"/>
          </a:fontRef>
        </p:style>
      </p:cxnSp>
      <p:cxnSp>
        <p:nvCxnSpPr>
          <p:cNvPr id="23" name="直線單箭頭接點 22"/>
          <p:cNvCxnSpPr/>
          <p:nvPr/>
        </p:nvCxnSpPr>
        <p:spPr>
          <a:xfrm flipH="1" flipV="1">
            <a:off x="3347864" y="2977179"/>
            <a:ext cx="2153726" cy="41844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4984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3584670509"/>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5121616" y="2607712"/>
            <a:ext cx="0" cy="1875038"/>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483768" y="4482750"/>
            <a:ext cx="2594696"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直線接點 21"/>
          <p:cNvCxnSpPr/>
          <p:nvPr/>
        </p:nvCxnSpPr>
        <p:spPr>
          <a:xfrm flipV="1">
            <a:off x="3830880" y="2653192"/>
            <a:ext cx="0" cy="1206358"/>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3834916" y="2636912"/>
            <a:ext cx="1241140" cy="0"/>
          </a:xfrm>
          <a:prstGeom prst="line">
            <a:avLst/>
          </a:prstGeom>
        </p:spPr>
        <p:style>
          <a:lnRef idx="3">
            <a:schemeClr val="accent6"/>
          </a:lnRef>
          <a:fillRef idx="0">
            <a:schemeClr val="accent6"/>
          </a:fillRef>
          <a:effectRef idx="2">
            <a:schemeClr val="accent6"/>
          </a:effectRef>
          <a:fontRef idx="minor">
            <a:schemeClr val="tx1"/>
          </a:fontRef>
        </p:style>
      </p:cxnSp>
      <p:sp>
        <p:nvSpPr>
          <p:cNvPr id="21" name="框架 20"/>
          <p:cNvSpPr/>
          <p:nvPr/>
        </p:nvSpPr>
        <p:spPr>
          <a:xfrm>
            <a:off x="3806846" y="3859550"/>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18" name="直線單箭頭接點 17"/>
          <p:cNvCxnSpPr/>
          <p:nvPr/>
        </p:nvCxnSpPr>
        <p:spPr>
          <a:xfrm flipH="1" flipV="1">
            <a:off x="6231512" y="3691607"/>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直線單箭頭接點 25"/>
          <p:cNvCxnSpPr/>
          <p:nvPr/>
        </p:nvCxnSpPr>
        <p:spPr>
          <a:xfrm flipH="1" flipV="1">
            <a:off x="6012160" y="4831641"/>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flipV="1">
            <a:off x="4655378" y="4818879"/>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7" name="直線單箭頭接點 26"/>
          <p:cNvCxnSpPr/>
          <p:nvPr/>
        </p:nvCxnSpPr>
        <p:spPr>
          <a:xfrm flipH="1" flipV="1">
            <a:off x="3090530" y="3065965"/>
            <a:ext cx="1193438" cy="158717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直線接點 18"/>
          <p:cNvCxnSpPr/>
          <p:nvPr/>
        </p:nvCxnSpPr>
        <p:spPr>
          <a:xfrm flipV="1">
            <a:off x="2483768" y="3881948"/>
            <a:ext cx="0" cy="603179"/>
          </a:xfrm>
          <a:prstGeom prst="line">
            <a:avLst/>
          </a:prstGeom>
        </p:spPr>
        <p:style>
          <a:lnRef idx="3">
            <a:schemeClr val="accent6"/>
          </a:lnRef>
          <a:fillRef idx="0">
            <a:schemeClr val="accent6"/>
          </a:fillRef>
          <a:effectRef idx="2">
            <a:schemeClr val="accent6"/>
          </a:effectRef>
          <a:fontRef idx="minor">
            <a:schemeClr val="tx1"/>
          </a:fontRef>
        </p:style>
      </p:cxnSp>
      <p:cxnSp>
        <p:nvCxnSpPr>
          <p:cNvPr id="28" name="直線接點 27"/>
          <p:cNvCxnSpPr/>
          <p:nvPr/>
        </p:nvCxnSpPr>
        <p:spPr>
          <a:xfrm>
            <a:off x="2483768" y="3881948"/>
            <a:ext cx="1347112"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flipH="1" flipV="1">
            <a:off x="4572000" y="4231630"/>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377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633745369"/>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接點 5"/>
          <p:cNvCxnSpPr/>
          <p:nvPr/>
        </p:nvCxnSpPr>
        <p:spPr>
          <a:xfrm>
            <a:off x="3752096" y="2630451"/>
            <a:ext cx="0" cy="1229099"/>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直線接點 19"/>
          <p:cNvCxnSpPr/>
          <p:nvPr/>
        </p:nvCxnSpPr>
        <p:spPr>
          <a:xfrm flipH="1">
            <a:off x="2389901" y="3859550"/>
            <a:ext cx="1297348"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直線接點 23"/>
          <p:cNvCxnSpPr/>
          <p:nvPr/>
        </p:nvCxnSpPr>
        <p:spPr>
          <a:xfrm>
            <a:off x="2404789" y="2636912"/>
            <a:ext cx="1375123" cy="0"/>
          </a:xfrm>
          <a:prstGeom prst="line">
            <a:avLst/>
          </a:prstGeom>
        </p:spPr>
        <p:style>
          <a:lnRef idx="3">
            <a:schemeClr val="accent6"/>
          </a:lnRef>
          <a:fillRef idx="0">
            <a:schemeClr val="accent6"/>
          </a:fillRef>
          <a:effectRef idx="2">
            <a:schemeClr val="accent6"/>
          </a:effectRef>
          <a:fontRef idx="minor">
            <a:schemeClr val="tx1"/>
          </a:fontRef>
        </p:style>
      </p:cxnSp>
      <p:sp>
        <p:nvSpPr>
          <p:cNvPr id="21" name="框架 20"/>
          <p:cNvSpPr/>
          <p:nvPr/>
        </p:nvSpPr>
        <p:spPr>
          <a:xfrm>
            <a:off x="2411760" y="2653192"/>
            <a:ext cx="1297280" cy="625577"/>
          </a:xfrm>
          <a:prstGeom prst="fra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p:cxnSp>
        <p:nvCxnSpPr>
          <p:cNvPr id="18" name="直線單箭頭接點 17"/>
          <p:cNvCxnSpPr/>
          <p:nvPr/>
        </p:nvCxnSpPr>
        <p:spPr>
          <a:xfrm flipH="1" flipV="1">
            <a:off x="6231512" y="3691607"/>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直線單箭頭接點 25"/>
          <p:cNvCxnSpPr/>
          <p:nvPr/>
        </p:nvCxnSpPr>
        <p:spPr>
          <a:xfrm flipH="1" flipV="1">
            <a:off x="6012160" y="4831641"/>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flipV="1">
            <a:off x="4655378" y="4818879"/>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7" name="直線單箭頭接點 26"/>
          <p:cNvCxnSpPr/>
          <p:nvPr/>
        </p:nvCxnSpPr>
        <p:spPr>
          <a:xfrm flipH="1" flipV="1">
            <a:off x="3090530" y="3065965"/>
            <a:ext cx="1193438" cy="158717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直線接點 18"/>
          <p:cNvCxnSpPr/>
          <p:nvPr/>
        </p:nvCxnSpPr>
        <p:spPr>
          <a:xfrm flipV="1">
            <a:off x="2404789" y="2636912"/>
            <a:ext cx="0" cy="1183959"/>
          </a:xfrm>
          <a:prstGeom prst="line">
            <a:avLst/>
          </a:prstGeom>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flipH="1" flipV="1">
            <a:off x="4572000" y="4231630"/>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3" name="直線單箭頭接點 22"/>
          <p:cNvCxnSpPr/>
          <p:nvPr/>
        </p:nvCxnSpPr>
        <p:spPr>
          <a:xfrm flipH="1" flipV="1">
            <a:off x="3347864" y="2977179"/>
            <a:ext cx="2153726" cy="41844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5" name="直線單箭頭接點 24"/>
          <p:cNvCxnSpPr/>
          <p:nvPr/>
        </p:nvCxnSpPr>
        <p:spPr>
          <a:xfrm flipH="1" flipV="1">
            <a:off x="3255201" y="2977179"/>
            <a:ext cx="864096" cy="102788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004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596669604"/>
              </p:ext>
            </p:extLst>
          </p:nvPr>
        </p:nvGraphicFramePr>
        <p:xfrm>
          <a:off x="1115616" y="2060848"/>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18" name="直線單箭頭接點 17"/>
          <p:cNvCxnSpPr/>
          <p:nvPr/>
        </p:nvCxnSpPr>
        <p:spPr>
          <a:xfrm flipH="1" flipV="1">
            <a:off x="6231512" y="3691607"/>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直線單箭頭接點 25"/>
          <p:cNvCxnSpPr/>
          <p:nvPr/>
        </p:nvCxnSpPr>
        <p:spPr>
          <a:xfrm flipH="1" flipV="1">
            <a:off x="6012160" y="4831641"/>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直線單箭頭接點 30"/>
          <p:cNvCxnSpPr/>
          <p:nvPr/>
        </p:nvCxnSpPr>
        <p:spPr>
          <a:xfrm flipH="1" flipV="1">
            <a:off x="4655378" y="4818879"/>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7" name="直線單箭頭接點 26"/>
          <p:cNvCxnSpPr/>
          <p:nvPr/>
        </p:nvCxnSpPr>
        <p:spPr>
          <a:xfrm flipH="1" flipV="1">
            <a:off x="3090530" y="3065965"/>
            <a:ext cx="1193438" cy="158717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9" name="直線單箭頭接點 28"/>
          <p:cNvCxnSpPr/>
          <p:nvPr/>
        </p:nvCxnSpPr>
        <p:spPr>
          <a:xfrm flipH="1" flipV="1">
            <a:off x="4572000" y="4231630"/>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3" name="直線單箭頭接點 22"/>
          <p:cNvCxnSpPr/>
          <p:nvPr/>
        </p:nvCxnSpPr>
        <p:spPr>
          <a:xfrm flipH="1" flipV="1">
            <a:off x="3347864" y="2977179"/>
            <a:ext cx="2153726" cy="41844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5" name="直線單箭頭接點 24"/>
          <p:cNvCxnSpPr/>
          <p:nvPr/>
        </p:nvCxnSpPr>
        <p:spPr>
          <a:xfrm flipH="1" flipV="1">
            <a:off x="3255201" y="2977179"/>
            <a:ext cx="864096" cy="102788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6084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graphicFrame>
        <p:nvGraphicFramePr>
          <p:cNvPr id="5" name="內容版面配置區 3"/>
          <p:cNvGraphicFramePr>
            <a:graphicFrameLocks/>
          </p:cNvGraphicFramePr>
          <p:nvPr>
            <p:extLst>
              <p:ext uri="{D42A27DB-BD31-4B8C-83A1-F6EECF244321}">
                <p14:modId xmlns:p14="http://schemas.microsoft.com/office/powerpoint/2010/main" val="2934608854"/>
              </p:ext>
            </p:extLst>
          </p:nvPr>
        </p:nvGraphicFramePr>
        <p:xfrm>
          <a:off x="1115616" y="1628800"/>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18" name="直線單箭頭接點 17"/>
          <p:cNvCxnSpPr/>
          <p:nvPr/>
        </p:nvCxnSpPr>
        <p:spPr>
          <a:xfrm flipH="1" flipV="1">
            <a:off x="6231512" y="3259559"/>
            <a:ext cx="788760" cy="144006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3" name="直線單箭頭接點 22"/>
          <p:cNvCxnSpPr/>
          <p:nvPr/>
        </p:nvCxnSpPr>
        <p:spPr>
          <a:xfrm flipH="1" flipV="1">
            <a:off x="3347864" y="2545131"/>
            <a:ext cx="2153726" cy="41844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4" name="文字方塊 3"/>
          <p:cNvSpPr txBox="1"/>
          <p:nvPr/>
        </p:nvSpPr>
        <p:spPr>
          <a:xfrm>
            <a:off x="2931165" y="5415974"/>
            <a:ext cx="2376264" cy="584775"/>
          </a:xfrm>
          <a:prstGeom prst="rect">
            <a:avLst/>
          </a:prstGeom>
          <a:noFill/>
        </p:spPr>
        <p:txBody>
          <a:bodyPr wrap="square" rtlCol="0">
            <a:spAutoFit/>
          </a:bodyPr>
          <a:lstStyle/>
          <a:p>
            <a:r>
              <a:rPr lang="en-US" altLang="zh-TW" sz="3200" dirty="0" smtClean="0"/>
              <a:t>ABC_ _A</a:t>
            </a:r>
            <a:endParaRPr lang="zh-TW" altLang="en-US" sz="3200" dirty="0"/>
          </a:p>
        </p:txBody>
      </p:sp>
      <p:sp>
        <p:nvSpPr>
          <p:cNvPr id="13" name="文字方塊 12"/>
          <p:cNvSpPr txBox="1"/>
          <p:nvPr/>
        </p:nvSpPr>
        <p:spPr>
          <a:xfrm>
            <a:off x="2987824" y="5868561"/>
            <a:ext cx="2232248" cy="584775"/>
          </a:xfrm>
          <a:prstGeom prst="rect">
            <a:avLst/>
          </a:prstGeom>
          <a:noFill/>
        </p:spPr>
        <p:txBody>
          <a:bodyPr wrap="square" rtlCol="0">
            <a:spAutoFit/>
          </a:bodyPr>
          <a:lstStyle/>
          <a:p>
            <a:r>
              <a:rPr lang="en-US" altLang="zh-TW" sz="3200" dirty="0" smtClean="0"/>
              <a:t>A_CBBA</a:t>
            </a:r>
            <a:endParaRPr lang="zh-TW" altLang="en-US" sz="3200" dirty="0"/>
          </a:p>
        </p:txBody>
      </p:sp>
    </p:spTree>
    <p:extLst>
      <p:ext uri="{BB962C8B-B14F-4D97-AF65-F5344CB8AC3E}">
        <p14:creationId xmlns:p14="http://schemas.microsoft.com/office/powerpoint/2010/main" val="8037817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sp>
        <p:nvSpPr>
          <p:cNvPr id="4" name="文字方塊 3"/>
          <p:cNvSpPr txBox="1"/>
          <p:nvPr/>
        </p:nvSpPr>
        <p:spPr>
          <a:xfrm>
            <a:off x="2987824" y="5415974"/>
            <a:ext cx="2376264" cy="584775"/>
          </a:xfrm>
          <a:prstGeom prst="rect">
            <a:avLst/>
          </a:prstGeom>
          <a:noFill/>
        </p:spPr>
        <p:txBody>
          <a:bodyPr wrap="square" rtlCol="0">
            <a:spAutoFit/>
          </a:bodyPr>
          <a:lstStyle/>
          <a:p>
            <a:r>
              <a:rPr lang="en-US" altLang="zh-TW" sz="3200" dirty="0" smtClean="0"/>
              <a:t>A_BCA</a:t>
            </a:r>
            <a:endParaRPr lang="zh-TW" altLang="en-US" sz="3200" dirty="0"/>
          </a:p>
        </p:txBody>
      </p:sp>
      <p:sp>
        <p:nvSpPr>
          <p:cNvPr id="13" name="文字方塊 12"/>
          <p:cNvSpPr txBox="1"/>
          <p:nvPr/>
        </p:nvSpPr>
        <p:spPr>
          <a:xfrm>
            <a:off x="2987824" y="5868561"/>
            <a:ext cx="2232248" cy="584775"/>
          </a:xfrm>
          <a:prstGeom prst="rect">
            <a:avLst/>
          </a:prstGeom>
          <a:noFill/>
        </p:spPr>
        <p:txBody>
          <a:bodyPr wrap="square" rtlCol="0">
            <a:spAutoFit/>
          </a:bodyPr>
          <a:lstStyle/>
          <a:p>
            <a:r>
              <a:rPr lang="en-US" altLang="zh-TW" sz="3200" dirty="0" smtClean="0"/>
              <a:t>ACBBA</a:t>
            </a:r>
            <a:endParaRPr lang="zh-TW" altLang="en-US" sz="3200" dirty="0"/>
          </a:p>
        </p:txBody>
      </p:sp>
      <p:graphicFrame>
        <p:nvGraphicFramePr>
          <p:cNvPr id="8" name="內容版面配置區 3"/>
          <p:cNvGraphicFramePr>
            <a:graphicFrameLocks/>
          </p:cNvGraphicFramePr>
          <p:nvPr>
            <p:extLst>
              <p:ext uri="{D42A27DB-BD31-4B8C-83A1-F6EECF244321}">
                <p14:modId xmlns:p14="http://schemas.microsoft.com/office/powerpoint/2010/main" val="3232853858"/>
              </p:ext>
            </p:extLst>
          </p:nvPr>
        </p:nvGraphicFramePr>
        <p:xfrm>
          <a:off x="1115616" y="1628800"/>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10" name="直線單箭頭接點 9"/>
          <p:cNvCxnSpPr/>
          <p:nvPr/>
        </p:nvCxnSpPr>
        <p:spPr>
          <a:xfrm flipH="1" flipV="1">
            <a:off x="6012160" y="4399593"/>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4" name="直線單箭頭接點 13"/>
          <p:cNvCxnSpPr/>
          <p:nvPr/>
        </p:nvCxnSpPr>
        <p:spPr>
          <a:xfrm flipH="1" flipV="1">
            <a:off x="4572000" y="3799582"/>
            <a:ext cx="864096" cy="36001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6" name="直線單箭頭接點 15"/>
          <p:cNvCxnSpPr/>
          <p:nvPr/>
        </p:nvCxnSpPr>
        <p:spPr>
          <a:xfrm flipH="1" flipV="1">
            <a:off x="3255201" y="2545131"/>
            <a:ext cx="864096" cy="1027886"/>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46557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Algorithm</a:t>
            </a:r>
            <a:endParaRPr lang="zh-TW" altLang="en-US" dirty="0"/>
          </a:p>
        </p:txBody>
      </p:sp>
      <p:sp>
        <p:nvSpPr>
          <p:cNvPr id="4" name="文字方塊 3"/>
          <p:cNvSpPr txBox="1"/>
          <p:nvPr/>
        </p:nvSpPr>
        <p:spPr>
          <a:xfrm>
            <a:off x="2987824" y="5415974"/>
            <a:ext cx="2376264" cy="584775"/>
          </a:xfrm>
          <a:prstGeom prst="rect">
            <a:avLst/>
          </a:prstGeom>
          <a:noFill/>
        </p:spPr>
        <p:txBody>
          <a:bodyPr wrap="square" rtlCol="0">
            <a:spAutoFit/>
          </a:bodyPr>
          <a:lstStyle/>
          <a:p>
            <a:r>
              <a:rPr lang="en-US" altLang="zh-TW" sz="3200" dirty="0" smtClean="0"/>
              <a:t>A_ _BCA</a:t>
            </a:r>
            <a:endParaRPr lang="zh-TW" altLang="en-US" sz="3200" dirty="0"/>
          </a:p>
        </p:txBody>
      </p:sp>
      <p:sp>
        <p:nvSpPr>
          <p:cNvPr id="13" name="文字方塊 12"/>
          <p:cNvSpPr txBox="1"/>
          <p:nvPr/>
        </p:nvSpPr>
        <p:spPr>
          <a:xfrm>
            <a:off x="2987824" y="5868561"/>
            <a:ext cx="2232248" cy="584775"/>
          </a:xfrm>
          <a:prstGeom prst="rect">
            <a:avLst/>
          </a:prstGeom>
          <a:noFill/>
        </p:spPr>
        <p:txBody>
          <a:bodyPr wrap="square" rtlCol="0">
            <a:spAutoFit/>
          </a:bodyPr>
          <a:lstStyle/>
          <a:p>
            <a:r>
              <a:rPr lang="en-US" altLang="zh-TW" sz="3200" dirty="0" smtClean="0"/>
              <a:t>ACBB _A</a:t>
            </a:r>
            <a:endParaRPr lang="zh-TW" altLang="en-US" sz="3200" dirty="0"/>
          </a:p>
        </p:txBody>
      </p:sp>
      <p:graphicFrame>
        <p:nvGraphicFramePr>
          <p:cNvPr id="8" name="內容版面配置區 3"/>
          <p:cNvGraphicFramePr>
            <a:graphicFrameLocks/>
          </p:cNvGraphicFramePr>
          <p:nvPr>
            <p:extLst>
              <p:ext uri="{D42A27DB-BD31-4B8C-83A1-F6EECF244321}">
                <p14:modId xmlns:p14="http://schemas.microsoft.com/office/powerpoint/2010/main" val="2198190445"/>
              </p:ext>
            </p:extLst>
          </p:nvPr>
        </p:nvGraphicFramePr>
        <p:xfrm>
          <a:off x="1115616" y="1628800"/>
          <a:ext cx="6696749" cy="3672408"/>
        </p:xfrm>
        <a:graphic>
          <a:graphicData uri="http://schemas.openxmlformats.org/drawingml/2006/table">
            <a:tbl>
              <a:tblPr firstRow="1" firstCol="1" bandRow="1"/>
              <a:tblGrid>
                <a:gridCol w="1304093"/>
                <a:gridCol w="1349293"/>
                <a:gridCol w="1344774"/>
                <a:gridCol w="1344774"/>
                <a:gridCol w="1353815"/>
              </a:tblGrid>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120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11" name="直線單箭頭接點 10"/>
          <p:cNvCxnSpPr/>
          <p:nvPr/>
        </p:nvCxnSpPr>
        <p:spPr>
          <a:xfrm flipH="1" flipV="1">
            <a:off x="4655378" y="4386831"/>
            <a:ext cx="2220878" cy="51823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 name="直線單箭頭接點 11"/>
          <p:cNvCxnSpPr/>
          <p:nvPr/>
        </p:nvCxnSpPr>
        <p:spPr>
          <a:xfrm flipH="1" flipV="1">
            <a:off x="3090530" y="2633917"/>
            <a:ext cx="1193438" cy="158717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27356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692696"/>
            <a:ext cx="9144000" cy="2907755"/>
          </a:xfrm>
        </p:spPr>
        <p:txBody>
          <a:bodyPr>
            <a:normAutofit/>
          </a:bodyPr>
          <a:lstStyle/>
          <a:p>
            <a:r>
              <a:rPr lang="en-US" altLang="zh-TW" sz="3600" dirty="0" smtClean="0">
                <a:latin typeface="微軟正黑體" panose="020B0604030504040204" pitchFamily="34" charset="-120"/>
                <a:ea typeface="微軟正黑體" panose="020B0604030504040204" pitchFamily="34" charset="-120"/>
              </a:rPr>
              <a:t>ON THE THEORY AND COMPUTATION OF</a:t>
            </a:r>
            <a:br>
              <a:rPr lang="en-US" altLang="zh-TW" sz="3600" dirty="0" smtClean="0">
                <a:latin typeface="微軟正黑體" panose="020B0604030504040204" pitchFamily="34" charset="-120"/>
                <a:ea typeface="微軟正黑體" panose="020B0604030504040204" pitchFamily="34" charset="-120"/>
              </a:rPr>
            </a:br>
            <a:r>
              <a:rPr lang="en-US" altLang="zh-TW" sz="3600" dirty="0" smtClean="0">
                <a:latin typeface="微軟正黑體" panose="020B0604030504040204" pitchFamily="34" charset="-120"/>
                <a:ea typeface="微軟正黑體" panose="020B0604030504040204" pitchFamily="34" charset="-120"/>
              </a:rPr>
              <a:t>EVOLUTIONARY DISTANCES</a:t>
            </a:r>
            <a:endParaRPr lang="zh-TW" altLang="en-US" sz="3600" dirty="0"/>
          </a:p>
        </p:txBody>
      </p:sp>
      <p:sp>
        <p:nvSpPr>
          <p:cNvPr id="3" name="副標題 2"/>
          <p:cNvSpPr>
            <a:spLocks noGrp="1"/>
          </p:cNvSpPr>
          <p:nvPr>
            <p:ph type="subTitle" idx="1"/>
          </p:nvPr>
        </p:nvSpPr>
        <p:spPr>
          <a:xfrm>
            <a:off x="0" y="3861048"/>
            <a:ext cx="9144000" cy="1752600"/>
          </a:xfrm>
        </p:spPr>
        <p:txBody>
          <a:bodyPr/>
          <a:lstStyle/>
          <a:p>
            <a:r>
              <a:rPr lang="en-US" altLang="zh-TW" dirty="0" smtClean="0">
                <a:solidFill>
                  <a:schemeClr val="tx1"/>
                </a:solidFill>
              </a:rPr>
              <a:t>Peter H. Sellers</a:t>
            </a:r>
          </a:p>
          <a:p>
            <a:r>
              <a:rPr lang="pt-BR" altLang="zh-TW" dirty="0" smtClean="0">
                <a:solidFill>
                  <a:schemeClr val="tx1"/>
                </a:solidFill>
              </a:rPr>
              <a:t>SIAM J. APPL. MATH. Vol. 26, No. 4, June 1974</a:t>
            </a:r>
            <a:r>
              <a:rPr lang="en-US" altLang="zh-TW" dirty="0" smtClean="0">
                <a:solidFill>
                  <a:schemeClr val="tx1"/>
                </a:solidFill>
              </a:rPr>
              <a:t>, pp. 787-793</a:t>
            </a:r>
            <a:endParaRPr lang="zh-TW" altLang="en-US" dirty="0">
              <a:solidFill>
                <a:schemeClr val="tx1"/>
              </a:solidFill>
            </a:endParaRPr>
          </a:p>
        </p:txBody>
      </p:sp>
    </p:spTree>
    <p:extLst>
      <p:ext uri="{BB962C8B-B14F-4D97-AF65-F5344CB8AC3E}">
        <p14:creationId xmlns:p14="http://schemas.microsoft.com/office/powerpoint/2010/main" val="2918003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This paper gives a formal definition of the biological concept of evolutionary distance and an algorithm to compute it. For any set S of finite sequences of varying lengths this distance is a real-valued function on S x S, and it is shown to be a metric under conditions which are wide enough to include the biological application. The algorithm, introduced here, lends itself to computer programming and provides a method to compute evolutionary distance which is shorter than the other methods currently in use.</a:t>
            </a:r>
            <a:endParaRPr lang="zh-TW" altLang="en-US" dirty="0"/>
          </a:p>
        </p:txBody>
      </p:sp>
    </p:spTree>
    <p:extLst>
      <p:ext uri="{BB962C8B-B14F-4D97-AF65-F5344CB8AC3E}">
        <p14:creationId xmlns:p14="http://schemas.microsoft.com/office/powerpoint/2010/main" val="603813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t>d(</a:t>
                </a:r>
                <a:r>
                  <a:rPr lang="en-US" altLang="zh-TW" dirty="0" err="1" smtClean="0"/>
                  <a:t>a,b</a:t>
                </a:r>
                <a:r>
                  <a:rPr lang="en-US" altLang="zh-TW" dirty="0" smtClean="0"/>
                  <a:t>) = </a:t>
                </a:r>
                <a14:m>
                  <m:oMath xmlns:m="http://schemas.openxmlformats.org/officeDocument/2006/math">
                    <m:d>
                      <m:dPr>
                        <m:begChr m:val="{"/>
                        <m:endChr m:val="}"/>
                        <m:ctrlPr>
                          <a:rPr lang="en-US" altLang="zh-TW" i="1" smtClean="0">
                            <a:latin typeface="Cambria Math"/>
                          </a:rPr>
                        </m:ctrlPr>
                      </m:dPr>
                      <m:e>
                        <m:eqArr>
                          <m:eqArrPr>
                            <m:ctrlPr>
                              <a:rPr lang="en-US" altLang="zh-TW" i="1" smtClean="0">
                                <a:latin typeface="Cambria Math"/>
                              </a:rPr>
                            </m:ctrlPr>
                          </m:eqArrPr>
                          <m:e>
                            <m:r>
                              <a:rPr lang="en-US" altLang="zh-TW" b="0" i="0" smtClean="0">
                                <a:latin typeface="Cambria Math"/>
                              </a:rPr>
                              <m:t>0   </m:t>
                            </m:r>
                            <m:r>
                              <m:rPr>
                                <m:sty m:val="p"/>
                              </m:rPr>
                              <a:rPr lang="en-US" altLang="zh-TW" b="0" i="0" smtClean="0">
                                <a:latin typeface="Cambria Math"/>
                              </a:rPr>
                              <m:t>for</m:t>
                            </m:r>
                            <m:r>
                              <a:rPr lang="en-US" altLang="zh-TW" b="0" i="0" smtClean="0">
                                <a:latin typeface="Cambria Math"/>
                              </a:rPr>
                              <m:t> </m:t>
                            </m:r>
                            <m:r>
                              <m:rPr>
                                <m:sty m:val="p"/>
                              </m:rPr>
                              <a:rPr lang="en-US" altLang="zh-TW" b="0" i="0" smtClean="0">
                                <a:latin typeface="Cambria Math"/>
                              </a:rPr>
                              <m:t>a</m:t>
                            </m:r>
                            <m:r>
                              <a:rPr lang="en-US" altLang="zh-TW" b="0" i="0" smtClean="0">
                                <a:latin typeface="Cambria Math"/>
                              </a:rPr>
                              <m:t>=</m:t>
                            </m:r>
                            <m:r>
                              <m:rPr>
                                <m:sty m:val="p"/>
                              </m:rPr>
                              <a:rPr lang="en-US" altLang="zh-TW" b="0" i="0" smtClean="0">
                                <a:latin typeface="Cambria Math"/>
                              </a:rPr>
                              <m:t>b</m:t>
                            </m:r>
                          </m:e>
                          <m:e>
                            <m:r>
                              <a:rPr lang="en-US" altLang="zh-TW" b="0" i="0" smtClean="0">
                                <a:latin typeface="Cambria Math"/>
                              </a:rPr>
                              <m:t>1   </m:t>
                            </m:r>
                            <m:r>
                              <m:rPr>
                                <m:sty m:val="p"/>
                              </m:rPr>
                              <a:rPr lang="en-US" altLang="zh-TW" b="0" i="0" smtClean="0">
                                <a:latin typeface="Cambria Math"/>
                              </a:rPr>
                              <m:t>for</m:t>
                            </m:r>
                            <m:r>
                              <a:rPr lang="en-US" altLang="zh-TW" b="0" i="0" smtClean="0">
                                <a:latin typeface="Cambria Math"/>
                              </a:rPr>
                              <m:t> </m:t>
                            </m:r>
                            <m:r>
                              <m:rPr>
                                <m:sty m:val="p"/>
                              </m:rPr>
                              <a:rPr lang="en-US" altLang="zh-TW" b="0" i="0" smtClean="0">
                                <a:latin typeface="Cambria Math"/>
                              </a:rPr>
                              <m:t>a</m:t>
                            </m:r>
                            <m:r>
                              <a:rPr lang="en-US" altLang="zh-TW" b="0" i="1" smtClean="0">
                                <a:latin typeface="Cambria Math"/>
                              </a:rPr>
                              <m:t>≠</m:t>
                            </m:r>
                            <m:r>
                              <m:rPr>
                                <m:sty m:val="p"/>
                              </m:rPr>
                              <a:rPr lang="en-US" altLang="zh-TW" b="0" i="0" smtClean="0">
                                <a:latin typeface="Cambria Math"/>
                              </a:rPr>
                              <m:t>b</m:t>
                            </m:r>
                          </m:e>
                        </m:eqArr>
                      </m:e>
                    </m:d>
                  </m:oMath>
                </a14:m>
                <a:endParaRPr lang="en-US" altLang="zh-TW" dirty="0" smtClean="0"/>
              </a:p>
              <a:p>
                <a:endParaRPr lang="en-US" altLang="zh-TW" dirty="0" smtClean="0"/>
              </a:p>
              <a:p>
                <a:r>
                  <a:rPr lang="en-US" altLang="zh-TW" dirty="0"/>
                  <a:t>d</a:t>
                </a:r>
                <a:r>
                  <a:rPr lang="en-US" altLang="zh-TW" dirty="0" smtClean="0"/>
                  <a:t>(</a:t>
                </a:r>
                <a14:m>
                  <m:oMath xmlns:m="http://schemas.openxmlformats.org/officeDocument/2006/math">
                    <m:sSub>
                      <m:sSubPr>
                        <m:ctrlPr>
                          <a:rPr lang="en-US" altLang="zh-TW" i="1" smtClean="0">
                            <a:latin typeface="Cambria Math"/>
                          </a:rPr>
                        </m:ctrlPr>
                      </m:sSubPr>
                      <m:e>
                        <m:r>
                          <m:rPr>
                            <m:sty m:val="p"/>
                          </m:rPr>
                          <a:rPr lang="en-US" altLang="zh-TW" b="0" i="0" smtClean="0">
                            <a:latin typeface="Cambria Math"/>
                          </a:rPr>
                          <m:t>a</m:t>
                        </m:r>
                      </m:e>
                      <m:sub>
                        <m:r>
                          <a:rPr lang="en-US" altLang="zh-TW" b="0" i="0" smtClean="0">
                            <a:latin typeface="Cambria Math"/>
                          </a:rPr>
                          <m:t>1</m:t>
                        </m:r>
                      </m:sub>
                    </m:sSub>
                    <m:sSub>
                      <m:sSubPr>
                        <m:ctrlPr>
                          <a:rPr lang="en-US" altLang="zh-TW" i="1" smtClean="0">
                            <a:latin typeface="Cambria Math"/>
                          </a:rPr>
                        </m:ctrlPr>
                      </m:sSubPr>
                      <m:e>
                        <m:r>
                          <m:rPr>
                            <m:sty m:val="p"/>
                          </m:rPr>
                          <a:rPr lang="en-US" altLang="zh-TW" b="0" i="0" smtClean="0">
                            <a:latin typeface="Cambria Math"/>
                          </a:rPr>
                          <m:t>a</m:t>
                        </m:r>
                      </m:e>
                      <m:sub>
                        <m:r>
                          <a:rPr lang="en-US" altLang="zh-TW" b="0" i="0" smtClean="0">
                            <a:latin typeface="Cambria Math"/>
                          </a:rPr>
                          <m:t>2</m:t>
                        </m:r>
                      </m:sub>
                    </m:sSub>
                    <m:r>
                      <a:rPr lang="en-US" altLang="zh-TW" b="0" i="1" smtClean="0">
                        <a:latin typeface="Cambria Math"/>
                      </a:rPr>
                      <m:t>…</m:t>
                    </m:r>
                  </m:oMath>
                </a14:m>
                <a:r>
                  <a:rPr lang="en-US" altLang="zh-TW" dirty="0" smtClean="0"/>
                  <a:t>, </a:t>
                </a:r>
                <a14:m>
                  <m:oMath xmlns:m="http://schemas.openxmlformats.org/officeDocument/2006/math">
                    <m:sSub>
                      <m:sSubPr>
                        <m:ctrlPr>
                          <a:rPr lang="en-US" altLang="zh-TW" i="1" smtClean="0">
                            <a:latin typeface="Cambria Math"/>
                          </a:rPr>
                        </m:ctrlPr>
                      </m:sSubPr>
                      <m:e>
                        <m:r>
                          <m:rPr>
                            <m:sty m:val="p"/>
                          </m:rPr>
                          <a:rPr lang="en-US" altLang="zh-TW" b="0" i="0" smtClean="0">
                            <a:latin typeface="Cambria Math"/>
                          </a:rPr>
                          <m:t>b</m:t>
                        </m:r>
                      </m:e>
                      <m:sub>
                        <m:r>
                          <a:rPr lang="en-US" altLang="zh-TW" b="0" i="0" smtClean="0">
                            <a:latin typeface="Cambria Math"/>
                          </a:rPr>
                          <m:t>1</m:t>
                        </m:r>
                      </m:sub>
                    </m:sSub>
                    <m:sSub>
                      <m:sSubPr>
                        <m:ctrlPr>
                          <a:rPr lang="en-US" altLang="zh-TW" i="1" smtClean="0">
                            <a:latin typeface="Cambria Math"/>
                          </a:rPr>
                        </m:ctrlPr>
                      </m:sSubPr>
                      <m:e>
                        <m:r>
                          <m:rPr>
                            <m:sty m:val="p"/>
                          </m:rPr>
                          <a:rPr lang="en-US" altLang="zh-TW" b="0" i="0" smtClean="0">
                            <a:latin typeface="Cambria Math"/>
                          </a:rPr>
                          <m:t>b</m:t>
                        </m:r>
                      </m:e>
                      <m:sub>
                        <m:r>
                          <a:rPr lang="en-US" altLang="zh-TW" b="0" i="0" smtClean="0">
                            <a:latin typeface="Cambria Math"/>
                          </a:rPr>
                          <m:t>2</m:t>
                        </m:r>
                      </m:sub>
                    </m:sSub>
                  </m:oMath>
                </a14:m>
                <a:r>
                  <a:rPr lang="en-US" altLang="zh-TW" dirty="0" smtClean="0"/>
                  <a:t>…) = </a:t>
                </a:r>
                <a14:m>
                  <m:oMath xmlns:m="http://schemas.openxmlformats.org/officeDocument/2006/math">
                    <m:nary>
                      <m:naryPr>
                        <m:chr m:val="∑"/>
                        <m:ctrlPr>
                          <a:rPr lang="en-US" altLang="zh-TW" i="1" smtClean="0">
                            <a:latin typeface="Cambria Math"/>
                          </a:rPr>
                        </m:ctrlPr>
                      </m:naryPr>
                      <m:sub>
                        <m:r>
                          <m:rPr>
                            <m:nor/>
                            <m:brk m:alnAt="23"/>
                          </m:rPr>
                          <a:rPr lang="en-US" altLang="zh-TW" b="0" i="0" smtClean="0">
                            <a:latin typeface="Cambria Math"/>
                          </a:rPr>
                          <m:t>i</m:t>
                        </m:r>
                        <m:r>
                          <m:rPr>
                            <m:brk m:alnAt="23"/>
                          </m:rPr>
                          <a:rPr lang="en-US" altLang="zh-TW" b="0" i="1" smtClean="0">
                            <a:latin typeface="Cambria Math"/>
                          </a:rPr>
                          <m:t>=</m:t>
                        </m:r>
                        <m:r>
                          <a:rPr lang="en-US" altLang="zh-TW" b="0" i="1" smtClean="0">
                            <a:latin typeface="Cambria Math"/>
                          </a:rPr>
                          <m:t>1</m:t>
                        </m:r>
                      </m:sub>
                      <m:sup>
                        <m:r>
                          <a:rPr lang="en-US" altLang="zh-TW" i="1" smtClean="0">
                            <a:latin typeface="Cambria Math"/>
                            <a:ea typeface="Cambria Math"/>
                          </a:rPr>
                          <m:t>∞</m:t>
                        </m:r>
                      </m:sup>
                      <m:e>
                        <m:r>
                          <m:rPr>
                            <m:nor/>
                          </m:rPr>
                          <a:rPr lang="en-US" altLang="zh-TW" dirty="0" smtClean="0"/>
                          <m:t>d</m:t>
                        </m:r>
                        <m:r>
                          <m:rPr>
                            <m:nor/>
                          </m:rPr>
                          <a:rPr lang="en-US" altLang="zh-TW" dirty="0" smtClean="0"/>
                          <m:t>(</m:t>
                        </m:r>
                        <m:sSub>
                          <m:sSubPr>
                            <m:ctrlPr>
                              <a:rPr lang="en-US" altLang="zh-TW" i="1" smtClean="0">
                                <a:latin typeface="Cambria Math"/>
                              </a:rPr>
                            </m:ctrlPr>
                          </m:sSubPr>
                          <m:e>
                            <m:r>
                              <m:rPr>
                                <m:sty m:val="p"/>
                              </m:rPr>
                              <a:rPr lang="en-US" altLang="zh-TW" b="0" i="0" smtClean="0">
                                <a:latin typeface="Cambria Math"/>
                              </a:rPr>
                              <m:t>a</m:t>
                            </m:r>
                          </m:e>
                          <m:sub>
                            <m:r>
                              <m:rPr>
                                <m:sty m:val="p"/>
                              </m:rPr>
                              <a:rPr lang="en-US" altLang="zh-TW" b="0" i="0" smtClean="0">
                                <a:latin typeface="Cambria Math"/>
                              </a:rPr>
                              <m:t>i</m:t>
                            </m:r>
                          </m:sub>
                        </m:sSub>
                        <m:r>
                          <m:rPr>
                            <m:nor/>
                          </m:rPr>
                          <a:rPr lang="en-US" altLang="zh-TW" dirty="0" smtClean="0"/>
                          <m:t>, </m:t>
                        </m:r>
                        <m:sSub>
                          <m:sSubPr>
                            <m:ctrlPr>
                              <a:rPr lang="en-US" altLang="zh-TW" i="1" smtClean="0">
                                <a:latin typeface="Cambria Math"/>
                              </a:rPr>
                            </m:ctrlPr>
                          </m:sSubPr>
                          <m:e>
                            <m:r>
                              <m:rPr>
                                <m:sty m:val="p"/>
                              </m:rPr>
                              <a:rPr lang="en-US" altLang="zh-TW" b="0" i="0" smtClean="0">
                                <a:latin typeface="Cambria Math"/>
                              </a:rPr>
                              <m:t>b</m:t>
                            </m:r>
                          </m:e>
                          <m:sub>
                            <m:r>
                              <m:rPr>
                                <m:sty m:val="p"/>
                              </m:rPr>
                              <a:rPr lang="en-US" altLang="zh-TW" b="0" i="0" smtClean="0">
                                <a:latin typeface="Cambria Math"/>
                              </a:rPr>
                              <m:t>i</m:t>
                            </m:r>
                          </m:sub>
                        </m:sSub>
                        <m:r>
                          <m:rPr>
                            <m:nor/>
                          </m:rPr>
                          <a:rPr lang="en-US" altLang="zh-TW" dirty="0" smtClean="0"/>
                          <m:t>)</m:t>
                        </m:r>
                      </m:e>
                    </m:nary>
                  </m:oMath>
                </a14:m>
                <a:endParaRPr lang="en-US" altLang="zh-TW" dirty="0" smtClean="0"/>
              </a:p>
              <a:p>
                <a:endParaRPr lang="en-US" altLang="zh-TW" dirty="0"/>
              </a:p>
              <a:p>
                <a:r>
                  <a:rPr lang="en-US" altLang="zh-TW" dirty="0" smtClean="0"/>
                  <a:t>Evolutionary distance:</a:t>
                </a:r>
                <a:br>
                  <a:rPr lang="en-US" altLang="zh-TW" dirty="0" smtClean="0"/>
                </a:br>
                <a14:m>
                  <m:oMath xmlns:m="http://schemas.openxmlformats.org/officeDocument/2006/math">
                    <m:acc>
                      <m:accPr>
                        <m:chr m:val="̅"/>
                        <m:ctrlPr>
                          <a:rPr lang="en-US" altLang="zh-TW" i="1" smtClean="0">
                            <a:latin typeface="Cambria Math"/>
                          </a:rPr>
                        </m:ctrlPr>
                      </m:accPr>
                      <m:e>
                        <m:r>
                          <m:rPr>
                            <m:nor/>
                          </m:rPr>
                          <a:rPr lang="en-US" altLang="zh-TW" b="0" i="0" smtClean="0">
                            <a:latin typeface="Cambria Math"/>
                          </a:rPr>
                          <m:t>d</m:t>
                        </m:r>
                      </m:e>
                    </m:acc>
                  </m:oMath>
                </a14:m>
                <a:r>
                  <a:rPr lang="en-US" altLang="zh-TW" dirty="0" smtClean="0"/>
                  <a:t>(</a:t>
                </a:r>
                <a14:m>
                  <m:oMath xmlns:m="http://schemas.openxmlformats.org/officeDocument/2006/math">
                    <m:acc>
                      <m:accPr>
                        <m:chr m:val="̅"/>
                        <m:ctrlPr>
                          <a:rPr lang="en-US" altLang="zh-TW" i="1" smtClean="0">
                            <a:latin typeface="Cambria Math"/>
                          </a:rPr>
                        </m:ctrlPr>
                      </m:accPr>
                      <m:e>
                        <m:sSub>
                          <m:sSubPr>
                            <m:ctrlPr>
                              <a:rPr lang="en-US" altLang="zh-TW" i="1" smtClean="0">
                                <a:latin typeface="Cambria Math"/>
                              </a:rPr>
                            </m:ctrlPr>
                          </m:sSubPr>
                          <m:e>
                            <m:r>
                              <m:rPr>
                                <m:sty m:val="p"/>
                              </m:rPr>
                              <a:rPr lang="en-US" altLang="zh-TW" b="0" i="0" smtClean="0">
                                <a:latin typeface="Cambria Math"/>
                              </a:rPr>
                              <m:t>a</m:t>
                            </m:r>
                          </m:e>
                          <m:sub>
                            <m:r>
                              <a:rPr lang="en-US" altLang="zh-TW" b="0" i="0" smtClean="0">
                                <a:latin typeface="Cambria Math"/>
                              </a:rPr>
                              <m:t>1</m:t>
                            </m:r>
                          </m:sub>
                        </m:sSub>
                        <m:sSub>
                          <m:sSubPr>
                            <m:ctrlPr>
                              <a:rPr lang="en-US" altLang="zh-TW" i="1" smtClean="0">
                                <a:latin typeface="Cambria Math"/>
                              </a:rPr>
                            </m:ctrlPr>
                          </m:sSubPr>
                          <m:e>
                            <m:r>
                              <m:rPr>
                                <m:sty m:val="p"/>
                              </m:rPr>
                              <a:rPr lang="en-US" altLang="zh-TW" b="0" i="0" smtClean="0">
                                <a:latin typeface="Cambria Math"/>
                              </a:rPr>
                              <m:t>a</m:t>
                            </m:r>
                          </m:e>
                          <m:sub>
                            <m:r>
                              <a:rPr lang="en-US" altLang="zh-TW" b="0" i="0" smtClean="0">
                                <a:latin typeface="Cambria Math"/>
                              </a:rPr>
                              <m:t>2</m:t>
                            </m:r>
                          </m:sub>
                        </m:sSub>
                        <m:r>
                          <a:rPr lang="en-US" altLang="zh-TW" b="0" i="1" smtClean="0">
                            <a:latin typeface="Cambria Math"/>
                          </a:rPr>
                          <m:t>…</m:t>
                        </m:r>
                      </m:e>
                    </m:acc>
                    <m:r>
                      <a:rPr lang="en-US" altLang="zh-TW" b="0" i="1" smtClean="0">
                        <a:latin typeface="Cambria Math"/>
                      </a:rPr>
                      <m:t>,</m:t>
                    </m:r>
                  </m:oMath>
                </a14:m>
                <a:r>
                  <a:rPr lang="en-US" altLang="zh-TW" dirty="0" smtClean="0"/>
                  <a:t> </a:t>
                </a:r>
                <a14:m>
                  <m:oMath xmlns:m="http://schemas.openxmlformats.org/officeDocument/2006/math">
                    <m:acc>
                      <m:accPr>
                        <m:chr m:val="̅"/>
                        <m:ctrlPr>
                          <a:rPr lang="en-US" altLang="zh-TW" i="1" smtClean="0">
                            <a:latin typeface="Cambria Math"/>
                          </a:rPr>
                        </m:ctrlPr>
                      </m:accPr>
                      <m:e>
                        <m:sSub>
                          <m:sSubPr>
                            <m:ctrlPr>
                              <a:rPr lang="en-US" altLang="zh-TW" i="1" smtClean="0">
                                <a:latin typeface="Cambria Math"/>
                              </a:rPr>
                            </m:ctrlPr>
                          </m:sSubPr>
                          <m:e>
                            <m:r>
                              <m:rPr>
                                <m:sty m:val="p"/>
                              </m:rPr>
                              <a:rPr lang="en-US" altLang="zh-TW" b="0" i="0" smtClean="0">
                                <a:latin typeface="Cambria Math"/>
                              </a:rPr>
                              <m:t>b</m:t>
                            </m:r>
                          </m:e>
                          <m:sub>
                            <m:r>
                              <a:rPr lang="en-US" altLang="zh-TW" b="0" i="0" smtClean="0">
                                <a:latin typeface="Cambria Math"/>
                              </a:rPr>
                              <m:t>1</m:t>
                            </m:r>
                          </m:sub>
                        </m:sSub>
                        <m:sSub>
                          <m:sSubPr>
                            <m:ctrlPr>
                              <a:rPr lang="en-US" altLang="zh-TW" i="1" smtClean="0">
                                <a:latin typeface="Cambria Math"/>
                              </a:rPr>
                            </m:ctrlPr>
                          </m:sSubPr>
                          <m:e>
                            <m:r>
                              <m:rPr>
                                <m:nor/>
                              </m:rPr>
                              <a:rPr lang="en-US" altLang="zh-TW" b="0" i="0" smtClean="0">
                                <a:latin typeface="Cambria Math"/>
                              </a:rPr>
                              <m:t>b</m:t>
                            </m:r>
                          </m:e>
                          <m:sub>
                            <m:r>
                              <a:rPr lang="en-US" altLang="zh-TW" b="0" i="0" smtClean="0">
                                <a:latin typeface="Cambria Math"/>
                              </a:rPr>
                              <m:t>2</m:t>
                            </m:r>
                          </m:sub>
                        </m:sSub>
                        <m:r>
                          <a:rPr lang="en-US" altLang="zh-TW" b="0" i="1" smtClean="0">
                            <a:latin typeface="Cambria Math"/>
                          </a:rPr>
                          <m:t>…</m:t>
                        </m:r>
                      </m:e>
                    </m:acc>
                  </m:oMath>
                </a14:m>
                <a:r>
                  <a:rPr lang="en-US" altLang="zh-TW" dirty="0" smtClean="0"/>
                  <a:t>) = min d(</a:t>
                </a:r>
                <a14:m>
                  <m:oMath xmlns:m="http://schemas.openxmlformats.org/officeDocument/2006/math">
                    <m:sSub>
                      <m:sSubPr>
                        <m:ctrlPr>
                          <a:rPr lang="en-US" altLang="zh-TW" i="1" smtClean="0">
                            <a:latin typeface="Cambria Math"/>
                          </a:rPr>
                        </m:ctrlPr>
                      </m:sSubPr>
                      <m:e>
                        <m:r>
                          <m:rPr>
                            <m:sty m:val="p"/>
                          </m:rPr>
                          <a:rPr lang="en-US" altLang="zh-TW" b="0" i="0" smtClean="0">
                            <a:latin typeface="Cambria Math"/>
                          </a:rPr>
                          <m:t>a</m:t>
                        </m:r>
                      </m:e>
                      <m:sub>
                        <m:r>
                          <a:rPr lang="en-US" altLang="zh-TW" b="0" i="0" smtClean="0">
                            <a:latin typeface="Cambria Math"/>
                          </a:rPr>
                          <m:t>1</m:t>
                        </m:r>
                      </m:sub>
                    </m:sSub>
                    <m:sSub>
                      <m:sSubPr>
                        <m:ctrlPr>
                          <a:rPr lang="en-US" altLang="zh-TW" i="1" smtClean="0">
                            <a:latin typeface="Cambria Math"/>
                          </a:rPr>
                        </m:ctrlPr>
                      </m:sSubPr>
                      <m:e>
                        <m:r>
                          <m:rPr>
                            <m:sty m:val="p"/>
                          </m:rPr>
                          <a:rPr lang="en-US" altLang="zh-TW" b="0" i="0" smtClean="0">
                            <a:latin typeface="Cambria Math"/>
                          </a:rPr>
                          <m:t>a</m:t>
                        </m:r>
                      </m:e>
                      <m:sub>
                        <m:r>
                          <a:rPr lang="en-US" altLang="zh-TW" b="0" i="0" smtClean="0">
                            <a:latin typeface="Cambria Math"/>
                          </a:rPr>
                          <m:t>2</m:t>
                        </m:r>
                      </m:sub>
                    </m:sSub>
                    <m:r>
                      <a:rPr lang="en-US" altLang="zh-TW" b="0" i="1" smtClean="0">
                        <a:latin typeface="Cambria Math"/>
                      </a:rPr>
                      <m:t>…</m:t>
                    </m:r>
                  </m:oMath>
                </a14:m>
                <a:r>
                  <a:rPr lang="en-US" altLang="zh-TW" dirty="0" smtClean="0"/>
                  <a:t>, </a:t>
                </a:r>
                <a14:m>
                  <m:oMath xmlns:m="http://schemas.openxmlformats.org/officeDocument/2006/math">
                    <m:sSub>
                      <m:sSubPr>
                        <m:ctrlPr>
                          <a:rPr lang="en-US" altLang="zh-TW" i="1" smtClean="0">
                            <a:latin typeface="Cambria Math"/>
                          </a:rPr>
                        </m:ctrlPr>
                      </m:sSubPr>
                      <m:e>
                        <m:r>
                          <m:rPr>
                            <m:sty m:val="p"/>
                          </m:rPr>
                          <a:rPr lang="en-US" altLang="zh-TW" b="0" i="0" smtClean="0">
                            <a:latin typeface="Cambria Math"/>
                          </a:rPr>
                          <m:t>b</m:t>
                        </m:r>
                      </m:e>
                      <m:sub>
                        <m:r>
                          <a:rPr lang="en-US" altLang="zh-TW" b="0" i="0" smtClean="0">
                            <a:latin typeface="Cambria Math"/>
                          </a:rPr>
                          <m:t>1</m:t>
                        </m:r>
                      </m:sub>
                    </m:sSub>
                    <m:sSub>
                      <m:sSubPr>
                        <m:ctrlPr>
                          <a:rPr lang="en-US" altLang="zh-TW" i="1" smtClean="0">
                            <a:latin typeface="Cambria Math"/>
                          </a:rPr>
                        </m:ctrlPr>
                      </m:sSubPr>
                      <m:e>
                        <m:r>
                          <m:rPr>
                            <m:sty m:val="p"/>
                          </m:rPr>
                          <a:rPr lang="en-US" altLang="zh-TW" b="0" i="0" smtClean="0">
                            <a:latin typeface="Cambria Math"/>
                          </a:rPr>
                          <m:t>b</m:t>
                        </m:r>
                      </m:e>
                      <m:sub>
                        <m:r>
                          <a:rPr lang="en-US" altLang="zh-TW" b="0" i="0" smtClean="0">
                            <a:latin typeface="Cambria Math"/>
                          </a:rPr>
                          <m:t>2</m:t>
                        </m:r>
                      </m:sub>
                    </m:sSub>
                  </m:oMath>
                </a14:m>
                <a:r>
                  <a:rPr lang="en-US" altLang="zh-TW" dirty="0" smtClean="0"/>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78624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p:sp>
        <p:nvSpPr>
          <p:cNvPr id="3" name="內容版面配置區 2"/>
          <p:cNvSpPr>
            <a:spLocks noGrp="1"/>
          </p:cNvSpPr>
          <p:nvPr>
            <p:ph idx="1"/>
          </p:nvPr>
        </p:nvSpPr>
        <p:spPr>
          <a:xfrm>
            <a:off x="539552" y="5445224"/>
            <a:ext cx="8219256" cy="1252736"/>
          </a:xfrm>
        </p:spPr>
        <p:txBody>
          <a:bodyPr>
            <a:normAutofit fontScale="92500"/>
          </a:bodyPr>
          <a:lstStyle/>
          <a:p>
            <a:pPr marL="0" indent="0">
              <a:buNone/>
            </a:pPr>
            <a:r>
              <a:rPr lang="en-US" altLang="zh-TW" dirty="0" smtClean="0"/>
              <a:t>assumption that d is given by</a:t>
            </a:r>
          </a:p>
          <a:p>
            <a:pPr marL="0" indent="0">
              <a:buNone/>
            </a:pPr>
            <a:r>
              <a:rPr lang="en-US" altLang="zh-TW" dirty="0" smtClean="0"/>
              <a:t>1 = d(1,a) = d(1,b) = d(1,c) = d(</a:t>
            </a:r>
            <a:r>
              <a:rPr lang="en-US" altLang="zh-TW" dirty="0" err="1" smtClean="0"/>
              <a:t>a,b</a:t>
            </a:r>
            <a:r>
              <a:rPr lang="en-US" altLang="zh-TW" dirty="0" smtClean="0"/>
              <a:t>) = d(</a:t>
            </a:r>
            <a:r>
              <a:rPr lang="en-US" altLang="zh-TW" dirty="0" err="1" smtClean="0"/>
              <a:t>a,c</a:t>
            </a:r>
            <a:r>
              <a:rPr lang="en-US" altLang="zh-TW" dirty="0" smtClean="0"/>
              <a:t>) = d(</a:t>
            </a:r>
            <a:r>
              <a:rPr lang="en-US" altLang="zh-TW" dirty="0" err="1" smtClean="0"/>
              <a:t>b,c</a:t>
            </a:r>
            <a:r>
              <a:rPr lang="en-US" altLang="zh-TW" dirty="0" smtClean="0"/>
              <a:t>)</a:t>
            </a:r>
            <a:endParaRPr lang="zh-TW" altLang="en-US" dirty="0"/>
          </a:p>
        </p:txBody>
      </p:sp>
      <p:graphicFrame>
        <p:nvGraphicFramePr>
          <p:cNvPr id="4" name="內容版面配置區 3"/>
          <p:cNvGraphicFramePr>
            <a:graphicFrameLocks/>
          </p:cNvGraphicFramePr>
          <p:nvPr>
            <p:extLst>
              <p:ext uri="{D42A27DB-BD31-4B8C-83A1-F6EECF244321}">
                <p14:modId xmlns:p14="http://schemas.microsoft.com/office/powerpoint/2010/main" val="971057897"/>
              </p:ext>
            </p:extLst>
          </p:nvPr>
        </p:nvGraphicFramePr>
        <p:xfrm>
          <a:off x="1547663" y="1124744"/>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Tree>
    <p:extLst>
      <p:ext uri="{BB962C8B-B14F-4D97-AF65-F5344CB8AC3E}">
        <p14:creationId xmlns:p14="http://schemas.microsoft.com/office/powerpoint/2010/main" val="1822533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5013176"/>
                <a:ext cx="8856984" cy="1684784"/>
              </a:xfrm>
            </p:spPr>
            <p:txBody>
              <a:bodyPr>
                <a:normAutofit/>
              </a:bodyPr>
              <a:lstStyle/>
              <a:p>
                <a:pPr marL="0" indent="0">
                  <a:buNone/>
                </a:pP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(1,1), </a:t>
                </a: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a:t>
                </a:r>
                <a:r>
                  <a:rPr lang="en-US" altLang="zh-TW" sz="3000" dirty="0"/>
                  <a:t>A</a:t>
                </a:r>
                <a:r>
                  <a:rPr lang="en-US" altLang="zh-TW" sz="3000" dirty="0" smtClean="0"/>
                  <a:t>,1), </a:t>
                </a: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(AC,1), </a:t>
                </a: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(ACB,1), </a:t>
                </a: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(ACBB,1), </a:t>
                </a: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(ACBBA,1)</a:t>
                </a:r>
              </a:p>
              <a:p>
                <a:pPr marL="0" indent="0">
                  <a:buNone/>
                </a:pP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(1,A), </a:t>
                </a:r>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(1,AB),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(1,ABC),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(1,ABCA)</a:t>
                </a: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5013176"/>
                <a:ext cx="8856984" cy="1684784"/>
              </a:xfrm>
              <a:blipFill rotWithShape="1">
                <a:blip r:embed="rId2"/>
                <a:stretch>
                  <a:fillRect t="-3610" r="-1445"/>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929670556"/>
              </p:ext>
            </p:extLst>
          </p:nvPr>
        </p:nvGraphicFramePr>
        <p:xfrm>
          <a:off x="1547663" y="1124744"/>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Tree>
    <p:extLst>
      <p:ext uri="{BB962C8B-B14F-4D97-AF65-F5344CB8AC3E}">
        <p14:creationId xmlns:p14="http://schemas.microsoft.com/office/powerpoint/2010/main" val="221899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797152"/>
                <a:ext cx="8856984" cy="2060848"/>
              </a:xfrm>
            </p:spPr>
            <p:txBody>
              <a:bodyPr>
                <a:normAutofit lnSpcReduction="10000"/>
              </a:bodyPr>
              <a:lstStyle/>
              <a:p>
                <a:pPr marL="0" indent="0">
                  <a:buNone/>
                </a:pPr>
                <a:r>
                  <a:rPr lang="en-US" altLang="zh-TW" sz="2800" dirty="0" smtClean="0"/>
                  <a:t>Example :  construct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(AC,AB)</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(AC,A)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(1,B)   = 1 + 1 = 2</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(A,A)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C</a:t>
                </a:r>
                <a:r>
                  <a:rPr lang="en-US" altLang="zh-TW" sz="2800" dirty="0" smtClean="0"/>
                  <a:t>,B)   = 0 + 1 = 1 </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(A,AB)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(C,1)   = 1 + 1 = 2</a:t>
                </a:r>
              </a:p>
              <a:p>
                <a:pPr marL="0" indent="0">
                  <a:buNone/>
                </a:pPr>
                <a:endParaRPr lang="en-US" altLang="zh-TW" sz="2800" dirty="0" smtClean="0"/>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797152"/>
                <a:ext cx="8856984" cy="2060848"/>
              </a:xfrm>
              <a:blipFill rotWithShape="1">
                <a:blip r:embed="rId2"/>
                <a:stretch>
                  <a:fillRect l="-1445" t="-4142" b="-2071"/>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1514294252"/>
              </p:ext>
            </p:extLst>
          </p:nvPr>
        </p:nvGraphicFramePr>
        <p:xfrm>
          <a:off x="1547663" y="908719"/>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
        <p:nvSpPr>
          <p:cNvPr id="5" name="矩形 4"/>
          <p:cNvSpPr/>
          <p:nvPr/>
        </p:nvSpPr>
        <p:spPr>
          <a:xfrm>
            <a:off x="4644008" y="2492896"/>
            <a:ext cx="864096" cy="432048"/>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3255425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797152"/>
                <a:ext cx="8856984" cy="2060848"/>
              </a:xfrm>
            </p:spPr>
            <p:txBody>
              <a:bodyPr>
                <a:normAutofit lnSpcReduction="10000"/>
              </a:bodyPr>
              <a:lstStyle/>
              <a:p>
                <a:pPr marL="0" indent="0">
                  <a:buNone/>
                </a:pPr>
                <a:r>
                  <a:rPr lang="en-US" altLang="zh-TW" sz="2800" dirty="0" smtClean="0"/>
                  <a:t>Example :  construct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(ACBB,ABCA)</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(ACBB,ABC)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(1,A)   = 2 + 1 = 3</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(ACB,ABC)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(B,A)   = 2 + 1 = </a:t>
                </a:r>
                <a:r>
                  <a:rPr lang="en-US" altLang="zh-TW" sz="2800" dirty="0"/>
                  <a:t>3</a:t>
                </a:r>
                <a:r>
                  <a:rPr lang="en-US" altLang="zh-TW" sz="2800" dirty="0" smtClean="0"/>
                  <a:t> </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(ACB,ABCA)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B</a:t>
                </a:r>
                <a:r>
                  <a:rPr lang="en-US" altLang="zh-TW" sz="2800" dirty="0" smtClean="0"/>
                  <a:t>,1)   = 2 + 1 = 3</a:t>
                </a:r>
              </a:p>
              <a:p>
                <a:pPr marL="0" indent="0">
                  <a:buNone/>
                </a:pPr>
                <a:endParaRPr lang="en-US" altLang="zh-TW" sz="2800" dirty="0" smtClean="0"/>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797152"/>
                <a:ext cx="8856984" cy="2060848"/>
              </a:xfrm>
              <a:blipFill rotWithShape="1">
                <a:blip r:embed="rId2"/>
                <a:stretch>
                  <a:fillRect l="-1445" t="-4142" b="-2071"/>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2338672811"/>
              </p:ext>
            </p:extLst>
          </p:nvPr>
        </p:nvGraphicFramePr>
        <p:xfrm>
          <a:off x="1547663" y="908719"/>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
        <p:nvSpPr>
          <p:cNvPr id="5" name="矩形 4"/>
          <p:cNvSpPr/>
          <p:nvPr/>
        </p:nvSpPr>
        <p:spPr>
          <a:xfrm>
            <a:off x="6660232" y="3501008"/>
            <a:ext cx="864096" cy="432048"/>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1156922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p:graphicFrame>
        <p:nvGraphicFramePr>
          <p:cNvPr id="4" name="內容版面配置區 3"/>
          <p:cNvGraphicFramePr>
            <a:graphicFrameLocks/>
          </p:cNvGraphicFramePr>
          <p:nvPr>
            <p:extLst>
              <p:ext uri="{D42A27DB-BD31-4B8C-83A1-F6EECF244321}">
                <p14:modId xmlns:p14="http://schemas.microsoft.com/office/powerpoint/2010/main" val="3847108773"/>
              </p:ext>
            </p:extLst>
          </p:nvPr>
        </p:nvGraphicFramePr>
        <p:xfrm>
          <a:off x="1547663" y="1484784"/>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mc:AlternateContent xmlns:mc="http://schemas.openxmlformats.org/markup-compatibility/2006" xmlns:a14="http://schemas.microsoft.com/office/drawing/2010/main">
        <mc:Choice Requires="a14">
          <p:sp>
            <p:nvSpPr>
              <p:cNvPr id="7" name="文字方塊 6"/>
              <p:cNvSpPr txBox="1"/>
              <p:nvPr/>
            </p:nvSpPr>
            <p:spPr>
              <a:xfrm>
                <a:off x="2123728" y="5517232"/>
                <a:ext cx="4824536" cy="564385"/>
              </a:xfrm>
              <a:prstGeom prst="rect">
                <a:avLst/>
              </a:prstGeom>
              <a:noFill/>
            </p:spPr>
            <p:txBody>
              <a:bodyPr wrap="square" rtlCol="0">
                <a:spAutoFit/>
              </a:bodyPr>
              <a:lstStyle/>
              <a:p>
                <a14:m>
                  <m:oMath xmlns:m="http://schemas.openxmlformats.org/officeDocument/2006/math">
                    <m:acc>
                      <m:accPr>
                        <m:chr m:val="̅"/>
                        <m:ctrlPr>
                          <a:rPr lang="en-US" altLang="zh-TW" sz="3000" i="1" smtClean="0">
                            <a:latin typeface="Cambria Math"/>
                          </a:rPr>
                        </m:ctrlPr>
                      </m:accPr>
                      <m:e>
                        <m:r>
                          <m:rPr>
                            <m:nor/>
                          </m:rPr>
                          <a:rPr lang="en-US" altLang="zh-TW" sz="3000" b="0" i="0" smtClean="0">
                            <a:latin typeface="Cambria Math"/>
                          </a:rPr>
                          <m:t>d</m:t>
                        </m:r>
                      </m:e>
                    </m:acc>
                  </m:oMath>
                </a14:m>
                <a:r>
                  <a:rPr lang="en-US" altLang="zh-TW" sz="3000" dirty="0" smtClean="0"/>
                  <a:t>(ACBBA,ABCA) = 2</a:t>
                </a:r>
                <a:endParaRPr lang="zh-TW" altLang="en-US" sz="30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123728" y="5517232"/>
                <a:ext cx="4824536" cy="564385"/>
              </a:xfrm>
              <a:prstGeom prst="rect">
                <a:avLst/>
              </a:prstGeom>
              <a:blipFill rotWithShape="1">
                <a:blip r:embed="rId2"/>
                <a:stretch>
                  <a:fillRect t="-10753" b="-33333"/>
                </a:stretch>
              </a:blipFill>
            </p:spPr>
            <p:txBody>
              <a:bodyPr/>
              <a:lstStyle/>
              <a:p>
                <a:r>
                  <a:rPr lang="zh-TW" altLang="en-US">
                    <a:noFill/>
                  </a:rPr>
                  <a:t> </a:t>
                </a:r>
              </a:p>
            </p:txBody>
          </p:sp>
        </mc:Fallback>
      </mc:AlternateContent>
      <p:sp>
        <p:nvSpPr>
          <p:cNvPr id="8" name="矩形 7"/>
          <p:cNvSpPr/>
          <p:nvPr/>
        </p:nvSpPr>
        <p:spPr>
          <a:xfrm>
            <a:off x="6660232" y="4581128"/>
            <a:ext cx="864096" cy="432048"/>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29364199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509120"/>
                <a:ext cx="8856984" cy="2348880"/>
              </a:xfrm>
            </p:spPr>
            <p:txBody>
              <a:bodyPr>
                <a:normAutofit lnSpcReduction="10000"/>
              </a:bodyPr>
              <a:lstStyle/>
              <a:p>
                <a:pPr marL="0" indent="0">
                  <a:buNone/>
                </a:pPr>
                <a:r>
                  <a:rPr lang="en-US" altLang="zh-TW" sz="2800" dirty="0" smtClean="0"/>
                  <a:t>find the best match: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(ACBBA,ABCA) was derived by</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(ACBBA,ABC)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(1,A)   = 3 + 1 = 4</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(ACBB,ABC)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A</a:t>
                </a:r>
                <a:r>
                  <a:rPr lang="en-US" altLang="zh-TW" sz="2800" dirty="0" smtClean="0"/>
                  <a:t>,A)   = 2 + 0 = 2 </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(ACBB,ABCA)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(A,1)   = 3 + 1 = 4</a:t>
                </a:r>
                <a:br>
                  <a:rPr lang="en-US" altLang="zh-TW" sz="2800" dirty="0" smtClean="0"/>
                </a:b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(ACBB,ABC)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A</a:t>
                </a:r>
                <a:r>
                  <a:rPr lang="en-US" altLang="zh-TW" sz="2800" dirty="0" smtClean="0"/>
                  <a:t>,A) is the minimum</a:t>
                </a:r>
              </a:p>
              <a:p>
                <a:pPr marL="0" indent="0">
                  <a:buNone/>
                </a:pPr>
                <a:endParaRPr lang="en-US" altLang="zh-TW" sz="2800" dirty="0" smtClean="0"/>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509120"/>
                <a:ext cx="8856984" cy="2348880"/>
              </a:xfrm>
              <a:blipFill rotWithShape="1">
                <a:blip r:embed="rId2"/>
                <a:stretch>
                  <a:fillRect l="-1445" t="-3636" b="-6234"/>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4122814750"/>
              </p:ext>
            </p:extLst>
          </p:nvPr>
        </p:nvGraphicFramePr>
        <p:xfrm>
          <a:off x="1547663" y="836712"/>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6" name="直線單箭頭接點 5"/>
          <p:cNvCxnSpPr/>
          <p:nvPr/>
        </p:nvCxnSpPr>
        <p:spPr>
          <a:xfrm flipH="1" flipV="1">
            <a:off x="6372200" y="3789040"/>
            <a:ext cx="432048" cy="28803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82306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509120"/>
                <a:ext cx="8856984" cy="2348880"/>
              </a:xfrm>
            </p:spPr>
            <p:txBody>
              <a:bodyPr>
                <a:normAutofit lnSpcReduction="10000"/>
              </a:bodyPr>
              <a:lstStyle/>
              <a:p>
                <a:pPr marL="0" indent="0">
                  <a:buNone/>
                </a:pP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(ACBB,ABC) was derived by</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(ACBB,AB)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(1,C)   = 2 + 1 = 3</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(ACB,AB)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(B,C)  = 1 + </a:t>
                </a:r>
                <a:r>
                  <a:rPr lang="en-US" altLang="zh-TW" sz="2800" dirty="0"/>
                  <a:t>1</a:t>
                </a:r>
                <a:r>
                  <a:rPr lang="en-US" altLang="zh-TW" sz="2800" dirty="0" smtClean="0"/>
                  <a:t> = 2 </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(ACB,ABC)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B</a:t>
                </a:r>
                <a:r>
                  <a:rPr lang="en-US" altLang="zh-TW" sz="2800" dirty="0" smtClean="0"/>
                  <a:t>,1)   = 2 + 1 = </a:t>
                </a:r>
                <a:r>
                  <a:rPr lang="en-US" altLang="zh-TW" sz="2800" dirty="0"/>
                  <a:t>3</a:t>
                </a:r>
                <a:r>
                  <a:rPr lang="en-US" altLang="zh-TW" sz="2800" dirty="0" smtClean="0"/>
                  <a:t/>
                </a:r>
                <a:br>
                  <a:rPr lang="en-US" altLang="zh-TW" sz="2800" dirty="0" smtClean="0"/>
                </a:b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(ACB,AB)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(B,C) is the minimum </a:t>
                </a:r>
              </a:p>
              <a:p>
                <a:pPr marL="0" indent="0">
                  <a:buNone/>
                </a:pPr>
                <a:endParaRPr lang="en-US" altLang="zh-TW" sz="2800" dirty="0" smtClean="0"/>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509120"/>
                <a:ext cx="8856984" cy="2348880"/>
              </a:xfrm>
              <a:blipFill rotWithShape="1">
                <a:blip r:embed="rId2"/>
                <a:stretch>
                  <a:fillRect t="-3636" b="-6234"/>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3675124451"/>
              </p:ext>
            </p:extLst>
          </p:nvPr>
        </p:nvGraphicFramePr>
        <p:xfrm>
          <a:off x="1547663" y="836712"/>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5" name="直線單箭頭接點 4"/>
          <p:cNvCxnSpPr/>
          <p:nvPr/>
        </p:nvCxnSpPr>
        <p:spPr>
          <a:xfrm flipH="1" flipV="1">
            <a:off x="6372200" y="3789040"/>
            <a:ext cx="432048" cy="28803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 name="直線單箭頭接點 5"/>
          <p:cNvCxnSpPr/>
          <p:nvPr/>
        </p:nvCxnSpPr>
        <p:spPr>
          <a:xfrm flipH="1" flipV="1">
            <a:off x="5292080" y="3212976"/>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24690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509120"/>
                <a:ext cx="8856984" cy="2348880"/>
              </a:xfrm>
            </p:spPr>
            <p:txBody>
              <a:bodyPr>
                <a:normAutofit lnSpcReduction="10000"/>
              </a:bodyPr>
              <a:lstStyle/>
              <a:p>
                <a:pPr marL="0" indent="0">
                  <a:buNone/>
                </a:pP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(ACB,AB) was derived by</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(ACB,A)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(1,B)   = 2 + 1 = 3</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(AC,A)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(B,B)  = 1 + 0 = </a:t>
                </a:r>
                <a:r>
                  <a:rPr lang="en-US" altLang="zh-TW" sz="2800" dirty="0"/>
                  <a:t>1</a:t>
                </a:r>
                <a:r>
                  <a:rPr lang="en-US" altLang="zh-TW" sz="2800" dirty="0" smtClean="0"/>
                  <a:t> </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(AC,AB)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B</a:t>
                </a:r>
                <a:r>
                  <a:rPr lang="en-US" altLang="zh-TW" sz="2800" dirty="0" smtClean="0"/>
                  <a:t>,1)   = 1 + 1 = 2</a:t>
                </a:r>
                <a:br>
                  <a:rPr lang="en-US" altLang="zh-TW" sz="2800" dirty="0" smtClean="0"/>
                </a:b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(AC,A)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(B,B) is the minimum </a:t>
                </a:r>
              </a:p>
              <a:p>
                <a:pPr marL="0" indent="0">
                  <a:buNone/>
                </a:pPr>
                <a:endParaRPr lang="en-US" altLang="zh-TW" sz="2800" dirty="0" smtClean="0"/>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509120"/>
                <a:ext cx="8856984" cy="2348880"/>
              </a:xfrm>
              <a:blipFill rotWithShape="1">
                <a:blip r:embed="rId2"/>
                <a:stretch>
                  <a:fillRect t="-3636" b="-6234"/>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1315028477"/>
              </p:ext>
            </p:extLst>
          </p:nvPr>
        </p:nvGraphicFramePr>
        <p:xfrm>
          <a:off x="1547663" y="836712"/>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5" name="直線單箭頭接點 4"/>
          <p:cNvCxnSpPr/>
          <p:nvPr/>
        </p:nvCxnSpPr>
        <p:spPr>
          <a:xfrm flipH="1" flipV="1">
            <a:off x="6372200" y="3789040"/>
            <a:ext cx="432048" cy="28803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 name="直線單箭頭接點 5"/>
          <p:cNvCxnSpPr/>
          <p:nvPr/>
        </p:nvCxnSpPr>
        <p:spPr>
          <a:xfrm flipH="1" flipV="1">
            <a:off x="5292080" y="3212976"/>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線單箭頭接點 6"/>
          <p:cNvCxnSpPr/>
          <p:nvPr/>
        </p:nvCxnSpPr>
        <p:spPr>
          <a:xfrm flipH="1" flipV="1">
            <a:off x="4283968" y="2636912"/>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276234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509120"/>
                <a:ext cx="8856984" cy="2348880"/>
              </a:xfrm>
            </p:spPr>
            <p:txBody>
              <a:bodyPr>
                <a:normAutofit lnSpcReduction="10000"/>
              </a:bodyPr>
              <a:lstStyle/>
              <a:p>
                <a:pPr marL="0" indent="0">
                  <a:buNone/>
                </a:pP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(AC,A) was derived by</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(AC,1)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(1,A)   = 2 + 1 = 3</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(A,1)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t>
                </a:r>
                <a:r>
                  <a:rPr lang="en-US" altLang="zh-TW" sz="2800" dirty="0"/>
                  <a:t>C</a:t>
                </a:r>
                <a:r>
                  <a:rPr lang="en-US" altLang="zh-TW" sz="2800" dirty="0" smtClean="0"/>
                  <a:t>,A)  = 1 + </a:t>
                </a:r>
                <a:r>
                  <a:rPr lang="en-US" altLang="zh-TW" sz="2800" dirty="0"/>
                  <a:t>1</a:t>
                </a:r>
                <a:r>
                  <a:rPr lang="en-US" altLang="zh-TW" sz="2800" dirty="0" smtClean="0"/>
                  <a:t> = 2 </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(A,A)  +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(C,1)   = 0 + 1 = 1</a:t>
                </a:r>
                <a:br>
                  <a:rPr lang="en-US" altLang="zh-TW" sz="2800" dirty="0" smtClean="0"/>
                </a:b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(A,A) +</a:t>
                </a:r>
                <a14:m>
                  <m:oMath xmlns:m="http://schemas.openxmlformats.org/officeDocument/2006/math">
                    <m:r>
                      <a:rPr lang="en-US" altLang="zh-TW" sz="2800" b="0" i="0" smtClean="0">
                        <a:latin typeface="Cambria Math"/>
                      </a:rPr>
                      <m:t> </m:t>
                    </m:r>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(C,1) is the minimum </a:t>
                </a:r>
              </a:p>
              <a:p>
                <a:pPr marL="0" indent="0">
                  <a:buNone/>
                </a:pPr>
                <a:endParaRPr lang="en-US" altLang="zh-TW" sz="2800" dirty="0" smtClean="0"/>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509120"/>
                <a:ext cx="8856984" cy="2348880"/>
              </a:xfrm>
              <a:blipFill rotWithShape="1">
                <a:blip r:embed="rId2"/>
                <a:stretch>
                  <a:fillRect t="-3636" b="-6234"/>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3796383534"/>
              </p:ext>
            </p:extLst>
          </p:nvPr>
        </p:nvGraphicFramePr>
        <p:xfrm>
          <a:off x="1547663" y="836712"/>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5" name="直線單箭頭接點 4"/>
          <p:cNvCxnSpPr/>
          <p:nvPr/>
        </p:nvCxnSpPr>
        <p:spPr>
          <a:xfrm flipH="1" flipV="1">
            <a:off x="6372200" y="3789040"/>
            <a:ext cx="432048" cy="28803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 name="直線單箭頭接點 5"/>
          <p:cNvCxnSpPr/>
          <p:nvPr/>
        </p:nvCxnSpPr>
        <p:spPr>
          <a:xfrm flipH="1" flipV="1">
            <a:off x="5292080" y="3212976"/>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線單箭頭接點 6"/>
          <p:cNvCxnSpPr/>
          <p:nvPr/>
        </p:nvCxnSpPr>
        <p:spPr>
          <a:xfrm flipH="1" flipV="1">
            <a:off x="4283968" y="2636912"/>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直線單箭頭接點 7"/>
          <p:cNvCxnSpPr/>
          <p:nvPr/>
        </p:nvCxnSpPr>
        <p:spPr>
          <a:xfrm flipV="1">
            <a:off x="3779912" y="2234404"/>
            <a:ext cx="0" cy="40250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65889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07504" y="4509120"/>
                <a:ext cx="8856984" cy="2348880"/>
              </a:xfrm>
            </p:spPr>
            <p:txBody>
              <a:bodyPr>
                <a:normAutofit/>
              </a:bodyPr>
              <a:lstStyle/>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(ACBBA,ABCA) = d(A,A) + d(C,1) + d(B,B) + d(B,C) + d(A,A)</a:t>
                </a:r>
              </a:p>
              <a:p>
                <a:pPr marL="0" indent="0">
                  <a:buNone/>
                </a:pPr>
                <a:r>
                  <a:rPr lang="en-US" altLang="zh-TW" sz="2800" dirty="0" smtClean="0"/>
                  <a:t> </a:t>
                </a:r>
                <a14:m>
                  <m:oMath xmlns:m="http://schemas.openxmlformats.org/officeDocument/2006/math">
                    <m:acc>
                      <m:accPr>
                        <m:chr m:val="̅"/>
                        <m:ctrlPr>
                          <a:rPr lang="en-US" altLang="zh-TW" sz="2800" i="1" smtClean="0">
                            <a:latin typeface="Cambria Math"/>
                          </a:rPr>
                        </m:ctrlPr>
                      </m:accPr>
                      <m:e>
                        <m:r>
                          <m:rPr>
                            <m:nor/>
                          </m:rPr>
                          <a:rPr lang="en-US" altLang="zh-TW" sz="2800" b="0" i="0" smtClean="0">
                            <a:latin typeface="Cambria Math"/>
                          </a:rPr>
                          <m:t>d</m:t>
                        </m:r>
                      </m:e>
                    </m:acc>
                  </m:oMath>
                </a14:m>
                <a:r>
                  <a:rPr lang="en-US" altLang="zh-TW" sz="2800" dirty="0" smtClean="0"/>
                  <a:t>(ACBBA,ABCA) = d(ACBBA, A1BCA)</a:t>
                </a:r>
              </a:p>
              <a:p>
                <a:pPr marL="0" indent="0">
                  <a:buNone/>
                </a:pPr>
                <a:r>
                  <a:rPr lang="en-US" altLang="zh-TW" sz="2800" dirty="0" smtClean="0"/>
                  <a:t>Alignment : ACBBA</a:t>
                </a:r>
                <a:br>
                  <a:rPr lang="en-US" altLang="zh-TW" sz="2800" dirty="0" smtClean="0"/>
                </a:br>
                <a:r>
                  <a:rPr lang="en-US" altLang="zh-TW" sz="2800" dirty="0" smtClean="0"/>
                  <a:t>                     A _BCA</a:t>
                </a:r>
              </a:p>
              <a:p>
                <a:pPr marL="0" indent="0">
                  <a:buNone/>
                </a:pPr>
                <a:endParaRPr lang="zh-TW" altLang="en-US" sz="3600" dirty="0"/>
              </a:p>
              <a:p>
                <a:pPr marL="0" indent="0">
                  <a:buNone/>
                </a:pPr>
                <a:endParaRPr lang="zh-TW" altLang="en-US" sz="3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07504" y="4509120"/>
                <a:ext cx="8856984" cy="2348880"/>
              </a:xfrm>
              <a:blipFill rotWithShape="1">
                <a:blip r:embed="rId2"/>
                <a:stretch>
                  <a:fillRect l="-1445" t="-1818"/>
                </a:stretch>
              </a:blipFill>
            </p:spPr>
            <p:txBody>
              <a:bodyPr/>
              <a:lstStyle/>
              <a:p>
                <a:r>
                  <a:rPr lang="zh-TW" altLang="en-US">
                    <a:noFill/>
                  </a:rPr>
                  <a:t> </a:t>
                </a:r>
              </a:p>
            </p:txBody>
          </p:sp>
        </mc:Fallback>
      </mc:AlternateContent>
      <p:graphicFrame>
        <p:nvGraphicFramePr>
          <p:cNvPr id="4" name="內容版面配置區 3"/>
          <p:cNvGraphicFramePr>
            <a:graphicFrameLocks/>
          </p:cNvGraphicFramePr>
          <p:nvPr>
            <p:extLst>
              <p:ext uri="{D42A27DB-BD31-4B8C-83A1-F6EECF244321}">
                <p14:modId xmlns:p14="http://schemas.microsoft.com/office/powerpoint/2010/main" val="2451840400"/>
              </p:ext>
            </p:extLst>
          </p:nvPr>
        </p:nvGraphicFramePr>
        <p:xfrm>
          <a:off x="1547663" y="836712"/>
          <a:ext cx="6048673" cy="3600401"/>
        </p:xfrm>
        <a:graphic>
          <a:graphicData uri="http://schemas.openxmlformats.org/drawingml/2006/table">
            <a:tbl>
              <a:tblPr firstRow="1" firstCol="1" bandRow="1"/>
              <a:tblGrid>
                <a:gridCol w="979812"/>
                <a:gridCol w="1013771"/>
                <a:gridCol w="1010376"/>
                <a:gridCol w="1010376"/>
                <a:gridCol w="1017169"/>
                <a:gridCol w="1017169"/>
              </a:tblGrid>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sz="3200" kern="100" dirty="0">
                          <a:effectLst/>
                        </a:rPr>
                        <a:t> </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1</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A</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B</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kern="100" dirty="0" smtClean="0">
                          <a:effectLst/>
                          <a:latin typeface="+mn-lt"/>
                          <a:ea typeface="+mn-ea"/>
                          <a:cs typeface="+mn-cs"/>
                        </a:rPr>
                        <a:t>C</a:t>
                      </a:r>
                      <a:endParaRPr lang="zh-TW" sz="3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1</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A</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0</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C</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1</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2</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solidFill>
                            <a:schemeClr val="tx1"/>
                          </a:solidFill>
                          <a:latin typeface="微軟正黑體" panose="020B0604030504040204" pitchFamily="34" charset="-120"/>
                          <a:ea typeface="微軟正黑體" panose="020B0604030504040204" pitchFamily="34" charset="-120"/>
                        </a:rPr>
                        <a:t>1</a:t>
                      </a:r>
                      <a:endParaRPr lang="zh-TW" altLang="en-US" sz="3200" dirty="0">
                        <a:solidFill>
                          <a:schemeClr val="tx1"/>
                        </a:solidFill>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r>
              <a:tr h="51434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spcAft>
                          <a:spcPts val="0"/>
                        </a:spcAft>
                      </a:pPr>
                      <a:r>
                        <a:rPr lang="en-US" altLang="zh-TW" sz="3200" b="1" kern="100" dirty="0" smtClean="0">
                          <a:effectLst/>
                          <a:latin typeface="+mn-lt"/>
                          <a:ea typeface="+mn-ea"/>
                          <a:cs typeface="+mn-cs"/>
                        </a:rPr>
                        <a:t>B</a:t>
                      </a:r>
                      <a:endParaRPr lang="zh-TW" sz="3200" b="1"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r>
              <a:tr h="514343">
                <a:tc>
                  <a:txBody>
                    <a:bodyPr/>
                    <a:lstStyle/>
                    <a:p>
                      <a:pPr algn="ctr">
                        <a:spcAft>
                          <a:spcPts val="0"/>
                        </a:spcAft>
                      </a:pPr>
                      <a:r>
                        <a:rPr lang="en-US" altLang="zh-TW" sz="3200" b="1" kern="100" dirty="0" smtClean="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A</a:t>
                      </a:r>
                      <a:endParaRPr lang="zh-TW" sz="3200" b="1"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5</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4</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3</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p>
                      <a:pPr algn="ctr"/>
                      <a:r>
                        <a:rPr lang="en-US" altLang="zh-TW" sz="3200" dirty="0" smtClean="0">
                          <a:latin typeface="微軟正黑體" panose="020B0604030504040204" pitchFamily="34" charset="-120"/>
                          <a:ea typeface="微軟正黑體" panose="020B0604030504040204" pitchFamily="34" charset="-120"/>
                        </a:rPr>
                        <a:t>2</a:t>
                      </a:r>
                      <a:endParaRPr lang="zh-TW" altLang="en-US" sz="3200" dirty="0">
                        <a:latin typeface="微軟正黑體" panose="020B0604030504040204" pitchFamily="34" charset="-120"/>
                        <a:ea typeface="微軟正黑體" panose="020B0604030504040204" pitchFamily="34" charset="-120"/>
                      </a:endParaRPr>
                    </a:p>
                  </a:txBody>
                  <a:tcPr marL="68580" marR="68580" marT="0" marB="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cxnSp>
        <p:nvCxnSpPr>
          <p:cNvPr id="5" name="直線單箭頭接點 4"/>
          <p:cNvCxnSpPr/>
          <p:nvPr/>
        </p:nvCxnSpPr>
        <p:spPr>
          <a:xfrm flipH="1" flipV="1">
            <a:off x="6372200" y="3789040"/>
            <a:ext cx="432048" cy="28803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 name="直線單箭頭接點 5"/>
          <p:cNvCxnSpPr/>
          <p:nvPr/>
        </p:nvCxnSpPr>
        <p:spPr>
          <a:xfrm flipH="1" flipV="1">
            <a:off x="5292080" y="3212976"/>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線單箭頭接點 6"/>
          <p:cNvCxnSpPr/>
          <p:nvPr/>
        </p:nvCxnSpPr>
        <p:spPr>
          <a:xfrm flipH="1" flipV="1">
            <a:off x="4283968" y="2636912"/>
            <a:ext cx="576064" cy="3600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直線單箭頭接點 7"/>
          <p:cNvCxnSpPr/>
          <p:nvPr/>
        </p:nvCxnSpPr>
        <p:spPr>
          <a:xfrm flipV="1">
            <a:off x="3779912" y="2234404"/>
            <a:ext cx="0" cy="40250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12234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55576" y="1196752"/>
            <a:ext cx="7560840" cy="2403699"/>
          </a:xfrm>
        </p:spPr>
        <p:txBody>
          <a:bodyPr>
            <a:normAutofit/>
          </a:bodyPr>
          <a:lstStyle/>
          <a:p>
            <a:r>
              <a:rPr lang="en-US" altLang="zh-TW" sz="3600" dirty="0" smtClean="0">
                <a:latin typeface="微軟正黑體" panose="020B0604030504040204" pitchFamily="34" charset="-120"/>
                <a:ea typeface="微軟正黑體" panose="020B0604030504040204" pitchFamily="34" charset="-120"/>
              </a:rPr>
              <a:t>Comparative </a:t>
            </a:r>
            <a:r>
              <a:rPr lang="en-US" altLang="zh-TW" sz="3600" dirty="0" err="1" smtClean="0">
                <a:latin typeface="微軟正黑體" panose="020B0604030504040204" pitchFamily="34" charset="-120"/>
                <a:ea typeface="微軟正黑體" panose="020B0604030504040204" pitchFamily="34" charset="-120"/>
              </a:rPr>
              <a:t>Biosequence</a:t>
            </a:r>
            <a:r>
              <a:rPr lang="en-US" altLang="zh-TW" sz="3600" dirty="0" smtClean="0">
                <a:latin typeface="微軟正黑體" panose="020B0604030504040204" pitchFamily="34" charset="-120"/>
                <a:ea typeface="微軟正黑體" panose="020B0604030504040204" pitchFamily="34" charset="-120"/>
              </a:rPr>
              <a:t> Metrics</a:t>
            </a:r>
            <a:endParaRPr lang="zh-TW" altLang="en-US" sz="3600" dirty="0"/>
          </a:p>
        </p:txBody>
      </p:sp>
      <p:sp>
        <p:nvSpPr>
          <p:cNvPr id="3" name="副標題 2"/>
          <p:cNvSpPr>
            <a:spLocks noGrp="1"/>
          </p:cNvSpPr>
          <p:nvPr>
            <p:ph type="subTitle" idx="1"/>
          </p:nvPr>
        </p:nvSpPr>
        <p:spPr>
          <a:xfrm>
            <a:off x="0" y="3861048"/>
            <a:ext cx="9144000" cy="1752600"/>
          </a:xfrm>
        </p:spPr>
        <p:txBody>
          <a:bodyPr/>
          <a:lstStyle/>
          <a:p>
            <a:r>
              <a:rPr lang="en-US" altLang="zh-TW" dirty="0" smtClean="0">
                <a:solidFill>
                  <a:schemeClr val="tx1"/>
                </a:solidFill>
              </a:rPr>
              <a:t>T.F. Smith, M.S. Waterman, and W.M. Fitch </a:t>
            </a:r>
          </a:p>
          <a:p>
            <a:r>
              <a:rPr lang="en-US" altLang="zh-TW" dirty="0" smtClean="0">
                <a:solidFill>
                  <a:schemeClr val="tx1"/>
                </a:solidFill>
              </a:rPr>
              <a:t>Journal of Molecular Evolution 1981, pp.38-46</a:t>
            </a:r>
          </a:p>
        </p:txBody>
      </p:sp>
    </p:spTree>
    <p:extLst>
      <p:ext uri="{BB962C8B-B14F-4D97-AF65-F5344CB8AC3E}">
        <p14:creationId xmlns:p14="http://schemas.microsoft.com/office/powerpoint/2010/main" val="1074303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0"/>
            <a:ext cx="8229600" cy="1143000"/>
          </a:xfrm>
        </p:spPr>
        <p:txBody>
          <a:bodyPr>
            <a:normAutofit/>
          </a:bodyPr>
          <a:lstStyle/>
          <a:p>
            <a:r>
              <a:rPr lang="en-US" altLang="zh-TW" dirty="0" smtClean="0"/>
              <a:t>Abstract</a:t>
            </a:r>
            <a:endParaRPr lang="zh-TW" altLang="en-US" dirty="0"/>
          </a:p>
        </p:txBody>
      </p:sp>
      <p:sp>
        <p:nvSpPr>
          <p:cNvPr id="3" name="內容版面配置區 2"/>
          <p:cNvSpPr>
            <a:spLocks noGrp="1"/>
          </p:cNvSpPr>
          <p:nvPr>
            <p:ph idx="1"/>
          </p:nvPr>
        </p:nvSpPr>
        <p:spPr>
          <a:xfrm>
            <a:off x="179512" y="980728"/>
            <a:ext cx="8784976" cy="5760640"/>
          </a:xfrm>
        </p:spPr>
        <p:txBody>
          <a:bodyPr>
            <a:noAutofit/>
          </a:bodyPr>
          <a:lstStyle/>
          <a:p>
            <a:r>
              <a:rPr lang="en-US" altLang="zh-TW" sz="2300" dirty="0" smtClean="0"/>
              <a:t>The sequence alignment algorithms of Needleman and </a:t>
            </a:r>
            <a:r>
              <a:rPr lang="en-US" altLang="zh-TW" sz="2300" dirty="0" err="1" smtClean="0"/>
              <a:t>Wunsch</a:t>
            </a:r>
            <a:r>
              <a:rPr lang="en-US" altLang="zh-TW" sz="2300" dirty="0" smtClean="0"/>
              <a:t> (1970) and Sellers (1974) are compared. Although the former maximizes similarity and the latter minimizes differences, the two procedures are proven to be equivalent. The equivalence relations necessary for each procedure to give the same result are: 1, the weight assigned to gaps in the Sellers algorithm exceed that in the Needleman-</a:t>
            </a:r>
            <a:r>
              <a:rPr lang="en-US" altLang="zh-TW" sz="2300" dirty="0" err="1" smtClean="0"/>
              <a:t>Wunsch</a:t>
            </a:r>
            <a:r>
              <a:rPr lang="en-US" altLang="zh-TW" sz="2300" dirty="0" smtClean="0"/>
              <a:t> algorithm by exactly half the length of the gap times the maximum match value; and 2, for any pair of aligned elements, the degree of similarity assigned by the Needleman-</a:t>
            </a:r>
            <a:r>
              <a:rPr lang="en-US" altLang="zh-TW" sz="2300" dirty="0" err="1" smtClean="0"/>
              <a:t>Wunsch</a:t>
            </a:r>
            <a:r>
              <a:rPr lang="en-US" altLang="zh-TW" sz="2300" dirty="0" smtClean="0"/>
              <a:t> algorithm plus the degree of dissimilarity assigned by the Sellers algorithm equal a constant. The utility of the algorithms is independent of the nature of the elements in the sequence and could include anything from geological sequences to the amino acid sequences of proteins. Examples are provided using known nucleotide sequences, one of which shows two sequences to be analogous rather than homologous.</a:t>
            </a:r>
            <a:endParaRPr lang="zh-TW" altLang="en-US" sz="2300" dirty="0"/>
          </a:p>
        </p:txBody>
      </p:sp>
    </p:spTree>
    <p:extLst>
      <p:ext uri="{BB962C8B-B14F-4D97-AF65-F5344CB8AC3E}">
        <p14:creationId xmlns:p14="http://schemas.microsoft.com/office/powerpoint/2010/main" val="3871805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normAutofit fontScale="90000"/>
          </a:bodyPr>
          <a:lstStyle/>
          <a:p>
            <a:r>
              <a:rPr lang="en-US" altLang="zh-TW" dirty="0"/>
              <a:t>Needleman–</a:t>
            </a:r>
            <a:r>
              <a:rPr lang="en-US" altLang="zh-TW" dirty="0" err="1"/>
              <a:t>Wunsch</a:t>
            </a:r>
            <a:r>
              <a:rPr lang="en-US" altLang="zh-TW" dirty="0"/>
              <a:t> </a:t>
            </a:r>
            <a:r>
              <a:rPr lang="en-US" altLang="zh-TW" dirty="0" smtClean="0"/>
              <a:t>algorithm vs. </a:t>
            </a:r>
            <a:r>
              <a:rPr lang="en-US" altLang="zh-TW" dirty="0"/>
              <a:t>Sellers algorithm</a:t>
            </a:r>
            <a:endParaRPr lang="zh-TW" altLang="en-US" dirty="0"/>
          </a:p>
        </p:txBody>
      </p:sp>
      <p:sp>
        <p:nvSpPr>
          <p:cNvPr id="3" name="內容版面配置區 2"/>
          <p:cNvSpPr>
            <a:spLocks noGrp="1"/>
          </p:cNvSpPr>
          <p:nvPr>
            <p:ph idx="1"/>
          </p:nvPr>
        </p:nvSpPr>
        <p:spPr>
          <a:xfrm>
            <a:off x="457200" y="1124744"/>
            <a:ext cx="8229600" cy="5616624"/>
          </a:xfrm>
        </p:spPr>
        <p:txBody>
          <a:bodyPr/>
          <a:lstStyle/>
          <a:p>
            <a:pPr marL="0" indent="0">
              <a:buNone/>
            </a:pPr>
            <a:r>
              <a:rPr lang="en-US" altLang="zh-TW" dirty="0" smtClean="0"/>
              <a:t>Major </a:t>
            </a:r>
            <a:r>
              <a:rPr lang="en-US" altLang="zh-TW" dirty="0"/>
              <a:t>differences between the </a:t>
            </a:r>
            <a:r>
              <a:rPr lang="en-US" altLang="zh-TW" dirty="0" smtClean="0"/>
              <a:t>Needleman-</a:t>
            </a:r>
            <a:r>
              <a:rPr lang="en-US" altLang="zh-TW" dirty="0" err="1" smtClean="0"/>
              <a:t>Wunsch</a:t>
            </a:r>
            <a:r>
              <a:rPr lang="en-US" altLang="zh-TW" dirty="0" smtClean="0"/>
              <a:t> </a:t>
            </a:r>
            <a:r>
              <a:rPr lang="en-US" altLang="zh-TW" dirty="0"/>
              <a:t>and the Sellers </a:t>
            </a:r>
            <a:r>
              <a:rPr lang="en-US" altLang="zh-TW" dirty="0" smtClean="0"/>
              <a:t>algorithms:</a:t>
            </a:r>
          </a:p>
          <a:p>
            <a:r>
              <a:rPr lang="en-US" altLang="zh-TW" dirty="0"/>
              <a:t>Needleman-</a:t>
            </a:r>
            <a:r>
              <a:rPr lang="en-US" altLang="zh-TW" dirty="0" err="1"/>
              <a:t>Wunsch</a:t>
            </a:r>
            <a:r>
              <a:rPr lang="en-US" altLang="zh-TW" dirty="0"/>
              <a:t> algorithm </a:t>
            </a:r>
            <a:r>
              <a:rPr lang="en-US" altLang="zh-TW" dirty="0" smtClean="0"/>
              <a:t>results in </a:t>
            </a:r>
            <a:r>
              <a:rPr lang="en-US" altLang="zh-TW" dirty="0"/>
              <a:t>alignments having a maximum similarity </a:t>
            </a:r>
            <a:r>
              <a:rPr lang="en-US" altLang="zh-TW" dirty="0" smtClean="0"/>
              <a:t>measure. </a:t>
            </a:r>
          </a:p>
          <a:p>
            <a:r>
              <a:rPr lang="en-US" altLang="zh-TW" dirty="0" smtClean="0"/>
              <a:t>Sellers </a:t>
            </a:r>
            <a:r>
              <a:rPr lang="en-US" altLang="zh-TW" dirty="0"/>
              <a:t>algorithm results in alignments </a:t>
            </a:r>
            <a:r>
              <a:rPr lang="en-US" altLang="zh-TW" dirty="0" smtClean="0"/>
              <a:t>having a </a:t>
            </a:r>
            <a:r>
              <a:rPr lang="en-US" altLang="zh-TW" dirty="0"/>
              <a:t>minimal distance or metric measure of dissimilarity.</a:t>
            </a:r>
            <a:endParaRPr lang="zh-TW" altLang="en-US" dirty="0"/>
          </a:p>
        </p:txBody>
      </p:sp>
    </p:spTree>
    <p:extLst>
      <p:ext uri="{BB962C8B-B14F-4D97-AF65-F5344CB8AC3E}">
        <p14:creationId xmlns:p14="http://schemas.microsoft.com/office/powerpoint/2010/main" val="2857412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p:sp>
        <p:nvSpPr>
          <p:cNvPr id="3" name="內容版面配置區 2"/>
          <p:cNvSpPr>
            <a:spLocks noGrp="1"/>
          </p:cNvSpPr>
          <p:nvPr>
            <p:ph idx="1"/>
          </p:nvPr>
        </p:nvSpPr>
        <p:spPr>
          <a:xfrm>
            <a:off x="457200" y="1600200"/>
            <a:ext cx="8229600" cy="4997152"/>
          </a:xfrm>
        </p:spPr>
        <p:txBody>
          <a:bodyPr>
            <a:normAutofit/>
          </a:bodyPr>
          <a:lstStyle/>
          <a:p>
            <a:pPr marL="0" indent="0">
              <a:buNone/>
            </a:pPr>
            <a:r>
              <a:rPr lang="en-US" altLang="zh-TW" dirty="0" smtClean="0"/>
              <a:t>Consider two sequences A and B of length n and m respectively, where a= a1 a2 a3 ... an and b = b1 b2 b3 ... bm. </a:t>
            </a:r>
          </a:p>
          <a:p>
            <a:pPr marL="0" indent="0">
              <a:buNone/>
            </a:pPr>
            <a:endParaRPr lang="en-US" altLang="zh-TW" dirty="0" smtClean="0"/>
          </a:p>
          <a:p>
            <a:pPr marL="0" indent="0">
              <a:buNone/>
            </a:pPr>
            <a:r>
              <a:rPr lang="en-US" altLang="zh-TW" dirty="0"/>
              <a:t>E</a:t>
            </a:r>
            <a:r>
              <a:rPr lang="en-US" altLang="zh-TW" dirty="0" smtClean="0"/>
              <a:t>xample:</a:t>
            </a:r>
          </a:p>
          <a:p>
            <a:pPr marL="0" indent="0">
              <a:buNone/>
            </a:pPr>
            <a:r>
              <a:rPr lang="en-US" altLang="zh-TW" dirty="0"/>
              <a:t>a</a:t>
            </a:r>
            <a:r>
              <a:rPr lang="en-US" altLang="zh-TW" dirty="0" smtClean="0"/>
              <a:t> = ACBBA,  b = ABCA,  n = 5, m = 4</a:t>
            </a:r>
            <a:endParaRPr lang="en-US" altLang="zh-TW" dirty="0"/>
          </a:p>
          <a:p>
            <a:pPr marL="0" indent="0">
              <a:buNone/>
            </a:pPr>
            <a:r>
              <a:rPr lang="en-US" altLang="zh-TW" dirty="0" smtClean="0"/>
              <a:t>     </a:t>
            </a:r>
            <a:r>
              <a:rPr lang="en-US" altLang="zh-TW" dirty="0" smtClean="0">
                <a:solidFill>
                  <a:srgbClr val="FF0000"/>
                </a:solidFill>
              </a:rPr>
              <a:t>A</a:t>
            </a:r>
            <a:r>
              <a:rPr lang="en-US" altLang="zh-TW" dirty="0" smtClean="0"/>
              <a:t>C</a:t>
            </a:r>
            <a:r>
              <a:rPr lang="en-US" altLang="zh-TW" dirty="0" smtClean="0">
                <a:solidFill>
                  <a:srgbClr val="FF0000"/>
                </a:solidFill>
              </a:rPr>
              <a:t>B</a:t>
            </a:r>
            <a:r>
              <a:rPr lang="en-US" altLang="zh-TW" dirty="0" smtClean="0"/>
              <a:t>B</a:t>
            </a:r>
            <a:r>
              <a:rPr lang="en-US" altLang="zh-TW" dirty="0" smtClean="0">
                <a:solidFill>
                  <a:srgbClr val="FF0000"/>
                </a:solidFill>
              </a:rPr>
              <a:t>A</a:t>
            </a:r>
            <a:r>
              <a:rPr lang="en-US" altLang="zh-TW" dirty="0" smtClean="0"/>
              <a:t/>
            </a:r>
            <a:br>
              <a:rPr lang="en-US" altLang="zh-TW" dirty="0" smtClean="0"/>
            </a:br>
            <a:r>
              <a:rPr lang="en-US" altLang="zh-TW" dirty="0" smtClean="0"/>
              <a:t>     </a:t>
            </a:r>
            <a:r>
              <a:rPr lang="en-US" altLang="zh-TW" dirty="0" smtClean="0">
                <a:solidFill>
                  <a:srgbClr val="FF0000"/>
                </a:solidFill>
              </a:rPr>
              <a:t>A</a:t>
            </a:r>
            <a:r>
              <a:rPr lang="en-US" altLang="zh-TW" dirty="0" smtClean="0"/>
              <a:t>_</a:t>
            </a:r>
            <a:r>
              <a:rPr lang="en-US" altLang="zh-TW" dirty="0" smtClean="0">
                <a:solidFill>
                  <a:srgbClr val="FF0000"/>
                </a:solidFill>
              </a:rPr>
              <a:t>B</a:t>
            </a:r>
            <a:r>
              <a:rPr lang="en-US" altLang="zh-TW" dirty="0" smtClean="0"/>
              <a:t>C</a:t>
            </a:r>
            <a:r>
              <a:rPr lang="en-US" altLang="zh-TW" dirty="0" smtClean="0">
                <a:solidFill>
                  <a:srgbClr val="FF0000"/>
                </a:solidFill>
              </a:rPr>
              <a:t>A</a:t>
            </a:r>
            <a:r>
              <a:rPr lang="en-US" altLang="zh-TW" dirty="0" smtClean="0"/>
              <a:t/>
            </a:r>
            <a:br>
              <a:rPr lang="en-US" altLang="zh-TW" dirty="0" smtClean="0"/>
            </a:br>
            <a:r>
              <a:rPr lang="en-US" altLang="zh-TW" dirty="0" smtClean="0"/>
              <a:t>match : 3,  mismatch : 1, gap : 1(length = 1)</a:t>
            </a:r>
          </a:p>
          <a:p>
            <a:pPr marL="0" indent="0">
              <a:buNone/>
            </a:pPr>
            <a:endParaRPr lang="en-US" altLang="zh-TW" dirty="0" smtClean="0"/>
          </a:p>
          <a:p>
            <a:pPr marL="0" indent="0">
              <a:buNone/>
            </a:pPr>
            <a:endParaRPr lang="zh-TW" altLang="en-US" dirty="0"/>
          </a:p>
        </p:txBody>
      </p:sp>
    </p:spTree>
    <p:extLst>
      <p:ext uri="{BB962C8B-B14F-4D97-AF65-F5344CB8AC3E}">
        <p14:creationId xmlns:p14="http://schemas.microsoft.com/office/powerpoint/2010/main" val="6219874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t>Let </a:t>
                </a:r>
                <a14:m>
                  <m:oMath xmlns:m="http://schemas.openxmlformats.org/officeDocument/2006/math">
                    <m:r>
                      <m:rPr>
                        <m:nor/>
                      </m:rPr>
                      <a:rPr lang="el-GR" altLang="zh-TW" b="0" i="0" smtClean="0">
                        <a:latin typeface="Cambria Math"/>
                      </a:rPr>
                      <m:t>λ</m:t>
                    </m:r>
                  </m:oMath>
                </a14:m>
                <a:r>
                  <a:rPr lang="en-US" altLang="zh-TW" dirty="0" smtClean="0"/>
                  <a:t>  be the number of pairs containing identical or matched elements, </a:t>
                </a:r>
                <a:r>
                  <a:rPr lang="el-GR" altLang="zh-TW" dirty="0" smtClean="0"/>
                  <a:t>μ</a:t>
                </a:r>
                <a:r>
                  <a:rPr lang="en-US" altLang="zh-TW" dirty="0" smtClean="0"/>
                  <a:t> be the number of pairs containing non-identical or mismatched elements (excluding the null element) and </a:t>
                </a:r>
                <a14:m>
                  <m:oMath xmlns:m="http://schemas.openxmlformats.org/officeDocument/2006/math">
                    <m:sSub>
                      <m:sSubPr>
                        <m:ctrlPr>
                          <a:rPr lang="en-US" altLang="zh-TW" i="1" dirty="0" smtClean="0">
                            <a:latin typeface="Cambria Math"/>
                          </a:rPr>
                        </m:ctrlPr>
                      </m:sSubPr>
                      <m:e>
                        <m:r>
                          <m:rPr>
                            <m:sty m:val="p"/>
                          </m:rPr>
                          <a:rPr lang="en-US" altLang="ja-JP" b="0" i="0" dirty="0" smtClean="0">
                            <a:latin typeface="Cambria Math"/>
                          </a:rPr>
                          <m:t>Δ</m:t>
                        </m:r>
                      </m:e>
                      <m:sub>
                        <m:r>
                          <m:rPr>
                            <m:nor/>
                          </m:rPr>
                          <a:rPr lang="ja-JP" altLang="en-US" b="0" i="0" dirty="0" smtClean="0">
                            <a:latin typeface="Cambria Math"/>
                          </a:rPr>
                          <m:t>k</m:t>
                        </m:r>
                      </m:sub>
                    </m:sSub>
                  </m:oMath>
                </a14:m>
                <a:r>
                  <a:rPr lang="en-US" altLang="zh-TW" dirty="0" smtClean="0"/>
                  <a:t> be the number of gaps of length k.</a:t>
                </a:r>
              </a:p>
              <a:p>
                <a:r>
                  <a:rPr lang="en-US" altLang="zh-TW" dirty="0" smtClean="0"/>
                  <a:t>Total element:</a:t>
                </a:r>
                <a:br>
                  <a:rPr lang="en-US" altLang="zh-TW" dirty="0" smtClean="0"/>
                </a:br>
                <a14:m>
                  <m:oMath xmlns:m="http://schemas.openxmlformats.org/officeDocument/2006/math">
                    <m:r>
                      <m:rPr>
                        <m:nor/>
                      </m:rPr>
                      <a:rPr lang="en-US" altLang="zh-TW" b="0" i="0" smtClean="0">
                        <a:latin typeface="Cambria Math"/>
                      </a:rPr>
                      <m:t>n</m:t>
                    </m:r>
                    <m:r>
                      <m:rPr>
                        <m:nor/>
                      </m:rPr>
                      <a:rPr lang="en-US" altLang="zh-TW" b="0" i="0" smtClean="0">
                        <a:latin typeface="Cambria Math"/>
                      </a:rPr>
                      <m:t> + </m:t>
                    </m:r>
                    <m:r>
                      <m:rPr>
                        <m:nor/>
                      </m:rPr>
                      <a:rPr lang="en-US" altLang="zh-TW" b="0" i="0" smtClean="0">
                        <a:latin typeface="Cambria Math"/>
                      </a:rPr>
                      <m:t>m</m:t>
                    </m:r>
                    <m:r>
                      <m:rPr>
                        <m:nor/>
                      </m:rPr>
                      <a:rPr lang="en-US" altLang="zh-TW" b="0" i="0" smtClean="0">
                        <a:latin typeface="Cambria Math"/>
                      </a:rPr>
                      <m:t> = 2(</m:t>
                    </m:r>
                    <m:r>
                      <m:rPr>
                        <m:nor/>
                      </m:rPr>
                      <a:rPr lang="el-GR" altLang="zh-TW" b="0" i="0" smtClean="0">
                        <a:latin typeface="Cambria Math"/>
                      </a:rPr>
                      <m:t>λ</m:t>
                    </m:r>
                    <m:r>
                      <m:rPr>
                        <m:nor/>
                      </m:rPr>
                      <a:rPr lang="en-US" altLang="zh-TW" b="0" i="0" smtClean="0">
                        <a:latin typeface="Cambria Math"/>
                      </a:rPr>
                      <m:t> + </m:t>
                    </m:r>
                    <m:r>
                      <m:rPr>
                        <m:nor/>
                      </m:rPr>
                      <a:rPr lang="el-GR" altLang="zh-TW" dirty="0" smtClean="0"/>
                      <m:t>μ</m:t>
                    </m:r>
                    <m:r>
                      <m:rPr>
                        <m:nor/>
                      </m:rPr>
                      <a:rPr lang="en-US" altLang="zh-TW" b="0" i="0" smtClean="0">
                        <a:latin typeface="Cambria Math"/>
                      </a:rPr>
                      <m:t>) + </m:t>
                    </m:r>
                    <m:nary>
                      <m:naryPr>
                        <m:chr m:val="∑"/>
                        <m:supHide m:val="on"/>
                        <m:ctrlPr>
                          <a:rPr lang="en-US" altLang="zh-TW" b="0" i="1" smtClean="0">
                            <a:latin typeface="Cambria Math"/>
                          </a:rPr>
                        </m:ctrlPr>
                      </m:naryPr>
                      <m:sub>
                        <m:r>
                          <m:rPr>
                            <m:nor/>
                            <m:brk m:alnAt="7"/>
                          </m:rPr>
                          <a:rPr lang="en-US" altLang="zh-TW" b="0" i="0" smtClean="0">
                            <a:latin typeface="Cambria Math"/>
                          </a:rPr>
                          <m:t>k</m:t>
                        </m:r>
                      </m:sub>
                      <m:sup/>
                      <m:e>
                        <m:r>
                          <m:rPr>
                            <m:nor/>
                          </m:rPr>
                          <a:rPr lang="en-US" altLang="zh-TW" b="0" i="0" smtClean="0">
                            <a:latin typeface="Cambria Math"/>
                          </a:rPr>
                          <m:t>k</m:t>
                        </m:r>
                        <m:sSub>
                          <m:sSubPr>
                            <m:ctrlPr>
                              <a:rPr lang="en-US" altLang="zh-TW" i="1" dirty="0" smtClean="0">
                                <a:latin typeface="Cambria Math"/>
                              </a:rPr>
                            </m:ctrlPr>
                          </m:sSubPr>
                          <m:e>
                            <m:r>
                              <m:rPr>
                                <m:sty m:val="p"/>
                              </m:rPr>
                              <a:rPr lang="en-US" altLang="ja-JP" b="0" i="0" dirty="0" smtClean="0">
                                <a:latin typeface="Cambria Math"/>
                              </a:rPr>
                              <m:t>Δ</m:t>
                            </m:r>
                          </m:e>
                          <m:sub>
                            <m:r>
                              <m:rPr>
                                <m:nor/>
                              </m:rPr>
                              <a:rPr lang="ja-JP" altLang="en-US" b="0" i="0" dirty="0" smtClean="0">
                                <a:latin typeface="Cambria Math"/>
                              </a:rPr>
                              <m:t>k</m:t>
                            </m:r>
                          </m:sub>
                        </m:sSub>
                      </m:e>
                    </m:nary>
                  </m:oMath>
                </a14:m>
                <a:r>
                  <a:rPr lang="en-US" altLang="zh-TW" dirty="0" smtClean="0"/>
                  <a:t>	(1)</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407226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Needleman-</a:t>
                </a:r>
                <a:r>
                  <a:rPr lang="en-US" altLang="zh-TW" dirty="0" err="1"/>
                  <a:t>Wunsch</a:t>
                </a:r>
                <a:r>
                  <a:rPr lang="en-US" altLang="zh-TW" dirty="0"/>
                  <a:t> </a:t>
                </a:r>
                <a:r>
                  <a:rPr lang="en-US" altLang="zh-TW" dirty="0" smtClean="0"/>
                  <a:t>algorithm:</a:t>
                </a:r>
              </a:p>
              <a:p>
                <a:r>
                  <a:rPr lang="en-US" altLang="zh-TW" dirty="0" smtClean="0"/>
                  <a:t>similarity measure, s</a:t>
                </a:r>
                <a:br>
                  <a:rPr lang="en-US" altLang="zh-TW" dirty="0" smtClean="0"/>
                </a:br>
                <a14:m>
                  <m:oMath xmlns:m="http://schemas.openxmlformats.org/officeDocument/2006/math">
                    <m:r>
                      <m:rPr>
                        <m:nor/>
                      </m:rPr>
                      <a:rPr lang="en-US" altLang="zh-TW" b="0" i="0" smtClean="0">
                        <a:latin typeface="Cambria Math"/>
                      </a:rPr>
                      <m:t>s</m:t>
                    </m:r>
                    <m:r>
                      <m:rPr>
                        <m:nor/>
                      </m:rPr>
                      <a:rPr lang="en-US" altLang="zh-TW" b="0" i="0" smtClean="0">
                        <a:latin typeface="Cambria Math"/>
                      </a:rPr>
                      <m:t> = </m:t>
                    </m:r>
                    <m:r>
                      <m:rPr>
                        <m:nor/>
                      </m:rPr>
                      <a:rPr lang="en-US" altLang="zh-TW" b="0" i="0" smtClean="0">
                        <a:latin typeface="Cambria Math"/>
                      </a:rPr>
                      <m:t>maximum</m:t>
                    </m:r>
                    <m:r>
                      <m:rPr>
                        <m:nor/>
                      </m:rPr>
                      <a:rPr lang="en-US" altLang="zh-TW" b="0" i="0" smtClean="0">
                        <a:latin typeface="Cambria Math"/>
                      </a:rPr>
                      <m:t>[</m:t>
                    </m:r>
                    <m:r>
                      <m:rPr>
                        <m:sty m:val="p"/>
                      </m:rPr>
                      <a:rPr lang="el-GR" altLang="zh-TW" b="0" i="1" smtClean="0">
                        <a:latin typeface="Cambria Math"/>
                      </a:rPr>
                      <m:t>λ</m:t>
                    </m:r>
                    <m:r>
                      <a:rPr lang="en-US" altLang="zh-TW" b="0" i="1" smtClean="0">
                        <a:latin typeface="Cambria Math"/>
                      </a:rPr>
                      <m:t>−</m:t>
                    </m:r>
                    <m:nary>
                      <m:naryPr>
                        <m:chr m:val="∑"/>
                        <m:supHide m:val="on"/>
                        <m:ctrlPr>
                          <a:rPr lang="en-US" altLang="zh-TW" b="0" i="1" smtClean="0">
                            <a:latin typeface="Cambria Math"/>
                          </a:rPr>
                        </m:ctrlPr>
                      </m:naryPr>
                      <m:sub>
                        <m:r>
                          <m:rPr>
                            <m:nor/>
                            <m:brk m:alnAt="7"/>
                          </m:rPr>
                          <a:rPr lang="en-US" altLang="zh-TW" b="0" i="0" smtClean="0">
                            <a:latin typeface="Cambria Math"/>
                          </a:rPr>
                          <m:t>k</m:t>
                        </m:r>
                      </m:sub>
                      <m:sup/>
                      <m:e>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sSub>
                          <m:sSubPr>
                            <m:ctrlPr>
                              <a:rPr lang="en-US" altLang="zh-TW" i="1" dirty="0" smtClean="0">
                                <a:latin typeface="Cambria Math"/>
                              </a:rPr>
                            </m:ctrlPr>
                          </m:sSubPr>
                          <m:e>
                            <m:r>
                              <a:rPr lang="en-US" altLang="zh-TW" b="0" i="1" dirty="0" smtClean="0">
                                <a:latin typeface="Cambria Math"/>
                              </a:rPr>
                              <m:t> </m:t>
                            </m:r>
                            <m:r>
                              <m:rPr>
                                <m:sty m:val="p"/>
                              </m:rPr>
                              <a:rPr lang="en-US" altLang="ja-JP" b="0" i="0" dirty="0" smtClean="0">
                                <a:latin typeface="Cambria Math"/>
                              </a:rPr>
                              <m:t>Δ</m:t>
                            </m:r>
                          </m:e>
                          <m:sub>
                            <m:r>
                              <m:rPr>
                                <m:nor/>
                              </m:rPr>
                              <a:rPr lang="ja-JP" altLang="en-US" b="0" i="0" dirty="0" smtClean="0">
                                <a:latin typeface="Cambria Math"/>
                              </a:rPr>
                              <m:t>k</m:t>
                            </m:r>
                          </m:sub>
                        </m:sSub>
                      </m:e>
                    </m:nary>
                    <m:r>
                      <m:rPr>
                        <m:nor/>
                      </m:rPr>
                      <a:rPr lang="en-US" altLang="zh-TW" b="0" i="0" smtClean="0">
                        <a:latin typeface="Cambria Math"/>
                      </a:rPr>
                      <m:t>]</m:t>
                    </m:r>
                  </m:oMath>
                </a14:m>
                <a:r>
                  <a:rPr lang="en-US" altLang="zh-TW" dirty="0" smtClean="0"/>
                  <a:t>		(2)</a:t>
                </a:r>
                <a:br>
                  <a:rPr lang="en-US" altLang="zh-TW" dirty="0" smtClean="0"/>
                </a:b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oMath>
                </a14:m>
                <a:r>
                  <a:rPr lang="en-US" altLang="zh-TW" dirty="0" smtClean="0"/>
                  <a:t> is the weight or “penalty”</a:t>
                </a:r>
              </a:p>
              <a:p>
                <a:pPr marL="0" indent="0">
                  <a:buNone/>
                </a:pPr>
                <a:endParaRPr lang="en-US" altLang="zh-TW" dirty="0" smtClean="0"/>
              </a:p>
              <a:p>
                <a:r>
                  <a:rPr lang="en-US" altLang="zh-TW" dirty="0" smtClean="0"/>
                  <a:t>The quantity, s, is a measure of maximum similarity minus gap penalties</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27557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t>The Sellers algorithm:</a:t>
                </a:r>
              </a:p>
              <a:p>
                <a:r>
                  <a:rPr lang="en-US" altLang="zh-TW" dirty="0" smtClean="0"/>
                  <a:t>distance measure, d</a:t>
                </a:r>
                <a:br>
                  <a:rPr lang="en-US" altLang="zh-TW" dirty="0" smtClean="0"/>
                </a:br>
                <a14:m>
                  <m:oMath xmlns:m="http://schemas.openxmlformats.org/officeDocument/2006/math">
                    <m:r>
                      <m:rPr>
                        <m:nor/>
                      </m:rPr>
                      <a:rPr lang="en-US" altLang="zh-TW">
                        <a:latin typeface="Cambria Math"/>
                      </a:rPr>
                      <m:t>d</m:t>
                    </m:r>
                    <m:r>
                      <m:rPr>
                        <m:nor/>
                      </m:rPr>
                      <a:rPr lang="en-US" altLang="zh-TW" b="0" i="0" smtClean="0">
                        <a:latin typeface="Cambria Math"/>
                      </a:rPr>
                      <m:t> = </m:t>
                    </m:r>
                    <m:r>
                      <m:rPr>
                        <m:nor/>
                      </m:rPr>
                      <a:rPr lang="en-US" altLang="zh-TW" b="0" i="0" smtClean="0">
                        <a:latin typeface="Cambria Math"/>
                      </a:rPr>
                      <m:t>minimum</m:t>
                    </m:r>
                    <m:r>
                      <m:rPr>
                        <m:nor/>
                      </m:rPr>
                      <a:rPr lang="en-US" altLang="zh-TW" b="0" i="0" smtClean="0">
                        <a:latin typeface="Cambria Math"/>
                      </a:rPr>
                      <m:t>[</m:t>
                    </m:r>
                    <m:r>
                      <m:rPr>
                        <m:nor/>
                      </m:rPr>
                      <a:rPr lang="el-GR" altLang="zh-TW" dirty="0" smtClean="0"/>
                      <m:t>μ</m:t>
                    </m:r>
                    <m:r>
                      <m:rPr>
                        <m:nor/>
                      </m:rPr>
                      <a:rPr lang="en-US" altLang="zh-TW" b="0" i="0" dirty="0" smtClean="0"/>
                      <m:t> </m:t>
                    </m:r>
                    <m:r>
                      <m:rPr>
                        <m:nor/>
                      </m:rPr>
                      <a:rPr lang="en-US" altLang="zh-TW" b="0" i="0" smtClean="0">
                        <a:latin typeface="Cambria Math"/>
                      </a:rPr>
                      <m:t>+ </m:t>
                    </m:r>
                    <m:nary>
                      <m:naryPr>
                        <m:chr m:val="∑"/>
                        <m:supHide m:val="on"/>
                        <m:ctrlPr>
                          <a:rPr lang="en-US" altLang="zh-TW" b="0" i="1" smtClean="0">
                            <a:latin typeface="Cambria Math"/>
                          </a:rPr>
                        </m:ctrlPr>
                      </m:naryPr>
                      <m:sub>
                        <m:r>
                          <m:rPr>
                            <m:nor/>
                            <m:brk m:alnAt="7"/>
                          </m:rPr>
                          <a:rPr lang="en-US" altLang="zh-TW" b="0" i="0" smtClean="0">
                            <a:latin typeface="Cambria Math"/>
                          </a:rPr>
                          <m:t>k</m:t>
                        </m:r>
                      </m:sub>
                      <m:sup/>
                      <m:e>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sSub>
                          <m:sSubPr>
                            <m:ctrlPr>
                              <a:rPr lang="en-US" altLang="zh-TW" i="1" dirty="0" smtClean="0">
                                <a:latin typeface="Cambria Math"/>
                              </a:rPr>
                            </m:ctrlPr>
                          </m:sSubPr>
                          <m:e>
                            <m:r>
                              <a:rPr lang="en-US" altLang="zh-TW" b="0" i="1" dirty="0" smtClean="0">
                                <a:latin typeface="Cambria Math"/>
                              </a:rPr>
                              <m:t> </m:t>
                            </m:r>
                            <m:r>
                              <m:rPr>
                                <m:sty m:val="p"/>
                              </m:rPr>
                              <a:rPr lang="en-US" altLang="ja-JP" b="0" i="0" dirty="0" smtClean="0">
                                <a:latin typeface="Cambria Math"/>
                              </a:rPr>
                              <m:t>Δ</m:t>
                            </m:r>
                          </m:e>
                          <m:sub>
                            <m:r>
                              <m:rPr>
                                <m:nor/>
                              </m:rPr>
                              <a:rPr lang="ja-JP" altLang="en-US" b="0" i="0" dirty="0" smtClean="0">
                                <a:latin typeface="Cambria Math"/>
                              </a:rPr>
                              <m:t>k</m:t>
                            </m:r>
                          </m:sub>
                        </m:sSub>
                      </m:e>
                    </m:nary>
                    <m:r>
                      <m:rPr>
                        <m:nor/>
                      </m:rPr>
                      <a:rPr lang="en-US" altLang="zh-TW" b="0" i="0" smtClean="0">
                        <a:latin typeface="Cambria Math"/>
                      </a:rPr>
                      <m:t>]</m:t>
                    </m:r>
                  </m:oMath>
                </a14:m>
                <a:r>
                  <a:rPr lang="en-US" altLang="zh-TW" dirty="0" smtClean="0"/>
                  <a:t>	(3)</a:t>
                </a:r>
              </a:p>
              <a:p>
                <a:pPr marL="0" indent="0">
                  <a:buNone/>
                </a:pPr>
                <a:endParaRPr lang="en-US" altLang="zh-TW" dirty="0" smtClean="0"/>
              </a:p>
              <a:p>
                <a:r>
                  <a:rPr lang="en-US" altLang="zh-TW" dirty="0" smtClean="0"/>
                  <a:t>Here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oMath>
                </a14:m>
                <a:r>
                  <a:rPr lang="en-US" altLang="zh-TW" dirty="0" smtClean="0"/>
                  <a:t> is a gap weight analogous to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oMath>
                </a14:m>
                <a:r>
                  <a:rPr lang="en-US" altLang="zh-TW" dirty="0" smtClean="0"/>
                  <a:t> and d is a proper distance obeying the required metric properties.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r="-20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78172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764704"/>
                <a:ext cx="8229600" cy="5976664"/>
              </a:xfrm>
            </p:spPr>
            <p:txBody>
              <a:bodyPr>
                <a:normAutofit/>
              </a:bodyPr>
              <a:lstStyle/>
              <a:p>
                <a:r>
                  <a:rPr lang="en-US" altLang="zh-TW" sz="3000" dirty="0" smtClean="0"/>
                  <a:t>An equivalence between the Needleman-</a:t>
                </a:r>
                <a:r>
                  <a:rPr lang="en-US" altLang="zh-TW" sz="3000" dirty="0" err="1" smtClean="0"/>
                  <a:t>Wunsch</a:t>
                </a:r>
                <a:r>
                  <a:rPr lang="en-US" altLang="zh-TW" sz="3000" dirty="0" smtClean="0"/>
                  <a:t> and the Sellers algorithms is established via equation (1). Using equation (1) the maximization given in (2) can be rewritten as:</a:t>
                </a:r>
                <a:br>
                  <a:rPr lang="en-US" altLang="zh-TW" sz="3000" dirty="0" smtClean="0"/>
                </a:br>
                <a14:m>
                  <m:oMath xmlns:m="http://schemas.openxmlformats.org/officeDocument/2006/math">
                    <m:r>
                      <m:rPr>
                        <m:nor/>
                      </m:rPr>
                      <a:rPr lang="en-US" altLang="zh-TW" sz="2800" b="0" i="0" smtClean="0">
                        <a:latin typeface="Cambria Math"/>
                      </a:rPr>
                      <m:t>s</m:t>
                    </m:r>
                    <m:r>
                      <m:rPr>
                        <m:nor/>
                      </m:rPr>
                      <a:rPr lang="en-US" altLang="zh-TW" sz="2800" b="0" i="0" smtClean="0">
                        <a:latin typeface="Cambria Math"/>
                      </a:rPr>
                      <m:t> = </m:t>
                    </m:r>
                    <m:r>
                      <m:rPr>
                        <m:nor/>
                      </m:rPr>
                      <a:rPr lang="en-US" altLang="zh-TW" sz="2800" b="0" i="0" smtClean="0">
                        <a:latin typeface="Cambria Math"/>
                      </a:rPr>
                      <m:t>maximum</m:t>
                    </m:r>
                    <m:r>
                      <a:rPr lang="en-US" altLang="zh-TW" sz="2800" b="0" i="1" smtClean="0">
                        <a:latin typeface="Cambria Math"/>
                      </a:rPr>
                      <m:t>{</m:t>
                    </m:r>
                    <m:f>
                      <m:fPr>
                        <m:ctrlPr>
                          <a:rPr lang="en-US" altLang="zh-TW" sz="2800" b="0" i="1" smtClean="0">
                            <a:latin typeface="Cambria Math"/>
                          </a:rPr>
                        </m:ctrlPr>
                      </m:fPr>
                      <m:num>
                        <m:r>
                          <m:rPr>
                            <m:nor/>
                          </m:rPr>
                          <a:rPr lang="en-US" altLang="zh-TW" sz="2800" b="0" i="0" smtClean="0">
                            <a:latin typeface="Cambria Math"/>
                          </a:rPr>
                          <m:t>n</m:t>
                        </m:r>
                        <m:r>
                          <m:rPr>
                            <m:nor/>
                          </m:rPr>
                          <a:rPr lang="en-US" altLang="zh-TW" sz="2800" b="0" i="0" smtClean="0">
                            <a:latin typeface="Cambria Math"/>
                          </a:rPr>
                          <m:t>+</m:t>
                        </m:r>
                        <m:r>
                          <m:rPr>
                            <m:nor/>
                          </m:rPr>
                          <a:rPr lang="en-US" altLang="zh-TW" sz="2800" b="0" i="0" smtClean="0">
                            <a:latin typeface="Cambria Math"/>
                          </a:rPr>
                          <m:t>m</m:t>
                        </m:r>
                      </m:num>
                      <m:den>
                        <m:r>
                          <m:rPr>
                            <m:nor/>
                          </m:rPr>
                          <a:rPr lang="en-US" altLang="zh-TW" sz="2800" b="0" i="0" smtClean="0">
                            <a:latin typeface="Cambria Math"/>
                          </a:rPr>
                          <m:t>2</m:t>
                        </m:r>
                      </m:den>
                    </m:f>
                    <m:r>
                      <a:rPr lang="en-US" altLang="zh-TW" sz="2800" b="0" i="1" smtClean="0">
                        <a:latin typeface="Cambria Math"/>
                      </a:rPr>
                      <m:t>−</m:t>
                    </m:r>
                    <m:r>
                      <m:rPr>
                        <m:nor/>
                      </m:rPr>
                      <a:rPr lang="el-GR" altLang="zh-TW" sz="2800" b="0" i="0" smtClean="0">
                        <a:latin typeface="Cambria Math"/>
                      </a:rPr>
                      <m:t>μ</m:t>
                    </m:r>
                    <m:r>
                      <m:rPr>
                        <m:nor/>
                      </m:rPr>
                      <a:rPr lang="en-US" altLang="zh-TW" sz="2800" b="0" i="0" smtClean="0">
                        <a:latin typeface="Cambria Math"/>
                      </a:rPr>
                      <m:t>−</m:t>
                    </m:r>
                    <m:f>
                      <m:fPr>
                        <m:ctrlPr>
                          <a:rPr lang="en-US" altLang="zh-TW" sz="2800" b="0" i="1" smtClean="0">
                            <a:latin typeface="Cambria Math"/>
                          </a:rPr>
                        </m:ctrlPr>
                      </m:fPr>
                      <m:num>
                        <m:r>
                          <a:rPr lang="en-US" altLang="zh-TW" sz="2800" b="0" i="1" smtClean="0">
                            <a:latin typeface="Cambria Math"/>
                          </a:rPr>
                          <m:t>1</m:t>
                        </m:r>
                      </m:num>
                      <m:den>
                        <m:r>
                          <a:rPr lang="en-US" altLang="zh-TW" sz="2800" b="0" i="1" smtClean="0">
                            <a:latin typeface="Cambria Math"/>
                          </a:rPr>
                          <m:t>2</m:t>
                        </m:r>
                      </m:den>
                    </m:f>
                    <m:r>
                      <m:rPr>
                        <m:nor/>
                      </m:rPr>
                      <a:rPr lang="en-US" altLang="zh-TW" sz="2800" b="0" i="0" smtClean="0">
                        <a:latin typeface="Cambria Math"/>
                      </a:rPr>
                      <m:t> </m:t>
                    </m:r>
                    <m:nary>
                      <m:naryPr>
                        <m:chr m:val="∑"/>
                        <m:subHide m:val="on"/>
                        <m:supHide m:val="on"/>
                        <m:ctrlPr>
                          <a:rPr lang="en-US" altLang="zh-TW" sz="2800" b="0" i="1" smtClean="0">
                            <a:latin typeface="Cambria Math"/>
                          </a:rPr>
                        </m:ctrlPr>
                      </m:naryPr>
                      <m:sub/>
                      <m:sup/>
                      <m:e>
                        <m:r>
                          <a:rPr lang="en-US" altLang="zh-TW" sz="2800" b="0" i="1" smtClean="0">
                            <a:latin typeface="Cambria Math"/>
                          </a:rPr>
                          <m:t>(</m:t>
                        </m:r>
                        <m:r>
                          <m:rPr>
                            <m:nor/>
                          </m:rPr>
                          <a:rPr lang="en-US" altLang="zh-TW" sz="2800" b="0" i="0" smtClean="0">
                            <a:latin typeface="Cambria Math"/>
                          </a:rPr>
                          <m:t>k</m:t>
                        </m:r>
                        <m:r>
                          <m:rPr>
                            <m:nor/>
                          </m:rPr>
                          <a:rPr lang="en-US" altLang="zh-TW" sz="2800" b="0" i="0" smtClean="0">
                            <a:latin typeface="Cambria Math"/>
                          </a:rPr>
                          <m:t> + 2</m:t>
                        </m:r>
                        <m:sSub>
                          <m:sSubPr>
                            <m:ctrlPr>
                              <a:rPr lang="en-US" altLang="zh-TW" sz="2800" b="0" i="1" smtClean="0">
                                <a:latin typeface="Cambria Math"/>
                              </a:rPr>
                            </m:ctrlPr>
                          </m:sSubPr>
                          <m:e>
                            <m:r>
                              <m:rPr>
                                <m:nor/>
                              </m:rPr>
                              <a:rPr lang="en-US" altLang="zh-TW" sz="2800" b="0" i="0" smtClean="0">
                                <a:latin typeface="Cambria Math"/>
                              </a:rPr>
                              <m:t>w</m:t>
                            </m:r>
                          </m:e>
                          <m:sub>
                            <m:r>
                              <m:rPr>
                                <m:nor/>
                              </m:rPr>
                              <a:rPr lang="en-US" altLang="zh-TW" sz="2800" b="0" i="0" smtClean="0">
                                <a:latin typeface="Cambria Math"/>
                              </a:rPr>
                              <m:t>k</m:t>
                            </m:r>
                          </m:sub>
                        </m:sSub>
                        <m:r>
                          <a:rPr lang="en-US" altLang="zh-TW" sz="2800" b="0" i="1" smtClean="0">
                            <a:latin typeface="Cambria Math"/>
                          </a:rPr>
                          <m:t>)</m:t>
                        </m:r>
                        <m:sSub>
                          <m:sSubPr>
                            <m:ctrlPr>
                              <a:rPr lang="en-US" altLang="zh-TW" sz="2800" i="1" dirty="0" smtClean="0">
                                <a:latin typeface="Cambria Math"/>
                              </a:rPr>
                            </m:ctrlPr>
                          </m:sSubPr>
                          <m:e>
                            <m:r>
                              <a:rPr lang="en-US" altLang="zh-TW" sz="2800" b="0" i="1" dirty="0" smtClean="0">
                                <a:latin typeface="Cambria Math"/>
                              </a:rPr>
                              <m:t> </m:t>
                            </m:r>
                            <m:r>
                              <m:rPr>
                                <m:sty m:val="p"/>
                              </m:rPr>
                              <a:rPr lang="en-US" altLang="ja-JP" sz="2800" b="0" i="0" dirty="0" smtClean="0">
                                <a:latin typeface="Cambria Math"/>
                              </a:rPr>
                              <m:t>Δ</m:t>
                            </m:r>
                          </m:e>
                          <m:sub>
                            <m:r>
                              <m:rPr>
                                <m:nor/>
                              </m:rPr>
                              <a:rPr lang="ja-JP" altLang="en-US" sz="2800" b="0" i="0" dirty="0" smtClean="0">
                                <a:latin typeface="Cambria Math"/>
                              </a:rPr>
                              <m:t>k</m:t>
                            </m:r>
                          </m:sub>
                        </m:sSub>
                      </m:e>
                    </m:nary>
                    <m:r>
                      <m:rPr>
                        <m:nor/>
                      </m:rPr>
                      <a:rPr lang="en-US" altLang="ja-JP" sz="2800" b="0" i="0" dirty="0" smtClean="0">
                        <a:latin typeface="Cambria Math"/>
                      </a:rPr>
                      <m:t>}</m:t>
                    </m:r>
                  </m:oMath>
                </a14:m>
                <a:r>
                  <a:rPr lang="en-US" altLang="zh-TW" sz="3000" dirty="0" smtClean="0"/>
                  <a:t>	(4a)</a:t>
                </a:r>
                <a:br>
                  <a:rPr lang="en-US" altLang="zh-TW" sz="3000" dirty="0" smtClean="0"/>
                </a:br>
                <a14:m>
                  <m:oMath xmlns:m="http://schemas.openxmlformats.org/officeDocument/2006/math">
                    <m:r>
                      <m:rPr>
                        <m:nor/>
                      </m:rPr>
                      <a:rPr lang="en-US" altLang="zh-TW" sz="2800" b="0" i="0" smtClean="0">
                        <a:latin typeface="Cambria Math"/>
                      </a:rPr>
                      <m:t>s</m:t>
                    </m:r>
                    <m:r>
                      <m:rPr>
                        <m:nor/>
                      </m:rPr>
                      <a:rPr lang="en-US" altLang="zh-TW" sz="2800" b="0" i="0" smtClean="0">
                        <a:latin typeface="Cambria Math"/>
                      </a:rPr>
                      <m:t> =</m:t>
                    </m:r>
                    <m:f>
                      <m:fPr>
                        <m:ctrlPr>
                          <a:rPr lang="en-US" altLang="zh-TW" sz="2800" b="0" i="1" smtClean="0">
                            <a:latin typeface="Cambria Math"/>
                          </a:rPr>
                        </m:ctrlPr>
                      </m:fPr>
                      <m:num>
                        <m:r>
                          <m:rPr>
                            <m:nor/>
                          </m:rPr>
                          <a:rPr lang="en-US" altLang="zh-TW" sz="2800" b="0" i="0" smtClean="0">
                            <a:latin typeface="Cambria Math"/>
                          </a:rPr>
                          <m:t>n</m:t>
                        </m:r>
                        <m:r>
                          <m:rPr>
                            <m:nor/>
                          </m:rPr>
                          <a:rPr lang="en-US" altLang="zh-TW" sz="2800" b="0" i="0" smtClean="0">
                            <a:latin typeface="Cambria Math"/>
                          </a:rPr>
                          <m:t>+</m:t>
                        </m:r>
                        <m:r>
                          <m:rPr>
                            <m:nor/>
                          </m:rPr>
                          <a:rPr lang="en-US" altLang="zh-TW" sz="2800" b="0" i="0" smtClean="0">
                            <a:latin typeface="Cambria Math"/>
                          </a:rPr>
                          <m:t>m</m:t>
                        </m:r>
                      </m:num>
                      <m:den>
                        <m:r>
                          <m:rPr>
                            <m:nor/>
                          </m:rPr>
                          <a:rPr lang="en-US" altLang="zh-TW" sz="2800" b="0" i="0" smtClean="0">
                            <a:latin typeface="Cambria Math"/>
                          </a:rPr>
                          <m:t>2</m:t>
                        </m:r>
                      </m:den>
                    </m:f>
                    <m:r>
                      <a:rPr lang="en-US" altLang="zh-TW" sz="2800" b="0" i="1" smtClean="0">
                        <a:latin typeface="Cambria Math"/>
                      </a:rPr>
                      <m:t> </m:t>
                    </m:r>
                    <m:r>
                      <m:rPr>
                        <m:nor/>
                      </m:rPr>
                      <a:rPr lang="en-US" altLang="zh-TW" sz="2800" b="0" i="0" smtClean="0">
                        <a:latin typeface="Cambria Math"/>
                      </a:rPr>
                      <m:t>+ </m:t>
                    </m:r>
                    <m:r>
                      <m:rPr>
                        <m:nor/>
                      </m:rPr>
                      <a:rPr lang="en-US" altLang="zh-TW" sz="2800" b="0" i="0" smtClean="0">
                        <a:latin typeface="Cambria Math"/>
                      </a:rPr>
                      <m:t>maximum</m:t>
                    </m:r>
                    <m:r>
                      <a:rPr lang="en-US" altLang="zh-TW" sz="2800" b="0" i="1" smtClean="0">
                        <a:latin typeface="Cambria Math"/>
                      </a:rPr>
                      <m:t>{−</m:t>
                    </m:r>
                    <m:r>
                      <m:rPr>
                        <m:nor/>
                      </m:rPr>
                      <a:rPr lang="el-GR" altLang="zh-TW" sz="2800" b="0" i="0" smtClean="0">
                        <a:latin typeface="Cambria Math"/>
                      </a:rPr>
                      <m:t>μ</m:t>
                    </m:r>
                    <m:r>
                      <m:rPr>
                        <m:nor/>
                      </m:rPr>
                      <a:rPr lang="en-US" altLang="zh-TW" sz="2800" b="0" i="0" smtClean="0">
                        <a:latin typeface="Cambria Math"/>
                      </a:rPr>
                      <m:t>− </m:t>
                    </m:r>
                    <m:nary>
                      <m:naryPr>
                        <m:chr m:val="∑"/>
                        <m:subHide m:val="on"/>
                        <m:supHide m:val="on"/>
                        <m:ctrlPr>
                          <a:rPr lang="en-US" altLang="zh-TW" sz="2800" b="0" i="1" smtClean="0">
                            <a:latin typeface="Cambria Math"/>
                          </a:rPr>
                        </m:ctrlPr>
                      </m:naryPr>
                      <m:sub/>
                      <m:sup/>
                      <m:e>
                        <m:r>
                          <a:rPr lang="en-US" altLang="zh-TW" sz="2800" b="0" i="1" smtClean="0">
                            <a:latin typeface="Cambria Math"/>
                          </a:rPr>
                          <m:t>(</m:t>
                        </m:r>
                        <m:f>
                          <m:fPr>
                            <m:ctrlPr>
                              <a:rPr lang="en-US" altLang="zh-TW" sz="2800" b="0" i="1" smtClean="0">
                                <a:latin typeface="Cambria Math"/>
                              </a:rPr>
                            </m:ctrlPr>
                          </m:fPr>
                          <m:num>
                            <m:r>
                              <m:rPr>
                                <m:sty m:val="p"/>
                              </m:rPr>
                              <a:rPr lang="en-US" altLang="zh-TW" sz="2800" b="0" i="0" smtClean="0">
                                <a:latin typeface="Cambria Math"/>
                              </a:rPr>
                              <m:t>k</m:t>
                            </m:r>
                          </m:num>
                          <m:den>
                            <m:r>
                              <a:rPr lang="en-US" altLang="zh-TW" sz="2800" b="0" i="0" smtClean="0">
                                <a:latin typeface="Cambria Math"/>
                              </a:rPr>
                              <m:t>2</m:t>
                            </m:r>
                          </m:den>
                        </m:f>
                        <m:r>
                          <m:rPr>
                            <m:nor/>
                          </m:rPr>
                          <a:rPr lang="en-US" altLang="zh-TW" sz="2800" b="0" i="0" smtClean="0">
                            <a:latin typeface="Cambria Math"/>
                          </a:rPr>
                          <m:t>+</m:t>
                        </m:r>
                        <m:sSub>
                          <m:sSubPr>
                            <m:ctrlPr>
                              <a:rPr lang="en-US" altLang="zh-TW" sz="2800" b="0" i="1" smtClean="0">
                                <a:latin typeface="Cambria Math"/>
                              </a:rPr>
                            </m:ctrlPr>
                          </m:sSubPr>
                          <m:e>
                            <m:r>
                              <m:rPr>
                                <m:nor/>
                              </m:rPr>
                              <a:rPr lang="en-US" altLang="zh-TW" sz="2800" b="0" i="0" smtClean="0">
                                <a:latin typeface="Cambria Math"/>
                              </a:rPr>
                              <m:t>w</m:t>
                            </m:r>
                          </m:e>
                          <m:sub>
                            <m:r>
                              <m:rPr>
                                <m:nor/>
                              </m:rPr>
                              <a:rPr lang="en-US" altLang="zh-TW" sz="2800" b="0" i="0" smtClean="0">
                                <a:latin typeface="Cambria Math"/>
                              </a:rPr>
                              <m:t>k</m:t>
                            </m:r>
                          </m:sub>
                        </m:sSub>
                        <m:r>
                          <a:rPr lang="en-US" altLang="zh-TW" sz="2800" b="0" i="1" smtClean="0">
                            <a:latin typeface="Cambria Math"/>
                          </a:rPr>
                          <m:t>)</m:t>
                        </m:r>
                        <m:sSub>
                          <m:sSubPr>
                            <m:ctrlPr>
                              <a:rPr lang="en-US" altLang="zh-TW" sz="2800" i="1" dirty="0" smtClean="0">
                                <a:latin typeface="Cambria Math"/>
                              </a:rPr>
                            </m:ctrlPr>
                          </m:sSubPr>
                          <m:e>
                            <m:r>
                              <a:rPr lang="en-US" altLang="zh-TW" sz="2800" b="0" i="1" dirty="0" smtClean="0">
                                <a:latin typeface="Cambria Math"/>
                              </a:rPr>
                              <m:t> </m:t>
                            </m:r>
                            <m:r>
                              <m:rPr>
                                <m:sty m:val="p"/>
                              </m:rPr>
                              <a:rPr lang="en-US" altLang="ja-JP" sz="2800" b="0" i="0" dirty="0" smtClean="0">
                                <a:latin typeface="Cambria Math"/>
                              </a:rPr>
                              <m:t>Δ</m:t>
                            </m:r>
                          </m:e>
                          <m:sub>
                            <m:r>
                              <m:rPr>
                                <m:nor/>
                              </m:rPr>
                              <a:rPr lang="ja-JP" altLang="en-US" sz="2800" b="0" i="0" dirty="0" smtClean="0">
                                <a:latin typeface="Cambria Math"/>
                              </a:rPr>
                              <m:t>k</m:t>
                            </m:r>
                          </m:sub>
                        </m:sSub>
                      </m:e>
                    </m:nary>
                    <m:r>
                      <m:rPr>
                        <m:nor/>
                      </m:rPr>
                      <a:rPr lang="en-US" altLang="ja-JP" sz="2800" b="0" i="0" dirty="0" smtClean="0">
                        <a:latin typeface="Cambria Math"/>
                      </a:rPr>
                      <m:t>}</m:t>
                    </m:r>
                  </m:oMath>
                </a14:m>
                <a:r>
                  <a:rPr lang="en-US" altLang="zh-TW" sz="3000" dirty="0" smtClean="0"/>
                  <a:t> 	 (4b)</a:t>
                </a:r>
              </a:p>
              <a:p>
                <a:r>
                  <a:rPr lang="en-US" altLang="zh-TW" sz="3000" dirty="0"/>
                  <a:t>T</a:t>
                </a:r>
                <a:r>
                  <a:rPr lang="en-US" altLang="zh-TW" sz="3000" dirty="0" smtClean="0"/>
                  <a:t>he maximum of a quantity can be replaced by the negative of the minimum of its negative to give</a:t>
                </a:r>
                <a:br>
                  <a:rPr lang="en-US" altLang="zh-TW" sz="3000" dirty="0" smtClean="0"/>
                </a:br>
                <a14:m>
                  <m:oMath xmlns:m="http://schemas.openxmlformats.org/officeDocument/2006/math">
                    <m:r>
                      <m:rPr>
                        <m:nor/>
                      </m:rPr>
                      <a:rPr lang="en-US" altLang="zh-TW" sz="2800" b="0" i="0" smtClean="0">
                        <a:latin typeface="Cambria Math"/>
                      </a:rPr>
                      <m:t>s</m:t>
                    </m:r>
                    <m:r>
                      <m:rPr>
                        <m:nor/>
                      </m:rPr>
                      <a:rPr lang="en-US" altLang="zh-TW" sz="2800" b="0" i="0" smtClean="0">
                        <a:latin typeface="Cambria Math"/>
                      </a:rPr>
                      <m:t> =</m:t>
                    </m:r>
                    <m:f>
                      <m:fPr>
                        <m:ctrlPr>
                          <a:rPr lang="en-US" altLang="zh-TW" sz="2800" b="0" i="1" smtClean="0">
                            <a:latin typeface="Cambria Math"/>
                          </a:rPr>
                        </m:ctrlPr>
                      </m:fPr>
                      <m:num>
                        <m:r>
                          <m:rPr>
                            <m:nor/>
                          </m:rPr>
                          <a:rPr lang="en-US" altLang="zh-TW" sz="2800" b="0" i="0" smtClean="0">
                            <a:latin typeface="Cambria Math"/>
                          </a:rPr>
                          <m:t>n</m:t>
                        </m:r>
                        <m:r>
                          <m:rPr>
                            <m:nor/>
                          </m:rPr>
                          <a:rPr lang="en-US" altLang="zh-TW" sz="2800" b="0" i="0" smtClean="0">
                            <a:latin typeface="Cambria Math"/>
                          </a:rPr>
                          <m:t>+</m:t>
                        </m:r>
                        <m:r>
                          <m:rPr>
                            <m:nor/>
                          </m:rPr>
                          <a:rPr lang="en-US" altLang="zh-TW" sz="2800" b="0" i="0" smtClean="0">
                            <a:latin typeface="Cambria Math"/>
                          </a:rPr>
                          <m:t>m</m:t>
                        </m:r>
                      </m:num>
                      <m:den>
                        <m:r>
                          <m:rPr>
                            <m:nor/>
                          </m:rPr>
                          <a:rPr lang="en-US" altLang="zh-TW" sz="2800" b="0" i="0" smtClean="0">
                            <a:latin typeface="Cambria Math"/>
                          </a:rPr>
                          <m:t>2</m:t>
                        </m:r>
                      </m:den>
                    </m:f>
                    <m:r>
                      <m:rPr>
                        <m:nor/>
                      </m:rPr>
                      <a:rPr lang="en-US" altLang="zh-TW" sz="2800" b="0" i="0" smtClean="0">
                        <a:latin typeface="Cambria Math"/>
                      </a:rPr>
                      <m:t>− </m:t>
                    </m:r>
                    <m:r>
                      <m:rPr>
                        <m:nor/>
                      </m:rPr>
                      <a:rPr lang="en-US" altLang="zh-TW" sz="2800" b="0" i="0" smtClean="0">
                        <a:latin typeface="Cambria Math"/>
                      </a:rPr>
                      <m:t>minimum</m:t>
                    </m:r>
                    <m:r>
                      <a:rPr lang="en-US" altLang="zh-TW" sz="2800" b="0" i="1" smtClean="0">
                        <a:latin typeface="Cambria Math"/>
                      </a:rPr>
                      <m:t>{</m:t>
                    </m:r>
                    <m:r>
                      <m:rPr>
                        <m:nor/>
                      </m:rPr>
                      <a:rPr lang="el-GR" altLang="zh-TW" sz="2800" b="0" i="0" smtClean="0">
                        <a:latin typeface="Cambria Math"/>
                      </a:rPr>
                      <m:t>μ</m:t>
                    </m:r>
                    <m:r>
                      <m:rPr>
                        <m:nor/>
                      </m:rPr>
                      <a:rPr lang="en-US" altLang="zh-TW" sz="2800" b="0" i="0" smtClean="0">
                        <a:latin typeface="Cambria Math"/>
                      </a:rPr>
                      <m:t> +</m:t>
                    </m:r>
                    <m:nary>
                      <m:naryPr>
                        <m:chr m:val="∑"/>
                        <m:subHide m:val="on"/>
                        <m:supHide m:val="on"/>
                        <m:ctrlPr>
                          <a:rPr lang="en-US" altLang="zh-TW" sz="2800" b="0" i="1" smtClean="0">
                            <a:latin typeface="Cambria Math"/>
                          </a:rPr>
                        </m:ctrlPr>
                      </m:naryPr>
                      <m:sub/>
                      <m:sup/>
                      <m:e>
                        <m:r>
                          <a:rPr lang="en-US" altLang="zh-TW" sz="2800" b="0" i="1" smtClean="0">
                            <a:latin typeface="Cambria Math"/>
                          </a:rPr>
                          <m:t>(</m:t>
                        </m:r>
                        <m:f>
                          <m:fPr>
                            <m:ctrlPr>
                              <a:rPr lang="en-US" altLang="zh-TW" sz="2800" b="0" i="1" smtClean="0">
                                <a:latin typeface="Cambria Math"/>
                              </a:rPr>
                            </m:ctrlPr>
                          </m:fPr>
                          <m:num>
                            <m:r>
                              <m:rPr>
                                <m:sty m:val="p"/>
                              </m:rPr>
                              <a:rPr lang="en-US" altLang="zh-TW" sz="2800" b="0" i="0" smtClean="0">
                                <a:latin typeface="Cambria Math"/>
                              </a:rPr>
                              <m:t>k</m:t>
                            </m:r>
                          </m:num>
                          <m:den>
                            <m:r>
                              <a:rPr lang="en-US" altLang="zh-TW" sz="2800" b="0" i="0" smtClean="0">
                                <a:latin typeface="Cambria Math"/>
                              </a:rPr>
                              <m:t>2</m:t>
                            </m:r>
                          </m:den>
                        </m:f>
                        <m:r>
                          <m:rPr>
                            <m:nor/>
                          </m:rPr>
                          <a:rPr lang="en-US" altLang="zh-TW" sz="2800" b="0" i="0" smtClean="0">
                            <a:latin typeface="Cambria Math"/>
                          </a:rPr>
                          <m:t>+</m:t>
                        </m:r>
                        <m:sSub>
                          <m:sSubPr>
                            <m:ctrlPr>
                              <a:rPr lang="en-US" altLang="zh-TW" sz="2800" b="0" i="1" smtClean="0">
                                <a:latin typeface="Cambria Math"/>
                              </a:rPr>
                            </m:ctrlPr>
                          </m:sSubPr>
                          <m:e>
                            <m:r>
                              <m:rPr>
                                <m:nor/>
                              </m:rPr>
                              <a:rPr lang="en-US" altLang="zh-TW" sz="2800" b="0" i="0" smtClean="0">
                                <a:latin typeface="Cambria Math"/>
                              </a:rPr>
                              <m:t>w</m:t>
                            </m:r>
                          </m:e>
                          <m:sub>
                            <m:r>
                              <m:rPr>
                                <m:nor/>
                              </m:rPr>
                              <a:rPr lang="en-US" altLang="zh-TW" sz="2800" b="0" i="0" smtClean="0">
                                <a:latin typeface="Cambria Math"/>
                              </a:rPr>
                              <m:t>k</m:t>
                            </m:r>
                          </m:sub>
                        </m:sSub>
                        <m:r>
                          <a:rPr lang="en-US" altLang="zh-TW" sz="2800" b="0" i="1" smtClean="0">
                            <a:latin typeface="Cambria Math"/>
                          </a:rPr>
                          <m:t>)</m:t>
                        </m:r>
                        <m:sSub>
                          <m:sSubPr>
                            <m:ctrlPr>
                              <a:rPr lang="en-US" altLang="zh-TW" sz="2800" i="1" dirty="0" smtClean="0">
                                <a:latin typeface="Cambria Math"/>
                              </a:rPr>
                            </m:ctrlPr>
                          </m:sSubPr>
                          <m:e>
                            <m:r>
                              <a:rPr lang="en-US" altLang="zh-TW" sz="2800" b="0" i="1" dirty="0" smtClean="0">
                                <a:latin typeface="Cambria Math"/>
                              </a:rPr>
                              <m:t> </m:t>
                            </m:r>
                            <m:r>
                              <m:rPr>
                                <m:sty m:val="p"/>
                              </m:rPr>
                              <a:rPr lang="en-US" altLang="ja-JP" sz="2800" b="0" i="0" dirty="0" smtClean="0">
                                <a:latin typeface="Cambria Math"/>
                              </a:rPr>
                              <m:t>Δ</m:t>
                            </m:r>
                          </m:e>
                          <m:sub>
                            <m:r>
                              <m:rPr>
                                <m:nor/>
                              </m:rPr>
                              <a:rPr lang="ja-JP" altLang="en-US" sz="2800" b="0" i="0" dirty="0" smtClean="0">
                                <a:latin typeface="Cambria Math"/>
                              </a:rPr>
                              <m:t>k</m:t>
                            </m:r>
                          </m:sub>
                        </m:sSub>
                      </m:e>
                    </m:nary>
                    <m:r>
                      <m:rPr>
                        <m:nor/>
                      </m:rPr>
                      <a:rPr lang="en-US" altLang="ja-JP" sz="2800" b="0" i="0" dirty="0" smtClean="0">
                        <a:latin typeface="Cambria Math"/>
                      </a:rPr>
                      <m:t>}</m:t>
                    </m:r>
                  </m:oMath>
                </a14:m>
                <a:r>
                  <a:rPr lang="en-US" altLang="zh-TW" sz="3000" dirty="0" smtClean="0"/>
                  <a:t>	 (4c)</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764704"/>
                <a:ext cx="8229600" cy="5976664"/>
              </a:xfrm>
              <a:blipFill rotWithShape="1">
                <a:blip r:embed="rId2"/>
                <a:stretch>
                  <a:fillRect l="-1481" t="-1223" r="-23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39741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Analysis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1052736"/>
                <a:ext cx="8229600" cy="5472608"/>
              </a:xfrm>
            </p:spPr>
            <p:txBody>
              <a:bodyPr>
                <a:normAutofit/>
              </a:bodyPr>
              <a:lstStyle/>
              <a:p>
                <a:r>
                  <a:rPr lang="en-US" altLang="zh-TW" dirty="0" smtClean="0"/>
                  <a:t>The alignments obtained for the Needleman-</a:t>
                </a:r>
                <a:r>
                  <a:rPr lang="en-US" altLang="zh-TW" dirty="0" err="1" smtClean="0"/>
                  <a:t>Wunsch</a:t>
                </a:r>
                <a:r>
                  <a:rPr lang="en-US" altLang="zh-TW" dirty="0" smtClean="0"/>
                  <a:t> maximum similarity, s, are identical to those obtained from the minimization of the quantity    </a:t>
                </a:r>
                <a14:m>
                  <m:oMath xmlns:m="http://schemas.openxmlformats.org/officeDocument/2006/math">
                    <m:r>
                      <a:rPr lang="en-US" altLang="zh-TW" b="0" i="0" smtClean="0">
                        <a:latin typeface="Cambria Math"/>
                      </a:rPr>
                      <m:t>  </m:t>
                    </m:r>
                    <m:r>
                      <m:rPr>
                        <m:nor/>
                      </m:rPr>
                      <a:rPr lang="el-GR" altLang="zh-TW" b="0" i="0" smtClean="0">
                        <a:latin typeface="Cambria Math"/>
                      </a:rPr>
                      <m:t>μ</m:t>
                    </m:r>
                    <m:r>
                      <m:rPr>
                        <m:nor/>
                      </m:rPr>
                      <a:rPr lang="en-US" altLang="zh-TW" b="0" i="0" smtClean="0">
                        <a:latin typeface="Cambria Math"/>
                      </a:rPr>
                      <m:t> +</m:t>
                    </m:r>
                    <m:nary>
                      <m:naryPr>
                        <m:chr m:val="∑"/>
                        <m:subHide m:val="on"/>
                        <m:supHide m:val="on"/>
                        <m:ctrlPr>
                          <a:rPr lang="en-US" altLang="zh-TW" b="0" i="1" smtClean="0">
                            <a:latin typeface="Cambria Math"/>
                          </a:rPr>
                        </m:ctrlPr>
                      </m:naryPr>
                      <m:sub/>
                      <m:sup/>
                      <m:e>
                        <m:r>
                          <a:rPr lang="en-US" altLang="zh-TW" b="0" i="1" smtClean="0">
                            <a:latin typeface="Cambria Math"/>
                          </a:rPr>
                          <m:t>(</m:t>
                        </m:r>
                        <m:f>
                          <m:fPr>
                            <m:ctrlPr>
                              <a:rPr lang="en-US" altLang="zh-TW" b="0" i="1" smtClean="0">
                                <a:latin typeface="Cambria Math"/>
                              </a:rPr>
                            </m:ctrlPr>
                          </m:fPr>
                          <m:num>
                            <m:r>
                              <m:rPr>
                                <m:sty m:val="p"/>
                              </m:rPr>
                              <a:rPr lang="en-US" altLang="zh-TW" b="0" i="0" smtClean="0">
                                <a:latin typeface="Cambria Math"/>
                              </a:rPr>
                              <m:t>k</m:t>
                            </m:r>
                          </m:num>
                          <m:den>
                            <m:r>
                              <a:rPr lang="en-US" altLang="zh-TW" b="0" i="0" smtClean="0">
                                <a:latin typeface="Cambria Math"/>
                              </a:rPr>
                              <m:t>2</m:t>
                            </m:r>
                          </m:den>
                        </m:f>
                        <m:r>
                          <m:rPr>
                            <m:nor/>
                          </m:rPr>
                          <a:rPr lang="en-US" altLang="zh-TW" b="0" i="0" smtClean="0">
                            <a:latin typeface="Cambria Math"/>
                          </a:rPr>
                          <m:t>+</m:t>
                        </m:r>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r>
                          <a:rPr lang="en-US" altLang="zh-TW" b="0" i="1" smtClean="0">
                            <a:latin typeface="Cambria Math"/>
                          </a:rPr>
                          <m:t>)</m:t>
                        </m:r>
                        <m:sSub>
                          <m:sSubPr>
                            <m:ctrlPr>
                              <a:rPr lang="en-US" altLang="zh-TW" i="1" dirty="0" smtClean="0">
                                <a:latin typeface="Cambria Math"/>
                              </a:rPr>
                            </m:ctrlPr>
                          </m:sSubPr>
                          <m:e>
                            <m:r>
                              <a:rPr lang="en-US" altLang="zh-TW" b="0" i="1" dirty="0" smtClean="0">
                                <a:latin typeface="Cambria Math"/>
                              </a:rPr>
                              <m:t> </m:t>
                            </m:r>
                            <m:r>
                              <m:rPr>
                                <m:sty m:val="p"/>
                              </m:rPr>
                              <a:rPr lang="en-US" altLang="ja-JP" b="0" i="0" dirty="0" smtClean="0">
                                <a:latin typeface="Cambria Math"/>
                              </a:rPr>
                              <m:t>Δ</m:t>
                            </m:r>
                          </m:e>
                          <m:sub>
                            <m:r>
                              <m:rPr>
                                <m:nor/>
                              </m:rPr>
                              <a:rPr lang="ja-JP" altLang="en-US" b="0" i="0" dirty="0" smtClean="0">
                                <a:latin typeface="Cambria Math"/>
                              </a:rPr>
                              <m:t>k</m:t>
                            </m:r>
                          </m:sub>
                        </m:sSub>
                      </m:e>
                    </m:nary>
                  </m:oMath>
                </a14:m>
                <a:r>
                  <a:rPr lang="zh-TW" altLang="en-US" dirty="0" smtClean="0"/>
                  <a:t> </a:t>
                </a:r>
                <a:endParaRPr lang="en-US" altLang="zh-TW" dirty="0" smtClean="0"/>
              </a:p>
              <a:p>
                <a:r>
                  <a:rPr lang="en-US" altLang="zh-TW" dirty="0" smtClean="0"/>
                  <a:t>This is identical to the quantity minimized by the Sellers algorithm if the Sellers’ gap weight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oMath>
                </a14:m>
                <a:r>
                  <a:rPr lang="en-US" altLang="zh-TW" dirty="0" smtClean="0"/>
                  <a:t> </a:t>
                </a:r>
                <a:r>
                  <a:rPr lang="en-US" altLang="zh-TW" smtClean="0"/>
                  <a:t>is equated to </a:t>
                </a:r>
                <a:r>
                  <a:rPr lang="en-US" altLang="zh-TW" dirty="0" smtClean="0"/>
                  <a:t>the Needleman-</a:t>
                </a:r>
                <a:r>
                  <a:rPr lang="en-US" altLang="zh-TW" dirty="0" err="1" smtClean="0"/>
                  <a:t>Wunsch</a:t>
                </a:r>
                <a:r>
                  <a:rPr lang="en-US" altLang="zh-TW" dirty="0" smtClean="0"/>
                  <a:t> gap weight plus half the gap length</a:t>
                </a:r>
                <a:br>
                  <a:rPr lang="en-US" altLang="zh-TW" dirty="0" smtClean="0"/>
                </a:br>
                <a:r>
                  <a:rPr lang="en-US" altLang="zh-TW" dirty="0" smtClean="0"/>
                  <a:t>        </a:t>
                </a:r>
                <a14:m>
                  <m:oMath xmlns:m="http://schemas.openxmlformats.org/officeDocument/2006/math">
                    <m:sSub>
                      <m:sSubPr>
                        <m:ctrlPr>
                          <a:rPr lang="en-US" altLang="zh-TW" b="0" i="1" smtClean="0">
                            <a:latin typeface="Cambria Math"/>
                          </a:rPr>
                        </m:ctrlPr>
                      </m:sSubPr>
                      <m:e>
                        <m:r>
                          <m:rPr>
                            <m:nor/>
                          </m:rPr>
                          <a:rPr lang="en-US" altLang="zh-TW" b="0" i="0" smtClean="0">
                            <a:latin typeface="Cambria Math"/>
                          </a:rPr>
                          <m:t>w</m:t>
                        </m:r>
                        <m:r>
                          <a:rPr lang="en-US" altLang="zh-TW" b="0" i="1" smtClean="0">
                            <a:latin typeface="Cambria Math"/>
                          </a:rPr>
                          <m:t>′</m:t>
                        </m:r>
                      </m:e>
                      <m:sub>
                        <m:r>
                          <m:rPr>
                            <m:nor/>
                          </m:rPr>
                          <a:rPr lang="en-US" altLang="zh-TW" b="0" i="0" smtClean="0">
                            <a:latin typeface="Cambria Math"/>
                          </a:rPr>
                          <m:t>k</m:t>
                        </m:r>
                      </m:sub>
                    </m:sSub>
                  </m:oMath>
                </a14:m>
                <a:r>
                  <a:rPr lang="en-US" altLang="zh-TW" dirty="0" smtClean="0"/>
                  <a:t> = </a:t>
                </a:r>
                <a14:m>
                  <m:oMath xmlns:m="http://schemas.openxmlformats.org/officeDocument/2006/math">
                    <m:f>
                      <m:fPr>
                        <m:ctrlPr>
                          <a:rPr lang="en-US" altLang="zh-TW" b="0" i="1" smtClean="0">
                            <a:latin typeface="Cambria Math"/>
                          </a:rPr>
                        </m:ctrlPr>
                      </m:fPr>
                      <m:num>
                        <m:r>
                          <m:rPr>
                            <m:sty m:val="p"/>
                          </m:rPr>
                          <a:rPr lang="en-US" altLang="zh-TW" b="0" i="0" smtClean="0">
                            <a:latin typeface="Cambria Math"/>
                          </a:rPr>
                          <m:t>k</m:t>
                        </m:r>
                      </m:num>
                      <m:den>
                        <m:r>
                          <a:rPr lang="en-US" altLang="zh-TW" b="0" i="0" smtClean="0">
                            <a:latin typeface="Cambria Math"/>
                          </a:rPr>
                          <m:t>2</m:t>
                        </m:r>
                      </m:den>
                    </m:f>
                    <m:r>
                      <m:rPr>
                        <m:nor/>
                      </m:rPr>
                      <a:rPr lang="en-US" altLang="zh-TW" b="0" i="0" smtClean="0">
                        <a:latin typeface="Cambria Math"/>
                      </a:rPr>
                      <m:t>+</m:t>
                    </m:r>
                    <m:sSub>
                      <m:sSubPr>
                        <m:ctrlPr>
                          <a:rPr lang="en-US" altLang="zh-TW" b="0" i="1" smtClean="0">
                            <a:latin typeface="Cambria Math"/>
                          </a:rPr>
                        </m:ctrlPr>
                      </m:sSubPr>
                      <m:e>
                        <m:r>
                          <m:rPr>
                            <m:nor/>
                          </m:rPr>
                          <a:rPr lang="en-US" altLang="zh-TW" b="0" i="0" smtClean="0">
                            <a:latin typeface="Cambria Math"/>
                          </a:rPr>
                          <m:t>w</m:t>
                        </m:r>
                      </m:e>
                      <m:sub>
                        <m:r>
                          <m:rPr>
                            <m:nor/>
                          </m:rPr>
                          <a:rPr lang="en-US" altLang="zh-TW" b="0" i="0" smtClean="0">
                            <a:latin typeface="Cambria Math"/>
                          </a:rPr>
                          <m:t>k</m:t>
                        </m:r>
                      </m:sub>
                    </m:sSub>
                  </m:oMath>
                </a14:m>
                <a:r>
                  <a:rPr lang="en-US" altLang="zh-TW" dirty="0" smtClean="0"/>
                  <a:t>		(5)</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1052736"/>
                <a:ext cx="8229600" cy="5472608"/>
              </a:xfrm>
              <a:blipFill rotWithShape="1">
                <a:blip r:embed="rId2"/>
                <a:stretch>
                  <a:fillRect l="-1630" t="-1449" r="-2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6177938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908</TotalTime>
  <Words>1881</Words>
  <Application>Microsoft Office PowerPoint</Application>
  <PresentationFormat>如螢幕大小 (4:3)</PresentationFormat>
  <Paragraphs>907</Paragraphs>
  <Slides>40</Slides>
  <Notes>0</Notes>
  <HiddenSlides>0</HiddenSlides>
  <MMClips>0</MMClips>
  <ScaleCrop>false</ScaleCrop>
  <HeadingPairs>
    <vt:vector size="4" baseType="variant">
      <vt:variant>
        <vt:lpstr>佈景主題</vt:lpstr>
      </vt:variant>
      <vt:variant>
        <vt:i4>1</vt:i4>
      </vt:variant>
      <vt:variant>
        <vt:lpstr>投影片標題</vt:lpstr>
      </vt:variant>
      <vt:variant>
        <vt:i4>40</vt:i4>
      </vt:variant>
    </vt:vector>
  </HeadingPairs>
  <TitlesOfParts>
    <vt:vector size="41" baseType="lpstr">
      <vt:lpstr>Office 佈景主題</vt:lpstr>
      <vt:lpstr>A General Method Applicable to the Search for Similarities in the Amino Acid Sequence of Two Proteins</vt:lpstr>
      <vt:lpstr>Abstract</vt:lpstr>
      <vt:lpstr>Abstract</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ON THE THEORY AND COMPUTATION OF EVOLUTIONARY DISTANCES</vt:lpstr>
      <vt:lpstr>Abstract</vt:lpstr>
      <vt:lpstr>Algorithm</vt:lpstr>
      <vt:lpstr>Algorithm</vt:lpstr>
      <vt:lpstr>Algorithm</vt:lpstr>
      <vt:lpstr>Algorithm</vt:lpstr>
      <vt:lpstr>Algorithm</vt:lpstr>
      <vt:lpstr>Algorithm</vt:lpstr>
      <vt:lpstr>Algorithm</vt:lpstr>
      <vt:lpstr>Algorithm</vt:lpstr>
      <vt:lpstr>Algorithm</vt:lpstr>
      <vt:lpstr>Algorithm</vt:lpstr>
      <vt:lpstr>Algorithm</vt:lpstr>
      <vt:lpstr>Comparative Biosequence Metrics</vt:lpstr>
      <vt:lpstr>Abstract</vt:lpstr>
      <vt:lpstr>Needleman–Wunsch algorithm vs. Sellers algorithm</vt:lpstr>
      <vt:lpstr>Analysis</vt:lpstr>
      <vt:lpstr>Analysis</vt:lpstr>
      <vt:lpstr>Analysis</vt:lpstr>
      <vt:lpstr>Analysis</vt:lpstr>
      <vt:lpstr>Analysis</vt:lpstr>
      <vt:lpstr>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General Method Applicable to the Search for Similarities in the Amino Acid Sequence of Two Proteins</dc:title>
  <dc:creator>yotsuki</dc:creator>
  <cp:lastModifiedBy>GC_GUO</cp:lastModifiedBy>
  <cp:revision>96</cp:revision>
  <dcterms:created xsi:type="dcterms:W3CDTF">2014-05-13T18:18:51Z</dcterms:created>
  <dcterms:modified xsi:type="dcterms:W3CDTF">2014-05-14T13:34:52Z</dcterms:modified>
</cp:coreProperties>
</file>