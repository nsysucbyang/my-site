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73" r:id="rId9"/>
    <p:sldId id="274" r:id="rId10"/>
    <p:sldId id="275" r:id="rId11"/>
    <p:sldId id="263" r:id="rId12"/>
    <p:sldId id="264" r:id="rId13"/>
    <p:sldId id="267" r:id="rId14"/>
    <p:sldId id="269" r:id="rId15"/>
    <p:sldId id="271" r:id="rId16"/>
    <p:sldId id="272" r:id="rId17"/>
    <p:sldId id="266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8AE9-4F6E-41CC-B2F0-78B4E9FABE1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08DB-96D6-4BF5-8F05-60D261D33B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2163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8AE9-4F6E-41CC-B2F0-78B4E9FABE1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08DB-96D6-4BF5-8F05-60D261D33B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032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8AE9-4F6E-41CC-B2F0-78B4E9FABE1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08DB-96D6-4BF5-8F05-60D261D33B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64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8AE9-4F6E-41CC-B2F0-78B4E9FABE1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08DB-96D6-4BF5-8F05-60D261D33B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87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8AE9-4F6E-41CC-B2F0-78B4E9FABE1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08DB-96D6-4BF5-8F05-60D261D33B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9637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8AE9-4F6E-41CC-B2F0-78B4E9FABE1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08DB-96D6-4BF5-8F05-60D261D33B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85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8AE9-4F6E-41CC-B2F0-78B4E9FABE1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08DB-96D6-4BF5-8F05-60D261D33B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438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8AE9-4F6E-41CC-B2F0-78B4E9FABE1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08DB-96D6-4BF5-8F05-60D261D33B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1179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8AE9-4F6E-41CC-B2F0-78B4E9FABE1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08DB-96D6-4BF5-8F05-60D261D33B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699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8AE9-4F6E-41CC-B2F0-78B4E9FABE1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08DB-96D6-4BF5-8F05-60D261D33B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1772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8AE9-4F6E-41CC-B2F0-78B4E9FABE1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08DB-96D6-4BF5-8F05-60D261D33B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7505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C8AE9-4F6E-41CC-B2F0-78B4E9FABE1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308DB-96D6-4BF5-8F05-60D261D33B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20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link.springer.com/journal/239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Gungsuh" panose="02030600000101010101" pitchFamily="18" charset="-127"/>
                <a:ea typeface="Gungsuh" panose="02030600000101010101" pitchFamily="18" charset="-127"/>
              </a:rPr>
              <a:t>The alignment of sets of sequences and the construction of phylogenetic trees:</a:t>
            </a:r>
            <a:br>
              <a:rPr lang="en-US" altLang="zh-TW" sz="2400" b="1" dirty="0">
                <a:latin typeface="Gungsuh" panose="02030600000101010101" pitchFamily="18" charset="-127"/>
                <a:ea typeface="Gungsuh" panose="02030600000101010101" pitchFamily="18" charset="-127"/>
              </a:rPr>
            </a:br>
            <a:r>
              <a:rPr lang="en-US" altLang="zh-TW" sz="2400" b="1" dirty="0">
                <a:latin typeface="Gungsuh" panose="02030600000101010101" pitchFamily="18" charset="-127"/>
                <a:ea typeface="Gungsuh" panose="02030600000101010101" pitchFamily="18" charset="-127"/>
              </a:rPr>
              <a:t>An integrated </a:t>
            </a:r>
            <a:r>
              <a:rPr lang="en-US" altLang="zh-TW" sz="24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method</a:t>
            </a:r>
            <a:r>
              <a:rPr lang="zh-TW" altLang="en-US" sz="24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</a:t>
            </a:r>
            <a:r>
              <a:rPr lang="en-US" altLang="zh-TW" sz="2400" b="1" dirty="0">
                <a:latin typeface="Gungsuh" panose="02030600000101010101" pitchFamily="18" charset="-127"/>
                <a:ea typeface="Gungsuh" panose="02030600000101010101" pitchFamily="18" charset="-127"/>
              </a:rPr>
              <a:t/>
            </a:r>
            <a:br>
              <a:rPr lang="en-US" altLang="zh-TW" sz="2400" b="1" dirty="0">
                <a:latin typeface="Gungsuh" panose="02030600000101010101" pitchFamily="18" charset="-127"/>
                <a:ea typeface="Gungsuh" panose="02030600000101010101" pitchFamily="18" charset="-127"/>
              </a:rPr>
            </a:br>
            <a:endParaRPr lang="zh-TW" altLang="en-US" sz="24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r" fontAlgn="base"/>
            <a:r>
              <a:rPr lang="en-US" altLang="zh-TW" sz="1500" dirty="0"/>
              <a:t>P. </a:t>
            </a:r>
            <a:r>
              <a:rPr lang="en-US" altLang="zh-TW" sz="1500" dirty="0" err="1"/>
              <a:t>Hogeweg</a:t>
            </a:r>
            <a:r>
              <a:rPr lang="en-US" altLang="zh-TW" sz="1500" dirty="0"/>
              <a:t>, B. </a:t>
            </a:r>
            <a:r>
              <a:rPr lang="en-US" altLang="zh-TW" sz="1500" dirty="0" err="1"/>
              <a:t>Hesper</a:t>
            </a:r>
            <a:endParaRPr lang="en-US" altLang="zh-TW" sz="1500" dirty="0">
              <a:hlinkClick r:id="rId2"/>
            </a:endParaRPr>
          </a:p>
          <a:p>
            <a:pPr algn="r" fontAlgn="base"/>
            <a:r>
              <a:rPr lang="en-US" altLang="zh-TW" sz="1500" dirty="0" err="1"/>
              <a:t>Joural</a:t>
            </a:r>
            <a:r>
              <a:rPr lang="en-US" altLang="zh-TW" sz="1500" dirty="0"/>
              <a:t> of Molecular Evolution</a:t>
            </a:r>
          </a:p>
          <a:p>
            <a:pPr algn="r"/>
            <a:r>
              <a:rPr lang="en-US" altLang="zh-TW" sz="1500" dirty="0"/>
              <a:t>1984, Volume 20,Issue 2, pp 175-186</a:t>
            </a:r>
          </a:p>
          <a:p>
            <a:pPr algn="r"/>
            <a:r>
              <a:rPr lang="en-US" altLang="zh-TW" sz="1500" dirty="0"/>
              <a:t>Presenter: </a:t>
            </a:r>
            <a:r>
              <a:rPr lang="en-US" altLang="zh-TW" sz="1500" dirty="0" smtClean="0"/>
              <a:t>Ding-Yao </a:t>
            </a:r>
            <a:r>
              <a:rPr lang="en-US" altLang="zh-TW" sz="1500" dirty="0"/>
              <a:t>Huang</a:t>
            </a:r>
          </a:p>
          <a:p>
            <a:pPr algn="r"/>
            <a:r>
              <a:rPr lang="en-US" altLang="zh-TW" sz="1500" smtClean="0"/>
              <a:t>2014/3/10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23360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Abstract</a:t>
            </a:r>
            <a:endParaRPr lang="zh-TW" altLang="en-US" sz="40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zh-TW" dirty="0"/>
              <a:t>In this paper we argue that the alignment of sets of sequences and the construction of phyletic trees cannot be treated separately. The concept of </a:t>
            </a:r>
            <a:r>
              <a:rPr lang="en-US" altLang="zh-TW" dirty="0" smtClean="0"/>
              <a:t>‘good alignment’ </a:t>
            </a:r>
            <a:r>
              <a:rPr lang="en-US" altLang="zh-TW" dirty="0"/>
              <a:t>is meaningless without reference to a phyletic tree, and the construction of phyletic trees presupposes alignment of the sequences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fontAlgn="base"/>
            <a:r>
              <a:rPr lang="en-US" altLang="zh-TW" dirty="0"/>
              <a:t>We propose an integrated method that generates both an alignment of a set of sequences and a phyletic tree. In this method a putative tree is used to align the sequences and the alignment obtained is used to adjust the tree; this process is iterated. As a demonstration we apply the method to the analysis of the evolution of 5S </a:t>
            </a:r>
            <a:r>
              <a:rPr lang="en-US" altLang="zh-TW" dirty="0" err="1"/>
              <a:t>rRNA</a:t>
            </a:r>
            <a:r>
              <a:rPr lang="en-US" altLang="zh-TW" dirty="0"/>
              <a:t> sequences in prokaryotes.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419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700" b="1" dirty="0">
                <a:latin typeface="Gungsuh" panose="02030600000101010101" pitchFamily="18" charset="-127"/>
                <a:ea typeface="Gungsuh" panose="02030600000101010101" pitchFamily="18" charset="-127"/>
              </a:rPr>
              <a:t>The Alignment of Molecular </a:t>
            </a:r>
            <a:r>
              <a:rPr lang="en-US" altLang="zh-TW" sz="27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Sequences</a:t>
            </a:r>
            <a:endParaRPr lang="zh-TW" altLang="en-US" sz="27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38504"/>
            <a:ext cx="7886700" cy="4351338"/>
          </a:xfrm>
        </p:spPr>
        <p:txBody>
          <a:bodyPr/>
          <a:lstStyle/>
          <a:p>
            <a:pPr lvl="1"/>
            <a:r>
              <a:rPr lang="en-US" altLang="zh-TW" sz="2800" dirty="0" smtClean="0"/>
              <a:t>Alignment </a:t>
            </a:r>
          </a:p>
          <a:p>
            <a:pPr lvl="2"/>
            <a:r>
              <a:rPr lang="en-US" altLang="zh-TW" sz="2000" dirty="0">
                <a:solidFill>
                  <a:srgbClr val="FF0000"/>
                </a:solidFill>
              </a:rPr>
              <a:t>Insertions</a:t>
            </a:r>
          </a:p>
          <a:p>
            <a:pPr lvl="2"/>
            <a:r>
              <a:rPr lang="en-US" altLang="zh-TW" sz="2000" dirty="0">
                <a:solidFill>
                  <a:srgbClr val="00B0F0"/>
                </a:solidFill>
              </a:rPr>
              <a:t>Deletions</a:t>
            </a:r>
          </a:p>
          <a:p>
            <a:pPr lvl="2"/>
            <a:r>
              <a:rPr lang="en-US" altLang="zh-TW" sz="2000" dirty="0" smtClean="0">
                <a:solidFill>
                  <a:srgbClr val="92D050"/>
                </a:solidFill>
              </a:rPr>
              <a:t>Changes</a:t>
            </a:r>
          </a:p>
          <a:p>
            <a:pPr lvl="2"/>
            <a:endParaRPr lang="en-US" altLang="zh-TW" sz="2800" dirty="0" smtClean="0"/>
          </a:p>
          <a:p>
            <a:pPr lvl="1"/>
            <a:r>
              <a:rPr lang="en-US" altLang="zh-TW" sz="2800" dirty="0" smtClean="0"/>
              <a:t>Bias</a:t>
            </a:r>
          </a:p>
          <a:p>
            <a:pPr lvl="2"/>
            <a:r>
              <a:rPr lang="en-US" altLang="zh-TW" sz="2400" dirty="0" smtClean="0"/>
              <a:t>Bias=X,Y</a:t>
            </a:r>
          </a:p>
          <a:p>
            <a:pPr marL="566928" lvl="3" indent="0">
              <a:buNone/>
            </a:pPr>
            <a:r>
              <a:rPr lang="en-US" altLang="zh-TW" sz="2000" dirty="0" smtClean="0"/>
              <a:t>X </a:t>
            </a:r>
            <a:r>
              <a:rPr lang="zh-TW" altLang="en-US" sz="2000" dirty="0" smtClean="0"/>
              <a:t>是 </a:t>
            </a:r>
            <a:r>
              <a:rPr lang="en-US" altLang="zh-TW" sz="2000" dirty="0" smtClean="0"/>
              <a:t>insertion/deletion </a:t>
            </a:r>
            <a:r>
              <a:rPr lang="zh-TW" altLang="en-US" sz="2000" dirty="0" smtClean="0"/>
              <a:t>的</a:t>
            </a:r>
            <a:r>
              <a:rPr lang="en-US" altLang="zh-TW" sz="2000" dirty="0" smtClean="0"/>
              <a:t>penalty(</a:t>
            </a:r>
            <a:r>
              <a:rPr lang="zh-TW" altLang="en-US" sz="1600" dirty="0" smtClean="0"/>
              <a:t>假設</a:t>
            </a:r>
            <a:r>
              <a:rPr lang="en-US" altLang="zh-TW" sz="1600" dirty="0" smtClean="0"/>
              <a:t>1</a:t>
            </a:r>
            <a:r>
              <a:rPr lang="en-US" altLang="zh-TW" sz="2000" dirty="0" smtClean="0"/>
              <a:t>)</a:t>
            </a:r>
          </a:p>
          <a:p>
            <a:pPr marL="566928" lvl="3" indent="0">
              <a:buNone/>
            </a:pPr>
            <a:r>
              <a:rPr lang="en-US" altLang="zh-TW" sz="2000" dirty="0" smtClean="0"/>
              <a:t>Y</a:t>
            </a:r>
            <a:r>
              <a:rPr lang="zh-TW" altLang="en-US" sz="2000" dirty="0" smtClean="0"/>
              <a:t> 是根據空格長度的</a:t>
            </a:r>
            <a:r>
              <a:rPr lang="en-US" altLang="zh-TW" sz="2000" dirty="0" smtClean="0"/>
              <a:t>penalty</a:t>
            </a:r>
            <a:r>
              <a:rPr lang="en-US" altLang="zh-TW" sz="2000" dirty="0"/>
              <a:t>(</a:t>
            </a:r>
            <a:r>
              <a:rPr lang="zh-TW" altLang="en-US" sz="1600" dirty="0" smtClean="0"/>
              <a:t>假設</a:t>
            </a:r>
            <a:r>
              <a:rPr lang="en-US" altLang="zh-TW" sz="1600" dirty="0" smtClean="0"/>
              <a:t>0.1</a:t>
            </a:r>
            <a:r>
              <a:rPr lang="en-US" altLang="zh-TW" sz="2000" dirty="0"/>
              <a:t>)</a:t>
            </a:r>
          </a:p>
          <a:p>
            <a:pPr marL="566928" lvl="3" indent="0">
              <a:buNone/>
            </a:pPr>
            <a:endParaRPr lang="en-US" altLang="zh-TW" sz="2000" dirty="0" smtClean="0"/>
          </a:p>
          <a:p>
            <a:endParaRPr lang="en-US" altLang="zh-TW" sz="2800" dirty="0" smtClean="0"/>
          </a:p>
          <a:p>
            <a:endParaRPr lang="en-US" altLang="zh-TW" sz="2800" dirty="0" smtClean="0"/>
          </a:p>
          <a:p>
            <a:pPr lvl="1"/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233375" y="2315141"/>
            <a:ext cx="3837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F</a:t>
            </a:r>
            <a:r>
              <a:rPr lang="en-US" altLang="zh-TW" sz="2400" dirty="0" smtClean="0">
                <a:solidFill>
                  <a:srgbClr val="00B0F0"/>
                </a:solidFill>
              </a:rPr>
              <a:t>A</a:t>
            </a:r>
            <a:r>
              <a:rPr lang="en-US" altLang="zh-TW" sz="2400" dirty="0" smtClean="0"/>
              <a:t>J</a:t>
            </a:r>
            <a:r>
              <a:rPr lang="en-US" altLang="zh-TW" sz="2400" dirty="0" smtClean="0">
                <a:solidFill>
                  <a:srgbClr val="92D050"/>
                </a:solidFill>
              </a:rPr>
              <a:t>G</a:t>
            </a:r>
            <a:r>
              <a:rPr lang="en-US" altLang="zh-TW" sz="2400" dirty="0" smtClean="0">
                <a:solidFill>
                  <a:srgbClr val="FF0000"/>
                </a:solidFill>
              </a:rPr>
              <a:t>_</a:t>
            </a:r>
            <a:r>
              <a:rPr lang="en-US" altLang="zh-TW" sz="2400" dirty="0" smtClean="0"/>
              <a:t>S</a:t>
            </a:r>
            <a:r>
              <a:rPr lang="en-US" altLang="zh-TW" sz="2400" dirty="0" smtClean="0">
                <a:solidFill>
                  <a:srgbClr val="00B0F0"/>
                </a:solidFill>
              </a:rPr>
              <a:t>D</a:t>
            </a:r>
            <a:r>
              <a:rPr lang="en-US" altLang="zh-TW" sz="2400" dirty="0" smtClean="0"/>
              <a:t>J</a:t>
            </a:r>
            <a:r>
              <a:rPr lang="en-US" altLang="zh-TW" sz="2400" dirty="0" smtClean="0">
                <a:solidFill>
                  <a:srgbClr val="FF0000"/>
                </a:solidFill>
              </a:rPr>
              <a:t>_</a:t>
            </a:r>
            <a:r>
              <a:rPr lang="en-US" altLang="zh-TW" sz="2400" dirty="0" smtClean="0"/>
              <a:t>FZX</a:t>
            </a:r>
          </a:p>
          <a:p>
            <a:r>
              <a:rPr lang="en-US" altLang="zh-TW" sz="2400" dirty="0" smtClean="0"/>
              <a:t>F</a:t>
            </a:r>
            <a:r>
              <a:rPr lang="en-US" altLang="zh-TW" sz="2400" dirty="0" smtClean="0">
                <a:solidFill>
                  <a:srgbClr val="00B0F0"/>
                </a:solidFill>
              </a:rPr>
              <a:t>_</a:t>
            </a:r>
            <a:r>
              <a:rPr lang="en-US" altLang="zh-TW" sz="2400" dirty="0" smtClean="0"/>
              <a:t>J</a:t>
            </a:r>
            <a:r>
              <a:rPr lang="en-US" altLang="zh-TW" sz="2400" dirty="0" smtClean="0">
                <a:solidFill>
                  <a:srgbClr val="92D050"/>
                </a:solidFill>
              </a:rPr>
              <a:t>A</a:t>
            </a:r>
            <a:r>
              <a:rPr lang="en-US" altLang="zh-TW" sz="2400" dirty="0" smtClean="0">
                <a:solidFill>
                  <a:srgbClr val="FF0000"/>
                </a:solidFill>
              </a:rPr>
              <a:t>B</a:t>
            </a:r>
            <a:r>
              <a:rPr lang="en-US" altLang="zh-TW" sz="2400" dirty="0" smtClean="0"/>
              <a:t>S</a:t>
            </a:r>
            <a:r>
              <a:rPr lang="en-US" altLang="zh-TW" sz="2400" dirty="0" smtClean="0">
                <a:solidFill>
                  <a:srgbClr val="00B0F0"/>
                </a:solidFill>
              </a:rPr>
              <a:t>_</a:t>
            </a:r>
            <a:r>
              <a:rPr lang="en-US" altLang="zh-TW" sz="2400" dirty="0" smtClean="0"/>
              <a:t>J</a:t>
            </a:r>
            <a:r>
              <a:rPr lang="en-US" altLang="zh-TW" sz="2400" dirty="0" smtClean="0">
                <a:solidFill>
                  <a:srgbClr val="FF0000"/>
                </a:solidFill>
              </a:rPr>
              <a:t>C</a:t>
            </a:r>
            <a:r>
              <a:rPr lang="en-US" altLang="zh-TW" sz="2400" dirty="0" smtClean="0"/>
              <a:t>FZX</a:t>
            </a:r>
            <a:r>
              <a:rPr lang="zh-TW" altLang="en-US" sz="2400" dirty="0" smtClean="0"/>
              <a:t> </a:t>
            </a:r>
            <a:endParaRPr lang="zh-TW" altLang="en-US" sz="24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705341" y="4353060"/>
            <a:ext cx="39151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F</a:t>
            </a:r>
            <a:r>
              <a:rPr lang="en-US" altLang="zh-TW" sz="2400" dirty="0" smtClean="0">
                <a:solidFill>
                  <a:srgbClr val="00B0F0"/>
                </a:solidFill>
              </a:rPr>
              <a:t>A</a:t>
            </a:r>
            <a:r>
              <a:rPr lang="en-US" altLang="zh-TW" sz="2400" dirty="0" smtClean="0"/>
              <a:t>J</a:t>
            </a:r>
            <a:r>
              <a:rPr lang="en-US" altLang="zh-TW" sz="2400" dirty="0" smtClean="0">
                <a:solidFill>
                  <a:srgbClr val="92D050"/>
                </a:solidFill>
              </a:rPr>
              <a:t>G</a:t>
            </a:r>
            <a:r>
              <a:rPr lang="en-US" altLang="zh-TW" sz="2400" dirty="0" smtClean="0">
                <a:solidFill>
                  <a:srgbClr val="FF0000"/>
                </a:solidFill>
              </a:rPr>
              <a:t>_</a:t>
            </a:r>
            <a:r>
              <a:rPr lang="en-US" altLang="zh-TW" sz="2400" dirty="0" smtClean="0"/>
              <a:t>S</a:t>
            </a:r>
            <a:r>
              <a:rPr lang="en-US" altLang="zh-TW" sz="2400" dirty="0" smtClean="0">
                <a:solidFill>
                  <a:srgbClr val="00B0F0"/>
                </a:solidFill>
              </a:rPr>
              <a:t>D</a:t>
            </a:r>
            <a:r>
              <a:rPr lang="en-US" altLang="zh-TW" sz="2400" dirty="0" smtClean="0"/>
              <a:t>J</a:t>
            </a:r>
            <a:r>
              <a:rPr lang="en-US" altLang="zh-TW" sz="2400" dirty="0" smtClean="0">
                <a:solidFill>
                  <a:srgbClr val="FF0000"/>
                </a:solidFill>
              </a:rPr>
              <a:t>_</a:t>
            </a:r>
            <a:r>
              <a:rPr lang="en-US" altLang="zh-TW" sz="2400" dirty="0" smtClean="0"/>
              <a:t>FZX</a:t>
            </a:r>
          </a:p>
          <a:p>
            <a:r>
              <a:rPr lang="en-US" altLang="zh-TW" sz="2400" dirty="0" smtClean="0"/>
              <a:t>F</a:t>
            </a:r>
            <a:r>
              <a:rPr lang="en-US" altLang="zh-TW" sz="2400" dirty="0" smtClean="0">
                <a:solidFill>
                  <a:srgbClr val="00B0F0"/>
                </a:solidFill>
              </a:rPr>
              <a:t>_</a:t>
            </a:r>
            <a:r>
              <a:rPr lang="en-US" altLang="zh-TW" sz="2400" dirty="0" smtClean="0"/>
              <a:t>J</a:t>
            </a:r>
            <a:r>
              <a:rPr lang="en-US" altLang="zh-TW" sz="2400" dirty="0">
                <a:solidFill>
                  <a:srgbClr val="92D050"/>
                </a:solidFill>
              </a:rPr>
              <a:t>A</a:t>
            </a:r>
            <a:r>
              <a:rPr lang="en-US" altLang="zh-TW" sz="2400" dirty="0" smtClean="0">
                <a:solidFill>
                  <a:srgbClr val="FF0000"/>
                </a:solidFill>
              </a:rPr>
              <a:t>B</a:t>
            </a:r>
            <a:r>
              <a:rPr lang="en-US" altLang="zh-TW" sz="2400" dirty="0" smtClean="0"/>
              <a:t>S</a:t>
            </a:r>
            <a:r>
              <a:rPr lang="en-US" altLang="zh-TW" sz="2400" dirty="0" smtClean="0">
                <a:solidFill>
                  <a:srgbClr val="00B0F0"/>
                </a:solidFill>
              </a:rPr>
              <a:t>_</a:t>
            </a:r>
            <a:r>
              <a:rPr lang="en-US" altLang="zh-TW" sz="2400" dirty="0" smtClean="0"/>
              <a:t>J</a:t>
            </a:r>
            <a:r>
              <a:rPr lang="en-US" altLang="zh-TW" sz="2400" dirty="0" smtClean="0">
                <a:solidFill>
                  <a:srgbClr val="FF0000"/>
                </a:solidFill>
              </a:rPr>
              <a:t>C</a:t>
            </a:r>
            <a:r>
              <a:rPr lang="en-US" altLang="zh-TW" sz="2400" dirty="0" smtClean="0"/>
              <a:t>FZX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7-2</a:t>
            </a:r>
            <a:r>
              <a:rPr lang="zh-TW" altLang="en-US" sz="2400" dirty="0" smtClean="0"/>
              <a:t>*</a:t>
            </a:r>
            <a:r>
              <a:rPr lang="en-US" altLang="zh-TW" sz="2400" dirty="0" smtClean="0">
                <a:solidFill>
                  <a:srgbClr val="00B0F0"/>
                </a:solidFill>
              </a:rPr>
              <a:t>1</a:t>
            </a:r>
            <a:r>
              <a:rPr lang="en-US" altLang="zh-TW" sz="2400" dirty="0" smtClean="0"/>
              <a:t>-2</a:t>
            </a:r>
            <a:r>
              <a:rPr lang="zh-TW" altLang="en-US" sz="2400" dirty="0" smtClean="0"/>
              <a:t>*</a:t>
            </a:r>
            <a:r>
              <a:rPr lang="en-US" altLang="zh-TW" sz="2400" dirty="0" smtClean="0">
                <a:solidFill>
                  <a:srgbClr val="FF0000"/>
                </a:solidFill>
              </a:rPr>
              <a:t>1</a:t>
            </a:r>
            <a:r>
              <a:rPr lang="en-US" altLang="zh-TW" sz="2400" dirty="0" smtClean="0"/>
              <a:t>-4*0.1-</a:t>
            </a:r>
            <a:r>
              <a:rPr lang="en-US" altLang="zh-TW" sz="2400" dirty="0" smtClean="0">
                <a:solidFill>
                  <a:srgbClr val="92D050"/>
                </a:solidFill>
              </a:rPr>
              <a:t>2</a:t>
            </a:r>
            <a:r>
              <a:rPr lang="en-US" altLang="zh-TW" sz="2400" dirty="0" smtClean="0"/>
              <a:t>=0.4</a:t>
            </a:r>
            <a:endParaRPr lang="zh-TW" altLang="en-US" sz="24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4572001" y="2315141"/>
            <a:ext cx="17644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Sequence A</a:t>
            </a:r>
          </a:p>
          <a:p>
            <a:r>
              <a:rPr lang="en-US" altLang="zh-TW" sz="2400" dirty="0"/>
              <a:t>Sequence </a:t>
            </a:r>
            <a:r>
              <a:rPr lang="en-US" altLang="zh-TW" sz="2400" dirty="0" smtClean="0"/>
              <a:t>B</a:t>
            </a:r>
            <a:r>
              <a:rPr lang="zh-TW" altLang="en-US" sz="2400" dirty="0" smtClean="0"/>
              <a:t>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694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Phyletic Tree Construction</a:t>
            </a:r>
            <a:endParaRPr lang="zh-TW" altLang="en-US" sz="28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30676"/>
            <a:ext cx="7886700" cy="4351338"/>
          </a:xfrm>
        </p:spPr>
        <p:txBody>
          <a:bodyPr/>
          <a:lstStyle/>
          <a:p>
            <a:r>
              <a:rPr lang="en-US" altLang="zh-TW" sz="2800" b="1" dirty="0" smtClean="0"/>
              <a:t>Heuristic methods </a:t>
            </a:r>
          </a:p>
          <a:p>
            <a:r>
              <a:rPr lang="en-US" altLang="zh-TW" dirty="0" smtClean="0"/>
              <a:t>Matrix method</a:t>
            </a:r>
          </a:p>
          <a:p>
            <a:pPr lvl="1"/>
            <a:r>
              <a:rPr lang="en-US" altLang="zh-TW" dirty="0" smtClean="0"/>
              <a:t>No need a global alignment</a:t>
            </a:r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 smtClean="0"/>
              <a:t>Character-based method</a:t>
            </a:r>
          </a:p>
          <a:p>
            <a:pPr lvl="1"/>
            <a:r>
              <a:rPr lang="en-US" altLang="zh-TW" dirty="0" smtClean="0"/>
              <a:t>Need a global alignment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763417" y="5038097"/>
            <a:ext cx="35608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F</a:t>
            </a:r>
            <a:r>
              <a:rPr lang="en-US" altLang="zh-TW" sz="2400" dirty="0" smtClean="0">
                <a:solidFill>
                  <a:srgbClr val="00B0F0"/>
                </a:solidFill>
              </a:rPr>
              <a:t>A</a:t>
            </a:r>
            <a:r>
              <a:rPr lang="en-US" altLang="zh-TW" sz="2400" dirty="0" smtClean="0"/>
              <a:t>J</a:t>
            </a:r>
            <a:r>
              <a:rPr lang="en-US" altLang="zh-TW" sz="2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G</a:t>
            </a:r>
            <a:r>
              <a:rPr lang="en-US" altLang="zh-TW" sz="2400" dirty="0" smtClean="0">
                <a:solidFill>
                  <a:srgbClr val="FF0000"/>
                </a:solidFill>
              </a:rPr>
              <a:t>_</a:t>
            </a:r>
            <a:r>
              <a:rPr lang="en-US" altLang="zh-TW" sz="2400" dirty="0" smtClean="0"/>
              <a:t>S</a:t>
            </a:r>
            <a:r>
              <a:rPr lang="en-US" altLang="zh-TW" sz="2400" dirty="0" smtClean="0">
                <a:solidFill>
                  <a:srgbClr val="00B0F0"/>
                </a:solidFill>
              </a:rPr>
              <a:t>D</a:t>
            </a:r>
            <a:r>
              <a:rPr lang="en-US" altLang="zh-TW" sz="2400" dirty="0" smtClean="0"/>
              <a:t>J</a:t>
            </a:r>
            <a:r>
              <a:rPr lang="en-US" altLang="zh-TW" sz="2400" dirty="0" smtClean="0">
                <a:solidFill>
                  <a:srgbClr val="FF0000"/>
                </a:solidFill>
              </a:rPr>
              <a:t>_</a:t>
            </a:r>
            <a:r>
              <a:rPr lang="en-US" altLang="zh-TW" sz="2400" dirty="0" smtClean="0"/>
              <a:t>FZX</a:t>
            </a:r>
          </a:p>
          <a:p>
            <a:r>
              <a:rPr lang="en-US" altLang="zh-TW" sz="2400" dirty="0" smtClean="0"/>
              <a:t>F</a:t>
            </a:r>
            <a:r>
              <a:rPr lang="en-US" altLang="zh-TW" sz="2400" dirty="0" smtClean="0">
                <a:solidFill>
                  <a:srgbClr val="00B0F0"/>
                </a:solidFill>
              </a:rPr>
              <a:t>_</a:t>
            </a:r>
            <a:r>
              <a:rPr lang="en-US" altLang="zh-TW" sz="2400" dirty="0" smtClean="0"/>
              <a:t>J</a:t>
            </a:r>
            <a:r>
              <a:rPr lang="en-US" altLang="zh-TW" sz="2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</a:t>
            </a:r>
            <a:r>
              <a:rPr lang="en-US" altLang="zh-TW" sz="2400" dirty="0" smtClean="0">
                <a:solidFill>
                  <a:srgbClr val="FF0000"/>
                </a:solidFill>
              </a:rPr>
              <a:t>B</a:t>
            </a:r>
            <a:r>
              <a:rPr lang="en-US" altLang="zh-TW" sz="2400" dirty="0" smtClean="0"/>
              <a:t>S</a:t>
            </a:r>
            <a:r>
              <a:rPr lang="en-US" altLang="zh-TW" sz="2400" dirty="0" smtClean="0">
                <a:solidFill>
                  <a:srgbClr val="00B0F0"/>
                </a:solidFill>
              </a:rPr>
              <a:t>_</a:t>
            </a:r>
            <a:r>
              <a:rPr lang="en-US" altLang="zh-TW" sz="2400" dirty="0" smtClean="0"/>
              <a:t>J</a:t>
            </a:r>
            <a:r>
              <a:rPr lang="en-US" altLang="zh-TW" sz="2400" dirty="0" smtClean="0">
                <a:solidFill>
                  <a:srgbClr val="FF0000"/>
                </a:solidFill>
              </a:rPr>
              <a:t>C</a:t>
            </a:r>
            <a:r>
              <a:rPr lang="en-US" altLang="zh-TW" sz="2400" dirty="0" smtClean="0"/>
              <a:t>FZX</a:t>
            </a:r>
            <a:r>
              <a:rPr lang="zh-TW" altLang="en-US" sz="2400" dirty="0" smtClean="0"/>
              <a:t> 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122523"/>
              </p:ext>
            </p:extLst>
          </p:nvPr>
        </p:nvGraphicFramePr>
        <p:xfrm>
          <a:off x="4618673" y="1879921"/>
          <a:ext cx="3610930" cy="226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186"/>
                <a:gridCol w="722186"/>
                <a:gridCol w="722186"/>
                <a:gridCol w="722186"/>
                <a:gridCol w="722186"/>
              </a:tblGrid>
              <a:tr h="45208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4520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</a:t>
                      </a:r>
                      <a:endParaRPr lang="zh-TW" altLang="en-US" dirty="0"/>
                    </a:p>
                  </a:txBody>
                  <a:tcPr/>
                </a:tc>
              </a:tr>
              <a:tr h="4520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0.8</a:t>
                      </a:r>
                      <a:endParaRPr lang="zh-TW" altLang="en-US" dirty="0"/>
                    </a:p>
                  </a:txBody>
                  <a:tcPr/>
                </a:tc>
              </a:tr>
              <a:tr h="4520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</a:tr>
              <a:tr h="4520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459492" y="5038097"/>
            <a:ext cx="15163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Species A</a:t>
            </a:r>
          </a:p>
          <a:p>
            <a:r>
              <a:rPr lang="en-US" altLang="zh-TW" sz="2400" dirty="0"/>
              <a:t>Species </a:t>
            </a:r>
            <a:r>
              <a:rPr lang="en-US" altLang="zh-TW" sz="2400" dirty="0" smtClean="0"/>
              <a:t>B</a:t>
            </a:r>
            <a:endParaRPr lang="en-US" altLang="zh-TW" sz="24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1857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Tree</a:t>
            </a:r>
            <a:endParaRPr lang="zh-TW" altLang="en-US" sz="32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266681"/>
            <a:ext cx="7582224" cy="291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9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2960" y="350998"/>
            <a:ext cx="7543800" cy="1450757"/>
          </a:xfrm>
        </p:spPr>
        <p:txBody>
          <a:bodyPr>
            <a:normAutofit/>
          </a:bodyPr>
          <a:lstStyle/>
          <a:p>
            <a:r>
              <a:rPr lang="en-US" altLang="zh-TW" sz="3200" b="1" smtClean="0">
                <a:latin typeface="Gungsuh" panose="02030600000101010101" pitchFamily="18" charset="-127"/>
                <a:ea typeface="Gungsuh" panose="02030600000101010101" pitchFamily="18" charset="-127"/>
              </a:rPr>
              <a:t>Method(outline)</a:t>
            </a:r>
            <a:endParaRPr lang="zh-TW" altLang="en-US" sz="32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0761" y="1841679"/>
            <a:ext cx="7915999" cy="402741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1. The concept of ‘good alignment’ refers to ancestry</a:t>
            </a:r>
          </a:p>
          <a:p>
            <a:pPr marL="0" indent="0">
              <a:buNone/>
            </a:pPr>
            <a:r>
              <a:rPr lang="en-US" altLang="zh-TW" dirty="0" smtClean="0"/>
              <a:t>2. Alignment and tree construction are decided by maximal matching </a:t>
            </a:r>
          </a:p>
          <a:p>
            <a:pPr marL="0" indent="0">
              <a:buNone/>
            </a:pPr>
            <a:r>
              <a:rPr lang="en-US" altLang="zh-TW" dirty="0" smtClean="0"/>
              <a:t>3. Pairwise alignments are feasible</a:t>
            </a:r>
          </a:p>
          <a:p>
            <a:pPr marL="0" indent="0">
              <a:buNone/>
            </a:pPr>
            <a:r>
              <a:rPr lang="en-US" altLang="zh-TW" dirty="0" smtClean="0"/>
              <a:t>4. Use matrix method to construct the tree</a:t>
            </a:r>
          </a:p>
          <a:p>
            <a:pPr marL="0" indent="0">
              <a:buNone/>
            </a:pPr>
            <a:r>
              <a:rPr lang="en-US" altLang="zh-TW" dirty="0" smtClean="0"/>
              <a:t>5. This tree is a binary tree</a:t>
            </a:r>
          </a:p>
          <a:p>
            <a:pPr marL="0" indent="0">
              <a:buNone/>
            </a:pPr>
            <a:r>
              <a:rPr lang="en-US" altLang="zh-TW" dirty="0" smtClean="0"/>
              <a:t>6. Alignments of the similarity sequence are the most reliable</a:t>
            </a:r>
          </a:p>
          <a:p>
            <a:pPr marL="0" indent="0">
              <a:buNone/>
            </a:pPr>
            <a:r>
              <a:rPr lang="en-US" altLang="zh-TW" dirty="0" smtClean="0"/>
              <a:t>7. Internode sequence 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863" y="4639209"/>
            <a:ext cx="5779716" cy="2218791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1849568" y="5949138"/>
            <a:ext cx="139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AT</a:t>
            </a:r>
            <a:r>
              <a:rPr lang="en-US" altLang="zh-TW" dirty="0" smtClean="0">
                <a:solidFill>
                  <a:srgbClr val="FF0000"/>
                </a:solidFill>
              </a:rPr>
              <a:t>T</a:t>
            </a:r>
            <a:r>
              <a:rPr lang="en-US" altLang="zh-TW" dirty="0" smtClean="0"/>
              <a:t>GCGATA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69745" y="5974025"/>
            <a:ext cx="139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ATCGCG</a:t>
            </a:r>
            <a:r>
              <a:rPr lang="en-US" altLang="zh-TW" dirty="0" smtClean="0">
                <a:solidFill>
                  <a:srgbClr val="FF0000"/>
                </a:solidFill>
              </a:rPr>
              <a:t>G</a:t>
            </a:r>
            <a:r>
              <a:rPr lang="en-US" altLang="zh-TW" dirty="0" smtClean="0"/>
              <a:t>TA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1150164" y="4745745"/>
            <a:ext cx="139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ATCGCGATA</a:t>
            </a:r>
            <a:endParaRPr lang="zh-TW" altLang="en-US" dirty="0"/>
          </a:p>
        </p:txBody>
      </p:sp>
      <p:cxnSp>
        <p:nvCxnSpPr>
          <p:cNvPr id="12" name="直線接點 11"/>
          <p:cNvCxnSpPr/>
          <p:nvPr/>
        </p:nvCxnSpPr>
        <p:spPr>
          <a:xfrm flipH="1">
            <a:off x="1160029" y="5115077"/>
            <a:ext cx="545281" cy="91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1705310" y="5127528"/>
            <a:ext cx="561156" cy="846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74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Method</a:t>
            </a:r>
            <a:endParaRPr lang="zh-TW" altLang="en-US" sz="3200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822959" y="1845733"/>
            <a:ext cx="7857402" cy="4039911"/>
          </a:xfrm>
        </p:spPr>
        <p:txBody>
          <a:bodyPr/>
          <a:lstStyle/>
          <a:p>
            <a:pPr lvl="0"/>
            <a:r>
              <a:rPr lang="en-US" altLang="zh-TW" dirty="0" smtClean="0"/>
              <a:t>Step1: Create N*N similarity matrix</a:t>
            </a:r>
            <a:endParaRPr lang="zh-TW" altLang="en-US" dirty="0" smtClean="0"/>
          </a:p>
          <a:p>
            <a:pPr lvl="0"/>
            <a:r>
              <a:rPr lang="en-US" altLang="zh-TW" dirty="0" smtClean="0"/>
              <a:t>Step2: Construct phyletic tree</a:t>
            </a:r>
            <a:endParaRPr lang="zh-TW" altLang="en-US" dirty="0" smtClean="0"/>
          </a:p>
          <a:p>
            <a:pPr lvl="0"/>
            <a:r>
              <a:rPr lang="en-US" altLang="zh-TW" dirty="0" smtClean="0"/>
              <a:t>Step3: Construct  pairwise </a:t>
            </a:r>
            <a:r>
              <a:rPr lang="en-US" altLang="zh-TW" dirty="0"/>
              <a:t>alignments and internode sequence</a:t>
            </a:r>
            <a:endParaRPr lang="zh-TW" altLang="en-US" dirty="0"/>
          </a:p>
          <a:p>
            <a:pPr lvl="0"/>
            <a:r>
              <a:rPr lang="en-US" altLang="zh-TW" dirty="0" smtClean="0"/>
              <a:t>Step4: Calculate </a:t>
            </a:r>
            <a:r>
              <a:rPr lang="en-US" altLang="zh-TW" dirty="0"/>
              <a:t>the number of  mutations and draw the tree</a:t>
            </a:r>
            <a:endParaRPr lang="zh-TW" altLang="en-US" dirty="0"/>
          </a:p>
          <a:p>
            <a:r>
              <a:rPr lang="en-US" altLang="zh-TW" dirty="0" smtClean="0"/>
              <a:t>Step5: Calculate character weights by the mutational frequency</a:t>
            </a:r>
          </a:p>
          <a:p>
            <a:r>
              <a:rPr lang="en-US" altLang="zh-TW" dirty="0" smtClean="0"/>
              <a:t>Step6: Adjust the similarity matrix by character weights</a:t>
            </a:r>
            <a:endParaRPr lang="zh-TW" altLang="en-US" dirty="0"/>
          </a:p>
          <a:p>
            <a:r>
              <a:rPr lang="en-US" altLang="zh-TW" dirty="0" smtClean="0"/>
              <a:t>Step7: Repeat from Step2 until convergence or the stopping rule is satisfied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683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26489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Gungsuh" panose="02030600000101010101" pitchFamily="18" charset="-127"/>
                <a:ea typeface="Gungsuh" panose="02030600000101010101" pitchFamily="18" charset="-127"/>
              </a:rPr>
              <a:t>Method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78039"/>
            <a:ext cx="7886700" cy="4786045"/>
          </a:xfrm>
        </p:spPr>
        <p:txBody>
          <a:bodyPr/>
          <a:lstStyle/>
          <a:p>
            <a:r>
              <a:rPr lang="en-US" altLang="zh-TW" dirty="0" smtClean="0"/>
              <a:t>Step1:</a:t>
            </a:r>
          </a:p>
          <a:p>
            <a:pPr marL="0" lvl="0" indent="0">
              <a:buNone/>
            </a:pPr>
            <a:r>
              <a:rPr lang="en-US" altLang="zh-TW" dirty="0"/>
              <a:t>Create N*N similarity </a:t>
            </a:r>
            <a:r>
              <a:rPr lang="en-US" altLang="zh-TW" dirty="0" smtClean="0"/>
              <a:t>matrix</a:t>
            </a:r>
          </a:p>
          <a:p>
            <a:pPr marL="0" lvl="0" indent="0">
              <a:buNone/>
            </a:pPr>
            <a:endParaRPr lang="en-US" altLang="zh-TW" dirty="0"/>
          </a:p>
          <a:p>
            <a:pPr marL="0" lvl="0" indent="0">
              <a:buNone/>
            </a:pPr>
            <a:endParaRPr lang="en-US" altLang="zh-TW" dirty="0" smtClean="0"/>
          </a:p>
          <a:p>
            <a:pPr marL="0" lvl="0" indent="0">
              <a:buNone/>
            </a:pPr>
            <a:endParaRPr lang="en-US" altLang="zh-TW" dirty="0"/>
          </a:p>
          <a:p>
            <a:pPr marL="0" lvl="0" indent="0">
              <a:buNone/>
            </a:pPr>
            <a:endParaRPr lang="en-US" altLang="zh-TW" dirty="0" smtClean="0"/>
          </a:p>
          <a:p>
            <a:pPr marL="0" lvl="0" indent="0">
              <a:buNone/>
            </a:pPr>
            <a:endParaRPr lang="en-US" altLang="zh-TW" dirty="0"/>
          </a:p>
          <a:p>
            <a:pPr marL="0" lv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Step2: Construct </a:t>
            </a:r>
            <a:r>
              <a:rPr lang="en-US" altLang="zh-TW" dirty="0"/>
              <a:t>phyletic tree</a:t>
            </a:r>
            <a:endParaRPr lang="zh-TW" altLang="en-US" dirty="0"/>
          </a:p>
          <a:p>
            <a:pPr marL="0" lvl="0" indent="0">
              <a:buNone/>
            </a:pPr>
            <a:endParaRPr lang="zh-TW" altLang="en-US" dirty="0"/>
          </a:p>
          <a:p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721" y="4789455"/>
            <a:ext cx="5388342" cy="2068545"/>
          </a:xfrm>
          <a:prstGeom prst="rect">
            <a:avLst/>
          </a:prstGeom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160688"/>
              </p:ext>
            </p:extLst>
          </p:nvPr>
        </p:nvGraphicFramePr>
        <p:xfrm>
          <a:off x="4569585" y="1941535"/>
          <a:ext cx="3610930" cy="226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186"/>
                <a:gridCol w="722186"/>
                <a:gridCol w="722186"/>
                <a:gridCol w="722186"/>
                <a:gridCol w="722186"/>
              </a:tblGrid>
              <a:tr h="45208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4520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</a:t>
                      </a:r>
                      <a:endParaRPr lang="zh-TW" altLang="en-US" dirty="0"/>
                    </a:p>
                  </a:txBody>
                  <a:tcPr/>
                </a:tc>
              </a:tr>
              <a:tr h="4520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0.8</a:t>
                      </a:r>
                      <a:endParaRPr lang="zh-TW" altLang="en-US" dirty="0"/>
                    </a:p>
                  </a:txBody>
                  <a:tcPr/>
                </a:tc>
              </a:tr>
              <a:tr h="4520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</a:tr>
              <a:tr h="4520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422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26489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Gungsuh" panose="02030600000101010101" pitchFamily="18" charset="-127"/>
                <a:ea typeface="Gungsuh" panose="02030600000101010101" pitchFamily="18" charset="-127"/>
              </a:rPr>
              <a:t>Method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78039"/>
            <a:ext cx="7886700" cy="4786045"/>
          </a:xfrm>
        </p:spPr>
        <p:txBody>
          <a:bodyPr/>
          <a:lstStyle/>
          <a:p>
            <a:r>
              <a:rPr lang="en-US" altLang="zh-TW" dirty="0" smtClean="0"/>
              <a:t>Step3:</a:t>
            </a:r>
          </a:p>
          <a:p>
            <a:pPr marL="0" lvl="0" indent="0">
              <a:buNone/>
            </a:pPr>
            <a:r>
              <a:rPr lang="en-US" altLang="zh-TW" dirty="0"/>
              <a:t>Construct </a:t>
            </a:r>
            <a:r>
              <a:rPr lang="en-US" altLang="zh-TW" dirty="0" smtClean="0"/>
              <a:t> </a:t>
            </a:r>
            <a:r>
              <a:rPr lang="en-US" altLang="zh-TW" dirty="0"/>
              <a:t>pairwise alignments and internode sequence</a:t>
            </a:r>
          </a:p>
          <a:p>
            <a:pPr marL="0" lvl="0" indent="0">
              <a:buNone/>
            </a:pPr>
            <a:endParaRPr lang="en-US" altLang="zh-TW" dirty="0" smtClean="0"/>
          </a:p>
          <a:p>
            <a:pPr marL="0" lvl="0" indent="0">
              <a:buNone/>
            </a:pPr>
            <a:endParaRPr lang="en-US" altLang="zh-TW" dirty="0"/>
          </a:p>
          <a:p>
            <a:pPr marL="0" lvl="0" indent="0">
              <a:buNone/>
            </a:pPr>
            <a:endParaRPr lang="en-US" altLang="zh-TW" dirty="0" smtClean="0"/>
          </a:p>
          <a:p>
            <a:pPr marL="0" lvl="0" indent="0">
              <a:buNone/>
            </a:pPr>
            <a:endParaRPr lang="en-US" altLang="zh-TW" dirty="0"/>
          </a:p>
          <a:p>
            <a:pPr marL="0" lvl="0" indent="0">
              <a:buNone/>
            </a:pPr>
            <a:endParaRPr lang="en-US" altLang="zh-TW" dirty="0" smtClean="0"/>
          </a:p>
          <a:p>
            <a:pPr lvl="0"/>
            <a:r>
              <a:rPr lang="en-US" altLang="zh-TW" dirty="0" smtClean="0"/>
              <a:t>Step4: </a:t>
            </a:r>
            <a:r>
              <a:rPr lang="en-US" altLang="zh-TW" dirty="0"/>
              <a:t>Calculate the number of  </a:t>
            </a:r>
            <a:r>
              <a:rPr lang="en-US" altLang="zh-TW" dirty="0" smtClean="0"/>
              <a:t>mutations  </a:t>
            </a:r>
            <a:r>
              <a:rPr lang="en-US" altLang="zh-TW" dirty="0"/>
              <a:t>and </a:t>
            </a:r>
            <a:r>
              <a:rPr lang="en-US" altLang="zh-TW" dirty="0" smtClean="0"/>
              <a:t>sign the branch length 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807934" y="3537663"/>
            <a:ext cx="139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AT</a:t>
            </a:r>
            <a:r>
              <a:rPr lang="en-US" altLang="zh-TW" dirty="0" smtClean="0">
                <a:solidFill>
                  <a:srgbClr val="FF0000"/>
                </a:solidFill>
              </a:rPr>
              <a:t>T</a:t>
            </a:r>
            <a:r>
              <a:rPr lang="en-US" altLang="zh-TW" dirty="0" smtClean="0"/>
              <a:t>GCGATA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228111" y="3562550"/>
            <a:ext cx="139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ATCGCG</a:t>
            </a:r>
            <a:r>
              <a:rPr lang="en-US" altLang="zh-TW" dirty="0" smtClean="0">
                <a:solidFill>
                  <a:srgbClr val="FF0000"/>
                </a:solidFill>
              </a:rPr>
              <a:t>G</a:t>
            </a:r>
            <a:r>
              <a:rPr lang="en-US" altLang="zh-TW" dirty="0" smtClean="0"/>
              <a:t>TA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108530" y="2334270"/>
            <a:ext cx="139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ATCGCGATA</a:t>
            </a:r>
            <a:endParaRPr lang="zh-TW" altLang="en-US" dirty="0"/>
          </a:p>
        </p:txBody>
      </p:sp>
      <p:cxnSp>
        <p:nvCxnSpPr>
          <p:cNvPr id="10" name="直線接點 9"/>
          <p:cNvCxnSpPr/>
          <p:nvPr/>
        </p:nvCxnSpPr>
        <p:spPr>
          <a:xfrm flipH="1">
            <a:off x="6118395" y="2703602"/>
            <a:ext cx="545281" cy="91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6663676" y="2716053"/>
            <a:ext cx="561156" cy="846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617025" y="2868236"/>
            <a:ext cx="139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ATCGCG</a:t>
            </a:r>
            <a:r>
              <a:rPr lang="en-US" altLang="zh-TW" dirty="0" smtClean="0">
                <a:solidFill>
                  <a:srgbClr val="FF0000"/>
                </a:solidFill>
              </a:rPr>
              <a:t>G</a:t>
            </a:r>
            <a:r>
              <a:rPr lang="en-US" altLang="zh-TW" dirty="0" smtClean="0"/>
              <a:t>TA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627860" y="2346721"/>
            <a:ext cx="1398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ATCGCGATA</a:t>
            </a:r>
          </a:p>
          <a:p>
            <a:r>
              <a:rPr lang="en-US" altLang="zh-TW" dirty="0" smtClean="0"/>
              <a:t>||||</a:t>
            </a:r>
            <a:r>
              <a:rPr lang="zh-TW" altLang="en-US" dirty="0" smtClean="0"/>
              <a:t> </a:t>
            </a:r>
            <a:r>
              <a:rPr lang="en-US" altLang="zh-TW" dirty="0" smtClean="0"/>
              <a:t>|</a:t>
            </a:r>
            <a:r>
              <a:rPr lang="zh-TW" altLang="en-US" dirty="0" smtClean="0"/>
              <a:t> </a:t>
            </a:r>
            <a:r>
              <a:rPr lang="en-US" altLang="zh-TW" dirty="0" smtClean="0"/>
              <a:t>|</a:t>
            </a:r>
            <a:r>
              <a:rPr lang="zh-TW" altLang="en-US" dirty="0" smtClean="0"/>
              <a:t>   </a:t>
            </a:r>
            <a:r>
              <a:rPr lang="en-US" altLang="zh-TW" dirty="0" smtClean="0"/>
              <a:t>||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105776" y="6139197"/>
            <a:ext cx="139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AT</a:t>
            </a:r>
            <a:r>
              <a:rPr lang="en-US" altLang="zh-TW" dirty="0" smtClean="0">
                <a:solidFill>
                  <a:srgbClr val="FF0000"/>
                </a:solidFill>
              </a:rPr>
              <a:t>T</a:t>
            </a:r>
            <a:r>
              <a:rPr lang="en-US" altLang="zh-TW" dirty="0" smtClean="0"/>
              <a:t>GCGATA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3525953" y="6164084"/>
            <a:ext cx="139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ATCGCG</a:t>
            </a:r>
            <a:r>
              <a:rPr lang="en-US" altLang="zh-TW" dirty="0" smtClean="0">
                <a:solidFill>
                  <a:srgbClr val="FF0000"/>
                </a:solidFill>
              </a:rPr>
              <a:t>G</a:t>
            </a:r>
            <a:r>
              <a:rPr lang="en-US" altLang="zh-TW" dirty="0" smtClean="0"/>
              <a:t>TA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406372" y="4935804"/>
            <a:ext cx="139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ATCGCGATA</a:t>
            </a:r>
            <a:endParaRPr lang="zh-TW" altLang="en-US" dirty="0"/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4416237" y="5305136"/>
            <a:ext cx="545281" cy="91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4961518" y="5317587"/>
            <a:ext cx="561156" cy="846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143310" y="5489802"/>
            <a:ext cx="428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351036" y="5506640"/>
            <a:ext cx="428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840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14" grpId="0"/>
      <p:bldP spid="17" grpId="0"/>
      <p:bldP spid="18" grpId="0"/>
      <p:bldP spid="19" grpId="0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26489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Gungsuh" panose="02030600000101010101" pitchFamily="18" charset="-127"/>
                <a:ea typeface="Gungsuh" panose="02030600000101010101" pitchFamily="18" charset="-127"/>
              </a:rPr>
              <a:t>Method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78039"/>
            <a:ext cx="7886700" cy="4786045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Step5: Calculate </a:t>
            </a:r>
            <a:r>
              <a:rPr lang="en-US" altLang="zh-TW" dirty="0"/>
              <a:t>character weights by the mutational frequency</a:t>
            </a:r>
          </a:p>
          <a:p>
            <a:pPr marL="0" indent="0">
              <a:buNone/>
            </a:pPr>
            <a:r>
              <a:rPr lang="en-US" altLang="zh-TW" dirty="0" smtClean="0"/>
              <a:t>    W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=N</a:t>
            </a:r>
            <a:r>
              <a:rPr lang="en-US" altLang="zh-TW" baseline="-25000" dirty="0" smtClean="0"/>
              <a:t>i</a:t>
            </a:r>
            <a:r>
              <a:rPr lang="en-US" altLang="zh-TW" dirty="0"/>
              <a:t>/(M</a:t>
            </a:r>
            <a:r>
              <a:rPr lang="en-US" altLang="zh-TW" baseline="-25000" dirty="0"/>
              <a:t>i</a:t>
            </a:r>
            <a:r>
              <a:rPr lang="en-US" altLang="zh-TW" dirty="0"/>
              <a:t>+1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marL="0" lvl="0" indent="0">
              <a:buNone/>
            </a:pPr>
            <a:endParaRPr lang="en-US" altLang="zh-TW" dirty="0"/>
          </a:p>
          <a:p>
            <a:pPr marL="0" lvl="0" indent="0">
              <a:buNone/>
            </a:pPr>
            <a:endParaRPr lang="en-US" altLang="zh-TW" dirty="0" smtClean="0"/>
          </a:p>
          <a:p>
            <a:r>
              <a:rPr lang="en-US" altLang="zh-TW" dirty="0" smtClean="0"/>
              <a:t>Step6: </a:t>
            </a:r>
            <a:r>
              <a:rPr lang="en-US" altLang="zh-TW" dirty="0"/>
              <a:t>Adjust the similarity matrix by character weights</a:t>
            </a:r>
            <a:endParaRPr lang="zh-TW" altLang="en-US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Step7: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r>
              <a:rPr lang="en-US" altLang="zh-TW" dirty="0" smtClean="0"/>
              <a:t>Repeat </a:t>
            </a:r>
            <a:r>
              <a:rPr lang="en-US" altLang="zh-TW" dirty="0"/>
              <a:t>from Step2 until convergence or the stopping rule is satisfied 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541689" y="1867436"/>
            <a:ext cx="5396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dirty="0" smtClean="0"/>
              <a:t>W</a:t>
            </a:r>
            <a:r>
              <a:rPr lang="en-US" altLang="zh-TW" baseline="-25000" dirty="0" smtClean="0"/>
              <a:t>i: </a:t>
            </a:r>
            <a:r>
              <a:rPr lang="en-US" altLang="zh-TW" dirty="0" smtClean="0"/>
              <a:t>the weight at the </a:t>
            </a:r>
            <a:r>
              <a:rPr lang="en-US" altLang="zh-TW" dirty="0" err="1" smtClean="0"/>
              <a:t>i-th</a:t>
            </a:r>
            <a:r>
              <a:rPr lang="en-US" altLang="zh-TW" dirty="0" smtClean="0"/>
              <a:t> position </a:t>
            </a:r>
          </a:p>
          <a:p>
            <a:pPr lvl="0"/>
            <a:r>
              <a:rPr lang="en-US" altLang="zh-TW" dirty="0" smtClean="0"/>
              <a:t>N</a:t>
            </a:r>
            <a:r>
              <a:rPr lang="en-US" altLang="zh-TW" baseline="-25000" dirty="0" smtClean="0"/>
              <a:t>i : </a:t>
            </a:r>
            <a:r>
              <a:rPr lang="en-US" altLang="zh-TW" dirty="0" smtClean="0"/>
              <a:t>the number of difference amino acid at this position</a:t>
            </a:r>
          </a:p>
          <a:p>
            <a:pPr lvl="0"/>
            <a:r>
              <a:rPr lang="en-US" altLang="zh-TW" dirty="0" err="1" smtClean="0"/>
              <a:t>M</a:t>
            </a:r>
            <a:r>
              <a:rPr lang="en-US" altLang="zh-TW" baseline="-25000" dirty="0" err="1" smtClean="0"/>
              <a:t>i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:the number of the mutations at this position</a:t>
            </a:r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247352"/>
              </p:ext>
            </p:extLst>
          </p:nvPr>
        </p:nvGraphicFramePr>
        <p:xfrm>
          <a:off x="4695946" y="3386749"/>
          <a:ext cx="3610930" cy="226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186"/>
                <a:gridCol w="722186"/>
                <a:gridCol w="722186"/>
                <a:gridCol w="722186"/>
                <a:gridCol w="722186"/>
              </a:tblGrid>
              <a:tr h="45208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4520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</a:t>
                      </a:r>
                      <a:endParaRPr lang="zh-TW" altLang="en-US" dirty="0"/>
                    </a:p>
                  </a:txBody>
                  <a:tcPr/>
                </a:tc>
              </a:tr>
              <a:tr h="4520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0.8</a:t>
                      </a:r>
                      <a:endParaRPr lang="zh-TW" altLang="en-US" dirty="0"/>
                    </a:p>
                  </a:txBody>
                  <a:tcPr/>
                </a:tc>
              </a:tr>
              <a:tr h="4520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</a:tr>
              <a:tr h="4520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093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Implementation of The Method </a:t>
            </a:r>
            <a:r>
              <a:rPr lang="en-US" altLang="zh-TW" sz="20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(</a:t>
            </a:r>
            <a:r>
              <a:rPr lang="en-US" altLang="zh-TW" sz="2000" b="1" dirty="0">
                <a:latin typeface="Gungsuh" panose="02030600000101010101" pitchFamily="18" charset="-127"/>
                <a:ea typeface="Gungsuh" panose="02030600000101010101" pitchFamily="18" charset="-127"/>
              </a:rPr>
              <a:t>Group Averaging</a:t>
            </a:r>
            <a:r>
              <a:rPr lang="en-US" altLang="zh-TW" sz="20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)</a:t>
            </a:r>
            <a:endParaRPr lang="zh-TW" altLang="en-US" sz="2000" dirty="0"/>
          </a:p>
        </p:txBody>
      </p:sp>
      <p:cxnSp>
        <p:nvCxnSpPr>
          <p:cNvPr id="5" name="直線接點 4"/>
          <p:cNvCxnSpPr/>
          <p:nvPr/>
        </p:nvCxnSpPr>
        <p:spPr>
          <a:xfrm>
            <a:off x="1565328" y="2758698"/>
            <a:ext cx="805913" cy="2789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71241" y="2185261"/>
            <a:ext cx="1069383" cy="8524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2371241" y="3037668"/>
            <a:ext cx="805913" cy="10693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905932" y="2611464"/>
            <a:ext cx="534692" cy="5346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3188776" y="2383521"/>
            <a:ext cx="794291" cy="7460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2905932" y="3673925"/>
            <a:ext cx="302217" cy="596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3512223" y="1915059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4046914" y="2944919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3359205" y="3113610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 flipH="1">
            <a:off x="3113304" y="4163923"/>
            <a:ext cx="354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188776" y="3555788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</a:t>
            </a:r>
            <a:endParaRPr lang="zh-TW" altLang="en-US" dirty="0"/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926545"/>
              </p:ext>
            </p:extLst>
          </p:nvPr>
        </p:nvGraphicFramePr>
        <p:xfrm>
          <a:off x="4510006" y="3595552"/>
          <a:ext cx="4275336" cy="2594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556"/>
                <a:gridCol w="712556"/>
                <a:gridCol w="712556"/>
                <a:gridCol w="712556"/>
                <a:gridCol w="712556"/>
                <a:gridCol w="712556"/>
              </a:tblGrid>
              <a:tr h="43239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4323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</a:tr>
              <a:tr h="4323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18</a:t>
                      </a:r>
                      <a:endParaRPr lang="zh-TW" altLang="en-US" dirty="0"/>
                    </a:p>
                  </a:txBody>
                  <a:tcPr/>
                </a:tc>
              </a:tr>
              <a:tr h="4323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</a:tr>
              <a:tr h="4323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4323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1" name="文字方塊 30"/>
          <p:cNvSpPr txBox="1"/>
          <p:nvPr/>
        </p:nvSpPr>
        <p:spPr>
          <a:xfrm>
            <a:off x="2396180" y="2491177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3068720" y="1948026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797932" y="2150215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3631845" y="2462089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2940913" y="2845015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2217895" y="3309960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2603117" y="3958571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2927325" y="3400322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6431103" y="1217401"/>
            <a:ext cx="2958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UPGMA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264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Implementation of The Method </a:t>
            </a:r>
            <a:r>
              <a:rPr lang="en-US" altLang="zh-TW" sz="20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(Group Averaging)</a:t>
            </a:r>
            <a:endParaRPr lang="zh-TW" altLang="en-US" sz="24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878759"/>
              </p:ext>
            </p:extLst>
          </p:nvPr>
        </p:nvGraphicFramePr>
        <p:xfrm>
          <a:off x="822959" y="1941563"/>
          <a:ext cx="2731995" cy="179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99"/>
                <a:gridCol w="546399"/>
                <a:gridCol w="546399"/>
                <a:gridCol w="546399"/>
                <a:gridCol w="546399"/>
              </a:tblGrid>
              <a:tr h="35996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5996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</a:tr>
              <a:tr h="35996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17</a:t>
                      </a:r>
                      <a:endParaRPr lang="zh-TW" altLang="en-US" dirty="0"/>
                    </a:p>
                  </a:txBody>
                  <a:tcPr/>
                </a:tc>
              </a:tr>
              <a:tr h="35996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</a:tr>
              <a:tr h="35996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891711"/>
              </p:ext>
            </p:extLst>
          </p:nvPr>
        </p:nvGraphicFramePr>
        <p:xfrm>
          <a:off x="4779308" y="1995989"/>
          <a:ext cx="2185596" cy="1377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99"/>
                <a:gridCol w="546399"/>
                <a:gridCol w="546399"/>
                <a:gridCol w="546399"/>
              </a:tblGrid>
              <a:tr h="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A-C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5996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A-C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</a:tr>
              <a:tr h="35996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17</a:t>
                      </a:r>
                      <a:endParaRPr lang="zh-TW" altLang="en-US" dirty="0"/>
                    </a:p>
                  </a:txBody>
                  <a:tcPr/>
                </a:tc>
              </a:tr>
              <a:tr h="35996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>
          <a:xfrm>
            <a:off x="6145306" y="4883525"/>
            <a:ext cx="1721223" cy="31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6669741" y="4074460"/>
            <a:ext cx="1196788" cy="13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6669741" y="4533901"/>
            <a:ext cx="1196788" cy="13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6669741" y="4074460"/>
            <a:ext cx="0" cy="472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6145306" y="4310903"/>
            <a:ext cx="5244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6145306" y="4310903"/>
            <a:ext cx="0" cy="5726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5217459" y="5351929"/>
            <a:ext cx="1855694" cy="26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5217459" y="4579004"/>
            <a:ext cx="927847" cy="4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>
            <a:off x="5217459" y="4594833"/>
            <a:ext cx="0" cy="7839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7849047" y="3903240"/>
            <a:ext cx="510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</a:t>
            </a:r>
          </a:p>
        </p:txBody>
      </p:sp>
      <p:sp>
        <p:nvSpPr>
          <p:cNvPr id="43" name="文字方塊 42"/>
          <p:cNvSpPr txBox="1"/>
          <p:nvPr/>
        </p:nvSpPr>
        <p:spPr>
          <a:xfrm>
            <a:off x="7849047" y="4272572"/>
            <a:ext cx="510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</a:t>
            </a:r>
          </a:p>
        </p:txBody>
      </p:sp>
      <p:sp>
        <p:nvSpPr>
          <p:cNvPr id="44" name="文字方塊 43"/>
          <p:cNvSpPr txBox="1"/>
          <p:nvPr/>
        </p:nvSpPr>
        <p:spPr>
          <a:xfrm>
            <a:off x="7849047" y="4655814"/>
            <a:ext cx="510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B</a:t>
            </a:r>
          </a:p>
        </p:txBody>
      </p:sp>
      <p:sp>
        <p:nvSpPr>
          <p:cNvPr id="45" name="文字方塊 44"/>
          <p:cNvSpPr txBox="1"/>
          <p:nvPr/>
        </p:nvSpPr>
        <p:spPr>
          <a:xfrm>
            <a:off x="7268135" y="5214661"/>
            <a:ext cx="510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60332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2959" y="0"/>
            <a:ext cx="7543800" cy="980503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5S-rRNA(group averaging)</a:t>
            </a:r>
            <a:endParaRPr lang="zh-TW" altLang="en-US" sz="32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0109"/>
            <a:ext cx="8912180" cy="254853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04" y="3457523"/>
            <a:ext cx="6248400" cy="2000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2" y="3814024"/>
            <a:ext cx="8631317" cy="25527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859" y="6523200"/>
            <a:ext cx="5796782" cy="18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6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67" y="1004552"/>
            <a:ext cx="8178957" cy="30480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21" y="4518606"/>
            <a:ext cx="7458075" cy="190500"/>
          </a:xfrm>
          <a:prstGeom prst="rect">
            <a:avLst/>
          </a:prstGeom>
        </p:spPr>
      </p:pic>
      <p:sp>
        <p:nvSpPr>
          <p:cNvPr id="10" name="標題 1"/>
          <p:cNvSpPr txBox="1">
            <a:spLocks/>
          </p:cNvSpPr>
          <p:nvPr/>
        </p:nvSpPr>
        <p:spPr>
          <a:xfrm>
            <a:off x="822959" y="0"/>
            <a:ext cx="7543800" cy="9805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5S-rRNA(group averaging)</a:t>
            </a:r>
            <a:endParaRPr lang="zh-TW" altLang="en-US" sz="36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624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 txBox="1">
            <a:spLocks/>
          </p:cNvSpPr>
          <p:nvPr/>
        </p:nvSpPr>
        <p:spPr>
          <a:xfrm>
            <a:off x="555401" y="-366811"/>
            <a:ext cx="7543800" cy="9805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5S-rRNA</a:t>
            </a:r>
            <a:r>
              <a:rPr lang="en-US" altLang="zh-TW" sz="24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(Present-Day </a:t>
            </a:r>
            <a:r>
              <a:rPr lang="en-US" altLang="zh-TW" sz="2400" b="1" dirty="0">
                <a:latin typeface="Gungsuh" panose="02030600000101010101" pitchFamily="18" charset="-127"/>
                <a:ea typeface="Gungsuh" panose="02030600000101010101" pitchFamily="18" charset="-127"/>
              </a:rPr>
              <a:t>Ancestor Method</a:t>
            </a:r>
            <a:r>
              <a:rPr lang="en-US" altLang="zh-TW" sz="24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)</a:t>
            </a:r>
            <a:endParaRPr lang="zh-TW" altLang="en-US" sz="24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4" y="613692"/>
            <a:ext cx="8654603" cy="2760573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4" y="3422123"/>
            <a:ext cx="9144000" cy="3714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4" y="3793598"/>
            <a:ext cx="8319752" cy="258936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70" y="6518831"/>
            <a:ext cx="4886325" cy="21907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4694" y="6518831"/>
            <a:ext cx="1706479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55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40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5S-rRNA</a:t>
            </a:r>
            <a:r>
              <a:rPr lang="en-US" altLang="zh-TW" sz="31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(</a:t>
            </a:r>
            <a:r>
              <a:rPr lang="en-US" altLang="zh-TW" sz="27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Present-Day Ancestor Method)</a:t>
            </a:r>
            <a:r>
              <a:rPr lang="zh-TW" altLang="en-US" sz="36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/>
            </a:r>
            <a:br>
              <a:rPr lang="zh-TW" altLang="en-US" sz="36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</a:b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377" y="1690689"/>
            <a:ext cx="6558432" cy="440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3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Conclusions</a:t>
            </a:r>
            <a:endParaRPr lang="zh-TW" altLang="en-US" sz="40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Propose an integrated method </a:t>
            </a:r>
          </a:p>
          <a:p>
            <a:pPr lvl="1"/>
            <a:r>
              <a:rPr lang="en-US" altLang="zh-TW" sz="2400" dirty="0" smtClean="0"/>
              <a:t>Alignment</a:t>
            </a:r>
          </a:p>
          <a:p>
            <a:pPr lvl="1"/>
            <a:r>
              <a:rPr lang="en-US" altLang="zh-TW" sz="2400" dirty="0" smtClean="0"/>
              <a:t>Phyletic tree</a:t>
            </a:r>
            <a:endParaRPr lang="zh-TW" altLang="en-US" sz="2400" dirty="0" smtClean="0"/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Use non-optimal methods optimally</a:t>
            </a:r>
          </a:p>
          <a:p>
            <a:pPr lvl="1"/>
            <a:r>
              <a:rPr lang="en-US" altLang="zh-TW" sz="2400" dirty="0" smtClean="0"/>
              <a:t>Flexibility</a:t>
            </a:r>
          </a:p>
          <a:p>
            <a:pPr lvl="1"/>
            <a:r>
              <a:rPr lang="en-US" altLang="zh-TW" sz="2400" dirty="0"/>
              <a:t>E</a:t>
            </a:r>
            <a:r>
              <a:rPr lang="en-US" altLang="zh-TW" sz="2400" dirty="0" smtClean="0"/>
              <a:t>xplicitness</a:t>
            </a:r>
          </a:p>
          <a:p>
            <a:endParaRPr lang="en-US" altLang="zh-TW" sz="2800" dirty="0" smtClean="0"/>
          </a:p>
          <a:p>
            <a:pPr lvl="1"/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03522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2366</TotalTime>
  <Words>645</Words>
  <Application>Microsoft Office PowerPoint</Application>
  <PresentationFormat>如螢幕大小 (4:3)</PresentationFormat>
  <Paragraphs>267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Gungsuh</vt:lpstr>
      <vt:lpstr>新細明體</vt:lpstr>
      <vt:lpstr>Arial</vt:lpstr>
      <vt:lpstr>Calibri</vt:lpstr>
      <vt:lpstr>Calibri Light</vt:lpstr>
      <vt:lpstr>Office 佈景主題</vt:lpstr>
      <vt:lpstr>The alignment of sets of sequences and the construction of phylogenetic trees: An integrated method  </vt:lpstr>
      <vt:lpstr>Abstract</vt:lpstr>
      <vt:lpstr>The Alignment of Molecular Sequences</vt:lpstr>
      <vt:lpstr>Phyletic Tree Construction</vt:lpstr>
      <vt:lpstr>Tree</vt:lpstr>
      <vt:lpstr>Method(outline)</vt:lpstr>
      <vt:lpstr>Method</vt:lpstr>
      <vt:lpstr>Method</vt:lpstr>
      <vt:lpstr>Method</vt:lpstr>
      <vt:lpstr>Method</vt:lpstr>
      <vt:lpstr>Implementation of The Method (Group Averaging)</vt:lpstr>
      <vt:lpstr>Implementation of The Method (Group Averaging)</vt:lpstr>
      <vt:lpstr>5S-rRNA(group averaging)</vt:lpstr>
      <vt:lpstr>PowerPoint 簡報</vt:lpstr>
      <vt:lpstr>PowerPoint 簡報</vt:lpstr>
      <vt:lpstr>5S-rRNA(Present-Day Ancestor Method) </vt:lpstr>
      <vt:lpstr>Conclusions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alignment of sets of sequences and the construction of phylogenetic trees: An integrated method</dc:title>
  <dc:creator>黃鼎耀</dc:creator>
  <cp:lastModifiedBy>黃鼎耀</cp:lastModifiedBy>
  <cp:revision>166</cp:revision>
  <dcterms:created xsi:type="dcterms:W3CDTF">2014-03-03T15:29:07Z</dcterms:created>
  <dcterms:modified xsi:type="dcterms:W3CDTF">2014-03-11T04:33:18Z</dcterms:modified>
</cp:coreProperties>
</file>