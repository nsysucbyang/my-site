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298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預設章節" id="{8BDCD8F5-3340-4F85-BFE0-DF4DF8B78709}">
          <p14:sldIdLst>
            <p14:sldId id="256"/>
            <p14:sldId id="257"/>
            <p14:sldId id="258"/>
            <p14:sldId id="259"/>
          </p14:sldIdLst>
        </p14:section>
        <p14:section name="Demo1" id="{B50E5987-2030-45F4-8093-D315660AE82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未命名的章節" id="{22DBD20F-1DD1-4EFD-9B65-77163A566768}">
          <p14:sldIdLst>
            <p14:sldId id="299"/>
            <p14:sldId id="298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4" autoAdjust="0"/>
    <p:restoredTop sz="86306" autoAdjust="0"/>
  </p:normalViewPr>
  <p:slideViewPr>
    <p:cSldViewPr snapToGrid="0">
      <p:cViewPr varScale="1">
        <p:scale>
          <a:sx n="60" d="100"/>
          <a:sy n="60" d="100"/>
        </p:scale>
        <p:origin x="-21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8298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7268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5425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943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4193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7483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7812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6268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1102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6063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8795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1059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8552F6-939D-4F68-BCCA-205DDEEE0495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B07801-6704-46F2-9CBF-C4E0727C69D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3850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22960" y="783666"/>
            <a:ext cx="7543800" cy="3566160"/>
          </a:xfrm>
        </p:spPr>
        <p:txBody>
          <a:bodyPr>
            <a:noAutofit/>
          </a:bodyPr>
          <a:lstStyle/>
          <a:p>
            <a:r>
              <a:rPr lang="en-US" altLang="zh-TW" sz="4800" dirty="0"/>
              <a:t>IMPROVING THE WORST-CASE PERFORMANCE OF THE HUNT-SZYMANSKI STRATEGY FOR THE LOGEST COMMON SUBSEQUENCE OF TWO STRINGS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5038" y="4982844"/>
            <a:ext cx="7543800" cy="1143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Alberto </a:t>
            </a:r>
            <a:r>
              <a:rPr lang="en-US" altLang="zh-TW" dirty="0" smtClean="0"/>
              <a:t>APOSTOLICO, </a:t>
            </a:r>
            <a:r>
              <a:rPr lang="en-US" altLang="zh-TW" dirty="0"/>
              <a:t>Department of Computer Science, Purdue </a:t>
            </a:r>
            <a:r>
              <a:rPr lang="en-US" altLang="zh-TW" dirty="0" smtClean="0"/>
              <a:t>University.</a:t>
            </a:r>
          </a:p>
          <a:p>
            <a:r>
              <a:rPr lang="en-US" altLang="zh-TW" dirty="0"/>
              <a:t>Information Processing Letters 23 (1986) </a:t>
            </a:r>
            <a:r>
              <a:rPr lang="en-US" altLang="zh-TW" dirty="0" smtClean="0"/>
              <a:t>63-69</a:t>
            </a:r>
            <a:endParaRPr lang="en-US" altLang="zh-TW" dirty="0"/>
          </a:p>
          <a:p>
            <a:r>
              <a:rPr lang="en-US" altLang="zh-TW" dirty="0" smtClean="0"/>
              <a:t>Reporter : </a:t>
            </a:r>
            <a:r>
              <a:rPr lang="en-US" altLang="zh-TW" dirty="0" err="1"/>
              <a:t>Cing</a:t>
            </a:r>
            <a:r>
              <a:rPr lang="en-US" altLang="zh-TW" dirty="0"/>
              <a:t>-Yao Chen </a:t>
            </a:r>
            <a:r>
              <a:rPr lang="en-US" altLang="zh-TW" dirty="0" smtClean="0"/>
              <a:t>Date:2014/3/4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287091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ABSTRUCT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600" dirty="0"/>
              <a:t>Among the algorithms set up to date for finding the longest common subsequence of two strings, the one by Hunt and </a:t>
            </a:r>
            <a:r>
              <a:rPr lang="en-US" altLang="zh-TW" sz="1600" dirty="0" smtClean="0"/>
              <a:t>Szymanski </a:t>
            </a:r>
            <a:r>
              <a:rPr lang="en-US" altLang="zh-TW" sz="1600" dirty="0"/>
              <a:t>exhibits the best known performance in favorable cases, but can be worse than any straightforward algorithm for a </a:t>
            </a:r>
            <a:r>
              <a:rPr lang="en-US" altLang="zh-TW" sz="1600" dirty="0" smtClean="0"/>
              <a:t>large </a:t>
            </a:r>
            <a:r>
              <a:rPr lang="en-US" altLang="zh-TW" sz="1600" dirty="0"/>
              <a:t>variety of inputs. The new algorithm presented here pursues a schedule of primitive operations quite close to the one </a:t>
            </a:r>
            <a:r>
              <a:rPr lang="en-US" altLang="zh-TW" sz="1600" dirty="0" smtClean="0"/>
              <a:t>inherent </a:t>
            </a:r>
            <a:r>
              <a:rPr lang="en-US" altLang="zh-TW" sz="1600" dirty="0"/>
              <a:t>to the Hunt-Szymanski strategy, but with substantially enhanced efficiency. In fact, the new algorithm improves on </a:t>
            </a:r>
            <a:r>
              <a:rPr lang="en-US" altLang="zh-TW" sz="1600" dirty="0" smtClean="0"/>
              <a:t>the </a:t>
            </a:r>
            <a:r>
              <a:rPr lang="en-US" altLang="zh-TW" sz="1600" dirty="0"/>
              <a:t>former in two important respects. First, its worst case is never worse than linear in the product nm of the lengths of the </a:t>
            </a:r>
            <a:r>
              <a:rPr lang="en-US" altLang="zh-TW" sz="1600" dirty="0" smtClean="0"/>
              <a:t>two </a:t>
            </a:r>
            <a:r>
              <a:rPr lang="en-US" altLang="zh-TW" sz="1600" dirty="0"/>
              <a:t>input strings. Second, its time bound does not always grow with the cardinality r of the set R of all pairs of matching </a:t>
            </a:r>
            <a:r>
              <a:rPr lang="en-US" altLang="zh-TW" sz="1600" dirty="0" smtClean="0"/>
              <a:t>positions </a:t>
            </a:r>
            <a:r>
              <a:rPr lang="en-US" altLang="zh-TW" sz="1600" dirty="0"/>
              <a:t>of the input strings. Rather, it depends on the </a:t>
            </a:r>
            <a:r>
              <a:rPr lang="en-US" altLang="zh-TW" sz="1600" dirty="0" smtClean="0"/>
              <a:t>cardinality </a:t>
            </a:r>
            <a:r>
              <a:rPr lang="en-US" altLang="zh-TW" sz="1600" dirty="0"/>
              <a:t>d of a specific subset of R, whose elements are called here </a:t>
            </a:r>
            <a:r>
              <a:rPr lang="en-US" altLang="zh-TW" sz="1600" dirty="0" smtClean="0"/>
              <a:t>dominant </a:t>
            </a:r>
            <a:r>
              <a:rPr lang="en-US" altLang="zh-TW" sz="1600" dirty="0"/>
              <a:t>matches, and are elsewhere referred to as minimal candidates. This second improvement also appears of significance, </a:t>
            </a:r>
            <a:r>
              <a:rPr lang="en-US" altLang="zh-TW" sz="1600" dirty="0" smtClean="0"/>
              <a:t>since </a:t>
            </a:r>
            <a:r>
              <a:rPr lang="en-US" altLang="zh-TW" sz="1600" dirty="0"/>
              <a:t>it seems that whenever r gets too close to </a:t>
            </a:r>
            <a:r>
              <a:rPr lang="en-US" altLang="zh-TW" sz="1600" dirty="0" err="1" smtClean="0"/>
              <a:t>mn</a:t>
            </a:r>
            <a:r>
              <a:rPr lang="en-US" altLang="zh-TW" sz="1600" dirty="0"/>
              <a:t>, this forces d to be linear in m. The new algorithm requires standard </a:t>
            </a:r>
            <a:r>
              <a:rPr lang="en-US" altLang="zh-TW" sz="1600" dirty="0" smtClean="0"/>
              <a:t>preprocessing</a:t>
            </a:r>
            <a:r>
              <a:rPr lang="en-US" altLang="zh-TW" sz="1600" dirty="0"/>
              <a:t>, and makes use of finger-trees. In a forthcoming paper, it will be shown among other things that the same </a:t>
            </a:r>
            <a:r>
              <a:rPr lang="en-US" altLang="zh-TW" sz="1600" dirty="0" smtClean="0"/>
              <a:t>performance </a:t>
            </a:r>
            <a:r>
              <a:rPr lang="en-US" altLang="zh-TW" sz="1600" dirty="0"/>
              <a:t>can be achieved with simpler and handier auxiliary data structures. 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753181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330" y="2056756"/>
            <a:ext cx="3190875" cy="3514725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 flipH="1" flipV="1">
            <a:off x="2553216" y="4935881"/>
            <a:ext cx="442397" cy="21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2169319" y="4242284"/>
            <a:ext cx="153751" cy="45516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 flipV="1">
            <a:off x="1919288" y="3476318"/>
            <a:ext cx="135731" cy="42893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 flipV="1">
            <a:off x="1762125" y="3795713"/>
            <a:ext cx="223838" cy="171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3700205" y="1905000"/>
            <a:ext cx="22712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abcdbb</a:t>
            </a:r>
            <a:endParaRPr lang="en-US" altLang="zh-TW" dirty="0" smtClean="0"/>
          </a:p>
          <a:p>
            <a:r>
              <a:rPr lang="en-US" altLang="zh-TW" dirty="0" smtClean="0"/>
              <a:t>B = </a:t>
            </a:r>
            <a:r>
              <a:rPr lang="en-US" altLang="zh-TW" dirty="0" err="1" smtClean="0"/>
              <a:t>cbacbaaba</a:t>
            </a:r>
            <a:endParaRPr lang="en-US" altLang="zh-TW" dirty="0" smtClean="0"/>
          </a:p>
          <a:p>
            <a:r>
              <a:rPr lang="en-US" altLang="zh-TW" dirty="0" smtClean="0"/>
              <a:t>k:</a:t>
            </a:r>
            <a:r>
              <a:rPr lang="zh-TW" altLang="en-US" dirty="0" smtClean="0"/>
              <a:t>到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]</a:t>
            </a:r>
            <a:r>
              <a:rPr lang="zh-TW" altLang="en-US" dirty="0" smtClean="0"/>
              <a:t>的</a:t>
            </a:r>
            <a:r>
              <a:rPr lang="en-US" altLang="zh-TW" dirty="0" smtClean="0"/>
              <a:t>LCS</a:t>
            </a:r>
            <a:r>
              <a:rPr lang="zh-TW" altLang="en-US" dirty="0" smtClean="0"/>
              <a:t>的長度</a:t>
            </a:r>
            <a:endParaRPr lang="en-US" altLang="zh-TW" dirty="0" smtClean="0"/>
          </a:p>
          <a:p>
            <a:r>
              <a:rPr lang="en-US" altLang="zh-TW" dirty="0" smtClean="0"/>
              <a:t>Match:</a:t>
            </a:r>
            <a:r>
              <a:rPr lang="zh-TW" altLang="en-US" dirty="0" smtClean="0"/>
              <a:t>圈圈</a:t>
            </a:r>
            <a:endParaRPr lang="en-US" altLang="zh-TW" dirty="0" smtClean="0"/>
          </a:p>
          <a:p>
            <a:r>
              <a:rPr lang="en-US" altLang="zh-TW" dirty="0" smtClean="0"/>
              <a:t>K-dominant:</a:t>
            </a:r>
            <a:r>
              <a:rPr lang="zh-TW" altLang="en-US" dirty="0" smtClean="0"/>
              <a:t>粗的圈圈</a:t>
            </a:r>
            <a:endParaRPr lang="en-US" altLang="zh-TW" dirty="0" smtClean="0"/>
          </a:p>
          <a:p>
            <a:r>
              <a:rPr lang="en-US" altLang="zh-TW" dirty="0" smtClean="0"/>
              <a:t>d:K-dominant</a:t>
            </a:r>
            <a:r>
              <a:rPr lang="zh-TW" altLang="en-US" dirty="0" smtClean="0"/>
              <a:t>的數量</a:t>
            </a:r>
            <a:endParaRPr lang="en-US" altLang="zh-TW" dirty="0" smtClean="0"/>
          </a:p>
          <a:p>
            <a:r>
              <a:rPr lang="en-US" altLang="zh-TW" dirty="0" smtClean="0"/>
              <a:t>l:LCS</a:t>
            </a:r>
            <a:r>
              <a:rPr lang="zh-TW" altLang="en-US" dirty="0" smtClean="0"/>
              <a:t>的長度</a:t>
            </a:r>
            <a:r>
              <a:rPr lang="en-US" altLang="zh-TW" dirty="0" smtClean="0"/>
              <a:t>,k&lt;=l</a:t>
            </a:r>
          </a:p>
        </p:txBody>
      </p:sp>
    </p:spTree>
    <p:extLst>
      <p:ext uri="{BB962C8B-B14F-4D97-AF65-F5344CB8AC3E}">
        <p14:creationId xmlns:p14="http://schemas.microsoft.com/office/powerpoint/2010/main" xmlns="" val="1406528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68" y="1888993"/>
            <a:ext cx="6316982" cy="393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401357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2" name="向右箭號 61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8379243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98415" y="195707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sp>
        <p:nvSpPr>
          <p:cNvPr id="63" name="向右箭號 62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308227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98415" y="195707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62" name="向右箭號 61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208760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98415" y="195707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575309" y="41221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055304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575309" y="42237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012785" y="27239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572073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500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81709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012785" y="27239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326424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9659" y="50365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1,9,null</a:t>
            </a:r>
            <a:endParaRPr lang="zh-TW" altLang="en-US" sz="900" dirty="0"/>
          </a:p>
        </p:txBody>
      </p:sp>
      <p:cxnSp>
        <p:nvCxnSpPr>
          <p:cNvPr id="79" name="直線接點 78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8648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6838950" y="889000"/>
            <a:ext cx="1885950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634212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94409" y="48079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7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1,9,null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8648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6838950" y="889000"/>
            <a:ext cx="1885950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046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3792" y="503652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7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1,7,null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8267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0" y="889000"/>
            <a:ext cx="1428747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26714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592" y="480792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1,7,null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82676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0" y="889000"/>
            <a:ext cx="1428747" cy="33734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693885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6372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1,6,null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80390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1" y="889000"/>
            <a:ext cx="1149349" cy="393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721730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0420" y="481570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1,6,null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80390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6838951" y="889000"/>
            <a:ext cx="1149349" cy="393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69982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79460" y="503437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1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117271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12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1228470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332" y="2813328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cxnSp>
        <p:nvCxnSpPr>
          <p:cNvPr id="71" name="直線接點 70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6613487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6020" y="50428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2,8,L1</a:t>
            </a:r>
            <a:endParaRPr lang="zh-TW" altLang="en-US" sz="900" dirty="0"/>
          </a:p>
        </p:txBody>
      </p:sp>
      <p:cxnSp>
        <p:nvCxnSpPr>
          <p:cNvPr id="79" name="直線接點 78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4708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群組 86"/>
          <p:cNvGrpSpPr/>
          <p:nvPr/>
        </p:nvGrpSpPr>
        <p:grpSpPr>
          <a:xfrm>
            <a:off x="6838952" y="889000"/>
            <a:ext cx="1631945" cy="736600"/>
            <a:chOff x="6838952" y="889000"/>
            <a:chExt cx="1631945" cy="736600"/>
          </a:xfrm>
        </p:grpSpPr>
        <p:cxnSp>
          <p:nvCxnSpPr>
            <p:cNvPr id="85" name="直線單箭頭接點 84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607300" y="1460500"/>
              <a:ext cx="863597" cy="1651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1300530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12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2,8,L1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847089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6838952" y="889000"/>
            <a:ext cx="1631945" cy="736600"/>
            <a:chOff x="6838952" y="889000"/>
            <a:chExt cx="1631945" cy="736600"/>
          </a:xfrm>
        </p:grpSpPr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07300" y="1460500"/>
              <a:ext cx="863597" cy="1651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5243984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3536" y="5033543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3" name="直線接點 72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898515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712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1,3,null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372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6075725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6544" y="505557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2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r>
              <a:rPr lang="en-US" altLang="zh-TW" sz="900" dirty="0" smtClean="0"/>
              <a:t>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群組 42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9957443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0238" y="480120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4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r>
              <a:rPr lang="en-US" altLang="zh-TW" sz="900" dirty="0" smtClean="0"/>
              <a:t>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2,5,L1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8168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6838952" y="889000"/>
            <a:ext cx="977895" cy="711200"/>
            <a:chOff x="6838952" y="889000"/>
            <a:chExt cx="977895" cy="711200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9040643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104179" y="502660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4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r>
              <a:rPr lang="en-US" altLang="zh-TW" sz="900" dirty="0" smtClean="0"/>
              <a:t>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群組 10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5" name="直線單箭頭接點 74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1136029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00238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1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2,2,null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71564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55643010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6372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3</a:t>
            </a:r>
          </a:p>
          <a:p>
            <a:r>
              <a:rPr lang="en-US" altLang="zh-TW" dirty="0" smtClean="0"/>
              <a:t>j = 1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k=1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3531179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84800" y="478846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1441311" y="27203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6838952" y="889000"/>
            <a:ext cx="977895" cy="1061088"/>
            <a:chOff x="6838952" y="889000"/>
            <a:chExt cx="977895" cy="1061088"/>
          </a:xfrm>
        </p:grpSpPr>
        <p:cxnSp>
          <p:nvCxnSpPr>
            <p:cNvPr id="74" name="直線單箭頭接點 73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2684118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2600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849943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5,8,L2</a:t>
            </a:r>
            <a:endParaRPr lang="zh-TW" altLang="en-US" sz="9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6838952" y="889000"/>
            <a:ext cx="1630644" cy="1700431"/>
            <a:chOff x="6838952" y="889000"/>
            <a:chExt cx="1630644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 flipH="1" flipV="1">
              <a:off x="7848531" y="2104276"/>
              <a:ext cx="621065" cy="48515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1666591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84800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849943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5,9,L2</a:t>
            </a:r>
            <a:endParaRPr lang="zh-TW" altLang="en-US" sz="900" dirty="0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630644" cy="1700431"/>
            <a:chOff x="6838952" y="889000"/>
            <a:chExt cx="1630644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48531" y="2104276"/>
              <a:ext cx="621065" cy="48515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7667358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90142" y="506372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079498" cy="1653033"/>
            <a:chOff x="6838952" y="889000"/>
            <a:chExt cx="1079498" cy="1653033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93047123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,4,L1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572338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079498" cy="1653033"/>
            <a:chOff x="6838952" y="889000"/>
            <a:chExt cx="1079498" cy="1653033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49891122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>
            <a:off x="1089834" y="5046243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5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6838952" y="889000"/>
            <a:ext cx="1079498" cy="1700431"/>
            <a:chOff x="6838952" y="889000"/>
            <a:chExt cx="1079498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4748984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650663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sp>
        <p:nvSpPr>
          <p:cNvPr id="73" name="向右箭號 72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5" name="群組 74"/>
          <p:cNvGrpSpPr/>
          <p:nvPr/>
        </p:nvGrpSpPr>
        <p:grpSpPr>
          <a:xfrm>
            <a:off x="6838952" y="889000"/>
            <a:ext cx="1079498" cy="1700431"/>
            <a:chOff x="6838952" y="889000"/>
            <a:chExt cx="1079498" cy="1700431"/>
          </a:xfrm>
        </p:grpSpPr>
        <p:cxnSp>
          <p:nvCxnSpPr>
            <p:cNvPr id="76" name="直線單箭頭接點 75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5" name="直線接點 84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478893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8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sp>
        <p:nvSpPr>
          <p:cNvPr id="73" name="向右箭號 72"/>
          <p:cNvSpPr/>
          <p:nvPr/>
        </p:nvSpPr>
        <p:spPr>
          <a:xfrm>
            <a:off x="1104179" y="5039893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706961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5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8" name="群組 77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81" name="直線單箭頭接點 80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9" name="直線接點 88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518974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246151" y="4395772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057533" y="4507679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k=2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993836" y="48015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8217558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703579" y="540483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690923" y="3164356"/>
            <a:ext cx="761054" cy="11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688262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339439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446326" y="3165505"/>
            <a:ext cx="100565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446326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044621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251769" y="3165506"/>
            <a:ext cx="120020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25697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330643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3006405" y="3165507"/>
            <a:ext cx="1445574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3026068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141287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353630"/>
            <a:ext cx="4077258" cy="2541011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9361" y="3377932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24489" y="372937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9, 7, 6, 3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24489" y="397321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24486" y="421705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4, 1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24486" y="445750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6424486" y="4701346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6424486" y="4941801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8, 5, 2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13912" y="366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13912" y="3910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13912" y="4159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13912" y="439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6113912" y="46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6113912" y="48790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6</a:t>
            </a:r>
          </a:p>
          <a:p>
            <a:r>
              <a:rPr lang="en-US" altLang="zh-TW" dirty="0" smtClean="0"/>
              <a:t>j = 2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4169" y="500956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k=4</a:t>
            </a:r>
            <a:endParaRPr lang="zh-TW" altLang="en-US" dirty="0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871850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Worse Case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dirty="0" smtClean="0"/>
              <a:t>A = B</a:t>
            </a:r>
          </a:p>
          <a:p>
            <a:pPr algn="ctr"/>
            <a:r>
              <a:rPr lang="en-US" altLang="zh-TW" sz="4400" dirty="0" smtClean="0"/>
              <a:t>O(</a:t>
            </a:r>
            <a:r>
              <a:rPr lang="en-US" altLang="zh-TW" sz="4400" dirty="0" err="1" smtClean="0"/>
              <a:t>mn</a:t>
            </a:r>
            <a:r>
              <a:rPr lang="en-US" altLang="zh-TW" sz="4400" dirty="0" smtClean="0"/>
              <a:t> log n)</a:t>
            </a:r>
            <a:endParaRPr lang="zh-TW" altLang="en-US" sz="4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90871012"/>
              </p:ext>
            </p:extLst>
          </p:nvPr>
        </p:nvGraphicFramePr>
        <p:xfrm>
          <a:off x="2298357" y="3644054"/>
          <a:ext cx="1837038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3611"/>
                <a:gridCol w="263611"/>
                <a:gridCol w="313038"/>
                <a:gridCol w="321275"/>
                <a:gridCol w="345989"/>
                <a:gridCol w="329514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185793" y="3863965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00921" y="4215404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300921" y="4459244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00918" y="4703084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300918" y="494353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300918" y="518737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5, 4, 3, 2, 1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990344" y="41497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990344" y="4396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990344" y="46458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990344" y="4881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990344" y="51246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54987926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5734"/>
            <a:ext cx="6316982" cy="393684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386" y="3236382"/>
            <a:ext cx="3463110" cy="286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645614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1139341" y="396191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4923117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858088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4513904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518006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5,5,L2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3" name="群組 72"/>
          <p:cNvGrpSpPr/>
          <p:nvPr/>
        </p:nvGrpSpPr>
        <p:grpSpPr>
          <a:xfrm>
            <a:off x="6838952" y="889000"/>
            <a:ext cx="1689098" cy="2094075"/>
            <a:chOff x="6838952" y="889000"/>
            <a:chExt cx="1689098" cy="2094075"/>
          </a:xfrm>
        </p:grpSpPr>
        <p:cxnSp>
          <p:nvCxnSpPr>
            <p:cNvPr id="78" name="直線單箭頭接點 77"/>
            <p:cNvCxnSpPr/>
            <p:nvPr/>
          </p:nvCxnSpPr>
          <p:spPr>
            <a:xfrm flipH="1" flipV="1">
              <a:off x="6838952" y="889000"/>
              <a:ext cx="533395" cy="41275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 flipH="1" flipV="1">
              <a:off x="7607301" y="1460500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 flipH="1" flipV="1">
              <a:off x="6838952" y="889000"/>
              <a:ext cx="317495" cy="7112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 flipV="1">
              <a:off x="7390758" y="1810388"/>
              <a:ext cx="209546" cy="139700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6851656" y="921534"/>
              <a:ext cx="139691" cy="98261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H="1" flipV="1">
              <a:off x="7816847" y="2198154"/>
              <a:ext cx="101603" cy="34387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 flipH="1" flipV="1">
              <a:off x="7105646" y="2195106"/>
              <a:ext cx="143486" cy="39432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H="1" flipV="1">
              <a:off x="8102600" y="2833031"/>
              <a:ext cx="425450" cy="150044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487480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961785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16862" y="5046564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567118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3, 6, 7, 9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4358" y="521330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096993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3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16661" y="540656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36437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899278" y="574938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596087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470900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5980" y="4507819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908949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7,3,L2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1375" y="486067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182809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36919" y="5066204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154149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6, 7, 9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5225839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17652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6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5385475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1621303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j = 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899278" y="5724007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文字方塊 92"/>
          <p:cNvSpPr txBox="1"/>
          <p:nvPr/>
        </p:nvSpPr>
        <p:spPr>
          <a:xfrm>
            <a:off x="3009578" y="4003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215983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True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4358" y="4488396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xmlns="" val="209369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880537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46776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xmlns="" val="594151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14791" y="486578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632445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887740" y="502310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 b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7330487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7, 9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42338" y="5207620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</a:t>
            </a:r>
            <a:r>
              <a:rPr lang="el-GR" altLang="zh-TW" dirty="0"/>
              <a:t>Λ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38015858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9</a:t>
            </a:r>
            <a:endParaRPr lang="zh-TW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55980" y="540676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</a:t>
            </a:r>
            <a:r>
              <a:rPr lang="el-GR" altLang="zh-TW" dirty="0"/>
              <a:t>Λ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  <p:sp>
        <p:nvSpPr>
          <p:cNvPr id="101" name="矩形 100"/>
          <p:cNvSpPr/>
          <p:nvPr/>
        </p:nvSpPr>
        <p:spPr>
          <a:xfrm>
            <a:off x="6417982" y="540491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∞</a:t>
            </a:r>
          </a:p>
        </p:txBody>
      </p:sp>
      <p:sp>
        <p:nvSpPr>
          <p:cNvPr id="41" name="矩形 40"/>
          <p:cNvSpPr/>
          <p:nvPr/>
        </p:nvSpPr>
        <p:spPr>
          <a:xfrm>
            <a:off x="6094005" y="5335227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Λ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033196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HS1</a:t>
            </a:r>
            <a:endParaRPr lang="zh-TW" altLang="en-US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1" y="286603"/>
            <a:ext cx="2781300" cy="30635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2959" y="1943100"/>
            <a:ext cx="4610101" cy="143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95500" y="188516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20335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3516" y="21727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36020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55208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67866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978928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94613" y="195431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11961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335303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55136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67149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978211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193896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404958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616020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831705" y="2235446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370967" y="18851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m=6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06405" y="217270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n=9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1530" y="2463699"/>
            <a:ext cx="926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99278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113216" y="2779804"/>
            <a:ext cx="220686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328901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54496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760747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971809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187494" y="2779804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302857" y="4062061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MATCHLIST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17985" y="441350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7, 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17985" y="465734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2, 5, 8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831705" y="2482964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LINK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928242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143927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35999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3575773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786835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002520" y="2784888"/>
            <a:ext cx="215685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477246" y="3031673"/>
            <a:ext cx="536193" cy="243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PTR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417982" y="4901180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1, 4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417982" y="5141635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107408" y="4347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6107408" y="45945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107408" y="484397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6107408" y="50798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087366" y="27170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10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843994" y="1943100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 smtClean="0"/>
              <a:t> = 7</a:t>
            </a:r>
          </a:p>
          <a:p>
            <a:r>
              <a:rPr lang="en-US" altLang="zh-TW" dirty="0" smtClean="0"/>
              <a:t>j = </a:t>
            </a:r>
            <a:r>
              <a:rPr lang="zh-TW" altLang="en-US" dirty="0" smtClean="0"/>
              <a:t>∞</a:t>
            </a:r>
          </a:p>
        </p:txBody>
      </p:sp>
      <p:sp>
        <p:nvSpPr>
          <p:cNvPr id="12" name="弧形 11"/>
          <p:cNvSpPr/>
          <p:nvPr/>
        </p:nvSpPr>
        <p:spPr>
          <a:xfrm>
            <a:off x="3395293" y="4955128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>
            <a:off x="2787665" y="3031673"/>
            <a:ext cx="2066" cy="13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2777760" y="2764884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3</a:t>
            </a:r>
            <a:r>
              <a:rPr lang="en-US" altLang="zh-TW" sz="900" dirty="0" smtClean="0"/>
              <a:t>,1,null</a:t>
            </a:r>
            <a:endParaRPr lang="zh-TW" altLang="en-US" sz="9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3030248" y="2864320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5,2,L1</a:t>
            </a:r>
            <a:endParaRPr lang="zh-TW" altLang="en-US" sz="9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8940800" y="1226340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991347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7396772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29280" y="275224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7,6,L2</a:t>
            </a:r>
            <a:endParaRPr lang="zh-TW" altLang="en-US" sz="900" dirty="0"/>
          </a:p>
        </p:txBody>
      </p:sp>
      <p:cxnSp>
        <p:nvCxnSpPr>
          <p:cNvPr id="75" name="直線接點 74"/>
          <p:cNvCxnSpPr/>
          <p:nvPr/>
        </p:nvCxnSpPr>
        <p:spPr>
          <a:xfrm>
            <a:off x="8072051" y="1201184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3456468" y="2859206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6,8,L3</a:t>
            </a:r>
            <a:endParaRPr lang="zh-TW" altLang="en-US" sz="900" dirty="0"/>
          </a:p>
        </p:txBody>
      </p:sp>
      <p:sp>
        <p:nvSpPr>
          <p:cNvPr id="77" name="向右箭號 76"/>
          <p:cNvSpPr/>
          <p:nvPr/>
        </p:nvSpPr>
        <p:spPr>
          <a:xfrm>
            <a:off x="822959" y="5652051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8" name="直線單箭頭接點 77"/>
          <p:cNvCxnSpPr/>
          <p:nvPr/>
        </p:nvCxnSpPr>
        <p:spPr>
          <a:xfrm flipH="1" flipV="1">
            <a:off x="6838952" y="889000"/>
            <a:ext cx="533395" cy="4127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7607301" y="1460500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6838952" y="889000"/>
            <a:ext cx="317495" cy="7112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H="1" flipV="1">
            <a:off x="7390758" y="1810388"/>
            <a:ext cx="209546" cy="13970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 flipH="1" flipV="1">
            <a:off x="6851656" y="921534"/>
            <a:ext cx="139691" cy="98261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/>
          <p:nvPr/>
        </p:nvCxnSpPr>
        <p:spPr>
          <a:xfrm flipH="1" flipV="1">
            <a:off x="7816847" y="2198154"/>
            <a:ext cx="101603" cy="34387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 flipV="1">
            <a:off x="7105646" y="2195106"/>
            <a:ext cx="143486" cy="3943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8102600" y="2833031"/>
            <a:ext cx="425450" cy="1500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 flipV="1">
            <a:off x="2826276" y="3165508"/>
            <a:ext cx="162570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2854241" y="3035048"/>
            <a:ext cx="2661" cy="1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94860" y="5799438"/>
            <a:ext cx="3720465" cy="3789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c b </a:t>
            </a:r>
            <a:endParaRPr lang="zh-TW" altLang="en-US" dirty="0"/>
          </a:p>
        </p:txBody>
      </p:sp>
      <p:cxnSp>
        <p:nvCxnSpPr>
          <p:cNvPr id="88" name="直線接點 87"/>
          <p:cNvCxnSpPr/>
          <p:nvPr/>
        </p:nvCxnSpPr>
        <p:spPr>
          <a:xfrm>
            <a:off x="7182926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671229" y="4050748"/>
            <a:ext cx="182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(Active list)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277618" y="32272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 7</a:t>
            </a:r>
            <a:endParaRPr lang="zh-TW" altLang="en-US" dirty="0"/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3" y="3392644"/>
            <a:ext cx="3463110" cy="2864894"/>
          </a:xfrm>
          <a:prstGeom prst="rect">
            <a:avLst/>
          </a:prstGeom>
        </p:spPr>
      </p:pic>
      <p:sp>
        <p:nvSpPr>
          <p:cNvPr id="90" name="弧形 89"/>
          <p:cNvSpPr/>
          <p:nvPr/>
        </p:nvSpPr>
        <p:spPr>
          <a:xfrm>
            <a:off x="1492903" y="3430153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2361957" y="338296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63" name="波浪 62"/>
          <p:cNvSpPr/>
          <p:nvPr/>
        </p:nvSpPr>
        <p:spPr>
          <a:xfrm>
            <a:off x="4836672" y="3594775"/>
            <a:ext cx="988395" cy="53148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False</a:t>
            </a:r>
            <a:endParaRPr lang="zh-TW" altLang="en-US" dirty="0"/>
          </a:p>
        </p:txBody>
      </p:sp>
      <p:sp>
        <p:nvSpPr>
          <p:cNvPr id="91" name="向右箭號 90"/>
          <p:cNvSpPr/>
          <p:nvPr/>
        </p:nvSpPr>
        <p:spPr>
          <a:xfrm>
            <a:off x="969871" y="5761722"/>
            <a:ext cx="238759" cy="7543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弧形 91"/>
          <p:cNvSpPr/>
          <p:nvPr/>
        </p:nvSpPr>
        <p:spPr>
          <a:xfrm>
            <a:off x="2146927" y="4045216"/>
            <a:ext cx="1049525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69683" y="3314639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4" name="直線單箭頭接點 93"/>
          <p:cNvCxnSpPr/>
          <p:nvPr/>
        </p:nvCxnSpPr>
        <p:spPr>
          <a:xfrm flipH="1" flipV="1">
            <a:off x="7385576" y="2835800"/>
            <a:ext cx="75671" cy="46239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弧形 94"/>
          <p:cNvSpPr/>
          <p:nvPr/>
        </p:nvSpPr>
        <p:spPr>
          <a:xfrm>
            <a:off x="2024891" y="4780754"/>
            <a:ext cx="3911682" cy="772354"/>
          </a:xfrm>
          <a:prstGeom prst="arc">
            <a:avLst>
              <a:gd name="adj1" fmla="val 10744967"/>
              <a:gd name="adj2" fmla="val 19269384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452521" y="4566774"/>
            <a:ext cx="1362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symb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bt</a:t>
            </a:r>
            <a:r>
              <a:rPr lang="en-US" altLang="zh-TW" dirty="0" smtClean="0"/>
              <a:t>) =</a:t>
            </a:r>
            <a:r>
              <a:rPr lang="el-GR" altLang="zh-TW" dirty="0"/>
              <a:t>Λ</a:t>
            </a:r>
            <a:endParaRPr lang="zh-TW" altLang="en-US" dirty="0"/>
          </a:p>
        </p:txBody>
      </p:sp>
      <p:sp>
        <p:nvSpPr>
          <p:cNvPr id="97" name="橢圓 96"/>
          <p:cNvSpPr/>
          <p:nvPr/>
        </p:nvSpPr>
        <p:spPr>
          <a:xfrm>
            <a:off x="8006072" y="3333684"/>
            <a:ext cx="309253" cy="322146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3009578" y="40037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∞</a:t>
            </a:r>
          </a:p>
        </p:txBody>
      </p:sp>
      <p:cxnSp>
        <p:nvCxnSpPr>
          <p:cNvPr id="93" name="直線接點 92"/>
          <p:cNvCxnSpPr/>
          <p:nvPr/>
        </p:nvCxnSpPr>
        <p:spPr>
          <a:xfrm>
            <a:off x="8710140" y="1207289"/>
            <a:ext cx="0" cy="2056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8695976" y="3320643"/>
            <a:ext cx="309253" cy="322146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3666505" y="2771153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/>
              <a:t>7,9,L4</a:t>
            </a:r>
            <a:endParaRPr lang="zh-TW" altLang="en-US" sz="900" dirty="0"/>
          </a:p>
        </p:txBody>
      </p:sp>
      <p:sp>
        <p:nvSpPr>
          <p:cNvPr id="101" name="矩形 100"/>
          <p:cNvSpPr/>
          <p:nvPr/>
        </p:nvSpPr>
        <p:spPr>
          <a:xfrm>
            <a:off x="6417982" y="5404919"/>
            <a:ext cx="2224211" cy="24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∞</a:t>
            </a:r>
          </a:p>
        </p:txBody>
      </p:sp>
      <p:sp>
        <p:nvSpPr>
          <p:cNvPr id="41" name="矩形 40"/>
          <p:cNvSpPr/>
          <p:nvPr/>
        </p:nvSpPr>
        <p:spPr>
          <a:xfrm>
            <a:off x="6094005" y="5335227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Λ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34422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Worst Case (HS1)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O(m log n + d log(</a:t>
            </a:r>
            <a:r>
              <a:rPr lang="en-US" altLang="zh-TW" dirty="0" err="1" smtClean="0"/>
              <a:t>mn</a:t>
            </a:r>
            <a:r>
              <a:rPr lang="en-US" altLang="zh-TW" dirty="0" smtClean="0"/>
              <a:t>/d))</a:t>
            </a:r>
          </a:p>
          <a:p>
            <a:r>
              <a:rPr lang="en-US" altLang="zh-TW" dirty="0"/>
              <a:t>d</a:t>
            </a:r>
            <a:r>
              <a:rPr lang="en-US" altLang="zh-TW" dirty="0" smtClean="0"/>
              <a:t>:</a:t>
            </a:r>
          </a:p>
          <a:p>
            <a:r>
              <a:rPr lang="en-US" altLang="zh-TW" dirty="0"/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) the </a:t>
            </a:r>
            <a:r>
              <a:rPr lang="en-US" altLang="zh-TW" dirty="0" smtClean="0"/>
              <a:t>number </a:t>
            </a:r>
            <a:r>
              <a:rPr lang="en-US" altLang="zh-TW" dirty="0"/>
              <a:t>of times that FLAG was true equals the </a:t>
            </a:r>
          </a:p>
          <a:p>
            <a:r>
              <a:rPr lang="en-US" altLang="zh-TW" dirty="0"/>
              <a:t>number of dominant matches detected so far, </a:t>
            </a:r>
            <a:endParaRPr lang="en-US" altLang="zh-TW" dirty="0" smtClean="0"/>
          </a:p>
          <a:p>
            <a:r>
              <a:rPr lang="en-US" altLang="zh-TW" dirty="0" smtClean="0"/>
              <a:t>(</a:t>
            </a:r>
            <a:r>
              <a:rPr lang="en-US" altLang="zh-TW" dirty="0"/>
              <a:t>ii) j </a:t>
            </a:r>
            <a:r>
              <a:rPr lang="en-US" altLang="zh-TW" dirty="0" smtClean="0"/>
              <a:t>identifies </a:t>
            </a:r>
            <a:r>
              <a:rPr lang="en-US" altLang="zh-TW" dirty="0"/>
              <a:t>the last dominant match detected, and </a:t>
            </a:r>
          </a:p>
          <a:p>
            <a:r>
              <a:rPr lang="en-US" altLang="zh-TW" dirty="0"/>
              <a:t>(iii) j is the only such match which has not been </a:t>
            </a:r>
            <a:r>
              <a:rPr lang="en-US" altLang="zh-TW" dirty="0" smtClean="0"/>
              <a:t>recorded </a:t>
            </a:r>
            <a:r>
              <a:rPr lang="en-US" altLang="zh-TW" dirty="0"/>
              <a:t>yet.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310734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5" y="1737361"/>
            <a:ext cx="3463110" cy="286489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9814" y="2127802"/>
            <a:ext cx="4792775" cy="107576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81" y="180180"/>
            <a:ext cx="8721274" cy="155718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430" y="1341608"/>
            <a:ext cx="4658175" cy="6513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91621" y="1341608"/>
            <a:ext cx="3417076" cy="1329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5493" y="1843785"/>
            <a:ext cx="3417076" cy="1329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591620" y="2146608"/>
            <a:ext cx="3089265" cy="2753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8325605" y="2796625"/>
            <a:ext cx="597319" cy="2753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335" y="3721957"/>
            <a:ext cx="5648364" cy="103687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593492" y="4602255"/>
            <a:ext cx="807308" cy="15657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弧形 14"/>
          <p:cNvSpPr/>
          <p:nvPr/>
        </p:nvSpPr>
        <p:spPr>
          <a:xfrm>
            <a:off x="407332" y="2624090"/>
            <a:ext cx="518984" cy="1717561"/>
          </a:xfrm>
          <a:prstGeom prst="arc">
            <a:avLst>
              <a:gd name="adj1" fmla="val 5811371"/>
              <a:gd name="adj2" fmla="val 159804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9626" y="3160547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i</a:t>
            </a:r>
            <a:endParaRPr lang="zh-TW" altLang="en-US" baseline="-250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文字方塊 16"/>
              <p:cNvSpPr txBox="1"/>
              <p:nvPr/>
            </p:nvSpPr>
            <p:spPr>
              <a:xfrm>
                <a:off x="163165" y="4756194"/>
                <a:ext cx="1406475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altLang="zh-TW" sz="2800" dirty="0" smtClean="0"/>
                  <a:t>d</a:t>
                </a:r>
                <a14:m>
                  <m:oMath xmlns:m="http://schemas.openxmlformats.org/officeDocument/2006/math">
                    <m:r>
                      <a:rPr lang="pt-BR" altLang="zh-TW" sz="280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TW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5" y="4756194"/>
                <a:ext cx="1406475" cy="512961"/>
              </a:xfrm>
              <a:prstGeom prst="rect">
                <a:avLst/>
              </a:prstGeom>
              <a:blipFill rotWithShape="0">
                <a:blip r:embed="rId7"/>
                <a:stretch>
                  <a:fillRect l="-15652" t="-5952" b="-4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2335" y="4865043"/>
            <a:ext cx="1357208" cy="1394792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0" y="5507497"/>
            <a:ext cx="3236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~= 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粗黑圈圈的個數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76124" y="5408848"/>
            <a:ext cx="44902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O(m log n + d log(</a:t>
            </a:r>
            <a:r>
              <a:rPr lang="en-US" altLang="zh-TW" sz="3200" dirty="0" err="1"/>
              <a:t>mn</a:t>
            </a:r>
            <a:r>
              <a:rPr lang="en-US" altLang="zh-TW" sz="3200" dirty="0"/>
              <a:t>/d))</a:t>
            </a:r>
          </a:p>
        </p:txBody>
      </p:sp>
    </p:spTree>
    <p:extLst>
      <p:ext uri="{BB962C8B-B14F-4D97-AF65-F5344CB8AC3E}">
        <p14:creationId xmlns:p14="http://schemas.microsoft.com/office/powerpoint/2010/main" xmlns="" val="2865021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2078</TotalTime>
  <Words>4664</Words>
  <Application>Microsoft Office PowerPoint</Application>
  <PresentationFormat>如螢幕大小 (4:3)</PresentationFormat>
  <Paragraphs>2873</Paragraphs>
  <Slides>66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66</vt:i4>
      </vt:variant>
    </vt:vector>
  </HeadingPairs>
  <TitlesOfParts>
    <vt:vector size="67" baseType="lpstr">
      <vt:lpstr>回顧</vt:lpstr>
      <vt:lpstr>IMPROVING THE WORST-CASE PERFORMANCE OF THE HUNT-SZYMANSKI STRATEGY FOR THE LOGEST COMMON SUBSEQUENCE OF TWO STRINGS</vt:lpstr>
      <vt:lpstr>ABSTRUCT</vt:lpstr>
      <vt:lpstr>LCS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Algorithm HS</vt:lpstr>
      <vt:lpstr>Worse Case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Algorithm HS1</vt:lpstr>
      <vt:lpstr>Worst Case (HS1)</vt:lpstr>
      <vt:lpstr>投影片 66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THE WORST-CASE PERFORMANCE OF THE HUNT-SZYMANSKI STRATEGY FOR THE LOGEST COMMON SUBSEQUENCE OF TWO STRINGS</dc:title>
  <dc:creator>Pichu</dc:creator>
  <cp:lastModifiedBy>admin</cp:lastModifiedBy>
  <cp:revision>36</cp:revision>
  <dcterms:created xsi:type="dcterms:W3CDTF">2014-03-03T02:27:23Z</dcterms:created>
  <dcterms:modified xsi:type="dcterms:W3CDTF">2014-03-10T12:01:21Z</dcterms:modified>
</cp:coreProperties>
</file>