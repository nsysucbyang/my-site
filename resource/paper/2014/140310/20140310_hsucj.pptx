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2" r:id="rId4"/>
    <p:sldId id="263" r:id="rId5"/>
    <p:sldId id="264" r:id="rId6"/>
    <p:sldId id="275" r:id="rId7"/>
    <p:sldId id="276" r:id="rId8"/>
    <p:sldId id="277" r:id="rId9"/>
    <p:sldId id="278" r:id="rId10"/>
    <p:sldId id="279" r:id="rId11"/>
    <p:sldId id="280" r:id="rId12"/>
    <p:sldId id="267" r:id="rId13"/>
    <p:sldId id="271" r:id="rId14"/>
    <p:sldId id="272" r:id="rId15"/>
    <p:sldId id="273" r:id="rId16"/>
    <p:sldId id="274" r:id="rId17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clrMru>
    <a:srgbClr val="008000"/>
    <a:srgbClr val="B5E5B5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598" autoAdjust="0"/>
  </p:normalViewPr>
  <p:slideViewPr>
    <p:cSldViewPr>
      <p:cViewPr varScale="1">
        <p:scale>
          <a:sx n="69" d="100"/>
          <a:sy n="69" d="100"/>
        </p:scale>
        <p:origin x="-54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188C25-3BBA-48C1-90E9-DC544C31DB7C}" type="datetimeFigureOut">
              <a:rPr lang="zh-TW" altLang="en-US" smtClean="0"/>
              <a:pPr/>
              <a:t>2014/3/10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970C93-EEEA-4B52-815E-D24010254F7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310058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Dynamic_time_warping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mirlab.org/jang/books/dcpr/dpDtw.asp?title=8-4%20Dynamic%20Time%20Warping&amp;language=all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970C93-EEEA-4B52-815E-D24010254F7C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8569195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>
                <a:hlinkClick r:id="rId3"/>
              </a:rPr>
              <a:t>http://en.wikipedia.org/wiki/Dynamic_time_warping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970C93-EEEA-4B52-815E-D24010254F7C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5083365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Ref: </a:t>
            </a:r>
            <a:r>
              <a:rPr lang="en-US" altLang="zh-TW" dirty="0" smtClean="0">
                <a:hlinkClick r:id="rId3"/>
              </a:rPr>
              <a:t>http://mirlab.org/jang/books/dcpr/dpDtw.asp?title=8-4%20Dynamic%20Time%20Warping&amp;language=all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970C93-EEEA-4B52-815E-D24010254F7C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1953848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http://kanjiteacher.googlecode.com/svn/Non-Code/Papers/HWR/Keogh2001.pdf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970C93-EEEA-4B52-815E-D24010254F7C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0375681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http://www.cs.ucr.edu/~eamonn/DTW_myths.pdf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970C93-EEEA-4B52-815E-D24010254F7C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1211404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smtClean="0"/>
              <a:t>http://www.cs.ucr.edu/~eamonn/DTW_myths.pdf</a:t>
            </a:r>
            <a:endParaRPr lang="zh-TW" altLang="en-US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970C93-EEEA-4B52-815E-D24010254F7C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8258796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smtClean="0"/>
              <a:t>http://www.cs.ucr.edu/~eamonn/DTW_myths.pdf</a:t>
            </a:r>
            <a:endParaRPr lang="zh-TW" altLang="en-US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970C93-EEEA-4B52-815E-D24010254F7C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0690854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smtClean="0"/>
              <a:t>http://www.cs.ucr.edu/~eamonn/DTW_myths.pdf</a:t>
            </a:r>
            <a:endParaRPr lang="zh-TW" altLang="en-US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970C93-EEEA-4B52-815E-D24010254F7C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856825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A83E4-F123-4500-948A-69347FAC3D33}" type="datetime1">
              <a:rPr lang="zh-TW" altLang="en-US" smtClean="0"/>
              <a:pPr/>
              <a:t>2014/3/10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88585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0F13C-4328-42F6-B6F3-EC72A0CFC1A4}" type="datetime1">
              <a:rPr lang="zh-TW" altLang="en-US" smtClean="0"/>
              <a:pPr/>
              <a:t>2014/3/10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391612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AA6A2-1CDB-48F2-A95A-10E0238E1885}" type="datetime1">
              <a:rPr lang="zh-TW" altLang="en-US" smtClean="0"/>
              <a:pPr/>
              <a:t>2014/3/10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975701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B2CDE-6738-444E-8E61-B3A1F23203A0}" type="datetime1">
              <a:rPr lang="zh-TW" altLang="en-US" smtClean="0"/>
              <a:pPr/>
              <a:t>2014/3/10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857646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60CE1-8824-4C42-B9E1-FA28E99BE653}" type="datetime1">
              <a:rPr lang="zh-TW" altLang="en-US" smtClean="0"/>
              <a:pPr/>
              <a:t>2014/3/10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183941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F8240-144C-4A2A-8708-7D307E938659}" type="datetime1">
              <a:rPr lang="zh-TW" altLang="en-US" smtClean="0"/>
              <a:pPr/>
              <a:t>2014/3/10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547493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05C9A-A783-490B-9546-8C560E6A696C}" type="datetime1">
              <a:rPr lang="zh-TW" altLang="en-US" smtClean="0"/>
              <a:pPr/>
              <a:t>2014/3/10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133618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9F1A3-B26A-4A4E-9234-D8034C0DDD1D}" type="datetime1">
              <a:rPr lang="zh-TW" altLang="en-US" smtClean="0"/>
              <a:pPr/>
              <a:t>2014/3/10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744555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E0AEB-81FE-4657-94D2-10A36DBD5A50}" type="datetime1">
              <a:rPr lang="zh-TW" altLang="en-US" smtClean="0"/>
              <a:pPr/>
              <a:t>2014/3/10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234254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20174-E91C-4D8D-9779-D0A91070D678}" type="datetime1">
              <a:rPr lang="zh-TW" altLang="en-US" smtClean="0"/>
              <a:pPr/>
              <a:t>2014/3/10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276040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70263-48F3-4EBC-8231-D7AB22C2D693}" type="datetime1">
              <a:rPr lang="zh-TW" altLang="en-US" smtClean="0"/>
              <a:pPr/>
              <a:t>2014/3/10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366642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5E5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6DCD1-B4AA-4C12-AA7A-A4B4A75C42AD}" type="datetime1">
              <a:rPr lang="zh-TW" altLang="en-US" smtClean="0"/>
              <a:pPr/>
              <a:t>2014/3/10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A2154A-7944-49D8-9ABC-66E253E1536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830821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gi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ucr.edu/~eamonn/time_series_data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b="1" dirty="0" smtClean="0"/>
              <a:t>Flexible Dynamic Time Warping for Time Series</a:t>
            </a:r>
            <a:endParaRPr lang="zh-TW" altLang="en-US" b="1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</a:rPr>
              <a:t>Presenter: </a:t>
            </a:r>
            <a:r>
              <a:rPr lang="en-US" altLang="zh-TW" dirty="0" err="1">
                <a:solidFill>
                  <a:schemeClr val="tx1"/>
                </a:solidFill>
              </a:rPr>
              <a:t>Che-Jui</a:t>
            </a:r>
            <a:r>
              <a:rPr lang="en-US" altLang="zh-TW" dirty="0">
                <a:solidFill>
                  <a:schemeClr val="tx1"/>
                </a:solidFill>
              </a:rPr>
              <a:t> Hsu(</a:t>
            </a:r>
            <a:r>
              <a:rPr lang="zh-TW" altLang="en-US" dirty="0">
                <a:solidFill>
                  <a:schemeClr val="tx1"/>
                </a:solidFill>
              </a:rPr>
              <a:t>許哲睿</a:t>
            </a:r>
            <a:r>
              <a:rPr lang="en-US" altLang="zh-TW" dirty="0">
                <a:solidFill>
                  <a:schemeClr val="tx1"/>
                </a:solidFill>
              </a:rPr>
              <a:t>)</a:t>
            </a:r>
          </a:p>
          <a:p>
            <a:r>
              <a:rPr lang="en-US" altLang="zh-TW" dirty="0">
                <a:solidFill>
                  <a:schemeClr val="tx1"/>
                </a:solidFill>
              </a:rPr>
              <a:t>Date</a:t>
            </a:r>
            <a:r>
              <a:rPr lang="en-US" altLang="zh-TW" dirty="0" smtClean="0">
                <a:solidFill>
                  <a:schemeClr val="tx1"/>
                </a:solidFill>
              </a:rPr>
              <a:t>: </a:t>
            </a:r>
            <a:fld id="{71DEFAD6-FED9-47E1-8977-494DA0EF0164}" type="datetime1">
              <a:rPr lang="zh-TW" altLang="en-US" smtClean="0">
                <a:solidFill>
                  <a:schemeClr val="tx1"/>
                </a:solidFill>
              </a:rPr>
              <a:pPr/>
              <a:t>2014/3/10</a:t>
            </a:fld>
            <a:endParaRPr lang="en-US" altLang="zh-TW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6145431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Dynamic Time Warping (1/4)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定義：</a:t>
            </a:r>
            <a:r>
              <a:rPr lang="en-US" altLang="zh-TW" dirty="0" smtClean="0"/>
              <a:t>Dynamic </a:t>
            </a:r>
            <a:r>
              <a:rPr lang="en-US" altLang="zh-TW" dirty="0"/>
              <a:t>time warping (DTW) is an algorithm for measuring similarity between two sequences </a:t>
            </a:r>
            <a:r>
              <a:rPr lang="en-US" altLang="zh-TW" dirty="0" smtClean="0"/>
              <a:t>which </a:t>
            </a:r>
            <a:r>
              <a:rPr lang="en-US" altLang="zh-TW" dirty="0"/>
              <a:t>may vary in time or speed.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86575958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Dynamic Time </a:t>
            </a:r>
            <a:r>
              <a:rPr lang="en-US" altLang="zh-TW" b="1" dirty="0" smtClean="0"/>
              <a:t>Warping (2/4)</a:t>
            </a:r>
            <a:endParaRPr lang="zh-TW" altLang="en-US" b="1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</a:rPr>
                      <m:t>𝐷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  <m:r>
                          <a:rPr lang="en-US" altLang="zh-TW" i="1">
                            <a:latin typeface="Cambria Math"/>
                          </a:rPr>
                          <m:t>, </m:t>
                        </m:r>
                        <m:r>
                          <a:rPr lang="en-US" altLang="zh-TW" i="1">
                            <a:latin typeface="Cambria Math"/>
                          </a:rPr>
                          <m:t>𝑗</m:t>
                        </m:r>
                      </m:e>
                    </m:d>
                    <m:r>
                      <a:rPr lang="en-US" altLang="zh-TW" i="1">
                        <a:latin typeface="Cambria Math"/>
                      </a:rPr>
                      <m:t>=</m:t>
                    </m:r>
                    <m:r>
                      <m:rPr>
                        <m:nor/>
                      </m:rPr>
                      <a:rPr lang="en-US" altLang="zh-TW">
                        <a:latin typeface="Cambria Math"/>
                      </a:rPr>
                      <m:t>cost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  <m:r>
                          <a:rPr lang="en-US" altLang="zh-TW" i="1">
                            <a:latin typeface="Cambria Math"/>
                          </a:rPr>
                          <m:t>, </m:t>
                        </m:r>
                        <m:r>
                          <a:rPr lang="en-US" altLang="zh-TW" i="1">
                            <a:latin typeface="Cambria Math"/>
                          </a:rPr>
                          <m:t>𝑗</m:t>
                        </m:r>
                      </m:e>
                    </m:d>
                    <m:r>
                      <a:rPr lang="en-US" altLang="zh-TW" i="1">
                        <a:latin typeface="Cambria Math"/>
                      </a:rPr>
                      <m:t>+</m:t>
                    </m:r>
                  </m:oMath>
                </a14:m>
                <a:r>
                  <a:rPr lang="en-US" altLang="zh-TW" i="1" dirty="0">
                    <a:latin typeface="Cambria Math"/>
                  </a:rPr>
                  <a:t/>
                </a:r>
                <a:br>
                  <a:rPr lang="en-US" altLang="zh-TW" i="1" dirty="0">
                    <a:latin typeface="Cambria Math"/>
                  </a:rPr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>
                            <a:latin typeface="Cambria Math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𝐷</m:t>
                            </m:r>
                            <m:d>
                              <m:d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−1, 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𝑗</m:t>
                                </m:r>
                              </m:e>
                            </m:d>
                            <m:r>
                              <a:rPr lang="en-US" altLang="zh-TW" i="1">
                                <a:latin typeface="Cambria Math"/>
                              </a:rPr>
                              <m:t>,</m:t>
                            </m:r>
                            <m:r>
                              <a:rPr lang="en-US" altLang="zh-TW" i="1">
                                <a:latin typeface="Cambria Math"/>
                              </a:rPr>
                              <m:t>𝐷</m:t>
                            </m:r>
                            <m:d>
                              <m:d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zh-TW" i="1">
                                <a:latin typeface="Cambria Math"/>
                              </a:rPr>
                              <m:t>,</m:t>
                            </m:r>
                            <m:r>
                              <a:rPr lang="en-US" altLang="zh-TW" i="1">
                                <a:latin typeface="Cambria Math"/>
                              </a:rPr>
                              <m:t>𝐷</m:t>
                            </m:r>
                            <m:d>
                              <m:d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,−1 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−1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pPr/>
              <a:t>3</a:t>
            </a:fld>
            <a:endParaRPr lang="zh-TW" altLang="en-US"/>
          </a:p>
        </p:txBody>
      </p:sp>
      <p:pic>
        <p:nvPicPr>
          <p:cNvPr id="3074" name="Picture 2" descr="http://mirlab.org/jang/books/dcpr/image/dtwLocalPathConstraint2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170906" y="2996952"/>
            <a:ext cx="4705350" cy="310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6302225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Dynamic Time </a:t>
            </a:r>
            <a:r>
              <a:rPr lang="en-US" altLang="zh-TW" b="1" dirty="0" smtClean="0"/>
              <a:t>Warping (3/4)</a:t>
            </a:r>
            <a:endParaRPr lang="zh-TW" altLang="en-US" b="1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內容版面配置區 4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𝑄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</m:e>
                    </m:d>
                    <m:r>
                      <a:rPr lang="en-US" altLang="zh-TW" b="0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</a:rPr>
                          <m:t>0.1, 0.3, 0.5, 0.4, 0.2</m:t>
                        </m:r>
                      </m:e>
                    </m:d>
                  </m:oMath>
                </a14:m>
                <a:endParaRPr lang="en-US" altLang="zh-TW" dirty="0" smtClean="0"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/>
                          </a:rPr>
                          <m:t>𝑗</m:t>
                        </m:r>
                      </m:e>
                    </m:d>
                    <m:r>
                      <a:rPr lang="en-US" altLang="zh-TW" b="0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</a:rPr>
                          <m:t>0.3, 0.2, 0.4, 0.1, 0.5</m:t>
                        </m:r>
                      </m:e>
                    </m:d>
                  </m:oMath>
                </a14:m>
                <a:endParaRPr lang="en-US" altLang="zh-TW" dirty="0" smtClean="0"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smtClean="0">
                        <a:latin typeface="Cambria Math"/>
                      </a:rPr>
                      <m:t>𝑐𝑜𝑠𝑡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>
                            <a:latin typeface="Cambria Math"/>
                          </a:rPr>
                          <m:t>𝑖</m:t>
                        </m:r>
                        <m:r>
                          <a:rPr lang="en-US" altLang="zh-TW">
                            <a:latin typeface="Cambria Math"/>
                          </a:rPr>
                          <m:t>, </m:t>
                        </m:r>
                        <m:r>
                          <a:rPr lang="en-US" altLang="zh-TW">
                            <a:latin typeface="Cambria Math"/>
                          </a:rPr>
                          <m:t>𝑗</m:t>
                        </m:r>
                      </m:e>
                    </m:d>
                    <m:r>
                      <a:rPr lang="en-US" altLang="zh-TW">
                        <a:latin typeface="Cambria Math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𝑄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𝑖</m:t>
                            </m:r>
                          </m:e>
                        </m:d>
                        <m:r>
                          <a:rPr lang="en-US" altLang="zh-TW">
                            <a:latin typeface="Cambria Math"/>
                          </a:rPr>
                          <m:t>−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𝐶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𝑗</m:t>
                            </m:r>
                          </m:e>
                        </m:d>
                      </m:e>
                    </m:d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5" name="內容版面配置區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89848589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Dynamic Time </a:t>
            </a:r>
            <a:r>
              <a:rPr lang="en-US" altLang="zh-TW" b="1" dirty="0" smtClean="0"/>
              <a:t>Warping (4/4)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pPr/>
              <a:t>5</a:t>
            </a:fld>
            <a:endParaRPr lang="zh-TW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474311750"/>
              </p:ext>
            </p:extLst>
          </p:nvPr>
        </p:nvGraphicFramePr>
        <p:xfrm>
          <a:off x="1356320" y="4865712"/>
          <a:ext cx="6096000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0.1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0.3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0.5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0.4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0.2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0.3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0.2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0.4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0.1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0.5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cxnSp>
        <p:nvCxnSpPr>
          <p:cNvPr id="8" name="直線接點 7"/>
          <p:cNvCxnSpPr/>
          <p:nvPr/>
        </p:nvCxnSpPr>
        <p:spPr>
          <a:xfrm>
            <a:off x="1979712" y="5297760"/>
            <a:ext cx="0" cy="504056"/>
          </a:xfrm>
          <a:prstGeom prst="line">
            <a:avLst/>
          </a:prstGeom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3203848" y="5297760"/>
            <a:ext cx="0" cy="504056"/>
          </a:xfrm>
          <a:prstGeom prst="line">
            <a:avLst/>
          </a:prstGeom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>
            <a:off x="4355976" y="5297760"/>
            <a:ext cx="0" cy="504056"/>
          </a:xfrm>
          <a:prstGeom prst="line">
            <a:avLst/>
          </a:prstGeom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 flipH="1">
            <a:off x="4355976" y="5297760"/>
            <a:ext cx="1296144" cy="504056"/>
          </a:xfrm>
          <a:prstGeom prst="line">
            <a:avLst/>
          </a:prstGeom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/>
          <p:nvPr/>
        </p:nvCxnSpPr>
        <p:spPr>
          <a:xfrm flipV="1">
            <a:off x="5652120" y="5297760"/>
            <a:ext cx="1152128" cy="504056"/>
          </a:xfrm>
          <a:prstGeom prst="line">
            <a:avLst/>
          </a:prstGeom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/>
          <p:nvPr/>
        </p:nvCxnSpPr>
        <p:spPr>
          <a:xfrm>
            <a:off x="6804248" y="5297760"/>
            <a:ext cx="0" cy="504056"/>
          </a:xfrm>
          <a:prstGeom prst="line">
            <a:avLst/>
          </a:prstGeom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795266678"/>
              </p:ext>
            </p:extLst>
          </p:nvPr>
        </p:nvGraphicFramePr>
        <p:xfrm>
          <a:off x="900395" y="1602000"/>
          <a:ext cx="7199997" cy="306000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28571"/>
                <a:gridCol w="1028571"/>
                <a:gridCol w="1028571"/>
                <a:gridCol w="1028571"/>
                <a:gridCol w="1028571"/>
                <a:gridCol w="1028571"/>
                <a:gridCol w="1028571"/>
              </a:tblGrid>
              <a:tr h="4371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effectLst/>
                        </a:rPr>
                        <a:t>0.5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effectLst/>
                        </a:rPr>
                        <a:t>INF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0.4+0.6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0.2+0.6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0+0.6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0.1+0.6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1" i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0.3+0.5</a:t>
                      </a:r>
                      <a:endParaRPr lang="en-US" altLang="zh-TW" sz="2000" b="1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371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0.1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effectLst/>
                        </a:rPr>
                        <a:t>INF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0+0.6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0.2+0.4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effectLst/>
                        </a:rPr>
                        <a:t>0.4+0.4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0.3+0.4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0.1+0.4</a:t>
                      </a:r>
                      <a:endParaRPr lang="en-US" altLang="zh-TW" sz="20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371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0.4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effectLst/>
                        </a:rPr>
                        <a:t>INF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effectLst/>
                        </a:rPr>
                        <a:t>0.3+0.3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effectLst/>
                        </a:rPr>
                        <a:t>0.1+0.3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0.1+0.3</a:t>
                      </a:r>
                      <a:endParaRPr lang="en-US" altLang="zh-TW" sz="20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0+0.4</a:t>
                      </a:r>
                      <a:endParaRPr lang="en-US" altLang="zh-TW" sz="20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0.2+0.4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371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effectLst/>
                        </a:rPr>
                        <a:t>0.2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effectLst/>
                        </a:rPr>
                        <a:t>INF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effectLst/>
                        </a:rPr>
                        <a:t>0.1+0.2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0.1+0.2</a:t>
                      </a:r>
                      <a:endParaRPr lang="en-US" altLang="zh-TW" sz="20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0.3+0.2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0.2+0.4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0+0.5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3714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0.3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i="0" u="none" strike="noStrike" dirty="0" smtClean="0">
                          <a:effectLst/>
                        </a:rPr>
                        <a:t>INF</a:t>
                      </a:r>
                      <a:endParaRPr lang="en-US" altLang="zh-TW" sz="2000" b="0" i="0" u="none" strike="noStrike" dirty="0" smtClean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0.2+0</a:t>
                      </a:r>
                      <a:endParaRPr lang="en-US" altLang="zh-TW" sz="20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effectLst/>
                        </a:rPr>
                        <a:t>0+0.2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0.2+0.2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effectLst/>
                        </a:rPr>
                        <a:t>0.1+0.4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0.1+0.5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37143"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lang="en-US" altLang="zh-TW" sz="20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effectLst/>
                        </a:rPr>
                        <a:t>INF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effectLst/>
                        </a:rPr>
                        <a:t>INF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effectLst/>
                        </a:rPr>
                        <a:t>INF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effectLst/>
                        </a:rPr>
                        <a:t>INF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effectLst/>
                        </a:rPr>
                        <a:t>INF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37143"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0.1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0.3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>
                          <a:effectLst/>
                        </a:rPr>
                        <a:t>0.5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effectLst/>
                        </a:rPr>
                        <a:t>0.4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000" b="0" i="0" u="none" strike="noStrike" dirty="0">
                          <a:effectLst/>
                        </a:rPr>
                        <a:t>0.2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018194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Derivative Dynamic Time Warping</a:t>
            </a:r>
            <a:r>
              <a:rPr lang="en-US" altLang="zh-TW" b="1" dirty="0" smtClean="0"/>
              <a:t> </a:t>
            </a:r>
            <a:r>
              <a:rPr lang="en-US" altLang="zh-TW" b="1" dirty="0"/>
              <a:t>(DDTW)</a:t>
            </a:r>
            <a:endParaRPr lang="zh-TW" altLang="en-US" b="1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mtClean="0">
                        <a:latin typeface="Cambria Math"/>
                      </a:rPr>
                      <m:t>cost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  <m:r>
                          <a:rPr lang="en-US" altLang="zh-TW" i="1">
                            <a:latin typeface="Cambria Math"/>
                          </a:rPr>
                          <m:t>, </m:t>
                        </m:r>
                        <m:r>
                          <a:rPr lang="en-US" altLang="zh-TW" i="1">
                            <a:latin typeface="Cambria Math"/>
                          </a:rPr>
                          <m:t>𝑗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/>
                      <m:t>the</m:t>
                    </m:r>
                    <m:r>
                      <m:rPr>
                        <m:nor/>
                      </m:rPr>
                      <a:rPr lang="en-US" altLang="zh-TW"/>
                      <m:t> </m:t>
                    </m:r>
                    <m:r>
                      <m:rPr>
                        <m:nor/>
                      </m:rPr>
                      <a:rPr lang="en-US" altLang="zh-TW"/>
                      <m:t>square</m:t>
                    </m:r>
                    <m:r>
                      <m:rPr>
                        <m:nor/>
                      </m:rPr>
                      <a:rPr lang="en-US" altLang="zh-TW"/>
                      <m:t> </m:t>
                    </m:r>
                    <m:r>
                      <m:rPr>
                        <m:nor/>
                      </m:rPr>
                      <a:rPr lang="en-US" altLang="zh-TW"/>
                      <m:t>of</m:t>
                    </m:r>
                    <m:r>
                      <m:rPr>
                        <m:nor/>
                      </m:rPr>
                      <a:rPr lang="en-US" altLang="zh-TW"/>
                      <m:t> </m:t>
                    </m:r>
                    <m:r>
                      <m:rPr>
                        <m:nor/>
                      </m:rPr>
                      <a:rPr lang="en-US" altLang="zh-TW"/>
                      <m:t>the</m:t>
                    </m:r>
                    <m:r>
                      <m:rPr>
                        <m:nor/>
                      </m:rPr>
                      <a:rPr lang="en-US" altLang="zh-TW"/>
                      <m:t> </m:t>
                    </m:r>
                    <m:r>
                      <m:rPr>
                        <m:nor/>
                      </m:rPr>
                      <a:rPr lang="en-US" altLang="zh-TW"/>
                      <m:t>difference</m:t>
                    </m:r>
                    <m:r>
                      <m:rPr>
                        <m:nor/>
                      </m:rPr>
                      <a:rPr lang="en-US" altLang="zh-TW"/>
                      <m:t> </m:t>
                    </m:r>
                    <m:r>
                      <m:rPr>
                        <m:nor/>
                      </m:rPr>
                      <a:rPr lang="en-US" altLang="zh-TW"/>
                      <m:t>of</m:t>
                    </m:r>
                    <m:r>
                      <m:rPr>
                        <m:nor/>
                      </m:rPr>
                      <a:rPr lang="en-US" altLang="zh-TW"/>
                      <m:t> </m:t>
                    </m:r>
                    <m:r>
                      <m:rPr>
                        <m:nor/>
                      </m:rPr>
                      <a:rPr lang="en-US" altLang="zh-TW"/>
                      <m:t>the</m:t>
                    </m:r>
                    <m:r>
                      <m:rPr>
                        <m:nor/>
                      </m:rPr>
                      <a:rPr lang="en-US" altLang="zh-TW"/>
                      <m:t> </m:t>
                    </m:r>
                    <m:r>
                      <m:rPr>
                        <m:nor/>
                      </m:rPr>
                      <a:rPr lang="en-US" altLang="zh-TW"/>
                      <m:t>estimated</m:t>
                    </m:r>
                    <m:r>
                      <m:rPr>
                        <m:nor/>
                      </m:rPr>
                      <a:rPr lang="en-US" altLang="zh-TW" b="0" i="0" smtClean="0"/>
                      <m:t> </m:t>
                    </m:r>
                    <m:r>
                      <m:rPr>
                        <m:nor/>
                      </m:rPr>
                      <a:rPr lang="en-US" altLang="zh-TW"/>
                      <m:t>derivatives</m:t>
                    </m:r>
                    <m:r>
                      <m:rPr>
                        <m:nor/>
                      </m:rPr>
                      <a:rPr lang="en-US" altLang="zh-TW"/>
                      <m:t> </m:t>
                    </m:r>
                    <m:r>
                      <m:rPr>
                        <m:nor/>
                      </m:rPr>
                      <a:rPr lang="en-US" altLang="zh-TW"/>
                      <m:t>of</m:t>
                    </m:r>
                    <m:r>
                      <m:rPr>
                        <m:nor/>
                      </m:rPr>
                      <a:rPr lang="en-US" altLang="zh-TW"/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/>
                      <m:t>and</m:t>
                    </m:r>
                    <m:r>
                      <m:rPr>
                        <m:nor/>
                      </m:rPr>
                      <a:rPr lang="en-US" altLang="zh-TW"/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TW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d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pPr/>
              <a:t>6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6023" y="4417465"/>
            <a:ext cx="6351953" cy="2440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01706171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Flexible Longest Common </a:t>
            </a:r>
            <a:r>
              <a:rPr lang="en-US" altLang="zh-TW" b="1" dirty="0" smtClean="0"/>
              <a:t>Subsequence (FLCS) (1/2)</a:t>
            </a:r>
            <a:endParaRPr lang="zh-TW" altLang="en-US" b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pPr/>
              <a:t>7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9" name="內容版面配置區 8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A=</a:t>
                </a:r>
                <a:r>
                  <a:rPr lang="en-US" altLang="zh-TW" dirty="0" err="1" smtClean="0"/>
                  <a:t>aabbccab</a:t>
                </a:r>
                <a:r>
                  <a:rPr lang="en-US" altLang="zh-TW" dirty="0" smtClean="0"/>
                  <a:t>, B=</a:t>
                </a:r>
                <a:r>
                  <a:rPr lang="en-US" altLang="zh-TW" dirty="0" err="1" smtClean="0"/>
                  <a:t>aaccbb</a:t>
                </a:r>
                <a:endParaRPr lang="en-US" altLang="zh-TW" dirty="0" smtClean="0"/>
              </a:p>
              <a:p>
                <a:endParaRPr lang="en-US" altLang="zh-TW" dirty="0"/>
              </a:p>
              <a:p>
                <a:endParaRPr lang="en-US" altLang="zh-TW" dirty="0" smtClean="0"/>
              </a:p>
              <a:p>
                <a:r>
                  <a:rPr lang="en-US" altLang="zh-TW" dirty="0" smtClean="0"/>
                  <a:t>Distance: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+2</m:t>
                    </m:r>
                    <m:f>
                      <m:f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×2</m:t>
                        </m:r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1+2</m:t>
                        </m:r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2</m:t>
                    </m:r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1+2</m:t>
                        </m:r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=13</m:t>
                    </m:r>
                  </m:oMath>
                </a14:m>
                <a:endParaRPr lang="en-US" altLang="zh-TW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+2</m:t>
                    </m:r>
                    <m:f>
                      <m:f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TW" dirty="0" smtClean="0"/>
              </a:p>
            </p:txBody>
          </p:sp>
        </mc:Choice>
        <mc:Fallback>
          <p:sp>
            <p:nvSpPr>
              <p:cNvPr id="9" name="內容版面配置區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018326547"/>
              </p:ext>
            </p:extLst>
          </p:nvPr>
        </p:nvGraphicFramePr>
        <p:xfrm>
          <a:off x="827584" y="2198752"/>
          <a:ext cx="6096000" cy="115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a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a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c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c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b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a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a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c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c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rgbClr val="0070C0"/>
                          </a:solidFill>
                        </a:rPr>
                        <a:t>b</a:t>
                      </a:r>
                      <a:endParaRPr lang="zh-TW" altLang="en-US" sz="3200" b="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19422315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Flexible Longest Common Subsequence (FLCS</a:t>
            </a:r>
            <a:r>
              <a:rPr lang="en-US" altLang="zh-TW" b="1" dirty="0" smtClean="0"/>
              <a:t>) (2/2)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pPr/>
              <a:t>8</a:t>
            </a:fld>
            <a:endParaRPr lang="zh-TW" altLang="en-US" dirty="0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051484303"/>
              </p:ext>
            </p:extLst>
          </p:nvPr>
        </p:nvGraphicFramePr>
        <p:xfrm>
          <a:off x="457200" y="1602000"/>
          <a:ext cx="8229600" cy="4525964"/>
        </p:xfrm>
        <a:graphic>
          <a:graphicData uri="http://schemas.openxmlformats.org/drawingml/2006/table">
            <a:tbl>
              <a:tblPr/>
              <a:tblGrid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</a:tblGrid>
              <a:tr h="362576">
                <a:tc>
                  <a:txBody>
                    <a:bodyPr/>
                    <a:lstStyle/>
                    <a:p>
                      <a:pPr algn="ctr" fontAlgn="t"/>
                      <a:endParaRPr lang="en-US" altLang="zh-TW" sz="20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26126" marR="26126" marT="26126" marB="2612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altLang="zh-TW" sz="20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26126" marR="26126" marT="26126" marB="2612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dirty="0" smtClean="0">
                          <a:effectLst/>
                        </a:rPr>
                        <a:t>a</a:t>
                      </a:r>
                      <a:endParaRPr lang="en-US" altLang="zh-TW" sz="2000" dirty="0">
                        <a:effectLst/>
                      </a:endParaRPr>
                    </a:p>
                  </a:txBody>
                  <a:tcPr marL="26126" marR="26126" marT="26126" marB="2612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dirty="0" smtClean="0">
                          <a:effectLst/>
                        </a:rPr>
                        <a:t>a</a:t>
                      </a:r>
                      <a:endParaRPr lang="en-US" altLang="zh-TW" sz="2000" dirty="0">
                        <a:effectLst/>
                      </a:endParaRPr>
                    </a:p>
                  </a:txBody>
                  <a:tcPr marL="26126" marR="26126" marT="26126" marB="2612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dirty="0" smtClean="0">
                          <a:effectLst/>
                        </a:rPr>
                        <a:t>c</a:t>
                      </a:r>
                      <a:endParaRPr lang="en-US" altLang="zh-TW" sz="2000" dirty="0">
                        <a:effectLst/>
                      </a:endParaRPr>
                    </a:p>
                  </a:txBody>
                  <a:tcPr marL="26126" marR="26126" marT="26126" marB="2612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dirty="0" smtClean="0">
                          <a:effectLst/>
                        </a:rPr>
                        <a:t>c</a:t>
                      </a:r>
                      <a:endParaRPr lang="en-US" altLang="zh-TW" sz="2000" dirty="0">
                        <a:effectLst/>
                      </a:endParaRPr>
                    </a:p>
                  </a:txBody>
                  <a:tcPr marL="26126" marR="26126" marT="26126" marB="2612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dirty="0" smtClean="0">
                          <a:effectLst/>
                        </a:rPr>
                        <a:t>b</a:t>
                      </a:r>
                      <a:endParaRPr lang="en-US" altLang="zh-TW" sz="2000" dirty="0">
                        <a:effectLst/>
                      </a:endParaRPr>
                    </a:p>
                  </a:txBody>
                  <a:tcPr marL="26126" marR="26126" marT="26126" marB="2612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dirty="0" smtClean="0">
                          <a:effectLst/>
                        </a:rPr>
                        <a:t>b</a:t>
                      </a:r>
                      <a:endParaRPr lang="en-US" altLang="zh-TW" sz="2000" dirty="0">
                        <a:effectLst/>
                      </a:endParaRPr>
                    </a:p>
                  </a:txBody>
                  <a:tcPr marL="26126" marR="26126" marT="26126" marB="2612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2576">
                <a:tc>
                  <a:txBody>
                    <a:bodyPr/>
                    <a:lstStyle/>
                    <a:p>
                      <a:pPr algn="ctr" fontAlgn="t"/>
                      <a:endParaRPr lang="en-US" altLang="zh-TW" sz="20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26126" marR="26126" marT="26126" marB="2612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0.00</a:t>
                      </a:r>
                    </a:p>
                    <a:p>
                      <a:pPr marL="0" algn="l" defTabSz="914400" rtl="0" eaLnBrk="1" fontAlgn="t" latinLnBrk="0" hangingPunct="1"/>
                      <a:r>
                        <a:rPr lang="en-US" altLang="zh-TW" sz="1000" kern="1200" dirty="0">
                          <a:gradFill flip="none" rotWithShape="1">
                            <a:gsLst>
                              <a:gs pos="50000">
                                <a:srgbClr val="0070C0"/>
                              </a:gs>
                              <a:gs pos="49500">
                                <a:srgbClr val="FF0000"/>
                              </a:gs>
                              <a:gs pos="0">
                                <a:srgbClr val="FF0000"/>
                              </a:gs>
                              <a:gs pos="100000">
                                <a:srgbClr val="0070C0"/>
                              </a:gs>
                            </a:gsLst>
                            <a:lin ang="5400000" scaled="1"/>
                            <a:tileRect/>
                          </a:gradFill>
                          <a:effectLst/>
                          <a:latin typeface="+mn-lt"/>
                          <a:ea typeface="+mn-ea"/>
                          <a:cs typeface="+mn-cs"/>
                        </a:rPr>
                        <a:t>(0.00,∞) 0-0-0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0.00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(0.00,∞) 0-1-0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0.00</a:t>
                      </a:r>
                    </a:p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(0.00,∞) 0-2-0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0.00</a:t>
                      </a:r>
                    </a:p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(0.00,∞) 0-3-0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0.00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(0.00,∞) 0-4-0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0.00</a:t>
                      </a:r>
                    </a:p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(0.00,∞) 0-5-0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0.00</a:t>
                      </a:r>
                    </a:p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(0.00,∞) 0-6-0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2576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dirty="0" smtClean="0">
                          <a:effectLst/>
                        </a:rPr>
                        <a:t>a</a:t>
                      </a:r>
                      <a:endParaRPr lang="en-US" altLang="zh-TW" sz="2000" dirty="0">
                        <a:effectLst/>
                      </a:endParaRPr>
                    </a:p>
                  </a:txBody>
                  <a:tcPr marL="26126" marR="26126" marT="26126" marB="2612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0.00</a:t>
                      </a:r>
                    </a:p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(0.00,∞) 0-1-0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1.00</a:t>
                      </a:r>
                    </a:p>
                    <a:p>
                      <a:pPr marL="0" algn="l" defTabSz="914400" rtl="0" eaLnBrk="1" fontAlgn="t" latinLnBrk="0" hangingPunct="1"/>
                      <a:r>
                        <a:rPr lang="en-US" altLang="zh-TW" sz="1000" kern="1200" dirty="0">
                          <a:gradFill flip="none" rotWithShape="1">
                            <a:gsLst>
                              <a:gs pos="50000">
                                <a:srgbClr val="0070C0"/>
                              </a:gs>
                              <a:gs pos="49500">
                                <a:srgbClr val="FF0000"/>
                              </a:gs>
                              <a:gs pos="0">
                                <a:srgbClr val="FF0000"/>
                              </a:gs>
                              <a:gs pos="100000">
                                <a:srgbClr val="0070C0"/>
                              </a:gs>
                            </a:gsLst>
                            <a:lin ang="5400000" scaled="1"/>
                            <a:tileRect/>
                          </a:gradFill>
                          <a:effectLst/>
                          <a:latin typeface="+mn-lt"/>
                          <a:ea typeface="+mn-ea"/>
                          <a:cs typeface="+mn-cs"/>
                        </a:rPr>
                        <a:t>(1.00,∞) 0-0-1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1.00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(1.00,∞) 0-1-1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1.00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(1.00,∞) 1-1-0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1.00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(1.00,∞) 1-2-0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1.00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(1.00,∞) 1-3-0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1.00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(1.00,∞) 1-4-0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2576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dirty="0" smtClean="0">
                          <a:effectLst/>
                        </a:rPr>
                        <a:t>a</a:t>
                      </a:r>
                      <a:endParaRPr lang="en-US" altLang="zh-TW" sz="2000" dirty="0">
                        <a:effectLst/>
                      </a:endParaRPr>
                    </a:p>
                  </a:txBody>
                  <a:tcPr marL="26126" marR="26126" marT="26126" marB="2612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0.00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(0.00,∞) 0-2-0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1.00</a:t>
                      </a:r>
                    </a:p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(1.00,∞) 0-1-1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4.00</a:t>
                      </a:r>
                    </a:p>
                    <a:p>
                      <a:pPr marL="0" algn="l" defTabSz="914400" rtl="0" eaLnBrk="1" fontAlgn="t" latinLnBrk="0" hangingPunct="1"/>
                      <a:r>
                        <a:rPr lang="en-US" altLang="zh-TW" sz="1000" kern="1200" dirty="0">
                          <a:gradFill flip="none" rotWithShape="1">
                            <a:gsLst>
                              <a:gs pos="50000">
                                <a:srgbClr val="0070C0"/>
                              </a:gs>
                              <a:gs pos="49500">
                                <a:srgbClr val="FF0000"/>
                              </a:gs>
                              <a:gs pos="0">
                                <a:srgbClr val="FF0000"/>
                              </a:gs>
                              <a:gs pos="100000">
                                <a:srgbClr val="0070C0"/>
                              </a:gs>
                            </a:gsLst>
                            <a:lin ang="5400000" scaled="1"/>
                            <a:tileRect/>
                          </a:gradFill>
                          <a:effectLst/>
                          <a:latin typeface="+mn-lt"/>
                          <a:ea typeface="+mn-ea"/>
                          <a:cs typeface="+mn-cs"/>
                        </a:rPr>
                        <a:t>(4.00,∞) 0-0-2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4.00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(4.00,∞) 2-1-0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4.00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(4.00,∞) 2-2-0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4.00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(4.00,∞) 2-3-0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4.00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(4.00,∞) 2-4-0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261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dirty="0" smtClean="0">
                          <a:effectLst/>
                        </a:rPr>
                        <a:t>b</a:t>
                      </a:r>
                      <a:endParaRPr lang="en-US" altLang="zh-TW" sz="2000" dirty="0">
                        <a:effectLst/>
                      </a:endParaRPr>
                    </a:p>
                  </a:txBody>
                  <a:tcPr marL="26126" marR="26126" marT="26126" marB="2612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0.00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(0.00,∞) 0-3-0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1.00</a:t>
                      </a:r>
                    </a:p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(1.00,∞) 1-1-0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4.00</a:t>
                      </a:r>
                    </a:p>
                    <a:p>
                      <a:pPr marL="0" algn="l" defTabSz="914400" rtl="0" eaLnBrk="1" fontAlgn="t" latinLnBrk="0" hangingPunct="1"/>
                      <a:r>
                        <a:rPr lang="en-US" altLang="zh-TW" sz="1000" kern="1200" dirty="0">
                          <a:gradFill flip="none" rotWithShape="1">
                            <a:gsLst>
                              <a:gs pos="50000">
                                <a:srgbClr val="0070C0"/>
                              </a:gs>
                              <a:gs pos="49500">
                                <a:srgbClr val="FF0000"/>
                              </a:gs>
                              <a:gs pos="0">
                                <a:srgbClr val="FF0000"/>
                              </a:gs>
                              <a:gs pos="100000">
                                <a:srgbClr val="0070C0"/>
                              </a:gs>
                            </a:gsLst>
                            <a:lin ang="5400000" scaled="1"/>
                            <a:tileRect/>
                          </a:gradFill>
                          <a:effectLst/>
                          <a:latin typeface="+mn-lt"/>
                          <a:ea typeface="+mn-ea"/>
                          <a:cs typeface="+mn-cs"/>
                        </a:rPr>
                        <a:t>(4.00,∞) 2-1-0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4.00</a:t>
                      </a:r>
                    </a:p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(4.00,∞) 2-2-0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4.00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(4.00,∞) 2-3-0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6.33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(6.33,∞) 2-2-1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6.33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(6.33,0) 1-1-0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(6.00,∞) 2-3-1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261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dirty="0" smtClean="0">
                          <a:effectLst/>
                        </a:rPr>
                        <a:t>b</a:t>
                      </a:r>
                      <a:endParaRPr lang="en-US" altLang="zh-TW" sz="2000" dirty="0">
                        <a:effectLst/>
                      </a:endParaRPr>
                    </a:p>
                  </a:txBody>
                  <a:tcPr marL="26126" marR="26126" marT="26126" marB="2612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0.00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(0.00,∞) 0-4-0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1.00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(1.00,∞) 1-2-0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4.00</a:t>
                      </a:r>
                    </a:p>
                    <a:p>
                      <a:pPr marL="0" algn="l" defTabSz="914400" rtl="0" eaLnBrk="1" fontAlgn="t" latinLnBrk="0" hangingPunct="1"/>
                      <a:r>
                        <a:rPr lang="en-US" altLang="zh-TW" sz="1000" kern="1200" dirty="0">
                          <a:gradFill flip="none" rotWithShape="1">
                            <a:gsLst>
                              <a:gs pos="50000">
                                <a:srgbClr val="0070C0"/>
                              </a:gs>
                              <a:gs pos="49500">
                                <a:srgbClr val="FF0000"/>
                              </a:gs>
                              <a:gs pos="0">
                                <a:srgbClr val="FF0000"/>
                              </a:gs>
                              <a:gs pos="100000">
                                <a:srgbClr val="0070C0"/>
                              </a:gs>
                            </a:gsLst>
                            <a:lin ang="5400000" scaled="1"/>
                            <a:tileRect/>
                          </a:gradFill>
                          <a:effectLst/>
                          <a:latin typeface="+mn-lt"/>
                          <a:ea typeface="+mn-ea"/>
                          <a:cs typeface="+mn-cs"/>
                        </a:rPr>
                        <a:t>(4.00,∞) 2-2-0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4.00</a:t>
                      </a:r>
                    </a:p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(4.00,∞) 2-3-0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4.00</a:t>
                      </a:r>
                    </a:p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(4.00,∞) 2-4-0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6.33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(6.33,0) 1-1-0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(6.00,∞) 2-3-1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10.67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(10.67,∞) 2-2-2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261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dirty="0" smtClean="0">
                          <a:effectLst/>
                        </a:rPr>
                        <a:t>c</a:t>
                      </a:r>
                      <a:endParaRPr lang="en-US" altLang="zh-TW" sz="2000" dirty="0">
                        <a:effectLst/>
                      </a:endParaRPr>
                    </a:p>
                  </a:txBody>
                  <a:tcPr marL="26126" marR="26126" marT="26126" marB="2612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0.00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(0.00,∞) 0-5-0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1.00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(1.00,∞) 1-3-0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4.00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(4.00,∞) 2-3-0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6.33</a:t>
                      </a:r>
                    </a:p>
                    <a:p>
                      <a:pPr marL="0" algn="l" defTabSz="914400" rtl="0" eaLnBrk="1" fontAlgn="t" latinLnBrk="0" hangingPunct="1"/>
                      <a:r>
                        <a:rPr lang="en-US" altLang="zh-TW" sz="1000" kern="1200" dirty="0">
                          <a:gradFill flip="none" rotWithShape="1">
                            <a:gsLst>
                              <a:gs pos="50000">
                                <a:srgbClr val="0070C0"/>
                              </a:gs>
                              <a:gs pos="49500">
                                <a:srgbClr val="FF0000"/>
                              </a:gs>
                              <a:gs pos="0">
                                <a:srgbClr val="FF0000"/>
                              </a:gs>
                              <a:gs pos="100000">
                                <a:srgbClr val="0070C0"/>
                              </a:gs>
                            </a:gsLst>
                            <a:lin ang="5400000" scaled="1"/>
                            <a:tileRect/>
                          </a:gradFill>
                          <a:effectLst/>
                          <a:latin typeface="+mn-lt"/>
                          <a:ea typeface="+mn-ea"/>
                          <a:cs typeface="+mn-cs"/>
                        </a:rPr>
                        <a:t>(6.33,∞) 2-2-1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6.33</a:t>
                      </a:r>
                    </a:p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(6.33,0) 1-1-0</a:t>
                      </a:r>
                    </a:p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(6.00,∞) 2-3-1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6.33</a:t>
                      </a:r>
                    </a:p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(6.33,∞) 1-2-0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10.67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(10.67,∞) 2-1-0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261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dirty="0" smtClean="0">
                          <a:effectLst/>
                        </a:rPr>
                        <a:t>c</a:t>
                      </a:r>
                      <a:endParaRPr lang="en-US" altLang="zh-TW" sz="2000" dirty="0">
                        <a:effectLst/>
                      </a:endParaRPr>
                    </a:p>
                  </a:txBody>
                  <a:tcPr marL="26126" marR="26126" marT="26126" marB="2612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0.00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(0.00,∞) 0-6-0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1.00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(1.00,∞) 1-4-0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4.00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(4.00,∞) 2-4-0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6.33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(6.33,0) 1-1-0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(6.00,∞) 2-3-1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10.67</a:t>
                      </a:r>
                    </a:p>
                    <a:p>
                      <a:pPr fontAlgn="t"/>
                      <a:r>
                        <a:rPr lang="en-US" altLang="zh-TW" sz="1000" dirty="0">
                          <a:gradFill flip="none" rotWithShape="1">
                            <a:gsLst>
                              <a:gs pos="50000">
                                <a:srgbClr val="0070C0"/>
                              </a:gs>
                              <a:gs pos="49500">
                                <a:srgbClr val="FF0000"/>
                              </a:gs>
                              <a:gs pos="0">
                                <a:srgbClr val="FF0000"/>
                              </a:gs>
                              <a:gs pos="100000">
                                <a:srgbClr val="0070C0"/>
                              </a:gs>
                            </a:gsLst>
                            <a:lin ang="5400000" scaled="1"/>
                            <a:tileRect/>
                          </a:gradFill>
                          <a:effectLst/>
                        </a:rPr>
                        <a:t>(10.67,∞) 2-2-2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10.67</a:t>
                      </a:r>
                    </a:p>
                    <a:p>
                      <a:pPr fontAlgn="t"/>
                      <a:r>
                        <a:rPr lang="en-US" altLang="zh-TW" sz="1000" dirty="0">
                          <a:solidFill>
                            <a:srgbClr val="0070C0"/>
                          </a:solidFill>
                          <a:effectLst/>
                        </a:rPr>
                        <a:t>(10.67,∞) 2-1-0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10.67</a:t>
                      </a:r>
                    </a:p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(10.67,∞) 2-2-0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261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dirty="0" smtClean="0">
                          <a:effectLst/>
                        </a:rPr>
                        <a:t>a</a:t>
                      </a:r>
                      <a:endParaRPr lang="en-US" altLang="zh-TW" sz="2000" dirty="0">
                        <a:effectLst/>
                      </a:endParaRPr>
                    </a:p>
                  </a:txBody>
                  <a:tcPr marL="26126" marR="26126" marT="26126" marB="2612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0.00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(0.00,∞) 0-7-0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1.00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(1.00,∞) 0-6-1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4.00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(4.00,0) 2-5-0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(2.40,∞) 1-4-1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6.33</a:t>
                      </a:r>
                    </a:p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(6.33,∞) 1-2-0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10.67</a:t>
                      </a:r>
                    </a:p>
                    <a:p>
                      <a:pPr fontAlgn="t"/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</a:rPr>
                        <a:t>(10.67,∞) 2-1-0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10.67</a:t>
                      </a:r>
                    </a:p>
                    <a:p>
                      <a:pPr fontAlgn="t"/>
                      <a:r>
                        <a:rPr lang="en-US" altLang="zh-TW" sz="1000" dirty="0">
                          <a:solidFill>
                            <a:srgbClr val="0070C0"/>
                          </a:solidFill>
                          <a:effectLst/>
                        </a:rPr>
                        <a:t>(10.67,∞) 2-2-0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10.67</a:t>
                      </a:r>
                    </a:p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(10.67,∞) 2-3-0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261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dirty="0" smtClean="0">
                          <a:effectLst/>
                        </a:rPr>
                        <a:t>b</a:t>
                      </a:r>
                      <a:endParaRPr lang="en-US" altLang="zh-TW" sz="2000" dirty="0">
                        <a:effectLst/>
                      </a:endParaRPr>
                    </a:p>
                  </a:txBody>
                  <a:tcPr marL="26126" marR="26126" marT="26126" marB="2612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0.00</a:t>
                      </a:r>
                    </a:p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(0.00,∞) 0-8-0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1.00</a:t>
                      </a:r>
                    </a:p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(1.00,∞) 1-1-0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4.00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(4.00,∞) 2-6-0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6.33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(6.33,∞) 1-3-0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>
                          <a:effectLst/>
                        </a:rPr>
                        <a:t>10.67</a:t>
                      </a:r>
                    </a:p>
                    <a:p>
                      <a:pPr fontAlgn="t"/>
                      <a:r>
                        <a:rPr lang="en-US" altLang="zh-TW" sz="1000">
                          <a:effectLst/>
                        </a:rPr>
                        <a:t>(10.67,∞) 2-2-0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13.67</a:t>
                      </a:r>
                    </a:p>
                    <a:p>
                      <a:pPr fontAlgn="t"/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</a:rPr>
                        <a:t>(13.67,∞) 2-1-1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000" dirty="0">
                          <a:effectLst/>
                        </a:rPr>
                        <a:t>13.67</a:t>
                      </a:r>
                    </a:p>
                    <a:p>
                      <a:pPr fontAlgn="t"/>
                      <a:r>
                        <a:rPr lang="en-US" altLang="zh-TW" sz="1000" dirty="0">
                          <a:solidFill>
                            <a:srgbClr val="FF0000"/>
                          </a:solidFill>
                          <a:effectLst/>
                        </a:rPr>
                        <a:t>(13.67,0) 1-1-0</a:t>
                      </a:r>
                    </a:p>
                    <a:p>
                      <a:pPr fontAlgn="t"/>
                      <a:r>
                        <a:rPr lang="en-US" altLang="zh-TW" sz="1000" dirty="0">
                          <a:solidFill>
                            <a:srgbClr val="0070C0"/>
                          </a:solidFill>
                          <a:effectLst/>
                        </a:rPr>
                        <a:t>(13.00,∞) 2-2-1</a:t>
                      </a:r>
                    </a:p>
                  </a:txBody>
                  <a:tcPr marL="26126" marR="26126" marT="26126" marB="2612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52514687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Our Method (1/3)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Like FLCS, while calculate the distance, adding the distance of gap.</a:t>
            </a:r>
          </a:p>
          <a:p>
            <a:r>
              <a:rPr lang="en-US" altLang="zh-TW" dirty="0" smtClean="0"/>
              <a:t>Problem:</a:t>
            </a:r>
          </a:p>
          <a:p>
            <a:pPr lvl="1"/>
            <a:r>
              <a:rPr lang="en-US" altLang="zh-TW" dirty="0" smtClean="0"/>
              <a:t>LCS is calculate for similarity but DTW is calculate for distance. (need to change the formula)</a:t>
            </a:r>
          </a:p>
          <a:p>
            <a:pPr lvl="1"/>
            <a:r>
              <a:rPr lang="en-US" altLang="zh-TW" dirty="0" smtClean="0"/>
              <a:t>The data of time series are all </a:t>
            </a:r>
            <a:r>
              <a:rPr lang="en-US" altLang="zh-TW" dirty="0" smtClean="0"/>
              <a:t>floating </a:t>
            </a:r>
            <a:r>
              <a:rPr lang="en-US" altLang="zh-TW" dirty="0" smtClean="0"/>
              <a:t>numbers and </a:t>
            </a:r>
            <a:r>
              <a:rPr lang="en-US" altLang="zh-TW" dirty="0" smtClean="0"/>
              <a:t>they may </a:t>
            </a:r>
            <a:r>
              <a:rPr lang="en-US" altLang="zh-TW" dirty="0" smtClean="0"/>
              <a:t>be </a:t>
            </a:r>
            <a:r>
              <a:rPr lang="en-US" altLang="zh-TW" dirty="0" smtClean="0"/>
              <a:t>greater</a:t>
            </a:r>
            <a:r>
              <a:rPr lang="en-US" altLang="zh-TW" dirty="0" smtClean="0"/>
              <a:t> than </a:t>
            </a:r>
            <a:r>
              <a:rPr lang="en-US" altLang="zh-TW" dirty="0" smtClean="0"/>
              <a:t>1 or </a:t>
            </a:r>
            <a:r>
              <a:rPr lang="en-US" altLang="zh-TW" dirty="0" smtClean="0"/>
              <a:t>less </a:t>
            </a:r>
            <a:r>
              <a:rPr lang="en-US" altLang="zh-TW" dirty="0" smtClean="0"/>
              <a:t>than 1.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97833228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Our </a:t>
            </a:r>
            <a:r>
              <a:rPr lang="en-US" altLang="zh-TW" b="1" dirty="0" smtClean="0"/>
              <a:t>Method (2/3)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Q={0.3, 0.6, 0.2, 0.7, 0.5, 0.4}</a:t>
                </a:r>
              </a:p>
              <a:p>
                <a:r>
                  <a:rPr lang="en-US" altLang="zh-TW" dirty="0"/>
                  <a:t>C={</a:t>
                </a:r>
                <a:r>
                  <a:rPr lang="en-US" altLang="zh-TW" dirty="0" smtClean="0"/>
                  <a:t>0.2, 0.4, 0.8, 0.1, 0.4, 0.5}</a:t>
                </a:r>
              </a:p>
              <a:p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+2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61721947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Our Method </a:t>
            </a:r>
            <a:r>
              <a:rPr lang="en-US" altLang="zh-TW" b="1" dirty="0" smtClean="0"/>
              <a:t>(3/3)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pPr/>
              <a:t>11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335520105"/>
              </p:ext>
            </p:extLst>
          </p:nvPr>
        </p:nvGraphicFramePr>
        <p:xfrm>
          <a:off x="457199" y="1602000"/>
          <a:ext cx="8229598" cy="4525964"/>
        </p:xfrm>
        <a:graphic>
          <a:graphicData uri="http://schemas.openxmlformats.org/drawingml/2006/table">
            <a:tbl>
              <a:tblPr/>
              <a:tblGrid>
                <a:gridCol w="496005"/>
                <a:gridCol w="1104799"/>
                <a:gridCol w="1104799"/>
                <a:gridCol w="1104799"/>
                <a:gridCol w="1104799"/>
                <a:gridCol w="1104799"/>
                <a:gridCol w="1104799"/>
                <a:gridCol w="1104799"/>
              </a:tblGrid>
              <a:tr h="262839">
                <a:tc>
                  <a:txBody>
                    <a:bodyPr/>
                    <a:lstStyle/>
                    <a:p>
                      <a:pPr algn="ctr" fontAlgn="t"/>
                      <a:endParaRPr lang="en-US" sz="1500" dirty="0">
                        <a:effectLst/>
                      </a:endParaRPr>
                    </a:p>
                  </a:txBody>
                  <a:tcPr marL="17015" marR="17015" marT="17015" marB="1701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1500" dirty="0">
                        <a:effectLst/>
                      </a:endParaRPr>
                    </a:p>
                  </a:txBody>
                  <a:tcPr marL="17015" marR="17015" marT="17015" marB="1701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 smtClean="0">
                          <a:effectLst/>
                        </a:rPr>
                        <a:t>0.2</a:t>
                      </a:r>
                      <a:endParaRPr lang="en-US" sz="1500" dirty="0">
                        <a:effectLst/>
                      </a:endParaRPr>
                    </a:p>
                  </a:txBody>
                  <a:tcPr marL="17015" marR="17015" marT="17015" marB="1701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 smtClean="0">
                          <a:effectLst/>
                        </a:rPr>
                        <a:t>0.4</a:t>
                      </a:r>
                      <a:endParaRPr lang="en-US" sz="1500" dirty="0">
                        <a:effectLst/>
                      </a:endParaRPr>
                    </a:p>
                  </a:txBody>
                  <a:tcPr marL="17015" marR="17015" marT="17015" marB="1701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 smtClean="0">
                          <a:effectLst/>
                        </a:rPr>
                        <a:t>0.8</a:t>
                      </a:r>
                      <a:endParaRPr lang="en-US" sz="1500" dirty="0">
                        <a:effectLst/>
                      </a:endParaRPr>
                    </a:p>
                  </a:txBody>
                  <a:tcPr marL="17015" marR="17015" marT="17015" marB="1701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 smtClean="0">
                          <a:effectLst/>
                        </a:rPr>
                        <a:t>0.1</a:t>
                      </a:r>
                      <a:endParaRPr lang="en-US" sz="1500" dirty="0">
                        <a:effectLst/>
                      </a:endParaRPr>
                    </a:p>
                  </a:txBody>
                  <a:tcPr marL="17015" marR="17015" marT="17015" marB="1701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 smtClean="0">
                          <a:effectLst/>
                        </a:rPr>
                        <a:t>0.4</a:t>
                      </a:r>
                      <a:endParaRPr lang="en-US" sz="1500" dirty="0">
                        <a:effectLst/>
                      </a:endParaRPr>
                    </a:p>
                  </a:txBody>
                  <a:tcPr marL="17015" marR="17015" marT="17015" marB="1701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 smtClean="0">
                          <a:effectLst/>
                        </a:rPr>
                        <a:t>0.5</a:t>
                      </a:r>
                      <a:endParaRPr lang="en-US" sz="1500" dirty="0">
                        <a:effectLst/>
                      </a:endParaRPr>
                    </a:p>
                  </a:txBody>
                  <a:tcPr marL="17015" marR="17015" marT="17015" marB="1701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2839">
                <a:tc>
                  <a:txBody>
                    <a:bodyPr/>
                    <a:lstStyle/>
                    <a:p>
                      <a:pPr algn="ctr" fontAlgn="t"/>
                      <a:endParaRPr lang="en-US" sz="1500" dirty="0">
                        <a:effectLst/>
                      </a:endParaRPr>
                    </a:p>
                  </a:txBody>
                  <a:tcPr marL="17015" marR="17015" marT="17015" marB="1701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750" dirty="0">
                          <a:effectLst/>
                        </a:rPr>
                        <a:t>Infinity</a:t>
                      </a:r>
                    </a:p>
                    <a:p>
                      <a:pPr fontAlgn="t"/>
                      <a:r>
                        <a:rPr lang="en-US" sz="750" dirty="0">
                          <a:solidFill>
                            <a:srgbClr val="FF0000"/>
                          </a:solidFill>
                          <a:effectLst/>
                        </a:rPr>
                        <a:t>(0.00,∞) 0.00-0.00-0.00</a:t>
                      </a:r>
                    </a:p>
                  </a:txBody>
                  <a:tcPr marL="17015" marR="17015" marT="17015" marB="170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750" dirty="0">
                          <a:effectLst/>
                        </a:rPr>
                        <a:t>Infinity</a:t>
                      </a:r>
                    </a:p>
                    <a:p>
                      <a:pPr fontAlgn="t"/>
                      <a:r>
                        <a:rPr lang="en-US" sz="750" dirty="0">
                          <a:effectLst/>
                        </a:rPr>
                        <a:t>(0.88,∞) 0.00-0.20-0.00</a:t>
                      </a:r>
                    </a:p>
                  </a:txBody>
                  <a:tcPr marL="17015" marR="17015" marT="17015" marB="170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750">
                          <a:effectLst/>
                        </a:rPr>
                        <a:t>Infinity</a:t>
                      </a:r>
                    </a:p>
                    <a:p>
                      <a:pPr fontAlgn="t"/>
                      <a:r>
                        <a:rPr lang="en-US" sz="750">
                          <a:effectLst/>
                        </a:rPr>
                        <a:t>(3.12,∞) 0.00-0.60-0.00</a:t>
                      </a:r>
                    </a:p>
                  </a:txBody>
                  <a:tcPr marL="17015" marR="17015" marT="17015" marB="170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750">
                          <a:effectLst/>
                        </a:rPr>
                        <a:t>Infinity</a:t>
                      </a:r>
                    </a:p>
                    <a:p>
                      <a:pPr fontAlgn="t"/>
                      <a:r>
                        <a:rPr lang="en-US" sz="750">
                          <a:effectLst/>
                        </a:rPr>
                        <a:t>(9.52,∞) 0.00-1.40-0.00</a:t>
                      </a:r>
                    </a:p>
                  </a:txBody>
                  <a:tcPr marL="17015" marR="17015" marT="17015" marB="170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750">
                          <a:effectLst/>
                        </a:rPr>
                        <a:t>Infinity</a:t>
                      </a:r>
                    </a:p>
                    <a:p>
                      <a:pPr fontAlgn="t"/>
                      <a:r>
                        <a:rPr lang="en-US" sz="750">
                          <a:effectLst/>
                        </a:rPr>
                        <a:t>(10.50,∞) 0.00-1.50-0.00</a:t>
                      </a:r>
                    </a:p>
                  </a:txBody>
                  <a:tcPr marL="17015" marR="17015" marT="17015" marB="170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750">
                          <a:effectLst/>
                        </a:rPr>
                        <a:t>Infinity</a:t>
                      </a:r>
                    </a:p>
                    <a:p>
                      <a:pPr fontAlgn="t"/>
                      <a:r>
                        <a:rPr lang="en-US" sz="750">
                          <a:effectLst/>
                        </a:rPr>
                        <a:t>(14.82,∞) 0.00-1.90-0.00</a:t>
                      </a:r>
                    </a:p>
                  </a:txBody>
                  <a:tcPr marL="17015" marR="17015" marT="17015" marB="170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750">
                          <a:effectLst/>
                        </a:rPr>
                        <a:t>Infinity</a:t>
                      </a:r>
                    </a:p>
                    <a:p>
                      <a:pPr fontAlgn="t"/>
                      <a:r>
                        <a:rPr lang="en-US" sz="750">
                          <a:effectLst/>
                        </a:rPr>
                        <a:t>(21.12,∞) 0.00-2.40-0.00</a:t>
                      </a:r>
                    </a:p>
                  </a:txBody>
                  <a:tcPr marL="17015" marR="17015" marT="17015" marB="170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592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 smtClean="0">
                          <a:effectLst/>
                        </a:rPr>
                        <a:t>0.3</a:t>
                      </a:r>
                      <a:endParaRPr lang="en-US" sz="1500" dirty="0">
                        <a:effectLst/>
                      </a:endParaRPr>
                    </a:p>
                  </a:txBody>
                  <a:tcPr marL="17015" marR="17015" marT="17015" marB="1701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750" dirty="0">
                          <a:effectLst/>
                        </a:rPr>
                        <a:t>Infinity</a:t>
                      </a:r>
                    </a:p>
                    <a:p>
                      <a:pPr fontAlgn="t"/>
                      <a:r>
                        <a:rPr lang="en-US" sz="750" dirty="0">
                          <a:effectLst/>
                        </a:rPr>
                        <a:t>(1.38,∞) 0.00-0.30-0.00</a:t>
                      </a:r>
                    </a:p>
                  </a:txBody>
                  <a:tcPr marL="17015" marR="17015" marT="17015" marB="170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0.41</a:t>
                      </a:r>
                    </a:p>
                    <a:p>
                      <a:pPr fontAlgn="t"/>
                      <a:r>
                        <a:rPr lang="en-US" altLang="zh-TW" sz="750" dirty="0">
                          <a:solidFill>
                            <a:srgbClr val="FF0000"/>
                          </a:solidFill>
                          <a:effectLst/>
                        </a:rPr>
                        <a:t>(0.41,∞) 0.00-0.00-0.10</a:t>
                      </a:r>
                    </a:p>
                  </a:txBody>
                  <a:tcPr marL="17015" marR="17015" marT="17015" marB="170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1.07</a:t>
                      </a:r>
                    </a:p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(1.38,∞) 0.00-0.20-0.10</a:t>
                      </a:r>
                    </a:p>
                    <a:p>
                      <a:pPr fontAlgn="t"/>
                      <a:r>
                        <a:rPr lang="en-US" altLang="zh-TW" sz="750" dirty="0">
                          <a:solidFill>
                            <a:srgbClr val="FF0000"/>
                          </a:solidFill>
                          <a:effectLst/>
                        </a:rPr>
                        <a:t>(1.07,∞) 0.10-0.10-0.00</a:t>
                      </a:r>
                    </a:p>
                  </a:txBody>
                  <a:tcPr marL="17015" marR="17015" marT="17015" marB="170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750">
                          <a:effectLst/>
                        </a:rPr>
                        <a:t>4.04</a:t>
                      </a:r>
                    </a:p>
                    <a:p>
                      <a:pPr fontAlgn="t"/>
                      <a:r>
                        <a:rPr lang="en-US" altLang="zh-TW" sz="750">
                          <a:effectLst/>
                        </a:rPr>
                        <a:t>(6.93,∞) 0.00-0.60-0.50</a:t>
                      </a:r>
                    </a:p>
                    <a:p>
                      <a:pPr fontAlgn="t"/>
                      <a:r>
                        <a:rPr lang="en-US" altLang="zh-TW" sz="750">
                          <a:effectLst/>
                        </a:rPr>
                        <a:t>(4.04,∞) 0.10-0.60-0.00</a:t>
                      </a:r>
                    </a:p>
                  </a:txBody>
                  <a:tcPr marL="17015" marR="17015" marT="17015" marB="170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750">
                          <a:effectLst/>
                        </a:rPr>
                        <a:t>5.54</a:t>
                      </a:r>
                    </a:p>
                    <a:p>
                      <a:pPr fontAlgn="t"/>
                      <a:r>
                        <a:rPr lang="en-US" altLang="zh-TW" sz="750">
                          <a:effectLst/>
                        </a:rPr>
                        <a:t>(12.26,∞) 0.00-1.40-0.20</a:t>
                      </a:r>
                    </a:p>
                    <a:p>
                      <a:pPr fontAlgn="t"/>
                      <a:r>
                        <a:rPr lang="en-US" altLang="zh-TW" sz="750">
                          <a:effectLst/>
                        </a:rPr>
                        <a:t>(5.54,∞) 0.10-0.80-0.00</a:t>
                      </a:r>
                    </a:p>
                  </a:txBody>
                  <a:tcPr marL="17015" marR="17015" marT="17015" marB="170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750">
                          <a:effectLst/>
                        </a:rPr>
                        <a:t>6.35</a:t>
                      </a:r>
                    </a:p>
                    <a:p>
                      <a:pPr fontAlgn="t"/>
                      <a:r>
                        <a:rPr lang="en-US" altLang="zh-TW" sz="750">
                          <a:effectLst/>
                        </a:rPr>
                        <a:t>(11.96,∞) 0.00-1.50-0.10</a:t>
                      </a:r>
                    </a:p>
                    <a:p>
                      <a:pPr fontAlgn="t"/>
                      <a:r>
                        <a:rPr lang="en-US" altLang="zh-TW" sz="750">
                          <a:effectLst/>
                        </a:rPr>
                        <a:t>(6.35,∞) 0.10-0.90-0.00</a:t>
                      </a:r>
                    </a:p>
                  </a:txBody>
                  <a:tcPr marL="17015" marR="17015" marT="17015" marB="170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750">
                          <a:effectLst/>
                        </a:rPr>
                        <a:t>8.11</a:t>
                      </a:r>
                    </a:p>
                    <a:p>
                      <a:pPr fontAlgn="t"/>
                      <a:r>
                        <a:rPr lang="en-US" altLang="zh-TW" sz="750">
                          <a:effectLst/>
                        </a:rPr>
                        <a:t>(18.62,∞) 0.00-1.90-0.20</a:t>
                      </a:r>
                    </a:p>
                    <a:p>
                      <a:pPr fontAlgn="t"/>
                      <a:r>
                        <a:rPr lang="en-US" altLang="zh-TW" sz="750">
                          <a:effectLst/>
                        </a:rPr>
                        <a:t>(8.11,∞) 0.10-1.10-0.00</a:t>
                      </a:r>
                    </a:p>
                  </a:txBody>
                  <a:tcPr marL="17015" marR="17015" marT="17015" marB="170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01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 smtClean="0">
                          <a:effectLst/>
                        </a:rPr>
                        <a:t>0.6</a:t>
                      </a:r>
                      <a:endParaRPr lang="en-US" sz="1500" dirty="0">
                        <a:effectLst/>
                      </a:endParaRPr>
                    </a:p>
                  </a:txBody>
                  <a:tcPr marL="17015" marR="17015" marT="17015" marB="1701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750" dirty="0">
                          <a:effectLst/>
                        </a:rPr>
                        <a:t>Infinity</a:t>
                      </a:r>
                    </a:p>
                    <a:p>
                      <a:pPr fontAlgn="t"/>
                      <a:r>
                        <a:rPr lang="en-US" sz="750" dirty="0">
                          <a:effectLst/>
                        </a:rPr>
                        <a:t>(5.22,∞) 0.00-0.90-0.00</a:t>
                      </a:r>
                    </a:p>
                  </a:txBody>
                  <a:tcPr marL="17015" marR="17015" marT="17015" marB="170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2.72</a:t>
                      </a:r>
                    </a:p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(3.69,∞) 0.00-0.30-0.40</a:t>
                      </a:r>
                    </a:p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(2.72,∞) 0.10-0.40-0.00</a:t>
                      </a:r>
                    </a:p>
                  </a:txBody>
                  <a:tcPr marL="17015" marR="17015" marT="17015" marB="170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1.29</a:t>
                      </a:r>
                    </a:p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(1.29,∞) 0.00-0.00-0.30</a:t>
                      </a:r>
                    </a:p>
                  </a:txBody>
                  <a:tcPr marL="17015" marR="17015" marT="17015" marB="170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2.04</a:t>
                      </a:r>
                    </a:p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(2.43,∞) 0.00-0.20-0.30</a:t>
                      </a:r>
                    </a:p>
                    <a:p>
                      <a:pPr fontAlgn="t"/>
                      <a:r>
                        <a:rPr lang="en-US" altLang="zh-TW" sz="750" dirty="0">
                          <a:solidFill>
                            <a:srgbClr val="FF0000"/>
                          </a:solidFill>
                          <a:effectLst/>
                        </a:rPr>
                        <a:t>(2.04,∞) 0.10-0.10-0.20</a:t>
                      </a:r>
                    </a:p>
                  </a:txBody>
                  <a:tcPr marL="17015" marR="17015" marT="17015" marB="170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750">
                          <a:effectLst/>
                        </a:rPr>
                        <a:t>5.44</a:t>
                      </a:r>
                    </a:p>
                    <a:p>
                      <a:pPr fontAlgn="t"/>
                      <a:r>
                        <a:rPr lang="en-US" altLang="zh-TW" sz="750">
                          <a:effectLst/>
                        </a:rPr>
                        <a:t>(11.24,∞) 0.00-0.60-1.00</a:t>
                      </a:r>
                    </a:p>
                    <a:p>
                      <a:pPr fontAlgn="t"/>
                      <a:r>
                        <a:rPr lang="en-US" altLang="zh-TW" sz="750">
                          <a:effectLst/>
                        </a:rPr>
                        <a:t>(8.11,∞) 0.10-0.60-0.50</a:t>
                      </a:r>
                    </a:p>
                    <a:p>
                      <a:pPr fontAlgn="t"/>
                      <a:r>
                        <a:rPr lang="en-US" altLang="zh-TW" sz="750">
                          <a:effectLst/>
                        </a:rPr>
                        <a:t>(5.44,∞) 0.20-0.50-0.00</a:t>
                      </a:r>
                    </a:p>
                  </a:txBody>
                  <a:tcPr marL="17015" marR="17015" marT="17015" marB="170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750">
                          <a:effectLst/>
                        </a:rPr>
                        <a:t>6.98</a:t>
                      </a:r>
                    </a:p>
                    <a:p>
                      <a:pPr fontAlgn="t"/>
                      <a:r>
                        <a:rPr lang="en-US" altLang="zh-TW" sz="750">
                          <a:effectLst/>
                        </a:rPr>
                        <a:t>(15.09,∞) 0.00-1.40-0.40</a:t>
                      </a:r>
                    </a:p>
                    <a:p>
                      <a:pPr fontAlgn="t"/>
                      <a:r>
                        <a:rPr lang="en-US" altLang="zh-TW" sz="750">
                          <a:effectLst/>
                        </a:rPr>
                        <a:t>(7.40,∞) 0.10-0.80-0.20</a:t>
                      </a:r>
                    </a:p>
                    <a:p>
                      <a:pPr fontAlgn="t"/>
                      <a:r>
                        <a:rPr lang="en-US" altLang="zh-TW" sz="750">
                          <a:effectLst/>
                        </a:rPr>
                        <a:t>(6.98,∞) 0.20-0.70-0.00</a:t>
                      </a:r>
                    </a:p>
                  </a:txBody>
                  <a:tcPr marL="17015" marR="17015" marT="17015" marB="170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750">
                          <a:effectLst/>
                        </a:rPr>
                        <a:t>7.36</a:t>
                      </a:r>
                    </a:p>
                    <a:p>
                      <a:pPr fontAlgn="t"/>
                      <a:r>
                        <a:rPr lang="en-US" altLang="zh-TW" sz="750">
                          <a:effectLst/>
                        </a:rPr>
                        <a:t>(13.44,∞) 0.00-1.50-0.20</a:t>
                      </a:r>
                    </a:p>
                    <a:p>
                      <a:pPr fontAlgn="t"/>
                      <a:r>
                        <a:rPr lang="en-US" altLang="zh-TW" sz="750">
                          <a:effectLst/>
                        </a:rPr>
                        <a:t>(7.36,∞) 0.10-0.90-0.10</a:t>
                      </a:r>
                    </a:p>
                  </a:txBody>
                  <a:tcPr marL="17015" marR="17015" marT="17015" marB="170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2107"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 smtClean="0">
                          <a:effectLst/>
                        </a:rPr>
                        <a:t>0.2</a:t>
                      </a:r>
                      <a:endParaRPr lang="en-US" sz="1500" dirty="0">
                        <a:effectLst/>
                      </a:endParaRPr>
                    </a:p>
                  </a:txBody>
                  <a:tcPr marL="17015" marR="17015" marT="17015" marB="1701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750" dirty="0">
                          <a:effectLst/>
                        </a:rPr>
                        <a:t>Infinity</a:t>
                      </a:r>
                    </a:p>
                    <a:p>
                      <a:pPr fontAlgn="t"/>
                      <a:r>
                        <a:rPr lang="en-US" sz="750" dirty="0">
                          <a:effectLst/>
                        </a:rPr>
                        <a:t>(6.82,∞) 0.00-1.10-0.00</a:t>
                      </a:r>
                    </a:p>
                  </a:txBody>
                  <a:tcPr marL="17015" marR="17015" marT="17015" marB="170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2.72</a:t>
                      </a:r>
                    </a:p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(2.72,∞) 0.10-0.40-0.00</a:t>
                      </a:r>
                    </a:p>
                  </a:txBody>
                  <a:tcPr marL="17015" marR="17015" marT="17015" marB="170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3.03</a:t>
                      </a:r>
                    </a:p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(4.97,∞) 0.00-0.30-0.60</a:t>
                      </a:r>
                    </a:p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(4.02,∞) 0.10-0.40-0.20</a:t>
                      </a:r>
                    </a:p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(3.03,∞) 0.30-0.20-0.00</a:t>
                      </a:r>
                    </a:p>
                  </a:txBody>
                  <a:tcPr marL="17015" marR="17015" marT="17015" marB="170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4.41</a:t>
                      </a:r>
                    </a:p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(4.41,∞) 0.00-0.00-0.90</a:t>
                      </a:r>
                    </a:p>
                  </a:txBody>
                  <a:tcPr marL="17015" marR="17015" marT="17015" marB="170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2.56</a:t>
                      </a:r>
                    </a:p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(2.99,∞) 0.00-0.20-0.40</a:t>
                      </a:r>
                    </a:p>
                    <a:p>
                      <a:pPr fontAlgn="t"/>
                      <a:r>
                        <a:rPr lang="en-US" altLang="zh-TW" sz="750" dirty="0">
                          <a:solidFill>
                            <a:srgbClr val="FF0000"/>
                          </a:solidFill>
                          <a:effectLst/>
                        </a:rPr>
                        <a:t>(2.56,∞) 0.10-0.10-0.30</a:t>
                      </a:r>
                    </a:p>
                  </a:txBody>
                  <a:tcPr marL="17015" marR="17015" marT="17015" marB="170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750">
                          <a:effectLst/>
                        </a:rPr>
                        <a:t>4.30</a:t>
                      </a:r>
                    </a:p>
                    <a:p>
                      <a:pPr fontAlgn="t"/>
                      <a:r>
                        <a:rPr lang="en-US" altLang="zh-TW" sz="750">
                          <a:effectLst/>
                        </a:rPr>
                        <a:t>(13.10,∞) 0.00-0.60-1.20</a:t>
                      </a:r>
                    </a:p>
                    <a:p>
                      <a:pPr fontAlgn="t"/>
                      <a:r>
                        <a:rPr lang="en-US" altLang="zh-TW" sz="750">
                          <a:effectLst/>
                        </a:rPr>
                        <a:t>(9.87,∞) 0.10-0.60-0.70</a:t>
                      </a:r>
                    </a:p>
                    <a:p>
                      <a:pPr fontAlgn="t"/>
                      <a:r>
                        <a:rPr lang="en-US" altLang="zh-TW" sz="750">
                          <a:effectLst/>
                        </a:rPr>
                        <a:t>(6.96,∞) 0.20-0.50-0.20</a:t>
                      </a:r>
                    </a:p>
                    <a:p>
                      <a:pPr fontAlgn="t"/>
                      <a:r>
                        <a:rPr lang="en-US" altLang="zh-TW" sz="750">
                          <a:effectLst/>
                        </a:rPr>
                        <a:t>(4.30,∞) 0.30-0.20-0.00</a:t>
                      </a:r>
                    </a:p>
                  </a:txBody>
                  <a:tcPr marL="17015" marR="17015" marT="17015" marB="170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750">
                          <a:effectLst/>
                        </a:rPr>
                        <a:t>6.41</a:t>
                      </a:r>
                    </a:p>
                    <a:p>
                      <a:pPr fontAlgn="t"/>
                      <a:r>
                        <a:rPr lang="en-US" altLang="zh-TW" sz="750">
                          <a:effectLst/>
                        </a:rPr>
                        <a:t>(19.47,∞) 0.00-1.40-0.70</a:t>
                      </a:r>
                    </a:p>
                    <a:p>
                      <a:pPr fontAlgn="t"/>
                      <a:r>
                        <a:rPr lang="en-US" altLang="zh-TW" sz="750">
                          <a:effectLst/>
                        </a:rPr>
                        <a:t>(10.35,∞) 0.10-0.80-0.50</a:t>
                      </a:r>
                    </a:p>
                    <a:p>
                      <a:pPr fontAlgn="t"/>
                      <a:r>
                        <a:rPr lang="en-US" altLang="zh-TW" sz="750">
                          <a:effectLst/>
                        </a:rPr>
                        <a:t>(9.75,∞) 0.20-0.70-0.30</a:t>
                      </a:r>
                    </a:p>
                    <a:p>
                      <a:pPr fontAlgn="t"/>
                      <a:r>
                        <a:rPr lang="en-US" altLang="zh-TW" sz="750">
                          <a:effectLst/>
                        </a:rPr>
                        <a:t>(6.41,∞) 0.30-0.50-0.00</a:t>
                      </a:r>
                    </a:p>
                  </a:txBody>
                  <a:tcPr marL="17015" marR="17015" marT="17015" marB="170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2107"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 smtClean="0">
                          <a:effectLst/>
                        </a:rPr>
                        <a:t>0.7</a:t>
                      </a:r>
                      <a:endParaRPr lang="en-US" sz="1500" dirty="0">
                        <a:effectLst/>
                      </a:endParaRPr>
                    </a:p>
                  </a:txBody>
                  <a:tcPr marL="17015" marR="17015" marT="17015" marB="1701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750" dirty="0">
                          <a:effectLst/>
                        </a:rPr>
                        <a:t>Infinity</a:t>
                      </a:r>
                    </a:p>
                    <a:p>
                      <a:pPr fontAlgn="t"/>
                      <a:r>
                        <a:rPr lang="en-US" sz="750" dirty="0">
                          <a:effectLst/>
                        </a:rPr>
                        <a:t>(13.68,∞) 0.00-1.80-0.00</a:t>
                      </a:r>
                    </a:p>
                  </a:txBody>
                  <a:tcPr marL="17015" marR="17015" marT="17015" marB="170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6.35</a:t>
                      </a:r>
                    </a:p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(12.48,∞) 0.00-1.10-0.50</a:t>
                      </a:r>
                    </a:p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(6.35,∞) 0.10-0.90-0.00</a:t>
                      </a:r>
                    </a:p>
                  </a:txBody>
                  <a:tcPr marL="17015" marR="17015" marT="17015" marB="170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750">
                          <a:effectLst/>
                        </a:rPr>
                        <a:t>4.71</a:t>
                      </a:r>
                    </a:p>
                    <a:p>
                      <a:pPr fontAlgn="t"/>
                      <a:r>
                        <a:rPr lang="en-US" altLang="zh-TW" sz="750">
                          <a:effectLst/>
                        </a:rPr>
                        <a:t>(4.71,∞) 0.10-0.40-0.30</a:t>
                      </a:r>
                    </a:p>
                  </a:txBody>
                  <a:tcPr marL="17015" marR="17015" marT="17015" marB="170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3.62</a:t>
                      </a:r>
                    </a:p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(5.64,∞) 0.00-0.30-0.70</a:t>
                      </a:r>
                    </a:p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(4.71,∞) 0.10-0.40-0.30</a:t>
                      </a:r>
                    </a:p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(3.62,∞) 0.30-0.20-0.10</a:t>
                      </a:r>
                    </a:p>
                  </a:txBody>
                  <a:tcPr marL="17015" marR="17015" marT="17015" marB="170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7.22</a:t>
                      </a:r>
                    </a:p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(8.25,∞) 0.00-0.00-1.50</a:t>
                      </a:r>
                    </a:p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(7.22,∞) 0.30-0.60-0.00</a:t>
                      </a:r>
                    </a:p>
                  </a:txBody>
                  <a:tcPr marL="17015" marR="17015" marT="17015" marB="170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4.23</a:t>
                      </a:r>
                    </a:p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(4.79,∞) 0.00-0.20-0.70</a:t>
                      </a:r>
                    </a:p>
                    <a:p>
                      <a:pPr fontAlgn="t"/>
                      <a:r>
                        <a:rPr lang="en-US" altLang="zh-TW" sz="750" dirty="0">
                          <a:solidFill>
                            <a:srgbClr val="FF0000"/>
                          </a:solidFill>
                          <a:effectLst/>
                        </a:rPr>
                        <a:t>(4.23,∞) 0.10-0.10-0.60</a:t>
                      </a:r>
                    </a:p>
                  </a:txBody>
                  <a:tcPr marL="17015" marR="17015" marT="17015" marB="170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750">
                          <a:effectLst/>
                        </a:rPr>
                        <a:t>5.49</a:t>
                      </a:r>
                    </a:p>
                    <a:p>
                      <a:pPr fontAlgn="t"/>
                      <a:r>
                        <a:rPr lang="en-US" altLang="zh-TW" sz="750">
                          <a:effectLst/>
                        </a:rPr>
                        <a:t>(15.05,∞) 0.00-0.60-1.40</a:t>
                      </a:r>
                    </a:p>
                    <a:p>
                      <a:pPr fontAlgn="t"/>
                      <a:r>
                        <a:rPr lang="en-US" altLang="zh-TW" sz="750">
                          <a:effectLst/>
                        </a:rPr>
                        <a:t>(11.72,∞) 0.10-0.60-0.90</a:t>
                      </a:r>
                    </a:p>
                    <a:p>
                      <a:pPr fontAlgn="t"/>
                      <a:r>
                        <a:rPr lang="en-US" altLang="zh-TW" sz="750">
                          <a:effectLst/>
                        </a:rPr>
                        <a:t>(8.56,∞) 0.20-0.50-0.40</a:t>
                      </a:r>
                    </a:p>
                    <a:p>
                      <a:pPr fontAlgn="t"/>
                      <a:r>
                        <a:rPr lang="en-US" altLang="zh-TW" sz="750">
                          <a:effectLst/>
                        </a:rPr>
                        <a:t>(5.49,∞) 0.30-0.20-0.20</a:t>
                      </a:r>
                    </a:p>
                  </a:txBody>
                  <a:tcPr marL="17015" marR="17015" marT="17015" marB="170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01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 smtClean="0">
                          <a:effectLst/>
                        </a:rPr>
                        <a:t>0.5</a:t>
                      </a:r>
                      <a:endParaRPr lang="en-US" sz="1500" dirty="0">
                        <a:effectLst/>
                      </a:endParaRPr>
                    </a:p>
                  </a:txBody>
                  <a:tcPr marL="17015" marR="17015" marT="17015" marB="1701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750">
                          <a:effectLst/>
                        </a:rPr>
                        <a:t>Infinity</a:t>
                      </a:r>
                    </a:p>
                    <a:p>
                      <a:pPr fontAlgn="t"/>
                      <a:r>
                        <a:rPr lang="en-US" sz="750">
                          <a:effectLst/>
                        </a:rPr>
                        <a:t>(19.78,∞) 0.00-2.30-0.00</a:t>
                      </a:r>
                    </a:p>
                  </a:txBody>
                  <a:tcPr marL="17015" marR="17015" marT="17015" marB="170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750">
                          <a:effectLst/>
                        </a:rPr>
                        <a:t>9.06</a:t>
                      </a:r>
                    </a:p>
                    <a:p>
                      <a:pPr fontAlgn="t"/>
                      <a:r>
                        <a:rPr lang="en-US" altLang="zh-TW" sz="750">
                          <a:effectLst/>
                        </a:rPr>
                        <a:t>(19.07,∞) 0.00-1.80-0.30</a:t>
                      </a:r>
                    </a:p>
                    <a:p>
                      <a:pPr fontAlgn="t"/>
                      <a:r>
                        <a:rPr lang="en-US" altLang="zh-TW" sz="750">
                          <a:effectLst/>
                        </a:rPr>
                        <a:t>(9.06,∞) 0.10-1.20-0.00</a:t>
                      </a:r>
                    </a:p>
                  </a:txBody>
                  <a:tcPr marL="17015" marR="17015" marT="17015" marB="170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750">
                          <a:effectLst/>
                        </a:rPr>
                        <a:t>5.85</a:t>
                      </a:r>
                    </a:p>
                    <a:p>
                      <a:pPr fontAlgn="t"/>
                      <a:r>
                        <a:rPr lang="en-US" altLang="zh-TW" sz="750">
                          <a:effectLst/>
                        </a:rPr>
                        <a:t>(13.67,∞) 0.00-1.10-0.60</a:t>
                      </a:r>
                    </a:p>
                    <a:p>
                      <a:pPr fontAlgn="t"/>
                      <a:r>
                        <a:rPr lang="en-US" altLang="zh-TW" sz="750">
                          <a:effectLst/>
                        </a:rPr>
                        <a:t>(7.36,∞) 0.10-0.90-0.10</a:t>
                      </a:r>
                    </a:p>
                    <a:p>
                      <a:pPr fontAlgn="t"/>
                      <a:r>
                        <a:rPr lang="en-US" altLang="zh-TW" sz="750">
                          <a:effectLst/>
                        </a:rPr>
                        <a:t>(5.85,∞) 0.30-0.10-0.00</a:t>
                      </a:r>
                    </a:p>
                  </a:txBody>
                  <a:tcPr marL="17015" marR="17015" marT="17015" marB="170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750">
                          <a:effectLst/>
                        </a:rPr>
                        <a:t>5.34</a:t>
                      </a:r>
                    </a:p>
                    <a:p>
                      <a:pPr fontAlgn="t"/>
                      <a:r>
                        <a:rPr lang="en-US" altLang="zh-TW" sz="750">
                          <a:effectLst/>
                        </a:rPr>
                        <a:t>(6.87,∞) 0.10-0.40-0.60</a:t>
                      </a:r>
                    </a:p>
                    <a:p>
                      <a:pPr fontAlgn="t"/>
                      <a:r>
                        <a:rPr lang="en-US" altLang="zh-TW" sz="750">
                          <a:effectLst/>
                        </a:rPr>
                        <a:t>(5.34,∞) 0.10-0.30-0.00</a:t>
                      </a:r>
                    </a:p>
                  </a:txBody>
                  <a:tcPr marL="17015" marR="17015" marT="17015" marB="170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6.16</a:t>
                      </a:r>
                    </a:p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(8.51,∞) 0.00-0.30-1.10</a:t>
                      </a:r>
                    </a:p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(7.63,∞) 0.10-0.40-0.70</a:t>
                      </a:r>
                    </a:p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(6.16,∞) 0.30-0.20-0.50</a:t>
                      </a:r>
                    </a:p>
                  </a:txBody>
                  <a:tcPr marL="17015" marR="17015" marT="17015" marB="170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6.10</a:t>
                      </a:r>
                    </a:p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(8.96,∞) 0.00-0.00-1.60</a:t>
                      </a:r>
                    </a:p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(8.09,∞) 0.30-0.60-0.10</a:t>
                      </a:r>
                    </a:p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(6.10,∞) 0.60-0.10-0.00</a:t>
                      </a:r>
                    </a:p>
                  </a:txBody>
                  <a:tcPr marL="17015" marR="17015" marT="17015" marB="170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4.23</a:t>
                      </a:r>
                    </a:p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(4.79,∞) 0.00-0.20-0.70</a:t>
                      </a:r>
                    </a:p>
                    <a:p>
                      <a:pPr fontAlgn="t"/>
                      <a:r>
                        <a:rPr lang="en-US" altLang="zh-TW" sz="750" dirty="0">
                          <a:solidFill>
                            <a:srgbClr val="FF0000"/>
                          </a:solidFill>
                          <a:effectLst/>
                        </a:rPr>
                        <a:t>(4.23,∞) 0.10-0.10-0.60</a:t>
                      </a:r>
                    </a:p>
                  </a:txBody>
                  <a:tcPr marL="17015" marR="17015" marT="17015" marB="170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2107">
                <a:tc>
                  <a:txBody>
                    <a:bodyPr/>
                    <a:lstStyle/>
                    <a:p>
                      <a:pPr algn="ctr" fontAlgn="t"/>
                      <a:r>
                        <a:rPr lang="en-US" sz="1500" dirty="0" smtClean="0">
                          <a:effectLst/>
                        </a:rPr>
                        <a:t>0.4</a:t>
                      </a:r>
                      <a:endParaRPr lang="en-US" sz="1500" dirty="0">
                        <a:effectLst/>
                      </a:endParaRPr>
                    </a:p>
                  </a:txBody>
                  <a:tcPr marL="17015" marR="17015" marT="17015" marB="1701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750">
                          <a:effectLst/>
                        </a:rPr>
                        <a:t>Infinity</a:t>
                      </a:r>
                    </a:p>
                    <a:p>
                      <a:pPr fontAlgn="t"/>
                      <a:r>
                        <a:rPr lang="en-US" sz="750">
                          <a:effectLst/>
                        </a:rPr>
                        <a:t>(25.38,∞) 0.00-2.70-0.00</a:t>
                      </a:r>
                    </a:p>
                  </a:txBody>
                  <a:tcPr marL="17015" marR="17015" marT="17015" marB="170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750">
                          <a:effectLst/>
                        </a:rPr>
                        <a:t>11.08</a:t>
                      </a:r>
                    </a:p>
                    <a:p>
                      <a:pPr fontAlgn="t"/>
                      <a:r>
                        <a:rPr lang="en-US" altLang="zh-TW" sz="750">
                          <a:effectLst/>
                        </a:rPr>
                        <a:t>(24.58,∞) 0.00-2.30-0.20</a:t>
                      </a:r>
                    </a:p>
                    <a:p>
                      <a:pPr fontAlgn="t"/>
                      <a:r>
                        <a:rPr lang="en-US" altLang="zh-TW" sz="750">
                          <a:effectLst/>
                        </a:rPr>
                        <a:t>(11.08,∞) 0.10-1.40-0.00</a:t>
                      </a:r>
                    </a:p>
                  </a:txBody>
                  <a:tcPr marL="17015" marR="17015" marT="17015" marB="170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5.85</a:t>
                      </a:r>
                    </a:p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(19.07,∞) 0.00-1.80-0.30</a:t>
                      </a:r>
                    </a:p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(5.85,∞) 0.30-0.10-0.00</a:t>
                      </a:r>
                    </a:p>
                  </a:txBody>
                  <a:tcPr marL="17015" marR="17015" marT="17015" marB="170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750">
                          <a:effectLst/>
                        </a:rPr>
                        <a:t>7.98</a:t>
                      </a:r>
                    </a:p>
                    <a:p>
                      <a:pPr fontAlgn="t"/>
                      <a:r>
                        <a:rPr lang="en-US" altLang="zh-TW" sz="750">
                          <a:effectLst/>
                        </a:rPr>
                        <a:t>(18.64,∞) 0.00-1.10-1.00</a:t>
                      </a:r>
                    </a:p>
                    <a:p>
                      <a:pPr fontAlgn="t"/>
                      <a:r>
                        <a:rPr lang="en-US" altLang="zh-TW" sz="750">
                          <a:effectLst/>
                        </a:rPr>
                        <a:t>(11.57,∞) 0.10-0.90-0.50</a:t>
                      </a:r>
                    </a:p>
                    <a:p>
                      <a:pPr fontAlgn="t"/>
                      <a:r>
                        <a:rPr lang="en-US" altLang="zh-TW" sz="750">
                          <a:effectLst/>
                        </a:rPr>
                        <a:t>(8.07,∞) 0.30-0.10-0.40</a:t>
                      </a:r>
                    </a:p>
                    <a:p>
                      <a:pPr fontAlgn="t"/>
                      <a:r>
                        <a:rPr lang="en-US" altLang="zh-TW" sz="750">
                          <a:effectLst/>
                        </a:rPr>
                        <a:t>(7.98,∞) 0.10-0.70-0.00</a:t>
                      </a:r>
                    </a:p>
                  </a:txBody>
                  <a:tcPr marL="17015" marR="17015" marT="17015" marB="170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7.14</a:t>
                      </a:r>
                    </a:p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(9.21,∞) 0.10-0.40-0.90</a:t>
                      </a:r>
                    </a:p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(7.14,∞) 0.10-0.30-0.30</a:t>
                      </a:r>
                    </a:p>
                  </a:txBody>
                  <a:tcPr marL="17015" marR="17015" marT="17015" marB="170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6.10</a:t>
                      </a:r>
                    </a:p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(8.51,∞) 0.00-0.30-1.10</a:t>
                      </a:r>
                    </a:p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(7.63,∞) 0.10-0.40-0.70</a:t>
                      </a:r>
                    </a:p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(6.16,∞) 0.30-0.20-0.50</a:t>
                      </a:r>
                    </a:p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(6.10,∞) 0.60-0.10-0.00</a:t>
                      </a:r>
                    </a:p>
                  </a:txBody>
                  <a:tcPr marL="17015" marR="17015" marT="17015" marB="170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6.10</a:t>
                      </a:r>
                    </a:p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(9.69,∞) 0.00-0.00-1.70</a:t>
                      </a:r>
                    </a:p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(8.99,∞) 0.30-0.60-0.20</a:t>
                      </a:r>
                    </a:p>
                    <a:p>
                      <a:pPr fontAlgn="t"/>
                      <a:r>
                        <a:rPr lang="en-US" altLang="zh-TW" sz="750" dirty="0">
                          <a:effectLst/>
                        </a:rPr>
                        <a:t>(6.70,∞) 0.60-0.10-0.10</a:t>
                      </a:r>
                    </a:p>
                    <a:p>
                      <a:pPr fontAlgn="t"/>
                      <a:r>
                        <a:rPr lang="en-US" altLang="zh-TW" sz="750" dirty="0">
                          <a:solidFill>
                            <a:srgbClr val="FF0000"/>
                          </a:solidFill>
                          <a:effectLst/>
                        </a:rPr>
                        <a:t>(6.10,∞) 0.60-0.10-0.00</a:t>
                      </a:r>
                    </a:p>
                  </a:txBody>
                  <a:tcPr marL="17015" marR="17015" marT="17015" marB="170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46580428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/>
              <a:t>UCR Time </a:t>
            </a:r>
            <a:r>
              <a:rPr lang="en-US" altLang="zh-TW" b="1" dirty="0" smtClean="0"/>
              <a:t>Series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hlinkClick r:id="rId2"/>
              </a:rPr>
              <a:t>http://www.cs.ucr.edu/~eamonn/time_series_data/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4439470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 smtClean="0"/>
              <a:t>Video Retrieval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pPr/>
              <a:t>13</a:t>
            </a:fld>
            <a:endParaRPr lang="zh-TW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0538" y="2254071"/>
            <a:ext cx="8743950" cy="2615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403918237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Image </a:t>
            </a:r>
            <a:r>
              <a:rPr lang="en-US" altLang="zh-TW" b="1" dirty="0"/>
              <a:t>Retrieval</a:t>
            </a:r>
            <a:endParaRPr lang="zh-TW" altLang="en-US" b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pPr/>
              <a:t>14</a:t>
            </a:fld>
            <a:endParaRPr lang="zh-TW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430610" y="1844824"/>
            <a:ext cx="6381750" cy="420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391634969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/>
              <a:t>H</a:t>
            </a:r>
            <a:r>
              <a:rPr lang="en-US" altLang="zh-TW" b="1" dirty="0" smtClean="0"/>
              <a:t>andwriting Retrieval</a:t>
            </a:r>
            <a:endParaRPr lang="zh-TW" altLang="en-US" b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pPr/>
              <a:t>15</a:t>
            </a:fld>
            <a:endParaRPr lang="zh-TW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23528" y="2577832"/>
            <a:ext cx="8557260" cy="1859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53824017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 smtClean="0"/>
              <a:t>Text Mining</a:t>
            </a:r>
            <a:endParaRPr lang="en-US" altLang="zh-TW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“In </a:t>
            </a:r>
            <a:r>
              <a:rPr lang="en-US" altLang="zh-TW" dirty="0"/>
              <a:t>the beginning </a:t>
            </a:r>
            <a:r>
              <a:rPr lang="en-US" altLang="zh-TW" dirty="0">
                <a:solidFill>
                  <a:srgbClr val="FF0000"/>
                </a:solidFill>
              </a:rPr>
              <a:t>God</a:t>
            </a:r>
            <a:r>
              <a:rPr lang="en-US" altLang="zh-TW" dirty="0"/>
              <a:t> created the heaven and the </a:t>
            </a:r>
            <a:r>
              <a:rPr lang="en-US" altLang="zh-TW" dirty="0" smtClean="0"/>
              <a:t>earth” =&gt; “000</a:t>
            </a:r>
            <a:r>
              <a:rPr lang="en-US" altLang="zh-TW" dirty="0" smtClean="0">
                <a:solidFill>
                  <a:srgbClr val="FF0000"/>
                </a:solidFill>
              </a:rPr>
              <a:t>1</a:t>
            </a:r>
            <a:r>
              <a:rPr lang="en-US" altLang="zh-TW" dirty="0" smtClean="0"/>
              <a:t>000000” 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A2154A-7944-49D8-9ABC-66E253E15366}" type="slidenum">
              <a:rPr lang="zh-TW" altLang="en-US" smtClean="0"/>
              <a:pPr/>
              <a:t>16</a:t>
            </a:fld>
            <a:endParaRPr lang="zh-TW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4348" y="2773640"/>
            <a:ext cx="8740140" cy="3535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218355470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2813</TotalTime>
  <Words>1463</Words>
  <Application>Microsoft Office PowerPoint</Application>
  <PresentationFormat>如螢幕大小 (4:3)</PresentationFormat>
  <Paragraphs>442</Paragraphs>
  <Slides>16</Slides>
  <Notes>8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17" baseType="lpstr">
      <vt:lpstr>Office 佈景主題</vt:lpstr>
      <vt:lpstr>Flexible Dynamic Time Warping for Time Series</vt:lpstr>
      <vt:lpstr>Dynamic Time Warping (1/4)</vt:lpstr>
      <vt:lpstr>Dynamic Time Warping (2/4)</vt:lpstr>
      <vt:lpstr>Dynamic Time Warping (3/4)</vt:lpstr>
      <vt:lpstr>Dynamic Time Warping (4/4)</vt:lpstr>
      <vt:lpstr>Derivative Dynamic Time Warping (DDTW)</vt:lpstr>
      <vt:lpstr>Flexible Longest Common Subsequence (FLCS) (1/2)</vt:lpstr>
      <vt:lpstr>Flexible Longest Common Subsequence (FLCS) (2/2)</vt:lpstr>
      <vt:lpstr>Our Method (1/3)</vt:lpstr>
      <vt:lpstr>Our Method (2/3)</vt:lpstr>
      <vt:lpstr>Our Method (3/3)</vt:lpstr>
      <vt:lpstr>UCR Time Series</vt:lpstr>
      <vt:lpstr>Video Retrieval</vt:lpstr>
      <vt:lpstr>Image Retrieval</vt:lpstr>
      <vt:lpstr>Handwriting Retrieval</vt:lpstr>
      <vt:lpstr>Text Mining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Time Warping</dc:title>
  <dc:creator>Ray</dc:creator>
  <cp:lastModifiedBy>admin</cp:lastModifiedBy>
  <cp:revision>83</cp:revision>
  <dcterms:created xsi:type="dcterms:W3CDTF">2013-07-28T14:30:33Z</dcterms:created>
  <dcterms:modified xsi:type="dcterms:W3CDTF">2014-03-10T13:49:35Z</dcterms:modified>
</cp:coreProperties>
</file>