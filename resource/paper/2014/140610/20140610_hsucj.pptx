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2" r:id="rId6"/>
    <p:sldId id="259" r:id="rId7"/>
    <p:sldId id="270" r:id="rId8"/>
    <p:sldId id="263" r:id="rId9"/>
    <p:sldId id="272" r:id="rId10"/>
    <p:sldId id="264" r:id="rId11"/>
    <p:sldId id="266" r:id="rId12"/>
    <p:sldId id="273" r:id="rId13"/>
    <p:sldId id="274" r:id="rId14"/>
    <p:sldId id="275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  <a:srgbClr val="B5E5B5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98" autoAdjust="0"/>
  </p:normalViewPr>
  <p:slideViewPr>
    <p:cSldViewPr>
      <p:cViewPr varScale="1">
        <p:scale>
          <a:sx n="116" d="100"/>
          <a:sy n="116" d="100"/>
        </p:scale>
        <p:origin x="144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88C25-3BBA-48C1-90E9-DC544C31DB7C}" type="datetimeFigureOut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70C93-EEEA-4B52-815E-D24010254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05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691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83E4-F123-4500-948A-69347FAC3D33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850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F13C-4328-42F6-B6F3-EC72A0CFC1A4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683222-D289-41CC-9733-F51F1634BCC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1612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A6A2-1CDB-48F2-A95A-10E0238E1885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70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2CDE-6738-444E-8E61-B3A1F23203A0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64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0CE1-8824-4C42-B9E1-FA28E99BE653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94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8240-144C-4A2A-8708-7D307E938659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49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C9A-A783-490B-9546-8C560E6A696C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361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F1A3-B26A-4A4E-9234-D8034C0DDD1D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55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0AEB-81FE-4657-94D2-10A36DBD5A50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25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174-E91C-4D8D-9779-D0A91070D678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04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0263-48F3-4EBC-8231-D7AB22C2D693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64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6DCD1-B4AA-4C12-AA7A-A4B4A75C42AD}" type="datetime1">
              <a:rPr lang="zh-TW" altLang="en-US" smtClean="0"/>
              <a:t>2014/6/10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2154A-7944-49D8-9ABC-66E253E15366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082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Flexible Dynamic Time Warping for Time </a:t>
            </a:r>
            <a:r>
              <a:rPr lang="en-US" altLang="zh-TW" b="1" dirty="0" smtClean="0"/>
              <a:t>Series Classification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Presenter: </a:t>
            </a:r>
            <a:r>
              <a:rPr lang="en-US" altLang="zh-TW" dirty="0" err="1">
                <a:solidFill>
                  <a:schemeClr val="tx1"/>
                </a:solidFill>
              </a:rPr>
              <a:t>Che-Jui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</a:rPr>
              <a:t>Hsu (</a:t>
            </a:r>
            <a:r>
              <a:rPr lang="zh-TW" altLang="en-US" dirty="0">
                <a:solidFill>
                  <a:schemeClr val="tx1"/>
                </a:solidFill>
              </a:rPr>
              <a:t>許哲睿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Date</a:t>
            </a:r>
            <a:r>
              <a:rPr lang="en-US" altLang="zh-TW" dirty="0" smtClean="0">
                <a:solidFill>
                  <a:schemeClr val="tx1"/>
                </a:solidFill>
              </a:rPr>
              <a:t>: </a:t>
            </a:r>
            <a:fld id="{D66967A2-1081-484D-90A1-F21B96511FF2}" type="datetime1">
              <a:rPr lang="zh-TW" altLang="en-US" smtClean="0">
                <a:solidFill>
                  <a:schemeClr val="tx1"/>
                </a:solidFill>
              </a:rPr>
              <a:t>2014/6/10</a:t>
            </a:fld>
            <a:endParaRPr lang="en-US" altLang="zh-TW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45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Time </a:t>
            </a:r>
            <a:r>
              <a:rPr lang="en-US" altLang="zh-TW" b="1" dirty="0" smtClean="0"/>
              <a:t>Series Classification Problem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 smtClean="0"/>
                  <a:t>This problem </a:t>
                </a:r>
                <a:r>
                  <a:rPr lang="en-US" altLang="zh-TW" dirty="0"/>
                  <a:t>is to classify a new time series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 in a prepared dataset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TW" dirty="0"/>
                  <a:t> composed of </a:t>
                </a:r>
                <a:r>
                  <a:rPr lang="en-US" altLang="zh-TW" dirty="0" smtClean="0"/>
                  <a:t>several classified </a:t>
                </a:r>
                <a:r>
                  <a:rPr lang="en-US" altLang="zh-TW" dirty="0"/>
                  <a:t>clusters and each cluster has several time series.</a:t>
                </a:r>
                <a:endParaRPr lang="en-US" altLang="zh-TW" dirty="0" smtClean="0"/>
              </a:p>
              <a:p>
                <a:r>
                  <a:rPr lang="en-US" altLang="zh-TW" dirty="0"/>
                  <a:t>To solve this </a:t>
                </a:r>
                <a:r>
                  <a:rPr lang="en-US" altLang="zh-TW" dirty="0" smtClean="0"/>
                  <a:t>problem, one </a:t>
                </a:r>
                <a:r>
                  <a:rPr lang="en-US" altLang="zh-TW" dirty="0"/>
                  <a:t>of the methods is to calculate the distance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 and each time series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TW" dirty="0"/>
                  <a:t>, </a:t>
                </a:r>
                <a:r>
                  <a:rPr lang="en-US" altLang="zh-TW" dirty="0" smtClean="0"/>
                  <a:t>and then </a:t>
                </a:r>
                <a:r>
                  <a:rPr lang="en-US" altLang="zh-TW" dirty="0"/>
                  <a:t>choose the cluster of the highest frequency based on the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 nearest </a:t>
                </a:r>
                <a:r>
                  <a:rPr lang="en-US" altLang="zh-TW" dirty="0" smtClean="0"/>
                  <a:t>neighbors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/>
                  <a:t>-NN</a:t>
                </a:r>
                <a:r>
                  <a:rPr lang="en-US" altLang="zh-TW" dirty="0"/>
                  <a:t>) </a:t>
                </a:r>
                <a:r>
                  <a:rPr lang="en-US" altLang="zh-TW" dirty="0" smtClean="0"/>
                  <a:t>algorithm.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2695" r="-1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71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/>
          <a:srcRect l="2754" t="5560"/>
          <a:stretch/>
        </p:blipFill>
        <p:spPr>
          <a:xfrm>
            <a:off x="549560" y="4323334"/>
            <a:ext cx="8391565" cy="244075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Dynamic Time Warping Algorithm (1/3)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3</a:t>
            </a:fld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875818" y="1600200"/>
            <a:ext cx="7271470" cy="2569852"/>
            <a:chOff x="875818" y="1600200"/>
            <a:chExt cx="7271470" cy="2569852"/>
          </a:xfrm>
        </p:grpSpPr>
        <p:grpSp>
          <p:nvGrpSpPr>
            <p:cNvPr id="29" name="群組 28"/>
            <p:cNvGrpSpPr/>
            <p:nvPr/>
          </p:nvGrpSpPr>
          <p:grpSpPr>
            <a:xfrm>
              <a:off x="3413195" y="1600200"/>
              <a:ext cx="2664296" cy="2569852"/>
              <a:chOff x="3275856" y="4221088"/>
              <a:chExt cx="2664296" cy="2569852"/>
            </a:xfrm>
          </p:grpSpPr>
          <p:sp>
            <p:nvSpPr>
              <p:cNvPr id="7" name="橢圓 6"/>
              <p:cNvSpPr/>
              <p:nvPr/>
            </p:nvSpPr>
            <p:spPr>
              <a:xfrm>
                <a:off x="3275856" y="4221088"/>
                <a:ext cx="504056" cy="50405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橢圓 7"/>
              <p:cNvSpPr/>
              <p:nvPr/>
            </p:nvSpPr>
            <p:spPr>
              <a:xfrm>
                <a:off x="5436096" y="4221088"/>
                <a:ext cx="504056" cy="50405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橢圓 8"/>
              <p:cNvSpPr/>
              <p:nvPr/>
            </p:nvSpPr>
            <p:spPr>
              <a:xfrm>
                <a:off x="3275856" y="6286884"/>
                <a:ext cx="504056" cy="50405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橢圓 9"/>
              <p:cNvSpPr/>
              <p:nvPr/>
            </p:nvSpPr>
            <p:spPr>
              <a:xfrm>
                <a:off x="5436096" y="6286884"/>
                <a:ext cx="504056" cy="50405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5" name="直線單箭頭接點 14"/>
              <p:cNvCxnSpPr>
                <a:stCxn id="8" idx="4"/>
                <a:endCxn id="10" idx="0"/>
              </p:cNvCxnSpPr>
              <p:nvPr/>
            </p:nvCxnSpPr>
            <p:spPr>
              <a:xfrm>
                <a:off x="5688124" y="4725144"/>
                <a:ext cx="0" cy="156174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>
                <a:stCxn id="7" idx="5"/>
                <a:endCxn id="10" idx="1"/>
              </p:cNvCxnSpPr>
              <p:nvPr/>
            </p:nvCxnSpPr>
            <p:spPr>
              <a:xfrm>
                <a:off x="3706095" y="4651327"/>
                <a:ext cx="1803818" cy="170937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>
                <a:stCxn id="9" idx="6"/>
                <a:endCxn id="10" idx="2"/>
              </p:cNvCxnSpPr>
              <p:nvPr/>
            </p:nvCxnSpPr>
            <p:spPr>
              <a:xfrm>
                <a:off x="3779912" y="6538912"/>
                <a:ext cx="165618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字方塊 2"/>
                <p:cNvSpPr txBox="1"/>
                <p:nvPr/>
              </p:nvSpPr>
              <p:spPr>
                <a:xfrm>
                  <a:off x="875818" y="1620798"/>
                  <a:ext cx="25373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𝐷𝑇𝑊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3" name="文字方塊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818" y="1620798"/>
                  <a:ext cx="2537377" cy="46166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481" b="-157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/>
                <p:cNvSpPr txBox="1"/>
                <p:nvPr/>
              </p:nvSpPr>
              <p:spPr>
                <a:xfrm>
                  <a:off x="6081643" y="1620798"/>
                  <a:ext cx="206564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𝐷𝑇𝑊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9" name="文字方塊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1643" y="1620798"/>
                  <a:ext cx="2065645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/>
                <p:cNvSpPr txBox="1"/>
                <p:nvPr/>
              </p:nvSpPr>
              <p:spPr>
                <a:xfrm>
                  <a:off x="1403648" y="3687191"/>
                  <a:ext cx="200954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𝐷𝑇𝑊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1" name="文字方塊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648" y="3687191"/>
                  <a:ext cx="2009546" cy="46166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03" b="-157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/>
                <p:cNvSpPr txBox="1"/>
                <p:nvPr/>
              </p:nvSpPr>
              <p:spPr>
                <a:xfrm>
                  <a:off x="6077491" y="3683458"/>
                  <a:ext cx="144683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𝐷𝑇𝑊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2" name="文字方塊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7491" y="3683458"/>
                  <a:ext cx="1446837" cy="46166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266" b="-1710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385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Dynamic Time Warping </a:t>
            </a:r>
            <a:r>
              <a:rPr lang="en-US" altLang="zh-TW" b="1" dirty="0" smtClean="0"/>
              <a:t>Algorithm (2/3)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= {0.3, 0.6, 0.2, 0.7, 0.5, 0.4}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s-ES" altLang="zh-TW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" altLang="zh-TW" i="1" dirty="0" smtClean="0">
                        <a:latin typeface="Cambria Math" panose="02040503050406030204" pitchFamily="18" charset="0"/>
                      </a:rPr>
                      <m:t> = {0.2, 0.4, 0.8, 0.1, 0.4}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6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7781"/>
                  </p:ext>
                </p:extLst>
              </p:nvPr>
            </p:nvGraphicFramePr>
            <p:xfrm>
              <a:off x="457204" y="2780930"/>
              <a:ext cx="8229599" cy="3345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</a:tblGrid>
                  <a:tr h="418154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0.1+0.1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0.2+0.5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0.1+0.4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0.2+0.2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0.4+0.5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0.3+0.6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0.4+0.1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0.5+0.5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0.5+0.3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0.5+0.6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0.5+0.3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1+0.3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0.6+0.3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0.6+0.4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0.8+0.1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1.3+0.2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0.9+0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0.9+0.4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0.9+0.3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0.9+0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7781"/>
                  </p:ext>
                </p:extLst>
              </p:nvPr>
            </p:nvGraphicFramePr>
            <p:xfrm>
              <a:off x="457204" y="2780930"/>
              <a:ext cx="8229599" cy="3345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</a:tblGrid>
                  <a:tr h="418154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102941" r="-401036" b="-6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102941" r="-301036" b="-6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102941" r="-201036" b="-6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102941" r="-101036" b="-6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102941" r="-1036" b="-623529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200000" r="-501036" b="-5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200000" r="-401036" b="-5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200000" r="-301036" b="-5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200000" r="-201036" b="-5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200000" r="-101036" b="-5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200000" r="-1036" b="-514493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300000" r="-501036" b="-4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300000" r="-401036" b="-4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300000" r="-301036" b="-4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300000" r="-201036" b="-4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300000" r="-101036" b="-4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300000" r="-1036" b="-414493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405882" r="-501036" b="-3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405882" r="-401036" b="-3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405882" r="-301036" b="-3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405882" r="-201036" b="-3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405882" r="-101036" b="-3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405882" r="-1036" b="-320588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498551" r="-501036" b="-2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498551" r="-401036" b="-2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498551" r="-301036" b="-2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498551" r="-201036" b="-2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498551" r="-101036" b="-2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498551" r="-1036" b="-215942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607353" r="-501036" b="-1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607353" r="-401036" b="-1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607353" r="-301036" b="-1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607353" r="-201036" b="-1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607353" r="-101036" b="-1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607353" r="-1036" b="-119118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697101" r="-501036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697101" r="-401036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697101" r="-301036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697101" r="-201036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697101" r="-101036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697101" r="-1036" b="-1739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6761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Dynamic Time Warping Algorithm </a:t>
            </a:r>
            <a:r>
              <a:rPr lang="en-US" altLang="zh-TW" b="1" dirty="0" smtClean="0"/>
              <a:t>(3/3)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86" y="1600200"/>
            <a:ext cx="8479427" cy="423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3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Warping Windows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80" y="1600200"/>
            <a:ext cx="8454039" cy="451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Our Algorithm </a:t>
            </a:r>
            <a:r>
              <a:rPr lang="en-US" altLang="zh-TW" b="1" dirty="0" smtClean="0"/>
              <a:t>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Try </a:t>
            </a:r>
            <a:r>
              <a:rPr lang="en-US" altLang="zh-TW" dirty="0"/>
              <a:t>to find a new method without applying </a:t>
            </a:r>
            <a:r>
              <a:rPr lang="en-US" altLang="zh-TW" dirty="0" smtClean="0"/>
              <a:t>the warping </a:t>
            </a:r>
            <a:r>
              <a:rPr lang="en-US" altLang="zh-TW" dirty="0"/>
              <a:t>window but it can still have the property of the point in one of time </a:t>
            </a:r>
            <a:r>
              <a:rPr lang="en-US" altLang="zh-TW" dirty="0" smtClean="0"/>
              <a:t>series will </a:t>
            </a:r>
            <a:r>
              <a:rPr lang="en-US" altLang="zh-TW" dirty="0"/>
              <a:t>not align to the point that is too far away in other time series.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438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Flexible Longest Common </a:t>
            </a:r>
            <a:r>
              <a:rPr lang="en-US" altLang="zh-TW" b="1" dirty="0" smtClean="0"/>
              <a:t>Subsequence (FLCS) (1/3)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內容版面配置區 8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A=</a:t>
                </a:r>
                <a:r>
                  <a:rPr lang="en-US" altLang="zh-TW" dirty="0" err="1" smtClean="0"/>
                  <a:t>aabbccab</a:t>
                </a:r>
                <a:r>
                  <a:rPr lang="en-US" altLang="zh-TW" dirty="0" smtClean="0"/>
                  <a:t>, B=</a:t>
                </a:r>
                <a:r>
                  <a:rPr lang="en-US" altLang="zh-TW" dirty="0" err="1" smtClean="0"/>
                  <a:t>aaccbb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Score(without gap):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9" name="內容版面配置區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00298"/>
              </p:ext>
            </p:extLst>
          </p:nvPr>
        </p:nvGraphicFramePr>
        <p:xfrm>
          <a:off x="899592" y="2204864"/>
          <a:ext cx="60960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90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Flexible Longest Common </a:t>
            </a:r>
            <a:r>
              <a:rPr lang="en-US" altLang="zh-TW" b="1" dirty="0" smtClean="0"/>
              <a:t>Subsequence (FLCS) (2/3)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內容版面配置區 8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A=</a:t>
                </a:r>
                <a:r>
                  <a:rPr lang="en-US" altLang="zh-TW" dirty="0" err="1" smtClean="0"/>
                  <a:t>aabbccab</a:t>
                </a:r>
                <a:r>
                  <a:rPr lang="en-US" altLang="zh-TW" dirty="0" smtClean="0"/>
                  <a:t>, B=</a:t>
                </a:r>
                <a:r>
                  <a:rPr lang="en-US" altLang="zh-TW" dirty="0" err="1" smtClean="0"/>
                  <a:t>aaccbb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en-US" altLang="zh-TW" dirty="0"/>
                  <a:t>Score(with gap):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1+2</m:t>
                            </m:r>
                          </m:den>
                        </m:f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1+2</m:t>
                            </m:r>
                          </m:den>
                        </m:f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9" name="內容版面配置區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26999"/>
              </p:ext>
            </p:extLst>
          </p:nvPr>
        </p:nvGraphicFramePr>
        <p:xfrm>
          <a:off x="899592" y="2204864"/>
          <a:ext cx="60960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73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Flexible Longest Common Subsequence (FLCS</a:t>
            </a:r>
            <a:r>
              <a:rPr lang="en-US" altLang="zh-TW" b="1" dirty="0" smtClean="0"/>
              <a:t>) (3/3)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10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804771"/>
              </p:ext>
            </p:extLst>
          </p:nvPr>
        </p:nvGraphicFramePr>
        <p:xfrm>
          <a:off x="457200" y="1602000"/>
          <a:ext cx="8229600" cy="4525964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62576">
                <a:tc>
                  <a:txBody>
                    <a:bodyPr/>
                    <a:lstStyle/>
                    <a:p>
                      <a:pPr algn="ctr" fontAlgn="t"/>
                      <a:endParaRPr lang="en-US" altLang="zh-TW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zh-TW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a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a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c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c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b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b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576">
                <a:tc>
                  <a:txBody>
                    <a:bodyPr/>
                    <a:lstStyle/>
                    <a:p>
                      <a:pPr algn="ctr" fontAlgn="t"/>
                      <a:endParaRPr lang="en-US" altLang="zh-TW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(0.00,∞) 0-0-0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0-5-0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0-6-0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57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a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(1.00,∞) 0-0-1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0-1-1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57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a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(1.00,∞) 0-1-1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(4.00,∞) 0-0-2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b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(1.00,∞) 1-1-0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(4.00,∞) 2-1-0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(4.00,∞)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(6.33,∞) 2-2-1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(6.33,0) 1-1-0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(6.00,∞) 2-3-1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b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(4.00,∞)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(4.00,∞) 2-3-0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(4.00,∞) 2-4-0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(6.33,0) 1-1-0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(6.00,∞) 2-3-1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(10.67,∞) 2-2-2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c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0-5-0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6.33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(6.33,∞) 2-2-1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(6.33,0) 1-1-0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(6.00,∞) 2-3-1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(6.33,∞) 1-2-0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(10.67,∞) 2-1-0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c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0-6-0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(6.33,0) 1-1-0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(6.00,∞) 2-3-1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</a:rPr>
                        <a:t>(10.67,∞) 2-2-2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0070C0"/>
                          </a:solidFill>
                          <a:effectLst/>
                        </a:rPr>
                        <a:t>(10.67,∞) 2-1-0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(10.67,∞)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a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0-7-0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0-6-1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(4.00,0) 2-5-0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(2.40,∞) 1-4-1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(6.33,∞) 1-2-0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</a:rPr>
                        <a:t>(10.67,∞) 2-1-0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0070C0"/>
                          </a:solidFill>
                          <a:effectLst/>
                        </a:rPr>
                        <a:t>(10.67,∞)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(10.67,∞) 2-3-0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b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0-8-0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(1.00,∞) 1-1-0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(4.00,∞) 2-6-0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(6.33,∞) 1-3-0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(10.67,∞)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13.67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</a:rPr>
                        <a:t>(13.67,∞) 2-1-1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13.67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</a:rPr>
                        <a:t>(13.67,0) 1-1-0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0070C0"/>
                          </a:solidFill>
                          <a:effectLst/>
                        </a:rPr>
                        <a:t>(13.00,∞) 2-2-1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618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Our </a:t>
            </a:r>
            <a:r>
              <a:rPr lang="en-US" altLang="zh-TW" b="1" dirty="0" smtClean="0"/>
              <a:t>Algorithm (2/4)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0.3, 0.6, 0.2, 0.7, 0.5, 0.4</m:t>
                        </m:r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0.2, 0.4, 0.8, 0.1, 0.4</m:t>
                        </m:r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threshold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Score(without gap):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內容版面配置區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079319"/>
              </p:ext>
            </p:extLst>
          </p:nvPr>
        </p:nvGraphicFramePr>
        <p:xfrm>
          <a:off x="899592" y="2708920"/>
          <a:ext cx="64056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828000"/>
                <a:gridCol w="828000"/>
                <a:gridCol w="828000"/>
                <a:gridCol w="828000"/>
                <a:gridCol w="828000"/>
                <a:gridCol w="828000"/>
                <a:gridCol w="82800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0.3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0.6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0.2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0.5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0.4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0.8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0.1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0.4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92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Our </a:t>
            </a:r>
            <a:r>
              <a:rPr lang="en-US" altLang="zh-TW" b="1" dirty="0" smtClean="0"/>
              <a:t>Algorithm (3/4)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0.3, 0.6, 0.2, 0.7, 0.5, 0.4</m:t>
                        </m:r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0.2, 0.4, 0.8, 0.1, 0.4</m:t>
                        </m:r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threshold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Score(with gap):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3×1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1+1</m:t>
                            </m:r>
                          </m:den>
                        </m:f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1+1</m:t>
                            </m:r>
                          </m:den>
                        </m:f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內容版面配置區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6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040988"/>
              </p:ext>
            </p:extLst>
          </p:nvPr>
        </p:nvGraphicFramePr>
        <p:xfrm>
          <a:off x="899592" y="2564904"/>
          <a:ext cx="64056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828000"/>
                <a:gridCol w="828000"/>
                <a:gridCol w="828000"/>
                <a:gridCol w="828000"/>
                <a:gridCol w="828000"/>
                <a:gridCol w="828000"/>
                <a:gridCol w="82800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0.3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0.6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0.2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0.5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0.4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0.8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0.1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0.4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368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Our Algorithm </a:t>
            </a:r>
            <a:r>
              <a:rPr lang="en-US" altLang="zh-TW" b="1" dirty="0" smtClean="0"/>
              <a:t>(4/4)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351770"/>
              </p:ext>
            </p:extLst>
          </p:nvPr>
        </p:nvGraphicFramePr>
        <p:xfrm>
          <a:off x="457202" y="1602000"/>
          <a:ext cx="8229599" cy="4525962"/>
        </p:xfrm>
        <a:graphic>
          <a:graphicData uri="http://schemas.openxmlformats.org/drawingml/2006/table">
            <a:tbl>
              <a:tblPr/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5800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err="1" smtClean="0">
                          <a:effectLst/>
                        </a:rPr>
                        <a:t>thr</a:t>
                      </a:r>
                      <a:r>
                        <a:rPr lang="en-US" altLang="zh-TW" sz="1600" baseline="0" dirty="0" smtClean="0">
                          <a:effectLst/>
                        </a:rPr>
                        <a:t> = 0.2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smtClean="0">
                          <a:effectLst/>
                        </a:rPr>
                        <a:t>0.2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smtClean="0">
                          <a:effectLst/>
                        </a:rPr>
                        <a:t>0.4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smtClean="0">
                          <a:effectLst/>
                        </a:rPr>
                        <a:t>0.8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smtClean="0">
                          <a:effectLst/>
                        </a:rPr>
                        <a:t>0.1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smtClean="0">
                          <a:effectLst/>
                        </a:rPr>
                        <a:t>0.4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0969">
                <a:tc>
                  <a:txBody>
                    <a:bodyPr/>
                    <a:lstStyle/>
                    <a:p>
                      <a:pPr algn="ctr" fontAlgn="t"/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0.00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9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(0.00,∞) 0-0-0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0.00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9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(0.00,∞) 0-1-0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(0.00,∞) 0-2-0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(0.00,∞) 0-3-0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900">
                          <a:effectLst/>
                        </a:rPr>
                        <a:t>(0.00,∞) 0-4-0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900">
                          <a:effectLst/>
                        </a:rPr>
                        <a:t>(0.00,∞) 0-5-0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108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smtClean="0">
                          <a:effectLst/>
                        </a:rPr>
                        <a:t>0.3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(0.00,∞) 0-1-0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(1.00,∞) 0-0-1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1.00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9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(1.00,∞) 0-1-1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(1.00,∞) 1-1-0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(1.00,∞) 0-3-1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(1.00,∞) 1-2-0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(1.00,∞) 0-4-1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(1.00,∞) 1-1-0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83132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smtClean="0">
                          <a:effectLst/>
                        </a:rPr>
                        <a:t>0.6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(0.00,∞) 0-2-0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(1.00,∞) 1-1-0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(4.00,∞) 0-0-2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4.00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9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(4.00,∞) 0-1-2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(4.00,∞) 2-1-0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(4.00,∞) 0-3-2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(2.67,∞) 1-2-1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(1.00,∞) 1-1-0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(4.00,∞) 2-2-0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53108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smtClean="0">
                          <a:effectLst/>
                        </a:rPr>
                        <a:t>0.2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900">
                          <a:effectLst/>
                        </a:rPr>
                        <a:t>(0.00,∞) 0-3-0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(1.00,∞) 0-2-1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(3.00,∞) 1-1-1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(4.00,∞) 2-1-0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(4.00,∞) 2-1-0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9.00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9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(9.00,∞) 0-1-3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9.00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(7.00,∞) 2-1-1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(9.00,∞) 3-1-0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53108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smtClean="0">
                          <a:effectLst/>
                        </a:rPr>
                        <a:t>0.7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900">
                          <a:effectLst/>
                        </a:rPr>
                        <a:t>(0.00,∞) 0-4-0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900">
                          <a:effectLst/>
                        </a:rPr>
                        <a:t>(1.00,∞) 1-1-0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(4.00,∞) 0-2-2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(3.00,∞) 1-1-0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7.00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(7.00,∞) 1-1-2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9.00</a:t>
                      </a:r>
                    </a:p>
                    <a:p>
                      <a:pPr fontAlgn="t"/>
                      <a:r>
                        <a:rPr lang="en-US" altLang="zh-TW" sz="900" dirty="0">
                          <a:solidFill>
                            <a:srgbClr val="0070C0"/>
                          </a:solidFill>
                          <a:effectLst/>
                        </a:rPr>
                        <a:t>(9.00,∞) 3-1-0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16.00</a:t>
                      </a:r>
                    </a:p>
                    <a:p>
                      <a:pPr fontAlgn="t"/>
                      <a:r>
                        <a:rPr lang="en-US" altLang="zh-TW" sz="900" dirty="0">
                          <a:solidFill>
                            <a:srgbClr val="FF0000"/>
                          </a:solidFill>
                          <a:effectLst/>
                        </a:rPr>
                        <a:t>(16.00,∞) 0-1-4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108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smtClean="0">
                          <a:effectLst/>
                        </a:rPr>
                        <a:t>0.5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900">
                          <a:effectLst/>
                        </a:rPr>
                        <a:t>(0.00,∞) 0-5-0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900">
                          <a:effectLst/>
                        </a:rPr>
                        <a:t>(1.00,∞) 0-4-1</a:t>
                      </a:r>
                    </a:p>
                    <a:p>
                      <a:pPr fontAlgn="t"/>
                      <a:r>
                        <a:rPr lang="en-US" altLang="zh-TW" sz="900">
                          <a:effectLst/>
                        </a:rPr>
                        <a:t>(1.00,∞) 1-2-0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(3.00,∞) 1-1-1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(4.00,∞) 2-1-0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7.00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(7.00,∞) 2-1-0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9.00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(9.00,∞) 3-2-0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16.00</a:t>
                      </a:r>
                    </a:p>
                    <a:p>
                      <a:pPr fontAlgn="t"/>
                      <a:r>
                        <a:rPr lang="en-US" altLang="zh-TW" sz="900" dirty="0">
                          <a:solidFill>
                            <a:srgbClr val="0070C0"/>
                          </a:solidFill>
                          <a:effectLst/>
                        </a:rPr>
                        <a:t>(13.00,∞) 3-1-1</a:t>
                      </a:r>
                    </a:p>
                    <a:p>
                      <a:pPr fontAlgn="t"/>
                      <a:r>
                        <a:rPr lang="en-US" altLang="zh-TW" sz="900" dirty="0">
                          <a:solidFill>
                            <a:srgbClr val="FF0000"/>
                          </a:solidFill>
                          <a:effectLst/>
                        </a:rPr>
                        <a:t>(16.00,∞) 4-1-0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83132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600" dirty="0" smtClean="0">
                          <a:effectLst/>
                        </a:rPr>
                        <a:t>0.4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45079" marR="45079" marT="45079" marB="45079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(0.00,∞) 0-6-0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(1.00,∞) 0-5-1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(1.00,∞) 1-1-0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(4.00,∞) 0-4-2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(2.67,∞) 1-2-1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(3.00,∞) 1-1-0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(4.00,∞) 2-2-0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>
                          <a:effectLst/>
                        </a:rPr>
                        <a:t>7.00</a:t>
                      </a:r>
                    </a:p>
                    <a:p>
                      <a:pPr fontAlgn="t"/>
                      <a:r>
                        <a:rPr lang="en-US" altLang="zh-TW" sz="900">
                          <a:effectLst/>
                        </a:rPr>
                        <a:t>(7.00,∞) 2-2-0</a:t>
                      </a:r>
                    </a:p>
                    <a:p>
                      <a:pPr fontAlgn="t"/>
                      <a:r>
                        <a:rPr lang="en-US" altLang="zh-TW" sz="900">
                          <a:effectLst/>
                        </a:rPr>
                        <a:t>(4.00,∞) 2-1-0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9.00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(9.00,∞) 3-3-0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(4.00,∞) 2-2-0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16.00</a:t>
                      </a:r>
                    </a:p>
                    <a:p>
                      <a:pPr fontAlgn="t"/>
                      <a:r>
                        <a:rPr lang="en-US" altLang="zh-TW" sz="900" dirty="0">
                          <a:effectLst/>
                        </a:rPr>
                        <a:t>(12.00,∞) 3-2-1</a:t>
                      </a:r>
                    </a:p>
                    <a:p>
                      <a:pPr fontAlgn="t"/>
                      <a:r>
                        <a:rPr lang="en-US" altLang="zh-TW" sz="900" dirty="0">
                          <a:solidFill>
                            <a:srgbClr val="0070C0"/>
                          </a:solidFill>
                          <a:effectLst/>
                        </a:rPr>
                        <a:t>(13.00,∞) 1-1-0</a:t>
                      </a:r>
                    </a:p>
                    <a:p>
                      <a:pPr fontAlgn="t"/>
                      <a:r>
                        <a:rPr lang="en-US" altLang="zh-TW" sz="900" dirty="0">
                          <a:solidFill>
                            <a:srgbClr val="FF0000"/>
                          </a:solidFill>
                          <a:effectLst/>
                        </a:rPr>
                        <a:t>(16.00,∞) 4-2-0</a:t>
                      </a:r>
                    </a:p>
                  </a:txBody>
                  <a:tcPr marL="45079" marR="45079" marT="45079" marB="4507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33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Experiment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658254"/>
              </p:ext>
            </p:extLst>
          </p:nvPr>
        </p:nvGraphicFramePr>
        <p:xfrm>
          <a:off x="457200" y="1602000"/>
          <a:ext cx="8229602" cy="45252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9095"/>
                <a:gridCol w="1186523"/>
                <a:gridCol w="992572"/>
                <a:gridCol w="1293006"/>
                <a:gridCol w="1289203"/>
                <a:gridCol w="1289203"/>
              </a:tblGrid>
              <a:tr h="323229">
                <a:tc rowSpan="2"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DTW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DDTW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FLCS (without gap)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2322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thr = 0.1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thr = 0.2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thr = 0.3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</a:rPr>
                        <a:t>synthetic_control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0.013</a:t>
                      </a: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(1)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0.357 (3)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0.08 (11)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</a:rPr>
                        <a:t>0.1 (7)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0.24 (9, 11)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Gun_Point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0.12 (1)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(3)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0.207 (3)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0.267 (1)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0.38 (7)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FaceFour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</a:rPr>
                        <a:t>0.159 (1)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0.375 (1)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0.034</a:t>
                      </a: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(1, 3)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0.045 (1)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0.341 (1)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ECG200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0.17 (5)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0.14 (3)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0.15 (3)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0.07</a:t>
                      </a: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(3)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0.13 (7)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Beef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0.433 (1, 3, 7)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0.333</a:t>
                      </a:r>
                      <a:r>
                        <a:rPr lang="zh-TW" alt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(1)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0.567 (7, 9)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0.667 (1,3)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0.633 (13)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Coffee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(11, 13, 15)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(13, 15)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0.214 (15)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0.464 (all)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0.464 (all)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OliveOil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</a:t>
                      </a: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(3)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0.133 (1, 3)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</a:rPr>
                        <a:t>0.7 (11, 13, 15)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0.7 (11, 13, 15)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0.7 (11, 13, 15)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ItalyPowerDemand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0.053</a:t>
                      </a: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(7)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0.085 (1, 3)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0.053</a:t>
                      </a:r>
                      <a:r>
                        <a:rPr lang="zh-TW" alt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(9)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</a:rPr>
                        <a:t>0.206 (1)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0.366 (3, 7)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MoteStrain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 smtClean="0">
                          <a:effectLst/>
                        </a:rPr>
                        <a:t>0.1094</a:t>
                      </a:r>
                      <a:r>
                        <a:rPr lang="zh-TW" altLang="en-US" sz="1400" u="none" strike="noStrike" dirty="0" smtClean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(1)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</a:rPr>
                        <a:t>0.282 (1)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4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0.1086</a:t>
                      </a:r>
                      <a:r>
                        <a:rPr lang="en-US" altLang="zh-TW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0.145 (13)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</a:rPr>
                        <a:t>0.222 (3)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SonyAIBORobot SurfaceII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0.157 (1)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0.126</a:t>
                      </a: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(1)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0.153 (1)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0.151 (3)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</a:rPr>
                        <a:t>0.193 (1)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SonyAIBORobot Surface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0.288 (1)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0.261</a:t>
                      </a: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(1)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0.333 (1)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0.343 (1)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</a:rPr>
                        <a:t>0.306 (1)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TwoLeadECG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>
                          <a:effectLst/>
                        </a:rPr>
                        <a:t>0.069 (1)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0.005</a:t>
                      </a:r>
                      <a:r>
                        <a:rPr lang="zh-TW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zh-TW" sz="1400" u="none" strike="noStrike" dirty="0">
                          <a:effectLst/>
                        </a:rPr>
                        <a:t>(1)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0.141 (13, 15)</a:t>
                      </a:r>
                      <a:endParaRPr lang="zh-TW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0.454 (7)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u="none" strike="noStrike" dirty="0">
                          <a:effectLst/>
                        </a:rPr>
                        <a:t>0.458 (15)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21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3662</TotalTime>
  <Words>1633</Words>
  <Application>Microsoft Office PowerPoint</Application>
  <PresentationFormat>如螢幕大小 (4:3)</PresentationFormat>
  <Paragraphs>522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新細明體</vt:lpstr>
      <vt:lpstr>Arial</vt:lpstr>
      <vt:lpstr>Calibri</vt:lpstr>
      <vt:lpstr>Cambria Math</vt:lpstr>
      <vt:lpstr>Office 佈景主題</vt:lpstr>
      <vt:lpstr>Flexible Dynamic Time Warping for Time Series Classification</vt:lpstr>
      <vt:lpstr>Time Series Classification Problem</vt:lpstr>
      <vt:lpstr>Dynamic Time Warping Algorithm (1/3)</vt:lpstr>
      <vt:lpstr>Dynamic Time Warping Algorithm (2/3)</vt:lpstr>
      <vt:lpstr>Dynamic Time Warping Algorithm (3/3)</vt:lpstr>
      <vt:lpstr>Warping Windows</vt:lpstr>
      <vt:lpstr>Our Algorithm (1/4)</vt:lpstr>
      <vt:lpstr>Flexible Longest Common Subsequence (FLCS) (1/3)</vt:lpstr>
      <vt:lpstr>Flexible Longest Common Subsequence (FLCS) (2/3)</vt:lpstr>
      <vt:lpstr>Flexible Longest Common Subsequence (FLCS) (3/3)</vt:lpstr>
      <vt:lpstr>Our Algorithm (2/4)</vt:lpstr>
      <vt:lpstr>Our Algorithm (3/4)</vt:lpstr>
      <vt:lpstr>Our Algorithm (4/4)</vt:lpstr>
      <vt:lpstr>Experiment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Time Warping</dc:title>
  <dc:creator>Ray</dc:creator>
  <cp:lastModifiedBy>Ray</cp:lastModifiedBy>
  <cp:revision>177</cp:revision>
  <dcterms:created xsi:type="dcterms:W3CDTF">2013-07-28T14:30:33Z</dcterms:created>
  <dcterms:modified xsi:type="dcterms:W3CDTF">2014-06-10T09:27:53Z</dcterms:modified>
</cp:coreProperties>
</file>