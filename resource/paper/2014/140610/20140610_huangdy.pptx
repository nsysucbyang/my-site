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4" r:id="rId6"/>
    <p:sldId id="259" r:id="rId7"/>
    <p:sldId id="260" r:id="rId8"/>
    <p:sldId id="265" r:id="rId9"/>
    <p:sldId id="268" r:id="rId10"/>
    <p:sldId id="269" r:id="rId11"/>
    <p:sldId id="261" r:id="rId12"/>
    <p:sldId id="262" r:id="rId13"/>
    <p:sldId id="266" r:id="rId14"/>
    <p:sldId id="263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44" autoAdjust="0"/>
    <p:restoredTop sz="88645" autoAdjust="0"/>
  </p:normalViewPr>
  <p:slideViewPr>
    <p:cSldViewPr snapToGrid="0">
      <p:cViewPr varScale="1">
        <p:scale>
          <a:sx n="64" d="100"/>
          <a:sy n="64" d="100"/>
        </p:scale>
        <p:origin x="-56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86293-38BC-4031-9F77-2ECF5DEEC23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26183-C6EE-4309-AF5E-82D9D849EC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4490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焦點之前算出</a:t>
            </a:r>
            <a:r>
              <a:rPr lang="en-US" altLang="zh-TW" dirty="0" smtClean="0"/>
              <a:t>p</a:t>
            </a:r>
            <a:r>
              <a:rPr lang="zh-TW" altLang="en-US" dirty="0" smtClean="0"/>
              <a:t>值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26183-C6EE-4309-AF5E-82D9D849EC0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9421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7964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8416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608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6593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238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2237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9111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403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5596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7601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5643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FC346-8DD8-4324-8A38-EB7CA5D90E25}" type="datetimeFigureOut">
              <a:rPr lang="zh-TW" altLang="en-US" smtClean="0"/>
              <a:pPr/>
              <a:t>2014/6/10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924C7-2D5C-48C9-8FD5-0F86B70E1AE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115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b="1" dirty="0"/>
              <a:t>生物序列比對問題上考慮凸形間隔處罰函數的一些</a:t>
            </a:r>
            <a:r>
              <a:rPr lang="en-US" altLang="zh-TW" b="1" dirty="0"/>
              <a:t>O(nm)</a:t>
            </a:r>
            <a:r>
              <a:rPr lang="zh-TW" altLang="zh-TW" b="1" dirty="0" smtClean="0"/>
              <a:t>演算法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r>
              <a:rPr lang="zh-TW" altLang="zh-TW" b="1" dirty="0" smtClean="0"/>
              <a:t>吳哲賢</a:t>
            </a:r>
            <a:r>
              <a:rPr lang="zh-TW" altLang="en-US" b="1" dirty="0" smtClean="0"/>
              <a:t>、</a:t>
            </a:r>
            <a:r>
              <a:rPr lang="zh-TW" altLang="zh-TW" b="1" dirty="0" smtClean="0"/>
              <a:t>王志倫</a:t>
            </a:r>
            <a:endParaRPr lang="en-US" altLang="zh-TW" b="1" dirty="0" smtClean="0"/>
          </a:p>
          <a:p>
            <a:pPr algn="r"/>
            <a:r>
              <a:rPr lang="en-US" altLang="zh-TW" b="1" dirty="0" err="1" smtClean="0"/>
              <a:t>Proc.of</a:t>
            </a:r>
            <a:r>
              <a:rPr lang="en-US" altLang="zh-TW" b="1" dirty="0" smtClean="0"/>
              <a:t> the 19</a:t>
            </a:r>
            <a:r>
              <a:rPr lang="en-US" altLang="zh-TW" b="1" baseline="30000" dirty="0" smtClean="0"/>
              <a:t>th</a:t>
            </a:r>
            <a:r>
              <a:rPr lang="en-US" altLang="zh-TW" b="1" dirty="0" smtClean="0"/>
              <a:t> Workshop on Combinatorial Mathematics and Computation Theory</a:t>
            </a:r>
            <a:endParaRPr lang="zh-TW" altLang="zh-TW" dirty="0"/>
          </a:p>
          <a:p>
            <a:pPr algn="r"/>
            <a:r>
              <a:rPr lang="en-US" altLang="zh-TW" dirty="0" smtClean="0"/>
              <a:t>Presenter: Ding-Yao Huang</a:t>
            </a:r>
          </a:p>
          <a:p>
            <a:pPr algn="r"/>
            <a:r>
              <a:rPr lang="en-US" altLang="zh-TW" dirty="0" smtClean="0"/>
              <a:t>Date: 2014/6/10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351476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摘要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zh-TW" dirty="0"/>
              <a:t>假設</a:t>
            </a:r>
            <a:r>
              <a:rPr lang="en-US" altLang="zh-TW" dirty="0"/>
              <a:t>n</a:t>
            </a:r>
            <a:r>
              <a:rPr lang="zh-TW" altLang="zh-TW" dirty="0"/>
              <a:t>、</a:t>
            </a:r>
            <a:r>
              <a:rPr lang="en-US" altLang="zh-TW" dirty="0"/>
              <a:t>m</a:t>
            </a:r>
            <a:r>
              <a:rPr lang="zh-TW" altLang="zh-TW" dirty="0"/>
              <a:t>為兩序列長度，</a:t>
            </a:r>
            <a:r>
              <a:rPr lang="en-US" altLang="zh-TW" dirty="0"/>
              <a:t>n</a:t>
            </a:r>
            <a:r>
              <a:rPr lang="zh-TW" altLang="zh-TW" dirty="0"/>
              <a:t>≧</a:t>
            </a:r>
            <a:r>
              <a:rPr lang="en-US" altLang="zh-TW" dirty="0"/>
              <a:t>m</a:t>
            </a:r>
            <a:r>
              <a:rPr lang="zh-TW" altLang="zh-TW" dirty="0"/>
              <a:t>。兩條</a:t>
            </a:r>
            <a:r>
              <a:rPr lang="en-US" altLang="zh-TW" dirty="0"/>
              <a:t>DNA</a:t>
            </a:r>
            <a:r>
              <a:rPr lang="zh-TW" altLang="zh-TW" dirty="0"/>
              <a:t>或胺基酸的生物序列比對問題上，不考慮間隔處罰函數或只考慮線性間隔處罰函數，其演算法的時間複雜度為</a:t>
            </a:r>
            <a:r>
              <a:rPr lang="en-US" altLang="zh-TW" dirty="0"/>
              <a:t>O(nm)</a:t>
            </a:r>
            <a:r>
              <a:rPr lang="zh-TW" altLang="zh-TW" dirty="0"/>
              <a:t>；考慮任意間隔處罰函數，時間複雜度增為</a:t>
            </a:r>
            <a:r>
              <a:rPr lang="en-US" altLang="zh-TW" dirty="0"/>
              <a:t>O(nm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zh-TW" dirty="0" smtClean="0"/>
              <a:t>若</a:t>
            </a:r>
            <a:r>
              <a:rPr lang="zh-TW" altLang="zh-TW" dirty="0"/>
              <a:t>考慮生物上的意義，凸形間隔處罰函數：</a:t>
            </a:r>
            <a:r>
              <a:rPr lang="en-US" altLang="zh-TW" dirty="0" smtClean="0"/>
              <a:t>g(k)-g(k-1)</a:t>
            </a:r>
            <a:r>
              <a:rPr lang="zh-TW" altLang="zh-TW" dirty="0"/>
              <a:t>≧</a:t>
            </a:r>
            <a:r>
              <a:rPr lang="en-US" altLang="zh-TW" dirty="0" smtClean="0"/>
              <a:t>g(k+1)-g(k)</a:t>
            </a:r>
            <a:r>
              <a:rPr lang="zh-TW" altLang="zh-TW" dirty="0"/>
              <a:t>，其中</a:t>
            </a:r>
            <a:r>
              <a:rPr lang="en-US" altLang="zh-TW" dirty="0"/>
              <a:t>k</a:t>
            </a:r>
            <a:r>
              <a:rPr lang="zh-TW" altLang="zh-TW" dirty="0"/>
              <a:t>為間隔長度，是一個符合條件的良好選擇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r>
              <a:rPr lang="zh-TW" altLang="zh-TW" dirty="0" smtClean="0"/>
              <a:t>針對</a:t>
            </a:r>
            <a:r>
              <a:rPr lang="zh-TW" altLang="zh-TW" dirty="0"/>
              <a:t>凸形間隔處罰函數，</a:t>
            </a:r>
            <a:r>
              <a:rPr lang="en-US" altLang="zh-TW" dirty="0"/>
              <a:t>Myers</a:t>
            </a:r>
            <a:r>
              <a:rPr lang="zh-TW" altLang="zh-TW" dirty="0"/>
              <a:t>及</a:t>
            </a:r>
            <a:r>
              <a:rPr lang="en-US" altLang="zh-TW" dirty="0"/>
              <a:t>Miller</a:t>
            </a:r>
            <a:r>
              <a:rPr lang="zh-TW" altLang="zh-TW" dirty="0"/>
              <a:t>於</a:t>
            </a:r>
            <a:r>
              <a:rPr lang="en-US" altLang="zh-TW" dirty="0"/>
              <a:t>1988</a:t>
            </a:r>
            <a:r>
              <a:rPr lang="zh-TW" altLang="zh-TW" dirty="0"/>
              <a:t>年首先提出時間複雜度為</a:t>
            </a:r>
            <a:r>
              <a:rPr lang="en-US" altLang="zh-TW" dirty="0"/>
              <a:t>O(</a:t>
            </a:r>
            <a:r>
              <a:rPr lang="en-US" altLang="zh-TW" dirty="0" err="1"/>
              <a:t>nmlogm</a:t>
            </a:r>
            <a:r>
              <a:rPr lang="en-US" altLang="zh-TW" dirty="0"/>
              <a:t>)</a:t>
            </a:r>
            <a:r>
              <a:rPr lang="zh-TW" altLang="zh-TW" dirty="0"/>
              <a:t>的方法，並找出一個特殊的凸形間隔處罰函數，對數函數：</a:t>
            </a:r>
            <a:r>
              <a:rPr lang="en-US" altLang="zh-TW" dirty="0"/>
              <a:t>g(k)=</a:t>
            </a:r>
            <a:r>
              <a:rPr lang="en-US" altLang="zh-TW" dirty="0" err="1"/>
              <a:t>A+Blogk</a:t>
            </a:r>
            <a:r>
              <a:rPr lang="zh-TW" altLang="zh-TW" dirty="0"/>
              <a:t>，提出</a:t>
            </a:r>
            <a:r>
              <a:rPr lang="en-US" altLang="zh-TW" dirty="0"/>
              <a:t>O(nm)</a:t>
            </a:r>
            <a:r>
              <a:rPr lang="zh-TW" altLang="zh-TW" dirty="0"/>
              <a:t>的演算法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zh-TW" dirty="0" smtClean="0"/>
              <a:t>本</a:t>
            </a:r>
            <a:r>
              <a:rPr lang="zh-TW" altLang="zh-TW" dirty="0"/>
              <a:t>論文針對凸形間隔處罰函數，首先推導出擁有</a:t>
            </a:r>
            <a:r>
              <a:rPr lang="en-US" altLang="zh-TW" dirty="0"/>
              <a:t>O(nm)</a:t>
            </a:r>
            <a:r>
              <a:rPr lang="zh-TW" altLang="zh-TW" dirty="0"/>
              <a:t>演算法的凸形間隔處罰函數條件，並提出一些符合條件的建議函數。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739222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2464"/>
            <a:ext cx="8336756" cy="1325563"/>
          </a:xfrm>
        </p:spPr>
        <p:txBody>
          <a:bodyPr/>
          <a:lstStyle/>
          <a:p>
            <a:r>
              <a:rPr lang="zh-TW" altLang="en-US" b="1" dirty="0" smtClean="0"/>
              <a:t>簡介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/>
              <a:t>Constant gap weight</a:t>
            </a:r>
            <a:r>
              <a:rPr lang="zh-TW" altLang="en-US" sz="3200" dirty="0"/>
              <a:t> </a:t>
            </a:r>
            <a:endParaRPr lang="en-US" altLang="zh-TW" sz="3200" dirty="0"/>
          </a:p>
          <a:p>
            <a:pPr marL="457200" lvl="1" indent="0">
              <a:buNone/>
            </a:pPr>
            <a:r>
              <a:rPr lang="en-US" altLang="zh-TW" sz="3200" b="1" dirty="0" smtClean="0"/>
              <a:t>O(nm</a:t>
            </a:r>
            <a:r>
              <a:rPr lang="en-US" altLang="zh-TW" sz="3200" b="1" dirty="0"/>
              <a:t>)</a:t>
            </a:r>
          </a:p>
          <a:p>
            <a:endParaRPr lang="en-US" altLang="zh-TW" sz="3600" dirty="0"/>
          </a:p>
          <a:p>
            <a:r>
              <a:rPr lang="en-US" altLang="zh-TW" sz="3600" dirty="0" smtClean="0"/>
              <a:t>Ex: </a:t>
            </a:r>
            <a:endParaRPr lang="en-US" altLang="zh-TW" sz="3600" dirty="0"/>
          </a:p>
          <a:p>
            <a:pPr marL="457200" lvl="1" indent="0">
              <a:buNone/>
            </a:pPr>
            <a:r>
              <a:rPr lang="en-US" altLang="zh-TW" sz="3200" dirty="0" err="1" smtClean="0">
                <a:latin typeface="Courier New" panose="02070309020205020404" pitchFamily="49" charset="0"/>
              </a:rPr>
              <a:t>abbcccdd</a:t>
            </a:r>
            <a:endParaRPr lang="en-US" altLang="zh-TW" sz="3200" dirty="0"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TW" sz="3200" dirty="0" err="1">
                <a:latin typeface="Courier New" panose="02070309020205020404" pitchFamily="49" charset="0"/>
              </a:rPr>
              <a:t>abb</a:t>
            </a:r>
            <a:r>
              <a:rPr lang="en-US" altLang="zh-TW" sz="3200" dirty="0">
                <a:latin typeface="Courier New" panose="02070309020205020404" pitchFamily="49" charset="0"/>
              </a:rPr>
              <a:t>-</a:t>
            </a:r>
            <a:r>
              <a:rPr lang="en-US" altLang="zh-TW" sz="3200" dirty="0" smtClean="0">
                <a:latin typeface="Courier New" panose="02070309020205020404" pitchFamily="49" charset="0"/>
              </a:rPr>
              <a:t>--</a:t>
            </a:r>
            <a:r>
              <a:rPr lang="en-US" altLang="zh-TW" sz="3200" dirty="0" err="1" smtClean="0">
                <a:latin typeface="Courier New" panose="02070309020205020404" pitchFamily="49" charset="0"/>
              </a:rPr>
              <a:t>dd</a:t>
            </a:r>
            <a:endParaRPr lang="en-US" altLang="zh-TW" dirty="0" smtClean="0"/>
          </a:p>
          <a:p>
            <a:endParaRPr lang="en-US" altLang="zh-TW" sz="3600" b="1" dirty="0"/>
          </a:p>
        </p:txBody>
      </p:sp>
      <p:grpSp>
        <p:nvGrpSpPr>
          <p:cNvPr id="6" name="Group 10"/>
          <p:cNvGrpSpPr>
            <a:grpSpLocks/>
          </p:cNvGrpSpPr>
          <p:nvPr/>
        </p:nvGrpSpPr>
        <p:grpSpPr bwMode="auto">
          <a:xfrm>
            <a:off x="4155449" y="1825625"/>
            <a:ext cx="6034538" cy="2042739"/>
            <a:chOff x="791252" y="3429000"/>
            <a:chExt cx="5352373" cy="1584325"/>
          </a:xfrm>
        </p:grpSpPr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2214563" y="3429000"/>
              <a:ext cx="576262" cy="1584325"/>
            </a:xfrm>
            <a:prstGeom prst="leftBrace">
              <a:avLst>
                <a:gd name="adj1" fmla="val 17909"/>
                <a:gd name="adj2" fmla="val 4465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 altLang="zh-TW"/>
            </a:p>
          </p:txBody>
        </p: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791252" y="3929063"/>
              <a:ext cx="1852613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= max </a:t>
              </a:r>
              <a:endParaRPr lang="he-IL" altLang="zh-TW" sz="2400" dirty="0"/>
            </a:p>
          </p:txBody>
        </p:sp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928938" y="3429000"/>
              <a:ext cx="3214687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F(i-1,j-1)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+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s(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,y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he-IL" altLang="zh-TW" sz="2400" dirty="0"/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2928938" y="3929063"/>
              <a:ext cx="2714625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F(i-1,j)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g</a:t>
              </a:r>
              <a:endParaRPr lang="he-IL" altLang="zh-TW" sz="2400" dirty="0"/>
            </a:p>
          </p:txBody>
        </p:sp>
        <p:sp>
          <p:nvSpPr>
            <p:cNvPr id="11" name="Rectangle 17"/>
            <p:cNvSpPr>
              <a:spLocks noChangeArrowheads="1"/>
            </p:cNvSpPr>
            <p:nvPr/>
          </p:nvSpPr>
          <p:spPr bwMode="auto">
            <a:xfrm>
              <a:off x="2928938" y="4500563"/>
              <a:ext cx="2571750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F(i,j-1)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  </a:t>
              </a:r>
              <a:endParaRPr lang="he-IL" altLang="zh-TW" sz="2400" dirty="0"/>
            </a:p>
          </p:txBody>
        </p:sp>
      </p:grp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094842" y="5209527"/>
            <a:ext cx="30606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 dirty="0" smtClean="0"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1+2-3+2=2</a:t>
            </a:r>
            <a:endParaRPr lang="he-IL" altLang="zh-TW" sz="2400" dirty="0"/>
          </a:p>
        </p:txBody>
      </p:sp>
    </p:spTree>
    <p:extLst>
      <p:ext uri="{BB962C8B-B14F-4D97-AF65-F5344CB8AC3E}">
        <p14:creationId xmlns:p14="http://schemas.microsoft.com/office/powerpoint/2010/main" xmlns="" val="11013392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簡介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93960536"/>
              </p:ext>
            </p:extLst>
          </p:nvPr>
        </p:nvGraphicFramePr>
        <p:xfrm>
          <a:off x="835129" y="2002606"/>
          <a:ext cx="505282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832"/>
                <a:gridCol w="721832"/>
                <a:gridCol w="721832"/>
                <a:gridCol w="721832"/>
                <a:gridCol w="721832"/>
                <a:gridCol w="721832"/>
                <a:gridCol w="721832"/>
              </a:tblGrid>
              <a:tr h="29292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-5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2929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 flipV="1">
            <a:off x="4984955" y="5176684"/>
            <a:ext cx="353961" cy="32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4232787" y="4748980"/>
            <a:ext cx="339213" cy="294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4070555" y="4424516"/>
            <a:ext cx="0" cy="206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4104968" y="4060723"/>
            <a:ext cx="0" cy="206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4104968" y="3706762"/>
            <a:ext cx="0" cy="206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3598606" y="3362632"/>
            <a:ext cx="206478" cy="147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2875935" y="2983860"/>
            <a:ext cx="206478" cy="16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 flipV="1">
            <a:off x="2168013" y="2617609"/>
            <a:ext cx="221226" cy="17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10"/>
          <p:cNvGrpSpPr>
            <a:grpSpLocks/>
          </p:cNvGrpSpPr>
          <p:nvPr/>
        </p:nvGrpSpPr>
        <p:grpSpPr bwMode="auto">
          <a:xfrm>
            <a:off x="4070555" y="274986"/>
            <a:ext cx="6034538" cy="2042739"/>
            <a:chOff x="791252" y="3429000"/>
            <a:chExt cx="5352373" cy="1584325"/>
          </a:xfrm>
        </p:grpSpPr>
        <p:sp>
          <p:nvSpPr>
            <p:cNvPr id="27" name="AutoShape 4"/>
            <p:cNvSpPr>
              <a:spLocks/>
            </p:cNvSpPr>
            <p:nvPr/>
          </p:nvSpPr>
          <p:spPr bwMode="auto">
            <a:xfrm>
              <a:off x="2214563" y="3429000"/>
              <a:ext cx="576262" cy="1584325"/>
            </a:xfrm>
            <a:prstGeom prst="leftBrace">
              <a:avLst>
                <a:gd name="adj1" fmla="val 17909"/>
                <a:gd name="adj2" fmla="val 4465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 altLang="zh-TW"/>
            </a:p>
          </p:txBody>
        </p: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>
              <a:off x="791252" y="3929063"/>
              <a:ext cx="1852613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= max </a:t>
              </a:r>
              <a:endParaRPr lang="he-IL" altLang="zh-TW" sz="2400" dirty="0"/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928938" y="3429000"/>
              <a:ext cx="3214687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F(i-1,j-1)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+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s(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,y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he-IL" altLang="zh-TW" sz="2400" dirty="0"/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2928938" y="3929063"/>
              <a:ext cx="2714625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F(i-1,j)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g</a:t>
              </a:r>
              <a:endParaRPr lang="he-IL" altLang="zh-TW" sz="2400" dirty="0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2928938" y="4500563"/>
              <a:ext cx="2571750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F(i,j-1)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  </a:t>
              </a:r>
              <a:endParaRPr lang="he-IL" altLang="zh-TW" sz="2400" dirty="0"/>
            </a:p>
          </p:txBody>
        </p:sp>
      </p:grpSp>
      <p:sp>
        <p:nvSpPr>
          <p:cNvPr id="32" name="文字方塊 31"/>
          <p:cNvSpPr txBox="1"/>
          <p:nvPr/>
        </p:nvSpPr>
        <p:spPr>
          <a:xfrm>
            <a:off x="6324975" y="3137393"/>
            <a:ext cx="2279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Match</a:t>
            </a:r>
            <a:r>
              <a:rPr lang="zh-TW" altLang="en-US" dirty="0" smtClean="0"/>
              <a:t>           </a:t>
            </a:r>
            <a:r>
              <a:rPr lang="en-US" altLang="zh-TW" dirty="0" smtClean="0"/>
              <a:t>: 1</a:t>
            </a:r>
          </a:p>
          <a:p>
            <a:r>
              <a:rPr lang="en-US" altLang="zh-TW" dirty="0" smtClean="0"/>
              <a:t>Mismatch    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0</a:t>
            </a:r>
          </a:p>
          <a:p>
            <a:r>
              <a:rPr lang="en-US" altLang="zh-TW" dirty="0" smtClean="0"/>
              <a:t>Gap penalty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42454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簡介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/>
              <a:t>Affine gap weight (</a:t>
            </a:r>
            <a:r>
              <a:rPr lang="en-US" altLang="zh-TW" dirty="0"/>
              <a:t>g(k)=</a:t>
            </a:r>
            <a:r>
              <a:rPr lang="en-US" altLang="zh-TW" dirty="0" err="1"/>
              <a:t>A+Bk</a:t>
            </a:r>
            <a:r>
              <a:rPr lang="en-US" altLang="zh-TW" sz="3200" dirty="0"/>
              <a:t>)</a:t>
            </a:r>
          </a:p>
          <a:p>
            <a:pPr lvl="1"/>
            <a:r>
              <a:rPr lang="en-US" altLang="zh-TW" sz="3200" b="1" dirty="0"/>
              <a:t>O(nm)</a:t>
            </a:r>
          </a:p>
          <a:p>
            <a:pPr lvl="1"/>
            <a:endParaRPr lang="en-US" altLang="zh-TW" b="1" dirty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sz="3600" dirty="0"/>
              <a:t>Gap </a:t>
            </a:r>
          </a:p>
          <a:p>
            <a:pPr lvl="1"/>
            <a:r>
              <a:rPr lang="en-US" altLang="zh-TW" sz="3200" dirty="0" err="1">
                <a:latin typeface="Courier New" panose="02070309020205020404" pitchFamily="49" charset="0"/>
              </a:rPr>
              <a:t>abbcccddddeeeee</a:t>
            </a:r>
            <a:r>
              <a:rPr lang="en-US" altLang="zh-TW" sz="3200" dirty="0">
                <a:latin typeface="Courier New" panose="02070309020205020404" pitchFamily="49" charset="0"/>
              </a:rPr>
              <a:t>------</a:t>
            </a:r>
          </a:p>
          <a:p>
            <a:pPr lvl="1"/>
            <a:r>
              <a:rPr lang="en-US" altLang="zh-TW" sz="3200" dirty="0" err="1">
                <a:latin typeface="Courier New" panose="02070309020205020404" pitchFamily="49" charset="0"/>
              </a:rPr>
              <a:t>abb</a:t>
            </a:r>
            <a:r>
              <a:rPr lang="en-US" altLang="zh-TW" sz="3200" dirty="0">
                <a:latin typeface="Courier New" panose="02070309020205020404" pitchFamily="49" charset="0"/>
              </a:rPr>
              <a:t>---</a:t>
            </a:r>
            <a:r>
              <a:rPr lang="en-US" altLang="zh-TW" sz="3200" dirty="0" err="1">
                <a:latin typeface="Courier New" panose="02070309020205020404" pitchFamily="49" charset="0"/>
              </a:rPr>
              <a:t>ddddeeeeeffffff</a:t>
            </a:r>
            <a:endParaRPr lang="en-US" altLang="zh-TW" sz="3200" dirty="0"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16" name="框架 15"/>
          <p:cNvSpPr/>
          <p:nvPr/>
        </p:nvSpPr>
        <p:spPr>
          <a:xfrm>
            <a:off x="2046323" y="4227799"/>
            <a:ext cx="893135" cy="123337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框架 17"/>
          <p:cNvSpPr/>
          <p:nvPr/>
        </p:nvSpPr>
        <p:spPr>
          <a:xfrm>
            <a:off x="4934515" y="4227799"/>
            <a:ext cx="1812995" cy="123337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00067" y="1960373"/>
            <a:ext cx="271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A:  Gap open  </a:t>
            </a:r>
          </a:p>
          <a:p>
            <a:r>
              <a:rPr lang="en-US" altLang="zh-TW" dirty="0" smtClean="0"/>
              <a:t>B:  Gap extension</a:t>
            </a:r>
          </a:p>
          <a:p>
            <a:r>
              <a:rPr lang="en-US" altLang="zh-TW" dirty="0" smtClean="0"/>
              <a:t>k:  the length of gap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88208" y="5853797"/>
            <a:ext cx="271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Gap open penalty: -3</a:t>
            </a:r>
          </a:p>
          <a:p>
            <a:r>
              <a:rPr lang="en-US" altLang="zh-TW" dirty="0" smtClean="0"/>
              <a:t>Gap extension:-1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4021060" y="5853797"/>
            <a:ext cx="323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1+2-(3+1*3)+4+5-(3+1*5) </a:t>
            </a:r>
          </a:p>
          <a:p>
            <a:r>
              <a:rPr lang="en-US" altLang="zh-TW" dirty="0" smtClean="0"/>
              <a:t>= 12-14= -2</a:t>
            </a:r>
          </a:p>
        </p:txBody>
      </p:sp>
    </p:spTree>
    <p:extLst>
      <p:ext uri="{BB962C8B-B14F-4D97-AF65-F5344CB8AC3E}">
        <p14:creationId xmlns:p14="http://schemas.microsoft.com/office/powerpoint/2010/main" xmlns="" val="5018321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考慮任意間隔處罰函數的</a:t>
            </a:r>
            <a:r>
              <a:rPr lang="en-US" altLang="zh-TW" b="1" dirty="0"/>
              <a:t>O(nm</a:t>
            </a:r>
            <a:r>
              <a:rPr lang="en-US" altLang="zh-TW" b="1" baseline="30000" dirty="0"/>
              <a:t>2</a:t>
            </a:r>
            <a:r>
              <a:rPr lang="en-US" altLang="zh-TW" b="1" dirty="0"/>
              <a:t>)</a:t>
            </a:r>
            <a:r>
              <a:rPr lang="zh-TW" altLang="zh-TW" b="1" dirty="0"/>
              <a:t>演算法</a:t>
            </a:r>
            <a:endParaRPr lang="zh-TW" altLang="zh-TW" dirty="0"/>
          </a:p>
        </p:txBody>
      </p:sp>
      <p:graphicFrame>
        <p:nvGraphicFramePr>
          <p:cNvPr id="13" name="內容版面配置區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073113749"/>
              </p:ext>
            </p:extLst>
          </p:nvPr>
        </p:nvGraphicFramePr>
        <p:xfrm>
          <a:off x="1144689" y="4836812"/>
          <a:ext cx="4525035" cy="19507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5007"/>
                <a:gridCol w="905007"/>
                <a:gridCol w="905007"/>
                <a:gridCol w="905007"/>
                <a:gridCol w="905007"/>
              </a:tblGrid>
              <a:tr h="38585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26777" y="1784117"/>
            <a:ext cx="6604467" cy="2042739"/>
            <a:chOff x="285750" y="3429000"/>
            <a:chExt cx="5857875" cy="1584325"/>
          </a:xfrm>
        </p:grpSpPr>
        <p:sp>
          <p:nvSpPr>
            <p:cNvPr id="5" name="AutoShape 4"/>
            <p:cNvSpPr>
              <a:spLocks/>
            </p:cNvSpPr>
            <p:nvPr/>
          </p:nvSpPr>
          <p:spPr bwMode="auto">
            <a:xfrm>
              <a:off x="2214563" y="3429000"/>
              <a:ext cx="576262" cy="1584325"/>
            </a:xfrm>
            <a:prstGeom prst="leftBrace">
              <a:avLst>
                <a:gd name="adj1" fmla="val 17909"/>
                <a:gd name="adj2" fmla="val 4465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 altLang="zh-TW"/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5750" y="3857625"/>
              <a:ext cx="1852613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= max </a:t>
              </a:r>
              <a:endParaRPr lang="he-IL" altLang="zh-TW" sz="2400" dirty="0"/>
            </a:p>
          </p:txBody>
        </p:sp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928938" y="3429000"/>
              <a:ext cx="3214687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V(i-1,j-1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+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s(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,y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he-IL" altLang="zh-TW" sz="2400" dirty="0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2928938" y="3929063"/>
              <a:ext cx="2714625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max(V(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k,j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-k)) </a:t>
              </a:r>
              <a:endParaRPr lang="he-IL" altLang="zh-TW" sz="2400" dirty="0"/>
            </a:p>
          </p:txBody>
        </p:sp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2928938" y="4500563"/>
              <a:ext cx="2571750" cy="35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max(V(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i,k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g(j-k) ) </a:t>
              </a:r>
              <a:endParaRPr lang="he-IL" altLang="zh-TW" sz="2400" dirty="0"/>
            </a:p>
          </p:txBody>
        </p:sp>
      </p:grp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3687470" y="2881111"/>
            <a:ext cx="1147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k=0,…,i-1</a:t>
            </a:r>
            <a:endParaRPr lang="he-IL" altLang="zh-TW" dirty="0"/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676060" y="3625538"/>
            <a:ext cx="1147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k=0,…,j-1</a:t>
            </a:r>
            <a:endParaRPr lang="he-IL" altLang="zh-TW" dirty="0"/>
          </a:p>
        </p:txBody>
      </p:sp>
      <p:sp>
        <p:nvSpPr>
          <p:cNvPr id="14" name="框架 13"/>
          <p:cNvSpPr/>
          <p:nvPr/>
        </p:nvSpPr>
        <p:spPr>
          <a:xfrm>
            <a:off x="4706411" y="6321552"/>
            <a:ext cx="1025264" cy="536448"/>
          </a:xfrm>
          <a:prstGeom prst="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85126" y="2470378"/>
            <a:ext cx="2692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O(n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m)</a:t>
            </a:r>
          </a:p>
        </p:txBody>
      </p:sp>
      <p:sp>
        <p:nvSpPr>
          <p:cNvPr id="17" name="矩形 16"/>
          <p:cNvSpPr/>
          <p:nvPr/>
        </p:nvSpPr>
        <p:spPr>
          <a:xfrm>
            <a:off x="6478121" y="1788146"/>
            <a:ext cx="2692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O(nm)</a:t>
            </a:r>
          </a:p>
        </p:txBody>
      </p:sp>
      <p:sp>
        <p:nvSpPr>
          <p:cNvPr id="19" name="矩形 18"/>
          <p:cNvSpPr/>
          <p:nvPr/>
        </p:nvSpPr>
        <p:spPr>
          <a:xfrm>
            <a:off x="6507398" y="3084129"/>
            <a:ext cx="2692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O(nm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)</a:t>
            </a:r>
          </a:p>
        </p:txBody>
      </p:sp>
      <p:sp>
        <p:nvSpPr>
          <p:cNvPr id="20" name="矩形 19"/>
          <p:cNvSpPr/>
          <p:nvPr/>
        </p:nvSpPr>
        <p:spPr>
          <a:xfrm>
            <a:off x="6093061" y="5279970"/>
            <a:ext cx="2692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O(nm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 + n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m)</a:t>
            </a:r>
          </a:p>
        </p:txBody>
      </p:sp>
      <p:sp>
        <p:nvSpPr>
          <p:cNvPr id="23" name="矩形 22"/>
          <p:cNvSpPr/>
          <p:nvPr/>
        </p:nvSpPr>
        <p:spPr>
          <a:xfrm>
            <a:off x="3213258" y="4221910"/>
            <a:ext cx="7816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m</a:t>
            </a:r>
          </a:p>
        </p:txBody>
      </p:sp>
      <p:sp>
        <p:nvSpPr>
          <p:cNvPr id="24" name="矩形 23"/>
          <p:cNvSpPr/>
          <p:nvPr/>
        </p:nvSpPr>
        <p:spPr>
          <a:xfrm>
            <a:off x="426777" y="5864745"/>
            <a:ext cx="6514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n</a:t>
            </a:r>
          </a:p>
        </p:txBody>
      </p:sp>
      <p:cxnSp>
        <p:nvCxnSpPr>
          <p:cNvPr id="26" name="直線接點 25"/>
          <p:cNvCxnSpPr/>
          <p:nvPr/>
        </p:nvCxnSpPr>
        <p:spPr>
          <a:xfrm flipV="1">
            <a:off x="1136588" y="4528352"/>
            <a:ext cx="310116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5324181" y="4514297"/>
            <a:ext cx="366781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752499" y="6449519"/>
            <a:ext cx="366781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flipV="1">
            <a:off x="847737" y="4807827"/>
            <a:ext cx="310116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06344" y="3110466"/>
            <a:ext cx="14382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F(i,0) = -g(</a:t>
            </a:r>
            <a:r>
              <a:rPr lang="en-US" altLang="zh-TW" sz="2000" dirty="0" err="1"/>
              <a:t>i</a:t>
            </a:r>
            <a:r>
              <a:rPr lang="en-US" altLang="zh-TW" sz="2000" dirty="0"/>
              <a:t>),</a:t>
            </a:r>
            <a:endParaRPr lang="zh-TW" altLang="zh-TW" sz="2000" dirty="0"/>
          </a:p>
          <a:p>
            <a:r>
              <a:rPr lang="en-US" altLang="zh-TW" sz="2000" dirty="0"/>
              <a:t>F(0,j) = -g(j)</a:t>
            </a:r>
            <a:endParaRPr lang="zh-TW" altLang="zh-TW" sz="2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039775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考慮凸形間隔處罰函數的</a:t>
            </a:r>
            <a:r>
              <a:rPr lang="en-US" altLang="zh-TW" b="1" dirty="0"/>
              <a:t>O(</a:t>
            </a:r>
            <a:r>
              <a:rPr lang="en-US" altLang="zh-TW" b="1" dirty="0" err="1"/>
              <a:t>nmlogm</a:t>
            </a:r>
            <a:r>
              <a:rPr lang="en-US" altLang="zh-TW" b="1" dirty="0"/>
              <a:t>)</a:t>
            </a:r>
            <a:r>
              <a:rPr lang="zh-TW" altLang="zh-TW" b="1" dirty="0"/>
              <a:t>演算法</a:t>
            </a:r>
            <a:endParaRPr lang="zh-TW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g(k)-g(k-1)</a:t>
            </a:r>
            <a:r>
              <a:rPr lang="zh-TW" altLang="zh-TW" dirty="0" smtClean="0"/>
              <a:t>≧</a:t>
            </a:r>
            <a:r>
              <a:rPr lang="en-US" altLang="zh-TW" dirty="0" smtClean="0"/>
              <a:t>g(k+1)-g(k)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19" y="3428536"/>
            <a:ext cx="2200275" cy="2286000"/>
          </a:xfrm>
          <a:prstGeom prst="rect">
            <a:avLst/>
          </a:prstGeom>
        </p:spPr>
      </p:pic>
      <p:grpSp>
        <p:nvGrpSpPr>
          <p:cNvPr id="27" name="群組 26"/>
          <p:cNvGrpSpPr/>
          <p:nvPr/>
        </p:nvGrpSpPr>
        <p:grpSpPr>
          <a:xfrm>
            <a:off x="2604662" y="3289598"/>
            <a:ext cx="6604467" cy="2311234"/>
            <a:chOff x="2604662" y="3289598"/>
            <a:chExt cx="6604467" cy="2311234"/>
          </a:xfrm>
        </p:grpSpPr>
        <p:sp>
          <p:nvSpPr>
            <p:cNvPr id="19" name="AutoShape 4"/>
            <p:cNvSpPr>
              <a:spLocks/>
            </p:cNvSpPr>
            <p:nvPr/>
          </p:nvSpPr>
          <p:spPr bwMode="auto">
            <a:xfrm>
              <a:off x="4779304" y="3289598"/>
              <a:ext cx="649707" cy="2042739"/>
            </a:xfrm>
            <a:prstGeom prst="leftBrace">
              <a:avLst>
                <a:gd name="adj1" fmla="val 17909"/>
                <a:gd name="adj2" fmla="val 4465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 altLang="zh-TW"/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604662" y="3842243"/>
              <a:ext cx="20887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= max </a:t>
              </a:r>
              <a:endParaRPr lang="he-IL" altLang="zh-TW" sz="2400" dirty="0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5584727" y="3289598"/>
              <a:ext cx="3624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V(i-1,j-1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+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s(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,y</a:t>
              </a:r>
              <a:r>
                <a:rPr lang="en-US" altLang="zh-TW" sz="2400" baseline="-250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he-IL" altLang="zh-TW" sz="2400" dirty="0"/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5584727" y="3934351"/>
              <a:ext cx="30606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max(V(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k,j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g(</a:t>
              </a:r>
              <a:r>
                <a:rPr lang="en-US" altLang="zh-TW" sz="2400" dirty="0" err="1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-k)) </a:t>
              </a:r>
              <a:endParaRPr lang="he-IL" altLang="zh-TW" sz="2400" dirty="0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5584727" y="4671211"/>
              <a:ext cx="28995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max(V(</a:t>
              </a:r>
              <a:r>
                <a:rPr lang="en-US" altLang="zh-TW" sz="2400" dirty="0" err="1" smtClean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i,k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zh-TW" sz="2400" dirty="0" smtClean="0">
                  <a:ea typeface="新細明體" panose="02020500000000000000" pitchFamily="18" charset="-120"/>
                  <a:cs typeface="Times New Roman" panose="02020603050405020304" pitchFamily="18" charset="0"/>
                </a:rPr>
                <a:t>- </a:t>
              </a:r>
              <a:r>
                <a:rPr lang="en-US" altLang="zh-TW" sz="2400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g(j-k) ) </a:t>
              </a:r>
              <a:endParaRPr lang="he-IL" altLang="zh-TW" sz="2400" dirty="0"/>
            </a:p>
          </p:txBody>
        </p:sp>
        <p:sp>
          <p:nvSpPr>
            <p:cNvPr id="24" name="Rectangle 34"/>
            <p:cNvSpPr>
              <a:spLocks noChangeArrowheads="1"/>
            </p:cNvSpPr>
            <p:nvPr/>
          </p:nvSpPr>
          <p:spPr bwMode="auto">
            <a:xfrm>
              <a:off x="5865355" y="4386592"/>
              <a:ext cx="11477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k=0,…,i-1</a:t>
              </a:r>
              <a:endParaRPr lang="he-IL" altLang="zh-TW" dirty="0"/>
            </a:p>
          </p:txBody>
        </p:sp>
        <p:sp>
          <p:nvSpPr>
            <p:cNvPr id="25" name="Rectangle 35"/>
            <p:cNvSpPr>
              <a:spLocks noChangeArrowheads="1"/>
            </p:cNvSpPr>
            <p:nvPr/>
          </p:nvSpPr>
          <p:spPr bwMode="auto">
            <a:xfrm>
              <a:off x="5853945" y="5131019"/>
              <a:ext cx="11477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dirty="0">
                  <a:ea typeface="新細明體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k=0,…,j-1</a:t>
              </a:r>
              <a:endParaRPr lang="he-IL" altLang="zh-TW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2684229" y="4615947"/>
              <a:ext cx="1438270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F(i,0) = -g(</a:t>
              </a:r>
              <a:r>
                <a:rPr lang="en-US" altLang="zh-TW" sz="2000" dirty="0" err="1"/>
                <a:t>i</a:t>
              </a:r>
              <a:r>
                <a:rPr lang="en-US" altLang="zh-TW" sz="2000" dirty="0"/>
                <a:t>),</a:t>
              </a:r>
              <a:endParaRPr lang="zh-TW" altLang="zh-TW" sz="2000" dirty="0"/>
            </a:p>
            <a:p>
              <a:r>
                <a:rPr lang="en-US" altLang="zh-TW" sz="2000" dirty="0"/>
                <a:t>F(0,j) = -g(j)</a:t>
              </a:r>
              <a:endParaRPr lang="zh-TW" altLang="zh-TW" sz="2000" dirty="0"/>
            </a:p>
            <a:p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6003458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考慮凸形間隔處罰函數的</a:t>
            </a:r>
            <a:r>
              <a:rPr lang="en-US" altLang="zh-TW" b="1" dirty="0"/>
              <a:t>O(</a:t>
            </a:r>
            <a:r>
              <a:rPr lang="en-US" altLang="zh-TW" b="1" dirty="0" err="1"/>
              <a:t>nmlogm</a:t>
            </a:r>
            <a:r>
              <a:rPr lang="en-US" altLang="zh-TW" b="1" dirty="0"/>
              <a:t>)</a:t>
            </a:r>
            <a:r>
              <a:rPr lang="zh-TW" altLang="zh-TW" b="1" dirty="0"/>
              <a:t>演算法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753" y="2512818"/>
            <a:ext cx="3250878" cy="893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 smtClean="0"/>
              <a:t>簡化成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C(</a:t>
            </a:r>
            <a:r>
              <a:rPr lang="en-US" altLang="zh-TW" sz="2400" dirty="0" err="1" smtClean="0"/>
              <a:t>k,j</a:t>
            </a:r>
            <a:r>
              <a:rPr lang="en-US" altLang="zh-TW" sz="2400" dirty="0"/>
              <a:t>) = </a:t>
            </a:r>
            <a:r>
              <a:rPr lang="en-US" altLang="zh-TW" sz="2400" dirty="0" smtClean="0"/>
              <a:t>V(k</a:t>
            </a:r>
            <a:r>
              <a:rPr lang="en-US" altLang="zh-TW" sz="2400" dirty="0"/>
              <a:t>) – g(j-k),</a:t>
            </a:r>
            <a:endParaRPr lang="zh-TW" altLang="zh-TW" sz="2400" dirty="0"/>
          </a:p>
        </p:txBody>
      </p:sp>
      <p:graphicFrame>
        <p:nvGraphicFramePr>
          <p:cNvPr id="4" name="內容版面配置區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450215644"/>
              </p:ext>
            </p:extLst>
          </p:nvPr>
        </p:nvGraphicFramePr>
        <p:xfrm>
          <a:off x="422017" y="2359084"/>
          <a:ext cx="4525035" cy="19507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5007"/>
                <a:gridCol w="905007"/>
                <a:gridCol w="905007"/>
                <a:gridCol w="905007"/>
                <a:gridCol w="905007"/>
              </a:tblGrid>
              <a:tr h="38585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12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5348753" y="1690689"/>
            <a:ext cx="30606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altLang="zh-TW" sz="2400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max(V(</a:t>
            </a:r>
            <a:r>
              <a:rPr lang="en-US" altLang="zh-TW" sz="2400" dirty="0" err="1" smtClean="0">
                <a:cs typeface="Times New Roman" panose="02020603050405020304" pitchFamily="18" charset="0"/>
                <a:sym typeface="Symbol" panose="05050102010706020507" pitchFamily="18" charset="2"/>
              </a:rPr>
              <a:t>i,k</a:t>
            </a:r>
            <a:r>
              <a:rPr lang="en-US" altLang="zh-TW" sz="2400" dirty="0"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- </a:t>
            </a:r>
            <a:r>
              <a:rPr lang="en-US" altLang="zh-TW" sz="2400" dirty="0">
                <a:cs typeface="Times New Roman" panose="02020603050405020304" pitchFamily="18" charset="0"/>
                <a:sym typeface="Symbol" panose="05050102010706020507" pitchFamily="18" charset="2"/>
              </a:rPr>
              <a:t>g(j-k) ) </a:t>
            </a:r>
            <a:endParaRPr lang="he-IL" altLang="zh-TW" sz="2400" dirty="0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5629381" y="2142930"/>
            <a:ext cx="1147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altLang="zh-TW" dirty="0">
                <a:cs typeface="Times New Roman" panose="02020603050405020304" pitchFamily="18" charset="0"/>
                <a:sym typeface="Symbol" panose="05050102010706020507" pitchFamily="18" charset="2"/>
              </a:rPr>
              <a:t>k=0,…,j-1</a:t>
            </a:r>
            <a:endParaRPr lang="he-IL" altLang="zh-TW" dirty="0"/>
          </a:p>
        </p:txBody>
      </p:sp>
      <p:cxnSp>
        <p:nvCxnSpPr>
          <p:cNvPr id="8" name="直線接點 7"/>
          <p:cNvCxnSpPr/>
          <p:nvPr/>
        </p:nvCxnSpPr>
        <p:spPr>
          <a:xfrm flipV="1">
            <a:off x="374931" y="2035486"/>
            <a:ext cx="310116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4815" y="2366624"/>
            <a:ext cx="310116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4815" y="4072528"/>
            <a:ext cx="366781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572000" y="2035486"/>
            <a:ext cx="366781" cy="29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220548" y="1624422"/>
            <a:ext cx="7816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m</a:t>
            </a:r>
          </a:p>
        </p:txBody>
      </p:sp>
      <p:sp>
        <p:nvSpPr>
          <p:cNvPr id="13" name="矩形 12"/>
          <p:cNvSpPr/>
          <p:nvPr/>
        </p:nvSpPr>
        <p:spPr>
          <a:xfrm>
            <a:off x="-96561" y="2866166"/>
            <a:ext cx="7816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n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572000" y="4791636"/>
            <a:ext cx="4727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滿足</a:t>
            </a:r>
            <a:r>
              <a:rPr lang="en-US" altLang="zh-TW" sz="2400" dirty="0"/>
              <a:t>C(j, p) &gt; C(</a:t>
            </a:r>
            <a:r>
              <a:rPr lang="en-US" altLang="zh-TW" sz="2400" dirty="0" err="1"/>
              <a:t>b</a:t>
            </a:r>
            <a:r>
              <a:rPr lang="en-US" altLang="zh-TW" sz="2400" baseline="-25000" dirty="0" err="1"/>
              <a:t>s</a:t>
            </a:r>
            <a:r>
              <a:rPr lang="en-US" altLang="zh-TW" sz="2400" dirty="0"/>
              <a:t>, p)</a:t>
            </a:r>
          </a:p>
          <a:p>
            <a:r>
              <a:rPr lang="en-US" altLang="zh-TW" sz="2400" dirty="0"/>
              <a:t>V(j) – g(p-j) &gt; V(</a:t>
            </a:r>
            <a:r>
              <a:rPr lang="en-US" altLang="zh-TW" sz="2400" dirty="0" err="1"/>
              <a:t>b</a:t>
            </a:r>
            <a:r>
              <a:rPr lang="en-US" altLang="zh-TW" sz="2400" baseline="-25000" dirty="0" err="1"/>
              <a:t>s</a:t>
            </a:r>
            <a:r>
              <a:rPr lang="en-US" altLang="zh-TW" sz="2400" dirty="0"/>
              <a:t>) – g(p- </a:t>
            </a:r>
            <a:r>
              <a:rPr lang="en-US" altLang="zh-TW" sz="2400" dirty="0" err="1"/>
              <a:t>b</a:t>
            </a:r>
            <a:r>
              <a:rPr lang="en-US" altLang="zh-TW" sz="2400" baseline="-25000" dirty="0" err="1"/>
              <a:t>s</a:t>
            </a:r>
            <a:r>
              <a:rPr lang="en-US" altLang="zh-TW" sz="2400" dirty="0" smtClean="0"/>
              <a:t>)</a:t>
            </a:r>
          </a:p>
          <a:p>
            <a:r>
              <a:rPr lang="zh-TW" altLang="en-US" sz="2400" dirty="0" smtClean="0"/>
              <a:t>找</a:t>
            </a:r>
            <a:r>
              <a:rPr lang="en-US" altLang="zh-TW" sz="2400" dirty="0" smtClean="0"/>
              <a:t>p</a:t>
            </a:r>
            <a:r>
              <a:rPr lang="zh-TW" altLang="en-US" sz="2400" dirty="0" smtClean="0"/>
              <a:t>需要</a:t>
            </a:r>
            <a:r>
              <a:rPr lang="en-US" altLang="zh-TW" sz="2400" b="1" dirty="0" smtClean="0"/>
              <a:t>O(</a:t>
            </a:r>
            <a:r>
              <a:rPr lang="en-US" altLang="zh-TW" sz="2400" b="1" dirty="0" err="1" smtClean="0"/>
              <a:t>logm</a:t>
            </a:r>
            <a:r>
              <a:rPr lang="en-US" altLang="zh-TW" sz="2400" b="1" dirty="0"/>
              <a:t>)</a:t>
            </a:r>
            <a:r>
              <a:rPr lang="zh-TW" altLang="en-US" sz="2400" dirty="0" smtClean="0"/>
              <a:t>的時間</a:t>
            </a:r>
            <a:endParaRPr lang="zh-TW" altLang="zh-TW" sz="2400" dirty="0"/>
          </a:p>
          <a:p>
            <a:endParaRPr lang="zh-TW" altLang="en-US" sz="24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9" y="1690689"/>
            <a:ext cx="5153025" cy="3100947"/>
          </a:xfrm>
          <a:prstGeom prst="rect">
            <a:avLst/>
          </a:prstGeom>
        </p:spPr>
      </p:pic>
      <p:cxnSp>
        <p:nvCxnSpPr>
          <p:cNvPr id="16" name="直線接點 15"/>
          <p:cNvCxnSpPr/>
          <p:nvPr/>
        </p:nvCxnSpPr>
        <p:spPr>
          <a:xfrm>
            <a:off x="1644414" y="1837059"/>
            <a:ext cx="109606" cy="3338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769111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考慮凸形間隔處罰函數的</a:t>
            </a:r>
            <a:r>
              <a:rPr lang="en-US" altLang="zh-TW" b="1" dirty="0"/>
              <a:t>O(</a:t>
            </a:r>
            <a:r>
              <a:rPr lang="en-US" altLang="zh-TW" b="1" dirty="0" err="1"/>
              <a:t>nmlogm</a:t>
            </a:r>
            <a:r>
              <a:rPr lang="en-US" altLang="zh-TW" b="1" dirty="0"/>
              <a:t>)</a:t>
            </a:r>
            <a:r>
              <a:rPr lang="zh-TW" altLang="zh-TW" b="1" dirty="0"/>
              <a:t>演算法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Candidate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90832"/>
            <a:ext cx="8134066" cy="218116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40287" y="4952541"/>
            <a:ext cx="30522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C(</a:t>
            </a:r>
            <a:r>
              <a:rPr lang="en-US" altLang="zh-TW" sz="2800" dirty="0" err="1"/>
              <a:t>k,j</a:t>
            </a:r>
            <a:r>
              <a:rPr lang="en-US" altLang="zh-TW" sz="2800" dirty="0"/>
              <a:t>) = V(k) – g(j-k),</a:t>
            </a:r>
            <a:endParaRPr lang="zh-TW" altLang="zh-TW" sz="2800" dirty="0"/>
          </a:p>
        </p:txBody>
      </p:sp>
    </p:spTree>
    <p:extLst>
      <p:ext uri="{BB962C8B-B14F-4D97-AF65-F5344CB8AC3E}">
        <p14:creationId xmlns:p14="http://schemas.microsoft.com/office/powerpoint/2010/main" xmlns="" val="23875064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考慮凸形間隔處罰函數的</a:t>
            </a:r>
            <a:r>
              <a:rPr lang="en-US" altLang="zh-TW" b="1" dirty="0"/>
              <a:t>O(</a:t>
            </a:r>
            <a:r>
              <a:rPr lang="en-US" altLang="zh-TW" b="1" dirty="0" err="1"/>
              <a:t>nmlogm</a:t>
            </a:r>
            <a:r>
              <a:rPr lang="en-US" altLang="zh-TW" b="1" dirty="0"/>
              <a:t>)</a:t>
            </a:r>
            <a:r>
              <a:rPr lang="zh-TW" altLang="zh-TW" b="1" dirty="0"/>
              <a:t>演算法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07" y="2807720"/>
            <a:ext cx="7011281" cy="89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07382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考慮凸形間隔處罰函數的</a:t>
            </a:r>
            <a:r>
              <a:rPr lang="en-US" altLang="zh-TW" b="1" dirty="0"/>
              <a:t>O(nm)</a:t>
            </a:r>
            <a:r>
              <a:rPr lang="zh-TW" altLang="zh-TW" b="1" dirty="0" smtClean="0"/>
              <a:t>演算法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4744" y="1825618"/>
            <a:ext cx="7848196" cy="4351338"/>
          </a:xfrm>
        </p:spPr>
        <p:txBody>
          <a:bodyPr/>
          <a:lstStyle/>
          <a:p>
            <a:r>
              <a:rPr lang="zh-TW" altLang="en-US" dirty="0"/>
              <a:t>滿足</a:t>
            </a:r>
            <a:r>
              <a:rPr lang="en-US" altLang="zh-TW" dirty="0"/>
              <a:t>C(j, p) &gt; C(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, p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V(j</a:t>
            </a:r>
            <a:r>
              <a:rPr lang="en-US" altLang="zh-TW" dirty="0"/>
              <a:t>) – g(p-j) &gt; V(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 g(p-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</a:t>
            </a:r>
            <a:endParaRPr lang="zh-TW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dirty="0"/>
              <a:t>從</a:t>
            </a:r>
            <a:r>
              <a:rPr lang="en-US" altLang="zh-TW" b="1" dirty="0"/>
              <a:t>O(</a:t>
            </a:r>
            <a:r>
              <a:rPr lang="en-US" altLang="zh-TW" b="1" dirty="0" err="1"/>
              <a:t>nmlogm</a:t>
            </a:r>
            <a:r>
              <a:rPr lang="en-US" altLang="zh-TW" b="1" dirty="0"/>
              <a:t>)</a:t>
            </a:r>
            <a:r>
              <a:rPr lang="zh-TW" altLang="en-US" b="1" dirty="0"/>
              <a:t>變成</a:t>
            </a:r>
            <a:r>
              <a:rPr lang="en-US" altLang="zh-TW" b="1" dirty="0"/>
              <a:t>O(nm)</a:t>
            </a:r>
          </a:p>
          <a:p>
            <a:pPr lvl="1"/>
            <a:r>
              <a:rPr lang="zh-TW" altLang="en-US" b="1" dirty="0"/>
              <a:t>關鍵在於找</a:t>
            </a:r>
            <a:r>
              <a:rPr lang="en-US" altLang="zh-TW" b="1" dirty="0" smtClean="0"/>
              <a:t>p</a:t>
            </a:r>
            <a:r>
              <a:rPr lang="zh-TW" altLang="en-US" b="1" dirty="0" smtClean="0"/>
              <a:t>值，只需</a:t>
            </a:r>
            <a:r>
              <a:rPr lang="en-US" altLang="zh-TW" b="1" dirty="0"/>
              <a:t>O(1</a:t>
            </a:r>
            <a:r>
              <a:rPr lang="en-US" altLang="zh-TW" b="1" dirty="0" smtClean="0"/>
              <a:t>)</a:t>
            </a:r>
            <a:r>
              <a:rPr lang="zh-TW" altLang="en-US" b="1" dirty="0"/>
              <a:t>時間</a:t>
            </a:r>
            <a:endParaRPr lang="en-US" altLang="zh-TW" dirty="0"/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459752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b="1" dirty="0"/>
              <a:t>符合</a:t>
            </a:r>
            <a:r>
              <a:rPr lang="en-US" altLang="zh-TW" b="1" dirty="0"/>
              <a:t>O(nm)</a:t>
            </a:r>
            <a:r>
              <a:rPr lang="zh-TW" altLang="zh-TW" b="1" dirty="0"/>
              <a:t>演算法條件的一些凸形間隔處罰</a:t>
            </a:r>
            <a:r>
              <a:rPr lang="zh-TW" altLang="zh-TW" b="1" dirty="0" smtClean="0"/>
              <a:t>函數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/>
              <a:t>[</a:t>
            </a:r>
            <a:r>
              <a:rPr lang="zh-TW" altLang="zh-TW" b="1" dirty="0"/>
              <a:t>函數一</a:t>
            </a:r>
            <a:r>
              <a:rPr lang="en-US" altLang="zh-TW" b="1" dirty="0"/>
              <a:t>]	</a:t>
            </a:r>
            <a:r>
              <a:rPr lang="en-US" altLang="zh-TW" dirty="0"/>
              <a:t>g(x) = </a:t>
            </a:r>
            <a:r>
              <a:rPr lang="en-US" altLang="zh-TW" dirty="0" err="1"/>
              <a:t>logx</a:t>
            </a:r>
            <a:endParaRPr lang="zh-TW" altLang="zh-TW" dirty="0"/>
          </a:p>
          <a:p>
            <a:pPr marL="0" indent="0">
              <a:buNone/>
            </a:pPr>
            <a:r>
              <a:rPr lang="zh-TW" altLang="zh-TW" b="1" dirty="0"/>
              <a:t>証明</a:t>
            </a:r>
            <a:r>
              <a:rPr lang="zh-TW" altLang="zh-TW" dirty="0" smtClean="0"/>
              <a:t>：。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 smtClean="0"/>
              <a:t>V(j</a:t>
            </a:r>
            <a:r>
              <a:rPr lang="en-US" altLang="zh-TW" dirty="0"/>
              <a:t>) – log(p-j) &gt; V(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 log(p-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 smtClean="0"/>
              <a:t>)</a:t>
            </a:r>
            <a:r>
              <a:rPr lang="zh-TW" altLang="en-US" dirty="0"/>
              <a:t> </a:t>
            </a:r>
            <a:r>
              <a:rPr lang="zh-TW" altLang="en-US" dirty="0" smtClean="0"/>
              <a:t>   </a:t>
            </a:r>
            <a:r>
              <a:rPr lang="en-US" altLang="zh-TW" sz="1600" dirty="0" smtClean="0"/>
              <a:t>// </a:t>
            </a:r>
            <a:r>
              <a:rPr lang="en-US" altLang="zh-TW" sz="1600" dirty="0"/>
              <a:t>j</a:t>
            </a:r>
            <a:r>
              <a:rPr lang="zh-TW" altLang="zh-TW" sz="1600" dirty="0"/>
              <a:t>、</a:t>
            </a:r>
            <a:r>
              <a:rPr lang="en-US" altLang="zh-TW" sz="1600" dirty="0" err="1"/>
              <a:t>b</a:t>
            </a:r>
            <a:r>
              <a:rPr lang="en-US" altLang="zh-TW" sz="1600" baseline="-25000" dirty="0" err="1"/>
              <a:t>s</a:t>
            </a:r>
            <a:r>
              <a:rPr lang="zh-TW" altLang="zh-TW" sz="1600" dirty="0"/>
              <a:t>、</a:t>
            </a:r>
            <a:r>
              <a:rPr lang="en-US" altLang="zh-TW" sz="1600" dirty="0"/>
              <a:t>V(j)</a:t>
            </a:r>
            <a:r>
              <a:rPr lang="zh-TW" altLang="zh-TW" sz="1600" dirty="0"/>
              <a:t>、</a:t>
            </a:r>
            <a:r>
              <a:rPr lang="en-US" altLang="zh-TW" sz="1600" dirty="0"/>
              <a:t>V(</a:t>
            </a:r>
            <a:r>
              <a:rPr lang="en-US" altLang="zh-TW" sz="1600" dirty="0" err="1"/>
              <a:t>b</a:t>
            </a:r>
            <a:r>
              <a:rPr lang="en-US" altLang="zh-TW" sz="1600" baseline="-25000" dirty="0" err="1"/>
              <a:t>s</a:t>
            </a:r>
            <a:r>
              <a:rPr lang="en-US" altLang="zh-TW" sz="1600" dirty="0"/>
              <a:t>)</a:t>
            </a:r>
            <a:r>
              <a:rPr lang="zh-TW" altLang="zh-TW" sz="1600" dirty="0"/>
              <a:t>為已知數值</a:t>
            </a:r>
          </a:p>
          <a:p>
            <a:pPr marL="0" indent="0">
              <a:buNone/>
            </a:pPr>
            <a:r>
              <a:rPr lang="en-US" altLang="zh-TW" dirty="0" smtClean="0"/>
              <a:t>log(p-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 log(p-j) &gt; V(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 V(j)	</a:t>
            </a:r>
            <a:r>
              <a:rPr lang="zh-TW" altLang="en-US" dirty="0" smtClean="0"/>
              <a:t>   </a:t>
            </a:r>
            <a:r>
              <a:rPr lang="en-US" altLang="zh-TW" sz="1600" dirty="0" smtClean="0"/>
              <a:t>//</a:t>
            </a:r>
            <a:r>
              <a:rPr lang="en-US" altLang="zh-TW" sz="1600" dirty="0"/>
              <a:t>c1 = V(</a:t>
            </a:r>
            <a:r>
              <a:rPr lang="en-US" altLang="zh-TW" sz="1600" dirty="0" err="1"/>
              <a:t>b</a:t>
            </a:r>
            <a:r>
              <a:rPr lang="en-US" altLang="zh-TW" sz="1600" baseline="-25000" dirty="0" err="1"/>
              <a:t>s</a:t>
            </a:r>
            <a:r>
              <a:rPr lang="en-US" altLang="zh-TW" sz="1600" dirty="0"/>
              <a:t>) - V(j)</a:t>
            </a:r>
            <a:endParaRPr lang="zh-TW" altLang="zh-TW" sz="1600" dirty="0"/>
          </a:p>
          <a:p>
            <a:pPr marL="0" indent="0">
              <a:buNone/>
            </a:pPr>
            <a:r>
              <a:rPr lang="en-US" altLang="zh-TW" dirty="0"/>
              <a:t>log[(p-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)/(p-j)] &gt; c1		</a:t>
            </a:r>
            <a:r>
              <a:rPr lang="zh-TW" altLang="en-US" sz="1600" dirty="0" smtClean="0"/>
              <a:t>    </a:t>
            </a:r>
            <a:r>
              <a:rPr lang="en-US" altLang="zh-TW" sz="1600" dirty="0" smtClean="0"/>
              <a:t>// </a:t>
            </a:r>
            <a:r>
              <a:rPr lang="en-US" altLang="zh-TW" sz="1600" dirty="0"/>
              <a:t>j &gt; </a:t>
            </a:r>
            <a:r>
              <a:rPr lang="en-US" altLang="zh-TW" sz="1600" dirty="0" err="1"/>
              <a:t>b</a:t>
            </a:r>
            <a:r>
              <a:rPr lang="en-US" altLang="zh-TW" sz="1600" baseline="-25000" dirty="0" err="1"/>
              <a:t>s</a:t>
            </a:r>
            <a:r>
              <a:rPr lang="en-US" altLang="zh-TW" sz="1600" dirty="0"/>
              <a:t>, [(p- </a:t>
            </a:r>
            <a:r>
              <a:rPr lang="en-US" altLang="zh-TW" sz="1600" dirty="0" err="1"/>
              <a:t>b</a:t>
            </a:r>
            <a:r>
              <a:rPr lang="en-US" altLang="zh-TW" sz="1600" baseline="-25000" dirty="0" err="1"/>
              <a:t>s</a:t>
            </a:r>
            <a:r>
              <a:rPr lang="en-US" altLang="zh-TW" sz="1600" dirty="0"/>
              <a:t>)/(p-j)] &gt; 1</a:t>
            </a:r>
            <a:endParaRPr lang="zh-TW" altLang="zh-TW" sz="1600" dirty="0"/>
          </a:p>
          <a:p>
            <a:pPr marL="0" indent="0">
              <a:buNone/>
            </a:pPr>
            <a:r>
              <a:rPr lang="en-US" altLang="zh-TW" dirty="0" smtClean="0"/>
              <a:t>(</a:t>
            </a:r>
            <a:r>
              <a:rPr lang="en-US" altLang="zh-TW" dirty="0"/>
              <a:t>p-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)/(p-j) &gt;10</a:t>
            </a:r>
            <a:r>
              <a:rPr lang="en-US" altLang="zh-TW" baseline="30000" dirty="0"/>
              <a:t>c1		</a:t>
            </a:r>
            <a:r>
              <a:rPr lang="en-US" altLang="zh-TW" baseline="30000" dirty="0" smtClean="0"/>
              <a:t>	</a:t>
            </a:r>
            <a:r>
              <a:rPr lang="zh-TW" altLang="en-US" baseline="30000" dirty="0" smtClean="0"/>
              <a:t>   </a:t>
            </a:r>
            <a:r>
              <a:rPr lang="en-US" altLang="zh-TW" sz="1600" dirty="0" smtClean="0"/>
              <a:t>// </a:t>
            </a:r>
            <a:r>
              <a:rPr lang="en-US" altLang="zh-TW" sz="1600" dirty="0"/>
              <a:t>p &gt; j</a:t>
            </a:r>
            <a:endParaRPr lang="zh-TW" altLang="zh-TW" sz="1600" dirty="0"/>
          </a:p>
          <a:p>
            <a:pPr marL="0" indent="0">
              <a:buNone/>
            </a:pPr>
            <a:r>
              <a:rPr lang="en-US" altLang="zh-TW" dirty="0"/>
              <a:t>(j</a:t>
            </a:r>
            <a:r>
              <a:rPr lang="zh-TW" altLang="zh-TW" dirty="0"/>
              <a:t>．</a:t>
            </a:r>
            <a:r>
              <a:rPr lang="en-US" altLang="zh-TW" dirty="0"/>
              <a:t>10</a:t>
            </a:r>
            <a:r>
              <a:rPr lang="en-US" altLang="zh-TW" baseline="30000" dirty="0"/>
              <a:t>c1</a:t>
            </a:r>
            <a:r>
              <a:rPr lang="en-US" altLang="zh-TW" dirty="0"/>
              <a:t> 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 )/(10</a:t>
            </a:r>
            <a:r>
              <a:rPr lang="en-US" altLang="zh-TW" baseline="30000" dirty="0"/>
              <a:t>c1</a:t>
            </a:r>
            <a:r>
              <a:rPr lang="en-US" altLang="zh-TW" dirty="0"/>
              <a:t> - 1)</a:t>
            </a:r>
            <a:r>
              <a:rPr lang="en-US" altLang="zh-TW" baseline="30000" dirty="0"/>
              <a:t> </a:t>
            </a:r>
            <a:r>
              <a:rPr lang="en-US" altLang="zh-TW" dirty="0"/>
              <a:t>&gt; p	</a:t>
            </a:r>
            <a:r>
              <a:rPr lang="zh-TW" altLang="en-US" dirty="0" smtClean="0"/>
              <a:t> </a:t>
            </a:r>
            <a:r>
              <a:rPr lang="en-US" altLang="zh-TW" sz="1600" dirty="0" smtClean="0"/>
              <a:t>//</a:t>
            </a:r>
            <a:r>
              <a:rPr lang="en-US" altLang="zh-TW" sz="1600" dirty="0"/>
              <a:t>10</a:t>
            </a:r>
            <a:r>
              <a:rPr lang="en-US" altLang="zh-TW" sz="1600" baseline="30000" dirty="0"/>
              <a:t>c1</a:t>
            </a:r>
            <a:r>
              <a:rPr lang="en-US" altLang="zh-TW" sz="1600" dirty="0"/>
              <a:t> – 1 &gt; 0</a:t>
            </a:r>
            <a:endParaRPr lang="zh-TW" altLang="zh-TW" sz="1600" dirty="0"/>
          </a:p>
          <a:p>
            <a:pPr marL="0" indent="0">
              <a:buNone/>
            </a:pPr>
            <a:r>
              <a:rPr lang="zh-TW" altLang="zh-TW" dirty="0"/>
              <a:t>最後取符合上述不等式的最大的整數，即為</a:t>
            </a:r>
            <a:r>
              <a:rPr lang="en-US" altLang="zh-TW" dirty="0"/>
              <a:t>p</a:t>
            </a:r>
            <a:r>
              <a:rPr lang="zh-TW" altLang="zh-TW" dirty="0"/>
              <a:t>值。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810381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b="1" dirty="0"/>
              <a:t>符合</a:t>
            </a:r>
            <a:r>
              <a:rPr lang="en-US" altLang="zh-TW" b="1" dirty="0"/>
              <a:t>O(nm)</a:t>
            </a:r>
            <a:r>
              <a:rPr lang="zh-TW" altLang="zh-TW" b="1" dirty="0"/>
              <a:t>演算法條件的一些凸形間隔處罰</a:t>
            </a:r>
            <a:r>
              <a:rPr lang="zh-TW" altLang="zh-TW" b="1" dirty="0" smtClean="0"/>
              <a:t>函數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b="1" dirty="0"/>
              <a:t>[</a:t>
            </a:r>
            <a:r>
              <a:rPr lang="zh-TW" altLang="zh-TW" b="1" dirty="0"/>
              <a:t>函數二</a:t>
            </a:r>
            <a:r>
              <a:rPr lang="en-US" altLang="zh-TW" b="1" dirty="0" smtClean="0"/>
              <a:t>] </a:t>
            </a:r>
            <a:r>
              <a:rPr lang="en-US" altLang="zh-TW" dirty="0" smtClean="0"/>
              <a:t>g(x</a:t>
            </a:r>
            <a:r>
              <a:rPr lang="en-US" altLang="zh-TW" dirty="0"/>
              <a:t>) = a + </a:t>
            </a:r>
            <a:r>
              <a:rPr lang="en-US" altLang="zh-TW" dirty="0" err="1"/>
              <a:t>ar</a:t>
            </a:r>
            <a:r>
              <a:rPr lang="en-US" altLang="zh-TW" dirty="0"/>
              <a:t> + ar</a:t>
            </a:r>
            <a:r>
              <a:rPr lang="en-US" altLang="zh-TW" baseline="30000" dirty="0"/>
              <a:t>2 </a:t>
            </a:r>
            <a:r>
              <a:rPr lang="en-US" altLang="zh-TW" dirty="0"/>
              <a:t>+ ….+ar</a:t>
            </a:r>
            <a:r>
              <a:rPr lang="en-US" altLang="zh-TW" baseline="30000" dirty="0"/>
              <a:t>x-1</a:t>
            </a:r>
            <a:r>
              <a:rPr lang="en-US" altLang="zh-TW" dirty="0"/>
              <a:t> = [a(1 -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x</a:t>
            </a:r>
            <a:r>
              <a:rPr lang="en-US" altLang="zh-TW" dirty="0"/>
              <a:t>)]/(1 - r)</a:t>
            </a:r>
            <a:r>
              <a:rPr lang="zh-TW" altLang="zh-TW" dirty="0"/>
              <a:t>，</a:t>
            </a:r>
            <a:r>
              <a:rPr lang="zh-TW" altLang="zh-TW" sz="2400" dirty="0"/>
              <a:t>其中</a:t>
            </a:r>
            <a:r>
              <a:rPr lang="en-US" altLang="zh-TW" sz="2400" dirty="0"/>
              <a:t>a &gt; 0</a:t>
            </a:r>
            <a:r>
              <a:rPr lang="zh-TW" altLang="zh-TW" sz="2400" dirty="0"/>
              <a:t>，</a:t>
            </a:r>
            <a:r>
              <a:rPr lang="en-US" altLang="zh-TW" sz="2400" dirty="0"/>
              <a:t>1 &gt; r &gt; 0</a:t>
            </a:r>
            <a:endParaRPr lang="zh-TW" altLang="zh-TW" sz="2400" dirty="0"/>
          </a:p>
          <a:p>
            <a:pPr marL="0" indent="0">
              <a:buNone/>
            </a:pPr>
            <a:r>
              <a:rPr lang="zh-TW" altLang="zh-TW" b="1" dirty="0"/>
              <a:t>証明</a:t>
            </a:r>
            <a:r>
              <a:rPr lang="zh-TW" altLang="zh-TW" dirty="0"/>
              <a:t>：</a:t>
            </a:r>
            <a:r>
              <a:rPr lang="en-US" altLang="zh-TW" dirty="0"/>
              <a:t>	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V(j</a:t>
            </a:r>
            <a:r>
              <a:rPr lang="en-US" altLang="zh-TW" dirty="0"/>
              <a:t>) – [a(1 –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</a:t>
            </a:r>
            <a:r>
              <a:rPr lang="en-US" altLang="zh-TW" baseline="30000" dirty="0"/>
              <a:t>-j</a:t>
            </a:r>
            <a:r>
              <a:rPr lang="en-US" altLang="zh-TW" dirty="0"/>
              <a:t>)]/(1 - r) &gt; V(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 [a(1 –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p-bs</a:t>
            </a:r>
            <a:r>
              <a:rPr lang="en-US" altLang="zh-TW" dirty="0"/>
              <a:t>)]/(1 - r)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 smtClean="0"/>
              <a:t>[</a:t>
            </a:r>
            <a:r>
              <a:rPr lang="en-US" altLang="zh-TW" dirty="0"/>
              <a:t>a(1 –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p-bs</a:t>
            </a:r>
            <a:r>
              <a:rPr lang="en-US" altLang="zh-TW" dirty="0"/>
              <a:t>)]/(1 - r) – [a(1 –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</a:t>
            </a:r>
            <a:r>
              <a:rPr lang="en-US" altLang="zh-TW" baseline="30000" dirty="0"/>
              <a:t>-j</a:t>
            </a:r>
            <a:r>
              <a:rPr lang="en-US" altLang="zh-TW" dirty="0"/>
              <a:t>)]/(1 - r) &gt; V(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) –V(j)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/>
              <a:t>[a(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</a:t>
            </a:r>
            <a:r>
              <a:rPr lang="en-US" altLang="zh-TW" baseline="30000" dirty="0"/>
              <a:t>-j</a:t>
            </a:r>
            <a:r>
              <a:rPr lang="en-US" altLang="zh-TW" dirty="0"/>
              <a:t> –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p-bs</a:t>
            </a:r>
            <a:r>
              <a:rPr lang="en-US" altLang="zh-TW" dirty="0"/>
              <a:t>)]/(1 - r) &gt; c1		</a:t>
            </a:r>
            <a:r>
              <a:rPr lang="en-US" altLang="zh-TW" sz="2100" dirty="0" smtClean="0"/>
              <a:t>//</a:t>
            </a:r>
            <a:r>
              <a:rPr lang="en-US" altLang="zh-TW" sz="2100" dirty="0"/>
              <a:t>c1 = V(</a:t>
            </a:r>
            <a:r>
              <a:rPr lang="en-US" altLang="zh-TW" sz="2100" dirty="0" err="1"/>
              <a:t>b</a:t>
            </a:r>
            <a:r>
              <a:rPr lang="en-US" altLang="zh-TW" sz="2100" baseline="-25000" dirty="0" err="1"/>
              <a:t>s</a:t>
            </a:r>
            <a:r>
              <a:rPr lang="en-US" altLang="zh-TW" sz="2100" dirty="0"/>
              <a:t>) - V(j)</a:t>
            </a:r>
            <a:endParaRPr lang="zh-TW" altLang="zh-TW" sz="2100" dirty="0"/>
          </a:p>
          <a:p>
            <a:pPr marL="0" indent="0">
              <a:buNone/>
            </a:pPr>
            <a:r>
              <a:rPr lang="en-US" altLang="zh-TW" dirty="0" smtClean="0"/>
              <a:t>[</a:t>
            </a:r>
            <a:r>
              <a:rPr lang="en-US" altLang="zh-TW" dirty="0"/>
              <a:t>a</a:t>
            </a:r>
            <a:r>
              <a:rPr lang="zh-TW" altLang="zh-TW" dirty="0"/>
              <a:t>．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p-bs</a:t>
            </a:r>
            <a:r>
              <a:rPr lang="en-US" altLang="zh-TW" dirty="0"/>
              <a:t>(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bs</a:t>
            </a:r>
            <a:r>
              <a:rPr lang="en-US" altLang="zh-TW" baseline="30000" dirty="0"/>
              <a:t>-j</a:t>
            </a:r>
            <a:r>
              <a:rPr lang="en-US" altLang="zh-TW" dirty="0"/>
              <a:t> – 1)]/(1 - r) &gt; c1		</a:t>
            </a:r>
            <a:r>
              <a:rPr lang="en-US" altLang="zh-TW" sz="1900" dirty="0" smtClean="0"/>
              <a:t>// </a:t>
            </a:r>
            <a:r>
              <a:rPr lang="en-US" altLang="zh-TW" sz="1900" dirty="0"/>
              <a:t>j &gt; </a:t>
            </a:r>
            <a:r>
              <a:rPr lang="en-US" altLang="zh-TW" sz="1900" dirty="0" err="1"/>
              <a:t>b</a:t>
            </a:r>
            <a:r>
              <a:rPr lang="en-US" altLang="zh-TW" sz="1900" baseline="-25000" dirty="0" err="1"/>
              <a:t>s</a:t>
            </a:r>
            <a:r>
              <a:rPr lang="en-US" altLang="zh-TW" sz="1900" dirty="0"/>
              <a:t> , 1 &gt; r, </a:t>
            </a:r>
            <a:r>
              <a:rPr lang="en-US" altLang="zh-TW" sz="1900" dirty="0" err="1"/>
              <a:t>r</a:t>
            </a:r>
            <a:r>
              <a:rPr lang="en-US" altLang="zh-TW" sz="1900" baseline="30000" dirty="0" err="1"/>
              <a:t>bs</a:t>
            </a:r>
            <a:r>
              <a:rPr lang="en-US" altLang="zh-TW" sz="1900" baseline="30000" dirty="0"/>
              <a:t>-j</a:t>
            </a:r>
            <a:r>
              <a:rPr lang="en-US" altLang="zh-TW" sz="1900" dirty="0"/>
              <a:t> – 1 &gt; 0</a:t>
            </a:r>
            <a:endParaRPr lang="zh-TW" altLang="zh-TW" sz="1900" dirty="0"/>
          </a:p>
          <a:p>
            <a:pPr marL="0" indent="0">
              <a:buNone/>
            </a:pPr>
            <a:r>
              <a:rPr lang="en-US" altLang="zh-TW" dirty="0" err="1" smtClean="0"/>
              <a:t>r</a:t>
            </a:r>
            <a:r>
              <a:rPr lang="en-US" altLang="zh-TW" baseline="30000" dirty="0" err="1" smtClean="0"/>
              <a:t>p-bs</a:t>
            </a:r>
            <a:r>
              <a:rPr lang="en-US" altLang="zh-TW" dirty="0" smtClean="0"/>
              <a:t> </a:t>
            </a:r>
            <a:r>
              <a:rPr lang="en-US" altLang="zh-TW" dirty="0"/>
              <a:t>&gt; [c1</a:t>
            </a:r>
            <a:r>
              <a:rPr lang="zh-TW" altLang="zh-TW" dirty="0"/>
              <a:t>．</a:t>
            </a:r>
            <a:r>
              <a:rPr lang="en-US" altLang="zh-TW" dirty="0"/>
              <a:t>(1 - r)]/[a</a:t>
            </a:r>
            <a:r>
              <a:rPr lang="zh-TW" altLang="zh-TW" dirty="0"/>
              <a:t>．</a:t>
            </a:r>
            <a:r>
              <a:rPr lang="en-US" altLang="zh-TW" dirty="0"/>
              <a:t>(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bs</a:t>
            </a:r>
            <a:r>
              <a:rPr lang="en-US" altLang="zh-TW" baseline="30000" dirty="0"/>
              <a:t>-j</a:t>
            </a:r>
            <a:r>
              <a:rPr lang="en-US" altLang="zh-TW" dirty="0"/>
              <a:t> – 1)]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 smtClean="0"/>
              <a:t>p </a:t>
            </a:r>
            <a:r>
              <a:rPr lang="en-US" altLang="zh-TW" dirty="0"/>
              <a:t>-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 &lt; log</a:t>
            </a:r>
            <a:r>
              <a:rPr lang="en-US" altLang="zh-TW" baseline="-25000" dirty="0"/>
              <a:t>r</a:t>
            </a:r>
            <a:r>
              <a:rPr lang="en-US" altLang="zh-TW" dirty="0"/>
              <a:t>c2				</a:t>
            </a:r>
            <a:r>
              <a:rPr lang="en-US" altLang="zh-TW" sz="1900" dirty="0" smtClean="0"/>
              <a:t>// </a:t>
            </a:r>
            <a:r>
              <a:rPr lang="en-US" altLang="zh-TW" sz="1900" dirty="0"/>
              <a:t>1 &gt; r, c2 = [c1</a:t>
            </a:r>
            <a:r>
              <a:rPr lang="zh-TW" altLang="zh-TW" sz="1900" dirty="0"/>
              <a:t>．</a:t>
            </a:r>
            <a:r>
              <a:rPr lang="en-US" altLang="zh-TW" sz="1900" dirty="0"/>
              <a:t>(1 - r)]/[a</a:t>
            </a:r>
            <a:r>
              <a:rPr lang="zh-TW" altLang="zh-TW" sz="1900" dirty="0"/>
              <a:t>．</a:t>
            </a:r>
            <a:r>
              <a:rPr lang="en-US" altLang="zh-TW" sz="1900" dirty="0"/>
              <a:t>(</a:t>
            </a:r>
            <a:r>
              <a:rPr lang="en-US" altLang="zh-TW" sz="1900" dirty="0" err="1"/>
              <a:t>r</a:t>
            </a:r>
            <a:r>
              <a:rPr lang="en-US" altLang="zh-TW" sz="1900" baseline="30000" dirty="0" err="1"/>
              <a:t>bs</a:t>
            </a:r>
            <a:r>
              <a:rPr lang="en-US" altLang="zh-TW" sz="1900" baseline="30000" dirty="0"/>
              <a:t>-j</a:t>
            </a:r>
            <a:r>
              <a:rPr lang="en-US" altLang="zh-TW" sz="1900" dirty="0"/>
              <a:t> – 1)]</a:t>
            </a:r>
            <a:endParaRPr lang="zh-TW" altLang="zh-TW" sz="1900" dirty="0"/>
          </a:p>
          <a:p>
            <a:pPr marL="0" indent="0">
              <a:buNone/>
            </a:pPr>
            <a:r>
              <a:rPr lang="en-US" altLang="zh-TW" dirty="0" smtClean="0"/>
              <a:t>p </a:t>
            </a:r>
            <a:r>
              <a:rPr lang="en-US" altLang="zh-TW" dirty="0"/>
              <a:t>&lt; </a:t>
            </a:r>
            <a:r>
              <a:rPr lang="en-US" altLang="zh-TW" dirty="0" err="1"/>
              <a:t>b</a:t>
            </a:r>
            <a:r>
              <a:rPr lang="en-US" altLang="zh-TW" baseline="-25000" dirty="0" err="1"/>
              <a:t>s</a:t>
            </a:r>
            <a:r>
              <a:rPr lang="en-US" altLang="zh-TW" dirty="0"/>
              <a:t> + log</a:t>
            </a:r>
            <a:r>
              <a:rPr lang="en-US" altLang="zh-TW" baseline="-25000" dirty="0"/>
              <a:t>r</a:t>
            </a:r>
            <a:r>
              <a:rPr lang="en-US" altLang="zh-TW" dirty="0"/>
              <a:t>c2</a:t>
            </a:r>
            <a:endParaRPr lang="zh-TW" altLang="zh-TW" dirty="0"/>
          </a:p>
          <a:p>
            <a:pPr marL="0" indent="0">
              <a:buNone/>
            </a:pPr>
            <a:r>
              <a:rPr lang="zh-TW" altLang="zh-TW" dirty="0"/>
              <a:t>最後取符合上述不等式的最大整數，即為</a:t>
            </a:r>
            <a:r>
              <a:rPr lang="en-US" altLang="zh-TW" dirty="0"/>
              <a:t>p</a:t>
            </a:r>
            <a:r>
              <a:rPr lang="zh-TW" altLang="zh-TW" dirty="0"/>
              <a:t>值。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8711405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結論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dirty="0"/>
              <a:t>針對凸形間隔處罰函數，本論文首先推導出一個定理，說明擁有</a:t>
            </a:r>
            <a:r>
              <a:rPr lang="en-US" altLang="zh-TW" dirty="0"/>
              <a:t>O(nm)</a:t>
            </a:r>
            <a:r>
              <a:rPr lang="zh-TW" altLang="zh-TW" dirty="0"/>
              <a:t>演算法的凸形間隔處罰函數條件。接著提出兩個計算簡單又符合條件的建議函數：對數函數，</a:t>
            </a:r>
            <a:r>
              <a:rPr lang="en-US" altLang="zh-TW" dirty="0"/>
              <a:t>g(x) = </a:t>
            </a:r>
            <a:r>
              <a:rPr lang="en-US" altLang="zh-TW" dirty="0" err="1"/>
              <a:t>logx</a:t>
            </a:r>
            <a:r>
              <a:rPr lang="zh-TW" altLang="zh-TW" dirty="0"/>
              <a:t>；以及等比級數和函數，</a:t>
            </a:r>
            <a:r>
              <a:rPr lang="en-US" altLang="zh-TW" dirty="0"/>
              <a:t>g(x) = a + </a:t>
            </a:r>
            <a:r>
              <a:rPr lang="en-US" altLang="zh-TW" dirty="0" err="1"/>
              <a:t>ar</a:t>
            </a:r>
            <a:r>
              <a:rPr lang="en-US" altLang="zh-TW" dirty="0"/>
              <a:t> + ar</a:t>
            </a:r>
            <a:r>
              <a:rPr lang="en-US" altLang="zh-TW" baseline="30000" dirty="0"/>
              <a:t>2 </a:t>
            </a:r>
            <a:r>
              <a:rPr lang="en-US" altLang="zh-TW" dirty="0"/>
              <a:t>+ ….+ar</a:t>
            </a:r>
            <a:r>
              <a:rPr lang="en-US" altLang="zh-TW" baseline="30000" dirty="0"/>
              <a:t>x-1</a:t>
            </a:r>
            <a:r>
              <a:rPr lang="en-US" altLang="zh-TW" dirty="0"/>
              <a:t> = [a(1 - </a:t>
            </a:r>
            <a:r>
              <a:rPr lang="en-US" altLang="zh-TW" dirty="0" err="1"/>
              <a:t>r</a:t>
            </a:r>
            <a:r>
              <a:rPr lang="en-US" altLang="zh-TW" baseline="30000" dirty="0" err="1"/>
              <a:t>x</a:t>
            </a:r>
            <a:r>
              <a:rPr lang="en-US" altLang="zh-TW" dirty="0"/>
              <a:t>)]/(1 - r)</a:t>
            </a:r>
            <a:r>
              <a:rPr lang="zh-TW" altLang="zh-TW" dirty="0"/>
              <a:t>，其中</a:t>
            </a:r>
            <a:r>
              <a:rPr lang="en-US" altLang="zh-TW" dirty="0"/>
              <a:t>a &gt; 0</a:t>
            </a:r>
            <a:r>
              <a:rPr lang="zh-TW" altLang="zh-TW" dirty="0"/>
              <a:t>，</a:t>
            </a:r>
            <a:r>
              <a:rPr lang="en-US" altLang="zh-TW" dirty="0"/>
              <a:t>1 &gt; r &gt; 0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endParaRPr lang="zh-TW" altLang="zh-TW" dirty="0"/>
          </a:p>
          <a:p>
            <a:r>
              <a:rPr lang="zh-TW" altLang="zh-TW" dirty="0"/>
              <a:t>針對任一凸形間隔處罰函數，找出</a:t>
            </a:r>
            <a:r>
              <a:rPr lang="en-US" altLang="zh-TW" dirty="0"/>
              <a:t>O(nm)</a:t>
            </a:r>
            <a:r>
              <a:rPr lang="zh-TW" altLang="zh-TW" dirty="0"/>
              <a:t>演算法，依舊是一個開放未解的題目。涵蓋範圍擴大到任一間隔處罰函數，目前已知的演算法尚為</a:t>
            </a:r>
            <a:r>
              <a:rPr lang="en-US" altLang="zh-TW" dirty="0"/>
              <a:t>O(nm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  <a:r>
              <a:rPr lang="zh-TW" altLang="zh-TW" dirty="0"/>
              <a:t>的時間複雜度。如何改進執行時間，亦是一個值得研究的方向。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53587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1754</TotalTime>
  <Words>901</Words>
  <Application>Microsoft Office PowerPoint</Application>
  <PresentationFormat>如螢幕大小 (4:3)</PresentationFormat>
  <Paragraphs>190</Paragraphs>
  <Slides>14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生物序列比對問題上考慮凸形間隔處罰函數的一些O(nm)演算法</vt:lpstr>
      <vt:lpstr>摘要</vt:lpstr>
      <vt:lpstr>簡介</vt:lpstr>
      <vt:lpstr>簡介</vt:lpstr>
      <vt:lpstr>簡介</vt:lpstr>
      <vt:lpstr>考慮任意間隔處罰函數的O(nm2)演算法</vt:lpstr>
      <vt:lpstr>考慮凸形間隔處罰函數的O(nmlogm)演算法</vt:lpstr>
      <vt:lpstr>考慮凸形間隔處罰函數的O(nmlogm)演算法</vt:lpstr>
      <vt:lpstr>考慮凸形間隔處罰函數的O(nmlogm)演算法</vt:lpstr>
      <vt:lpstr>考慮凸形間隔處罰函數的O(nmlogm)演算法</vt:lpstr>
      <vt:lpstr>考慮凸形間隔處罰函數的O(nm)演算法</vt:lpstr>
      <vt:lpstr>符合O(nm)演算法條件的一些凸形間隔處罰函數</vt:lpstr>
      <vt:lpstr>符合O(nm)演算法條件的一些凸形間隔處罰函數</vt:lpstr>
      <vt:lpstr>結論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生物序列比對問題上考慮凸形間隔處罰函數的一些O(nm)演算法</dc:title>
  <dc:creator>黃鼎耀</dc:creator>
  <cp:lastModifiedBy>admin</cp:lastModifiedBy>
  <cp:revision>144</cp:revision>
  <dcterms:created xsi:type="dcterms:W3CDTF">2014-06-07T11:42:56Z</dcterms:created>
  <dcterms:modified xsi:type="dcterms:W3CDTF">2014-06-10T04:26:46Z</dcterms:modified>
</cp:coreProperties>
</file>