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78" r:id="rId4"/>
    <p:sldId id="257" r:id="rId5"/>
    <p:sldId id="258" r:id="rId6"/>
    <p:sldId id="272" r:id="rId7"/>
    <p:sldId id="279" r:id="rId8"/>
    <p:sldId id="284" r:id="rId9"/>
    <p:sldId id="280" r:id="rId10"/>
    <p:sldId id="281" r:id="rId11"/>
    <p:sldId id="282" r:id="rId12"/>
    <p:sldId id="274" r:id="rId13"/>
    <p:sldId id="283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-70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233B4-1F5A-4615-A07F-508CB2C0B35C}" type="datetimeFigureOut">
              <a:rPr lang="zh-TW" altLang="en-US" smtClean="0"/>
              <a:pPr/>
              <a:t>2014/6/16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BE89EA-78D1-4B11-AE23-F92136618C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771340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1A016-A8B6-408A-B2E0-0CE7413CD190}" type="datetime1">
              <a:rPr lang="zh-TW" altLang="en-US" smtClean="0"/>
              <a:pPr/>
              <a:t>2014/6/16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44312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C188E-42AD-4265-BD7B-6D6D62334585}" type="datetime1">
              <a:rPr lang="zh-TW" altLang="en-US" smtClean="0"/>
              <a:pPr/>
              <a:t>2014/6/16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713023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6BC49-2A70-44CB-BD05-F5523CF62895}" type="datetime1">
              <a:rPr lang="zh-TW" altLang="en-US" smtClean="0"/>
              <a:pPr/>
              <a:t>2014/6/16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80363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DC24-0C81-48BE-97C2-62CCE451FDAA}" type="datetime1">
              <a:rPr lang="zh-TW" altLang="en-US" smtClean="0"/>
              <a:pPr/>
              <a:t>2014/6/16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239114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A964F-3C1D-48B7-8183-0D6E3F79441F}" type="datetime1">
              <a:rPr lang="zh-TW" altLang="en-US" smtClean="0"/>
              <a:pPr/>
              <a:t>2014/6/16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01561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22956-F816-4489-BEC6-6685A548AA59}" type="datetime1">
              <a:rPr lang="zh-TW" altLang="en-US" smtClean="0"/>
              <a:pPr/>
              <a:t>2014/6/16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11218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6ADA2-2374-455D-A7FA-CBE43F928384}" type="datetime1">
              <a:rPr lang="zh-TW" altLang="en-US" smtClean="0"/>
              <a:pPr/>
              <a:t>2014/6/16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562772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822B-1F80-4359-86BD-0AF2EA72313D}" type="datetime1">
              <a:rPr lang="zh-TW" altLang="en-US" smtClean="0"/>
              <a:pPr/>
              <a:t>2014/6/16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11637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3B3D8-B68C-4BDE-A967-9E6BFCEF0A9C}" type="datetime1">
              <a:rPr lang="zh-TW" altLang="en-US" smtClean="0"/>
              <a:pPr/>
              <a:t>2014/6/16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518676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FFB12-F263-4B58-BAEE-385AF3FF4CA7}" type="datetime1">
              <a:rPr lang="zh-TW" altLang="en-US" smtClean="0"/>
              <a:pPr/>
              <a:t>2014/6/16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414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9838-7870-49FE-B96F-7B68F6D17578}" type="datetime1">
              <a:rPr lang="zh-TW" altLang="en-US" smtClean="0"/>
              <a:pPr/>
              <a:t>2014/6/16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32647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4308A-8816-4285-94BB-1C847B9DA00D}" type="datetime1">
              <a:rPr lang="zh-TW" altLang="en-US" smtClean="0"/>
              <a:pPr/>
              <a:t>2014/6/16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891B3-4C5A-4252-B50D-82F3C33731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17448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Disulfide Connectivity Prediction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Student: Chun-Yi Fang (</a:t>
            </a:r>
            <a:r>
              <a:rPr lang="zh-TW" altLang="en-US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方鈞毅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pPr algn="r"/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Advisor: Prof. Chang-Biau Yang (</a:t>
            </a:r>
            <a:r>
              <a:rPr lang="zh-TW" altLang="en-US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楊昌彪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)</a:t>
            </a:r>
          </a:p>
          <a:p>
            <a:pPr algn="r"/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Date: June 16, 2014</a:t>
            </a:r>
            <a:endParaRPr lang="zh-TW" altLang="en-US" sz="28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zh-TW" altLang="en-US" sz="2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26204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Introduction (1/4)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680520"/>
          </a:xfrm>
        </p:spPr>
        <p:txBody>
          <a:bodyPr>
            <a:normAutofit/>
          </a:bodyPr>
          <a:lstStyle/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目前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生物學上所發現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的氨基酸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(amino acid)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有二十多種，而這些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氨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基酸即為構成生物蛋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白質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(protine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的基本單位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其中一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條蛋白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質可能是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由數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條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氨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基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酸序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列所構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成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，一條氨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基酸序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列的範例如下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GCCSNPVCHLEHSNLCGGAAGG</a:t>
            </a:r>
          </a:p>
          <a:p>
            <a:pPr lvl="1"/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個字母代表一種氨基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酸，此種表示方法也稱為蛋白質序列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protein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sequence)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或是一級結構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(primary structure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altLang="zh-TW" dirty="0" smtClean="0"/>
          </a:p>
          <a:p>
            <a:pPr lvl="1"/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198419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Introduction (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蛋白質序列中，存在雙硫鍵必須先存在一雙成對的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cystine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半胱胺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酸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才有可能構成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又這些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cystines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須皆是氧化狀態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實驗預設其氧化狀態是已經事先得知的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742950" lvl="2" indent="-342900"/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2" indent="-342900"/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對於一條具有四個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cystine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的序列，可能具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種可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能的雙硫鍵組成。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2" indent="-342900"/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G</a:t>
            </a:r>
            <a:r>
              <a:rPr lang="en-US" altLang="zh-TW" dirty="0" smtClean="0">
                <a:solidFill>
                  <a:srgbClr val="FF0000"/>
                </a:solidFill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CC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SNPV</a:t>
            </a:r>
            <a:r>
              <a:rPr lang="en-US" altLang="zh-TW" dirty="0" smtClean="0">
                <a:solidFill>
                  <a:srgbClr val="FF0000"/>
                </a:solidFill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C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HLEHSNL</a:t>
            </a:r>
            <a:r>
              <a:rPr lang="en-US" altLang="zh-TW" dirty="0" smtClean="0">
                <a:solidFill>
                  <a:srgbClr val="FF0000"/>
                </a:solidFill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C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GGAAGG</a:t>
            </a:r>
          </a:p>
          <a:p>
            <a:pPr marL="742950" lvl="2" indent="-342900"/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分別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為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(1-1-2-2), (1-2-1-2), (1-2-2-1)</a:t>
            </a:r>
            <a:endParaRPr lang="zh-TW" altLang="en-US" dirty="0">
              <a:latin typeface="Gungsuh" panose="02030600000101010101" pitchFamily="18" charset="-127"/>
              <a:ea typeface="Gungsuh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51962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Introduction (3/4)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1484784"/>
            <a:ext cx="8229600" cy="4525963"/>
          </a:xfrm>
        </p:spPr>
        <p:txBody>
          <a:bodyPr>
            <a:normAutofit/>
          </a:bodyPr>
          <a:lstStyle/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研究的目標是預測蛋白質中的雙硫鍵的鍵結情形，因雙硫鍵的存在會影響蛋白質的結構、構成與功能。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具有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2, 3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個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雙硫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鍵的預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測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已接近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0%,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而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對於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4, 5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個鍵結的則常常低於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0%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，故實驗專注於預測在單條序列中具有</a:t>
            </a:r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TW" alt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個雙硫鍵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鍵結的蛋白質序列。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794191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Introduction (4/4)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definition of the</a:t>
            </a:r>
            <a:r>
              <a:rPr lang="zh-TW" altLang="en-US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disulfide problem</a:t>
            </a:r>
          </a:p>
          <a:p>
            <a:pPr lvl="1"/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Input: </a:t>
            </a:r>
          </a:p>
          <a:p>
            <a:pPr lvl="2"/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primary structure</a:t>
            </a:r>
            <a:endParaRPr lang="en-US" altLang="zh-TW" sz="200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lvl="2"/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features</a:t>
            </a:r>
          </a:p>
          <a:p>
            <a:pPr lvl="1"/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Output: </a:t>
            </a:r>
          </a:p>
          <a:p>
            <a:pPr lvl="2"/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disulfide connectivity pattern</a:t>
            </a:r>
          </a:p>
          <a:p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Example:</a:t>
            </a:r>
          </a:p>
          <a:p>
            <a:pPr lvl="1"/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Input: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/>
            <a:r>
              <a:rPr lang="en-US" altLang="zh-TW" sz="2100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G</a:t>
            </a:r>
            <a:r>
              <a:rPr lang="en-US" altLang="zh-TW" sz="2100" dirty="0" smtClean="0">
                <a:solidFill>
                  <a:srgbClr val="FF0000"/>
                </a:solidFill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CC</a:t>
            </a:r>
            <a:r>
              <a:rPr lang="en-US" altLang="zh-TW" sz="2100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SNPV</a:t>
            </a:r>
            <a:r>
              <a:rPr lang="en-US" altLang="zh-TW" sz="2100" dirty="0" smtClean="0">
                <a:solidFill>
                  <a:srgbClr val="FF0000"/>
                </a:solidFill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C</a:t>
            </a:r>
            <a:r>
              <a:rPr lang="en-US" altLang="zh-TW" sz="2100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HLEHSNL</a:t>
            </a:r>
            <a:r>
              <a:rPr lang="en-US" altLang="zh-TW" sz="2100" dirty="0" smtClean="0">
                <a:solidFill>
                  <a:srgbClr val="FF0000"/>
                </a:solidFill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C</a:t>
            </a:r>
            <a:r>
              <a:rPr lang="en-US" altLang="zh-TW" sz="2100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GGAAGG</a:t>
            </a:r>
          </a:p>
          <a:p>
            <a:pPr lvl="2"/>
            <a:r>
              <a:rPr lang="en-US" altLang="zh-TW" sz="21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PSSM, ss2, .., etc</a:t>
            </a:r>
          </a:p>
          <a:p>
            <a:pPr lvl="1"/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Output:</a:t>
            </a:r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</a:p>
          <a:p>
            <a:pPr lvl="2"/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</a:t>
            </a:r>
            <a:r>
              <a:rPr lang="en-US" altLang="zh-TW" sz="20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connectivity </a:t>
            </a:r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pattern: </a:t>
            </a:r>
            <a:r>
              <a:rPr lang="en-US" altLang="zh-TW" sz="2000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itchFamily="18" charset="0"/>
              </a:rPr>
              <a:t>1- 2 -1 -2</a:t>
            </a:r>
            <a:endParaRPr lang="zh-TW" altLang="en-US" sz="2800" dirty="0" smtClean="0">
              <a:latin typeface="Gungsuh" panose="02030600000101010101" pitchFamily="18" charset="-127"/>
              <a:ea typeface="Gungsuh" panose="02030600000101010101" pitchFamily="18" charset="-127"/>
              <a:cs typeface="Times New Roman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96812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Pairwise methods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Autofit/>
          </a:bodyPr>
          <a:lstStyle/>
          <a:p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對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於任一對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cystine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當作是預測的目標</a:t>
            </a:r>
            <a:endParaRPr lang="en-US" altLang="zh-TW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對該對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cystine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擷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取特徵</a:t>
            </a:r>
            <a:endParaRPr lang="en-US" altLang="zh-TW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該對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cystine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間彼此的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距離、蛋白質長度、重量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Position-specific Scoring Matrix (PSSM)</a:t>
            </a:r>
          </a:p>
          <a:p>
            <a:pPr lvl="1"/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二級結構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structure)</a:t>
            </a:r>
          </a:p>
          <a:p>
            <a:pPr lvl="1"/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其他特徵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使用機器學習的方法預測此對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cystine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是否具有雙硫鍵鍵結</a:t>
            </a:r>
            <a:endParaRPr lang="en-US" altLang="zh-TW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後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統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計在同一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條蛋白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質序列中所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有成對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cystine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的預測狀態，來歸納整理出最後的整條蛋白質鍵結情形</a:t>
            </a:r>
            <a:endParaRPr lang="en-US" altLang="zh-TW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84879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Pattern-wise methods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對於一條蛋白質的雙硫鍵鍵</a:t>
            </a:r>
            <a:r>
              <a:rPr lang="zh-TW" altLang="en-US" dirty="0" smtClean="0"/>
              <a:t>結</a:t>
            </a:r>
            <a:r>
              <a:rPr lang="en-US" altLang="zh-TW" dirty="0" smtClean="0"/>
              <a:t>pattern</a:t>
            </a:r>
            <a:r>
              <a:rPr lang="zh-TW" altLang="en-US" dirty="0" smtClean="0"/>
              <a:t>當作</a:t>
            </a:r>
            <a:r>
              <a:rPr lang="zh-TW" altLang="en-US" dirty="0"/>
              <a:t>是</a:t>
            </a:r>
            <a:r>
              <a:rPr lang="zh-TW" altLang="en-US" dirty="0" smtClean="0"/>
              <a:t>測</a:t>
            </a:r>
            <a:r>
              <a:rPr lang="zh-TW" altLang="en-US" dirty="0"/>
              <a:t>試與訓</a:t>
            </a:r>
            <a:r>
              <a:rPr lang="zh-TW" altLang="en-US" dirty="0" smtClean="0"/>
              <a:t>練的目標</a:t>
            </a:r>
            <a:endParaRPr lang="en-US" altLang="zh-TW" dirty="0" smtClean="0"/>
          </a:p>
          <a:p>
            <a:r>
              <a:rPr lang="zh-TW" altLang="en-US" dirty="0"/>
              <a:t>預測時直接預測其鍵結的</a:t>
            </a:r>
            <a:r>
              <a:rPr lang="en-US" altLang="zh-TW" dirty="0"/>
              <a:t>pattern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此方法的限制是不在訓練資料中的</a:t>
            </a:r>
            <a:r>
              <a:rPr lang="en-US" altLang="zh-TW" dirty="0" smtClean="0"/>
              <a:t>pattern</a:t>
            </a:r>
            <a:r>
              <a:rPr lang="zh-TW" altLang="en-US" dirty="0" smtClean="0"/>
              <a:t>將無法被正確預測，且受限於訓練資料筆數，尤其對於較高的雙硫鍵鍵結數的蛋白質影響甚劇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4397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Our method(1/4)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這裡將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SP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39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資料庫中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具有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個雙硫鍵的蛋白質抽出作為新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資料庫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SP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39-bn04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簡稱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bn04</a:t>
            </a:r>
          </a:p>
          <a:p>
            <a:pPr lvl="1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個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雙硫鍵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作為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SP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39-bn05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(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bn05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)</a:t>
            </a:r>
          </a:p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將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資料庫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中雙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硫鍵的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cystine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抽出與蛋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白質的特徵記錄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為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.label,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.features)</a:t>
            </a:r>
          </a:p>
          <a:p>
            <a:pPr marL="457200" lvl="1" indent="0">
              <a:buNone/>
            </a:pP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1-1-2-2-3-3-4-4</a:t>
            </a:r>
          </a:p>
          <a:p>
            <a:pPr marL="457200" lvl="1" indent="0">
              <a:buNone/>
            </a:pP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C</a:t>
            </a:r>
            <a:r>
              <a:rPr lang="en-US" altLang="zh-TW" baseline="-25000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1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- C</a:t>
            </a:r>
            <a:r>
              <a:rPr lang="en-US" altLang="zh-TW" baseline="-25000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2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- C</a:t>
            </a:r>
            <a:r>
              <a:rPr lang="en-US" altLang="zh-TW" baseline="-25000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3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- C</a:t>
            </a:r>
            <a:r>
              <a:rPr lang="en-US" altLang="zh-TW" baseline="-25000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4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- C</a:t>
            </a:r>
            <a:r>
              <a:rPr lang="en-US" altLang="zh-TW" baseline="-25000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5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- C</a:t>
            </a:r>
            <a:r>
              <a:rPr lang="en-US" altLang="zh-TW" baseline="-25000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6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- C</a:t>
            </a:r>
            <a:r>
              <a:rPr lang="en-US" altLang="zh-TW" baseline="-25000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7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- C</a:t>
            </a:r>
            <a:r>
              <a:rPr lang="en-US" altLang="zh-TW" baseline="-25000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8</a:t>
            </a:r>
          </a:p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目標為預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測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cystine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84545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Our </a:t>
            </a:r>
            <a:r>
              <a:rPr lang="en-US" altLang="zh-TW" dirty="0" smtClean="0"/>
              <a:t>method(2/4)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為預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測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cystine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所有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相同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i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置的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c</a:t>
            </a:r>
            <a:r>
              <a:rPr lang="en-US" altLang="zh-TW" baseline="-25000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i</a:t>
            </a:r>
            <a:r>
              <a:rPr lang="zh-TW" altLang="en-US" baseline="-25000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將會一同訓練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bn04</a:t>
            </a:r>
            <a:r>
              <a:rPr lang="zh-TW" altLang="en-US" dirty="0" smtClean="0"/>
              <a:t>會有八次</a:t>
            </a:r>
            <a:r>
              <a:rPr lang="en-US" altLang="zh-TW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c</a:t>
            </a:r>
            <a:r>
              <a:rPr lang="en-US" altLang="zh-TW" baseline="-25000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i</a:t>
            </a:r>
            <a:r>
              <a:rPr lang="zh-TW" altLang="en-US" dirty="0" smtClean="0"/>
              <a:t>的訓練</a:t>
            </a:r>
            <a:r>
              <a:rPr lang="en-US" altLang="zh-TW" dirty="0" smtClean="0"/>
              <a:t>(</a:t>
            </a:r>
            <a:r>
              <a:rPr lang="en-US" altLang="zh-TW" sz="1800" dirty="0">
                <a:latin typeface="Gungsuh" panose="02030600000101010101" pitchFamily="18" charset="-127"/>
                <a:ea typeface="Gungsuh" panose="02030600000101010101" pitchFamily="18" charset="-127"/>
              </a:rPr>
              <a:t>C</a:t>
            </a:r>
            <a:r>
              <a:rPr lang="en-US" altLang="zh-TW" sz="1800" baseline="-25000" dirty="0">
                <a:latin typeface="Gungsuh" panose="02030600000101010101" pitchFamily="18" charset="-127"/>
                <a:ea typeface="Gungsuh" panose="02030600000101010101" pitchFamily="18" charset="-127"/>
              </a:rPr>
              <a:t>1</a:t>
            </a:r>
            <a:r>
              <a:rPr lang="en-US" altLang="zh-TW" sz="1800" dirty="0">
                <a:latin typeface="Gungsuh" panose="02030600000101010101" pitchFamily="18" charset="-127"/>
                <a:ea typeface="Gungsuh" panose="02030600000101010101" pitchFamily="18" charset="-127"/>
              </a:rPr>
              <a:t> , C</a:t>
            </a:r>
            <a:r>
              <a:rPr lang="en-US" altLang="zh-TW" sz="1800" baseline="-25000" dirty="0">
                <a:latin typeface="Gungsuh" panose="02030600000101010101" pitchFamily="18" charset="-127"/>
                <a:ea typeface="Gungsuh" panose="02030600000101010101" pitchFamily="18" charset="-127"/>
              </a:rPr>
              <a:t>2</a:t>
            </a:r>
            <a:r>
              <a:rPr lang="en-US" altLang="zh-TW" sz="1800" dirty="0">
                <a:latin typeface="Gungsuh" panose="02030600000101010101" pitchFamily="18" charset="-127"/>
                <a:ea typeface="Gungsuh" panose="02030600000101010101" pitchFamily="18" charset="-127"/>
              </a:rPr>
              <a:t>, C</a:t>
            </a:r>
            <a:r>
              <a:rPr lang="en-US" altLang="zh-TW" sz="1800" baseline="-25000" dirty="0">
                <a:latin typeface="Gungsuh" panose="02030600000101010101" pitchFamily="18" charset="-127"/>
                <a:ea typeface="Gungsuh" panose="02030600000101010101" pitchFamily="18" charset="-127"/>
              </a:rPr>
              <a:t>3 </a:t>
            </a:r>
            <a:r>
              <a:rPr lang="en-US" altLang="zh-TW" sz="1800" dirty="0">
                <a:latin typeface="Gungsuh" panose="02030600000101010101" pitchFamily="18" charset="-127"/>
                <a:ea typeface="Gungsuh" panose="02030600000101010101" pitchFamily="18" charset="-127"/>
              </a:rPr>
              <a:t>, C</a:t>
            </a:r>
            <a:r>
              <a:rPr lang="en-US" altLang="zh-TW" sz="1800" baseline="-25000" dirty="0">
                <a:latin typeface="Gungsuh" panose="02030600000101010101" pitchFamily="18" charset="-127"/>
                <a:ea typeface="Gungsuh" panose="02030600000101010101" pitchFamily="18" charset="-127"/>
              </a:rPr>
              <a:t>4</a:t>
            </a:r>
            <a:r>
              <a:rPr lang="en-US" altLang="zh-TW" sz="1800" dirty="0">
                <a:latin typeface="Gungsuh" panose="02030600000101010101" pitchFamily="18" charset="-127"/>
                <a:ea typeface="Gungsuh" panose="02030600000101010101" pitchFamily="18" charset="-127"/>
              </a:rPr>
              <a:t>, C</a:t>
            </a:r>
            <a:r>
              <a:rPr lang="en-US" altLang="zh-TW" sz="1800" baseline="-25000" dirty="0">
                <a:latin typeface="Gungsuh" panose="02030600000101010101" pitchFamily="18" charset="-127"/>
                <a:ea typeface="Gungsuh" panose="02030600000101010101" pitchFamily="18" charset="-127"/>
              </a:rPr>
              <a:t>5</a:t>
            </a:r>
            <a:r>
              <a:rPr lang="en-US" altLang="zh-TW" sz="1800" dirty="0">
                <a:latin typeface="Gungsuh" panose="02030600000101010101" pitchFamily="18" charset="-127"/>
                <a:ea typeface="Gungsuh" panose="02030600000101010101" pitchFamily="18" charset="-127"/>
              </a:rPr>
              <a:t>, C</a:t>
            </a:r>
            <a:r>
              <a:rPr lang="en-US" altLang="zh-TW" sz="1800" baseline="-25000" dirty="0">
                <a:latin typeface="Gungsuh" panose="02030600000101010101" pitchFamily="18" charset="-127"/>
                <a:ea typeface="Gungsuh" panose="02030600000101010101" pitchFamily="18" charset="-127"/>
              </a:rPr>
              <a:t>6 </a:t>
            </a:r>
            <a:r>
              <a:rPr lang="en-US" altLang="zh-TW" sz="1800" dirty="0">
                <a:latin typeface="Gungsuh" panose="02030600000101010101" pitchFamily="18" charset="-127"/>
                <a:ea typeface="Gungsuh" panose="02030600000101010101" pitchFamily="18" charset="-127"/>
              </a:rPr>
              <a:t>, C</a:t>
            </a:r>
            <a:r>
              <a:rPr lang="en-US" altLang="zh-TW" sz="1800" baseline="-25000" dirty="0">
                <a:latin typeface="Gungsuh" panose="02030600000101010101" pitchFamily="18" charset="-127"/>
                <a:ea typeface="Gungsuh" panose="02030600000101010101" pitchFamily="18" charset="-127"/>
              </a:rPr>
              <a:t>7</a:t>
            </a:r>
            <a:r>
              <a:rPr lang="en-US" altLang="zh-TW" sz="1800" dirty="0">
                <a:latin typeface="Gungsuh" panose="02030600000101010101" pitchFamily="18" charset="-127"/>
                <a:ea typeface="Gungsuh" panose="02030600000101010101" pitchFamily="18" charset="-127"/>
              </a:rPr>
              <a:t>, C</a:t>
            </a:r>
            <a:r>
              <a:rPr lang="en-US" altLang="zh-TW" sz="1800" baseline="-25000" dirty="0">
                <a:latin typeface="Gungsuh" panose="02030600000101010101" pitchFamily="18" charset="-127"/>
                <a:ea typeface="Gungsuh" panose="02030600000101010101" pitchFamily="18" charset="-127"/>
              </a:rPr>
              <a:t>8</a:t>
            </a:r>
            <a:r>
              <a:rPr lang="en-US" altLang="zh-TW" baseline="-25000" dirty="0">
                <a:latin typeface="Gungsuh" panose="02030600000101010101" pitchFamily="18" charset="-127"/>
                <a:ea typeface="Gungsuh" panose="02030600000101010101" pitchFamily="18" charset="-127"/>
              </a:rPr>
              <a:t> </a:t>
            </a:r>
            <a:r>
              <a:rPr lang="en-US" altLang="zh-TW" dirty="0" smtClean="0"/>
              <a:t>)</a:t>
            </a:r>
          </a:p>
          <a:p>
            <a:pPr lvl="2"/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每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一個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cystines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皆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種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可能的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</a:p>
          <a:p>
            <a:pPr lvl="2"/>
            <a:r>
              <a:rPr lang="en-US" altLang="zh-TW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C</a:t>
            </a:r>
            <a:r>
              <a:rPr lang="en-US" altLang="zh-TW" baseline="-25000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1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(5|4|3|1|2),  </a:t>
            </a:r>
            <a:r>
              <a:rPr lang="en-US" altLang="zh-TW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C</a:t>
            </a:r>
            <a:r>
              <a:rPr lang="en-US" altLang="zh-TW" baseline="-25000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(5|4|3|1|2),..,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C</a:t>
            </a:r>
            <a:r>
              <a:rPr lang="en-US" altLang="zh-TW" baseline="-25000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10</a:t>
            </a:r>
            <a:r>
              <a:rPr lang="zh-TW" altLang="en-US" baseline="-25000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(5|4|3|1|2)</a:t>
            </a:r>
            <a:endParaRPr lang="en-US" altLang="zh-TW" dirty="0">
              <a:latin typeface="Gungsuh" panose="02030600000101010101" pitchFamily="18" charset="-127"/>
              <a:ea typeface="Gungsuh" panose="02030600000101010101" pitchFamily="18" charset="-127"/>
              <a:cs typeface="Times New Roman" panose="02020603050405020304" pitchFamily="18" charset="0"/>
            </a:endParaRPr>
          </a:p>
          <a:p>
            <a:pPr lvl="2"/>
            <a:endParaRPr lang="en-US" altLang="zh-TW" dirty="0"/>
          </a:p>
          <a:p>
            <a:pPr lvl="1"/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libsvm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的預測得到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C</a:t>
            </a:r>
            <a:r>
              <a:rPr lang="en-US" altLang="zh-TW" baseline="-25000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i</a:t>
            </a:r>
            <a:r>
              <a:rPr lang="zh-TW" altLang="en-US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對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label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的機率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TW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labels 5 4 3 1 2</a:t>
            </a:r>
          </a:p>
          <a:p>
            <a:pPr lvl="2"/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5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 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(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0.43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| 0.41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| 0.09 |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0.03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| 0.04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Gungsuh" panose="02030600000101010101" pitchFamily="18" charset="-127"/>
              <a:ea typeface="Gungsuh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18095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Our </a:t>
            </a:r>
            <a:r>
              <a:rPr lang="en-US" altLang="zh-TW" dirty="0" smtClean="0"/>
              <a:t>method(3/4)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>
                <a:latin typeface="+mn-ea"/>
              </a:rPr>
              <a:t>以下</a:t>
            </a:r>
            <a:r>
              <a:rPr lang="zh-TW" altLang="en-US" dirty="0" smtClean="0">
                <a:latin typeface="+mn-ea"/>
              </a:rPr>
              <a:t>是在同一蛋白質序列中的</a:t>
            </a:r>
            <a:r>
              <a:rPr lang="en-US" altLang="zh-TW" dirty="0" smtClean="0">
                <a:latin typeface="+mn-ea"/>
                <a:cs typeface="Times New Roman" panose="02020603050405020304" pitchFamily="18" charset="0"/>
              </a:rPr>
              <a:t>C</a:t>
            </a:r>
            <a:r>
              <a:rPr lang="en-US" altLang="zh-TW" baseline="-25000" dirty="0" smtClean="0">
                <a:latin typeface="+mn-ea"/>
                <a:cs typeface="Times New Roman" panose="02020603050405020304" pitchFamily="18" charset="0"/>
              </a:rPr>
              <a:t>i</a:t>
            </a:r>
            <a:r>
              <a:rPr lang="zh-TW" altLang="en-US" baseline="-25000" dirty="0" smtClean="0">
                <a:latin typeface="+mn-ea"/>
                <a:cs typeface="Times New Roman" panose="02020603050405020304" pitchFamily="18" charset="0"/>
              </a:rPr>
              <a:t> </a:t>
            </a:r>
            <a:r>
              <a:rPr lang="zh-TW" altLang="en-US" dirty="0" smtClean="0">
                <a:latin typeface="+mn-ea"/>
                <a:cs typeface="Times New Roman" panose="02020603050405020304" pitchFamily="18" charset="0"/>
              </a:rPr>
              <a:t>與 </a:t>
            </a:r>
            <a:r>
              <a:rPr lang="en-US" altLang="zh-TW" dirty="0" smtClean="0">
                <a:latin typeface="+mn-ea"/>
                <a:cs typeface="Times New Roman" panose="02020603050405020304" pitchFamily="18" charset="0"/>
              </a:rPr>
              <a:t>C</a:t>
            </a:r>
            <a:r>
              <a:rPr lang="en-US" altLang="zh-TW" baseline="-25000" dirty="0" smtClean="0">
                <a:latin typeface="+mn-ea"/>
                <a:cs typeface="Times New Roman" panose="02020603050405020304" pitchFamily="18" charset="0"/>
              </a:rPr>
              <a:t>J</a:t>
            </a:r>
            <a:r>
              <a:rPr lang="zh-TW" altLang="en-US" dirty="0" smtClean="0">
                <a:latin typeface="+mn-ea"/>
                <a:cs typeface="Times New Roman" panose="02020603050405020304" pitchFamily="18" charset="0"/>
              </a:rPr>
              <a:t> 兩個不同的</a:t>
            </a:r>
            <a:r>
              <a:rPr lang="en-US" altLang="zh-TW" dirty="0" smtClean="0">
                <a:latin typeface="+mn-ea"/>
                <a:cs typeface="Times New Roman" panose="02020603050405020304" pitchFamily="18" charset="0"/>
              </a:rPr>
              <a:t>cystine</a:t>
            </a:r>
            <a:r>
              <a:rPr lang="zh-TW" altLang="en-US" dirty="0" smtClean="0">
                <a:latin typeface="+mn-ea"/>
                <a:cs typeface="Times New Roman" panose="02020603050405020304" pitchFamily="18" charset="0"/>
              </a:rPr>
              <a:t>與</a:t>
            </a:r>
            <a:r>
              <a:rPr lang="en-US" altLang="zh-TW" dirty="0" smtClean="0">
                <a:latin typeface="+mn-ea"/>
                <a:cs typeface="Times New Roman" panose="02020603050405020304" pitchFamily="18" charset="0"/>
              </a:rPr>
              <a:t>label</a:t>
            </a:r>
            <a:r>
              <a:rPr lang="zh-TW" altLang="en-US" dirty="0" smtClean="0">
                <a:latin typeface="+mn-ea"/>
                <a:cs typeface="Times New Roman" panose="02020603050405020304" pitchFamily="18" charset="0"/>
              </a:rPr>
              <a:t>所對應到的機率值 </a:t>
            </a:r>
            <a:endParaRPr lang="en-US" altLang="zh-TW" dirty="0" smtClean="0">
              <a:latin typeface="+mn-ea"/>
            </a:endParaRPr>
          </a:p>
          <a:p>
            <a:pPr lvl="2"/>
            <a:r>
              <a:rPr lang="en-US" altLang="zh-TW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labels 5 4 3 1 2</a:t>
            </a:r>
          </a:p>
          <a:p>
            <a:pPr lvl="2"/>
            <a:r>
              <a:rPr lang="en-US" altLang="zh-TW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5</a:t>
            </a:r>
            <a:r>
              <a:rPr lang="zh-TW" altLang="en-US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  </a:t>
            </a:r>
            <a:r>
              <a:rPr lang="en-US" altLang="zh-TW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(</a:t>
            </a:r>
            <a:r>
              <a:rPr lang="zh-TW" altLang="en-US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0.43</a:t>
            </a:r>
            <a:r>
              <a:rPr lang="zh-TW" altLang="en-US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| 0.41</a:t>
            </a:r>
            <a:r>
              <a:rPr lang="zh-TW" altLang="en-US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| 0.09 |</a:t>
            </a:r>
            <a:r>
              <a:rPr lang="zh-TW" altLang="en-US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0.03</a:t>
            </a:r>
            <a:r>
              <a:rPr lang="zh-TW" altLang="en-US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|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0.04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Gungsuh" panose="02030600000101010101" pitchFamily="18" charset="-127"/>
              <a:ea typeface="Gungsuh" panose="02030600000101010101" pitchFamily="18" charset="-127"/>
              <a:cs typeface="Times New Roman" panose="02020603050405020304" pitchFamily="18" charset="0"/>
            </a:endParaRPr>
          </a:p>
          <a:p>
            <a:pPr lvl="2"/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5    ( 0.39 | 0.35 | 0.18 | 0.03 |  0.05 )</a:t>
            </a:r>
          </a:p>
          <a:p>
            <a:pPr lvl="2"/>
            <a:endParaRPr lang="en-US" altLang="zh-TW" dirty="0">
              <a:latin typeface="Gungsuh" panose="02030600000101010101" pitchFamily="18" charset="-127"/>
              <a:ea typeface="Gungsuh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+mn-ea"/>
                <a:cs typeface="Times New Roman" panose="02020603050405020304" pitchFamily="18" charset="0"/>
              </a:rPr>
              <a:t>這裡將預測為同</a:t>
            </a:r>
            <a:r>
              <a:rPr lang="en-US" altLang="zh-TW" dirty="0">
                <a:latin typeface="+mn-ea"/>
                <a:cs typeface="Times New Roman" panose="02020603050405020304" pitchFamily="18" charset="0"/>
              </a:rPr>
              <a:t>label</a:t>
            </a:r>
            <a:r>
              <a:rPr lang="zh-TW" altLang="en-US" dirty="0">
                <a:latin typeface="+mn-ea"/>
                <a:cs typeface="Times New Roman" panose="02020603050405020304" pitchFamily="18" charset="0"/>
              </a:rPr>
              <a:t>值的機率</a:t>
            </a:r>
            <a:r>
              <a:rPr lang="zh-TW" altLang="en-US" dirty="0" smtClean="0">
                <a:latin typeface="+mn-ea"/>
                <a:cs typeface="Times New Roman" panose="02020603050405020304" pitchFamily="18" charset="0"/>
              </a:rPr>
              <a:t>相乘即</a:t>
            </a:r>
            <a:r>
              <a:rPr lang="zh-TW" altLang="en-US" dirty="0">
                <a:latin typeface="+mn-ea"/>
                <a:cs typeface="Times New Roman" panose="02020603050405020304" pitchFamily="18" charset="0"/>
              </a:rPr>
              <a:t>為</a:t>
            </a:r>
            <a:r>
              <a:rPr lang="zh-TW" altLang="en-US" dirty="0" smtClean="0">
                <a:latin typeface="+mn-ea"/>
                <a:cs typeface="Times New Roman" panose="02020603050405020304" pitchFamily="18" charset="0"/>
              </a:rPr>
              <a:t>此對</a:t>
            </a:r>
            <a:r>
              <a:rPr lang="en-US" altLang="zh-TW" dirty="0" smtClean="0">
                <a:latin typeface="+mn-ea"/>
                <a:cs typeface="Times New Roman" panose="02020603050405020304" pitchFamily="18" charset="0"/>
              </a:rPr>
              <a:t>cystine</a:t>
            </a:r>
            <a:r>
              <a:rPr lang="zh-TW" altLang="en-US" dirty="0">
                <a:latin typeface="+mn-ea"/>
                <a:cs typeface="Times New Roman" panose="02020603050405020304" pitchFamily="18" charset="0"/>
              </a:rPr>
              <a:t>構</a:t>
            </a:r>
            <a:r>
              <a:rPr lang="zh-TW" altLang="en-US" dirty="0" smtClean="0">
                <a:latin typeface="+mn-ea"/>
                <a:cs typeface="Times New Roman" panose="02020603050405020304" pitchFamily="18" charset="0"/>
              </a:rPr>
              <a:t>成雙硫鍵的機率</a:t>
            </a:r>
            <a:endParaRPr lang="en-US" altLang="zh-TW" dirty="0" smtClean="0">
              <a:latin typeface="+mn-ea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0.43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*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0.39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+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0.41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*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0.35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+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0.09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*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0.18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+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0.03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*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0.03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+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0.04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*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0.05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=</a:t>
            </a:r>
            <a:r>
              <a:rPr lang="zh-TW" altLang="en-US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0.3303</a:t>
            </a:r>
            <a:endParaRPr lang="zh-TW" altLang="en-US" dirty="0">
              <a:latin typeface="Gungsuh" panose="02030600000101010101" pitchFamily="18" charset="-127"/>
              <a:ea typeface="Gungsuh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4038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Our </a:t>
            </a:r>
            <a:r>
              <a:rPr lang="en-US" altLang="zh-TW" dirty="0" smtClean="0"/>
              <a:t>method(4/4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最後再利用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 matching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的方式找出在一條蛋白質中最有可能的雙硫鍵鍵結情形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結果為</a:t>
            </a:r>
            <a:r>
              <a:rPr lang="en-US" altLang="zh-TW" dirty="0"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1-2-1-2</a:t>
            </a: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11</a:t>
            </a:fld>
            <a:endParaRPr lang="zh-TW" altLang="en-US"/>
          </a:p>
        </p:txBody>
      </p:sp>
      <p:grpSp>
        <p:nvGrpSpPr>
          <p:cNvPr id="27" name="群組 26"/>
          <p:cNvGrpSpPr/>
          <p:nvPr/>
        </p:nvGrpSpPr>
        <p:grpSpPr>
          <a:xfrm>
            <a:off x="2903862" y="2869997"/>
            <a:ext cx="2880320" cy="2057977"/>
            <a:chOff x="1799692" y="2955199"/>
            <a:chExt cx="2880320" cy="2057977"/>
          </a:xfrm>
        </p:grpSpPr>
        <p:sp>
          <p:nvSpPr>
            <p:cNvPr id="5" name="橢圓 4"/>
            <p:cNvSpPr/>
            <p:nvPr/>
          </p:nvSpPr>
          <p:spPr>
            <a:xfrm>
              <a:off x="1979712" y="3068960"/>
              <a:ext cx="648072" cy="5040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C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1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" name="橢圓 5"/>
            <p:cNvSpPr/>
            <p:nvPr/>
          </p:nvSpPr>
          <p:spPr>
            <a:xfrm>
              <a:off x="3851920" y="3068960"/>
              <a:ext cx="648072" cy="5040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C</a:t>
              </a:r>
              <a:r>
                <a:rPr lang="en-US" altLang="zh-TW" baseline="-25000" dirty="0" smtClean="0">
                  <a:solidFill>
                    <a:schemeClr val="tx1"/>
                  </a:solidFill>
                </a:rPr>
                <a:t>2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7" name="橢圓 6"/>
            <p:cNvSpPr/>
            <p:nvPr/>
          </p:nvSpPr>
          <p:spPr>
            <a:xfrm>
              <a:off x="1979712" y="4509120"/>
              <a:ext cx="648072" cy="5040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C</a:t>
              </a:r>
              <a:r>
                <a:rPr lang="en-US" altLang="zh-TW" baseline="-25000" dirty="0" smtClean="0">
                  <a:solidFill>
                    <a:schemeClr val="tx1"/>
                  </a:solidFill>
                </a:rPr>
                <a:t>4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8" name="橢圓 7"/>
            <p:cNvSpPr/>
            <p:nvPr/>
          </p:nvSpPr>
          <p:spPr>
            <a:xfrm>
              <a:off x="3851920" y="4509120"/>
              <a:ext cx="648072" cy="5040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C</a:t>
              </a:r>
              <a:r>
                <a:rPr lang="en-US" altLang="zh-TW" baseline="-25000" dirty="0" smtClean="0">
                  <a:solidFill>
                    <a:schemeClr val="tx1"/>
                  </a:solidFill>
                </a:rPr>
                <a:t>3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直線接點 9"/>
            <p:cNvCxnSpPr>
              <a:stCxn id="5" idx="4"/>
              <a:endCxn id="7" idx="0"/>
            </p:cNvCxnSpPr>
            <p:nvPr/>
          </p:nvCxnSpPr>
          <p:spPr>
            <a:xfrm>
              <a:off x="2303748" y="3573016"/>
              <a:ext cx="0" cy="9361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>
              <a:stCxn id="6" idx="4"/>
              <a:endCxn id="8" idx="0"/>
            </p:cNvCxnSpPr>
            <p:nvPr/>
          </p:nvCxnSpPr>
          <p:spPr>
            <a:xfrm>
              <a:off x="4175956" y="3573016"/>
              <a:ext cx="0" cy="9361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>
              <a:stCxn id="5" idx="5"/>
              <a:endCxn id="8" idx="1"/>
            </p:cNvCxnSpPr>
            <p:nvPr/>
          </p:nvCxnSpPr>
          <p:spPr>
            <a:xfrm>
              <a:off x="2532876" y="3499199"/>
              <a:ext cx="1413952" cy="10837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>
              <a:stCxn id="7" idx="7"/>
              <a:endCxn id="6" idx="3"/>
            </p:cNvCxnSpPr>
            <p:nvPr/>
          </p:nvCxnSpPr>
          <p:spPr>
            <a:xfrm flipV="1">
              <a:off x="2532876" y="3499199"/>
              <a:ext cx="1413952" cy="10837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>
              <a:stCxn id="5" idx="6"/>
              <a:endCxn id="6" idx="2"/>
            </p:cNvCxnSpPr>
            <p:nvPr/>
          </p:nvCxnSpPr>
          <p:spPr>
            <a:xfrm>
              <a:off x="2627784" y="3320988"/>
              <a:ext cx="122413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>
              <a:stCxn id="7" idx="6"/>
              <a:endCxn id="8" idx="2"/>
            </p:cNvCxnSpPr>
            <p:nvPr/>
          </p:nvCxnSpPr>
          <p:spPr>
            <a:xfrm>
              <a:off x="2627784" y="4761148"/>
              <a:ext cx="122413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字方塊 20"/>
            <p:cNvSpPr txBox="1"/>
            <p:nvPr/>
          </p:nvSpPr>
          <p:spPr>
            <a:xfrm>
              <a:off x="2975870" y="2955199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0.9</a:t>
              </a:r>
              <a:endParaRPr lang="zh-TW" altLang="en-US" dirty="0"/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2987824" y="4643844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0.2</a:t>
              </a:r>
              <a:endParaRPr lang="zh-TW" altLang="en-US" dirty="0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4175956" y="3856402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0.5</a:t>
              </a:r>
              <a:endParaRPr lang="zh-TW" altLang="en-US" dirty="0"/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1799692" y="3856402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0.6</a:t>
              </a:r>
              <a:endParaRPr lang="zh-TW" altLang="en-US" dirty="0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2691996" y="3573016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0.3</a:t>
              </a:r>
              <a:endParaRPr lang="zh-TW" altLang="en-US" dirty="0"/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3345207" y="3573016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0.7</a:t>
              </a:r>
              <a:endParaRPr lang="zh-TW" altLang="en-US" dirty="0"/>
            </a:p>
          </p:txBody>
        </p:sp>
      </p:grpSp>
      <p:grpSp>
        <p:nvGrpSpPr>
          <p:cNvPr id="28" name="群組 27"/>
          <p:cNvGrpSpPr/>
          <p:nvPr/>
        </p:nvGrpSpPr>
        <p:grpSpPr>
          <a:xfrm>
            <a:off x="2903862" y="2869997"/>
            <a:ext cx="2880320" cy="2057977"/>
            <a:chOff x="1799692" y="2955199"/>
            <a:chExt cx="2880320" cy="2057977"/>
          </a:xfrm>
        </p:grpSpPr>
        <p:sp>
          <p:nvSpPr>
            <p:cNvPr id="29" name="橢圓 28"/>
            <p:cNvSpPr/>
            <p:nvPr/>
          </p:nvSpPr>
          <p:spPr>
            <a:xfrm>
              <a:off x="1979712" y="3068960"/>
              <a:ext cx="648072" cy="50405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C</a:t>
              </a:r>
              <a:r>
                <a:rPr lang="en-US" altLang="zh-TW" baseline="-25000" dirty="0">
                  <a:solidFill>
                    <a:schemeClr val="tx1"/>
                  </a:solidFill>
                </a:rPr>
                <a:t>1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30" name="橢圓 29"/>
            <p:cNvSpPr/>
            <p:nvPr/>
          </p:nvSpPr>
          <p:spPr>
            <a:xfrm>
              <a:off x="3851920" y="3068960"/>
              <a:ext cx="648072" cy="50405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C</a:t>
              </a:r>
              <a:r>
                <a:rPr lang="en-US" altLang="zh-TW" baseline="-25000" dirty="0" smtClean="0">
                  <a:solidFill>
                    <a:schemeClr val="tx1"/>
                  </a:solidFill>
                </a:rPr>
                <a:t>2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31" name="橢圓 30"/>
            <p:cNvSpPr/>
            <p:nvPr/>
          </p:nvSpPr>
          <p:spPr>
            <a:xfrm>
              <a:off x="1979712" y="4509120"/>
              <a:ext cx="648072" cy="50405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C</a:t>
              </a:r>
              <a:r>
                <a:rPr lang="en-US" altLang="zh-TW" baseline="-25000" dirty="0" smtClean="0">
                  <a:solidFill>
                    <a:schemeClr val="tx1"/>
                  </a:solidFill>
                </a:rPr>
                <a:t>4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32" name="橢圓 31"/>
            <p:cNvSpPr/>
            <p:nvPr/>
          </p:nvSpPr>
          <p:spPr>
            <a:xfrm>
              <a:off x="3851920" y="4509120"/>
              <a:ext cx="648072" cy="50405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C</a:t>
              </a:r>
              <a:r>
                <a:rPr lang="en-US" altLang="zh-TW" baseline="-25000" dirty="0" smtClean="0">
                  <a:solidFill>
                    <a:schemeClr val="tx1"/>
                  </a:solidFill>
                </a:rPr>
                <a:t>3</a:t>
              </a:r>
              <a:endParaRPr lang="zh-TW" altLang="en-US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33" name="直線接點 32"/>
            <p:cNvCxnSpPr>
              <a:stCxn id="29" idx="4"/>
              <a:endCxn id="31" idx="0"/>
            </p:cNvCxnSpPr>
            <p:nvPr/>
          </p:nvCxnSpPr>
          <p:spPr>
            <a:xfrm>
              <a:off x="2303748" y="3573016"/>
              <a:ext cx="0" cy="93610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>
              <a:stCxn id="30" idx="4"/>
              <a:endCxn id="32" idx="0"/>
            </p:cNvCxnSpPr>
            <p:nvPr/>
          </p:nvCxnSpPr>
          <p:spPr>
            <a:xfrm>
              <a:off x="4175956" y="3573016"/>
              <a:ext cx="0" cy="93610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>
              <a:stCxn id="29" idx="5"/>
              <a:endCxn id="32" idx="1"/>
            </p:cNvCxnSpPr>
            <p:nvPr/>
          </p:nvCxnSpPr>
          <p:spPr>
            <a:xfrm>
              <a:off x="2532876" y="3499199"/>
              <a:ext cx="1413952" cy="10837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>
              <a:stCxn id="31" idx="7"/>
              <a:endCxn id="30" idx="3"/>
            </p:cNvCxnSpPr>
            <p:nvPr/>
          </p:nvCxnSpPr>
          <p:spPr>
            <a:xfrm flipV="1">
              <a:off x="2532876" y="3499199"/>
              <a:ext cx="1413952" cy="10837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/>
            <p:cNvCxnSpPr>
              <a:stCxn id="29" idx="6"/>
              <a:endCxn id="30" idx="2"/>
            </p:cNvCxnSpPr>
            <p:nvPr/>
          </p:nvCxnSpPr>
          <p:spPr>
            <a:xfrm>
              <a:off x="2627784" y="3320988"/>
              <a:ext cx="122413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/>
            <p:cNvCxnSpPr>
              <a:stCxn id="31" idx="6"/>
              <a:endCxn id="32" idx="2"/>
            </p:cNvCxnSpPr>
            <p:nvPr/>
          </p:nvCxnSpPr>
          <p:spPr>
            <a:xfrm>
              <a:off x="2627784" y="4761148"/>
              <a:ext cx="122413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字方塊 38"/>
            <p:cNvSpPr txBox="1"/>
            <p:nvPr/>
          </p:nvSpPr>
          <p:spPr>
            <a:xfrm>
              <a:off x="2975870" y="2955199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0.9</a:t>
              </a:r>
              <a:endPara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2987824" y="4643844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0.2</a:t>
              </a:r>
              <a:endPara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4175956" y="3856402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0.5</a:t>
              </a:r>
              <a:endParaRPr lang="zh-TW" altLang="en-US" dirty="0"/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1799692" y="3856402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0.6</a:t>
              </a:r>
              <a:endParaRPr lang="zh-TW" altLang="en-US" dirty="0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2691996" y="3573016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0.3</a:t>
              </a:r>
              <a:endPara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3345207" y="3573016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0.7</a:t>
              </a:r>
              <a:endPara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700615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Dataset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</a:rPr>
              <a:t>SP39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itchFamily="18" charset="0"/>
              </a:rPr>
              <a:t>(SWISS-PROT</a:t>
            </a:r>
            <a:r>
              <a:rPr lang="en-US" altLang="zh-TW" dirty="0" smtClean="0">
                <a:latin typeface="+mj-ea"/>
                <a:ea typeface="+mj-ea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Gungsuh" panose="02030600000101010101" pitchFamily="18" charset="-127"/>
                <a:ea typeface="Gungsuh" panose="02030600000101010101" pitchFamily="18" charset="-127"/>
                <a:cs typeface="Times New Roman" pitchFamily="18" charset="0"/>
              </a:rPr>
              <a:t>release no. 39)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Number of proteins in bond level:</a:t>
            </a:r>
          </a:p>
          <a:p>
            <a:endParaRPr lang="en-US" altLang="zh-TW" dirty="0">
              <a:latin typeface="+mj-ea"/>
              <a:ea typeface="+mj-ea"/>
              <a:cs typeface="Times New Roman" pitchFamily="18" charset="0"/>
            </a:endParaRPr>
          </a:p>
          <a:p>
            <a:endParaRPr lang="en-US" altLang="zh-TW" dirty="0" smtClean="0">
              <a:latin typeface="+mj-ea"/>
              <a:ea typeface="+mj-ea"/>
              <a:cs typeface="Times New Roman" pitchFamily="18" charset="0"/>
            </a:endParaRPr>
          </a:p>
          <a:p>
            <a:endParaRPr lang="en-US" altLang="zh-TW" dirty="0">
              <a:latin typeface="+mj-ea"/>
              <a:ea typeface="+mj-ea"/>
              <a:cs typeface="Times New Roman" pitchFamily="18" charset="0"/>
            </a:endParaRPr>
          </a:p>
          <a:p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89912775"/>
              </p:ext>
            </p:extLst>
          </p:nvPr>
        </p:nvGraphicFramePr>
        <p:xfrm>
          <a:off x="971600" y="3212976"/>
          <a:ext cx="5951986" cy="1296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602"/>
                <a:gridCol w="929392"/>
                <a:gridCol w="968334"/>
                <a:gridCol w="1015662"/>
                <a:gridCol w="991998"/>
                <a:gridCol w="991998"/>
              </a:tblGrid>
              <a:tr h="648072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Dataset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 = 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 = 3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 = 4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 = 5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B = 2..5</a:t>
                      </a:r>
                      <a:endParaRPr lang="zh-TW" altLang="en-US" dirty="0" smtClean="0"/>
                    </a:p>
                  </a:txBody>
                  <a:tcPr/>
                </a:tc>
              </a:tr>
              <a:tr h="648072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sp39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156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446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556519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891B3-4C5A-4252-B50D-82F3C33731B7}" type="slidenum">
              <a:rPr lang="zh-TW" altLang="en-US" smtClean="0"/>
              <a:pPr/>
              <a:t>13</a:t>
            </a:fld>
            <a:endParaRPr lang="zh-TW" alt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3568" y="1844824"/>
            <a:ext cx="7907197" cy="271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052684618"/>
              </p:ext>
            </p:extLst>
          </p:nvPr>
        </p:nvGraphicFramePr>
        <p:xfrm>
          <a:off x="683568" y="4509120"/>
          <a:ext cx="792087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/>
                <a:gridCol w="1152128"/>
                <a:gridCol w="1224136"/>
                <a:gridCol w="1152128"/>
                <a:gridCol w="936104"/>
                <a:gridCol w="144015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ysClr val="windowText" lastClr="000000"/>
                          </a:solidFill>
                        </a:rPr>
                        <a:t>Our methods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65.7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20.0</a:t>
                      </a:r>
                      <a:endParaRPr lang="zh-TW" altLang="en-US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683568" y="4941168"/>
            <a:ext cx="7488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B=4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使用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fold,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B=5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fold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交叉驗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證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1543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2086</TotalTime>
  <Words>866</Words>
  <Application>Microsoft Office PowerPoint</Application>
  <PresentationFormat>如螢幕大小 (4:3)</PresentationFormat>
  <Paragraphs>141</Paragraphs>
  <Slides>13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4" baseType="lpstr">
      <vt:lpstr>Office 佈景主題</vt:lpstr>
      <vt:lpstr>The Disulfide Connectivity Prediction</vt:lpstr>
      <vt:lpstr>Introduction (1/4)</vt:lpstr>
      <vt:lpstr>Introduction (2/4)</vt:lpstr>
      <vt:lpstr>Introduction (3/4)</vt:lpstr>
      <vt:lpstr>Introduction (4/4)</vt:lpstr>
      <vt:lpstr>Pairwise methods</vt:lpstr>
      <vt:lpstr>Pattern-wise methods</vt:lpstr>
      <vt:lpstr>Our method(1/4)</vt:lpstr>
      <vt:lpstr>Our method(2/4)</vt:lpstr>
      <vt:lpstr>Our method(3/4)</vt:lpstr>
      <vt:lpstr>Our method(4/4)</vt:lpstr>
      <vt:lpstr>Dataset</vt:lpstr>
      <vt:lpstr>投影片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Fangcy</dc:creator>
  <cp:lastModifiedBy>Guest</cp:lastModifiedBy>
  <cp:revision>58</cp:revision>
  <dcterms:created xsi:type="dcterms:W3CDTF">2014-03-16T09:44:44Z</dcterms:created>
  <dcterms:modified xsi:type="dcterms:W3CDTF">2014-06-16T11:25:26Z</dcterms:modified>
</cp:coreProperties>
</file>