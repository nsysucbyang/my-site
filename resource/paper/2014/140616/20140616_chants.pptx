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83" r:id="rId3"/>
    <p:sldId id="257" r:id="rId4"/>
    <p:sldId id="258" r:id="rId5"/>
    <p:sldId id="259" r:id="rId6"/>
    <p:sldId id="260" r:id="rId7"/>
    <p:sldId id="278" r:id="rId8"/>
    <p:sldId id="261" r:id="rId9"/>
    <p:sldId id="262" r:id="rId10"/>
    <p:sldId id="263" r:id="rId11"/>
    <p:sldId id="264" r:id="rId12"/>
    <p:sldId id="265" r:id="rId13"/>
    <p:sldId id="266" r:id="rId14"/>
    <p:sldId id="279" r:id="rId15"/>
    <p:sldId id="280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7" r:id="rId25"/>
    <p:sldId id="275" r:id="rId26"/>
    <p:sldId id="276" r:id="rId27"/>
    <p:sldId id="281" r:id="rId28"/>
    <p:sldId id="284" r:id="rId29"/>
    <p:sldId id="282" r:id="rId3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91" autoAdjust="0"/>
    <p:restoredTop sz="94645" autoAdjust="0"/>
  </p:normalViewPr>
  <p:slideViewPr>
    <p:cSldViewPr>
      <p:cViewPr varScale="1">
        <p:scale>
          <a:sx n="101" d="100"/>
          <a:sy n="101" d="100"/>
        </p:scale>
        <p:origin x="-25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632E1-FC06-45CB-9219-117BAE255EC2}" type="datetimeFigureOut">
              <a:rPr lang="zh-TW" altLang="en-US" smtClean="0"/>
              <a:pPr/>
              <a:t>2014/6/16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3BF45-AC15-406A-8434-F59D2F8A59E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3BF45-AC15-406A-8434-F59D2F8A59E9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3BF45-AC15-406A-8434-F59D2F8A59E9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7AE7-6AEF-45CF-91A3-A54224CCC117}" type="datetime1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649C2-F92F-4BA2-BFA4-5524AA843585}" type="datetime1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FCA6-D77D-4D52-9BA2-E02B9C4FA975}" type="datetime1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EAA-0BF1-4E2A-A6DD-3891555E2412}" type="datetime1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04C3-48DF-465A-BFD5-266D1524B0C5}" type="datetime1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A110-880B-4169-9C5A-DC8D6265C4F2}" type="datetime1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E0DF-383A-4207-95E0-78FE3ACFA4FE}" type="datetime1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9E3C-9275-47DD-A707-1E551DEEBCB2}" type="datetime1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ACF22-0607-4258-A9EC-06D1436EAF66}" type="datetime1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22AB8-43E7-4EEA-8969-3E86CC546CA7}" type="datetime1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EC6A0-13EF-4B25-A6CF-663A51E5992E}" type="datetime1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8D1C8-F024-40EE-89D3-8000057C33BB}" type="datetime1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6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 Linear Space Algorithm for the LCS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S. </a:t>
            </a:r>
            <a:r>
              <a:rPr lang="en-US" altLang="zh-TW" dirty="0" err="1" smtClean="0"/>
              <a:t>Kiran</a:t>
            </a:r>
            <a:r>
              <a:rPr lang="en-US" altLang="zh-TW" dirty="0" smtClean="0"/>
              <a:t> Kumar* and C. </a:t>
            </a:r>
            <a:r>
              <a:rPr lang="en-US" altLang="zh-TW" dirty="0" err="1" smtClean="0"/>
              <a:t>Pandu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Rangan</a:t>
            </a:r>
            <a:endParaRPr lang="en-US" altLang="zh-TW" dirty="0" smtClean="0"/>
          </a:p>
          <a:p>
            <a:r>
              <a:rPr lang="pt-BR" altLang="zh-TW" dirty="0" smtClean="0"/>
              <a:t>Acta Informatica 24, 353-362 (1987)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357950" y="5500702"/>
            <a:ext cx="25366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>
                <a:latin typeface="Calibri" pitchFamily="34" charset="0"/>
              </a:rPr>
              <a:t>Presenter:</a:t>
            </a:r>
            <a:r>
              <a:rPr lang="en-US" dirty="0" err="1" smtClean="0"/>
              <a:t>De-Sheng</a:t>
            </a:r>
            <a:r>
              <a:rPr lang="en-US" dirty="0" smtClean="0"/>
              <a:t> </a:t>
            </a:r>
            <a:r>
              <a:rPr lang="en-US" dirty="0" err="1" smtClean="0"/>
              <a:t>Jhan</a:t>
            </a:r>
            <a:endParaRPr lang="en-US" altLang="zh-TW" dirty="0" smtClean="0">
              <a:latin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</a:rPr>
              <a:t>              2014/06/16</a:t>
            </a:r>
            <a:endParaRPr lang="zh-TW" altLang="en-US" dirty="0" smtClean="0">
              <a:latin typeface="Calibri" pitchFamily="34" charset="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285720" y="1285860"/>
            <a:ext cx="885828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TW" sz="3200" dirty="0" smtClean="0"/>
              <a:t>The LCS problem is to determine the longest common subsequence(LCS) of two strings. A new linear-space algorithm to solve the LCS problem is presented. The only other algorithm with linear-space complexity is by Hirschberg and has runtime complexity </a:t>
            </a:r>
            <a:r>
              <a:rPr lang="en-US" altLang="zh-TW" sz="3200" i="1" dirty="0" smtClean="0"/>
              <a:t>O</a:t>
            </a:r>
            <a:r>
              <a:rPr lang="en-US" altLang="zh-TW" sz="3200" dirty="0" smtClean="0"/>
              <a:t>(</a:t>
            </a:r>
            <a:r>
              <a:rPr lang="en-US" altLang="zh-TW" sz="3200" i="1" dirty="0" err="1" smtClean="0"/>
              <a:t>mn</a:t>
            </a:r>
            <a:r>
              <a:rPr lang="en-US" altLang="zh-TW" sz="3200" dirty="0" smtClean="0"/>
              <a:t>)</a:t>
            </a:r>
            <a:r>
              <a:rPr lang="en-US" altLang="zh-TW" sz="3200" i="1" dirty="0" smtClean="0"/>
              <a:t>. Our algorithm, </a:t>
            </a:r>
            <a:r>
              <a:rPr lang="en-US" altLang="zh-TW" sz="3200" i="1" dirty="0" smtClean="0"/>
              <a:t>based </a:t>
            </a:r>
            <a:r>
              <a:rPr lang="en-US" altLang="zh-TW" sz="3200" dirty="0" smtClean="0"/>
              <a:t>on </a:t>
            </a:r>
            <a:r>
              <a:rPr lang="en-US" altLang="zh-TW" sz="3200" dirty="0" smtClean="0"/>
              <a:t>the divide and conquer technique, has runtime complexity </a:t>
            </a:r>
            <a:r>
              <a:rPr lang="en-US" altLang="zh-TW" sz="3200" i="1" dirty="0" smtClean="0"/>
              <a:t>O</a:t>
            </a:r>
            <a:r>
              <a:rPr lang="en-US" altLang="zh-TW" sz="3200" dirty="0" smtClean="0"/>
              <a:t>(</a:t>
            </a:r>
            <a:r>
              <a:rPr lang="en-US" altLang="zh-TW" sz="3200" i="1" dirty="0" smtClean="0"/>
              <a:t>n</a:t>
            </a:r>
            <a:r>
              <a:rPr lang="en-US" altLang="zh-TW" sz="3200" dirty="0" smtClean="0"/>
              <a:t>(</a:t>
            </a:r>
            <a:r>
              <a:rPr lang="en-US" altLang="zh-TW" sz="3200" i="1" dirty="0" smtClean="0"/>
              <a:t>m-p</a:t>
            </a:r>
            <a:r>
              <a:rPr lang="en-US" altLang="zh-TW" sz="3200" dirty="0" smtClean="0"/>
              <a:t>))</a:t>
            </a:r>
            <a:r>
              <a:rPr lang="en-US" altLang="zh-TW" sz="3200" i="1" dirty="0" smtClean="0"/>
              <a:t>, </a:t>
            </a:r>
            <a:r>
              <a:rPr lang="en-US" altLang="zh-TW" sz="3200" dirty="0" smtClean="0"/>
              <a:t>where p is the length of the LCS.</a:t>
            </a:r>
            <a:endParaRPr lang="zh-TW" altLang="en-US" sz="3200" dirty="0" smtClean="0"/>
          </a:p>
          <a:p>
            <a:endParaRPr lang="zh-TW" altLang="en-US" sz="32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24013"/>
            <a:ext cx="9144000" cy="523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Calculation length of LCS(A, B)(1/14)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0"/>
            <a:ext cx="9144000" cy="52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A[1:m] = “</a:t>
            </a:r>
            <a:r>
              <a:rPr lang="en-US" altLang="zh-TW" dirty="0" err="1" smtClean="0"/>
              <a:t>aadcbcada</a:t>
            </a:r>
            <a:r>
              <a:rPr lang="en-US" altLang="zh-TW" dirty="0" smtClean="0"/>
              <a:t>”</a:t>
            </a:r>
          </a:p>
          <a:p>
            <a:r>
              <a:rPr lang="en-US" altLang="zh-TW" dirty="0" smtClean="0"/>
              <a:t>B[1:n] = “</a:t>
            </a:r>
            <a:r>
              <a:rPr lang="en-US" altLang="zh-TW" dirty="0" err="1" smtClean="0"/>
              <a:t>cabdacbc</a:t>
            </a:r>
            <a:r>
              <a:rPr lang="en-US" altLang="zh-TW" dirty="0" smtClean="0"/>
              <a:t>”</a:t>
            </a:r>
          </a:p>
          <a:p>
            <a:r>
              <a:rPr lang="en-US" altLang="zh-TW" dirty="0" smtClean="0"/>
              <a:t>R1[] = 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928794" y="2714620"/>
          <a:ext cx="7215208" cy="11430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10492"/>
                <a:gridCol w="701364"/>
                <a:gridCol w="655928"/>
              </a:tblGrid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index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6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7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8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9</a:t>
                      </a:r>
                      <a:endParaRPr lang="zh-TW" altLang="en-US" sz="1600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Calculation length of LCS(A, B)(2/14)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R1[] =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928792" y="1428736"/>
          <a:ext cx="7215208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10492"/>
                <a:gridCol w="701364"/>
                <a:gridCol w="655928"/>
              </a:tblGrid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index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8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5786" y="3000372"/>
            <a:ext cx="5072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smtClean="0"/>
              <a:t>a </a:t>
            </a:r>
            <a:r>
              <a:rPr lang="en-US" altLang="zh-TW" sz="6000" dirty="0" err="1" smtClean="0"/>
              <a:t>a</a:t>
            </a:r>
            <a:r>
              <a:rPr lang="en-US" altLang="zh-TW" sz="6000" dirty="0" smtClean="0"/>
              <a:t> d c b c a d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</a:p>
          <a:p>
            <a:endParaRPr lang="en-US" altLang="zh-TW" sz="6000" dirty="0" smtClean="0"/>
          </a:p>
          <a:p>
            <a:r>
              <a:rPr lang="en-US" altLang="zh-TW" sz="6000" dirty="0" smtClean="0"/>
              <a:t>c a b d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c b c</a:t>
            </a:r>
            <a:endParaRPr lang="zh-TW" altLang="en-US" sz="6000" dirty="0"/>
          </a:p>
        </p:txBody>
      </p:sp>
      <p:cxnSp>
        <p:nvCxnSpPr>
          <p:cNvPr id="6" name="直線單箭頭接點 5"/>
          <p:cNvCxnSpPr/>
          <p:nvPr/>
        </p:nvCxnSpPr>
        <p:spPr>
          <a:xfrm rot="10800000" flipV="1">
            <a:off x="3357554" y="3791016"/>
            <a:ext cx="2000264" cy="14287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向左箭號 9"/>
          <p:cNvSpPr/>
          <p:nvPr/>
        </p:nvSpPr>
        <p:spPr>
          <a:xfrm>
            <a:off x="3428992" y="5857892"/>
            <a:ext cx="1571636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五角星形 11"/>
          <p:cNvSpPr/>
          <p:nvPr/>
        </p:nvSpPr>
        <p:spPr>
          <a:xfrm>
            <a:off x="5286380" y="3143248"/>
            <a:ext cx="142876" cy="14287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Calculation length of LCS(A, B)(3/14)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93177" y="2984841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A:</a:t>
            </a:r>
            <a:endParaRPr lang="zh-TW" altLang="en-US" sz="6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3177" y="4842229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B:</a:t>
            </a:r>
            <a:endParaRPr lang="zh-TW" altLang="en-US" sz="6000" dirty="0"/>
          </a:p>
        </p:txBody>
      </p:sp>
      <p:sp>
        <p:nvSpPr>
          <p:cNvPr id="14" name="投影片編號版面配置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R1[] =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28792" y="1428736"/>
          <a:ext cx="7215208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10492"/>
                <a:gridCol w="701364"/>
                <a:gridCol w="655928"/>
              </a:tblGrid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index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8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785786" y="3000372"/>
            <a:ext cx="5072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smtClean="0"/>
              <a:t>a </a:t>
            </a:r>
            <a:r>
              <a:rPr lang="en-US" altLang="zh-TW" sz="6000" dirty="0" err="1" smtClean="0"/>
              <a:t>a</a:t>
            </a:r>
            <a:r>
              <a:rPr lang="en-US" altLang="zh-TW" sz="6000" dirty="0" smtClean="0"/>
              <a:t> d c b c a </a:t>
            </a:r>
            <a:r>
              <a:rPr lang="en-US" altLang="zh-TW" sz="6000" dirty="0" smtClean="0">
                <a:solidFill>
                  <a:srgbClr val="FF0000"/>
                </a:solidFill>
              </a:rPr>
              <a:t>d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</a:p>
          <a:p>
            <a:endParaRPr lang="en-US" altLang="zh-TW" sz="6000" dirty="0" smtClean="0"/>
          </a:p>
          <a:p>
            <a:r>
              <a:rPr lang="en-US" altLang="zh-TW" sz="6000" dirty="0" smtClean="0"/>
              <a:t>c a b </a:t>
            </a:r>
            <a:r>
              <a:rPr lang="en-US" altLang="zh-TW" sz="6000" dirty="0" smtClean="0">
                <a:solidFill>
                  <a:srgbClr val="FF0000"/>
                </a:solidFill>
              </a:rPr>
              <a:t>d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c b c</a:t>
            </a:r>
            <a:endParaRPr lang="zh-TW" altLang="en-US" sz="6000" dirty="0"/>
          </a:p>
        </p:txBody>
      </p:sp>
      <p:cxnSp>
        <p:nvCxnSpPr>
          <p:cNvPr id="7" name="直線單箭頭接點 6"/>
          <p:cNvCxnSpPr/>
          <p:nvPr/>
        </p:nvCxnSpPr>
        <p:spPr>
          <a:xfrm rot="10800000" flipV="1">
            <a:off x="3357554" y="3791016"/>
            <a:ext cx="2000264" cy="14287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向左箭號 7"/>
          <p:cNvSpPr/>
          <p:nvPr/>
        </p:nvSpPr>
        <p:spPr>
          <a:xfrm>
            <a:off x="2571736" y="5643578"/>
            <a:ext cx="714380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五角星形 8"/>
          <p:cNvSpPr/>
          <p:nvPr/>
        </p:nvSpPr>
        <p:spPr>
          <a:xfrm>
            <a:off x="5286380" y="3143248"/>
            <a:ext cx="142876" cy="14287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/>
          <p:cNvCxnSpPr/>
          <p:nvPr/>
        </p:nvCxnSpPr>
        <p:spPr>
          <a:xfrm rot="10800000" flipV="1">
            <a:off x="2857488" y="3786190"/>
            <a:ext cx="1857388" cy="1285884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Calculation length of LCS(A, B)(4/14)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93177" y="2984841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A:</a:t>
            </a:r>
            <a:endParaRPr lang="zh-TW" altLang="en-US" sz="6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3177" y="4842229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B:</a:t>
            </a:r>
            <a:endParaRPr lang="zh-TW" altLang="en-US" sz="6000" dirty="0"/>
          </a:p>
        </p:txBody>
      </p:sp>
      <p:sp>
        <p:nvSpPr>
          <p:cNvPr id="14" name="投影片編號版面配置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R1[] =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28792" y="1428736"/>
          <a:ext cx="7215208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10492"/>
                <a:gridCol w="701364"/>
                <a:gridCol w="655928"/>
              </a:tblGrid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index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8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785786" y="3000372"/>
            <a:ext cx="5072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smtClean="0"/>
              <a:t>a </a:t>
            </a:r>
            <a:r>
              <a:rPr lang="en-US" altLang="zh-TW" sz="6000" dirty="0" err="1" smtClean="0"/>
              <a:t>a</a:t>
            </a:r>
            <a:r>
              <a:rPr lang="en-US" altLang="zh-TW" sz="6000" dirty="0" smtClean="0"/>
              <a:t> d c b </a:t>
            </a:r>
            <a:r>
              <a:rPr lang="en-US" altLang="zh-TW" sz="6000" dirty="0" smtClean="0">
                <a:solidFill>
                  <a:srgbClr val="FF0000"/>
                </a:solidFill>
              </a:rPr>
              <a:t>c a d a</a:t>
            </a:r>
          </a:p>
          <a:p>
            <a:endParaRPr lang="en-US" altLang="zh-TW" sz="6000" dirty="0" smtClean="0"/>
          </a:p>
          <a:p>
            <a:r>
              <a:rPr lang="en-US" altLang="zh-TW" sz="6000" dirty="0" smtClean="0">
                <a:solidFill>
                  <a:srgbClr val="FF0000"/>
                </a:solidFill>
              </a:rPr>
              <a:t>c a </a:t>
            </a:r>
            <a:r>
              <a:rPr lang="en-US" altLang="zh-TW" sz="6000" dirty="0" smtClean="0"/>
              <a:t>b </a:t>
            </a:r>
            <a:r>
              <a:rPr lang="en-US" altLang="zh-TW" sz="6000" dirty="0" smtClean="0">
                <a:solidFill>
                  <a:srgbClr val="FF0000"/>
                </a:solidFill>
              </a:rPr>
              <a:t>d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c b c</a:t>
            </a:r>
            <a:endParaRPr lang="zh-TW" altLang="en-US" sz="6000" dirty="0"/>
          </a:p>
        </p:txBody>
      </p:sp>
      <p:cxnSp>
        <p:nvCxnSpPr>
          <p:cNvPr id="7" name="直線單箭頭接點 6"/>
          <p:cNvCxnSpPr/>
          <p:nvPr/>
        </p:nvCxnSpPr>
        <p:spPr>
          <a:xfrm rot="10800000" flipV="1">
            <a:off x="3357554" y="3791016"/>
            <a:ext cx="2000264" cy="14287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rot="10800000" flipV="1">
            <a:off x="2786050" y="3786190"/>
            <a:ext cx="2000264" cy="1285884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rot="10800000" flipV="1">
            <a:off x="1571604" y="3786190"/>
            <a:ext cx="2643206" cy="14287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rot="10800000" flipV="1">
            <a:off x="1000100" y="3714752"/>
            <a:ext cx="2714644" cy="1500198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Calculation length of LCS(A, B)(5/14)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93177" y="2984841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A:</a:t>
            </a:r>
            <a:endParaRPr lang="zh-TW" altLang="en-US" sz="6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93177" y="4842229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B:</a:t>
            </a:r>
            <a:endParaRPr lang="zh-TW" altLang="en-US" sz="6000" dirty="0"/>
          </a:p>
        </p:txBody>
      </p:sp>
      <p:sp>
        <p:nvSpPr>
          <p:cNvPr id="15" name="投影片編號版面配置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R1[] =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928792" y="1428736"/>
          <a:ext cx="7215208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10492"/>
                <a:gridCol w="701364"/>
                <a:gridCol w="655928"/>
              </a:tblGrid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index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8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785786" y="3000372"/>
            <a:ext cx="5072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smtClean="0"/>
              <a:t>a </a:t>
            </a:r>
            <a:r>
              <a:rPr lang="en-US" altLang="zh-TW" sz="6000" dirty="0" err="1" smtClean="0"/>
              <a:t>a</a:t>
            </a:r>
            <a:r>
              <a:rPr lang="en-US" altLang="zh-TW" sz="6000" dirty="0" smtClean="0"/>
              <a:t> d c b c a </a:t>
            </a:r>
            <a:r>
              <a:rPr lang="en-US" altLang="zh-TW" sz="6000" dirty="0" smtClean="0">
                <a:solidFill>
                  <a:srgbClr val="FF0000"/>
                </a:solidFill>
              </a:rPr>
              <a:t>d </a:t>
            </a:r>
            <a:r>
              <a:rPr lang="en-US" altLang="zh-TW" sz="6000" dirty="0" smtClean="0"/>
              <a:t>a</a:t>
            </a:r>
          </a:p>
          <a:p>
            <a:endParaRPr lang="en-US" altLang="zh-TW" sz="6000" dirty="0" smtClean="0"/>
          </a:p>
          <a:p>
            <a:r>
              <a:rPr lang="en-US" altLang="zh-TW" sz="6000" dirty="0" smtClean="0"/>
              <a:t>c a b </a:t>
            </a:r>
            <a:r>
              <a:rPr lang="en-US" altLang="zh-TW" sz="6000" dirty="0" smtClean="0">
                <a:solidFill>
                  <a:srgbClr val="FF0000"/>
                </a:solidFill>
              </a:rPr>
              <a:t>d</a:t>
            </a:r>
            <a:r>
              <a:rPr lang="en-US" altLang="zh-TW" sz="6000" dirty="0" smtClean="0"/>
              <a:t> a c b c</a:t>
            </a:r>
            <a:endParaRPr lang="zh-TW" altLang="en-US" sz="6000" dirty="0"/>
          </a:p>
        </p:txBody>
      </p:sp>
      <p:cxnSp>
        <p:nvCxnSpPr>
          <p:cNvPr id="19" name="直線單箭頭接點 18"/>
          <p:cNvCxnSpPr/>
          <p:nvPr/>
        </p:nvCxnSpPr>
        <p:spPr>
          <a:xfrm rot="10800000" flipV="1">
            <a:off x="2786050" y="3786190"/>
            <a:ext cx="2000264" cy="1285884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五角星形 19"/>
          <p:cNvSpPr/>
          <p:nvPr/>
        </p:nvSpPr>
        <p:spPr>
          <a:xfrm>
            <a:off x="4643438" y="3071810"/>
            <a:ext cx="142876" cy="14287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Calculation length of LCS(A, B)(6/14)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93177" y="2984841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A:</a:t>
            </a:r>
            <a:endParaRPr lang="zh-TW" altLang="en-US" sz="6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93177" y="4842229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B:</a:t>
            </a:r>
            <a:endParaRPr lang="zh-TW" altLang="en-US" sz="6000" dirty="0"/>
          </a:p>
        </p:txBody>
      </p:sp>
      <p:sp>
        <p:nvSpPr>
          <p:cNvPr id="14" name="投影片編號版面配置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R1[] =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28792" y="1428736"/>
          <a:ext cx="7215208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10492"/>
                <a:gridCol w="701364"/>
                <a:gridCol w="655928"/>
              </a:tblGrid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index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8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785786" y="3000372"/>
            <a:ext cx="5072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smtClean="0"/>
              <a:t>a </a:t>
            </a:r>
            <a:r>
              <a:rPr lang="en-US" altLang="zh-TW" sz="6000" dirty="0" err="1" smtClean="0"/>
              <a:t>a</a:t>
            </a:r>
            <a:r>
              <a:rPr lang="en-US" altLang="zh-TW" sz="6000" dirty="0" smtClean="0"/>
              <a:t> d c b c a </a:t>
            </a:r>
            <a:r>
              <a:rPr lang="en-US" altLang="zh-TW" sz="6000" dirty="0" smtClean="0">
                <a:solidFill>
                  <a:srgbClr val="FF0000"/>
                </a:solidFill>
              </a:rPr>
              <a:t>d a</a:t>
            </a:r>
          </a:p>
          <a:p>
            <a:endParaRPr lang="en-US" altLang="zh-TW" sz="6000" dirty="0" smtClean="0"/>
          </a:p>
          <a:p>
            <a:r>
              <a:rPr lang="en-US" altLang="zh-TW" sz="6000" dirty="0" smtClean="0"/>
              <a:t>c a b </a:t>
            </a:r>
            <a:r>
              <a:rPr lang="en-US" altLang="zh-TW" sz="6000" dirty="0" smtClean="0">
                <a:solidFill>
                  <a:srgbClr val="FF0000"/>
                </a:solidFill>
              </a:rPr>
              <a:t>d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c b c</a:t>
            </a:r>
            <a:endParaRPr lang="zh-TW" altLang="en-US" sz="6000" dirty="0"/>
          </a:p>
        </p:txBody>
      </p:sp>
      <p:cxnSp>
        <p:nvCxnSpPr>
          <p:cNvPr id="7" name="直線單箭頭接點 6"/>
          <p:cNvCxnSpPr/>
          <p:nvPr/>
        </p:nvCxnSpPr>
        <p:spPr>
          <a:xfrm rot="10800000" flipV="1">
            <a:off x="2786050" y="3786190"/>
            <a:ext cx="2000264" cy="1285884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乘號 7"/>
          <p:cNvSpPr/>
          <p:nvPr/>
        </p:nvSpPr>
        <p:spPr>
          <a:xfrm>
            <a:off x="3214678" y="4286256"/>
            <a:ext cx="785818" cy="50006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rot="10800000" flipV="1">
            <a:off x="3286116" y="3786190"/>
            <a:ext cx="2071702" cy="14287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五角星形 9"/>
          <p:cNvSpPr/>
          <p:nvPr/>
        </p:nvSpPr>
        <p:spPr>
          <a:xfrm>
            <a:off x="4714876" y="3071810"/>
            <a:ext cx="142876" cy="14287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Calculation length of LCS(A, B)(7/14)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93177" y="2984841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A:</a:t>
            </a:r>
            <a:endParaRPr lang="zh-TW" altLang="en-US" sz="6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3177" y="4842229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B:</a:t>
            </a:r>
            <a:endParaRPr lang="zh-TW" altLang="en-US" sz="6000" dirty="0"/>
          </a:p>
        </p:txBody>
      </p:sp>
      <p:sp>
        <p:nvSpPr>
          <p:cNvPr id="14" name="投影片編號版面配置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R1[] =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28792" y="1428736"/>
          <a:ext cx="7215208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10492"/>
                <a:gridCol w="701364"/>
                <a:gridCol w="655928"/>
              </a:tblGrid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index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8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785786" y="3000372"/>
            <a:ext cx="5072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smtClean="0"/>
              <a:t>a </a:t>
            </a:r>
            <a:r>
              <a:rPr lang="en-US" altLang="zh-TW" sz="6000" dirty="0" err="1" smtClean="0"/>
              <a:t>a</a:t>
            </a:r>
            <a:r>
              <a:rPr lang="en-US" altLang="zh-TW" sz="6000" dirty="0" smtClean="0"/>
              <a:t> d c b c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d</a:t>
            </a:r>
            <a:r>
              <a:rPr lang="en-US" altLang="zh-TW" sz="6000" dirty="0" smtClean="0">
                <a:solidFill>
                  <a:srgbClr val="FF0000"/>
                </a:solidFill>
              </a:rPr>
              <a:t> a</a:t>
            </a:r>
          </a:p>
          <a:p>
            <a:endParaRPr lang="en-US" altLang="zh-TW" sz="6000" dirty="0" smtClean="0"/>
          </a:p>
          <a:p>
            <a:r>
              <a:rPr lang="en-US" altLang="zh-TW" sz="6000" dirty="0" smtClean="0"/>
              <a:t>c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b d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c b c</a:t>
            </a:r>
            <a:endParaRPr lang="zh-TW" altLang="en-US" sz="6000" dirty="0"/>
          </a:p>
        </p:txBody>
      </p:sp>
      <p:cxnSp>
        <p:nvCxnSpPr>
          <p:cNvPr id="9" name="直線單箭頭接點 8"/>
          <p:cNvCxnSpPr/>
          <p:nvPr/>
        </p:nvCxnSpPr>
        <p:spPr>
          <a:xfrm rot="10800000" flipV="1">
            <a:off x="3286116" y="3786190"/>
            <a:ext cx="2071702" cy="14287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向左箭號 9"/>
          <p:cNvSpPr/>
          <p:nvPr/>
        </p:nvSpPr>
        <p:spPr>
          <a:xfrm>
            <a:off x="1714480" y="5715016"/>
            <a:ext cx="1214446" cy="21431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 rot="10800000" flipV="1">
            <a:off x="1571604" y="3786190"/>
            <a:ext cx="2643206" cy="14287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五角星形 10"/>
          <p:cNvSpPr/>
          <p:nvPr/>
        </p:nvSpPr>
        <p:spPr>
          <a:xfrm>
            <a:off x="4714876" y="3071810"/>
            <a:ext cx="142876" cy="14287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Calculation length of LCS(A, B)(8/14)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93177" y="2984841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A:</a:t>
            </a:r>
            <a:endParaRPr lang="zh-TW" altLang="en-US" sz="60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93177" y="4842229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B:</a:t>
            </a:r>
            <a:endParaRPr lang="zh-TW" altLang="en-US" sz="6000" dirty="0"/>
          </a:p>
        </p:txBody>
      </p:sp>
      <p:sp>
        <p:nvSpPr>
          <p:cNvPr id="16" name="投影片編號版面配置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R1[] =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28792" y="1428736"/>
          <a:ext cx="7215208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10492"/>
                <a:gridCol w="701364"/>
                <a:gridCol w="655928"/>
              </a:tblGrid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index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8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785786" y="3000372"/>
            <a:ext cx="5072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smtClean="0"/>
              <a:t>a </a:t>
            </a:r>
            <a:r>
              <a:rPr lang="en-US" altLang="zh-TW" sz="6000" dirty="0" err="1" smtClean="0"/>
              <a:t>a</a:t>
            </a:r>
            <a:r>
              <a:rPr lang="en-US" altLang="zh-TW" sz="6000" dirty="0" smtClean="0"/>
              <a:t> d c b c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d a</a:t>
            </a:r>
          </a:p>
          <a:p>
            <a:endParaRPr lang="en-US" altLang="zh-TW" sz="6000" dirty="0" smtClean="0"/>
          </a:p>
          <a:p>
            <a:r>
              <a:rPr lang="en-US" altLang="zh-TW" sz="6000" dirty="0" smtClean="0"/>
              <a:t>c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b </a:t>
            </a:r>
            <a:r>
              <a:rPr lang="en-US" altLang="zh-TW" sz="6000" dirty="0" smtClean="0">
                <a:solidFill>
                  <a:srgbClr val="FF0000"/>
                </a:solidFill>
              </a:rPr>
              <a:t>d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c b c</a:t>
            </a:r>
            <a:endParaRPr lang="zh-TW" altLang="en-US" sz="6000" dirty="0"/>
          </a:p>
        </p:txBody>
      </p:sp>
      <p:cxnSp>
        <p:nvCxnSpPr>
          <p:cNvPr id="7" name="直線單箭頭接點 6"/>
          <p:cNvCxnSpPr/>
          <p:nvPr/>
        </p:nvCxnSpPr>
        <p:spPr>
          <a:xfrm rot="10800000" flipV="1">
            <a:off x="3286116" y="3786190"/>
            <a:ext cx="2071702" cy="14287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向左箭號 7"/>
          <p:cNvSpPr/>
          <p:nvPr/>
        </p:nvSpPr>
        <p:spPr>
          <a:xfrm>
            <a:off x="1714480" y="5715016"/>
            <a:ext cx="1214446" cy="21431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/>
          <p:nvPr/>
        </p:nvCxnSpPr>
        <p:spPr>
          <a:xfrm rot="10800000" flipV="1">
            <a:off x="1571604" y="3786190"/>
            <a:ext cx="2643206" cy="14287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乘號 9"/>
          <p:cNvSpPr/>
          <p:nvPr/>
        </p:nvSpPr>
        <p:spPr>
          <a:xfrm>
            <a:off x="2428860" y="4286256"/>
            <a:ext cx="785818" cy="50006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rot="10800000" flipV="1">
            <a:off x="2786050" y="3786190"/>
            <a:ext cx="2000264" cy="1285884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五角星形 11"/>
          <p:cNvSpPr/>
          <p:nvPr/>
        </p:nvSpPr>
        <p:spPr>
          <a:xfrm>
            <a:off x="4714876" y="3071810"/>
            <a:ext cx="142876" cy="14287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Calculation length of LCS(A, B)(9/14)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93177" y="2984841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A:</a:t>
            </a:r>
            <a:endParaRPr lang="zh-TW" altLang="en-US" sz="60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93177" y="4842229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B:</a:t>
            </a:r>
            <a:endParaRPr lang="zh-TW" altLang="en-US" sz="6000" dirty="0"/>
          </a:p>
        </p:txBody>
      </p:sp>
      <p:sp>
        <p:nvSpPr>
          <p:cNvPr id="16" name="投影片編號版面配置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R1[] =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928792" y="1428736"/>
          <a:ext cx="7215208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10492"/>
                <a:gridCol w="701364"/>
                <a:gridCol w="655928"/>
              </a:tblGrid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index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8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85786" y="3000372"/>
            <a:ext cx="5072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smtClean="0"/>
              <a:t>a </a:t>
            </a:r>
            <a:r>
              <a:rPr lang="en-US" altLang="zh-TW" sz="6000" dirty="0" err="1" smtClean="0"/>
              <a:t>a</a:t>
            </a:r>
            <a:r>
              <a:rPr lang="en-US" altLang="zh-TW" sz="6000" dirty="0" smtClean="0"/>
              <a:t> d c b </a:t>
            </a:r>
            <a:r>
              <a:rPr lang="en-US" altLang="zh-TW" sz="6000" dirty="0" smtClean="0">
                <a:solidFill>
                  <a:srgbClr val="FF0000"/>
                </a:solidFill>
              </a:rPr>
              <a:t>c</a:t>
            </a:r>
            <a:r>
              <a:rPr lang="en-US" altLang="zh-TW" sz="6000" dirty="0" smtClean="0"/>
              <a:t> a </a:t>
            </a:r>
            <a:r>
              <a:rPr lang="en-US" altLang="zh-TW" sz="6000" dirty="0" smtClean="0">
                <a:solidFill>
                  <a:srgbClr val="FF0000"/>
                </a:solidFill>
              </a:rPr>
              <a:t>d a</a:t>
            </a:r>
          </a:p>
          <a:p>
            <a:endParaRPr lang="en-US" altLang="zh-TW" sz="6000" dirty="0" smtClean="0"/>
          </a:p>
          <a:p>
            <a:r>
              <a:rPr lang="en-US" altLang="zh-TW" sz="6000" dirty="0" smtClean="0">
                <a:solidFill>
                  <a:srgbClr val="FF0000"/>
                </a:solidFill>
              </a:rPr>
              <a:t>c</a:t>
            </a:r>
            <a:r>
              <a:rPr lang="en-US" altLang="zh-TW" sz="6000" dirty="0" smtClean="0"/>
              <a:t> a b </a:t>
            </a:r>
            <a:r>
              <a:rPr lang="en-US" altLang="zh-TW" sz="6000" dirty="0" smtClean="0">
                <a:solidFill>
                  <a:srgbClr val="FF0000"/>
                </a:solidFill>
              </a:rPr>
              <a:t>d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c b c</a:t>
            </a:r>
            <a:endParaRPr lang="zh-TW" altLang="en-US" sz="6000" dirty="0"/>
          </a:p>
        </p:txBody>
      </p:sp>
      <p:cxnSp>
        <p:nvCxnSpPr>
          <p:cNvPr id="8" name="直線單箭頭接點 7"/>
          <p:cNvCxnSpPr/>
          <p:nvPr/>
        </p:nvCxnSpPr>
        <p:spPr>
          <a:xfrm rot="10800000" flipV="1">
            <a:off x="3286116" y="3786190"/>
            <a:ext cx="2071702" cy="14287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向左箭號 8"/>
          <p:cNvSpPr/>
          <p:nvPr/>
        </p:nvSpPr>
        <p:spPr>
          <a:xfrm>
            <a:off x="1000100" y="5643578"/>
            <a:ext cx="1643074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 rot="10800000" flipV="1">
            <a:off x="2786050" y="3786190"/>
            <a:ext cx="2000264" cy="1285884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五角星形 9"/>
          <p:cNvSpPr/>
          <p:nvPr/>
        </p:nvSpPr>
        <p:spPr>
          <a:xfrm>
            <a:off x="4714876" y="3071810"/>
            <a:ext cx="142876" cy="14287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/>
          <p:cNvCxnSpPr/>
          <p:nvPr/>
        </p:nvCxnSpPr>
        <p:spPr>
          <a:xfrm rot="10800000" flipV="1">
            <a:off x="1071538" y="3786190"/>
            <a:ext cx="2643206" cy="1357322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Calculation length of LCS(A, B)(10/14)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3177" y="2984841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A:</a:t>
            </a:r>
            <a:endParaRPr lang="zh-TW" altLang="en-US" sz="60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93177" y="4842229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B:</a:t>
            </a:r>
            <a:endParaRPr lang="zh-TW" altLang="en-US" sz="6000" dirty="0"/>
          </a:p>
        </p:txBody>
      </p:sp>
      <p:sp>
        <p:nvSpPr>
          <p:cNvPr id="16" name="投影片編號版面配置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R1[] =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28792" y="1428736"/>
          <a:ext cx="7215208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10492"/>
                <a:gridCol w="701364"/>
                <a:gridCol w="655928"/>
              </a:tblGrid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index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8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785786" y="3000372"/>
            <a:ext cx="5072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smtClean="0"/>
              <a:t>a </a:t>
            </a:r>
            <a:r>
              <a:rPr lang="en-US" altLang="zh-TW" sz="6000" dirty="0" err="1" smtClean="0"/>
              <a:t>a</a:t>
            </a:r>
            <a:r>
              <a:rPr lang="en-US" altLang="zh-TW" sz="6000" dirty="0" smtClean="0"/>
              <a:t> d c b </a:t>
            </a:r>
            <a:r>
              <a:rPr lang="en-US" altLang="zh-TW" sz="6000" dirty="0" smtClean="0">
                <a:solidFill>
                  <a:srgbClr val="FF0000"/>
                </a:solidFill>
              </a:rPr>
              <a:t>c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d a</a:t>
            </a:r>
          </a:p>
          <a:p>
            <a:endParaRPr lang="en-US" altLang="zh-TW" sz="6000" dirty="0" smtClean="0"/>
          </a:p>
          <a:p>
            <a:r>
              <a:rPr lang="en-US" altLang="zh-TW" sz="6000" dirty="0" smtClean="0">
                <a:solidFill>
                  <a:srgbClr val="FF0000"/>
                </a:solidFill>
              </a:rPr>
              <a:t>c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b </a:t>
            </a:r>
            <a:r>
              <a:rPr lang="en-US" altLang="zh-TW" sz="6000" dirty="0" smtClean="0">
                <a:solidFill>
                  <a:srgbClr val="FF0000"/>
                </a:solidFill>
              </a:rPr>
              <a:t>d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c b c</a:t>
            </a:r>
            <a:endParaRPr lang="zh-TW" altLang="en-US" sz="6000" dirty="0"/>
          </a:p>
        </p:txBody>
      </p:sp>
      <p:cxnSp>
        <p:nvCxnSpPr>
          <p:cNvPr id="7" name="直線單箭頭接點 6"/>
          <p:cNvCxnSpPr/>
          <p:nvPr/>
        </p:nvCxnSpPr>
        <p:spPr>
          <a:xfrm rot="10800000" flipV="1">
            <a:off x="3286116" y="3786190"/>
            <a:ext cx="2071702" cy="14287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向左箭號 7"/>
          <p:cNvSpPr/>
          <p:nvPr/>
        </p:nvSpPr>
        <p:spPr>
          <a:xfrm>
            <a:off x="1000100" y="5643578"/>
            <a:ext cx="1643074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/>
          <p:nvPr/>
        </p:nvCxnSpPr>
        <p:spPr>
          <a:xfrm rot="10800000" flipV="1">
            <a:off x="2786050" y="3786190"/>
            <a:ext cx="2000264" cy="1285884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五角星形 9"/>
          <p:cNvSpPr/>
          <p:nvPr/>
        </p:nvSpPr>
        <p:spPr>
          <a:xfrm>
            <a:off x="4714876" y="3071810"/>
            <a:ext cx="142876" cy="14287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/>
          <p:cNvCxnSpPr/>
          <p:nvPr/>
        </p:nvCxnSpPr>
        <p:spPr>
          <a:xfrm rot="10800000" flipV="1">
            <a:off x="1071538" y="3786190"/>
            <a:ext cx="2643206" cy="1357322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rot="10800000" flipV="1">
            <a:off x="1571605" y="3857628"/>
            <a:ext cx="2571769" cy="1285884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乘號 13"/>
          <p:cNvSpPr/>
          <p:nvPr/>
        </p:nvSpPr>
        <p:spPr>
          <a:xfrm>
            <a:off x="2143108" y="4071942"/>
            <a:ext cx="785818" cy="50006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Calculation length of LCS(A, B)(11/14)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3177" y="2984841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A:</a:t>
            </a:r>
            <a:endParaRPr lang="zh-TW" altLang="en-US" sz="60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93177" y="4842229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B:</a:t>
            </a:r>
            <a:endParaRPr lang="zh-TW" altLang="en-US" sz="6000" dirty="0"/>
          </a:p>
        </p:txBody>
      </p:sp>
      <p:sp>
        <p:nvSpPr>
          <p:cNvPr id="17" name="投影片編號版面配置區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R1[] =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28792" y="1428736"/>
          <a:ext cx="7215208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10492"/>
                <a:gridCol w="701364"/>
                <a:gridCol w="655928"/>
              </a:tblGrid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index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8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785786" y="3000372"/>
            <a:ext cx="5072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smtClean="0"/>
              <a:t>a </a:t>
            </a:r>
            <a:r>
              <a:rPr lang="en-US" altLang="zh-TW" sz="6000" dirty="0" err="1" smtClean="0"/>
              <a:t>a</a:t>
            </a:r>
            <a:r>
              <a:rPr lang="en-US" altLang="zh-TW" sz="6000" dirty="0" smtClean="0"/>
              <a:t> d c b </a:t>
            </a:r>
            <a:r>
              <a:rPr lang="en-US" altLang="zh-TW" sz="6000" dirty="0" smtClean="0">
                <a:solidFill>
                  <a:srgbClr val="FF0000"/>
                </a:solidFill>
              </a:rPr>
              <a:t>c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d a</a:t>
            </a:r>
          </a:p>
          <a:p>
            <a:endParaRPr lang="en-US" altLang="zh-TW" sz="6000" dirty="0" smtClean="0"/>
          </a:p>
          <a:p>
            <a:r>
              <a:rPr lang="en-US" altLang="zh-TW" sz="6000" dirty="0" smtClean="0">
                <a:solidFill>
                  <a:srgbClr val="FF0000"/>
                </a:solidFill>
              </a:rPr>
              <a:t>c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b </a:t>
            </a:r>
            <a:r>
              <a:rPr lang="en-US" altLang="zh-TW" sz="6000" dirty="0" smtClean="0">
                <a:solidFill>
                  <a:srgbClr val="FF0000"/>
                </a:solidFill>
              </a:rPr>
              <a:t>d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c b c</a:t>
            </a:r>
            <a:endParaRPr lang="zh-TW" altLang="en-US" sz="6000" dirty="0"/>
          </a:p>
        </p:txBody>
      </p:sp>
      <p:cxnSp>
        <p:nvCxnSpPr>
          <p:cNvPr id="7" name="直線單箭頭接點 6"/>
          <p:cNvCxnSpPr/>
          <p:nvPr/>
        </p:nvCxnSpPr>
        <p:spPr>
          <a:xfrm rot="10800000" flipV="1">
            <a:off x="3286116" y="3786190"/>
            <a:ext cx="2071702" cy="14287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rot="10800000" flipV="1">
            <a:off x="2786050" y="3786190"/>
            <a:ext cx="2000264" cy="1285884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五角星形 9"/>
          <p:cNvSpPr/>
          <p:nvPr/>
        </p:nvSpPr>
        <p:spPr>
          <a:xfrm>
            <a:off x="4714876" y="3071810"/>
            <a:ext cx="142876" cy="14287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/>
          <p:cNvCxnSpPr/>
          <p:nvPr/>
        </p:nvCxnSpPr>
        <p:spPr>
          <a:xfrm rot="10800000" flipV="1">
            <a:off x="1071538" y="3786190"/>
            <a:ext cx="2643206" cy="1357322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rot="10800000" flipV="1">
            <a:off x="1571605" y="3857628"/>
            <a:ext cx="2571769" cy="1285884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Calculation length of LCS(A, B)(12/14)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3177" y="2984841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A:</a:t>
            </a:r>
            <a:endParaRPr lang="zh-TW" altLang="en-US" sz="6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93177" y="4842229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B:</a:t>
            </a:r>
            <a:endParaRPr lang="zh-TW" altLang="en-US" sz="6000" dirty="0"/>
          </a:p>
        </p:txBody>
      </p:sp>
      <p:sp>
        <p:nvSpPr>
          <p:cNvPr id="16" name="投影片編號版面配置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R1[] =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28792" y="1428736"/>
          <a:ext cx="7215208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10492"/>
                <a:gridCol w="701364"/>
                <a:gridCol w="655928"/>
              </a:tblGrid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index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8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785786" y="3000372"/>
            <a:ext cx="5072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smtClean="0"/>
              <a:t>a </a:t>
            </a:r>
            <a:r>
              <a:rPr lang="en-US" altLang="zh-TW" sz="6000" dirty="0" err="1" smtClean="0"/>
              <a:t>a</a:t>
            </a:r>
            <a:r>
              <a:rPr lang="en-US" altLang="zh-TW" sz="6000" dirty="0" smtClean="0"/>
              <a:t> d </a:t>
            </a:r>
            <a:r>
              <a:rPr lang="en-US" altLang="zh-TW" sz="6000" dirty="0" smtClean="0">
                <a:solidFill>
                  <a:srgbClr val="FF0000"/>
                </a:solidFill>
              </a:rPr>
              <a:t>c b</a:t>
            </a:r>
            <a:r>
              <a:rPr lang="en-US" altLang="zh-TW" sz="6000" dirty="0" smtClean="0"/>
              <a:t> c a </a:t>
            </a:r>
            <a:r>
              <a:rPr lang="en-US" altLang="zh-TW" sz="6000" dirty="0" smtClean="0">
                <a:solidFill>
                  <a:srgbClr val="FF0000"/>
                </a:solidFill>
              </a:rPr>
              <a:t>d a</a:t>
            </a:r>
          </a:p>
          <a:p>
            <a:endParaRPr lang="en-US" altLang="zh-TW" sz="6000" dirty="0" smtClean="0"/>
          </a:p>
          <a:p>
            <a:r>
              <a:rPr lang="en-US" altLang="zh-TW" sz="6000" dirty="0" smtClean="0">
                <a:solidFill>
                  <a:srgbClr val="FF0000"/>
                </a:solidFill>
              </a:rPr>
              <a:t>c </a:t>
            </a:r>
            <a:r>
              <a:rPr lang="en-US" altLang="zh-TW" sz="6000" dirty="0" smtClean="0"/>
              <a:t>a </a:t>
            </a:r>
            <a:r>
              <a:rPr lang="en-US" altLang="zh-TW" sz="6000" dirty="0" smtClean="0">
                <a:solidFill>
                  <a:srgbClr val="FF0000"/>
                </a:solidFill>
              </a:rPr>
              <a:t>b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d</a:t>
            </a:r>
            <a:r>
              <a:rPr lang="en-US" altLang="zh-TW" sz="6000" dirty="0" smtClean="0"/>
              <a:t> </a:t>
            </a:r>
            <a:r>
              <a:rPr lang="en-US" altLang="zh-TW" sz="6000" dirty="0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/>
              <a:t> c b c</a:t>
            </a:r>
            <a:endParaRPr lang="zh-TW" altLang="en-US" sz="6000" dirty="0"/>
          </a:p>
        </p:txBody>
      </p:sp>
      <p:cxnSp>
        <p:nvCxnSpPr>
          <p:cNvPr id="7" name="直線單箭頭接點 6"/>
          <p:cNvCxnSpPr/>
          <p:nvPr/>
        </p:nvCxnSpPr>
        <p:spPr>
          <a:xfrm rot="10800000" flipV="1">
            <a:off x="3286116" y="3786190"/>
            <a:ext cx="2071702" cy="14287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rot="10800000" flipV="1">
            <a:off x="2786050" y="3786190"/>
            <a:ext cx="2000264" cy="1285884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rot="5400000">
            <a:off x="2000232" y="3857628"/>
            <a:ext cx="1285884" cy="1143008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rot="10800000" flipV="1">
            <a:off x="1071538" y="3786190"/>
            <a:ext cx="1643074" cy="14287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五角星形 16"/>
          <p:cNvSpPr/>
          <p:nvPr/>
        </p:nvSpPr>
        <p:spPr>
          <a:xfrm>
            <a:off x="4214810" y="3143248"/>
            <a:ext cx="142876" cy="14287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Calculation length of LCS(A, B)(13/14)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93177" y="2984841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A:</a:t>
            </a:r>
            <a:endParaRPr lang="zh-TW" altLang="en-US" sz="6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93177" y="4842229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B:</a:t>
            </a:r>
            <a:endParaRPr lang="zh-TW" altLang="en-US" sz="6000" dirty="0"/>
          </a:p>
        </p:txBody>
      </p:sp>
      <p:sp>
        <p:nvSpPr>
          <p:cNvPr id="15" name="投影片編號版面配置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R1[] = 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28792" y="1428736"/>
          <a:ext cx="7215208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55928"/>
                <a:gridCol w="610492"/>
                <a:gridCol w="701364"/>
                <a:gridCol w="655928"/>
              </a:tblGrid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index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8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8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785786" y="3000372"/>
            <a:ext cx="5072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smtClean="0"/>
              <a:t>a </a:t>
            </a:r>
            <a:r>
              <a:rPr lang="en-US" altLang="zh-TW" sz="6000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6000" dirty="0" smtClean="0">
                <a:solidFill>
                  <a:srgbClr val="FF0000"/>
                </a:solidFill>
              </a:rPr>
              <a:t> d c b c </a:t>
            </a:r>
            <a:r>
              <a:rPr lang="en-US" altLang="zh-TW" sz="6000" dirty="0" smtClean="0"/>
              <a:t>a d a</a:t>
            </a:r>
          </a:p>
          <a:p>
            <a:endParaRPr lang="en-US" altLang="zh-TW" sz="6000" dirty="0" smtClean="0"/>
          </a:p>
          <a:p>
            <a:r>
              <a:rPr lang="en-US" altLang="zh-TW" sz="6000" dirty="0" smtClean="0"/>
              <a:t>c</a:t>
            </a:r>
            <a:r>
              <a:rPr lang="en-US" altLang="zh-TW" sz="6000" dirty="0" smtClean="0">
                <a:solidFill>
                  <a:srgbClr val="FF0000"/>
                </a:solidFill>
              </a:rPr>
              <a:t> a</a:t>
            </a:r>
            <a:r>
              <a:rPr lang="en-US" altLang="zh-TW" sz="6000" dirty="0" smtClean="0"/>
              <a:t> b </a:t>
            </a:r>
            <a:r>
              <a:rPr lang="en-US" altLang="zh-TW" sz="6000" dirty="0" smtClean="0">
                <a:solidFill>
                  <a:srgbClr val="FF0000"/>
                </a:solidFill>
              </a:rPr>
              <a:t>d</a:t>
            </a:r>
            <a:r>
              <a:rPr lang="en-US" altLang="zh-TW" sz="6000" dirty="0" smtClean="0"/>
              <a:t> a </a:t>
            </a:r>
            <a:r>
              <a:rPr lang="en-US" altLang="zh-TW" sz="6000" dirty="0" smtClean="0">
                <a:solidFill>
                  <a:srgbClr val="FF0000"/>
                </a:solidFill>
              </a:rPr>
              <a:t>c b c</a:t>
            </a:r>
            <a:endParaRPr lang="zh-TW" altLang="en-US" sz="6000" dirty="0">
              <a:solidFill>
                <a:srgbClr val="FF0000"/>
              </a:solidFill>
            </a:endParaRPr>
          </a:p>
        </p:txBody>
      </p:sp>
      <p:cxnSp>
        <p:nvCxnSpPr>
          <p:cNvPr id="7" name="直線單箭頭接點 6"/>
          <p:cNvCxnSpPr/>
          <p:nvPr/>
        </p:nvCxnSpPr>
        <p:spPr>
          <a:xfrm rot="16200000" flipH="1">
            <a:off x="3536149" y="3964785"/>
            <a:ext cx="1428760" cy="107157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rot="16200000" flipH="1">
            <a:off x="3071802" y="3929066"/>
            <a:ext cx="1357322" cy="928694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rot="16200000" flipH="1">
            <a:off x="2500298" y="4071942"/>
            <a:ext cx="1500198" cy="928694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rot="16200000" flipH="1">
            <a:off x="1714480" y="4214818"/>
            <a:ext cx="1428760" cy="571504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rot="5400000">
            <a:off x="821505" y="4464851"/>
            <a:ext cx="1500198" cy="1588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五角星形 23"/>
          <p:cNvSpPr/>
          <p:nvPr/>
        </p:nvSpPr>
        <p:spPr>
          <a:xfrm>
            <a:off x="3643306" y="3143248"/>
            <a:ext cx="142876" cy="14287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6286512" y="5643578"/>
            <a:ext cx="264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|LCS(A, B)| = 5</a:t>
            </a:r>
            <a:endParaRPr lang="zh-TW" altLang="en-US" sz="3200" dirty="0"/>
          </a:p>
        </p:txBody>
      </p:sp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Calculation length of LCS(A, B)(14/14)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3177" y="2984841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A:</a:t>
            </a:r>
            <a:endParaRPr lang="zh-TW" altLang="en-US" sz="60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93177" y="4842229"/>
            <a:ext cx="835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 smtClean="0"/>
              <a:t>B:</a:t>
            </a:r>
            <a:endParaRPr lang="zh-TW" altLang="en-US" sz="6000" dirty="0"/>
          </a:p>
        </p:txBody>
      </p:sp>
      <p:sp>
        <p:nvSpPr>
          <p:cNvPr id="16" name="投影片編號版面配置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Perfect Cut 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TW" dirty="0" smtClean="0"/>
              <a:t>)(1/4)</a:t>
            </a:r>
            <a:endParaRPr lang="zh-TW" altLang="en-US" dirty="0"/>
          </a:p>
        </p:txBody>
      </p:sp>
      <p:sp>
        <p:nvSpPr>
          <p:cNvPr id="13" name="內容版面配置區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W(A, B) = m - |LCS(A, B)|</a:t>
            </a:r>
          </a:p>
          <a:p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   A = “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adcbc</a:t>
            </a:r>
            <a:r>
              <a:rPr lang="en-US" altLang="zh-TW" dirty="0" err="1" smtClean="0"/>
              <a:t>ada</a:t>
            </a:r>
            <a:r>
              <a:rPr lang="en-US" altLang="zh-TW" dirty="0" smtClean="0"/>
              <a:t>”   ,m = 9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   B = “</a:t>
            </a:r>
            <a:r>
              <a:rPr lang="en-US" altLang="zh-TW" dirty="0" err="1" smtClean="0"/>
              <a:t>c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/>
              <a:t>b</a:t>
            </a:r>
            <a:r>
              <a:rPr lang="en-US" altLang="zh-TW" dirty="0" err="1" smtClean="0">
                <a:solidFill>
                  <a:srgbClr val="FF0000"/>
                </a:solidFill>
              </a:rPr>
              <a:t>d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cbc</a:t>
            </a:r>
            <a:r>
              <a:rPr lang="en-US" altLang="zh-TW" dirty="0" smtClean="0"/>
              <a:t>”      ,n  = 8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   </a:t>
            </a:r>
            <a:r>
              <a:rPr lang="en-US" altLang="zh-TW" dirty="0" smtClean="0"/>
              <a:t>|LCS(A</a:t>
            </a:r>
            <a:r>
              <a:rPr lang="en-US" altLang="zh-TW" dirty="0" smtClean="0"/>
              <a:t>, B</a:t>
            </a:r>
            <a:r>
              <a:rPr lang="en-US" altLang="zh-TW" dirty="0" smtClean="0"/>
              <a:t>)| </a:t>
            </a:r>
            <a:r>
              <a:rPr lang="en-US" altLang="zh-TW" dirty="0" smtClean="0"/>
              <a:t>= </a:t>
            </a:r>
            <a:r>
              <a:rPr lang="en-US" altLang="zh-TW" dirty="0" smtClean="0"/>
              <a:t>5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   W(A, B) = 9 – 5 = </a:t>
            </a:r>
            <a:r>
              <a:rPr lang="en-US" altLang="zh-TW" dirty="0" smtClean="0"/>
              <a:t>4 </a:t>
            </a:r>
            <a:r>
              <a:rPr lang="en-US" altLang="zh-TW" dirty="0" smtClean="0"/>
              <a:t>               A </a:t>
            </a:r>
            <a:r>
              <a:rPr lang="en-US" altLang="zh-TW" dirty="0" smtClean="0"/>
              <a:t>= “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</a:rPr>
              <a:t>adcbc</a:t>
            </a:r>
            <a:r>
              <a:rPr lang="en-US" altLang="zh-TW" dirty="0" err="1" smtClean="0"/>
              <a:t>ada</a:t>
            </a:r>
            <a:r>
              <a:rPr lang="en-US" altLang="zh-TW" dirty="0" smtClean="0"/>
              <a:t>”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向右箭號 3"/>
          <p:cNvSpPr/>
          <p:nvPr/>
        </p:nvSpPr>
        <p:spPr>
          <a:xfrm>
            <a:off x="4143372" y="4643446"/>
            <a:ext cx="114300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Perfect Cut 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TW" dirty="0" smtClean="0"/>
              <a:t>)(2/4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14948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W(A[1: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], B[1: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TW" dirty="0" smtClean="0"/>
              <a:t>])            = w </a:t>
            </a:r>
          </a:p>
          <a:p>
            <a:pPr>
              <a:buNone/>
            </a:pPr>
            <a:r>
              <a:rPr lang="en-US" altLang="zh-TW" dirty="0" smtClean="0"/>
              <a:t>                                             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 - |LCS(A[1: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], B[1: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TW" dirty="0" smtClean="0"/>
              <a:t>]) )|</a:t>
            </a:r>
          </a:p>
          <a:p>
            <a:pPr>
              <a:buNone/>
            </a:pPr>
            <a:r>
              <a:rPr lang="en-US" altLang="zh-TW" dirty="0" smtClean="0"/>
              <a:t>                                              = (m - |LCS(A, B)|)/2</a:t>
            </a:r>
          </a:p>
          <a:p>
            <a:pPr>
              <a:buNone/>
            </a:pPr>
            <a:endParaRPr lang="en-US" altLang="zh-TW" dirty="0" smtClean="0"/>
          </a:p>
          <a:p>
            <a:r>
              <a:rPr lang="en-US" altLang="zh-TW" dirty="0" smtClean="0"/>
              <a:t>W(A[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u+</a:t>
            </a:r>
            <a:r>
              <a:rPr lang="en-US" altLang="zh-TW" dirty="0" smtClean="0"/>
              <a:t>1:m], B[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v+</a:t>
            </a:r>
            <a:r>
              <a:rPr lang="en-US" altLang="zh-TW" dirty="0" smtClean="0"/>
              <a:t>1:n]) = w’</a:t>
            </a:r>
          </a:p>
          <a:p>
            <a:pPr>
              <a:buNone/>
            </a:pPr>
            <a:r>
              <a:rPr lang="en-US" altLang="zh-TW" dirty="0" smtClean="0"/>
              <a:t>                             </a:t>
            </a:r>
            <a:r>
              <a:rPr lang="en-US" altLang="zh-TW" dirty="0" smtClean="0"/>
              <a:t>=m -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 - |LCS(A[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u+</a:t>
            </a:r>
            <a:r>
              <a:rPr lang="en-US" altLang="zh-TW" dirty="0" smtClean="0"/>
              <a:t>1:m], B[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v+</a:t>
            </a:r>
            <a:r>
              <a:rPr lang="en-US" altLang="zh-TW" dirty="0" smtClean="0"/>
              <a:t>1:n]) )|</a:t>
            </a:r>
          </a:p>
          <a:p>
            <a:pPr>
              <a:buNone/>
            </a:pPr>
            <a:r>
              <a:rPr lang="en-US" altLang="zh-TW" dirty="0" smtClean="0"/>
              <a:t>                             = (m - |LCS(A, B)|)/2</a:t>
            </a:r>
          </a:p>
          <a:p>
            <a:pPr>
              <a:buNone/>
            </a:pPr>
            <a:r>
              <a:rPr lang="en-US" altLang="zh-TW" dirty="0" smtClean="0"/>
              <a:t>    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   </a:t>
            </a:r>
            <a:r>
              <a:rPr lang="en-US" altLang="zh-TW" dirty="0" smtClean="0"/>
              <a:t>w </a:t>
            </a:r>
            <a:r>
              <a:rPr lang="en-US" altLang="zh-TW" dirty="0" smtClean="0"/>
              <a:t>= </a:t>
            </a:r>
            <a:r>
              <a:rPr lang="en-US" altLang="zh-TW" dirty="0" smtClean="0"/>
              <a:t>w’ </a:t>
            </a:r>
            <a:r>
              <a:rPr lang="en-US" altLang="zh-TW" dirty="0" smtClean="0"/>
              <a:t>= (m - |LCS(A, B)|)/2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Perfect Cut 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TW" dirty="0" smtClean="0"/>
              <a:t>)(3/4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14948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 A = “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dcbc</a:t>
            </a:r>
            <a:r>
              <a:rPr lang="en-US" altLang="zh-TW" dirty="0" err="1" smtClean="0"/>
              <a:t>ada</a:t>
            </a:r>
            <a:r>
              <a:rPr lang="en-US" altLang="zh-TW" dirty="0" smtClean="0"/>
              <a:t>” </a:t>
            </a:r>
            <a:r>
              <a:rPr lang="en-US" altLang="zh-TW" dirty="0" smtClean="0"/>
              <a:t>  ,m = 9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B = “</a:t>
            </a:r>
            <a:r>
              <a:rPr lang="en-US" altLang="zh-TW" dirty="0" err="1" smtClean="0"/>
              <a:t>c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/>
              <a:t>b</a:t>
            </a:r>
            <a:r>
              <a:rPr lang="en-US" altLang="zh-TW" dirty="0" err="1" smtClean="0">
                <a:solidFill>
                  <a:srgbClr val="FF0000"/>
                </a:solidFill>
              </a:rPr>
              <a:t>d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cbc</a:t>
            </a:r>
            <a:r>
              <a:rPr lang="en-US" altLang="zh-TW" dirty="0" smtClean="0"/>
              <a:t>”      ,n  = 8 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</a:t>
            </a:r>
            <a:r>
              <a:rPr lang="en-US" altLang="zh-TW" dirty="0" smtClean="0"/>
              <a:t>|LCS(A</a:t>
            </a:r>
            <a:r>
              <a:rPr lang="en-US" altLang="zh-TW" dirty="0" smtClean="0"/>
              <a:t>, B</a:t>
            </a:r>
            <a:r>
              <a:rPr lang="en-US" altLang="zh-TW" dirty="0" smtClean="0"/>
              <a:t>)| </a:t>
            </a:r>
            <a:r>
              <a:rPr lang="en-US" altLang="zh-TW" dirty="0" smtClean="0"/>
              <a:t>= </a:t>
            </a:r>
            <a:r>
              <a:rPr lang="en-US" altLang="zh-TW" dirty="0" smtClean="0"/>
              <a:t>5</a:t>
            </a:r>
            <a:r>
              <a:rPr lang="en-US" altLang="zh-TW" dirty="0" smtClean="0"/>
              <a:t>  </a:t>
            </a:r>
            <a:r>
              <a:rPr lang="en-US" altLang="zh-TW" dirty="0" smtClean="0"/>
              <a:t>, (m - |LCS(A, B)|)/2 = 2</a:t>
            </a:r>
          </a:p>
          <a:p>
            <a:pPr>
              <a:buNone/>
            </a:pPr>
            <a:r>
              <a:rPr lang="en-US" altLang="zh-TW" dirty="0" smtClean="0"/>
              <a:t>(7, 8) is a prefect cut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71472" y="4357694"/>
            <a:ext cx="764386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3200" dirty="0" err="1" smtClean="0"/>
              <a:t>a</a:t>
            </a:r>
            <a:r>
              <a:rPr lang="en-US" altLang="zh-TW" sz="3200" dirty="0" err="1" smtClean="0">
                <a:solidFill>
                  <a:srgbClr val="FF0000"/>
                </a:solidFill>
              </a:rPr>
              <a:t>dcbc</a:t>
            </a:r>
            <a:r>
              <a:rPr lang="en-US" altLang="zh-TW" sz="3200" dirty="0" err="1" smtClean="0"/>
              <a:t>a</a:t>
            </a:r>
            <a:r>
              <a:rPr lang="en-US" altLang="zh-TW" sz="3200" dirty="0" smtClean="0"/>
              <a:t>              </a:t>
            </a:r>
            <a:r>
              <a:rPr lang="en-US" altLang="zh-TW" sz="3200" dirty="0" err="1" smtClean="0"/>
              <a:t>da</a:t>
            </a:r>
            <a:endParaRPr lang="en-US" altLang="zh-TW" sz="3200" dirty="0" smtClean="0"/>
          </a:p>
          <a:p>
            <a:endParaRPr lang="en-US" altLang="zh-TW" sz="3200" dirty="0" smtClean="0"/>
          </a:p>
          <a:p>
            <a:r>
              <a:rPr lang="en-US" altLang="zh-TW" sz="3200" dirty="0" err="1" smtClean="0"/>
              <a:t>c</a:t>
            </a:r>
            <a:r>
              <a:rPr lang="en-US" altLang="zh-TW" sz="3200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3200" dirty="0" err="1" smtClean="0"/>
              <a:t>b</a:t>
            </a:r>
            <a:r>
              <a:rPr lang="en-US" altLang="zh-TW" sz="3200" dirty="0" err="1" smtClean="0">
                <a:solidFill>
                  <a:srgbClr val="FF0000"/>
                </a:solidFill>
              </a:rPr>
              <a:t>d</a:t>
            </a:r>
            <a:r>
              <a:rPr lang="en-US" altLang="zh-TW" sz="3200" dirty="0" err="1" smtClean="0"/>
              <a:t>a</a:t>
            </a:r>
            <a:r>
              <a:rPr lang="en-US" altLang="zh-TW" sz="3200" dirty="0" err="1" smtClean="0">
                <a:solidFill>
                  <a:srgbClr val="FF0000"/>
                </a:solidFill>
              </a:rPr>
              <a:t>cbc</a:t>
            </a:r>
            <a:r>
              <a:rPr lang="en-US" altLang="zh-TW" sz="3200" dirty="0" smtClean="0">
                <a:solidFill>
                  <a:srgbClr val="FF0000"/>
                </a:solidFill>
              </a:rPr>
              <a:t>            </a:t>
            </a:r>
            <a:r>
              <a:rPr lang="en-US" altLang="zh-TW" sz="3200" dirty="0" smtClean="0"/>
              <a:t>#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rot="5400000">
            <a:off x="1928794" y="5143512"/>
            <a:ext cx="1571636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714348" y="6072206"/>
            <a:ext cx="54820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w</a:t>
            </a:r>
            <a:r>
              <a:rPr lang="en-US" altLang="zh-TW" sz="3200" dirty="0" smtClean="0"/>
              <a:t> = w’ = </a:t>
            </a:r>
            <a:r>
              <a:rPr lang="en-US" altLang="zh-TW" sz="3200" dirty="0" smtClean="0"/>
              <a:t>(m - |LCS(A, B)|)/2 = 2</a:t>
            </a:r>
            <a:r>
              <a:rPr lang="en-US" altLang="zh-TW" sz="3200" dirty="0" smtClean="0"/>
              <a:t> </a:t>
            </a:r>
            <a:endParaRPr lang="zh-TW" altLang="en-US" sz="32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Perfect Cut 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TW" dirty="0" smtClean="0"/>
              <a:t>)(4/4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 A = “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dcbc</a:t>
            </a:r>
            <a:r>
              <a:rPr lang="en-US" altLang="zh-TW" dirty="0" err="1" smtClean="0"/>
              <a:t>ada</a:t>
            </a:r>
            <a:r>
              <a:rPr lang="en-US" altLang="zh-TW" dirty="0" smtClean="0"/>
              <a:t>” </a:t>
            </a:r>
            <a:r>
              <a:rPr lang="en-US" altLang="zh-TW" dirty="0" smtClean="0"/>
              <a:t>  ,m = 9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B = “</a:t>
            </a:r>
            <a:r>
              <a:rPr lang="en-US" altLang="zh-TW" dirty="0" err="1" smtClean="0"/>
              <a:t>c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/>
              <a:t>b</a:t>
            </a:r>
            <a:r>
              <a:rPr lang="en-US" altLang="zh-TW" dirty="0" err="1" smtClean="0">
                <a:solidFill>
                  <a:srgbClr val="FF0000"/>
                </a:solidFill>
              </a:rPr>
              <a:t>d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cbc</a:t>
            </a:r>
            <a:r>
              <a:rPr lang="en-US" altLang="zh-TW" dirty="0" smtClean="0"/>
              <a:t>”      ,n  = 8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LCS(A, B) = </a:t>
            </a:r>
            <a:r>
              <a:rPr lang="en-US" altLang="zh-TW" dirty="0" err="1" smtClean="0"/>
              <a:t>adcbc</a:t>
            </a:r>
            <a:r>
              <a:rPr lang="en-US" altLang="zh-TW" dirty="0" smtClean="0"/>
              <a:t>  , (m - |LCS(A, B)|)/2 = 2</a:t>
            </a:r>
          </a:p>
          <a:p>
            <a:pPr>
              <a:buNone/>
            </a:pPr>
            <a:r>
              <a:rPr lang="en-US" altLang="zh-TW" dirty="0" smtClean="0"/>
              <a:t>(4, 6) is not a prefect cut</a:t>
            </a:r>
            <a:endParaRPr lang="zh-TW" altLang="en-US" dirty="0" smtClean="0"/>
          </a:p>
          <a:p>
            <a:pPr>
              <a:buNone/>
            </a:pP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1472" y="4071942"/>
            <a:ext cx="764386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3200" dirty="0" err="1" smtClean="0"/>
              <a:t>a</a:t>
            </a:r>
            <a:r>
              <a:rPr lang="en-US" altLang="zh-TW" sz="3200" dirty="0" err="1" smtClean="0">
                <a:solidFill>
                  <a:srgbClr val="FF0000"/>
                </a:solidFill>
              </a:rPr>
              <a:t>dc</a:t>
            </a:r>
            <a:r>
              <a:rPr lang="en-US" altLang="zh-TW" sz="3200" dirty="0" smtClean="0">
                <a:solidFill>
                  <a:srgbClr val="FF0000"/>
                </a:solidFill>
              </a:rPr>
              <a:t>                </a:t>
            </a:r>
            <a:r>
              <a:rPr lang="en-US" altLang="zh-TW" sz="3200" dirty="0" err="1" smtClean="0">
                <a:solidFill>
                  <a:srgbClr val="FF0000"/>
                </a:solidFill>
              </a:rPr>
              <a:t>bc</a:t>
            </a:r>
            <a:r>
              <a:rPr lang="en-US" altLang="zh-TW" sz="3200" dirty="0" err="1" smtClean="0"/>
              <a:t>ada</a:t>
            </a:r>
            <a:endParaRPr lang="en-US" altLang="zh-TW" sz="3200" dirty="0" smtClean="0"/>
          </a:p>
          <a:p>
            <a:endParaRPr lang="en-US" altLang="zh-TW" sz="3200" dirty="0" smtClean="0"/>
          </a:p>
          <a:p>
            <a:r>
              <a:rPr lang="en-US" altLang="zh-TW" sz="3200" dirty="0" err="1" smtClean="0"/>
              <a:t>c</a:t>
            </a:r>
            <a:r>
              <a:rPr lang="en-US" altLang="zh-TW" sz="3200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3200" dirty="0" err="1" smtClean="0"/>
              <a:t>b</a:t>
            </a:r>
            <a:r>
              <a:rPr lang="en-US" altLang="zh-TW" sz="3200" dirty="0" err="1" smtClean="0">
                <a:solidFill>
                  <a:srgbClr val="FF0000"/>
                </a:solidFill>
              </a:rPr>
              <a:t>d</a:t>
            </a:r>
            <a:r>
              <a:rPr lang="en-US" altLang="zh-TW" sz="3200" dirty="0" err="1" smtClean="0"/>
              <a:t>a</a:t>
            </a:r>
            <a:r>
              <a:rPr lang="en-US" altLang="zh-TW" sz="3200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3200" dirty="0" smtClean="0">
                <a:solidFill>
                  <a:srgbClr val="FF0000"/>
                </a:solidFill>
              </a:rPr>
              <a:t>            </a:t>
            </a:r>
            <a:r>
              <a:rPr lang="en-US" altLang="zh-TW" sz="3200" dirty="0" err="1" smtClean="0">
                <a:solidFill>
                  <a:srgbClr val="FF0000"/>
                </a:solidFill>
              </a:rPr>
              <a:t>bc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rot="5400000">
            <a:off x="1715274" y="4928404"/>
            <a:ext cx="1571636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714348" y="6072206"/>
            <a:ext cx="23351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w</a:t>
            </a:r>
            <a:r>
              <a:rPr lang="en-US" altLang="zh-TW" sz="3200" dirty="0" smtClean="0"/>
              <a:t> </a:t>
            </a:r>
            <a:r>
              <a:rPr lang="zh-TW" altLang="en-US" sz="3200" dirty="0" smtClean="0"/>
              <a:t>≠</a:t>
            </a:r>
            <a:r>
              <a:rPr lang="en-US" altLang="zh-TW" sz="3200" dirty="0" smtClean="0"/>
              <a:t> w’(1 </a:t>
            </a:r>
            <a:r>
              <a:rPr lang="zh-TW" altLang="en-US" sz="3200" dirty="0" smtClean="0"/>
              <a:t>≠ </a:t>
            </a:r>
            <a:r>
              <a:rPr lang="en-US" altLang="zh-TW" sz="3200" dirty="0" smtClean="0"/>
              <a:t>3)</a:t>
            </a:r>
            <a:endParaRPr lang="zh-TW" altLang="en-US" sz="32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Find the Perfect Cut 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TW" dirty="0" smtClean="0"/>
              <a:t>)(1/3)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ChangeAspect="1"/>
          </p:cNvGraphicFramePr>
          <p:nvPr>
            <p:ph idx="1"/>
          </p:nvPr>
        </p:nvGraphicFramePr>
        <p:xfrm>
          <a:off x="309856" y="2643182"/>
          <a:ext cx="975996" cy="587194"/>
        </p:xfrm>
        <a:graphic>
          <a:graphicData uri="http://schemas.openxmlformats.org/presentationml/2006/ole">
            <p:oleObj spid="_x0000_s3074" name="Equation" r:id="rId3" imgW="368280" imgH="241200" progId="Equation.3">
              <p:embed/>
            </p:oleObj>
          </a:graphicData>
        </a:graphic>
      </p:graphicFrame>
      <p:graphicFrame>
        <p:nvGraphicFramePr>
          <p:cNvPr id="3075" name="內容版面配置區 3"/>
          <p:cNvGraphicFramePr>
            <a:graphicFrameLocks noChangeAspect="1"/>
          </p:cNvGraphicFramePr>
          <p:nvPr/>
        </p:nvGraphicFramePr>
        <p:xfrm>
          <a:off x="319491" y="1643050"/>
          <a:ext cx="966361" cy="632737"/>
        </p:xfrm>
        <a:graphic>
          <a:graphicData uri="http://schemas.openxmlformats.org/presentationml/2006/ole">
            <p:oleObj spid="_x0000_s3075" name="Equation" r:id="rId4" imgW="368280" imgH="241200" progId="Equation.3">
              <p:embed/>
            </p:oleObj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142976" y="1714488"/>
            <a:ext cx="699255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600" dirty="0" smtClean="0"/>
              <a:t>: denotes the </a:t>
            </a:r>
            <a:r>
              <a:rPr lang="en-US" altLang="zh-TW" sz="2600" dirty="0" smtClean="0">
                <a:solidFill>
                  <a:srgbClr val="FF0000"/>
                </a:solidFill>
              </a:rPr>
              <a:t>largest</a:t>
            </a:r>
            <a:r>
              <a:rPr lang="en-US" altLang="zh-TW" sz="2600" dirty="0" smtClean="0"/>
              <a:t> </a:t>
            </a:r>
            <a:r>
              <a:rPr lang="en-US" altLang="zh-TW" sz="2600" dirty="0" smtClean="0">
                <a:solidFill>
                  <a:srgbClr val="7030A0"/>
                </a:solidFill>
              </a:rPr>
              <a:t>h</a:t>
            </a:r>
            <a:r>
              <a:rPr lang="en-US" altLang="zh-TW" sz="2600" dirty="0" smtClean="0"/>
              <a:t> such that </a:t>
            </a:r>
            <a:r>
              <a:rPr lang="en-US" altLang="zh-TW" sz="2600" dirty="0" smtClean="0">
                <a:solidFill>
                  <a:srgbClr val="FF0000"/>
                </a:solidFill>
              </a:rPr>
              <a:t>A(i:m)</a:t>
            </a:r>
            <a:r>
              <a:rPr lang="en-US" altLang="zh-TW" sz="2600" dirty="0" smtClean="0"/>
              <a:t> and </a:t>
            </a:r>
            <a:r>
              <a:rPr lang="en-US" altLang="zh-TW" sz="2600" dirty="0" smtClean="0">
                <a:solidFill>
                  <a:srgbClr val="FF0000"/>
                </a:solidFill>
              </a:rPr>
              <a:t>B(</a:t>
            </a:r>
            <a:r>
              <a:rPr lang="en-US" altLang="zh-TW" sz="2600" dirty="0" smtClean="0">
                <a:solidFill>
                  <a:srgbClr val="7030A0"/>
                </a:solidFill>
              </a:rPr>
              <a:t>h</a:t>
            </a:r>
            <a:r>
              <a:rPr lang="en-US" altLang="zh-TW" sz="2600" dirty="0" smtClean="0">
                <a:solidFill>
                  <a:srgbClr val="FF0000"/>
                </a:solidFill>
              </a:rPr>
              <a:t>:n</a:t>
            </a:r>
            <a:r>
              <a:rPr lang="en-US" altLang="zh-TW" sz="2600" dirty="0" smtClean="0"/>
              <a:t>) </a:t>
            </a:r>
          </a:p>
          <a:p>
            <a:r>
              <a:rPr lang="en-US" altLang="zh-TW" sz="2600" dirty="0" smtClean="0"/>
              <a:t>  have a LCS of length </a:t>
            </a:r>
            <a:r>
              <a:rPr lang="en-US" altLang="zh-TW" sz="2600" dirty="0" smtClean="0">
                <a:solidFill>
                  <a:srgbClr val="0070C0"/>
                </a:solidFill>
              </a:rPr>
              <a:t>k</a:t>
            </a:r>
            <a:r>
              <a:rPr lang="en-US" altLang="zh-TW" sz="2600" dirty="0" smtClean="0"/>
              <a:t>.</a:t>
            </a:r>
            <a:endParaRPr lang="zh-TW" altLang="en-US" sz="26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144017" y="2714620"/>
            <a:ext cx="729000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600" dirty="0" smtClean="0"/>
              <a:t>: denotes the </a:t>
            </a:r>
            <a:r>
              <a:rPr lang="en-US" altLang="zh-TW" sz="2600" dirty="0" smtClean="0">
                <a:solidFill>
                  <a:srgbClr val="FF0000"/>
                </a:solidFill>
              </a:rPr>
              <a:t>smallest</a:t>
            </a:r>
            <a:r>
              <a:rPr lang="en-US" altLang="zh-TW" sz="2600" dirty="0" smtClean="0"/>
              <a:t> </a:t>
            </a:r>
            <a:r>
              <a:rPr lang="en-US" altLang="zh-TW" sz="2600" dirty="0" smtClean="0">
                <a:solidFill>
                  <a:srgbClr val="7030A0"/>
                </a:solidFill>
              </a:rPr>
              <a:t>h</a:t>
            </a:r>
            <a:r>
              <a:rPr lang="en-US" altLang="zh-TW" sz="2600" dirty="0" smtClean="0"/>
              <a:t> such that </a:t>
            </a:r>
            <a:r>
              <a:rPr lang="en-US" altLang="zh-TW" sz="2600" dirty="0" smtClean="0">
                <a:solidFill>
                  <a:srgbClr val="FF0000"/>
                </a:solidFill>
              </a:rPr>
              <a:t>A(1:i)</a:t>
            </a:r>
            <a:r>
              <a:rPr lang="en-US" altLang="zh-TW" sz="2600" dirty="0" smtClean="0"/>
              <a:t> and </a:t>
            </a:r>
            <a:r>
              <a:rPr lang="en-US" altLang="zh-TW" sz="2600" dirty="0" smtClean="0">
                <a:solidFill>
                  <a:srgbClr val="FF0000"/>
                </a:solidFill>
              </a:rPr>
              <a:t>B(1:</a:t>
            </a:r>
            <a:r>
              <a:rPr lang="en-US" altLang="zh-TW" sz="2600" dirty="0" smtClean="0">
                <a:solidFill>
                  <a:srgbClr val="7030A0"/>
                </a:solidFill>
              </a:rPr>
              <a:t>h</a:t>
            </a:r>
            <a:r>
              <a:rPr lang="en-US" altLang="zh-TW" sz="2600" dirty="0" smtClean="0">
                <a:solidFill>
                  <a:srgbClr val="FF0000"/>
                </a:solidFill>
              </a:rPr>
              <a:t>)</a:t>
            </a:r>
            <a:r>
              <a:rPr lang="en-US" altLang="zh-TW" sz="2600" dirty="0" smtClean="0"/>
              <a:t> </a:t>
            </a:r>
          </a:p>
          <a:p>
            <a:r>
              <a:rPr lang="en-US" altLang="zh-TW" sz="2600" dirty="0" smtClean="0"/>
              <a:t>  have a LCS of length </a:t>
            </a:r>
            <a:r>
              <a:rPr lang="en-US" altLang="zh-TW" sz="2600" dirty="0" smtClean="0">
                <a:solidFill>
                  <a:srgbClr val="0070C0"/>
                </a:solidFill>
              </a:rPr>
              <a:t>k</a:t>
            </a:r>
            <a:r>
              <a:rPr lang="en-US" altLang="zh-TW" sz="2600" dirty="0" smtClean="0"/>
              <a:t>.</a:t>
            </a:r>
            <a:endParaRPr lang="zh-TW" altLang="en-US" sz="2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28596" y="3929066"/>
            <a:ext cx="82107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TW" sz="2800" dirty="0" smtClean="0"/>
              <a:t> A = “</a:t>
            </a:r>
            <a:r>
              <a:rPr lang="en-US" altLang="zh-TW" sz="2800" dirty="0" err="1" smtClean="0"/>
              <a:t>aadcbcada</a:t>
            </a:r>
            <a:r>
              <a:rPr lang="en-US" altLang="zh-TW" sz="2800" dirty="0" smtClean="0"/>
              <a:t>” </a:t>
            </a:r>
          </a:p>
          <a:p>
            <a:pPr>
              <a:buNone/>
            </a:pPr>
            <a:r>
              <a:rPr lang="en-US" altLang="zh-TW" sz="2800" dirty="0" smtClean="0"/>
              <a:t> B = “</a:t>
            </a:r>
            <a:r>
              <a:rPr lang="en-US" altLang="zh-TW" sz="2800" dirty="0" err="1" smtClean="0"/>
              <a:t>cabdacbc</a:t>
            </a:r>
            <a:r>
              <a:rPr lang="en-US" altLang="zh-TW" sz="2800" dirty="0" smtClean="0"/>
              <a:t>”</a:t>
            </a:r>
            <a:endParaRPr lang="en-US" altLang="zh-TW" sz="2800" dirty="0" smtClean="0"/>
          </a:p>
          <a:p>
            <a:pPr>
              <a:buNone/>
            </a:pPr>
            <a:r>
              <a:rPr lang="en-US" altLang="zh-TW" sz="2800" dirty="0" smtClean="0"/>
              <a:t>          = </a:t>
            </a:r>
            <a:r>
              <a:rPr lang="en-US" altLang="zh-TW" sz="2800" dirty="0" smtClean="0">
                <a:solidFill>
                  <a:srgbClr val="7030A0"/>
                </a:solidFill>
              </a:rPr>
              <a:t>4</a:t>
            </a:r>
            <a:r>
              <a:rPr lang="en-US" altLang="zh-TW" sz="2800" dirty="0" smtClean="0"/>
              <a:t> , LCS(A(7:9), B(</a:t>
            </a:r>
            <a:r>
              <a:rPr lang="en-US" altLang="zh-TW" sz="2800" dirty="0" smtClean="0">
                <a:solidFill>
                  <a:srgbClr val="7030A0"/>
                </a:solidFill>
              </a:rPr>
              <a:t>4</a:t>
            </a:r>
            <a:r>
              <a:rPr lang="en-US" altLang="zh-TW" sz="2800" dirty="0" smtClean="0"/>
              <a:t>:8)) = LCS(“</a:t>
            </a:r>
            <a:r>
              <a:rPr lang="en-US" altLang="zh-TW" sz="2800" dirty="0" err="1" smtClean="0"/>
              <a:t>a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da</a:t>
            </a:r>
            <a:r>
              <a:rPr lang="en-US" altLang="zh-TW" sz="2800" dirty="0" smtClean="0"/>
              <a:t>”, “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da</a:t>
            </a:r>
            <a:r>
              <a:rPr lang="en-US" altLang="zh-TW" sz="2800" dirty="0" err="1" smtClean="0"/>
              <a:t>cbc</a:t>
            </a:r>
            <a:r>
              <a:rPr lang="en-US" altLang="zh-TW" sz="2800" dirty="0" smtClean="0"/>
              <a:t>”) </a:t>
            </a:r>
            <a:r>
              <a:rPr lang="en-US" altLang="zh-TW" sz="2800" dirty="0" smtClean="0"/>
              <a:t>= </a:t>
            </a:r>
            <a:r>
              <a:rPr lang="en-US" altLang="zh-TW" sz="2800" dirty="0" smtClean="0">
                <a:solidFill>
                  <a:srgbClr val="0070C0"/>
                </a:solidFill>
              </a:rPr>
              <a:t>2</a:t>
            </a:r>
          </a:p>
          <a:p>
            <a:pPr>
              <a:buNone/>
            </a:pPr>
            <a:r>
              <a:rPr lang="en-US" altLang="zh-TW" sz="2800" dirty="0" smtClean="0"/>
              <a:t>          = </a:t>
            </a:r>
            <a:r>
              <a:rPr lang="en-US" altLang="zh-TW" sz="2800" dirty="0" smtClean="0">
                <a:solidFill>
                  <a:srgbClr val="7030A0"/>
                </a:solidFill>
              </a:rPr>
              <a:t>4</a:t>
            </a:r>
            <a:r>
              <a:rPr lang="en-US" altLang="zh-TW" sz="2800" dirty="0" smtClean="0"/>
              <a:t> , LCS(A(1:3), B(1:</a:t>
            </a:r>
            <a:r>
              <a:rPr lang="en-US" altLang="zh-TW" sz="2800" dirty="0" smtClean="0">
                <a:solidFill>
                  <a:srgbClr val="7030A0"/>
                </a:solidFill>
              </a:rPr>
              <a:t>4</a:t>
            </a:r>
            <a:r>
              <a:rPr lang="en-US" altLang="zh-TW" sz="2800" dirty="0" smtClean="0"/>
              <a:t>)) = LCS(“</a:t>
            </a:r>
            <a:r>
              <a:rPr lang="en-US" altLang="zh-TW" sz="2800" dirty="0" err="1" smtClean="0"/>
              <a:t>a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ad</a:t>
            </a:r>
            <a:r>
              <a:rPr lang="en-US" altLang="zh-TW" sz="2800" dirty="0" smtClean="0"/>
              <a:t>”, “</a:t>
            </a:r>
            <a:r>
              <a:rPr lang="en-US" altLang="zh-TW" sz="2800" dirty="0" err="1" smtClean="0"/>
              <a:t>c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800" dirty="0" err="1" smtClean="0"/>
              <a:t>b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d</a:t>
            </a:r>
            <a:r>
              <a:rPr lang="en-US" altLang="zh-TW" sz="2800" dirty="0" smtClean="0"/>
              <a:t>”) = </a:t>
            </a:r>
            <a:r>
              <a:rPr lang="en-US" altLang="zh-TW" sz="2800" dirty="0" smtClean="0">
                <a:solidFill>
                  <a:srgbClr val="0070C0"/>
                </a:solidFill>
              </a:rPr>
              <a:t>2</a:t>
            </a:r>
          </a:p>
          <a:p>
            <a:endParaRPr lang="zh-TW" altLang="en-US" sz="2800" dirty="0"/>
          </a:p>
        </p:txBody>
      </p:sp>
      <p:graphicFrame>
        <p:nvGraphicFramePr>
          <p:cNvPr id="3076" name="內容版面配置區 3"/>
          <p:cNvGraphicFramePr>
            <a:graphicFrameLocks noChangeAspect="1"/>
          </p:cNvGraphicFramePr>
          <p:nvPr/>
        </p:nvGraphicFramePr>
        <p:xfrm>
          <a:off x="357158" y="5242247"/>
          <a:ext cx="928694" cy="558727"/>
        </p:xfrm>
        <a:graphic>
          <a:graphicData uri="http://schemas.openxmlformats.org/presentationml/2006/ole">
            <p:oleObj spid="_x0000_s3076" name="Equation" r:id="rId5" imgW="368280" imgH="241200" progId="Equation.3">
              <p:embed/>
            </p:oleObj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357158" y="4714884"/>
          <a:ext cx="902784" cy="571504"/>
        </p:xfrm>
        <a:graphic>
          <a:graphicData uri="http://schemas.openxmlformats.org/presentationml/2006/ole">
            <p:oleObj spid="_x0000_s3077" name="Equation" r:id="rId6" imgW="380880" imgH="241200" progId="Equation.3">
              <p:embed/>
            </p:oleObj>
          </a:graphicData>
        </a:graphic>
      </p:graphicFrame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Find the Perfect Cut 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TW" dirty="0" smtClean="0"/>
              <a:t>)(2/3)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ChangeAspect="1"/>
          </p:cNvGraphicFramePr>
          <p:nvPr>
            <p:ph idx="1"/>
          </p:nvPr>
        </p:nvGraphicFramePr>
        <p:xfrm>
          <a:off x="1500165" y="1643050"/>
          <a:ext cx="5847005" cy="857256"/>
        </p:xfrm>
        <a:graphic>
          <a:graphicData uri="http://schemas.openxmlformats.org/presentationml/2006/ole">
            <p:oleObj spid="_x0000_s35842" name="Equation" r:id="rId3" imgW="1904760" imgH="279360" progId="Equation.3">
              <p:embed/>
            </p:oleObj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0" y="1785926"/>
            <a:ext cx="1643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 smtClean="0"/>
              <a:t>Lemma 4.</a:t>
            </a:r>
            <a:endParaRPr lang="zh-TW" altLang="en-US" sz="2800" b="1" dirty="0"/>
          </a:p>
        </p:txBody>
      </p:sp>
      <p:graphicFrame>
        <p:nvGraphicFramePr>
          <p:cNvPr id="6" name="物件 5"/>
          <p:cNvGraphicFramePr>
            <a:graphicFrameLocks noChangeAspect="1"/>
          </p:cNvGraphicFramePr>
          <p:nvPr/>
        </p:nvGraphicFramePr>
        <p:xfrm>
          <a:off x="2103438" y="4357688"/>
          <a:ext cx="4900612" cy="620712"/>
        </p:xfrm>
        <a:graphic>
          <a:graphicData uri="http://schemas.openxmlformats.org/presentationml/2006/ole">
            <p:oleObj spid="_x0000_s35843" name="Equation" r:id="rId4" imgW="1904760" imgH="241200" progId="Equation.3">
              <p:embed/>
            </p:oleObj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-68522" y="3643314"/>
            <a:ext cx="9212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Theorem 2.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An ordered pair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u,v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us a perfect cut if and only if</a:t>
            </a:r>
            <a:endParaRPr lang="zh-TW" altLang="en-US" sz="2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Find the Perfect Cut 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TW" dirty="0" smtClean="0"/>
              <a:t>)(3/3)</a:t>
            </a:r>
            <a:endParaRPr lang="zh-TW" alt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071678"/>
            <a:ext cx="7770813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A[1:m] = “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adcbc</a:t>
            </a:r>
            <a:r>
              <a:rPr lang="en-US" altLang="zh-TW" dirty="0" err="1" smtClean="0"/>
              <a:t>ada</a:t>
            </a:r>
            <a:r>
              <a:rPr lang="en-US" altLang="zh-TW" dirty="0" smtClean="0"/>
              <a:t>”</a:t>
            </a:r>
          </a:p>
          <a:p>
            <a:r>
              <a:rPr lang="en-US" altLang="zh-TW" dirty="0" smtClean="0"/>
              <a:t>B[1:n] = “</a:t>
            </a:r>
            <a:r>
              <a:rPr lang="en-US" altLang="zh-TW" dirty="0" err="1" smtClean="0"/>
              <a:t>c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/>
              <a:t>b</a:t>
            </a:r>
            <a:r>
              <a:rPr lang="en-US" altLang="zh-TW" dirty="0" err="1" smtClean="0">
                <a:solidFill>
                  <a:srgbClr val="FF0000"/>
                </a:solidFill>
              </a:rPr>
              <a:t>d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cbc</a:t>
            </a:r>
            <a:r>
              <a:rPr lang="en-US" altLang="zh-TW" dirty="0" smtClean="0"/>
              <a:t>”</a:t>
            </a:r>
          </a:p>
          <a:p>
            <a:r>
              <a:rPr lang="en-US" altLang="zh-TW" dirty="0" smtClean="0"/>
              <a:t>|LCS(A, B)| = p = 5 </a:t>
            </a:r>
          </a:p>
          <a:p>
            <a:pPr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A[1:m] = “</a:t>
            </a:r>
            <a:r>
              <a:rPr lang="en-US" altLang="zh-TW" dirty="0" err="1" smtClean="0"/>
              <a:t>aadcbcada</a:t>
            </a:r>
            <a:r>
              <a:rPr lang="en-US" altLang="zh-TW" dirty="0" smtClean="0"/>
              <a:t>”</a:t>
            </a:r>
          </a:p>
          <a:p>
            <a:r>
              <a:rPr lang="en-US" altLang="zh-TW" dirty="0" smtClean="0"/>
              <a:t>B[1:n] = “</a:t>
            </a:r>
            <a:r>
              <a:rPr lang="en-US" altLang="zh-TW" dirty="0" err="1" smtClean="0"/>
              <a:t>cabdacbc</a:t>
            </a:r>
            <a:r>
              <a:rPr lang="en-US" altLang="zh-TW" dirty="0" smtClean="0"/>
              <a:t>”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-1" y="2786058"/>
          <a:ext cx="9144001" cy="40719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40979"/>
                <a:gridCol w="2421064"/>
                <a:gridCol w="2240979"/>
                <a:gridCol w="2240979"/>
              </a:tblGrid>
              <a:tr h="1277709">
                <a:tc gridSpan="4">
                  <a:txBody>
                    <a:bodyPr/>
                    <a:lstStyle/>
                    <a:p>
                      <a:r>
                        <a:rPr lang="en-US" altLang="zh-TW" sz="3200" dirty="0" err="1" smtClean="0"/>
                        <a:t>a</a:t>
                      </a:r>
                      <a:r>
                        <a:rPr lang="en-US" altLang="zh-TW" sz="3200" dirty="0" err="1" smtClean="0">
                          <a:solidFill>
                            <a:srgbClr val="FF0000"/>
                          </a:solidFill>
                        </a:rPr>
                        <a:t>adcbc</a:t>
                      </a:r>
                      <a:r>
                        <a:rPr lang="en-US" altLang="zh-TW" sz="3200" dirty="0" err="1" smtClean="0"/>
                        <a:t>ada</a:t>
                      </a:r>
                      <a:r>
                        <a:rPr lang="en-US" altLang="zh-TW" sz="3200" dirty="0" smtClean="0"/>
                        <a:t>      perfect cut:</a:t>
                      </a:r>
                      <a:r>
                        <a:rPr lang="en-US" altLang="zh-TW" sz="3200" dirty="0" smtClean="0">
                          <a:solidFill>
                            <a:srgbClr val="FF0000"/>
                          </a:solidFill>
                        </a:rPr>
                        <a:t>(7, 8)</a:t>
                      </a:r>
                    </a:p>
                    <a:p>
                      <a:r>
                        <a:rPr lang="en-US" altLang="zh-TW" sz="3200" dirty="0" err="1" smtClean="0"/>
                        <a:t>c</a:t>
                      </a:r>
                      <a:r>
                        <a:rPr lang="en-US" altLang="zh-TW" sz="3200" dirty="0" err="1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sz="3200" dirty="0" err="1" smtClean="0"/>
                        <a:t>b</a:t>
                      </a:r>
                      <a:r>
                        <a:rPr lang="en-US" altLang="zh-TW" sz="3200" dirty="0" err="1" smtClean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altLang="zh-TW" sz="3200" dirty="0" err="1" smtClean="0"/>
                        <a:t>a</a:t>
                      </a:r>
                      <a:r>
                        <a:rPr lang="en-US" altLang="zh-TW" sz="3200" dirty="0" err="1" smtClean="0">
                          <a:solidFill>
                            <a:srgbClr val="FF0000"/>
                          </a:solidFill>
                        </a:rPr>
                        <a:t>cbc</a:t>
                      </a:r>
                      <a:endParaRPr lang="zh-TW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516524">
                <a:tc gridSpan="2">
                  <a:txBody>
                    <a:bodyPr/>
                    <a:lstStyle/>
                    <a:p>
                      <a:r>
                        <a:rPr lang="en-US" altLang="zh-TW" sz="3200" dirty="0" err="1" smtClean="0"/>
                        <a:t>a</a:t>
                      </a:r>
                      <a:r>
                        <a:rPr lang="en-US" altLang="zh-TW" sz="3200" dirty="0" err="1" smtClean="0">
                          <a:solidFill>
                            <a:srgbClr val="FF0000"/>
                          </a:solidFill>
                        </a:rPr>
                        <a:t>adcbc</a:t>
                      </a:r>
                      <a:r>
                        <a:rPr lang="en-US" altLang="zh-TW" sz="3200" dirty="0" err="1" smtClean="0"/>
                        <a:t>a</a:t>
                      </a:r>
                      <a:r>
                        <a:rPr lang="en-US" altLang="zh-TW" sz="3200" dirty="0" smtClean="0"/>
                        <a:t>    (1,0),(2,2),</a:t>
                      </a:r>
                      <a:r>
                        <a:rPr lang="en-US" altLang="zh-TW" sz="3200" dirty="0" smtClean="0">
                          <a:solidFill>
                            <a:srgbClr val="FF0000"/>
                          </a:solidFill>
                        </a:rPr>
                        <a:t>(3,4)</a:t>
                      </a:r>
                    </a:p>
                    <a:p>
                      <a:r>
                        <a:rPr lang="en-US" altLang="zh-TW" sz="3200" dirty="0" err="1" smtClean="0"/>
                        <a:t>c</a:t>
                      </a:r>
                      <a:r>
                        <a:rPr lang="en-US" altLang="zh-TW" sz="3200" dirty="0" err="1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sz="3200" dirty="0" err="1" smtClean="0"/>
                        <a:t>b</a:t>
                      </a:r>
                      <a:r>
                        <a:rPr lang="en-US" altLang="zh-TW" sz="3200" dirty="0" err="1" smtClean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altLang="zh-TW" sz="3200" dirty="0" err="1" smtClean="0"/>
                        <a:t>a</a:t>
                      </a:r>
                      <a:r>
                        <a:rPr lang="en-US" altLang="zh-TW" sz="3200" dirty="0" err="1" smtClean="0">
                          <a:solidFill>
                            <a:srgbClr val="FF0000"/>
                          </a:solidFill>
                        </a:rPr>
                        <a:t>cbc</a:t>
                      </a:r>
                      <a:r>
                        <a:rPr lang="en-US" altLang="zh-TW" sz="3200" dirty="0" smtClean="0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(4,6),(5,7),(6,8)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sz="3200" dirty="0" err="1" smtClean="0"/>
                        <a:t>da</a:t>
                      </a:r>
                      <a:r>
                        <a:rPr lang="en-US" altLang="zh-TW" sz="3200" dirty="0" smtClean="0"/>
                        <a:t>           </a:t>
                      </a:r>
                      <a:r>
                        <a:rPr lang="en-US" altLang="zh-TW" sz="3200" dirty="0" smtClean="0">
                          <a:solidFill>
                            <a:srgbClr val="FF0000"/>
                          </a:solidFill>
                        </a:rPr>
                        <a:t>(1,0)</a:t>
                      </a:r>
                    </a:p>
                    <a:p>
                      <a:r>
                        <a:rPr lang="en-US" altLang="zh-TW" sz="3200" dirty="0" smtClean="0"/>
                        <a:t># </a:t>
                      </a:r>
                      <a:endParaRPr lang="zh-TW" altLang="en-US" sz="3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277709">
                <a:tc>
                  <a:txBody>
                    <a:bodyPr/>
                    <a:lstStyle/>
                    <a:p>
                      <a:r>
                        <a:rPr lang="en-US" altLang="zh-TW" sz="3200" dirty="0" err="1" smtClean="0"/>
                        <a:t>a</a:t>
                      </a:r>
                      <a:r>
                        <a:rPr lang="en-US" altLang="zh-TW" sz="3200" dirty="0" err="1" smtClean="0">
                          <a:solidFill>
                            <a:srgbClr val="FF0000"/>
                          </a:solidFill>
                        </a:rPr>
                        <a:t>ad</a:t>
                      </a:r>
                      <a:endParaRPr lang="en-US" altLang="zh-TW" sz="3200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TW" sz="3200" dirty="0" err="1" smtClean="0"/>
                        <a:t>c</a:t>
                      </a:r>
                      <a:r>
                        <a:rPr lang="en-US" altLang="zh-TW" sz="3200" dirty="0" err="1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sz="3200" dirty="0" err="1" smtClean="0"/>
                        <a:t>b</a:t>
                      </a:r>
                      <a:r>
                        <a:rPr lang="en-US" altLang="zh-TW" sz="3200" dirty="0" err="1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TW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err="1" smtClean="0">
                          <a:solidFill>
                            <a:srgbClr val="FF0000"/>
                          </a:solidFill>
                        </a:rPr>
                        <a:t>cbc</a:t>
                      </a:r>
                      <a:r>
                        <a:rPr lang="en-US" altLang="zh-TW" sz="3200" dirty="0" err="1" smtClean="0"/>
                        <a:t>a</a:t>
                      </a:r>
                      <a:r>
                        <a:rPr lang="en-US" altLang="zh-TW" sz="3200" dirty="0" smtClean="0"/>
                        <a:t/>
                      </a:r>
                      <a:br>
                        <a:rPr lang="en-US" altLang="zh-TW" sz="3200" dirty="0" smtClean="0"/>
                      </a:br>
                      <a:r>
                        <a:rPr lang="en-US" altLang="zh-TW" sz="3200" dirty="0" err="1" smtClean="0"/>
                        <a:t>a</a:t>
                      </a:r>
                      <a:r>
                        <a:rPr lang="en-US" altLang="zh-TW" sz="3200" dirty="0" err="1" smtClean="0">
                          <a:solidFill>
                            <a:srgbClr val="FF0000"/>
                          </a:solidFill>
                        </a:rPr>
                        <a:t>cbc</a:t>
                      </a:r>
                      <a:endParaRPr lang="zh-TW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d</a:t>
                      </a:r>
                    </a:p>
                    <a:p>
                      <a:r>
                        <a:rPr lang="en-US" altLang="zh-TW" sz="3200" dirty="0" smtClean="0"/>
                        <a:t>#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a</a:t>
                      </a:r>
                    </a:p>
                    <a:p>
                      <a:r>
                        <a:rPr lang="en-US" altLang="zh-TW" sz="3200" dirty="0" smtClean="0"/>
                        <a:t>#</a:t>
                      </a:r>
                      <a:endParaRPr lang="zh-TW" alt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Time-Space Analysis of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57298"/>
            <a:ext cx="8686800" cy="5500702"/>
          </a:xfrm>
        </p:spPr>
        <p:txBody>
          <a:bodyPr>
            <a:normAutofit/>
          </a:bodyPr>
          <a:lstStyle/>
          <a:p>
            <a:r>
              <a:rPr lang="en-US" altLang="zh-TW" dirty="0" err="1" smtClean="0"/>
              <a:t>Time:T</a:t>
            </a:r>
            <a:r>
              <a:rPr lang="en-US" altLang="zh-TW" dirty="0" smtClean="0"/>
              <a:t>(m, n, p)</a:t>
            </a:r>
          </a:p>
          <a:p>
            <a:pPr>
              <a:buNone/>
            </a:pPr>
            <a:r>
              <a:rPr lang="en-US" altLang="zh-TW" dirty="0" smtClean="0"/>
              <a:t> </a:t>
            </a:r>
            <a:r>
              <a:rPr lang="en-US" altLang="zh-TW" dirty="0" smtClean="0"/>
              <a:t>             O(n(w + 1)) + O(n(w’ + 1)) + O(m + n)</a:t>
            </a:r>
          </a:p>
          <a:p>
            <a:pPr>
              <a:buNone/>
            </a:pPr>
            <a:r>
              <a:rPr lang="en-US" altLang="zh-TW" dirty="0" smtClean="0"/>
              <a:t>            =O(n(m – p + 2))                    + O(m + n)</a:t>
            </a:r>
          </a:p>
          <a:p>
            <a:pPr>
              <a:buNone/>
            </a:pPr>
            <a:r>
              <a:rPr lang="en-US" altLang="zh-TW" dirty="0" smtClean="0"/>
              <a:t> </a:t>
            </a:r>
            <a:r>
              <a:rPr lang="en-US" altLang="zh-TW" dirty="0" smtClean="0"/>
              <a:t>           =</a:t>
            </a:r>
            <a:r>
              <a:rPr lang="en-US" altLang="zh-TW" dirty="0" smtClean="0">
                <a:solidFill>
                  <a:srgbClr val="FF0000"/>
                </a:solidFill>
              </a:rPr>
              <a:t>O(n(m - p))</a:t>
            </a:r>
            <a:r>
              <a:rPr lang="en-US" altLang="zh-TW" dirty="0" smtClean="0"/>
              <a:t>,</a:t>
            </a:r>
            <a:r>
              <a:rPr lang="en-US" altLang="zh-TW" dirty="0" smtClean="0">
                <a:solidFill>
                  <a:srgbClr val="FF0000"/>
                </a:solidFill>
              </a:rPr>
              <a:t>   </a:t>
            </a:r>
            <a:r>
              <a:rPr lang="en-US" altLang="zh-TW" u="sng" dirty="0" smtClean="0"/>
              <a:t>where m – p </a:t>
            </a:r>
            <a:r>
              <a:rPr lang="zh-TW" altLang="en-US" u="sng" dirty="0" smtClean="0"/>
              <a:t>≧ </a:t>
            </a:r>
            <a:r>
              <a:rPr lang="en-US" altLang="zh-TW" u="sng" dirty="0" smtClean="0"/>
              <a:t>2</a:t>
            </a:r>
            <a:endParaRPr lang="en-US" altLang="zh-TW" u="sng" dirty="0" smtClean="0"/>
          </a:p>
          <a:p>
            <a:pPr>
              <a:buNone/>
            </a:pPr>
            <a:r>
              <a:rPr lang="en-US" altLang="zh-TW" dirty="0" smtClean="0"/>
              <a:t>           w = w’ = (m – p)/2</a:t>
            </a:r>
          </a:p>
          <a:p>
            <a:pPr>
              <a:buNone/>
            </a:pPr>
            <a:r>
              <a:rPr lang="en-US" altLang="zh-TW" dirty="0" smtClean="0"/>
              <a:t> </a:t>
            </a:r>
            <a:r>
              <a:rPr lang="en-US" altLang="zh-TW" dirty="0" smtClean="0"/>
              <a:t>          p = |LCS(A, B)|</a:t>
            </a:r>
          </a:p>
          <a:p>
            <a:pPr>
              <a:buNone/>
            </a:pPr>
            <a:r>
              <a:rPr lang="en-US" altLang="zh-TW" dirty="0" smtClean="0"/>
              <a:t>T(m, n, p</a:t>
            </a:r>
            <a:r>
              <a:rPr lang="en-US" altLang="zh-TW" dirty="0" smtClean="0"/>
              <a:t>) = </a:t>
            </a:r>
            <a:r>
              <a:rPr lang="en-US" altLang="zh-TW" dirty="0" smtClean="0"/>
              <a:t>O(n(m - p)) </a:t>
            </a:r>
            <a:r>
              <a:rPr lang="en-US" altLang="zh-TW" dirty="0" smtClean="0"/>
              <a:t> + T(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 – w)</a:t>
            </a:r>
          </a:p>
          <a:p>
            <a:pPr>
              <a:buNone/>
            </a:pPr>
            <a:r>
              <a:rPr lang="en-US" altLang="zh-TW" dirty="0" smtClean="0"/>
              <a:t> </a:t>
            </a:r>
            <a:r>
              <a:rPr lang="en-US" altLang="zh-TW" dirty="0" smtClean="0"/>
              <a:t>                                          + T(m –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, n –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TW" dirty="0" smtClean="0"/>
              <a:t>, m –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TW" dirty="0" smtClean="0"/>
              <a:t> – w’)</a:t>
            </a:r>
          </a:p>
          <a:p>
            <a:pPr>
              <a:buNone/>
            </a:pPr>
            <a:r>
              <a:rPr lang="en-US" altLang="zh-TW" dirty="0" smtClean="0"/>
              <a:t> </a:t>
            </a:r>
            <a:r>
              <a:rPr lang="en-US" altLang="zh-TW" dirty="0" smtClean="0"/>
              <a:t>                 = O(n(m - p))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Font typeface="Wingdings" pitchFamily="2" charset="2"/>
              <a:buChar char="l"/>
            </a:pP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27</a:t>
            </a:fld>
            <a:endParaRPr lang="zh-TW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Space </a:t>
            </a:r>
            <a:r>
              <a:rPr lang="en-US" altLang="zh-TW" dirty="0" smtClean="0"/>
              <a:t>Analysis of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Space:</a:t>
            </a:r>
            <a:r>
              <a:rPr lang="en-US" altLang="zh-TW" dirty="0" err="1" smtClean="0">
                <a:solidFill>
                  <a:srgbClr val="FF0000"/>
                </a:solidFill>
              </a:rPr>
              <a:t>O</a:t>
            </a:r>
            <a:r>
              <a:rPr lang="en-US" altLang="zh-TW" dirty="0" smtClean="0">
                <a:solidFill>
                  <a:srgbClr val="FF0000"/>
                </a:solidFill>
              </a:rPr>
              <a:t>(m + n)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algn="ctr">
              <a:buNone/>
            </a:pPr>
            <a:r>
              <a:rPr lang="en-US" altLang="zh-TW" dirty="0" smtClean="0"/>
              <a:t>Thanks for listening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1960</TotalTime>
  <Words>1411</Words>
  <PresentationFormat>如螢幕大小 (4:3)</PresentationFormat>
  <Paragraphs>429</Paragraphs>
  <Slides>29</Slides>
  <Notes>2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1" baseType="lpstr">
      <vt:lpstr>Office 佈景主題</vt:lpstr>
      <vt:lpstr>Equation</vt:lpstr>
      <vt:lpstr>A Linear Space Algorithm for the LCS Problem</vt:lpstr>
      <vt:lpstr>Abstract</vt:lpstr>
      <vt:lpstr>Algorithm</vt:lpstr>
      <vt:lpstr>Calculation length of LCS(A, B)(1/14)</vt:lpstr>
      <vt:lpstr>Calculation length of LCS(A, B)(2/14)</vt:lpstr>
      <vt:lpstr>Calculation length of LCS(A, B)(3/14)</vt:lpstr>
      <vt:lpstr>Calculation length of LCS(A, B)(4/14)</vt:lpstr>
      <vt:lpstr>Calculation length of LCS(A, B)(5/14)</vt:lpstr>
      <vt:lpstr>Calculation length of LCS(A, B)(6/14)</vt:lpstr>
      <vt:lpstr>Calculation length of LCS(A, B)(7/14)</vt:lpstr>
      <vt:lpstr>Calculation length of LCS(A, B)(8/14)</vt:lpstr>
      <vt:lpstr>Calculation length of LCS(A, B)(9/14)</vt:lpstr>
      <vt:lpstr>Calculation length of LCS(A, B)(10/14)</vt:lpstr>
      <vt:lpstr>Calculation length of LCS(A, B)(11/14)</vt:lpstr>
      <vt:lpstr>Calculation length of LCS(A, B)(12/14)</vt:lpstr>
      <vt:lpstr>Calculation length of LCS(A, B)(13/14)</vt:lpstr>
      <vt:lpstr>Calculation length of LCS(A, B)(14/14)</vt:lpstr>
      <vt:lpstr>Perfect Cut (u, v)(1/4)</vt:lpstr>
      <vt:lpstr>Perfect Cut (u, v)(2/4)</vt:lpstr>
      <vt:lpstr>Perfect Cut (u, v)(3/4)</vt:lpstr>
      <vt:lpstr>Perfect Cut (u, v)(4/4)</vt:lpstr>
      <vt:lpstr>Find the Perfect Cut (u, v)(1/3)</vt:lpstr>
      <vt:lpstr>Find the Perfect Cut (u, v)(2/3)</vt:lpstr>
      <vt:lpstr>Find the Perfect Cut (u, v)(3/3)</vt:lpstr>
      <vt:lpstr>example</vt:lpstr>
      <vt:lpstr>example</vt:lpstr>
      <vt:lpstr>Time-Space Analysis of LCS</vt:lpstr>
      <vt:lpstr>Space Analysis of LCS</vt:lpstr>
      <vt:lpstr>投影片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for the LCS Problem</dc:title>
  <cp:lastModifiedBy>user</cp:lastModifiedBy>
  <cp:revision>166</cp:revision>
  <dcterms:modified xsi:type="dcterms:W3CDTF">2014-06-16T09:54:22Z</dcterms:modified>
</cp:coreProperties>
</file>