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61" r:id="rId6"/>
    <p:sldId id="260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7" d="100"/>
          <a:sy n="77" d="100"/>
        </p:scale>
        <p:origin x="44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488F-D772-4EFE-AAC2-32655FB34E53}" type="datetimeFigureOut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3CC0-F8CC-48DE-A7D5-7C31AF3A4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5112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488F-D772-4EFE-AAC2-32655FB34E53}" type="datetimeFigureOut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3CC0-F8CC-48DE-A7D5-7C31AF3A4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301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488F-D772-4EFE-AAC2-32655FB34E53}" type="datetimeFigureOut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3CC0-F8CC-48DE-A7D5-7C31AF3A4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9284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488F-D772-4EFE-AAC2-32655FB34E53}" type="datetimeFigureOut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3CC0-F8CC-48DE-A7D5-7C31AF3A4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79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488F-D772-4EFE-AAC2-32655FB34E53}" type="datetimeFigureOut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3CC0-F8CC-48DE-A7D5-7C31AF3A4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50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488F-D772-4EFE-AAC2-32655FB34E53}" type="datetimeFigureOut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3CC0-F8CC-48DE-A7D5-7C31AF3A4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930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488F-D772-4EFE-AAC2-32655FB34E53}" type="datetimeFigureOut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3CC0-F8CC-48DE-A7D5-7C31AF3A4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797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488F-D772-4EFE-AAC2-32655FB34E53}" type="datetimeFigureOut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3CC0-F8CC-48DE-A7D5-7C31AF3A4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095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488F-D772-4EFE-AAC2-32655FB34E53}" type="datetimeFigureOut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3CC0-F8CC-48DE-A7D5-7C31AF3A4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851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488F-D772-4EFE-AAC2-32655FB34E53}" type="datetimeFigureOut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3CC0-F8CC-48DE-A7D5-7C31AF3A4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2892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488F-D772-4EFE-AAC2-32655FB34E53}" type="datetimeFigureOut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3CC0-F8CC-48DE-A7D5-7C31AF3A4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781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5488F-D772-4EFE-AAC2-32655FB34E53}" type="datetimeFigureOut">
              <a:rPr lang="zh-TW" altLang="en-US" smtClean="0"/>
              <a:t>2014/6/16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DD3CC0-F8CC-48DE-A7D5-7C31AF3A4F6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5909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251520" y="1628800"/>
            <a:ext cx="8206680" cy="1470025"/>
          </a:xfrm>
        </p:spPr>
        <p:txBody>
          <a:bodyPr>
            <a:normAutofit fontScale="90000"/>
          </a:bodyPr>
          <a:lstStyle/>
          <a:p>
            <a:r>
              <a:rPr lang="en-US" altLang="zh-TW" dirty="0" err="1" smtClean="0"/>
              <a:t>Ngila</a:t>
            </a:r>
            <a:r>
              <a:rPr lang="en-US" altLang="zh-TW" dirty="0" smtClean="0"/>
              <a:t>: global pairwise alignments with logarithmic and affine gap costs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789040"/>
            <a:ext cx="6400800" cy="17526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Reed A. Cartwright</a:t>
            </a:r>
          </a:p>
          <a:p>
            <a:r>
              <a:rPr lang="en-US" altLang="zh-TW" dirty="0" smtClean="0">
                <a:solidFill>
                  <a:schemeClr val="tx1"/>
                </a:solidFill>
              </a:rPr>
              <a:t>Bioinformatics Applications Note </a:t>
            </a:r>
            <a:r>
              <a:rPr lang="pt-BR" altLang="zh-TW" dirty="0" smtClean="0">
                <a:solidFill>
                  <a:schemeClr val="tx1"/>
                </a:solidFill>
              </a:rPr>
              <a:t>Vol. 23 no. 11 2007, pp. 1427–1428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580112" y="5589240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Presenter</a:t>
            </a:r>
            <a:r>
              <a:rPr lang="zh-TW" altLang="en-US" dirty="0" smtClean="0"/>
              <a:t>：</a:t>
            </a:r>
            <a:r>
              <a:rPr lang="en-US" altLang="zh-TW" dirty="0" smtClean="0"/>
              <a:t>Guan-Cheng </a:t>
            </a:r>
            <a:r>
              <a:rPr lang="en-US" altLang="zh-TW" dirty="0" err="1" smtClean="0"/>
              <a:t>Guo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Date</a:t>
            </a:r>
            <a:r>
              <a:rPr lang="zh-TW" altLang="en-US" dirty="0" smtClean="0"/>
              <a:t>：</a:t>
            </a:r>
            <a:r>
              <a:rPr lang="en-US" altLang="zh-TW" dirty="0" smtClean="0"/>
              <a:t>2014/6/16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13270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Ngila</a:t>
            </a:r>
            <a:r>
              <a:rPr lang="en-US" altLang="zh-TW" dirty="0" smtClean="0"/>
              <a:t> is an application that will find the best alignment of a pair of sequences using log-affine gap costs, which are the most biologically realistic gap costs.</a:t>
            </a:r>
          </a:p>
        </p:txBody>
      </p:sp>
    </p:spTree>
    <p:extLst>
      <p:ext uri="{BB962C8B-B14F-4D97-AF65-F5344CB8AC3E}">
        <p14:creationId xmlns:p14="http://schemas.microsoft.com/office/powerpoint/2010/main" val="145251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zh-TW" dirty="0"/>
              <a:t>Statistical Alignment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836712"/>
                <a:ext cx="9144000" cy="602128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000" dirty="0" smtClean="0"/>
                  <a:t>scores </a:t>
                </a:r>
                <a:r>
                  <a:rPr lang="en-US" altLang="zh-TW" sz="3000" dirty="0"/>
                  <a:t>of </a:t>
                </a:r>
                <a:r>
                  <a:rPr lang="en-US" altLang="zh-TW" sz="3000" dirty="0" smtClean="0"/>
                  <a:t>matches </a:t>
                </a:r>
                <a:r>
                  <a:rPr lang="en-US" altLang="zh-TW" sz="3000" dirty="0"/>
                  <a:t>of </a:t>
                </a:r>
                <a:r>
                  <a:rPr lang="en-US" altLang="zh-TW" sz="3000" dirty="0" smtClean="0"/>
                  <a:t>type </a:t>
                </a:r>
                <a:r>
                  <a:rPr lang="en-US" altLang="zh-TW" sz="3000" dirty="0" err="1" smtClean="0"/>
                  <a:t>i</a:t>
                </a:r>
                <a:r>
                  <a:rPr lang="en-US" altLang="zh-TW" sz="3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sz="3000" i="0" dirty="0">
                            <a:latin typeface="Cambria Math"/>
                          </a:rPr>
                          <m:t>α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ja-JP" sz="3000" b="0" i="0" dirty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ja-JP" sz="3000" dirty="0" smtClean="0"/>
                  <a:t/>
                </a:r>
                <a:br>
                  <a:rPr lang="en-US" altLang="ja-JP" sz="3000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altLang="zh-TW" sz="3000" dirty="0">
                            <a:latin typeface="Cambria Math"/>
                          </a:rPr>
                          <m:t>η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ja-JP" sz="3000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 is the number </a:t>
                </a:r>
                <a:r>
                  <a:rPr lang="en-US" altLang="zh-TW" sz="3000" dirty="0"/>
                  <a:t>of matches of type </a:t>
                </a:r>
                <a:r>
                  <a:rPr lang="en-US" altLang="zh-TW" sz="3000" dirty="0" err="1" smtClean="0"/>
                  <a:t>i</a:t>
                </a:r>
                <a:r>
                  <a:rPr lang="en-US" altLang="zh-TW" sz="3000" dirty="0"/>
                  <a:t/>
                </a:r>
                <a:br>
                  <a:rPr lang="en-US" altLang="zh-TW" sz="3000" dirty="0"/>
                </a:br>
                <a:r>
                  <a:rPr lang="en-US" altLang="zh-TW" sz="3000" dirty="0" smtClean="0"/>
                  <a:t>penalties </a:t>
                </a:r>
                <a:r>
                  <a:rPr lang="en-US" altLang="zh-TW" sz="3000" dirty="0"/>
                  <a:t>of gaps of length k</a:t>
                </a:r>
                <a:r>
                  <a:rPr lang="en-US" altLang="zh-TW" sz="30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300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3000"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altLang="zh-TW" sz="3000" i="1" dirty="0" smtClean="0">
                    <a:latin typeface="Cambria Math" panose="02040503050406030204" pitchFamily="18" charset="0"/>
                  </a:rPr>
                  <a:t> </a:t>
                </a:r>
                <a:br>
                  <a:rPr lang="en-US" altLang="zh-TW" sz="300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000" i="1" dirty="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ja-JP" sz="3000" dirty="0">
                            <a:latin typeface="Cambria Math"/>
                          </a:rPr>
                          <m:t>Δ</m:t>
                        </m:r>
                      </m:e>
                      <m:sub>
                        <m:r>
                          <m:rPr>
                            <m:nor/>
                          </m:rPr>
                          <a:rPr lang="ja-JP" altLang="en-US" sz="3000" dirty="0"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 </a:t>
                </a:r>
                <a:r>
                  <a:rPr lang="en-US" altLang="zh-TW" sz="3000" dirty="0"/>
                  <a:t>is the number of gaps </a:t>
                </a:r>
                <a:r>
                  <a:rPr lang="en-US" altLang="zh-TW" sz="3000" dirty="0" smtClean="0"/>
                  <a:t>of length </a:t>
                </a:r>
                <a:r>
                  <a:rPr lang="en-US" altLang="zh-TW" sz="3000" dirty="0"/>
                  <a:t>k</a:t>
                </a:r>
                <a:r>
                  <a:rPr lang="en-US" altLang="zh-TW" sz="3000" dirty="0" smtClean="0"/>
                  <a:t>.</a:t>
                </a:r>
              </a:p>
              <a:p>
                <a:r>
                  <a:rPr lang="en-US" altLang="zh-TW" sz="3000" dirty="0" smtClean="0"/>
                  <a:t>alignment </a:t>
                </a:r>
                <a:r>
                  <a:rPr lang="en-US" altLang="zh-TW" sz="3000" dirty="0"/>
                  <a:t>with maximum log-likelihood:</a:t>
                </a:r>
                <a:endParaRPr lang="en-US" altLang="zh-TW" sz="30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r>
                  <a:rPr lang="en-US" altLang="zh-TW" sz="3000" dirty="0">
                    <a:ea typeface="Cambria Math" panose="02040503050406030204" pitchFamily="18" charset="0"/>
                  </a:rPr>
                  <a:t>l</a:t>
                </a:r>
                <a:r>
                  <a:rPr lang="en-US" altLang="zh-TW" sz="3000" dirty="0"/>
                  <a:t> = max{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altLang="zh-TW" sz="3000"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sz="30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TW" sz="3000" dirty="0">
                                <a:latin typeface="Cambria Math"/>
                              </a:rPr>
                              <m:t>η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ja-JP" sz="3000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nary>
                    <m:r>
                      <a:rPr lang="en-US" altLang="ja-JP" sz="3000" i="1" dirty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altLang="zh-TW" sz="3000">
                                <a:latin typeface="Cambria Math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sz="3000">
                                <a:latin typeface="Cambria Math"/>
                              </a:rPr>
                              <m:t>k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000" i="1" dirty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ja-JP" sz="3000" dirty="0">
                                <a:latin typeface="Cambria Math"/>
                              </a:rPr>
                              <m:t>Δ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ja-JP" altLang="en-US" sz="3000" dirty="0">
                                <a:latin typeface="Cambria Math"/>
                              </a:rPr>
                              <m:t>k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TW" sz="3000" dirty="0"/>
                  <a:t>}</a:t>
                </a:r>
              </a:p>
              <a:p>
                <a:r>
                  <a:rPr lang="en-US" altLang="zh-TW" sz="3000" dirty="0"/>
                  <a:t>A minimum cost analog of this </a:t>
                </a:r>
                <a:r>
                  <a:rPr lang="en-US" altLang="zh-TW" sz="3000" dirty="0" smtClean="0"/>
                  <a:t>equation is:</a:t>
                </a:r>
                <a:br>
                  <a:rPr lang="en-US" altLang="zh-TW" sz="3000" dirty="0" smtClean="0"/>
                </a:br>
                <a:r>
                  <a:rPr lang="en-US" altLang="zh-TW" sz="3000" dirty="0" smtClean="0"/>
                  <a:t>                     </a:t>
                </a:r>
                <a:r>
                  <a:rPr lang="en-US" altLang="zh-TW" sz="3000" dirty="0" smtClean="0">
                    <a:ea typeface="Cambria Math" panose="02040503050406030204" pitchFamily="18" charset="0"/>
                  </a:rPr>
                  <a:t>d</a:t>
                </a:r>
                <a:r>
                  <a:rPr lang="en-US" altLang="zh-TW" sz="3000" dirty="0" smtClean="0"/>
                  <a:t> </a:t>
                </a:r>
                <a:r>
                  <a:rPr lang="en-US" altLang="zh-TW" sz="3000" dirty="0"/>
                  <a:t>= </a:t>
                </a:r>
                <a:r>
                  <a:rPr lang="en-US" altLang="zh-TW" sz="3000" dirty="0" smtClean="0"/>
                  <a:t>min{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altLang="zh-TW" sz="3000"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sz="300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altLang="zh-TW" sz="3000" dirty="0">
                                <a:latin typeface="Cambria Math"/>
                              </a:rPr>
                              <m:t>η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ja-JP" sz="3000" dirty="0">
                                <a:latin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e>
                    </m:nary>
                    <m:r>
                      <a:rPr lang="en-US" altLang="ja-JP" sz="3000" i="1" dirty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TW" sz="3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3000" i="1" dirty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ja-JP" sz="3000" dirty="0">
                                <a:latin typeface="Cambria Math"/>
                              </a:rPr>
                              <m:t>Δ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ja-JP" altLang="en-US" sz="3000" dirty="0">
                                <a:latin typeface="Cambria Math"/>
                              </a:rPr>
                              <m:t>k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TW" sz="3000" dirty="0" smtClean="0"/>
                  <a:t>}</a:t>
                </a:r>
                <a:br>
                  <a:rPr lang="en-US" altLang="zh-TW" sz="3000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sz="300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300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 =  (x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sz="3000"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300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altLang="zh-TW" sz="3000" dirty="0"/>
                  <a:t>) / y is the </a:t>
                </a:r>
                <a:r>
                  <a:rPr lang="en-US" altLang="zh-TW" sz="3000" dirty="0" smtClean="0"/>
                  <a:t>cost of </a:t>
                </a:r>
                <a:r>
                  <a:rPr lang="en-US" altLang="zh-TW" sz="3000" dirty="0"/>
                  <a:t>a match of type </a:t>
                </a:r>
                <a:r>
                  <a:rPr lang="en-US" altLang="zh-TW" sz="3000" dirty="0" err="1" smtClean="0"/>
                  <a:t>i</a:t>
                </a:r>
                <a:r>
                  <a:rPr lang="en-US" altLang="zh-TW" sz="3000" dirty="0" smtClean="0"/>
                  <a:t/>
                </a:r>
                <a:br>
                  <a:rPr lang="en-US" altLang="zh-TW" sz="3000" dirty="0" smtClean="0"/>
                </a:br>
                <a:r>
                  <a:rPr lang="en-US" altLang="zh-TW" sz="3000" dirty="0" smtClean="0"/>
                  <a:t>G(k) = (</a:t>
                </a:r>
                <a:r>
                  <a:rPr lang="en-US" altLang="zh-TW" sz="3000" dirty="0" err="1" smtClean="0"/>
                  <a:t>xk</a:t>
                </a:r>
                <a:r>
                  <a:rPr lang="en-US" altLang="zh-TW" sz="3000" dirty="0" smtClean="0"/>
                  <a:t>/2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300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3000">
                            <a:latin typeface="Cambria Math"/>
                          </a:rPr>
                          <m:t>k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)/y </a:t>
                </a:r>
                <a:r>
                  <a:rPr lang="en-US" altLang="zh-TW" sz="3000" dirty="0"/>
                  <a:t>is the cost of a </a:t>
                </a:r>
                <a:r>
                  <a:rPr lang="en-US" altLang="zh-TW" sz="3000" dirty="0" smtClean="0"/>
                  <a:t>gap of </a:t>
                </a:r>
                <a:r>
                  <a:rPr lang="en-US" altLang="zh-TW" sz="3000" dirty="0"/>
                  <a:t>length k, and x and y are arbitrary constants</a:t>
                </a:r>
              </a:p>
              <a:p>
                <a:pPr marL="0" indent="0">
                  <a:buNone/>
                </a:pPr>
                <a:endParaRPr lang="zh-TW" altLang="en-US" sz="3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6712"/>
                <a:ext cx="9144000" cy="6021288"/>
              </a:xfrm>
              <a:blipFill rotWithShape="0">
                <a:blip r:embed="rId2"/>
                <a:stretch>
                  <a:fillRect l="-1333" t="-1215" r="-17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424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en-US" altLang="zh-TW" dirty="0"/>
              <a:t>Statistical Alignment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836712"/>
                <a:ext cx="9144000" cy="602128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3000" dirty="0" smtClean="0"/>
                  <a:t>Applying the above conversion to a simple statistical model </a:t>
                </a:r>
                <a:r>
                  <a:rPr lang="en-US" altLang="zh-TW" sz="3000" dirty="0"/>
                  <a:t>the following </a:t>
                </a:r>
                <a:r>
                  <a:rPr lang="en-US" altLang="zh-TW" sz="3000" dirty="0" smtClean="0"/>
                  <a:t>costs are </a:t>
                </a:r>
                <a:r>
                  <a:rPr lang="en-US" altLang="zh-TW" sz="3000" dirty="0"/>
                  <a:t>biologically </a:t>
                </a:r>
                <a:r>
                  <a:rPr lang="en-US" altLang="zh-TW" sz="3000" dirty="0" smtClean="0"/>
                  <a:t>appropriate(Cartwright 2006):</a:t>
                </a:r>
                <a:br>
                  <a:rPr lang="en-US" altLang="zh-TW" sz="3000" dirty="0" smtClean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sz="300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match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 = 1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sz="3000"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mismatch</m:t>
                        </m:r>
                      </m:sub>
                    </m:sSub>
                  </m:oMath>
                </a14:m>
                <a:r>
                  <a:rPr lang="en-US" altLang="zh-TW" sz="3000" dirty="0" smtClean="0"/>
                  <a:t> = 0 </a:t>
                </a:r>
                <a:r>
                  <a:rPr lang="en-US" altLang="zh-TW" sz="3000" i="1" dirty="0" smtClean="0">
                    <a:latin typeface="Cambria Math" panose="02040503050406030204" pitchFamily="18" charset="0"/>
                  </a:rPr>
                  <a:t/>
                </a:r>
                <a:br>
                  <a:rPr lang="en-US" altLang="zh-TW" sz="3000" i="1" dirty="0" smtClean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3000">
                            <a:latin typeface="Cambria Math"/>
                          </a:rPr>
                          <m:t>w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3000">
                            <a:latin typeface="Cambria Math"/>
                          </a:rPr>
                          <m:t>k</m:t>
                        </m:r>
                      </m:sub>
                    </m:sSub>
                    <m:r>
                      <a:rPr lang="en-US" altLang="zh-TW" sz="3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l-GR" altLang="zh-TW" sz="3000">
                            <a:latin typeface="Cambria Math" panose="02040503050406030204" pitchFamily="18" charset="0"/>
                          </a:rPr>
                          <m:t>ζ</m:t>
                        </m:r>
                        <m:d>
                          <m:dPr>
                            <m:ctrlPr>
                              <a:rPr lang="en-US" altLang="zh-TW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TW" sz="3000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e>
                        </m:d>
                        <m: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ctrlPr>
                              <a:rPr lang="en-US" altLang="zh-TW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TW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3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l-GR" altLang="zh-TW" sz="3000" i="1">
                                    <a:latin typeface="Cambria Math" panose="02040503050406030204" pitchFamily="18" charset="0"/>
                                  </a:rPr>
                                  <m:t>𝜆𝜃</m:t>
                                </m:r>
                              </m:sup>
                            </m:sSup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+0.5 </m:t>
                        </m:r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ctrlPr>
                              <a:rPr lang="en-US" altLang="zh-TW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000" b="0" i="0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sSupPr>
                                <m:ctrlP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sz="3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TW" sz="3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30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l-GR" altLang="zh-TW" sz="3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num>
                                  <m:den>
                                    <m:r>
                                      <a:rPr lang="en-US" altLang="zh-TW" sz="3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z</m:t>
                        </m:r>
                        <m: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d>
                          <m:dPr>
                            <m:ctrlPr>
                              <a:rPr lang="en-US" altLang="zh-TW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</a:rPr>
                              <m:t>1+3</m:t>
                            </m:r>
                            <m:sSup>
                              <m:sSupPr>
                                <m:ctrlP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TW" sz="3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TW" sz="3000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l-GR" altLang="zh-TW" sz="3000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num>
                                  <m:den>
                                    <m:r>
                                      <a:rPr lang="en-US" altLang="zh-TW" sz="30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TW" sz="30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⁡(1−</m:t>
                        </m:r>
                        <m:sSup>
                          <m:sSupPr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3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3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l-GR" altLang="zh-TW" sz="30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num>
                              <m:den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  <m:r>
                          <a:rPr lang="en-US" altLang="zh-TW" sz="3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zh-TW" altLang="en-US" sz="3000" dirty="0" smtClean="0"/>
                  <a:t> </a:t>
                </a:r>
                <a:r>
                  <a:rPr lang="en-US" altLang="zh-TW" sz="3000" dirty="0" smtClean="0"/>
                  <a:t> </a:t>
                </a:r>
                <a:br>
                  <a:rPr lang="en-US" altLang="zh-TW" sz="3000" dirty="0" smtClean="0"/>
                </a:br>
                <a14:m>
                  <m:oMath xmlns:m="http://schemas.openxmlformats.org/officeDocument/2006/math">
                    <m:r>
                      <a:rPr lang="el-GR" altLang="zh-TW" sz="3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TW" sz="3000" dirty="0" smtClean="0"/>
                  <a:t> : the </a:t>
                </a:r>
                <a:r>
                  <a:rPr lang="en-US" altLang="zh-TW" sz="3000" dirty="0"/>
                  <a:t>expected number of substitutions per </a:t>
                </a:r>
                <a:r>
                  <a:rPr lang="en-US" altLang="zh-TW" sz="3000" dirty="0" smtClean="0"/>
                  <a:t>residue  between </a:t>
                </a:r>
                <a:r>
                  <a:rPr lang="en-US" altLang="zh-TW" sz="3000" dirty="0"/>
                  <a:t>a pair of </a:t>
                </a:r>
                <a:r>
                  <a:rPr lang="en-US" altLang="zh-TW" sz="3000" dirty="0" smtClean="0"/>
                  <a:t>sequences.</a:t>
                </a:r>
                <a:br>
                  <a:rPr lang="en-US" altLang="zh-TW" sz="3000" dirty="0" smtClean="0"/>
                </a:br>
                <a14:m>
                  <m:oMath xmlns:m="http://schemas.openxmlformats.org/officeDocument/2006/math">
                    <m:r>
                      <a:rPr lang="el-GR" altLang="zh-TW" sz="30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TW" sz="3000" dirty="0" smtClean="0"/>
                  <a:t>:</a:t>
                </a:r>
                <a:r>
                  <a:rPr lang="en-US" altLang="zh-TW" sz="3000" dirty="0"/>
                  <a:t> the expected number of </a:t>
                </a:r>
                <a:r>
                  <a:rPr lang="en-US" altLang="zh-TW" sz="3000" dirty="0" err="1"/>
                  <a:t>indels</a:t>
                </a:r>
                <a:r>
                  <a:rPr lang="en-US" altLang="zh-TW" sz="3000" dirty="0"/>
                  <a:t> per </a:t>
                </a:r>
                <a:r>
                  <a:rPr lang="en-US" altLang="zh-TW" sz="3000" dirty="0" smtClean="0"/>
                  <a:t>substitution.</a:t>
                </a:r>
                <a:br>
                  <a:rPr lang="en-US" altLang="zh-TW" sz="3000" dirty="0" smtClean="0"/>
                </a:br>
                <a:r>
                  <a:rPr lang="en-US" altLang="zh-TW" sz="3000" dirty="0"/>
                  <a:t>z </a:t>
                </a:r>
                <a:r>
                  <a:rPr lang="en-US" altLang="zh-TW" sz="3000" dirty="0" smtClean="0"/>
                  <a:t>: the </a:t>
                </a:r>
                <a:r>
                  <a:rPr lang="en-US" altLang="zh-TW" sz="3000" dirty="0"/>
                  <a:t>slope parameter of the power </a:t>
                </a:r>
                <a:r>
                  <a:rPr lang="en-US" altLang="zh-TW" sz="3000" dirty="0" smtClean="0"/>
                  <a:t>law of </a:t>
                </a:r>
                <a:r>
                  <a:rPr lang="en-US" altLang="zh-TW" sz="3000" dirty="0" err="1"/>
                  <a:t>indel</a:t>
                </a:r>
                <a:r>
                  <a:rPr lang="en-US" altLang="zh-TW" sz="3000" dirty="0"/>
                  <a:t> lengths</a:t>
                </a:r>
                <a:r>
                  <a:rPr lang="en-US" altLang="zh-TW" sz="3000" dirty="0" smtClean="0"/>
                  <a:t>.</a:t>
                </a:r>
                <a:br>
                  <a:rPr lang="en-US" altLang="zh-TW" sz="3000" dirty="0" smtClean="0"/>
                </a:br>
                <a:r>
                  <a:rPr lang="el-GR" altLang="zh-TW" sz="2800" dirty="0" smtClean="0"/>
                  <a:t>ζ(</a:t>
                </a:r>
                <a:r>
                  <a:rPr lang="en-US" altLang="zh-TW" sz="2800" dirty="0" smtClean="0"/>
                  <a:t>z) 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sz="2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altLang="zh-TW" sz="2800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TW" sz="2800" b="0" i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nor/>
                          </m:rPr>
                          <a:rPr lang="zh-TW" altLang="en-US" sz="2800"/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TW" sz="28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TW" sz="2800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en-US" altLang="zh-TW" sz="2800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TW" sz="2800" b="0" i="0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TW" sz="2800" dirty="0" smtClean="0"/>
                  <a:t>  </a:t>
                </a:r>
                <a:r>
                  <a:rPr lang="en-US" altLang="zh-TW" sz="2800" dirty="0"/>
                  <a:t>is Riemann’s Zeta Function</a:t>
                </a:r>
                <a:endParaRPr lang="zh-TW" altLang="en-US" sz="30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36712"/>
                <a:ext cx="9144000" cy="6021288"/>
              </a:xfrm>
              <a:blipFill rotWithShape="0">
                <a:blip r:embed="rId2"/>
                <a:stretch>
                  <a:fillRect l="-1333" t="-1215" b="-20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9425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Performance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434802"/>
            <a:ext cx="6048672" cy="4090542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79512" y="1196752"/>
                <a:ext cx="8856984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sz="2800" dirty="0"/>
                  <a:t>EM(Expectation–maximization) </a:t>
                </a:r>
                <a:r>
                  <a:rPr lang="en-US" altLang="zh-TW" sz="2800" dirty="0" smtClean="0"/>
                  <a:t>algorithm summed </a:t>
                </a:r>
                <a:r>
                  <a:rPr lang="en-US" altLang="zh-TW" sz="2800" dirty="0"/>
                  <a:t>across all possible alignments and estimated</a:t>
                </a:r>
                <a14:m>
                  <m:oMath xmlns:m="http://schemas.openxmlformats.org/officeDocument/2006/math">
                    <m:r>
                      <a:rPr lang="en-US" altLang="zh-TW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altLang="zh-TW" sz="2800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l-GR" altLang="zh-TW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800" dirty="0" smtClean="0"/>
                  <a:t>= 0.47822,</a:t>
                </a:r>
                <a:r>
                  <a:rPr lang="el-GR" altLang="zh-TW" sz="2800" dirty="0" smtClean="0"/>
                  <a:t> </a:t>
                </a:r>
                <a14:m>
                  <m:oMath xmlns:m="http://schemas.openxmlformats.org/officeDocument/2006/math">
                    <m:r>
                      <a:rPr lang="el-GR" altLang="zh-TW" sz="28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altLang="zh-TW" sz="2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800" dirty="0" smtClean="0"/>
                  <a:t>= 0.213542 and z = 1.80675</a:t>
                </a:r>
                <a:endParaRPr lang="zh-TW" altLang="en-US" sz="28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196752"/>
                <a:ext cx="8856984" cy="1384995"/>
              </a:xfrm>
              <a:prstGeom prst="rect">
                <a:avLst/>
              </a:prstGeom>
              <a:blipFill rotWithShape="0">
                <a:blip r:embed="rId3"/>
                <a:stretch>
                  <a:fillRect l="-1376" t="-3947" b="-114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3575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Ngila</a:t>
            </a:r>
            <a:r>
              <a:rPr lang="en-US" altLang="zh-TW" dirty="0"/>
              <a:t> is an application that will calculate the best </a:t>
            </a:r>
            <a:r>
              <a:rPr lang="en-US" altLang="zh-TW" dirty="0" smtClean="0"/>
              <a:t>alignment between </a:t>
            </a:r>
            <a:r>
              <a:rPr lang="en-US" altLang="zh-TW" dirty="0"/>
              <a:t>a pair of sequences using log-affine gap costs, </a:t>
            </a:r>
            <a:r>
              <a:rPr lang="en-US" altLang="zh-TW" dirty="0" smtClean="0"/>
              <a:t>which are </a:t>
            </a:r>
            <a:r>
              <a:rPr lang="en-US" altLang="zh-TW" dirty="0"/>
              <a:t>very accurate and biologically realistic. It has the </a:t>
            </a:r>
            <a:r>
              <a:rPr lang="en-US" altLang="zh-TW" dirty="0" smtClean="0"/>
              <a:t>potential to </a:t>
            </a:r>
            <a:r>
              <a:rPr lang="en-US" altLang="zh-TW" dirty="0"/>
              <a:t>advance research into alignment algorithms and </a:t>
            </a:r>
            <a:r>
              <a:rPr lang="en-US" altLang="zh-TW" dirty="0" smtClean="0"/>
              <a:t>provide more </a:t>
            </a:r>
            <a:r>
              <a:rPr lang="en-US" altLang="zh-TW" dirty="0"/>
              <a:t>biologically accurate alignments.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5866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159</Words>
  <Application>Microsoft Office PowerPoint</Application>
  <PresentationFormat>如螢幕大小 (4:3)</PresentationFormat>
  <Paragraphs>17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ＭＳ Ｐゴシック</vt:lpstr>
      <vt:lpstr>新細明體</vt:lpstr>
      <vt:lpstr>Arial</vt:lpstr>
      <vt:lpstr>Calibri</vt:lpstr>
      <vt:lpstr>Cambria Math</vt:lpstr>
      <vt:lpstr>Office 佈景主題</vt:lpstr>
      <vt:lpstr>Ngila: global pairwise alignments with logarithmic and affine gap costs</vt:lpstr>
      <vt:lpstr>Abstract</vt:lpstr>
      <vt:lpstr>Statistical Alignment</vt:lpstr>
      <vt:lpstr>Statistical Alignment</vt:lpstr>
      <vt:lpstr>Performance</vt:lpstr>
      <vt:lpstr>Conclusion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Ngila: global pairwise alignments with logarithmic and affine gap costs</dc:title>
  <dc:creator>yotsuki</dc:creator>
  <cp:lastModifiedBy>郭冠呈</cp:lastModifiedBy>
  <cp:revision>43</cp:revision>
  <dcterms:created xsi:type="dcterms:W3CDTF">2014-06-16T04:58:30Z</dcterms:created>
  <dcterms:modified xsi:type="dcterms:W3CDTF">2014-06-16T11:19:57Z</dcterms:modified>
</cp:coreProperties>
</file>