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68" r:id="rId5"/>
    <p:sldId id="272" r:id="rId6"/>
    <p:sldId id="273" r:id="rId7"/>
    <p:sldId id="274" r:id="rId8"/>
    <p:sldId id="278" r:id="rId9"/>
    <p:sldId id="260" r:id="rId10"/>
    <p:sldId id="267" r:id="rId11"/>
    <p:sldId id="275" r:id="rId12"/>
    <p:sldId id="276" r:id="rId13"/>
    <p:sldId id="259" r:id="rId14"/>
    <p:sldId id="270" r:id="rId15"/>
    <p:sldId id="271" r:id="rId16"/>
    <p:sldId id="261" r:id="rId17"/>
    <p:sldId id="262" r:id="rId18"/>
    <p:sldId id="277" r:id="rId19"/>
    <p:sldId id="263" r:id="rId20"/>
    <p:sldId id="266" r:id="rId21"/>
    <p:sldId id="264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9" autoAdjust="0"/>
    <p:restoredTop sz="93843" autoAdjust="0"/>
  </p:normalViewPr>
  <p:slideViewPr>
    <p:cSldViewPr snapToGrid="0" showGuides="1">
      <p:cViewPr varScale="1">
        <p:scale>
          <a:sx n="86" d="100"/>
          <a:sy n="86" d="100"/>
        </p:scale>
        <p:origin x="1020" y="96"/>
      </p:cViewPr>
      <p:guideLst>
        <p:guide orient="horz" pos="2251"/>
        <p:guide pos="28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numRef>
              <c:f>工作表1!$A$2:$A$5</c:f>
              <c:numCache>
                <c:formatCode>General</c:formatCode>
                <c:ptCount val="4"/>
              </c:numCache>
            </c:num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E07D15-FE22-4957-9AED-FBCF5A6C0179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068AF-0EE9-47C4-8AA9-10FB371C69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15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068AF-0EE9-47C4-8AA9-10FB371C69F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5027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068AF-0EE9-47C4-8AA9-10FB371C69F4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0529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39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2180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5526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523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9819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06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2569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801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35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777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001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6D6A1-2285-4924-AC3A-CEE82E10C5B5}" type="datetimeFigureOut">
              <a:rPr lang="zh-TW" altLang="en-US" smtClean="0"/>
              <a:t>2014/11/18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774DB-BBC8-4D28-BFEB-911ECA263C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49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3200" b="1" dirty="0">
                <a:latin typeface="Arial Rounded MT Bold" panose="020F0704030504030204" pitchFamily="34" charset="0"/>
              </a:rPr>
              <a:t>A hybrid approach of support vector regression with genetic algorithm</a:t>
            </a:r>
            <a:br>
              <a:rPr lang="en-US" altLang="zh-TW" sz="3200" b="1" dirty="0">
                <a:latin typeface="Arial Rounded MT Bold" panose="020F0704030504030204" pitchFamily="34" charset="0"/>
              </a:rPr>
            </a:br>
            <a:r>
              <a:rPr lang="en-US" altLang="zh-TW" sz="3200" b="1" dirty="0">
                <a:latin typeface="Arial Rounded MT Bold" panose="020F0704030504030204" pitchFamily="34" charset="0"/>
              </a:rPr>
              <a:t>optimization for aquaculture water quality prediction</a:t>
            </a:r>
            <a:endParaRPr lang="zh-TW" altLang="en-US" sz="32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7107382" cy="2112962"/>
          </a:xfrm>
        </p:spPr>
        <p:txBody>
          <a:bodyPr>
            <a:normAutofit/>
          </a:bodyPr>
          <a:lstStyle/>
          <a:p>
            <a:pPr algn="r"/>
            <a:r>
              <a:rPr lang="en-US" altLang="zh-TW" sz="1600" b="1" dirty="0" err="1"/>
              <a:t>Shuangyin</a:t>
            </a:r>
            <a:r>
              <a:rPr lang="en-US" altLang="zh-TW" sz="1600" b="1" dirty="0"/>
              <a:t> </a:t>
            </a:r>
            <a:r>
              <a:rPr lang="en-US" altLang="zh-TW" sz="1600" b="1" dirty="0" smtClean="0"/>
              <a:t>Liu, </a:t>
            </a:r>
            <a:r>
              <a:rPr lang="en-US" altLang="zh-TW" sz="1600" b="1" dirty="0" err="1"/>
              <a:t>Haijiang</a:t>
            </a:r>
            <a:r>
              <a:rPr lang="en-US" altLang="zh-TW" sz="1600" b="1" dirty="0"/>
              <a:t> Tai </a:t>
            </a:r>
            <a:r>
              <a:rPr lang="en-US" altLang="zh-TW" sz="1600" b="1" dirty="0" smtClean="0"/>
              <a:t>, </a:t>
            </a:r>
            <a:r>
              <a:rPr lang="en-US" altLang="zh-TW" sz="1600" b="1" dirty="0" err="1"/>
              <a:t>Qisheng</a:t>
            </a:r>
            <a:r>
              <a:rPr lang="en-US" altLang="zh-TW" sz="1600" b="1" dirty="0"/>
              <a:t> Ding </a:t>
            </a:r>
            <a:r>
              <a:rPr lang="en-US" altLang="zh-TW" sz="1600" b="1" dirty="0" smtClean="0"/>
              <a:t>,</a:t>
            </a:r>
            <a:r>
              <a:rPr lang="en-US" altLang="zh-TW" sz="1600" b="1" dirty="0" err="1" smtClean="0"/>
              <a:t>Daoliang</a:t>
            </a:r>
            <a:r>
              <a:rPr lang="en-US" altLang="zh-TW" sz="1600" b="1" dirty="0" smtClean="0"/>
              <a:t> Li, </a:t>
            </a:r>
            <a:r>
              <a:rPr lang="en-US" altLang="zh-TW" sz="1600" b="1" dirty="0" err="1"/>
              <a:t>Longqin</a:t>
            </a:r>
            <a:r>
              <a:rPr lang="en-US" altLang="zh-TW" sz="1600" b="1" dirty="0"/>
              <a:t> </a:t>
            </a:r>
            <a:r>
              <a:rPr lang="en-US" altLang="zh-TW" sz="1600" b="1" dirty="0" smtClean="0"/>
              <a:t>Xu, </a:t>
            </a:r>
            <a:r>
              <a:rPr lang="en-US" altLang="zh-TW" sz="1600" b="1" dirty="0" err="1"/>
              <a:t>Yaoguang</a:t>
            </a:r>
            <a:r>
              <a:rPr lang="en-US" altLang="zh-TW" sz="1600" b="1" dirty="0"/>
              <a:t> </a:t>
            </a:r>
            <a:r>
              <a:rPr lang="en-US" altLang="zh-TW" sz="1600" b="1" dirty="0" smtClean="0"/>
              <a:t>Wei</a:t>
            </a:r>
            <a:endParaRPr lang="en-US" altLang="zh-TW" sz="1600" b="1" baseline="30000" dirty="0" smtClean="0"/>
          </a:p>
          <a:p>
            <a:pPr algn="r"/>
            <a:r>
              <a:rPr lang="en-US" altLang="zh-TW" sz="1600" b="1" dirty="0" smtClean="0"/>
              <a:t>Mathematical </a:t>
            </a:r>
            <a:r>
              <a:rPr lang="en-US" altLang="zh-TW" sz="1600" b="1" dirty="0"/>
              <a:t>and Computer Modelling  </a:t>
            </a:r>
            <a:r>
              <a:rPr lang="en-US" altLang="zh-TW" sz="1600" b="1" dirty="0" smtClean="0"/>
              <a:t>58 </a:t>
            </a:r>
            <a:r>
              <a:rPr lang="en-US" altLang="zh-TW" sz="1600" b="1" dirty="0"/>
              <a:t>(2013) </a:t>
            </a:r>
            <a:r>
              <a:rPr lang="en-US" altLang="zh-TW" sz="1600" b="1" dirty="0" smtClean="0"/>
              <a:t>458–465</a:t>
            </a:r>
          </a:p>
          <a:p>
            <a:pPr algn="r"/>
            <a:r>
              <a:rPr lang="en-US" altLang="zh-TW" sz="1600" b="1" dirty="0" smtClean="0"/>
              <a:t>Presenter: Ding-Yao Huang</a:t>
            </a:r>
          </a:p>
          <a:p>
            <a:pPr algn="r"/>
            <a:r>
              <a:rPr lang="en-US" altLang="zh-TW" sz="1600" b="1" dirty="0" smtClean="0"/>
              <a:t>Date:2014/11/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4649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altLang="zh-TW" sz="4000" b="1" dirty="0" smtClean="0">
                <a:latin typeface="Arial Rounded MT Bold" panose="020F0704030504030204" pitchFamily="34" charset="0"/>
                <a:cs typeface="Times New Roman" panose="02020603050405020304" pitchFamily="18" charset="0"/>
              </a:rPr>
              <a:t>A </a:t>
            </a:r>
            <a:r>
              <a:rPr lang="pt-BR" altLang="zh-TW" sz="40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b s t r a c t</a:t>
            </a:r>
            <a:endParaRPr lang="zh-TW" altLang="en-US" sz="4000" b="1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Water quality prediction plays an important role in modern intensive river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crab aquaculture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management. Due to the nonlinearity and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non-</a:t>
            </a:r>
            <a:r>
              <a:rPr lang="en-US" altLang="zh-TW" sz="1600" dirty="0" err="1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stationarity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of water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quality indicator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series, the accuracy of the commonly used conventional methods,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including regression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analyses and neural networks, has been limited. </a:t>
            </a:r>
          </a:p>
          <a:p>
            <a:pPr marL="0" indent="0">
              <a:buNone/>
            </a:pP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A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prediction model based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on support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vector regression (SVR) is proposed in this paper to solve the aquaculture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water quality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prediction problem. </a:t>
            </a:r>
            <a:r>
              <a:rPr lang="en-US" altLang="zh-TW" sz="1600" b="1" dirty="0">
                <a:ea typeface="細明體_HKSCS" panose="02020500000000000000" pitchFamily="18" charset="-120"/>
                <a:cs typeface="Times New Roman" panose="02020603050405020304" pitchFamily="18" charset="0"/>
              </a:rPr>
              <a:t>To build an effective SVR model, the SVR parameters must </a:t>
            </a:r>
            <a:r>
              <a:rPr lang="en-US" altLang="zh-TW" sz="1600" b="1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be set </a:t>
            </a:r>
            <a:r>
              <a:rPr lang="en-US" altLang="zh-TW" sz="1600" b="1" dirty="0">
                <a:ea typeface="細明體_HKSCS" panose="02020500000000000000" pitchFamily="18" charset="-120"/>
                <a:cs typeface="Times New Roman" panose="02020603050405020304" pitchFamily="18" charset="0"/>
              </a:rPr>
              <a:t>carefully. </a:t>
            </a:r>
            <a:endParaRPr lang="en-US" altLang="zh-TW" sz="1600" b="1" dirty="0" smtClean="0">
              <a:ea typeface="細明體_HKSCS" panose="02020500000000000000" pitchFamily="18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This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study presents a hybrid approach, known as </a:t>
            </a:r>
            <a:r>
              <a:rPr lang="en-US" altLang="zh-TW" sz="1600" b="1" dirty="0">
                <a:ea typeface="細明體_HKSCS" panose="02020500000000000000" pitchFamily="18" charset="-120"/>
                <a:cs typeface="Times New Roman" panose="02020603050405020304" pitchFamily="18" charset="0"/>
              </a:rPr>
              <a:t>real-value genetic </a:t>
            </a:r>
            <a:r>
              <a:rPr lang="en-US" altLang="zh-TW" sz="1600" b="1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algorithm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 support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vector regression (RGA–SVR), which searches for the optimal SVR parameters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using real-value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genetic algorithms, and then adopts the optimal parameters to construct the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SVR models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. </a:t>
            </a:r>
            <a:endParaRPr lang="en-US" altLang="zh-TW" sz="1600" dirty="0" smtClean="0">
              <a:ea typeface="細明體_HKSCS" panose="02020500000000000000" pitchFamily="18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The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approach is applied to predict the aquaculture water quality data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collected from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the aquatic factories of </a:t>
            </a:r>
            <a:r>
              <a:rPr lang="en-US" altLang="zh-TW" sz="1600" dirty="0" err="1">
                <a:ea typeface="細明體_HKSCS" panose="02020500000000000000" pitchFamily="18" charset="-120"/>
                <a:cs typeface="Times New Roman" panose="02020603050405020304" pitchFamily="18" charset="0"/>
              </a:rPr>
              <a:t>YiXing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, in China. </a:t>
            </a:r>
            <a:endParaRPr lang="en-US" altLang="zh-TW" sz="1600" dirty="0" smtClean="0">
              <a:ea typeface="細明體_HKSCS" panose="02020500000000000000" pitchFamily="18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The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experimental results demonstrate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that </a:t>
            </a:r>
            <a:r>
              <a:rPr lang="en-US" altLang="zh-TW" sz="1600" b="1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RGA–SVR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outperforms the </a:t>
            </a:r>
            <a:r>
              <a:rPr lang="en-US" altLang="zh-TW" sz="1600" b="1" dirty="0">
                <a:ea typeface="細明體_HKSCS" panose="02020500000000000000" pitchFamily="18" charset="-120"/>
                <a:cs typeface="Times New Roman" panose="02020603050405020304" pitchFamily="18" charset="0"/>
              </a:rPr>
              <a:t>traditional SVR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and </a:t>
            </a:r>
            <a:r>
              <a:rPr lang="en-US" altLang="zh-TW" sz="1600" b="1" dirty="0">
                <a:ea typeface="細明體_HKSCS" panose="02020500000000000000" pitchFamily="18" charset="-120"/>
                <a:cs typeface="Times New Roman" panose="02020603050405020304" pitchFamily="18" charset="0"/>
              </a:rPr>
              <a:t>back-propagation (BP) neural </a:t>
            </a:r>
            <a:r>
              <a:rPr lang="en-US" altLang="zh-TW" sz="1600" b="1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network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models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based on the root mean square error (RMSE) and mean absolute percentage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error (MAPE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). This RGA–SVR model is proven to be an effective approach to predict </a:t>
            </a:r>
            <a:r>
              <a:rPr lang="en-US" altLang="zh-TW" sz="1600" dirty="0" smtClean="0">
                <a:ea typeface="細明體_HKSCS" panose="02020500000000000000" pitchFamily="18" charset="-120"/>
                <a:cs typeface="Times New Roman" panose="02020603050405020304" pitchFamily="18" charset="0"/>
              </a:rPr>
              <a:t>aquaculture water </a:t>
            </a:r>
            <a:r>
              <a:rPr lang="en-US" altLang="zh-TW" sz="1600" dirty="0">
                <a:ea typeface="細明體_HKSCS" panose="02020500000000000000" pitchFamily="18" charset="-120"/>
                <a:cs typeface="Times New Roman" panose="02020603050405020304" pitchFamily="18" charset="0"/>
              </a:rPr>
              <a:t>quality.</a:t>
            </a:r>
            <a:endParaRPr lang="zh-TW" altLang="en-US" sz="1600" dirty="0">
              <a:ea typeface="細明體_HKSCS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23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(Genetic Algorithms)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grpSp>
        <p:nvGrpSpPr>
          <p:cNvPr id="59" name="群組 58"/>
          <p:cNvGrpSpPr/>
          <p:nvPr/>
        </p:nvGrpSpPr>
        <p:grpSpPr>
          <a:xfrm>
            <a:off x="1067213" y="1777865"/>
            <a:ext cx="7009573" cy="4810952"/>
            <a:chOff x="954985" y="1690689"/>
            <a:chExt cx="7009573" cy="4810952"/>
          </a:xfrm>
        </p:grpSpPr>
        <p:sp>
          <p:nvSpPr>
            <p:cNvPr id="9" name="流程圖: 程序 8"/>
            <p:cNvSpPr/>
            <p:nvPr/>
          </p:nvSpPr>
          <p:spPr>
            <a:xfrm>
              <a:off x="980660" y="1690689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Choose a randomly generated population</a:t>
              </a:r>
              <a:endParaRPr lang="zh-TW" altLang="en-US" dirty="0"/>
            </a:p>
          </p:txBody>
        </p:sp>
        <p:sp>
          <p:nvSpPr>
            <p:cNvPr id="10" name="流程圖: 程序 9"/>
            <p:cNvSpPr/>
            <p:nvPr/>
          </p:nvSpPr>
          <p:spPr>
            <a:xfrm>
              <a:off x="980660" y="2691573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Calculate the fitness of each chromosome in the population</a:t>
              </a:r>
              <a:endParaRPr lang="zh-TW" altLang="en-US" dirty="0"/>
            </a:p>
          </p:txBody>
        </p:sp>
        <p:sp>
          <p:nvSpPr>
            <p:cNvPr id="11" name="流程圖: 程序 10"/>
            <p:cNvSpPr/>
            <p:nvPr/>
          </p:nvSpPr>
          <p:spPr>
            <a:xfrm>
              <a:off x="5048460" y="3188504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selection</a:t>
              </a:r>
              <a:endParaRPr lang="zh-TW" altLang="en-US" dirty="0"/>
            </a:p>
          </p:txBody>
        </p:sp>
        <p:sp>
          <p:nvSpPr>
            <p:cNvPr id="12" name="流程圖: 程序 11"/>
            <p:cNvSpPr/>
            <p:nvPr/>
          </p:nvSpPr>
          <p:spPr>
            <a:xfrm>
              <a:off x="5048460" y="4101239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crossover</a:t>
              </a:r>
              <a:endParaRPr lang="zh-TW" altLang="en-US" dirty="0"/>
            </a:p>
          </p:txBody>
        </p:sp>
        <p:sp>
          <p:nvSpPr>
            <p:cNvPr id="13" name="流程圖: 程序 12"/>
            <p:cNvSpPr/>
            <p:nvPr/>
          </p:nvSpPr>
          <p:spPr>
            <a:xfrm>
              <a:off x="5048460" y="5021317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mutation</a:t>
              </a:r>
              <a:endParaRPr lang="zh-TW" altLang="en-US" dirty="0"/>
            </a:p>
          </p:txBody>
        </p:sp>
        <p:sp>
          <p:nvSpPr>
            <p:cNvPr id="14" name="流程圖: 決策 13"/>
            <p:cNvSpPr/>
            <p:nvPr/>
          </p:nvSpPr>
          <p:spPr>
            <a:xfrm>
              <a:off x="954985" y="3776664"/>
              <a:ext cx="3366051" cy="1416811"/>
            </a:xfrm>
            <a:prstGeom prst="flowChartDecision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Judge the stopping criteria</a:t>
              </a:r>
              <a:endParaRPr lang="zh-TW" altLang="en-US" dirty="0"/>
            </a:p>
          </p:txBody>
        </p:sp>
        <p:sp>
          <p:nvSpPr>
            <p:cNvPr id="15" name="流程圖: 程序 14"/>
            <p:cNvSpPr/>
            <p:nvPr/>
          </p:nvSpPr>
          <p:spPr>
            <a:xfrm>
              <a:off x="1041123" y="5852284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Get the answer</a:t>
              </a:r>
              <a:endParaRPr lang="zh-TW" altLang="en-US" dirty="0"/>
            </a:p>
          </p:txBody>
        </p:sp>
        <p:grpSp>
          <p:nvGrpSpPr>
            <p:cNvPr id="34" name="群組 33"/>
            <p:cNvGrpSpPr/>
            <p:nvPr/>
          </p:nvGrpSpPr>
          <p:grpSpPr>
            <a:xfrm>
              <a:off x="4321036" y="3439284"/>
              <a:ext cx="250964" cy="1045786"/>
              <a:chOff x="4321036" y="3439284"/>
              <a:chExt cx="250964" cy="1045786"/>
            </a:xfrm>
          </p:grpSpPr>
          <p:cxnSp>
            <p:nvCxnSpPr>
              <p:cNvPr id="26" name="直線接點 25"/>
              <p:cNvCxnSpPr>
                <a:stCxn id="14" idx="3"/>
              </p:cNvCxnSpPr>
              <p:nvPr/>
            </p:nvCxnSpPr>
            <p:spPr>
              <a:xfrm flipV="1">
                <a:off x="4321036" y="4485069"/>
                <a:ext cx="250964" cy="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/>
              <p:cNvCxnSpPr/>
              <p:nvPr/>
            </p:nvCxnSpPr>
            <p:spPr>
              <a:xfrm>
                <a:off x="4572000" y="3439284"/>
                <a:ext cx="0" cy="104578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線單箭頭接點 34"/>
            <p:cNvCxnSpPr/>
            <p:nvPr/>
          </p:nvCxnSpPr>
          <p:spPr>
            <a:xfrm>
              <a:off x="5889387" y="3892860"/>
              <a:ext cx="8077" cy="1884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/>
            <p:nvPr/>
          </p:nvCxnSpPr>
          <p:spPr>
            <a:xfrm>
              <a:off x="5897464" y="4787259"/>
              <a:ext cx="8077" cy="19739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/>
            <p:nvPr/>
          </p:nvCxnSpPr>
          <p:spPr>
            <a:xfrm flipV="1">
              <a:off x="6926542" y="5359247"/>
              <a:ext cx="1038015" cy="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H="1" flipV="1">
              <a:off x="7964557" y="2877078"/>
              <a:ext cx="1" cy="248216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單箭頭接點 47"/>
            <p:cNvCxnSpPr/>
            <p:nvPr/>
          </p:nvCxnSpPr>
          <p:spPr>
            <a:xfrm flipV="1">
              <a:off x="4572000" y="3429000"/>
              <a:ext cx="476460" cy="102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 flipH="1">
              <a:off x="4284594" y="2877078"/>
              <a:ext cx="3666710" cy="115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>
              <a:stCxn id="9" idx="2"/>
              <a:endCxn id="10" idx="0"/>
            </p:cNvCxnSpPr>
            <p:nvPr/>
          </p:nvCxnSpPr>
          <p:spPr>
            <a:xfrm>
              <a:off x="2577547" y="2340046"/>
              <a:ext cx="0" cy="35152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/>
            <p:nvPr/>
          </p:nvCxnSpPr>
          <p:spPr>
            <a:xfrm>
              <a:off x="2577547" y="3425137"/>
              <a:ext cx="0" cy="35152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>
              <a:endCxn id="15" idx="0"/>
            </p:cNvCxnSpPr>
            <p:nvPr/>
          </p:nvCxnSpPr>
          <p:spPr>
            <a:xfrm>
              <a:off x="2638010" y="5319147"/>
              <a:ext cx="0" cy="5331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911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>
                <a:latin typeface="Arial Rounded MT Bold" panose="020F0704030504030204" pitchFamily="34" charset="0"/>
              </a:rPr>
              <a:t>(Genetic Algorithms)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28650" y="1690689"/>
            <a:ext cx="777512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/>
              <a:t>Step1:  </a:t>
            </a:r>
            <a:r>
              <a:rPr lang="en-US" altLang="zh-TW" sz="2000" b="1" dirty="0"/>
              <a:t>Choose a randomly generated population</a:t>
            </a:r>
            <a:endParaRPr lang="zh-TW" altLang="en-US" sz="2000" b="1" dirty="0"/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  1. Binary encoding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          2. Real value encoding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          3. symbol encoding</a:t>
            </a:r>
          </a:p>
          <a:p>
            <a:endParaRPr lang="en-US" altLang="zh-TW" dirty="0"/>
          </a:p>
          <a:p>
            <a:r>
              <a:rPr lang="en-US" altLang="zh-TW" sz="2000" b="1" dirty="0" smtClean="0"/>
              <a:t>Step2: Calculate </a:t>
            </a:r>
            <a:r>
              <a:rPr lang="en-US" altLang="zh-TW" sz="2000" b="1" dirty="0"/>
              <a:t>the fitness of each chromosome in the </a:t>
            </a:r>
            <a:r>
              <a:rPr lang="en-US" altLang="zh-TW" sz="2000" b="1" dirty="0" smtClean="0"/>
              <a:t>population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  1.</a:t>
            </a:r>
            <a:r>
              <a:rPr lang="en-US" altLang="zh-TW" dirty="0"/>
              <a:t> </a:t>
            </a:r>
            <a:r>
              <a:rPr lang="en-US" altLang="zh-TW" dirty="0" smtClean="0"/>
              <a:t>f(x)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x+1</a:t>
            </a:r>
            <a:r>
              <a:rPr lang="zh-TW" altLang="en-US" dirty="0" smtClean="0"/>
              <a:t>     </a:t>
            </a:r>
            <a:r>
              <a:rPr lang="zh-TW" altLang="en-US" sz="1600" dirty="0" smtClean="0"/>
              <a:t>適合</a:t>
            </a:r>
            <a:r>
              <a:rPr lang="zh-TW" altLang="en-US" sz="1600" dirty="0"/>
              <a:t>度越好、競爭力越強</a:t>
            </a:r>
            <a:endParaRPr lang="en-US" altLang="zh-TW" sz="1600" dirty="0" smtClean="0"/>
          </a:p>
          <a:p>
            <a:endParaRPr lang="en-US" altLang="zh-TW" dirty="0" smtClean="0"/>
          </a:p>
          <a:p>
            <a:r>
              <a:rPr lang="en-US" altLang="zh-TW" sz="2000" b="1" dirty="0" smtClean="0"/>
              <a:t>Step3: </a:t>
            </a:r>
          </a:p>
          <a:p>
            <a:r>
              <a:rPr lang="en-US" altLang="zh-TW" dirty="0" smtClean="0"/>
              <a:t>            1. selection</a:t>
            </a:r>
            <a:endParaRPr lang="zh-TW" altLang="en-US" dirty="0"/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  2. crossover</a:t>
            </a:r>
          </a:p>
          <a:p>
            <a:r>
              <a:rPr lang="en-US" altLang="zh-TW" dirty="0" smtClean="0"/>
              <a:t>            3. mutation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18346"/>
              </p:ext>
            </p:extLst>
          </p:nvPr>
        </p:nvGraphicFramePr>
        <p:xfrm>
          <a:off x="5109031" y="2050143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66253"/>
              </p:ext>
            </p:extLst>
          </p:nvPr>
        </p:nvGraphicFramePr>
        <p:xfrm>
          <a:off x="5116287" y="2565401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  <a:gridCol w="6248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85.3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68.5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587777"/>
              </p:ext>
            </p:extLst>
          </p:nvPr>
        </p:nvGraphicFramePr>
        <p:xfrm>
          <a:off x="5123545" y="3058160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  <a:gridCol w="6248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F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27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 smtClean="0">
                <a:latin typeface="Arial Rounded MT Bold" panose="020F0704030504030204" pitchFamily="34" charset="0"/>
              </a:rPr>
              <a:t>Genetic Algorithms </a:t>
            </a:r>
            <a:r>
              <a:rPr lang="en-US" altLang="zh-TW" sz="2800" b="1" dirty="0" smtClean="0">
                <a:latin typeface="Arial Rounded MT Bold" panose="020F0704030504030204" pitchFamily="34" charset="0"/>
              </a:rPr>
              <a:t>(</a:t>
            </a:r>
            <a:r>
              <a:rPr lang="en-US" altLang="zh-TW" sz="2800" b="1" dirty="0" smtClean="0"/>
              <a:t>selection</a:t>
            </a:r>
            <a:r>
              <a:rPr lang="en-US" altLang="zh-TW" sz="2800" b="1" dirty="0" smtClean="0">
                <a:latin typeface="Arial Rounded MT Bold" panose="020F0704030504030204" pitchFamily="34" charset="0"/>
              </a:rPr>
              <a:t>)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28650" y="1690689"/>
            <a:ext cx="77751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smtClean="0"/>
              <a:t>Step3-1: selection</a:t>
            </a:r>
          </a:p>
          <a:p>
            <a:endParaRPr lang="en-US" altLang="zh-TW" sz="2000" dirty="0" smtClean="0"/>
          </a:p>
          <a:p>
            <a:endParaRPr lang="en-US" altLang="zh-TW" sz="2000" dirty="0" smtClean="0"/>
          </a:p>
          <a:p>
            <a:r>
              <a:rPr lang="en-US" altLang="zh-TW" sz="2400" b="1" dirty="0" smtClean="0"/>
              <a:t>1.roulette wheel selection</a:t>
            </a:r>
          </a:p>
          <a:p>
            <a:r>
              <a:rPr lang="en-US" altLang="zh-TW" dirty="0" smtClean="0">
                <a:latin typeface="+mj-ea"/>
                <a:ea typeface="+mj-ea"/>
              </a:rPr>
              <a:t>    </a:t>
            </a:r>
            <a:r>
              <a:rPr lang="zh-TW" altLang="en-US" dirty="0" smtClean="0">
                <a:latin typeface="+mj-ea"/>
                <a:ea typeface="+mj-ea"/>
              </a:rPr>
              <a:t>依照</a:t>
            </a:r>
            <a:r>
              <a:rPr lang="zh-TW" altLang="en-US" dirty="0">
                <a:latin typeface="+mj-ea"/>
                <a:ea typeface="+mj-ea"/>
              </a:rPr>
              <a:t>適</a:t>
            </a:r>
            <a:r>
              <a:rPr lang="zh-TW" altLang="en-US" dirty="0" smtClean="0">
                <a:latin typeface="+mj-ea"/>
                <a:ea typeface="+mj-ea"/>
              </a:rPr>
              <a:t>應函數分割輪盤位置，</a:t>
            </a:r>
            <a:endParaRPr lang="en-US" altLang="zh-TW" dirty="0" smtClean="0">
              <a:latin typeface="+mj-ea"/>
              <a:ea typeface="+mj-ea"/>
            </a:endParaRPr>
          </a:p>
          <a:p>
            <a:r>
              <a:rPr lang="en-US" altLang="zh-TW" dirty="0" smtClean="0">
                <a:latin typeface="+mj-ea"/>
                <a:ea typeface="+mj-ea"/>
              </a:rPr>
              <a:t>    </a:t>
            </a:r>
            <a:r>
              <a:rPr lang="zh-TW" altLang="en-US" dirty="0" smtClean="0">
                <a:latin typeface="+mj-ea"/>
                <a:ea typeface="+mj-ea"/>
              </a:rPr>
              <a:t>適合</a:t>
            </a:r>
            <a:r>
              <a:rPr lang="zh-TW" altLang="en-US" dirty="0">
                <a:latin typeface="+mj-ea"/>
                <a:ea typeface="+mj-ea"/>
              </a:rPr>
              <a:t>度函數值越大的話</a:t>
            </a:r>
            <a:r>
              <a:rPr lang="zh-TW" altLang="en-US" dirty="0" smtClean="0">
                <a:latin typeface="+mj-ea"/>
                <a:ea typeface="+mj-ea"/>
              </a:rPr>
              <a:t>，</a:t>
            </a:r>
            <a:endParaRPr lang="en-US" altLang="zh-TW" dirty="0" smtClean="0">
              <a:latin typeface="+mj-ea"/>
              <a:ea typeface="+mj-ea"/>
            </a:endParaRPr>
          </a:p>
          <a:p>
            <a:r>
              <a:rPr lang="en-US" altLang="zh-TW" dirty="0" smtClean="0">
                <a:latin typeface="+mj-ea"/>
                <a:ea typeface="+mj-ea"/>
              </a:rPr>
              <a:t>    </a:t>
            </a:r>
            <a:r>
              <a:rPr lang="zh-TW" altLang="en-US" dirty="0" smtClean="0">
                <a:latin typeface="+mj-ea"/>
                <a:ea typeface="+mj-ea"/>
              </a:rPr>
              <a:t>則</a:t>
            </a:r>
            <a:r>
              <a:rPr lang="zh-TW" altLang="en-US" dirty="0">
                <a:latin typeface="+mj-ea"/>
                <a:ea typeface="+mj-ea"/>
              </a:rPr>
              <a:t>在輪盤上佔有的</a:t>
            </a:r>
            <a:r>
              <a:rPr lang="zh-TW" altLang="en-US" b="1" dirty="0">
                <a:latin typeface="+mj-ea"/>
                <a:ea typeface="+mj-ea"/>
              </a:rPr>
              <a:t>面積</a:t>
            </a:r>
            <a:r>
              <a:rPr lang="zh-TW" altLang="en-US" b="1" dirty="0" smtClean="0">
                <a:latin typeface="+mj-ea"/>
                <a:ea typeface="+mj-ea"/>
              </a:rPr>
              <a:t>比例就</a:t>
            </a:r>
            <a:r>
              <a:rPr lang="zh-TW" altLang="en-US" b="1" dirty="0">
                <a:latin typeface="+mj-ea"/>
                <a:ea typeface="+mj-ea"/>
              </a:rPr>
              <a:t>越大 </a:t>
            </a:r>
            <a:endParaRPr lang="en-US" altLang="zh-TW" b="1" i="1" dirty="0">
              <a:solidFill>
                <a:schemeClr val="hlink"/>
              </a:solidFill>
              <a:latin typeface="+mj-ea"/>
              <a:ea typeface="+mj-ea"/>
            </a:endParaRPr>
          </a:p>
          <a:p>
            <a:endParaRPr lang="en-US" altLang="zh-TW" sz="2000" dirty="0" smtClean="0"/>
          </a:p>
          <a:p>
            <a:r>
              <a:rPr lang="en-US" altLang="zh-TW" sz="2400" b="1" dirty="0" smtClean="0"/>
              <a:t>2.tournament selection</a:t>
            </a:r>
          </a:p>
          <a:p>
            <a:r>
              <a:rPr lang="en-US" altLang="zh-TW" sz="2400" dirty="0">
                <a:latin typeface="+mn-ea"/>
              </a:rPr>
              <a:t> </a:t>
            </a:r>
            <a:r>
              <a:rPr lang="en-US" altLang="zh-TW" sz="2400" dirty="0" smtClean="0">
                <a:latin typeface="+mn-ea"/>
              </a:rPr>
              <a:t>  </a:t>
            </a:r>
            <a:r>
              <a:rPr lang="zh-TW" altLang="en-US" dirty="0" smtClean="0">
                <a:latin typeface="+mn-ea"/>
              </a:rPr>
              <a:t>每</a:t>
            </a:r>
            <a:r>
              <a:rPr lang="zh-TW" altLang="en-US" dirty="0">
                <a:latin typeface="+mn-ea"/>
              </a:rPr>
              <a:t>一代的演化過程中首先隨機地選取兩個或更多的染色體個體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 smtClean="0">
                <a:latin typeface="+mn-ea"/>
              </a:rPr>
              <a:t>字串）    </a:t>
            </a:r>
            <a:endParaRPr lang="en-US" altLang="zh-TW" dirty="0" smtClean="0">
              <a:latin typeface="+mn-ea"/>
            </a:endParaRPr>
          </a:p>
          <a:p>
            <a:r>
              <a:rPr lang="en-US" altLang="zh-TW" dirty="0">
                <a:latin typeface="+mn-ea"/>
              </a:rPr>
              <a:t> </a:t>
            </a:r>
            <a:r>
              <a:rPr lang="en-US" altLang="zh-TW" dirty="0" smtClean="0">
                <a:latin typeface="+mn-ea"/>
              </a:rPr>
              <a:t>   </a:t>
            </a:r>
            <a:r>
              <a:rPr lang="zh-TW" altLang="en-US" dirty="0" smtClean="0">
                <a:latin typeface="+mn-ea"/>
              </a:rPr>
              <a:t>具有最大</a:t>
            </a:r>
            <a:r>
              <a:rPr lang="zh-TW" altLang="en-US" dirty="0">
                <a:latin typeface="+mn-ea"/>
              </a:rPr>
              <a:t>適合度函數值的物種即被選中送至交配池中 </a:t>
            </a:r>
            <a:endParaRPr lang="en-US" altLang="zh-TW" dirty="0" smtClean="0">
              <a:latin typeface="+mn-ea"/>
            </a:endParaRPr>
          </a:p>
          <a:p>
            <a:r>
              <a:rPr lang="en-US" altLang="zh-TW" b="1" dirty="0">
                <a:latin typeface="+mn-ea"/>
              </a:rPr>
              <a:t> </a:t>
            </a:r>
            <a:r>
              <a:rPr lang="en-US" altLang="zh-TW" b="1" dirty="0" smtClean="0">
                <a:latin typeface="+mn-ea"/>
              </a:rPr>
              <a:t>   </a:t>
            </a:r>
            <a:r>
              <a:rPr lang="zh-TW" altLang="en-US" b="1" dirty="0" smtClean="0">
                <a:latin typeface="+mn-ea"/>
              </a:rPr>
              <a:t>適合度函數值越高</a:t>
            </a:r>
            <a:r>
              <a:rPr lang="zh-TW" altLang="en-US" dirty="0" smtClean="0">
                <a:latin typeface="+mn-ea"/>
              </a:rPr>
              <a:t>的個體就越容易被選中 </a:t>
            </a:r>
            <a:endParaRPr lang="zh-TW" altLang="en-US" sz="2000" dirty="0"/>
          </a:p>
          <a:p>
            <a:endParaRPr lang="en-US" altLang="zh-TW" sz="2000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10" name="圖表 9"/>
          <p:cNvGraphicFramePr/>
          <p:nvPr>
            <p:extLst>
              <p:ext uri="{D42A27DB-BD31-4B8C-83A1-F6EECF244321}">
                <p14:modId xmlns:p14="http://schemas.microsoft.com/office/powerpoint/2010/main" val="3342664310"/>
              </p:ext>
            </p:extLst>
          </p:nvPr>
        </p:nvGraphicFramePr>
        <p:xfrm>
          <a:off x="5879935" y="1959429"/>
          <a:ext cx="2523836" cy="2122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6920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 smtClean="0">
                <a:latin typeface="Arial Rounded MT Bold" panose="020F0704030504030204" pitchFamily="34" charset="0"/>
              </a:rPr>
              <a:t>Genetic Algorithms </a:t>
            </a:r>
            <a:r>
              <a:rPr lang="en-US" altLang="zh-TW" sz="2800" b="1" dirty="0" smtClean="0"/>
              <a:t>(Crossover)</a:t>
            </a:r>
            <a:endParaRPr lang="zh-TW" altLang="en-US" sz="28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578881"/>
            <a:ext cx="7886700" cy="4879975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b="1" dirty="0"/>
              <a:t>Step3-2. </a:t>
            </a:r>
            <a:r>
              <a:rPr lang="en-US" altLang="zh-TW" sz="2400" b="1" dirty="0" smtClean="0"/>
              <a:t>Crossover</a:t>
            </a:r>
            <a:endParaRPr lang="en-US" altLang="zh-TW" sz="2400" b="1" dirty="0"/>
          </a:p>
          <a:p>
            <a:endParaRPr lang="zh-TW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990600" y="1989138"/>
            <a:ext cx="7397750" cy="453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依據交配方式的不同，又可分為</a:t>
            </a:r>
            <a:r>
              <a:rPr lang="zh-TW" altLang="en-US" sz="2000" b="1" dirty="0" smtClean="0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單點、兩點</a:t>
            </a:r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以及</a:t>
            </a:r>
            <a:r>
              <a:rPr lang="zh-TW" altLang="en-US" sz="2000" b="1" dirty="0" smtClean="0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均勻</a:t>
            </a:r>
            <a:endParaRPr lang="zh-TW" altLang="en-US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439151"/>
              </p:ext>
            </p:extLst>
          </p:nvPr>
        </p:nvGraphicFramePr>
        <p:xfrm>
          <a:off x="0" y="2759980"/>
          <a:ext cx="5329238" cy="399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" name="投影片" r:id="rId3" imgW="4572139" imgH="3429123" progId="PowerPoint.Slide.8">
                  <p:embed/>
                </p:oleObj>
              </mc:Choice>
              <mc:Fallback>
                <p:oleObj name="投影片" r:id="rId3" imgW="4572139" imgH="3429123" progId="PowerPoint.Slid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811" t="5276" r="29195" b="29832"/>
                      <a:stretch>
                        <a:fillRect/>
                      </a:stretch>
                    </p:blipFill>
                    <p:spPr bwMode="auto">
                      <a:xfrm>
                        <a:off x="0" y="2759980"/>
                        <a:ext cx="5329238" cy="3997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1943100" y="3399743"/>
            <a:ext cx="936625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1366838" y="4480830"/>
            <a:ext cx="217487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2160588" y="4480830"/>
            <a:ext cx="430212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758643" y="4629197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zh-TW" altLang="en-US" sz="1800" dirty="0">
                <a:solidFill>
                  <a:schemeClr val="folHlin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兩點</a:t>
            </a:r>
            <a:r>
              <a:rPr lang="zh-TW" altLang="en-US" sz="1800" dirty="0" smtClean="0">
                <a:solidFill>
                  <a:schemeClr val="folHlin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間</a:t>
            </a:r>
            <a:endParaRPr lang="zh-TW" altLang="en-US" sz="1800" dirty="0">
              <a:solidFill>
                <a:schemeClr val="folHlink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9389"/>
              </p:ext>
            </p:extLst>
          </p:nvPr>
        </p:nvGraphicFramePr>
        <p:xfrm>
          <a:off x="5199223" y="3965530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  <a:gridCol w="6248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85.3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68.5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412728"/>
              </p:ext>
            </p:extLst>
          </p:nvPr>
        </p:nvGraphicFramePr>
        <p:xfrm>
          <a:off x="5199223" y="5168807"/>
          <a:ext cx="3749040" cy="3657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24840"/>
                <a:gridCol w="624840"/>
                <a:gridCol w="624840"/>
                <a:gridCol w="624840"/>
                <a:gridCol w="624840"/>
                <a:gridCol w="624840"/>
              </a:tblGrid>
              <a:tr h="340993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85.3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1.9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68.5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直線單箭頭接點 14"/>
          <p:cNvCxnSpPr/>
          <p:nvPr/>
        </p:nvCxnSpPr>
        <p:spPr>
          <a:xfrm>
            <a:off x="6783820" y="4480830"/>
            <a:ext cx="0" cy="517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92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 dirty="0">
                <a:latin typeface="Arial Rounded MT Bold" panose="020F0704030504030204" pitchFamily="34" charset="0"/>
              </a:rPr>
              <a:t>Genetic Algorithms </a:t>
            </a:r>
            <a:r>
              <a:rPr lang="en-US" altLang="zh-TW" sz="2800" b="1" dirty="0" smtClean="0"/>
              <a:t>(mutation)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400" b="1" dirty="0"/>
              <a:t>Step3-3. mutation</a:t>
            </a:r>
            <a:endParaRPr lang="zh-TW" altLang="en-US" sz="2400" b="1" dirty="0"/>
          </a:p>
          <a:p>
            <a:pPr marL="457200" lvl="1" indent="0">
              <a:buNone/>
            </a:pPr>
            <a:r>
              <a:rPr lang="zh-TW" altLang="en-US" sz="2000" dirty="0">
                <a:latin typeface="+mn-ea"/>
              </a:rPr>
              <a:t>利用隨機改變基因，以創造</a:t>
            </a:r>
            <a:r>
              <a:rPr lang="zh-TW" altLang="en-US" sz="2000" dirty="0" smtClean="0">
                <a:latin typeface="+mn-ea"/>
              </a:rPr>
              <a:t>出父母</a:t>
            </a:r>
            <a:r>
              <a:rPr lang="zh-TW" altLang="en-US" sz="2000" dirty="0">
                <a:latin typeface="+mn-ea"/>
              </a:rPr>
              <a:t>代所未具備的新特徵。過程是將交配後產生的子代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475399"/>
              </p:ext>
            </p:extLst>
          </p:nvPr>
        </p:nvGraphicFramePr>
        <p:xfrm>
          <a:off x="381907" y="3733800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055778"/>
              </p:ext>
            </p:extLst>
          </p:nvPr>
        </p:nvGraphicFramePr>
        <p:xfrm>
          <a:off x="381907" y="4386942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598462"/>
              </p:ext>
            </p:extLst>
          </p:nvPr>
        </p:nvGraphicFramePr>
        <p:xfrm>
          <a:off x="4946650" y="3712028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878320"/>
              </p:ext>
            </p:extLst>
          </p:nvPr>
        </p:nvGraphicFramePr>
        <p:xfrm>
          <a:off x="4946650" y="4365170"/>
          <a:ext cx="3749040" cy="370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向右箭號 7"/>
          <p:cNvSpPr/>
          <p:nvPr/>
        </p:nvSpPr>
        <p:spPr>
          <a:xfrm>
            <a:off x="4310743" y="4122057"/>
            <a:ext cx="493486" cy="174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40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(Genetic Algorithms)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grpSp>
        <p:nvGrpSpPr>
          <p:cNvPr id="59" name="群組 58"/>
          <p:cNvGrpSpPr/>
          <p:nvPr/>
        </p:nvGrpSpPr>
        <p:grpSpPr>
          <a:xfrm>
            <a:off x="1067213" y="1777865"/>
            <a:ext cx="7009573" cy="4810952"/>
            <a:chOff x="954985" y="1690689"/>
            <a:chExt cx="7009573" cy="4810952"/>
          </a:xfrm>
        </p:grpSpPr>
        <p:sp>
          <p:nvSpPr>
            <p:cNvPr id="9" name="流程圖: 程序 8"/>
            <p:cNvSpPr/>
            <p:nvPr/>
          </p:nvSpPr>
          <p:spPr>
            <a:xfrm>
              <a:off x="980660" y="1690689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Choose a randomly generated population</a:t>
              </a:r>
              <a:endParaRPr lang="zh-TW" altLang="en-US" dirty="0"/>
            </a:p>
          </p:txBody>
        </p:sp>
        <p:sp>
          <p:nvSpPr>
            <p:cNvPr id="10" name="流程圖: 程序 9"/>
            <p:cNvSpPr/>
            <p:nvPr/>
          </p:nvSpPr>
          <p:spPr>
            <a:xfrm>
              <a:off x="980660" y="2691573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Calculate the fitness of each chromosome in the population</a:t>
              </a:r>
              <a:endParaRPr lang="zh-TW" altLang="en-US" dirty="0"/>
            </a:p>
          </p:txBody>
        </p:sp>
        <p:sp>
          <p:nvSpPr>
            <p:cNvPr id="11" name="流程圖: 程序 10"/>
            <p:cNvSpPr/>
            <p:nvPr/>
          </p:nvSpPr>
          <p:spPr>
            <a:xfrm>
              <a:off x="5048460" y="3188504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selection</a:t>
              </a:r>
              <a:endParaRPr lang="zh-TW" altLang="en-US" dirty="0"/>
            </a:p>
          </p:txBody>
        </p:sp>
        <p:sp>
          <p:nvSpPr>
            <p:cNvPr id="12" name="流程圖: 程序 11"/>
            <p:cNvSpPr/>
            <p:nvPr/>
          </p:nvSpPr>
          <p:spPr>
            <a:xfrm>
              <a:off x="5048460" y="4101239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crossover</a:t>
              </a:r>
              <a:endParaRPr lang="zh-TW" altLang="en-US" dirty="0"/>
            </a:p>
          </p:txBody>
        </p:sp>
        <p:sp>
          <p:nvSpPr>
            <p:cNvPr id="13" name="流程圖: 程序 12"/>
            <p:cNvSpPr/>
            <p:nvPr/>
          </p:nvSpPr>
          <p:spPr>
            <a:xfrm>
              <a:off x="5048460" y="5021317"/>
              <a:ext cx="1878082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mutation</a:t>
              </a:r>
              <a:endParaRPr lang="zh-TW" altLang="en-US" dirty="0"/>
            </a:p>
          </p:txBody>
        </p:sp>
        <p:sp>
          <p:nvSpPr>
            <p:cNvPr id="14" name="流程圖: 決策 13"/>
            <p:cNvSpPr/>
            <p:nvPr/>
          </p:nvSpPr>
          <p:spPr>
            <a:xfrm>
              <a:off x="954985" y="3776664"/>
              <a:ext cx="3366051" cy="1416811"/>
            </a:xfrm>
            <a:prstGeom prst="flowChartDecision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Judge the stopping criteria</a:t>
              </a:r>
              <a:endParaRPr lang="zh-TW" altLang="en-US" dirty="0"/>
            </a:p>
          </p:txBody>
        </p:sp>
        <p:sp>
          <p:nvSpPr>
            <p:cNvPr id="15" name="流程圖: 程序 14"/>
            <p:cNvSpPr/>
            <p:nvPr/>
          </p:nvSpPr>
          <p:spPr>
            <a:xfrm>
              <a:off x="1041123" y="5852284"/>
              <a:ext cx="3193774" cy="649357"/>
            </a:xfrm>
            <a:prstGeom prst="flowChartProcess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Get the answer</a:t>
              </a:r>
              <a:endParaRPr lang="zh-TW" altLang="en-US" dirty="0"/>
            </a:p>
          </p:txBody>
        </p:sp>
        <p:grpSp>
          <p:nvGrpSpPr>
            <p:cNvPr id="34" name="群組 33"/>
            <p:cNvGrpSpPr/>
            <p:nvPr/>
          </p:nvGrpSpPr>
          <p:grpSpPr>
            <a:xfrm>
              <a:off x="4321036" y="3439284"/>
              <a:ext cx="250964" cy="1045786"/>
              <a:chOff x="4321036" y="3439284"/>
              <a:chExt cx="250964" cy="1045786"/>
            </a:xfrm>
          </p:grpSpPr>
          <p:cxnSp>
            <p:nvCxnSpPr>
              <p:cNvPr id="26" name="直線接點 25"/>
              <p:cNvCxnSpPr>
                <a:stCxn id="14" idx="3"/>
              </p:cNvCxnSpPr>
              <p:nvPr/>
            </p:nvCxnSpPr>
            <p:spPr>
              <a:xfrm flipV="1">
                <a:off x="4321036" y="4485069"/>
                <a:ext cx="250964" cy="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/>
              <p:cNvCxnSpPr/>
              <p:nvPr/>
            </p:nvCxnSpPr>
            <p:spPr>
              <a:xfrm>
                <a:off x="4572000" y="3439284"/>
                <a:ext cx="0" cy="1045785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線單箭頭接點 34"/>
            <p:cNvCxnSpPr/>
            <p:nvPr/>
          </p:nvCxnSpPr>
          <p:spPr>
            <a:xfrm>
              <a:off x="5889387" y="3892860"/>
              <a:ext cx="8077" cy="1884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單箭頭接點 35"/>
            <p:cNvCxnSpPr/>
            <p:nvPr/>
          </p:nvCxnSpPr>
          <p:spPr>
            <a:xfrm>
              <a:off x="5897464" y="4787259"/>
              <a:ext cx="8077" cy="19739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/>
            <p:nvPr/>
          </p:nvCxnSpPr>
          <p:spPr>
            <a:xfrm flipV="1">
              <a:off x="6926542" y="5359247"/>
              <a:ext cx="1038015" cy="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H="1" flipV="1">
              <a:off x="7964557" y="2877078"/>
              <a:ext cx="1" cy="248216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單箭頭接點 47"/>
            <p:cNvCxnSpPr/>
            <p:nvPr/>
          </p:nvCxnSpPr>
          <p:spPr>
            <a:xfrm flipV="1">
              <a:off x="4572000" y="3429000"/>
              <a:ext cx="476460" cy="102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 flipH="1">
              <a:off x="4284594" y="2877078"/>
              <a:ext cx="3666710" cy="115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>
              <a:stCxn id="9" idx="2"/>
              <a:endCxn id="10" idx="0"/>
            </p:cNvCxnSpPr>
            <p:nvPr/>
          </p:nvCxnSpPr>
          <p:spPr>
            <a:xfrm>
              <a:off x="2577547" y="2340046"/>
              <a:ext cx="0" cy="35152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/>
            <p:nvPr/>
          </p:nvCxnSpPr>
          <p:spPr>
            <a:xfrm>
              <a:off x="2577547" y="3425137"/>
              <a:ext cx="0" cy="35152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單箭頭接點 56"/>
            <p:cNvCxnSpPr>
              <a:endCxn id="15" idx="0"/>
            </p:cNvCxnSpPr>
            <p:nvPr/>
          </p:nvCxnSpPr>
          <p:spPr>
            <a:xfrm>
              <a:off x="2638010" y="5319147"/>
              <a:ext cx="0" cy="5331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44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(Support Vector Regression)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462" y="2019680"/>
            <a:ext cx="6315075" cy="34861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682" y="5834821"/>
            <a:ext cx="2493612" cy="800701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6244683" y="6099717"/>
            <a:ext cx="278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dirty="0"/>
              <a:t>ω</a:t>
            </a:r>
            <a:r>
              <a:rPr lang="zh-TW" altLang="en-US" dirty="0" smtClean="0"/>
              <a:t>越小表示模型越不複</a:t>
            </a:r>
            <a:r>
              <a:rPr lang="zh-TW" altLang="en-US" dirty="0"/>
              <a:t>雜</a:t>
            </a:r>
          </a:p>
        </p:txBody>
      </p:sp>
    </p:spTree>
    <p:extLst>
      <p:ext uri="{BB962C8B-B14F-4D97-AF65-F5344CB8AC3E}">
        <p14:creationId xmlns:p14="http://schemas.microsoft.com/office/powerpoint/2010/main" val="348994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(Support Vector Regression)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561" y="1690689"/>
            <a:ext cx="4008870" cy="232092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00" y="2919187"/>
            <a:ext cx="4531261" cy="1416695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454479" y="4829345"/>
            <a:ext cx="60334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+mj-ea"/>
                <a:ea typeface="+mj-ea"/>
              </a:rPr>
              <a:t>x</a:t>
            </a:r>
            <a:r>
              <a:rPr lang="en-US" altLang="zh-TW" sz="2000" baseline="-25000" dirty="0" smtClean="0">
                <a:latin typeface="+mj-ea"/>
                <a:ea typeface="+mj-ea"/>
              </a:rPr>
              <a:t>i</a:t>
            </a:r>
            <a:r>
              <a:rPr lang="en-US" altLang="zh-TW" sz="2000" dirty="0" smtClean="0">
                <a:latin typeface="+mj-ea"/>
                <a:ea typeface="+mj-ea"/>
              </a:rPr>
              <a:t> </a:t>
            </a:r>
            <a:r>
              <a:rPr lang="zh-TW" altLang="en-US" sz="2000" dirty="0" smtClean="0">
                <a:latin typeface="+mj-ea"/>
                <a:ea typeface="+mj-ea"/>
              </a:rPr>
              <a:t>是輸入向量，</a:t>
            </a:r>
            <a:r>
              <a:rPr lang="en-US" altLang="zh-TW" sz="2000" dirty="0" err="1" smtClean="0">
                <a:latin typeface="+mj-ea"/>
                <a:ea typeface="+mj-ea"/>
              </a:rPr>
              <a:t>y</a:t>
            </a:r>
            <a:r>
              <a:rPr lang="en-US" altLang="zh-TW" sz="2000" baseline="-25000" dirty="0" err="1" smtClean="0">
                <a:latin typeface="+mj-ea"/>
                <a:ea typeface="+mj-ea"/>
              </a:rPr>
              <a:t>i</a:t>
            </a:r>
            <a:r>
              <a:rPr lang="en-US" altLang="zh-TW" sz="2000" baseline="-25000" dirty="0" smtClean="0">
                <a:latin typeface="+mj-ea"/>
                <a:ea typeface="+mj-ea"/>
              </a:rPr>
              <a:t> </a:t>
            </a:r>
            <a:r>
              <a:rPr lang="zh-TW" altLang="en-US" sz="2000" baseline="-25000" dirty="0" smtClean="0">
                <a:latin typeface="+mj-ea"/>
                <a:ea typeface="+mj-ea"/>
              </a:rPr>
              <a:t> </a:t>
            </a:r>
            <a:r>
              <a:rPr lang="zh-TW" altLang="en-US" sz="2000" dirty="0" smtClean="0">
                <a:latin typeface="+mj-ea"/>
                <a:ea typeface="+mj-ea"/>
              </a:rPr>
              <a:t>是實際目標值</a:t>
            </a:r>
            <a:endParaRPr lang="en-US" altLang="zh-TW" sz="2000" dirty="0" smtClean="0">
              <a:latin typeface="+mj-ea"/>
              <a:ea typeface="+mj-ea"/>
            </a:endParaRPr>
          </a:p>
          <a:p>
            <a:r>
              <a:rPr lang="en-US" altLang="zh-TW" sz="2000" dirty="0" smtClean="0"/>
              <a:t>                 </a:t>
            </a:r>
          </a:p>
          <a:p>
            <a:r>
              <a:rPr lang="en-US" altLang="zh-TW" sz="2000" dirty="0"/>
              <a:t>	</a:t>
            </a:r>
            <a:r>
              <a:rPr lang="zh-TW" altLang="en-US" sz="2000" dirty="0" smtClean="0"/>
              <a:t>               </a:t>
            </a:r>
            <a:r>
              <a:rPr lang="en-US" altLang="zh-TW" sz="2000" dirty="0" smtClean="0"/>
              <a:t> </a:t>
            </a:r>
            <a:r>
              <a:rPr lang="zh-TW" altLang="en-US" sz="2000" dirty="0"/>
              <a:t>是經驗誤差風險</a:t>
            </a:r>
            <a:r>
              <a:rPr lang="en-US" altLang="zh-TW" sz="2000" dirty="0"/>
              <a:t>(empirical </a:t>
            </a:r>
            <a:r>
              <a:rPr lang="en-US" altLang="zh-TW" sz="2000" dirty="0" smtClean="0"/>
              <a:t>error </a:t>
            </a:r>
            <a:r>
              <a:rPr lang="en-US" altLang="zh-TW" sz="2000" dirty="0"/>
              <a:t>risk)      </a:t>
            </a:r>
            <a:endParaRPr lang="zh-TW" altLang="en-US" sz="2000" baseline="-25000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79" y="1619592"/>
            <a:ext cx="2493612" cy="800701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79" y="5337176"/>
            <a:ext cx="16954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2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(Support Vector Regression)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1068" y="5481862"/>
            <a:ext cx="7886700" cy="137613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" y="3529398"/>
            <a:ext cx="2686050" cy="180975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804" y="4434273"/>
            <a:ext cx="3360964" cy="46460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577" y="1656885"/>
            <a:ext cx="4007768" cy="1795028"/>
          </a:xfrm>
          <a:prstGeom prst="rect">
            <a:avLst/>
          </a:prstGeom>
        </p:spPr>
      </p:pic>
      <p:cxnSp>
        <p:nvCxnSpPr>
          <p:cNvPr id="14" name="直線接點 13"/>
          <p:cNvCxnSpPr/>
          <p:nvPr/>
        </p:nvCxnSpPr>
        <p:spPr>
          <a:xfrm>
            <a:off x="561068" y="5448295"/>
            <a:ext cx="80218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02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>
                <a:latin typeface="Arial Rounded MT Bold" panose="020F0704030504030204" pitchFamily="34" charset="0"/>
              </a:rPr>
              <a:t>Support Vector Regression </a:t>
            </a:r>
            <a:r>
              <a:rPr lang="en-US" altLang="zh-TW" sz="2000" b="1" dirty="0" smtClean="0">
                <a:latin typeface="Arial Rounded MT Bold" panose="020F0704030504030204" pitchFamily="34" charset="0"/>
              </a:rPr>
              <a:t>(kernel function)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79" y="1997129"/>
            <a:ext cx="3545785" cy="81234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629" y="1997129"/>
            <a:ext cx="3385234" cy="776313"/>
          </a:xfrm>
          <a:prstGeom prst="rect">
            <a:avLst/>
          </a:prstGeom>
        </p:spPr>
      </p:pic>
      <p:sp>
        <p:nvSpPr>
          <p:cNvPr id="9" name="向右箭號 8"/>
          <p:cNvSpPr/>
          <p:nvPr/>
        </p:nvSpPr>
        <p:spPr>
          <a:xfrm>
            <a:off x="3860965" y="2308266"/>
            <a:ext cx="841664" cy="140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55292" y="3677507"/>
            <a:ext cx="550022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0"/>
              </a:rPr>
              <a:t>linear: u'*v 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0"/>
              </a:rPr>
              <a:t>polynomial: (gamma*u'*v + coef0)^degree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0"/>
              </a:rPr>
              <a:t>radial basis function: exp(-gamma*|u-v|^2) </a:t>
            </a:r>
            <a:endParaRPr kumimoji="0" lang="en-US" altLang="zh-TW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TW" alt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0"/>
              </a:rPr>
              <a:t>sigmoid: tanh(gamma*u'*v + coef0)</a:t>
            </a:r>
            <a:r>
              <a:rPr kumimoji="0" lang="zh-TW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28650" y="3204131"/>
            <a:ext cx="2593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Arial Rounded MT Bold" panose="020F0704030504030204" pitchFamily="34" charset="0"/>
              </a:rPr>
              <a:t>kernel function</a:t>
            </a:r>
            <a:endParaRPr lang="zh-TW" altLang="en-US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1895707" y="1851102"/>
            <a:ext cx="223025" cy="345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225667" y="1425401"/>
            <a:ext cx="7270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Support Vector (</a:t>
            </a:r>
            <a:r>
              <a:rPr lang="el-GR" altLang="zh-TW" dirty="0"/>
              <a:t>α</a:t>
            </a:r>
            <a:r>
              <a:rPr lang="en-US" altLang="zh-TW" baseline="-25000" dirty="0" err="1"/>
              <a:t>i</a:t>
            </a:r>
            <a:r>
              <a:rPr lang="en-US" altLang="zh-TW" dirty="0"/>
              <a:t> − </a:t>
            </a:r>
            <a:r>
              <a:rPr lang="el-GR" altLang="zh-TW" dirty="0"/>
              <a:t>α</a:t>
            </a:r>
            <a:r>
              <a:rPr lang="en-US" altLang="zh-TW" baseline="-25000" dirty="0" err="1"/>
              <a:t>i</a:t>
            </a:r>
            <a:r>
              <a:rPr lang="en-US" altLang="zh-TW" baseline="30000" dirty="0"/>
              <a:t>∗</a:t>
            </a:r>
            <a:r>
              <a:rPr lang="en-US" altLang="zh-TW" dirty="0"/>
              <a:t> </a:t>
            </a:r>
            <a:r>
              <a:rPr lang="zh-TW" altLang="en-US" dirty="0"/>
              <a:t>不為零的 </a:t>
            </a:r>
            <a:r>
              <a:rPr lang="en-US" altLang="zh-TW" dirty="0"/>
              <a:t>instances) </a:t>
            </a:r>
            <a:r>
              <a:rPr lang="zh-TW" altLang="en-US" dirty="0"/>
              <a:t>的個數有關</a:t>
            </a:r>
          </a:p>
        </p:txBody>
      </p:sp>
    </p:spTree>
    <p:extLst>
      <p:ext uri="{BB962C8B-B14F-4D97-AF65-F5344CB8AC3E}">
        <p14:creationId xmlns:p14="http://schemas.microsoft.com/office/powerpoint/2010/main" val="374658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RGA-based optimization of the SVR model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040" y="1494811"/>
            <a:ext cx="4717231" cy="5108744"/>
          </a:xfrm>
          <a:prstGeom prst="rect">
            <a:avLst/>
          </a:prstGeom>
        </p:spPr>
      </p:pic>
      <p:sp>
        <p:nvSpPr>
          <p:cNvPr id="3" name="框架 2"/>
          <p:cNvSpPr/>
          <p:nvPr/>
        </p:nvSpPr>
        <p:spPr>
          <a:xfrm>
            <a:off x="519546" y="1278081"/>
            <a:ext cx="2626099" cy="2295381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3584865" y="2119745"/>
            <a:ext cx="1797626" cy="155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538252" y="1834396"/>
            <a:ext cx="273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 ,</a:t>
            </a:r>
            <a:r>
              <a:rPr lang="el-GR" altLang="zh-TW" dirty="0" smtClean="0"/>
              <a:t>ε</a:t>
            </a:r>
            <a:r>
              <a:rPr lang="en-US" altLang="zh-TW" dirty="0" smtClean="0"/>
              <a:t> ,</a:t>
            </a:r>
            <a:r>
              <a:rPr lang="el-GR" altLang="zh-TW" dirty="0" smtClean="0"/>
              <a:t>σ</a:t>
            </a:r>
            <a:r>
              <a:rPr lang="en-US" altLang="zh-TW" dirty="0" smtClean="0"/>
              <a:t> </a:t>
            </a:r>
            <a:r>
              <a:rPr lang="zh-TW" altLang="en-US" dirty="0" smtClean="0"/>
              <a:t>隨機產生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9145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RGA-based optimization of the SVR model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6040" y="1494811"/>
            <a:ext cx="4717231" cy="5108744"/>
          </a:xfrm>
          <a:prstGeom prst="rect">
            <a:avLst/>
          </a:prstGeom>
        </p:spPr>
      </p:pic>
      <p:sp>
        <p:nvSpPr>
          <p:cNvPr id="3" name="框架 2"/>
          <p:cNvSpPr/>
          <p:nvPr/>
        </p:nvSpPr>
        <p:spPr>
          <a:xfrm>
            <a:off x="226040" y="2698595"/>
            <a:ext cx="3323063" cy="4248615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837" y="3000702"/>
            <a:ext cx="4470689" cy="781589"/>
          </a:xfrm>
          <a:prstGeom prst="rect">
            <a:avLst/>
          </a:prstGeom>
        </p:spPr>
      </p:pic>
      <p:cxnSp>
        <p:nvCxnSpPr>
          <p:cNvPr id="7" name="直線單箭頭接點 6"/>
          <p:cNvCxnSpPr/>
          <p:nvPr/>
        </p:nvCxnSpPr>
        <p:spPr>
          <a:xfrm flipH="1">
            <a:off x="3197600" y="3553691"/>
            <a:ext cx="1745671" cy="51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78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RGA-based optimization of the SVR model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040" y="1494811"/>
            <a:ext cx="4717231" cy="5108744"/>
          </a:xfrm>
          <a:prstGeom prst="rect">
            <a:avLst/>
          </a:prstGeom>
        </p:spPr>
      </p:pic>
      <p:sp>
        <p:nvSpPr>
          <p:cNvPr id="7" name="框架 6"/>
          <p:cNvSpPr/>
          <p:nvPr/>
        </p:nvSpPr>
        <p:spPr>
          <a:xfrm>
            <a:off x="2687445" y="2820374"/>
            <a:ext cx="1998856" cy="394410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5" name="直線單箭頭接點 4"/>
          <p:cNvCxnSpPr>
            <a:endCxn id="4" idx="3"/>
          </p:cNvCxnSpPr>
          <p:nvPr/>
        </p:nvCxnSpPr>
        <p:spPr>
          <a:xfrm flipH="1">
            <a:off x="4943271" y="3429000"/>
            <a:ext cx="989938" cy="620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974531" y="3059668"/>
            <a:ext cx="1517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訓練，得解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12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>
                <a:latin typeface="Arial Rounded MT Bold" panose="020F0704030504030204" pitchFamily="34" charset="0"/>
              </a:rPr>
              <a:t>Data collection and pre-processing of water quality in aquaculture river crab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46407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2000" dirty="0">
                <a:latin typeface="Arial Rounded MT Bold" panose="020F0704030504030204" pitchFamily="34" charset="0"/>
              </a:rPr>
              <a:t>Data </a:t>
            </a:r>
            <a:r>
              <a:rPr lang="en-US" altLang="zh-TW" sz="2000" dirty="0" smtClean="0">
                <a:latin typeface="Arial Rounded MT Bold" panose="020F0704030504030204" pitchFamily="34" charset="0"/>
              </a:rPr>
              <a:t>acquisition</a:t>
            </a:r>
          </a:p>
          <a:p>
            <a:pPr marL="0" indent="0">
              <a:buNone/>
            </a:pPr>
            <a:r>
              <a:rPr lang="en-US" altLang="zh-TW" sz="2000" dirty="0" smtClean="0"/>
              <a:t>pH</a:t>
            </a:r>
            <a:r>
              <a:rPr lang="en-US" altLang="zh-TW" sz="2000" dirty="0"/>
              <a:t>, dissolved oxygen (DO), electrical conductivity (EC), water temperature (WT), solar </a:t>
            </a:r>
            <a:r>
              <a:rPr lang="en-US" altLang="zh-TW" sz="2000" dirty="0" smtClean="0"/>
              <a:t>radiation(SR</a:t>
            </a:r>
            <a:r>
              <a:rPr lang="en-US" altLang="zh-TW" sz="2000" dirty="0"/>
              <a:t>), air temperature (AT), and wind speed (WS</a:t>
            </a:r>
            <a:r>
              <a:rPr lang="en-US" altLang="zh-TW" sz="2000" dirty="0" smtClean="0"/>
              <a:t>)</a:t>
            </a:r>
          </a:p>
          <a:p>
            <a:pPr marL="0" indent="0">
              <a:buNone/>
            </a:pPr>
            <a:r>
              <a:rPr lang="en-US" altLang="zh-TW" sz="2000" dirty="0" smtClean="0"/>
              <a:t>The </a:t>
            </a:r>
            <a:r>
              <a:rPr lang="en-US" altLang="zh-TW" sz="2000" dirty="0"/>
              <a:t>data used in this paper spanned 15 days, from 5 July 2010 to 20 July 2010. The sampling interval is 10 </a:t>
            </a:r>
            <a:r>
              <a:rPr lang="en-US" altLang="zh-TW" sz="2000" dirty="0" smtClean="0"/>
              <a:t>min</a:t>
            </a:r>
            <a:endParaRPr lang="en-US" altLang="zh-TW" sz="20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altLang="zh-TW" sz="2000" dirty="0"/>
              <a:t>The water quality data for aquaculture water quality prediction were split into two parts: </a:t>
            </a:r>
            <a:r>
              <a:rPr lang="en-US" altLang="zh-TW" sz="2000" b="1" dirty="0"/>
              <a:t>the first 600 sets of </a:t>
            </a:r>
            <a:r>
              <a:rPr lang="en-US" altLang="zh-TW" sz="2000" b="1" dirty="0" smtClean="0"/>
              <a:t>water quality </a:t>
            </a:r>
            <a:r>
              <a:rPr lang="en-US" altLang="zh-TW" sz="2000" b="1" dirty="0"/>
              <a:t>data </a:t>
            </a:r>
            <a:r>
              <a:rPr lang="en-US" altLang="zh-TW" sz="2000" dirty="0"/>
              <a:t>were used for RGA–SVR modeling training and </a:t>
            </a:r>
            <a:r>
              <a:rPr lang="en-US" altLang="zh-TW" sz="2000" b="1" dirty="0"/>
              <a:t>the last 120 sets of data </a:t>
            </a:r>
            <a:r>
              <a:rPr lang="en-US" altLang="zh-TW" sz="2000" dirty="0"/>
              <a:t>as testing data to analyze the </a:t>
            </a:r>
            <a:r>
              <a:rPr lang="en-US" altLang="zh-TW" sz="2000" dirty="0" smtClean="0"/>
              <a:t>prediction performance </a:t>
            </a:r>
            <a:r>
              <a:rPr lang="en-US" altLang="zh-TW" sz="2000" dirty="0"/>
              <a:t>of </a:t>
            </a:r>
            <a:r>
              <a:rPr lang="en-US" altLang="zh-TW" sz="2000" dirty="0" smtClean="0"/>
              <a:t>RGA–SVR</a:t>
            </a:r>
            <a:endParaRPr lang="en-US" altLang="zh-TW" sz="2000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Arial Rounded MT Bold" panose="020F0704030504030204" pitchFamily="34" charset="0"/>
              </a:rPr>
              <a:t>Data </a:t>
            </a:r>
            <a:r>
              <a:rPr lang="en-US" altLang="zh-TW" sz="2000" dirty="0" smtClean="0">
                <a:latin typeface="Arial Rounded MT Bold" panose="020F0704030504030204" pitchFamily="34" charset="0"/>
              </a:rPr>
              <a:t>pre-processing</a:t>
            </a:r>
          </a:p>
          <a:p>
            <a:endParaRPr lang="en-US" altLang="zh-TW" sz="20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altLang="zh-TW" sz="2000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Arial Rounded MT Bold" panose="020F0704030504030204" pitchFamily="34" charset="0"/>
              </a:rPr>
              <a:t>The design of an aquaculture water quality forecasting model based on RGA–SVR</a:t>
            </a:r>
            <a:endParaRPr lang="zh-TW" altLang="en-US" sz="2000" dirty="0">
              <a:latin typeface="Arial Rounded MT Bold" panose="020F070403050403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53" y="4767471"/>
            <a:ext cx="1809404" cy="66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52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100" dirty="0">
                <a:latin typeface="Arial Rounded MT Bold" panose="020F0704030504030204" pitchFamily="34" charset="0"/>
              </a:rPr>
              <a:t>The design of an aquaculture water quality forecasting model based on RGA–SVR</a:t>
            </a:r>
            <a:r>
              <a:rPr lang="zh-TW" altLang="en-US" dirty="0">
                <a:latin typeface="Arial Rounded MT Bold" panose="020F0704030504030204" pitchFamily="34" charset="0"/>
              </a:rPr>
              <a:t/>
            </a:r>
            <a:br>
              <a:rPr lang="zh-TW" altLang="en-US" dirty="0">
                <a:latin typeface="Arial Rounded MT Bold" panose="020F0704030504030204" pitchFamily="34" charset="0"/>
              </a:rPr>
            </a:b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5697" y="1510979"/>
            <a:ext cx="3417779" cy="499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16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+mn-ea"/>
                <a:ea typeface="+mn-ea"/>
              </a:rPr>
              <a:t>判斷依據</a:t>
            </a:r>
            <a:endParaRPr lang="zh-TW" altLang="en-US" b="1" dirty="0">
              <a:latin typeface="+mn-ea"/>
              <a:ea typeface="+mn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8021864" cy="47638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RMSE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MAPE</a:t>
            </a:r>
          </a:p>
          <a:p>
            <a:pPr marL="0" indent="0">
              <a:buNone/>
            </a:pPr>
            <a:r>
              <a:rPr lang="zh-TW" altLang="en-US" sz="1800" dirty="0" smtClean="0"/>
              <a:t>用以</a:t>
            </a:r>
            <a:r>
              <a:rPr lang="zh-TW" altLang="en-US" sz="1800" dirty="0"/>
              <a:t>作為預測模式好壞之評估指標。主因為 </a:t>
            </a:r>
            <a:r>
              <a:rPr lang="en-US" altLang="zh-TW" sz="1800" dirty="0"/>
              <a:t>MAPE </a:t>
            </a:r>
            <a:r>
              <a:rPr lang="zh-TW" altLang="en-US" sz="1800" dirty="0"/>
              <a:t>為相對數值，不受測量值與</a:t>
            </a:r>
            <a:r>
              <a:rPr lang="zh-TW" altLang="en-US" sz="1800" dirty="0" smtClean="0"/>
              <a:t>預估值</a:t>
            </a:r>
            <a:r>
              <a:rPr lang="zh-TW" altLang="en-US" sz="1800" dirty="0"/>
              <a:t>單位與大小之影響，能夠客觀得獲得</a:t>
            </a:r>
            <a:r>
              <a:rPr lang="zh-TW" altLang="en-US" sz="1800" dirty="0" smtClean="0"/>
              <a:t>估計</a:t>
            </a:r>
            <a:r>
              <a:rPr lang="zh-TW" altLang="en-US" sz="1800" dirty="0"/>
              <a:t>值與評估值間之差異</a:t>
            </a:r>
            <a:r>
              <a:rPr lang="zh-TW" altLang="en-US" sz="1800" dirty="0" smtClean="0"/>
              <a:t>程度</a:t>
            </a:r>
            <a:endParaRPr lang="en-US" altLang="zh-TW" sz="1800" dirty="0" smtClean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 smtClean="0"/>
          </a:p>
          <a:p>
            <a:pPr marL="0" indent="0">
              <a:buNone/>
            </a:pPr>
            <a:endParaRPr lang="en-US" altLang="zh-TW" sz="1800" dirty="0"/>
          </a:p>
          <a:p>
            <a:pPr marL="0" indent="0">
              <a:buNone/>
            </a:pPr>
            <a:endParaRPr lang="en-US" altLang="zh-TW" sz="1800" dirty="0" smtClean="0"/>
          </a:p>
          <a:p>
            <a:pPr marL="0" indent="0">
              <a:buNone/>
            </a:pPr>
            <a:endParaRPr lang="en-US" altLang="zh-TW" sz="1800" dirty="0" smtClean="0"/>
          </a:p>
          <a:p>
            <a:pPr marL="0" indent="0">
              <a:buNone/>
            </a:pPr>
            <a:r>
              <a:rPr lang="en-US" altLang="zh-TW" sz="1800" dirty="0"/>
              <a:t>MAPE </a:t>
            </a:r>
            <a:r>
              <a:rPr lang="zh-TW" altLang="en-US" sz="1800" dirty="0"/>
              <a:t>值若越接近 </a:t>
            </a:r>
            <a:r>
              <a:rPr lang="en-US" altLang="zh-TW" sz="1800" dirty="0"/>
              <a:t>0 </a:t>
            </a:r>
            <a:r>
              <a:rPr lang="zh-TW" altLang="en-US" sz="1800" dirty="0"/>
              <a:t>表示估計效果越佳</a:t>
            </a:r>
            <a:endParaRPr lang="en-US" altLang="zh-TW" sz="18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060" y="2177822"/>
            <a:ext cx="2228850" cy="8477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243" y="4561567"/>
            <a:ext cx="3429000" cy="1276350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3729555" y="4573436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估計</a:t>
            </a:r>
            <a:r>
              <a:rPr lang="zh-TW" altLang="en-US" dirty="0"/>
              <a:t>值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2852833" y="4561567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實際值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720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49" y="146917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 Rounded MT Bold" panose="020F0704030504030204" pitchFamily="34" charset="0"/>
              </a:rPr>
              <a:t>Experimental results and discussion</a:t>
            </a:r>
            <a:endParaRPr lang="zh-TW" altLang="en-US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5330537"/>
            <a:ext cx="7153275" cy="1371600"/>
          </a:xfrm>
          <a:prstGeom prst="rect">
            <a:avLst/>
          </a:prstGeom>
        </p:spPr>
      </p:pic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75209" y="1135062"/>
            <a:ext cx="52818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3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49" y="146917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 Rounded MT Bold" panose="020F0704030504030204" pitchFamily="34" charset="0"/>
              </a:rPr>
              <a:t>Experimental results and discussion</a:t>
            </a:r>
            <a:endParaRPr lang="zh-TW" altLang="en-US" sz="3200" b="1" dirty="0">
              <a:latin typeface="Arial Rounded MT Bold" panose="020F0704030504030204" pitchFamily="34" charset="0"/>
            </a:endParaRPr>
          </a:p>
        </p:txBody>
      </p:sp>
      <p:pic>
        <p:nvPicPr>
          <p:cNvPr id="7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7641" y="979199"/>
            <a:ext cx="6280572" cy="435133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31" y="5330537"/>
            <a:ext cx="69532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1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latin typeface="Arial Rounded MT Bold" panose="020F0704030504030204" pitchFamily="34" charset="0"/>
              </a:rPr>
              <a:t>Conclusion</a:t>
            </a:r>
            <a:endParaRPr lang="zh-TW" alt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1600" dirty="0"/>
              <a:t>Water quality prediction is very important for intensive aquaculture. It can help provide early warnings of the </a:t>
            </a:r>
            <a:r>
              <a:rPr lang="en-US" altLang="zh-TW" sz="1600" dirty="0" smtClean="0"/>
              <a:t>change of </a:t>
            </a:r>
            <a:r>
              <a:rPr lang="en-US" altLang="zh-TW" sz="1600" dirty="0"/>
              <a:t>water quality and reduce the loss of aquaculture. </a:t>
            </a:r>
            <a:endParaRPr lang="en-US" altLang="zh-TW" sz="1600" dirty="0" smtClean="0"/>
          </a:p>
          <a:p>
            <a:pPr marL="0" indent="0">
              <a:buNone/>
            </a:pPr>
            <a:r>
              <a:rPr lang="en-US" altLang="zh-TW" sz="1600" dirty="0" smtClean="0"/>
              <a:t>The </a:t>
            </a:r>
            <a:r>
              <a:rPr lang="en-US" altLang="zh-TW" sz="1600" dirty="0"/>
              <a:t>method introduced here employs a </a:t>
            </a:r>
            <a:r>
              <a:rPr lang="en-US" altLang="zh-TW" sz="1600" b="1" dirty="0"/>
              <a:t>hybrid RGA–SVR approach </a:t>
            </a:r>
            <a:r>
              <a:rPr lang="en-US" altLang="zh-TW" sz="1600" b="1" dirty="0" smtClean="0"/>
              <a:t>for the </a:t>
            </a:r>
            <a:r>
              <a:rPr lang="en-US" altLang="zh-TW" sz="1600" b="1" dirty="0"/>
              <a:t>forecasting of aquaculture water quality</a:t>
            </a:r>
            <a:r>
              <a:rPr lang="en-US" altLang="zh-TW" sz="1600" dirty="0"/>
              <a:t>, in which </a:t>
            </a:r>
            <a:r>
              <a:rPr lang="en-US" altLang="zh-TW" sz="1600" b="1" dirty="0"/>
              <a:t>a real-value genetic algorithm is used to select suitable </a:t>
            </a:r>
            <a:r>
              <a:rPr lang="en-US" altLang="zh-TW" sz="1600" b="1" dirty="0" smtClean="0"/>
              <a:t>parameters for </a:t>
            </a:r>
            <a:r>
              <a:rPr lang="en-US" altLang="zh-TW" sz="1600" b="1" dirty="0"/>
              <a:t>SVR</a:t>
            </a:r>
            <a:r>
              <a:rPr lang="en-US" altLang="zh-TW" sz="1600" dirty="0"/>
              <a:t>. </a:t>
            </a:r>
            <a:endParaRPr lang="en-US" altLang="zh-TW" sz="1600" dirty="0" smtClean="0"/>
          </a:p>
          <a:p>
            <a:pPr marL="0" indent="0">
              <a:buNone/>
            </a:pPr>
            <a:r>
              <a:rPr lang="en-US" altLang="zh-TW" sz="1600" dirty="0" smtClean="0"/>
              <a:t>The </a:t>
            </a:r>
            <a:r>
              <a:rPr lang="en-US" altLang="zh-TW" sz="1600" dirty="0"/>
              <a:t>genetic algorithm consists in maintaining a population of chromosomes, which represent potential solutions </a:t>
            </a:r>
            <a:r>
              <a:rPr lang="en-US" altLang="zh-TW" sz="1600" dirty="0" smtClean="0"/>
              <a:t>to the </a:t>
            </a:r>
            <a:r>
              <a:rPr lang="en-US" altLang="zh-TW" sz="1600" dirty="0"/>
              <a:t>problem to be solved. From </a:t>
            </a:r>
            <a:r>
              <a:rPr lang="en-US" altLang="zh-TW" sz="1600" dirty="0" smtClean="0"/>
              <a:t>actual experiments </a:t>
            </a:r>
            <a:r>
              <a:rPr lang="en-US" altLang="zh-TW" sz="1600" dirty="0"/>
              <a:t>using monitored aquaculture water quality data from aquatic </a:t>
            </a:r>
            <a:r>
              <a:rPr lang="en-US" altLang="zh-TW" sz="1600" dirty="0" smtClean="0"/>
              <a:t>factories of </a:t>
            </a:r>
            <a:r>
              <a:rPr lang="en-US" altLang="zh-TW" sz="1600" dirty="0" err="1"/>
              <a:t>YiXing</a:t>
            </a:r>
            <a:r>
              <a:rPr lang="en-US" altLang="zh-TW" sz="1600" dirty="0"/>
              <a:t> in China, the hybrid approach of support vector regression with genetic algorithm optimization is able to </a:t>
            </a:r>
            <a:r>
              <a:rPr lang="en-US" altLang="zh-TW" sz="1600" dirty="0" smtClean="0"/>
              <a:t>provide reliable </a:t>
            </a:r>
            <a:r>
              <a:rPr lang="en-US" altLang="zh-TW" sz="1600" dirty="0"/>
              <a:t>data on the water quality prediction of </a:t>
            </a:r>
            <a:r>
              <a:rPr lang="en-US" altLang="zh-TW" sz="1600" b="1" dirty="0"/>
              <a:t>large-scale intensive aquaculture</a:t>
            </a:r>
            <a:r>
              <a:rPr lang="en-US" altLang="zh-TW" sz="1600" dirty="0"/>
              <a:t>. </a:t>
            </a:r>
            <a:endParaRPr lang="en-US" altLang="zh-TW" sz="1600" dirty="0" smtClean="0"/>
          </a:p>
          <a:p>
            <a:pPr marL="0" indent="0">
              <a:buNone/>
            </a:pPr>
            <a:r>
              <a:rPr lang="en-US" altLang="zh-TW" sz="1600" dirty="0" smtClean="0"/>
              <a:t>The </a:t>
            </a:r>
            <a:r>
              <a:rPr lang="en-US" altLang="zh-TW" sz="1600" dirty="0"/>
              <a:t>experimental results also suggest </a:t>
            </a:r>
            <a:r>
              <a:rPr lang="en-US" altLang="zh-TW" sz="1600" dirty="0" smtClean="0"/>
              <a:t>that the </a:t>
            </a:r>
            <a:r>
              <a:rPr lang="en-US" altLang="zh-TW" sz="1600" dirty="0"/>
              <a:t>application of an artificial intelligence technique is perfectly suitable for the forecasting operation of nonlinear </a:t>
            </a:r>
            <a:r>
              <a:rPr lang="en-US" altLang="zh-TW" sz="1600" dirty="0" smtClean="0"/>
              <a:t>time series </a:t>
            </a:r>
            <a:r>
              <a:rPr lang="en-US" altLang="zh-TW" sz="1600" dirty="0"/>
              <a:t>problems. </a:t>
            </a:r>
            <a:endParaRPr lang="en-US" altLang="zh-TW" sz="1600" dirty="0" smtClean="0"/>
          </a:p>
          <a:p>
            <a:pPr marL="0" indent="0">
              <a:buNone/>
            </a:pPr>
            <a:r>
              <a:rPr lang="en-US" altLang="zh-TW" sz="1600" dirty="0" smtClean="0"/>
              <a:t>The </a:t>
            </a:r>
            <a:r>
              <a:rPr lang="en-US" altLang="zh-TW" sz="1600" dirty="0"/>
              <a:t>RGA–SVR forecasting method can help avoid economic losses caused by water quality problems </a:t>
            </a:r>
            <a:r>
              <a:rPr lang="en-US" altLang="zh-TW" sz="1600" dirty="0" smtClean="0"/>
              <a:t>to a </a:t>
            </a:r>
            <a:r>
              <a:rPr lang="en-US" altLang="zh-TW" sz="1600" dirty="0"/>
              <a:t>certain extent. However, in the training process of the RGA–SVR model, operation of the genetic algorithm is </a:t>
            </a:r>
            <a:r>
              <a:rPr lang="en-US" altLang="zh-TW" sz="1600" dirty="0" smtClean="0"/>
              <a:t>difficult: </a:t>
            </a:r>
            <a:r>
              <a:rPr lang="en-US" altLang="zh-TW" sz="1600" b="1" dirty="0" smtClean="0"/>
              <a:t>different </a:t>
            </a:r>
            <a:r>
              <a:rPr lang="en-US" altLang="zh-TW" sz="1600" b="1" dirty="0"/>
              <a:t>types and rates of crossover and mutation need to be set for different problems</a:t>
            </a:r>
            <a:r>
              <a:rPr lang="en-US" altLang="zh-TW" sz="1600" dirty="0"/>
              <a:t>. So, how to use </a:t>
            </a:r>
            <a:r>
              <a:rPr lang="en-US" altLang="zh-TW" sz="1600" dirty="0" smtClean="0"/>
              <a:t>advanced techniques </a:t>
            </a:r>
            <a:r>
              <a:rPr lang="en-US" altLang="zh-TW" sz="1600" dirty="0"/>
              <a:t>to update the appropriate features and parameters of the proposed model will be an important direction </a:t>
            </a:r>
            <a:r>
              <a:rPr lang="en-US" altLang="zh-TW" sz="1600" dirty="0" smtClean="0"/>
              <a:t>for future </a:t>
            </a:r>
            <a:r>
              <a:rPr lang="en-US" altLang="zh-TW" sz="1600" dirty="0"/>
              <a:t>development.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6418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847</TotalTime>
  <Words>1236</Words>
  <Application>Microsoft Office PowerPoint</Application>
  <PresentationFormat>如螢幕大小 (4:3)</PresentationFormat>
  <Paragraphs>231</Paragraphs>
  <Slides>21</Slides>
  <Notes>2</Notes>
  <HiddenSlides>0</HiddenSlides>
  <MMClips>0</MMClips>
  <ScaleCrop>false</ScaleCrop>
  <HeadingPairs>
    <vt:vector size="8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3" baseType="lpstr">
      <vt:lpstr>Arial Unicode MS</vt:lpstr>
      <vt:lpstr>細明體_HKSCS</vt:lpstr>
      <vt:lpstr>新細明體</vt:lpstr>
      <vt:lpstr>標楷體</vt:lpstr>
      <vt:lpstr>Arial</vt:lpstr>
      <vt:lpstr>Arial Rounded MT Bold</vt:lpstr>
      <vt:lpstr>Calibri</vt:lpstr>
      <vt:lpstr>Calibri Light</vt:lpstr>
      <vt:lpstr>Times New Roman</vt:lpstr>
      <vt:lpstr>Wingdings</vt:lpstr>
      <vt:lpstr>Office 佈景主題</vt:lpstr>
      <vt:lpstr>投影片</vt:lpstr>
      <vt:lpstr>A hybrid approach of support vector regression with genetic algorithm optimization for aquaculture water quality prediction</vt:lpstr>
      <vt:lpstr>A b s t r a c t</vt:lpstr>
      <vt:lpstr>Introduction (Genetic Algorithms)</vt:lpstr>
      <vt:lpstr>Introduction (Genetic Algorithms)</vt:lpstr>
      <vt:lpstr>Genetic Algorithms (selection)</vt:lpstr>
      <vt:lpstr>Genetic Algorithms (Crossover)</vt:lpstr>
      <vt:lpstr>Genetic Algorithms (mutation)</vt:lpstr>
      <vt:lpstr>Introduction (Genetic Algorithms)</vt:lpstr>
      <vt:lpstr>Introduction (Support Vector Regression)</vt:lpstr>
      <vt:lpstr>Introduction (Support Vector Regression)</vt:lpstr>
      <vt:lpstr>Introduction (Support Vector Regression)</vt:lpstr>
      <vt:lpstr>Support Vector Regression (kernel function)</vt:lpstr>
      <vt:lpstr>RGA-based optimization of the SVR model</vt:lpstr>
      <vt:lpstr>RGA-based optimization of the SVR model</vt:lpstr>
      <vt:lpstr>RGA-based optimization of the SVR model</vt:lpstr>
      <vt:lpstr>Data collection and pre-processing of water quality in aquaculture river crab</vt:lpstr>
      <vt:lpstr>The design of an aquaculture water quality forecasting model based on RGA–SVR </vt:lpstr>
      <vt:lpstr>判斷依據</vt:lpstr>
      <vt:lpstr>Experimental results and discussion</vt:lpstr>
      <vt:lpstr>Experimental results and discussion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approach of support vector regression with genetic algorithm optimization for aquaculture water quality prediction</dc:title>
  <dc:creator>Huang</dc:creator>
  <cp:lastModifiedBy>Huang</cp:lastModifiedBy>
  <cp:revision>157</cp:revision>
  <dcterms:created xsi:type="dcterms:W3CDTF">2014-11-10T13:22:55Z</dcterms:created>
  <dcterms:modified xsi:type="dcterms:W3CDTF">2014-11-18T09:52:35Z</dcterms:modified>
</cp:coreProperties>
</file>