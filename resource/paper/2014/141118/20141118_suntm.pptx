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3" r:id="rId7"/>
    <p:sldId id="265" r:id="rId8"/>
    <p:sldId id="262" r:id="rId9"/>
    <p:sldId id="266" r:id="rId10"/>
    <p:sldId id="268" r:id="rId11"/>
    <p:sldId id="259" r:id="rId12"/>
    <p:sldId id="270" r:id="rId13"/>
    <p:sldId id="269" r:id="rId14"/>
    <p:sldId id="272" r:id="rId15"/>
    <p:sldId id="273"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3" d="100"/>
          <a:sy n="63" d="100"/>
        </p:scale>
        <p:origin x="-126" y="-20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3664846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3174217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956054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3692074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1045656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3997602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286035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3446522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522797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1430232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1842002-667A-45CF-A54E-80C8B15C8CBE}" type="datetimeFigureOut">
              <a:rPr lang="zh-TW" altLang="en-US" smtClean="0"/>
              <a:pPr/>
              <a:t>2014/11/18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4277325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842002-667A-45CF-A54E-80C8B15C8CBE}" type="datetimeFigureOut">
              <a:rPr lang="zh-TW" altLang="en-US" smtClean="0"/>
              <a:pPr/>
              <a:t>2014/11/18</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26D0DB-A4E5-4D70-B85E-3E7E24B8636F}" type="slidenum">
              <a:rPr lang="zh-TW" altLang="en-US" smtClean="0"/>
              <a:pPr/>
              <a:t>‹#›</a:t>
            </a:fld>
            <a:endParaRPr lang="zh-TW" altLang="en-US"/>
          </a:p>
        </p:txBody>
      </p:sp>
    </p:spTree>
    <p:extLst>
      <p:ext uri="{BB962C8B-B14F-4D97-AF65-F5344CB8AC3E}">
        <p14:creationId xmlns:p14="http://schemas.microsoft.com/office/powerpoint/2010/main" xmlns="" val="3868495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2"/>
            <a:ext cx="9144000" cy="4664289"/>
          </a:xfrm>
        </p:spPr>
        <p:txBody>
          <a:bodyPr>
            <a:normAutofit/>
          </a:bodyPr>
          <a:lstStyle/>
          <a:p>
            <a:r>
              <a:rPr lang="en-US" altLang="zh-TW" sz="3600" b="1" dirty="0" smtClean="0">
                <a:latin typeface="Times New Roman" panose="02020603050405020304" pitchFamily="18" charset="0"/>
                <a:cs typeface="Times New Roman" panose="02020603050405020304" pitchFamily="18" charset="0"/>
              </a:rPr>
              <a:t>Mitigation </a:t>
            </a:r>
            <a:r>
              <a:rPr lang="en-US" altLang="zh-TW" sz="3600" b="1" dirty="0" smtClean="0">
                <a:latin typeface="Times New Roman" panose="02020603050405020304" pitchFamily="18" charset="0"/>
                <a:cs typeface="Times New Roman" panose="02020603050405020304" pitchFamily="18" charset="0"/>
              </a:rPr>
              <a:t>of Rotational Constraints in Image Based Plagiarism Detection Using Perceptual </a:t>
            </a:r>
            <a:r>
              <a:rPr lang="en-US" altLang="zh-TW" sz="3600" b="1" dirty="0" smtClean="0">
                <a:latin typeface="Times New Roman" panose="02020603050405020304" pitchFamily="18" charset="0"/>
                <a:cs typeface="Times New Roman" panose="02020603050405020304" pitchFamily="18" charset="0"/>
              </a:rPr>
              <a:t>Hash</a:t>
            </a:r>
            <a:r>
              <a:rPr lang="zh-TW" altLang="en-US" sz="3600" dirty="0" smtClean="0">
                <a:latin typeface="Times New Roman" panose="02020603050405020304" pitchFamily="18" charset="0"/>
                <a:cs typeface="Times New Roman" panose="02020603050405020304" pitchFamily="18" charset="0"/>
              </a:rPr>
              <a:t/>
            </a:r>
            <a:br>
              <a:rPr lang="zh-TW" altLang="en-US" sz="3600" dirty="0" smtClean="0">
                <a:latin typeface="Times New Roman" panose="02020603050405020304" pitchFamily="18" charset="0"/>
                <a:cs typeface="Times New Roman" panose="02020603050405020304" pitchFamily="18" charset="0"/>
              </a:rPr>
            </a:br>
            <a:r>
              <a:rPr lang="en-US" altLang="zh-TW" sz="3600" dirty="0" smtClean="0">
                <a:latin typeface="Times New Roman" panose="02020603050405020304" pitchFamily="18" charset="0"/>
                <a:cs typeface="Times New Roman" panose="02020603050405020304" pitchFamily="18" charset="0"/>
              </a:rPr>
              <a:t> </a:t>
            </a:r>
            <a:r>
              <a:rPr lang="en-US" altLang="zh-TW" sz="3600" dirty="0" err="1" smtClean="0">
                <a:latin typeface="Times New Roman" panose="02020603050405020304" pitchFamily="18" charset="0"/>
                <a:cs typeface="Times New Roman" panose="02020603050405020304" pitchFamily="18" charset="0"/>
              </a:rPr>
              <a:t>Sushila</a:t>
            </a:r>
            <a:r>
              <a:rPr lang="en-US" altLang="zh-TW" sz="3600" dirty="0" smtClean="0">
                <a:latin typeface="Times New Roman" panose="02020603050405020304" pitchFamily="18" charset="0"/>
                <a:cs typeface="Times New Roman" panose="02020603050405020304" pitchFamily="18" charset="0"/>
              </a:rPr>
              <a:t> </a:t>
            </a:r>
            <a:r>
              <a:rPr lang="en-US" altLang="zh-TW" sz="3600" dirty="0" err="1" smtClean="0">
                <a:latin typeface="Times New Roman" panose="02020603050405020304" pitchFamily="18" charset="0"/>
                <a:cs typeface="Times New Roman" panose="02020603050405020304" pitchFamily="18" charset="0"/>
              </a:rPr>
              <a:t>Aghav</a:t>
            </a:r>
            <a:r>
              <a:rPr lang="en-US" altLang="zh-TW" sz="3600" dirty="0" smtClean="0">
                <a:latin typeface="Times New Roman" panose="02020603050405020304" pitchFamily="18" charset="0"/>
                <a:cs typeface="Times New Roman" panose="02020603050405020304" pitchFamily="18" charset="0"/>
              </a:rPr>
              <a:t>, Ankit Kumar, Ganesh </a:t>
            </a:r>
            <a:r>
              <a:rPr lang="en-US" altLang="zh-TW" sz="3600" dirty="0" err="1" smtClean="0">
                <a:latin typeface="Times New Roman" panose="02020603050405020304" pitchFamily="18" charset="0"/>
                <a:cs typeface="Times New Roman" panose="02020603050405020304" pitchFamily="18" charset="0"/>
              </a:rPr>
              <a:t>Gadakar</a:t>
            </a:r>
            <a:r>
              <a:rPr lang="en-US" altLang="zh-TW" sz="3600" dirty="0" smtClean="0">
                <a:latin typeface="Times New Roman" panose="02020603050405020304" pitchFamily="18" charset="0"/>
                <a:cs typeface="Times New Roman" panose="02020603050405020304" pitchFamily="18" charset="0"/>
              </a:rPr>
              <a:t>, </a:t>
            </a:r>
            <a:br>
              <a:rPr lang="en-US" altLang="zh-TW" sz="3600" dirty="0" smtClean="0">
                <a:latin typeface="Times New Roman" panose="02020603050405020304" pitchFamily="18" charset="0"/>
                <a:cs typeface="Times New Roman" panose="02020603050405020304" pitchFamily="18" charset="0"/>
              </a:rPr>
            </a:br>
            <a:r>
              <a:rPr lang="en-US" altLang="zh-TW" sz="3600" dirty="0" smtClean="0">
                <a:latin typeface="Times New Roman" panose="02020603050405020304" pitchFamily="18" charset="0"/>
                <a:cs typeface="Times New Roman" panose="02020603050405020304" pitchFamily="18" charset="0"/>
              </a:rPr>
              <a:t>Aditya Mehta, </a:t>
            </a:r>
            <a:r>
              <a:rPr lang="en-US" altLang="zh-TW" sz="3600" dirty="0" err="1" smtClean="0">
                <a:latin typeface="Times New Roman" panose="02020603050405020304" pitchFamily="18" charset="0"/>
                <a:cs typeface="Times New Roman" panose="02020603050405020304" pitchFamily="18" charset="0"/>
              </a:rPr>
              <a:t>Amey</a:t>
            </a:r>
            <a:r>
              <a:rPr lang="en-US" altLang="zh-TW" sz="3600" dirty="0" smtClean="0">
                <a:latin typeface="Times New Roman" panose="02020603050405020304" pitchFamily="18" charset="0"/>
                <a:cs typeface="Times New Roman" panose="02020603050405020304" pitchFamily="18" charset="0"/>
              </a:rPr>
              <a:t> </a:t>
            </a:r>
            <a:r>
              <a:rPr lang="en-US" altLang="zh-TW" sz="3600" dirty="0" err="1" smtClean="0">
                <a:latin typeface="Times New Roman" panose="02020603050405020304" pitchFamily="18" charset="0"/>
                <a:cs typeface="Times New Roman" panose="02020603050405020304" pitchFamily="18" charset="0"/>
              </a:rPr>
              <a:t>Mhaisane</a:t>
            </a:r>
            <a:r>
              <a:rPr lang="en-US" altLang="zh-TW" sz="3600" dirty="0" smtClean="0">
                <a:latin typeface="Times New Roman" panose="02020603050405020304" pitchFamily="18" charset="0"/>
                <a:cs typeface="Times New Roman" panose="02020603050405020304" pitchFamily="18" charset="0"/>
              </a:rPr>
              <a:t>, </a:t>
            </a:r>
            <a:br>
              <a:rPr lang="en-US" altLang="zh-TW" sz="3600" dirty="0" smtClean="0">
                <a:latin typeface="Times New Roman" panose="02020603050405020304" pitchFamily="18" charset="0"/>
                <a:cs typeface="Times New Roman" panose="02020603050405020304" pitchFamily="18" charset="0"/>
              </a:rPr>
            </a:br>
            <a:r>
              <a:rPr lang="en-US" altLang="zh-TW" sz="3600" i="1" dirty="0" smtClean="0">
                <a:latin typeface="Times New Roman" panose="02020603050405020304" pitchFamily="18" charset="0"/>
                <a:cs typeface="Times New Roman" panose="02020603050405020304" pitchFamily="18" charset="0"/>
              </a:rPr>
              <a:t>International </a:t>
            </a:r>
            <a:r>
              <a:rPr lang="en-US" altLang="zh-TW" sz="3600" i="1" dirty="0" smtClean="0">
                <a:latin typeface="Times New Roman" panose="02020603050405020304" pitchFamily="18" charset="0"/>
                <a:cs typeface="Times New Roman" panose="02020603050405020304" pitchFamily="18" charset="0"/>
              </a:rPr>
              <a:t>Journal of Computer Science Trends and Technology (IJCST</a:t>
            </a:r>
            <a:r>
              <a:rPr lang="en-US" altLang="zh-TW" sz="3600" dirty="0" smtClean="0">
                <a:latin typeface="Times New Roman" panose="02020603050405020304" pitchFamily="18" charset="0"/>
                <a:cs typeface="Times New Roman" panose="02020603050405020304" pitchFamily="18" charset="0"/>
              </a:rPr>
              <a:t>), Volume 2 Issue 1, pp. 28-32, Mar-Apr 2014.</a:t>
            </a:r>
            <a:r>
              <a:rPr lang="en-US" altLang="zh-TW" sz="3600" dirty="0" smtClean="0">
                <a:latin typeface="+mj-ea"/>
              </a:rPr>
              <a:t> </a:t>
            </a:r>
            <a:r>
              <a:rPr lang="zh-TW" altLang="en-US" sz="3600" dirty="0"/>
              <a:t/>
            </a:r>
            <a:br>
              <a:rPr lang="zh-TW" altLang="en-US" sz="3600" dirty="0"/>
            </a:br>
            <a:endParaRPr lang="zh-TW" altLang="en-US" sz="3600" dirty="0">
              <a:latin typeface="+mj-ea"/>
            </a:endParaRPr>
          </a:p>
        </p:txBody>
      </p:sp>
    </p:spTree>
    <p:extLst>
      <p:ext uri="{BB962C8B-B14F-4D97-AF65-F5344CB8AC3E}">
        <p14:creationId xmlns:p14="http://schemas.microsoft.com/office/powerpoint/2010/main" xmlns="" val="3541440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marL="0" indent="0">
              <a:buNone/>
            </a:pPr>
            <a:r>
              <a:rPr lang="en-US" altLang="zh-TW" dirty="0" smtClean="0">
                <a:latin typeface="Times New Roman" panose="02020603050405020304" pitchFamily="18" charset="0"/>
                <a:cs typeface="Times New Roman" panose="02020603050405020304" pitchFamily="18" charset="0"/>
              </a:rPr>
              <a:t>	Image </a:t>
            </a:r>
            <a:r>
              <a:rPr lang="en-US" altLang="zh-TW" dirty="0">
                <a:latin typeface="Times New Roman" panose="02020603050405020304" pitchFamily="18" charset="0"/>
                <a:cs typeface="Times New Roman" panose="02020603050405020304" pitchFamily="18" charset="0"/>
              </a:rPr>
              <a:t>plagiarism can be detected using similarity between the two </a:t>
            </a:r>
            <a:r>
              <a:rPr lang="en-US" altLang="zh-TW" dirty="0" smtClean="0">
                <a:latin typeface="Times New Roman" panose="02020603050405020304" pitchFamily="18" charset="0"/>
                <a:cs typeface="Times New Roman" panose="02020603050405020304" pitchFamily="18" charset="0"/>
              </a:rPr>
              <a:t>images. </a:t>
            </a:r>
            <a:r>
              <a:rPr lang="en-US" altLang="zh-TW" dirty="0">
                <a:latin typeface="Times New Roman" panose="02020603050405020304" pitchFamily="18" charset="0"/>
                <a:cs typeface="Times New Roman" panose="02020603050405020304" pitchFamily="18" charset="0"/>
              </a:rPr>
              <a:t>This paper proposes a new modification to perceptual hashing (</a:t>
            </a:r>
            <a:r>
              <a:rPr lang="en-US" altLang="zh-TW" dirty="0" err="1">
                <a:latin typeface="Times New Roman" panose="02020603050405020304" pitchFamily="18" charset="0"/>
                <a:cs typeface="Times New Roman" panose="02020603050405020304" pitchFamily="18" charset="0"/>
              </a:rPr>
              <a:t>pHash</a:t>
            </a:r>
            <a:r>
              <a:rPr lang="en-US" altLang="zh-TW" dirty="0">
                <a:latin typeface="Times New Roman" panose="02020603050405020304" pitchFamily="18" charset="0"/>
                <a:cs typeface="Times New Roman" panose="02020603050405020304" pitchFamily="18" charset="0"/>
              </a:rPr>
              <a:t>) based approach for Image </a:t>
            </a:r>
            <a:r>
              <a:rPr lang="en-US" altLang="zh-TW" dirty="0" smtClean="0">
                <a:latin typeface="Times New Roman" panose="02020603050405020304" pitchFamily="18" charset="0"/>
                <a:cs typeface="Times New Roman" panose="02020603050405020304" pitchFamily="18" charset="0"/>
              </a:rPr>
              <a:t>Retrieval. </a:t>
            </a:r>
            <a:r>
              <a:rPr lang="en-US" altLang="zh-TW" dirty="0">
                <a:latin typeface="Times New Roman" panose="02020603050405020304" pitchFamily="18" charset="0"/>
                <a:cs typeface="Times New Roman" panose="02020603050405020304" pitchFamily="18" charset="0"/>
              </a:rPr>
              <a:t>By the simplified use of a distance function two perceptual hash values can be compared and, it can be understood whether the images being compared </a:t>
            </a:r>
            <a:r>
              <a:rPr lang="en-US" altLang="zh-TW" dirty="0" smtClean="0">
                <a:latin typeface="Times New Roman" panose="02020603050405020304" pitchFamily="18" charset="0"/>
                <a:cs typeface="Times New Roman" panose="02020603050405020304" pitchFamily="18" charset="0"/>
              </a:rPr>
              <a:t>are perceptually </a:t>
            </a:r>
            <a:r>
              <a:rPr lang="en-US" altLang="zh-TW" dirty="0">
                <a:latin typeface="Times New Roman" panose="02020603050405020304" pitchFamily="18" charset="0"/>
                <a:cs typeface="Times New Roman" panose="02020603050405020304" pitchFamily="18" charset="0"/>
              </a:rPr>
              <a:t>different or </a:t>
            </a:r>
            <a:r>
              <a:rPr lang="en-US" altLang="zh-TW" dirty="0" smtClean="0">
                <a:latin typeface="Times New Roman" panose="02020603050405020304" pitchFamily="18" charset="0"/>
                <a:cs typeface="Times New Roman" panose="02020603050405020304" pitchFamily="18" charset="0"/>
              </a:rPr>
              <a:t>not.</a:t>
            </a:r>
            <a:r>
              <a:rPr lang="en-US" altLang="zh-TW" dirty="0">
                <a:latin typeface="Times New Roman" panose="02020603050405020304" pitchFamily="18" charset="0"/>
                <a:cs typeface="Times New Roman" panose="02020603050405020304" pitchFamily="18" charset="0"/>
              </a:rPr>
              <a:t> Existing Image Plagiarism detection techniques are not sensitive to image </a:t>
            </a:r>
            <a:r>
              <a:rPr lang="en-US" altLang="zh-TW" dirty="0" smtClean="0">
                <a:latin typeface="Times New Roman" panose="02020603050405020304" pitchFamily="18" charset="0"/>
                <a:cs typeface="Times New Roman" panose="02020603050405020304" pitchFamily="18" charset="0"/>
              </a:rPr>
              <a:t>rotation. </a:t>
            </a:r>
            <a:r>
              <a:rPr lang="en-US" altLang="zh-TW" dirty="0">
                <a:latin typeface="Times New Roman" panose="02020603050405020304" pitchFamily="18" charset="0"/>
                <a:cs typeface="Times New Roman" panose="02020603050405020304" pitchFamily="18" charset="0"/>
              </a:rPr>
              <a:t>We propose an algorithm that compares the various degrees of rotation of the source image to the perceived similar image in an efficient </a:t>
            </a:r>
            <a:r>
              <a:rPr lang="en-US" altLang="zh-TW" dirty="0" smtClean="0">
                <a:latin typeface="Times New Roman" panose="02020603050405020304" pitchFamily="18" charset="0"/>
                <a:cs typeface="Times New Roman" panose="02020603050405020304" pitchFamily="18" charset="0"/>
              </a:rPr>
              <a:t>way. </a:t>
            </a:r>
            <a:r>
              <a:rPr lang="en-US" altLang="zh-TW" dirty="0">
                <a:latin typeface="Times New Roman" panose="02020603050405020304" pitchFamily="18" charset="0"/>
                <a:cs typeface="Times New Roman" panose="02020603050405020304" pitchFamily="18" charset="0"/>
              </a:rPr>
              <a:t>Perceptual image hash functions along with the rotation check can be used for the identification of </a:t>
            </a:r>
            <a:r>
              <a:rPr lang="en-US" altLang="zh-TW" dirty="0" err="1">
                <a:latin typeface="Times New Roman" panose="02020603050405020304" pitchFamily="18" charset="0"/>
                <a:cs typeface="Times New Roman" panose="02020603050405020304" pitchFamily="18" charset="0"/>
              </a:rPr>
              <a:t>plagiarised</a:t>
            </a:r>
            <a:r>
              <a:rPr lang="en-US" altLang="zh-TW" dirty="0">
                <a:latin typeface="Times New Roman" panose="02020603050405020304" pitchFamily="18" charset="0"/>
                <a:cs typeface="Times New Roman" panose="02020603050405020304" pitchFamily="18" charset="0"/>
              </a:rPr>
              <a:t> images, authentication or integrity verification of </a:t>
            </a:r>
            <a:r>
              <a:rPr lang="en-US" altLang="zh-TW" dirty="0" smtClean="0">
                <a:latin typeface="Times New Roman" panose="02020603050405020304" pitchFamily="18" charset="0"/>
                <a:cs typeface="Times New Roman" panose="02020603050405020304" pitchFamily="18" charset="0"/>
              </a:rPr>
              <a:t>images.</a:t>
            </a:r>
            <a:endParaRPr lang="zh-TW" altLang="zh-TW" dirty="0">
              <a:latin typeface="Times New Roman" panose="02020603050405020304" pitchFamily="18" charset="0"/>
              <a:cs typeface="Times New Roman" panose="02020603050405020304" pitchFamily="18" charset="0"/>
            </a:endParaRPr>
          </a:p>
          <a:p>
            <a:pPr marL="0" indent="0">
              <a:buNone/>
            </a:pPr>
            <a:endParaRPr lang="zh-TW" altLang="zh-TW" dirty="0">
              <a:latin typeface="Times New Roman" panose="02020603050405020304" pitchFamily="18" charset="0"/>
              <a:cs typeface="Times New Roman" panose="02020603050405020304" pitchFamily="18" charset="0"/>
            </a:endParaRPr>
          </a:p>
          <a:p>
            <a:pPr marL="0" indent="0">
              <a:buNone/>
            </a:pPr>
            <a:endParaRPr lang="zh-TW"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6898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Times New Roman" panose="02020603050405020304" pitchFamily="18" charset="0"/>
                <a:cs typeface="Times New Roman" panose="02020603050405020304" pitchFamily="18" charset="0"/>
              </a:rPr>
              <a:t>Perceptual hashing</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r>
              <a:rPr lang="en-US" altLang="zh-TW" sz="4000" dirty="0" smtClean="0">
                <a:solidFill>
                  <a:srgbClr val="FF0000"/>
                </a:solidFill>
                <a:latin typeface="Times New Roman" panose="02020603050405020304" pitchFamily="18" charset="0"/>
                <a:cs typeface="Times New Roman" panose="02020603050405020304" pitchFamily="18" charset="0"/>
              </a:rPr>
              <a:t>Reduce size</a:t>
            </a:r>
            <a:r>
              <a:rPr lang="en-US" altLang="zh-TW" sz="4000" dirty="0" smtClean="0">
                <a:latin typeface="Times New Roman" panose="02020603050405020304" pitchFamily="18" charset="0"/>
                <a:cs typeface="Times New Roman" panose="02020603050405020304" pitchFamily="18" charset="0"/>
              </a:rPr>
              <a:t>-Shrink the image to 8x8 so that there are 64 total pixels. The aspect ratio need not be maintained.</a:t>
            </a:r>
            <a:endParaRPr lang="zh-TW" altLang="en-US" sz="4000"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stretch>
            <a:fillRect/>
          </a:stretch>
        </p:blipFill>
        <p:spPr>
          <a:xfrm>
            <a:off x="9579600" y="4003200"/>
            <a:ext cx="1952625" cy="1600200"/>
          </a:xfrm>
          <a:prstGeom prst="rect">
            <a:avLst/>
          </a:prstGeom>
        </p:spPr>
      </p:pic>
    </p:spTree>
    <p:extLst>
      <p:ext uri="{BB962C8B-B14F-4D97-AF65-F5344CB8AC3E}">
        <p14:creationId xmlns:p14="http://schemas.microsoft.com/office/powerpoint/2010/main" xmlns="" val="1026620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Times New Roman" panose="02020603050405020304" pitchFamily="18" charset="0"/>
                <a:cs typeface="Times New Roman" panose="02020603050405020304" pitchFamily="18" charset="0"/>
              </a:rPr>
              <a:t>Perceptual hashing</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r>
              <a:rPr lang="en-US" altLang="zh-TW" sz="4000" dirty="0" smtClean="0">
                <a:solidFill>
                  <a:srgbClr val="FF0000"/>
                </a:solidFill>
                <a:latin typeface="Times New Roman" panose="02020603050405020304" pitchFamily="18" charset="0"/>
                <a:cs typeface="Times New Roman" panose="02020603050405020304" pitchFamily="18" charset="0"/>
              </a:rPr>
              <a:t>Reduce color</a:t>
            </a:r>
            <a:r>
              <a:rPr lang="en-US" altLang="zh-TW" sz="4000" dirty="0" smtClean="0">
                <a:latin typeface="Times New Roman" panose="02020603050405020304" pitchFamily="18" charset="0"/>
                <a:cs typeface="Times New Roman" panose="02020603050405020304" pitchFamily="18" charset="0"/>
              </a:rPr>
              <a:t>-</a:t>
            </a:r>
            <a:r>
              <a:rPr lang="en-US" altLang="zh-TW" sz="4000" dirty="0" smtClean="0"/>
              <a:t>The </a:t>
            </a:r>
            <a:r>
              <a:rPr lang="en-US" altLang="zh-TW" sz="4000" dirty="0"/>
              <a:t>8x8 picture is converted to a grayscale. This changes the hash from 64 pixels (64 red, 64 green, and 64 blue) to 64 total colors </a:t>
            </a:r>
          </a:p>
          <a:p>
            <a:r>
              <a:rPr lang="en-US" altLang="zh-TW" sz="4000" dirty="0" smtClean="0">
                <a:latin typeface="Times New Roman" panose="02020603050405020304" pitchFamily="18" charset="0"/>
                <a:cs typeface="Times New Roman" panose="02020603050405020304" pitchFamily="18" charset="0"/>
              </a:rPr>
              <a:t>Grayscale-</a:t>
            </a:r>
          </a:p>
          <a:p>
            <a:pPr marL="0" indent="0">
              <a:buNone/>
            </a:pPr>
            <a:r>
              <a:rPr lang="en-US" altLang="zh-TW" sz="4000" dirty="0" smtClean="0"/>
              <a:t>Gray </a:t>
            </a:r>
            <a:r>
              <a:rPr lang="en-US" altLang="zh-TW" sz="4000" dirty="0"/>
              <a:t>= R*0.299 + G*0.587 + B*0.114</a:t>
            </a:r>
            <a:endParaRPr lang="zh-TW" altLang="en-US" sz="4000"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2"/>
          <a:stretch>
            <a:fillRect/>
          </a:stretch>
        </p:blipFill>
        <p:spPr>
          <a:xfrm>
            <a:off x="9580017" y="4001294"/>
            <a:ext cx="1657350" cy="1571625"/>
          </a:xfrm>
          <a:prstGeom prst="rect">
            <a:avLst/>
          </a:prstGeom>
        </p:spPr>
      </p:pic>
    </p:spTree>
    <p:extLst>
      <p:ext uri="{BB962C8B-B14F-4D97-AF65-F5344CB8AC3E}">
        <p14:creationId xmlns:p14="http://schemas.microsoft.com/office/powerpoint/2010/main" xmlns="" val="1728185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Times New Roman" panose="02020603050405020304" pitchFamily="18" charset="0"/>
                <a:cs typeface="Times New Roman" panose="02020603050405020304" pitchFamily="18" charset="0"/>
              </a:rPr>
              <a:t>Perceptual hashing</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r>
              <a:rPr lang="en-US" altLang="zh-TW" sz="4000" dirty="0" smtClean="0">
                <a:solidFill>
                  <a:srgbClr val="FF0000"/>
                </a:solidFill>
                <a:latin typeface="Times New Roman" panose="02020603050405020304" pitchFamily="18" charset="0"/>
                <a:cs typeface="Times New Roman" panose="02020603050405020304" pitchFamily="18" charset="0"/>
              </a:rPr>
              <a:t>Construct the Hash</a:t>
            </a:r>
          </a:p>
          <a:p>
            <a:pPr lvl="1"/>
            <a:r>
              <a:rPr lang="en-US" altLang="zh-TW" sz="4000" dirty="0" smtClean="0">
                <a:solidFill>
                  <a:srgbClr val="0070C0"/>
                </a:solidFill>
                <a:latin typeface="Times New Roman" panose="02020603050405020304" pitchFamily="18" charset="0"/>
                <a:cs typeface="Times New Roman" panose="02020603050405020304" pitchFamily="18" charset="0"/>
              </a:rPr>
              <a:t>Average </a:t>
            </a:r>
            <a:r>
              <a:rPr lang="en-US" altLang="zh-TW" sz="4000" dirty="0">
                <a:solidFill>
                  <a:srgbClr val="0070C0"/>
                </a:solidFill>
                <a:latin typeface="Times New Roman" panose="02020603050405020304" pitchFamily="18" charset="0"/>
                <a:cs typeface="Times New Roman" panose="02020603050405020304" pitchFamily="18" charset="0"/>
              </a:rPr>
              <a:t>the </a:t>
            </a:r>
            <a:r>
              <a:rPr lang="en-US" altLang="zh-TW" sz="4000" dirty="0" smtClean="0">
                <a:solidFill>
                  <a:srgbClr val="0070C0"/>
                </a:solidFill>
                <a:latin typeface="Times New Roman" panose="02020603050405020304" pitchFamily="18" charset="0"/>
                <a:cs typeface="Times New Roman" panose="02020603050405020304" pitchFamily="18" charset="0"/>
              </a:rPr>
              <a:t>colors</a:t>
            </a:r>
            <a:r>
              <a:rPr lang="en-US" altLang="zh-TW" sz="4000" dirty="0" smtClean="0">
                <a:latin typeface="Times New Roman" panose="02020603050405020304" pitchFamily="18" charset="0"/>
                <a:cs typeface="Times New Roman" panose="02020603050405020304" pitchFamily="18" charset="0"/>
              </a:rPr>
              <a:t> </a:t>
            </a:r>
            <a:endParaRPr lang="en-US" altLang="zh-TW" sz="4000" dirty="0">
              <a:latin typeface="Times New Roman" panose="02020603050405020304" pitchFamily="18" charset="0"/>
              <a:cs typeface="Times New Roman" panose="02020603050405020304" pitchFamily="18" charset="0"/>
            </a:endParaRPr>
          </a:p>
          <a:p>
            <a:pPr lvl="1"/>
            <a:r>
              <a:rPr lang="en-US" altLang="zh-TW" sz="4000" dirty="0" smtClean="0">
                <a:latin typeface="Times New Roman" panose="02020603050405020304" pitchFamily="18" charset="0"/>
                <a:cs typeface="Times New Roman" panose="02020603050405020304" pitchFamily="18" charset="0"/>
              </a:rPr>
              <a:t>Compute </a:t>
            </a:r>
            <a:r>
              <a:rPr lang="en-US" altLang="zh-TW" sz="4000" dirty="0">
                <a:latin typeface="Times New Roman" panose="02020603050405020304" pitchFamily="18" charset="0"/>
                <a:cs typeface="Times New Roman" panose="02020603050405020304" pitchFamily="18" charset="0"/>
              </a:rPr>
              <a:t>the </a:t>
            </a:r>
            <a:r>
              <a:rPr lang="en-US" altLang="zh-TW" sz="4000" dirty="0" smtClean="0">
                <a:latin typeface="Times New Roman" panose="02020603050405020304" pitchFamily="18" charset="0"/>
                <a:cs typeface="Times New Roman" panose="02020603050405020304" pitchFamily="18" charset="0"/>
              </a:rPr>
              <a:t>bits</a:t>
            </a:r>
            <a:endParaRPr lang="en-US" altLang="zh-TW" sz="4000" dirty="0">
              <a:latin typeface="Times New Roman" panose="02020603050405020304" pitchFamily="18" charset="0"/>
              <a:cs typeface="Times New Roman" panose="02020603050405020304" pitchFamily="18" charset="0"/>
            </a:endParaRPr>
          </a:p>
          <a:p>
            <a:pPr lvl="1"/>
            <a:r>
              <a:rPr lang="en-US" altLang="zh-TW" sz="4000" dirty="0" smtClean="0">
                <a:latin typeface="Times New Roman" panose="02020603050405020304" pitchFamily="18" charset="0"/>
                <a:cs typeface="Times New Roman" panose="02020603050405020304" pitchFamily="18" charset="0"/>
              </a:rPr>
              <a:t>Generated hash value</a:t>
            </a:r>
            <a:endParaRPr lang="en-US" altLang="zh-TW" dirty="0"/>
          </a:p>
          <a:p>
            <a:pPr marL="0" indent="0">
              <a:buNone/>
            </a:pPr>
            <a:endParaRPr lang="en-US" altLang="zh-TW" dirty="0"/>
          </a:p>
          <a:p>
            <a:pPr lvl="1"/>
            <a:endParaRPr lang="zh-TW" altLang="en-US" sz="3600"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stretch>
            <a:fillRect/>
          </a:stretch>
        </p:blipFill>
        <p:spPr>
          <a:xfrm>
            <a:off x="838200" y="4784370"/>
            <a:ext cx="6177780" cy="1392593"/>
          </a:xfrm>
          <a:prstGeom prst="rect">
            <a:avLst/>
          </a:prstGeom>
        </p:spPr>
      </p:pic>
    </p:spTree>
    <p:extLst>
      <p:ext uri="{BB962C8B-B14F-4D97-AF65-F5344CB8AC3E}">
        <p14:creationId xmlns:p14="http://schemas.microsoft.com/office/powerpoint/2010/main" xmlns="" val="916526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Times New Roman" panose="02020603050405020304" pitchFamily="18" charset="0"/>
                <a:cs typeface="Times New Roman" panose="02020603050405020304" pitchFamily="18" charset="0"/>
              </a:rPr>
              <a:t>Perceptual hashing</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r>
              <a:rPr lang="en-US" altLang="zh-TW" sz="4000" dirty="0" smtClean="0">
                <a:solidFill>
                  <a:srgbClr val="FF0000"/>
                </a:solidFill>
                <a:latin typeface="Times New Roman" panose="02020603050405020304" pitchFamily="18" charset="0"/>
                <a:cs typeface="Times New Roman" panose="02020603050405020304" pitchFamily="18" charset="0"/>
              </a:rPr>
              <a:t>Construct the Hash</a:t>
            </a:r>
          </a:p>
          <a:p>
            <a:pPr lvl="1"/>
            <a:r>
              <a:rPr lang="en-US" altLang="zh-TW" sz="4000" dirty="0" smtClean="0">
                <a:latin typeface="Times New Roman" panose="02020603050405020304" pitchFamily="18" charset="0"/>
                <a:cs typeface="Times New Roman" panose="02020603050405020304" pitchFamily="18" charset="0"/>
              </a:rPr>
              <a:t>Average </a:t>
            </a:r>
            <a:r>
              <a:rPr lang="en-US" altLang="zh-TW" sz="4000" dirty="0">
                <a:latin typeface="Times New Roman" panose="02020603050405020304" pitchFamily="18" charset="0"/>
                <a:cs typeface="Times New Roman" panose="02020603050405020304" pitchFamily="18" charset="0"/>
              </a:rPr>
              <a:t>the </a:t>
            </a:r>
            <a:r>
              <a:rPr lang="en-US" altLang="zh-TW" sz="4000" dirty="0" smtClean="0">
                <a:latin typeface="Times New Roman" panose="02020603050405020304" pitchFamily="18" charset="0"/>
                <a:cs typeface="Times New Roman" panose="02020603050405020304" pitchFamily="18" charset="0"/>
              </a:rPr>
              <a:t>colors </a:t>
            </a:r>
            <a:endParaRPr lang="en-US" altLang="zh-TW" sz="4000" dirty="0">
              <a:latin typeface="Times New Roman" panose="02020603050405020304" pitchFamily="18" charset="0"/>
              <a:cs typeface="Times New Roman" panose="02020603050405020304" pitchFamily="18" charset="0"/>
            </a:endParaRPr>
          </a:p>
          <a:p>
            <a:pPr lvl="1"/>
            <a:r>
              <a:rPr lang="en-US" altLang="zh-TW" sz="4000" dirty="0" smtClean="0">
                <a:solidFill>
                  <a:srgbClr val="0070C0"/>
                </a:solidFill>
                <a:latin typeface="Times New Roman" panose="02020603050405020304" pitchFamily="18" charset="0"/>
                <a:cs typeface="Times New Roman" panose="02020603050405020304" pitchFamily="18" charset="0"/>
              </a:rPr>
              <a:t>Compute </a:t>
            </a:r>
            <a:r>
              <a:rPr lang="en-US" altLang="zh-TW" sz="4000" dirty="0">
                <a:solidFill>
                  <a:srgbClr val="0070C0"/>
                </a:solidFill>
                <a:latin typeface="Times New Roman" panose="02020603050405020304" pitchFamily="18" charset="0"/>
                <a:cs typeface="Times New Roman" panose="02020603050405020304" pitchFamily="18" charset="0"/>
              </a:rPr>
              <a:t>the </a:t>
            </a:r>
            <a:r>
              <a:rPr lang="en-US" altLang="zh-TW" sz="4000" dirty="0" smtClean="0">
                <a:solidFill>
                  <a:srgbClr val="0070C0"/>
                </a:solidFill>
                <a:latin typeface="Times New Roman" panose="02020603050405020304" pitchFamily="18" charset="0"/>
                <a:cs typeface="Times New Roman" panose="02020603050405020304" pitchFamily="18" charset="0"/>
              </a:rPr>
              <a:t>bits</a:t>
            </a:r>
            <a:endParaRPr lang="en-US" altLang="zh-TW" sz="4000" dirty="0">
              <a:solidFill>
                <a:srgbClr val="0070C0"/>
              </a:solidFill>
              <a:latin typeface="Times New Roman" panose="02020603050405020304" pitchFamily="18" charset="0"/>
              <a:cs typeface="Times New Roman" panose="02020603050405020304" pitchFamily="18" charset="0"/>
            </a:endParaRPr>
          </a:p>
          <a:p>
            <a:pPr lvl="1"/>
            <a:r>
              <a:rPr lang="en-US" altLang="zh-TW" sz="4000" dirty="0" smtClean="0">
                <a:latin typeface="Times New Roman" panose="02020603050405020304" pitchFamily="18" charset="0"/>
                <a:cs typeface="Times New Roman" panose="02020603050405020304" pitchFamily="18" charset="0"/>
              </a:rPr>
              <a:t>Generated hash value</a:t>
            </a:r>
            <a:endParaRPr lang="en-US" altLang="zh-TW" dirty="0"/>
          </a:p>
          <a:p>
            <a:pPr marL="0" indent="0">
              <a:buNone/>
            </a:pPr>
            <a:endParaRPr lang="en-US" altLang="zh-TW" dirty="0"/>
          </a:p>
          <a:p>
            <a:pPr lvl="1"/>
            <a:endParaRPr lang="zh-TW" altLang="en-US" sz="3600"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a:stretch>
            <a:fillRect/>
          </a:stretch>
        </p:blipFill>
        <p:spPr>
          <a:xfrm>
            <a:off x="838200" y="4837421"/>
            <a:ext cx="10659334" cy="1339542"/>
          </a:xfrm>
          <a:prstGeom prst="rect">
            <a:avLst/>
          </a:prstGeom>
        </p:spPr>
      </p:pic>
    </p:spTree>
    <p:extLst>
      <p:ext uri="{BB962C8B-B14F-4D97-AF65-F5344CB8AC3E}">
        <p14:creationId xmlns:p14="http://schemas.microsoft.com/office/powerpoint/2010/main" xmlns="" val="3611148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Times New Roman" panose="02020603050405020304" pitchFamily="18" charset="0"/>
                <a:cs typeface="Times New Roman" panose="02020603050405020304" pitchFamily="18" charset="0"/>
              </a:rPr>
              <a:t>Perceptual hashing</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r>
              <a:rPr lang="en-US" altLang="zh-TW" sz="4000" dirty="0" smtClean="0">
                <a:solidFill>
                  <a:srgbClr val="FF0000"/>
                </a:solidFill>
                <a:latin typeface="Times New Roman" panose="02020603050405020304" pitchFamily="18" charset="0"/>
                <a:cs typeface="Times New Roman" panose="02020603050405020304" pitchFamily="18" charset="0"/>
              </a:rPr>
              <a:t>Construct the Hash</a:t>
            </a:r>
          </a:p>
          <a:p>
            <a:pPr lvl="1"/>
            <a:r>
              <a:rPr lang="en-US" altLang="zh-TW" sz="4000" dirty="0" smtClean="0">
                <a:latin typeface="Times New Roman" panose="02020603050405020304" pitchFamily="18" charset="0"/>
                <a:cs typeface="Times New Roman" panose="02020603050405020304" pitchFamily="18" charset="0"/>
              </a:rPr>
              <a:t>Average </a:t>
            </a:r>
            <a:r>
              <a:rPr lang="en-US" altLang="zh-TW" sz="4000" dirty="0">
                <a:latin typeface="Times New Roman" panose="02020603050405020304" pitchFamily="18" charset="0"/>
                <a:cs typeface="Times New Roman" panose="02020603050405020304" pitchFamily="18" charset="0"/>
              </a:rPr>
              <a:t>the </a:t>
            </a:r>
            <a:r>
              <a:rPr lang="en-US" altLang="zh-TW" sz="4000" dirty="0" smtClean="0">
                <a:latin typeface="Times New Roman" panose="02020603050405020304" pitchFamily="18" charset="0"/>
                <a:cs typeface="Times New Roman" panose="02020603050405020304" pitchFamily="18" charset="0"/>
              </a:rPr>
              <a:t>colors </a:t>
            </a:r>
            <a:endParaRPr lang="en-US" altLang="zh-TW" sz="4000" dirty="0">
              <a:latin typeface="Times New Roman" panose="02020603050405020304" pitchFamily="18" charset="0"/>
              <a:cs typeface="Times New Roman" panose="02020603050405020304" pitchFamily="18" charset="0"/>
            </a:endParaRPr>
          </a:p>
          <a:p>
            <a:pPr lvl="1"/>
            <a:r>
              <a:rPr lang="en-US" altLang="zh-TW" sz="4000" dirty="0" smtClean="0">
                <a:latin typeface="Times New Roman" panose="02020603050405020304" pitchFamily="18" charset="0"/>
                <a:cs typeface="Times New Roman" panose="02020603050405020304" pitchFamily="18" charset="0"/>
              </a:rPr>
              <a:t>Compute </a:t>
            </a:r>
            <a:r>
              <a:rPr lang="en-US" altLang="zh-TW" sz="4000" dirty="0">
                <a:latin typeface="Times New Roman" panose="02020603050405020304" pitchFamily="18" charset="0"/>
                <a:cs typeface="Times New Roman" panose="02020603050405020304" pitchFamily="18" charset="0"/>
              </a:rPr>
              <a:t>the </a:t>
            </a:r>
            <a:r>
              <a:rPr lang="en-US" altLang="zh-TW" sz="4000" dirty="0" smtClean="0">
                <a:latin typeface="Times New Roman" panose="02020603050405020304" pitchFamily="18" charset="0"/>
                <a:cs typeface="Times New Roman" panose="02020603050405020304" pitchFamily="18" charset="0"/>
              </a:rPr>
              <a:t>bits</a:t>
            </a:r>
            <a:endParaRPr lang="en-US" altLang="zh-TW" sz="4000" dirty="0">
              <a:latin typeface="Times New Roman" panose="02020603050405020304" pitchFamily="18" charset="0"/>
              <a:cs typeface="Times New Roman" panose="02020603050405020304" pitchFamily="18" charset="0"/>
            </a:endParaRPr>
          </a:p>
          <a:p>
            <a:pPr lvl="1"/>
            <a:r>
              <a:rPr lang="en-US" altLang="zh-TW" sz="4000" dirty="0" smtClean="0">
                <a:solidFill>
                  <a:srgbClr val="0070C0"/>
                </a:solidFill>
                <a:latin typeface="Times New Roman" panose="02020603050405020304" pitchFamily="18" charset="0"/>
                <a:cs typeface="Times New Roman" panose="02020603050405020304" pitchFamily="18" charset="0"/>
              </a:rPr>
              <a:t>Generated hash value</a:t>
            </a:r>
            <a:endParaRPr lang="en-US" altLang="zh-TW" dirty="0">
              <a:solidFill>
                <a:srgbClr val="0070C0"/>
              </a:solidFill>
            </a:endParaRPr>
          </a:p>
          <a:p>
            <a:pPr marL="0" indent="0">
              <a:buNone/>
            </a:pPr>
            <a:endParaRPr lang="en-US" altLang="zh-TW" dirty="0"/>
          </a:p>
          <a:p>
            <a:pPr lvl="1"/>
            <a:endParaRPr lang="zh-TW" altLang="en-US" sz="3600"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stretch>
            <a:fillRect/>
          </a:stretch>
        </p:blipFill>
        <p:spPr>
          <a:xfrm>
            <a:off x="1366054" y="4815313"/>
            <a:ext cx="5880907" cy="505683"/>
          </a:xfrm>
          <a:prstGeom prst="rect">
            <a:avLst/>
          </a:prstGeom>
        </p:spPr>
      </p:pic>
    </p:spTree>
    <p:extLst>
      <p:ext uri="{BB962C8B-B14F-4D97-AF65-F5344CB8AC3E}">
        <p14:creationId xmlns:p14="http://schemas.microsoft.com/office/powerpoint/2010/main" xmlns="" val="2265730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Times New Roman" panose="02020603050405020304" pitchFamily="18" charset="0"/>
                <a:cs typeface="Times New Roman" panose="02020603050405020304" pitchFamily="18" charset="0"/>
              </a:rPr>
              <a:t>Perceptual hashing</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93864"/>
            <a:ext cx="10515600" cy="4351338"/>
          </a:xfrm>
        </p:spPr>
        <p:txBody>
          <a:bodyPr>
            <a:normAutofit/>
          </a:bodyPr>
          <a:lstStyle/>
          <a:p>
            <a:r>
              <a:rPr lang="en-US" altLang="zh-TW" sz="4000" dirty="0" smtClean="0"/>
              <a:t>Calculate </a:t>
            </a:r>
            <a:r>
              <a:rPr lang="en-US" altLang="zh-TW" sz="4000" dirty="0"/>
              <a:t>hamming distance</a:t>
            </a:r>
            <a:endParaRPr lang="zh-TW" altLang="en-US" sz="4000" dirty="0"/>
          </a:p>
          <a:p>
            <a:endParaRPr lang="en-US" altLang="zh-TW" dirty="0"/>
          </a:p>
          <a:p>
            <a:pPr lvl="1"/>
            <a:endParaRPr lang="zh-TW" altLang="en-US" sz="3600" dirty="0">
              <a:latin typeface="Times New Roman" panose="02020603050405020304" pitchFamily="18" charset="0"/>
              <a:cs typeface="Times New Roman" panose="02020603050405020304" pitchFamily="18" charset="0"/>
            </a:endParaRPr>
          </a:p>
        </p:txBody>
      </p:sp>
      <p:pic>
        <p:nvPicPr>
          <p:cNvPr id="2050" name="Picture 2" descr="http://people.rit.edu/rmb5229/320/project3/images/hamming_example_optimized.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38200" y="3064712"/>
            <a:ext cx="5899008" cy="318049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93728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Times New Roman" panose="02020603050405020304" pitchFamily="18" charset="0"/>
                <a:cs typeface="Times New Roman" panose="02020603050405020304" pitchFamily="18" charset="0"/>
              </a:rPr>
              <a:t>Other hashing</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lvl="1"/>
            <a:r>
              <a:rPr lang="en-US" altLang="zh-TW" sz="3600" dirty="0" smtClean="0">
                <a:latin typeface="Times New Roman" panose="02020603050405020304" pitchFamily="18" charset="0"/>
                <a:cs typeface="Times New Roman" panose="02020603050405020304" pitchFamily="18" charset="0"/>
              </a:rPr>
              <a:t>Compute DCT</a:t>
            </a:r>
          </a:p>
          <a:p>
            <a:pPr lvl="1"/>
            <a:endParaRPr lang="en-US" altLang="zh-TW" sz="3600" dirty="0" smtClean="0">
              <a:latin typeface="Times New Roman" panose="02020603050405020304" pitchFamily="18" charset="0"/>
              <a:cs typeface="Times New Roman" panose="02020603050405020304" pitchFamily="18" charset="0"/>
            </a:endParaRPr>
          </a:p>
        </p:txBody>
      </p:sp>
      <p:pic>
        <p:nvPicPr>
          <p:cNvPr id="1030" name="Picture 6" descr="https://xiph.org/~xiphmont/demo/daala/blocking.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274692" y="2901440"/>
            <a:ext cx="8343900" cy="239077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68933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Times New Roman" panose="02020603050405020304" pitchFamily="18" charset="0"/>
                <a:cs typeface="Times New Roman" panose="02020603050405020304" pitchFamily="18" charset="0"/>
              </a:rPr>
              <a:t>Other hashing</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lvl="1"/>
            <a:r>
              <a:rPr lang="en-US" altLang="zh-TW" sz="3600" dirty="0" smtClean="0">
                <a:latin typeface="Times New Roman" panose="02020603050405020304" pitchFamily="18" charset="0"/>
                <a:cs typeface="Times New Roman" panose="02020603050405020304" pitchFamily="18" charset="0"/>
              </a:rPr>
              <a:t>FDCT</a:t>
            </a:r>
          </a:p>
          <a:p>
            <a:pPr lvl="1"/>
            <a:endParaRPr lang="en-US" altLang="zh-TW" sz="3600" dirty="0">
              <a:latin typeface="Times New Roman" panose="02020603050405020304" pitchFamily="18" charset="0"/>
              <a:cs typeface="Times New Roman" panose="02020603050405020304" pitchFamily="18" charset="0"/>
            </a:endParaRPr>
          </a:p>
          <a:p>
            <a:pPr lvl="1"/>
            <a:endParaRPr lang="en-US" altLang="zh-TW" sz="3600" dirty="0" smtClean="0">
              <a:latin typeface="Times New Roman" panose="02020603050405020304" pitchFamily="18" charset="0"/>
              <a:cs typeface="Times New Roman" panose="02020603050405020304" pitchFamily="18" charset="0"/>
            </a:endParaRPr>
          </a:p>
          <a:p>
            <a:pPr lvl="1"/>
            <a:r>
              <a:rPr lang="en-US" altLang="zh-TW" sz="3600" dirty="0" smtClean="0">
                <a:latin typeface="Times New Roman" panose="02020603050405020304" pitchFamily="18" charset="0"/>
                <a:cs typeface="Times New Roman" panose="02020603050405020304" pitchFamily="18" charset="0"/>
              </a:rPr>
              <a:t>IDCT</a:t>
            </a:r>
          </a:p>
          <a:p>
            <a:pPr lvl="1"/>
            <a:endParaRPr lang="en-US" altLang="zh-TW" sz="3600" dirty="0" smtClean="0">
              <a:latin typeface="Times New Roman" panose="02020603050405020304" pitchFamily="18" charset="0"/>
              <a:cs typeface="Times New Roman" panose="02020603050405020304" pitchFamily="18" charset="0"/>
            </a:endParaRPr>
          </a:p>
        </p:txBody>
      </p:sp>
      <p:pic>
        <p:nvPicPr>
          <p:cNvPr id="5" name="內容版面配置區 3"/>
          <p:cNvPicPr>
            <a:picLocks noChangeAspect="1"/>
          </p:cNvPicPr>
          <p:nvPr/>
        </p:nvPicPr>
        <p:blipFill>
          <a:blip r:embed="rId2"/>
          <a:stretch>
            <a:fillRect/>
          </a:stretch>
        </p:blipFill>
        <p:spPr>
          <a:xfrm>
            <a:off x="1858726" y="2331077"/>
            <a:ext cx="8303356" cy="1217341"/>
          </a:xfrm>
          <a:prstGeom prst="rect">
            <a:avLst/>
          </a:prstGeom>
        </p:spPr>
      </p:pic>
      <p:pic>
        <p:nvPicPr>
          <p:cNvPr id="6" name="圖片 5"/>
          <p:cNvPicPr>
            <a:picLocks noChangeAspect="1"/>
          </p:cNvPicPr>
          <p:nvPr/>
        </p:nvPicPr>
        <p:blipFill>
          <a:blip r:embed="rId3"/>
          <a:stretch>
            <a:fillRect/>
          </a:stretch>
        </p:blipFill>
        <p:spPr>
          <a:xfrm>
            <a:off x="2191389" y="4323602"/>
            <a:ext cx="6549754" cy="726070"/>
          </a:xfrm>
          <a:prstGeom prst="rect">
            <a:avLst/>
          </a:prstGeom>
        </p:spPr>
      </p:pic>
      <p:pic>
        <p:nvPicPr>
          <p:cNvPr id="4" name="圖片 3"/>
          <p:cNvPicPr>
            <a:picLocks noChangeAspect="1"/>
          </p:cNvPicPr>
          <p:nvPr/>
        </p:nvPicPr>
        <p:blipFill>
          <a:blip r:embed="rId4"/>
          <a:stretch>
            <a:fillRect/>
          </a:stretch>
        </p:blipFill>
        <p:spPr>
          <a:xfrm>
            <a:off x="9046936" y="5290557"/>
            <a:ext cx="3145064" cy="1391858"/>
          </a:xfrm>
          <a:prstGeom prst="rect">
            <a:avLst/>
          </a:prstGeom>
        </p:spPr>
      </p:pic>
    </p:spTree>
    <p:extLst>
      <p:ext uri="{BB962C8B-B14F-4D97-AF65-F5344CB8AC3E}">
        <p14:creationId xmlns:p14="http://schemas.microsoft.com/office/powerpoint/2010/main" xmlns="" val="1961637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491319" y="0"/>
            <a:ext cx="11546005" cy="6687403"/>
          </a:xfrm>
          <a:prstGeom prst="rect">
            <a:avLst/>
          </a:prstGeom>
        </p:spPr>
      </p:pic>
    </p:spTree>
    <p:extLst>
      <p:ext uri="{BB962C8B-B14F-4D97-AF65-F5344CB8AC3E}">
        <p14:creationId xmlns:p14="http://schemas.microsoft.com/office/powerpoint/2010/main" xmlns="" val="41357038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dirty="0"/>
          </a:p>
        </p:txBody>
      </p:sp>
    </p:spTree>
    <p:extLst>
      <p:ext uri="{BB962C8B-B14F-4D97-AF65-F5344CB8AC3E}">
        <p14:creationId xmlns:p14="http://schemas.microsoft.com/office/powerpoint/2010/main" xmlns="" val="3311439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H</a:t>
            </a:r>
            <a:r>
              <a:rPr lang="en-US" altLang="zh-TW" b="1" dirty="0" smtClean="0">
                <a:latin typeface="Times New Roman" panose="02020603050405020304" pitchFamily="18" charset="0"/>
                <a:cs typeface="Times New Roman" panose="02020603050405020304" pitchFamily="18" charset="0"/>
              </a:rPr>
              <a:t>istogram</a:t>
            </a:r>
            <a:endParaRPr lang="zh-TW" altLang="en-US" b="1" dirty="0">
              <a:latin typeface="Times New Roman" panose="02020603050405020304" pitchFamily="18" charset="0"/>
              <a:cs typeface="Times New Roman" panose="02020603050405020304" pitchFamily="18" charset="0"/>
            </a:endParaRPr>
          </a:p>
        </p:txBody>
      </p:sp>
      <p:pic>
        <p:nvPicPr>
          <p:cNvPr id="5122" name="Picture 2" descr="http://what-when-how.com/wp-content/uploads/2011/09/tmp646.jpg"/>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838200" y="1305967"/>
            <a:ext cx="10625919" cy="529480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280719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H</a:t>
            </a:r>
            <a:r>
              <a:rPr lang="en-US" altLang="zh-TW" b="1" dirty="0" smtClean="0">
                <a:latin typeface="Times New Roman" panose="02020603050405020304" pitchFamily="18" charset="0"/>
                <a:cs typeface="Times New Roman" panose="02020603050405020304" pitchFamily="18" charset="0"/>
              </a:rPr>
              <a:t>istogram</a:t>
            </a:r>
            <a:endParaRPr lang="zh-TW" altLang="en-US" b="1"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stretch>
            <a:fillRect/>
          </a:stretch>
        </p:blipFill>
        <p:spPr>
          <a:xfrm>
            <a:off x="838200" y="1490603"/>
            <a:ext cx="10178152" cy="4801015"/>
          </a:xfrm>
          <a:prstGeom prst="rect">
            <a:avLst/>
          </a:prstGeom>
        </p:spPr>
      </p:pic>
    </p:spTree>
    <p:extLst>
      <p:ext uri="{BB962C8B-B14F-4D97-AF65-F5344CB8AC3E}">
        <p14:creationId xmlns:p14="http://schemas.microsoft.com/office/powerpoint/2010/main" xmlns="" val="3384727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H</a:t>
            </a:r>
            <a:r>
              <a:rPr lang="en-US" altLang="zh-TW" b="1" dirty="0" smtClean="0">
                <a:latin typeface="Times New Roman" panose="02020603050405020304" pitchFamily="18" charset="0"/>
                <a:cs typeface="Times New Roman" panose="02020603050405020304" pitchFamily="18" charset="0"/>
              </a:rPr>
              <a:t>istogram</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smtClean="0"/>
              <a:t>Each Color have 256 pixel value(0~255)</a:t>
            </a:r>
          </a:p>
          <a:p>
            <a:r>
              <a:rPr lang="en-US" altLang="zh-TW" dirty="0"/>
              <a:t>Divided </a:t>
            </a:r>
            <a:r>
              <a:rPr lang="en-US" altLang="zh-TW" dirty="0" smtClean="0"/>
              <a:t>into four groups(0~63, 64~127, 128~191, 192~255)</a:t>
            </a:r>
          </a:p>
          <a:p>
            <a:r>
              <a:rPr lang="en-US" altLang="zh-TW" dirty="0" smtClean="0"/>
              <a:t>4(r)*4(g)*4(b)=64 combinations</a:t>
            </a:r>
          </a:p>
          <a:p>
            <a:r>
              <a:rPr lang="en-US" altLang="zh-TW" dirty="0"/>
              <a:t>64 </a:t>
            </a:r>
            <a:r>
              <a:rPr lang="en-US" altLang="zh-TW" dirty="0" smtClean="0"/>
              <a:t>combinations converted to 64bits</a:t>
            </a:r>
          </a:p>
          <a:p>
            <a:r>
              <a:rPr lang="en-US" altLang="zh-TW" dirty="0" smtClean="0"/>
              <a:t>Make a fingerprint</a:t>
            </a:r>
          </a:p>
          <a:p>
            <a:endParaRPr lang="zh-TW" altLang="en-US" dirty="0"/>
          </a:p>
        </p:txBody>
      </p:sp>
    </p:spTree>
    <p:extLst>
      <p:ext uri="{BB962C8B-B14F-4D97-AF65-F5344CB8AC3E}">
        <p14:creationId xmlns:p14="http://schemas.microsoft.com/office/powerpoint/2010/main" xmlns="" val="359795552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171</Words>
  <Application>Microsoft Office PowerPoint</Application>
  <PresentationFormat>自訂</PresentationFormat>
  <Paragraphs>41</Paragraphs>
  <Slides>15</Slides>
  <Notes>0</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佈景主題</vt:lpstr>
      <vt:lpstr>Mitigation of Rotational Constraints in Image Based Plagiarism Detection Using Perceptual Hash  Sushila Aghav, Ankit Kumar, Ganesh Gadakar,  Aditya Mehta, Amey Mhaisane,  International Journal of Computer Science Trends and Technology (IJCST), Volume 2 Issue 1, pp. 28-32, Mar-Apr 2014.  </vt:lpstr>
      <vt:lpstr>abstract</vt:lpstr>
      <vt:lpstr>Perceptual hashing</vt:lpstr>
      <vt:lpstr>Perceptual hashing</vt:lpstr>
      <vt:lpstr>Perceptual hashing</vt:lpstr>
      <vt:lpstr>Perceptual hashing</vt:lpstr>
      <vt:lpstr>Perceptual hashing</vt:lpstr>
      <vt:lpstr>Perceptual hashing</vt:lpstr>
      <vt:lpstr>Other hashing</vt:lpstr>
      <vt:lpstr>Other hashing</vt:lpstr>
      <vt:lpstr>投影片 11</vt:lpstr>
      <vt:lpstr>投影片 12</vt:lpstr>
      <vt:lpstr>Histogram</vt:lpstr>
      <vt:lpstr>Histogram</vt:lpstr>
      <vt:lpstr>Histogram</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“Mitigation of Rotational Constraints in Image Based Plagiarism Detection Using Perceptual Hash,”   Sushila Aghav, Ankit Kumar, Ganesh Gadakar,  Aditya Mehta, Amey Mhaisane , International Journal of Computer Science Trends and Technology (IJCST), Volume 2 Issue 1, pp. 28-32, Mar-Apr 2014.  </dc:title>
  <dc:creator>Sun</dc:creator>
  <cp:lastModifiedBy>admin</cp:lastModifiedBy>
  <cp:revision>17</cp:revision>
  <dcterms:created xsi:type="dcterms:W3CDTF">2014-11-17T14:46:20Z</dcterms:created>
  <dcterms:modified xsi:type="dcterms:W3CDTF">2014-11-18T10:32:13Z</dcterms:modified>
</cp:coreProperties>
</file>