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charts/style2.xml" ContentType="application/vnd.ms-office.chartstyl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vsdx" ContentType="application/vnd.ms-visio.drawing"/>
  <Override PartName="/ppt/charts/colors2.xml" ContentType="application/vnd.ms-office.chartcolorstyl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Default Extension="wdp" ContentType="image/vnd.ms-photo"/>
  <Override PartName="/ppt/charts/colors1.xml" ContentType="application/vnd.ms-office.chartcolorstyl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6.xml" ContentType="application/vnd.openxmlformats-officedocument.presentationml.notesSlide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charts/style1.xml" ContentType="application/vnd.ms-office.chart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handoutMasterIdLst>
    <p:handoutMasterId r:id="rId27"/>
  </p:handoutMasterIdLst>
  <p:sldIdLst>
    <p:sldId id="256" r:id="rId2"/>
    <p:sldId id="333" r:id="rId3"/>
    <p:sldId id="308" r:id="rId4"/>
    <p:sldId id="309" r:id="rId5"/>
    <p:sldId id="310" r:id="rId6"/>
    <p:sldId id="311" r:id="rId7"/>
    <p:sldId id="315" r:id="rId8"/>
    <p:sldId id="332" r:id="rId9"/>
    <p:sldId id="328" r:id="rId10"/>
    <p:sldId id="341" r:id="rId11"/>
    <p:sldId id="317" r:id="rId12"/>
    <p:sldId id="329" r:id="rId13"/>
    <p:sldId id="335" r:id="rId14"/>
    <p:sldId id="330" r:id="rId15"/>
    <p:sldId id="336" r:id="rId16"/>
    <p:sldId id="322" r:id="rId17"/>
    <p:sldId id="323" r:id="rId18"/>
    <p:sldId id="338" r:id="rId19"/>
    <p:sldId id="337" r:id="rId20"/>
    <p:sldId id="339" r:id="rId21"/>
    <p:sldId id="342" r:id="rId22"/>
    <p:sldId id="344" r:id="rId23"/>
    <p:sldId id="343" r:id="rId24"/>
    <p:sldId id="325" r:id="rId25"/>
  </p:sldIdLst>
  <p:sldSz cx="9144000" cy="6858000" type="screen4x3"/>
  <p:notesSz cx="10234613" cy="70993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3300"/>
    <a:srgbClr val="0000FF"/>
    <a:srgbClr val="7B93DF"/>
    <a:srgbClr val="6F84EB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727" autoAdjust="0"/>
    <p:restoredTop sz="94424" autoAdjust="0"/>
  </p:normalViewPr>
  <p:slideViewPr>
    <p:cSldViewPr>
      <p:cViewPr>
        <p:scale>
          <a:sx n="100" d="100"/>
          <a:sy n="100" d="100"/>
        </p:scale>
        <p:origin x="354" y="4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66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102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oleObject" Target="file:///D:\Dropbox\&#35506;&#26989;\&#20854;&#20182;\Fisher%20score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Style" Target="style2.xml"/><Relationship Id="rId2" Type="http://schemas.microsoft.com/office/2011/relationships/chartColorStyle" Target="colors2.xml"/><Relationship Id="rId1" Type="http://schemas.openxmlformats.org/officeDocument/2006/relationships/package" Target="../embeddings/Microsoft_Office_Excel____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zh-TW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TOP7結果!$A$2</c:f>
              <c:strCache>
                <c:ptCount val="1"/>
                <c:pt idx="0">
                  <c:v>TOP2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TOP7結果!$B$1:$J$1</c:f>
              <c:strCache>
                <c:ptCount val="9"/>
                <c:pt idx="0">
                  <c:v>7-7</c:v>
                </c:pt>
                <c:pt idx="1">
                  <c:v>7-8</c:v>
                </c:pt>
                <c:pt idx="2">
                  <c:v>7-9</c:v>
                </c:pt>
                <c:pt idx="3">
                  <c:v>8-7</c:v>
                </c:pt>
                <c:pt idx="4">
                  <c:v>8-8</c:v>
                </c:pt>
                <c:pt idx="5">
                  <c:v>8-9</c:v>
                </c:pt>
                <c:pt idx="6">
                  <c:v>9-7</c:v>
                </c:pt>
                <c:pt idx="7">
                  <c:v>9-8</c:v>
                </c:pt>
                <c:pt idx="8">
                  <c:v>9-9</c:v>
                </c:pt>
              </c:strCache>
            </c:strRef>
          </c:cat>
          <c:val>
            <c:numRef>
              <c:f>TOP7結果!$B$2:$J$2</c:f>
              <c:numCache>
                <c:formatCode>General</c:formatCode>
                <c:ptCount val="9"/>
                <c:pt idx="0">
                  <c:v>0.34233582336809232</c:v>
                </c:pt>
                <c:pt idx="1">
                  <c:v>0.45967778373523077</c:v>
                </c:pt>
                <c:pt idx="2">
                  <c:v>0.42995285583942866</c:v>
                </c:pt>
                <c:pt idx="3">
                  <c:v>0.35872768802956934</c:v>
                </c:pt>
                <c:pt idx="4">
                  <c:v>0.44879299607451922</c:v>
                </c:pt>
                <c:pt idx="5">
                  <c:v>0.43175579769676192</c:v>
                </c:pt>
                <c:pt idx="6">
                  <c:v>0.36744321150324621</c:v>
                </c:pt>
                <c:pt idx="7">
                  <c:v>0.45577729669840389</c:v>
                </c:pt>
                <c:pt idx="8">
                  <c:v>0.41900990742114291</c:v>
                </c:pt>
              </c:numCache>
            </c:numRef>
          </c:val>
        </c:ser>
        <c:ser>
          <c:idx val="1"/>
          <c:order val="1"/>
          <c:tx>
            <c:strRef>
              <c:f>TOP7結果!$A$3</c:f>
              <c:strCache>
                <c:ptCount val="1"/>
                <c:pt idx="0">
                  <c:v>TOP3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strRef>
              <c:f>TOP7結果!$B$1:$J$1</c:f>
              <c:strCache>
                <c:ptCount val="9"/>
                <c:pt idx="0">
                  <c:v>7-7</c:v>
                </c:pt>
                <c:pt idx="1">
                  <c:v>7-8</c:v>
                </c:pt>
                <c:pt idx="2">
                  <c:v>7-9</c:v>
                </c:pt>
                <c:pt idx="3">
                  <c:v>8-7</c:v>
                </c:pt>
                <c:pt idx="4">
                  <c:v>8-8</c:v>
                </c:pt>
                <c:pt idx="5">
                  <c:v>8-9</c:v>
                </c:pt>
                <c:pt idx="6">
                  <c:v>9-7</c:v>
                </c:pt>
                <c:pt idx="7">
                  <c:v>9-8</c:v>
                </c:pt>
                <c:pt idx="8">
                  <c:v>9-9</c:v>
                </c:pt>
              </c:strCache>
            </c:strRef>
          </c:cat>
          <c:val>
            <c:numRef>
              <c:f>TOP7結果!$B$3:$J$3</c:f>
              <c:numCache>
                <c:formatCode>General</c:formatCode>
                <c:ptCount val="9"/>
                <c:pt idx="0">
                  <c:v>0.34179885634246149</c:v>
                </c:pt>
                <c:pt idx="1">
                  <c:v>0.46483035202607675</c:v>
                </c:pt>
                <c:pt idx="2">
                  <c:v>0.43037183090857156</c:v>
                </c:pt>
                <c:pt idx="3">
                  <c:v>0.36060520638055382</c:v>
                </c:pt>
                <c:pt idx="4">
                  <c:v>0.44418701764482682</c:v>
                </c:pt>
                <c:pt idx="5">
                  <c:v>0.43089312837534932</c:v>
                </c:pt>
                <c:pt idx="6">
                  <c:v>0.36622096901592321</c:v>
                </c:pt>
                <c:pt idx="7">
                  <c:v>0.45450851490450017</c:v>
                </c:pt>
                <c:pt idx="8">
                  <c:v>0.41002551547507959</c:v>
                </c:pt>
              </c:numCache>
            </c:numRef>
          </c:val>
        </c:ser>
        <c:ser>
          <c:idx val="2"/>
          <c:order val="2"/>
          <c:tx>
            <c:strRef>
              <c:f>TOP7結果!$A$4</c:f>
              <c:strCache>
                <c:ptCount val="1"/>
                <c:pt idx="0">
                  <c:v>TOP4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cat>
            <c:strRef>
              <c:f>TOP7結果!$B$1:$J$1</c:f>
              <c:strCache>
                <c:ptCount val="9"/>
                <c:pt idx="0">
                  <c:v>7-7</c:v>
                </c:pt>
                <c:pt idx="1">
                  <c:v>7-8</c:v>
                </c:pt>
                <c:pt idx="2">
                  <c:v>7-9</c:v>
                </c:pt>
                <c:pt idx="3">
                  <c:v>8-7</c:v>
                </c:pt>
                <c:pt idx="4">
                  <c:v>8-8</c:v>
                </c:pt>
                <c:pt idx="5">
                  <c:v>8-9</c:v>
                </c:pt>
                <c:pt idx="6">
                  <c:v>9-7</c:v>
                </c:pt>
                <c:pt idx="7">
                  <c:v>9-8</c:v>
                </c:pt>
                <c:pt idx="8">
                  <c:v>9-9</c:v>
                </c:pt>
              </c:strCache>
            </c:strRef>
          </c:cat>
          <c:val>
            <c:numRef>
              <c:f>TOP7結果!$B$4:$J$4</c:f>
              <c:numCache>
                <c:formatCode>General</c:formatCode>
                <c:ptCount val="9"/>
                <c:pt idx="0">
                  <c:v>0.33361352767503083</c:v>
                </c:pt>
                <c:pt idx="1">
                  <c:v>0.46564203579217317</c:v>
                </c:pt>
                <c:pt idx="2">
                  <c:v>0.4301900079760953</c:v>
                </c:pt>
                <c:pt idx="3">
                  <c:v>0.36139944691024617</c:v>
                </c:pt>
                <c:pt idx="4">
                  <c:v>0.43404262322571147</c:v>
                </c:pt>
                <c:pt idx="5">
                  <c:v>0.42301345575795246</c:v>
                </c:pt>
                <c:pt idx="6">
                  <c:v>0.36660602211052329</c:v>
                </c:pt>
                <c:pt idx="7">
                  <c:v>0.463324457450904</c:v>
                </c:pt>
                <c:pt idx="8">
                  <c:v>0.4038096158610478</c:v>
                </c:pt>
              </c:numCache>
            </c:numRef>
          </c:val>
        </c:ser>
        <c:ser>
          <c:idx val="3"/>
          <c:order val="3"/>
          <c:tx>
            <c:strRef>
              <c:f>TOP7結果!$A$5</c:f>
              <c:strCache>
                <c:ptCount val="1"/>
                <c:pt idx="0">
                  <c:v>TOP5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cat>
            <c:strRef>
              <c:f>TOP7結果!$B$1:$J$1</c:f>
              <c:strCache>
                <c:ptCount val="9"/>
                <c:pt idx="0">
                  <c:v>7-7</c:v>
                </c:pt>
                <c:pt idx="1">
                  <c:v>7-8</c:v>
                </c:pt>
                <c:pt idx="2">
                  <c:v>7-9</c:v>
                </c:pt>
                <c:pt idx="3">
                  <c:v>8-7</c:v>
                </c:pt>
                <c:pt idx="4">
                  <c:v>8-8</c:v>
                </c:pt>
                <c:pt idx="5">
                  <c:v>8-9</c:v>
                </c:pt>
                <c:pt idx="6">
                  <c:v>9-7</c:v>
                </c:pt>
                <c:pt idx="7">
                  <c:v>9-8</c:v>
                </c:pt>
                <c:pt idx="8">
                  <c:v>9-9</c:v>
                </c:pt>
              </c:strCache>
            </c:strRef>
          </c:cat>
          <c:val>
            <c:numRef>
              <c:f>TOP7結果!$B$5:$J$5</c:f>
              <c:numCache>
                <c:formatCode>General</c:formatCode>
                <c:ptCount val="9"/>
                <c:pt idx="0">
                  <c:v>0.32687108137235393</c:v>
                </c:pt>
                <c:pt idx="1">
                  <c:v>0.46841796678605774</c:v>
                </c:pt>
                <c:pt idx="2">
                  <c:v>0.42680328105307946</c:v>
                </c:pt>
                <c:pt idx="3">
                  <c:v>0.36274138991683075</c:v>
                </c:pt>
                <c:pt idx="4">
                  <c:v>0.43192144389032688</c:v>
                </c:pt>
                <c:pt idx="5">
                  <c:v>0.41987258040987313</c:v>
                </c:pt>
                <c:pt idx="6">
                  <c:v>0.3681275724687384</c:v>
                </c:pt>
                <c:pt idx="7">
                  <c:v>0.45819606366044235</c:v>
                </c:pt>
                <c:pt idx="8">
                  <c:v>0.40031658477357146</c:v>
                </c:pt>
              </c:numCache>
            </c:numRef>
          </c:val>
        </c:ser>
        <c:ser>
          <c:idx val="4"/>
          <c:order val="4"/>
          <c:tx>
            <c:strRef>
              <c:f>TOP7結果!$A$6</c:f>
              <c:strCache>
                <c:ptCount val="1"/>
                <c:pt idx="0">
                  <c:v>TOP6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cat>
            <c:strRef>
              <c:f>TOP7結果!$B$1:$J$1</c:f>
              <c:strCache>
                <c:ptCount val="9"/>
                <c:pt idx="0">
                  <c:v>7-7</c:v>
                </c:pt>
                <c:pt idx="1">
                  <c:v>7-8</c:v>
                </c:pt>
                <c:pt idx="2">
                  <c:v>7-9</c:v>
                </c:pt>
                <c:pt idx="3">
                  <c:v>8-7</c:v>
                </c:pt>
                <c:pt idx="4">
                  <c:v>8-8</c:v>
                </c:pt>
                <c:pt idx="5">
                  <c:v>8-9</c:v>
                </c:pt>
                <c:pt idx="6">
                  <c:v>9-7</c:v>
                </c:pt>
                <c:pt idx="7">
                  <c:v>9-8</c:v>
                </c:pt>
                <c:pt idx="8">
                  <c:v>9-9</c:v>
                </c:pt>
              </c:strCache>
            </c:strRef>
          </c:cat>
          <c:val>
            <c:numRef>
              <c:f>TOP7結果!$B$6:$J$6</c:f>
              <c:numCache>
                <c:formatCode>General</c:formatCode>
                <c:ptCount val="9"/>
                <c:pt idx="0">
                  <c:v>0.3234998335473539</c:v>
                </c:pt>
                <c:pt idx="1">
                  <c:v>0.42736680791614307</c:v>
                </c:pt>
                <c:pt idx="2">
                  <c:v>0.46753672825361536</c:v>
                </c:pt>
                <c:pt idx="3">
                  <c:v>0.36232761358129234</c:v>
                </c:pt>
                <c:pt idx="4">
                  <c:v>0.4297042184676732</c:v>
                </c:pt>
                <c:pt idx="5">
                  <c:v>0.42713386564707939</c:v>
                </c:pt>
                <c:pt idx="6">
                  <c:v>0.37006670396792329</c:v>
                </c:pt>
                <c:pt idx="7">
                  <c:v>0.45778541403709616</c:v>
                </c:pt>
                <c:pt idx="8">
                  <c:v>0.38716233519704796</c:v>
                </c:pt>
              </c:numCache>
            </c:numRef>
          </c:val>
        </c:ser>
        <c:ser>
          <c:idx val="5"/>
          <c:order val="5"/>
          <c:tx>
            <c:strRef>
              <c:f>TOP7結果!$A$7</c:f>
              <c:strCache>
                <c:ptCount val="1"/>
                <c:pt idx="0">
                  <c:v>TOP7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cat>
            <c:strRef>
              <c:f>TOP7結果!$B$1:$J$1</c:f>
              <c:strCache>
                <c:ptCount val="9"/>
                <c:pt idx="0">
                  <c:v>7-7</c:v>
                </c:pt>
                <c:pt idx="1">
                  <c:v>7-8</c:v>
                </c:pt>
                <c:pt idx="2">
                  <c:v>7-9</c:v>
                </c:pt>
                <c:pt idx="3">
                  <c:v>8-7</c:v>
                </c:pt>
                <c:pt idx="4">
                  <c:v>8-8</c:v>
                </c:pt>
                <c:pt idx="5">
                  <c:v>8-9</c:v>
                </c:pt>
                <c:pt idx="6">
                  <c:v>9-7</c:v>
                </c:pt>
                <c:pt idx="7">
                  <c:v>9-8</c:v>
                </c:pt>
                <c:pt idx="8">
                  <c:v>9-9</c:v>
                </c:pt>
              </c:strCache>
            </c:strRef>
          </c:cat>
          <c:val>
            <c:numRef>
              <c:f>TOP7結果!$B$7:$J$7</c:f>
              <c:numCache>
                <c:formatCode>General</c:formatCode>
                <c:ptCount val="9"/>
                <c:pt idx="0">
                  <c:v>0.32003944795544614</c:v>
                </c:pt>
                <c:pt idx="1">
                  <c:v>0.46786581116521148</c:v>
                </c:pt>
                <c:pt idx="2">
                  <c:v>0.4181691214997143</c:v>
                </c:pt>
                <c:pt idx="3">
                  <c:v>0.36582157914072316</c:v>
                </c:pt>
                <c:pt idx="4">
                  <c:v>0.41059797983428847</c:v>
                </c:pt>
                <c:pt idx="5">
                  <c:v>0.42646556180693657</c:v>
                </c:pt>
                <c:pt idx="6">
                  <c:v>0.37164097326980022</c:v>
                </c:pt>
                <c:pt idx="7">
                  <c:v>0.45679804765149989</c:v>
                </c:pt>
                <c:pt idx="8">
                  <c:v>0.37593892737496842</c:v>
                </c:pt>
              </c:numCache>
            </c:numRef>
          </c:val>
        </c:ser>
        <c:ser>
          <c:idx val="6"/>
          <c:order val="6"/>
          <c:tx>
            <c:strRef>
              <c:f>TOP7結果!$A$8</c:f>
              <c:strCache>
                <c:ptCount val="1"/>
                <c:pt idx="0">
                  <c:v>ALL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cat>
            <c:strRef>
              <c:f>TOP7結果!$B$1:$J$1</c:f>
              <c:strCache>
                <c:ptCount val="9"/>
                <c:pt idx="0">
                  <c:v>7-7</c:v>
                </c:pt>
                <c:pt idx="1">
                  <c:v>7-8</c:v>
                </c:pt>
                <c:pt idx="2">
                  <c:v>7-9</c:v>
                </c:pt>
                <c:pt idx="3">
                  <c:v>8-7</c:v>
                </c:pt>
                <c:pt idx="4">
                  <c:v>8-8</c:v>
                </c:pt>
                <c:pt idx="5">
                  <c:v>8-9</c:v>
                </c:pt>
                <c:pt idx="6">
                  <c:v>9-7</c:v>
                </c:pt>
                <c:pt idx="7">
                  <c:v>9-8</c:v>
                </c:pt>
                <c:pt idx="8">
                  <c:v>9-9</c:v>
                </c:pt>
              </c:strCache>
            </c:strRef>
          </c:cat>
          <c:val>
            <c:numRef>
              <c:f>TOP7結果!$B$8:$J$8</c:f>
              <c:numCache>
                <c:formatCode>General</c:formatCode>
                <c:ptCount val="9"/>
                <c:pt idx="0">
                  <c:v>0.26605154600963582</c:v>
                </c:pt>
                <c:pt idx="1">
                  <c:v>0.44248623009909621</c:v>
                </c:pt>
                <c:pt idx="2">
                  <c:v>0.42794850918272404</c:v>
                </c:pt>
                <c:pt idx="3">
                  <c:v>0.36186558426801008</c:v>
                </c:pt>
                <c:pt idx="4">
                  <c:v>0.34024858061676044</c:v>
                </c:pt>
                <c:pt idx="5">
                  <c:v>0.42881537084527194</c:v>
                </c:pt>
                <c:pt idx="6">
                  <c:v>0.36370726900691092</c:v>
                </c:pt>
                <c:pt idx="7">
                  <c:v>0.43989465263477268</c:v>
                </c:pt>
                <c:pt idx="8">
                  <c:v>0.30622755528808132</c:v>
                </c:pt>
              </c:numCache>
            </c:numRef>
          </c:val>
        </c:ser>
        <c:dLbls/>
        <c:gapWidth val="219"/>
        <c:overlap val="-27"/>
        <c:axId val="72284032"/>
        <c:axId val="72285568"/>
      </c:barChart>
      <c:catAx>
        <c:axId val="72284032"/>
        <c:scaling>
          <c:orientation val="minMax"/>
        </c:scaling>
        <c:axPos val="b"/>
        <c:numFmt formatCode="General" sourceLinked="1"/>
        <c:maj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2285568"/>
        <c:crosses val="autoZero"/>
        <c:auto val="1"/>
        <c:lblAlgn val="ctr"/>
        <c:lblOffset val="100"/>
      </c:catAx>
      <c:valAx>
        <c:axId val="72285568"/>
        <c:scaling>
          <c:orientation val="minMax"/>
        </c:scaling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2284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287472583072491"/>
          <c:y val="0.87410891838763871"/>
          <c:w val="0.71425054833855017"/>
          <c:h val="0.12589108161236132"/>
        </c:manualLayout>
      </c:layout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zh-TW"/>
  <c:chart>
    <c:autoTitleDeleted val="1"/>
    <c:plotArea>
      <c:layout/>
      <c:lineChart>
        <c:grouping val="standard"/>
        <c:ser>
          <c:idx val="0"/>
          <c:order val="0"/>
          <c:tx>
            <c:strRef>
              <c:f>工作表1!$B$1</c:f>
              <c:strCache>
                <c:ptCount val="1"/>
                <c:pt idx="0">
                  <c:v>7 7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工作表1!$A$2:$A$5</c:f>
              <c:strCache>
                <c:ptCount val="4"/>
                <c:pt idx="0">
                  <c:v>No threshold</c:v>
                </c:pt>
                <c:pt idx="1">
                  <c:v>Thresh=0.05</c:v>
                </c:pt>
                <c:pt idx="2">
                  <c:v>Thresh=0.10</c:v>
                </c:pt>
                <c:pt idx="3">
                  <c:v>Thresh=0.20</c:v>
                </c:pt>
              </c:strCache>
            </c:strRef>
          </c:cat>
          <c:val>
            <c:numRef>
              <c:f>工作表1!$B$2:$B$5</c:f>
              <c:numCache>
                <c:formatCode>General</c:formatCode>
                <c:ptCount val="4"/>
                <c:pt idx="0">
                  <c:v>0.35840150043223085</c:v>
                </c:pt>
                <c:pt idx="1">
                  <c:v>0.35459551566701558</c:v>
                </c:pt>
                <c:pt idx="2">
                  <c:v>0.34473902827818464</c:v>
                </c:pt>
                <c:pt idx="3">
                  <c:v>0.33445644485620007</c:v>
                </c:pt>
              </c:numCache>
            </c:numRef>
          </c:val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8 8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工作表1!$A$2:$A$5</c:f>
              <c:strCache>
                <c:ptCount val="4"/>
                <c:pt idx="0">
                  <c:v>No threshold</c:v>
                </c:pt>
                <c:pt idx="1">
                  <c:v>Thresh=0.05</c:v>
                </c:pt>
                <c:pt idx="2">
                  <c:v>Thresh=0.10</c:v>
                </c:pt>
                <c:pt idx="3">
                  <c:v>Thresh=0.20</c:v>
                </c:pt>
              </c:strCache>
            </c:strRef>
          </c:cat>
          <c:val>
            <c:numRef>
              <c:f>工作表1!$C$2:$C$5</c:f>
              <c:numCache>
                <c:formatCode>General</c:formatCode>
                <c:ptCount val="4"/>
                <c:pt idx="0">
                  <c:v>0.44591625762757697</c:v>
                </c:pt>
                <c:pt idx="1">
                  <c:v>0.44417206845807689</c:v>
                </c:pt>
                <c:pt idx="2">
                  <c:v>0.41837867043507693</c:v>
                </c:pt>
                <c:pt idx="3">
                  <c:v>0.4234805150720003</c:v>
                </c:pt>
              </c:numCache>
            </c:numRef>
          </c:val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9 9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工作表1!$A$2:$A$5</c:f>
              <c:strCache>
                <c:ptCount val="4"/>
                <c:pt idx="0">
                  <c:v>No threshold</c:v>
                </c:pt>
                <c:pt idx="1">
                  <c:v>Thresh=0.05</c:v>
                </c:pt>
                <c:pt idx="2">
                  <c:v>Thresh=0.10</c:v>
                </c:pt>
                <c:pt idx="3">
                  <c:v>Thresh=0.20</c:v>
                </c:pt>
              </c:strCache>
            </c:strRef>
          </c:cat>
          <c:val>
            <c:numRef>
              <c:f>工作表1!$D$2:$D$5</c:f>
              <c:numCache>
                <c:formatCode>General</c:formatCode>
                <c:ptCount val="4"/>
                <c:pt idx="0">
                  <c:v>0.42539135191696781</c:v>
                </c:pt>
                <c:pt idx="1">
                  <c:v>0.42950044285723815</c:v>
                </c:pt>
                <c:pt idx="2">
                  <c:v>0.4226182922343969</c:v>
                </c:pt>
                <c:pt idx="3">
                  <c:v>0.41534669560450793</c:v>
                </c:pt>
              </c:numCache>
            </c:numRef>
          </c:val>
        </c:ser>
        <c:ser>
          <c:idx val="3"/>
          <c:order val="3"/>
          <c:tx>
            <c:strRef>
              <c:f>工作表1!$E$1</c:f>
              <c:strCache>
                <c:ptCount val="1"/>
                <c:pt idx="0">
                  <c:v>10 10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工作表1!$A$2:$A$5</c:f>
              <c:strCache>
                <c:ptCount val="4"/>
                <c:pt idx="0">
                  <c:v>No threshold</c:v>
                </c:pt>
                <c:pt idx="1">
                  <c:v>Thresh=0.05</c:v>
                </c:pt>
                <c:pt idx="2">
                  <c:v>Thresh=0.10</c:v>
                </c:pt>
                <c:pt idx="3">
                  <c:v>Thresh=0.20</c:v>
                </c:pt>
              </c:strCache>
            </c:strRef>
          </c:cat>
          <c:val>
            <c:numRef>
              <c:f>工作表1!$E$2:$E$5</c:f>
              <c:numCache>
                <c:formatCode>General</c:formatCode>
                <c:ptCount val="4"/>
                <c:pt idx="0">
                  <c:v>0.3577778925201025</c:v>
                </c:pt>
                <c:pt idx="1">
                  <c:v>0.35731608254764113</c:v>
                </c:pt>
                <c:pt idx="2">
                  <c:v>0.34639474179433333</c:v>
                </c:pt>
                <c:pt idx="3">
                  <c:v>0.34370392558356411</c:v>
                </c:pt>
              </c:numCache>
            </c:numRef>
          </c:val>
        </c:ser>
        <c:dLbls/>
        <c:marker val="1"/>
        <c:axId val="95987200"/>
        <c:axId val="95988736"/>
      </c:lineChart>
      <c:catAx>
        <c:axId val="95987200"/>
        <c:scaling>
          <c:orientation val="minMax"/>
        </c:scaling>
        <c:axPos val="b"/>
        <c:numFmt formatCode="General" sourceLinked="1"/>
        <c:maj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95988736"/>
        <c:crosses val="autoZero"/>
        <c:auto val="1"/>
        <c:lblAlgn val="ctr"/>
        <c:lblOffset val="100"/>
      </c:catAx>
      <c:valAx>
        <c:axId val="95988736"/>
        <c:scaling>
          <c:orientation val="minMax"/>
          <c:max val="0.46"/>
          <c:min val="0.32000000000000012"/>
        </c:scaling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95987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1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797246" y="0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9A1E9FC-490C-4865-A082-2CA8BB7D5A91}" type="datetimeFigureOut">
              <a:rPr lang="zh-TW" altLang="en-US" smtClean="0"/>
              <a:pPr/>
              <a:t>2014/7/1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6743103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797246" y="6743103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9BA81C7-1ECC-4CF7-ABF1-426C762021B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91050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797246" y="0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542458AF-C11A-4B8D-B5DF-F124E30CB17B}" type="datetimeFigureOut">
              <a:rPr lang="zh-TW" altLang="en-US" smtClean="0"/>
              <a:pPr/>
              <a:t>2014/7/1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31813"/>
            <a:ext cx="3551237" cy="26622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1023462" y="3372168"/>
            <a:ext cx="8187690" cy="3194685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743103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797246" y="6743103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08879042-3193-49F2-8086-409E581C9D3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13517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300" dirty="0"/>
              <a:t>利用工具偏好分類與特徵選取之蛋白質骨幹重建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97998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659707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32067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874529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37019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253449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1242392" y="1556792"/>
            <a:ext cx="6858000" cy="1440160"/>
          </a:xfrm>
        </p:spPr>
        <p:txBody>
          <a:bodyPr anchor="t" anchorCtr="0"/>
          <a:lstStyle>
            <a:lvl1pPr algn="r">
              <a:defRPr sz="3200" b="1">
                <a:solidFill>
                  <a:schemeClr val="tx1"/>
                </a:solidFill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219200" y="3228979"/>
            <a:ext cx="6858000" cy="2200243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904875" y="980728"/>
            <a:ext cx="7315200" cy="2088232"/>
          </a:xfrm>
          <a:prstGeom prst="rect">
            <a:avLst/>
          </a:prstGeom>
          <a:noFill/>
          <a:ln w="6350" cap="rnd" cmpd="sng" algn="ctr">
            <a:solidFill>
              <a:schemeClr val="accent1">
                <a:lumMod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矩形 32"/>
          <p:cNvSpPr/>
          <p:nvPr/>
        </p:nvSpPr>
        <p:spPr>
          <a:xfrm>
            <a:off x="914400" y="3140968"/>
            <a:ext cx="7305675" cy="2376264"/>
          </a:xfrm>
          <a:prstGeom prst="rect">
            <a:avLst/>
          </a:prstGeom>
          <a:noFill/>
          <a:ln w="6350" cap="rnd" cmpd="sng" algn="ctr">
            <a:solidFill>
              <a:schemeClr val="accent3">
                <a:lumMod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矩形 21"/>
          <p:cNvSpPr/>
          <p:nvPr/>
        </p:nvSpPr>
        <p:spPr>
          <a:xfrm>
            <a:off x="904875" y="980728"/>
            <a:ext cx="228600" cy="20882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>
            <a:off x="904875" y="3140968"/>
            <a:ext cx="238125" cy="2376264"/>
          </a:xfrm>
          <a:prstGeom prst="rect">
            <a:avLst/>
          </a:prstGeom>
          <a:solidFill>
            <a:schemeClr val="accent3">
              <a:lumMod val="75000"/>
            </a:schemeClr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+mj-lt"/>
                <a:ea typeface="微軟正黑體" panose="020B0604030504040204" pitchFamily="34" charset="-120"/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>
            <a:lvl1pPr>
              <a:defRPr>
                <a:latin typeface="+mj-lt"/>
                <a:ea typeface="微軟正黑體" panose="020B0604030504040204" pitchFamily="34" charset="-120"/>
              </a:defRPr>
            </a:lvl1pPr>
            <a:lvl2pPr>
              <a:defRPr>
                <a:latin typeface="+mj-lt"/>
                <a:ea typeface="微軟正黑體" panose="020B0604030504040204" pitchFamily="34" charset="-120"/>
              </a:defRPr>
            </a:lvl2pPr>
            <a:lvl3pPr>
              <a:defRPr>
                <a:latin typeface="+mj-lt"/>
                <a:ea typeface="微軟正黑體" panose="020B0604030504040204" pitchFamily="34" charset="-120"/>
              </a:defRPr>
            </a:lvl3pPr>
            <a:lvl4pPr>
              <a:defRPr>
                <a:latin typeface="+mj-lt"/>
                <a:ea typeface="微軟正黑體" panose="020B0604030504040204" pitchFamily="34" charset="-120"/>
              </a:defRPr>
            </a:lvl4pPr>
            <a:lvl5pPr>
              <a:defRPr>
                <a:latin typeface="+mj-lt"/>
                <a:ea typeface="微軟正黑體" panose="020B0604030504040204" pitchFamily="34" charset="-120"/>
              </a:defRPr>
            </a:lvl5pPr>
          </a:lstStyle>
          <a:p>
            <a:pPr lvl="0" eaLnBrk="1" latinLnBrk="0" hangingPunct="1"/>
            <a:r>
              <a:rPr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lang="zh-TW" altLang="en-US" dirty="0" smtClean="0"/>
              <a:t>第二層</a:t>
            </a:r>
          </a:p>
          <a:p>
            <a:pPr lvl="2" eaLnBrk="1" latinLnBrk="0" hangingPunct="1"/>
            <a:r>
              <a:rPr lang="zh-TW" altLang="en-US" dirty="0" smtClean="0"/>
              <a:t>第三層</a:t>
            </a:r>
          </a:p>
          <a:p>
            <a:pPr lvl="3" eaLnBrk="1" latinLnBrk="0" hangingPunct="1"/>
            <a:r>
              <a:rPr lang="zh-TW" altLang="en-US" dirty="0" smtClean="0"/>
              <a:t>第四層</a:t>
            </a:r>
          </a:p>
          <a:p>
            <a:pPr lvl="4" eaLnBrk="1" latinLnBrk="0" hangingPunct="1"/>
            <a:r>
              <a:rPr lang="zh-TW" altLang="en-US" dirty="0" smtClean="0"/>
              <a:t>第五層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5" name="直線接點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等腰三角形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7620000" cy="769938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762000" y="1524000"/>
            <a:ext cx="7772400" cy="41148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2014/7/1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362200" y="6324600"/>
            <a:ext cx="4876800" cy="457200"/>
          </a:xfrm>
        </p:spPr>
        <p:txBody>
          <a:bodyPr/>
          <a:lstStyle>
            <a:lvl1pPr>
              <a:defRPr/>
            </a:lvl1pPr>
          </a:lstStyle>
          <a:p>
            <a:endParaRPr lang="zh-TW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4 -</a:t>
            </a:r>
            <a:fld id="{D006B8F7-737D-4A54-86E7-4A80C1E61F9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2017361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 smtClean="0"/>
              <a:t>第二層</a:t>
            </a:r>
          </a:p>
          <a:p>
            <a:pPr lvl="2" eaLnBrk="1" latinLnBrk="0" hangingPunct="1"/>
            <a:r>
              <a:rPr kumimoji="0" lang="zh-TW" altLang="en-US" dirty="0" smtClean="0"/>
              <a:t>第三層</a:t>
            </a:r>
          </a:p>
          <a:p>
            <a:pPr lvl="3" eaLnBrk="1" latinLnBrk="0" hangingPunct="1"/>
            <a:r>
              <a:rPr kumimoji="0" lang="zh-TW" altLang="en-US" dirty="0" smtClean="0"/>
              <a:t>第四層</a:t>
            </a:r>
          </a:p>
          <a:p>
            <a:pPr lvl="4" eaLnBrk="1" latinLnBrk="0" hangingPunct="1"/>
            <a:r>
              <a:rPr kumimoji="0" lang="zh-TW" altLang="en-US" dirty="0" smtClean="0"/>
              <a:t>第五層</a:t>
            </a:r>
            <a:endParaRPr kumimoji="0" lang="en-US" dirty="0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直線接點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直線接點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等腰三角形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__11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Protein Backbone Reconstruction with Tool Preference 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Classification and Feature Selection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sz="2000" dirty="0">
              <a:ea typeface="微軟正黑體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zh-TW" sz="2400" dirty="0" smtClean="0">
                <a:solidFill>
                  <a:schemeClr val="tx1"/>
                </a:solidFill>
                <a:latin typeface="+mn-lt"/>
              </a:rPr>
              <a:t>Student</a:t>
            </a:r>
            <a:r>
              <a:rPr lang="en-US" altLang="zh-TW" sz="2400" dirty="0" smtClean="0">
                <a:latin typeface="+mn-lt"/>
                <a:cs typeface="Times New Roman" panose="02020603050405020304" pitchFamily="18" charset="0"/>
              </a:rPr>
              <a:t>: </a:t>
            </a:r>
            <a:r>
              <a:rPr lang="en-US" altLang="zh-TW" sz="2400" dirty="0" smtClean="0">
                <a:solidFill>
                  <a:schemeClr val="tx1"/>
                </a:solidFill>
                <a:latin typeface="+mn-lt"/>
              </a:rPr>
              <a:t>Hsin-Chuan Yuan</a:t>
            </a:r>
            <a:r>
              <a:rPr lang="zh-TW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TW" sz="2400" dirty="0" smtClean="0">
                <a:solidFill>
                  <a:schemeClr val="tx1"/>
                </a:solidFill>
                <a:latin typeface="+mn-lt"/>
              </a:rPr>
              <a:t>(</a:t>
            </a:r>
            <a:r>
              <a:rPr lang="zh-TW" altLang="en-US" sz="2400" dirty="0">
                <a:latin typeface="+mn-lt"/>
                <a:ea typeface="標楷體" panose="03000509000000000000" pitchFamily="65" charset="-120"/>
              </a:rPr>
              <a:t>袁信全</a:t>
            </a:r>
            <a:r>
              <a:rPr lang="en-US" altLang="zh-TW" sz="2400" dirty="0" smtClean="0">
                <a:solidFill>
                  <a:schemeClr val="tx1"/>
                </a:solidFill>
                <a:latin typeface="+mn-lt"/>
              </a:rPr>
              <a:t>)</a:t>
            </a:r>
          </a:p>
          <a:p>
            <a:pPr algn="l"/>
            <a:r>
              <a:rPr lang="en-US" altLang="zh-TW" sz="2400" dirty="0">
                <a:latin typeface="+mn-lt"/>
                <a:cs typeface="Times New Roman" panose="02020603050405020304" pitchFamily="18" charset="0"/>
              </a:rPr>
              <a:t>Advisor: </a:t>
            </a:r>
            <a:r>
              <a:rPr lang="en-US" altLang="zh-TW" sz="2400" dirty="0">
                <a:latin typeface="+mn-lt"/>
                <a:ea typeface="標楷體" panose="03000509000000000000" pitchFamily="65" charset="-120"/>
              </a:rPr>
              <a:t>Prof. Chang-</a:t>
            </a:r>
            <a:r>
              <a:rPr lang="en-US" altLang="zh-TW" sz="2400" dirty="0" err="1">
                <a:latin typeface="+mn-lt"/>
                <a:ea typeface="標楷體" panose="03000509000000000000" pitchFamily="65" charset="-120"/>
              </a:rPr>
              <a:t>Biau</a:t>
            </a:r>
            <a:r>
              <a:rPr lang="en-US" altLang="zh-TW" sz="2400" dirty="0">
                <a:latin typeface="+mn-lt"/>
                <a:ea typeface="標楷體" panose="03000509000000000000" pitchFamily="65" charset="-120"/>
              </a:rPr>
              <a:t> </a:t>
            </a:r>
            <a:r>
              <a:rPr lang="en-US" altLang="zh-TW" sz="2400" dirty="0" smtClean="0">
                <a:latin typeface="+mn-lt"/>
                <a:ea typeface="標楷體" panose="03000509000000000000" pitchFamily="65" charset="-120"/>
              </a:rPr>
              <a:t>Yang</a:t>
            </a:r>
            <a:r>
              <a:rPr lang="zh-TW" altLang="en-US" sz="2400" dirty="0" smtClean="0">
                <a:latin typeface="+mn-lt"/>
                <a:ea typeface="標楷體" panose="03000509000000000000" pitchFamily="65" charset="-120"/>
              </a:rPr>
              <a:t> </a:t>
            </a:r>
            <a:r>
              <a:rPr lang="en-US" altLang="zh-TW" sz="2400" dirty="0" smtClean="0">
                <a:latin typeface="+mn-lt"/>
                <a:ea typeface="標楷體" panose="03000509000000000000" pitchFamily="65" charset="-120"/>
              </a:rPr>
              <a:t>(</a:t>
            </a:r>
            <a:r>
              <a:rPr lang="zh-TW" altLang="en-US" sz="2400" dirty="0" smtClean="0">
                <a:latin typeface="+mn-lt"/>
                <a:ea typeface="標楷體" panose="03000509000000000000" pitchFamily="65" charset="-120"/>
              </a:rPr>
              <a:t>楊昌彪</a:t>
            </a:r>
            <a:r>
              <a:rPr lang="en-US" altLang="zh-TW" sz="2400" dirty="0" smtClean="0">
                <a:latin typeface="+mn-lt"/>
                <a:ea typeface="標楷體" panose="03000509000000000000" pitchFamily="65" charset="-120"/>
              </a:rPr>
              <a:t>)</a:t>
            </a:r>
          </a:p>
          <a:p>
            <a:pPr algn="l"/>
            <a:r>
              <a:rPr lang="en-US" altLang="zh-TW" sz="2400" dirty="0" smtClean="0">
                <a:latin typeface="+mn-lt"/>
                <a:ea typeface="標楷體" panose="03000509000000000000" pitchFamily="65" charset="-120"/>
              </a:rPr>
              <a:t>Date</a:t>
            </a:r>
            <a:r>
              <a:rPr lang="en-US" altLang="zh-TW" sz="2400" smtClean="0">
                <a:latin typeface="+mn-lt"/>
                <a:ea typeface="標楷體" panose="03000509000000000000" pitchFamily="65" charset="-120"/>
              </a:rPr>
              <a:t>: </a:t>
            </a:r>
            <a:r>
              <a:rPr lang="en-US" altLang="zh-TW" sz="2400" smtClean="0">
                <a:latin typeface="+mn-lt"/>
                <a:ea typeface="標楷體" panose="03000509000000000000" pitchFamily="65" charset="-120"/>
              </a:rPr>
              <a:t>July 1, </a:t>
            </a:r>
            <a:r>
              <a:rPr lang="en-US" altLang="zh-TW" sz="2400" dirty="0" smtClean="0">
                <a:latin typeface="+mn-lt"/>
                <a:ea typeface="標楷體" panose="03000509000000000000" pitchFamily="65" charset="-120"/>
              </a:rPr>
              <a:t>2014</a:t>
            </a:r>
            <a:endParaRPr lang="zh-TW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>
                <a:latin typeface="+mj-ea"/>
                <a:ea typeface="+mj-ea"/>
              </a:rPr>
              <a:t>2014/7/1</a:t>
            </a:r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1</a:t>
            </a:fld>
            <a:endParaRPr lang="zh-TW" altLang="en-US" dirty="0"/>
          </a:p>
        </p:txBody>
      </p:sp>
      <p:sp>
        <p:nvSpPr>
          <p:cNvPr id="6" name="副標題 2"/>
          <p:cNvSpPr txBox="1">
            <a:spLocks/>
          </p:cNvSpPr>
          <p:nvPr/>
        </p:nvSpPr>
        <p:spPr>
          <a:xfrm>
            <a:off x="1259632" y="5649613"/>
            <a:ext cx="6817568" cy="41319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63136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Introduction (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1/4)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18112"/>
          </a:xfrm>
        </p:spPr>
        <p:txBody>
          <a:bodyPr>
            <a:normAutofit lnSpcReduction="10000"/>
          </a:bodyPr>
          <a:lstStyle/>
          <a:p>
            <a:r>
              <a:rPr lang="en-US" altLang="zh-TW" sz="2700" dirty="0">
                <a:cs typeface="Times New Roman" panose="02020603050405020304" pitchFamily="18" charset="0"/>
              </a:rPr>
              <a:t>Protein Backbone Reconstruction Problem (PBRP)</a:t>
            </a:r>
          </a:p>
          <a:p>
            <a:pPr lvl="1"/>
            <a:r>
              <a:rPr lang="en-US" altLang="zh-TW" dirty="0">
                <a:cs typeface="Times New Roman" panose="02020603050405020304" pitchFamily="18" charset="0"/>
              </a:rPr>
              <a:t>Input: A protein sequence and its all C</a:t>
            </a:r>
            <a:r>
              <a:rPr lang="el-GR" altLang="zh-TW" dirty="0">
                <a:cs typeface="Times New Roman" panose="02020603050405020304" pitchFamily="18" charset="0"/>
              </a:rPr>
              <a:t>α</a:t>
            </a:r>
            <a:r>
              <a:rPr lang="en-US" altLang="zh-TW" dirty="0"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cs typeface="Times New Roman" panose="02020603050405020304" pitchFamily="18" charset="0"/>
              </a:rPr>
              <a:t>coordinates</a:t>
            </a:r>
            <a:endParaRPr lang="en-US" altLang="zh-TW" dirty="0">
              <a:cs typeface="Times New Roman" panose="02020603050405020304" pitchFamily="18" charset="0"/>
            </a:endParaRPr>
          </a:p>
          <a:p>
            <a:pPr lvl="1"/>
            <a:r>
              <a:rPr lang="en-US" altLang="zh-TW" dirty="0">
                <a:cs typeface="Times New Roman" panose="02020603050405020304" pitchFamily="18" charset="0"/>
              </a:rPr>
              <a:t>Output: The coordinates of  N, C and O atoms on the                     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US" altLang="zh-TW" dirty="0">
                <a:cs typeface="Times New Roman" panose="02020603050405020304" pitchFamily="18" charset="0"/>
              </a:rPr>
              <a:t>              </a:t>
            </a:r>
            <a:r>
              <a:rPr lang="en-US" altLang="zh-TW" dirty="0" smtClean="0">
                <a:cs typeface="Times New Roman" panose="02020603050405020304" pitchFamily="18" charset="0"/>
              </a:rPr>
              <a:t>     backbone</a:t>
            </a:r>
          </a:p>
          <a:p>
            <a:pPr lvl="1">
              <a:buFont typeface="Verdana" panose="020B0604030504040204" pitchFamily="34" charset="0"/>
              <a:buNone/>
            </a:pPr>
            <a:endParaRPr lang="en-US" altLang="zh-TW" sz="1600" dirty="0" smtClean="0">
              <a:cs typeface="Times New Roman" panose="02020603050405020304" pitchFamily="18" charset="0"/>
            </a:endParaRPr>
          </a:p>
          <a:p>
            <a:r>
              <a:rPr lang="en-US" altLang="zh-TW" dirty="0" smtClean="0"/>
              <a:t>Previous works:</a:t>
            </a:r>
          </a:p>
          <a:p>
            <a:pPr lvl="1"/>
            <a:r>
              <a:rPr lang="en-US" altLang="zh-TW" dirty="0"/>
              <a:t>SABBAC</a:t>
            </a:r>
          </a:p>
          <a:p>
            <a:pPr lvl="1"/>
            <a:r>
              <a:rPr lang="en-US" altLang="zh-TW" dirty="0"/>
              <a:t>BBQ (Backbone Building from Quadrilaterals) </a:t>
            </a:r>
          </a:p>
          <a:p>
            <a:pPr lvl="1"/>
            <a:r>
              <a:rPr lang="en-US" altLang="zh-TW" dirty="0"/>
              <a:t>Wang’s method </a:t>
            </a:r>
          </a:p>
          <a:p>
            <a:pPr lvl="1"/>
            <a:r>
              <a:rPr lang="en-US" altLang="zh-TW" dirty="0"/>
              <a:t>Chang’s </a:t>
            </a:r>
            <a:r>
              <a:rPr lang="en-US" altLang="zh-TW" dirty="0" smtClean="0"/>
              <a:t>method</a:t>
            </a:r>
          </a:p>
          <a:p>
            <a:pPr lvl="1"/>
            <a:r>
              <a:rPr lang="en-US" altLang="zh-TW" dirty="0" smtClean="0"/>
              <a:t>PD2</a:t>
            </a:r>
            <a:endParaRPr lang="en-US" altLang="zh-TW" dirty="0"/>
          </a:p>
          <a:p>
            <a:pPr lvl="1"/>
            <a:r>
              <a:rPr lang="en-US" altLang="zh-TW" dirty="0"/>
              <a:t>Chen’s method</a:t>
            </a:r>
          </a:p>
          <a:p>
            <a:pPr lvl="1"/>
            <a:r>
              <a:rPr lang="en-US" altLang="zh-TW" dirty="0" smtClean="0"/>
              <a:t>Wu’s method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xmlns="" val="315798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latin typeface="+mj-lt"/>
                <a:cs typeface="Times New Roman" pitchFamily="18" charset="0"/>
              </a:rPr>
              <a:t>Introduction (2/4)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851A24BB-DCE6-4956-8107-5DCB428DD48C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3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7171" name="內容版面配置區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5194920" cy="4937760"/>
          </a:xfrm>
        </p:spPr>
        <p:txBody>
          <a:bodyPr>
            <a:normAutofit/>
          </a:bodyPr>
          <a:lstStyle/>
          <a:p>
            <a:r>
              <a:rPr lang="en-US" altLang="zh-TW" sz="2700" dirty="0" smtClean="0">
                <a:latin typeface="+mj-lt"/>
                <a:cs typeface="Times New Roman" panose="02020603050405020304" pitchFamily="18" charset="0"/>
              </a:rPr>
              <a:t>A protein is a consecutive chain of amino acids.</a:t>
            </a:r>
          </a:p>
          <a:p>
            <a:pPr>
              <a:buFont typeface="Wingdings 2" panose="05020102010507070707" pitchFamily="18" charset="2"/>
              <a:buNone/>
            </a:pPr>
            <a:endParaRPr lang="zh-TW" altLang="en-US" sz="2700" dirty="0" smtClean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084860686"/>
              </p:ext>
            </p:extLst>
          </p:nvPr>
        </p:nvGraphicFramePr>
        <p:xfrm>
          <a:off x="5652120" y="247218"/>
          <a:ext cx="3465429" cy="613411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7814"/>
                <a:gridCol w="1129383"/>
                <a:gridCol w="1008112"/>
                <a:gridCol w="1080120"/>
              </a:tblGrid>
              <a:tr h="641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Amino Acid</a:t>
                      </a:r>
                      <a:endParaRPr kumimoji="0" lang="zh-TW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Three-letter Abbreviation</a:t>
                      </a:r>
                      <a:endParaRPr kumimoji="0" lang="zh-TW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One-letter Abbreviation</a:t>
                      </a:r>
                      <a:endParaRPr kumimoji="0" lang="zh-TW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effectLst/>
                        </a:rPr>
                        <a:t>  Alanine  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Ala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A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Arginine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Arg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R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Asparagine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Asn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N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altLang="zh-TW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Aspartic Acid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effectLst/>
                        </a:rPr>
                        <a:t>Asp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D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Cysteine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Cys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C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Glutamic Acid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Glu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Glutamine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Gln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effectLst/>
                        </a:rPr>
                        <a:t>Q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Glycine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Gly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G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9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Histidine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His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H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Isoleucine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Ile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I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11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Leucine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Leu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effectLst/>
                        </a:rPr>
                        <a:t>L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12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Lysine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Lys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K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13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Methionine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Met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M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14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Phenylalanine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Phe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F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15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Proline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Pro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P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16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Serine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Ser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S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17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Threonine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Thr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T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Tryptophan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Trp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W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19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Tyrosine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Tyr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Y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</a:t>
                      </a:r>
                      <a:endParaRPr kumimoji="0" lang="en-US" altLang="zh-TW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Valine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Val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effectLst/>
                        </a:rPr>
                        <a:t>V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285" name="文字方塊 7"/>
          <p:cNvSpPr txBox="1">
            <a:spLocks noChangeArrowheads="1"/>
          </p:cNvSpPr>
          <p:nvPr/>
        </p:nvSpPr>
        <p:spPr bwMode="auto">
          <a:xfrm>
            <a:off x="1979712" y="5986463"/>
            <a:ext cx="367240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+mj-lt"/>
                <a:cs typeface="Times New Roman" panose="02020603050405020304" pitchFamily="18" charset="0"/>
              </a:rPr>
              <a:t>The fundamental structure of </a:t>
            </a:r>
            <a:r>
              <a:rPr lang="en-US" altLang="zh-TW" dirty="0" smtClean="0">
                <a:latin typeface="+mj-lt"/>
                <a:cs typeface="Times New Roman" panose="02020603050405020304" pitchFamily="18" charset="0"/>
              </a:rPr>
              <a:t>Alanine.</a:t>
            </a:r>
            <a:endParaRPr lang="zh-TW" altLang="en-US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413739942"/>
              </p:ext>
            </p:extLst>
          </p:nvPr>
        </p:nvGraphicFramePr>
        <p:xfrm>
          <a:off x="2880172" y="4473848"/>
          <a:ext cx="2555924" cy="1651520"/>
        </p:xfrm>
        <a:graphic>
          <a:graphicData uri="http://schemas.openxmlformats.org/presentationml/2006/ole">
            <p:oleObj spid="_x0000_s1195" name="Visio" r:id="rId3" imgW="3095774" imgH="2000402" progId="">
              <p:embed/>
            </p:oleObj>
          </a:graphicData>
        </a:graphic>
      </p:graphicFrame>
      <p:pic>
        <p:nvPicPr>
          <p:cNvPr id="7189" name="圖片 71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0" y="2044700"/>
            <a:ext cx="3820390" cy="281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87064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latin typeface="+mn-lt"/>
                <a:cs typeface="Times New Roman" pitchFamily="18" charset="0"/>
              </a:rPr>
              <a:t>Introduction (3/4)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8EF545FD-5CDB-40AD-9FE3-AF0AB5BE1918}" type="slidenum">
              <a:rPr kumimoji="0" lang="zh-TW" altLang="en-US">
                <a:solidFill>
                  <a:srgbClr val="045C75"/>
                </a:solidFill>
                <a:latin typeface="+mn-lt"/>
              </a:rPr>
              <a:pPr eaLnBrk="1" hangingPunct="1"/>
              <a:t>4</a:t>
            </a:fld>
            <a:endParaRPr kumimoji="0" lang="zh-TW" altLang="en-US">
              <a:solidFill>
                <a:srgbClr val="045C75"/>
              </a:solidFill>
              <a:latin typeface="+mn-lt"/>
            </a:endParaRPr>
          </a:p>
        </p:txBody>
      </p:sp>
      <p:sp>
        <p:nvSpPr>
          <p:cNvPr id="8195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2700" dirty="0" smtClean="0">
                <a:latin typeface="+mn-lt"/>
                <a:cs typeface="Times New Roman" panose="02020603050405020304" pitchFamily="18" charset="0"/>
              </a:rPr>
              <a:t>Peptide bond and backbone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574" y="2340536"/>
            <a:ext cx="5682851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2122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Introduction (</a:t>
            </a:r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4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/4)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2D4784D-9477-4206-A6E4-590B961B7069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5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9219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/>
              <a:t>Critical </a:t>
            </a:r>
            <a:r>
              <a:rPr lang="en-US" altLang="zh-TW" sz="2400" dirty="0"/>
              <a:t>assessment of protein structure </a:t>
            </a:r>
            <a:r>
              <a:rPr lang="en-US" altLang="zh-TW" sz="2400" dirty="0" smtClean="0"/>
              <a:t>prediction (</a:t>
            </a:r>
            <a:r>
              <a:rPr lang="en-US" altLang="zh-TW" sz="2400" dirty="0" smtClean="0">
                <a:cs typeface="Times New Roman" panose="02020603050405020304" pitchFamily="18" charset="0"/>
              </a:rPr>
              <a:t>CASP)</a:t>
            </a:r>
            <a:r>
              <a:rPr lang="en-US" altLang="zh-TW" sz="2400" dirty="0"/>
              <a:t> is a </a:t>
            </a:r>
            <a:r>
              <a:rPr lang="en-US" altLang="zh-TW" sz="2400" dirty="0" smtClean="0"/>
              <a:t>world-wide </a:t>
            </a:r>
            <a:r>
              <a:rPr lang="en-US" altLang="zh-TW" sz="2400" dirty="0"/>
              <a:t>experiments and contest for protein structure </a:t>
            </a:r>
            <a:r>
              <a:rPr lang="en-US" altLang="zh-TW" sz="2400" dirty="0" smtClean="0"/>
              <a:t>prediction.</a:t>
            </a:r>
            <a:endParaRPr lang="en-US" altLang="zh-TW" sz="2400" dirty="0" smtClean="0">
              <a:cs typeface="Times New Roman" panose="02020603050405020304" pitchFamily="18" charset="0"/>
            </a:endParaRPr>
          </a:p>
          <a:p>
            <a:r>
              <a:rPr lang="en-US" altLang="zh-TW" sz="2400" dirty="0" smtClean="0"/>
              <a:t>Protein </a:t>
            </a:r>
            <a:r>
              <a:rPr lang="en-US" altLang="zh-TW" sz="2400" dirty="0"/>
              <a:t>data bank </a:t>
            </a:r>
            <a:r>
              <a:rPr lang="en-US" altLang="zh-TW" sz="2400" dirty="0" smtClean="0"/>
              <a:t>(</a:t>
            </a:r>
            <a:r>
              <a:rPr lang="en-US" altLang="zh-TW" sz="2400" dirty="0" smtClean="0">
                <a:cs typeface="Times New Roman" panose="02020603050405020304" pitchFamily="18" charset="0"/>
              </a:rPr>
              <a:t>PDB)</a:t>
            </a:r>
            <a:r>
              <a:rPr lang="en-US" altLang="zh-TW" sz="2400" dirty="0"/>
              <a:t> </a:t>
            </a:r>
            <a:r>
              <a:rPr lang="en-US" altLang="zh-TW" sz="2400" dirty="0" smtClean="0"/>
              <a:t>archive</a:t>
            </a:r>
            <a:r>
              <a:rPr lang="en-US" altLang="zh-TW" sz="2400" dirty="0"/>
              <a:t> contains </a:t>
            </a:r>
            <a:r>
              <a:rPr lang="en-US" altLang="zh-TW" sz="2400" dirty="0" smtClean="0"/>
              <a:t>information about </a:t>
            </a:r>
            <a:r>
              <a:rPr lang="en-US" altLang="zh-TW" sz="2400" dirty="0"/>
              <a:t>the 3D structures of proteins and nucleic acids.</a:t>
            </a:r>
            <a:endParaRPr lang="en-US" altLang="zh-TW" sz="2400" dirty="0">
              <a:cs typeface="Times New Roman" panose="02020603050405020304" pitchFamily="18" charset="0"/>
            </a:endParaRPr>
          </a:p>
          <a:p>
            <a:pPr lvl="1">
              <a:buFont typeface="Verdana" panose="020B0604030504040204" pitchFamily="34" charset="0"/>
              <a:buNone/>
            </a:pPr>
            <a:endParaRPr lang="en-US" altLang="zh-TW" sz="2400" dirty="0" smtClean="0">
              <a:cs typeface="Times New Roman" panose="02020603050405020304" pitchFamily="18" charset="0"/>
            </a:endParaRPr>
          </a:p>
          <a:p>
            <a:pPr lvl="1"/>
            <a:endParaRPr lang="en-US" altLang="zh-TW" sz="2400" dirty="0" smtClean="0">
              <a:cs typeface="Times New Roman" panose="02020603050405020304" pitchFamily="18" charset="0"/>
            </a:endParaRPr>
          </a:p>
          <a:p>
            <a:endParaRPr lang="en-US" altLang="zh-TW" sz="2400" dirty="0" smtClean="0">
              <a:cs typeface="Times New Roman" panose="02020603050405020304" pitchFamily="18" charset="0"/>
            </a:endParaRPr>
          </a:p>
          <a:p>
            <a:endParaRPr lang="en-US" altLang="zh-TW" sz="2400" dirty="0" smtClean="0"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endParaRPr lang="en-US" altLang="zh-TW" sz="2400" dirty="0" smtClean="0"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3412865"/>
            <a:ext cx="4956795" cy="253929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691680" y="5949280"/>
            <a:ext cx="62646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+mj-lt"/>
              </a:rPr>
              <a:t>The numbers of the protein structures deposited to PDB per </a:t>
            </a:r>
            <a:r>
              <a:rPr lang="en-US" altLang="zh-TW" dirty="0" smtClean="0">
                <a:latin typeface="+mj-lt"/>
              </a:rPr>
              <a:t>year.</a:t>
            </a:r>
            <a:endParaRPr lang="zh-TW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91021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latin typeface="+mn-lt"/>
                <a:cs typeface="Times New Roman" pitchFamily="18" charset="0"/>
              </a:rPr>
              <a:t>Root Mean Square Deviation (RMSD)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6ABDA60-A55B-4C14-9C65-C80651196F69}" type="slidenum">
              <a:rPr kumimoji="0" lang="zh-TW" altLang="en-US">
                <a:solidFill>
                  <a:srgbClr val="045C75"/>
                </a:solidFill>
                <a:latin typeface="+mn-lt"/>
              </a:rPr>
              <a:pPr eaLnBrk="1" hangingPunct="1"/>
              <a:t>6</a:t>
            </a:fld>
            <a:endParaRPr kumimoji="0" lang="zh-TW" altLang="en-US">
              <a:solidFill>
                <a:srgbClr val="045C75"/>
              </a:solidFill>
              <a:latin typeface="+mn-lt"/>
            </a:endParaRPr>
          </a:p>
        </p:txBody>
      </p:sp>
      <p:sp>
        <p:nvSpPr>
          <p:cNvPr id="1028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2800" dirty="0" smtClean="0">
                <a:latin typeface="+mn-lt"/>
                <a:cs typeface="Times New Roman" panose="02020603050405020304" pitchFamily="18" charset="0"/>
              </a:rPr>
              <a:t>The RMSD is a measure of similarity between a predicted structure and a real one.</a:t>
            </a:r>
          </a:p>
          <a:p>
            <a:r>
              <a:rPr lang="en-US" altLang="zh-TW" sz="2800" dirty="0" smtClean="0">
                <a:latin typeface="+mn-lt"/>
                <a:cs typeface="Times New Roman" panose="02020603050405020304" pitchFamily="18" charset="0"/>
              </a:rPr>
              <a:t>RMSD formula:</a:t>
            </a:r>
          </a:p>
          <a:p>
            <a:endParaRPr lang="en-US" altLang="zh-TW" sz="2800" dirty="0" smtClean="0">
              <a:latin typeface="+mn-lt"/>
              <a:cs typeface="Times New Roman" panose="02020603050405020304" pitchFamily="18" charset="0"/>
            </a:endParaRPr>
          </a:p>
          <a:p>
            <a:endParaRPr lang="zh-TW" altLang="en-US" sz="2800" dirty="0" smtClean="0">
              <a:latin typeface="+mn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文字方塊 1"/>
              <p:cNvSpPr txBox="1"/>
              <p:nvPr/>
            </p:nvSpPr>
            <p:spPr>
              <a:xfrm>
                <a:off x="457200" y="2780928"/>
                <a:ext cx="3826768" cy="11973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𝑅𝑀𝑆𝐷</m:t>
                      </m:r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p>
                                      </m:sSubSup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80928"/>
                <a:ext cx="3826768" cy="119737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991" y="2403649"/>
            <a:ext cx="4138786" cy="375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98338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Support Vector Machine (SVM)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0DA8CE4E-83FD-4749-8274-A90665781FDD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7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3315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SVM </a:t>
            </a:r>
            <a:r>
              <a:rPr lang="en-US" altLang="zh-TW" sz="2800" dirty="0"/>
              <a:t>is a supervised learning model which can be applied to classification or regression.</a:t>
            </a:r>
            <a:endParaRPr lang="en-US" altLang="zh-TW" sz="2800" dirty="0" smtClean="0"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536" y="2391974"/>
            <a:ext cx="3886698" cy="3841186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77" y="2924944"/>
            <a:ext cx="3270658" cy="310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14848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Previous Work (1/2)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E441B26-F980-4D78-8906-8A71B8F21814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8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339" name="內容版面配置區 2"/>
          <p:cNvSpPr>
            <a:spLocks noGrp="1"/>
          </p:cNvSpPr>
          <p:nvPr>
            <p:ph sz="quarter" idx="1"/>
          </p:nvPr>
        </p:nvSpPr>
        <p:spPr>
          <a:xfrm>
            <a:off x="0" y="1219200"/>
            <a:ext cx="3707904" cy="4937760"/>
          </a:xfrm>
        </p:spPr>
        <p:txBody>
          <a:bodyPr>
            <a:normAutofit/>
          </a:bodyPr>
          <a:lstStyle/>
          <a:p>
            <a:r>
              <a:rPr lang="en-US" altLang="zh-TW" sz="2800" dirty="0" smtClean="0">
                <a:cs typeface="Times New Roman" panose="02020603050405020304" pitchFamily="18" charset="0"/>
              </a:rPr>
              <a:t>Chen determines the tool to be used on N, C and O atoms of each protein. </a:t>
            </a:r>
          </a:p>
          <a:p>
            <a:r>
              <a:rPr lang="en-US" altLang="zh-TW" sz="2800" dirty="0" smtClean="0">
                <a:cs typeface="Times New Roman" panose="02020603050405020304" pitchFamily="18" charset="0"/>
              </a:rPr>
              <a:t>The feature vector are derived from a coding rule which applied on the 9 common properties of amino </a:t>
            </a:r>
            <a:r>
              <a:rPr lang="en-US" altLang="zh-TW" sz="2800" dirty="0">
                <a:cs typeface="Times New Roman" panose="02020603050405020304" pitchFamily="18" charset="0"/>
              </a:rPr>
              <a:t>acids of each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protein.</a:t>
            </a:r>
          </a:p>
        </p:txBody>
      </p:sp>
      <p:grpSp>
        <p:nvGrpSpPr>
          <p:cNvPr id="7" name="群組 6"/>
          <p:cNvGrpSpPr/>
          <p:nvPr/>
        </p:nvGrpSpPr>
        <p:grpSpPr>
          <a:xfrm>
            <a:off x="3579494" y="653179"/>
            <a:ext cx="5572126" cy="6204821"/>
            <a:chOff x="3579494" y="653179"/>
            <a:chExt cx="5572126" cy="6204821"/>
          </a:xfrm>
        </p:grpSpPr>
        <p:pic>
          <p:nvPicPr>
            <p:cNvPr id="14341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 xmlns="">
                    <a14:imgLayer r:embed="rId3">
                      <a14:imgEffect>
                        <a14:backgroundRemoval t="0" b="100000" l="0" r="100000">
                          <a14:backgroundMark x1="1979" y1="8412" x2="20449" y2="8175"/>
                          <a14:backgroundMark x1="19393" y1="8175" x2="25462" y2="237"/>
                          <a14:backgroundMark x1="24934" y1="237" x2="13456" y2="0"/>
                          <a14:backgroundMark x1="792" y1="11137" x2="1055" y2="237"/>
                          <a14:backgroundMark x1="3298" y1="8649" x2="0" y2="864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9494" y="653179"/>
              <a:ext cx="5572126" cy="62048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65194" y="4240826"/>
              <a:ext cx="360040" cy="1088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xmlns="" val="4187964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Previous Work (2/2</a:t>
            </a:r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E441B26-F980-4D78-8906-8A71B8F21814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9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339" name="內容版面配置區 2"/>
          <p:cNvSpPr>
            <a:spLocks noGrp="1"/>
          </p:cNvSpPr>
          <p:nvPr>
            <p:ph sz="quarter" idx="1"/>
          </p:nvPr>
        </p:nvSpPr>
        <p:spPr>
          <a:xfrm>
            <a:off x="0" y="1219200"/>
            <a:ext cx="4788024" cy="4937760"/>
          </a:xfrm>
        </p:spPr>
        <p:txBody>
          <a:bodyPr/>
          <a:lstStyle/>
          <a:p>
            <a:r>
              <a:rPr lang="en-US" altLang="zh-TW" sz="2800" dirty="0" smtClean="0">
                <a:cs typeface="Times New Roman" panose="02020603050405020304" pitchFamily="18" charset="0"/>
              </a:rPr>
              <a:t>Wu </a:t>
            </a:r>
            <a:r>
              <a:rPr lang="en-US" altLang="zh-TW" sz="2800" dirty="0">
                <a:cs typeface="Times New Roman" panose="02020603050405020304" pitchFamily="18" charset="0"/>
              </a:rPr>
              <a:t>modified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the Chen’s method.</a:t>
            </a:r>
          </a:p>
          <a:p>
            <a:r>
              <a:rPr lang="en-US" altLang="zh-TW" sz="2800" dirty="0">
                <a:cs typeface="Times New Roman" panose="02020603050405020304" pitchFamily="18" charset="0"/>
              </a:rPr>
              <a:t>The feature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vector </a:t>
            </a:r>
            <a:r>
              <a:rPr lang="en-US" altLang="zh-TW" sz="2800" dirty="0">
                <a:cs typeface="Times New Roman" panose="02020603050405020304" pitchFamily="18" charset="0"/>
              </a:rPr>
              <a:t>were derived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from 13 common properties of amino </a:t>
            </a:r>
            <a:r>
              <a:rPr lang="en-US" altLang="zh-TW" sz="2800" dirty="0">
                <a:cs typeface="Times New Roman" panose="02020603050405020304" pitchFamily="18" charset="0"/>
              </a:rPr>
              <a:t>acids of each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protein and </a:t>
            </a:r>
            <a:r>
              <a:rPr lang="en-US" altLang="zh-TW" sz="2800" dirty="0">
                <a:cs typeface="Times New Roman" panose="02020603050405020304" pitchFamily="18" charset="0"/>
              </a:rPr>
              <a:t>the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properties of </a:t>
            </a:r>
            <a:r>
              <a:rPr lang="en-US" altLang="zh-TW" sz="2800" dirty="0">
                <a:cs typeface="Times New Roman" panose="02020603050405020304" pitchFamily="18" charset="0"/>
              </a:rPr>
              <a:t>the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adjacent </a:t>
            </a:r>
            <a:r>
              <a:rPr lang="en-US" altLang="zh-TW" sz="2800" dirty="0">
                <a:cs typeface="Times New Roman" panose="02020603050405020304" pitchFamily="18" charset="0"/>
              </a:rPr>
              <a:t>amino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acids.</a:t>
            </a:r>
            <a:endParaRPr lang="en-US" altLang="zh-TW" sz="2800" dirty="0">
              <a:cs typeface="Times New Roman" panose="02020603050405020304" pitchFamily="18" charset="0"/>
            </a:endParaRPr>
          </a:p>
          <a:p>
            <a:endParaRPr lang="en-US" altLang="zh-TW" sz="2800" dirty="0" smtClean="0">
              <a:cs typeface="Times New Roman" panose="02020603050405020304" pitchFamily="18" charset="0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17720" y="0"/>
            <a:ext cx="45307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4500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Previous Work (2/2</a:t>
            </a:r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E441B26-F980-4D78-8906-8A71B8F21814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10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868" y="4767234"/>
            <a:ext cx="6725214" cy="2088435"/>
          </a:xfrm>
          <a:prstGeom prst="rect">
            <a:avLst/>
          </a:prstGeom>
        </p:spPr>
      </p:pic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>
          <a:xfrm>
            <a:off x="0" y="1219200"/>
            <a:ext cx="3203848" cy="4937760"/>
          </a:xfrm>
        </p:spPr>
        <p:txBody>
          <a:bodyPr/>
          <a:lstStyle/>
          <a:p>
            <a:r>
              <a:rPr lang="en-US" altLang="zh-TW" dirty="0" smtClean="0"/>
              <a:t> Wu extracts the </a:t>
            </a:r>
            <a:r>
              <a:rPr lang="en-US" altLang="zh-TW" dirty="0"/>
              <a:t>feature sets by </a:t>
            </a:r>
            <a:r>
              <a:rPr lang="en-US" altLang="zh-TW" dirty="0" smtClean="0"/>
              <a:t>5 different </a:t>
            </a:r>
            <a:r>
              <a:rPr lang="en-US" altLang="zh-TW" dirty="0"/>
              <a:t>combinations which are selected arbitrarily.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152400"/>
            <a:ext cx="6059394" cy="461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77649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Our Method (1/5)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8DC7A06-82B7-4DED-93BE-CCD9A0C12253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11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536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2800" dirty="0">
                <a:cs typeface="Times New Roman" panose="02020603050405020304" pitchFamily="18" charset="0"/>
              </a:rPr>
              <a:t>Our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Method is based on Wu’s </a:t>
            </a:r>
            <a:r>
              <a:rPr lang="en-US" altLang="zh-TW" sz="2800" dirty="0">
                <a:cs typeface="Times New Roman" panose="02020603050405020304" pitchFamily="18" charset="0"/>
              </a:rPr>
              <a:t>method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which determines the tool to be used.</a:t>
            </a:r>
          </a:p>
          <a:p>
            <a:r>
              <a:rPr lang="en-US" altLang="zh-TW" sz="2800" dirty="0">
                <a:cs typeface="Times New Roman" panose="02020603050405020304" pitchFamily="18" charset="0"/>
              </a:rPr>
              <a:t>We aim to </a:t>
            </a:r>
            <a:r>
              <a:rPr lang="en-US" altLang="zh-TW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select significant features</a:t>
            </a:r>
            <a:r>
              <a:rPr lang="en-US" altLang="zh-TW" sz="2800" dirty="0">
                <a:cs typeface="Times New Roman" panose="02020603050405020304" pitchFamily="18" charset="0"/>
              </a:rPr>
              <a:t> to obtain higher accuracy and </a:t>
            </a:r>
            <a:r>
              <a:rPr lang="en-US" altLang="zh-TW" sz="2800" dirty="0"/>
              <a:t>increase the </a:t>
            </a:r>
            <a:r>
              <a:rPr lang="en-US" altLang="zh-TW" sz="2800" dirty="0" smtClean="0"/>
              <a:t>efficiency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.</a:t>
            </a:r>
            <a:endParaRPr lang="zh-TW" altLang="en-US" sz="2800" dirty="0">
              <a:cs typeface="Times New Roman" panose="02020603050405020304" pitchFamily="18" charset="0"/>
            </a:endParaRPr>
          </a:p>
          <a:p>
            <a:r>
              <a:rPr lang="en-US" altLang="zh-TW" sz="2800" dirty="0" smtClean="0">
                <a:cs typeface="Times New Roman" panose="02020603050405020304" pitchFamily="18" charset="0"/>
              </a:rPr>
              <a:t>We further use </a:t>
            </a:r>
            <a:r>
              <a:rPr lang="en-US" altLang="zh-TW" sz="28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136 properties of amino acids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(from </a:t>
            </a:r>
            <a:r>
              <a:rPr lang="en-US" altLang="zh-TW" sz="2800" dirty="0" err="1" smtClean="0">
                <a:cs typeface="Times New Roman" panose="02020603050405020304" pitchFamily="18" charset="0"/>
              </a:rPr>
              <a:t>AAindex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 </a:t>
            </a:r>
            <a:r>
              <a:rPr lang="en-US" altLang="zh-TW" sz="2800" dirty="0"/>
              <a:t>ver.9.1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) as the training features.</a:t>
            </a:r>
          </a:p>
          <a:p>
            <a:r>
              <a:rPr lang="en-US" altLang="zh-TW" sz="2800" dirty="0" smtClean="0">
                <a:cs typeface="Times New Roman" panose="02020603050405020304" pitchFamily="18" charset="0"/>
              </a:rPr>
              <a:t>In order to </a:t>
            </a:r>
            <a:r>
              <a:rPr lang="en-US" altLang="zh-TW" sz="2800" dirty="0">
                <a:cs typeface="Times New Roman" panose="02020603050405020304" pitchFamily="18" charset="0"/>
              </a:rPr>
              <a:t>balance the significance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of each property of </a:t>
            </a:r>
            <a:r>
              <a:rPr lang="en-US" altLang="zh-TW" sz="2800" dirty="0">
                <a:cs typeface="Times New Roman" panose="02020603050405020304" pitchFamily="18" charset="0"/>
              </a:rPr>
              <a:t>amino acids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, we modified </a:t>
            </a:r>
            <a:r>
              <a:rPr lang="en-US" altLang="zh-TW" sz="2800" dirty="0">
                <a:cs typeface="Times New Roman" panose="02020603050405020304" pitchFamily="18" charset="0"/>
              </a:rPr>
              <a:t>Wu’s method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on the feature vectors </a:t>
            </a:r>
            <a:r>
              <a:rPr lang="en-US" altLang="zh-TW" sz="2800" dirty="0">
                <a:cs typeface="Times New Roman" panose="02020603050405020304" pitchFamily="18" charset="0"/>
              </a:rPr>
              <a:t>by </a:t>
            </a:r>
            <a:r>
              <a:rPr lang="en-US" altLang="zh-TW" sz="28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normalizing the properties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.</a:t>
            </a:r>
          </a:p>
          <a:p>
            <a:endParaRPr lang="zh-TW" altLang="en-US" sz="2800" dirty="0" smtClean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35725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Our Method (2/5)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8DC7A06-82B7-4DED-93BE-CCD9A0C12253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12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536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2800" dirty="0"/>
              <a:t>A </a:t>
            </a:r>
            <a:r>
              <a:rPr lang="en-US" altLang="zh-TW" sz="2800" dirty="0">
                <a:solidFill>
                  <a:srgbClr val="FF0000"/>
                </a:solidFill>
              </a:rPr>
              <a:t>grid-search</a:t>
            </a:r>
            <a:r>
              <a:rPr lang="en-US" altLang="zh-TW" sz="2800" dirty="0"/>
              <a:t> technique was used to determine the best parameters</a:t>
            </a:r>
            <a:r>
              <a:rPr lang="en-US" altLang="zh-TW" sz="2800" dirty="0" smtClean="0"/>
              <a:t>, </a:t>
            </a:r>
            <a:r>
              <a:rPr lang="en-US" altLang="zh-TW" sz="2800" i="1" dirty="0" smtClean="0"/>
              <a:t>cost</a:t>
            </a:r>
            <a:r>
              <a:rPr lang="en-US" altLang="zh-TW" sz="2800" dirty="0" smtClean="0"/>
              <a:t> and </a:t>
            </a:r>
            <a:r>
              <a:rPr lang="el-GR" altLang="zh-TW" sz="2800" i="1" dirty="0" smtClean="0">
                <a:latin typeface="Calibri" panose="020F0502020204030204" pitchFamily="34" charset="0"/>
              </a:rPr>
              <a:t>γ</a:t>
            </a:r>
            <a:r>
              <a:rPr lang="en-US" altLang="zh-TW" sz="2800" dirty="0" smtClean="0"/>
              <a:t>. </a:t>
            </a:r>
            <a:r>
              <a:rPr lang="en-US" altLang="zh-TW" sz="2800" dirty="0"/>
              <a:t>The two parameters were limit in </a:t>
            </a:r>
            <a:r>
              <a:rPr lang="en-US" altLang="zh-TW" sz="2800" dirty="0" smtClean="0"/>
              <a:t>2</a:t>
            </a:r>
            <a:r>
              <a:rPr lang="en-US" altLang="zh-TW" sz="2800" baseline="30000" dirty="0" smtClean="0"/>
              <a:t>-10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to </a:t>
            </a:r>
            <a:r>
              <a:rPr lang="en-US" altLang="zh-TW" sz="2800" dirty="0" smtClean="0"/>
              <a:t>2</a:t>
            </a:r>
            <a:r>
              <a:rPr lang="en-US" altLang="zh-TW" sz="2800" baseline="30000" dirty="0" smtClean="0"/>
              <a:t>-5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and </a:t>
            </a:r>
            <a:r>
              <a:rPr lang="en-US" altLang="zh-TW" sz="2800" dirty="0" smtClean="0"/>
              <a:t>2</a:t>
            </a:r>
            <a:r>
              <a:rPr lang="en-US" altLang="zh-TW" sz="2800" baseline="30000" dirty="0" smtClean="0"/>
              <a:t>-3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to </a:t>
            </a:r>
            <a:r>
              <a:rPr lang="en-US" altLang="zh-TW" sz="2800" dirty="0" smtClean="0"/>
              <a:t>2</a:t>
            </a:r>
            <a:r>
              <a:rPr lang="en-US" altLang="zh-TW" sz="2800" baseline="30000" dirty="0" smtClean="0"/>
              <a:t>2</a:t>
            </a:r>
            <a:r>
              <a:rPr lang="en-US" altLang="zh-TW" sz="2800" dirty="0" smtClean="0"/>
              <a:t>, </a:t>
            </a:r>
            <a:r>
              <a:rPr lang="en-US" altLang="zh-TW" sz="2800" dirty="0"/>
              <a:t>respectively.</a:t>
            </a:r>
            <a:endParaRPr lang="zh-TW" altLang="en-US" sz="2800" dirty="0" smtClean="0"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2636511"/>
            <a:ext cx="5167114" cy="370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57568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Our Method (</a:t>
            </a:r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3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/5)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8DC7A06-82B7-4DED-93BE-CCD9A0C12253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13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536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2800" dirty="0"/>
              <a:t>S</a:t>
            </a:r>
            <a:r>
              <a:rPr lang="en-US" altLang="zh-TW" sz="2800" dirty="0" smtClean="0"/>
              <a:t>ingular </a:t>
            </a:r>
            <a:r>
              <a:rPr lang="en-US" altLang="zh-TW" sz="2800" dirty="0"/>
              <a:t>value </a:t>
            </a:r>
            <a:r>
              <a:rPr lang="en-US" altLang="zh-TW" sz="2800" dirty="0" smtClean="0"/>
              <a:t>decomposition (SVD)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is used in our method for </a:t>
            </a:r>
            <a:r>
              <a:rPr lang="en-US" altLang="zh-TW" sz="2800" dirty="0" smtClean="0">
                <a:solidFill>
                  <a:srgbClr val="FF0000"/>
                </a:solidFill>
              </a:rPr>
              <a:t>dimensionality reduction</a:t>
            </a:r>
            <a:r>
              <a:rPr lang="en-US" altLang="zh-TW" sz="2800" dirty="0" smtClean="0"/>
              <a:t>.</a:t>
            </a:r>
            <a:endParaRPr lang="zh-TW" altLang="en-US" sz="2800" dirty="0" smtClean="0">
              <a:cs typeface="Times New Roman" panose="02020603050405020304" pitchFamily="18" charset="0"/>
            </a:endParaRPr>
          </a:p>
        </p:txBody>
      </p:sp>
      <p:pic>
        <p:nvPicPr>
          <p:cNvPr id="2052" name="Picture 4" descr="http://ccjou.files.wordpress.com/2009/09/svd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5923" b="25398"/>
          <a:stretch/>
        </p:blipFill>
        <p:spPr bwMode="auto">
          <a:xfrm>
            <a:off x="606414" y="2262836"/>
            <a:ext cx="3860654" cy="1699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14" y="4085065"/>
            <a:ext cx="4420558" cy="227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75982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Our Method (4/5)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8DC7A06-82B7-4DED-93BE-CCD9A0C12253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14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536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2800" dirty="0"/>
              <a:t>Fisher score </a:t>
            </a:r>
            <a:r>
              <a:rPr lang="en-US" altLang="zh-TW" sz="2800" dirty="0" smtClean="0"/>
              <a:t>measure each </a:t>
            </a:r>
            <a:r>
              <a:rPr lang="en-US" altLang="zh-TW" sz="2800" dirty="0"/>
              <a:t>feature independently according to their scores under the Fisher criterion.</a:t>
            </a:r>
            <a:endParaRPr lang="en-US" altLang="zh-TW" sz="2800" dirty="0" smtClean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文字方塊 3"/>
              <p:cNvSpPr txBox="1"/>
              <p:nvPr/>
            </p:nvSpPr>
            <p:spPr>
              <a:xfrm>
                <a:off x="612648" y="3717032"/>
                <a:ext cx="2310441" cy="7618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sz="24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" y="3717032"/>
                <a:ext cx="2310441" cy="76181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2980029"/>
            <a:ext cx="4860032" cy="334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89530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Our Method (5/5)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8DC7A06-82B7-4DED-93BE-CCD9A0C12253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15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536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2800" dirty="0"/>
              <a:t>Distance correlation is another method used to </a:t>
            </a:r>
            <a:r>
              <a:rPr lang="en-US" altLang="zh-TW" sz="2800" dirty="0">
                <a:solidFill>
                  <a:srgbClr val="FF0000"/>
                </a:solidFill>
              </a:rPr>
              <a:t>measure the statistical </a:t>
            </a:r>
            <a:r>
              <a:rPr lang="en-US" altLang="zh-TW" sz="2800" dirty="0" smtClean="0">
                <a:solidFill>
                  <a:srgbClr val="FF0000"/>
                </a:solidFill>
              </a:rPr>
              <a:t>dependence </a:t>
            </a:r>
            <a:r>
              <a:rPr lang="en-US" altLang="zh-TW" sz="2800" dirty="0"/>
              <a:t>between two </a:t>
            </a:r>
            <a:r>
              <a:rPr lang="en-US" altLang="zh-TW" sz="2800" dirty="0" smtClean="0"/>
              <a:t>vectors.</a:t>
            </a:r>
          </a:p>
          <a:p>
            <a:r>
              <a:rPr lang="en-US" altLang="zh-TW" sz="2800" dirty="0" smtClean="0"/>
              <a:t>Not </a:t>
            </a:r>
            <a:r>
              <a:rPr lang="en-US" altLang="zh-TW" sz="2800" dirty="0"/>
              <a:t>necessarily equal </a:t>
            </a:r>
            <a:r>
              <a:rPr lang="en-US" altLang="zh-TW" sz="2800" dirty="0" smtClean="0"/>
              <a:t>dimension</a:t>
            </a:r>
            <a:r>
              <a:rPr lang="en-US" altLang="zh-TW" sz="2800" dirty="0"/>
              <a:t>.</a:t>
            </a:r>
            <a:endParaRPr lang="en-US" altLang="zh-TW" sz="2800" dirty="0" smtClean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221355"/>
            <a:ext cx="4157933" cy="816588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4231005"/>
            <a:ext cx="5949428" cy="799923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7" y="5190362"/>
            <a:ext cx="4824536" cy="80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12136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Experimental 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Results</a:t>
            </a:r>
            <a:endParaRPr lang="zh-TW" altLang="en-US" dirty="0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B557DE00-8D85-4E77-B7F6-3B2DD4C7DFD2}" type="slidenum">
              <a:rPr kumimoji="0" lang="zh-TW" altLang="en-US">
                <a:solidFill>
                  <a:srgbClr val="045C75"/>
                </a:solidFill>
                <a:latin typeface="+mn-lt"/>
                <a:cs typeface="Times New Roman" panose="02020603050405020304" pitchFamily="18" charset="0"/>
              </a:rPr>
              <a:pPr eaLnBrk="1" hangingPunct="1"/>
              <a:t>16</a:t>
            </a:fld>
            <a:endParaRPr kumimoji="0" lang="zh-TW" altLang="en-US">
              <a:solidFill>
                <a:srgbClr val="045C75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smtClean="0"/>
              <a:t>We adopt Wu’s method with all of the 136 properties for predicting.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" y="2938486"/>
            <a:ext cx="9142462" cy="222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19381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17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21506" name="內容版面配置區 4"/>
          <p:cNvSpPr>
            <a:spLocks noGrp="1"/>
          </p:cNvSpPr>
          <p:nvPr>
            <p:ph sz="quarter" idx="1"/>
          </p:nvPr>
        </p:nvSpPr>
        <p:spPr>
          <a:xfrm>
            <a:off x="-1" y="1219200"/>
            <a:ext cx="3538245" cy="4937760"/>
          </a:xfrm>
        </p:spPr>
        <p:txBody>
          <a:bodyPr/>
          <a:lstStyle/>
          <a:p>
            <a:r>
              <a:rPr lang="en-US" altLang="zh-TW" dirty="0"/>
              <a:t>The Fisher score of the 136 features for CASP7, CASP8 and CASP9.</a:t>
            </a:r>
            <a:endParaRPr lang="zh-TW" altLang="en-US" dirty="0" smtClean="0">
              <a:cs typeface="Times New Roman" panose="02020603050405020304" pitchFamily="18" charset="0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3178696" cy="972344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Experimental 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Results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245" y="0"/>
            <a:ext cx="56057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00811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18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21506" name="內容版面配置區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The correlation coefficient and Spearman’s rank correlation </a:t>
            </a:r>
            <a:r>
              <a:rPr lang="en-US" altLang="zh-TW" dirty="0" smtClean="0"/>
              <a:t>coefficient between </a:t>
            </a:r>
            <a:r>
              <a:rPr lang="en-US" altLang="zh-TW" dirty="0"/>
              <a:t>two Fisher scores in </a:t>
            </a:r>
            <a:r>
              <a:rPr lang="en-US" altLang="zh-TW" dirty="0" smtClean="0"/>
              <a:t>CASPs.</a:t>
            </a:r>
            <a:endParaRPr lang="zh-TW" altLang="en-US" dirty="0" smtClean="0">
              <a:cs typeface="Times New Roman" panose="02020603050405020304" pitchFamily="18" charset="0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3178696" cy="972344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Experimental 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Results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46" y="2986076"/>
            <a:ext cx="7623908" cy="140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72901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19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21506" name="內容版面配置區 4"/>
          <p:cNvSpPr>
            <a:spLocks noGrp="1"/>
          </p:cNvSpPr>
          <p:nvPr>
            <p:ph sz="quarter" idx="1"/>
          </p:nvPr>
        </p:nvSpPr>
        <p:spPr>
          <a:xfrm>
            <a:off x="0" y="1219200"/>
            <a:ext cx="3707904" cy="4937760"/>
          </a:xfrm>
        </p:spPr>
        <p:txBody>
          <a:bodyPr/>
          <a:lstStyle/>
          <a:p>
            <a:r>
              <a:rPr lang="en-US" altLang="zh-TW" dirty="0"/>
              <a:t>The distance correlation of the 136 features in CASP7, CASP8 </a:t>
            </a:r>
            <a:r>
              <a:rPr lang="en-US" altLang="zh-TW" dirty="0" smtClean="0"/>
              <a:t>and CASP9</a:t>
            </a:r>
            <a:r>
              <a:rPr lang="en-US" altLang="zh-TW" dirty="0"/>
              <a:t>.</a:t>
            </a:r>
            <a:endParaRPr lang="zh-TW" altLang="en-US" dirty="0" smtClean="0">
              <a:cs typeface="Times New Roman" panose="02020603050405020304" pitchFamily="18" charset="0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3178696" cy="972344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Experimental 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Results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492" y="0"/>
            <a:ext cx="55413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04579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20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3178696" cy="972344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Experimental 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Results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2745917" y="3062569"/>
            <a:ext cx="3643083" cy="1251021"/>
          </a:xfrm>
          <a:prstGeom prst="rect">
            <a:avLst/>
          </a:prstGeom>
        </p:spPr>
      </p:pic>
      <p:sp>
        <p:nvSpPr>
          <p:cNvPr id="8" name="內容版面配置區 4"/>
          <p:cNvSpPr txBox="1">
            <a:spLocks/>
          </p:cNvSpPr>
          <p:nvPr/>
        </p:nvSpPr>
        <p:spPr>
          <a:xfrm>
            <a:off x="457200" y="1219200"/>
            <a:ext cx="8232648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The correlation coefficient between two </a:t>
            </a:r>
            <a:r>
              <a:rPr lang="en-US" altLang="zh-TW" dirty="0" smtClean="0"/>
              <a:t>results </a:t>
            </a:r>
            <a:r>
              <a:rPr lang="en-US" altLang="zh-TW" dirty="0"/>
              <a:t>of distance correlation </a:t>
            </a:r>
            <a:r>
              <a:rPr lang="en-US" altLang="zh-TW" dirty="0" smtClean="0"/>
              <a:t>in CASPs</a:t>
            </a:r>
            <a:r>
              <a:rPr lang="en-US" altLang="zh-TW" dirty="0"/>
              <a:t>.</a:t>
            </a:r>
            <a:endParaRPr lang="zh-TW" altLang="en-US" dirty="0" smtClean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8632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21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4474840" cy="97234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Single feature testing</a:t>
            </a:r>
            <a:endParaRPr lang="zh-TW" altLang="en-US" dirty="0"/>
          </a:p>
        </p:txBody>
      </p:sp>
      <p:sp>
        <p:nvSpPr>
          <p:cNvPr id="8" name="內容版面配置區 4"/>
          <p:cNvSpPr txBox="1">
            <a:spLocks/>
          </p:cNvSpPr>
          <p:nvPr/>
        </p:nvSpPr>
        <p:spPr>
          <a:xfrm>
            <a:off x="457200" y="1219200"/>
            <a:ext cx="8232648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>
                <a:cs typeface="Times New Roman" panose="02020603050405020304" pitchFamily="18" charset="0"/>
              </a:rPr>
              <a:t>訓練單一</a:t>
            </a:r>
            <a:r>
              <a:rPr lang="en-US" altLang="zh-TW" dirty="0" smtClean="0">
                <a:cs typeface="Times New Roman" panose="02020603050405020304" pitchFamily="18" charset="0"/>
              </a:rPr>
              <a:t>feature</a:t>
            </a:r>
            <a:r>
              <a:rPr lang="zh-TW" altLang="en-US" dirty="0">
                <a:cs typeface="Times New Roman" panose="02020603050405020304" pitchFamily="18" charset="0"/>
              </a:rPr>
              <a:t>，</a:t>
            </a:r>
            <a:r>
              <a:rPr lang="zh-TW" altLang="en-US" dirty="0" smtClean="0">
                <a:cs typeface="Times New Roman" panose="02020603050405020304" pitchFamily="18" charset="0"/>
              </a:rPr>
              <a:t>觀察各</a:t>
            </a:r>
            <a:r>
              <a:rPr lang="en-US" altLang="zh-TW" dirty="0" smtClean="0">
                <a:cs typeface="Times New Roman" panose="02020603050405020304" pitchFamily="18" charset="0"/>
              </a:rPr>
              <a:t>feature</a:t>
            </a:r>
            <a:r>
              <a:rPr lang="zh-TW" altLang="en-US" dirty="0" smtClean="0">
                <a:cs typeface="Times New Roman" panose="02020603050405020304" pitchFamily="18" charset="0"/>
              </a:rPr>
              <a:t>所得出的</a:t>
            </a:r>
            <a:r>
              <a:rPr lang="en-US" altLang="zh-TW" dirty="0" smtClean="0">
                <a:cs typeface="Times New Roman" panose="02020603050405020304" pitchFamily="18" charset="0"/>
              </a:rPr>
              <a:t>RMSD</a:t>
            </a:r>
            <a:r>
              <a:rPr lang="zh-TW" altLang="en-US" dirty="0" smtClean="0">
                <a:cs typeface="Times New Roman" panose="02020603050405020304" pitchFamily="18" charset="0"/>
              </a:rPr>
              <a:t>結果</a:t>
            </a:r>
            <a:endParaRPr lang="en-US" altLang="zh-TW" dirty="0" smtClean="0"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cs typeface="Times New Roman" panose="02020603050405020304" pitchFamily="18" charset="0"/>
              </a:rPr>
              <a:t>以排</a:t>
            </a:r>
            <a:r>
              <a:rPr lang="zh-TW" altLang="en-US" dirty="0">
                <a:cs typeface="Times New Roman" panose="02020603050405020304" pitchFamily="18" charset="0"/>
              </a:rPr>
              <a:t>名</a:t>
            </a:r>
            <a:r>
              <a:rPr lang="zh-TW" altLang="en-US" dirty="0" smtClean="0">
                <a:cs typeface="Times New Roman" panose="02020603050405020304" pitchFamily="18" charset="0"/>
              </a:rPr>
              <a:t>選出較佳的</a:t>
            </a:r>
            <a:r>
              <a:rPr lang="en-US" altLang="zh-TW" dirty="0" smtClean="0">
                <a:cs typeface="Times New Roman" panose="02020603050405020304" pitchFamily="18" charset="0"/>
              </a:rPr>
              <a:t>features – Top 7 features</a:t>
            </a:r>
          </a:p>
          <a:p>
            <a:endParaRPr lang="zh-TW" altLang="en-US" dirty="0" smtClean="0"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51137"/>
            <a:ext cx="4421240" cy="4506863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807" y="2343869"/>
            <a:ext cx="4360760" cy="4500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8895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22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4474840" cy="97234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Single feature testing</a:t>
            </a:r>
            <a:endParaRPr lang="zh-TW" altLang="en-US" dirty="0"/>
          </a:p>
        </p:txBody>
      </p:sp>
      <p:sp>
        <p:nvSpPr>
          <p:cNvPr id="8" name="內容版面配置區 4"/>
          <p:cNvSpPr txBox="1">
            <a:spLocks/>
          </p:cNvSpPr>
          <p:nvPr/>
        </p:nvSpPr>
        <p:spPr>
          <a:xfrm>
            <a:off x="457200" y="1219200"/>
            <a:ext cx="8232648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>
                <a:cs typeface="Times New Roman" panose="02020603050405020304" pitchFamily="18" charset="0"/>
              </a:rPr>
              <a:t>訓練單一</a:t>
            </a:r>
            <a:r>
              <a:rPr lang="en-US" altLang="zh-TW" dirty="0" smtClean="0">
                <a:cs typeface="Times New Roman" panose="02020603050405020304" pitchFamily="18" charset="0"/>
              </a:rPr>
              <a:t>feature</a:t>
            </a:r>
            <a:r>
              <a:rPr lang="zh-TW" altLang="en-US" dirty="0">
                <a:cs typeface="Times New Roman" panose="02020603050405020304" pitchFamily="18" charset="0"/>
              </a:rPr>
              <a:t>，</a:t>
            </a:r>
            <a:r>
              <a:rPr lang="zh-TW" altLang="en-US" dirty="0" smtClean="0">
                <a:cs typeface="Times New Roman" panose="02020603050405020304" pitchFamily="18" charset="0"/>
              </a:rPr>
              <a:t>觀察各</a:t>
            </a:r>
            <a:r>
              <a:rPr lang="en-US" altLang="zh-TW" dirty="0" smtClean="0">
                <a:cs typeface="Times New Roman" panose="02020603050405020304" pitchFamily="18" charset="0"/>
              </a:rPr>
              <a:t>feature</a:t>
            </a:r>
            <a:r>
              <a:rPr lang="zh-TW" altLang="en-US" dirty="0" smtClean="0">
                <a:cs typeface="Times New Roman" panose="02020603050405020304" pitchFamily="18" charset="0"/>
              </a:rPr>
              <a:t>所得出的</a:t>
            </a:r>
            <a:r>
              <a:rPr lang="en-US" altLang="zh-TW" dirty="0" smtClean="0">
                <a:cs typeface="Times New Roman" panose="02020603050405020304" pitchFamily="18" charset="0"/>
              </a:rPr>
              <a:t>RMSD</a:t>
            </a:r>
            <a:r>
              <a:rPr lang="zh-TW" altLang="en-US" dirty="0" smtClean="0">
                <a:cs typeface="Times New Roman" panose="02020603050405020304" pitchFamily="18" charset="0"/>
              </a:rPr>
              <a:t>結果</a:t>
            </a:r>
            <a:endParaRPr lang="en-US" altLang="zh-TW" dirty="0" smtClean="0"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cs typeface="Times New Roman" panose="02020603050405020304" pitchFamily="18" charset="0"/>
              </a:rPr>
              <a:t>以排</a:t>
            </a:r>
            <a:r>
              <a:rPr lang="zh-TW" altLang="en-US" dirty="0">
                <a:cs typeface="Times New Roman" panose="02020603050405020304" pitchFamily="18" charset="0"/>
              </a:rPr>
              <a:t>名</a:t>
            </a:r>
            <a:r>
              <a:rPr lang="zh-TW" altLang="en-US" dirty="0" smtClean="0">
                <a:cs typeface="Times New Roman" panose="02020603050405020304" pitchFamily="18" charset="0"/>
              </a:rPr>
              <a:t>選出較佳的</a:t>
            </a:r>
            <a:r>
              <a:rPr lang="en-US" altLang="zh-TW" dirty="0" smtClean="0">
                <a:cs typeface="Times New Roman" panose="02020603050405020304" pitchFamily="18" charset="0"/>
              </a:rPr>
              <a:t>features – Top 7 features</a:t>
            </a:r>
          </a:p>
          <a:p>
            <a:endParaRPr lang="zh-TW" altLang="en-US" dirty="0" smtClean="0">
              <a:cs typeface="Times New Roman" panose="02020603050405020304" pitchFamily="18" charset="0"/>
            </a:endParaRPr>
          </a:p>
        </p:txBody>
      </p:sp>
      <p:graphicFrame>
        <p:nvGraphicFramePr>
          <p:cNvPr id="11" name="圖表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1383586286"/>
              </p:ext>
            </p:extLst>
          </p:nvPr>
        </p:nvGraphicFramePr>
        <p:xfrm>
          <a:off x="323528" y="3717032"/>
          <a:ext cx="8506606" cy="26659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xmlns="" val="2994238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23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4474840" cy="97234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cs typeface="Times New Roman" panose="02020603050405020304" pitchFamily="18" charset="0"/>
              </a:rPr>
              <a:t>Leave-one-out</a:t>
            </a:r>
            <a:endParaRPr lang="zh-TW" altLang="en-US" dirty="0"/>
          </a:p>
        </p:txBody>
      </p:sp>
      <p:sp>
        <p:nvSpPr>
          <p:cNvPr id="8" name="內容版面配置區 4"/>
          <p:cNvSpPr txBox="1">
            <a:spLocks/>
          </p:cNvSpPr>
          <p:nvPr/>
        </p:nvSpPr>
        <p:spPr>
          <a:xfrm>
            <a:off x="457200" y="1219200"/>
            <a:ext cx="8232648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cs typeface="Times New Roman" panose="02020603050405020304" pitchFamily="18" charset="0"/>
              </a:rPr>
              <a:t>Top 7 </a:t>
            </a:r>
            <a:r>
              <a:rPr lang="en-US" altLang="zh-TW" dirty="0" smtClean="0">
                <a:cs typeface="Times New Roman" panose="02020603050405020304" pitchFamily="18" charset="0"/>
              </a:rPr>
              <a:t>features</a:t>
            </a:r>
            <a:endParaRPr lang="en-US" altLang="zh-TW" dirty="0" smtClean="0">
              <a:solidFill>
                <a:schemeClr val="tx2">
                  <a:satMod val="130000"/>
                </a:schemeClr>
              </a:solidFill>
              <a:ea typeface="新細明體" charset="-120"/>
              <a:cs typeface="Times New Roman" pitchFamily="18" charset="0"/>
            </a:endParaRPr>
          </a:p>
          <a:p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BBQ</a:t>
            </a:r>
            <a:r>
              <a:rPr lang="zh-TW" altLang="en-US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 </a:t>
            </a:r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–</a:t>
            </a:r>
            <a:r>
              <a:rPr lang="zh-TW" altLang="en-US" dirty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 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PD2</a:t>
            </a:r>
          </a:p>
          <a:p>
            <a:r>
              <a:rPr lang="en-US" altLang="zh-TW" dirty="0" smtClean="0">
                <a:cs typeface="Times New Roman" panose="02020603050405020304" pitchFamily="18" charset="0"/>
              </a:rPr>
              <a:t>Threshold = 0.05~0.20</a:t>
            </a:r>
            <a:endParaRPr lang="zh-TW" altLang="en-US" dirty="0" smtClean="0">
              <a:cs typeface="Times New Roman" panose="02020603050405020304" pitchFamily="18" charset="0"/>
            </a:endParaRPr>
          </a:p>
        </p:txBody>
      </p:sp>
      <p:graphicFrame>
        <p:nvGraphicFramePr>
          <p:cNvPr id="13" name="圖表 12"/>
          <p:cNvGraphicFramePr/>
          <p:nvPr>
            <p:extLst>
              <p:ext uri="{D42A27DB-BD31-4B8C-83A1-F6EECF244321}">
                <p14:modId xmlns:p14="http://schemas.microsoft.com/office/powerpoint/2010/main" xmlns="" val="3242346060"/>
              </p:ext>
            </p:extLst>
          </p:nvPr>
        </p:nvGraphicFramePr>
        <p:xfrm>
          <a:off x="3491880" y="3315072"/>
          <a:ext cx="5422673" cy="3040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向左箭號 14"/>
          <p:cNvSpPr/>
          <p:nvPr/>
        </p:nvSpPr>
        <p:spPr>
          <a:xfrm>
            <a:off x="8287477" y="5229200"/>
            <a:ext cx="720080" cy="44735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PD2</a:t>
            </a:r>
            <a:endParaRPr lang="zh-TW" altLang="en-US" dirty="0"/>
          </a:p>
        </p:txBody>
      </p:sp>
      <p:sp>
        <p:nvSpPr>
          <p:cNvPr id="16" name="向左箭號 15"/>
          <p:cNvSpPr/>
          <p:nvPr/>
        </p:nvSpPr>
        <p:spPr>
          <a:xfrm>
            <a:off x="8287746" y="4141983"/>
            <a:ext cx="720080" cy="40191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PD2</a:t>
            </a:r>
            <a:endParaRPr lang="zh-TW" altLang="en-US" dirty="0"/>
          </a:p>
        </p:txBody>
      </p:sp>
      <p:sp>
        <p:nvSpPr>
          <p:cNvPr id="17" name="向左箭號 16"/>
          <p:cNvSpPr/>
          <p:nvPr/>
        </p:nvSpPr>
        <p:spPr>
          <a:xfrm>
            <a:off x="8287477" y="4054906"/>
            <a:ext cx="720080" cy="410606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PD2</a:t>
            </a:r>
            <a:endParaRPr lang="zh-TW" altLang="en-US" dirty="0"/>
          </a:p>
        </p:txBody>
      </p:sp>
      <p:sp>
        <p:nvSpPr>
          <p:cNvPr id="18" name="向左箭號 17"/>
          <p:cNvSpPr/>
          <p:nvPr/>
        </p:nvSpPr>
        <p:spPr>
          <a:xfrm>
            <a:off x="8287477" y="5150819"/>
            <a:ext cx="720080" cy="447356"/>
          </a:xfrm>
          <a:prstGeom prst="lef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PD2</a:t>
            </a:r>
            <a:endParaRPr lang="zh-TW" altLang="en-US" dirty="0"/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0125880"/>
              </p:ext>
            </p:extLst>
          </p:nvPr>
        </p:nvGraphicFramePr>
        <p:xfrm>
          <a:off x="3858419" y="35099"/>
          <a:ext cx="5256584" cy="1854200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540724"/>
                <a:gridCol w="928965"/>
                <a:gridCol w="928965"/>
                <a:gridCol w="928965"/>
                <a:gridCol w="928965"/>
              </a:tblGrid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cs typeface="Times New Roman" panose="02020603050405020304" pitchFamily="18" charset="0"/>
                        </a:rPr>
                        <a:t>Leave-one-out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dirty="0" smtClean="0"/>
                        <a:t>7-7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8-8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9-9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10-10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No Thresh</a:t>
                      </a:r>
                    </a:p>
                  </a:txBody>
                  <a:tcPr marL="0" marR="0" marT="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0.3584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0.4460</a:t>
                      </a:r>
                      <a:endParaRPr lang="en-US" altLang="zh-TW" sz="1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0.4254</a:t>
                      </a:r>
                      <a:endParaRPr lang="en-US" altLang="zh-TW" sz="1800" b="0" i="0" u="none" strike="noStrike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0.3578</a:t>
                      </a:r>
                      <a:endParaRPr lang="en-US" altLang="zh-TW" sz="1800" b="0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Thresh=0.05</a:t>
                      </a:r>
                    </a:p>
                  </a:txBody>
                  <a:tcPr marL="0" marR="0" marT="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0.3546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0.4442</a:t>
                      </a:r>
                      <a:endParaRPr lang="en-US" altLang="zh-TW" sz="1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0.4295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0.3573</a:t>
                      </a:r>
                      <a:endParaRPr lang="en-US" altLang="zh-TW" sz="1800" b="0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Thresh=0.10</a:t>
                      </a:r>
                    </a:p>
                  </a:txBody>
                  <a:tcPr marL="0" marR="0" marT="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0.3447</a:t>
                      </a:r>
                      <a:endParaRPr lang="en-US" altLang="zh-TW" sz="1800" b="0" i="0" u="none" strike="noStrik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0.4184</a:t>
                      </a:r>
                      <a:endParaRPr lang="en-US" altLang="zh-TW" sz="1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0.4226</a:t>
                      </a:r>
                      <a:endParaRPr lang="en-US" altLang="zh-TW" sz="1800" b="0" i="0" u="none" strike="noStrike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0.3464</a:t>
                      </a:r>
                      <a:endParaRPr lang="en-US" altLang="zh-TW" sz="1800" b="0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Thresh=0.20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0.3345</a:t>
                      </a:r>
                      <a:endParaRPr lang="en-US" altLang="zh-TW" sz="1800" b="0" i="0" u="none" strike="noStrik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0.4235</a:t>
                      </a:r>
                      <a:endParaRPr lang="en-US" altLang="zh-TW" sz="1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0.4154</a:t>
                      </a:r>
                      <a:endParaRPr lang="en-US" altLang="zh-TW" sz="1800" b="0" i="0" u="none" strike="noStrike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0.3437</a:t>
                      </a: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49844467"/>
              </p:ext>
            </p:extLst>
          </p:nvPr>
        </p:nvGraphicFramePr>
        <p:xfrm>
          <a:off x="3856541" y="2132856"/>
          <a:ext cx="5256584" cy="370840"/>
        </p:xfrm>
        <a:graphic>
          <a:graphicData uri="http://schemas.openxmlformats.org/drawingml/2006/table">
            <a:tbl>
              <a:tblPr firstCol="1" bandRow="1">
                <a:tableStyleId>{69012ECD-51FC-41F1-AA8D-1B2483CD663E}</a:tableStyleId>
              </a:tblPr>
              <a:tblGrid>
                <a:gridCol w="1540724"/>
                <a:gridCol w="928965"/>
                <a:gridCol w="928965"/>
                <a:gridCol w="928965"/>
                <a:gridCol w="928965"/>
              </a:tblGrid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PD2</a:t>
                      </a:r>
                      <a:endParaRPr lang="en-US" sz="1800" b="1" i="0" u="none" strike="noStrike" dirty="0"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0.3335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0.4042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0.4096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0.3386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329020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latin typeface="+mn-lt"/>
                <a:ea typeface="新細明體" charset="-120"/>
                <a:cs typeface="Times New Roman" pitchFamily="18" charset="0"/>
              </a:rPr>
              <a:t>Conclusions and </a:t>
            </a:r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Future Work</a:t>
            </a:r>
            <a:endParaRPr lang="zh-TW" altLang="en-US" dirty="0">
              <a:solidFill>
                <a:schemeClr val="tx2">
                  <a:satMod val="130000"/>
                </a:schemeClr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2014/7/1</a:t>
            </a:r>
            <a:endParaRPr lang="zh-TW" altLang="en-US"/>
          </a:p>
        </p:txBody>
      </p:sp>
      <p:sp>
        <p:nvSpPr>
          <p:cNvPr id="10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CB2E518-B8FF-42DB-86C0-00539530B634}" type="slidenum">
              <a:rPr kumimoji="0" lang="zh-TW" altLang="en-US">
                <a:solidFill>
                  <a:srgbClr val="045C75"/>
                </a:solidFill>
              </a:rPr>
              <a:pPr eaLnBrk="1" hangingPunct="1"/>
              <a:t>24</a:t>
            </a:fld>
            <a:endParaRPr kumimoji="0" lang="zh-TW" altLang="en-US">
              <a:solidFill>
                <a:srgbClr val="045C75"/>
              </a:solidFill>
            </a:endParaRPr>
          </a:p>
        </p:txBody>
      </p:sp>
      <p:sp>
        <p:nvSpPr>
          <p:cNvPr id="23554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 smtClean="0">
                <a:ea typeface="+mj-ea"/>
                <a:cs typeface="Times New Roman" panose="02020603050405020304" pitchFamily="18" charset="0"/>
              </a:rPr>
              <a:t>執行</a:t>
            </a:r>
            <a:r>
              <a:rPr lang="en-US" altLang="zh-TW" sz="2400" dirty="0" smtClean="0">
                <a:ea typeface="+mj-ea"/>
                <a:cs typeface="Times New Roman" panose="02020603050405020304" pitchFamily="18" charset="0"/>
              </a:rPr>
              <a:t>s</a:t>
            </a:r>
            <a:r>
              <a:rPr lang="en-US" altLang="zh-TW" sz="2400" dirty="0" smtClean="0">
                <a:solidFill>
                  <a:schemeClr val="tx2">
                    <a:satMod val="130000"/>
                  </a:schemeClr>
                </a:solidFill>
                <a:ea typeface="+mj-ea"/>
                <a:cs typeface="Times New Roman" pitchFamily="18" charset="0"/>
              </a:rPr>
              <a:t>ingle </a:t>
            </a:r>
            <a:r>
              <a:rPr lang="en-US" altLang="zh-TW" sz="2400" dirty="0">
                <a:solidFill>
                  <a:schemeClr val="tx2">
                    <a:satMod val="130000"/>
                  </a:schemeClr>
                </a:solidFill>
                <a:ea typeface="+mj-ea"/>
                <a:cs typeface="Times New Roman" pitchFamily="18" charset="0"/>
              </a:rPr>
              <a:t>feature </a:t>
            </a:r>
            <a:r>
              <a:rPr lang="en-US" altLang="zh-TW" sz="2400" dirty="0" smtClean="0">
                <a:solidFill>
                  <a:schemeClr val="tx2">
                    <a:satMod val="130000"/>
                  </a:schemeClr>
                </a:solidFill>
                <a:ea typeface="+mj-ea"/>
                <a:cs typeface="Times New Roman" pitchFamily="18" charset="0"/>
              </a:rPr>
              <a:t>testing</a:t>
            </a:r>
            <a:r>
              <a:rPr lang="zh-TW" altLang="en-US" sz="2400" dirty="0" smtClean="0">
                <a:solidFill>
                  <a:schemeClr val="tx2">
                    <a:satMod val="130000"/>
                  </a:schemeClr>
                </a:solidFill>
                <a:ea typeface="+mj-ea"/>
                <a:cs typeface="Times New Roman" pitchFamily="18" charset="0"/>
              </a:rPr>
              <a:t>來修正以</a:t>
            </a:r>
            <a:r>
              <a:rPr lang="en-US" altLang="zh-TW" sz="2400" dirty="0">
                <a:solidFill>
                  <a:schemeClr val="tx2">
                    <a:satMod val="130000"/>
                  </a:schemeClr>
                </a:solidFill>
                <a:ea typeface="+mj-ea"/>
                <a:cs typeface="Times New Roman" pitchFamily="18" charset="0"/>
              </a:rPr>
              <a:t>BBQ</a:t>
            </a:r>
            <a:r>
              <a:rPr lang="zh-TW" altLang="en-US" sz="2400" dirty="0">
                <a:solidFill>
                  <a:schemeClr val="tx2">
                    <a:satMod val="130000"/>
                  </a:schemeClr>
                </a:solidFill>
                <a:ea typeface="+mj-ea"/>
                <a:cs typeface="Times New Roman" pitchFamily="18" charset="0"/>
              </a:rPr>
              <a:t> </a:t>
            </a:r>
            <a:r>
              <a:rPr lang="en-US" altLang="zh-TW" sz="2400" dirty="0">
                <a:solidFill>
                  <a:schemeClr val="tx2">
                    <a:satMod val="130000"/>
                  </a:schemeClr>
                </a:solidFill>
                <a:ea typeface="+mj-ea"/>
                <a:cs typeface="Times New Roman" pitchFamily="18" charset="0"/>
              </a:rPr>
              <a:t>–</a:t>
            </a:r>
            <a:r>
              <a:rPr lang="zh-TW" altLang="en-US" sz="2400" dirty="0">
                <a:solidFill>
                  <a:schemeClr val="tx2">
                    <a:satMod val="130000"/>
                  </a:schemeClr>
                </a:solidFill>
                <a:ea typeface="+mj-ea"/>
                <a:cs typeface="Times New Roman" pitchFamily="18" charset="0"/>
              </a:rPr>
              <a:t> </a:t>
            </a:r>
            <a:r>
              <a:rPr lang="en-US" altLang="zh-TW" sz="2400" dirty="0" smtClean="0">
                <a:solidFill>
                  <a:schemeClr val="tx2">
                    <a:satMod val="130000"/>
                  </a:schemeClr>
                </a:solidFill>
                <a:ea typeface="+mj-ea"/>
                <a:cs typeface="Times New Roman" pitchFamily="18" charset="0"/>
              </a:rPr>
              <a:t>PD2</a:t>
            </a:r>
            <a:r>
              <a:rPr lang="zh-TW" altLang="en-US" sz="2400" dirty="0" smtClean="0">
                <a:solidFill>
                  <a:schemeClr val="tx2">
                    <a:satMod val="130000"/>
                  </a:schemeClr>
                </a:solidFill>
                <a:ea typeface="+mj-ea"/>
                <a:cs typeface="Times New Roman" pitchFamily="18" charset="0"/>
              </a:rPr>
              <a:t>為預測工具的</a:t>
            </a:r>
            <a:r>
              <a:rPr lang="en-US" altLang="zh-TW" sz="2400" dirty="0" smtClean="0">
                <a:solidFill>
                  <a:schemeClr val="tx2">
                    <a:satMod val="130000"/>
                  </a:schemeClr>
                </a:solidFill>
                <a:ea typeface="+mj-ea"/>
                <a:cs typeface="Times New Roman" pitchFamily="18" charset="0"/>
              </a:rPr>
              <a:t>Top features</a:t>
            </a:r>
          </a:p>
          <a:p>
            <a:r>
              <a:rPr lang="zh-TW" altLang="en-US" sz="2400" dirty="0" smtClean="0">
                <a:solidFill>
                  <a:schemeClr val="tx2">
                    <a:satMod val="130000"/>
                  </a:schemeClr>
                </a:solidFill>
                <a:ea typeface="+mj-ea"/>
                <a:cs typeface="Times New Roman" pitchFamily="18" charset="0"/>
              </a:rPr>
              <a:t>利用</a:t>
            </a:r>
            <a:r>
              <a:rPr lang="en-US" altLang="zh-TW" sz="2400" dirty="0" smtClean="0">
                <a:solidFill>
                  <a:schemeClr val="tx2">
                    <a:satMod val="130000"/>
                  </a:schemeClr>
                </a:solidFill>
                <a:ea typeface="+mj-ea"/>
                <a:cs typeface="Times New Roman" pitchFamily="18" charset="0"/>
              </a:rPr>
              <a:t>behavior-knowledge space</a:t>
            </a:r>
            <a:r>
              <a:rPr lang="zh-TW" altLang="en-US" sz="2400" dirty="0" smtClean="0">
                <a:solidFill>
                  <a:schemeClr val="tx2">
                    <a:satMod val="130000"/>
                  </a:schemeClr>
                </a:solidFill>
                <a:ea typeface="+mj-ea"/>
                <a:cs typeface="Times New Roman" pitchFamily="18" charset="0"/>
              </a:rPr>
              <a:t>方法來修正預測的結果</a:t>
            </a:r>
            <a:endParaRPr lang="en-US" altLang="zh-TW" sz="2400" dirty="0" smtClean="0">
              <a:solidFill>
                <a:schemeClr val="tx2">
                  <a:satMod val="130000"/>
                </a:schemeClr>
              </a:solidFill>
              <a:ea typeface="+mj-ea"/>
              <a:cs typeface="Times New Roman" pitchFamily="18" charset="0"/>
            </a:endParaRPr>
          </a:p>
          <a:p>
            <a:endParaRPr lang="en-US" altLang="zh-TW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37837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原創">
  <a:themeElements>
    <a:clrScheme name="自訂 3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0000FF"/>
      </a:folHlink>
    </a:clrScheme>
    <a:fontScheme name="自訂 1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原創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15446</TotalTime>
  <Words>878</Words>
  <Application>Microsoft Office PowerPoint</Application>
  <PresentationFormat>如螢幕大小 (4:3)</PresentationFormat>
  <Paragraphs>254</Paragraphs>
  <Slides>24</Slides>
  <Notes>6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6" baseType="lpstr">
      <vt:lpstr>原創</vt:lpstr>
      <vt:lpstr>Visio</vt:lpstr>
      <vt:lpstr>Protein Backbone Reconstruction with Tool Preference Classification and Feature Selection </vt:lpstr>
      <vt:lpstr>Introduction (1/4)</vt:lpstr>
      <vt:lpstr>Introduction (2/4)</vt:lpstr>
      <vt:lpstr>Introduction (3/4)</vt:lpstr>
      <vt:lpstr>Introduction (4/4)</vt:lpstr>
      <vt:lpstr>Root Mean Square Deviation (RMSD)</vt:lpstr>
      <vt:lpstr>Support Vector Machine (SVM)</vt:lpstr>
      <vt:lpstr>Previous Work (1/2)</vt:lpstr>
      <vt:lpstr>Previous Work (2/2)</vt:lpstr>
      <vt:lpstr>Previous Work (2/2)</vt:lpstr>
      <vt:lpstr>Our Method (1/5)</vt:lpstr>
      <vt:lpstr>Our Method (2/5)</vt:lpstr>
      <vt:lpstr>Our Method (3/5)</vt:lpstr>
      <vt:lpstr>Our Method (4/5)</vt:lpstr>
      <vt:lpstr>Our Method (5/5)</vt:lpstr>
      <vt:lpstr>Experimental Results</vt:lpstr>
      <vt:lpstr>Experimental Results</vt:lpstr>
      <vt:lpstr>Experimental Results</vt:lpstr>
      <vt:lpstr>Experimental Results</vt:lpstr>
      <vt:lpstr>Experimental Results</vt:lpstr>
      <vt:lpstr>Single feature testing</vt:lpstr>
      <vt:lpstr>Single feature testing</vt:lpstr>
      <vt:lpstr>Leave-one-out</vt:lpstr>
      <vt:lpstr>Conclusions and Future Work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Quadratic-time algorithm for a string constrained LCS problem</dc:title>
  <dc:creator>Robert</dc:creator>
  <cp:lastModifiedBy>admin</cp:lastModifiedBy>
  <cp:revision>560</cp:revision>
  <cp:lastPrinted>2012-09-10T21:31:19Z</cp:lastPrinted>
  <dcterms:created xsi:type="dcterms:W3CDTF">2012-09-10T08:29:10Z</dcterms:created>
  <dcterms:modified xsi:type="dcterms:W3CDTF">2014-07-01T10:31:06Z</dcterms:modified>
</cp:coreProperties>
</file>